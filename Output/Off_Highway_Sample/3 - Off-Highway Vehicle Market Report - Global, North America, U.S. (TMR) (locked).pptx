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2.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1.xml" ContentType="application/vnd.openxmlformats-officedocument.presentationml.notesSlide+xml"/>
  <Override PartName="/ppt/notesSlides/notesSlide153.xml" ContentType="application/vnd.openxmlformats-officedocument.presentationml.notesSlide+xml"/>
  <Override PartName="/ppt/notesSlides/notesSlide155.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1.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13" r:id="rId265"/>
    <p:sldId id="504" r:id="rId256"/>
    <p:sldId id="505" r:id="rId257"/>
    <p:sldId id="506" r:id="rId258"/>
    <p:sldId id="507" r:id="rId259"/>
    <p:sldId id="508" r:id="rId260"/>
    <p:sldId id="509" r:id="rId261"/>
    <p:sldId id="510" r:id="rId262"/>
    <p:sldId id="511" r:id="rId263"/>
    <p:sldId id="512" r:id="rId264"/>
    <p:sldId id="525" r:id="rId277"/>
    <p:sldId id="514" r:id="rId266"/>
    <p:sldId id="515" r:id="rId267"/>
    <p:sldId id="516" r:id="rId268"/>
    <p:sldId id="517" r:id="rId269"/>
    <p:sldId id="518" r:id="rId270"/>
    <p:sldId id="519" r:id="rId271"/>
    <p:sldId id="520" r:id="rId272"/>
    <p:sldId id="521" r:id="rId273"/>
    <p:sldId id="522" r:id="rId274"/>
    <p:sldId id="523" r:id="rId275"/>
    <p:sldId id="524" r:id="rId27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9" r:id="rId51"/>
    <p:sldId id="300" r:id="rId52"/>
    <p:sldId id="301" r:id="rId53"/>
    <p:sldId id="302" r:id="rId54"/>
    <p:sldId id="309" r:id="rId61"/>
    <p:sldId id="310" r:id="rId62"/>
    <p:sldId id="311" r:id="rId63"/>
    <p:sldId id="312" r:id="rId64"/>
    <p:sldId id="315" r:id="rId67"/>
    <p:sldId id="316" r:id="rId68"/>
    <p:sldId id="319" r:id="rId71"/>
    <p:sldId id="320" r:id="rId72"/>
    <p:sldId id="321" r:id="rId73"/>
    <p:sldId id="322" r:id="rId74"/>
    <p:sldId id="325" r:id="rId77"/>
    <p:sldId id="326" r:id="rId78"/>
    <p:sldId id="329" r:id="rId81"/>
    <p:sldId id="330" r:id="rId82"/>
    <p:sldId id="331" r:id="rId83"/>
    <p:sldId id="332" r:id="rId84"/>
    <p:sldId id="334" r:id="rId86"/>
    <p:sldId id="335" r:id="rId87"/>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9" r:id="rId121"/>
    <p:sldId id="370" r:id="rId122"/>
    <p:sldId id="371" r:id="rId123"/>
    <p:sldId id="378" r:id="rId130"/>
    <p:sldId id="379" r:id="rId131"/>
    <p:sldId id="380" r:id="rId132"/>
    <p:sldId id="381" r:id="rId133"/>
    <p:sldId id="383" r:id="rId135"/>
    <p:sldId id="384" r:id="rId136"/>
    <p:sldId id="387" r:id="rId139"/>
    <p:sldId id="388" r:id="rId140"/>
    <p:sldId id="389" r:id="rId141"/>
    <p:sldId id="390" r:id="rId142"/>
    <p:sldId id="393" r:id="rId145"/>
    <p:sldId id="394" r:id="rId146"/>
    <p:sldId id="397" r:id="rId149"/>
    <p:sldId id="398" r:id="rId150"/>
    <p:sldId id="399" r:id="rId151"/>
    <p:sldId id="400" r:id="rId152"/>
    <p:sldId id="402" r:id="rId154"/>
    <p:sldId id="403" r:id="rId155"/>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5" r:id="rId177"/>
    <p:sldId id="426" r:id="rId178"/>
    <p:sldId id="428" r:id="rId180"/>
    <p:sldId id="430" r:id="rId182"/>
    <p:sldId id="431" r:id="rId183"/>
    <p:sldId id="433" r:id="rId185"/>
    <p:sldId id="435" r:id="rId187"/>
    <p:sldId id="436" r:id="rId188"/>
    <p:sldId id="438" r:id="rId190"/>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526" r:id="rId19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32.xml"/><Relationship Id="rId18" Type="http://schemas.openxmlformats.org/officeDocument/2006/relationships/slide" Target="slides/slide33.xml"/><Relationship Id="rId19" Type="http://schemas.openxmlformats.org/officeDocument/2006/relationships/slide" Target="slides/slide34.xml"/><Relationship Id="rId20" Type="http://schemas.openxmlformats.org/officeDocument/2006/relationships/slide" Target="slides/slide35.xml"/><Relationship Id="rId21" Type="http://schemas.openxmlformats.org/officeDocument/2006/relationships/slide" Target="slides/slide36.xml"/><Relationship Id="rId22" Type="http://schemas.openxmlformats.org/officeDocument/2006/relationships/slide" Target="slides/slide37.xml"/><Relationship Id="rId23" Type="http://schemas.openxmlformats.org/officeDocument/2006/relationships/slide" Target="slides/slide38.xml"/><Relationship Id="rId24" Type="http://schemas.openxmlformats.org/officeDocument/2006/relationships/slide" Target="slides/slide39.xml"/><Relationship Id="rId25" Type="http://schemas.openxmlformats.org/officeDocument/2006/relationships/slide" Target="slides/slide40.xml"/><Relationship Id="rId26" Type="http://schemas.openxmlformats.org/officeDocument/2006/relationships/slide" Target="slides/slide41.xml"/><Relationship Id="rId27" Type="http://schemas.openxmlformats.org/officeDocument/2006/relationships/slide" Target="slides/slide42.xml"/><Relationship Id="rId28" Type="http://schemas.openxmlformats.org/officeDocument/2006/relationships/slide" Target="slides/slide43.xml"/><Relationship Id="rId29" Type="http://schemas.openxmlformats.org/officeDocument/2006/relationships/slide" Target="slides/slide44.xml"/><Relationship Id="rId30" Type="http://schemas.openxmlformats.org/officeDocument/2006/relationships/slide" Target="slides/slide45.xml"/><Relationship Id="rId31" Type="http://schemas.openxmlformats.org/officeDocument/2006/relationships/slide" Target="slides/slide46.xml"/><Relationship Id="rId32" Type="http://schemas.openxmlformats.org/officeDocument/2006/relationships/slide" Target="slides/slide47.xml"/><Relationship Id="rId33" Type="http://schemas.openxmlformats.org/officeDocument/2006/relationships/slide" Target="slides/slide48.xml"/><Relationship Id="rId34" Type="http://schemas.openxmlformats.org/officeDocument/2006/relationships/slide" Target="slides/slide49.xml"/><Relationship Id="rId35" Type="http://schemas.openxmlformats.org/officeDocument/2006/relationships/slide" Target="slides/slide50.xml"/><Relationship Id="rId36" Type="http://schemas.openxmlformats.org/officeDocument/2006/relationships/slide" Target="slides/slide51.xml"/><Relationship Id="rId37" Type="http://schemas.openxmlformats.org/officeDocument/2006/relationships/slide" Target="slides/slide52.xml"/><Relationship Id="rId38" Type="http://schemas.openxmlformats.org/officeDocument/2006/relationships/slide" Target="slides/slide53.xml"/><Relationship Id="rId39" Type="http://schemas.openxmlformats.org/officeDocument/2006/relationships/slide" Target="slides/slide54.xml"/><Relationship Id="rId40" Type="http://schemas.openxmlformats.org/officeDocument/2006/relationships/slide" Target="slides/slide55.xml"/><Relationship Id="rId41" Type="http://schemas.openxmlformats.org/officeDocument/2006/relationships/slide" Target="slides/slide56.xml"/><Relationship Id="rId42" Type="http://schemas.openxmlformats.org/officeDocument/2006/relationships/slide" Target="slides/slide57.xml"/><Relationship Id="rId43" Type="http://schemas.openxmlformats.org/officeDocument/2006/relationships/slide" Target="slides/slide58.xml"/><Relationship Id="rId44" Type="http://schemas.openxmlformats.org/officeDocument/2006/relationships/slide" Target="slides/slide59.xml"/><Relationship Id="rId51" Type="http://schemas.openxmlformats.org/officeDocument/2006/relationships/slide" Target="slides/slide60.xml"/><Relationship Id="rId52" Type="http://schemas.openxmlformats.org/officeDocument/2006/relationships/slide" Target="slides/slide61.xml"/><Relationship Id="rId53" Type="http://schemas.openxmlformats.org/officeDocument/2006/relationships/slide" Target="slides/slide62.xml"/><Relationship Id="rId54" Type="http://schemas.openxmlformats.org/officeDocument/2006/relationships/slide" Target="slides/slide63.xml"/><Relationship Id="rId61" Type="http://schemas.openxmlformats.org/officeDocument/2006/relationships/slide" Target="slides/slide64.xml"/><Relationship Id="rId62" Type="http://schemas.openxmlformats.org/officeDocument/2006/relationships/slide" Target="slides/slide65.xml"/><Relationship Id="rId63" Type="http://schemas.openxmlformats.org/officeDocument/2006/relationships/slide" Target="slides/slide66.xml"/><Relationship Id="rId64" Type="http://schemas.openxmlformats.org/officeDocument/2006/relationships/slide" Target="slides/slide67.xml"/><Relationship Id="rId67" Type="http://schemas.openxmlformats.org/officeDocument/2006/relationships/slide" Target="slides/slide68.xml"/><Relationship Id="rId68"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21" Type="http://schemas.openxmlformats.org/officeDocument/2006/relationships/slide" Target="slides/slide107.xml"/><Relationship Id="rId122" Type="http://schemas.openxmlformats.org/officeDocument/2006/relationships/slide" Target="slides/slide108.xml"/><Relationship Id="rId123" Type="http://schemas.openxmlformats.org/officeDocument/2006/relationships/slide" Target="slides/slide109.xml"/><Relationship Id="rId130" Type="http://schemas.openxmlformats.org/officeDocument/2006/relationships/slide" Target="slides/slide110.xml"/><Relationship Id="rId131" Type="http://schemas.openxmlformats.org/officeDocument/2006/relationships/slide" Target="slides/slide111.xml"/><Relationship Id="rId132" Type="http://schemas.openxmlformats.org/officeDocument/2006/relationships/slide" Target="slides/slide112.xml"/><Relationship Id="rId133" Type="http://schemas.openxmlformats.org/officeDocument/2006/relationships/slide" Target="slides/slide113.xml"/><Relationship Id="rId135" Type="http://schemas.openxmlformats.org/officeDocument/2006/relationships/slide" Target="slides/slide114.xml"/><Relationship Id="rId136" Type="http://schemas.openxmlformats.org/officeDocument/2006/relationships/slide" Target="slides/slide115.xml"/><Relationship Id="rId139" Type="http://schemas.openxmlformats.org/officeDocument/2006/relationships/slide" Target="slides/slide116.xml"/><Relationship Id="rId140" Type="http://schemas.openxmlformats.org/officeDocument/2006/relationships/slide" Target="slides/slide117.xml"/><Relationship Id="rId141" Type="http://schemas.openxmlformats.org/officeDocument/2006/relationships/slide" Target="slides/slide118.xml"/><Relationship Id="rId142" Type="http://schemas.openxmlformats.org/officeDocument/2006/relationships/slide" Target="slides/slide119.xml"/><Relationship Id="rId145" Type="http://schemas.openxmlformats.org/officeDocument/2006/relationships/slide" Target="slides/slide120.xml"/><Relationship Id="rId146" Type="http://schemas.openxmlformats.org/officeDocument/2006/relationships/slide" Target="slides/slide121.xml"/><Relationship Id="rId149" Type="http://schemas.openxmlformats.org/officeDocument/2006/relationships/slide" Target="slides/slide122.xml"/><Relationship Id="rId150" Type="http://schemas.openxmlformats.org/officeDocument/2006/relationships/slide" Target="slides/slide123.xml"/><Relationship Id="rId151" Type="http://schemas.openxmlformats.org/officeDocument/2006/relationships/slide" Target="slides/slide124.xml"/><Relationship Id="rId152" Type="http://schemas.openxmlformats.org/officeDocument/2006/relationships/slide" Target="slides/slide125.xml"/><Relationship Id="rId154" Type="http://schemas.openxmlformats.org/officeDocument/2006/relationships/slide" Target="slides/slide126.xml"/><Relationship Id="rId155" Type="http://schemas.openxmlformats.org/officeDocument/2006/relationships/slide" Target="slides/slide127.xml"/><Relationship Id="rId158" Type="http://schemas.openxmlformats.org/officeDocument/2006/relationships/slide" Target="slides/slide128.xml"/><Relationship Id="rId159" Type="http://schemas.openxmlformats.org/officeDocument/2006/relationships/slide" Target="slides/slide129.xml"/><Relationship Id="rId160" Type="http://schemas.openxmlformats.org/officeDocument/2006/relationships/slide" Target="slides/slide130.xml"/><Relationship Id="rId161" Type="http://schemas.openxmlformats.org/officeDocument/2006/relationships/slide" Target="slides/slide131.xml"/><Relationship Id="rId162" Type="http://schemas.openxmlformats.org/officeDocument/2006/relationships/slide" Target="slides/slide132.xml"/><Relationship Id="rId163" Type="http://schemas.openxmlformats.org/officeDocument/2006/relationships/slide" Target="slides/slide133.xml"/><Relationship Id="rId164" Type="http://schemas.openxmlformats.org/officeDocument/2006/relationships/slide" Target="slides/slide134.xml"/><Relationship Id="rId165" Type="http://schemas.openxmlformats.org/officeDocument/2006/relationships/slide" Target="slides/slide135.xml"/><Relationship Id="rId166" Type="http://schemas.openxmlformats.org/officeDocument/2006/relationships/slide" Target="slides/slide136.xml"/><Relationship Id="rId167" Type="http://schemas.openxmlformats.org/officeDocument/2006/relationships/slide" Target="slides/slide137.xml"/><Relationship Id="rId168" Type="http://schemas.openxmlformats.org/officeDocument/2006/relationships/slide" Target="slides/slide138.xml"/><Relationship Id="rId169" Type="http://schemas.openxmlformats.org/officeDocument/2006/relationships/slide" Target="slides/slide139.xml"/><Relationship Id="rId170" Type="http://schemas.openxmlformats.org/officeDocument/2006/relationships/slide" Target="slides/slide140.xml"/><Relationship Id="rId171" Type="http://schemas.openxmlformats.org/officeDocument/2006/relationships/slide" Target="slides/slide141.xml"/><Relationship Id="rId172" Type="http://schemas.openxmlformats.org/officeDocument/2006/relationships/slide" Target="slides/slide142.xml"/><Relationship Id="rId177" Type="http://schemas.openxmlformats.org/officeDocument/2006/relationships/slide" Target="slides/slide143.xml"/><Relationship Id="rId178" Type="http://schemas.openxmlformats.org/officeDocument/2006/relationships/slide" Target="slides/slide144.xml"/><Relationship Id="rId180" Type="http://schemas.openxmlformats.org/officeDocument/2006/relationships/slide" Target="slides/slide145.xml"/><Relationship Id="rId182" Type="http://schemas.openxmlformats.org/officeDocument/2006/relationships/slide" Target="slides/slide146.xml"/><Relationship Id="rId183" Type="http://schemas.openxmlformats.org/officeDocument/2006/relationships/slide" Target="slides/slide147.xml"/><Relationship Id="rId185" Type="http://schemas.openxmlformats.org/officeDocument/2006/relationships/slide" Target="slides/slide148.xml"/><Relationship Id="rId187" Type="http://schemas.openxmlformats.org/officeDocument/2006/relationships/slide" Target="slides/slide149.xml"/><Relationship Id="rId188" Type="http://schemas.openxmlformats.org/officeDocument/2006/relationships/slide" Target="slides/slide150.xml"/><Relationship Id="rId190" Type="http://schemas.openxmlformats.org/officeDocument/2006/relationships/slide" Target="slides/slide151.xml"/><Relationship Id="rId191" Type="http://schemas.openxmlformats.org/officeDocument/2006/relationships/slide" Target="slides/slide206.xml"/><Relationship Id="rId192" Type="http://schemas.openxmlformats.org/officeDocument/2006/relationships/slide" Target="slides/slide152.xml"/><Relationship Id="rId193" Type="http://schemas.openxmlformats.org/officeDocument/2006/relationships/slide" Target="slides/slide153.xml"/><Relationship Id="rId194" Type="http://schemas.openxmlformats.org/officeDocument/2006/relationships/slide" Target="slides/slide154.xml"/><Relationship Id="rId195" Type="http://schemas.openxmlformats.org/officeDocument/2006/relationships/slide" Target="slides/slide155.xml"/><Relationship Id="rId196" Type="http://schemas.openxmlformats.org/officeDocument/2006/relationships/slide" Target="slides/slide156.xml"/><Relationship Id="rId197" Type="http://schemas.openxmlformats.org/officeDocument/2006/relationships/slide" Target="slides/slide157.xml"/><Relationship Id="rId198" Type="http://schemas.openxmlformats.org/officeDocument/2006/relationships/slide" Target="slides/slide158.xml"/><Relationship Id="rId199" Type="http://schemas.openxmlformats.org/officeDocument/2006/relationships/slide" Target="slides/slide159.xml"/><Relationship Id="rId200" Type="http://schemas.openxmlformats.org/officeDocument/2006/relationships/slide" Target="slides/slide160.xml"/><Relationship Id="rId201" Type="http://schemas.openxmlformats.org/officeDocument/2006/relationships/slide" Target="slides/slide161.xml"/><Relationship Id="rId202" Type="http://schemas.openxmlformats.org/officeDocument/2006/relationships/slide" Target="slides/slide162.xml"/><Relationship Id="rId203" Type="http://schemas.openxmlformats.org/officeDocument/2006/relationships/slide" Target="slides/slide163.xml"/><Relationship Id="rId204" Type="http://schemas.openxmlformats.org/officeDocument/2006/relationships/slide" Target="slides/slide164.xml"/><Relationship Id="rId205" Type="http://schemas.openxmlformats.org/officeDocument/2006/relationships/slide" Target="slides/slide165.xml"/><Relationship Id="rId206" Type="http://schemas.openxmlformats.org/officeDocument/2006/relationships/slide" Target="slides/slide166.xml"/><Relationship Id="rId207" Type="http://schemas.openxmlformats.org/officeDocument/2006/relationships/slide" Target="slides/slide167.xml"/><Relationship Id="rId208" Type="http://schemas.openxmlformats.org/officeDocument/2006/relationships/slide" Target="slides/slide168.xml"/><Relationship Id="rId209" Type="http://schemas.openxmlformats.org/officeDocument/2006/relationships/slide" Target="slides/slide169.xml"/><Relationship Id="rId210" Type="http://schemas.openxmlformats.org/officeDocument/2006/relationships/slide" Target="slides/slide170.xml"/><Relationship Id="rId211" Type="http://schemas.openxmlformats.org/officeDocument/2006/relationships/slide" Target="slides/slide171.xml"/><Relationship Id="rId212" Type="http://schemas.openxmlformats.org/officeDocument/2006/relationships/slide" Target="slides/slide172.xml"/><Relationship Id="rId213" Type="http://schemas.openxmlformats.org/officeDocument/2006/relationships/slide" Target="slides/slide173.xml"/><Relationship Id="rId214" Type="http://schemas.openxmlformats.org/officeDocument/2006/relationships/slide" Target="slides/slide174.xml"/><Relationship Id="rId215" Type="http://schemas.openxmlformats.org/officeDocument/2006/relationships/slide" Target="slides/slide175.xml"/><Relationship Id="rId216" Type="http://schemas.openxmlformats.org/officeDocument/2006/relationships/slide" Target="slides/slide176.xml"/><Relationship Id="rId217" Type="http://schemas.openxmlformats.org/officeDocument/2006/relationships/slide" Target="slides/slide177.xml"/><Relationship Id="rId218" Type="http://schemas.openxmlformats.org/officeDocument/2006/relationships/slide" Target="slides/slide178.xml"/><Relationship Id="rId219" Type="http://schemas.openxmlformats.org/officeDocument/2006/relationships/slide" Target="slides/slide179.xml"/><Relationship Id="rId220" Type="http://schemas.openxmlformats.org/officeDocument/2006/relationships/slide" Target="slides/slide192.xml"/><Relationship Id="rId221" Type="http://schemas.openxmlformats.org/officeDocument/2006/relationships/slide" Target="slides/slide193.xml"/><Relationship Id="rId222" Type="http://schemas.openxmlformats.org/officeDocument/2006/relationships/slide" Target="slides/slide194.xml"/><Relationship Id="rId223" Type="http://schemas.openxmlformats.org/officeDocument/2006/relationships/slide" Target="slides/slide195.xml"/><Relationship Id="rId224" Type="http://schemas.openxmlformats.org/officeDocument/2006/relationships/slide" Target="slides/slide196.xml"/><Relationship Id="rId225" Type="http://schemas.openxmlformats.org/officeDocument/2006/relationships/slide" Target="slides/slide197.xml"/><Relationship Id="rId226" Type="http://schemas.openxmlformats.org/officeDocument/2006/relationships/slide" Target="slides/slide198.xml"/><Relationship Id="rId227" Type="http://schemas.openxmlformats.org/officeDocument/2006/relationships/slide" Target="slides/slide199.xml"/><Relationship Id="rId228" Type="http://schemas.openxmlformats.org/officeDocument/2006/relationships/slide" Target="slides/slide200.xml"/><Relationship Id="rId229" Type="http://schemas.openxmlformats.org/officeDocument/2006/relationships/slide" Target="slides/slide201.xml"/><Relationship Id="rId230" Type="http://schemas.openxmlformats.org/officeDocument/2006/relationships/slide" Target="slides/slide202.xml"/><Relationship Id="rId231" Type="http://schemas.openxmlformats.org/officeDocument/2006/relationships/slide" Target="slides/slide203.xml"/><Relationship Id="rId232" Type="http://schemas.openxmlformats.org/officeDocument/2006/relationships/slide" Target="slides/slide204.xml"/><Relationship Id="rId233" Type="http://schemas.openxmlformats.org/officeDocument/2006/relationships/slide" Target="slides/slide205.xml"/><Relationship Id="rId234" Type="http://schemas.openxmlformats.org/officeDocument/2006/relationships/slide" Target="slides/slide180.xml"/><Relationship Id="rId235" Type="http://schemas.openxmlformats.org/officeDocument/2006/relationships/slide" Target="slides/slide181.xml"/><Relationship Id="rId236" Type="http://schemas.openxmlformats.org/officeDocument/2006/relationships/slide" Target="slides/slide182.xml"/><Relationship Id="rId237" Type="http://schemas.openxmlformats.org/officeDocument/2006/relationships/slide" Target="slides/slide183.xml"/><Relationship Id="rId238" Type="http://schemas.openxmlformats.org/officeDocument/2006/relationships/slide" Target="slides/slide184.xml"/><Relationship Id="rId239" Type="http://schemas.openxmlformats.org/officeDocument/2006/relationships/slide" Target="slides/slide185.xml"/><Relationship Id="rId240" Type="http://schemas.openxmlformats.org/officeDocument/2006/relationships/slide" Target="slides/slide186.xml"/><Relationship Id="rId241" Type="http://schemas.openxmlformats.org/officeDocument/2006/relationships/slide" Target="slides/slide187.xml"/><Relationship Id="rId242" Type="http://schemas.openxmlformats.org/officeDocument/2006/relationships/slide" Target="slides/slide188.xml"/><Relationship Id="rId243" Type="http://schemas.openxmlformats.org/officeDocument/2006/relationships/slide" Target="slides/slide189.xml"/><Relationship Id="rId244" Type="http://schemas.openxmlformats.org/officeDocument/2006/relationships/slide" Target="slides/slide190.xml"/><Relationship Id="rId245" Type="http://schemas.openxmlformats.org/officeDocument/2006/relationships/slide" Target="slides/slide191.xml"/><Relationship Id="rId256" Type="http://schemas.openxmlformats.org/officeDocument/2006/relationships/slide" Target="slides/slide11.xml"/><Relationship Id="rId257" Type="http://schemas.openxmlformats.org/officeDocument/2006/relationships/slide" Target="slides/slide12.xml"/><Relationship Id="rId258" Type="http://schemas.openxmlformats.org/officeDocument/2006/relationships/slide" Target="slides/slide13.xml"/><Relationship Id="rId259" Type="http://schemas.openxmlformats.org/officeDocument/2006/relationships/slide" Target="slides/slide14.xml"/><Relationship Id="rId260" Type="http://schemas.openxmlformats.org/officeDocument/2006/relationships/slide" Target="slides/slide15.xml"/><Relationship Id="rId261" Type="http://schemas.openxmlformats.org/officeDocument/2006/relationships/slide" Target="slides/slide16.xml"/><Relationship Id="rId262" Type="http://schemas.openxmlformats.org/officeDocument/2006/relationships/slide" Target="slides/slide17.xml"/><Relationship Id="rId263" Type="http://schemas.openxmlformats.org/officeDocument/2006/relationships/slide" Target="slides/slide18.xml"/><Relationship Id="rId264" Type="http://schemas.openxmlformats.org/officeDocument/2006/relationships/slide" Target="slides/slide19.xml"/><Relationship Id="rId265" Type="http://schemas.openxmlformats.org/officeDocument/2006/relationships/slide" Target="slides/slide10.xml"/><Relationship Id="rId266" Type="http://schemas.openxmlformats.org/officeDocument/2006/relationships/slide" Target="slides/slide21.xml"/><Relationship Id="rId267" Type="http://schemas.openxmlformats.org/officeDocument/2006/relationships/slide" Target="slides/slide22.xml"/><Relationship Id="rId268" Type="http://schemas.openxmlformats.org/officeDocument/2006/relationships/slide" Target="slides/slide23.xml"/><Relationship Id="rId269" Type="http://schemas.openxmlformats.org/officeDocument/2006/relationships/slide" Target="slides/slide24.xml"/><Relationship Id="rId270" Type="http://schemas.openxmlformats.org/officeDocument/2006/relationships/slide" Target="slides/slide25.xml"/><Relationship Id="rId271" Type="http://schemas.openxmlformats.org/officeDocument/2006/relationships/slide" Target="slides/slide26.xml"/><Relationship Id="rId272" Type="http://schemas.openxmlformats.org/officeDocument/2006/relationships/slide" Target="slides/slide27.xml"/><Relationship Id="rId273" Type="http://schemas.openxmlformats.org/officeDocument/2006/relationships/slide" Target="slides/slide28.xml"/><Relationship Id="rId274" Type="http://schemas.openxmlformats.org/officeDocument/2006/relationships/slide" Target="slides/slide29.xml"/><Relationship Id="rId275" Type="http://schemas.openxmlformats.org/officeDocument/2006/relationships/slide" Target="slides/slide30.xml"/><Relationship Id="rId276" Type="http://schemas.openxmlformats.org/officeDocument/2006/relationships/slide" Target="slides/slide31.xml"/><Relationship Id="rId277" Type="http://schemas.openxmlformats.org/officeDocument/2006/relationships/slide" Target="slides/slide20.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s>
</file>

<file path=ppt/charts/_rels/chart7.xml.rels><?xml version='1.0' encoding='UTF-8' standalone='yes'?>
<Relationships xmlns="http://schemas.openxmlformats.org/package/2006/relationships"><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 Id="rId10" Type="http://schemas.openxmlformats.org/officeDocument/2006/relationships/image" Target="../media/image43.png"/></Relationships>
</file>

<file path=ppt/charts/_rels/chart8.xml.rels><?xml version='1.0' encoding='UTF-8' standalone='yes'?>
<Relationships xmlns="http://schemas.openxmlformats.org/package/2006/relationships"><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s>
</file>

<file path=ppt/charts/_rels/chart9.xml.rels><?xml version='1.0' encoding='UTF-8' standalone='yes'?>
<Relationships xmlns="http://schemas.openxmlformats.org/package/2006/relationships"><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s>
</file>

<file path=ppt/charts/_rels/chart11.xml.rels><?xml version='1.0' encoding='UTF-8' standalone='yes'?>
<Relationships xmlns="http://schemas.openxmlformats.org/package/2006/relationships"><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image" Target="../media/image83.png"/><Relationship Id="rId9" Type="http://schemas.openxmlformats.org/officeDocument/2006/relationships/image" Target="../media/image84.png"/><Relationship Id="rId10" Type="http://schemas.openxmlformats.org/officeDocument/2006/relationships/image" Target="../media/image85.png"/><Relationship Id="rId11" Type="http://schemas.openxmlformats.org/officeDocument/2006/relationships/image" Target="../media/image86.png"/><Relationship Id="rId12" Type="http://schemas.openxmlformats.org/officeDocument/2006/relationships/image" Target="../media/image87.png"/><Relationship Id="rId13" Type="http://schemas.openxmlformats.org/officeDocument/2006/relationships/image" Target="../media/image88.png"/><Relationship Id="rId14" Type="http://schemas.openxmlformats.org/officeDocument/2006/relationships/image" Target="../media/image89.png"/><Relationship Id="rId15" Type="http://schemas.openxmlformats.org/officeDocument/2006/relationships/image" Target="../media/image90.png"/></Relationships>
</file>

<file path=ppt/charts/_rels/chart12.xml.rels><?xml version='1.0' encoding='UTF-8' standalone='yes'?>
<Relationships xmlns="http://schemas.openxmlformats.org/package/2006/relationships"><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 Id="rId7" Type="http://schemas.openxmlformats.org/officeDocument/2006/relationships/image" Target="../media/image99.png"/><Relationship Id="rId8" Type="http://schemas.openxmlformats.org/officeDocument/2006/relationships/image" Target="../media/image100.png"/><Relationship Id="rId9" Type="http://schemas.openxmlformats.org/officeDocument/2006/relationships/image" Target="../media/image101.png"/><Relationship Id="rId10" Type="http://schemas.openxmlformats.org/officeDocument/2006/relationships/image" Target="../media/image102.png"/><Relationship Id="rId11" Type="http://schemas.openxmlformats.org/officeDocument/2006/relationships/image" Target="../media/image103.png"/><Relationship Id="rId12" Type="http://schemas.openxmlformats.org/officeDocument/2006/relationships/image" Target="../media/image104.png"/><Relationship Id="rId13" Type="http://schemas.openxmlformats.org/officeDocument/2006/relationships/image" Target="../media/image105.png"/><Relationship Id="rId14" Type="http://schemas.openxmlformats.org/officeDocument/2006/relationships/image" Target="../media/image106.png"/><Relationship Id="rId15" Type="http://schemas.openxmlformats.org/officeDocument/2006/relationships/image" Target="../media/image107.png"/></Relationships>
</file>

<file path=ppt/charts/_rels/chart13.xml.rels><?xml version='1.0' encoding='UTF-8' standalone='yes'?>
<Relationships xmlns="http://schemas.openxmlformats.org/package/2006/relationships"><Relationship Id="rId2" Type="http://schemas.openxmlformats.org/officeDocument/2006/relationships/image" Target="../media/image108.png"/></Relationships>
</file>

<file path=ppt/charts/_rels/chart14.xml.rels><?xml version='1.0' encoding='UTF-8' standalone='yes'?>
<Relationships xmlns="http://schemas.openxmlformats.org/package/2006/relationships"><Relationship Id="rId2" Type="http://schemas.openxmlformats.org/officeDocument/2006/relationships/image" Target="../media/image109.png"/></Relationships>
</file>

<file path=ppt/charts/_rels/chart15.xml.rels><?xml version='1.0' encoding='UTF-8' standalone='yes'?>
<Relationships xmlns="http://schemas.openxmlformats.org/package/2006/relationships"><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image" Target="../media/image130.png"/><Relationship Id="rId10" Type="http://schemas.openxmlformats.org/officeDocument/2006/relationships/image" Target="../media/image131.png"/><Relationship Id="rId11" Type="http://schemas.openxmlformats.org/officeDocument/2006/relationships/image" Target="../media/image132.png"/><Relationship Id="rId12" Type="http://schemas.openxmlformats.org/officeDocument/2006/relationships/image" Target="../media/image133.png"/><Relationship Id="rId13" Type="http://schemas.openxmlformats.org/officeDocument/2006/relationships/image" Target="../media/image134.png"/><Relationship Id="rId14" Type="http://schemas.openxmlformats.org/officeDocument/2006/relationships/image" Target="../media/image135.png"/><Relationship Id="rId15" Type="http://schemas.openxmlformats.org/officeDocument/2006/relationships/image" Target="../media/image136.png"/><Relationship Id="rId16" Type="http://schemas.openxmlformats.org/officeDocument/2006/relationships/image" Target="../media/image137.png"/><Relationship Id="rId17" Type="http://schemas.openxmlformats.org/officeDocument/2006/relationships/image" Target="../media/image138.png"/><Relationship Id="rId18" Type="http://schemas.openxmlformats.org/officeDocument/2006/relationships/image" Target="../media/image139.png"/><Relationship Id="rId19" Type="http://schemas.openxmlformats.org/officeDocument/2006/relationships/image" Target="../media/image140.png"/><Relationship Id="rId20" Type="http://schemas.openxmlformats.org/officeDocument/2006/relationships/image" Target="../media/image141.png"/><Relationship Id="rId21" Type="http://schemas.openxmlformats.org/officeDocument/2006/relationships/image" Target="../media/image142.png"/><Relationship Id="rId22" Type="http://schemas.openxmlformats.org/officeDocument/2006/relationships/image" Target="../media/image143.png"/><Relationship Id="rId23" Type="http://schemas.openxmlformats.org/officeDocument/2006/relationships/image" Target="../media/image144.png"/><Relationship Id="rId24" Type="http://schemas.openxmlformats.org/officeDocument/2006/relationships/image" Target="../media/image145.png"/><Relationship Id="rId25" Type="http://schemas.openxmlformats.org/officeDocument/2006/relationships/image" Target="../media/image146.png"/><Relationship Id="rId26" Type="http://schemas.openxmlformats.org/officeDocument/2006/relationships/image" Target="../media/image147.png"/><Relationship Id="rId27" Type="http://schemas.openxmlformats.org/officeDocument/2006/relationships/image" Target="../media/image148.png"/><Relationship Id="rId28" Type="http://schemas.openxmlformats.org/officeDocument/2006/relationships/image" Target="../media/image149.png"/><Relationship Id="rId29" Type="http://schemas.openxmlformats.org/officeDocument/2006/relationships/image" Target="../media/image150.png"/></Relationships>
</file>

<file path=ppt/charts/_rels/chart22.xml.rels><?xml version='1.0' encoding='UTF-8' standalone='yes'?>
<Relationships xmlns="http://schemas.openxmlformats.org/package/2006/relationships"><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 Id="rId8" Type="http://schemas.openxmlformats.org/officeDocument/2006/relationships/image" Target="../media/image157.png"/><Relationship Id="rId9" Type="http://schemas.openxmlformats.org/officeDocument/2006/relationships/image" Target="../media/image158.png"/><Relationship Id="rId10" Type="http://schemas.openxmlformats.org/officeDocument/2006/relationships/image" Target="../media/image159.png"/><Relationship Id="rId11" Type="http://schemas.openxmlformats.org/officeDocument/2006/relationships/image" Target="../media/image160.png"/><Relationship Id="rId12" Type="http://schemas.openxmlformats.org/officeDocument/2006/relationships/image" Target="../media/image161.png"/><Relationship Id="rId13" Type="http://schemas.openxmlformats.org/officeDocument/2006/relationships/image" Target="../media/image162.png"/><Relationship Id="rId14" Type="http://schemas.openxmlformats.org/officeDocument/2006/relationships/image" Target="../media/image163.png"/><Relationship Id="rId15" Type="http://schemas.openxmlformats.org/officeDocument/2006/relationships/image" Target="../media/image164.png"/><Relationship Id="rId16" Type="http://schemas.openxmlformats.org/officeDocument/2006/relationships/image" Target="../media/image165.png"/></Relationships>
</file>

<file path=ppt/charts/_rels/chart23.xml.rels><?xml version='1.0' encoding='UTF-8' standalone='yes'?>
<Relationships xmlns="http://schemas.openxmlformats.org/package/2006/relationships"><Relationship Id="rId2" Type="http://schemas.openxmlformats.org/officeDocument/2006/relationships/image" Target="../media/image178.png"/><Relationship Id="rId3" Type="http://schemas.openxmlformats.org/officeDocument/2006/relationships/image" Target="../media/image179.png"/><Relationship Id="rId4" Type="http://schemas.openxmlformats.org/officeDocument/2006/relationships/image" Target="../media/image180.png"/><Relationship Id="rId5" Type="http://schemas.openxmlformats.org/officeDocument/2006/relationships/image" Target="../media/image181.png"/><Relationship Id="rId6" Type="http://schemas.openxmlformats.org/officeDocument/2006/relationships/image" Target="../media/image182.png"/><Relationship Id="rId7" Type="http://schemas.openxmlformats.org/officeDocument/2006/relationships/image" Target="../media/image183.png"/><Relationship Id="rId8" Type="http://schemas.openxmlformats.org/officeDocument/2006/relationships/image" Target="../media/image184.png"/><Relationship Id="rId9" Type="http://schemas.openxmlformats.org/officeDocument/2006/relationships/image" Target="../media/image185.png"/><Relationship Id="rId10" Type="http://schemas.openxmlformats.org/officeDocument/2006/relationships/image" Target="../media/image186.png"/><Relationship Id="rId11" Type="http://schemas.openxmlformats.org/officeDocument/2006/relationships/image" Target="../media/image187.png"/><Relationship Id="rId12" Type="http://schemas.openxmlformats.org/officeDocument/2006/relationships/image" Target="../media/image188.png"/><Relationship Id="rId13" Type="http://schemas.openxmlformats.org/officeDocument/2006/relationships/image" Target="../media/image189.png"/><Relationship Id="rId14" Type="http://schemas.openxmlformats.org/officeDocument/2006/relationships/image" Target="../media/image190.png"/><Relationship Id="rId15" Type="http://schemas.openxmlformats.org/officeDocument/2006/relationships/image" Target="../media/image191.png"/><Relationship Id="rId16" Type="http://schemas.openxmlformats.org/officeDocument/2006/relationships/image" Target="../media/image192.png"/><Relationship Id="rId17" Type="http://schemas.openxmlformats.org/officeDocument/2006/relationships/image" Target="../media/image193.png"/><Relationship Id="rId18" Type="http://schemas.openxmlformats.org/officeDocument/2006/relationships/image" Target="../media/image194.png"/><Relationship Id="rId19" Type="http://schemas.openxmlformats.org/officeDocument/2006/relationships/image" Target="../media/image195.png"/><Relationship Id="rId20" Type="http://schemas.openxmlformats.org/officeDocument/2006/relationships/image" Target="../media/image196.png"/><Relationship Id="rId21" Type="http://schemas.openxmlformats.org/officeDocument/2006/relationships/image" Target="../media/image197.png"/><Relationship Id="rId22" Type="http://schemas.openxmlformats.org/officeDocument/2006/relationships/image" Target="../media/image198.png"/><Relationship Id="rId23" Type="http://schemas.openxmlformats.org/officeDocument/2006/relationships/image" Target="../media/image199.png"/><Relationship Id="rId24" Type="http://schemas.openxmlformats.org/officeDocument/2006/relationships/image" Target="../media/image200.png"/><Relationship Id="rId25" Type="http://schemas.openxmlformats.org/officeDocument/2006/relationships/image" Target="../media/image201.png"/><Relationship Id="rId26" Type="http://schemas.openxmlformats.org/officeDocument/2006/relationships/image" Target="../media/image202.png"/></Relationships>
</file>

<file path=ppt/charts/_rels/chart29.xml.rels><?xml version='1.0' encoding='UTF-8' standalone='yes'?>
<Relationships xmlns="http://schemas.openxmlformats.org/package/2006/relationships"><Relationship Id="rId2" Type="http://schemas.openxmlformats.org/officeDocument/2006/relationships/image" Target="../media/image203.png"/><Relationship Id="rId3" Type="http://schemas.openxmlformats.org/officeDocument/2006/relationships/image" Target="../media/image204.png"/><Relationship Id="rId4" Type="http://schemas.openxmlformats.org/officeDocument/2006/relationships/image" Target="../media/image205.png"/><Relationship Id="rId5" Type="http://schemas.openxmlformats.org/officeDocument/2006/relationships/image" Target="../media/image206.png"/><Relationship Id="rId6" Type="http://schemas.openxmlformats.org/officeDocument/2006/relationships/image" Target="../media/image207.png"/><Relationship Id="rId7" Type="http://schemas.openxmlformats.org/officeDocument/2006/relationships/image" Target="../media/image208.png"/><Relationship Id="rId8" Type="http://schemas.openxmlformats.org/officeDocument/2006/relationships/image" Target="../media/image209.png"/><Relationship Id="rId9" Type="http://schemas.openxmlformats.org/officeDocument/2006/relationships/image" Target="../media/image210.png"/><Relationship Id="rId10" Type="http://schemas.openxmlformats.org/officeDocument/2006/relationships/image" Target="../media/image211.png"/><Relationship Id="rId11" Type="http://schemas.openxmlformats.org/officeDocument/2006/relationships/image" Target="../media/image212.png"/><Relationship Id="rId12" Type="http://schemas.openxmlformats.org/officeDocument/2006/relationships/image" Target="../media/image213.png"/><Relationship Id="rId13" Type="http://schemas.openxmlformats.org/officeDocument/2006/relationships/image" Target="../media/image214.png"/></Relationships>
</file>

<file path=ppt/charts/_rels/chart30.xml.rels><?xml version='1.0' encoding='UTF-8' standalone='yes'?>
<Relationships xmlns="http://schemas.openxmlformats.org/package/2006/relationships"><Relationship Id="rId2" Type="http://schemas.openxmlformats.org/officeDocument/2006/relationships/image" Target="../media/image226.png"/><Relationship Id="rId3" Type="http://schemas.openxmlformats.org/officeDocument/2006/relationships/image" Target="../media/image227.png"/><Relationship Id="rId4" Type="http://schemas.openxmlformats.org/officeDocument/2006/relationships/image" Target="../media/image228.png"/><Relationship Id="rId5" Type="http://schemas.openxmlformats.org/officeDocument/2006/relationships/image" Target="../media/image229.png"/><Relationship Id="rId6" Type="http://schemas.openxmlformats.org/officeDocument/2006/relationships/image" Target="../media/image230.png"/><Relationship Id="rId7" Type="http://schemas.openxmlformats.org/officeDocument/2006/relationships/image" Target="../media/image231.png"/><Relationship Id="rId8" Type="http://schemas.openxmlformats.org/officeDocument/2006/relationships/image" Target="../media/image232.png"/><Relationship Id="rId9" Type="http://schemas.openxmlformats.org/officeDocument/2006/relationships/image" Target="../media/image233.png"/><Relationship Id="rId10" Type="http://schemas.openxmlformats.org/officeDocument/2006/relationships/image" Target="../media/image234.png"/><Relationship Id="rId11" Type="http://schemas.openxmlformats.org/officeDocument/2006/relationships/image" Target="../media/image235.png"/><Relationship Id="rId12" Type="http://schemas.openxmlformats.org/officeDocument/2006/relationships/image" Target="../media/image236.png"/><Relationship Id="rId13" Type="http://schemas.openxmlformats.org/officeDocument/2006/relationships/image" Target="../media/image237.png"/><Relationship Id="rId14" Type="http://schemas.openxmlformats.org/officeDocument/2006/relationships/image" Target="../media/image238.png"/><Relationship Id="rId15" Type="http://schemas.openxmlformats.org/officeDocument/2006/relationships/image" Target="../media/image239.png"/><Relationship Id="rId16" Type="http://schemas.openxmlformats.org/officeDocument/2006/relationships/image" Target="../media/image240.png"/><Relationship Id="rId17" Type="http://schemas.openxmlformats.org/officeDocument/2006/relationships/image" Target="../media/image241.png"/><Relationship Id="rId18" Type="http://schemas.openxmlformats.org/officeDocument/2006/relationships/image" Target="../media/image242.png"/><Relationship Id="rId19" Type="http://schemas.openxmlformats.org/officeDocument/2006/relationships/image" Target="../media/image243.png"/><Relationship Id="rId20" Type="http://schemas.openxmlformats.org/officeDocument/2006/relationships/image" Target="../media/image244.png"/><Relationship Id="rId21" Type="http://schemas.openxmlformats.org/officeDocument/2006/relationships/image" Target="../media/image245.png"/><Relationship Id="rId22" Type="http://schemas.openxmlformats.org/officeDocument/2006/relationships/image" Target="../media/image246.png"/><Relationship Id="rId23" Type="http://schemas.openxmlformats.org/officeDocument/2006/relationships/image" Target="../media/image247.png"/><Relationship Id="rId24" Type="http://schemas.openxmlformats.org/officeDocument/2006/relationships/image" Target="../media/image248.png"/><Relationship Id="rId25" Type="http://schemas.openxmlformats.org/officeDocument/2006/relationships/image" Target="../media/image249.png"/></Relationships>
</file>

<file path=ppt/charts/_rels/chart36.xml.rels><?xml version='1.0' encoding='UTF-8' standalone='yes'?>
<Relationships xmlns="http://schemas.openxmlformats.org/package/2006/relationships"><Relationship Id="rId2" Type="http://schemas.openxmlformats.org/officeDocument/2006/relationships/image" Target="../media/image250.png"/><Relationship Id="rId3" Type="http://schemas.openxmlformats.org/officeDocument/2006/relationships/image" Target="../media/image251.png"/><Relationship Id="rId4" Type="http://schemas.openxmlformats.org/officeDocument/2006/relationships/image" Target="../media/image252.png"/><Relationship Id="rId5" Type="http://schemas.openxmlformats.org/officeDocument/2006/relationships/image" Target="../media/image253.png"/><Relationship Id="rId6" Type="http://schemas.openxmlformats.org/officeDocument/2006/relationships/image" Target="../media/image254.png"/><Relationship Id="rId7" Type="http://schemas.openxmlformats.org/officeDocument/2006/relationships/image" Target="../media/image255.png"/><Relationship Id="rId8" Type="http://schemas.openxmlformats.org/officeDocument/2006/relationships/image" Target="../media/image256.png"/><Relationship Id="rId9" Type="http://schemas.openxmlformats.org/officeDocument/2006/relationships/image" Target="../media/image257.png"/><Relationship Id="rId10" Type="http://schemas.openxmlformats.org/officeDocument/2006/relationships/image" Target="../media/image258.png"/><Relationship Id="rId11" Type="http://schemas.openxmlformats.org/officeDocument/2006/relationships/image" Target="../media/image259.png"/><Relationship Id="rId12" Type="http://schemas.openxmlformats.org/officeDocument/2006/relationships/image" Target="../media/image260.png"/></Relationships>
</file>

<file path=ppt/charts/_rels/chart37.xml.rels><?xml version='1.0' encoding='UTF-8' standalone='yes'?>
<Relationships xmlns="http://schemas.openxmlformats.org/package/2006/relationships"><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image" Target="../media/image273.png"/><Relationship Id="rId5" Type="http://schemas.openxmlformats.org/officeDocument/2006/relationships/image" Target="../media/image274.png"/><Relationship Id="rId6" Type="http://schemas.openxmlformats.org/officeDocument/2006/relationships/image" Target="../media/image275.png"/><Relationship Id="rId7" Type="http://schemas.openxmlformats.org/officeDocument/2006/relationships/image" Target="../media/image276.png"/><Relationship Id="rId8" Type="http://schemas.openxmlformats.org/officeDocument/2006/relationships/image" Target="../media/image277.png"/><Relationship Id="rId9" Type="http://schemas.openxmlformats.org/officeDocument/2006/relationships/image" Target="../media/image278.png"/><Relationship Id="rId10" Type="http://schemas.openxmlformats.org/officeDocument/2006/relationships/image" Target="../media/image279.png"/><Relationship Id="rId11" Type="http://schemas.openxmlformats.org/officeDocument/2006/relationships/image" Target="../media/image280.png"/><Relationship Id="rId12" Type="http://schemas.openxmlformats.org/officeDocument/2006/relationships/image" Target="../media/image281.png"/><Relationship Id="rId13" Type="http://schemas.openxmlformats.org/officeDocument/2006/relationships/image" Target="../media/image282.png"/><Relationship Id="rId14" Type="http://schemas.openxmlformats.org/officeDocument/2006/relationships/image" Target="../media/image283.png"/><Relationship Id="rId15" Type="http://schemas.openxmlformats.org/officeDocument/2006/relationships/image" Target="../media/image284.png"/><Relationship Id="rId16" Type="http://schemas.openxmlformats.org/officeDocument/2006/relationships/image" Target="../media/image285.png"/><Relationship Id="rId17" Type="http://schemas.openxmlformats.org/officeDocument/2006/relationships/image" Target="../media/image286.png"/><Relationship Id="rId18" Type="http://schemas.openxmlformats.org/officeDocument/2006/relationships/image" Target="../media/image287.png"/><Relationship Id="rId19" Type="http://schemas.openxmlformats.org/officeDocument/2006/relationships/image" Target="../media/image288.png"/><Relationship Id="rId20" Type="http://schemas.openxmlformats.org/officeDocument/2006/relationships/image" Target="../media/image289.png"/><Relationship Id="rId21" Type="http://schemas.openxmlformats.org/officeDocument/2006/relationships/image" Target="../media/image290.png"/><Relationship Id="rId22" Type="http://schemas.openxmlformats.org/officeDocument/2006/relationships/image" Target="../media/image291.png"/><Relationship Id="rId23" Type="http://schemas.openxmlformats.org/officeDocument/2006/relationships/image" Target="../media/image292.png"/><Relationship Id="rId24" Type="http://schemas.openxmlformats.org/officeDocument/2006/relationships/image" Target="../media/image293.png"/><Relationship Id="rId25" Type="http://schemas.openxmlformats.org/officeDocument/2006/relationships/image" Target="../media/image294.png"/><Relationship Id="rId26" Type="http://schemas.openxmlformats.org/officeDocument/2006/relationships/image" Target="../media/image295.png"/><Relationship Id="rId27" Type="http://schemas.openxmlformats.org/officeDocument/2006/relationships/image" Target="../media/image296.png"/><Relationship Id="rId28" Type="http://schemas.openxmlformats.org/officeDocument/2006/relationships/image" Target="../media/image297.png"/></Relationships>
</file>

<file path=ppt/charts/_rels/chart43.xml.rels><?xml version='1.0' encoding='UTF-8' standalone='yes'?>
<Relationships xmlns="http://schemas.openxmlformats.org/package/2006/relationships"><Relationship Id="rId2" Type="http://schemas.openxmlformats.org/officeDocument/2006/relationships/image" Target="../media/image298.png"/><Relationship Id="rId3" Type="http://schemas.openxmlformats.org/officeDocument/2006/relationships/image" Target="../media/image299.png"/><Relationship Id="rId4" Type="http://schemas.openxmlformats.org/officeDocument/2006/relationships/image" Target="../media/image300.png"/><Relationship Id="rId5" Type="http://schemas.openxmlformats.org/officeDocument/2006/relationships/image" Target="../media/image301.png"/><Relationship Id="rId6" Type="http://schemas.openxmlformats.org/officeDocument/2006/relationships/image" Target="../media/image302.png"/><Relationship Id="rId7" Type="http://schemas.openxmlformats.org/officeDocument/2006/relationships/image" Target="../media/image303.png"/><Relationship Id="rId8" Type="http://schemas.openxmlformats.org/officeDocument/2006/relationships/image" Target="../media/image304.png"/><Relationship Id="rId9" Type="http://schemas.openxmlformats.org/officeDocument/2006/relationships/image" Target="../media/image305.png"/><Relationship Id="rId10" Type="http://schemas.openxmlformats.org/officeDocument/2006/relationships/image" Target="../media/image306.png"/><Relationship Id="rId11" Type="http://schemas.openxmlformats.org/officeDocument/2006/relationships/image" Target="../media/image307.png"/><Relationship Id="rId12" Type="http://schemas.openxmlformats.org/officeDocument/2006/relationships/image" Target="../media/image308.png"/><Relationship Id="rId13" Type="http://schemas.openxmlformats.org/officeDocument/2006/relationships/image" Target="../media/image309.png"/></Relationships>
</file>

<file path=ppt/charts/_rels/chart44.xml.rels><?xml version='1.0' encoding='UTF-8' standalone='yes'?>
<Relationships xmlns="http://schemas.openxmlformats.org/package/2006/relationships"><Relationship Id="rId2" Type="http://schemas.openxmlformats.org/officeDocument/2006/relationships/image" Target="../media/image310.png"/></Relationships>
</file>

<file path=ppt/charts/_rels/chart46.xml.rels><?xml version='1.0' encoding='UTF-8' standalone='yes'?>
<Relationships xmlns="http://schemas.openxmlformats.org/package/2006/relationships"><Relationship Id="rId2" Type="http://schemas.openxmlformats.org/officeDocument/2006/relationships/image" Target="../media/image311.png"/></Relationships>
</file>

<file path=ppt/charts/_rels/chart48.xml.rels><?xml version='1.0' encoding='UTF-8' standalone='yes'?>
<Relationships xmlns="http://schemas.openxmlformats.org/package/2006/relationships"><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20.png"/><Relationship Id="rId11" Type="http://schemas.openxmlformats.org/officeDocument/2006/relationships/image" Target="../media/image321.png"/></Relationships>
</file>

<file path=ppt/charts/_rels/chart49.xml.rels><?xml version='1.0' encoding='UTF-8' standalone='yes'?>
<Relationships xmlns="http://schemas.openxmlformats.org/package/2006/relationships"><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30.png"/><Relationship Id="rId11" Type="http://schemas.openxmlformats.org/officeDocument/2006/relationships/image" Target="../media/image331.png"/><Relationship Id="rId12" Type="http://schemas.openxmlformats.org/officeDocument/2006/relationships/image" Target="../media/image332.png"/><Relationship Id="rId13" Type="http://schemas.openxmlformats.org/officeDocument/2006/relationships/image" Target="../media/image333.png"/><Relationship Id="rId14" Type="http://schemas.openxmlformats.org/officeDocument/2006/relationships/image" Target="../media/image334.png"/><Relationship Id="rId15" Type="http://schemas.openxmlformats.org/officeDocument/2006/relationships/image" Target="../media/image335.png"/><Relationship Id="rId16" Type="http://schemas.openxmlformats.org/officeDocument/2006/relationships/image" Target="../media/image336.png"/><Relationship Id="rId17" Type="http://schemas.openxmlformats.org/officeDocument/2006/relationships/image" Target="../media/image337.png"/><Relationship Id="rId18" Type="http://schemas.openxmlformats.org/officeDocument/2006/relationships/image" Target="../media/image338.png"/><Relationship Id="rId19" Type="http://schemas.openxmlformats.org/officeDocument/2006/relationships/image" Target="../media/image339.png"/><Relationship Id="rId20" Type="http://schemas.openxmlformats.org/officeDocument/2006/relationships/image" Target="../media/image340.png"/><Relationship Id="rId21" Type="http://schemas.openxmlformats.org/officeDocument/2006/relationships/image" Target="../media/image341.png"/><Relationship Id="rId22" Type="http://schemas.openxmlformats.org/officeDocument/2006/relationships/image" Target="../media/image342.png"/><Relationship Id="rId23" Type="http://schemas.openxmlformats.org/officeDocument/2006/relationships/image" Target="../media/image343.png"/></Relationships>
</file>

<file path=ppt/charts/_rels/chart50.xml.rels><?xml version='1.0' encoding='UTF-8' standalone='yes'?>
<Relationships xmlns="http://schemas.openxmlformats.org/package/2006/relationships"><Relationship Id="rId2" Type="http://schemas.openxmlformats.org/officeDocument/2006/relationships/image" Target="../media/image344.png"/><Relationship Id="rId3" Type="http://schemas.openxmlformats.org/officeDocument/2006/relationships/image" Target="../media/image345.png"/><Relationship Id="rId4" Type="http://schemas.openxmlformats.org/officeDocument/2006/relationships/image" Target="../media/image346.png"/></Relationships>
</file>

<file path=ppt/charts/_rels/chart51.xml.rels><?xml version='1.0' encoding='UTF-8' standalone='yes'?>
<Relationships xmlns="http://schemas.openxmlformats.org/package/2006/relationships"><Relationship Id="rId2" Type="http://schemas.openxmlformats.org/officeDocument/2006/relationships/image" Target="../media/image347.png"/><Relationship Id="rId3" Type="http://schemas.openxmlformats.org/officeDocument/2006/relationships/image" Target="../media/image348.png"/><Relationship Id="rId4" Type="http://schemas.openxmlformats.org/officeDocument/2006/relationships/image" Target="../media/image349.png"/></Relationships>
</file>

<file path=ppt/charts/_rels/chart52.xml.rels><?xml version='1.0' encoding='UTF-8' standalone='yes'?>
<Relationships xmlns="http://schemas.openxmlformats.org/package/2006/relationships"><Relationship Id="rId2" Type="http://schemas.openxmlformats.org/officeDocument/2006/relationships/image" Target="../media/image350.png"/><Relationship Id="rId3" Type="http://schemas.openxmlformats.org/officeDocument/2006/relationships/image" Target="../media/image351.png"/><Relationship Id="rId4" Type="http://schemas.openxmlformats.org/officeDocument/2006/relationships/image" Target="../media/image352.png"/><Relationship Id="rId5" Type="http://schemas.openxmlformats.org/officeDocument/2006/relationships/image" Target="../media/image353.png"/><Relationship Id="rId6" Type="http://schemas.openxmlformats.org/officeDocument/2006/relationships/image" Target="../media/image354.png"/></Relationships>
</file>

<file path=ppt/charts/_rels/chart54.xml.rels><?xml version='1.0' encoding='UTF-8' standalone='yes'?>
<Relationships xmlns="http://schemas.openxmlformats.org/package/2006/relationships"><Relationship Id="rId2" Type="http://schemas.openxmlformats.org/officeDocument/2006/relationships/image" Target="../media/image355.png"/><Relationship Id="rId3" Type="http://schemas.openxmlformats.org/officeDocument/2006/relationships/image" Target="../media/image356.png"/><Relationship Id="rId4" Type="http://schemas.openxmlformats.org/officeDocument/2006/relationships/image" Target="../media/image357.png"/><Relationship Id="rId5" Type="http://schemas.openxmlformats.org/officeDocument/2006/relationships/image" Target="../media/image358.png"/><Relationship Id="rId6" Type="http://schemas.openxmlformats.org/officeDocument/2006/relationships/image" Target="../media/image359.png"/><Relationship Id="rId7" Type="http://schemas.openxmlformats.org/officeDocument/2006/relationships/image" Target="../media/image360.png"/></Relationships>
</file>

<file path=ppt/charts/_rels/chart55.xml.rels><?xml version='1.0' encoding='UTF-8' standalone='yes'?>
<Relationships xmlns="http://schemas.openxmlformats.org/package/2006/relationships"><Relationship Id="rId2" Type="http://schemas.openxmlformats.org/officeDocument/2006/relationships/image" Target="../media/image361.png"/><Relationship Id="rId3" Type="http://schemas.openxmlformats.org/officeDocument/2006/relationships/image" Target="../media/image362.png"/><Relationship Id="rId4" Type="http://schemas.openxmlformats.org/officeDocument/2006/relationships/image" Target="../media/image363.png"/><Relationship Id="rId5" Type="http://schemas.openxmlformats.org/officeDocument/2006/relationships/image" Target="../media/image364.png"/><Relationship Id="rId6" Type="http://schemas.openxmlformats.org/officeDocument/2006/relationships/image" Target="../media/image365.png"/><Relationship Id="rId7" Type="http://schemas.openxmlformats.org/officeDocument/2006/relationships/image" Target="../media/image366.png"/></Relationships>
</file>

<file path=ppt/charts/_rels/chart56.xml.rels><?xml version='1.0' encoding='UTF-8' standalone='yes'?>
<Relationships xmlns="http://schemas.openxmlformats.org/package/2006/relationships"><Relationship Id="rId2" Type="http://schemas.openxmlformats.org/officeDocument/2006/relationships/image" Target="../media/image367.png"/><Relationship Id="rId3" Type="http://schemas.openxmlformats.org/officeDocument/2006/relationships/image" Target="../media/image368.png"/><Relationship Id="rId4" Type="http://schemas.openxmlformats.org/officeDocument/2006/relationships/image" Target="../media/image369.png"/><Relationship Id="rId5" Type="http://schemas.openxmlformats.org/officeDocument/2006/relationships/image" Target="../media/image370.png"/><Relationship Id="rId6" Type="http://schemas.openxmlformats.org/officeDocument/2006/relationships/image" Target="../media/image371.png"/><Relationship Id="rId7" Type="http://schemas.openxmlformats.org/officeDocument/2006/relationships/image" Target="../media/image372.png"/><Relationship Id="rId8" Type="http://schemas.openxmlformats.org/officeDocument/2006/relationships/image" Target="../media/image373.png"/><Relationship Id="rId9" Type="http://schemas.openxmlformats.org/officeDocument/2006/relationships/image" Target="../media/image374.png"/><Relationship Id="rId10" Type="http://schemas.openxmlformats.org/officeDocument/2006/relationships/image" Target="../media/image375.png"/><Relationship Id="rId11" Type="http://schemas.openxmlformats.org/officeDocument/2006/relationships/image" Target="../media/image376.png"/><Relationship Id="rId12" Type="http://schemas.openxmlformats.org/officeDocument/2006/relationships/image" Target="../media/image377.png"/><Relationship Id="rId13" Type="http://schemas.openxmlformats.org/officeDocument/2006/relationships/image" Target="../media/image378.png"/><Relationship Id="rId14" Type="http://schemas.openxmlformats.org/officeDocument/2006/relationships/image" Target="../media/image379.png"/><Relationship Id="rId15" Type="http://schemas.openxmlformats.org/officeDocument/2006/relationships/image" Target="../media/image380.png"/><Relationship Id="rId16" Type="http://schemas.openxmlformats.org/officeDocument/2006/relationships/image" Target="../media/image381.png"/><Relationship Id="rId17" Type="http://schemas.openxmlformats.org/officeDocument/2006/relationships/image" Target="../media/image382.png"/><Relationship Id="rId18" Type="http://schemas.openxmlformats.org/officeDocument/2006/relationships/image" Target="../media/image383.png"/><Relationship Id="rId19" Type="http://schemas.openxmlformats.org/officeDocument/2006/relationships/image" Target="../media/image384.png"/><Relationship Id="rId20" Type="http://schemas.openxmlformats.org/officeDocument/2006/relationships/image" Target="../media/image385.png"/><Relationship Id="rId21" Type="http://schemas.openxmlformats.org/officeDocument/2006/relationships/image" Target="../media/image386.png"/><Relationship Id="rId22" Type="http://schemas.openxmlformats.org/officeDocument/2006/relationships/image" Target="../media/image387.png"/><Relationship Id="rId23" Type="http://schemas.openxmlformats.org/officeDocument/2006/relationships/image" Target="../media/image388.png"/><Relationship Id="rId24" Type="http://schemas.openxmlformats.org/officeDocument/2006/relationships/image" Target="../media/image389.png"/><Relationship Id="rId25" Type="http://schemas.openxmlformats.org/officeDocument/2006/relationships/image" Target="../media/image390.png"/><Relationship Id="rId26" Type="http://schemas.openxmlformats.org/officeDocument/2006/relationships/image" Target="../media/image391.png"/><Relationship Id="rId27" Type="http://schemas.openxmlformats.org/officeDocument/2006/relationships/image" Target="../media/image392.png"/><Relationship Id="rId28" Type="http://schemas.openxmlformats.org/officeDocument/2006/relationships/image" Target="../media/image393.png"/><Relationship Id="rId29" Type="http://schemas.openxmlformats.org/officeDocument/2006/relationships/image" Target="../media/image394.png"/><Relationship Id="rId30" Type="http://schemas.openxmlformats.org/officeDocument/2006/relationships/image" Target="../media/image395.png"/><Relationship Id="rId31" Type="http://schemas.openxmlformats.org/officeDocument/2006/relationships/image" Target="../media/image396.png"/><Relationship Id="rId32" Type="http://schemas.openxmlformats.org/officeDocument/2006/relationships/image" Target="../media/image397.png"/><Relationship Id="rId33" Type="http://schemas.openxmlformats.org/officeDocument/2006/relationships/image" Target="../media/image398.png"/><Relationship Id="rId34" Type="http://schemas.openxmlformats.org/officeDocument/2006/relationships/image" Target="../media/image399.png"/><Relationship Id="rId35" Type="http://schemas.openxmlformats.org/officeDocument/2006/relationships/image" Target="../media/image400.png"/><Relationship Id="rId36" Type="http://schemas.openxmlformats.org/officeDocument/2006/relationships/image" Target="../media/image401.png"/><Relationship Id="rId37" Type="http://schemas.openxmlformats.org/officeDocument/2006/relationships/image" Target="../media/image402.png"/><Relationship Id="rId38" Type="http://schemas.openxmlformats.org/officeDocument/2006/relationships/image" Target="../media/image403.png"/><Relationship Id="rId39" Type="http://schemas.openxmlformats.org/officeDocument/2006/relationships/image" Target="../media/image404.png"/><Relationship Id="rId40" Type="http://schemas.openxmlformats.org/officeDocument/2006/relationships/image" Target="../media/image405.png"/><Relationship Id="rId41" Type="http://schemas.openxmlformats.org/officeDocument/2006/relationships/image" Target="../media/image406.png"/><Relationship Id="rId42" Type="http://schemas.openxmlformats.org/officeDocument/2006/relationships/image" Target="../media/image407.png"/><Relationship Id="rId43" Type="http://schemas.openxmlformats.org/officeDocument/2006/relationships/image" Target="../media/image408.png"/><Relationship Id="rId44" Type="http://schemas.openxmlformats.org/officeDocument/2006/relationships/image" Target="../media/image409.png"/><Relationship Id="rId45" Type="http://schemas.openxmlformats.org/officeDocument/2006/relationships/image" Target="../media/image410.png"/><Relationship Id="rId46" Type="http://schemas.openxmlformats.org/officeDocument/2006/relationships/image" Target="../media/image411.png"/><Relationship Id="rId47" Type="http://schemas.openxmlformats.org/officeDocument/2006/relationships/image" Target="../media/image412.png"/><Relationship Id="rId48" Type="http://schemas.openxmlformats.org/officeDocument/2006/relationships/image" Target="../media/image413.png"/><Relationship Id="rId49" Type="http://schemas.openxmlformats.org/officeDocument/2006/relationships/image" Target="../media/image414.png"/></Relationships>
</file>

<file path=ppt/charts/_rels/chart57.xml.rels><?xml version='1.0' encoding='UTF-8' standalone='yes'?>
<Relationships xmlns="http://schemas.openxmlformats.org/package/2006/relationships"><Relationship Id="rId2" Type="http://schemas.openxmlformats.org/officeDocument/2006/relationships/image" Target="../media/image415.png"/><Relationship Id="rId3" Type="http://schemas.openxmlformats.org/officeDocument/2006/relationships/image" Target="../media/image416.png"/><Relationship Id="rId4" Type="http://schemas.openxmlformats.org/officeDocument/2006/relationships/image" Target="../media/image417.png"/><Relationship Id="rId5" Type="http://schemas.openxmlformats.org/officeDocument/2006/relationships/image" Target="../media/image418.png"/><Relationship Id="rId6" Type="http://schemas.openxmlformats.org/officeDocument/2006/relationships/image" Target="../media/image419.png"/><Relationship Id="rId7" Type="http://schemas.openxmlformats.org/officeDocument/2006/relationships/image" Target="../media/image420.png"/><Relationship Id="rId8" Type="http://schemas.openxmlformats.org/officeDocument/2006/relationships/image" Target="../media/image421.png"/><Relationship Id="rId9" Type="http://schemas.openxmlformats.org/officeDocument/2006/relationships/image" Target="../media/image422.png"/><Relationship Id="rId10" Type="http://schemas.openxmlformats.org/officeDocument/2006/relationships/image" Target="../media/image423.png"/><Relationship Id="rId11" Type="http://schemas.openxmlformats.org/officeDocument/2006/relationships/image" Target="../media/image424.png"/><Relationship Id="rId12" Type="http://schemas.openxmlformats.org/officeDocument/2006/relationships/image" Target="../media/image425.png"/><Relationship Id="rId13" Type="http://schemas.openxmlformats.org/officeDocument/2006/relationships/image" Target="../media/image426.png"/><Relationship Id="rId14" Type="http://schemas.openxmlformats.org/officeDocument/2006/relationships/image" Target="../media/image427.png"/><Relationship Id="rId15" Type="http://schemas.openxmlformats.org/officeDocument/2006/relationships/image" Target="../media/image428.png"/><Relationship Id="rId16" Type="http://schemas.openxmlformats.org/officeDocument/2006/relationships/image" Target="../media/image429.png"/><Relationship Id="rId17" Type="http://schemas.openxmlformats.org/officeDocument/2006/relationships/image" Target="../media/image430.png"/><Relationship Id="rId18" Type="http://schemas.openxmlformats.org/officeDocument/2006/relationships/image" Target="../media/image431.png"/><Relationship Id="rId19" Type="http://schemas.openxmlformats.org/officeDocument/2006/relationships/image" Target="../media/image432.png"/><Relationship Id="rId20" Type="http://schemas.openxmlformats.org/officeDocument/2006/relationships/image" Target="../media/image433.png"/><Relationship Id="rId21" Type="http://schemas.openxmlformats.org/officeDocument/2006/relationships/image" Target="../media/image434.png"/><Relationship Id="rId22" Type="http://schemas.openxmlformats.org/officeDocument/2006/relationships/image" Target="../media/image435.png"/><Relationship Id="rId23" Type="http://schemas.openxmlformats.org/officeDocument/2006/relationships/image" Target="../media/image436.png"/><Relationship Id="rId24" Type="http://schemas.openxmlformats.org/officeDocument/2006/relationships/image" Target="../media/image437.png"/><Relationship Id="rId25" Type="http://schemas.openxmlformats.org/officeDocument/2006/relationships/image" Target="../media/image438.png"/><Relationship Id="rId26" Type="http://schemas.openxmlformats.org/officeDocument/2006/relationships/image" Target="../media/image439.png"/><Relationship Id="rId27" Type="http://schemas.openxmlformats.org/officeDocument/2006/relationships/image" Target="../media/image440.png"/><Relationship Id="rId28" Type="http://schemas.openxmlformats.org/officeDocument/2006/relationships/image" Target="../media/image441.png"/><Relationship Id="rId29" Type="http://schemas.openxmlformats.org/officeDocument/2006/relationships/image" Target="../media/image442.png"/><Relationship Id="rId30" Type="http://schemas.openxmlformats.org/officeDocument/2006/relationships/image" Target="../media/image443.png"/><Relationship Id="rId31" Type="http://schemas.openxmlformats.org/officeDocument/2006/relationships/image" Target="../media/image444.png"/><Relationship Id="rId32" Type="http://schemas.openxmlformats.org/officeDocument/2006/relationships/image" Target="../media/image445.png"/><Relationship Id="rId33" Type="http://schemas.openxmlformats.org/officeDocument/2006/relationships/image" Target="../media/image446.png"/><Relationship Id="rId34" Type="http://schemas.openxmlformats.org/officeDocument/2006/relationships/image" Target="../media/image447.png"/><Relationship Id="rId35" Type="http://schemas.openxmlformats.org/officeDocument/2006/relationships/image" Target="../media/image448.png"/><Relationship Id="rId36" Type="http://schemas.openxmlformats.org/officeDocument/2006/relationships/image" Target="../media/image449.png"/><Relationship Id="rId37" Type="http://schemas.openxmlformats.org/officeDocument/2006/relationships/image" Target="../media/image450.png"/><Relationship Id="rId38" Type="http://schemas.openxmlformats.org/officeDocument/2006/relationships/image" Target="../media/image451.png"/><Relationship Id="rId39" Type="http://schemas.openxmlformats.org/officeDocument/2006/relationships/image" Target="../media/image452.png"/><Relationship Id="rId40" Type="http://schemas.openxmlformats.org/officeDocument/2006/relationships/image" Target="../media/image453.png"/><Relationship Id="rId41" Type="http://schemas.openxmlformats.org/officeDocument/2006/relationships/image" Target="../media/image454.png"/><Relationship Id="rId42" Type="http://schemas.openxmlformats.org/officeDocument/2006/relationships/image" Target="../media/image455.png"/><Relationship Id="rId43" Type="http://schemas.openxmlformats.org/officeDocument/2006/relationships/image" Target="../media/image456.png"/><Relationship Id="rId44" Type="http://schemas.openxmlformats.org/officeDocument/2006/relationships/image" Target="../media/image457.png"/><Relationship Id="rId45" Type="http://schemas.openxmlformats.org/officeDocument/2006/relationships/image" Target="../media/image458.png"/><Relationship Id="rId46" Type="http://schemas.openxmlformats.org/officeDocument/2006/relationships/image" Target="../media/image459.png"/><Relationship Id="rId47" Type="http://schemas.openxmlformats.org/officeDocument/2006/relationships/image" Target="../media/image460.png"/><Relationship Id="rId48" Type="http://schemas.openxmlformats.org/officeDocument/2006/relationships/image" Target="../media/image461.png"/><Relationship Id="rId49" Type="http://schemas.openxmlformats.org/officeDocument/2006/relationships/image" Target="../media/image462.png"/></Relationships>
</file>

<file path=ppt/charts/_rels/chart58.xml.rels><?xml version='1.0' encoding='UTF-8' standalone='yes'?>
<Relationships xmlns="http://schemas.openxmlformats.org/package/2006/relationships"><Relationship Id="rId2" Type="http://schemas.openxmlformats.org/officeDocument/2006/relationships/image" Target="../media/image477.png"/><Relationship Id="rId3" Type="http://schemas.openxmlformats.org/officeDocument/2006/relationships/image" Target="../media/image478.png"/><Relationship Id="rId4" Type="http://schemas.openxmlformats.org/officeDocument/2006/relationships/image" Target="../media/image479.png"/><Relationship Id="rId5" Type="http://schemas.openxmlformats.org/officeDocument/2006/relationships/image" Target="../media/image480.png"/><Relationship Id="rId6" Type="http://schemas.openxmlformats.org/officeDocument/2006/relationships/image" Target="../media/image481.png"/><Relationship Id="rId7" Type="http://schemas.openxmlformats.org/officeDocument/2006/relationships/image" Target="../media/image482.png"/><Relationship Id="rId8" Type="http://schemas.openxmlformats.org/officeDocument/2006/relationships/image" Target="../media/image483.png"/><Relationship Id="rId9" Type="http://schemas.openxmlformats.org/officeDocument/2006/relationships/image" Target="../media/image484.png"/><Relationship Id="rId10" Type="http://schemas.openxmlformats.org/officeDocument/2006/relationships/image" Target="../media/image485.png"/><Relationship Id="rId11" Type="http://schemas.openxmlformats.org/officeDocument/2006/relationships/image" Target="../media/image486.png"/><Relationship Id="rId12" Type="http://schemas.openxmlformats.org/officeDocument/2006/relationships/image" Target="../media/image487.png"/><Relationship Id="rId13" Type="http://schemas.openxmlformats.org/officeDocument/2006/relationships/image" Target="../media/image488.png"/><Relationship Id="rId14" Type="http://schemas.openxmlformats.org/officeDocument/2006/relationships/image" Target="../media/image489.png"/><Relationship Id="rId15" Type="http://schemas.openxmlformats.org/officeDocument/2006/relationships/image" Target="../media/image490.png"/><Relationship Id="rId16" Type="http://schemas.openxmlformats.org/officeDocument/2006/relationships/image" Target="../media/image491.png"/></Relationships>
</file>

<file path=ppt/charts/_rels/chart65.xml.rels><?xml version='1.0' encoding='UTF-8' standalone='yes'?>
<Relationships xmlns="http://schemas.openxmlformats.org/package/2006/relationships"><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500.png"/><Relationship Id="rId11" Type="http://schemas.openxmlformats.org/officeDocument/2006/relationships/image" Target="../media/image501.png"/><Relationship Id="rId12" Type="http://schemas.openxmlformats.org/officeDocument/2006/relationships/image" Target="../media/image502.png"/><Relationship Id="rId13" Type="http://schemas.openxmlformats.org/officeDocument/2006/relationships/image" Target="../media/image503.png"/><Relationship Id="rId14" Type="http://schemas.openxmlformats.org/officeDocument/2006/relationships/image" Target="../media/image504.png"/></Relationships>
</file>

<file path=ppt/charts/_rels/chart66.xml.rels><?xml version='1.0' encoding='UTF-8' standalone='yes'?>
<Relationships xmlns="http://schemas.openxmlformats.org/package/2006/relationships"><Relationship Id="rId2" Type="http://schemas.openxmlformats.org/officeDocument/2006/relationships/image" Target="../media/image516.png"/><Relationship Id="rId3" Type="http://schemas.openxmlformats.org/officeDocument/2006/relationships/image" Target="../media/image517.png"/><Relationship Id="rId4" Type="http://schemas.openxmlformats.org/officeDocument/2006/relationships/image" Target="../media/image518.png"/><Relationship Id="rId5" Type="http://schemas.openxmlformats.org/officeDocument/2006/relationships/image" Target="../media/image519.png"/><Relationship Id="rId6" Type="http://schemas.openxmlformats.org/officeDocument/2006/relationships/image" Target="../media/image520.png"/><Relationship Id="rId7" Type="http://schemas.openxmlformats.org/officeDocument/2006/relationships/image" Target="../media/image521.png"/><Relationship Id="rId8" Type="http://schemas.openxmlformats.org/officeDocument/2006/relationships/image" Target="../media/image522.png"/><Relationship Id="rId9" Type="http://schemas.openxmlformats.org/officeDocument/2006/relationships/image" Target="../media/image523.png"/><Relationship Id="rId10" Type="http://schemas.openxmlformats.org/officeDocument/2006/relationships/image" Target="../media/image524.png"/><Relationship Id="rId11" Type="http://schemas.openxmlformats.org/officeDocument/2006/relationships/image" Target="../media/image525.png"/><Relationship Id="rId12" Type="http://schemas.openxmlformats.org/officeDocument/2006/relationships/image" Target="../media/image526.png"/><Relationship Id="rId13" Type="http://schemas.openxmlformats.org/officeDocument/2006/relationships/image" Target="../media/image527.png"/></Relationships>
</file>

<file path=ppt/charts/_rels/chart72.xml.rels><?xml version='1.0' encoding='UTF-8' standalone='yes'?>
<Relationships xmlns="http://schemas.openxmlformats.org/package/2006/relationships"><Relationship Id="rId2" Type="http://schemas.openxmlformats.org/officeDocument/2006/relationships/image" Target="../media/image528.png"/><Relationship Id="rId3" Type="http://schemas.openxmlformats.org/officeDocument/2006/relationships/image" Target="../media/image529.png"/><Relationship Id="rId4" Type="http://schemas.openxmlformats.org/officeDocument/2006/relationships/image" Target="../media/image530.png"/><Relationship Id="rId5" Type="http://schemas.openxmlformats.org/officeDocument/2006/relationships/image" Target="../media/image531.png"/><Relationship Id="rId6" Type="http://schemas.openxmlformats.org/officeDocument/2006/relationships/image" Target="../media/image532.png"/><Relationship Id="rId7" Type="http://schemas.openxmlformats.org/officeDocument/2006/relationships/image" Target="../media/image533.png"/><Relationship Id="rId8" Type="http://schemas.openxmlformats.org/officeDocument/2006/relationships/image" Target="../media/image534.png"/><Relationship Id="rId9" Type="http://schemas.openxmlformats.org/officeDocument/2006/relationships/image" Target="../media/image535.png"/><Relationship Id="rId10" Type="http://schemas.openxmlformats.org/officeDocument/2006/relationships/image" Target="../media/image536.png"/><Relationship Id="rId11" Type="http://schemas.openxmlformats.org/officeDocument/2006/relationships/image" Target="../media/image537.png"/></Relationships>
</file>

<file path=ppt/charts/_rels/chart73.xml.rels><?xml version='1.0' encoding='UTF-8' standalone='yes'?>
<Relationships xmlns="http://schemas.openxmlformats.org/package/2006/relationships"><Relationship Id="rId2" Type="http://schemas.openxmlformats.org/officeDocument/2006/relationships/image" Target="../media/image547.png"/><Relationship Id="rId3" Type="http://schemas.openxmlformats.org/officeDocument/2006/relationships/image" Target="../media/image548.png"/><Relationship Id="rId4" Type="http://schemas.openxmlformats.org/officeDocument/2006/relationships/image" Target="../media/image549.png"/><Relationship Id="rId5" Type="http://schemas.openxmlformats.org/officeDocument/2006/relationships/image" Target="../media/image550.png"/><Relationship Id="rId6" Type="http://schemas.openxmlformats.org/officeDocument/2006/relationships/image" Target="../media/image551.png"/><Relationship Id="rId7" Type="http://schemas.openxmlformats.org/officeDocument/2006/relationships/image" Target="../media/image552.png"/><Relationship Id="rId8" Type="http://schemas.openxmlformats.org/officeDocument/2006/relationships/image" Target="../media/image553.png"/><Relationship Id="rId9" Type="http://schemas.openxmlformats.org/officeDocument/2006/relationships/image" Target="../media/image554.png"/><Relationship Id="rId10" Type="http://schemas.openxmlformats.org/officeDocument/2006/relationships/image" Target="../media/image555.png"/><Relationship Id="rId11" Type="http://schemas.openxmlformats.org/officeDocument/2006/relationships/image" Target="../media/image556.png"/><Relationship Id="rId12" Type="http://schemas.openxmlformats.org/officeDocument/2006/relationships/image" Target="../media/image557.png"/><Relationship Id="rId13" Type="http://schemas.openxmlformats.org/officeDocument/2006/relationships/image" Target="../media/image558.png"/></Relationships>
</file>

<file path=ppt/charts/_rels/chart79.xml.rels><?xml version='1.0' encoding='UTF-8' standalone='yes'?>
<Relationships xmlns="http://schemas.openxmlformats.org/package/2006/relationships"><Relationship Id="rId2" Type="http://schemas.openxmlformats.org/officeDocument/2006/relationships/image" Target="../media/image559.png"/><Relationship Id="rId3" Type="http://schemas.openxmlformats.org/officeDocument/2006/relationships/image" Target="../media/image560.png"/><Relationship Id="rId4" Type="http://schemas.openxmlformats.org/officeDocument/2006/relationships/image" Target="../media/image561.png"/><Relationship Id="rId5" Type="http://schemas.openxmlformats.org/officeDocument/2006/relationships/image" Target="../media/image562.png"/><Relationship Id="rId6" Type="http://schemas.openxmlformats.org/officeDocument/2006/relationships/image" Target="../media/image563.png"/><Relationship Id="rId7" Type="http://schemas.openxmlformats.org/officeDocument/2006/relationships/image" Target="../media/image564.png"/><Relationship Id="rId8" Type="http://schemas.openxmlformats.org/officeDocument/2006/relationships/image" Target="../media/image565.png"/><Relationship Id="rId9" Type="http://schemas.openxmlformats.org/officeDocument/2006/relationships/image" Target="../media/image566.png"/><Relationship Id="rId10" Type="http://schemas.openxmlformats.org/officeDocument/2006/relationships/image" Target="../media/image567.png"/><Relationship Id="rId11" Type="http://schemas.openxmlformats.org/officeDocument/2006/relationships/image" Target="../media/image568.png"/><Relationship Id="rId12" Type="http://schemas.openxmlformats.org/officeDocument/2006/relationships/image" Target="../media/image569.png"/><Relationship Id="rId13" Type="http://schemas.openxmlformats.org/officeDocument/2006/relationships/image" Target="../media/image570.png"/></Relationships>
</file>

<file path=ppt/charts/_rels/chart80.xml.rels><?xml version='1.0' encoding='UTF-8' standalone='yes'?>
<Relationships xmlns="http://schemas.openxmlformats.org/package/2006/relationships"><Relationship Id="rId2" Type="http://schemas.openxmlformats.org/officeDocument/2006/relationships/image" Target="../media/image581.png"/><Relationship Id="rId3" Type="http://schemas.openxmlformats.org/officeDocument/2006/relationships/image" Target="../media/image582.png"/><Relationship Id="rId4" Type="http://schemas.openxmlformats.org/officeDocument/2006/relationships/image" Target="../media/image583.png"/><Relationship Id="rId5" Type="http://schemas.openxmlformats.org/officeDocument/2006/relationships/image" Target="../media/image584.png"/><Relationship Id="rId6" Type="http://schemas.openxmlformats.org/officeDocument/2006/relationships/image" Target="../media/image585.png"/><Relationship Id="rId7" Type="http://schemas.openxmlformats.org/officeDocument/2006/relationships/image" Target="../media/image586.png"/><Relationship Id="rId8" Type="http://schemas.openxmlformats.org/officeDocument/2006/relationships/image" Target="../media/image587.png"/><Relationship Id="rId9" Type="http://schemas.openxmlformats.org/officeDocument/2006/relationships/image" Target="../media/image588.png"/><Relationship Id="rId10" Type="http://schemas.openxmlformats.org/officeDocument/2006/relationships/image" Target="../media/image589.png"/><Relationship Id="rId11" Type="http://schemas.openxmlformats.org/officeDocument/2006/relationships/image" Target="../media/image590.png"/><Relationship Id="rId12" Type="http://schemas.openxmlformats.org/officeDocument/2006/relationships/image" Target="../media/image591.png"/><Relationship Id="rId13" Type="http://schemas.openxmlformats.org/officeDocument/2006/relationships/image" Target="../media/image592.png"/></Relationships>
</file>

<file path=ppt/charts/_rels/chart86.xml.rels><?xml version='1.0' encoding='UTF-8' standalone='yes'?>
<Relationships xmlns="http://schemas.openxmlformats.org/package/2006/relationships"><Relationship Id="rId2" Type="http://schemas.openxmlformats.org/officeDocument/2006/relationships/image" Target="../media/image593.png"/><Relationship Id="rId3" Type="http://schemas.openxmlformats.org/officeDocument/2006/relationships/image" Target="../media/image594.png"/><Relationship Id="rId4" Type="http://schemas.openxmlformats.org/officeDocument/2006/relationships/image" Target="../media/image595.png"/><Relationship Id="rId5" Type="http://schemas.openxmlformats.org/officeDocument/2006/relationships/image" Target="../media/image596.png"/><Relationship Id="rId6" Type="http://schemas.openxmlformats.org/officeDocument/2006/relationships/image" Target="../media/image597.png"/><Relationship Id="rId7" Type="http://schemas.openxmlformats.org/officeDocument/2006/relationships/image" Target="../media/image598.png"/><Relationship Id="rId8" Type="http://schemas.openxmlformats.org/officeDocument/2006/relationships/image" Target="../media/image599.png"/><Relationship Id="rId9" Type="http://schemas.openxmlformats.org/officeDocument/2006/relationships/image" Target="../media/image600.png"/><Relationship Id="rId10" Type="http://schemas.openxmlformats.org/officeDocument/2006/relationships/image" Target="../media/image601.png"/><Relationship Id="rId11" Type="http://schemas.openxmlformats.org/officeDocument/2006/relationships/image" Target="../media/image602.png"/><Relationship Id="rId12" Type="http://schemas.openxmlformats.org/officeDocument/2006/relationships/image" Target="../media/image603.png"/><Relationship Id="rId13" Type="http://schemas.openxmlformats.org/officeDocument/2006/relationships/image" Target="../media/image604.png"/></Relationships>
</file>

<file path=ppt/charts/_rels/chart110.xml.rels><?xml version='1.0' encoding='UTF-8' standalone='yes'?>
<Relationships xmlns="http://schemas.openxmlformats.org/package/2006/relationships"><Relationship Id="rId2" Type="http://schemas.openxmlformats.org/officeDocument/2006/relationships/image" Target="../media/image605.png"/><Relationship Id="rId3" Type="http://schemas.openxmlformats.org/officeDocument/2006/relationships/image" Target="../media/image606.png"/><Relationship Id="rId4" Type="http://schemas.openxmlformats.org/officeDocument/2006/relationships/image" Target="../media/image607.png"/><Relationship Id="rId5" Type="http://schemas.openxmlformats.org/officeDocument/2006/relationships/image" Target="../media/image608.png"/><Relationship Id="rId6" Type="http://schemas.openxmlformats.org/officeDocument/2006/relationships/image" Target="../media/image609.png"/><Relationship Id="rId7" Type="http://schemas.openxmlformats.org/officeDocument/2006/relationships/image" Target="../media/image610.png"/><Relationship Id="rId8" Type="http://schemas.openxmlformats.org/officeDocument/2006/relationships/image" Target="../media/image611.png"/><Relationship Id="rId9" Type="http://schemas.openxmlformats.org/officeDocument/2006/relationships/image" Target="../media/image612.png"/><Relationship Id="rId10" Type="http://schemas.openxmlformats.org/officeDocument/2006/relationships/image" Target="../media/image613.png"/><Relationship Id="rId11" Type="http://schemas.openxmlformats.org/officeDocument/2006/relationships/image" Target="../media/image614.png"/></Relationships>
</file>

<file path=ppt/charts/_rels/chart111.xml.rels><?xml version='1.0' encoding='UTF-8' standalone='yes'?>
<Relationships xmlns="http://schemas.openxmlformats.org/package/2006/relationships"><Relationship Id="rId2" Type="http://schemas.openxmlformats.org/officeDocument/2006/relationships/image" Target="../media/image615.png"/><Relationship Id="rId3" Type="http://schemas.openxmlformats.org/officeDocument/2006/relationships/image" Target="../media/image616.png"/><Relationship Id="rId4" Type="http://schemas.openxmlformats.org/officeDocument/2006/relationships/image" Target="../media/image617.png"/><Relationship Id="rId5" Type="http://schemas.openxmlformats.org/officeDocument/2006/relationships/image" Target="../media/image618.png"/><Relationship Id="rId6" Type="http://schemas.openxmlformats.org/officeDocument/2006/relationships/image" Target="../media/image619.png"/><Relationship Id="rId7" Type="http://schemas.openxmlformats.org/officeDocument/2006/relationships/image" Target="../media/image620.png"/><Relationship Id="rId8" Type="http://schemas.openxmlformats.org/officeDocument/2006/relationships/image" Target="../media/image621.png"/><Relationship Id="rId9" Type="http://schemas.openxmlformats.org/officeDocument/2006/relationships/image" Target="../media/image622.png"/><Relationship Id="rId10" Type="http://schemas.openxmlformats.org/officeDocument/2006/relationships/image" Target="../media/image623.png"/><Relationship Id="rId11" Type="http://schemas.openxmlformats.org/officeDocument/2006/relationships/image" Target="../media/image624.png"/><Relationship Id="rId12" Type="http://schemas.openxmlformats.org/officeDocument/2006/relationships/image" Target="../media/image625.png"/></Relationships>
</file>

<file path=ppt/charts/_rels/chart112.xml.rels><?xml version='1.0' encoding='UTF-8' standalone='yes'?>
<Relationships xmlns="http://schemas.openxmlformats.org/package/2006/relationships"><Relationship Id="rId2" Type="http://schemas.openxmlformats.org/officeDocument/2006/relationships/image" Target="../media/image626.png"/><Relationship Id="rId3" Type="http://schemas.openxmlformats.org/officeDocument/2006/relationships/image" Target="../media/image627.png"/><Relationship Id="rId4" Type="http://schemas.openxmlformats.org/officeDocument/2006/relationships/image" Target="../media/image628.png"/><Relationship Id="rId5" Type="http://schemas.openxmlformats.org/officeDocument/2006/relationships/image" Target="../media/image629.png"/><Relationship Id="rId6" Type="http://schemas.openxmlformats.org/officeDocument/2006/relationships/image" Target="../media/image630.png"/><Relationship Id="rId7" Type="http://schemas.openxmlformats.org/officeDocument/2006/relationships/image" Target="../media/image631.png"/><Relationship Id="rId8" Type="http://schemas.openxmlformats.org/officeDocument/2006/relationships/image" Target="../media/image632.png"/><Relationship Id="rId9" Type="http://schemas.openxmlformats.org/officeDocument/2006/relationships/image" Target="../media/image633.png"/><Relationship Id="rId10" Type="http://schemas.openxmlformats.org/officeDocument/2006/relationships/image" Target="../media/image634.png"/><Relationship Id="rId11" Type="http://schemas.openxmlformats.org/officeDocument/2006/relationships/image" Target="../media/image635.png"/></Relationships>
</file>

<file path=ppt/charts/_rels/chart113.xml.rels><?xml version='1.0' encoding='UTF-8' standalone='yes'?>
<Relationships xmlns="http://schemas.openxmlformats.org/package/2006/relationships"><Relationship Id="rId2" Type="http://schemas.openxmlformats.org/officeDocument/2006/relationships/image" Target="../media/image636.png"/><Relationship Id="rId3" Type="http://schemas.openxmlformats.org/officeDocument/2006/relationships/image" Target="../media/image637.png"/><Relationship Id="rId4" Type="http://schemas.openxmlformats.org/officeDocument/2006/relationships/image" Target="../media/image638.png"/><Relationship Id="rId5" Type="http://schemas.openxmlformats.org/officeDocument/2006/relationships/image" Target="../media/image639.png"/><Relationship Id="rId6" Type="http://schemas.openxmlformats.org/officeDocument/2006/relationships/image" Target="../media/image640.png"/><Relationship Id="rId7" Type="http://schemas.openxmlformats.org/officeDocument/2006/relationships/image" Target="../media/image641.png"/><Relationship Id="rId8" Type="http://schemas.openxmlformats.org/officeDocument/2006/relationships/image" Target="../media/image642.png"/><Relationship Id="rId9" Type="http://schemas.openxmlformats.org/officeDocument/2006/relationships/image" Target="../media/image643.png"/><Relationship Id="rId10" Type="http://schemas.openxmlformats.org/officeDocument/2006/relationships/image" Target="../media/image644.png"/><Relationship Id="rId11" Type="http://schemas.openxmlformats.org/officeDocument/2006/relationships/image" Target="../media/image645.png"/><Relationship Id="rId12" Type="http://schemas.openxmlformats.org/officeDocument/2006/relationships/image" Target="../media/image646.png"/></Relationships>
</file>

<file path=ppt/charts/_rels/chart114.xml.rels><?xml version='1.0' encoding='UTF-8' standalone='yes'?>
<Relationships xmlns="http://schemas.openxmlformats.org/package/2006/relationships"><Relationship Id="rId2" Type="http://schemas.openxmlformats.org/officeDocument/2006/relationships/image" Target="../media/image647.png"/><Relationship Id="rId3" Type="http://schemas.openxmlformats.org/officeDocument/2006/relationships/image" Target="../media/image648.png"/><Relationship Id="rId4" Type="http://schemas.openxmlformats.org/officeDocument/2006/relationships/image" Target="../media/image649.png"/><Relationship Id="rId5" Type="http://schemas.openxmlformats.org/officeDocument/2006/relationships/image" Target="../media/image650.png"/><Relationship Id="rId6" Type="http://schemas.openxmlformats.org/officeDocument/2006/relationships/image" Target="../media/image651.png"/><Relationship Id="rId7" Type="http://schemas.openxmlformats.org/officeDocument/2006/relationships/image" Target="../media/image652.png"/><Relationship Id="rId8" Type="http://schemas.openxmlformats.org/officeDocument/2006/relationships/image" Target="../media/image653.png"/><Relationship Id="rId9" Type="http://schemas.openxmlformats.org/officeDocument/2006/relationships/image" Target="../media/image654.png"/><Relationship Id="rId10" Type="http://schemas.openxmlformats.org/officeDocument/2006/relationships/image" Target="../media/image655.png"/><Relationship Id="rId11" Type="http://schemas.openxmlformats.org/officeDocument/2006/relationships/image" Target="../media/image656.png"/></Relationships>
</file>

<file path=ppt/charts/_rels/chart115.xml.rels><?xml version='1.0' encoding='UTF-8' standalone='yes'?>
<Relationships xmlns="http://schemas.openxmlformats.org/package/2006/relationships"><Relationship Id="rId2" Type="http://schemas.openxmlformats.org/officeDocument/2006/relationships/image" Target="../media/image657.png"/><Relationship Id="rId3" Type="http://schemas.openxmlformats.org/officeDocument/2006/relationships/image" Target="../media/image658.png"/><Relationship Id="rId4" Type="http://schemas.openxmlformats.org/officeDocument/2006/relationships/image" Target="../media/image659.png"/><Relationship Id="rId5" Type="http://schemas.openxmlformats.org/officeDocument/2006/relationships/image" Target="../media/image660.png"/><Relationship Id="rId6" Type="http://schemas.openxmlformats.org/officeDocument/2006/relationships/image" Target="../media/image661.png"/><Relationship Id="rId7" Type="http://schemas.openxmlformats.org/officeDocument/2006/relationships/image" Target="../media/image662.png"/><Relationship Id="rId8" Type="http://schemas.openxmlformats.org/officeDocument/2006/relationships/image" Target="../media/image663.png"/><Relationship Id="rId9" Type="http://schemas.openxmlformats.org/officeDocument/2006/relationships/image" Target="../media/image664.png"/><Relationship Id="rId10" Type="http://schemas.openxmlformats.org/officeDocument/2006/relationships/image" Target="../media/image665.png"/><Relationship Id="rId11" Type="http://schemas.openxmlformats.org/officeDocument/2006/relationships/image" Target="../media/image666.png"/><Relationship Id="rId12" Type="http://schemas.openxmlformats.org/officeDocument/2006/relationships/image" Target="../media/image667.png"/></Relationships>
</file>

<file path=ppt/charts/_rels/chart116.xml.rels><?xml version='1.0' encoding='UTF-8' standalone='yes'?>
<Relationships xmlns="http://schemas.openxmlformats.org/package/2006/relationships"><Relationship Id="rId2" Type="http://schemas.openxmlformats.org/officeDocument/2006/relationships/image" Target="../media/image668.png"/><Relationship Id="rId3" Type="http://schemas.openxmlformats.org/officeDocument/2006/relationships/image" Target="../media/image669.png"/><Relationship Id="rId4" Type="http://schemas.openxmlformats.org/officeDocument/2006/relationships/image" Target="../media/image670.png"/><Relationship Id="rId5" Type="http://schemas.openxmlformats.org/officeDocument/2006/relationships/image" Target="../media/image671.png"/><Relationship Id="rId6" Type="http://schemas.openxmlformats.org/officeDocument/2006/relationships/image" Target="../media/image672.png"/><Relationship Id="rId7" Type="http://schemas.openxmlformats.org/officeDocument/2006/relationships/image" Target="../media/image673.png"/><Relationship Id="rId8" Type="http://schemas.openxmlformats.org/officeDocument/2006/relationships/image" Target="../media/image674.png"/><Relationship Id="rId9" Type="http://schemas.openxmlformats.org/officeDocument/2006/relationships/image" Target="../media/image675.png"/><Relationship Id="rId10" Type="http://schemas.openxmlformats.org/officeDocument/2006/relationships/image" Target="../media/image676.png"/><Relationship Id="rId11" Type="http://schemas.openxmlformats.org/officeDocument/2006/relationships/image" Target="../media/image677.png"/><Relationship Id="rId12" Type="http://schemas.openxmlformats.org/officeDocument/2006/relationships/image" Target="../media/image678.png"/></Relationships>
</file>

<file path=ppt/charts/_rels/chart117.xml.rels><?xml version='1.0' encoding='UTF-8' standalone='yes'?>
<Relationships xmlns="http://schemas.openxmlformats.org/package/2006/relationships"><Relationship Id="rId2" Type="http://schemas.openxmlformats.org/officeDocument/2006/relationships/image" Target="../media/image679.png"/><Relationship Id="rId3" Type="http://schemas.openxmlformats.org/officeDocument/2006/relationships/image" Target="../media/image680.png"/><Relationship Id="rId4" Type="http://schemas.openxmlformats.org/officeDocument/2006/relationships/image" Target="../media/image681.png"/><Relationship Id="rId5" Type="http://schemas.openxmlformats.org/officeDocument/2006/relationships/image" Target="../media/image682.png"/></Relationships>
</file>

<file path=ppt/charts/_rels/chart118.xml.rels><?xml version='1.0' encoding='UTF-8' standalone='yes'?>
<Relationships xmlns="http://schemas.openxmlformats.org/package/2006/relationships"><Relationship Id="rId2" Type="http://schemas.openxmlformats.org/officeDocument/2006/relationships/image" Target="../media/image683.png"/><Relationship Id="rId3" Type="http://schemas.openxmlformats.org/officeDocument/2006/relationships/image" Target="../media/image684.png"/><Relationship Id="rId4" Type="http://schemas.openxmlformats.org/officeDocument/2006/relationships/image" Target="../media/image685.png"/><Relationship Id="rId5" Type="http://schemas.openxmlformats.org/officeDocument/2006/relationships/image" Target="../media/image686.png"/><Relationship Id="rId6" Type="http://schemas.openxmlformats.org/officeDocument/2006/relationships/image" Target="../media/image687.png"/></Relationships>
</file>

<file path=ppt/charts/_rels/chart119.xml.rels><?xml version='1.0' encoding='UTF-8' standalone='yes'?>
<Relationships xmlns="http://schemas.openxmlformats.org/package/2006/relationships"><Relationship Id="rId2" Type="http://schemas.openxmlformats.org/officeDocument/2006/relationships/image" Target="../media/image688.png"/><Relationship Id="rId3" Type="http://schemas.openxmlformats.org/officeDocument/2006/relationships/image" Target="../media/image689.png"/><Relationship Id="rId4" Type="http://schemas.openxmlformats.org/officeDocument/2006/relationships/image" Target="../media/image690.png"/><Relationship Id="rId5" Type="http://schemas.openxmlformats.org/officeDocument/2006/relationships/image" Target="../media/image691.png"/></Relationships>
</file>

<file path=ppt/charts/_rels/chart120.xml.rels><?xml version='1.0' encoding='UTF-8' standalone='yes'?>
<Relationships xmlns="http://schemas.openxmlformats.org/package/2006/relationships"><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image" Target="../media/image696.png"/><Relationship Id="rId7" Type="http://schemas.openxmlformats.org/officeDocument/2006/relationships/image" Target="../media/image697.png"/><Relationship Id="rId8" Type="http://schemas.openxmlformats.org/officeDocument/2006/relationships/image" Target="../media/image698.png"/><Relationship Id="rId9" Type="http://schemas.openxmlformats.org/officeDocument/2006/relationships/image" Target="../media/image699.png"/><Relationship Id="rId10" Type="http://schemas.openxmlformats.org/officeDocument/2006/relationships/image" Target="../media/image700.png"/><Relationship Id="rId11" Type="http://schemas.openxmlformats.org/officeDocument/2006/relationships/image" Target="../media/image701.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3.7480540829386344</c:v>
                </c:pt>
                <c:pt idx="1">
                  <c:v>4.350519411733567</c:v>
                </c:pt>
                <c:pt idx="2">
                  <c:v>4.149309911075383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742685623488308"/>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194657342.241</c:v>
                </c:pt>
                <c:pt idx="2">
                  <c:v>0.0</c:v>
                </c:pt>
                <c:pt idx="3">
                  <c:v>233975610.00199997</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194657342.241</c:v>
                </c:pt>
                <c:pt idx="1">
                  <c:v>39318267.76099998</c:v>
                </c:pt>
                <c:pt idx="2">
                  <c:v>233975610.00199997</c:v>
                </c:pt>
                <c:pt idx="3">
                  <c:v>124217097.366</c:v>
                </c:pt>
                <c:pt idx="4">
                  <c:v>358192707.368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4.255706982082286</c:v>
                </c:pt>
                <c:pt idx="1">
                  <c:v>4.790503442773564</c:v>
                </c:pt>
                <c:pt idx="2">
                  <c:v>4.6119338348801</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323464544461104"/>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778852.5669999999</c:v>
                </c:pt>
                <c:pt idx="2">
                  <c:v>0.0</c:v>
                </c:pt>
                <c:pt idx="3">
                  <c:v>959299.9990000001</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778852.5669999999</c:v>
                </c:pt>
                <c:pt idx="1">
                  <c:v>180447.43200000015</c:v>
                </c:pt>
                <c:pt idx="2">
                  <c:v>959299.9990000001</c:v>
                </c:pt>
                <c:pt idx="3">
                  <c:v>572400.0009999999</c:v>
                </c:pt>
                <c:pt idx="4">
                  <c:v>1531700.0</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778852.5669999999</c:v>
                </c:pt>
                <c:pt idx="1">
                  <c:v>810857.3</c:v>
                </c:pt>
                <c:pt idx="2">
                  <c:v>844248.44</c:v>
                </c:pt>
                <c:pt idx="3">
                  <c:v>879089.136</c:v>
                </c:pt>
                <c:pt idx="4">
                  <c:v>915445.549</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MM&quot;;&quot;MMMMMMMMMMMMM&quot;;&quot;MM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MM&quot;;&quot;MMMMMMMMMMMMM&quot;;&quot;MM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MM&quot;;&quot;MMMMMMMMMMMMM&quot;;&quot;MM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MM&quot;;&quot;MMMMMMMMMMMMM&quot;;&quot;MM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MM&quot;;&quot;MMMMMMMMMMMMM&quot;;&quot;MM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194657342.241</c:v>
                </c:pt>
                <c:pt idx="1">
                  <c:v>201631714.006</c:v>
                </c:pt>
                <c:pt idx="2">
                  <c:v>208893211.445</c:v>
                </c:pt>
                <c:pt idx="3">
                  <c:v>216454814.77</c:v>
                </c:pt>
                <c:pt idx="4">
                  <c:v>224330129.374</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108022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06794371"/>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1"/>
              <c:numFmt formatCode="&quot;MMMMMMMMMMM&quot;;&quot;MMMMMMMMMMM&quot;;&quot;MM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959299.9990000001</c:v>
                </c:pt>
                <c:pt idx="1">
                  <c:v>1005255.2990000001</c:v>
                </c:pt>
                <c:pt idx="2">
                  <c:v>1053412.087</c:v>
                </c:pt>
                <c:pt idx="3">
                  <c:v>1103875.8299999998</c:v>
                </c:pt>
                <c:pt idx="4">
                  <c:v>1156757.044</c:v>
                </c:pt>
                <c:pt idx="5">
                  <c:v>1212171.527</c:v>
                </c:pt>
                <c:pt idx="6">
                  <c:v>1270240.645</c:v>
                </c:pt>
                <c:pt idx="7">
                  <c:v>1331091.568</c:v>
                </c:pt>
                <c:pt idx="8">
                  <c:v>1394857.554</c:v>
                </c:pt>
                <c:pt idx="9">
                  <c:v>1461678.254</c:v>
                </c:pt>
                <c:pt idx="10">
                  <c:v>1531700.0</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MM&quot;;&quot;MMMMMMMMMMMMM&quot;;&quot;MM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MM&quot;;&quot;MMMMMMMMMMMMM&quot;;&quot;MMMM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MM&quot;;&quot;MMMMMMMMMMMMM&quot;;&quot;MM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MM&quot;;&quot;MMMMMMMMMMMMM&quot;;&quot;MM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MM&quot;;&quot;MMMMMMMMMMMMM&quot;;&quot;MM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MM&quot;;&quot;MMMMMMMMMMMMM&quot;;&quot;MM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MM&quot;;&quot;MMMMMMMMMMMMM&quot;;&quot;MM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MM&quot;;&quot;MMMMMMMMMMMMM&quot;;&quot;MM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MM&quot;;&quot;MMMMMMMMMMMMM&quot;;&quot;MM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MM&quot;;&quot;MMMMMMMMMMMMM&quot;;&quot;MM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MM&quot;;&quot;MMMMMMMMMMMMM&quot;;&quot;MM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233975610.00199997</c:v>
                </c:pt>
                <c:pt idx="1">
                  <c:v>244055644.83600003</c:v>
                </c:pt>
                <c:pt idx="2">
                  <c:v>254593248.346</c:v>
                </c:pt>
                <c:pt idx="3">
                  <c:v>265610029.38000003</c:v>
                </c:pt>
                <c:pt idx="4">
                  <c:v>277128641.656</c:v>
                </c:pt>
                <c:pt idx="5">
                  <c:v>289172835.453</c:v>
                </c:pt>
                <c:pt idx="6">
                  <c:v>301767513.87200004</c:v>
                </c:pt>
                <c:pt idx="7">
                  <c:v>314938789.627</c:v>
                </c:pt>
                <c:pt idx="8">
                  <c:v>328714041.33199996</c:v>
                </c:pt>
                <c:pt idx="9">
                  <c:v>343121979.09700006</c:v>
                </c:pt>
                <c:pt idx="10">
                  <c:v>358192707.368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1807406"/>
          <c:min val="0"/>
        </c:scaling>
        <c:delete val="0"/>
        <c:axPos val="l"/>
        <c:numFmt formatCode="#,##0,,&quot;M&quot;"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00944014"/>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9"/>
                <c:pt idx="0">
                  <c:v>Turkiye</c:v>
                </c:pt>
                <c:pt idx="1">
                  <c:v>Hungary</c:v>
                </c:pt>
                <c:pt idx="2">
                  <c:v>Russia</c:v>
                </c:pt>
                <c:pt idx="3">
                  <c:v>Brazil</c:v>
                </c:pt>
                <c:pt idx="4">
                  <c:v>Poland</c:v>
                </c:pt>
                <c:pt idx="5">
                  <c:v>France</c:v>
                </c:pt>
                <c:pt idx="6">
                  <c:v>Chile</c:v>
                </c:pt>
                <c:pt idx="7">
                  <c:v>Germany</c:v>
                </c:pt>
                <c:pt idx="8">
                  <c:v>India</c:v>
                </c:pt>
              </c:strCache>
            </c:strRef>
          </c:cat>
          <c:val>
            <c:numRef>
              <c:numCache>
                <c:formatCode>General</c:formatCode>
                <c:ptCount val="9"/>
                <c:pt idx="0">
                  <c:v>110.47271171590405</c:v>
                </c:pt>
                <c:pt idx="1">
                  <c:v>117.0022194602232</c:v>
                </c:pt>
                <c:pt idx="2">
                  <c:v>119.10432318615611</c:v>
                </c:pt>
                <c:pt idx="3">
                  <c:v>119.32407322552181</c:v>
                </c:pt>
                <c:pt idx="4">
                  <c:v>120.04818911825015</c:v>
                </c:pt>
                <c:pt idx="5">
                  <c:v>123.91524146918043</c:v>
                </c:pt>
                <c:pt idx="6">
                  <c:v>127.87546368727808</c:v>
                </c:pt>
                <c:pt idx="7">
                  <c:v>132.31084673827652</c:v>
                </c:pt>
                <c:pt idx="8">
                  <c:v>136.86317586357782</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8"/>
                <c:pt idx="0">
                  <c:v>Chile</c:v>
                </c:pt>
                <c:pt idx="1">
                  <c:v>Russia</c:v>
                </c:pt>
                <c:pt idx="2">
                  <c:v>Mexico</c:v>
                </c:pt>
                <c:pt idx="3">
                  <c:v>Brazil</c:v>
                </c:pt>
                <c:pt idx="4">
                  <c:v>Canada</c:v>
                </c:pt>
                <c:pt idx="5">
                  <c:v>China</c:v>
                </c:pt>
                <c:pt idx="6">
                  <c:v>India</c:v>
                </c:pt>
                <c:pt idx="7">
                  <c:v>U.S.</c:v>
                </c:pt>
              </c:strCache>
            </c:strRef>
          </c:cat>
          <c:val>
            <c:numRef>
              <c:numCache>
                <c:formatCode>General</c:formatCode>
                <c:ptCount val="8"/>
                <c:pt idx="0">
                  <c:v>3.6665377294435046</c:v>
                </c:pt>
                <c:pt idx="1">
                  <c:v>4.531143248547967</c:v>
                </c:pt>
                <c:pt idx="2">
                  <c:v>6.555376648226108</c:v>
                </c:pt>
                <c:pt idx="3">
                  <c:v>7.447840657847937</c:v>
                </c:pt>
                <c:pt idx="4">
                  <c:v>9.155767279602085</c:v>
                </c:pt>
                <c:pt idx="5">
                  <c:v>9.185143240417288</c:v>
                </c:pt>
                <c:pt idx="6">
                  <c:v>11.604001726757515</c:v>
                </c:pt>
                <c:pt idx="7">
                  <c:v>16.37577949619885</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Lbls>
            <c:dLbl>
              <c:idx val="0"/>
              <c:layout>
                <c:manualLayout>
                  <c:x val="0.0350"/>
                  <c:y val="0.0000"/>
                </c:manualLayout>
              </c:layout>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5"/>
                <c:pt idx="0">
                  <c:v>Construction and Mining Vehicles</c:v>
                </c:pt>
                <c:pt idx="1">
                  <c:v>Agriculture and Forestry Vehicles</c:v>
                </c:pt>
                <c:pt idx="2">
                  <c:v>Industrial and Port Vehicles</c:v>
                </c:pt>
                <c:pt idx="3">
                  <c:v>Recreational and Powersports Vehicles</c:v>
                </c:pt>
                <c:pt idx="4">
                  <c:v>Military Vehicles</c:v>
                </c:pt>
              </c:strCache>
            </c:strRef>
          </c:cat>
          <c:val>
            <c:numRef>
              <c:numCache>
                <c:formatCode>General</c:formatCode>
                <c:ptCount val="5"/>
                <c:pt idx="0">
                  <c:v>438863.767</c:v>
                </c:pt>
                <c:pt idx="1">
                  <c:v>328291.317</c:v>
                </c:pt>
                <c:pt idx="2">
                  <c:v>202368.025</c:v>
                </c:pt>
                <c:pt idx="3">
                  <c:v>269187.078</c:v>
                </c:pt>
                <c:pt idx="4">
                  <c:v>292989.81299999997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0.06285725500428814</c:v>
                </c:pt>
                <c:pt idx="1">
                  <c:v>0.06456576520855706</c:v>
                </c:pt>
                <c:pt idx="2">
                  <c:v>0.06285725500428814</c:v>
                </c:pt>
                <c:pt idx="3">
                  <c:v>0.05900957706492218</c:v>
                </c:pt>
                <c:pt idx="4">
                  <c:v>0.05569139608968914</c:v>
                </c:pt>
                <c:pt idx="5">
                  <c:v>0.054498262930509606</c:v>
                </c:pt>
                <c:pt idx="6">
                  <c:v>0.05518307900412153</c:v>
                </c:pt>
                <c:pt idx="7">
                  <c:v>0.05673627009891146</c:v>
                </c:pt>
                <c:pt idx="8">
                  <c:v>0.06023801002171057</c:v>
                </c:pt>
                <c:pt idx="9">
                  <c:v>0.06313965338515903</c:v>
                </c:pt>
                <c:pt idx="10">
                  <c:v>0.06398684852777171</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0.0425202567891981</c:v>
                </c:pt>
                <c:pt idx="1">
                  <c:v>0.0436074767446509</c:v>
                </c:pt>
                <c:pt idx="2">
                  <c:v>0.04457510250500389</c:v>
                </c:pt>
                <c:pt idx="3">
                  <c:v>0.04602472911227429</c:v>
                </c:pt>
                <c:pt idx="4">
                  <c:v>0.047593949914644496</c:v>
                </c:pt>
                <c:pt idx="5">
                  <c:v>0.04928638897863268</c:v>
                </c:pt>
                <c:pt idx="6">
                  <c:v>0.05073601558590308</c:v>
                </c:pt>
                <c:pt idx="7">
                  <c:v>0.05131224216229306</c:v>
                </c:pt>
                <c:pt idx="8">
                  <c:v>0.05131224216229306</c:v>
                </c:pt>
                <c:pt idx="9">
                  <c:v>0.05039172926667636</c:v>
                </c:pt>
                <c:pt idx="10">
                  <c:v>0.049645171563932104</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0.030543641850930035</c:v>
                </c:pt>
                <c:pt idx="1">
                  <c:v>0.03338217128010644</c:v>
                </c:pt>
                <c:pt idx="2">
                  <c:v>0.03616549430223242</c:v>
                </c:pt>
                <c:pt idx="3">
                  <c:v>0.03896721946004188</c:v>
                </c:pt>
                <c:pt idx="4">
                  <c:v>0.040085149202813135</c:v>
                </c:pt>
                <c:pt idx="5">
                  <c:v>0.03966190008209315</c:v>
                </c:pt>
                <c:pt idx="6">
                  <c:v>0.03802871054018452</c:v>
                </c:pt>
                <c:pt idx="7">
                  <c:v>0.03623910284496633</c:v>
                </c:pt>
                <c:pt idx="8">
                  <c:v>0.03552141955331071</c:v>
                </c:pt>
                <c:pt idx="9">
                  <c:v>0.034095254037841194</c:v>
                </c:pt>
                <c:pt idx="10">
                  <c:v>0.03257247731003343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21.93168164774156</c:v>
                </c:pt>
                <c:pt idx="1">
                  <c:v>25.52020210955486</c:v>
                </c:pt>
              </c:numCache>
            </c:numRef>
          </c:val>
        </c:ser>
        <c:ser>
          <c:idx val="1"/>
          <c:order val="1"/>
          <c:tx>
            <c:strRef>
              <c:strCache>
                <c:ptCount val="1"/>
                <c:pt idx="0">
                  <c:v>North America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27.990863925278443</c:v>
                </c:pt>
                <c:pt idx="1">
                  <c:v>23.517177653886954</c:v>
                </c:pt>
              </c:numCache>
            </c:numRef>
          </c:val>
        </c:ser>
        <c:ser>
          <c:idx val="2"/>
          <c:order val="2"/>
          <c:tx>
            <c:strRef>
              <c:strCache>
                <c:ptCount val="1"/>
                <c:pt idx="0">
                  <c:v>East Asia</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21.25537888354042</c:v>
                </c:pt>
                <c:pt idx="1">
                  <c:v>21.738692322957206</c:v>
                </c:pt>
              </c:numCache>
            </c:numRef>
          </c:val>
        </c:ser>
        <c:ser>
          <c:idx val="3"/>
          <c:order val="3"/>
          <c:tx>
            <c:strRef>
              <c:strCache>
                <c:ptCount val="1"/>
                <c:pt idx="0">
                  <c:v>Latin America</c:v>
                </c:pt>
              </c:strCache>
            </c:strRef>
          </c:tx>
          <c:spPr>
            <a:solidFill>
              <a:srgbClr val="00ACAC"/>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9.48547135011649</c:v>
                </c:pt>
                <c:pt idx="1">
                  <c:v>10.08300834720639</c:v>
                </c:pt>
              </c:numCache>
            </c:numRef>
          </c:val>
        </c:ser>
        <c:ser>
          <c:idx val="4"/>
          <c:order val="4"/>
          <c:tx>
            <c:strRef>
              <c:strCache>
                <c:ptCount val="1"/>
                <c:pt idx="0">
                  <c:v>Middle East &amp; Africa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8.761792132019556</c:v>
                </c:pt>
                <c:pt idx="1">
                  <c:v>8.68706666717019</c:v>
                </c:pt>
              </c:numCache>
            </c:numRef>
          </c:val>
        </c:ser>
        <c:ser>
          <c:idx val="5"/>
          <c:order val="5"/>
          <c:tx>
            <c:strRef>
              <c:strCache>
                <c:ptCount val="1"/>
                <c:pt idx="0">
                  <c:v>Eastern Europe</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6.751796441887667</c:v>
                </c:pt>
                <c:pt idx="1">
                  <c:v>6.741032346644903</c:v>
                </c:pt>
              </c:numCache>
            </c:numRef>
          </c:val>
        </c:ser>
        <c:ser>
          <c:idx val="6"/>
          <c:order val="6"/>
          <c:tx>
            <c:strRef>
              <c:strCache>
                <c:ptCount val="1"/>
                <c:pt idx="0">
                  <c:v>Western Europe</c:v>
                </c:pt>
              </c:strCache>
            </c:strRef>
          </c:tx>
          <c:spPr>
            <a:solidFill>
              <a:srgbClr val="586272"/>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3.8230156194158615</c:v>
                </c:pt>
                <c:pt idx="1">
                  <c:v>3.7128205525794864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39.600929885959474</c:v>
                </c:pt>
                <c:pt idx="1">
                  <c:v>36.79292746621402</c:v>
                </c:pt>
              </c:numCache>
            </c:numRef>
          </c:val>
        </c:ser>
        <c:ser>
          <c:idx val="1"/>
          <c:order val="1"/>
          <c:tx>
            <c:strRef>
              <c:strCache>
                <c:ptCount val="1"/>
                <c:pt idx="0">
                  <c:v>South Asia &amp; Pacific</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14.400338074012653</c:v>
                </c:pt>
                <c:pt idx="1">
                  <c:v>15.899409022654568</c:v>
                </c:pt>
              </c:numCache>
            </c:numRef>
          </c:val>
        </c:ser>
        <c:ser>
          <c:idx val="2"/>
          <c:order val="2"/>
          <c:tx>
            <c:strRef>
              <c:strCache>
                <c:ptCount val="1"/>
                <c:pt idx="0">
                  <c:v>East Asia</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15.60036632502905</c:v>
                </c:pt>
                <c:pt idx="1">
                  <c:v>15.307603316576355</c:v>
                </c:pt>
              </c:numCache>
            </c:numRef>
          </c:val>
        </c:ser>
        <c:ser>
          <c:idx val="3"/>
          <c:order val="3"/>
          <c:tx>
            <c:strRef>
              <c:strCache>
                <c:ptCount val="1"/>
                <c:pt idx="0">
                  <c:v>Latin America</c:v>
                </c:pt>
              </c:strCache>
            </c:strRef>
          </c:tx>
          <c:spPr>
            <a:solidFill>
              <a:srgbClr val="00ACAC"/>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9.6002253826751</c:v>
                </c:pt>
                <c:pt idx="1">
                  <c:v>10.450129202846512</c:v>
                </c:pt>
              </c:numCache>
            </c:numRef>
          </c:val>
        </c:ser>
        <c:ser>
          <c:idx val="4"/>
          <c:order val="4"/>
          <c:tx>
            <c:strRef>
              <c:strCache>
                <c:ptCount val="1"/>
                <c:pt idx="0">
                  <c:v>Middle East &amp; Africa</c:v>
                </c:pt>
              </c:strCache>
            </c:strRef>
          </c:tx>
          <c:spPr>
            <a:solidFill>
              <a:srgbClr val="F47620"/>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8.400197340144059</c:v>
                </c:pt>
                <c:pt idx="1">
                  <c:v>8.340509564536138</c:v>
                </c:pt>
              </c:numCache>
            </c:numRef>
          </c:val>
        </c:ser>
        <c:ser>
          <c:idx val="5"/>
          <c:order val="5"/>
          <c:tx>
            <c:strRef>
              <c:strCache>
                <c:ptCount val="1"/>
                <c:pt idx="0">
                  <c:v>Eastern Europe</c:v>
                </c:pt>
              </c:strCache>
            </c:strRef>
          </c:tx>
          <c:spPr>
            <a:solidFill>
              <a:srgbClr val="79C3EC"/>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2E2E2E"/>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7.373091011542887</c:v>
                </c:pt>
                <c:pt idx="1">
                  <c:v>7.891603447150226</c:v>
                </c:pt>
              </c:numCache>
            </c:numRef>
          </c:val>
        </c:ser>
        <c:ser>
          <c:idx val="6"/>
          <c:order val="6"/>
          <c:tx>
            <c:strRef>
              <c:strCache>
                <c:ptCount val="1"/>
                <c:pt idx="0">
                  <c:v>Western Europe</c:v>
                </c:pt>
              </c:strCache>
            </c:strRef>
          </c:tx>
          <c:spPr>
            <a:solidFill>
              <a:srgbClr val="586272"/>
            </a:solidFill>
            <a:ln>
              <a:noFill/>
            </a:ln>
          </c:spPr>
          <c:dLbls>
            <c:dLbl>
              <c:idx val="0"/>
              <c:numFmt formatCode="&quot;MMM&quot;;&quot;MMM&quot;;&quot;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5.024851980636768</c:v>
                </c:pt>
                <c:pt idx="1">
                  <c:v>5.317817980022197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59108397.92</c:v>
                </c:pt>
                <c:pt idx="1">
                  <c:v>60256619.824</c:v>
                </c:pt>
                <c:pt idx="2">
                  <c:v>61428197.855</c:v>
                </c:pt>
                <c:pt idx="3">
                  <c:v>62623630.778</c:v>
                </c:pt>
                <c:pt idx="4">
                  <c:v>63843428.52</c:v>
                </c:pt>
                <c:pt idx="5">
                  <c:v>65491794.614</c:v>
                </c:pt>
                <c:pt idx="6">
                  <c:v>67181823.636</c:v>
                </c:pt>
                <c:pt idx="7">
                  <c:v>68910802.479</c:v>
                </c:pt>
                <c:pt idx="8">
                  <c:v>70679479.882</c:v>
                </c:pt>
                <c:pt idx="9">
                  <c:v>72488614.451</c:v>
                </c:pt>
                <c:pt idx="10">
                  <c:v>74338974.837</c:v>
                </c:pt>
                <c:pt idx="11">
                  <c:v>76231340.433</c:v>
                </c:pt>
                <c:pt idx="12">
                  <c:v>78166501.471</c:v>
                </c:pt>
                <c:pt idx="13">
                  <c:v>80145258.305</c:v>
                </c:pt>
                <c:pt idx="14">
                  <c:v>82168422.312</c:v>
                </c:pt>
                <c:pt idx="15">
                  <c:v>84236815.335</c:v>
                </c:pt>
              </c:numCache>
            </c:numRef>
          </c:val>
        </c:ser>
        <c:ser>
          <c:idx val="1"/>
          <c:order val="1"/>
          <c:tx>
            <c:strRef>
              <c:strCache>
                <c:ptCount val="1"/>
                <c:pt idx="0">
                  <c:v>East Asia</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40677397.473</c:v>
                </c:pt>
                <c:pt idx="1">
                  <c:v>42291722.68</c:v>
                </c:pt>
                <c:pt idx="2">
                  <c:v>43971029.068</c:v>
                </c:pt>
                <c:pt idx="3">
                  <c:v>45717964.062</c:v>
                </c:pt>
                <c:pt idx="4">
                  <c:v>47535284.05</c:v>
                </c:pt>
                <c:pt idx="5">
                  <c:v>49732402.401</c:v>
                </c:pt>
                <c:pt idx="6">
                  <c:v>52028210.073</c:v>
                </c:pt>
                <c:pt idx="7">
                  <c:v>54426479.728</c:v>
                </c:pt>
                <c:pt idx="8">
                  <c:v>56931594.865</c:v>
                </c:pt>
                <c:pt idx="9">
                  <c:v>59548116.675</c:v>
                </c:pt>
                <c:pt idx="10">
                  <c:v>62280790.927</c:v>
                </c:pt>
                <c:pt idx="11">
                  <c:v>65134555.513</c:v>
                </c:pt>
                <c:pt idx="12">
                  <c:v>68114547.805</c:v>
                </c:pt>
                <c:pt idx="13">
                  <c:v>71226111.55</c:v>
                </c:pt>
                <c:pt idx="14">
                  <c:v>74474805.421</c:v>
                </c:pt>
                <c:pt idx="15">
                  <c:v>77866410.578</c:v>
                </c:pt>
              </c:numCache>
            </c:numRef>
          </c:val>
        </c:ser>
        <c:ser>
          <c:idx val="2"/>
          <c:order val="2"/>
          <c:tx>
            <c:strRef>
              <c:strCache>
                <c:ptCount val="1"/>
                <c:pt idx="0">
                  <c:v>South Asia &amp; Pacific</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39395905.487</c:v>
                </c:pt>
                <c:pt idx="1">
                  <c:v>41477687.393</c:v>
                </c:pt>
                <c:pt idx="2">
                  <c:v>43672401.553</c:v>
                </c:pt>
                <c:pt idx="3">
                  <c:v>45986304.871</c:v>
                </c:pt>
                <c:pt idx="4">
                  <c:v>48426006.673</c:v>
                </c:pt>
                <c:pt idx="5">
                  <c:v>51314785.919</c:v>
                </c:pt>
                <c:pt idx="6">
                  <c:v>54370528.497</c:v>
                </c:pt>
                <c:pt idx="7">
                  <c:v>57607020.155</c:v>
                </c:pt>
                <c:pt idx="8">
                  <c:v>61034833.414</c:v>
                </c:pt>
                <c:pt idx="9">
                  <c:v>64665149.215</c:v>
                </c:pt>
                <c:pt idx="10">
                  <c:v>68509791.336</c:v>
                </c:pt>
                <c:pt idx="11">
                  <c:v>72581263.209</c:v>
                </c:pt>
                <c:pt idx="12">
                  <c:v>76892786.271</c:v>
                </c:pt>
                <c:pt idx="13">
                  <c:v>81458339.596</c:v>
                </c:pt>
                <c:pt idx="14">
                  <c:v>86292703.3</c:v>
                </c:pt>
                <c:pt idx="15">
                  <c:v>91411502.862</c:v>
                </c:pt>
              </c:numCache>
            </c:numRef>
          </c:val>
        </c:ser>
        <c:ser>
          <c:idx val="3"/>
          <c:order val="3"/>
          <c:tx>
            <c:strRef>
              <c:strCache>
                <c:ptCount val="1"/>
                <c:pt idx="0">
                  <c:v>Latin America</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17803091.112</c:v>
                </c:pt>
                <c:pt idx="1">
                  <c:v>18581499.379</c:v>
                </c:pt>
                <c:pt idx="2">
                  <c:v>19394494.152</c:v>
                </c:pt>
                <c:pt idx="3">
                  <c:v>20243629.259</c:v>
                </c:pt>
                <c:pt idx="4">
                  <c:v>21130528.869</c:v>
                </c:pt>
                <c:pt idx="5">
                  <c:v>22193689.453</c:v>
                </c:pt>
                <c:pt idx="6">
                  <c:v>23307433.451</c:v>
                </c:pt>
                <c:pt idx="7">
                  <c:v>24475639.356</c:v>
                </c:pt>
                <c:pt idx="8">
                  <c:v>25700881.354</c:v>
                </c:pt>
                <c:pt idx="9">
                  <c:v>26985850.09</c:v>
                </c:pt>
                <c:pt idx="10">
                  <c:v>28333357.716</c:v>
                </c:pt>
                <c:pt idx="11">
                  <c:v>29746343.344</c:v>
                </c:pt>
                <c:pt idx="12">
                  <c:v>31227878.516</c:v>
                </c:pt>
                <c:pt idx="13">
                  <c:v>32781172.567</c:v>
                </c:pt>
                <c:pt idx="14">
                  <c:v>34409578.845</c:v>
                </c:pt>
                <c:pt idx="15">
                  <c:v>36116600.583</c:v>
                </c:pt>
              </c:numCache>
            </c:numRef>
          </c:val>
        </c:ser>
        <c:ser>
          <c:idx val="4"/>
          <c:order val="4"/>
          <c:tx>
            <c:strRef>
              <c:strCache>
                <c:ptCount val="1"/>
                <c:pt idx="0">
                  <c:v>Middle East &amp; Africa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17056287.753</c:v>
                </c:pt>
                <c:pt idx="1">
                  <c:v>17671384.797</c:v>
                </c:pt>
                <c:pt idx="2">
                  <c:v>18309767.956</c:v>
                </c:pt>
                <c:pt idx="3">
                  <c:v>18972363.796</c:v>
                </c:pt>
                <c:pt idx="4">
                  <c:v>19660137.524</c:v>
                </c:pt>
                <c:pt idx="5">
                  <c:v>20500456.588</c:v>
                </c:pt>
                <c:pt idx="6">
                  <c:v>21376277.937</c:v>
                </c:pt>
                <c:pt idx="7">
                  <c:v>22288990.12</c:v>
                </c:pt>
                <c:pt idx="8">
                  <c:v>23240125.177</c:v>
                </c:pt>
                <c:pt idx="9">
                  <c:v>24231277.797</c:v>
                </c:pt>
                <c:pt idx="10">
                  <c:v>25264107.894</c:v>
                </c:pt>
                <c:pt idx="11">
                  <c:v>26340343.478</c:v>
                </c:pt>
                <c:pt idx="12">
                  <c:v>27461783.414</c:v>
                </c:pt>
                <c:pt idx="13">
                  <c:v>28630300.04</c:v>
                </c:pt>
                <c:pt idx="14">
                  <c:v>29847842.427</c:v>
                </c:pt>
                <c:pt idx="15">
                  <c:v>31116439.286</c:v>
                </c:pt>
              </c:numCache>
            </c:numRef>
          </c:val>
        </c:ser>
        <c:ser>
          <c:idx val="5"/>
          <c:order val="5"/>
          <c:tx>
            <c:strRef>
              <c:strCache>
                <c:ptCount val="1"/>
                <c:pt idx="0">
                  <c:v>Eastern Europe</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dLbl>
              <c:idx val="12"/>
              <c:numFmt formatCode="&quot;&quot;" sourceLinked="0"/>
              <c:txPr>
                <a:bodyPr/>
                <a:lstStyle/>
                <a:p>
                  <a:pPr>
                    <a:defRPr/>
                  </a:pPr>
                </a:p>
              </c:txP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13081589.875</c:v>
                </c:pt>
                <c:pt idx="1">
                  <c:v>13566723.361</c:v>
                </c:pt>
                <c:pt idx="2">
                  <c:v>14070414.015</c:v>
                </c:pt>
                <c:pt idx="3">
                  <c:v>14593383.004</c:v>
                </c:pt>
                <c:pt idx="4">
                  <c:v>15136379.74</c:v>
                </c:pt>
                <c:pt idx="5">
                  <c:v>15797556.911</c:v>
                </c:pt>
                <c:pt idx="6">
                  <c:v>16485944.663</c:v>
                </c:pt>
                <c:pt idx="7">
                  <c:v>17203500.716</c:v>
                </c:pt>
                <c:pt idx="8">
                  <c:v>17951408.275</c:v>
                </c:pt>
                <c:pt idx="9">
                  <c:v>18730895.625</c:v>
                </c:pt>
                <c:pt idx="10">
                  <c:v>19543237.765</c:v>
                </c:pt>
                <c:pt idx="11">
                  <c:v>20389758.197</c:v>
                </c:pt>
                <c:pt idx="12">
                  <c:v>21271830.659</c:v>
                </c:pt>
                <c:pt idx="13">
                  <c:v>22190880.671</c:v>
                </c:pt>
                <c:pt idx="14">
                  <c:v>23148387.586</c:v>
                </c:pt>
                <c:pt idx="15">
                  <c:v>24145886.267</c:v>
                </c:pt>
              </c:numCache>
            </c:numRef>
          </c:val>
        </c:ser>
        <c:ser>
          <c:idx val="6"/>
          <c:order val="6"/>
          <c:tx>
            <c:strRef>
              <c:strCache>
                <c:ptCount val="1"/>
                <c:pt idx="0">
                  <c:v>Western Europe</c:v>
                </c:pt>
              </c:strCache>
            </c:strRef>
          </c:tx>
          <c:spPr>
            <a:solidFill>
              <a:srgbClr val="586272"/>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7534672.621</c:v>
                </c:pt>
                <c:pt idx="1">
                  <c:v>7786076.572</c:v>
                </c:pt>
                <c:pt idx="2">
                  <c:v>8046906.846</c:v>
                </c:pt>
                <c:pt idx="3">
                  <c:v>8317539.0</c:v>
                </c:pt>
                <c:pt idx="4">
                  <c:v>8598363.998</c:v>
                </c:pt>
                <c:pt idx="5">
                  <c:v>8944924.116</c:v>
                </c:pt>
                <c:pt idx="6">
                  <c:v>9305426.579</c:v>
                </c:pt>
                <c:pt idx="7">
                  <c:v>9680815.792</c:v>
                </c:pt>
                <c:pt idx="8">
                  <c:v>10071706.413</c:v>
                </c:pt>
                <c:pt idx="9">
                  <c:v>10478737.803</c:v>
                </c:pt>
                <c:pt idx="10">
                  <c:v>10902574.978</c:v>
                </c:pt>
                <c:pt idx="11">
                  <c:v>11343909.698</c:v>
                </c:pt>
                <c:pt idx="12">
                  <c:v>11803461.491</c:v>
                </c:pt>
                <c:pt idx="13">
                  <c:v>12281978.603</c:v>
                </c:pt>
                <c:pt idx="14">
                  <c:v>12780239.206</c:v>
                </c:pt>
                <c:pt idx="15">
                  <c:v>13299052.457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2A5F8F"/>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319305.847</c:v>
                </c:pt>
                <c:pt idx="1">
                  <c:v>330173.239</c:v>
                </c:pt>
                <c:pt idx="2">
                  <c:v>341417.764</c:v>
                </c:pt>
                <c:pt idx="3">
                  <c:v>353052.779</c:v>
                </c:pt>
                <c:pt idx="4">
                  <c:v>365092.118</c:v>
                </c:pt>
                <c:pt idx="5">
                  <c:v>379891.72</c:v>
                </c:pt>
                <c:pt idx="6">
                  <c:v>395287.393</c:v>
                </c:pt>
                <c:pt idx="7">
                  <c:v>411280.878</c:v>
                </c:pt>
                <c:pt idx="8">
                  <c:v>427894.19</c:v>
                </c:pt>
                <c:pt idx="9">
                  <c:v>445150.098</c:v>
                </c:pt>
                <c:pt idx="10">
                  <c:v>463072.156</c:v>
                </c:pt>
                <c:pt idx="11">
                  <c:v>481684.729</c:v>
                </c:pt>
                <c:pt idx="12">
                  <c:v>501013.017</c:v>
                </c:pt>
                <c:pt idx="13">
                  <c:v>521083.082</c:v>
                </c:pt>
                <c:pt idx="14">
                  <c:v>541921.876</c:v>
                </c:pt>
                <c:pt idx="15">
                  <c:v>563557.27</c:v>
                </c:pt>
              </c:numCache>
            </c:numRef>
          </c:val>
        </c:ser>
        <c:ser>
          <c:idx val="1"/>
          <c:order val="1"/>
          <c:tx>
            <c:strRef>
              <c:strCache>
                <c:ptCount val="1"/>
                <c:pt idx="0">
                  <c:v>East Asia</c:v>
                </c:pt>
              </c:strCache>
            </c:strRef>
          </c:tx>
          <c:spPr>
            <a:solidFill>
              <a:srgbClr val="0081E2"/>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122330.81</c:v>
                </c:pt>
                <c:pt idx="1">
                  <c:v>127203.39</c:v>
                </c:pt>
                <c:pt idx="2">
                  <c:v>132271.701</c:v>
                </c:pt>
                <c:pt idx="3">
                  <c:v>137543.666</c:v>
                </c:pt>
                <c:pt idx="4">
                  <c:v>143027.526</c:v>
                </c:pt>
                <c:pt idx="5">
                  <c:v>149654.314</c:v>
                </c:pt>
                <c:pt idx="6">
                  <c:v>156578.517</c:v>
                </c:pt>
                <c:pt idx="7">
                  <c:v>163811.18</c:v>
                </c:pt>
                <c:pt idx="8">
                  <c:v>171365.422</c:v>
                </c:pt>
                <c:pt idx="9">
                  <c:v>179254.878</c:v>
                </c:pt>
                <c:pt idx="10">
                  <c:v>187493.737</c:v>
                </c:pt>
                <c:pt idx="11">
                  <c:v>196096.756</c:v>
                </c:pt>
                <c:pt idx="12">
                  <c:v>205079.274</c:v>
                </c:pt>
                <c:pt idx="13">
                  <c:v>214457.247</c:v>
                </c:pt>
                <c:pt idx="14">
                  <c:v>224247.262</c:v>
                </c:pt>
                <c:pt idx="15">
                  <c:v>234466.56</c:v>
                </c:pt>
              </c:numCache>
            </c:numRef>
          </c:val>
        </c:ser>
        <c:ser>
          <c:idx val="2"/>
          <c:order val="2"/>
          <c:tx>
            <c:strRef>
              <c:strCache>
                <c:ptCount val="1"/>
                <c:pt idx="0">
                  <c:v>South Asia &amp; Pacific</c:v>
                </c:pt>
              </c:strCache>
            </c:strRef>
          </c:tx>
          <c:spPr>
            <a:solidFill>
              <a:srgbClr val="0E2A5C"/>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106664.15</c:v>
                </c:pt>
                <c:pt idx="1">
                  <c:v>112169.222</c:v>
                </c:pt>
                <c:pt idx="2">
                  <c:v>117967.911</c:v>
                </c:pt>
                <c:pt idx="3">
                  <c:v>124076.288</c:v>
                </c:pt>
                <c:pt idx="4">
                  <c:v>130511.328</c:v>
                </c:pt>
                <c:pt idx="5">
                  <c:v>138142.443</c:v>
                </c:pt>
                <c:pt idx="6">
                  <c:v>146207.568</c:v>
                </c:pt>
                <c:pt idx="7">
                  <c:v>154742.312</c:v>
                </c:pt>
                <c:pt idx="8">
                  <c:v>163773.814</c:v>
                </c:pt>
                <c:pt idx="9">
                  <c:v>173330.76</c:v>
                </c:pt>
                <c:pt idx="10">
                  <c:v>183443.474</c:v>
                </c:pt>
                <c:pt idx="11">
                  <c:v>194143.999</c:v>
                </c:pt>
                <c:pt idx="12">
                  <c:v>205466.215</c:v>
                </c:pt>
                <c:pt idx="13">
                  <c:v>217445.917</c:v>
                </c:pt>
                <c:pt idx="14">
                  <c:v>230120.933</c:v>
                </c:pt>
                <c:pt idx="15">
                  <c:v>243531.248</c:v>
                </c:pt>
              </c:numCache>
            </c:numRef>
          </c:val>
        </c:ser>
        <c:ser>
          <c:idx val="3"/>
          <c:order val="3"/>
          <c:tx>
            <c:strRef>
              <c:strCache>
                <c:ptCount val="1"/>
                <c:pt idx="0">
                  <c:v>Latin America</c:v>
                </c:pt>
              </c:strCache>
            </c:strRef>
          </c:tx>
          <c:spPr>
            <a:solidFill>
              <a:srgbClr val="00ACA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71488.195</c:v>
                </c:pt>
                <c:pt idx="1">
                  <c:v>75105.502</c:v>
                </c:pt>
                <c:pt idx="2">
                  <c:v>78908.221</c:v>
                </c:pt>
                <c:pt idx="3">
                  <c:v>82905.943</c:v>
                </c:pt>
                <c:pt idx="4">
                  <c:v>87108.764</c:v>
                </c:pt>
                <c:pt idx="5">
                  <c:v>92094.962</c:v>
                </c:pt>
                <c:pt idx="6">
                  <c:v>97354.511</c:v>
                </c:pt>
                <c:pt idx="7">
                  <c:v>102908.585</c:v>
                </c:pt>
                <c:pt idx="8">
                  <c:v>108773.266</c:v>
                </c:pt>
                <c:pt idx="9">
                  <c:v>114965.496</c:v>
                </c:pt>
                <c:pt idx="10">
                  <c:v>121503.104</c:v>
                </c:pt>
                <c:pt idx="11">
                  <c:v>128404.865</c:v>
                </c:pt>
                <c:pt idx="12">
                  <c:v>135690.542</c:v>
                </c:pt>
                <c:pt idx="13">
                  <c:v>143380.941</c:v>
                </c:pt>
                <c:pt idx="14">
                  <c:v>151497.954</c:v>
                </c:pt>
                <c:pt idx="15">
                  <c:v>160064.629</c:v>
                </c:pt>
              </c:numCache>
            </c:numRef>
          </c:val>
        </c:ser>
        <c:ser>
          <c:idx val="4"/>
          <c:order val="4"/>
          <c:tx>
            <c:strRef>
              <c:strCache>
                <c:ptCount val="1"/>
                <c:pt idx="0">
                  <c:v>Middle East &amp; Africa</c:v>
                </c:pt>
              </c:strCache>
            </c:strRef>
          </c:tx>
          <c:spPr>
            <a:solidFill>
              <a:srgbClr val="F47620"/>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65590.183</c:v>
                </c:pt>
                <c:pt idx="1">
                  <c:v>68254.933</c:v>
                </c:pt>
                <c:pt idx="2">
                  <c:v>71031.915</c:v>
                </c:pt>
                <c:pt idx="3">
                  <c:v>73926.026</c:v>
                </c:pt>
                <c:pt idx="4">
                  <c:v>76942.399</c:v>
                </c:pt>
                <c:pt idx="5">
                  <c:v>80583.093</c:v>
                </c:pt>
                <c:pt idx="6">
                  <c:v>84394.008</c:v>
                </c:pt>
                <c:pt idx="7">
                  <c:v>88382.645</c:v>
                </c:pt>
                <c:pt idx="8">
                  <c:v>92557.167</c:v>
                </c:pt>
                <c:pt idx="9">
                  <c:v>96926.114</c:v>
                </c:pt>
                <c:pt idx="10">
                  <c:v>101498.405</c:v>
                </c:pt>
                <c:pt idx="11">
                  <c:v>106283.369</c:v>
                </c:pt>
                <c:pt idx="12">
                  <c:v>111290.749</c:v>
                </c:pt>
                <c:pt idx="13">
                  <c:v>116530.731</c:v>
                </c:pt>
                <c:pt idx="14">
                  <c:v>122013.971</c:v>
                </c:pt>
                <c:pt idx="15">
                  <c:v>127751.585</c:v>
                </c:pt>
              </c:numCache>
            </c:numRef>
          </c:val>
        </c:ser>
        <c:ser>
          <c:idx val="5"/>
          <c:order val="5"/>
          <c:tx>
            <c:strRef>
              <c:strCache>
                <c:ptCount val="1"/>
                <c:pt idx="0">
                  <c:v>Eastern Europe</c:v>
                </c:pt>
              </c:strCache>
            </c:strRef>
          </c:tx>
          <c:spPr>
            <a:solidFill>
              <a:srgbClr val="79C3EC"/>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55384.976</c:v>
                </c:pt>
                <c:pt idx="1">
                  <c:v>58085.18</c:v>
                </c:pt>
                <c:pt idx="2">
                  <c:v>60919.305</c:v>
                </c:pt>
                <c:pt idx="3">
                  <c:v>63894.073</c:v>
                </c:pt>
                <c:pt idx="4">
                  <c:v>67016.53</c:v>
                </c:pt>
                <c:pt idx="5">
                  <c:v>70730.062</c:v>
                </c:pt>
                <c:pt idx="6">
                  <c:v>74641.571</c:v>
                </c:pt>
                <c:pt idx="7">
                  <c:v>78765.405</c:v>
                </c:pt>
                <c:pt idx="8">
                  <c:v>83112.793</c:v>
                </c:pt>
                <c:pt idx="9">
                  <c:v>87695.542</c:v>
                </c:pt>
                <c:pt idx="10">
                  <c:v>92526.062</c:v>
                </c:pt>
                <c:pt idx="11">
                  <c:v>97617.397</c:v>
                </c:pt>
                <c:pt idx="12">
                  <c:v>102983.254</c:v>
                </c:pt>
                <c:pt idx="13">
                  <c:v>108638.038</c:v>
                </c:pt>
                <c:pt idx="14">
                  <c:v>114596.883</c:v>
                </c:pt>
                <c:pt idx="15">
                  <c:v>120875.69</c:v>
                </c:pt>
              </c:numCache>
            </c:numRef>
          </c:val>
        </c:ser>
        <c:ser>
          <c:idx val="6"/>
          <c:order val="6"/>
          <c:tx>
            <c:strRef>
              <c:strCache>
                <c:ptCount val="1"/>
                <c:pt idx="0">
                  <c:v>Western Europe</c:v>
                </c:pt>
              </c:strCache>
            </c:strRef>
          </c:tx>
          <c:spPr>
            <a:solidFill>
              <a:srgbClr val="586272"/>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38088.406</c:v>
                </c:pt>
                <c:pt idx="1">
                  <c:v>39865.834</c:v>
                </c:pt>
                <c:pt idx="2">
                  <c:v>41731.623</c:v>
                </c:pt>
                <c:pt idx="3">
                  <c:v>43690.361</c:v>
                </c:pt>
                <c:pt idx="4">
                  <c:v>45746.884</c:v>
                </c:pt>
                <c:pt idx="5">
                  <c:v>48203.405</c:v>
                </c:pt>
                <c:pt idx="6">
                  <c:v>50791.731</c:v>
                </c:pt>
                <c:pt idx="7">
                  <c:v>53521.082</c:v>
                </c:pt>
                <c:pt idx="8">
                  <c:v>56399.178</c:v>
                </c:pt>
                <c:pt idx="9">
                  <c:v>59434.156</c:v>
                </c:pt>
                <c:pt idx="10">
                  <c:v>62634.589</c:v>
                </c:pt>
                <c:pt idx="11">
                  <c:v>66009.53</c:v>
                </c:pt>
                <c:pt idx="12">
                  <c:v>69568.517</c:v>
                </c:pt>
                <c:pt idx="13">
                  <c:v>73321.598</c:v>
                </c:pt>
                <c:pt idx="14">
                  <c:v>77279.375</c:v>
                </c:pt>
                <c:pt idx="15">
                  <c:v>81453.018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Construction and Mining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28.870428103719863</c:v>
                </c:pt>
                <c:pt idx="1">
                  <c:v>30.20640957664854</c:v>
                </c:pt>
                <c:pt idx="2">
                  <c:v>28.872894218885815</c:v>
                </c:pt>
                <c:pt idx="3">
                  <c:v>28.338456336908763</c:v>
                </c:pt>
                <c:pt idx="4">
                  <c:v>29.48972595495068</c:v>
                </c:pt>
                <c:pt idx="5">
                  <c:v>28.635183194232223</c:v>
                </c:pt>
                <c:pt idx="6">
                  <c:v>27.984935053716896</c:v>
                </c:pt>
              </c:numCache>
            </c:numRef>
          </c:val>
        </c:ser>
        <c:ser>
          <c:idx val="1"/>
          <c:order val="1"/>
          <c:tx>
            <c:strRef>
              <c:strCache>
                <c:ptCount val="1"/>
                <c:pt idx="0">
                  <c:v>Agriculture and Forestry Vehicles</c:v>
                </c:pt>
              </c:strCache>
            </c:strRef>
          </c:tx>
          <c:spPr>
            <a:solidFill>
              <a:srgbClr val="0081E2"/>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19.93221049218827</c:v>
                </c:pt>
                <c:pt idx="1">
                  <c:v>21.648987484580235</c:v>
                </c:pt>
                <c:pt idx="2">
                  <c:v>22.24387353002313</c:v>
                </c:pt>
                <c:pt idx="3">
                  <c:v>21.207745403889326</c:v>
                </c:pt>
                <c:pt idx="4">
                  <c:v>22.258224797600136</c:v>
                </c:pt>
                <c:pt idx="5">
                  <c:v>20.663514605731418</c:v>
                </c:pt>
                <c:pt idx="6">
                  <c:v>21.473302615721735</c:v>
                </c:pt>
              </c:numCache>
            </c:numRef>
          </c:val>
        </c:ser>
        <c:ser>
          <c:idx val="2"/>
          <c:order val="2"/>
          <c:tx>
            <c:strRef>
              <c:strCache>
                <c:ptCount val="1"/>
                <c:pt idx="0">
                  <c:v>Industrial and Port Vehicles</c:v>
                </c:pt>
              </c:strCache>
            </c:strRef>
          </c:tx>
          <c:spPr>
            <a:solidFill>
              <a:srgbClr val="0E2A5C"/>
            </a:solidFill>
            <a:ln>
              <a:noFill/>
            </a:ln>
          </c:spPr>
          <c:dLbls>
            <c:dLbl>
              <c:idx val="0"/>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12.862026794390848</c:v>
                </c:pt>
                <c:pt idx="1">
                  <c:v>12.990727912287408</c:v>
                </c:pt>
                <c:pt idx="2">
                  <c:v>13.402009845905239</c:v>
                </c:pt>
                <c:pt idx="3">
                  <c:v>12.790483524002044</c:v>
                </c:pt>
                <c:pt idx="4">
                  <c:v>13.027139563100171</c:v>
                </c:pt>
                <c:pt idx="5">
                  <c:v>13.462248589963288</c:v>
                </c:pt>
                <c:pt idx="6">
                  <c:v>13.355429874944209</c:v>
                </c:pt>
              </c:numCache>
            </c:numRef>
          </c:val>
        </c:ser>
        <c:ser>
          <c:idx val="3"/>
          <c:order val="3"/>
          <c:tx>
            <c:strRef>
              <c:strCache>
                <c:ptCount val="1"/>
                <c:pt idx="0">
                  <c:v>Recreational and Powersports Vehicles</c:v>
                </c:pt>
              </c:strCache>
            </c:strRef>
          </c:tx>
          <c:spPr>
            <a:solidFill>
              <a:srgbClr val="00ACAC"/>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18.506131964318374</c:v>
                </c:pt>
                <c:pt idx="1">
                  <c:v>17.454039765977758</c:v>
                </c:pt>
                <c:pt idx="2">
                  <c:v>17.7724871280462</c:v>
                </c:pt>
                <c:pt idx="3">
                  <c:v>17.609080891943965</c:v>
                </c:pt>
                <c:pt idx="4">
                  <c:v>17.026173796382736</c:v>
                </c:pt>
                <c:pt idx="5">
                  <c:v>17.48384092377336</c:v>
                </c:pt>
                <c:pt idx="6">
                  <c:v>17.678015226385067</c:v>
                </c:pt>
              </c:numCache>
            </c:numRef>
          </c:val>
        </c:ser>
        <c:ser>
          <c:idx val="4"/>
          <c:order val="4"/>
          <c:tx>
            <c:strRef>
              <c:strCache>
                <c:ptCount val="1"/>
                <c:pt idx="0">
                  <c:v>Military Vehicles</c:v>
                </c:pt>
              </c:strCache>
            </c:strRef>
          </c:tx>
          <c:spPr>
            <a:solidFill>
              <a:srgbClr val="F47620"/>
            </a:solidFill>
            <a:ln>
              <a:noFill/>
            </a:ln>
          </c:spPr>
          <c:dLbls>
            <c:dLbl>
              <c:idx val="0"/>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19.829202645382644</c:v>
                </c:pt>
                <c:pt idx="1">
                  <c:v>17.699835260506063</c:v>
                </c:pt>
                <c:pt idx="2">
                  <c:v>17.708735277139613</c:v>
                </c:pt>
                <c:pt idx="3">
                  <c:v>20.0542338432559</c:v>
                </c:pt>
                <c:pt idx="4">
                  <c:v>18.198735887966283</c:v>
                </c:pt>
                <c:pt idx="5">
                  <c:v>19.755212686299704</c:v>
                </c:pt>
                <c:pt idx="6">
                  <c:v>19.508317229232087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Construction and Mining Vehicles</c:v>
                </c:pt>
              </c:strCache>
            </c:strRef>
          </c:tx>
          <c:spPr>
            <a:solidFill>
              <a:srgbClr val="2A5F8F"/>
            </a:solidFill>
          </c:spPr>
          <c:invertIfNegative val="0"/>
          <c:xVal>
            <c:numRef>
              <c:numCache>
                <c:formatCode>General</c:formatCode>
                <c:ptCount val="1"/>
                <c:pt idx="0">
                  <c:v>115.31742446149454</c:v>
                </c:pt>
              </c:numCache>
            </c:numRef>
          </c:xVal>
          <c:yVal>
            <c:numRef>
              <c:numCache>
                <c:formatCode>General</c:formatCode>
                <c:ptCount val="1"/>
                <c:pt idx="0">
                  <c:v>133.60450342291722</c:v>
                </c:pt>
              </c:numCache>
            </c:numRef>
          </c:yVal>
          <c:bubbleSize>
            <c:numRef>
              <c:numCache>
                <c:formatCode>General</c:formatCode>
                <c:ptCount val="1"/>
                <c:pt idx="0">
                  <c:v>438863.767</c:v>
                </c:pt>
              </c:numCache>
            </c:numRef>
          </c:bubbleSize>
          <c:bubble3D val="0"/>
        </c:ser>
        <c:ser>
          <c:idx val="1"/>
          <c:order val="1"/>
          <c:tx>
            <c:strRef>
              <c:strCache>
                <c:ptCount val="1"/>
                <c:pt idx="0">
                  <c:v>Agriculture and Forestry Vehicles</c:v>
                </c:pt>
              </c:strCache>
            </c:strRef>
          </c:tx>
          <c:spPr>
            <a:solidFill>
              <a:srgbClr val="0081E2"/>
            </a:solidFill>
          </c:spPr>
          <c:invertIfNegative val="0"/>
          <c:xVal>
            <c:numRef>
              <c:numCache>
                <c:formatCode>General</c:formatCode>
                <c:ptCount val="1"/>
                <c:pt idx="0">
                  <c:v>89.56314352729768</c:v>
                </c:pt>
              </c:numCache>
            </c:numRef>
          </c:xVal>
          <c:yVal>
            <c:numRef>
              <c:numCache>
                <c:formatCode>General</c:formatCode>
                <c:ptCount val="1"/>
                <c:pt idx="0">
                  <c:v>112.41555260337282</c:v>
                </c:pt>
              </c:numCache>
            </c:numRef>
          </c:yVal>
          <c:bubbleSize>
            <c:numRef>
              <c:numCache>
                <c:formatCode>General</c:formatCode>
                <c:ptCount val="1"/>
                <c:pt idx="0">
                  <c:v>328291.317</c:v>
                </c:pt>
              </c:numCache>
            </c:numRef>
          </c:bubbleSize>
          <c:bubble3D val="0"/>
        </c:ser>
        <c:ser>
          <c:idx val="2"/>
          <c:order val="2"/>
          <c:tx>
            <c:strRef>
              <c:strCache>
                <c:ptCount val="1"/>
                <c:pt idx="0">
                  <c:v>Industrial and Port Vehicles</c:v>
                </c:pt>
              </c:strCache>
            </c:strRef>
          </c:tx>
          <c:spPr>
            <a:solidFill>
              <a:srgbClr val="0E2A5C"/>
            </a:solidFill>
          </c:spPr>
          <c:invertIfNegative val="0"/>
          <c:xVal>
            <c:numRef>
              <c:numCache>
                <c:formatCode>General</c:formatCode>
                <c:ptCount val="1"/>
                <c:pt idx="0">
                  <c:v>78.92131552902612</c:v>
                </c:pt>
              </c:numCache>
            </c:numRef>
          </c:xVal>
          <c:yVal>
            <c:numRef>
              <c:numCache>
                <c:formatCode>General</c:formatCode>
                <c:ptCount val="1"/>
                <c:pt idx="0">
                  <c:v>72.77635679430453</c:v>
                </c:pt>
              </c:numCache>
            </c:numRef>
          </c:yVal>
          <c:bubbleSize>
            <c:numRef>
              <c:numCache>
                <c:formatCode>General</c:formatCode>
                <c:ptCount val="1"/>
                <c:pt idx="0">
                  <c:v>202368.025</c:v>
                </c:pt>
              </c:numCache>
            </c:numRef>
          </c:bubbleSize>
          <c:bubble3D val="0"/>
        </c:ser>
        <c:ser>
          <c:idx val="3"/>
          <c:order val="3"/>
          <c:tx>
            <c:strRef>
              <c:strCache>
                <c:ptCount val="1"/>
                <c:pt idx="0">
                  <c:v>Recreational and Powersports Vehicles</c:v>
                </c:pt>
              </c:strCache>
            </c:strRef>
          </c:tx>
          <c:spPr>
            <a:solidFill>
              <a:srgbClr val="00ACAC"/>
            </a:solidFill>
          </c:spPr>
          <c:invertIfNegative val="0"/>
          <c:xVal>
            <c:numRef>
              <c:numCache>
                <c:formatCode>General</c:formatCode>
                <c:ptCount val="1"/>
                <c:pt idx="0">
                  <c:v>132.16716991450554</c:v>
                </c:pt>
              </c:numCache>
            </c:numRef>
          </c:xVal>
          <c:yVal>
            <c:numRef>
              <c:numCache>
                <c:formatCode>General</c:formatCode>
                <c:ptCount val="1"/>
                <c:pt idx="0">
                  <c:v>75.93665701650855</c:v>
                </c:pt>
              </c:numCache>
            </c:numRef>
          </c:yVal>
          <c:bubbleSize>
            <c:numRef>
              <c:numCache>
                <c:formatCode>General</c:formatCode>
                <c:ptCount val="1"/>
                <c:pt idx="0">
                  <c:v>269187.078</c:v>
                </c:pt>
              </c:numCache>
            </c:numRef>
          </c:bubbleSize>
          <c:bubble3D val="0"/>
        </c:ser>
        <c:ser>
          <c:idx val="4"/>
          <c:order val="4"/>
          <c:tx>
            <c:strRef>
              <c:strCache>
                <c:ptCount val="1"/>
                <c:pt idx="0">
                  <c:v>Military Vehicles</c:v>
                </c:pt>
              </c:strCache>
            </c:strRef>
          </c:tx>
          <c:spPr>
            <a:solidFill>
              <a:srgbClr val="F47620"/>
            </a:solidFill>
          </c:spPr>
          <c:invertIfNegative val="0"/>
          <c:xVal>
            <c:numRef>
              <c:numCache>
                <c:formatCode>General</c:formatCode>
                <c:ptCount val="1"/>
                <c:pt idx="0">
                  <c:v>79.12533610110272</c:v>
                </c:pt>
              </c:numCache>
            </c:numRef>
          </c:xVal>
          <c:yVal>
            <c:numRef>
              <c:numCache>
                <c:formatCode>General</c:formatCode>
                <c:ptCount val="1"/>
                <c:pt idx="0">
                  <c:v>105.26693016289681</c:v>
                </c:pt>
              </c:numCache>
            </c:numRef>
          </c:yVal>
          <c:bubbleSize>
            <c:numRef>
              <c:numCache>
                <c:formatCode>General</c:formatCode>
                <c:ptCount val="1"/>
                <c:pt idx="0">
                  <c:v>292989.81299999997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6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256333.6</c:v>
                </c:pt>
                <c:pt idx="2">
                  <c:v>285629.005</c:v>
                </c:pt>
                <c:pt idx="3">
                  <c:v>318161.333</c:v>
                </c:pt>
                <c:pt idx="4">
                  <c:v>354280.044</c:v>
                </c:pt>
                <c:pt idx="5">
                  <c:v>394371.677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256333.6</c:v>
                </c:pt>
                <c:pt idx="1">
                  <c:v>29295.405</c:v>
                </c:pt>
                <c:pt idx="2">
                  <c:v>32532.32799999998</c:v>
                </c:pt>
                <c:pt idx="3">
                  <c:v>36118.71100000001</c:v>
                </c:pt>
                <c:pt idx="4">
                  <c:v>40091.63300000003</c:v>
                </c:pt>
                <c:pt idx="5">
                  <c:v>44492.08999999997</c:v>
                </c:pt>
                <c:pt idx="6">
                  <c:v>438863.767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215680.479</c:v>
                </c:pt>
                <c:pt idx="2">
                  <c:v>234596.30800000002</c:v>
                </c:pt>
                <c:pt idx="3">
                  <c:v>255165.04499999998</c:v>
                </c:pt>
                <c:pt idx="4">
                  <c:v>277530.615</c:v>
                </c:pt>
                <c:pt idx="5">
                  <c:v>301849.381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215680.479</c:v>
                </c:pt>
                <c:pt idx="1">
                  <c:v>18915.829000000027</c:v>
                </c:pt>
                <c:pt idx="2">
                  <c:v>20568.736999999965</c:v>
                </c:pt>
                <c:pt idx="3">
                  <c:v>22365.570000000007</c:v>
                </c:pt>
                <c:pt idx="4">
                  <c:v>24318.766000000003</c:v>
                </c:pt>
                <c:pt idx="5">
                  <c:v>26441.935999999987</c:v>
                </c:pt>
                <c:pt idx="6">
                  <c:v>328291.317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139628.718</c:v>
                </c:pt>
                <c:pt idx="2">
                  <c:v>150437.556</c:v>
                </c:pt>
                <c:pt idx="3">
                  <c:v>162056.34</c:v>
                </c:pt>
                <c:pt idx="4">
                  <c:v>174542.744</c:v>
                </c:pt>
                <c:pt idx="5">
                  <c:v>187958.187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139628.718</c:v>
                </c:pt>
                <c:pt idx="1">
                  <c:v>10808.838000000018</c:v>
                </c:pt>
                <c:pt idx="2">
                  <c:v>11618.783999999985</c:v>
                </c:pt>
                <c:pt idx="3">
                  <c:v>12486.40400000001</c:v>
                </c:pt>
                <c:pt idx="4">
                  <c:v>13415.443</c:v>
                </c:pt>
                <c:pt idx="5">
                  <c:v>14409.837999999989</c:v>
                </c:pt>
                <c:pt idx="6">
                  <c:v>202368.025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145692.07</c:v>
                </c:pt>
                <c:pt idx="2">
                  <c:v>165094.07</c:v>
                </c:pt>
                <c:pt idx="3">
                  <c:v>186856.356</c:v>
                </c:pt>
                <c:pt idx="4">
                  <c:v>211251.54100000003</c:v>
                </c:pt>
                <c:pt idx="5">
                  <c:v>238582.806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145692.07</c:v>
                </c:pt>
                <c:pt idx="1">
                  <c:v>19402.0</c:v>
                </c:pt>
                <c:pt idx="2">
                  <c:v>21762.285999999993</c:v>
                </c:pt>
                <c:pt idx="3">
                  <c:v>24395.185000000027</c:v>
                </c:pt>
                <c:pt idx="4">
                  <c:v>27331.264999999985</c:v>
                </c:pt>
                <c:pt idx="5">
                  <c:v>30604.271999999968</c:v>
                </c:pt>
                <c:pt idx="6">
                  <c:v>269187.078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201965.13199999998</c:v>
                </c:pt>
                <c:pt idx="2">
                  <c:v>217655.148</c:v>
                </c:pt>
                <c:pt idx="3">
                  <c:v>234517.97</c:v>
                </c:pt>
                <c:pt idx="4">
                  <c:v>252635.701</c:v>
                </c:pt>
                <c:pt idx="5">
                  <c:v>272095.503</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201965.13199999998</c:v>
                </c:pt>
                <c:pt idx="1">
                  <c:v>15690.016000000003</c:v>
                </c:pt>
                <c:pt idx="2">
                  <c:v>16862.822000000015</c:v>
                </c:pt>
                <c:pt idx="3">
                  <c:v>18117.731</c:v>
                </c:pt>
                <c:pt idx="4">
                  <c:v>19459.802000000025</c:v>
                </c:pt>
                <c:pt idx="5">
                  <c:v>20894.30999999994</c:v>
                </c:pt>
                <c:pt idx="6">
                  <c:v>292989.81299999997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Construction and Mining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25.719455194400094</c:v>
                </c:pt>
                <c:pt idx="1">
                  <c:v>26.720900684583448</c:v>
                </c:pt>
                <c:pt idx="2">
                  <c:v>28.652070705751782</c:v>
                </c:pt>
              </c:numCache>
            </c:numRef>
          </c:val>
        </c:ser>
        <c:ser>
          <c:idx val="1"/>
          <c:order val="1"/>
          <c:tx>
            <c:strRef>
              <c:strCache>
                <c:ptCount val="1"/>
                <c:pt idx="0">
                  <c:v>Agriculture and Forestry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23.022246134549878</c:v>
                </c:pt>
                <c:pt idx="1">
                  <c:v>22.483110520674565</c:v>
                </c:pt>
                <c:pt idx="2">
                  <c:v>21.43313422994059</c:v>
                </c:pt>
              </c:numCache>
            </c:numRef>
          </c:val>
        </c:ser>
        <c:ser>
          <c:idx val="2"/>
          <c:order val="2"/>
          <c:tx>
            <c:strRef>
              <c:strCache>
                <c:ptCount val="1"/>
                <c:pt idx="0">
                  <c:v>Military Vehicles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22.046780003743635</c:v>
                </c:pt>
                <c:pt idx="1">
                  <c:v>21.053386032579365</c:v>
                </c:pt>
                <c:pt idx="2">
                  <c:v>19.128407194620355</c:v>
                </c:pt>
              </c:numCache>
            </c:numRef>
          </c:val>
        </c:ser>
        <c:ser>
          <c:idx val="3"/>
          <c:order val="3"/>
          <c:tx>
            <c:strRef>
              <c:strCache>
                <c:ptCount val="1"/>
                <c:pt idx="0">
                  <c:v>Recreational and Powersports Vehicles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13.957639559272325</c:v>
                </c:pt>
                <c:pt idx="1">
                  <c:v>15.187331403301712</c:v>
                </c:pt>
                <c:pt idx="2">
                  <c:v>17.574399556048835</c:v>
                </c:pt>
              </c:numCache>
            </c:numRef>
          </c:val>
        </c:ser>
        <c:ser>
          <c:idx val="4"/>
          <c:order val="4"/>
          <c:tx>
            <c:strRef>
              <c:strCache>
                <c:ptCount val="1"/>
                <c:pt idx="0">
                  <c:v>Industrial and Port Vehicles</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15.253879108034063</c:v>
                </c:pt>
                <c:pt idx="1">
                  <c:v>14.55527135886091</c:v>
                </c:pt>
                <c:pt idx="2">
                  <c:v>13.211988313638443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Internal Combustion Engine (ICE)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20.595665344161958</c:v>
                </c:pt>
                <c:pt idx="1">
                  <c:v>20.137758882700073</c:v>
                </c:pt>
                <c:pt idx="2">
                  <c:v>15.840488397854319</c:v>
                </c:pt>
                <c:pt idx="3">
                  <c:v>16.946379202865614</c:v>
                </c:pt>
                <c:pt idx="4">
                  <c:v>18.31874959055995</c:v>
                </c:pt>
                <c:pt idx="5">
                  <c:v>17.17815161034283</c:v>
                </c:pt>
                <c:pt idx="6">
                  <c:v>15.401166947948342</c:v>
                </c:pt>
              </c:numCache>
            </c:numRef>
          </c:val>
        </c:ser>
        <c:ser>
          <c:idx val="1"/>
          <c:order val="1"/>
          <c:tx>
            <c:strRef>
              <c:strCache>
                <c:ptCount val="1"/>
                <c:pt idx="0">
                  <c:v>Battery Electric Vehicle (BEV)</c:v>
                </c:pt>
              </c:strCache>
            </c:strRef>
          </c:tx>
          <c:spPr>
            <a:solidFill>
              <a:srgbClr val="0081E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34.98990055838079</c:v>
                </c:pt>
                <c:pt idx="1">
                  <c:v>34.105439232652984</c:v>
                </c:pt>
                <c:pt idx="2">
                  <c:v>36.01696448619405</c:v>
                </c:pt>
                <c:pt idx="3">
                  <c:v>39.33035074226174</c:v>
                </c:pt>
                <c:pt idx="4">
                  <c:v>30.693901936378477</c:v>
                </c:pt>
                <c:pt idx="5">
                  <c:v>39.507709909982474</c:v>
                </c:pt>
                <c:pt idx="6">
                  <c:v>39.94079909571568</c:v>
                </c:pt>
              </c:numCache>
            </c:numRef>
          </c:val>
        </c:ser>
        <c:ser>
          <c:idx val="2"/>
          <c:order val="2"/>
          <c:tx>
            <c:strRef>
              <c:strCache>
                <c:ptCount val="1"/>
                <c:pt idx="0">
                  <c:v>Hybrid Powertrain</c:v>
                </c:pt>
              </c:strCache>
            </c:strRef>
          </c:tx>
          <c:spPr>
            <a:solidFill>
              <a:srgbClr val="0E2A5C"/>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18.589755630663067</c:v>
                </c:pt>
                <c:pt idx="1">
                  <c:v>17.642544170792323</c:v>
                </c:pt>
                <c:pt idx="2">
                  <c:v>18.141381181298062</c:v>
                </c:pt>
                <c:pt idx="3">
                  <c:v>15.112813587316658</c:v>
                </c:pt>
                <c:pt idx="4">
                  <c:v>18.573939072590992</c:v>
                </c:pt>
                <c:pt idx="5">
                  <c:v>14.722459764177778</c:v>
                </c:pt>
                <c:pt idx="6">
                  <c:v>14.609369159588695</c:v>
                </c:pt>
              </c:numCache>
            </c:numRef>
          </c:val>
        </c:ser>
        <c:ser>
          <c:idx val="3"/>
          <c:order val="3"/>
          <c:tx>
            <c:strRef>
              <c:strCache>
                <c:ptCount val="1"/>
                <c:pt idx="0">
                  <c:v>Alternative Fuel ICE</c:v>
                </c:pt>
              </c:strCache>
            </c:strRef>
          </c:tx>
          <c:spPr>
            <a:solidFill>
              <a:srgbClr val="00ACAC"/>
            </a:solidFill>
            <a:ln>
              <a:noFill/>
            </a:ln>
          </c:spPr>
          <c:dLbls>
            <c:dLbl>
              <c:idx val="0"/>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25.8246784667942</c:v>
                </c:pt>
                <c:pt idx="1">
                  <c:v>28.114257713854624</c:v>
                </c:pt>
                <c:pt idx="2">
                  <c:v>30.001165934653567</c:v>
                </c:pt>
                <c:pt idx="3">
                  <c:v>28.610456467555988</c:v>
                </c:pt>
                <c:pt idx="4">
                  <c:v>32.413409400470584</c:v>
                </c:pt>
                <c:pt idx="5">
                  <c:v>28.59167871549691</c:v>
                </c:pt>
                <c:pt idx="6">
                  <c:v>30.048664796747275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Internal Combustion Engine (ICE)</c:v>
                </c:pt>
              </c:strCache>
            </c:strRef>
          </c:tx>
          <c:spPr>
            <a:solidFill>
              <a:srgbClr val="2A5F8F"/>
            </a:solidFill>
          </c:spPr>
          <c:invertIfNegative val="0"/>
          <c:xVal>
            <c:numRef>
              <c:numCache>
                <c:formatCode>General</c:formatCode>
                <c:ptCount val="1"/>
                <c:pt idx="0">
                  <c:v>87.6272863522094</c:v>
                </c:pt>
              </c:numCache>
            </c:numRef>
          </c:xVal>
          <c:yVal>
            <c:numRef>
              <c:numCache>
                <c:formatCode>General</c:formatCode>
                <c:ptCount val="1"/>
                <c:pt idx="0">
                  <c:v>71.8774081850072</c:v>
                </c:pt>
              </c:numCache>
            </c:numRef>
          </c:yVal>
          <c:bubbleSize>
            <c:numRef>
              <c:numCache>
                <c:formatCode>General</c:formatCode>
                <c:ptCount val="1"/>
                <c:pt idx="0">
                  <c:v>260058.985</c:v>
                </c:pt>
              </c:numCache>
            </c:numRef>
          </c:bubbleSize>
          <c:bubble3D val="0"/>
        </c:ser>
        <c:ser>
          <c:idx val="1"/>
          <c:order val="1"/>
          <c:tx>
            <c:strRef>
              <c:strCache>
                <c:ptCount val="1"/>
                <c:pt idx="0">
                  <c:v>Battery Electric Vehicle (BEV)</c:v>
                </c:pt>
              </c:strCache>
            </c:strRef>
          </c:tx>
          <c:spPr>
            <a:solidFill>
              <a:srgbClr val="0081E2"/>
            </a:solidFill>
          </c:spPr>
          <c:invertIfNegative val="0"/>
          <c:xVal>
            <c:numRef>
              <c:numCache>
                <c:formatCode>General</c:formatCode>
                <c:ptCount val="1"/>
                <c:pt idx="0">
                  <c:v>145.66213753234115</c:v>
                </c:pt>
              </c:numCache>
            </c:numRef>
          </c:xVal>
          <c:yVal>
            <c:numRef>
              <c:numCache>
                <c:formatCode>General</c:formatCode>
                <c:ptCount val="1"/>
                <c:pt idx="0">
                  <c:v>121.48696854111014</c:v>
                </c:pt>
              </c:numCache>
            </c:numRef>
          </c:yVal>
          <c:bubbleSize>
            <c:numRef>
              <c:numCache>
                <c:formatCode>General</c:formatCode>
                <c:ptCount val="1"/>
                <c:pt idx="0">
                  <c:v>571961.57</c:v>
                </c:pt>
              </c:numCache>
            </c:numRef>
          </c:bubbleSize>
          <c:bubble3D val="0"/>
        </c:ser>
        <c:ser>
          <c:idx val="2"/>
          <c:order val="2"/>
          <c:tx>
            <c:strRef>
              <c:strCache>
                <c:ptCount val="1"/>
                <c:pt idx="0">
                  <c:v>Hybrid Powertrain</c:v>
                </c:pt>
              </c:strCache>
            </c:strRef>
          </c:tx>
          <c:spPr>
            <a:solidFill>
              <a:srgbClr val="0E2A5C"/>
            </a:solidFill>
          </c:spPr>
          <c:invertIfNegative val="0"/>
          <c:xVal>
            <c:numRef>
              <c:numCache>
                <c:formatCode>General</c:formatCode>
                <c:ptCount val="1"/>
                <c:pt idx="0">
                  <c:v>28.14154177905874</c:v>
                </c:pt>
              </c:numCache>
            </c:numRef>
          </c:xVal>
          <c:yVal>
            <c:numRef>
              <c:numCache>
                <c:formatCode>General</c:formatCode>
                <c:ptCount val="1"/>
                <c:pt idx="0">
                  <c:v>89.56173927818382</c:v>
                </c:pt>
              </c:numCache>
            </c:numRef>
          </c:yVal>
          <c:bubbleSize>
            <c:numRef>
              <c:numCache>
                <c:formatCode>General</c:formatCode>
                <c:ptCount val="1"/>
                <c:pt idx="0">
                  <c:v>245569.263</c:v>
                </c:pt>
              </c:numCache>
            </c:numRef>
          </c:bubbleSize>
          <c:bubble3D val="0"/>
        </c:ser>
        <c:ser>
          <c:idx val="3"/>
          <c:order val="3"/>
          <c:tx>
            <c:strRef>
              <c:strCache>
                <c:ptCount val="1"/>
                <c:pt idx="0">
                  <c:v>Alternative Fuel ICE</c:v>
                </c:pt>
              </c:strCache>
            </c:strRef>
          </c:tx>
          <c:spPr>
            <a:solidFill>
              <a:srgbClr val="00ACAC"/>
            </a:solidFill>
          </c:spPr>
          <c:invertIfNegative val="0"/>
          <c:xVal>
            <c:numRef>
              <c:numCache>
                <c:formatCode>General</c:formatCode>
                <c:ptCount val="1"/>
                <c:pt idx="0">
                  <c:v>102.81613056306344</c:v>
                </c:pt>
              </c:numCache>
            </c:numRef>
          </c:xVal>
          <c:yVal>
            <c:numRef>
              <c:numCache>
                <c:formatCode>General</c:formatCode>
                <c:ptCount val="1"/>
                <c:pt idx="0">
                  <c:v>117.07388399569881</c:v>
                </c:pt>
              </c:numCache>
            </c:numRef>
          </c:yVal>
          <c:bubbleSize>
            <c:numRef>
              <c:numCache>
                <c:formatCode>General</c:formatCode>
                <c:ptCount val="1"/>
                <c:pt idx="0">
                  <c:v>454110.182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40.0"/>
          <c:min val="5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172379.994</c:v>
                </c:pt>
                <c:pt idx="2">
                  <c:v>187212.516</c:v>
                </c:pt>
                <c:pt idx="3">
                  <c:v>203292.209</c:v>
                </c:pt>
                <c:pt idx="4">
                  <c:v>220719.726</c:v>
                </c:pt>
                <c:pt idx="5">
                  <c:v>239603.257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172379.994</c:v>
                </c:pt>
                <c:pt idx="1">
                  <c:v>14832.521999999997</c:v>
                </c:pt>
                <c:pt idx="2">
                  <c:v>16079.693</c:v>
                </c:pt>
                <c:pt idx="3">
                  <c:v>17427.516999999993</c:v>
                </c:pt>
                <c:pt idx="4">
                  <c:v>18883.531000000017</c:v>
                </c:pt>
                <c:pt idx="5">
                  <c:v>20455.727999999974</c:v>
                </c:pt>
                <c:pt idx="6">
                  <c:v>260058.985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291356.122</c:v>
                </c:pt>
                <c:pt idx="2">
                  <c:v>334486.983</c:v>
                </c:pt>
                <c:pt idx="3">
                  <c:v>383348.946</c:v>
                </c:pt>
                <c:pt idx="4">
                  <c:v>438661.367</c:v>
                </c:pt>
                <c:pt idx="5">
                  <c:v>501230.849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291356.122</c:v>
                </c:pt>
                <c:pt idx="1">
                  <c:v>43130.86100000003</c:v>
                </c:pt>
                <c:pt idx="2">
                  <c:v>48861.96299999999</c:v>
                </c:pt>
                <c:pt idx="3">
                  <c:v>55312.42100000003</c:v>
                </c:pt>
                <c:pt idx="4">
                  <c:v>62569.48199999996</c:v>
                </c:pt>
                <c:pt idx="5">
                  <c:v>70730.72099999996</c:v>
                </c:pt>
                <c:pt idx="6">
                  <c:v>571961.57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214791.441</c:v>
                </c:pt>
                <c:pt idx="2">
                  <c:v>222636.895</c:v>
                </c:pt>
                <c:pt idx="3">
                  <c:v>229863.852</c:v>
                </c:pt>
                <c:pt idx="4">
                  <c:v>236264.438</c:v>
                </c:pt>
                <c:pt idx="5">
                  <c:v>241594.677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214791.441</c:v>
                </c:pt>
                <c:pt idx="1">
                  <c:v>7845.453999999998</c:v>
                </c:pt>
                <c:pt idx="2">
                  <c:v>7226.957000000024</c:v>
                </c:pt>
                <c:pt idx="3">
                  <c:v>6400.585999999981</c:v>
                </c:pt>
                <c:pt idx="4">
                  <c:v>5330.239000000001</c:v>
                </c:pt>
                <c:pt idx="5">
                  <c:v>3974.5860000000102</c:v>
                </c:pt>
                <c:pt idx="6">
                  <c:v>245569.263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280772.442</c:v>
                </c:pt>
                <c:pt idx="2">
                  <c:v>309075.693</c:v>
                </c:pt>
                <c:pt idx="3">
                  <c:v>340252.037</c:v>
                </c:pt>
                <c:pt idx="4">
                  <c:v>374595.114</c:v>
                </c:pt>
                <c:pt idx="5">
                  <c:v>412428.771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280772.442</c:v>
                </c:pt>
                <c:pt idx="1">
                  <c:v>28303.251000000047</c:v>
                </c:pt>
                <c:pt idx="2">
                  <c:v>31176.343999999983</c:v>
                </c:pt>
                <c:pt idx="3">
                  <c:v>34343.07699999999</c:v>
                </c:pt>
                <c:pt idx="4">
                  <c:v>37833.65700000001</c:v>
                </c:pt>
                <c:pt idx="5">
                  <c:v>41681.410999999964</c:v>
                </c:pt>
                <c:pt idx="6">
                  <c:v>454110.182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Battery Electric Vehicle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26.94539273438641</c:v>
                </c:pt>
                <c:pt idx="1">
                  <c:v>30.371742135277536</c:v>
                </c:pt>
                <c:pt idx="2">
                  <c:v>37.34161846314553</c:v>
                </c:pt>
              </c:numCache>
            </c:numRef>
          </c:val>
        </c:ser>
        <c:ser>
          <c:idx val="1"/>
          <c:order val="1"/>
          <c:tx>
            <c:strRef>
              <c:strCache>
                <c:ptCount val="1"/>
                <c:pt idx="0">
                  <c:v>Alternative Fuel ICE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29.09735623943832</c:v>
                </c:pt>
                <c:pt idx="1">
                  <c:v>29.268470998924705</c:v>
                </c:pt>
                <c:pt idx="2">
                  <c:v>29.64746242736829</c:v>
                </c:pt>
              </c:numCache>
            </c:numRef>
          </c:val>
        </c:ser>
        <c:ser>
          <c:idx val="2"/>
          <c:order val="2"/>
          <c:tx>
            <c:strRef>
              <c:strCache>
                <c:ptCount val="1"/>
                <c:pt idx="0">
                  <c:v>Internal Combustion Engine</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18.4612460807361</c:v>
                </c:pt>
                <c:pt idx="1">
                  <c:v>17.969352046251803</c:v>
                </c:pt>
                <c:pt idx="2">
                  <c:v>16.97845433178821</c:v>
                </c:pt>
              </c:numCache>
            </c:numRef>
          </c:val>
        </c:ser>
        <c:ser>
          <c:idx val="3"/>
          <c:order val="3"/>
          <c:tx>
            <c:strRef>
              <c:strCache>
                <c:ptCount val="1"/>
                <c:pt idx="0">
                  <c:v>Hybrid Powertrain</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25.496004945439182</c:v>
                </c:pt>
                <c:pt idx="1">
                  <c:v>22.390434819545955</c:v>
                </c:pt>
                <c:pt idx="2">
                  <c:v>16.032464777697985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Compact / Light-Duty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27.052690668871225</c:v>
                </c:pt>
                <c:pt idx="1">
                  <c:v>31.437736570521334</c:v>
                </c:pt>
                <c:pt idx="2">
                  <c:v>27.656785628139176</c:v>
                </c:pt>
                <c:pt idx="3">
                  <c:v>30.674585826203987</c:v>
                </c:pt>
                <c:pt idx="4">
                  <c:v>28.661069194686018</c:v>
                </c:pt>
                <c:pt idx="5">
                  <c:v>32.98053808684132</c:v>
                </c:pt>
                <c:pt idx="6">
                  <c:v>26.02361548809405</c:v>
                </c:pt>
              </c:numCache>
            </c:numRef>
          </c:val>
        </c:ser>
        <c:ser>
          <c:idx val="1"/>
          <c:order val="1"/>
          <c:tx>
            <c:strRef>
              <c:strCache>
                <c:ptCount val="1"/>
                <c:pt idx="0">
                  <c:v>Medium-Duty Vehicles</c:v>
                </c:pt>
              </c:strCache>
            </c:strRef>
          </c:tx>
          <c:spPr>
            <a:solidFill>
              <a:srgbClr val="0081E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13.558318980887854</c:v>
                </c:pt>
                <c:pt idx="1">
                  <c:v>12.85173553094092</c:v>
                </c:pt>
                <c:pt idx="2">
                  <c:v>12.659292642044322</c:v>
                </c:pt>
                <c:pt idx="3">
                  <c:v>12.01451446215516</c:v>
                </c:pt>
                <c:pt idx="4">
                  <c:v>13.584137115331071</c:v>
                </c:pt>
                <c:pt idx="5">
                  <c:v>14.4825558484388</c:v>
                </c:pt>
                <c:pt idx="6">
                  <c:v>14.501176073906382</c:v>
                </c:pt>
              </c:numCache>
            </c:numRef>
          </c:val>
        </c:ser>
        <c:ser>
          <c:idx val="2"/>
          <c:order val="2"/>
          <c:tx>
            <c:strRef>
              <c:strCache>
                <c:ptCount val="1"/>
                <c:pt idx="0">
                  <c:v>Heavy-Duty Vehicles</c:v>
                </c:pt>
              </c:strCache>
            </c:strRef>
          </c:tx>
          <c:spPr>
            <a:solidFill>
              <a:srgbClr val="0E2A5C"/>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42.38598869350673</c:v>
                </c:pt>
                <c:pt idx="1">
                  <c:v>38.25501058153215</c:v>
                </c:pt>
                <c:pt idx="2">
                  <c:v>42.73258918861946</c:v>
                </c:pt>
                <c:pt idx="3">
                  <c:v>38.299163521005006</c:v>
                </c:pt>
                <c:pt idx="4">
                  <c:v>40.151474052419246</c:v>
                </c:pt>
                <c:pt idx="5">
                  <c:v>34.5838514324864</c:v>
                </c:pt>
                <c:pt idx="6">
                  <c:v>42.830315896732195</c:v>
                </c:pt>
              </c:numCache>
            </c:numRef>
          </c:val>
        </c:ser>
        <c:ser>
          <c:idx val="3"/>
          <c:order val="3"/>
          <c:tx>
            <c:strRef>
              <c:strCache>
                <c:ptCount val="1"/>
                <c:pt idx="0">
                  <c:v>Ultra-Heavy-Duty Vehicles</c:v>
                </c:pt>
              </c:strCache>
            </c:strRef>
          </c:tx>
          <c:spPr>
            <a:solidFill>
              <a:srgbClr val="00ACAC"/>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17.00300165673419</c:v>
                </c:pt>
                <c:pt idx="1">
                  <c:v>17.455517317005594</c:v>
                </c:pt>
                <c:pt idx="2">
                  <c:v>16.951332541197043</c:v>
                </c:pt>
                <c:pt idx="3">
                  <c:v>19.011736190635848</c:v>
                </c:pt>
                <c:pt idx="4">
                  <c:v>17.60331963756367</c:v>
                </c:pt>
                <c:pt idx="5">
                  <c:v>17.953054632233478</c:v>
                </c:pt>
                <c:pt idx="6">
                  <c:v>16.644892541267367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Compact / Light-Duty Vehicles</c:v>
                </c:pt>
              </c:strCache>
            </c:strRef>
          </c:tx>
          <c:spPr>
            <a:solidFill>
              <a:srgbClr val="2A5F8F"/>
            </a:solidFill>
          </c:spPr>
          <c:invertIfNegative val="0"/>
          <c:xVal>
            <c:numRef>
              <c:numCache>
                <c:formatCode>General</c:formatCode>
                <c:ptCount val="1"/>
                <c:pt idx="0">
                  <c:v>137.84475135914923</c:v>
                </c:pt>
              </c:numCache>
            </c:numRef>
          </c:xVal>
          <c:yVal>
            <c:numRef>
              <c:numCache>
                <c:formatCode>General</c:formatCode>
                <c:ptCount val="1"/>
                <c:pt idx="0">
                  <c:v>96.49488929062325</c:v>
                </c:pt>
              </c:numCache>
            </c:numRef>
          </c:yVal>
          <c:bubbleSize>
            <c:numRef>
              <c:numCache>
                <c:formatCode>General</c:formatCode>
                <c:ptCount val="1"/>
                <c:pt idx="0">
                  <c:v>438643.474</c:v>
                </c:pt>
              </c:numCache>
            </c:numRef>
          </c:bubbleSize>
          <c:bubble3D val="0"/>
        </c:ser>
        <c:ser>
          <c:idx val="1"/>
          <c:order val="1"/>
          <c:tx>
            <c:strRef>
              <c:strCache>
                <c:ptCount val="1"/>
                <c:pt idx="0">
                  <c:v>Medium-Duty Vehicles</c:v>
                </c:pt>
              </c:strCache>
            </c:strRef>
          </c:tx>
          <c:spPr>
            <a:solidFill>
              <a:srgbClr val="0081E2"/>
            </a:solidFill>
          </c:spPr>
          <c:invertIfNegative val="0"/>
          <c:xVal>
            <c:numRef>
              <c:numCache>
                <c:formatCode>General</c:formatCode>
                <c:ptCount val="1"/>
                <c:pt idx="0">
                  <c:v>111.6579817551395</c:v>
                </c:pt>
              </c:numCache>
            </c:numRef>
          </c:xVal>
          <c:yVal>
            <c:numRef>
              <c:numCache>
                <c:formatCode>General</c:formatCode>
                <c:ptCount val="1"/>
                <c:pt idx="0">
                  <c:v>52.20621208402607</c:v>
                </c:pt>
              </c:numCache>
            </c:numRef>
          </c:yVal>
          <c:bubbleSize>
            <c:numRef>
              <c:numCache>
                <c:formatCode>General</c:formatCode>
                <c:ptCount val="1"/>
                <c:pt idx="0">
                  <c:v>210823.959</c:v>
                </c:pt>
              </c:numCache>
            </c:numRef>
          </c:bubbleSize>
          <c:bubble3D val="0"/>
        </c:ser>
        <c:ser>
          <c:idx val="2"/>
          <c:order val="2"/>
          <c:tx>
            <c:strRef>
              <c:strCache>
                <c:ptCount val="1"/>
                <c:pt idx="0">
                  <c:v>Heavy-Duty Vehicles</c:v>
                </c:pt>
              </c:strCache>
            </c:strRef>
          </c:tx>
          <c:spPr>
            <a:solidFill>
              <a:srgbClr val="0E2A5C"/>
            </a:solidFill>
          </c:spPr>
          <c:invertIfNegative val="0"/>
          <c:xVal>
            <c:numRef>
              <c:numCache>
                <c:formatCode>General</c:formatCode>
                <c:ptCount val="1"/>
                <c:pt idx="0">
                  <c:v>111.57290993887105</c:v>
                </c:pt>
              </c:numCache>
            </c:numRef>
          </c:xVal>
          <c:yVal>
            <c:numRef>
              <c:numCache>
                <c:formatCode>General</c:formatCode>
                <c:ptCount val="1"/>
                <c:pt idx="0">
                  <c:v>152.69739909590058</c:v>
                </c:pt>
              </c:numCache>
            </c:numRef>
          </c:yVal>
          <c:bubbleSize>
            <c:numRef>
              <c:numCache>
                <c:formatCode>General</c:formatCode>
                <c:ptCount val="1"/>
                <c:pt idx="0">
                  <c:v>616398.273</c:v>
                </c:pt>
              </c:numCache>
            </c:numRef>
          </c:bubbleSize>
          <c:bubble3D val="0"/>
        </c:ser>
        <c:ser>
          <c:idx val="3"/>
          <c:order val="3"/>
          <c:tx>
            <c:strRef>
              <c:strCache>
                <c:ptCount val="1"/>
                <c:pt idx="0">
                  <c:v>Ultra-Heavy-Duty Vehicles</c:v>
                </c:pt>
              </c:strCache>
            </c:strRef>
          </c:tx>
          <c:spPr>
            <a:solidFill>
              <a:srgbClr val="00ACAC"/>
            </a:solidFill>
          </c:spPr>
          <c:invertIfNegative val="0"/>
          <c:xVal>
            <c:numRef>
              <c:numCache>
                <c:formatCode>General</c:formatCode>
                <c:ptCount val="1"/>
                <c:pt idx="0">
                  <c:v>24.576763753484833</c:v>
                </c:pt>
              </c:numCache>
            </c:numRef>
          </c:xVal>
          <c:yVal>
            <c:numRef>
              <c:numCache>
                <c:formatCode>General</c:formatCode>
                <c:ptCount val="1"/>
                <c:pt idx="0">
                  <c:v>98.60149952945012</c:v>
                </c:pt>
              </c:numCache>
            </c:numRef>
          </c:yVal>
          <c:bubbleSize>
            <c:numRef>
              <c:numCache>
                <c:formatCode>General</c:formatCode>
                <c:ptCount val="1"/>
                <c:pt idx="0">
                  <c:v>265834.294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70.0"/>
          <c:min val="-1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231418.868</c:v>
                </c:pt>
                <c:pt idx="2">
                  <c:v>264002.249</c:v>
                </c:pt>
                <c:pt idx="3">
                  <c:v>300541.129</c:v>
                </c:pt>
                <c:pt idx="4">
                  <c:v>341485.577</c:v>
                </c:pt>
                <c:pt idx="5">
                  <c:v>387335.014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231418.868</c:v>
                </c:pt>
                <c:pt idx="1">
                  <c:v>32583.381000000023</c:v>
                </c:pt>
                <c:pt idx="2">
                  <c:v>36538.880000000005</c:v>
                </c:pt>
                <c:pt idx="3">
                  <c:v>40944.447999999975</c:v>
                </c:pt>
                <c:pt idx="4">
                  <c:v>45849.437000000034</c:v>
                </c:pt>
                <c:pt idx="5">
                  <c:v>51308.45999999996</c:v>
                </c:pt>
                <c:pt idx="6">
                  <c:v>438643.474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125203.548</c:v>
                </c:pt>
                <c:pt idx="2">
                  <c:v>139057.804</c:v>
                </c:pt>
                <c:pt idx="3">
                  <c:v>154385.347</c:v>
                </c:pt>
                <c:pt idx="4">
                  <c:v>171339.729</c:v>
                </c:pt>
                <c:pt idx="5">
                  <c:v>190090.329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125203.548</c:v>
                </c:pt>
                <c:pt idx="1">
                  <c:v>13854.256000000008</c:v>
                </c:pt>
                <c:pt idx="2">
                  <c:v>15327.543000000005</c:v>
                </c:pt>
                <c:pt idx="3">
                  <c:v>16954.381999999983</c:v>
                </c:pt>
                <c:pt idx="4">
                  <c:v>18750.600000000006</c:v>
                </c:pt>
                <c:pt idx="5">
                  <c:v>20733.630000000005</c:v>
                </c:pt>
                <c:pt idx="6">
                  <c:v>210823.959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366206.537</c:v>
                </c:pt>
                <c:pt idx="2">
                  <c:v>406758.084</c:v>
                </c:pt>
                <c:pt idx="3">
                  <c:v>451590.081</c:v>
                </c:pt>
                <c:pt idx="4">
                  <c:v>501142.749</c:v>
                </c:pt>
                <c:pt idx="5">
                  <c:v>555900.874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366206.537</c:v>
                </c:pt>
                <c:pt idx="1">
                  <c:v>40551.54699999996</c:v>
                </c:pt>
                <c:pt idx="2">
                  <c:v>44831.99700000003</c:v>
                </c:pt>
                <c:pt idx="3">
                  <c:v>49552.668000000005</c:v>
                </c:pt>
                <c:pt idx="4">
                  <c:v>54758.12499999994</c:v>
                </c:pt>
                <c:pt idx="5">
                  <c:v>60497.39900000009</c:v>
                </c:pt>
                <c:pt idx="6">
                  <c:v>616398.273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236471.046</c:v>
                </c:pt>
                <c:pt idx="2">
                  <c:v>243593.95</c:v>
                </c:pt>
                <c:pt idx="3">
                  <c:v>250240.487</c:v>
                </c:pt>
                <c:pt idx="4">
                  <c:v>256272.59</c:v>
                </c:pt>
                <c:pt idx="5">
                  <c:v>261531.337</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236471.046</c:v>
                </c:pt>
                <c:pt idx="1">
                  <c:v>7122.90400000001</c:v>
                </c:pt>
                <c:pt idx="2">
                  <c:v>6646.536999999982</c:v>
                </c:pt>
                <c:pt idx="3">
                  <c:v>6032.103000000003</c:v>
                </c:pt>
                <c:pt idx="4">
                  <c:v>5258.747000000003</c:v>
                </c:pt>
                <c:pt idx="5">
                  <c:v>4302.956999999995</c:v>
                </c:pt>
                <c:pt idx="6">
                  <c:v>265834.294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Heavy-Duty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37.017224339455765</c:v>
                </c:pt>
                <c:pt idx="1">
                  <c:v>38.174349773975145</c:v>
                </c:pt>
                <c:pt idx="2">
                  <c:v>40.2427546516942</c:v>
                </c:pt>
              </c:numCache>
            </c:numRef>
          </c:val>
        </c:ser>
        <c:ser>
          <c:idx val="1"/>
          <c:order val="1"/>
          <c:tx>
            <c:strRef>
              <c:strCache>
                <c:ptCount val="1"/>
                <c:pt idx="0">
                  <c:v>Compact / Light-Duty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21.69410208800146</c:v>
                </c:pt>
                <c:pt idx="1">
                  <c:v>24.123722322655812</c:v>
                </c:pt>
                <c:pt idx="2">
                  <c:v>28.637688450741006</c:v>
                </c:pt>
              </c:numCache>
            </c:numRef>
          </c:val>
        </c:ser>
        <c:ser>
          <c:idx val="2"/>
          <c:order val="2"/>
          <c:tx>
            <c:strRef>
              <c:strCache>
                <c:ptCount val="1"/>
                <c:pt idx="0">
                  <c:v>Ultra-Heavy-Duty Vehicles</c:v>
                </c:pt>
              </c:strCache>
            </c:strRef>
          </c:tx>
          <c:spPr>
            <a:solidFill>
              <a:srgbClr val="0E2A5C"/>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28.626028396976444</c:v>
                </c:pt>
                <c:pt idx="1">
                  <c:v>24.65037488236253</c:v>
                </c:pt>
                <c:pt idx="2">
                  <c:v>17.355506561337076</c:v>
                </c:pt>
              </c:numCache>
            </c:numRef>
          </c:val>
        </c:ser>
        <c:ser>
          <c:idx val="3"/>
          <c:order val="3"/>
          <c:tx>
            <c:strRef>
              <c:strCache>
                <c:ptCount val="1"/>
                <c:pt idx="0">
                  <c:v>Medium-Duty Vehicles</c:v>
                </c:pt>
              </c:strCache>
            </c:strRef>
          </c:tx>
          <c:spPr>
            <a:solidFill>
              <a:srgbClr val="00ACAC"/>
            </a:solidFill>
            <a:ln>
              <a:noFill/>
            </a:ln>
          </c:spPr>
          <c:dLbls>
            <c:dLbl>
              <c:idx val="0"/>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12.662645175566329</c:v>
                </c:pt>
                <c:pt idx="1">
                  <c:v>13.051553021006518</c:v>
                </c:pt>
                <c:pt idx="2">
                  <c:v>13.76405033622772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Wheeled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56.06931225065227</c:v>
                </c:pt>
                <c:pt idx="1">
                  <c:v>56.46723340317643</c:v>
                </c:pt>
                <c:pt idx="2">
                  <c:v>57.84977227484105</c:v>
                </c:pt>
                <c:pt idx="3">
                  <c:v>57.12843903820875</c:v>
                </c:pt>
                <c:pt idx="4">
                  <c:v>53.3704597363479</c:v>
                </c:pt>
                <c:pt idx="5">
                  <c:v>54.76095371547556</c:v>
                </c:pt>
                <c:pt idx="6">
                  <c:v>56.65096663556483</c:v>
                </c:pt>
              </c:numCache>
            </c:numRef>
          </c:val>
        </c:ser>
        <c:ser>
          <c:idx val="1"/>
          <c:order val="1"/>
          <c:tx>
            <c:strRef>
              <c:strCache>
                <c:ptCount val="1"/>
                <c:pt idx="0">
                  <c:v>Tracked Vehicles</c:v>
                </c:pt>
              </c:strCache>
            </c:strRef>
          </c:tx>
          <c:spPr>
            <a:solidFill>
              <a:srgbClr val="0081E2"/>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17.395257226687413</c:v>
                </c:pt>
                <c:pt idx="1">
                  <c:v>14.81806060424557</c:v>
                </c:pt>
                <c:pt idx="2">
                  <c:v>15.448231033689327</c:v>
                </c:pt>
                <c:pt idx="3">
                  <c:v>14.916094298384932</c:v>
                </c:pt>
                <c:pt idx="4">
                  <c:v>16.0737919300731</c:v>
                </c:pt>
                <c:pt idx="5">
                  <c:v>17.827239566398475</c:v>
                </c:pt>
                <c:pt idx="6">
                  <c:v>16.831188425623537</c:v>
                </c:pt>
              </c:numCache>
            </c:numRef>
          </c:val>
        </c:ser>
        <c:ser>
          <c:idx val="2"/>
          <c:order val="2"/>
          <c:tx>
            <c:strRef>
              <c:strCache>
                <c:ptCount val="1"/>
                <c:pt idx="0">
                  <c:v>Semi-Tracked Vehicles</c:v>
                </c:pt>
              </c:strCache>
            </c:strRef>
          </c:tx>
          <c:spPr>
            <a:solidFill>
              <a:srgbClr val="0E2A5C"/>
            </a:solidFill>
            <a:ln>
              <a:noFill/>
            </a:ln>
          </c:spPr>
          <c:dLbls>
            <c:dLbl>
              <c:idx val="0"/>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6"/>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21.2883971960376</c:v>
                </c:pt>
                <c:pt idx="1">
                  <c:v>23.062759765838774</c:v>
                </c:pt>
                <c:pt idx="2">
                  <c:v>21.699008274535302</c:v>
                </c:pt>
                <c:pt idx="3">
                  <c:v>22.85911461425997</c:v>
                </c:pt>
                <c:pt idx="4">
                  <c:v>24.423250803867298</c:v>
                </c:pt>
                <c:pt idx="5">
                  <c:v>21.7758182719944</c:v>
                </c:pt>
                <c:pt idx="6">
                  <c:v>21.54429593286943</c:v>
                </c:pt>
              </c:numCache>
            </c:numRef>
          </c:val>
        </c:ser>
        <c:ser>
          <c:idx val="3"/>
          <c:order val="3"/>
          <c:tx>
            <c:strRef>
              <c:strCache>
                <c:ptCount val="1"/>
                <c:pt idx="0">
                  <c:v>Other Specialized Propulsion Configurations</c:v>
                </c:pt>
              </c:strCache>
            </c:strRef>
          </c:tx>
          <c:spPr>
            <a:solidFill>
              <a:srgbClr val="00ACAC"/>
            </a:solidFill>
            <a:ln>
              <a:noFill/>
            </a:ln>
          </c:spPr>
          <c:dLbls>
            <c:dLbl>
              <c:idx val="0"/>
              <c:numFmt formatCode="&quot;MMM&quot;;&quot;MMM&quot;;&quot;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7"/>
                <c:pt idx="0">
                  <c:v>Western Europe</c:v>
                </c:pt>
                <c:pt idx="1">
                  <c:v>Eastern Europe</c:v>
                </c:pt>
                <c:pt idx="2">
                  <c:v>Middle East &amp; Africa</c:v>
                </c:pt>
                <c:pt idx="3">
                  <c:v>Latin America</c:v>
                </c:pt>
                <c:pt idx="4">
                  <c:v>East Asia</c:v>
                </c:pt>
                <c:pt idx="5">
                  <c:v>South Asia &amp; Pacific</c:v>
                </c:pt>
                <c:pt idx="6">
                  <c:v>North America</c:v>
                </c:pt>
              </c:strCache>
            </c:strRef>
          </c:cat>
          <c:val>
            <c:numRef>
              <c:numCache>
                <c:formatCode>General</c:formatCode>
                <c:ptCount val="7"/>
                <c:pt idx="0">
                  <c:v>5.2470333266227165</c:v>
                </c:pt>
                <c:pt idx="1">
                  <c:v>5.651946226739223</c:v>
                </c:pt>
                <c:pt idx="2">
                  <c:v>5.002988416934318</c:v>
                </c:pt>
                <c:pt idx="3">
                  <c:v>5.096352049146348</c:v>
                </c:pt>
                <c:pt idx="4">
                  <c:v>6.1324975297117</c:v>
                </c:pt>
                <c:pt idx="5">
                  <c:v>5.635988446131561</c:v>
                </c:pt>
                <c:pt idx="6">
                  <c:v>4.9735490059422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Wheeled Vehicles</c:v>
                </c:pt>
              </c:strCache>
            </c:strRef>
          </c:tx>
          <c:spPr>
            <a:solidFill>
              <a:srgbClr val="2A5F8F"/>
            </a:solidFill>
          </c:spPr>
          <c:invertIfNegative val="0"/>
          <c:xVal>
            <c:numRef>
              <c:numCache>
                <c:formatCode>General</c:formatCode>
                <c:ptCount val="1"/>
                <c:pt idx="0">
                  <c:v>119.30815899227144</c:v>
                </c:pt>
              </c:numCache>
            </c:numRef>
          </c:xVal>
          <c:yVal>
            <c:numRef>
              <c:numCache>
                <c:formatCode>General</c:formatCode>
                <c:ptCount val="1"/>
                <c:pt idx="0">
                  <c:v>204.98194246323567</c:v>
                </c:pt>
              </c:numCache>
            </c:numRef>
          </c:yVal>
          <c:bubbleSize>
            <c:numRef>
              <c:numCache>
                <c:formatCode>General</c:formatCode>
                <c:ptCount val="1"/>
                <c:pt idx="0">
                  <c:v>857028.286</c:v>
                </c:pt>
              </c:numCache>
            </c:numRef>
          </c:bubbleSize>
          <c:bubble3D val="0"/>
        </c:ser>
        <c:ser>
          <c:idx val="1"/>
          <c:order val="1"/>
          <c:tx>
            <c:strRef>
              <c:strCache>
                <c:ptCount val="1"/>
                <c:pt idx="0">
                  <c:v>Tracked Vehicles</c:v>
                </c:pt>
              </c:strCache>
            </c:strRef>
          </c:tx>
          <c:spPr>
            <a:solidFill>
              <a:srgbClr val="0081E2"/>
            </a:solidFill>
          </c:spPr>
          <c:invertIfNegative val="0"/>
          <c:xVal>
            <c:numRef>
              <c:numCache>
                <c:formatCode>General</c:formatCode>
                <c:ptCount val="1"/>
                <c:pt idx="0">
                  <c:v>119.59139054937611</c:v>
                </c:pt>
              </c:numCache>
            </c:numRef>
          </c:xVal>
          <c:yVal>
            <c:numRef>
              <c:numCache>
                <c:formatCode>General</c:formatCode>
                <c:ptCount val="1"/>
                <c:pt idx="0">
                  <c:v>60.11114610665188</c:v>
                </c:pt>
              </c:numCache>
            </c:numRef>
          </c:yVal>
          <c:bubbleSize>
            <c:numRef>
              <c:numCache>
                <c:formatCode>General</c:formatCode>
                <c:ptCount val="1"/>
                <c:pt idx="0">
                  <c:v>251647.098</c:v>
                </c:pt>
              </c:numCache>
            </c:numRef>
          </c:bubbleSize>
          <c:bubble3D val="0"/>
        </c:ser>
        <c:ser>
          <c:idx val="2"/>
          <c:order val="2"/>
          <c:tx>
            <c:strRef>
              <c:strCache>
                <c:ptCount val="1"/>
                <c:pt idx="0">
                  <c:v>Semi-Tracked Vehicles</c:v>
                </c:pt>
              </c:strCache>
            </c:strRef>
          </c:tx>
          <c:spPr>
            <a:solidFill>
              <a:srgbClr val="0E2A5C"/>
            </a:solidFill>
          </c:spPr>
          <c:invertIfNegative val="0"/>
          <c:xVal>
            <c:numRef>
              <c:numCache>
                <c:formatCode>General</c:formatCode>
                <c:ptCount val="1"/>
                <c:pt idx="0">
                  <c:v>55.6020791623665</c:v>
                </c:pt>
              </c:numCache>
            </c:numRef>
          </c:xVal>
          <c:yVal>
            <c:numRef>
              <c:numCache>
                <c:formatCode>General</c:formatCode>
                <c:ptCount val="1"/>
                <c:pt idx="0">
                  <c:v>109.39468582236493</c:v>
                </c:pt>
              </c:numCache>
            </c:numRef>
          </c:yVal>
          <c:bubbleSize>
            <c:numRef>
              <c:numCache>
                <c:formatCode>General</c:formatCode>
                <c:ptCount val="1"/>
                <c:pt idx="0">
                  <c:v>341237.22</c:v>
                </c:pt>
              </c:numCache>
            </c:numRef>
          </c:bubbleSize>
          <c:bubble3D val="0"/>
        </c:ser>
        <c:ser>
          <c:idx val="3"/>
          <c:order val="3"/>
          <c:tx>
            <c:strRef>
              <c:strCache>
                <c:ptCount val="1"/>
                <c:pt idx="0">
                  <c:v>Other Specialized Propulsion Configurations</c:v>
                </c:pt>
              </c:strCache>
            </c:strRef>
          </c:tx>
          <c:spPr>
            <a:solidFill>
              <a:srgbClr val="00ACAC"/>
            </a:solidFill>
          </c:spPr>
          <c:invertIfNegative val="0"/>
          <c:xVal>
            <c:numRef>
              <c:numCache>
                <c:formatCode>General</c:formatCode>
                <c:ptCount val="1"/>
                <c:pt idx="0">
                  <c:v>61.47134117370655</c:v>
                </c:pt>
              </c:numCache>
            </c:numRef>
          </c:xVal>
          <c:yVal>
            <c:numRef>
              <c:numCache>
                <c:formatCode>General</c:formatCode>
                <c:ptCount val="1"/>
                <c:pt idx="0">
                  <c:v>25.512225607747553</c:v>
                </c:pt>
              </c:numCache>
            </c:numRef>
          </c:yVal>
          <c:bubbleSize>
            <c:numRef>
              <c:numCache>
                <c:formatCode>General</c:formatCode>
                <c:ptCount val="1"/>
                <c:pt idx="0">
                  <c:v>81787.396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491597.943</c:v>
                </c:pt>
                <c:pt idx="2">
                  <c:v>551184.281</c:v>
                </c:pt>
                <c:pt idx="3">
                  <c:v>616856.685</c:v>
                </c:pt>
                <c:pt idx="4">
                  <c:v>689247.253</c:v>
                </c:pt>
                <c:pt idx="5">
                  <c:v>769050.221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491597.943</c:v>
                </c:pt>
                <c:pt idx="1">
                  <c:v>59586.33799999993</c:v>
                </c:pt>
                <c:pt idx="2">
                  <c:v>65672.4040000001</c:v>
                </c:pt>
                <c:pt idx="3">
                  <c:v>72390.56799999997</c:v>
                </c:pt>
                <c:pt idx="4">
                  <c:v>79802.968</c:v>
                </c:pt>
                <c:pt idx="5">
                  <c:v>87978.06499999994</c:v>
                </c:pt>
                <c:pt idx="6">
                  <c:v>857028.286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144161.556</c:v>
                </c:pt>
                <c:pt idx="2">
                  <c:v>161667.337</c:v>
                </c:pt>
                <c:pt idx="3">
                  <c:v>180971.186</c:v>
                </c:pt>
                <c:pt idx="4">
                  <c:v>202261.179</c:v>
                </c:pt>
                <c:pt idx="5">
                  <c:v>225744.035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144161.556</c:v>
                </c:pt>
                <c:pt idx="1">
                  <c:v>17505.780999999988</c:v>
                </c:pt>
                <c:pt idx="2">
                  <c:v>19303.848999999987</c:v>
                </c:pt>
                <c:pt idx="3">
                  <c:v>21289.993000000017</c:v>
                </c:pt>
                <c:pt idx="4">
                  <c:v>23482.856</c:v>
                </c:pt>
                <c:pt idx="5">
                  <c:v>25903.062999999995</c:v>
                </c:pt>
                <c:pt idx="6">
                  <c:v>251647.098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262355.805</c:v>
                </c:pt>
                <c:pt idx="2">
                  <c:v>275877.082</c:v>
                </c:pt>
                <c:pt idx="3">
                  <c:v>290457.625</c:v>
                </c:pt>
                <c:pt idx="4">
                  <c:v>306162.57</c:v>
                </c:pt>
                <c:pt idx="5">
                  <c:v>323063.21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262355.805</c:v>
                </c:pt>
                <c:pt idx="1">
                  <c:v>13521.277000000002</c:v>
                </c:pt>
                <c:pt idx="2">
                  <c:v>14580.543000000005</c:v>
                </c:pt>
                <c:pt idx="3">
                  <c:v>15704.945000000007</c:v>
                </c:pt>
                <c:pt idx="4">
                  <c:v>16900.640000000014</c:v>
                </c:pt>
                <c:pt idx="5">
                  <c:v>18174.00999999995</c:v>
                </c:pt>
                <c:pt idx="6">
                  <c:v>341237.22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61184.695</c:v>
                </c:pt>
                <c:pt idx="2">
                  <c:v>64683.387</c:v>
                </c:pt>
                <c:pt idx="3">
                  <c:v>68471.548</c:v>
                </c:pt>
                <c:pt idx="4">
                  <c:v>72569.643</c:v>
                </c:pt>
                <c:pt idx="5">
                  <c:v>77000.088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61184.695</c:v>
                </c:pt>
                <c:pt idx="1">
                  <c:v>3498.6920000000027</c:v>
                </c:pt>
                <c:pt idx="2">
                  <c:v>3788.160999999993</c:v>
                </c:pt>
                <c:pt idx="3">
                  <c:v>4098.095000000001</c:v>
                </c:pt>
                <c:pt idx="4">
                  <c:v>4430.445000000007</c:v>
                </c:pt>
                <c:pt idx="5">
                  <c:v>4787.30799999999</c:v>
                </c:pt>
                <c:pt idx="6">
                  <c:v>81787.396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Wheeled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48.157795312241674</c:v>
                </c:pt>
                <c:pt idx="1">
                  <c:v>51.24548561580892</c:v>
                </c:pt>
                <c:pt idx="2">
                  <c:v>55.95275093033884</c:v>
                </c:pt>
              </c:numCache>
            </c:numRef>
          </c:val>
        </c:ser>
        <c:ser>
          <c:idx val="1"/>
          <c:order val="1"/>
          <c:tx>
            <c:strRef>
              <c:strCache>
                <c:ptCount val="1"/>
                <c:pt idx="0">
                  <c:v>Semi-Tracked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30.666224535920417</c:v>
                </c:pt>
                <c:pt idx="1">
                  <c:v>27.348671455591234</c:v>
                </c:pt>
                <c:pt idx="2">
                  <c:v>22.27833257165241</c:v>
                </c:pt>
              </c:numCache>
            </c:numRef>
          </c:val>
        </c:ser>
        <c:ser>
          <c:idx val="2"/>
          <c:order val="2"/>
          <c:tx>
            <c:strRef>
              <c:strCache>
                <c:ptCount val="1"/>
                <c:pt idx="0">
                  <c:v>Tracked Vehicles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14.117489067735203</c:v>
                </c:pt>
                <c:pt idx="1">
                  <c:v>15.02778652666297</c:v>
                </c:pt>
                <c:pt idx="2">
                  <c:v>16.429268002872625</c:v>
                </c:pt>
              </c:numCache>
            </c:numRef>
          </c:val>
        </c:ser>
        <c:ser>
          <c:idx val="3"/>
          <c:order val="3"/>
          <c:tx>
            <c:strRef>
              <c:strCache>
                <c:ptCount val="1"/>
                <c:pt idx="0">
                  <c:v>Other Specialized Propulsion Configurations</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7.058491084102698</c:v>
                </c:pt>
                <c:pt idx="1">
                  <c:v>6.378056401936888</c:v>
                </c:pt>
                <c:pt idx="2">
                  <c:v>5.339648495136123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2.0722153204181026</c:v>
                </c:pt>
                <c:pt idx="1">
                  <c:v>2.549017733812864</c:v>
                </c:pt>
                <c:pt idx="2">
                  <c:v>2.3898366359568657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3647034086329803"/>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59108397.92</c:v>
                </c:pt>
                <c:pt idx="2">
                  <c:v>0.0</c:v>
                </c:pt>
                <c:pt idx="3">
                  <c:v>65491794.614</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59108397.92</c:v>
                </c:pt>
                <c:pt idx="1">
                  <c:v>6383396.693999998</c:v>
                </c:pt>
                <c:pt idx="2">
                  <c:v>65491794.614</c:v>
                </c:pt>
                <c:pt idx="3">
                  <c:v>18745020.72100001</c:v>
                </c:pt>
                <c:pt idx="4">
                  <c:v>84236815.33500001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3.535811391276078</c:v>
                </c:pt>
                <c:pt idx="1">
                  <c:v>4.022628334146949</c:v>
                </c:pt>
                <c:pt idx="2">
                  <c:v>3.860102219491557</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309869401073973"/>
          <c:min val="0.0"/>
        </c:scaling>
        <c:delete val="0"/>
        <c:axPos val="l"/>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319305.84699999995</c:v>
                </c:pt>
                <c:pt idx="2">
                  <c:v>0.0</c:v>
                </c:pt>
                <c:pt idx="3">
                  <c:v>379891.72</c:v>
                </c:pt>
                <c:pt idx="4">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2A5F8F"/>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319305.84699999995</c:v>
                </c:pt>
                <c:pt idx="1">
                  <c:v>60585.87300000002</c:v>
                </c:pt>
                <c:pt idx="2">
                  <c:v>379891.72</c:v>
                </c:pt>
                <c:pt idx="3">
                  <c:v>183665.55000000005</c:v>
                </c:pt>
                <c:pt idx="4">
                  <c:v>563557.27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319305.84699999995</c:v>
                </c:pt>
                <c:pt idx="1">
                  <c:v>330173.239</c:v>
                </c:pt>
                <c:pt idx="2">
                  <c:v>341417.76399999997</c:v>
                </c:pt>
                <c:pt idx="3">
                  <c:v>353052.77900000004</c:v>
                </c:pt>
                <c:pt idx="4">
                  <c:v>365092.118</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M&quot;;&quot;MMMMMMMMMMMM&quot;;&quot;M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M&quot;;&quot;MMMMMMMMMMMM&quot;;&quot;M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M&quot;;&quot;MMMMMMMMMMMM&quot;;&quot;M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M&quot;;&quot;MMMMMMMMMMMM&quot;;&quot;M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M&quot;;&quot;MMMMMMMMMMMM&quot;;&quot;M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59108397.92</c:v>
                </c:pt>
                <c:pt idx="1">
                  <c:v>60256619.824</c:v>
                </c:pt>
                <c:pt idx="2">
                  <c:v>61428197.855</c:v>
                </c:pt>
                <c:pt idx="3">
                  <c:v>62623630.778</c:v>
                </c:pt>
                <c:pt idx="4">
                  <c:v>63843428.519999996</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430809"/>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90624184"/>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379891.72</c:v>
                </c:pt>
                <c:pt idx="1">
                  <c:v>395287.393</c:v>
                </c:pt>
                <c:pt idx="2">
                  <c:v>411280.87799999997</c:v>
                </c:pt>
                <c:pt idx="3">
                  <c:v>427894.19</c:v>
                </c:pt>
                <c:pt idx="4">
                  <c:v>445150.09799999994</c:v>
                </c:pt>
                <c:pt idx="5">
                  <c:v>463072.15599999996</c:v>
                </c:pt>
                <c:pt idx="6">
                  <c:v>481684.72899999993</c:v>
                </c:pt>
                <c:pt idx="7">
                  <c:v>501013.017</c:v>
                </c:pt>
                <c:pt idx="8">
                  <c:v>521083.082</c:v>
                </c:pt>
                <c:pt idx="9">
                  <c:v>541921.8759999999</c:v>
                </c:pt>
                <c:pt idx="10">
                  <c:v>563557.27</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M&quot;;&quot;MMMMMMMMMMMM&quot;;&quot;M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M&quot;;&quot;MMMMMMMMMMMM&quot;;&quot;M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M&quot;;&quot;MMMMMMMMMMMM&quot;;&quot;M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M&quot;;&quot;MMMMMMMMMMMM&quot;;&quot;M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M&quot;;&quot;MMMMMMMMMMMM&quot;;&quot;M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M&quot;;&quot;MMMMMMMMMMMM&quot;;&quot;M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M&quot;;&quot;MMMMMMMMMMMM&quot;;&quot;M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M&quot;;&quot;MMMMMMMMMMMM&quot;;&quot;M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M&quot;;&quot;MMMMMMMMMMMM&quot;;&quot;M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M&quot;;&quot;MMMMMMMMMMMM&quot;;&quot;M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M&quot;;&quot;MMMMMMMMMMMM&quot;;&quot;M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65491794.614</c:v>
                </c:pt>
                <c:pt idx="1">
                  <c:v>67181823.63599999</c:v>
                </c:pt>
                <c:pt idx="2">
                  <c:v>68910802.479</c:v>
                </c:pt>
                <c:pt idx="3">
                  <c:v>70679479.882</c:v>
                </c:pt>
                <c:pt idx="4">
                  <c:v>72488614.45099999</c:v>
                </c:pt>
                <c:pt idx="5">
                  <c:v>74338974.83700001</c:v>
                </c:pt>
                <c:pt idx="6">
                  <c:v>76231340.433</c:v>
                </c:pt>
                <c:pt idx="7">
                  <c:v>78166501.471</c:v>
                </c:pt>
                <c:pt idx="8">
                  <c:v>80145258.305</c:v>
                </c:pt>
                <c:pt idx="9">
                  <c:v>82168422.312</c:v>
                </c:pt>
                <c:pt idx="10">
                  <c:v>84236815.33500001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max val="664998"/>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30276012"/>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U.S.</c:v>
                </c:pt>
                <c:pt idx="1">
                  <c:v>Canada</c:v>
                </c:pt>
                <c:pt idx="2">
                  <c:v>Mexico</c:v>
                </c:pt>
              </c:strCache>
            </c:strRef>
          </c:cat>
          <c:val>
            <c:numRef>
              <c:numCache>
                <c:formatCode>General</c:formatCode>
                <c:ptCount val="3"/>
                <c:pt idx="0">
                  <c:v>90.10664712702034</c:v>
                </c:pt>
                <c:pt idx="1">
                  <c:v>108.10680772412489</c:v>
                </c:pt>
                <c:pt idx="2">
                  <c:v>120.5439457833166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20.430056698166855</c:v>
                </c:pt>
                <c:pt idx="1">
                  <c:v>28.534263502328</c:v>
                </c:pt>
                <c:pt idx="2">
                  <c:v>51.03567979950512</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Lbls>
            <c:dLbl>
              <c:idx val="0"/>
              <c:layout>
                <c:manualLayout>
                  <c:x val="0.0350"/>
                  <c:y val="0.0000"/>
                </c:manualLayout>
              </c:layout>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5"/>
                <c:pt idx="0">
                  <c:v>Construction and Mining Vehicles</c:v>
                </c:pt>
                <c:pt idx="1">
                  <c:v>Agriculture and Forestry Vehicles</c:v>
                </c:pt>
                <c:pt idx="2">
                  <c:v>Industrial and Port Vehicles</c:v>
                </c:pt>
                <c:pt idx="3">
                  <c:v>Recreational and Powersports Vehicles</c:v>
                </c:pt>
                <c:pt idx="4">
                  <c:v>Military Vehicles</c:v>
                </c:pt>
              </c:strCache>
            </c:strRef>
          </c:cat>
          <c:val>
            <c:numRef>
              <c:numCache>
                <c:formatCode>General</c:formatCode>
                <c:ptCount val="5"/>
                <c:pt idx="0">
                  <c:v>157711.136</c:v>
                </c:pt>
                <c:pt idx="1">
                  <c:v>121014.35800000001</c:v>
                </c:pt>
                <c:pt idx="2">
                  <c:v>75265.496</c:v>
                </c:pt>
                <c:pt idx="3">
                  <c:v>99625.74</c:v>
                </c:pt>
                <c:pt idx="4">
                  <c:v>109940.54000000001</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0.051428527022103036</c:v>
                </c:pt>
                <c:pt idx="1">
                  <c:v>0.05349711661863274</c:v>
                </c:pt>
                <c:pt idx="2">
                  <c:v>0.054684720249208243</c:v>
                </c:pt>
                <c:pt idx="3">
                  <c:v>0.054369465467273656</c:v>
                </c:pt>
                <c:pt idx="4">
                  <c:v>0.05277591732297416</c:v>
                </c:pt>
                <c:pt idx="5">
                  <c:v>0.050258197626154084</c:v>
                </c:pt>
                <c:pt idx="6">
                  <c:v>0.04885898462140331</c:v>
                </c:pt>
                <c:pt idx="7">
                  <c:v>0.0478182119851535</c:v>
                </c:pt>
                <c:pt idx="8">
                  <c:v>0.04723520656650735</c:v>
                </c:pt>
                <c:pt idx="9">
                  <c:v>0.04682494349412672</c:v>
                </c:pt>
                <c:pt idx="10">
                  <c:v>0.04579712653384683</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0.036103705173149384</c:v>
                </c:pt>
                <c:pt idx="1">
                  <c:v>0.036677318683690466</c:v>
                </c:pt>
                <c:pt idx="2">
                  <c:v>0.03753573330785684</c:v>
                </c:pt>
                <c:pt idx="3">
                  <c:v>0.038105335535107414</c:v>
                </c:pt>
                <c:pt idx="4">
                  <c:v>0.03871505059526297</c:v>
                </c:pt>
                <c:pt idx="5">
                  <c:v>0.04003476279783651</c:v>
                </c:pt>
                <c:pt idx="6">
                  <c:v>0.04093730153819834</c:v>
                </c:pt>
                <c:pt idx="7">
                  <c:v>0.042224923474447895</c:v>
                </c:pt>
                <c:pt idx="8">
                  <c:v>0.043580737226635906</c:v>
                </c:pt>
                <c:pt idx="9">
                  <c:v>0.04414632817059599</c:v>
                </c:pt>
                <c:pt idx="10">
                  <c:v>0.04478412221378502</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0.031240905450924086</c:v>
                </c:pt>
                <c:pt idx="1">
                  <c:v>0.030080905450924084</c:v>
                </c:pt>
                <c:pt idx="2">
                  <c:v>0.028710905450924085</c:v>
                </c:pt>
                <c:pt idx="3">
                  <c:v>0.028400905450924083</c:v>
                </c:pt>
                <c:pt idx="4">
                  <c:v>0.031060905450924086</c:v>
                </c:pt>
                <c:pt idx="5">
                  <c:v>0.03188090545092408</c:v>
                </c:pt>
                <c:pt idx="6">
                  <c:v>0.032000905450924086</c:v>
                </c:pt>
                <c:pt idx="7">
                  <c:v>0.031360905450924084</c:v>
                </c:pt>
                <c:pt idx="8">
                  <c:v>0.03041090545092408</c:v>
                </c:pt>
                <c:pt idx="9">
                  <c:v>0.029060905450924084</c:v>
                </c:pt>
                <c:pt idx="10">
                  <c:v>0.027900905450924083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9D6E4"/>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9D6E4"/>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58.68262477996661</c:v>
                </c:pt>
                <c:pt idx="1">
                  <c:v>56.82424772546156</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25.12209410197305</c:v>
                </c:pt>
                <c:pt idx="1">
                  <c:v>25.666222245010278</c:v>
                </c:pt>
              </c:numCache>
            </c:numRef>
          </c:val>
        </c:ser>
        <c:ser>
          <c:idx val="2"/>
          <c:order val="2"/>
          <c:tx>
            <c:strRef>
              <c:strCache>
                <c:ptCount val="1"/>
                <c:pt idx="0">
                  <c:v>Mexico</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16.195281118060336</c:v>
                </c:pt>
                <c:pt idx="1">
                  <c:v>17.50953002952815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57.69290786332484</c:v>
                </c:pt>
                <c:pt idx="1">
                  <c:v>55.52329082721265</c:v>
                </c:pt>
              </c:numCache>
            </c:numRef>
          </c:val>
        </c:ser>
        <c:ser>
          <c:idx val="1"/>
          <c:order val="1"/>
          <c:tx>
            <c:strRef>
              <c:strCache>
                <c:ptCount val="1"/>
                <c:pt idx="0">
                  <c:v>Canada</c:v>
                </c:pt>
              </c:strCache>
            </c:strRef>
          </c:tx>
          <c:spPr>
            <a:solidFill>
              <a:srgbClr val="0081E2"/>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25.99787986955862</c:v>
                </c:pt>
                <c:pt idx="1">
                  <c:v>26.824497357650976</c:v>
                </c:pt>
              </c:numCache>
            </c:numRef>
          </c:val>
        </c:ser>
        <c:ser>
          <c:idx val="2"/>
          <c:order val="2"/>
          <c:tx>
            <c:strRef>
              <c:strCache>
                <c:ptCount val="1"/>
                <c:pt idx="0">
                  <c:v>Mexico</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16.309212267116536</c:v>
                </c:pt>
                <c:pt idx="1">
                  <c:v>17.652211815136376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MMMMM&quot;;&quot;MMMMMMMMMMMM&quot;;&quot;MMM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M&quot;;&quot;MMMMMMMMMMMM&quot;;&quot;MMM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M&quot;;&quot;MMMMMMMMMMMM&quot;;&quot;MMM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M&quot;;&quot;MMMMMMMMMMMM&quot;;&quot;MMM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M&quot;;&quot;MMMMMMMMMMMM&quot;;&quot;MMM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M&quot;;&quot;MMMMMMMMMMMM&quot;;&quot;M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M&quot;;&quot;MMMMMMMMMMMM&quot;;&quot;M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M&quot;;&quot;MMMMMMMMMMMM&quot;;&quot;M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M&quot;;&quot;MMMMMMMMMMMM&quot;;&quot;M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M&quot;;&quot;MMMMMMMMMMMM&quot;;&quot;M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M&quot;;&quot;MMMMMMMMMMMM&quot;;&quot;MMM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MMM&quot;;&quot;MMMMMMMMMMMM&quot;;&quot;M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MMM&quot;;&quot;MMMMMMMMMMMM&quot;;&quot;M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MMM&quot;;&quot;MMMMMMMMMMMM&quot;;&quot;M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MMM&quot;;&quot;MMMMMMMMMMMM&quot;;&quot;M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MMM&quot;;&quot;MMMMMMMMMMMM&quot;;&quot;M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35231116.248</c:v>
                </c:pt>
                <c:pt idx="1">
                  <c:v>35804974.136</c:v>
                </c:pt>
                <c:pt idx="2">
                  <c:v>36388179.239</c:v>
                </c:pt>
                <c:pt idx="3">
                  <c:v>36980883.811</c:v>
                </c:pt>
                <c:pt idx="4">
                  <c:v>37583242.582</c:v>
                </c:pt>
                <c:pt idx="5">
                  <c:v>38432304.095</c:v>
                </c:pt>
                <c:pt idx="6">
                  <c:v>39300454.971</c:v>
                </c:pt>
                <c:pt idx="7">
                  <c:v>40184809.041</c:v>
                </c:pt>
                <c:pt idx="8">
                  <c:v>41085566.898</c:v>
                </c:pt>
                <c:pt idx="9">
                  <c:v>42002928.639</c:v>
                </c:pt>
                <c:pt idx="10">
                  <c:v>42937093.866</c:v>
                </c:pt>
                <c:pt idx="11">
                  <c:v>43888261.986</c:v>
                </c:pt>
                <c:pt idx="12">
                  <c:v>44856632.157</c:v>
                </c:pt>
                <c:pt idx="13">
                  <c:v>45842402.765</c:v>
                </c:pt>
                <c:pt idx="14">
                  <c:v>46845771.84</c:v>
                </c:pt>
                <c:pt idx="15">
                  <c:v>47866936.622</c:v>
                </c:pt>
              </c:numCache>
            </c:numRef>
          </c:val>
        </c:ser>
        <c:ser>
          <c:idx val="1"/>
          <c:order val="1"/>
          <c:tx>
            <c:strRef>
              <c:strCache>
                <c:ptCount val="1"/>
                <c:pt idx="0">
                  <c:v>Canada</c:v>
                </c:pt>
              </c:strCache>
            </c:strRef>
          </c:tx>
          <c:spPr>
            <a:solidFill>
              <a:srgbClr val="0081E2"/>
            </a:solidFill>
            <a:ln>
              <a:noFill/>
            </a:ln>
          </c:spPr>
          <c:dLbls>
            <c:dLbl>
              <c:idx val="0"/>
              <c:numFmt formatCode="&quot;MMMMMMMMMMMM&quot;;&quot;MMMMMMMMMMMM&quot;;&quot;M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M&quot;;&quot;MMMMMMMMMMMM&quot;;&quot;M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M&quot;;&quot;MMMMMMMMMMMM&quot;;&quot;M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M&quot;;&quot;MMMMMMMMMMMM&quot;;&quot;M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M&quot;;&quot;MMMMMMMMMMMM&quot;;&quot;M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M&quot;;&quot;MMMMMMMMMMMM&quot;;&quot;M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M&quot;;&quot;MMMMMMMMMMMM&quot;;&quot;MMM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M&quot;;&quot;MMMMMMMMMMMM&quot;;&quot;MMM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M&quot;;&quot;MMMMMMMMMMMM&quot;;&quot;MMM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M&quot;;&quot;MMMMMMMMMMMM&quot;;&quot;MMM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M&quot;;&quot;MMMMMMMMMMMM&quot;;&quot;MMM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MMM&quot;;&quot;MMMMMMMMMMMM&quot;;&quot;MMM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MMM&quot;;&quot;MMMMMMMMMMMM&quot;;&quot;MMM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MMM&quot;;&quot;MMMMMMMMMMMM&quot;;&quot;MMM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MMM&quot;;&quot;MMMMMMMMMMMM&quot;;&quot;MMM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MMM&quot;;&quot;MMMMMMMMMMMM&quot;;&quot;MMM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14679617.396</c:v>
                </c:pt>
                <c:pt idx="1">
                  <c:v>14999724.837</c:v>
                </c:pt>
                <c:pt idx="2">
                  <c:v>15326812.622</c:v>
                </c:pt>
                <c:pt idx="3">
                  <c:v>15661032.965</c:v>
                </c:pt>
                <c:pt idx="4">
                  <c:v>16002541.402</c:v>
                </c:pt>
                <c:pt idx="5">
                  <c:v>16452910.272</c:v>
                </c:pt>
                <c:pt idx="6">
                  <c:v>16915003.037</c:v>
                </c:pt>
                <c:pt idx="7">
                  <c:v>17388599.538</c:v>
                </c:pt>
                <c:pt idx="8">
                  <c:v>17873935.048</c:v>
                </c:pt>
                <c:pt idx="9">
                  <c:v>18371247.962</c:v>
                </c:pt>
                <c:pt idx="10">
                  <c:v>18880779.827</c:v>
                </c:pt>
                <c:pt idx="11">
                  <c:v>19402775.511</c:v>
                </c:pt>
                <c:pt idx="12">
                  <c:v>19937483.207</c:v>
                </c:pt>
                <c:pt idx="13">
                  <c:v>20485154.245</c:v>
                </c:pt>
                <c:pt idx="14">
                  <c:v>21046043.3</c:v>
                </c:pt>
                <c:pt idx="15">
                  <c:v>21620408.236</c:v>
                </c:pt>
              </c:numCache>
            </c:numRef>
          </c:val>
        </c:ser>
        <c:ser>
          <c:idx val="2"/>
          <c:order val="2"/>
          <c:tx>
            <c:strRef>
              <c:strCache>
                <c:ptCount val="1"/>
                <c:pt idx="0">
                  <c:v>Mexico</c:v>
                </c:pt>
              </c:strCache>
            </c:strRef>
          </c:tx>
          <c:spPr>
            <a:solidFill>
              <a:srgbClr val="0E2A5C"/>
            </a:solidFill>
            <a:ln>
              <a:noFill/>
            </a:ln>
          </c:spPr>
          <c:dLbls>
            <c:dLbl>
              <c:idx val="0"/>
              <c:numFmt formatCode="&quot;MMMMMMMMMMM&quot;;&quot;MMMMMMMMMMM&quot;;&quot;MMMMMMMM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M&quot;;&quot;MMMMMMMMMMMM&quot;;&quot;MMMMMMMMM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M&quot;;&quot;MMMMMMMMMMMM&quot;;&quot;MMMMMMMMM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M&quot;;&quot;MMMMMMMMMMMM&quot;;&quot;MMMMMMMMM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M&quot;;&quot;MMMMMMMMMMMM&quot;;&quot;MMMMMMMMM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M&quot;;&quot;MMMMMMMMMMMM&quot;;&quot;MMMMMMMMM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M&quot;;&quot;MMMMMMMMMMMM&quot;;&quot;MMMMMMMM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M&quot;;&quot;MMMMMMMMMMMM&quot;;&quot;MMMMMMMM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MMM&quot;;&quot;MMMMMMMMMMMM&quot;;&quot;MMMMMMMM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MMM&quot;;&quot;MMMMMMMMMMMM&quot;;&quot;MMMMMMMM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MMM&quot;;&quot;MMMMMMMMMMMM&quot;;&quot;MMMMMMMM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MMM&quot;;&quot;MMMMMMMMMMMM&quot;;&quot;MMMMMMMM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MMM&quot;;&quot;MMMMMMMMMMMM&quot;;&quot;MMMMMMMM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9197664.276</c:v>
                </c:pt>
                <c:pt idx="1">
                  <c:v>9451920.851</c:v>
                </c:pt>
                <c:pt idx="2">
                  <c:v>9713205.994</c:v>
                </c:pt>
                <c:pt idx="3">
                  <c:v>9981714.002</c:v>
                </c:pt>
                <c:pt idx="4">
                  <c:v>10257644.536</c:v>
                </c:pt>
                <c:pt idx="5">
                  <c:v>10606580.247</c:v>
                </c:pt>
                <c:pt idx="6">
                  <c:v>10966365.628</c:v>
                </c:pt>
                <c:pt idx="7">
                  <c:v>11337393.9</c:v>
                </c:pt>
                <c:pt idx="8">
                  <c:v>11719977.936</c:v>
                </c:pt>
                <c:pt idx="9">
                  <c:v>12114437.85</c:v>
                </c:pt>
                <c:pt idx="10">
                  <c:v>12521101.144</c:v>
                </c:pt>
                <c:pt idx="11">
                  <c:v>12940302.936</c:v>
                </c:pt>
                <c:pt idx="12">
                  <c:v>13372386.107</c:v>
                </c:pt>
                <c:pt idx="13">
                  <c:v>13817701.295</c:v>
                </c:pt>
                <c:pt idx="14">
                  <c:v>14276607.172</c:v>
                </c:pt>
                <c:pt idx="15">
                  <c:v>14749470.477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2A5F8F"/>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187657.681</c:v>
                </c:pt>
                <c:pt idx="1">
                  <c:v>193335.891</c:v>
                </c:pt>
                <c:pt idx="2">
                  <c:v>199185.915</c:v>
                </c:pt>
                <c:pt idx="3">
                  <c:v>205212.951</c:v>
                </c:pt>
                <c:pt idx="4">
                  <c:v>211422.353</c:v>
                </c:pt>
                <c:pt idx="5">
                  <c:v>219170.58</c:v>
                </c:pt>
                <c:pt idx="6">
                  <c:v>227202.231</c:v>
                </c:pt>
                <c:pt idx="7">
                  <c:v>235508.237</c:v>
                </c:pt>
                <c:pt idx="8">
                  <c:v>244097.119</c:v>
                </c:pt>
                <c:pt idx="9">
                  <c:v>252977.631</c:v>
                </c:pt>
                <c:pt idx="10">
                  <c:v>262158.76</c:v>
                </c:pt>
                <c:pt idx="11">
                  <c:v>271649.737</c:v>
                </c:pt>
                <c:pt idx="12">
                  <c:v>281460.043</c:v>
                </c:pt>
                <c:pt idx="13">
                  <c:v>291599.407</c:v>
                </c:pt>
                <c:pt idx="14">
                  <c:v>302077.822</c:v>
                </c:pt>
                <c:pt idx="15">
                  <c:v>312905.542</c:v>
                </c:pt>
              </c:numCache>
            </c:numRef>
          </c:val>
        </c:ser>
        <c:ser>
          <c:idx val="1"/>
          <c:order val="1"/>
          <c:tx>
            <c:strRef>
              <c:strCache>
                <c:ptCount val="1"/>
                <c:pt idx="0">
                  <c:v>Canada</c:v>
                </c:pt>
              </c:strCache>
            </c:strRef>
          </c:tx>
          <c:spPr>
            <a:solidFill>
              <a:srgbClr val="0081E2"/>
            </a:solidFill>
            <a:ln>
              <a:noFill/>
            </a:ln>
          </c:spPr>
          <c:dLbls>
            <c:dLbl>
              <c:idx val="0"/>
              <c:numFmt formatCode="&quot;MMMMMMMM&quot;;&quot;MMMMMMMM&quot;;&quot;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81647.784</c:v>
                </c:pt>
                <c:pt idx="1">
                  <c:v>84710.654</c:v>
                </c:pt>
                <c:pt idx="2">
                  <c:v>87888.421</c:v>
                </c:pt>
                <c:pt idx="3">
                  <c:v>91185.396</c:v>
                </c:pt>
                <c:pt idx="4">
                  <c:v>94606.052</c:v>
                </c:pt>
                <c:pt idx="5">
                  <c:v>98763.793</c:v>
                </c:pt>
                <c:pt idx="6">
                  <c:v>103098.462</c:v>
                </c:pt>
                <c:pt idx="7">
                  <c:v>107614.25</c:v>
                </c:pt>
                <c:pt idx="8">
                  <c:v>112318.276</c:v>
                </c:pt>
                <c:pt idx="9">
                  <c:v>117217.912</c:v>
                </c:pt>
                <c:pt idx="10">
                  <c:v>122320.803</c:v>
                </c:pt>
                <c:pt idx="11">
                  <c:v>127634.867</c:v>
                </c:pt>
                <c:pt idx="12">
                  <c:v>133168.306</c:v>
                </c:pt>
                <c:pt idx="13">
                  <c:v>138929.622</c:v>
                </c:pt>
                <c:pt idx="14">
                  <c:v>144927.616</c:v>
                </c:pt>
                <c:pt idx="15">
                  <c:v>151171.405</c:v>
                </c:pt>
              </c:numCache>
            </c:numRef>
          </c:val>
        </c:ser>
        <c:ser>
          <c:idx val="2"/>
          <c:order val="2"/>
          <c:tx>
            <c:strRef>
              <c:strCache>
                <c:ptCount val="1"/>
                <c:pt idx="0">
                  <c:v>Mexico</c:v>
                </c:pt>
              </c:strCache>
            </c:strRef>
          </c:tx>
          <c:spPr>
            <a:solidFill>
              <a:srgbClr val="0E2A5C"/>
            </a:solidFill>
            <a:ln>
              <a:noFill/>
            </a:ln>
          </c:spPr>
          <c:dLbls>
            <c:dLbl>
              <c:idx val="0"/>
              <c:numFmt formatCode="&quot;MMMMMMMM&quot;;&quot;MMMMMMMM&quot;;&quot;MMMMMMMM&quot;" sourceLinked="0"/>
              <c:spPr>
                <a:blipFill>
                  <a:blip r:embed="rId3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3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3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3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3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4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4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4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4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4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quot;;&quot;MMMMMMMM&quot;;&quot;MMMMMMMM&quot;" sourceLinked="0"/>
              <c:spPr>
                <a:blipFill>
                  <a:blip r:embed="rId4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quot;;&quot;MMMMMMMM&quot;;&quot;MMMMMMMM&quot;" sourceLinked="0"/>
              <c:spPr>
                <a:blipFill>
                  <a:blip r:embed="rId4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quot;;&quot;MMMMMMMM&quot;;&quot;MMMMMMMM&quot;" sourceLinked="0"/>
              <c:spPr>
                <a:blipFill>
                  <a:blip r:embed="rId4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quot;;&quot;MMMMMMMM&quot;;&quot;MMMMMMMM&quot;" sourceLinked="0"/>
              <c:spPr>
                <a:blipFill>
                  <a:blip r:embed="rId4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quot;;&quot;MMMMMMMM&quot;;&quot;MMMMMMMM&quot;" sourceLinked="0"/>
              <c:spPr>
                <a:blipFill>
                  <a:blip r:embed="rId4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50000.382</c:v>
                </c:pt>
                <c:pt idx="1">
                  <c:v>52126.694</c:v>
                </c:pt>
                <c:pt idx="2">
                  <c:v>54343.428</c:v>
                </c:pt>
                <c:pt idx="3">
                  <c:v>56654.432</c:v>
                </c:pt>
                <c:pt idx="4">
                  <c:v>59063.713</c:v>
                </c:pt>
                <c:pt idx="5">
                  <c:v>61957.347</c:v>
                </c:pt>
                <c:pt idx="6">
                  <c:v>64986.7</c:v>
                </c:pt>
                <c:pt idx="7">
                  <c:v>68158.391</c:v>
                </c:pt>
                <c:pt idx="8">
                  <c:v>71478.795</c:v>
                </c:pt>
                <c:pt idx="9">
                  <c:v>74954.555</c:v>
                </c:pt>
                <c:pt idx="10">
                  <c:v>78592.593</c:v>
                </c:pt>
                <c:pt idx="11">
                  <c:v>82400.125</c:v>
                </c:pt>
                <c:pt idx="12">
                  <c:v>86384.668</c:v>
                </c:pt>
                <c:pt idx="13">
                  <c:v>90554.053</c:v>
                </c:pt>
                <c:pt idx="14">
                  <c:v>94916.438</c:v>
                </c:pt>
                <c:pt idx="15">
                  <c:v>99480.323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Construction and Mining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28.719679569194806</c:v>
                </c:pt>
                <c:pt idx="1">
                  <c:v>28.021815369116933</c:v>
                </c:pt>
                <c:pt idx="2">
                  <c:v>27.73352413170106</c:v>
                </c:pt>
              </c:numCache>
            </c:numRef>
          </c:val>
        </c:ser>
        <c:ser>
          <c:idx val="1"/>
          <c:order val="1"/>
          <c:tx>
            <c:strRef>
              <c:strCache>
                <c:ptCount val="1"/>
                <c:pt idx="0">
                  <c:v>Agriculture and Forestry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21.493710871847487</c:v>
                </c:pt>
                <c:pt idx="1">
                  <c:v>20.346033695989004</c:v>
                </c:pt>
                <c:pt idx="2">
                  <c:v>22.01142222019193</c:v>
                </c:pt>
              </c:numCache>
            </c:numRef>
          </c:val>
        </c:ser>
        <c:ser>
          <c:idx val="2"/>
          <c:order val="2"/>
          <c:tx>
            <c:strRef>
              <c:strCache>
                <c:ptCount val="1"/>
                <c:pt idx="0">
                  <c:v>Industrial and Port Vehicles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12.408657941329764</c:v>
                </c:pt>
                <c:pt idx="1">
                  <c:v>11.841443161820187</c:v>
                </c:pt>
                <c:pt idx="2">
                  <c:v>14.387871404335817</c:v>
                </c:pt>
              </c:numCache>
            </c:numRef>
          </c:val>
        </c:ser>
        <c:ser>
          <c:idx val="3"/>
          <c:order val="3"/>
          <c:tx>
            <c:strRef>
              <c:strCache>
                <c:ptCount val="1"/>
                <c:pt idx="0">
                  <c:v>Recreational and Powersports Vehicles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19.611147623636082</c:v>
                </c:pt>
                <c:pt idx="1">
                  <c:v>19.130381172285855</c:v>
                </c:pt>
                <c:pt idx="2">
                  <c:v>16.36175590651571</c:v>
                </c:pt>
              </c:numCache>
            </c:numRef>
          </c:val>
        </c:ser>
        <c:ser>
          <c:idx val="4"/>
          <c:order val="4"/>
          <c:tx>
            <c:strRef>
              <c:strCache>
                <c:ptCount val="1"/>
                <c:pt idx="0">
                  <c:v>Military Vehicles</c:v>
                </c:pt>
              </c:strCache>
            </c:strRef>
          </c:tx>
          <c:spPr>
            <a:solidFill>
              <a:srgbClr val="F47620"/>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17.766803993991857</c:v>
                </c:pt>
                <c:pt idx="1">
                  <c:v>20.660326600788025</c:v>
                </c:pt>
                <c:pt idx="2">
                  <c:v>19.50542633725548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Construction and Mining Vehicles</c:v>
                </c:pt>
              </c:strCache>
            </c:strRef>
          </c:tx>
          <c:spPr>
            <a:solidFill>
              <a:srgbClr val="2A5F8F"/>
            </a:solidFill>
          </c:spPr>
          <c:invertIfNegative val="0"/>
          <c:xVal>
            <c:numRef>
              <c:numCache>
                <c:formatCode>General</c:formatCode>
                <c:ptCount val="1"/>
                <c:pt idx="0">
                  <c:v>118.77511395928198</c:v>
                </c:pt>
              </c:numCache>
            </c:numRef>
          </c:xVal>
          <c:yVal>
            <c:numRef>
              <c:numCache>
                <c:formatCode>General</c:formatCode>
                <c:ptCount val="1"/>
                <c:pt idx="0">
                  <c:v>130.15966102130366</c:v>
                </c:pt>
              </c:numCache>
            </c:numRef>
          </c:yVal>
          <c:bubbleSize>
            <c:numRef>
              <c:numCache>
                <c:formatCode>General</c:formatCode>
                <c:ptCount val="1"/>
                <c:pt idx="0">
                  <c:v>157711.136</c:v>
                </c:pt>
              </c:numCache>
            </c:numRef>
          </c:bubbleSize>
          <c:bubble3D val="0"/>
        </c:ser>
        <c:ser>
          <c:idx val="1"/>
          <c:order val="1"/>
          <c:tx>
            <c:strRef>
              <c:strCache>
                <c:ptCount val="1"/>
                <c:pt idx="0">
                  <c:v>Agriculture and Forestry Vehicles</c:v>
                </c:pt>
              </c:strCache>
            </c:strRef>
          </c:tx>
          <c:spPr>
            <a:solidFill>
              <a:srgbClr val="0081E2"/>
            </a:solidFill>
          </c:spPr>
          <c:invertIfNegative val="0"/>
          <c:xVal>
            <c:numRef>
              <c:numCache>
                <c:formatCode>General</c:formatCode>
                <c:ptCount val="1"/>
                <c:pt idx="0">
                  <c:v>88.47536802006829</c:v>
                </c:pt>
              </c:numCache>
            </c:numRef>
          </c:xVal>
          <c:yVal>
            <c:numRef>
              <c:numCache>
                <c:formatCode>General</c:formatCode>
                <c:ptCount val="1"/>
                <c:pt idx="0">
                  <c:v>112.27087813337971</c:v>
                </c:pt>
              </c:numCache>
            </c:numRef>
          </c:yVal>
          <c:bubbleSize>
            <c:numRef>
              <c:numCache>
                <c:formatCode>General</c:formatCode>
                <c:ptCount val="1"/>
                <c:pt idx="0">
                  <c:v>121014.35800000001</c:v>
                </c:pt>
              </c:numCache>
            </c:numRef>
          </c:bubbleSize>
          <c:bubble3D val="0"/>
        </c:ser>
        <c:ser>
          <c:idx val="2"/>
          <c:order val="2"/>
          <c:tx>
            <c:strRef>
              <c:strCache>
                <c:ptCount val="1"/>
                <c:pt idx="0">
                  <c:v>Industrial and Port Vehicles</c:v>
                </c:pt>
              </c:strCache>
            </c:strRef>
          </c:tx>
          <c:spPr>
            <a:solidFill>
              <a:srgbClr val="0E2A5C"/>
            </a:solidFill>
          </c:spPr>
          <c:invertIfNegative val="0"/>
          <c:xVal>
            <c:numRef>
              <c:numCache>
                <c:formatCode>General</c:formatCode>
                <c:ptCount val="1"/>
                <c:pt idx="0">
                  <c:v>74.46286344041555</c:v>
                </c:pt>
              </c:numCache>
            </c:numRef>
          </c:xVal>
          <c:yVal>
            <c:numRef>
              <c:numCache>
                <c:formatCode>General</c:formatCode>
                <c:ptCount val="1"/>
                <c:pt idx="0">
                  <c:v>73.74444749677619</c:v>
                </c:pt>
              </c:numCache>
            </c:numRef>
          </c:yVal>
          <c:bubbleSize>
            <c:numRef>
              <c:numCache>
                <c:formatCode>General</c:formatCode>
                <c:ptCount val="1"/>
                <c:pt idx="0">
                  <c:v>75265.496</c:v>
                </c:pt>
              </c:numCache>
            </c:numRef>
          </c:bubbleSize>
          <c:bubble3D val="0"/>
        </c:ser>
        <c:ser>
          <c:idx val="3"/>
          <c:order val="3"/>
          <c:tx>
            <c:strRef>
              <c:strCache>
                <c:ptCount val="1"/>
                <c:pt idx="0">
                  <c:v>Recreational and Powersports Vehicles</c:v>
                </c:pt>
              </c:strCache>
            </c:strRef>
          </c:tx>
          <c:spPr>
            <a:solidFill>
              <a:srgbClr val="00ACAC"/>
            </a:solidFill>
          </c:spPr>
          <c:invertIfNegative val="0"/>
          <c:xVal>
            <c:numRef>
              <c:numCache>
                <c:formatCode>General</c:formatCode>
                <c:ptCount val="1"/>
                <c:pt idx="0">
                  <c:v>138.0132592679061</c:v>
                </c:pt>
              </c:numCache>
            </c:numRef>
          </c:xVal>
          <c:yVal>
            <c:numRef>
              <c:numCache>
                <c:formatCode>General</c:formatCode>
                <c:ptCount val="1"/>
                <c:pt idx="0">
                  <c:v>76.38831401747845</c:v>
                </c:pt>
              </c:numCache>
            </c:numRef>
          </c:yVal>
          <c:bubbleSize>
            <c:numRef>
              <c:numCache>
                <c:formatCode>General</c:formatCode>
                <c:ptCount val="1"/>
                <c:pt idx="0">
                  <c:v>99625.74</c:v>
                </c:pt>
              </c:numCache>
            </c:numRef>
          </c:bubbleSize>
          <c:bubble3D val="0"/>
        </c:ser>
        <c:ser>
          <c:idx val="4"/>
          <c:order val="4"/>
          <c:tx>
            <c:strRef>
              <c:strCache>
                <c:ptCount val="1"/>
                <c:pt idx="0">
                  <c:v>Military Vehicles</c:v>
                </c:pt>
              </c:strCache>
            </c:strRef>
          </c:tx>
          <c:spPr>
            <a:solidFill>
              <a:srgbClr val="F47620"/>
            </a:solidFill>
          </c:spPr>
          <c:invertIfNegative val="0"/>
          <c:xVal>
            <c:numRef>
              <c:numCache>
                <c:formatCode>General</c:formatCode>
                <c:ptCount val="1"/>
                <c:pt idx="0">
                  <c:v>75.13422125627713</c:v>
                </c:pt>
              </c:numCache>
            </c:numRef>
          </c:xVal>
          <c:yVal>
            <c:numRef>
              <c:numCache>
                <c:formatCode>General</c:formatCode>
                <c:ptCount val="1"/>
                <c:pt idx="0">
                  <c:v>107.43669933106202</c:v>
                </c:pt>
              </c:numCache>
            </c:numRef>
          </c:yVal>
          <c:bubbleSize>
            <c:numRef>
              <c:numCache>
                <c:formatCode>General</c:formatCode>
                <c:ptCount val="1"/>
                <c:pt idx="0">
                  <c:v>109940.54000000001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60.0"/>
          <c:min val="5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50.0"/>
          <c:min val="5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98893.155</c:v>
                </c:pt>
                <c:pt idx="2">
                  <c:v>108704.066</c:v>
                </c:pt>
                <c:pt idx="3">
                  <c:v>119412.488</c:v>
                </c:pt>
                <c:pt idx="4">
                  <c:v>131094.264</c:v>
                </c:pt>
                <c:pt idx="5">
                  <c:v>143831.128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98893.155</c:v>
                </c:pt>
                <c:pt idx="1">
                  <c:v>9810.911000000007</c:v>
                </c:pt>
                <c:pt idx="2">
                  <c:v>10708.421999999991</c:v>
                </c:pt>
                <c:pt idx="3">
                  <c:v>11681.775999999998</c:v>
                </c:pt>
                <c:pt idx="4">
                  <c:v>12736.864000000001</c:v>
                </c:pt>
                <c:pt idx="5">
                  <c:v>13880.008000000002</c:v>
                </c:pt>
                <c:pt idx="6">
                  <c:v>157711.136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85301.554</c:v>
                </c:pt>
                <c:pt idx="2">
                  <c:v>91534.213</c:v>
                </c:pt>
                <c:pt idx="3">
                  <c:v>98194.194</c:v>
                </c:pt>
                <c:pt idx="4">
                  <c:v>105308.369</c:v>
                </c:pt>
                <c:pt idx="5">
                  <c:v>112905.11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85301.554</c:v>
                </c:pt>
                <c:pt idx="1">
                  <c:v>6232.659</c:v>
                </c:pt>
                <c:pt idx="2">
                  <c:v>6659.981</c:v>
                </c:pt>
                <c:pt idx="3">
                  <c:v>7114.175000000003</c:v>
                </c:pt>
                <c:pt idx="4">
                  <c:v>7596.7409999999945</c:v>
                </c:pt>
                <c:pt idx="5">
                  <c:v>8109.248000000007</c:v>
                </c:pt>
                <c:pt idx="6">
                  <c:v>121014.35800000001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56029.81</c:v>
                </c:pt>
                <c:pt idx="2">
                  <c:v>59490.172999999995</c:v>
                </c:pt>
                <c:pt idx="3">
                  <c:v>63136.31</c:v>
                </c:pt>
                <c:pt idx="4">
                  <c:v>66975.788</c:v>
                </c:pt>
                <c:pt idx="5">
                  <c:v>71016.269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56029.81</c:v>
                </c:pt>
                <c:pt idx="1">
                  <c:v>3460.3629999999976</c:v>
                </c:pt>
                <c:pt idx="2">
                  <c:v>3646.1370000000024</c:v>
                </c:pt>
                <c:pt idx="3">
                  <c:v>3839.478000000003</c:v>
                </c:pt>
                <c:pt idx="4">
                  <c:v>4040.4809999999998</c:v>
                </c:pt>
                <c:pt idx="5">
                  <c:v>4249.226999999999</c:v>
                </c:pt>
                <c:pt idx="6">
                  <c:v>75265.496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58038.576</c:v>
                </c:pt>
                <c:pt idx="2">
                  <c:v>64839.337999999996</c:v>
                </c:pt>
                <c:pt idx="3">
                  <c:v>72332.431</c:v>
                </c:pt>
                <c:pt idx="4">
                  <c:v>80581.185</c:v>
                </c:pt>
                <c:pt idx="5">
                  <c:v>89654.204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58038.576</c:v>
                </c:pt>
                <c:pt idx="1">
                  <c:v>6800.761999999995</c:v>
                </c:pt>
                <c:pt idx="2">
                  <c:v>7493.093000000001</c:v>
                </c:pt>
                <c:pt idx="3">
                  <c:v>8248.754</c:v>
                </c:pt>
                <c:pt idx="4">
                  <c:v>9073.019</c:v>
                </c:pt>
                <c:pt idx="5">
                  <c:v>9971.536000000007</c:v>
                </c:pt>
                <c:pt idx="6">
                  <c:v>99625.74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81628.625</c:v>
                </c:pt>
                <c:pt idx="2">
                  <c:v>86713.088</c:v>
                </c:pt>
                <c:pt idx="3">
                  <c:v>92074.675</c:v>
                </c:pt>
                <c:pt idx="4">
                  <c:v>97725.12299999999</c:v>
                </c:pt>
                <c:pt idx="5">
                  <c:v>103676.371</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81628.625</c:v>
                </c:pt>
                <c:pt idx="1">
                  <c:v>5084.463000000003</c:v>
                </c:pt>
                <c:pt idx="2">
                  <c:v>5361.5869999999995</c:v>
                </c:pt>
                <c:pt idx="3">
                  <c:v>5650.447999999989</c:v>
                </c:pt>
                <c:pt idx="4">
                  <c:v>5951.248000000007</c:v>
                </c:pt>
                <c:pt idx="5">
                  <c:v>6264.169000000009</c:v>
                </c:pt>
                <c:pt idx="6">
                  <c:v>109940.54000000001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Construction and Mining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25.017027326781143</c:v>
                </c:pt>
                <c:pt idx="1">
                  <c:v>26.031932204260727</c:v>
                </c:pt>
                <c:pt idx="2">
                  <c:v>27.984935053716896</c:v>
                </c:pt>
              </c:numCache>
            </c:numRef>
          </c:val>
        </c:ser>
        <c:ser>
          <c:idx val="1"/>
          <c:order val="1"/>
          <c:tx>
            <c:strRef>
              <c:strCache>
                <c:ptCount val="1"/>
                <c:pt idx="0">
                  <c:v>Agriculture and Forestry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22.954691149141407</c:v>
                </c:pt>
                <c:pt idx="1">
                  <c:v>22.454175626675937</c:v>
                </c:pt>
                <c:pt idx="2">
                  <c:v>21.473302615721735</c:v>
                </c:pt>
              </c:numCache>
            </c:numRef>
          </c:val>
        </c:ser>
        <c:ser>
          <c:idx val="2"/>
          <c:order val="2"/>
          <c:tx>
            <c:strRef>
              <c:strCache>
                <c:ptCount val="1"/>
                <c:pt idx="0">
                  <c:v>Military Vehicles</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22.514203443321225</c:v>
                </c:pt>
                <c:pt idx="1">
                  <c:v>21.4873398662124</c:v>
                </c:pt>
                <c:pt idx="2">
                  <c:v>19.508317229232087</c:v>
                </c:pt>
              </c:numCache>
            </c:numRef>
          </c:val>
        </c:ser>
        <c:ser>
          <c:idx val="3"/>
          <c:order val="3"/>
          <c:tx>
            <c:strRef>
              <c:strCache>
                <c:ptCount val="1"/>
                <c:pt idx="0">
                  <c:v>Recreational and Powersports Vehicles</c:v>
                </c:pt>
              </c:strCache>
            </c:strRef>
          </c:tx>
          <c:spPr>
            <a:solidFill>
              <a:srgbClr val="00ACAC"/>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14.041745373989349</c:v>
                </c:pt>
                <c:pt idx="1">
                  <c:v>15.277662803495689</c:v>
                </c:pt>
                <c:pt idx="2">
                  <c:v>17.678015226385067</c:v>
                </c:pt>
              </c:numCache>
            </c:numRef>
          </c:val>
        </c:ser>
        <c:ser>
          <c:idx val="4"/>
          <c:order val="4"/>
          <c:tx>
            <c:strRef>
              <c:strCache>
                <c:ptCount val="1"/>
                <c:pt idx="0">
                  <c:v>Industrial and Port Vehicles</c:v>
                </c:pt>
              </c:strCache>
            </c:strRef>
          </c:tx>
          <c:spPr>
            <a:solidFill>
              <a:srgbClr val="F47620"/>
            </a:solidFill>
            <a:ln>
              <a:noFill/>
            </a:ln>
          </c:spPr>
          <c:dLbls>
            <c:dLbl>
              <c:idx val="0"/>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15.472332706766876</c:v>
                </c:pt>
                <c:pt idx="1">
                  <c:v>14.748889499355236</c:v>
                </c:pt>
                <c:pt idx="2">
                  <c:v>13.355429874944209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Internal Combustion Engine (ICE)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15.297229181694554</c:v>
                </c:pt>
                <c:pt idx="1">
                  <c:v>15.180876965455207</c:v>
                </c:pt>
                <c:pt idx="2">
                  <c:v>15.540638139288692</c:v>
                </c:pt>
              </c:numCache>
            </c:numRef>
          </c:val>
        </c:ser>
        <c:ser>
          <c:idx val="1"/>
          <c:order val="1"/>
          <c:tx>
            <c:strRef>
              <c:strCache>
                <c:ptCount val="1"/>
                <c:pt idx="0">
                  <c:v>Battery Electric Vehicle (BEV)</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41.05720887134634</c:v>
                </c:pt>
                <c:pt idx="1">
                  <c:v>41.68921232160275</c:v>
                </c:pt>
                <c:pt idx="2">
                  <c:v>38.74116905222472</c:v>
                </c:pt>
              </c:numCache>
            </c:numRef>
          </c:val>
        </c:ser>
        <c:ser>
          <c:idx val="2"/>
          <c:order val="2"/>
          <c:tx>
            <c:strRef>
              <c:strCache>
                <c:ptCount val="1"/>
                <c:pt idx="0">
                  <c:v>Hybrid Powertrain</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14.585188871974209</c:v>
                </c:pt>
                <c:pt idx="1">
                  <c:v>19.033286751551987</c:v>
                </c:pt>
                <c:pt idx="2">
                  <c:v>12.479766817297216</c:v>
                </c:pt>
              </c:numCache>
            </c:numRef>
          </c:val>
        </c:ser>
        <c:ser>
          <c:idx val="3"/>
          <c:order val="3"/>
          <c:tx>
            <c:strRef>
              <c:strCache>
                <c:ptCount val="1"/>
                <c:pt idx="0">
                  <c:v>Alternative Fuel ICE</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29.060373074984884</c:v>
                </c:pt>
                <c:pt idx="1">
                  <c:v>24.096623961390055</c:v>
                </c:pt>
                <c:pt idx="2">
                  <c:v>33.23842599118938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Internal Combustion Engine (ICE)</c:v>
                </c:pt>
              </c:strCache>
            </c:strRef>
          </c:tx>
          <c:spPr>
            <a:solidFill>
              <a:srgbClr val="2A5F8F"/>
            </a:solidFill>
          </c:spPr>
          <c:invertIfNegative val="0"/>
          <c:xVal>
            <c:numRef>
              <c:numCache>
                <c:formatCode>General</c:formatCode>
                <c:ptCount val="1"/>
                <c:pt idx="0">
                  <c:v>80.31562967111428</c:v>
                </c:pt>
              </c:numCache>
            </c:numRef>
          </c:xVal>
          <c:yVal>
            <c:numRef>
              <c:numCache>
                <c:formatCode>General</c:formatCode>
                <c:ptCount val="1"/>
                <c:pt idx="0">
                  <c:v>66.49652485187096</c:v>
                </c:pt>
              </c:numCache>
            </c:numRef>
          </c:yVal>
          <c:bubbleSize>
            <c:numRef>
              <c:numCache>
                <c:formatCode>General</c:formatCode>
                <c:ptCount val="1"/>
                <c:pt idx="0">
                  <c:v>86794.396</c:v>
                </c:pt>
              </c:numCache>
            </c:numRef>
          </c:bubbleSize>
          <c:bubble3D val="0"/>
        </c:ser>
        <c:ser>
          <c:idx val="1"/>
          <c:order val="1"/>
          <c:tx>
            <c:strRef>
              <c:strCache>
                <c:ptCount val="1"/>
                <c:pt idx="0">
                  <c:v>Battery Electric Vehicle (BEV)</c:v>
                </c:pt>
              </c:strCache>
            </c:strRef>
          </c:tx>
          <c:spPr>
            <a:solidFill>
              <a:srgbClr val="0081E2"/>
            </a:solidFill>
          </c:spPr>
          <c:invertIfNegative val="0"/>
          <c:xVal>
            <c:numRef>
              <c:numCache>
                <c:formatCode>General</c:formatCode>
                <c:ptCount val="1"/>
                <c:pt idx="0">
                  <c:v>151.95763766410963</c:v>
                </c:pt>
              </c:numCache>
            </c:numRef>
          </c:xVal>
          <c:yVal>
            <c:numRef>
              <c:numCache>
                <c:formatCode>General</c:formatCode>
                <c:ptCount val="1"/>
                <c:pt idx="0">
                  <c:v>130.9428191801601</c:v>
                </c:pt>
              </c:numCache>
            </c:numRef>
          </c:yVal>
          <c:bubbleSize>
            <c:numRef>
              <c:numCache>
                <c:formatCode>General</c:formatCode>
                <c:ptCount val="1"/>
                <c:pt idx="0">
                  <c:v>225089.277</c:v>
                </c:pt>
              </c:numCache>
            </c:numRef>
          </c:bubbleSize>
          <c:bubble3D val="0"/>
        </c:ser>
        <c:ser>
          <c:idx val="2"/>
          <c:order val="2"/>
          <c:tx>
            <c:strRef>
              <c:strCache>
                <c:ptCount val="1"/>
                <c:pt idx="0">
                  <c:v>Hybrid Powertrain</c:v>
                </c:pt>
              </c:strCache>
            </c:strRef>
          </c:tx>
          <c:spPr>
            <a:solidFill>
              <a:srgbClr val="0E2A5C"/>
            </a:solidFill>
          </c:spPr>
          <c:invertIfNegative val="0"/>
          <c:xVal>
            <c:numRef>
              <c:numCache>
                <c:formatCode>General</c:formatCode>
                <c:ptCount val="1"/>
                <c:pt idx="0">
                  <c:v>12.659581248288829</c:v>
                </c:pt>
              </c:numCache>
            </c:numRef>
          </c:xVal>
          <c:yVal>
            <c:numRef>
              <c:numCache>
                <c:formatCode>General</c:formatCode>
                <c:ptCount val="1"/>
                <c:pt idx="0">
                  <c:v>82.39663028191298</c:v>
                </c:pt>
              </c:numCache>
            </c:numRef>
          </c:yVal>
          <c:bubbleSize>
            <c:numRef>
              <c:numCache>
                <c:formatCode>General</c:formatCode>
                <c:ptCount val="1"/>
                <c:pt idx="0">
                  <c:v>82332.162</c:v>
                </c:pt>
              </c:numCache>
            </c:numRef>
          </c:bubbleSize>
          <c:bubble3D val="0"/>
        </c:ser>
        <c:ser>
          <c:idx val="3"/>
          <c:order val="3"/>
          <c:tx>
            <c:strRef>
              <c:strCache>
                <c:ptCount val="1"/>
                <c:pt idx="0">
                  <c:v>Alternative Fuel ICE</c:v>
                </c:pt>
              </c:strCache>
            </c:strRef>
          </c:tx>
          <c:spPr>
            <a:solidFill>
              <a:srgbClr val="00ACAC"/>
            </a:solidFill>
          </c:spPr>
          <c:invertIfNegative val="0"/>
          <c:xVal>
            <c:numRef>
              <c:numCache>
                <c:formatCode>General</c:formatCode>
                <c:ptCount val="1"/>
                <c:pt idx="0">
                  <c:v>100.06591591139554</c:v>
                </c:pt>
              </c:numCache>
            </c:numRef>
          </c:xVal>
          <c:yVal>
            <c:numRef>
              <c:numCache>
                <c:formatCode>General</c:formatCode>
                <c:ptCount val="1"/>
                <c:pt idx="0">
                  <c:v>120.16402568605602</c:v>
                </c:pt>
              </c:numCache>
            </c:numRef>
          </c:yVal>
          <c:bubbleSize>
            <c:numRef>
              <c:numCache>
                <c:formatCode>General</c:formatCode>
                <c:ptCount val="1"/>
                <c:pt idx="0">
                  <c:v>169341.435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63153.698</c:v>
                </c:pt>
                <c:pt idx="2">
                  <c:v>67361.504</c:v>
                </c:pt>
                <c:pt idx="3">
                  <c:v>71817.661</c:v>
                </c:pt>
                <c:pt idx="4">
                  <c:v>76533.85</c:v>
                </c:pt>
                <c:pt idx="5">
                  <c:v>81522.029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63153.698</c:v>
                </c:pt>
                <c:pt idx="1">
                  <c:v>4207.806000000004</c:v>
                </c:pt>
                <c:pt idx="2">
                  <c:v>4456.156999999992</c:v>
                </c:pt>
                <c:pt idx="3">
                  <c:v>4716.189000000013</c:v>
                </c:pt>
                <c:pt idx="4">
                  <c:v>4988.178999999989</c:v>
                </c:pt>
                <c:pt idx="5">
                  <c:v>5272.366999999998</c:v>
                </c:pt>
                <c:pt idx="6">
                  <c:v>86794.396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124360.232</c:v>
                </c:pt>
                <c:pt idx="2">
                  <c:v>140548.691</c:v>
                </c:pt>
                <c:pt idx="3">
                  <c:v>158529.74</c:v>
                </c:pt>
                <c:pt idx="4">
                  <c:v>178481.283</c:v>
                </c:pt>
                <c:pt idx="5">
                  <c:v>200597.316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124360.232</c:v>
                </c:pt>
                <c:pt idx="1">
                  <c:v>16188.458999999988</c:v>
                </c:pt>
                <c:pt idx="2">
                  <c:v>17981.049</c:v>
                </c:pt>
                <c:pt idx="3">
                  <c:v>19951.543000000005</c:v>
                </c:pt>
                <c:pt idx="4">
                  <c:v>22116.032999999996</c:v>
                </c:pt>
                <c:pt idx="5">
                  <c:v>24491.96100000001</c:v>
                </c:pt>
                <c:pt idx="6">
                  <c:v>225089.277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78254.494</c:v>
                </c:pt>
                <c:pt idx="2">
                  <c:v>79817.039</c:v>
                </c:pt>
                <c:pt idx="3">
                  <c:v>81070.569</c:v>
                </c:pt>
                <c:pt idx="4">
                  <c:v>81954.382</c:v>
                </c:pt>
                <c:pt idx="5">
                  <c:v>82332.162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F47620"/>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78254.494</c:v>
                </c:pt>
                <c:pt idx="1">
                  <c:v>1562.5449999999983</c:v>
                </c:pt>
                <c:pt idx="2">
                  <c:v>1253.5299999999988</c:v>
                </c:pt>
                <c:pt idx="3">
                  <c:v>883.8129999999946</c:v>
                </c:pt>
                <c:pt idx="4">
                  <c:v>445.9649999999965</c:v>
                </c:pt>
                <c:pt idx="5">
                  <c:v>68.18499999999767</c:v>
                </c:pt>
                <c:pt idx="6">
                  <c:v>82332.162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114123.296</c:v>
                </c:pt>
                <c:pt idx="2">
                  <c:v>123553.644</c:v>
                </c:pt>
                <c:pt idx="3">
                  <c:v>133732.128</c:v>
                </c:pt>
                <c:pt idx="4">
                  <c:v>144715.214</c:v>
                </c:pt>
                <c:pt idx="5">
                  <c:v>156563.39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114123.296</c:v>
                </c:pt>
                <c:pt idx="1">
                  <c:v>9430.347999999998</c:v>
                </c:pt>
                <c:pt idx="2">
                  <c:v>10178.483999999997</c:v>
                </c:pt>
                <c:pt idx="3">
                  <c:v>10983.08600000001</c:v>
                </c:pt>
                <c:pt idx="4">
                  <c:v>11848.176000000007</c:v>
                </c:pt>
                <c:pt idx="5">
                  <c:v>12778.044999999984</c:v>
                </c:pt>
                <c:pt idx="6">
                  <c:v>169341.435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Battery Electric Vehicle</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29.147273335085533</c:v>
                </c:pt>
                <c:pt idx="1">
                  <c:v>32.73570479504002</c:v>
                </c:pt>
                <c:pt idx="2">
                  <c:v>39.94079909571568</c:v>
                </c:pt>
              </c:numCache>
            </c:numRef>
          </c:val>
        </c:ser>
        <c:ser>
          <c:idx val="1"/>
          <c:order val="1"/>
          <c:tx>
            <c:strRef>
              <c:strCache>
                <c:ptCount val="1"/>
                <c:pt idx="0">
                  <c:v>Alternative Fuel ICE</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30.043983190824562</c:v>
                </c:pt>
                <c:pt idx="1">
                  <c:v>30.041006421514005</c:v>
                </c:pt>
                <c:pt idx="2">
                  <c:v>30.048664796747275</c:v>
                </c:pt>
              </c:numCache>
            </c:numRef>
          </c:val>
        </c:ser>
        <c:ser>
          <c:idx val="2"/>
          <c:order val="2"/>
          <c:tx>
            <c:strRef>
              <c:strCache>
                <c:ptCount val="1"/>
                <c:pt idx="0">
                  <c:v>Internal Combustion Engine</c:v>
                </c:pt>
              </c:strCache>
            </c:strRef>
          </c:tx>
          <c:spPr>
            <a:solidFill>
              <a:srgbClr val="0E2A5C"/>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17.240894119925088</c:v>
                </c:pt>
                <c:pt idx="1">
                  <c:v>16.62413121296774</c:v>
                </c:pt>
                <c:pt idx="2">
                  <c:v>15.401166947948342</c:v>
                </c:pt>
              </c:numCache>
            </c:numRef>
          </c:val>
        </c:ser>
        <c:ser>
          <c:idx val="3"/>
          <c:order val="3"/>
          <c:tx>
            <c:strRef>
              <c:strCache>
                <c:ptCount val="1"/>
                <c:pt idx="0">
                  <c:v>Hybrid Powertrain</c:v>
                </c:pt>
              </c:strCache>
            </c:strRef>
          </c:tx>
          <c:spPr>
            <a:solidFill>
              <a:srgbClr val="00ACAC"/>
            </a:solidFill>
            <a:ln>
              <a:noFill/>
            </a:ln>
          </c:spPr>
          <c:dLbls>
            <c:dLbl>
              <c:idx val="0"/>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23.567849354164817</c:v>
                </c:pt>
                <c:pt idx="1">
                  <c:v>20.599157570478244</c:v>
                </c:pt>
                <c:pt idx="2">
                  <c:v>14.609369159588695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Compact / Light-Duty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32.58644626636365</c:v>
                </c:pt>
                <c:pt idx="1">
                  <c:v>26.61081042410104</c:v>
                </c:pt>
                <c:pt idx="2">
                  <c:v>23.65344459127541</c:v>
                </c:pt>
              </c:numCache>
            </c:numRef>
          </c:val>
        </c:ser>
        <c:ser>
          <c:idx val="1"/>
          <c:order val="1"/>
          <c:tx>
            <c:strRef>
              <c:strCache>
                <c:ptCount val="1"/>
                <c:pt idx="0">
                  <c:v>Medium-Duty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13.444840745038594</c:v>
                </c:pt>
                <c:pt idx="1">
                  <c:v>13.293985062849684</c:v>
                </c:pt>
                <c:pt idx="2">
                  <c:v>15.420230875936353</c:v>
                </c:pt>
              </c:numCache>
            </c:numRef>
          </c:val>
        </c:ser>
        <c:ser>
          <c:idx val="2"/>
          <c:order val="2"/>
          <c:tx>
            <c:strRef>
              <c:strCache>
                <c:ptCount val="1"/>
                <c:pt idx="0">
                  <c:v>Heavy-Duty Vehicles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38.86564180134396</c:v>
                </c:pt>
                <c:pt idx="1">
                  <c:v>43.46107387174182</c:v>
                </c:pt>
                <c:pt idx="2">
                  <c:v>43.78604997670511</c:v>
                </c:pt>
              </c:numCache>
            </c:numRef>
          </c:val>
        </c:ser>
        <c:ser>
          <c:idx val="3"/>
          <c:order val="3"/>
          <c:tx>
            <c:strRef>
              <c:strCache>
                <c:ptCount val="1"/>
                <c:pt idx="0">
                  <c:v>Ultra-Heavy-Duty Vehicles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15.103071187253786</c:v>
                </c:pt>
                <c:pt idx="1">
                  <c:v>16.63413064130746</c:v>
                </c:pt>
                <c:pt idx="2">
                  <c:v>17.140274556083124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Compact / Light-Duty Vehicles</c:v>
                </c:pt>
              </c:strCache>
            </c:strRef>
          </c:tx>
          <c:spPr>
            <a:solidFill>
              <a:srgbClr val="2A5F8F"/>
            </a:solidFill>
          </c:spPr>
          <c:invertIfNegative val="0"/>
          <c:xVal>
            <c:numRef>
              <c:numCache>
                <c:formatCode>General</c:formatCode>
                <c:ptCount val="1"/>
                <c:pt idx="0">
                  <c:v>143.74144976618382</c:v>
                </c:pt>
              </c:numCache>
            </c:numRef>
          </c:xVal>
          <c:yVal>
            <c:numRef>
              <c:numCache>
                <c:formatCode>General</c:formatCode>
                <c:ptCount val="1"/>
                <c:pt idx="0">
                  <c:v>88.01983470447841</c:v>
                </c:pt>
              </c:numCache>
            </c:numRef>
          </c:yVal>
          <c:bubbleSize>
            <c:numRef>
              <c:numCache>
                <c:formatCode>General</c:formatCode>
                <c:ptCount val="1"/>
                <c:pt idx="0">
                  <c:v>146657.977</c:v>
                </c:pt>
              </c:numCache>
            </c:numRef>
          </c:bubbleSize>
          <c:bubble3D val="0"/>
        </c:ser>
        <c:ser>
          <c:idx val="1"/>
          <c:order val="1"/>
          <c:tx>
            <c:strRef>
              <c:strCache>
                <c:ptCount val="1"/>
                <c:pt idx="0">
                  <c:v>Medium-Duty Vehicles</c:v>
                </c:pt>
              </c:strCache>
            </c:strRef>
          </c:tx>
          <c:spPr>
            <a:solidFill>
              <a:srgbClr val="0081E2"/>
            </a:solidFill>
          </c:spPr>
          <c:invertIfNegative val="0"/>
          <c:xVal>
            <c:numRef>
              <c:numCache>
                <c:formatCode>General</c:formatCode>
                <c:ptCount val="1"/>
                <c:pt idx="0">
                  <c:v>113.18125812578963</c:v>
                </c:pt>
              </c:numCache>
            </c:numRef>
          </c:xVal>
          <c:yVal>
            <c:numRef>
              <c:numCache>
                <c:formatCode>General</c:formatCode>
                <c:ptCount val="1"/>
                <c:pt idx="0">
                  <c:v>55.12926683424424</c:v>
                </c:pt>
              </c:numCache>
            </c:numRef>
          </c:yVal>
          <c:bubbleSize>
            <c:numRef>
              <c:numCache>
                <c:formatCode>General</c:formatCode>
                <c:ptCount val="1"/>
                <c:pt idx="0">
                  <c:v>81722.432</c:v>
                </c:pt>
              </c:numCache>
            </c:numRef>
          </c:bubbleSize>
          <c:bubble3D val="0"/>
        </c:ser>
        <c:ser>
          <c:idx val="2"/>
          <c:order val="2"/>
          <c:tx>
            <c:strRef>
              <c:strCache>
                <c:ptCount val="1"/>
                <c:pt idx="0">
                  <c:v>Heavy-Duty Vehicles</c:v>
                </c:pt>
              </c:strCache>
            </c:strRef>
          </c:tx>
          <c:spPr>
            <a:solidFill>
              <a:srgbClr val="0E2A5C"/>
            </a:solidFill>
          </c:spPr>
          <c:invertIfNegative val="0"/>
          <c:xVal>
            <c:numRef>
              <c:numCache>
                <c:formatCode>General</c:formatCode>
                <c:ptCount val="1"/>
                <c:pt idx="0">
                  <c:v>114.774124368734</c:v>
                </c:pt>
              </c:numCache>
            </c:numRef>
          </c:xVal>
          <c:yVal>
            <c:numRef>
              <c:numCache>
                <c:formatCode>General</c:formatCode>
                <c:ptCount val="1"/>
                <c:pt idx="0">
                  <c:v>161.83390572450486</c:v>
                </c:pt>
              </c:numCache>
            </c:numRef>
          </c:yVal>
          <c:bubbleSize>
            <c:numRef>
              <c:numCache>
                <c:formatCode>General</c:formatCode>
                <c:ptCount val="1"/>
                <c:pt idx="0">
                  <c:v>241373.359</c:v>
                </c:pt>
              </c:numCache>
            </c:numRef>
          </c:bubbleSize>
          <c:bubble3D val="0"/>
        </c:ser>
        <c:ser>
          <c:idx val="3"/>
          <c:order val="3"/>
          <c:tx>
            <c:strRef>
              <c:strCache>
                <c:ptCount val="1"/>
                <c:pt idx="0">
                  <c:v>Ultra-Heavy-Duty Vehicles</c:v>
                </c:pt>
              </c:strCache>
            </c:strRef>
          </c:tx>
          <c:spPr>
            <a:solidFill>
              <a:srgbClr val="00ACAC"/>
            </a:solidFill>
          </c:spPr>
          <c:invertIfNegative val="0"/>
          <c:xVal>
            <c:numRef>
              <c:numCache>
                <c:formatCode>General</c:formatCode>
                <c:ptCount val="1"/>
                <c:pt idx="0">
                  <c:v>9.645385998836375</c:v>
                </c:pt>
              </c:numCache>
            </c:numRef>
          </c:xVal>
          <c:yVal>
            <c:numRef>
              <c:numCache>
                <c:formatCode>General</c:formatCode>
                <c:ptCount val="1"/>
                <c:pt idx="0">
                  <c:v>95.01699273677247</c:v>
                </c:pt>
              </c:numCache>
            </c:numRef>
          </c:yVal>
          <c:bubbleSize>
            <c:numRef>
              <c:numCache>
                <c:formatCode>General</c:formatCode>
                <c:ptCount val="1"/>
                <c:pt idx="0">
                  <c:v>93803.502</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83595.016</c:v>
                </c:pt>
                <c:pt idx="2">
                  <c:v>93952.302</c:v>
                </c:pt>
                <c:pt idx="3">
                  <c:v>105342.663</c:v>
                </c:pt>
                <c:pt idx="4">
                  <c:v>117857.021</c:v>
                </c:pt>
                <c:pt idx="5">
                  <c:v>131593.509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83595.016</c:v>
                </c:pt>
                <c:pt idx="1">
                  <c:v>10357.285999999993</c:v>
                </c:pt>
                <c:pt idx="2">
                  <c:v>11390.361000000004</c:v>
                </c:pt>
                <c:pt idx="3">
                  <c:v>12514.357999999993</c:v>
                </c:pt>
                <c:pt idx="4">
                  <c:v>13736.487999999998</c:v>
                </c:pt>
                <c:pt idx="5">
                  <c:v>15064.468000000023</c:v>
                </c:pt>
                <c:pt idx="6">
                  <c:v>146657.977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52357.88</c:v>
                </c:pt>
                <c:pt idx="2">
                  <c:v>57309.33</c:v>
                </c:pt>
                <c:pt idx="3">
                  <c:v>62686.585</c:v>
                </c:pt>
                <c:pt idx="4">
                  <c:v>68523.334</c:v>
                </c:pt>
                <c:pt idx="5">
                  <c:v>74855.705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52357.88</c:v>
                </c:pt>
                <c:pt idx="1">
                  <c:v>4951.450000000004</c:v>
                </c:pt>
                <c:pt idx="2">
                  <c:v>5377.254999999997</c:v>
                </c:pt>
                <c:pt idx="3">
                  <c:v>5836.749000000003</c:v>
                </c:pt>
                <c:pt idx="4">
                  <c:v>6332.370999999999</c:v>
                </c:pt>
                <c:pt idx="5">
                  <c:v>6866.726999999999</c:v>
                </c:pt>
                <c:pt idx="6">
                  <c:v>81722.432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153698.402</c:v>
                </c:pt>
                <c:pt idx="2">
                  <c:v>168455.183</c:v>
                </c:pt>
                <c:pt idx="3">
                  <c:v>184494.863</c:v>
                </c:pt>
                <c:pt idx="4">
                  <c:v>201919.852</c:v>
                </c:pt>
                <c:pt idx="5">
                  <c:v>220840.05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153698.402</c:v>
                </c:pt>
                <c:pt idx="1">
                  <c:v>14756.780999999988</c:v>
                </c:pt>
                <c:pt idx="2">
                  <c:v>16039.680000000022</c:v>
                </c:pt>
                <c:pt idx="3">
                  <c:v>17424.989</c:v>
                </c:pt>
                <c:pt idx="4">
                  <c:v>18920.197999999975</c:v>
                </c:pt>
                <c:pt idx="5">
                  <c:v>20533.30900000001</c:v>
                </c:pt>
                <c:pt idx="6">
                  <c:v>241373.359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90240.422</c:v>
                </c:pt>
                <c:pt idx="2">
                  <c:v>91564.063</c:v>
                </c:pt>
                <c:pt idx="3">
                  <c:v>92625.987</c:v>
                </c:pt>
                <c:pt idx="4">
                  <c:v>93384.522</c:v>
                </c:pt>
                <c:pt idx="5">
                  <c:v>93793.818</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90240.422</c:v>
                </c:pt>
                <c:pt idx="1">
                  <c:v>1323.6409999999887</c:v>
                </c:pt>
                <c:pt idx="2">
                  <c:v>1061.923999999999</c:v>
                </c:pt>
                <c:pt idx="3">
                  <c:v>758.5350000000035</c:v>
                </c:pt>
                <c:pt idx="4">
                  <c:v>409.2960000000021</c:v>
                </c:pt>
                <c:pt idx="5">
                  <c:v>9.68399999999383</c:v>
                </c:pt>
                <c:pt idx="6">
                  <c:v>93803.502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Heavy-Duty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39.14689542155488</c:v>
                </c:pt>
                <c:pt idx="1">
                  <c:v>40.458476431126215</c:v>
                </c:pt>
                <c:pt idx="2">
                  <c:v>42.830315896732195</c:v>
                </c:pt>
              </c:numCache>
            </c:numRef>
          </c:val>
        </c:ser>
        <c:ser>
          <c:idx val="1"/>
          <c:order val="1"/>
          <c:tx>
            <c:strRef>
              <c:strCache>
                <c:ptCount val="1"/>
                <c:pt idx="0">
                  <c:v>Compact / Light-Duty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19.8235026369561</c:v>
                </c:pt>
                <c:pt idx="1">
                  <c:v>22.004958676119603</c:v>
                </c:pt>
                <c:pt idx="2">
                  <c:v>26.02361548809405</c:v>
                </c:pt>
              </c:numCache>
            </c:numRef>
          </c:val>
        </c:ser>
        <c:ser>
          <c:idx val="2"/>
          <c:order val="2"/>
          <c:tx>
            <c:strRef>
              <c:strCache>
                <c:ptCount val="1"/>
                <c:pt idx="0">
                  <c:v>Ultra-Heavy-Duty Vehicles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27.64685984594576</c:v>
                </c:pt>
                <c:pt idx="1">
                  <c:v>23.754248184193116</c:v>
                </c:pt>
                <c:pt idx="2">
                  <c:v>16.644892541267367</c:v>
                </c:pt>
              </c:numCache>
            </c:numRef>
          </c:val>
        </c:ser>
        <c:ser>
          <c:idx val="3"/>
          <c:order val="3"/>
          <c:tx>
            <c:strRef>
              <c:strCache>
                <c:ptCount val="1"/>
                <c:pt idx="0">
                  <c:v>Medium-Duty Vehicles</c:v>
                </c:pt>
              </c:strCache>
            </c:strRef>
          </c:tx>
          <c:spPr>
            <a:solidFill>
              <a:srgbClr val="00ACAC"/>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13.382742095543277</c:v>
                </c:pt>
                <c:pt idx="1">
                  <c:v>13.78231670856106</c:v>
                </c:pt>
                <c:pt idx="2">
                  <c:v>14.501176073906382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Wheeled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51.688219789957856</c:v>
                </c:pt>
                <c:pt idx="1">
                  <c:v>58.84718409543128</c:v>
                </c:pt>
                <c:pt idx="2">
                  <c:v>57.16770526231204</c:v>
                </c:pt>
              </c:numCache>
            </c:numRef>
          </c:val>
        </c:ser>
        <c:ser>
          <c:idx val="1"/>
          <c:order val="1"/>
          <c:tx>
            <c:strRef>
              <c:strCache>
                <c:ptCount val="1"/>
                <c:pt idx="0">
                  <c:v>Tracked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22.00307894054586</c:v>
                </c:pt>
                <c:pt idx="1">
                  <c:v>13.234680196297704</c:v>
                </c:pt>
                <c:pt idx="2">
                  <c:v>16.924468534980434</c:v>
                </c:pt>
              </c:numCache>
            </c:numRef>
          </c:val>
        </c:ser>
        <c:ser>
          <c:idx val="2"/>
          <c:order val="2"/>
          <c:tx>
            <c:strRef>
              <c:strCache>
                <c:ptCount val="1"/>
                <c:pt idx="0">
                  <c:v>Semi-Tracked Vehicles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20.322039967642645</c:v>
                </c:pt>
                <c:pt idx="1">
                  <c:v>24.13633385229171</c:v>
                </c:pt>
                <c:pt idx="2">
                  <c:v>20.680611658837282</c:v>
                </c:pt>
              </c:numCache>
            </c:numRef>
          </c:val>
        </c:ser>
        <c:ser>
          <c:idx val="3"/>
          <c:order val="3"/>
          <c:tx>
            <c:strRef>
              <c:strCache>
                <c:ptCount val="1"/>
                <c:pt idx="0">
                  <c:v>Other Specialized Propulsion Configurations</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3"/>
                <c:pt idx="0">
                  <c:v>Mexico</c:v>
                </c:pt>
                <c:pt idx="1">
                  <c:v>Canada</c:v>
                </c:pt>
                <c:pt idx="2">
                  <c:v>U.S.</c:v>
                </c:pt>
              </c:strCache>
            </c:strRef>
          </c:cat>
          <c:val>
            <c:numRef>
              <c:numCache>
                <c:formatCode>General</c:formatCode>
                <c:ptCount val="3"/>
                <c:pt idx="0">
                  <c:v>5.986661301853633</c:v>
                </c:pt>
                <c:pt idx="1">
                  <c:v>3.7818018559793103</c:v>
                </c:pt>
                <c:pt idx="2">
                  <c:v>5.2272145438702395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Wheeled Vehicles</c:v>
                </c:pt>
              </c:strCache>
            </c:strRef>
          </c:tx>
          <c:spPr>
            <a:solidFill>
              <a:srgbClr val="2A5F8F"/>
            </a:solidFill>
          </c:spPr>
          <c:invertIfNegative val="0"/>
          <c:xVal>
            <c:numRef>
              <c:numCache>
                <c:formatCode>General</c:formatCode>
                <c:ptCount val="1"/>
                <c:pt idx="0">
                  <c:v>121.9851504669157</c:v>
                </c:pt>
              </c:numCache>
            </c:numRef>
          </c:xVal>
          <c:yVal>
            <c:numRef>
              <c:numCache>
                <c:formatCode>General</c:formatCode>
                <c:ptCount val="1"/>
                <c:pt idx="0">
                  <c:v>208.20947295192428</c:v>
                </c:pt>
              </c:numCache>
            </c:numRef>
          </c:yVal>
          <c:bubbleSize>
            <c:numRef>
              <c:numCache>
                <c:formatCode>General</c:formatCode>
                <c:ptCount val="1"/>
                <c:pt idx="0">
                  <c:v>319260.641</c:v>
                </c:pt>
              </c:numCache>
            </c:numRef>
          </c:bubbleSize>
          <c:bubble3D val="0"/>
        </c:ser>
        <c:ser>
          <c:idx val="1"/>
          <c:order val="1"/>
          <c:tx>
            <c:strRef>
              <c:strCache>
                <c:ptCount val="1"/>
                <c:pt idx="0">
                  <c:v>Tracked Vehicles</c:v>
                </c:pt>
              </c:strCache>
            </c:strRef>
          </c:tx>
          <c:spPr>
            <a:solidFill>
              <a:srgbClr val="0081E2"/>
            </a:solidFill>
          </c:spPr>
          <c:invertIfNegative val="0"/>
          <c:xVal>
            <c:numRef>
              <c:numCache>
                <c:formatCode>General</c:formatCode>
                <c:ptCount val="1"/>
                <c:pt idx="0">
                  <c:v>122.57483206665714</c:v>
                </c:pt>
              </c:numCache>
            </c:numRef>
          </c:xVal>
          <c:yVal>
            <c:numRef>
              <c:numCache>
                <c:formatCode>General</c:formatCode>
                <c:ptCount val="1"/>
                <c:pt idx="0">
                  <c:v>61.72002064167127</c:v>
                </c:pt>
              </c:numCache>
            </c:numRef>
          </c:yVal>
          <c:bubbleSize>
            <c:numRef>
              <c:numCache>
                <c:formatCode>General</c:formatCode>
                <c:ptCount val="1"/>
                <c:pt idx="0">
                  <c:v>94853.386</c:v>
                </c:pt>
              </c:numCache>
            </c:numRef>
          </c:bubbleSize>
          <c:bubble3D val="0"/>
        </c:ser>
        <c:ser>
          <c:idx val="2"/>
          <c:order val="2"/>
          <c:tx>
            <c:strRef>
              <c:strCache>
                <c:ptCount val="1"/>
                <c:pt idx="0">
                  <c:v>Semi-Tracked Vehicles</c:v>
                </c:pt>
              </c:strCache>
            </c:strRef>
          </c:tx>
          <c:spPr>
            <a:solidFill>
              <a:srgbClr val="0E2A5C"/>
            </a:solidFill>
          </c:spPr>
          <c:invertIfNegative val="0"/>
          <c:xVal>
            <c:numRef>
              <c:numCache>
                <c:formatCode>General</c:formatCode>
                <c:ptCount val="1"/>
                <c:pt idx="0">
                  <c:v>46.556395658768594</c:v>
                </c:pt>
              </c:numCache>
            </c:numRef>
          </c:xVal>
          <c:yVal>
            <c:numRef>
              <c:numCache>
                <c:formatCode>General</c:formatCode>
                <c:ptCount val="1"/>
                <c:pt idx="0">
                  <c:v>106.19119047922392</c:v>
                </c:pt>
              </c:numCache>
            </c:numRef>
          </c:yVal>
          <c:bubbleSize>
            <c:numRef>
              <c:numCache>
                <c:formatCode>General</c:formatCode>
                <c:ptCount val="1"/>
                <c:pt idx="0">
                  <c:v>121414.446</c:v>
                </c:pt>
              </c:numCache>
            </c:numRef>
          </c:bubbleSize>
          <c:bubble3D val="0"/>
        </c:ser>
        <c:ser>
          <c:idx val="3"/>
          <c:order val="3"/>
          <c:tx>
            <c:strRef>
              <c:strCache>
                <c:ptCount val="1"/>
                <c:pt idx="0">
                  <c:v>Other Specialized Propulsion Configurations</c:v>
                </c:pt>
              </c:strCache>
            </c:strRef>
          </c:tx>
          <c:spPr>
            <a:solidFill>
              <a:srgbClr val="00ACAC"/>
            </a:solidFill>
          </c:spPr>
          <c:invertIfNegative val="0"/>
          <c:xVal>
            <c:numRef>
              <c:numCache>
                <c:formatCode>General</c:formatCode>
                <c:ptCount val="1"/>
                <c:pt idx="0">
                  <c:v>53.21320023647169</c:v>
                </c:pt>
              </c:numCache>
            </c:numRef>
          </c:xVal>
          <c:yVal>
            <c:numRef>
              <c:numCache>
                <c:formatCode>General</c:formatCode>
                <c:ptCount val="1"/>
                <c:pt idx="0">
                  <c:v>23.879315927180514</c:v>
                </c:pt>
              </c:numCache>
            </c:numRef>
          </c:yVal>
          <c:bubbleSize>
            <c:numRef>
              <c:numCache>
                <c:formatCode>General</c:formatCode>
                <c:ptCount val="1"/>
                <c:pt idx="0">
                  <c:v>28028.797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50.0"/>
          <c:min val="2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9D6E4"/>
            </a:solidFill>
          </a:ln>
        </c:spPr>
        <c:txPr>
          <a:bodyPr/>
          <a:lstStyle/>
          <a:p>
            <a:pPr>
              <a:defRPr sz="1100"/>
            </a:pPr>
          </a:p>
        </c:txPr>
        <c:crossAx val="-2115723560"/>
        <c:crosses val="autoZero"/>
        <c:crossBetween val="midCat"/>
      </c:valAx>
      <c:valAx>
        <c:axId val="-2115723560"/>
        <c:scaling>
          <c:orientation val="minMax"/>
          <c:max val="27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9D6E4"/>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197742.637</c:v>
                </c:pt>
                <c:pt idx="2">
                  <c:v>218430.94</c:v>
                </c:pt>
                <c:pt idx="3">
                  <c:v>240787.093</c:v>
                </c:pt>
                <c:pt idx="4">
                  <c:v>264946.348</c:v>
                </c:pt>
                <c:pt idx="5">
                  <c:v>291052.912</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197742.637</c:v>
                </c:pt>
                <c:pt idx="1">
                  <c:v>20688.303000000014</c:v>
                </c:pt>
                <c:pt idx="2">
                  <c:v>22356.15299999999</c:v>
                </c:pt>
                <c:pt idx="3">
                  <c:v>24159.255000000005</c:v>
                </c:pt>
                <c:pt idx="4">
                  <c:v>26106.564000000013</c:v>
                </c:pt>
                <c:pt idx="5">
                  <c:v>28207.728999999992</c:v>
                </c:pt>
                <c:pt idx="6">
                  <c:v>319260.641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58617.312</c:v>
                </c:pt>
                <c:pt idx="2">
                  <c:v>64774.984</c:v>
                </c:pt>
                <c:pt idx="3">
                  <c:v>71434.751</c:v>
                </c:pt>
                <c:pt idx="4">
                  <c:v>78637.866</c:v>
                </c:pt>
                <c:pt idx="5">
                  <c:v>86428.386</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58617.312</c:v>
                </c:pt>
                <c:pt idx="1">
                  <c:v>6157.671999999999</c:v>
                </c:pt>
                <c:pt idx="2">
                  <c:v>6659.767000000007</c:v>
                </c:pt>
                <c:pt idx="3">
                  <c:v>7203.114999999991</c:v>
                </c:pt>
                <c:pt idx="4">
                  <c:v>7790.520000000004</c:v>
                </c:pt>
                <c:pt idx="5">
                  <c:v>8425.0</c:v>
                </c:pt>
                <c:pt idx="6">
                  <c:v>94853.386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100852.885</c:v>
                </c:pt>
                <c:pt idx="2">
                  <c:v>104463.527</c:v>
                </c:pt>
                <c:pt idx="3">
                  <c:v>108318.269</c:v>
                </c:pt>
                <c:pt idx="4">
                  <c:v>112423.39</c:v>
                </c:pt>
                <c:pt idx="5">
                  <c:v>116786.095</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100852.885</c:v>
                </c:pt>
                <c:pt idx="1">
                  <c:v>3610.642000000007</c:v>
                </c:pt>
                <c:pt idx="2">
                  <c:v>3854.7419999999984</c:v>
                </c:pt>
                <c:pt idx="3">
                  <c:v>4105.120999999999</c:v>
                </c:pt>
                <c:pt idx="4">
                  <c:v>4362.705000000002</c:v>
                </c:pt>
                <c:pt idx="5">
                  <c:v>4628.350999999995</c:v>
                </c:pt>
                <c:pt idx="6">
                  <c:v>121414.446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22678.886</c:v>
                </c:pt>
                <c:pt idx="2">
                  <c:v>23611.427</c:v>
                </c:pt>
                <c:pt idx="3">
                  <c:v>24609.985</c:v>
                </c:pt>
                <c:pt idx="4">
                  <c:v>25677.125</c:v>
                </c:pt>
                <c:pt idx="5">
                  <c:v>26815.689</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22678.886</c:v>
                </c:pt>
                <c:pt idx="1">
                  <c:v>932.5410000000011</c:v>
                </c:pt>
                <c:pt idx="2">
                  <c:v>998.5580000000009</c:v>
                </c:pt>
                <c:pt idx="3">
                  <c:v>1067.1399999999994</c:v>
                </c:pt>
                <c:pt idx="4">
                  <c:v>1138.5639999999985</c:v>
                </c:pt>
                <c:pt idx="5">
                  <c:v>1213.1080000000002</c:v>
                </c:pt>
                <c:pt idx="6">
                  <c:v>28028.797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Wheeled Vehicles</c:v>
                </c:pt>
              </c:strCache>
            </c:strRef>
          </c:tx>
          <c:spPr>
            <a:solidFill>
              <a:srgbClr val="2A5F8F"/>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49.01156977560765</c:v>
                </c:pt>
                <c:pt idx="1">
                  <c:v>52.05236823798107</c:v>
                </c:pt>
                <c:pt idx="2">
                  <c:v>56.65096663556483</c:v>
                </c:pt>
              </c:numCache>
            </c:numRef>
          </c:val>
        </c:ser>
        <c:ser>
          <c:idx val="1"/>
          <c:order val="1"/>
          <c:tx>
            <c:strRef>
              <c:strCache>
                <c:ptCount val="1"/>
                <c:pt idx="0">
                  <c:v>Semi-Tracked Vehicles</c:v>
                </c:pt>
              </c:strCache>
            </c:strRef>
          </c:tx>
          <c:spPr>
            <a:solidFill>
              <a:srgbClr val="0081E2"/>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29.843776709795105</c:v>
                </c:pt>
                <c:pt idx="1">
                  <c:v>26.54779761980598</c:v>
                </c:pt>
                <c:pt idx="2">
                  <c:v>21.54429593286943</c:v>
                </c:pt>
              </c:numCache>
            </c:numRef>
          </c:val>
        </c:ser>
        <c:ser>
          <c:idx val="2"/>
          <c:order val="2"/>
          <c:tx>
            <c:strRef>
              <c:strCache>
                <c:ptCount val="1"/>
                <c:pt idx="0">
                  <c:v>Tracked Vehicles</c:v>
                </c:pt>
              </c:strCache>
            </c:strRef>
          </c:tx>
          <c:spPr>
            <a:solidFill>
              <a:srgbClr val="0E2A5C"/>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14.517113117568437</c:v>
                </c:pt>
                <c:pt idx="1">
                  <c:v>15.430005160417817</c:v>
                </c:pt>
                <c:pt idx="2">
                  <c:v>16.831188425623537</c:v>
                </c:pt>
              </c:numCache>
            </c:numRef>
          </c:val>
        </c:ser>
        <c:ser>
          <c:idx val="3"/>
          <c:order val="3"/>
          <c:tx>
            <c:strRef>
              <c:strCache>
                <c:ptCount val="1"/>
                <c:pt idx="0">
                  <c:v>Other Specialized Propulsion Configurations</c:v>
                </c:pt>
              </c:strCache>
            </c:strRef>
          </c:tx>
          <c:spPr>
            <a:solidFill>
              <a:srgbClr val="00ACAC"/>
            </a:solidFill>
            <a:ln>
              <a:noFill/>
            </a:ln>
          </c:spPr>
          <c:dLbls>
            <c:dLbl>
              <c:idx val="0"/>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6.627540397028808</c:v>
                </c:pt>
                <c:pt idx="1">
                  <c:v>5.969828981795128</c:v>
                </c:pt>
                <c:pt idx="2">
                  <c:v>4.9735490059422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(Units)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0,,&quot;M&quot;"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35231116.248</c:v>
                </c:pt>
                <c:pt idx="1">
                  <c:v>35804974.136</c:v>
                </c:pt>
                <c:pt idx="2">
                  <c:v>36388179.23900001</c:v>
                </c:pt>
                <c:pt idx="3">
                  <c:v>36980883.811</c:v>
                </c:pt>
                <c:pt idx="4">
                  <c:v>37583242.582</c:v>
                </c:pt>
                <c:pt idx="5">
                  <c:v>38432304.095</c:v>
                </c:pt>
                <c:pt idx="6">
                  <c:v>39300454.97099999</c:v>
                </c:pt>
                <c:pt idx="7">
                  <c:v>40184809.041</c:v>
                </c:pt>
                <c:pt idx="8">
                  <c:v>41085566.898</c:v>
                </c:pt>
                <c:pt idx="9">
                  <c:v>42002928.639</c:v>
                </c:pt>
                <c:pt idx="10">
                  <c:v>42937093.866</c:v>
                </c:pt>
                <c:pt idx="11">
                  <c:v>43888261.986</c:v>
                </c:pt>
                <c:pt idx="12">
                  <c:v>44856632.157</c:v>
                </c:pt>
                <c:pt idx="13">
                  <c:v>45842402.765</c:v>
                </c:pt>
                <c:pt idx="14">
                  <c:v>46845771.839999996</c:v>
                </c:pt>
                <c:pt idx="15">
                  <c:v>47866936.62200001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0.043505194117335666</c:v>
                </c:pt>
                <c:pt idx="1">
                  <c:v>0.02549017733812864</c:v>
                </c:pt>
                <c:pt idx="2">
                  <c:v>0.022195397629682034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5873201205840315"/>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38432304.095</c:v>
                </c:pt>
                <c:pt idx="2">
                  <c:v>39300454.97099999</c:v>
                </c:pt>
                <c:pt idx="3">
                  <c:v>40184809.041</c:v>
                </c:pt>
                <c:pt idx="4">
                  <c:v>41085566.898</c:v>
                </c:pt>
                <c:pt idx="5">
                  <c:v>42002928.639</c:v>
                </c:pt>
                <c:pt idx="6">
                  <c:v>42937093.866</c:v>
                </c:pt>
                <c:pt idx="7">
                  <c:v>43888261.986</c:v>
                </c:pt>
                <c:pt idx="8">
                  <c:v>44856632.157</c:v>
                </c:pt>
                <c:pt idx="9">
                  <c:v>45842402.765</c:v>
                </c:pt>
                <c:pt idx="10">
                  <c:v>46845771.839999996</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38432304.095</c:v>
                </c:pt>
                <c:pt idx="1">
                  <c:v>868150.8759999946</c:v>
                </c:pt>
                <c:pt idx="2">
                  <c:v>884354.0700000077</c:v>
                </c:pt>
                <c:pt idx="3">
                  <c:v>900757.8570000008</c:v>
                </c:pt>
                <c:pt idx="4">
                  <c:v>917361.7409999967</c:v>
                </c:pt>
                <c:pt idx="5">
                  <c:v>934165.2269999981</c:v>
                </c:pt>
                <c:pt idx="6">
                  <c:v>951168.1200000048</c:v>
                </c:pt>
                <c:pt idx="7">
                  <c:v>968370.1709999964</c:v>
                </c:pt>
                <c:pt idx="8">
                  <c:v>985770.6080000028</c:v>
                </c:pt>
                <c:pt idx="9">
                  <c:v>1003369.0749999955</c:v>
                </c:pt>
                <c:pt idx="10">
                  <c:v>1021164.7820000127</c:v>
                </c:pt>
                <c:pt idx="11">
                  <c:v>47866936.62200001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58.68262477996661</c:v>
                </c:pt>
                <c:pt idx="1">
                  <c:v>16.42577364994218</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41.31737522003339</c:v>
                </c:pt>
                <c:pt idx="1">
                  <c:v>83.57422635005781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187657.68099999998</c:v>
                </c:pt>
                <c:pt idx="1">
                  <c:v>193335.891</c:v>
                </c:pt>
                <c:pt idx="2">
                  <c:v>199185.91499999998</c:v>
                </c:pt>
                <c:pt idx="3">
                  <c:v>205212.951</c:v>
                </c:pt>
                <c:pt idx="4">
                  <c:v>211422.353</c:v>
                </c:pt>
                <c:pt idx="5">
                  <c:v>219170.58000000002</c:v>
                </c:pt>
                <c:pt idx="6">
                  <c:v>227202.231</c:v>
                </c:pt>
                <c:pt idx="7">
                  <c:v>235508.237</c:v>
                </c:pt>
                <c:pt idx="8">
                  <c:v>244097.119</c:v>
                </c:pt>
                <c:pt idx="9">
                  <c:v>252977.631</c:v>
                </c:pt>
                <c:pt idx="10">
                  <c:v>262158.76</c:v>
                </c:pt>
                <c:pt idx="11">
                  <c:v>271649.73699999996</c:v>
                </c:pt>
                <c:pt idx="12">
                  <c:v>281460.043</c:v>
                </c:pt>
                <c:pt idx="13">
                  <c:v>291599.407</c:v>
                </c:pt>
                <c:pt idx="14">
                  <c:v>302077.822</c:v>
                </c:pt>
                <c:pt idx="15">
                  <c:v>312905.542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2A5F8F"/>
            </a:solidFill>
            <a:ln>
              <a:noFill/>
            </a:ln>
          </c:spPr>
          <c:dPt>
            <c:idx val="0"/>
            <c:spPr>
              <a:solidFill>
                <a:srgbClr val="0E2A5C"/>
              </a:solidFill>
            </c:spPr>
          </c:dPt>
          <c:dPt>
            <c:idx val="1"/>
            <c:spPr>
              <a:solidFill>
                <a:srgbClr val="0081E2"/>
              </a:solidFill>
            </c:spPr>
          </c:dPt>
          <c:dPt>
            <c:idx val="2"/>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0.04790503442773564</c:v>
                </c:pt>
                <c:pt idx="1">
                  <c:v>0.04022628334146949</c:v>
                </c:pt>
                <c:pt idx="2">
                  <c:v>0.03624655518281328</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467179647744312"/>
          <c:min val="0.0"/>
        </c:scaling>
        <c:delete/>
        <c:axPos val="b"/>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219170.58000000002</c:v>
                </c:pt>
                <c:pt idx="2">
                  <c:v>227202.231</c:v>
                </c:pt>
                <c:pt idx="3">
                  <c:v>235508.237</c:v>
                </c:pt>
                <c:pt idx="4">
                  <c:v>244097.119</c:v>
                </c:pt>
                <c:pt idx="5">
                  <c:v>252977.631</c:v>
                </c:pt>
                <c:pt idx="6">
                  <c:v>262158.76</c:v>
                </c:pt>
                <c:pt idx="7">
                  <c:v>271649.73699999996</c:v>
                </c:pt>
                <c:pt idx="8">
                  <c:v>281460.043</c:v>
                </c:pt>
                <c:pt idx="9">
                  <c:v>291599.407</c:v>
                </c:pt>
                <c:pt idx="10">
                  <c:v>302077.822</c:v>
                </c:pt>
                <c:pt idx="11">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00ACAC"/>
              </a:solidFill>
            </c:spPr>
          </c:dPt>
          <c:dPt>
            <c:idx val="7"/>
            <c:spPr>
              <a:solidFill>
                <a:srgbClr val="00ACAC"/>
              </a:solidFill>
            </c:spPr>
          </c:dPt>
          <c:dPt>
            <c:idx val="8"/>
            <c:spPr>
              <a:solidFill>
                <a:srgbClr val="00ACAC"/>
              </a:solidFill>
            </c:spPr>
          </c:dPt>
          <c:dPt>
            <c:idx val="9"/>
            <c:spPr>
              <a:solidFill>
                <a:srgbClr val="00ACAC"/>
              </a:solidFill>
            </c:spPr>
          </c:dPt>
          <c:dPt>
            <c:idx val="10"/>
            <c:spPr>
              <a:solidFill>
                <a:srgbClr val="00ACAC"/>
              </a:solidFill>
            </c:spPr>
          </c:dPt>
          <c:dPt>
            <c:idx val="11"/>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219170.58000000002</c:v>
                </c:pt>
                <c:pt idx="1">
                  <c:v>8031.6509999999835</c:v>
                </c:pt>
                <c:pt idx="2">
                  <c:v>8306.005999999994</c:v>
                </c:pt>
                <c:pt idx="3">
                  <c:v>8588.882000000012</c:v>
                </c:pt>
                <c:pt idx="4">
                  <c:v>8880.511999999988</c:v>
                </c:pt>
                <c:pt idx="5">
                  <c:v>9181.129000000015</c:v>
                </c:pt>
                <c:pt idx="6">
                  <c:v>9490.976999999955</c:v>
                </c:pt>
                <c:pt idx="7">
                  <c:v>9810.30600000004</c:v>
                </c:pt>
                <c:pt idx="8">
                  <c:v>10139.364000000001</c:v>
                </c:pt>
                <c:pt idx="9">
                  <c:v>10478.414999999979</c:v>
                </c:pt>
                <c:pt idx="10">
                  <c:v>10827.72000000003</c:v>
                </c:pt>
                <c:pt idx="11">
                  <c:v>312905.542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2A5F8F"/>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57.69290786332485</c:v>
                </c:pt>
                <c:pt idx="1">
                  <c:v>22.846927992126478</c:v>
                </c:pt>
              </c:numCache>
            </c:numRef>
          </c:val>
        </c:ser>
        <c:ser>
          <c:idx val="1"/>
          <c:order val="1"/>
          <c:tx>
            <c:strRef>
              <c:strCache>
                <c:ptCount val="1"/>
                <c:pt idx="0">
                  <c:v>Rest of the market</c:v>
                </c:pt>
              </c:strCache>
            </c:strRef>
          </c:tx>
          <c:spPr>
            <a:solidFill>
              <a:srgbClr val="0081E2"/>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42.30709213667515</c:v>
                </c:pt>
                <c:pt idx="1">
                  <c:v>77.15307200787352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9EC6DE"/>
              </a:solidFill>
            </c:spPr>
          </c:dPt>
          <c:dPt>
            <c:idx val="1"/>
            <c:spPr>
              <a:solidFill>
                <a:srgbClr val="7AB1D2"/>
              </a:solidFill>
            </c:spPr>
          </c:dPt>
          <c:dPt>
            <c:idx val="2"/>
            <c:spPr>
              <a:solidFill>
                <a:srgbClr val="569CC6"/>
              </a:solidFill>
            </c:spPr>
          </c:dPt>
          <c:dPt>
            <c:idx val="3"/>
            <c:spPr>
              <a:solidFill>
                <a:srgbClr val="3287BA"/>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Recreational and Powe…</c:v>
                </c:pt>
                <c:pt idx="1">
                  <c:v>Industrial and Port V…</c:v>
                </c:pt>
                <c:pt idx="2">
                  <c:v>Military Vehicles</c:v>
                </c:pt>
                <c:pt idx="3">
                  <c:v>Agriculture and Fores…</c:v>
                </c:pt>
                <c:pt idx="4">
                  <c:v>Construction and Mini…</c:v>
                </c:pt>
              </c:strCache>
            </c:strRef>
          </c:cat>
          <c:val>
            <c:numRef>
              <c:numCache>
                <c:formatCode>General</c:formatCode>
                <c:ptCount val="5"/>
                <c:pt idx="0">
                  <c:v>31048.832000000002</c:v>
                </c:pt>
                <c:pt idx="1">
                  <c:v>34764.55</c:v>
                </c:pt>
                <c:pt idx="2">
                  <c:v>47179.642</c:v>
                </c:pt>
                <c:pt idx="3">
                  <c:v>49936.535</c:v>
                </c:pt>
                <c:pt idx="4">
                  <c:v>56241.021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75362.96814000001"/>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9DABB6"/>
              </a:solidFill>
            </c:spPr>
          </c:dPt>
          <c:dPt>
            <c:idx val="2"/>
            <c:spPr>
              <a:solidFill>
                <a:srgbClr val="6C8192"/>
              </a:solidFill>
            </c:spPr>
          </c:dPt>
          <c:dPt>
            <c:idx val="3"/>
            <c:spPr>
              <a:solidFill>
                <a:srgbClr val="3B576E"/>
              </a:solidFill>
            </c:spPr>
          </c:dPt>
          <c:dPt>
            <c:idx val="4"/>
            <c:spPr>
              <a:solidFill>
                <a:srgbClr val="0B2E4A"/>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Internal Combustion E…</c:v>
                </c:pt>
                <c:pt idx="2">
                  <c:v>Hybrid Powertrain</c:v>
                </c:pt>
                <c:pt idx="3">
                  <c:v>Battery Electric Vehi…</c:v>
                </c:pt>
                <c:pt idx="4">
                  <c:v>Alternative Fuel ICE</c:v>
                </c:pt>
              </c:strCache>
            </c:strRef>
          </c:cat>
          <c:val>
            <c:numRef>
              <c:numCache>
                <c:formatCode>General</c:formatCode>
                <c:ptCount val="5"/>
                <c:pt idx="1">
                  <c:v>36988.939</c:v>
                </c:pt>
                <c:pt idx="2">
                  <c:v>39111.05</c:v>
                </c:pt>
                <c:pt idx="3">
                  <c:v>70167.897</c:v>
                </c:pt>
                <c:pt idx="4">
                  <c:v>72902.694</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97689.6099600000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C5B1E6"/>
              </a:solidFill>
            </c:spPr>
          </c:dPt>
          <c:dPt>
            <c:idx val="2"/>
            <c:spPr>
              <a:solidFill>
                <a:srgbClr val="A88ADA"/>
              </a:solidFill>
            </c:spPr>
          </c:dPt>
          <c:dPt>
            <c:idx val="3"/>
            <c:spPr>
              <a:solidFill>
                <a:srgbClr val="8B63CE"/>
              </a:solidFill>
            </c:spPr>
          </c:dPt>
          <c:dPt>
            <c:idx val="4"/>
            <c:spPr>
              <a:solidFill>
                <a:srgbClr val="6F3CC2"/>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Medium-Duty Vehicles</c:v>
                </c:pt>
                <c:pt idx="2">
                  <c:v>Compact / Light-Duty…</c:v>
                </c:pt>
                <c:pt idx="3">
                  <c:v>Ultra-Heavy-Duty Vehi…</c:v>
                </c:pt>
                <c:pt idx="4">
                  <c:v>Heavy-Duty Vehicles</c:v>
                </c:pt>
              </c:strCache>
            </c:strRef>
          </c:cat>
          <c:val>
            <c:numRef>
              <c:numCache>
                <c:formatCode>General</c:formatCode>
                <c:ptCount val="5"/>
                <c:pt idx="1">
                  <c:v>31894.484</c:v>
                </c:pt>
                <c:pt idx="2">
                  <c:v>43851.361</c:v>
                </c:pt>
                <c:pt idx="3">
                  <c:v>53291.139</c:v>
                </c:pt>
                <c:pt idx="4">
                  <c:v>90133.596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20779.01864000001"/>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2A5F8F"/>
            </a:solidFill>
            <a:ln>
              <a:noFill/>
            </a:ln>
          </c:spPr>
          <c:dPt>
            <c:idx val="0"/>
            <c:spPr>
              <a:solidFill>
                <a:srgbClr val="FFFFFF"/>
              </a:solidFill>
            </c:spPr>
          </c:dPt>
          <c:dPt>
            <c:idx val="1"/>
            <c:spPr>
              <a:solidFill>
                <a:srgbClr val="DABAA0"/>
              </a:solidFill>
            </c:spPr>
          </c:dPt>
          <c:dPt>
            <c:idx val="2"/>
            <c:spPr>
              <a:solidFill>
                <a:srgbClr val="C79771"/>
              </a:solidFill>
            </c:spPr>
          </c:dPt>
          <c:dPt>
            <c:idx val="3"/>
            <c:spPr>
              <a:solidFill>
                <a:srgbClr val="B57542"/>
              </a:solidFill>
            </c:spPr>
          </c:dPt>
          <c:dPt>
            <c:idx val="4"/>
            <c:spPr>
              <a:solidFill>
                <a:srgbClr val="A35313"/>
              </a:solidFill>
            </c:spPr>
          </c:dPt>
          <c:dLbls>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 </c:v>
                </c:pt>
                <c:pt idx="1">
                  <c:v>Other Specialized Pro…</c:v>
                </c:pt>
                <c:pt idx="2">
                  <c:v>Tracked Vehicles</c:v>
                </c:pt>
                <c:pt idx="3">
                  <c:v>Semi-Tracked Vehicles</c:v>
                </c:pt>
                <c:pt idx="4">
                  <c:v>Wheeled Vehicles</c:v>
                </c:pt>
              </c:strCache>
            </c:strRef>
          </c:cat>
          <c:val>
            <c:numRef>
              <c:numCache>
                <c:formatCode>General</c:formatCode>
                <c:ptCount val="5"/>
                <c:pt idx="1">
                  <c:v>13767.889</c:v>
                </c:pt>
                <c:pt idx="2">
                  <c:v>34136.884</c:v>
                </c:pt>
                <c:pt idx="3">
                  <c:v>56033.981</c:v>
                </c:pt>
                <c:pt idx="4">
                  <c:v>115231.826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54410.64684"/>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Construction and Mining Vehicles</c:v>
                </c:pt>
                <c:pt idx="2">
                  <c:v>Agriculture and Forestry Vehicles</c:v>
                </c:pt>
                <c:pt idx="3">
                  <c:v>Industrial and Port Vehicles</c:v>
                </c:pt>
                <c:pt idx="4">
                  <c:v>Recreational and Powersports Vehicles</c:v>
                </c:pt>
                <c:pt idx="5">
                  <c:v>Military Vehicles</c:v>
                </c:pt>
                <c:pt idx="6">
                  <c:v>2036 Total</c:v>
                </c:pt>
              </c:strCache>
            </c:strRef>
          </c:cat>
          <c:val>
            <c:numRef>
              <c:numCache>
                <c:formatCode>General</c:formatCode>
                <c:ptCount val="7"/>
                <c:pt idx="0">
                  <c:v>0.0</c:v>
                </c:pt>
                <c:pt idx="1">
                  <c:v>219170.58000000002</c:v>
                </c:pt>
                <c:pt idx="2">
                  <c:v>249709.293</c:v>
                </c:pt>
                <c:pt idx="3">
                  <c:v>268647.718</c:v>
                </c:pt>
                <c:pt idx="4">
                  <c:v>278903.615</c:v>
                </c:pt>
                <c:pt idx="5">
                  <c:v>299051.624</c:v>
                </c:pt>
                <c:pt idx="6">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00ACAC"/>
              </a:solidFill>
            </c:spPr>
          </c:dPt>
          <c:dPt>
            <c:idx val="6"/>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Construction and Mining Vehicles</c:v>
                </c:pt>
                <c:pt idx="2">
                  <c:v>Agriculture and Forestry Vehicles</c:v>
                </c:pt>
                <c:pt idx="3">
                  <c:v>Industrial and Port Vehicles</c:v>
                </c:pt>
                <c:pt idx="4">
                  <c:v>Recreational and Powersports Vehicles</c:v>
                </c:pt>
                <c:pt idx="5">
                  <c:v>Military Vehicles</c:v>
                </c:pt>
                <c:pt idx="6">
                  <c:v>2036 Total</c:v>
                </c:pt>
              </c:strCache>
            </c:strRef>
          </c:cat>
          <c:val>
            <c:numRef>
              <c:numCache>
                <c:formatCode>General</c:formatCode>
                <c:ptCount val="7"/>
                <c:pt idx="0">
                  <c:v>219170.58000000002</c:v>
                </c:pt>
                <c:pt idx="1">
                  <c:v>30538.712999999996</c:v>
                </c:pt>
                <c:pt idx="2">
                  <c:v>18938.42499999999</c:v>
                </c:pt>
                <c:pt idx="3">
                  <c:v>10255.896999999997</c:v>
                </c:pt>
                <c:pt idx="4">
                  <c:v>20148.009</c:v>
                </c:pt>
                <c:pt idx="5">
                  <c:v>13853.917999999998</c:v>
                </c:pt>
                <c:pt idx="6">
                  <c:v>312905.542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Construction and Mining Vehicles</c:v>
                </c:pt>
                <c:pt idx="1">
                  <c:v>Agriculture and Forestry Vehicles</c:v>
                </c:pt>
                <c:pt idx="2">
                  <c:v>Industrial and Port Vehicles</c:v>
                </c:pt>
                <c:pt idx="3">
                  <c:v>Recreational and Powersports Vehicles</c:v>
                </c:pt>
                <c:pt idx="4">
                  <c:v>Military Vehicles</c:v>
                </c:pt>
                <c:pt idx="5">
                  <c:v>Total Absolute $ Opportunity</c:v>
                </c:pt>
              </c:strCache>
            </c:strRef>
          </c:cat>
          <c:val>
            <c:numRef>
              <c:numCache>
                <c:formatCode>General</c:formatCode>
                <c:ptCount val="6"/>
                <c:pt idx="0">
                  <c:v>0.0</c:v>
                </c:pt>
                <c:pt idx="1">
                  <c:v>30538.712999999996</c:v>
                </c:pt>
                <c:pt idx="2">
                  <c:v>49477.137999999984</c:v>
                </c:pt>
                <c:pt idx="3">
                  <c:v>59733.03499999998</c:v>
                </c:pt>
                <c:pt idx="4">
                  <c:v>79881.04399999998</c:v>
                </c:pt>
                <c:pt idx="5">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Construction and Mining Vehicles</c:v>
                </c:pt>
                <c:pt idx="1">
                  <c:v>Agriculture and Forestry Vehicles</c:v>
                </c:pt>
                <c:pt idx="2">
                  <c:v>Industrial and Port Vehicles</c:v>
                </c:pt>
                <c:pt idx="3">
                  <c:v>Recreational and Powersports Vehicles</c:v>
                </c:pt>
                <c:pt idx="4">
                  <c:v>Military Vehicles</c:v>
                </c:pt>
                <c:pt idx="5">
                  <c:v>Total Absolute $ Opportunity</c:v>
                </c:pt>
              </c:strCache>
            </c:strRef>
          </c:cat>
          <c:val>
            <c:numRef>
              <c:numCache>
                <c:formatCode>General</c:formatCode>
                <c:ptCount val="6"/>
                <c:pt idx="0">
                  <c:v>30538.712999999996</c:v>
                </c:pt>
                <c:pt idx="1">
                  <c:v>18938.42499999999</c:v>
                </c:pt>
                <c:pt idx="2">
                  <c:v>10255.896999999997</c:v>
                </c:pt>
                <c:pt idx="3">
                  <c:v>20148.009</c:v>
                </c:pt>
                <c:pt idx="4">
                  <c:v>13853.917999999998</c:v>
                </c:pt>
                <c:pt idx="5">
                  <c:v>93734.96199999997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Internal Combustion Engine (ICE)</c:v>
                </c:pt>
                <c:pt idx="2">
                  <c:v>Battery Electric Vehicle (BEV)</c:v>
                </c:pt>
                <c:pt idx="3">
                  <c:v>Hybrid Powertrain</c:v>
                </c:pt>
                <c:pt idx="4">
                  <c:v>Alternative Fuel ICE</c:v>
                </c:pt>
                <c:pt idx="5">
                  <c:v>2036 Total</c:v>
                </c:pt>
              </c:strCache>
            </c:strRef>
          </c:cat>
          <c:val>
            <c:numRef>
              <c:numCache>
                <c:formatCode>General</c:formatCode>
                <c:ptCount val="6"/>
                <c:pt idx="0">
                  <c:v>0.0</c:v>
                </c:pt>
                <c:pt idx="1">
                  <c:v>219170.58000000002</c:v>
                </c:pt>
                <c:pt idx="2">
                  <c:v>230809.159</c:v>
                </c:pt>
                <c:pt idx="3">
                  <c:v>281803.359</c:v>
                </c:pt>
                <c:pt idx="4">
                  <c:v>281803.359</c:v>
                </c:pt>
                <c:pt idx="5">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F47620"/>
              </a:solidFill>
            </c:spPr>
          </c:dPt>
          <c:dPt>
            <c:idx val="4"/>
            <c:spPr>
              <a:solidFill>
                <a:srgbClr val="00ACAC"/>
              </a:solidFill>
            </c:spPr>
          </c:dPt>
          <c:dPt>
            <c:idx val="5"/>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Internal Combustion Engine (ICE)</c:v>
                </c:pt>
                <c:pt idx="2">
                  <c:v>Battery Electric Vehicle (BEV)</c:v>
                </c:pt>
                <c:pt idx="3">
                  <c:v>Hybrid Powertrain</c:v>
                </c:pt>
                <c:pt idx="4">
                  <c:v>Alternative Fuel ICE</c:v>
                </c:pt>
                <c:pt idx="5">
                  <c:v>2036 Total</c:v>
                </c:pt>
              </c:strCache>
            </c:strRef>
          </c:cat>
          <c:val>
            <c:numRef>
              <c:numCache>
                <c:formatCode>General</c:formatCode>
                <c:ptCount val="6"/>
                <c:pt idx="0">
                  <c:v>219170.58000000002</c:v>
                </c:pt>
                <c:pt idx="1">
                  <c:v>11638.578999999998</c:v>
                </c:pt>
                <c:pt idx="2">
                  <c:v>51055.368</c:v>
                </c:pt>
                <c:pt idx="3">
                  <c:v>61.16800000000512</c:v>
                </c:pt>
                <c:pt idx="4">
                  <c:v>31102.18299999999</c:v>
                </c:pt>
                <c:pt idx="5">
                  <c:v>312905.54199999996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Internal Combustion Engine (ICE)</c:v>
                </c:pt>
                <c:pt idx="1">
                  <c:v>Battery Electric Vehicle (BEV)</c:v>
                </c:pt>
                <c:pt idx="2">
                  <c:v>Hybrid Powertrain</c:v>
                </c:pt>
                <c:pt idx="3">
                  <c:v>Alternative Fuel ICE</c:v>
                </c:pt>
                <c:pt idx="4">
                  <c:v>Total Absolute $ Opportunity</c:v>
                </c:pt>
              </c:strCache>
            </c:strRef>
          </c:cat>
          <c:val>
            <c:numRef>
              <c:numCache>
                <c:formatCode>General</c:formatCode>
                <c:ptCount val="5"/>
                <c:pt idx="0">
                  <c:v>0.0</c:v>
                </c:pt>
                <c:pt idx="1">
                  <c:v>11638.578999999998</c:v>
                </c:pt>
                <c:pt idx="2">
                  <c:v>62632.778999999995</c:v>
                </c:pt>
                <c:pt idx="3">
                  <c:v>62632.778999999995</c:v>
                </c:pt>
                <c:pt idx="4">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F47620"/>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Internal Combustion Engine (ICE)</c:v>
                </c:pt>
                <c:pt idx="1">
                  <c:v>Battery Electric Vehicle (BEV)</c:v>
                </c:pt>
                <c:pt idx="2">
                  <c:v>Hybrid Powertrain</c:v>
                </c:pt>
                <c:pt idx="3">
                  <c:v>Alternative Fuel ICE</c:v>
                </c:pt>
                <c:pt idx="4">
                  <c:v>Total Absolute $ Opportunity</c:v>
                </c:pt>
              </c:strCache>
            </c:strRef>
          </c:cat>
          <c:val>
            <c:numRef>
              <c:numCache>
                <c:formatCode>General</c:formatCode>
                <c:ptCount val="5"/>
                <c:pt idx="0">
                  <c:v>11638.578999999998</c:v>
                </c:pt>
                <c:pt idx="1">
                  <c:v>51055.368</c:v>
                </c:pt>
                <c:pt idx="2">
                  <c:v>61.16800000000512</c:v>
                </c:pt>
                <c:pt idx="3">
                  <c:v>31102.18299999999</c:v>
                </c:pt>
                <c:pt idx="4">
                  <c:v>93734.96199999998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Compact / Light-Duty Vehicles</c:v>
                </c:pt>
                <c:pt idx="2">
                  <c:v>Medium-Duty Vehicles</c:v>
                </c:pt>
                <c:pt idx="3">
                  <c:v>Heavy-Duty Vehicles</c:v>
                </c:pt>
                <c:pt idx="4">
                  <c:v>Ultra-Heavy-Duty Vehicles</c:v>
                </c:pt>
                <c:pt idx="5">
                  <c:v>2036 Total</c:v>
                </c:pt>
              </c:strCache>
            </c:strRef>
          </c:cat>
          <c:val>
            <c:numRef>
              <c:numCache>
                <c:formatCode>General</c:formatCode>
                <c:ptCount val="6"/>
                <c:pt idx="0">
                  <c:v>0.0</c:v>
                </c:pt>
                <c:pt idx="1">
                  <c:v>219170.58</c:v>
                </c:pt>
                <c:pt idx="2">
                  <c:v>249332.158</c:v>
                </c:pt>
                <c:pt idx="3">
                  <c:v>265688.431</c:v>
                </c:pt>
                <c:pt idx="4">
                  <c:v>312563.812</c:v>
                </c:pt>
                <c:pt idx="5">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Compact / Light-Duty Vehicles</c:v>
                </c:pt>
                <c:pt idx="2">
                  <c:v>Medium-Duty Vehicles</c:v>
                </c:pt>
                <c:pt idx="3">
                  <c:v>Heavy-Duty Vehicles</c:v>
                </c:pt>
                <c:pt idx="4">
                  <c:v>Ultra-Heavy-Duty Vehicles</c:v>
                </c:pt>
                <c:pt idx="5">
                  <c:v>2036 Total</c:v>
                </c:pt>
              </c:strCache>
            </c:strRef>
          </c:cat>
          <c:val>
            <c:numRef>
              <c:numCache>
                <c:formatCode>General</c:formatCode>
                <c:ptCount val="6"/>
                <c:pt idx="0">
                  <c:v>219170.58</c:v>
                </c:pt>
                <c:pt idx="1">
                  <c:v>30161.578</c:v>
                </c:pt>
                <c:pt idx="2">
                  <c:v>16356.272999999997</c:v>
                </c:pt>
                <c:pt idx="3">
                  <c:v>46875.38100000001</c:v>
                </c:pt>
                <c:pt idx="4">
                  <c:v>341.7299999999959</c:v>
                </c:pt>
                <c:pt idx="5">
                  <c:v>312905.542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Compact / Light-Duty Vehicles</c:v>
                </c:pt>
                <c:pt idx="1">
                  <c:v>Medium-Duty Vehicles</c:v>
                </c:pt>
                <c:pt idx="2">
                  <c:v>Heavy-Duty Vehicles</c:v>
                </c:pt>
                <c:pt idx="3">
                  <c:v>Ultra-Heavy-Duty Vehicles</c:v>
                </c:pt>
                <c:pt idx="4">
                  <c:v>Total Absolute $ Opportunity</c:v>
                </c:pt>
              </c:strCache>
            </c:strRef>
          </c:cat>
          <c:val>
            <c:numRef>
              <c:numCache>
                <c:formatCode>General</c:formatCode>
                <c:ptCount val="5"/>
                <c:pt idx="0">
                  <c:v>0.0</c:v>
                </c:pt>
                <c:pt idx="1">
                  <c:v>30161.578</c:v>
                </c:pt>
                <c:pt idx="2">
                  <c:v>46517.850999999995</c:v>
                </c:pt>
                <c:pt idx="3">
                  <c:v>93393.232</c:v>
                </c:pt>
                <c:pt idx="4">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Compact / Light-Duty Vehicles</c:v>
                </c:pt>
                <c:pt idx="1">
                  <c:v>Medium-Duty Vehicles</c:v>
                </c:pt>
                <c:pt idx="2">
                  <c:v>Heavy-Duty Vehicles</c:v>
                </c:pt>
                <c:pt idx="3">
                  <c:v>Ultra-Heavy-Duty Vehicles</c:v>
                </c:pt>
                <c:pt idx="4">
                  <c:v>Total Absolute $ Opportunity</c:v>
                </c:pt>
              </c:strCache>
            </c:strRef>
          </c:cat>
          <c:val>
            <c:numRef>
              <c:numCache>
                <c:formatCode>General</c:formatCode>
                <c:ptCount val="5"/>
                <c:pt idx="0">
                  <c:v>30161.578</c:v>
                </c:pt>
                <c:pt idx="1">
                  <c:v>16356.272999999997</c:v>
                </c:pt>
                <c:pt idx="2">
                  <c:v>46875.38100000001</c:v>
                </c:pt>
                <c:pt idx="3">
                  <c:v>341.7299999999959</c:v>
                </c:pt>
                <c:pt idx="4">
                  <c:v>93734.962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Wheeled Vehicles</c:v>
                </c:pt>
                <c:pt idx="2">
                  <c:v>Tracked Vehicles</c:v>
                </c:pt>
                <c:pt idx="3">
                  <c:v>Semi-Tracked Vehicles</c:v>
                </c:pt>
                <c:pt idx="4">
                  <c:v>Other Specialized Propulsion Configurations</c:v>
                </c:pt>
                <c:pt idx="5">
                  <c:v>2036 Total</c:v>
                </c:pt>
              </c:strCache>
            </c:strRef>
          </c:cat>
          <c:val>
            <c:numRef>
              <c:numCache>
                <c:formatCode>General</c:formatCode>
                <c:ptCount val="6"/>
                <c:pt idx="0">
                  <c:v>0.0</c:v>
                </c:pt>
                <c:pt idx="1">
                  <c:v>219170.58</c:v>
                </c:pt>
                <c:pt idx="2">
                  <c:v>282819.672</c:v>
                </c:pt>
                <c:pt idx="3">
                  <c:v>301640.38800000004</c:v>
                </c:pt>
                <c:pt idx="4">
                  <c:v>310317.18700000003</c:v>
                </c:pt>
                <c:pt idx="5">
                  <c:v>0.0</c:v>
                </c:pt>
              </c:numCache>
            </c:numRef>
          </c:val>
        </c:ser>
        <c:ser>
          <c:idx val="1"/>
          <c:order val="1"/>
          <c:tx>
            <c:strRef>
              <c:strCache>
                <c:ptCount val="1"/>
                <c:pt idx="0">
                  <c:v>value</c:v>
                </c:pt>
              </c:strCache>
            </c:strRef>
          </c:tx>
          <c:spPr/>
          <c:dPt>
            <c:idx val="0"/>
            <c:spPr>
              <a:solidFill>
                <a:srgbClr val="2A5F8F"/>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00ACAC"/>
              </a:solidFill>
            </c:spPr>
          </c:dPt>
          <c:dPt>
            <c:idx val="5"/>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Wheeled Vehicles</c:v>
                </c:pt>
                <c:pt idx="2">
                  <c:v>Tracked Vehicles</c:v>
                </c:pt>
                <c:pt idx="3">
                  <c:v>Semi-Tracked Vehicles</c:v>
                </c:pt>
                <c:pt idx="4">
                  <c:v>Other Specialized Propulsion Configurations</c:v>
                </c:pt>
                <c:pt idx="5">
                  <c:v>2036 Total</c:v>
                </c:pt>
              </c:strCache>
            </c:strRef>
          </c:cat>
          <c:val>
            <c:numRef>
              <c:numCache>
                <c:formatCode>General</c:formatCode>
                <c:ptCount val="6"/>
                <c:pt idx="0">
                  <c:v>219170.58</c:v>
                </c:pt>
                <c:pt idx="1">
                  <c:v>63649.092000000004</c:v>
                </c:pt>
                <c:pt idx="2">
                  <c:v>18820.716</c:v>
                </c:pt>
                <c:pt idx="3">
                  <c:v>8676.798999999999</c:v>
                </c:pt>
                <c:pt idx="4">
                  <c:v>2588.3550000000014</c:v>
                </c:pt>
                <c:pt idx="5">
                  <c:v>312905.542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Wheeled Vehicles</c:v>
                </c:pt>
                <c:pt idx="1">
                  <c:v>Tracked Vehicles</c:v>
                </c:pt>
                <c:pt idx="2">
                  <c:v>Semi-Tracked Vehicles</c:v>
                </c:pt>
                <c:pt idx="3">
                  <c:v>Other Specialized Propulsion Configurations</c:v>
                </c:pt>
                <c:pt idx="4">
                  <c:v>Total Absolute $ Opportunity</c:v>
                </c:pt>
              </c:strCache>
            </c:strRef>
          </c:cat>
          <c:val>
            <c:numRef>
              <c:numCache>
                <c:formatCode>General</c:formatCode>
                <c:ptCount val="5"/>
                <c:pt idx="0">
                  <c:v>0.0</c:v>
                </c:pt>
                <c:pt idx="1">
                  <c:v>63649.092000000004</c:v>
                </c:pt>
                <c:pt idx="2">
                  <c:v>82469.808</c:v>
                </c:pt>
                <c:pt idx="3">
                  <c:v>91146.607</c:v>
                </c:pt>
                <c:pt idx="4">
                  <c:v>0.0</c:v>
                </c:pt>
              </c:numCache>
            </c:numRef>
          </c:val>
        </c:ser>
        <c:ser>
          <c:idx val="1"/>
          <c:order val="1"/>
          <c:tx>
            <c:strRef>
              <c:strCache>
                <c:ptCount val="1"/>
                <c:pt idx="0">
                  <c:v>value</c:v>
                </c:pt>
              </c:strCache>
            </c:strRef>
          </c:tx>
          <c:spPr/>
          <c:dPt>
            <c:idx val="0"/>
            <c:spPr>
              <a:solidFill>
                <a:srgbClr val="00ACAC"/>
              </a:solidFill>
            </c:spPr>
          </c:dPt>
          <c:dPt>
            <c:idx val="1"/>
            <c:spPr>
              <a:solidFill>
                <a:srgbClr val="00ACAC"/>
              </a:solidFill>
            </c:spPr>
          </c:dPt>
          <c:dPt>
            <c:idx val="2"/>
            <c:spPr>
              <a:solidFill>
                <a:srgbClr val="00ACAC"/>
              </a:solidFill>
            </c:spPr>
          </c:dPt>
          <c:dPt>
            <c:idx val="3"/>
            <c:spPr>
              <a:solidFill>
                <a:srgbClr val="00ACAC"/>
              </a:solidFill>
            </c:spPr>
          </c:dPt>
          <c:dPt>
            <c:idx val="4"/>
            <c:spPr>
              <a:solidFill>
                <a:srgbClr val="2A5F8F"/>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Wheeled Vehicles</c:v>
                </c:pt>
                <c:pt idx="1">
                  <c:v>Tracked Vehicles</c:v>
                </c:pt>
                <c:pt idx="2">
                  <c:v>Semi-Tracked Vehicles</c:v>
                </c:pt>
                <c:pt idx="3">
                  <c:v>Other Specialized Propulsion Configurations</c:v>
                </c:pt>
                <c:pt idx="4">
                  <c:v>Total Absolute $ Opportunity</c:v>
                </c:pt>
              </c:strCache>
            </c:strRef>
          </c:cat>
          <c:val>
            <c:numRef>
              <c:numCache>
                <c:formatCode>General</c:formatCode>
                <c:ptCount val="5"/>
                <c:pt idx="0">
                  <c:v>63649.092000000004</c:v>
                </c:pt>
                <c:pt idx="1">
                  <c:v>18820.716</c:v>
                </c:pt>
                <c:pt idx="2">
                  <c:v>8676.798999999999</c:v>
                </c:pt>
                <c:pt idx="3">
                  <c:v>2588.3550000000014</c:v>
                </c:pt>
                <c:pt idx="4">
                  <c:v>93734.962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Industrial and Port Vehicles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4294.0</c:v>
                </c:pt>
                <c:pt idx="1">
                  <c:v>4306.0</c:v>
                </c:pt>
                <c:pt idx="2">
                  <c:v>4324.0</c:v>
                </c:pt>
                <c:pt idx="3">
                  <c:v>4354.0</c:v>
                </c:pt>
                <c:pt idx="4">
                  <c:v>4387.0</c:v>
                </c:pt>
                <c:pt idx="5">
                  <c:v>4428.0</c:v>
                </c:pt>
                <c:pt idx="6">
                  <c:v>4441.0</c:v>
                </c:pt>
                <c:pt idx="7">
                  <c:v>4457.0</c:v>
                </c:pt>
                <c:pt idx="8">
                  <c:v>4474.0</c:v>
                </c:pt>
                <c:pt idx="9">
                  <c:v>4495.0</c:v>
                </c:pt>
                <c:pt idx="10">
                  <c:v>4519.0</c:v>
                </c:pt>
                <c:pt idx="11">
                  <c:v>4543.0</c:v>
                </c:pt>
                <c:pt idx="12">
                  <c:v>4570.0</c:v>
                </c:pt>
                <c:pt idx="13">
                  <c:v>4600.0</c:v>
                </c:pt>
                <c:pt idx="14">
                  <c:v>4633.0</c:v>
                </c:pt>
                <c:pt idx="15">
                  <c:v>4669.0</c:v>
                </c:pt>
              </c:numCache>
            </c:numRef>
          </c:val>
          <c:smooth val="0"/>
        </c:ser>
        <c:ser>
          <c:idx val="1"/>
          <c:order val="1"/>
          <c:tx>
            <c:strRef>
              <c:strCache>
                <c:ptCount val="1"/>
                <c:pt idx="0">
                  <c:v>Military Vehicles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4291.0</c:v>
                </c:pt>
                <c:pt idx="1">
                  <c:v>4298.0</c:v>
                </c:pt>
                <c:pt idx="2">
                  <c:v>4309.0</c:v>
                </c:pt>
                <c:pt idx="3">
                  <c:v>4325.0</c:v>
                </c:pt>
                <c:pt idx="4">
                  <c:v>4344.0</c:v>
                </c:pt>
                <c:pt idx="5">
                  <c:v>4368.0</c:v>
                </c:pt>
                <c:pt idx="6">
                  <c:v>4373.0</c:v>
                </c:pt>
                <c:pt idx="7">
                  <c:v>4380.0</c:v>
                </c:pt>
                <c:pt idx="8">
                  <c:v>4389.0</c:v>
                </c:pt>
                <c:pt idx="9">
                  <c:v>4400.0</c:v>
                </c:pt>
                <c:pt idx="10">
                  <c:v>4414.0</c:v>
                </c:pt>
                <c:pt idx="11">
                  <c:v>4428.0</c:v>
                </c:pt>
                <c:pt idx="12">
                  <c:v>4442.0</c:v>
                </c:pt>
                <c:pt idx="13">
                  <c:v>4454.0</c:v>
                </c:pt>
                <c:pt idx="14">
                  <c:v>4466.0</c:v>
                </c:pt>
                <c:pt idx="15">
                  <c:v>4477.0</c:v>
                </c:pt>
              </c:numCache>
            </c:numRef>
          </c:val>
          <c:smooth val="0"/>
        </c:ser>
        <c:ser>
          <c:idx val="2"/>
          <c:order val="2"/>
          <c:tx>
            <c:strRef>
              <c:strCache>
                <c:ptCount val="1"/>
                <c:pt idx="0">
                  <c:v>Agriculture and Forestry Vehicles</c:v>
                </c:pt>
              </c:strCache>
            </c:strRef>
          </c:tx>
          <c:spPr>
            <a:ln w="25400">
              <a:solidFill>
                <a:srgbClr val="7030A0"/>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4196.0</c:v>
                </c:pt>
                <c:pt idx="1">
                  <c:v>4218.0</c:v>
                </c:pt>
                <c:pt idx="2">
                  <c:v>4243.0</c:v>
                </c:pt>
                <c:pt idx="3">
                  <c:v>4271.0</c:v>
                </c:pt>
                <c:pt idx="4">
                  <c:v>4301.0</c:v>
                </c:pt>
                <c:pt idx="5">
                  <c:v>4336.0</c:v>
                </c:pt>
                <c:pt idx="6">
                  <c:v>4353.0</c:v>
                </c:pt>
                <c:pt idx="7">
                  <c:v>4373.0</c:v>
                </c:pt>
                <c:pt idx="8">
                  <c:v>4395.0</c:v>
                </c:pt>
                <c:pt idx="9">
                  <c:v>4420.0</c:v>
                </c:pt>
                <c:pt idx="10">
                  <c:v>4449.0</c:v>
                </c:pt>
                <c:pt idx="11">
                  <c:v>4481.0</c:v>
                </c:pt>
                <c:pt idx="12">
                  <c:v>4511.0</c:v>
                </c:pt>
                <c:pt idx="13">
                  <c:v>4541.0</c:v>
                </c:pt>
                <c:pt idx="14">
                  <c:v>4569.0</c:v>
                </c:pt>
                <c:pt idx="15">
                  <c:v>4595.0</c:v>
                </c:pt>
              </c:numCache>
            </c:numRef>
          </c:val>
          <c:smooth val="0"/>
        </c:ser>
        <c:ser>
          <c:idx val="3"/>
          <c:order val="3"/>
          <c:tx>
            <c:strRef>
              <c:strCache>
                <c:ptCount val="1"/>
                <c:pt idx="0">
                  <c:v>Construction and Mining Vehicles</c:v>
                </c:pt>
              </c:strCache>
            </c:strRef>
          </c:tx>
          <c:spPr>
            <a:ln w="25400">
              <a:solidFill>
                <a:srgbClr val="008189"/>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3993.0</c:v>
                </c:pt>
                <c:pt idx="1">
                  <c:v>4004.0</c:v>
                </c:pt>
                <c:pt idx="2">
                  <c:v>4020.0</c:v>
                </c:pt>
                <c:pt idx="3">
                  <c:v>4047.0</c:v>
                </c:pt>
                <c:pt idx="4">
                  <c:v>4077.0</c:v>
                </c:pt>
                <c:pt idx="5">
                  <c:v>4115.0</c:v>
                </c:pt>
                <c:pt idx="6">
                  <c:v>4114.0</c:v>
                </c:pt>
                <c:pt idx="7">
                  <c:v>4120.0</c:v>
                </c:pt>
                <c:pt idx="8">
                  <c:v>4132.0</c:v>
                </c:pt>
                <c:pt idx="9">
                  <c:v>4151.0</c:v>
                </c:pt>
                <c:pt idx="10">
                  <c:v>4173.0</c:v>
                </c:pt>
                <c:pt idx="11">
                  <c:v>4198.0</c:v>
                </c:pt>
                <c:pt idx="12">
                  <c:v>4225.0</c:v>
                </c:pt>
                <c:pt idx="13">
                  <c:v>4258.0</c:v>
                </c:pt>
                <c:pt idx="14">
                  <c:v>4297.0</c:v>
                </c:pt>
                <c:pt idx="15">
                  <c:v>4342.0</c:v>
                </c:pt>
              </c:numCache>
            </c:numRef>
          </c:val>
          <c:smooth val="0"/>
        </c:ser>
        <c:ser>
          <c:idx val="4"/>
          <c:order val="4"/>
          <c:tx>
            <c:strRef>
              <c:strCache>
                <c:ptCount val="1"/>
                <c:pt idx="0">
                  <c:v>Recreational and Powersports Vehicles</c:v>
                </c:pt>
              </c:strCache>
            </c:strRef>
          </c:tx>
          <c:spPr>
            <a:ln w="25400">
              <a:solidFill>
                <a:srgbClr val="9E7E0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3191.0</c:v>
                </c:pt>
                <c:pt idx="1">
                  <c:v>3200.0</c:v>
                </c:pt>
                <c:pt idx="2">
                  <c:v>3213.0</c:v>
                </c:pt>
                <c:pt idx="3">
                  <c:v>3236.0</c:v>
                </c:pt>
                <c:pt idx="4">
                  <c:v>3261.0</c:v>
                </c:pt>
                <c:pt idx="5">
                  <c:v>3299.0</c:v>
                </c:pt>
                <c:pt idx="6">
                  <c:v>3302.0</c:v>
                </c:pt>
                <c:pt idx="7">
                  <c:v>3307.0</c:v>
                </c:pt>
                <c:pt idx="8">
                  <c:v>3315.0</c:v>
                </c:pt>
                <c:pt idx="9">
                  <c:v>3329.0</c:v>
                </c:pt>
                <c:pt idx="10">
                  <c:v>3346.0</c:v>
                </c:pt>
                <c:pt idx="11">
                  <c:v>3368.0</c:v>
                </c:pt>
                <c:pt idx="12">
                  <c:v>3395.0</c:v>
                </c:pt>
                <c:pt idx="13">
                  <c:v>3426.0</c:v>
                </c:pt>
                <c:pt idx="14">
                  <c:v>3461.0</c:v>
                </c:pt>
                <c:pt idx="15">
                  <c:v>3502.0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000.0"/>
          <c:min val="30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C55A11"/>
              </a:solidFill>
            </c:spPr>
          </c:dPt>
          <c:dPt>
            <c:idx val="2"/>
            <c:spPr>
              <a:solidFill>
                <a:srgbClr val="C55A11"/>
              </a:solidFill>
            </c:spPr>
          </c:dPt>
          <c:dPt>
            <c:idx val="3"/>
            <c:spPr>
              <a:solidFill>
                <a:srgbClr val="C55A11"/>
              </a:solidFill>
            </c:spPr>
          </c:dPt>
          <c:dPt>
            <c:idx val="4"/>
            <c:spPr>
              <a:solidFill>
                <a:srgbClr val="C55A11"/>
              </a:solidFill>
            </c:spPr>
          </c:dPt>
          <c:cat>
            <c:strRef>
              <c:strCache>
                <c:ptCount val="5"/>
                <c:pt idx="0">
                  <c:v>Recreational and Powersports Vehicles</c:v>
                </c:pt>
                <c:pt idx="1">
                  <c:v>Construction and Mining Vehicles</c:v>
                </c:pt>
                <c:pt idx="2">
                  <c:v>Agriculture and Forestry Vehicles</c:v>
                </c:pt>
                <c:pt idx="3">
                  <c:v>Military Vehicles</c:v>
                </c:pt>
                <c:pt idx="4">
                  <c:v>Industrial and Port Vehicles</c:v>
                </c:pt>
              </c:strCache>
            </c:strRef>
          </c:cat>
          <c:val>
            <c:numRef>
              <c:numCache>
                <c:formatCode>General</c:formatCode>
                <c:ptCount val="5"/>
                <c:pt idx="0">
                  <c:v>80.5</c:v>
                </c:pt>
                <c:pt idx="1">
                  <c:v>100.4</c:v>
                </c:pt>
                <c:pt idx="2">
                  <c:v>105.7</c:v>
                </c:pt>
                <c:pt idx="3">
                  <c:v>106.5</c:v>
                </c:pt>
                <c:pt idx="4">
                  <c:v>108.0</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10.0"/>
          <c:min val="77.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113.1</c:v>
                </c:pt>
                <c:pt idx="1">
                  <c:v>105.5</c:v>
                </c:pt>
                <c:pt idx="2">
                  <c:v>87.4</c:v>
                </c:pt>
                <c:pt idx="3">
                  <c:v>81.1</c:v>
                </c:pt>
                <c:pt idx="4">
                  <c:v>76.8</c:v>
                </c:pt>
                <c:pt idx="5">
                  <c:v>58.9</c:v>
                </c:pt>
                <c:pt idx="6">
                  <c:v>52.8</c:v>
                </c:pt>
              </c:numCache>
            </c:numRef>
          </c:val>
        </c:ser>
        <c:ser>
          <c:idx val="1"/>
          <c:order val="1"/>
          <c:tx>
            <c:strRef>
              <c:strCache>
                <c:ptCount val="1"/>
                <c:pt idx="0">
                  <c:v>Range</c:v>
                </c:pt>
              </c:strCache>
            </c:strRef>
          </c:tx>
          <c:spPr>
            <a:solidFill>
              <a:srgbClr val="008189"/>
            </a:solidFill>
          </c:spPr>
          <c:dPt>
            <c:idx val="4"/>
            <c:spPr>
              <a:solidFill>
                <a:srgbClr val="5B7DB1"/>
              </a:solidFill>
            </c:spPr>
          </c:dPt>
          <c:dPt>
            <c:idx val="5"/>
            <c:spPr>
              <a:solidFill>
                <a:srgbClr val="5B7DB1"/>
              </a:solidFill>
            </c:spPr>
          </c:dPt>
          <c:dPt>
            <c:idx val="6"/>
            <c:spPr>
              <a:solidFill>
                <a:srgbClr val="5B7DB1"/>
              </a:solidFill>
            </c:spPr>
          </c:dPt>
          <c:cat>
            <c:strRef>
              <c:strCache>
                <c:ptCount val="7"/>
                <c:pt idx="0">
                  <c:v>North America</c:v>
                </c:pt>
                <c:pt idx="1">
                  <c:v>Western Europe</c:v>
                </c:pt>
                <c:pt idx="2">
                  <c:v>Eastern Europe</c:v>
                </c:pt>
                <c:pt idx="3">
                  <c:v>Latin America</c:v>
                </c:pt>
                <c:pt idx="4">
                  <c:v>Middle East &amp; Africa</c:v>
                </c:pt>
                <c:pt idx="5">
                  <c:v>East Asia</c:v>
                </c:pt>
                <c:pt idx="6">
                  <c:v>South Asia &amp; Pacific</c:v>
                </c:pt>
              </c:strCache>
            </c:strRef>
          </c:cat>
          <c:val>
            <c:numRef>
              <c:numCache>
                <c:formatCode>General</c:formatCode>
                <c:ptCount val="7"/>
                <c:pt idx="0">
                  <c:v>38.4</c:v>
                </c:pt>
                <c:pt idx="1">
                  <c:v>36.3</c:v>
                </c:pt>
                <c:pt idx="2">
                  <c:v>29.9</c:v>
                </c:pt>
                <c:pt idx="3">
                  <c:v>28.7</c:v>
                </c:pt>
                <c:pt idx="4">
                  <c:v>26.8</c:v>
                </c:pt>
                <c:pt idx="5">
                  <c:v>20.6</c:v>
                </c:pt>
                <c:pt idx="6">
                  <c:v>18.2</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55.0"/>
          <c:min val="5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Caterpillar</c:v>
                </c:pt>
                <c:pt idx="1">
                  <c:v>Komatsu</c:v>
                </c:pt>
                <c:pt idx="2">
                  <c:v>Volvo Construction Equipment</c:v>
                </c:pt>
                <c:pt idx="3">
                  <c:v>Liebherr Group</c:v>
                </c:pt>
                <c:pt idx="4">
                  <c:v>Hitachi Construction Machinery</c:v>
                </c:pt>
                <c:pt idx="5">
                  <c:v>XCMG Group</c:v>
                </c:pt>
                <c:pt idx="6">
                  <c:v>SANY Group</c:v>
                </c:pt>
                <c:pt idx="7">
                  <c:v>JCB</c:v>
                </c:pt>
                <c:pt idx="8">
                  <c:v>HD Hyundai Construction Equipment</c:v>
                </c:pt>
                <c:pt idx="9">
                  <c:v>LiuGong</c:v>
                </c:pt>
                <c:pt idx="10">
                  <c:v>Others</c:v>
                </c:pt>
              </c:strCache>
            </c:strRef>
          </c:cat>
          <c:val>
            <c:numRef>
              <c:numCache>
                <c:formatCode>General</c:formatCode>
                <c:ptCount val="11"/>
                <c:pt idx="0">
                  <c:v>15.401240790072533</c:v>
                </c:pt>
                <c:pt idx="1">
                  <c:v>13.483170759180723</c:v>
                </c:pt>
                <c:pt idx="2">
                  <c:v>9.29935288364539</c:v>
                </c:pt>
                <c:pt idx="3">
                  <c:v>6.532876475193235</c:v>
                </c:pt>
                <c:pt idx="4">
                  <c:v>6.473319829711896</c:v>
                </c:pt>
                <c:pt idx="5">
                  <c:v>6.433244680872183</c:v>
                </c:pt>
                <c:pt idx="6">
                  <c:v>5.150370028076766</c:v>
                </c:pt>
                <c:pt idx="7">
                  <c:v>3.1015192989370006</c:v>
                </c:pt>
                <c:pt idx="8">
                  <c:v>2.1645981368190896</c:v>
                </c:pt>
                <c:pt idx="9">
                  <c:v>2.1360961810687464</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Caterpillar</c:v>
                </c:pt>
                <c:pt idx="1">
                  <c:v>Komatsu</c:v>
                </c:pt>
                <c:pt idx="2">
                  <c:v>Volvo Construction Equipment</c:v>
                </c:pt>
                <c:pt idx="3">
                  <c:v>Liebherr Group</c:v>
                </c:pt>
                <c:pt idx="4">
                  <c:v>Hitachi Construction Machinery</c:v>
                </c:pt>
                <c:pt idx="5">
                  <c:v>XCMG Group</c:v>
                </c:pt>
                <c:pt idx="6">
                  <c:v>SANY Group</c:v>
                </c:pt>
                <c:pt idx="7">
                  <c:v>JCB</c:v>
                </c:pt>
                <c:pt idx="8">
                  <c:v>HD Hyundai Construction Equipment</c:v>
                </c:pt>
                <c:pt idx="9">
                  <c:v>LiuGong</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Caterpillar</c:v>
                </c:pt>
                <c:pt idx="1">
                  <c:v>Komatsu</c:v>
                </c:pt>
                <c:pt idx="2">
                  <c:v>Volvo Construction Equipment</c:v>
                </c:pt>
                <c:pt idx="3">
                  <c:v>Liebherr Group</c:v>
                </c:pt>
                <c:pt idx="4">
                  <c:v>Hitachi Construction Machinery</c:v>
                </c:pt>
                <c:pt idx="5">
                  <c:v>XCMG Group</c:v>
                </c:pt>
                <c:pt idx="6">
                  <c:v>SANY Group</c:v>
                </c:pt>
                <c:pt idx="7">
                  <c:v>JCB</c:v>
                </c:pt>
                <c:pt idx="8">
                  <c:v>HD Hyundai Construction Equipment</c:v>
                </c:pt>
                <c:pt idx="9">
                  <c:v>LiuGong</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Caterpillar</c:v>
                </c:pt>
                <c:pt idx="1">
                  <c:v>Komatsu</c:v>
                </c:pt>
                <c:pt idx="2">
                  <c:v>Volvo Construction Equipment</c:v>
                </c:pt>
                <c:pt idx="3">
                  <c:v>Liebherr Group</c:v>
                </c:pt>
                <c:pt idx="4">
                  <c:v>Hitachi Construction Machinery</c:v>
                </c:pt>
                <c:pt idx="5">
                  <c:v>XCMG Group</c:v>
                </c:pt>
                <c:pt idx="6">
                  <c:v>SANY Group</c:v>
                </c:pt>
                <c:pt idx="7">
                  <c:v>JCB</c:v>
                </c:pt>
                <c:pt idx="8">
                  <c:v>HD Hyundai Construction Equipment</c:v>
                </c:pt>
                <c:pt idx="9">
                  <c:v>LiuGong</c:v>
                </c:pt>
                <c:pt idx="10">
                  <c:v>Others</c:v>
                </c:pt>
              </c:strCache>
            </c:strRef>
          </c:cat>
          <c:val>
            <c:numRef>
              <c:numCache>
                <c:formatCode>General</c:formatCode>
                <c:ptCount val="11"/>
                <c:pt idx="0">
                  <c:v>16.616982878130067</c:v>
                </c:pt>
                <c:pt idx="1">
                  <c:v>15.838373751146179</c:v>
                </c:pt>
                <c:pt idx="2">
                  <c:v>12.226323321243271</c:v>
                </c:pt>
                <c:pt idx="3">
                  <c:v>7.956018792951126</c:v>
                </c:pt>
                <c:pt idx="4">
                  <c:v>5.814138033935408</c:v>
                </c:pt>
                <c:pt idx="5">
                  <c:v>5.618762435113716</c:v>
                </c:pt>
                <c:pt idx="6">
                  <c:v>5.851259038190951</c:v>
                </c:pt>
                <c:pt idx="7">
                  <c:v>4.7673503513720465</c:v>
                </c:pt>
                <c:pt idx="8">
                  <c:v>3.1905899020099824</c:v>
                </c:pt>
                <c:pt idx="9">
                  <c:v>1.9266097914653113</c:v>
                </c:pt>
                <c:pt idx="10">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Caterpillar</c:v>
                </c:pt>
                <c:pt idx="1">
                  <c:v>Komatsu</c:v>
                </c:pt>
                <c:pt idx="2">
                  <c:v>Volvo Construction Equipment</c:v>
                </c:pt>
                <c:pt idx="3">
                  <c:v>Liebherr Group</c:v>
                </c:pt>
                <c:pt idx="4">
                  <c:v>Hitachi Construction Machinery</c:v>
                </c:pt>
                <c:pt idx="5">
                  <c:v>XCMG Group</c:v>
                </c:pt>
                <c:pt idx="6">
                  <c:v>SANY Group</c:v>
                </c:pt>
                <c:pt idx="7">
                  <c:v>JCB</c:v>
                </c:pt>
                <c:pt idx="8">
                  <c:v>HD Hyundai Construction Equipment</c:v>
                </c:pt>
                <c:pt idx="9">
                  <c:v>LiuGong</c:v>
                </c:pt>
                <c:pt idx="10">
                  <c:v>Others</c:v>
                </c:pt>
              </c:strCache>
            </c:strRef>
          </c:cat>
          <c:val>
            <c:numRef>
              <c:numCache>
                <c:formatCode>General</c:formatCode>
                <c:ptCount val="11"/>
                <c:pt idx="0">
                  <c:v>17.07493181467485</c:v>
                </c:pt>
                <c:pt idx="1">
                  <c:v>12.55088526010719</c:v>
                </c:pt>
                <c:pt idx="2">
                  <c:v>8.380043562697717</c:v>
                </c:pt>
                <c:pt idx="3">
                  <c:v>7.444952014860332</c:v>
                </c:pt>
                <c:pt idx="4">
                  <c:v>8.046607083054917</c:v>
                </c:pt>
                <c:pt idx="5">
                  <c:v>6.9192142292565135</c:v>
                </c:pt>
                <c:pt idx="6">
                  <c:v>4.691071174682331</c:v>
                </c:pt>
                <c:pt idx="7">
                  <c:v>2.8651087985998394</c:v>
                </c:pt>
                <c:pt idx="8">
                  <c:v>2.560369933335588</c:v>
                </c:pt>
                <c:pt idx="9">
                  <c:v>2.616980414229504</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Caterpillar</c:v>
                </c:pt>
                <c:pt idx="1">
                  <c:v>Komatsu</c:v>
                </c:pt>
                <c:pt idx="2">
                  <c:v>Volvo Construction Equipment</c:v>
                </c:pt>
                <c:pt idx="3">
                  <c:v>Liebherr Group</c:v>
                </c:pt>
                <c:pt idx="4">
                  <c:v>Hitachi Construction Machinery</c:v>
                </c:pt>
                <c:pt idx="5">
                  <c:v>XCMG Group</c:v>
                </c:pt>
                <c:pt idx="6">
                  <c:v>SANY Group</c:v>
                </c:pt>
                <c:pt idx="7">
                  <c:v>JCB</c:v>
                </c:pt>
                <c:pt idx="8">
                  <c:v>HD Hyundai Construction Equipment</c:v>
                </c:pt>
                <c:pt idx="9">
                  <c:v>LiuGong</c:v>
                </c:pt>
                <c:pt idx="10">
                  <c:v>Others</c:v>
                </c:pt>
              </c:strCache>
            </c:strRef>
          </c:cat>
          <c:val>
            <c:numRef>
              <c:numCache>
                <c:formatCode>General</c:formatCode>
                <c:ptCount val="11"/>
                <c:pt idx="0">
                  <c:v>12.277342054809253</c:v>
                </c:pt>
                <c:pt idx="1">
                  <c:v>13.690739899912854</c:v>
                </c:pt>
                <c:pt idx="2">
                  <c:v>12.746747202028219</c:v>
                </c:pt>
                <c:pt idx="3">
                  <c:v>8.828457775638867</c:v>
                </c:pt>
                <c:pt idx="4">
                  <c:v>5.797327124799776</c:v>
                </c:pt>
                <c:pt idx="5">
                  <c:v>5.233968424734535</c:v>
                </c:pt>
                <c:pt idx="6">
                  <c:v>5.52655704763196</c:v>
                </c:pt>
                <c:pt idx="7">
                  <c:v>4.3841208278942325</c:v>
                </c:pt>
                <c:pt idx="8">
                  <c:v>2.769789917176935</c:v>
                </c:pt>
                <c:pt idx="9">
                  <c:v>1.8123878782605</c:v>
                </c:pt>
                <c:pt idx="10">
                  <c:v>26.932561847112876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Pt>
            <c:idx val="4"/>
            <c:spPr>
              <a:solidFill>
                <a:srgbClr val="F47620"/>
              </a:solidFill>
            </c:spPr>
          </c:dPt>
          <c:dPt>
            <c:idx val="5"/>
            <c:spPr>
              <a:solidFill>
                <a:srgbClr val="79C3EC"/>
              </a:solidFill>
            </c:spPr>
          </c:dPt>
          <c:dPt>
            <c:idx val="6"/>
            <c:spPr>
              <a:solidFill>
                <a:srgbClr val="586272"/>
              </a:solidFill>
            </c:spPr>
          </c:dPt>
          <c:dPt>
            <c:idx val="7"/>
            <c:spPr>
              <a:solidFill>
                <a:srgbClr val="1F476B"/>
              </a:solidFill>
            </c:spPr>
          </c:dPt>
          <c:dPt>
            <c:idx val="8"/>
            <c:spPr>
              <a:solidFill>
                <a:srgbClr val="BCBEC0"/>
              </a:solidFill>
            </c:spPr>
          </c:dPt>
          <c:dPt>
            <c:idx val="9"/>
            <c:spPr>
              <a:solidFill>
                <a:srgbClr val="3DC6C4"/>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Caterpillar</c:v>
                </c:pt>
                <c:pt idx="1">
                  <c:v>Komatsu</c:v>
                </c:pt>
                <c:pt idx="2">
                  <c:v>Volvo Construction Equipment</c:v>
                </c:pt>
                <c:pt idx="3">
                  <c:v>Liebherr Group</c:v>
                </c:pt>
                <c:pt idx="4">
                  <c:v>Hitachi Construction Machinery</c:v>
                </c:pt>
                <c:pt idx="5">
                  <c:v>XCMG Group</c:v>
                </c:pt>
                <c:pt idx="6">
                  <c:v>SANY Group</c:v>
                </c:pt>
                <c:pt idx="7">
                  <c:v>JCB</c:v>
                </c:pt>
                <c:pt idx="8">
                  <c:v>HD Hyundai Construction Equipment</c:v>
                </c:pt>
                <c:pt idx="9">
                  <c:v>LiuGong</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Wheeled Vehicles</c:v>
                </c:pt>
                <c:pt idx="1">
                  <c:v>Tracked Vehicles</c:v>
                </c:pt>
                <c:pt idx="2">
                  <c:v>Semi-Tracked Vehicles</c:v>
                </c:pt>
                <c:pt idx="3">
                  <c:v>Other Specialized Propulsion Configurations</c:v>
                </c:pt>
              </c:strCache>
            </c:strRef>
          </c:cat>
          <c:val>
            <c:numRef>
              <c:numCache>
                <c:formatCode>General</c:formatCode>
                <c:ptCount val="4"/>
                <c:pt idx="0">
                  <c:v>65903.7322319788</c:v>
                </c:pt>
                <c:pt idx="1">
                  <c:v>36664.581953178866</c:v>
                </c:pt>
                <c:pt idx="2">
                  <c:v>46150.271303014786</c:v>
                </c:pt>
                <c:pt idx="3">
                  <c:v>87182.21969336853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5080.52999524647"/>
          <c:min val="0.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78314.65804335485</c:v>
                </c:pt>
                <c:pt idx="1">
                  <c:v>47669.957984739776</c:v>
                </c:pt>
                <c:pt idx="2">
                  <c:v>25707.026409537782</c:v>
                </c:pt>
                <c:pt idx="3">
                  <c:v>29046.972068968706</c:v>
                </c:pt>
                <c:pt idx="4">
                  <c:v>55162.19067493988</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3375.3486172284"/>
          <c:min val="0.0"/>
        </c:scaling>
        <c:delete val="0"/>
        <c:axPos val="l"/>
        <c:numFmt formatCode="#,##0" sourceLinked="0"/>
        <c:majorTickMark val="out"/>
        <c:minorTickMark val="none"/>
        <c:tickLblPos val="none"/>
        <c:spPr>
          <a:ln>
            <a:solidFill>
              <a:srgbClr val="C9D6E4"/>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2A5F8F"/>
              </a:solidFill>
            </c:spPr>
          </c:dPt>
          <c:dPt>
            <c:idx val="1"/>
            <c:spPr>
              <a:solidFill>
                <a:srgbClr val="0081E2"/>
              </a:solidFill>
            </c:spPr>
          </c:dPt>
          <c:dPt>
            <c:idx val="2"/>
            <c:spPr>
              <a:solidFill>
                <a:srgbClr val="0E2A5C"/>
              </a:solidFill>
            </c:spPr>
          </c:dPt>
          <c:dPt>
            <c:idx val="3"/>
            <c:spPr>
              <a:solidFill>
                <a:srgbClr val="00ACAC"/>
              </a:solidFill>
            </c:spPr>
          </c:dPt>
          <c:dLbls>
            <c:dLbl>
              <c:idx val="0"/>
              <c:layout>
                <c:manualLayout>
                  <c:x val="0.0350"/>
                  <c:y val="0.0000"/>
                </c:manualLayout>
              </c:layout>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4"/>
                <c:pt idx="0">
                  <c:v>Construction and Mining Vehicles</c:v>
                </c:pt>
                <c:pt idx="1">
                  <c:v>Agriculture and Forestry Vehicles</c:v>
                </c:pt>
                <c:pt idx="2">
                  <c:v>Military Vehicles</c:v>
                </c:pt>
                <c:pt idx="3">
                  <c:v>Recreational and Powersports Vehicles</c:v>
                </c:pt>
              </c:strCache>
            </c:strRef>
          </c:cat>
          <c:val>
            <c:numRef>
              <c:numCache>
                <c:formatCode>General</c:formatCode>
                <c:ptCount val="4"/>
                <c:pt idx="0">
                  <c:v>27180.18760374909</c:v>
                </c:pt>
                <c:pt idx="1">
                  <c:v>37786.77772587536</c:v>
                </c:pt>
                <c:pt idx="2">
                  <c:v>70460.13216858961</c:v>
                </c:pt>
                <c:pt idx="3">
                  <c:v>100473.70768332692</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238945.2</c:v>
                </c:pt>
                <c:pt idx="1">
                  <c:v>214788.37466876674</c:v>
                </c:pt>
                <c:pt idx="2">
                  <c:v>156971.10476793803</c:v>
                </c:pt>
                <c:pt idx="3">
                  <c:v>100564.57038708465</c:v>
                </c:pt>
                <c:pt idx="4">
                  <c:v>79784.21837958918</c:v>
                </c:pt>
              </c:numCache>
            </c:numRef>
          </c:val>
        </c:ser>
        <c:ser>
          <c:idx val="1"/>
          <c:order val="1"/>
          <c:tx>
            <c:strRef>
              <c:strCache>
                <c:ptCount val="1"/>
                <c:pt idx="0">
                  <c:v>SOM</c:v>
                </c:pt>
              </c:strCache>
            </c:strRef>
          </c:tx>
          <c:spPr>
            <a:solidFill>
              <a:srgbClr val="2A5F8F"/>
            </a:solidFill>
            <a:ln>
              <a:noFill/>
            </a:ln>
          </c:spPr>
          <c:dLbls>
            <c:dLbl>
              <c:idx val="0"/>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South Asia &amp; Pacific</c:v>
                </c:pt>
                <c:pt idx="2">
                  <c:v>East Asia</c:v>
                </c:pt>
                <c:pt idx="3">
                  <c:v>Latin America</c:v>
                </c:pt>
                <c:pt idx="4">
                  <c:v>Rest of the World</c:v>
                </c:pt>
              </c:strCache>
            </c:strRef>
          </c:cat>
          <c:val>
            <c:numRef>
              <c:numCache>
                <c:formatCode>General</c:formatCode>
                <c:ptCount val="5"/>
                <c:pt idx="0">
                  <c:v>78314.65804335485</c:v>
                </c:pt>
                <c:pt idx="1">
                  <c:v>47669.957984739776</c:v>
                </c:pt>
                <c:pt idx="2">
                  <c:v>25707.026409537782</c:v>
                </c:pt>
                <c:pt idx="3">
                  <c:v>29046.972068968706</c:v>
                </c:pt>
                <c:pt idx="4">
                  <c:v>55162.19067493988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9D6E4"/>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05849.856"/>
          <c:min val="0.0"/>
        </c:scaling>
        <c:delete val="0"/>
        <c:axPos val="b"/>
        <c:numFmt formatCode="0&quot;%&quot;" sourceLinked="0"/>
        <c:majorTickMark val="out"/>
        <c:minorTickMark val="none"/>
        <c:tickLblPos val="nextTo"/>
        <c:spPr>
          <a:ln>
            <a:solidFill>
              <a:srgbClr val="C9D6E4"/>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Global Off-Highway Vehicle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Volume Share Analysis By Region  (1/3)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Volume Share Analysis By Region  (2/3)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Volume Share Analysis By Region  (3/3)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By Vehicle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Market Value Analysis  (1/3)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Market Value Analysis  (2/3)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Market Value Analysis  (3/3)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By Powertrain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By Vehicle Capacity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By Propulsion Configuration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Country North America Off-Highway Vehicle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By Vehicle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Absolute $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Absolute $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Market Value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Market Value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By Powertrain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Powertrain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By Vehicle Capacity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Vehicle Capacity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By Propulsion Configuration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Propulsion Configuration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Table (Volume &amp; Value)  (1/7)</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Table (Volume &amp; Value)  (2/7)</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Table (Volume &amp; Value)  (3/7)</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Table (Volume &amp; Value)  (4/7)</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Table (Volume &amp; Value)  (5/7)</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Table (Volume &amp; Value)  (6/7)</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Type Table (Volume &amp; Value)  (7/7)</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Powertrain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Powertrain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Capacity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Vehicle Capacity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Propulsion Configuration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Country Propulsion Configuration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Market Dynamics by Geography  (1/2)</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Market Dynamics by Geography  (2/2)</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Company Profiles &amp; Strategic Benchmarking Caterpillar Snapshot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Company Profiles &amp; Strategic Benchmarking Caterpillar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Company Profiles &amp; Strategic Benchmarking Caterpillar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Company Profiles &amp; Strategic Benchmarking Caterpillar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Competitor Company Profiles &amp; Strategic Benchmarking Caterpillar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(1/9)</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(2/9)</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(3/9)</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(4/9)</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(5/9)</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(6/9)</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(7/9)</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(8/9)</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Table of Contents  (9/9)</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Figures  (1/6)</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Figures  (2/6)</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Figures  (3/6)</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Figures  (4/6)</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Figures  (5/6)</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Figures  (6/6)</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Tables  (1/5)</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Tables  (2/5)</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Tables  (3/5)</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Tables  (4/5)</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Off-Highway Vehicle Market List of Tables  (5/5)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2.jpg"/><Relationship Id="rId3" Type="http://schemas.openxmlformats.org/officeDocument/2006/relationships/image" Target="../media/image70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20.xml"/><Relationship Id="rId8" Type="http://schemas.openxmlformats.org/officeDocument/2006/relationships/slide" Target="slide32.xml"/><Relationship Id="rId9" Type="http://schemas.openxmlformats.org/officeDocument/2006/relationships/slide" Target="slide33.xml"/><Relationship Id="rId10" Type="http://schemas.openxmlformats.org/officeDocument/2006/relationships/slide" Target="slide44.xml"/><Relationship Id="rId11" Type="http://schemas.openxmlformats.org/officeDocument/2006/relationships/slide" Target="slide54.xml"/><Relationship Id="rId12" Type="http://schemas.openxmlformats.org/officeDocument/2006/relationships/slide" Target="slide82.xml"/><Relationship Id="rId13" Type="http://schemas.openxmlformats.org/officeDocument/2006/relationships/slide" Target="slide83.xml"/><Relationship Id="rId14" Type="http://schemas.openxmlformats.org/officeDocument/2006/relationships/slide" Target="slide93.xml"/><Relationship Id="rId15" Type="http://schemas.openxmlformats.org/officeDocument/2006/relationships/slide" Target="slide101.xml"/><Relationship Id="rId16" Type="http://schemas.openxmlformats.org/officeDocument/2006/relationships/slide" Target="slide128.xml"/><Relationship Id="rId17" Type="http://schemas.openxmlformats.org/officeDocument/2006/relationships/slide" Target="slide129.xml"/><Relationship Id="rId18" Type="http://schemas.openxmlformats.org/officeDocument/2006/relationships/slide" Target="slide133.xml"/><Relationship Id="rId19" Type="http://schemas.openxmlformats.org/officeDocument/2006/relationships/slide" Target="slide152.xml"/><Relationship Id="rId20" Type="http://schemas.openxmlformats.org/officeDocument/2006/relationships/slide" Target="slide153.xml"/><Relationship Id="rId21" Type="http://schemas.openxmlformats.org/officeDocument/2006/relationships/slide" Target="slide165.xml"/><Relationship Id="rId22" Type="http://schemas.openxmlformats.org/officeDocument/2006/relationships/slide" Target="slide169.xml"/><Relationship Id="rId23" Type="http://schemas.openxmlformats.org/officeDocument/2006/relationships/slide" Target="slide170.xml"/><Relationship Id="rId24" Type="http://schemas.openxmlformats.org/officeDocument/2006/relationships/slide" Target="slide179.xml"/><Relationship Id="rId25" Type="http://schemas.openxmlformats.org/officeDocument/2006/relationships/slide" Target="slide192.xml"/><Relationship Id="rId26" Type="http://schemas.openxmlformats.org/officeDocument/2006/relationships/slide" Target="slide180.xml"/><Relationship Id="rId27" Type="http://schemas.openxmlformats.org/officeDocument/2006/relationships/slide" Target="slide18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image" Target="../media/image65.png"/><Relationship Id="rId14" Type="http://schemas.openxmlformats.org/officeDocument/2006/relationships/image" Target="../media/image66.png"/><Relationship Id="rId15" Type="http://schemas.openxmlformats.org/officeDocument/2006/relationships/image" Target="../media/image67.png"/><Relationship Id="rId16" Type="http://schemas.openxmlformats.org/officeDocument/2006/relationships/image" Target="../media/image68.png"/><Relationship Id="rId17" Type="http://schemas.openxmlformats.org/officeDocument/2006/relationships/image" Target="../media/image69.png"/><Relationship Id="rId18" Type="http://schemas.openxmlformats.org/officeDocument/2006/relationships/image" Target="../media/image70.png"/><Relationship Id="rId19" Type="http://schemas.openxmlformats.org/officeDocument/2006/relationships/image" Target="../media/image71.png"/><Relationship Id="rId20" Type="http://schemas.openxmlformats.org/officeDocument/2006/relationships/image" Target="../media/image72.png"/><Relationship Id="rId21" Type="http://schemas.openxmlformats.org/officeDocument/2006/relationships/image" Target="../media/image73.png"/><Relationship Id="rId22" Type="http://schemas.openxmlformats.org/officeDocument/2006/relationships/image" Target="../media/image74.png"/><Relationship Id="rId23" Type="http://schemas.openxmlformats.org/officeDocument/2006/relationships/image" Target="../media/image75.png"/><Relationship Id="rId24" Type="http://schemas.openxmlformats.org/officeDocument/2006/relationships/image" Target="../media/image76.png"/><Relationship Id="rId25"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 Id="rId4" Type="http://schemas.openxmlformats.org/officeDocument/2006/relationships/image" Target="../media/image110.png"/><Relationship Id="rId5" Type="http://schemas.openxmlformats.org/officeDocument/2006/relationships/image" Target="../media/image111.png"/><Relationship Id="rId6" Type="http://schemas.openxmlformats.org/officeDocument/2006/relationships/image" Target="../media/image73.png"/><Relationship Id="rId7" Type="http://schemas.openxmlformats.org/officeDocument/2006/relationships/image" Target="../media/image112.png"/><Relationship Id="rId8" Type="http://schemas.openxmlformats.org/officeDocument/2006/relationships/image" Target="../media/image113.png"/><Relationship Id="rId9" Type="http://schemas.openxmlformats.org/officeDocument/2006/relationships/image" Target="../media/image114.png"/><Relationship Id="rId10" Type="http://schemas.openxmlformats.org/officeDocument/2006/relationships/image" Target="../media/image115.png"/><Relationship Id="rId11" Type="http://schemas.openxmlformats.org/officeDocument/2006/relationships/image" Target="../media/image116.png"/><Relationship Id="rId12" Type="http://schemas.openxmlformats.org/officeDocument/2006/relationships/image" Target="../media/image117.png"/><Relationship Id="rId13" Type="http://schemas.openxmlformats.org/officeDocument/2006/relationships/image" Target="../media/image118.png"/><Relationship Id="rId14" Type="http://schemas.openxmlformats.org/officeDocument/2006/relationships/image" Target="../media/image119.png"/><Relationship Id="rId15" Type="http://schemas.openxmlformats.org/officeDocument/2006/relationships/image" Target="../media/image120.png"/><Relationship Id="rId16" Type="http://schemas.openxmlformats.org/officeDocument/2006/relationships/image" Target="../media/image121.png"/><Relationship Id="rId17" Type="http://schemas.openxmlformats.org/officeDocument/2006/relationships/image" Target="../media/image122.png"/><Relationship Id="rId18"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7.xml"/><Relationship Id="rId6"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chart" Target="../charts/chart19.xml"/><Relationship Id="rId6" Type="http://schemas.openxmlformats.org/officeDocument/2006/relationships/chart" Target="../charts/chart20.xml"/><Relationship Id="rId7" Type="http://schemas.openxmlformats.org/officeDocument/2006/relationships/notesSlide" Target="../notesSlides/notesSlide28.xml"/><Relationship Id="rId8"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notesSlide" Target="../notesSlides/notesSlide29.xml"/><Relationship Id="rId5"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notesSlide" Target="../notesSlides/notesSlide39.xml"/><Relationship Id="rId5"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 Id="rId4" Type="http://schemas.openxmlformats.org/officeDocument/2006/relationships/image" Target="../media/image166.png"/><Relationship Id="rId5" Type="http://schemas.openxmlformats.org/officeDocument/2006/relationships/image" Target="../media/image167.png"/><Relationship Id="rId6" Type="http://schemas.openxmlformats.org/officeDocument/2006/relationships/image" Target="../media/image168.png"/><Relationship Id="rId7" Type="http://schemas.openxmlformats.org/officeDocument/2006/relationships/image" Target="../media/image169.png"/><Relationship Id="rId8" Type="http://schemas.openxmlformats.org/officeDocument/2006/relationships/image" Target="../media/image170.png"/><Relationship Id="rId9" Type="http://schemas.openxmlformats.org/officeDocument/2006/relationships/image" Target="../media/image171.png"/><Relationship Id="rId10" Type="http://schemas.openxmlformats.org/officeDocument/2006/relationships/image" Target="../media/image172.png"/><Relationship Id="rId11" Type="http://schemas.openxmlformats.org/officeDocument/2006/relationships/image" Target="../media/image173.png"/><Relationship Id="rId12" Type="http://schemas.openxmlformats.org/officeDocument/2006/relationships/image" Target="../media/image174.png"/><Relationship Id="rId13" Type="http://schemas.openxmlformats.org/officeDocument/2006/relationships/image" Target="../media/image175.png"/><Relationship Id="rId14" Type="http://schemas.openxmlformats.org/officeDocument/2006/relationships/image" Target="../media/image176.png"/><Relationship Id="rId15" Type="http://schemas.openxmlformats.org/officeDocument/2006/relationships/image" Target="../media/image177.png"/><Relationship Id="rId16"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3.xml"/><Relationship Id="rId4" Type="http://schemas.openxmlformats.org/officeDocument/2006/relationships/chart" Target="../charts/chart24.xml"/><Relationship Id="rId5" Type="http://schemas.openxmlformats.org/officeDocument/2006/relationships/notesSlide" Target="../notesSlides/notesSlide47.xml"/><Relationship Id="rId6"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notesSlide" Target="../notesSlides/notesSlide48.xml"/><Relationship Id="rId8"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xml"/><Relationship Id="rId4" Type="http://schemas.openxmlformats.org/officeDocument/2006/relationships/notesSlide" Target="../notesSlides/notesSlide52.xml"/><Relationship Id="rId5"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 Id="rId4" Type="http://schemas.openxmlformats.org/officeDocument/2006/relationships/image" Target="../media/image215.png"/><Relationship Id="rId5" Type="http://schemas.openxmlformats.org/officeDocument/2006/relationships/image" Target="../media/image216.png"/><Relationship Id="rId6" Type="http://schemas.openxmlformats.org/officeDocument/2006/relationships/image" Target="../media/image217.png"/><Relationship Id="rId7" Type="http://schemas.openxmlformats.org/officeDocument/2006/relationships/image" Target="../media/image218.png"/><Relationship Id="rId8" Type="http://schemas.openxmlformats.org/officeDocument/2006/relationships/image" Target="../media/image219.png"/><Relationship Id="rId9" Type="http://schemas.openxmlformats.org/officeDocument/2006/relationships/image" Target="../media/image220.png"/><Relationship Id="rId10" Type="http://schemas.openxmlformats.org/officeDocument/2006/relationships/image" Target="../media/image221.png"/><Relationship Id="rId11" Type="http://schemas.openxmlformats.org/officeDocument/2006/relationships/image" Target="../media/image222.png"/><Relationship Id="rId12" Type="http://schemas.openxmlformats.org/officeDocument/2006/relationships/image" Target="../media/image223.png"/><Relationship Id="rId13" Type="http://schemas.openxmlformats.org/officeDocument/2006/relationships/image" Target="../media/image224.png"/><Relationship Id="rId14" Type="http://schemas.openxmlformats.org/officeDocument/2006/relationships/image" Target="../media/image225.png"/><Relationship Id="rId15"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notesSlide" Target="../notesSlides/notesSlide56.xml"/><Relationship Id="rId6"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chart" Target="../charts/chart33.xml"/><Relationship Id="rId5" Type="http://schemas.openxmlformats.org/officeDocument/2006/relationships/chart" Target="../charts/chart34.xml"/><Relationship Id="rId6" Type="http://schemas.openxmlformats.org/officeDocument/2006/relationships/chart" Target="../charts/chart35.xml"/><Relationship Id="rId7" Type="http://schemas.openxmlformats.org/officeDocument/2006/relationships/notesSlide" Target="../notesSlides/notesSlide57.xml"/><Relationship Id="rId8"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notesSlide" Target="../notesSlides/notesSlide61.xml"/><Relationship Id="rId5"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 Id="rId4" Type="http://schemas.openxmlformats.org/officeDocument/2006/relationships/image" Target="../media/image261.png"/><Relationship Id="rId5" Type="http://schemas.openxmlformats.org/officeDocument/2006/relationships/image" Target="../media/image262.png"/><Relationship Id="rId6" Type="http://schemas.openxmlformats.org/officeDocument/2006/relationships/image" Target="../media/image67.png"/><Relationship Id="rId7" Type="http://schemas.openxmlformats.org/officeDocument/2006/relationships/image" Target="../media/image263.png"/><Relationship Id="rId8" Type="http://schemas.openxmlformats.org/officeDocument/2006/relationships/image" Target="../media/image264.png"/><Relationship Id="rId9" Type="http://schemas.openxmlformats.org/officeDocument/2006/relationships/image" Target="../media/image265.png"/><Relationship Id="rId10" Type="http://schemas.openxmlformats.org/officeDocument/2006/relationships/image" Target="../media/image266.png"/><Relationship Id="rId11" Type="http://schemas.openxmlformats.org/officeDocument/2006/relationships/image" Target="../media/image267.png"/><Relationship Id="rId12" Type="http://schemas.openxmlformats.org/officeDocument/2006/relationships/image" Target="../media/image268.png"/><Relationship Id="rId13" Type="http://schemas.openxmlformats.org/officeDocument/2006/relationships/image" Target="../media/image269.png"/><Relationship Id="rId14" Type="http://schemas.openxmlformats.org/officeDocument/2006/relationships/image" Target="../media/image270.png"/><Relationship Id="rId15"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7.xml"/><Relationship Id="rId4" Type="http://schemas.openxmlformats.org/officeDocument/2006/relationships/chart" Target="../charts/chart38.xml"/><Relationship Id="rId5" Type="http://schemas.openxmlformats.org/officeDocument/2006/relationships/notesSlide" Target="../notesSlides/notesSlide65.xml"/><Relationship Id="rId6"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chart" Target="../charts/chart40.xml"/><Relationship Id="rId5" Type="http://schemas.openxmlformats.org/officeDocument/2006/relationships/chart" Target="../charts/chart41.xml"/><Relationship Id="rId6" Type="http://schemas.openxmlformats.org/officeDocument/2006/relationships/chart" Target="../charts/chart42.xml"/><Relationship Id="rId7" Type="http://schemas.openxmlformats.org/officeDocument/2006/relationships/notesSlide" Target="../notesSlides/notesSlide66.xml"/><Relationship Id="rId8"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3.xml"/><Relationship Id="rId4" Type="http://schemas.openxmlformats.org/officeDocument/2006/relationships/notesSlide" Target="../notesSlides/notesSlide69.xml"/><Relationship Id="rId5"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notesSlide" Target="../notesSlides/notesSlide73.xml"/><Relationship Id="rId6"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75.xml"/><Relationship Id="rId6"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chart" Target="../charts/chart49.xml"/><Relationship Id="rId5" Type="http://schemas.openxmlformats.org/officeDocument/2006/relationships/notesSlide" Target="../notesSlides/notesSlide76.xml"/><Relationship Id="rId6"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notesSlide" Target="../notesSlides/notesSlide77.xml"/><Relationship Id="rId6"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notesSlide" Target="../notesSlides/notesSlide79.xml"/><Relationship Id="rId5"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xml"/><Relationship Id="rId4" Type="http://schemas.openxmlformats.org/officeDocument/2006/relationships/notesSlide" Target="../notesSlides/notesSlide81.xml"/><Relationship Id="rId5"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notesSlide" Target="../notesSlides/notesSlide83.xml"/><Relationship Id="rId5"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5.xml"/><Relationship Id="rId4" Type="http://schemas.openxmlformats.org/officeDocument/2006/relationships/notesSlide" Target="../notesSlides/notesSlide84.xml"/><Relationship Id="rId5"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 Id="rId4"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notesSlide" Target="../notesSlides/notesSlide87.xml"/><Relationship Id="rId6"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 Id="rId4" Type="http://schemas.openxmlformats.org/officeDocument/2006/relationships/image" Target="../media/image463.png"/><Relationship Id="rId5" Type="http://schemas.openxmlformats.org/officeDocument/2006/relationships/image" Target="../media/image464.png"/><Relationship Id="rId6" Type="http://schemas.openxmlformats.org/officeDocument/2006/relationships/image" Target="../media/image465.png"/><Relationship Id="rId7" Type="http://schemas.openxmlformats.org/officeDocument/2006/relationships/image" Target="../media/image466.png"/><Relationship Id="rId8" Type="http://schemas.openxmlformats.org/officeDocument/2006/relationships/image" Target="../media/image467.png"/><Relationship Id="rId9" Type="http://schemas.openxmlformats.org/officeDocument/2006/relationships/image" Target="../media/image468.png"/><Relationship Id="rId10" Type="http://schemas.openxmlformats.org/officeDocument/2006/relationships/image" Target="../media/image469.png"/><Relationship Id="rId11" Type="http://schemas.openxmlformats.org/officeDocument/2006/relationships/image" Target="../media/image470.png"/><Relationship Id="rId12" Type="http://schemas.openxmlformats.org/officeDocument/2006/relationships/image" Target="../media/image471.png"/><Relationship Id="rId13" Type="http://schemas.openxmlformats.org/officeDocument/2006/relationships/image" Target="../media/image472.png"/><Relationship Id="rId14" Type="http://schemas.openxmlformats.org/officeDocument/2006/relationships/image" Target="../media/image473.png"/><Relationship Id="rId15" Type="http://schemas.openxmlformats.org/officeDocument/2006/relationships/image" Target="../media/image474.png"/><Relationship Id="rId16" Type="http://schemas.openxmlformats.org/officeDocument/2006/relationships/image" Target="../media/image475.png"/><Relationship Id="rId17" Type="http://schemas.openxmlformats.org/officeDocument/2006/relationships/image" Target="../media/image476.png"/><Relationship Id="rId18"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chart" Target="../charts/chart59.xml"/><Relationship Id="rId5" Type="http://schemas.openxmlformats.org/officeDocument/2006/relationships/notesSlide" Target="../notesSlides/notesSlide90.xml"/><Relationship Id="rId6"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chart" Target="../charts/chart62.xml"/><Relationship Id="rId6" Type="http://schemas.openxmlformats.org/officeDocument/2006/relationships/chart" Target="../charts/chart63.xml"/><Relationship Id="rId7" Type="http://schemas.openxmlformats.org/officeDocument/2006/relationships/notesSlide" Target="../notesSlides/notesSlide91.xml"/><Relationship Id="rId8"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notesSlide" Target="../notesSlides/notesSlide92.xml"/><Relationship Id="rId5"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5.xml"/><Relationship Id="rId4" Type="http://schemas.openxmlformats.org/officeDocument/2006/relationships/notesSlide" Target="../notesSlides/notesSlide101.xml"/><Relationship Id="rId5"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image" Target="../media/image505.png"/><Relationship Id="rId5" Type="http://schemas.openxmlformats.org/officeDocument/2006/relationships/image" Target="../media/image506.png"/><Relationship Id="rId6" Type="http://schemas.openxmlformats.org/officeDocument/2006/relationships/image" Target="../media/image507.png"/><Relationship Id="rId7" Type="http://schemas.openxmlformats.org/officeDocument/2006/relationships/image" Target="../media/image508.png"/><Relationship Id="rId8" Type="http://schemas.openxmlformats.org/officeDocument/2006/relationships/image" Target="../media/image509.png"/><Relationship Id="rId9" Type="http://schemas.openxmlformats.org/officeDocument/2006/relationships/image" Target="../media/image58.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notesSlide" Target="../notesSlides/notesSlide109.xml"/><Relationship Id="rId6"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chart" Target="../charts/chart69.xml"/><Relationship Id="rId5" Type="http://schemas.openxmlformats.org/officeDocument/2006/relationships/chart" Target="../charts/chart70.xml"/><Relationship Id="rId6" Type="http://schemas.openxmlformats.org/officeDocument/2006/relationships/chart" Target="../charts/chart71.xml"/><Relationship Id="rId7" Type="http://schemas.openxmlformats.org/officeDocument/2006/relationships/notesSlide" Target="../notesSlides/notesSlide110.xml"/><Relationship Id="rId8"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notesSlide" Target="../notesSlides/notesSlide113.xml"/><Relationship Id="rId5"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 Id="rId4" Type="http://schemas.openxmlformats.org/officeDocument/2006/relationships/image" Target="../media/image538.png"/><Relationship Id="rId5" Type="http://schemas.openxmlformats.org/officeDocument/2006/relationships/image" Target="../media/image539.png"/><Relationship Id="rId6" Type="http://schemas.openxmlformats.org/officeDocument/2006/relationships/image" Target="../media/image61.png"/><Relationship Id="rId7" Type="http://schemas.openxmlformats.org/officeDocument/2006/relationships/image" Target="../media/image540.png"/><Relationship Id="rId8" Type="http://schemas.openxmlformats.org/officeDocument/2006/relationships/image" Target="../media/image541.png"/><Relationship Id="rId9" Type="http://schemas.openxmlformats.org/officeDocument/2006/relationships/image" Target="../media/image542.png"/><Relationship Id="rId10" Type="http://schemas.openxmlformats.org/officeDocument/2006/relationships/image" Target="../media/image543.png"/><Relationship Id="rId11" Type="http://schemas.openxmlformats.org/officeDocument/2006/relationships/image" Target="../media/image544.png"/><Relationship Id="rId12" Type="http://schemas.openxmlformats.org/officeDocument/2006/relationships/image" Target="../media/image64.png"/><Relationship Id="rId13" Type="http://schemas.openxmlformats.org/officeDocument/2006/relationships/image" Target="../media/image545.png"/><Relationship Id="rId14" Type="http://schemas.openxmlformats.org/officeDocument/2006/relationships/image" Target="../media/image546.png"/><Relationship Id="rId15"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chart" Target="../charts/chart74.xml"/><Relationship Id="rId5" Type="http://schemas.openxmlformats.org/officeDocument/2006/relationships/notesSlide" Target="../notesSlides/notesSlide117.xml"/><Relationship Id="rId6" Type="http://schemas.openxmlformats.org/officeDocument/2006/relationships/image" Target="../media/image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5.xml"/><Relationship Id="rId4" Type="http://schemas.openxmlformats.org/officeDocument/2006/relationships/chart" Target="../charts/chart76.xml"/><Relationship Id="rId5" Type="http://schemas.openxmlformats.org/officeDocument/2006/relationships/chart" Target="../charts/chart77.xml"/><Relationship Id="rId6" Type="http://schemas.openxmlformats.org/officeDocument/2006/relationships/chart" Target="../charts/chart78.xml"/><Relationship Id="rId7" Type="http://schemas.openxmlformats.org/officeDocument/2006/relationships/notesSlide" Target="../notesSlides/notesSlide118.xml"/><Relationship Id="rId8"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 Id="rId4"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notesSlide" Target="../notesSlides/notesSlide122.xml"/><Relationship Id="rId5"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 Id="rId4" Type="http://schemas.openxmlformats.org/officeDocument/2006/relationships/image" Target="../media/image571.png"/><Relationship Id="rId5" Type="http://schemas.openxmlformats.org/officeDocument/2006/relationships/image" Target="../media/image572.png"/><Relationship Id="rId6" Type="http://schemas.openxmlformats.org/officeDocument/2006/relationships/image" Target="../media/image171.png"/><Relationship Id="rId7" Type="http://schemas.openxmlformats.org/officeDocument/2006/relationships/image" Target="../media/image573.png"/><Relationship Id="rId8" Type="http://schemas.openxmlformats.org/officeDocument/2006/relationships/image" Target="../media/image574.png"/><Relationship Id="rId9" Type="http://schemas.openxmlformats.org/officeDocument/2006/relationships/image" Target="../media/image575.png"/><Relationship Id="rId10" Type="http://schemas.openxmlformats.org/officeDocument/2006/relationships/image" Target="../media/image576.png"/><Relationship Id="rId11" Type="http://schemas.openxmlformats.org/officeDocument/2006/relationships/image" Target="../media/image577.png"/><Relationship Id="rId12" Type="http://schemas.openxmlformats.org/officeDocument/2006/relationships/image" Target="../media/image578.png"/><Relationship Id="rId13" Type="http://schemas.openxmlformats.org/officeDocument/2006/relationships/image" Target="../media/image579.png"/><Relationship Id="rId14" Type="http://schemas.openxmlformats.org/officeDocument/2006/relationships/image" Target="../media/image580.png"/><Relationship Id="rId15"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xml"/><Relationship Id="rId4" Type="http://schemas.openxmlformats.org/officeDocument/2006/relationships/chart" Target="../charts/chart81.xml"/><Relationship Id="rId5" Type="http://schemas.openxmlformats.org/officeDocument/2006/relationships/notesSlide" Target="../notesSlides/notesSlide126.xml"/><Relationship Id="rId6"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chart" Target="../charts/chart84.xml"/><Relationship Id="rId6" Type="http://schemas.openxmlformats.org/officeDocument/2006/relationships/chart" Target="../charts/chart85.xml"/><Relationship Id="rId7" Type="http://schemas.openxmlformats.org/officeDocument/2006/relationships/notesSlide" Target="../notesSlides/notesSlide127.xml"/><Relationship Id="rId8"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 Id="rId4"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notesSlide" Target="../notesSlides/notesSlide130.xml"/><Relationship Id="rId5"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xml"/><Relationship Id="rId4" Type="http://schemas.openxmlformats.org/officeDocument/2006/relationships/chart" Target="../charts/chart88.xml"/><Relationship Id="rId5" Type="http://schemas.openxmlformats.org/officeDocument/2006/relationships/chart" Target="../charts/chart89.xml"/><Relationship Id="rId6" Type="http://schemas.openxmlformats.org/officeDocument/2006/relationships/chart" Target="../charts/chart90.xml"/><Relationship Id="rId7" Type="http://schemas.openxmlformats.org/officeDocument/2006/relationships/notesSlide" Target="../notesSlides/notesSlide134.xml"/><Relationship Id="rId8"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1.xml"/><Relationship Id="rId4" Type="http://schemas.openxmlformats.org/officeDocument/2006/relationships/chart" Target="../charts/chart92.xml"/><Relationship Id="rId5" Type="http://schemas.openxmlformats.org/officeDocument/2006/relationships/chart" Target="../charts/chart93.xml"/><Relationship Id="rId6" Type="http://schemas.openxmlformats.org/officeDocument/2006/relationships/chart" Target="../charts/chart94.xml"/><Relationship Id="rId7" Type="http://schemas.openxmlformats.org/officeDocument/2006/relationships/notesSlide" Target="../notesSlides/notesSlide135.xml"/><Relationship Id="rId8" Type="http://schemas.openxmlformats.org/officeDocument/2006/relationships/image" Target="../media/image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chart" Target="../charts/chart96.xml"/><Relationship Id="rId5" Type="http://schemas.openxmlformats.org/officeDocument/2006/relationships/chart" Target="../charts/chart97.xml"/><Relationship Id="rId6" Type="http://schemas.openxmlformats.org/officeDocument/2006/relationships/chart" Target="../charts/chart98.xml"/><Relationship Id="rId7" Type="http://schemas.openxmlformats.org/officeDocument/2006/relationships/notesSlide" Target="../notesSlides/notesSlide136.xml"/><Relationship Id="rId8"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chart" Target="../charts/chart100.xml"/><Relationship Id="rId5" Type="http://schemas.openxmlformats.org/officeDocument/2006/relationships/notesSlide" Target="../notesSlides/notesSlide137.xml"/><Relationship Id="rId6"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 Id="rId4"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 Id="rId4" Type="http://schemas.openxmlformats.org/officeDocument/2006/relationships/image" Target="../media/image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 Id="rId4"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 Id="rId4"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 Id="rId4"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 Id="rId4"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 Id="rId4"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1.xml"/><Relationship Id="rId4" Type="http://schemas.openxmlformats.org/officeDocument/2006/relationships/chart" Target="../charts/chart102.xml"/><Relationship Id="rId5" Type="http://schemas.openxmlformats.org/officeDocument/2006/relationships/notesSlide" Target="../notesSlides/notesSlide149.xml"/><Relationship Id="rId6"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3.xml"/><Relationship Id="rId4" Type="http://schemas.openxmlformats.org/officeDocument/2006/relationships/chart" Target="../charts/chart104.xml"/><Relationship Id="rId5" Type="http://schemas.openxmlformats.org/officeDocument/2006/relationships/notesSlide" Target="../notesSlides/notesSlide153.xml"/><Relationship Id="rId6"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xml"/><Relationship Id="rId4" Type="http://schemas.openxmlformats.org/officeDocument/2006/relationships/chart" Target="../charts/chart106.xml"/><Relationship Id="rId5" Type="http://schemas.openxmlformats.org/officeDocument/2006/relationships/notesSlide" Target="../notesSlides/notesSlide157.xml"/><Relationship Id="rId6"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 Id="rId4"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 Id="rId4"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chart" Target="../charts/chart108.xml"/><Relationship Id="rId5" Type="http://schemas.openxmlformats.org/officeDocument/2006/relationships/notesSlide" Target="../notesSlides/notesSlide163.xml"/><Relationship Id="rId6" Type="http://schemas.openxmlformats.org/officeDocument/2006/relationships/image" Target="../media/image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9.xml"/><Relationship Id="rId4" Type="http://schemas.openxmlformats.org/officeDocument/2006/relationships/notesSlide" Target="../notesSlides/notesSlide164.xml"/><Relationship Id="rId5"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 Id="rId4"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 Id="rId4"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 Id="rId4" Type="http://schemas.openxmlformats.org/officeDocument/2006/relationships/image" Target="../media/image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 Id="rId4"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3.xml"/><Relationship Id="rId4" Type="http://schemas.openxmlformats.org/officeDocument/2006/relationships/image" Target="../media/image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 Id="rId4"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 Id="rId4"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 Id="rId4"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0.xml"/><Relationship Id="rId4"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2.xml"/><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 Id="rId4"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xml"/><Relationship Id="rId4" Type="http://schemas.openxmlformats.org/officeDocument/2006/relationships/notesSlide" Target="../notesSlides/notesSlide200.xml"/><Relationship Id="rId5" Type="http://schemas.openxmlformats.org/officeDocument/2006/relationships/image" Target="../media/image2.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1.xml"/><Relationship Id="rId4" Type="http://schemas.openxmlformats.org/officeDocument/2006/relationships/chart" Target="../charts/chart112.xml"/><Relationship Id="rId5" Type="http://schemas.openxmlformats.org/officeDocument/2006/relationships/chart" Target="../charts/chart113.xml"/><Relationship Id="rId6" Type="http://schemas.openxmlformats.org/officeDocument/2006/relationships/notesSlide" Target="../notesSlides/notesSlide201.xml"/><Relationship Id="rId7"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4.xml"/><Relationship Id="rId4" Type="http://schemas.openxmlformats.org/officeDocument/2006/relationships/chart" Target="../charts/chart115.xml"/><Relationship Id="rId5" Type="http://schemas.openxmlformats.org/officeDocument/2006/relationships/chart" Target="../charts/chart116.xml"/><Relationship Id="rId6" Type="http://schemas.openxmlformats.org/officeDocument/2006/relationships/notesSlide" Target="../notesSlides/notesSlide202.xml"/><Relationship Id="rId7"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7.xml"/><Relationship Id="rId4" Type="http://schemas.openxmlformats.org/officeDocument/2006/relationships/chart" Target="../charts/chart118.xml"/><Relationship Id="rId5" Type="http://schemas.openxmlformats.org/officeDocument/2006/relationships/chart" Target="../charts/chart119.xml"/><Relationship Id="rId6" Type="http://schemas.openxmlformats.org/officeDocument/2006/relationships/notesSlide" Target="../notesSlides/notesSlide204.xml"/><Relationship Id="rId7"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0.xml"/><Relationship Id="rId4" Type="http://schemas.openxmlformats.org/officeDocument/2006/relationships/notesSlide" Target="../notesSlides/notesSlide205.xml"/><Relationship Id="rId5" Type="http://schemas.openxmlformats.org/officeDocument/2006/relationships/image" Target="../media/image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 Id="rId4" Type="http://schemas.openxmlformats.org/officeDocument/2006/relationships/image" Target="../media/image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2.xml"/><Relationship Id="rId4"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 Id="rId4"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4.jpg"/><Relationship Id="rId3" Type="http://schemas.openxmlformats.org/officeDocument/2006/relationships/image" Target="../media/image70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17">
            <a:extLst>
              <a:ext uri="{FF2B5EF4-FFF2-40B4-BE49-F238E27FC236}">
                <a16:creationId xmlns:a16="http://schemas.microsoft.com/office/drawing/2014/main" id="{A0C23977-F6BF-1BE4-6D85-57D27DB6574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540" r="6551"/>
          <a:stretch/>
        </p:blipFill>
        <p:spPr>
          <a:xfrm>
            <a:off x="0" y="-1"/>
            <a:ext cx="12192000" cy="6858000"/>
          </a:xfrm>
          <a:prstGeom prst="rect">
            <a:avLst/>
          </a:prstGeom>
        </p:spPr>
      </p:pic>
      <p:pic>
        <p:nvPicPr>
          <p:cNvPr id="4"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28811" y="117564"/>
            <a:ext cx="1563189" cy="1172392"/>
          </a:xfrm>
          <a:prstGeom prst="rect">
            <a:avLst/>
          </a:prstGeom>
        </p:spPr>
      </p:pic>
      <p:sp>
        <p:nvSpPr>
          <p:cNvPr id="5" name="Rectangle 19"/>
          <p:cNvSpPr/>
          <p:nvPr userDrawn="1"/>
        </p:nvSpPr>
        <p:spPr bwMode="gray">
          <a:xfrm>
            <a:off x="161109" y="6503175"/>
            <a:ext cx="3372718" cy="169277"/>
          </a:xfrm>
          <a:prstGeom prst="rect">
            <a:avLst/>
          </a:prstGeom>
        </p:spPr>
        <p:txBody>
          <a:bodyPr wrap="none" lIns="0" tIns="0" rIns="0" bIns="0">
            <a:spAutoFit/>
          </a:bodyPr>
          <a:lstStyle/>
          <a:p>
            <a:pPr algn="l">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
        <p:nvSpPr>
          <p:cNvPr id="6" name="Cover bottom line"/>
          <p:cNvSpPr/>
          <p:nvPr/>
        </p:nvSpPr>
        <p:spPr>
          <a:xfrm>
            <a:off x="8622792" y="6172200"/>
            <a:ext cx="2651760" cy="22860"/>
          </a:xfrm>
          <a:prstGeom prst="rect">
            <a:avLst/>
          </a:prstGeom>
          <a:solidFill>
            <a:srgbClr val="3F7396"/>
          </a:solidFill>
          <a:ln>
            <a:noFill/>
          </a:ln>
        </p:spPr>
        <p:style>
          <a:lnRef idx="1">
            <a:srgbClr val="2A5F8F"/>
          </a:lnRef>
          <a:fillRef idx="3">
            <a:srgbClr val="2A5F8F"/>
          </a:fillRef>
          <a:effectRef idx="2">
            <a:srgbClr val="2A5F8F"/>
          </a:effectRef>
          <a:fontRef idx="minor">
            <a:srgbClr val="FFFFFF"/>
          </a:fontRef>
        </p:style>
        <p:txBody>
          <a:bodyPr rtlCol="0" anchor="ctr"/>
          <a:lstStyle/>
          <a:p>
            <a:pPr algn="ctr"/>
            <a:endParaRPr/>
          </a:p>
        </p:txBody>
      </p:sp>
      <p:sp>
        <p:nvSpPr>
          <p:cNvPr id="7" name="Title 1">
            <a:extLst>
              <a:ext uri="{FF2B5EF4-FFF2-40B4-BE49-F238E27FC236}">
                <a16:creationId xmlns:a16="http://schemas.microsoft.com/office/drawing/2014/main" id="{C7021366-A59A-8F49-E457-CE02C74158AB}"/>
              </a:ext>
            </a:extLst>
          </p:cNvPr>
          <p:cNvSpPr>
            <a:spLocks noGrp="1"/>
          </p:cNvSpPr>
          <p:nvPr/>
        </p:nvSpPr>
        <p:spPr bwMode="gray">
          <a:xfrm>
            <a:off x="2887038" y="1480455"/>
            <a:ext cx="9216989" cy="2114377"/>
          </a:xfrm>
        </p:spPr>
        <p:txBody>
          <a:bodyPr anchor="b">
            <a:noAutofit/>
          </a:bodyPr>
          <a:lstStyle>
            <a:lvl1pPr algn="l">
              <a:defRPr sz="3600" b="1">
                <a:solidFill>
                  <a:sysClr val="windowText" lastClr="000000"/>
                </a:solidFill>
                <a:latin typeface="Calibri" panose="020F0502020204030204" pitchFamily="34" charset="0"/>
                <a:cs typeface="Calibri" panose="020F0502020204030204" pitchFamily="34" charset="0"/>
              </a:defRPr>
            </a:lvl1pPr>
          </a:lstStyle>
          <a:p>
            <a:r>
              <a:rPr lang="en-US" noProof="0" dirty="0" sz="3600"/>
              <a:t>Off-Highway Vehicle Market</a:t>
            </a:r>
            <a:endParaRPr lang="en-GB" noProof="0" dirty="0"/>
          </a:p>
        </p:txBody>
      </p:sp>
      <p:sp>
        <p:nvSpPr>
          <p:cNvPr id="8" name="Subtitle 2">
            <a:extLst>
              <a:ext uri="{FF2B5EF4-FFF2-40B4-BE49-F238E27FC236}">
                <a16:creationId xmlns:a16="http://schemas.microsoft.com/office/drawing/2014/main" id="{892EDD5C-8176-C4BE-C570-D3D16C8D35E6}"/>
              </a:ext>
            </a:extLst>
          </p:cNvPr>
          <p:cNvSpPr>
            <a:spLocks noGrp="1"/>
          </p:cNvSpPr>
          <p:nvPr/>
        </p:nvSpPr>
        <p:spPr bwMode="gray">
          <a:xfrm>
            <a:off x="2887038" y="3612121"/>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a:t>Global Industry Analysis 2021–2025 and Opportunity Assessment, 2026–2036</a:t>
            </a:r>
            <a:endParaRPr lang="en-GB" sz="2000" noProof="0" dirty="0"/>
          </a:p>
        </p:txBody>
      </p:sp>
      <p:sp>
        <p:nvSpPr>
          <p:cNvPr id="8" name="Front Page Tag">
            <a:extLst>
              <a:ext uri="{FF2B5EF4-FFF2-40B4-BE49-F238E27FC236}">
                <a16:creationId xmlns:a16="http://schemas.microsoft.com/office/drawing/2014/main" id="{892EDD5C-8176-C4BE-C570-D3D16C8D35E6}"/>
              </a:ext>
            </a:extLst>
          </p:cNvPr>
          <p:cNvSpPr>
            <a:spLocks noGrp="1"/>
          </p:cNvSpPr>
          <p:nvPr/>
        </p:nvSpPr>
        <p:spPr bwMode="gray">
          <a:xfrm>
            <a:off x="2887038" y="2450000"/>
            <a:ext cx="9216989" cy="898917"/>
          </a:xfrm>
        </p:spPr>
        <p:txBody>
          <a:bodyPr>
            <a:noAutofit/>
          </a:bodyPr>
          <a:lstStyle>
            <a:lvl1pPr marL="0" indent="0" algn="l">
              <a:buNone/>
              <a:defRPr sz="1800">
                <a:solidFill>
                  <a:sysClr val="windowText" lastClr="000000"/>
                </a:solidFill>
                <a:latin typeface="Calibri" panose="020F0502020204030204" pitchFamily="34" charset="0"/>
                <a:cs typeface="Calibri" panose="020F0502020204030204" pitchFamily="34" charset="0"/>
              </a:defRPr>
            </a:lvl1pPr>
            <a:lvl2pPr marL="457196" indent="0" algn="ctr">
              <a:buNone/>
              <a:defRPr sz="2000"/>
            </a:lvl2pPr>
            <a:lvl3pPr marL="914391" indent="0" algn="ctr">
              <a:buNone/>
              <a:defRPr sz="1800"/>
            </a:lvl3pPr>
            <a:lvl4pPr marL="1371587" indent="0" algn="ctr">
              <a:buNone/>
              <a:defRPr sz="1600"/>
            </a:lvl4pPr>
            <a:lvl5pPr marL="1828783" indent="0" algn="ctr">
              <a:buNone/>
              <a:defRPr sz="1600"/>
            </a:lvl5pPr>
            <a:lvl6pPr marL="2285978" indent="0" algn="ctr">
              <a:buNone/>
              <a:defRPr sz="1600"/>
            </a:lvl6pPr>
            <a:lvl7pPr marL="2743174" indent="0" algn="ctr">
              <a:buNone/>
              <a:defRPr sz="1600"/>
            </a:lvl7pPr>
            <a:lvl8pPr marL="3200370" indent="0" algn="ctr">
              <a:buNone/>
              <a:defRPr sz="1600"/>
            </a:lvl8pPr>
            <a:lvl9pPr marL="3657565" indent="0" algn="ctr">
              <a:buNone/>
              <a:defRPr sz="1600"/>
            </a:lvl9pPr>
          </a:lstStyle>
          <a:p>
            <a:r>
              <a:rPr lang="en-US" sz="2000" noProof="0" dirty="0" b="1">
                <a:solidFill>
                  <a:srgbClr val="0070C0"/>
                </a:solidFill>
              </a:rPr>
              <a:t>Sample Report | 2026</a:t>
            </a:r>
            <a:endParaRPr lang="en-GB" sz="2000" noProof="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7" name="Rounded Rectangle 6">
            <a:hlinkClick action="ppaction://hlinksldjump" r:id="rId3"/>
          </p:cNvPr>
          <p:cNvSpPr/>
          <p:nvPr/>
        </p:nvSpPr>
        <p:spPr>
          <a:xfrm>
            <a:off x="314325" y="113503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 Market Signals</a:t>
            </a:r>
          </a:p>
        </p:txBody>
      </p:sp>
      <p:sp>
        <p:nvSpPr>
          <p:cNvPr id="8" name="Rounded Rectangle 7">
            <a:hlinkClick action="ppaction://hlinksldjump" r:id="rId4"/>
          </p:cNvPr>
          <p:cNvSpPr/>
          <p:nvPr/>
        </p:nvSpPr>
        <p:spPr>
          <a:xfrm>
            <a:off x="142875" y="155943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Overview</a:t>
            </a:r>
          </a:p>
        </p:txBody>
      </p:sp>
      <p:sp>
        <p:nvSpPr>
          <p:cNvPr id="9" name="Rounded Rectangle 8">
            <a:hlinkClick action="ppaction://hlinksldjump" r:id="rId5"/>
          </p:cNvPr>
          <p:cNvSpPr/>
          <p:nvPr/>
        </p:nvSpPr>
        <p:spPr>
          <a:xfrm>
            <a:off x="314325" y="1983833"/>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2. Market Taxonomy</a:t>
            </a:r>
          </a:p>
        </p:txBody>
      </p:sp>
      <p:sp>
        <p:nvSpPr>
          <p:cNvPr id="10" name="Rounded Rectangle 9">
            <a:hlinkClick action="ppaction://hlinksldjump" r:id="rId6"/>
          </p:cNvPr>
          <p:cNvSpPr/>
          <p:nvPr/>
        </p:nvSpPr>
        <p:spPr>
          <a:xfrm>
            <a:off x="314325" y="2408231"/>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3. Table of Contents</a:t>
            </a:r>
          </a:p>
        </p:txBody>
      </p:sp>
      <p:sp>
        <p:nvSpPr>
          <p:cNvPr id="11" name="Rounded Rectangle 10">
            <a:hlinkClick action="ppaction://hlinksldjump" r:id="rId7"/>
          </p:cNvPr>
          <p:cNvSpPr/>
          <p:nvPr/>
        </p:nvSpPr>
        <p:spPr>
          <a:xfrm>
            <a:off x="314325" y="2832629"/>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4. List of Figures, List of Tables</a:t>
            </a:r>
          </a:p>
        </p:txBody>
      </p:sp>
      <p:sp>
        <p:nvSpPr>
          <p:cNvPr id="12" name="Rounded Rectangle 11">
            <a:hlinkClick action="ppaction://hlinksldjump" r:id="rId8"/>
          </p:cNvPr>
          <p:cNvSpPr/>
          <p:nvPr/>
        </p:nvSpPr>
        <p:spPr>
          <a:xfrm>
            <a:off x="142875" y="3257027"/>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Global Market Outlook</a:t>
            </a:r>
          </a:p>
        </p:txBody>
      </p:sp>
      <p:sp>
        <p:nvSpPr>
          <p:cNvPr id="13" name="Rounded Rectangle 12">
            <a:hlinkClick action="ppaction://hlinksldjump" r:id="rId9"/>
          </p:cNvPr>
          <p:cNvSpPr/>
          <p:nvPr/>
        </p:nvSpPr>
        <p:spPr>
          <a:xfrm>
            <a:off x="314325" y="3681425"/>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5. Off-Highway Vehicle Market Global Overview</a:t>
            </a:r>
          </a:p>
        </p:txBody>
      </p:sp>
      <p:sp>
        <p:nvSpPr>
          <p:cNvPr id="14" name="Rounded Rectangle 13">
            <a:hlinkClick action="ppaction://hlinksldjump" r:id="rId10"/>
          </p:cNvPr>
          <p:cNvSpPr/>
          <p:nvPr/>
        </p:nvSpPr>
        <p:spPr>
          <a:xfrm>
            <a:off x="314325" y="4105823"/>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6. Global Market Analysis By Region</a:t>
            </a:r>
          </a:p>
        </p:txBody>
      </p:sp>
      <p:sp>
        <p:nvSpPr>
          <p:cNvPr id="15" name="Rounded Rectangle 14">
            <a:hlinkClick action="ppaction://hlinksldjump" r:id="rId11"/>
          </p:cNvPr>
          <p:cNvSpPr/>
          <p:nvPr/>
        </p:nvSpPr>
        <p:spPr>
          <a:xfrm>
            <a:off x="314325" y="4530221"/>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7. Global Market Analysis By Segments</a:t>
            </a:r>
          </a:p>
        </p:txBody>
      </p:sp>
      <p:sp>
        <p:nvSpPr>
          <p:cNvPr id="16" name="Rounded Rectangle 15">
            <a:hlinkClick action="ppaction://hlinksldjump" r:id="rId12"/>
          </p:cNvPr>
          <p:cNvSpPr/>
          <p:nvPr/>
        </p:nvSpPr>
        <p:spPr>
          <a:xfrm>
            <a:off x="142875" y="4954619"/>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North America Market Outlook</a:t>
            </a:r>
          </a:p>
        </p:txBody>
      </p:sp>
      <p:sp>
        <p:nvSpPr>
          <p:cNvPr id="17" name="Rounded Rectangle 16">
            <a:hlinkClick action="ppaction://hlinksldjump" r:id="rId13"/>
          </p:cNvPr>
          <p:cNvSpPr/>
          <p:nvPr/>
        </p:nvSpPr>
        <p:spPr>
          <a:xfrm>
            <a:off x="314325" y="537901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8. North America Overview</a:t>
            </a:r>
          </a:p>
        </p:txBody>
      </p:sp>
      <p:sp>
        <p:nvSpPr>
          <p:cNvPr id="18" name="Rounded Rectangle 17">
            <a:hlinkClick action="ppaction://hlinksldjump" r:id="rId14"/>
          </p:cNvPr>
          <p:cNvSpPr/>
          <p:nvPr/>
        </p:nvSpPr>
        <p:spPr>
          <a:xfrm>
            <a:off x="314325" y="5803415"/>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9. North America Market Analysis By Country</a:t>
            </a:r>
          </a:p>
        </p:txBody>
      </p:sp>
      <p:sp>
        <p:nvSpPr>
          <p:cNvPr id="19" name="Rounded Rectangle 18">
            <a:hlinkClick action="ppaction://hlinksldjump" r:id="rId15"/>
          </p:cNvPr>
          <p:cNvSpPr/>
          <p:nvPr/>
        </p:nvSpPr>
        <p:spPr>
          <a:xfrm>
            <a:off x="314325" y="6227813"/>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10. North America Market Analysis By Segments</a:t>
            </a:r>
          </a:p>
        </p:txBody>
      </p:sp>
      <p:sp>
        <p:nvSpPr>
          <p:cNvPr id="20" name="Rounded Rectangle 19">
            <a:hlinkClick action="ppaction://hlinksldjump" r:id="rId16"/>
          </p:cNvPr>
          <p:cNvSpPr/>
          <p:nvPr/>
        </p:nvSpPr>
        <p:spPr>
          <a:xfrm>
            <a:off x="6219825" y="1135037"/>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Country Market Outlook</a:t>
            </a:r>
          </a:p>
        </p:txBody>
      </p:sp>
      <p:sp>
        <p:nvSpPr>
          <p:cNvPr id="21" name="Rounded Rectangle 20">
            <a:hlinkClick action="ppaction://hlinksldjump" r:id="rId17"/>
          </p:cNvPr>
          <p:cNvSpPr/>
          <p:nvPr/>
        </p:nvSpPr>
        <p:spPr>
          <a:xfrm>
            <a:off x="6391275" y="1559435"/>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11. Off-Highway Vehicle Market Overview (Volume &amp; Value)</a:t>
            </a:r>
          </a:p>
        </p:txBody>
      </p:sp>
      <p:sp>
        <p:nvSpPr>
          <p:cNvPr id="22" name="Rounded Rectangle 21">
            <a:hlinkClick action="ppaction://hlinksldjump" r:id="rId18"/>
          </p:cNvPr>
          <p:cNvSpPr/>
          <p:nvPr/>
        </p:nvSpPr>
        <p:spPr>
          <a:xfrm>
            <a:off x="6391275" y="1983833"/>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12. Segment Overview (Volume &amp; Value)</a:t>
            </a:r>
          </a:p>
        </p:txBody>
      </p:sp>
      <p:sp>
        <p:nvSpPr>
          <p:cNvPr id="23" name="Rounded Rectangle 22">
            <a:hlinkClick action="ppaction://hlinksldjump" r:id="rId19"/>
          </p:cNvPr>
          <p:cNvSpPr/>
          <p:nvPr/>
        </p:nvSpPr>
        <p:spPr>
          <a:xfrm>
            <a:off x="6219825" y="2408231"/>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Pricing Assessment</a:t>
            </a:r>
          </a:p>
        </p:txBody>
      </p:sp>
      <p:sp>
        <p:nvSpPr>
          <p:cNvPr id="24" name="Rounded Rectangle 23">
            <a:hlinkClick action="ppaction://hlinksldjump" r:id="rId20"/>
          </p:cNvPr>
          <p:cNvSpPr/>
          <p:nvPr/>
        </p:nvSpPr>
        <p:spPr>
          <a:xfrm>
            <a:off x="6391275" y="2832629"/>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13. Off-Highway Vehicle Market Pricing Analysis</a:t>
            </a:r>
          </a:p>
        </p:txBody>
      </p:sp>
      <p:sp>
        <p:nvSpPr>
          <p:cNvPr id="25" name="Rounded Rectangle 24">
            <a:hlinkClick action="ppaction://hlinksldjump" r:id="rId21"/>
          </p:cNvPr>
          <p:cNvSpPr/>
          <p:nvPr/>
        </p:nvSpPr>
        <p:spPr>
          <a:xfrm>
            <a:off x="6391275" y="325702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14. Supply Chain Analysis</a:t>
            </a:r>
          </a:p>
        </p:txBody>
      </p:sp>
      <p:sp>
        <p:nvSpPr>
          <p:cNvPr id="26" name="Rounded Rectangle 25">
            <a:hlinkClick action="ppaction://hlinksldjump" r:id="rId22"/>
          </p:cNvPr>
          <p:cNvSpPr/>
          <p:nvPr/>
        </p:nvSpPr>
        <p:spPr>
          <a:xfrm>
            <a:off x="6219825" y="3681425"/>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Market Dynamics</a:t>
            </a:r>
          </a:p>
        </p:txBody>
      </p:sp>
      <p:sp>
        <p:nvSpPr>
          <p:cNvPr id="27" name="Rounded Rectangle 26">
            <a:hlinkClick action="ppaction://hlinksldjump" r:id="rId23"/>
          </p:cNvPr>
          <p:cNvSpPr/>
          <p:nvPr/>
        </p:nvSpPr>
        <p:spPr>
          <a:xfrm>
            <a:off x="6391275" y="4105823"/>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15. Market Dynamics &amp; Forces</a:t>
            </a:r>
          </a:p>
        </p:txBody>
      </p:sp>
      <p:sp>
        <p:nvSpPr>
          <p:cNvPr id="28" name="Rounded Rectangle 27">
            <a:hlinkClick action="ppaction://hlinksldjump" r:id="rId24"/>
          </p:cNvPr>
          <p:cNvSpPr/>
          <p:nvPr/>
        </p:nvSpPr>
        <p:spPr>
          <a:xfrm>
            <a:off x="6219825" y="4530221"/>
            <a:ext cx="5829300" cy="310313"/>
          </a:xfrm>
          <a:prstGeom prst="roundRect">
            <a:avLst>
              <a:gd name="adj" fmla="val 23529"/>
            </a:avLst>
          </a:prstGeom>
          <a:solidFill>
            <a:srgbClr val="EBF2F9"/>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E2A5C"/>
                </a:solidFill>
                <a:latin typeface="Calibri"/>
              </a:rPr>
              <a:t>Competition Assessment</a:t>
            </a:r>
          </a:p>
        </p:txBody>
      </p:sp>
      <p:sp>
        <p:nvSpPr>
          <p:cNvPr id="29" name="Rounded Rectangle 28">
            <a:hlinkClick action="ppaction://hlinksldjump" r:id="rId25"/>
          </p:cNvPr>
          <p:cNvSpPr/>
          <p:nvPr/>
        </p:nvSpPr>
        <p:spPr>
          <a:xfrm>
            <a:off x="6391275" y="5803415"/>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18. Competitive Landscape</a:t>
            </a:r>
          </a:p>
        </p:txBody>
      </p:sp>
      <p:sp>
        <p:nvSpPr>
          <p:cNvPr id="30" name="Rounded Rectangle 29">
            <a:hlinkClick action="ppaction://hlinksldjump" r:id="rId26"/>
          </p:cNvPr>
          <p:cNvSpPr/>
          <p:nvPr/>
        </p:nvSpPr>
        <p:spPr>
          <a:xfrm>
            <a:off x="6391275" y="4954619"/>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16. Market Share by Leading Players</a:t>
            </a:r>
          </a:p>
        </p:txBody>
      </p:sp>
      <p:sp>
        <p:nvSpPr>
          <p:cNvPr id="31" name="Rounded Rectangle 30">
            <a:hlinkClick action="ppaction://hlinksldjump" r:id="rId27"/>
          </p:cNvPr>
          <p:cNvSpPr/>
          <p:nvPr/>
        </p:nvSpPr>
        <p:spPr>
          <a:xfrm>
            <a:off x="6391275" y="5379017"/>
            <a:ext cx="5657850" cy="328567"/>
          </a:xfrm>
          <a:prstGeom prst="roundRect">
            <a:avLst>
              <a:gd name="adj" fmla="val 22222"/>
            </a:avLst>
          </a:prstGeom>
          <a:solidFill>
            <a:srgbClr val="EBF2F9"/>
          </a:solidFill>
          <a:ln w="635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E2A5C"/>
                </a:solidFill>
                <a:latin typeface="Calibri"/>
              </a:rPr>
              <a:t>17. Company Profiles &amp; Strategic Benchmarking</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Off-Highway Vehicle Demand</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Off-Highway Vehicle demand, the evidence behind each and what it implies for the global market</a:t>
            </a:r>
          </a:p>
        </p:txBody>
      </p:sp>
      <p:graphicFrame>
        <p:nvGraphicFramePr>
          <p:cNvPr id="7" name="Table 6"/>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E2A5C"/>
                          </a:solidFill>
                          <a:latin typeface="Calibri"/>
                        </a:rPr>
                        <a:t>QUESTIONS WE'RE HEARING</a:t>
                      </a:r>
                    </a:p>
                  </a:txBody>
                  <a:tcPr marL="70000" marR="70000" marT="45000" marB="45000" anchor="ctr">
                    <a:solidFill>
                      <a:srgbClr val="EBF2F9"/>
                    </a:solidFill>
                  </a:tcPr>
                </a:tc>
                <a:tc>
                  <a:txBody>
                    <a:bodyPr wrap="square"/>
                    <a:lstStyle/>
                    <a:p>
                      <a:pPr algn="l"/>
                      <a:r>
                        <a:rPr sz="1100" b="1">
                          <a:solidFill>
                            <a:srgbClr val="0E2A5C"/>
                          </a:solidFill>
                          <a:latin typeface="Calibri"/>
                        </a:rPr>
                        <a:t>WHAT WE'RE OBSERVING</a:t>
                      </a:r>
                    </a:p>
                  </a:txBody>
                  <a:tcPr marL="70000" marR="70000" marT="45000" marB="45000" anchor="ctr">
                    <a:solidFill>
                      <a:srgbClr val="EBF2F9"/>
                    </a:solidFill>
                  </a:tcPr>
                </a:tc>
                <a:tc>
                  <a:txBody>
                    <a:bodyPr wrap="square"/>
                    <a:lstStyle/>
                    <a:p>
                      <a:pPr algn="l"/>
                      <a:r>
                        <a:rPr sz="1100" b="1">
                          <a:solidFill>
                            <a:srgbClr val="0E2A5C"/>
                          </a:solidFill>
                          <a:latin typeface="Calibri"/>
                        </a:rPr>
                        <a:t>SELECT DATA POINTS</a:t>
                      </a:r>
                    </a:p>
                  </a:txBody>
                  <a:tcPr marL="70000" marR="70000" marT="45000" marB="45000" anchor="ctr">
                    <a:solidFill>
                      <a:srgbClr val="EBF2F9"/>
                    </a:solidFill>
                  </a:tcPr>
                </a:tc>
              </a:tr>
              <a:tr h="1040461">
                <a:tc>
                  <a:txBody>
                    <a:bodyPr wrap="square"/>
                    <a:lstStyle/>
                    <a:p>
                      <a:pPr algn="l"/>
                      <a:r>
                        <a:rPr sz="1100" b="1">
                          <a:solidFill>
                            <a:srgbClr val="0E2A5C"/>
                          </a:solidFill>
                          <a:latin typeface="Calibri"/>
                        </a:rPr>
                        <a:t>How fast is Off-Highway Vehicle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vehicle type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E2A5C"/>
                          </a:solidFill>
                          <a:latin typeface="Calibri"/>
                        </a:rPr>
                        <a:t>Which regions will drive the next wave of Off-Highway Vehicle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E2A5C"/>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0" name="TextBox 9"/>
          <p:cNvSpPr txBox="1"/>
          <p:nvPr/>
        </p:nvSpPr>
        <p:spPr>
          <a:xfrm>
            <a:off x="3784750" y="1761432"/>
            <a:ext cx="4661999" cy="186689"/>
          </a:xfrm>
          <a:prstGeom prst="rect">
            <a:avLst/>
          </a:prstGeom>
          <a:noFill/>
        </p:spPr>
        <p:txBody>
          <a:bodyPr wrap="none" lIns="0" rIns="0" tIns="0" bIns="0">
            <a:spAutoFit/>
          </a:bodyPr>
          <a:lstStyle/>
          <a:p>
            <a:r>
              <a:rPr sz="1100" b="0">
                <a:solidFill>
                  <a:srgbClr val="2E2E2E"/>
                </a:solidFill>
                <a:latin typeface="Calibri"/>
              </a:rPr>
              <a:t>Global demand expands at a 4.8% forecast CAGR (2026–2036), accelerating from</a:t>
            </a:r>
          </a:p>
        </p:txBody>
      </p:sp>
      <p:pic>
        <p:nvPicPr>
          <p:cNvPr id="11" name="Picture 10" descr="lock.png"/>
          <p:cNvPicPr>
            <a:picLocks noChangeAspect="1"/>
          </p:cNvPicPr>
          <p:nvPr/>
        </p:nvPicPr>
        <p:blipFill>
          <a:blip r:embed="rId4"/>
          <a:stretch>
            <a:fillRect/>
          </a:stretch>
        </p:blipFill>
        <p:spPr>
          <a:xfrm>
            <a:off x="8394800" y="1751653"/>
            <a:ext cx="128699" cy="187198"/>
          </a:xfrm>
          <a:prstGeom prst="rect">
            <a:avLst/>
          </a:prstGeom>
        </p:spPr>
      </p:pic>
      <p:sp>
        <p:nvSpPr>
          <p:cNvPr id="12" name="TextBox 11"/>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3" name="Picture 12" descr="lock.png"/>
          <p:cNvPicPr>
            <a:picLocks noChangeAspect="1"/>
          </p:cNvPicPr>
          <p:nvPr/>
        </p:nvPicPr>
        <p:blipFill>
          <a:blip r:embed="rId4"/>
          <a:stretch>
            <a:fillRect/>
          </a:stretch>
        </p:blipFill>
        <p:spPr>
          <a:xfrm>
            <a:off x="10214228" y="1689042"/>
            <a:ext cx="330041" cy="480060"/>
          </a:xfrm>
          <a:prstGeom prst="rect">
            <a:avLst/>
          </a:prstGeom>
        </p:spPr>
      </p:pic>
      <p:sp>
        <p:nvSpPr>
          <p:cNvPr id="14" name="TextBox 13"/>
          <p:cNvSpPr txBox="1"/>
          <p:nvPr/>
        </p:nvSpPr>
        <p:spPr>
          <a:xfrm>
            <a:off x="3784750" y="2801893"/>
            <a:ext cx="3244006" cy="186689"/>
          </a:xfrm>
          <a:prstGeom prst="rect">
            <a:avLst/>
          </a:prstGeom>
          <a:noFill/>
        </p:spPr>
        <p:txBody>
          <a:bodyPr wrap="none" lIns="0" rIns="0" tIns="0" bIns="0">
            <a:spAutoFit/>
          </a:bodyPr>
          <a:lstStyle/>
          <a:p>
            <a:r>
              <a:rPr sz="1100" b="0">
                <a:solidFill>
                  <a:srgbClr val="2E2E2E"/>
                </a:solidFill>
                <a:latin typeface="Calibri"/>
              </a:rPr>
              <a:t>Construction and Mining Vehicles leads Vehicle Type, at</a:t>
            </a:r>
          </a:p>
        </p:txBody>
      </p:sp>
      <p:pic>
        <p:nvPicPr>
          <p:cNvPr id="15" name="Picture 14" descr="lock.png"/>
          <p:cNvPicPr>
            <a:picLocks noChangeAspect="1"/>
          </p:cNvPicPr>
          <p:nvPr/>
        </p:nvPicPr>
        <p:blipFill>
          <a:blip r:embed="rId4"/>
          <a:stretch>
            <a:fillRect/>
          </a:stretch>
        </p:blipFill>
        <p:spPr>
          <a:xfrm>
            <a:off x="6976808" y="2792114"/>
            <a:ext cx="128699" cy="187198"/>
          </a:xfrm>
          <a:prstGeom prst="rect">
            <a:avLst/>
          </a:prstGeom>
        </p:spPr>
      </p:pic>
      <p:sp>
        <p:nvSpPr>
          <p:cNvPr id="16" name="TextBox 15"/>
          <p:cNvSpPr txBox="1"/>
          <p:nvPr/>
        </p:nvSpPr>
        <p:spPr>
          <a:xfrm>
            <a:off x="7144304" y="2801893"/>
            <a:ext cx="1367606" cy="186689"/>
          </a:xfrm>
          <a:prstGeom prst="rect">
            <a:avLst/>
          </a:prstGeom>
          <a:noFill/>
        </p:spPr>
        <p:txBody>
          <a:bodyPr wrap="none" lIns="0" rIns="0" tIns="0" bIns="0">
            <a:spAutoFit/>
          </a:bodyPr>
          <a:lstStyle/>
          <a:p>
            <a:r>
              <a:rPr sz="1100" b="0">
                <a:solidFill>
                  <a:srgbClr val="2E2E2E"/>
                </a:solidFill>
                <a:latin typeface="Calibri"/>
              </a:rPr>
              <a:t>of 2036 value, within a</a:t>
            </a:r>
          </a:p>
        </p:txBody>
      </p:sp>
      <p:sp>
        <p:nvSpPr>
          <p:cNvPr id="17" name="TextBox 16"/>
          <p:cNvSpPr txBox="1"/>
          <p:nvPr/>
        </p:nvSpPr>
        <p:spPr>
          <a:xfrm>
            <a:off x="3784750" y="2969533"/>
            <a:ext cx="1645096" cy="186689"/>
          </a:xfrm>
          <a:prstGeom prst="rect">
            <a:avLst/>
          </a:prstGeom>
          <a:noFill/>
        </p:spPr>
        <p:txBody>
          <a:bodyPr wrap="none" lIns="0" rIns="0" tIns="0" bIns="0">
            <a:spAutoFit/>
          </a:bodyPr>
          <a:lstStyle/>
          <a:p>
            <a:r>
              <a:rPr sz="1100" b="0">
                <a:solidFill>
                  <a:srgbClr val="2E2E2E"/>
                </a:solidFill>
                <a:latin typeface="Calibri"/>
              </a:rPr>
              <a:t>mix of 5 tracked categories.</a:t>
            </a:r>
          </a:p>
        </p:txBody>
      </p:sp>
      <p:sp>
        <p:nvSpPr>
          <p:cNvPr id="18" name="TextBox 17"/>
          <p:cNvSpPr txBox="1"/>
          <p:nvPr/>
        </p:nvSpPr>
        <p:spPr>
          <a:xfrm>
            <a:off x="8785375" y="2801893"/>
            <a:ext cx="2386434" cy="186689"/>
          </a:xfrm>
          <a:prstGeom prst="rect">
            <a:avLst/>
          </a:prstGeom>
          <a:noFill/>
        </p:spPr>
        <p:txBody>
          <a:bodyPr wrap="none" lIns="0" rIns="0" tIns="0" bIns="0">
            <a:spAutoFit/>
          </a:bodyPr>
          <a:lstStyle/>
          <a:p>
            <a:r>
              <a:rPr sz="1100" b="0">
                <a:solidFill>
                  <a:srgbClr val="2E2E2E"/>
                </a:solidFill>
                <a:latin typeface="Calibri"/>
              </a:rPr>
              <a:t>Lead: Construction and Mining Vehicles ·</a:t>
            </a:r>
          </a:p>
        </p:txBody>
      </p:sp>
      <p:pic>
        <p:nvPicPr>
          <p:cNvPr id="19" name="Picture 18" descr="lock.png"/>
          <p:cNvPicPr>
            <a:picLocks noChangeAspect="1"/>
          </p:cNvPicPr>
          <p:nvPr/>
        </p:nvPicPr>
        <p:blipFill>
          <a:blip r:embed="rId4"/>
          <a:stretch>
            <a:fillRect/>
          </a:stretch>
        </p:blipFill>
        <p:spPr>
          <a:xfrm>
            <a:off x="11119860" y="2792114"/>
            <a:ext cx="128699" cy="187198"/>
          </a:xfrm>
          <a:prstGeom prst="rect">
            <a:avLst/>
          </a:prstGeom>
        </p:spPr>
      </p:pic>
      <p:sp>
        <p:nvSpPr>
          <p:cNvPr id="20" name="TextBox 19"/>
          <p:cNvSpPr txBox="1"/>
          <p:nvPr/>
        </p:nvSpPr>
        <p:spPr>
          <a:xfrm>
            <a:off x="11287356" y="2801893"/>
            <a:ext cx="38943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21" name="TextBox 20"/>
          <p:cNvSpPr txBox="1"/>
          <p:nvPr/>
        </p:nvSpPr>
        <p:spPr>
          <a:xfrm>
            <a:off x="8785375" y="2969533"/>
            <a:ext cx="444549"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22" name="TextBox 21"/>
          <p:cNvSpPr txBox="1"/>
          <p:nvPr/>
        </p:nvSpPr>
        <p:spPr>
          <a:xfrm>
            <a:off x="3784750" y="3842354"/>
            <a:ext cx="4344416" cy="186689"/>
          </a:xfrm>
          <a:prstGeom prst="rect">
            <a:avLst/>
          </a:prstGeom>
          <a:noFill/>
        </p:spPr>
        <p:txBody>
          <a:bodyPr wrap="none" lIns="0" rIns="0" tIns="0" bIns="0">
            <a:spAutoFit/>
          </a:bodyPr>
          <a:lstStyle/>
          <a:p>
            <a:r>
              <a:rPr sz="1100" b="0">
                <a:solidFill>
                  <a:srgbClr val="2E2E2E"/>
                </a:solidFill>
                <a:latin typeface="Calibri"/>
              </a:rPr>
              <a:t>Battery Electric Vehicle (BEV) is the fastest-growing part of Powertrain, at a</a:t>
            </a:r>
          </a:p>
        </p:txBody>
      </p:sp>
      <p:pic>
        <p:nvPicPr>
          <p:cNvPr id="23" name="Picture 22" descr="lock.png"/>
          <p:cNvPicPr>
            <a:picLocks noChangeAspect="1"/>
          </p:cNvPicPr>
          <p:nvPr/>
        </p:nvPicPr>
        <p:blipFill>
          <a:blip r:embed="rId4"/>
          <a:stretch>
            <a:fillRect/>
          </a:stretch>
        </p:blipFill>
        <p:spPr>
          <a:xfrm>
            <a:off x="8077218" y="3832575"/>
            <a:ext cx="128699" cy="187198"/>
          </a:xfrm>
          <a:prstGeom prst="rect">
            <a:avLst/>
          </a:prstGeom>
        </p:spPr>
      </p:pic>
      <p:sp>
        <p:nvSpPr>
          <p:cNvPr id="24" name="TextBox 23"/>
          <p:cNvSpPr txBox="1"/>
          <p:nvPr/>
        </p:nvSpPr>
        <p:spPr>
          <a:xfrm>
            <a:off x="3784750" y="4009994"/>
            <a:ext cx="2537031" cy="186689"/>
          </a:xfrm>
          <a:prstGeom prst="rect">
            <a:avLst/>
          </a:prstGeom>
          <a:noFill/>
        </p:spPr>
        <p:txBody>
          <a:bodyPr wrap="none" lIns="0" rIns="0" tIns="0" bIns="0">
            <a:spAutoFit/>
          </a:bodyPr>
          <a:lstStyle/>
          <a:p>
            <a:r>
              <a:rPr sz="1100" b="0">
                <a:solidFill>
                  <a:srgbClr val="2E2E2E"/>
                </a:solidFill>
                <a:latin typeface="Calibri"/>
              </a:rPr>
              <a:t>forecast CAGR outpacing the wider market.</a:t>
            </a:r>
          </a:p>
        </p:txBody>
      </p:sp>
      <p:sp>
        <p:nvSpPr>
          <p:cNvPr id="25" name="TextBox 24"/>
          <p:cNvSpPr txBox="1"/>
          <p:nvPr/>
        </p:nvSpPr>
        <p:spPr>
          <a:xfrm>
            <a:off x="8785375" y="3926174"/>
            <a:ext cx="2269321" cy="186689"/>
          </a:xfrm>
          <a:prstGeom prst="rect">
            <a:avLst/>
          </a:prstGeom>
          <a:noFill/>
        </p:spPr>
        <p:txBody>
          <a:bodyPr wrap="none" lIns="0" rIns="0" tIns="0" bIns="0">
            <a:spAutoFit/>
          </a:bodyPr>
          <a:lstStyle/>
          <a:p>
            <a:r>
              <a:rPr sz="1100" b="0">
                <a:solidFill>
                  <a:srgbClr val="2E2E2E"/>
                </a:solidFill>
                <a:latin typeface="Calibri"/>
              </a:rPr>
              <a:t>Fastest: Battery Electric Vehicle (BEV) ·</a:t>
            </a:r>
          </a:p>
        </p:txBody>
      </p:sp>
      <p:pic>
        <p:nvPicPr>
          <p:cNvPr id="26" name="Picture 25" descr="lock.png"/>
          <p:cNvPicPr>
            <a:picLocks noChangeAspect="1"/>
          </p:cNvPicPr>
          <p:nvPr/>
        </p:nvPicPr>
        <p:blipFill>
          <a:blip r:embed="rId4"/>
          <a:stretch>
            <a:fillRect/>
          </a:stretch>
        </p:blipFill>
        <p:spPr>
          <a:xfrm>
            <a:off x="11002747" y="3916395"/>
            <a:ext cx="128699" cy="187198"/>
          </a:xfrm>
          <a:prstGeom prst="rect">
            <a:avLst/>
          </a:prstGeom>
        </p:spPr>
      </p:pic>
      <p:sp>
        <p:nvSpPr>
          <p:cNvPr id="27" name="TextBox 26"/>
          <p:cNvSpPr txBox="1"/>
          <p:nvPr/>
        </p:nvSpPr>
        <p:spPr>
          <a:xfrm>
            <a:off x="11170243"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28" name="TextBox 27"/>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29" name="Picture 28" descr="lock.png"/>
          <p:cNvPicPr>
            <a:picLocks noChangeAspect="1"/>
          </p:cNvPicPr>
          <p:nvPr/>
        </p:nvPicPr>
        <p:blipFill>
          <a:blip r:embed="rId4"/>
          <a:stretch>
            <a:fillRect/>
          </a:stretch>
        </p:blipFill>
        <p:spPr>
          <a:xfrm>
            <a:off x="6406275" y="4873036"/>
            <a:ext cx="128699" cy="187198"/>
          </a:xfrm>
          <a:prstGeom prst="rect">
            <a:avLst/>
          </a:prstGeom>
        </p:spPr>
      </p:pic>
      <p:sp>
        <p:nvSpPr>
          <p:cNvPr id="30" name="TextBox 29"/>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1" name="TextBox 30"/>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2" name="Picture 31" descr="lock.png"/>
          <p:cNvPicPr>
            <a:picLocks noChangeAspect="1"/>
          </p:cNvPicPr>
          <p:nvPr/>
        </p:nvPicPr>
        <p:blipFill>
          <a:blip r:embed="rId4"/>
          <a:stretch>
            <a:fillRect/>
          </a:stretch>
        </p:blipFill>
        <p:spPr>
          <a:xfrm>
            <a:off x="5106956" y="5040676"/>
            <a:ext cx="128699" cy="187198"/>
          </a:xfrm>
          <a:prstGeom prst="rect">
            <a:avLst/>
          </a:prstGeom>
        </p:spPr>
      </p:pic>
      <p:sp>
        <p:nvSpPr>
          <p:cNvPr id="33" name="TextBox 32"/>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4" name="TextBox 33"/>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35" name="Picture 34" descr="lock.png"/>
          <p:cNvPicPr>
            <a:picLocks noChangeAspect="1"/>
          </p:cNvPicPr>
          <p:nvPr/>
        </p:nvPicPr>
        <p:blipFill>
          <a:blip r:embed="rId4"/>
          <a:stretch>
            <a:fillRect/>
          </a:stretch>
        </p:blipFill>
        <p:spPr>
          <a:xfrm>
            <a:off x="10197622" y="4873036"/>
            <a:ext cx="128699" cy="187198"/>
          </a:xfrm>
          <a:prstGeom prst="rect">
            <a:avLst/>
          </a:prstGeom>
        </p:spPr>
      </p:pic>
      <p:sp>
        <p:nvSpPr>
          <p:cNvPr id="36" name="TextBox 35"/>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37" name="TextBox 36"/>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38" name="Picture 37" descr="lock.png"/>
          <p:cNvPicPr>
            <a:picLocks noChangeAspect="1"/>
          </p:cNvPicPr>
          <p:nvPr/>
        </p:nvPicPr>
        <p:blipFill>
          <a:blip r:embed="rId4"/>
          <a:stretch>
            <a:fillRect/>
          </a:stretch>
        </p:blipFill>
        <p:spPr>
          <a:xfrm>
            <a:off x="9248099" y="5040676"/>
            <a:ext cx="128699" cy="187198"/>
          </a:xfrm>
          <a:prstGeom prst="rect">
            <a:avLst/>
          </a:prstGeom>
        </p:spPr>
      </p:pic>
      <p:sp>
        <p:nvSpPr>
          <p:cNvPr id="39" name="TextBox 38"/>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0" name="TextBox 39"/>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1" name="Picture 40" descr="lock.png"/>
          <p:cNvPicPr>
            <a:picLocks noChangeAspect="1"/>
          </p:cNvPicPr>
          <p:nvPr/>
        </p:nvPicPr>
        <p:blipFill>
          <a:blip r:embed="rId4"/>
          <a:stretch>
            <a:fillRect/>
          </a:stretch>
        </p:blipFill>
        <p:spPr>
          <a:xfrm>
            <a:off x="4678579" y="5913497"/>
            <a:ext cx="128699" cy="187198"/>
          </a:xfrm>
          <a:prstGeom prst="rect">
            <a:avLst/>
          </a:prstGeom>
        </p:spPr>
      </p:pic>
      <p:sp>
        <p:nvSpPr>
          <p:cNvPr id="42" name="TextBox 41"/>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3" name="TextBox 42"/>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4" name="TextBox 43"/>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45" name="Picture 44" descr="lock.png"/>
          <p:cNvPicPr>
            <a:picLocks noChangeAspect="1"/>
          </p:cNvPicPr>
          <p:nvPr/>
        </p:nvPicPr>
        <p:blipFill>
          <a:blip r:embed="rId4"/>
          <a:stretch>
            <a:fillRect/>
          </a:stretch>
        </p:blipFill>
        <p:spPr>
          <a:xfrm>
            <a:off x="9591346" y="5997317"/>
            <a:ext cx="128699" cy="187198"/>
          </a:xfrm>
          <a:prstGeom prst="rect">
            <a:avLst/>
          </a:prstGeom>
        </p:spPr>
      </p:pic>
      <p:sp>
        <p:nvSpPr>
          <p:cNvPr id="46" name="TextBox 45"/>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47" name="Picture 46" descr="lock.png"/>
          <p:cNvPicPr>
            <a:picLocks noChangeAspect="1"/>
          </p:cNvPicPr>
          <p:nvPr/>
        </p:nvPicPr>
        <p:blipFill>
          <a:blip r:embed="rId4"/>
          <a:stretch>
            <a:fillRect/>
          </a:stretch>
        </p:blipFill>
        <p:spPr>
          <a:xfrm>
            <a:off x="11052672" y="5997317"/>
            <a:ext cx="128699" cy="187198"/>
          </a:xfrm>
          <a:prstGeom prst="rect">
            <a:avLst/>
          </a:prstGeom>
        </p:spPr>
      </p:pic>
      <p:sp>
        <p:nvSpPr>
          <p:cNvPr id="48" name="TextBox 47"/>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7 regions and the countries assessed under each</a:t>
            </a:r>
          </a:p>
        </p:txBody>
      </p:sp>
      <p:cxnSp>
        <p:nvCxnSpPr>
          <p:cNvPr id="7" name="Connector 6"/>
          <p:cNvCxnSpPr/>
          <p:nvPr/>
        </p:nvCxnSpPr>
        <p:spPr>
          <a:xfrm>
            <a:off x="6096000" y="1445350"/>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42975" y="1627887"/>
            <a:ext cx="10296525" cy="0"/>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42975"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657475"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371975"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6475"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10500"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525000"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239500" y="1627887"/>
            <a:ext cx="0" cy="182537"/>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09650" y="2093356"/>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9650" y="2558825"/>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9650" y="3106436"/>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724150" y="2093356"/>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24150" y="2558825"/>
            <a:ext cx="0" cy="23729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24150" y="3097309"/>
            <a:ext cx="0" cy="23729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438650" y="2093356"/>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38650" y="2558825"/>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438650" y="3106436"/>
            <a:ext cx="0" cy="255552"/>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38650" y="3663174"/>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38650" y="4210785"/>
            <a:ext cx="0" cy="255552"/>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38650" y="4767523"/>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38650" y="5315134"/>
            <a:ext cx="0" cy="255552"/>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38650" y="5871872"/>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53150" y="2093356"/>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53150" y="2558825"/>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53150" y="3106436"/>
            <a:ext cx="0" cy="237298"/>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53150" y="3644920"/>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153150" y="4365941"/>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877175" y="2093356"/>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877175" y="2558825"/>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877175" y="3106436"/>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591675" y="2093356"/>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591675" y="2558825"/>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91675" y="3106436"/>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91675" y="3827457"/>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1306175" y="2093356"/>
            <a:ext cx="0" cy="164283"/>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306175" y="2732236"/>
            <a:ext cx="0" cy="255552"/>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306175" y="3288973"/>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306175" y="3836584"/>
            <a:ext cx="0" cy="255552"/>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06175" y="4393322"/>
            <a:ext cx="0" cy="246425"/>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306175" y="4940933"/>
            <a:ext cx="0" cy="255552"/>
          </a:xfrm>
          <a:prstGeom prst="line">
            <a:avLst/>
          </a:prstGeom>
          <a:ln w="15875">
            <a:solidFill>
              <a:srgbClr val="79C3EC"/>
            </a:solidFill>
          </a:ln>
          <a:effectLst/>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667250" y="1080276"/>
            <a:ext cx="2857500" cy="365074"/>
          </a:xfrm>
          <a:prstGeom prst="roundRect">
            <a:avLst>
              <a:gd name="adj" fmla="val 17500"/>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Off-Highway Vehicle Market</a:t>
            </a:r>
          </a:p>
        </p:txBody>
      </p:sp>
      <p:sp>
        <p:nvSpPr>
          <p:cNvPr id="49" name="Rounded Rectangle 48"/>
          <p:cNvSpPr/>
          <p:nvPr/>
        </p:nvSpPr>
        <p:spPr>
          <a:xfrm>
            <a:off x="142875" y="181042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0" name="Rounded Rectangle 49"/>
          <p:cNvSpPr/>
          <p:nvPr/>
        </p:nvSpPr>
        <p:spPr>
          <a:xfrm>
            <a:off x="276225" y="225763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U.S.</a:t>
            </a:r>
          </a:p>
        </p:txBody>
      </p:sp>
      <p:sp>
        <p:nvSpPr>
          <p:cNvPr id="51" name="Rounded Rectangle 50"/>
          <p:cNvSpPr/>
          <p:nvPr/>
        </p:nvSpPr>
        <p:spPr>
          <a:xfrm>
            <a:off x="276225" y="280525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Canada</a:t>
            </a:r>
          </a:p>
        </p:txBody>
      </p:sp>
      <p:sp>
        <p:nvSpPr>
          <p:cNvPr id="52" name="Rounded Rectangle 51"/>
          <p:cNvSpPr/>
          <p:nvPr/>
        </p:nvSpPr>
        <p:spPr>
          <a:xfrm>
            <a:off x="276225" y="3352861"/>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Mexico</a:t>
            </a:r>
          </a:p>
        </p:txBody>
      </p:sp>
      <p:sp>
        <p:nvSpPr>
          <p:cNvPr id="53" name="Rounded Rectangle 52"/>
          <p:cNvSpPr/>
          <p:nvPr/>
        </p:nvSpPr>
        <p:spPr>
          <a:xfrm>
            <a:off x="1857375" y="181042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54" name="Rounded Rectangle 53"/>
          <p:cNvSpPr/>
          <p:nvPr/>
        </p:nvSpPr>
        <p:spPr>
          <a:xfrm>
            <a:off x="1990725" y="225763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Brazil</a:t>
            </a:r>
          </a:p>
        </p:txBody>
      </p:sp>
      <p:sp>
        <p:nvSpPr>
          <p:cNvPr id="55" name="Rounded Rectangle 54"/>
          <p:cNvSpPr/>
          <p:nvPr/>
        </p:nvSpPr>
        <p:spPr>
          <a:xfrm>
            <a:off x="1990725" y="2796123"/>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Chile</a:t>
            </a:r>
          </a:p>
        </p:txBody>
      </p:sp>
      <p:sp>
        <p:nvSpPr>
          <p:cNvPr id="56" name="Rounded Rectangle 55"/>
          <p:cNvSpPr/>
          <p:nvPr/>
        </p:nvSpPr>
        <p:spPr>
          <a:xfrm>
            <a:off x="1990725" y="3334608"/>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Latin America</a:t>
            </a:r>
          </a:p>
        </p:txBody>
      </p:sp>
      <p:sp>
        <p:nvSpPr>
          <p:cNvPr id="57" name="Rounded Rectangle 56"/>
          <p:cNvSpPr/>
          <p:nvPr/>
        </p:nvSpPr>
        <p:spPr>
          <a:xfrm>
            <a:off x="3571875" y="181042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Western Europe</a:t>
            </a:r>
          </a:p>
        </p:txBody>
      </p:sp>
      <p:sp>
        <p:nvSpPr>
          <p:cNvPr id="58" name="Rounded Rectangle 57"/>
          <p:cNvSpPr/>
          <p:nvPr/>
        </p:nvSpPr>
        <p:spPr>
          <a:xfrm>
            <a:off x="3705225" y="225763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Germany</a:t>
            </a:r>
          </a:p>
        </p:txBody>
      </p:sp>
      <p:sp>
        <p:nvSpPr>
          <p:cNvPr id="59" name="Rounded Rectangle 58"/>
          <p:cNvSpPr/>
          <p:nvPr/>
        </p:nvSpPr>
        <p:spPr>
          <a:xfrm>
            <a:off x="3705225" y="280525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Italy</a:t>
            </a:r>
          </a:p>
        </p:txBody>
      </p:sp>
      <p:sp>
        <p:nvSpPr>
          <p:cNvPr id="60" name="Rounded Rectangle 59"/>
          <p:cNvSpPr/>
          <p:nvPr/>
        </p:nvSpPr>
        <p:spPr>
          <a:xfrm>
            <a:off x="3705225" y="336198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France</a:t>
            </a:r>
          </a:p>
        </p:txBody>
      </p:sp>
      <p:sp>
        <p:nvSpPr>
          <p:cNvPr id="61" name="Rounded Rectangle 60"/>
          <p:cNvSpPr/>
          <p:nvPr/>
        </p:nvSpPr>
        <p:spPr>
          <a:xfrm>
            <a:off x="3705225" y="390959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U.K.</a:t>
            </a:r>
          </a:p>
        </p:txBody>
      </p:sp>
      <p:sp>
        <p:nvSpPr>
          <p:cNvPr id="62" name="Rounded Rectangle 61"/>
          <p:cNvSpPr/>
          <p:nvPr/>
        </p:nvSpPr>
        <p:spPr>
          <a:xfrm>
            <a:off x="3705225" y="4466337"/>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Spain</a:t>
            </a:r>
          </a:p>
        </p:txBody>
      </p:sp>
      <p:sp>
        <p:nvSpPr>
          <p:cNvPr id="63" name="Rounded Rectangle 62"/>
          <p:cNvSpPr/>
          <p:nvPr/>
        </p:nvSpPr>
        <p:spPr>
          <a:xfrm>
            <a:off x="3705225" y="501394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BENELUX</a:t>
            </a:r>
          </a:p>
        </p:txBody>
      </p:sp>
      <p:sp>
        <p:nvSpPr>
          <p:cNvPr id="64" name="Rounded Rectangle 63"/>
          <p:cNvSpPr/>
          <p:nvPr/>
        </p:nvSpPr>
        <p:spPr>
          <a:xfrm>
            <a:off x="3705225" y="5570686"/>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Nordic Countries</a:t>
            </a:r>
          </a:p>
        </p:txBody>
      </p:sp>
      <p:sp>
        <p:nvSpPr>
          <p:cNvPr id="65" name="Rounded Rectangle 64"/>
          <p:cNvSpPr/>
          <p:nvPr/>
        </p:nvSpPr>
        <p:spPr>
          <a:xfrm>
            <a:off x="3705225" y="6118296"/>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Western Europe</a:t>
            </a:r>
          </a:p>
        </p:txBody>
      </p:sp>
      <p:sp>
        <p:nvSpPr>
          <p:cNvPr id="66" name="Rounded Rectangle 65"/>
          <p:cNvSpPr/>
          <p:nvPr/>
        </p:nvSpPr>
        <p:spPr>
          <a:xfrm>
            <a:off x="5286375" y="181042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Eastern Europe</a:t>
            </a:r>
          </a:p>
        </p:txBody>
      </p:sp>
      <p:sp>
        <p:nvSpPr>
          <p:cNvPr id="67" name="Rounded Rectangle 66"/>
          <p:cNvSpPr/>
          <p:nvPr/>
        </p:nvSpPr>
        <p:spPr>
          <a:xfrm>
            <a:off x="5419725" y="225763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Russia</a:t>
            </a:r>
          </a:p>
        </p:txBody>
      </p:sp>
      <p:sp>
        <p:nvSpPr>
          <p:cNvPr id="68" name="Rounded Rectangle 67"/>
          <p:cNvSpPr/>
          <p:nvPr/>
        </p:nvSpPr>
        <p:spPr>
          <a:xfrm>
            <a:off x="5419725" y="280525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Hungary</a:t>
            </a:r>
          </a:p>
        </p:txBody>
      </p:sp>
      <p:sp>
        <p:nvSpPr>
          <p:cNvPr id="69" name="Rounded Rectangle 68"/>
          <p:cNvSpPr/>
          <p:nvPr/>
        </p:nvSpPr>
        <p:spPr>
          <a:xfrm>
            <a:off x="5419725" y="3343734"/>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Poland</a:t>
            </a:r>
          </a:p>
        </p:txBody>
      </p:sp>
      <p:sp>
        <p:nvSpPr>
          <p:cNvPr id="70" name="Rounded Rectangle 69"/>
          <p:cNvSpPr/>
          <p:nvPr/>
        </p:nvSpPr>
        <p:spPr>
          <a:xfrm>
            <a:off x="5419725" y="3891345"/>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Balkan &amp; Baltic Countries</a:t>
            </a:r>
          </a:p>
        </p:txBody>
      </p:sp>
      <p:sp>
        <p:nvSpPr>
          <p:cNvPr id="71" name="Rounded Rectangle 70"/>
          <p:cNvSpPr/>
          <p:nvPr/>
        </p:nvSpPr>
        <p:spPr>
          <a:xfrm>
            <a:off x="5419725" y="4612366"/>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Eastern Europe</a:t>
            </a:r>
          </a:p>
        </p:txBody>
      </p:sp>
      <p:sp>
        <p:nvSpPr>
          <p:cNvPr id="72" name="Rounded Rectangle 71"/>
          <p:cNvSpPr/>
          <p:nvPr/>
        </p:nvSpPr>
        <p:spPr>
          <a:xfrm>
            <a:off x="7010400" y="181042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3" name="Rounded Rectangle 72"/>
          <p:cNvSpPr/>
          <p:nvPr/>
        </p:nvSpPr>
        <p:spPr>
          <a:xfrm>
            <a:off x="7143750" y="225763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China</a:t>
            </a:r>
          </a:p>
        </p:txBody>
      </p:sp>
      <p:sp>
        <p:nvSpPr>
          <p:cNvPr id="74" name="Rounded Rectangle 73"/>
          <p:cNvSpPr/>
          <p:nvPr/>
        </p:nvSpPr>
        <p:spPr>
          <a:xfrm>
            <a:off x="7143750" y="280525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Japan</a:t>
            </a:r>
          </a:p>
        </p:txBody>
      </p:sp>
      <p:sp>
        <p:nvSpPr>
          <p:cNvPr id="75" name="Rounded Rectangle 74"/>
          <p:cNvSpPr/>
          <p:nvPr/>
        </p:nvSpPr>
        <p:spPr>
          <a:xfrm>
            <a:off x="7143750" y="3352861"/>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Korea</a:t>
            </a:r>
          </a:p>
        </p:txBody>
      </p:sp>
      <p:sp>
        <p:nvSpPr>
          <p:cNvPr id="76" name="Rounded Rectangle 75"/>
          <p:cNvSpPr/>
          <p:nvPr/>
        </p:nvSpPr>
        <p:spPr>
          <a:xfrm>
            <a:off x="8724900" y="181042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77" name="Rounded Rectangle 76"/>
          <p:cNvSpPr/>
          <p:nvPr/>
        </p:nvSpPr>
        <p:spPr>
          <a:xfrm>
            <a:off x="8858250" y="2257639"/>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India</a:t>
            </a:r>
          </a:p>
        </p:txBody>
      </p:sp>
      <p:sp>
        <p:nvSpPr>
          <p:cNvPr id="78" name="Rounded Rectangle 77"/>
          <p:cNvSpPr/>
          <p:nvPr/>
        </p:nvSpPr>
        <p:spPr>
          <a:xfrm>
            <a:off x="8858250" y="2805250"/>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ASEAN</a:t>
            </a:r>
          </a:p>
        </p:txBody>
      </p:sp>
      <p:sp>
        <p:nvSpPr>
          <p:cNvPr id="79" name="Rounded Rectangle 78"/>
          <p:cNvSpPr/>
          <p:nvPr/>
        </p:nvSpPr>
        <p:spPr>
          <a:xfrm>
            <a:off x="8858250" y="3352861"/>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Australia &amp; New Zealand</a:t>
            </a:r>
          </a:p>
        </p:txBody>
      </p:sp>
      <p:sp>
        <p:nvSpPr>
          <p:cNvPr id="80" name="Rounded Rectangle 79"/>
          <p:cNvSpPr/>
          <p:nvPr/>
        </p:nvSpPr>
        <p:spPr>
          <a:xfrm>
            <a:off x="8858250" y="4073882"/>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South Asia</a:t>
            </a:r>
          </a:p>
        </p:txBody>
      </p:sp>
      <p:sp>
        <p:nvSpPr>
          <p:cNvPr id="81" name="Rounded Rectangle 80"/>
          <p:cNvSpPr/>
          <p:nvPr/>
        </p:nvSpPr>
        <p:spPr>
          <a:xfrm>
            <a:off x="10439400" y="1810424"/>
            <a:ext cx="1600200" cy="282932"/>
          </a:xfrm>
          <a:prstGeom prst="roundRect">
            <a:avLst>
              <a:gd name="adj" fmla="val 22580"/>
            </a:avLst>
          </a:prstGeom>
          <a:solidFill>
            <a:srgbClr val="2A5F8F"/>
          </a:solidFill>
          <a:ln w="12700">
            <a:solidFill>
              <a:srgbClr val="2A5F8F"/>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82" name="Rounded Rectangle 81"/>
          <p:cNvSpPr/>
          <p:nvPr/>
        </p:nvSpPr>
        <p:spPr>
          <a:xfrm>
            <a:off x="10572750" y="2257639"/>
            <a:ext cx="1466850" cy="474596"/>
          </a:xfrm>
          <a:prstGeom prst="roundRect">
            <a:avLst>
              <a:gd name="adj" fmla="val 13461"/>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Kingdom of Saudi Arabia</a:t>
            </a:r>
          </a:p>
        </p:txBody>
      </p:sp>
      <p:sp>
        <p:nvSpPr>
          <p:cNvPr id="83" name="Rounded Rectangle 82"/>
          <p:cNvSpPr/>
          <p:nvPr/>
        </p:nvSpPr>
        <p:spPr>
          <a:xfrm>
            <a:off x="10572750" y="2987787"/>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Other GCC Countries</a:t>
            </a:r>
          </a:p>
        </p:txBody>
      </p:sp>
      <p:sp>
        <p:nvSpPr>
          <p:cNvPr id="84" name="Rounded Rectangle 83"/>
          <p:cNvSpPr/>
          <p:nvPr/>
        </p:nvSpPr>
        <p:spPr>
          <a:xfrm>
            <a:off x="10572750" y="3535398"/>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Turkiye</a:t>
            </a:r>
          </a:p>
        </p:txBody>
      </p:sp>
      <p:sp>
        <p:nvSpPr>
          <p:cNvPr id="85" name="Rounded Rectangle 84"/>
          <p:cNvSpPr/>
          <p:nvPr/>
        </p:nvSpPr>
        <p:spPr>
          <a:xfrm>
            <a:off x="10572750" y="4092136"/>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South Africa</a:t>
            </a:r>
          </a:p>
        </p:txBody>
      </p:sp>
      <p:sp>
        <p:nvSpPr>
          <p:cNvPr id="86" name="Rounded Rectangle 85"/>
          <p:cNvSpPr/>
          <p:nvPr/>
        </p:nvSpPr>
        <p:spPr>
          <a:xfrm>
            <a:off x="10572750" y="4639747"/>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Other African Union</a:t>
            </a:r>
          </a:p>
        </p:txBody>
      </p:sp>
      <p:sp>
        <p:nvSpPr>
          <p:cNvPr id="87" name="Rounded Rectangle 86"/>
          <p:cNvSpPr/>
          <p:nvPr/>
        </p:nvSpPr>
        <p:spPr>
          <a:xfrm>
            <a:off x="10572750" y="5196485"/>
            <a:ext cx="1466850" cy="301186"/>
          </a:xfrm>
          <a:prstGeom prst="roundRect">
            <a:avLst>
              <a:gd name="adj" fmla="val 21212"/>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E2A5C"/>
                </a:solidFill>
                <a:latin typeface="Calibri"/>
              </a:rPr>
              <a:t>Rest of MEA</a:t>
            </a:r>
          </a:p>
        </p:txBody>
      </p:sp>
      <p:sp>
        <p:nvSpPr>
          <p:cNvPr id="88" name="Rectangle 8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4 axes and the sub-segments sized under each</a:t>
            </a:r>
          </a:p>
        </p:txBody>
      </p:sp>
      <p:sp>
        <p:nvSpPr>
          <p:cNvPr id="7" name="Rectangle 6"/>
          <p:cNvSpPr/>
          <p:nvPr/>
        </p:nvSpPr>
        <p:spPr>
          <a:xfrm>
            <a:off x="142875" y="1028700"/>
            <a:ext cx="2876550" cy="55435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28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Vehicle Type (1/2)</a:t>
            </a:r>
          </a:p>
        </p:txBody>
      </p:sp>
      <p:sp>
        <p:nvSpPr>
          <p:cNvPr id="10" name="TextBox 9"/>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 name="TextBox 10"/>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Construction and Mining Vehicles</a:t>
            </a:r>
          </a:p>
        </p:txBody>
      </p:sp>
      <p:cxnSp>
        <p:nvCxnSpPr>
          <p:cNvPr id="12" name="Connector 11"/>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Excavators &amp; Wheel Loaders</a:t>
            </a:r>
          </a:p>
        </p:txBody>
      </p:sp>
      <p:cxnSp>
        <p:nvCxnSpPr>
          <p:cNvPr id="15" name="Connector 14"/>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Articulated &amp; Rigid Dump Trucks</a:t>
            </a:r>
          </a:p>
        </p:txBody>
      </p:sp>
      <p:cxnSp>
        <p:nvCxnSpPr>
          <p:cNvPr id="18" name="Connector 17"/>
          <p:cNvCxnSpPr/>
          <p:nvPr/>
        </p:nvCxnSpPr>
        <p:spPr>
          <a:xfrm>
            <a:off x="1524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Backhoe Loaders</a:t>
            </a:r>
          </a:p>
        </p:txBody>
      </p:sp>
      <p:cxnSp>
        <p:nvCxnSpPr>
          <p:cNvPr id="21" name="Connector 20"/>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714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5619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Bulldozers &amp; Crawler Loaders</a:t>
            </a:r>
          </a:p>
        </p:txBody>
      </p:sp>
      <p:cxnSp>
        <p:nvCxnSpPr>
          <p:cNvPr id="24" name="Connector 23"/>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5619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Cold Planers</a:t>
            </a:r>
          </a:p>
        </p:txBody>
      </p:sp>
      <p:cxnSp>
        <p:nvCxnSpPr>
          <p:cNvPr id="27" name="Connector 26"/>
          <p:cNvCxnSpPr/>
          <p:nvPr/>
        </p:nvCxnSpPr>
        <p:spPr>
          <a:xfrm>
            <a:off x="1524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32029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Other Construction and Mining Vehicles</a:t>
            </a:r>
          </a:p>
        </p:txBody>
      </p:sp>
      <p:cxnSp>
        <p:nvCxnSpPr>
          <p:cNvPr id="30" name="Connector 29"/>
          <p:cNvCxnSpPr/>
          <p:nvPr/>
        </p:nvCxnSpPr>
        <p:spPr>
          <a:xfrm>
            <a:off x="152400" y="26746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00025" y="26746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390525" y="267462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Agriculture and Forestry Vehicles</a:t>
            </a:r>
          </a:p>
        </p:txBody>
      </p:sp>
      <p:cxnSp>
        <p:nvCxnSpPr>
          <p:cNvPr id="33" name="Connector 32"/>
          <p:cNvCxnSpPr/>
          <p:nvPr/>
        </p:nvCxnSpPr>
        <p:spPr>
          <a:xfrm>
            <a:off x="1524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714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5619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Tractors</a:t>
            </a:r>
          </a:p>
        </p:txBody>
      </p:sp>
      <p:cxnSp>
        <p:nvCxnSpPr>
          <p:cNvPr id="36" name="Connector 35"/>
          <p:cNvCxnSpPr/>
          <p:nvPr/>
        </p:nvCxnSpPr>
        <p:spPr>
          <a:xfrm>
            <a:off x="1524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Feller Bunchers</a:t>
            </a:r>
          </a:p>
        </p:txBody>
      </p:sp>
      <p:cxnSp>
        <p:nvCxnSpPr>
          <p:cNvPr id="39" name="Connector 38"/>
          <p:cNvCxnSpPr/>
          <p:nvPr/>
        </p:nvCxnSpPr>
        <p:spPr>
          <a:xfrm>
            <a:off x="1524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714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1" name="TextBox 40"/>
          <p:cNvSpPr txBox="1"/>
          <p:nvPr/>
        </p:nvSpPr>
        <p:spPr>
          <a:xfrm>
            <a:off x="5619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Combine and Forage Harvesters</a:t>
            </a:r>
          </a:p>
        </p:txBody>
      </p:sp>
      <p:cxnSp>
        <p:nvCxnSpPr>
          <p:cNvPr id="42" name="Connector 41"/>
          <p:cNvCxnSpPr/>
          <p:nvPr/>
        </p:nvCxnSpPr>
        <p:spPr>
          <a:xfrm>
            <a:off x="152400" y="338328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71475" y="338328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561975" y="338328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Forestry Harvesters</a:t>
            </a:r>
          </a:p>
        </p:txBody>
      </p:sp>
      <p:cxnSp>
        <p:nvCxnSpPr>
          <p:cNvPr id="45" name="Connector 44"/>
          <p:cNvCxnSpPr/>
          <p:nvPr/>
        </p:nvCxnSpPr>
        <p:spPr>
          <a:xfrm>
            <a:off x="152400" y="356044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71475" y="356044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561975" y="356044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Agriculture and Forestry Vehicles</a:t>
            </a:r>
          </a:p>
        </p:txBody>
      </p:sp>
      <p:cxnSp>
        <p:nvCxnSpPr>
          <p:cNvPr id="48" name="Connector 47"/>
          <p:cNvCxnSpPr/>
          <p:nvPr/>
        </p:nvCxnSpPr>
        <p:spPr>
          <a:xfrm>
            <a:off x="152400" y="373761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00025" y="373761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390525" y="373761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Industrial and Port Vehicles</a:t>
            </a:r>
          </a:p>
        </p:txBody>
      </p:sp>
      <p:cxnSp>
        <p:nvCxnSpPr>
          <p:cNvPr id="51" name="Connector 50"/>
          <p:cNvCxnSpPr/>
          <p:nvPr/>
        </p:nvCxnSpPr>
        <p:spPr>
          <a:xfrm>
            <a:off x="152400" y="391477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1475" y="391477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3" name="TextBox 52"/>
          <p:cNvSpPr txBox="1"/>
          <p:nvPr/>
        </p:nvSpPr>
        <p:spPr>
          <a:xfrm>
            <a:off x="561975" y="391477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Rough-Terrain Forklifts</a:t>
            </a:r>
          </a:p>
        </p:txBody>
      </p:sp>
      <p:cxnSp>
        <p:nvCxnSpPr>
          <p:cNvPr id="54" name="Connector 53"/>
          <p:cNvCxnSpPr/>
          <p:nvPr/>
        </p:nvCxnSpPr>
        <p:spPr>
          <a:xfrm>
            <a:off x="152400" y="409194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371475" y="409194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6" name="TextBox 55"/>
          <p:cNvSpPr txBox="1"/>
          <p:nvPr/>
        </p:nvSpPr>
        <p:spPr>
          <a:xfrm>
            <a:off x="561975" y="409194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Aisle Trucks</a:t>
            </a:r>
          </a:p>
        </p:txBody>
      </p:sp>
      <p:cxnSp>
        <p:nvCxnSpPr>
          <p:cNvPr id="57" name="Connector 56"/>
          <p:cNvCxnSpPr/>
          <p:nvPr/>
        </p:nvCxnSpPr>
        <p:spPr>
          <a:xfrm>
            <a:off x="152400" y="426910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71475" y="426910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9" name="TextBox 58"/>
          <p:cNvSpPr txBox="1"/>
          <p:nvPr/>
        </p:nvSpPr>
        <p:spPr>
          <a:xfrm>
            <a:off x="561975" y="426910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Automated Guided Vehicles</a:t>
            </a:r>
          </a:p>
        </p:txBody>
      </p:sp>
      <p:cxnSp>
        <p:nvCxnSpPr>
          <p:cNvPr id="60" name="Connector 59"/>
          <p:cNvCxnSpPr/>
          <p:nvPr/>
        </p:nvCxnSpPr>
        <p:spPr>
          <a:xfrm>
            <a:off x="152400" y="444627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71475" y="444627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2" name="TextBox 61"/>
          <p:cNvSpPr txBox="1"/>
          <p:nvPr/>
        </p:nvSpPr>
        <p:spPr>
          <a:xfrm>
            <a:off x="561975" y="444627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Burden Carriers</a:t>
            </a:r>
          </a:p>
        </p:txBody>
      </p:sp>
      <p:cxnSp>
        <p:nvCxnSpPr>
          <p:cNvPr id="63" name="Connector 62"/>
          <p:cNvCxnSpPr/>
          <p:nvPr/>
        </p:nvCxnSpPr>
        <p:spPr>
          <a:xfrm>
            <a:off x="152400" y="462343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71475" y="462343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61975" y="462343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Industrial and Port Vehicles</a:t>
            </a:r>
          </a:p>
        </p:txBody>
      </p:sp>
      <p:cxnSp>
        <p:nvCxnSpPr>
          <p:cNvPr id="66" name="Connector 65"/>
          <p:cNvCxnSpPr/>
          <p:nvPr/>
        </p:nvCxnSpPr>
        <p:spPr>
          <a:xfrm>
            <a:off x="152400" y="480060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00025" y="48006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390525" y="48006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Recreational and Powersports Vehicles</a:t>
            </a:r>
          </a:p>
        </p:txBody>
      </p:sp>
      <p:cxnSp>
        <p:nvCxnSpPr>
          <p:cNvPr id="69" name="Connector 68"/>
          <p:cNvCxnSpPr/>
          <p:nvPr/>
        </p:nvCxnSpPr>
        <p:spPr>
          <a:xfrm>
            <a:off x="152400" y="49777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71475" y="49777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61975" y="49777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All-Terrain Vehicles (ATVs)</a:t>
            </a:r>
          </a:p>
        </p:txBody>
      </p:sp>
      <p:cxnSp>
        <p:nvCxnSpPr>
          <p:cNvPr id="72" name="Connector 71"/>
          <p:cNvCxnSpPr/>
          <p:nvPr/>
        </p:nvCxnSpPr>
        <p:spPr>
          <a:xfrm>
            <a:off x="152400" y="51549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371475" y="51549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561975" y="51549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Utility Task Vehicles</a:t>
            </a:r>
          </a:p>
        </p:txBody>
      </p:sp>
      <p:cxnSp>
        <p:nvCxnSpPr>
          <p:cNvPr id="75" name="Connector 74"/>
          <p:cNvCxnSpPr/>
          <p:nvPr/>
        </p:nvCxnSpPr>
        <p:spPr>
          <a:xfrm>
            <a:off x="152400" y="53320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371475" y="53320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561975" y="53320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Buggies</a:t>
            </a:r>
          </a:p>
        </p:txBody>
      </p:sp>
      <p:cxnSp>
        <p:nvCxnSpPr>
          <p:cNvPr id="78" name="Connector 77"/>
          <p:cNvCxnSpPr/>
          <p:nvPr/>
        </p:nvCxnSpPr>
        <p:spPr>
          <a:xfrm>
            <a:off x="152400" y="55092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371475" y="55092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0" name="TextBox 79"/>
          <p:cNvSpPr txBox="1"/>
          <p:nvPr/>
        </p:nvSpPr>
        <p:spPr>
          <a:xfrm>
            <a:off x="561975" y="55092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Dirt Bikes</a:t>
            </a:r>
          </a:p>
        </p:txBody>
      </p:sp>
      <p:cxnSp>
        <p:nvCxnSpPr>
          <p:cNvPr id="81" name="Connector 80"/>
          <p:cNvCxnSpPr/>
          <p:nvPr/>
        </p:nvCxnSpPr>
        <p:spPr>
          <a:xfrm>
            <a:off x="152400" y="56864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371475" y="56864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3" name="TextBox 82"/>
          <p:cNvSpPr txBox="1"/>
          <p:nvPr/>
        </p:nvSpPr>
        <p:spPr>
          <a:xfrm>
            <a:off x="561975" y="56864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Recreational Vehicles</a:t>
            </a:r>
          </a:p>
        </p:txBody>
      </p:sp>
      <p:cxnSp>
        <p:nvCxnSpPr>
          <p:cNvPr id="84" name="Connector 83"/>
          <p:cNvCxnSpPr/>
          <p:nvPr/>
        </p:nvCxnSpPr>
        <p:spPr>
          <a:xfrm>
            <a:off x="152400" y="58635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200025" y="58635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390525" y="58635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Military Vehicles</a:t>
            </a:r>
          </a:p>
        </p:txBody>
      </p:sp>
      <p:cxnSp>
        <p:nvCxnSpPr>
          <p:cNvPr id="87" name="Connector 86"/>
          <p:cNvCxnSpPr/>
          <p:nvPr/>
        </p:nvCxnSpPr>
        <p:spPr>
          <a:xfrm>
            <a:off x="152400" y="60407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71475" y="60407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561975" y="604075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Tanks</a:t>
            </a:r>
          </a:p>
        </p:txBody>
      </p:sp>
      <p:cxnSp>
        <p:nvCxnSpPr>
          <p:cNvPr id="90" name="Connector 89"/>
          <p:cNvCxnSpPr/>
          <p:nvPr/>
        </p:nvCxnSpPr>
        <p:spPr>
          <a:xfrm>
            <a:off x="152400" y="621792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371475" y="621792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561975" y="621792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Armored Combat Vehicles</a:t>
            </a:r>
          </a:p>
        </p:txBody>
      </p:sp>
      <p:cxnSp>
        <p:nvCxnSpPr>
          <p:cNvPr id="93" name="Connector 92"/>
          <p:cNvCxnSpPr/>
          <p:nvPr/>
        </p:nvCxnSpPr>
        <p:spPr>
          <a:xfrm>
            <a:off x="152400" y="63950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371475" y="63950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5" name="TextBox 94"/>
          <p:cNvSpPr txBox="1"/>
          <p:nvPr/>
        </p:nvSpPr>
        <p:spPr>
          <a:xfrm>
            <a:off x="561975" y="63950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Artillery Vehicles</a:t>
            </a:r>
          </a:p>
        </p:txBody>
      </p:sp>
      <p:sp>
        <p:nvSpPr>
          <p:cNvPr id="96" name="Rectangle 95"/>
          <p:cNvSpPr/>
          <p:nvPr/>
        </p:nvSpPr>
        <p:spPr>
          <a:xfrm>
            <a:off x="3152775" y="1028700"/>
            <a:ext cx="2876550" cy="76009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31527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Vehicle Type (2/2)</a:t>
            </a:r>
          </a:p>
        </p:txBody>
      </p:sp>
      <p:sp>
        <p:nvSpPr>
          <p:cNvPr id="99" name="TextBox 98"/>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Military Vehicles</a:t>
            </a:r>
          </a:p>
        </p:txBody>
      </p:sp>
      <p:cxnSp>
        <p:nvCxnSpPr>
          <p:cNvPr id="101" name="Connector 100"/>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3" name="TextBox 102"/>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Special-Purpose Vehicles</a:t>
            </a:r>
          </a:p>
        </p:txBody>
      </p:sp>
      <p:cxnSp>
        <p:nvCxnSpPr>
          <p:cNvPr id="104" name="Connector 103"/>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6" name="TextBox 105"/>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Military Vehicles</a:t>
            </a:r>
          </a:p>
        </p:txBody>
      </p:sp>
      <p:sp>
        <p:nvSpPr>
          <p:cNvPr id="107" name="Rectangle 106"/>
          <p:cNvSpPr/>
          <p:nvPr/>
        </p:nvSpPr>
        <p:spPr>
          <a:xfrm>
            <a:off x="3152775" y="1903095"/>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3152775" y="1903095"/>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228975" y="1903095"/>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Propulsion Configuration</a:t>
            </a:r>
          </a:p>
        </p:txBody>
      </p:sp>
      <p:sp>
        <p:nvSpPr>
          <p:cNvPr id="110" name="TextBox 109"/>
          <p:cNvSpPr txBox="1"/>
          <p:nvPr/>
        </p:nvSpPr>
        <p:spPr>
          <a:xfrm>
            <a:off x="32099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1" name="TextBox 110"/>
          <p:cNvSpPr txBox="1"/>
          <p:nvPr/>
        </p:nvSpPr>
        <p:spPr>
          <a:xfrm>
            <a:off x="3400425" y="21316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Wheeled Vehicles</a:t>
            </a:r>
          </a:p>
        </p:txBody>
      </p:sp>
      <p:cxnSp>
        <p:nvCxnSpPr>
          <p:cNvPr id="112" name="Connector 111"/>
          <p:cNvCxnSpPr/>
          <p:nvPr/>
        </p:nvCxnSpPr>
        <p:spPr>
          <a:xfrm>
            <a:off x="3162300" y="23088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209925" y="23088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3400425" y="230886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Tracked Vehicles</a:t>
            </a:r>
          </a:p>
        </p:txBody>
      </p:sp>
      <p:cxnSp>
        <p:nvCxnSpPr>
          <p:cNvPr id="115" name="Connector 114"/>
          <p:cNvCxnSpPr/>
          <p:nvPr/>
        </p:nvCxnSpPr>
        <p:spPr>
          <a:xfrm>
            <a:off x="31623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32099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34004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Semi-Tracked Vehicles</a:t>
            </a:r>
          </a:p>
        </p:txBody>
      </p:sp>
      <p:cxnSp>
        <p:nvCxnSpPr>
          <p:cNvPr id="118" name="Connector 117"/>
          <p:cNvCxnSpPr/>
          <p:nvPr/>
        </p:nvCxnSpPr>
        <p:spPr>
          <a:xfrm>
            <a:off x="31623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32099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0" name="TextBox 119"/>
          <p:cNvSpPr txBox="1"/>
          <p:nvPr/>
        </p:nvSpPr>
        <p:spPr>
          <a:xfrm>
            <a:off x="3400425" y="2663190"/>
            <a:ext cx="259080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Other Specialized Propulsion Configurations</a:t>
            </a:r>
          </a:p>
        </p:txBody>
      </p:sp>
      <p:sp>
        <p:nvSpPr>
          <p:cNvPr id="121" name="Rectangle 120"/>
          <p:cNvSpPr/>
          <p:nvPr/>
        </p:nvSpPr>
        <p:spPr>
          <a:xfrm>
            <a:off x="61626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61626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Powertrain</a:t>
            </a:r>
          </a:p>
        </p:txBody>
      </p:sp>
      <p:sp>
        <p:nvSpPr>
          <p:cNvPr id="124" name="TextBox 123"/>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5" name="TextBox 124"/>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Internal Combustion Engine (ICE)</a:t>
            </a:r>
          </a:p>
        </p:txBody>
      </p:sp>
      <p:cxnSp>
        <p:nvCxnSpPr>
          <p:cNvPr id="126" name="Connector 125"/>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8" name="TextBox 127"/>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Battery Electric Vehicle (BEV)</a:t>
            </a:r>
          </a:p>
        </p:txBody>
      </p:sp>
      <p:cxnSp>
        <p:nvCxnSpPr>
          <p:cNvPr id="129" name="Connector 128"/>
          <p:cNvCxnSpPr/>
          <p:nvPr/>
        </p:nvCxnSpPr>
        <p:spPr>
          <a:xfrm>
            <a:off x="61722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62198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1" name="TextBox 130"/>
          <p:cNvSpPr txBox="1"/>
          <p:nvPr/>
        </p:nvSpPr>
        <p:spPr>
          <a:xfrm>
            <a:off x="64103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Hybrid Powertrain</a:t>
            </a:r>
          </a:p>
        </p:txBody>
      </p:sp>
      <p:cxnSp>
        <p:nvCxnSpPr>
          <p:cNvPr id="132" name="Connector 131"/>
          <p:cNvCxnSpPr/>
          <p:nvPr/>
        </p:nvCxnSpPr>
        <p:spPr>
          <a:xfrm>
            <a:off x="61722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62198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4" name="TextBox 133"/>
          <p:cNvSpPr txBox="1"/>
          <p:nvPr/>
        </p:nvSpPr>
        <p:spPr>
          <a:xfrm>
            <a:off x="64103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Alternative Fuel ICE</a:t>
            </a:r>
          </a:p>
        </p:txBody>
      </p:sp>
      <p:sp>
        <p:nvSpPr>
          <p:cNvPr id="135" name="Rectangle 134"/>
          <p:cNvSpPr/>
          <p:nvPr/>
        </p:nvSpPr>
        <p:spPr>
          <a:xfrm>
            <a:off x="9172575" y="1028700"/>
            <a:ext cx="2876550" cy="93726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172575" y="1028700"/>
            <a:ext cx="2876550" cy="228600"/>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Vehicle Capacity</a:t>
            </a:r>
          </a:p>
        </p:txBody>
      </p:sp>
      <p:sp>
        <p:nvSpPr>
          <p:cNvPr id="138" name="TextBox 137"/>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39" name="TextBox 138"/>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Compact / Light-Duty Vehicles</a:t>
            </a:r>
          </a:p>
        </p:txBody>
      </p:sp>
      <p:cxnSp>
        <p:nvCxnSpPr>
          <p:cNvPr id="140" name="Connector 139"/>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2" name="TextBox 141"/>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Medium-Duty Vehicles</a:t>
            </a:r>
          </a:p>
        </p:txBody>
      </p:sp>
      <p:cxnSp>
        <p:nvCxnSpPr>
          <p:cNvPr id="143" name="Connector 142"/>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22972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5" name="TextBox 144"/>
          <p:cNvSpPr txBox="1"/>
          <p:nvPr/>
        </p:nvSpPr>
        <p:spPr>
          <a:xfrm>
            <a:off x="9420225" y="16116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Heavy-Duty Vehicles</a:t>
            </a:r>
          </a:p>
        </p:txBody>
      </p:sp>
      <p:cxnSp>
        <p:nvCxnSpPr>
          <p:cNvPr id="146" name="Connector 145"/>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922972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8" name="TextBox 147"/>
          <p:cNvSpPr txBox="1"/>
          <p:nvPr/>
        </p:nvSpPr>
        <p:spPr>
          <a:xfrm>
            <a:off x="9420225" y="178879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Ultra-Heavy-Duty Vehicles</a:t>
            </a:r>
          </a:p>
        </p:txBody>
      </p:sp>
      <p:sp>
        <p:nvSpPr>
          <p:cNvPr id="149" name="Rectangle 14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Company Coverage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7" name="TextBox 6"/>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Off-Highway Vehicle Market profiled and benchmarked in the Competition Assessment section.</a:t>
            </a:r>
          </a:p>
        </p:txBody>
      </p:sp>
      <p:sp>
        <p:nvSpPr>
          <p:cNvPr id="8" name="Rectangle 7"/>
          <p:cNvSpPr/>
          <p:nvPr/>
        </p:nvSpPr>
        <p:spPr>
          <a:xfrm>
            <a:off x="142875" y="1554872"/>
            <a:ext cx="3841750"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2875" y="1554872"/>
            <a:ext cx="3841750"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2875" y="1618760"/>
            <a:ext cx="3841750"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1" name="TextBox 10"/>
          <p:cNvSpPr txBox="1"/>
          <p:nvPr/>
        </p:nvSpPr>
        <p:spPr>
          <a:xfrm>
            <a:off x="333375" y="182867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2" name="TextBox 11"/>
          <p:cNvSpPr txBox="1"/>
          <p:nvPr/>
        </p:nvSpPr>
        <p:spPr>
          <a:xfrm>
            <a:off x="581025" y="182867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Caterpillar</a:t>
            </a:r>
          </a:p>
        </p:txBody>
      </p:sp>
      <p:sp>
        <p:nvSpPr>
          <p:cNvPr id="13" name="Rectangle 12"/>
          <p:cNvSpPr/>
          <p:nvPr/>
        </p:nvSpPr>
        <p:spPr>
          <a:xfrm>
            <a:off x="152400" y="2047722"/>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52400" y="204772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33375" y="204772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6" name="TextBox 15"/>
          <p:cNvSpPr txBox="1"/>
          <p:nvPr/>
        </p:nvSpPr>
        <p:spPr>
          <a:xfrm>
            <a:off x="581025" y="204772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Komatsu</a:t>
            </a:r>
          </a:p>
        </p:txBody>
      </p:sp>
      <p:cxnSp>
        <p:nvCxnSpPr>
          <p:cNvPr id="17" name="Connector 16"/>
          <p:cNvCxnSpPr/>
          <p:nvPr/>
        </p:nvCxnSpPr>
        <p:spPr>
          <a:xfrm>
            <a:off x="152400" y="226676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26676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26676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Volvo Construction Equipment</a:t>
            </a:r>
          </a:p>
        </p:txBody>
      </p:sp>
      <p:sp>
        <p:nvSpPr>
          <p:cNvPr id="20" name="Rectangle 19"/>
          <p:cNvSpPr/>
          <p:nvPr/>
        </p:nvSpPr>
        <p:spPr>
          <a:xfrm>
            <a:off x="152400" y="2485811"/>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52400" y="248581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33375" y="248581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3" name="TextBox 22"/>
          <p:cNvSpPr txBox="1"/>
          <p:nvPr/>
        </p:nvSpPr>
        <p:spPr>
          <a:xfrm>
            <a:off x="581025" y="248581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Liebherr Group</a:t>
            </a:r>
          </a:p>
        </p:txBody>
      </p:sp>
      <p:cxnSp>
        <p:nvCxnSpPr>
          <p:cNvPr id="24" name="Connector 23"/>
          <p:cNvCxnSpPr/>
          <p:nvPr/>
        </p:nvCxnSpPr>
        <p:spPr>
          <a:xfrm>
            <a:off x="152400" y="270485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2704855"/>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2704855"/>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Hitachi Construction Machinery</a:t>
            </a:r>
          </a:p>
        </p:txBody>
      </p:sp>
      <p:sp>
        <p:nvSpPr>
          <p:cNvPr id="27" name="Rectangle 26"/>
          <p:cNvSpPr/>
          <p:nvPr/>
        </p:nvSpPr>
        <p:spPr>
          <a:xfrm>
            <a:off x="152400" y="2923899"/>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152400" y="292389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33375" y="2923899"/>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0" name="TextBox 29"/>
          <p:cNvSpPr txBox="1"/>
          <p:nvPr/>
        </p:nvSpPr>
        <p:spPr>
          <a:xfrm>
            <a:off x="581025" y="2923899"/>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XCMG Group</a:t>
            </a:r>
          </a:p>
        </p:txBody>
      </p:sp>
      <p:cxnSp>
        <p:nvCxnSpPr>
          <p:cNvPr id="31" name="Connector 30"/>
          <p:cNvCxnSpPr/>
          <p:nvPr/>
        </p:nvCxnSpPr>
        <p:spPr>
          <a:xfrm>
            <a:off x="152400" y="314294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3142944"/>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3142944"/>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SANY Group</a:t>
            </a:r>
          </a:p>
        </p:txBody>
      </p:sp>
      <p:sp>
        <p:nvSpPr>
          <p:cNvPr id="34" name="Rectangle 33"/>
          <p:cNvSpPr/>
          <p:nvPr/>
        </p:nvSpPr>
        <p:spPr>
          <a:xfrm>
            <a:off x="152400" y="3361988"/>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52400" y="336198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33375" y="3361988"/>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7" name="TextBox 36"/>
          <p:cNvSpPr txBox="1"/>
          <p:nvPr/>
        </p:nvSpPr>
        <p:spPr>
          <a:xfrm>
            <a:off x="581025" y="3361988"/>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JCB</a:t>
            </a:r>
          </a:p>
        </p:txBody>
      </p:sp>
      <p:cxnSp>
        <p:nvCxnSpPr>
          <p:cNvPr id="38" name="Connector 37"/>
          <p:cNvCxnSpPr/>
          <p:nvPr/>
        </p:nvCxnSpPr>
        <p:spPr>
          <a:xfrm>
            <a:off x="152400" y="358103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358103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358103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HD Hyundai Construction Equipment</a:t>
            </a:r>
          </a:p>
        </p:txBody>
      </p:sp>
      <p:sp>
        <p:nvSpPr>
          <p:cNvPr id="41" name="Rectangle 40"/>
          <p:cNvSpPr/>
          <p:nvPr/>
        </p:nvSpPr>
        <p:spPr>
          <a:xfrm>
            <a:off x="152400" y="3800077"/>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52400" y="380007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33375" y="380007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4" name="TextBox 43"/>
          <p:cNvSpPr txBox="1"/>
          <p:nvPr/>
        </p:nvSpPr>
        <p:spPr>
          <a:xfrm>
            <a:off x="581025" y="380007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LiuGong</a:t>
            </a:r>
          </a:p>
        </p:txBody>
      </p:sp>
      <p:cxnSp>
        <p:nvCxnSpPr>
          <p:cNvPr id="45" name="Connector 44"/>
          <p:cNvCxnSpPr/>
          <p:nvPr/>
        </p:nvCxnSpPr>
        <p:spPr>
          <a:xfrm>
            <a:off x="152400" y="401912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33375" y="401912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7" name="TextBox 46"/>
          <p:cNvSpPr txBox="1"/>
          <p:nvPr/>
        </p:nvSpPr>
        <p:spPr>
          <a:xfrm>
            <a:off x="581025" y="401912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Zoomlion</a:t>
            </a:r>
          </a:p>
        </p:txBody>
      </p:sp>
      <p:sp>
        <p:nvSpPr>
          <p:cNvPr id="48" name="Rectangle 47"/>
          <p:cNvSpPr/>
          <p:nvPr/>
        </p:nvSpPr>
        <p:spPr>
          <a:xfrm>
            <a:off x="152400" y="4238166"/>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52400" y="423816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3375" y="423816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1" name="TextBox 50"/>
          <p:cNvSpPr txBox="1"/>
          <p:nvPr/>
        </p:nvSpPr>
        <p:spPr>
          <a:xfrm>
            <a:off x="581025" y="423816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John Deere</a:t>
            </a:r>
          </a:p>
        </p:txBody>
      </p:sp>
      <p:cxnSp>
        <p:nvCxnSpPr>
          <p:cNvPr id="52" name="Connector 51"/>
          <p:cNvCxnSpPr/>
          <p:nvPr/>
        </p:nvCxnSpPr>
        <p:spPr>
          <a:xfrm>
            <a:off x="152400" y="4457210"/>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333375" y="4457210"/>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4" name="TextBox 53"/>
          <p:cNvSpPr txBox="1"/>
          <p:nvPr/>
        </p:nvSpPr>
        <p:spPr>
          <a:xfrm>
            <a:off x="581025" y="4457210"/>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CNH Industrial</a:t>
            </a:r>
          </a:p>
        </p:txBody>
      </p:sp>
      <p:sp>
        <p:nvSpPr>
          <p:cNvPr id="55" name="Rectangle 54"/>
          <p:cNvSpPr/>
          <p:nvPr/>
        </p:nvSpPr>
        <p:spPr>
          <a:xfrm>
            <a:off x="152400" y="4676254"/>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152400" y="467625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33375" y="4676254"/>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8" name="TextBox 57"/>
          <p:cNvSpPr txBox="1"/>
          <p:nvPr/>
        </p:nvSpPr>
        <p:spPr>
          <a:xfrm>
            <a:off x="581025" y="4676254"/>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Sandvik</a:t>
            </a:r>
          </a:p>
        </p:txBody>
      </p:sp>
      <p:cxnSp>
        <p:nvCxnSpPr>
          <p:cNvPr id="59" name="Connector 58"/>
          <p:cNvCxnSpPr/>
          <p:nvPr/>
        </p:nvCxnSpPr>
        <p:spPr>
          <a:xfrm>
            <a:off x="152400" y="489529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33375" y="4895299"/>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1" name="TextBox 60"/>
          <p:cNvSpPr txBox="1"/>
          <p:nvPr/>
        </p:nvSpPr>
        <p:spPr>
          <a:xfrm>
            <a:off x="581025" y="4895299"/>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Epiroc</a:t>
            </a:r>
          </a:p>
        </p:txBody>
      </p:sp>
      <p:sp>
        <p:nvSpPr>
          <p:cNvPr id="62" name="Rectangle 61"/>
          <p:cNvSpPr/>
          <p:nvPr/>
        </p:nvSpPr>
        <p:spPr>
          <a:xfrm>
            <a:off x="152400" y="5114343"/>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152400" y="5114343"/>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333375" y="5114343"/>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5" name="TextBox 64"/>
          <p:cNvSpPr txBox="1"/>
          <p:nvPr/>
        </p:nvSpPr>
        <p:spPr>
          <a:xfrm>
            <a:off x="581025" y="5114343"/>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Bell Equipment</a:t>
            </a:r>
          </a:p>
        </p:txBody>
      </p:sp>
      <p:cxnSp>
        <p:nvCxnSpPr>
          <p:cNvPr id="66" name="Connector 65"/>
          <p:cNvCxnSpPr/>
          <p:nvPr/>
        </p:nvCxnSpPr>
        <p:spPr>
          <a:xfrm>
            <a:off x="152400" y="533338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333375" y="533338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8" name="TextBox 67"/>
          <p:cNvSpPr txBox="1"/>
          <p:nvPr/>
        </p:nvSpPr>
        <p:spPr>
          <a:xfrm>
            <a:off x="581025" y="533338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Komatsu Forest</a:t>
            </a:r>
          </a:p>
        </p:txBody>
      </p:sp>
      <p:sp>
        <p:nvSpPr>
          <p:cNvPr id="69" name="Rectangle 68"/>
          <p:cNvSpPr/>
          <p:nvPr/>
        </p:nvSpPr>
        <p:spPr>
          <a:xfrm>
            <a:off x="152400" y="5552432"/>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52400" y="555243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33375" y="555243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2" name="TextBox 71"/>
          <p:cNvSpPr txBox="1"/>
          <p:nvPr/>
        </p:nvSpPr>
        <p:spPr>
          <a:xfrm>
            <a:off x="581025" y="555243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Tigercat</a:t>
            </a:r>
          </a:p>
        </p:txBody>
      </p:sp>
      <p:cxnSp>
        <p:nvCxnSpPr>
          <p:cNvPr id="73" name="Connector 72"/>
          <p:cNvCxnSpPr/>
          <p:nvPr/>
        </p:nvCxnSpPr>
        <p:spPr>
          <a:xfrm>
            <a:off x="152400" y="577147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333375" y="577147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5" name="TextBox 74"/>
          <p:cNvSpPr txBox="1"/>
          <p:nvPr/>
        </p:nvSpPr>
        <p:spPr>
          <a:xfrm>
            <a:off x="581025" y="577147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Ponsse</a:t>
            </a:r>
          </a:p>
        </p:txBody>
      </p:sp>
      <p:sp>
        <p:nvSpPr>
          <p:cNvPr id="76" name="Rectangle 75"/>
          <p:cNvSpPr/>
          <p:nvPr/>
        </p:nvSpPr>
        <p:spPr>
          <a:xfrm>
            <a:off x="152400" y="5990521"/>
            <a:ext cx="3822700" cy="209918"/>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a:off x="152400" y="599052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333375" y="599052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9" name="TextBox 78"/>
          <p:cNvSpPr txBox="1"/>
          <p:nvPr/>
        </p:nvSpPr>
        <p:spPr>
          <a:xfrm>
            <a:off x="581025" y="599052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Rottne</a:t>
            </a:r>
          </a:p>
        </p:txBody>
      </p:sp>
      <p:sp>
        <p:nvSpPr>
          <p:cNvPr id="80" name="Rectangle 79"/>
          <p:cNvSpPr/>
          <p:nvPr/>
        </p:nvSpPr>
        <p:spPr>
          <a:xfrm>
            <a:off x="4175125" y="1554872"/>
            <a:ext cx="3841750"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175125" y="1554872"/>
            <a:ext cx="3841750"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175125" y="1618760"/>
            <a:ext cx="3841750"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83" name="TextBox 82"/>
          <p:cNvSpPr txBox="1"/>
          <p:nvPr/>
        </p:nvSpPr>
        <p:spPr>
          <a:xfrm>
            <a:off x="4365625" y="182867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4" name="TextBox 83"/>
          <p:cNvSpPr txBox="1"/>
          <p:nvPr/>
        </p:nvSpPr>
        <p:spPr>
          <a:xfrm>
            <a:off x="4613275" y="182867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Deere &amp;</a:t>
            </a:r>
          </a:p>
        </p:txBody>
      </p:sp>
      <p:sp>
        <p:nvSpPr>
          <p:cNvPr id="85" name="Rectangle 84"/>
          <p:cNvSpPr/>
          <p:nvPr/>
        </p:nvSpPr>
        <p:spPr>
          <a:xfrm>
            <a:off x="4184650" y="2047722"/>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4184650" y="204772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4365625" y="204772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88" name="TextBox 87"/>
          <p:cNvSpPr txBox="1"/>
          <p:nvPr/>
        </p:nvSpPr>
        <p:spPr>
          <a:xfrm>
            <a:off x="4613275" y="204772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AGCO</a:t>
            </a:r>
          </a:p>
        </p:txBody>
      </p:sp>
      <p:cxnSp>
        <p:nvCxnSpPr>
          <p:cNvPr id="89" name="Connector 88"/>
          <p:cNvCxnSpPr/>
          <p:nvPr/>
        </p:nvCxnSpPr>
        <p:spPr>
          <a:xfrm>
            <a:off x="4184650" y="226676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4365625" y="226676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91" name="TextBox 90"/>
          <p:cNvSpPr txBox="1"/>
          <p:nvPr/>
        </p:nvSpPr>
        <p:spPr>
          <a:xfrm>
            <a:off x="4613275" y="226676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Kubota</a:t>
            </a:r>
          </a:p>
        </p:txBody>
      </p:sp>
      <p:sp>
        <p:nvSpPr>
          <p:cNvPr id="92" name="Rectangle 91"/>
          <p:cNvSpPr/>
          <p:nvPr/>
        </p:nvSpPr>
        <p:spPr>
          <a:xfrm>
            <a:off x="4184650" y="2485811"/>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4184650" y="248581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4365625" y="248581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95" name="TextBox 94"/>
          <p:cNvSpPr txBox="1"/>
          <p:nvPr/>
        </p:nvSpPr>
        <p:spPr>
          <a:xfrm>
            <a:off x="4613275" y="248581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CLAAS</a:t>
            </a:r>
          </a:p>
        </p:txBody>
      </p:sp>
      <p:cxnSp>
        <p:nvCxnSpPr>
          <p:cNvPr id="96" name="Connector 95"/>
          <p:cNvCxnSpPr/>
          <p:nvPr/>
        </p:nvCxnSpPr>
        <p:spPr>
          <a:xfrm>
            <a:off x="4184650" y="270485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365625" y="2704855"/>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98" name="TextBox 97"/>
          <p:cNvSpPr txBox="1"/>
          <p:nvPr/>
        </p:nvSpPr>
        <p:spPr>
          <a:xfrm>
            <a:off x="4613275" y="2704855"/>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Mahindra &amp; Mahindra</a:t>
            </a:r>
          </a:p>
        </p:txBody>
      </p:sp>
      <p:sp>
        <p:nvSpPr>
          <p:cNvPr id="99" name="Rectangle 98"/>
          <p:cNvSpPr/>
          <p:nvPr/>
        </p:nvSpPr>
        <p:spPr>
          <a:xfrm>
            <a:off x="4184650" y="2923899"/>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0" name="Connector 99"/>
          <p:cNvCxnSpPr/>
          <p:nvPr/>
        </p:nvCxnSpPr>
        <p:spPr>
          <a:xfrm>
            <a:off x="4184650" y="292389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4365625" y="2923899"/>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02" name="TextBox 101"/>
          <p:cNvSpPr txBox="1"/>
          <p:nvPr/>
        </p:nvSpPr>
        <p:spPr>
          <a:xfrm>
            <a:off x="4613275" y="2923899"/>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Escorts Kubota</a:t>
            </a:r>
          </a:p>
        </p:txBody>
      </p:sp>
      <p:cxnSp>
        <p:nvCxnSpPr>
          <p:cNvPr id="103" name="Connector 102"/>
          <p:cNvCxnSpPr/>
          <p:nvPr/>
        </p:nvCxnSpPr>
        <p:spPr>
          <a:xfrm>
            <a:off x="4184650" y="314294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365625" y="3142944"/>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05" name="TextBox 104"/>
          <p:cNvSpPr txBox="1"/>
          <p:nvPr/>
        </p:nvSpPr>
        <p:spPr>
          <a:xfrm>
            <a:off x="4613275" y="3142944"/>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Yanmar</a:t>
            </a:r>
          </a:p>
        </p:txBody>
      </p:sp>
      <p:sp>
        <p:nvSpPr>
          <p:cNvPr id="106" name="Rectangle 105"/>
          <p:cNvSpPr/>
          <p:nvPr/>
        </p:nvSpPr>
        <p:spPr>
          <a:xfrm>
            <a:off x="4184650" y="3361988"/>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a:off x="4184650" y="336198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4365625" y="3361988"/>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09" name="TextBox 108"/>
          <p:cNvSpPr txBox="1"/>
          <p:nvPr/>
        </p:nvSpPr>
        <p:spPr>
          <a:xfrm>
            <a:off x="4613275" y="3361988"/>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SDF Group</a:t>
            </a:r>
          </a:p>
        </p:txBody>
      </p:sp>
      <p:cxnSp>
        <p:nvCxnSpPr>
          <p:cNvPr id="110" name="Connector 109"/>
          <p:cNvCxnSpPr/>
          <p:nvPr/>
        </p:nvCxnSpPr>
        <p:spPr>
          <a:xfrm>
            <a:off x="4184650" y="358103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4365625" y="358103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12" name="TextBox 111"/>
          <p:cNvSpPr txBox="1"/>
          <p:nvPr/>
        </p:nvSpPr>
        <p:spPr>
          <a:xfrm>
            <a:off x="4613275" y="358103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Toyota Industries</a:t>
            </a:r>
          </a:p>
        </p:txBody>
      </p:sp>
      <p:sp>
        <p:nvSpPr>
          <p:cNvPr id="113" name="Rectangle 112"/>
          <p:cNvSpPr/>
          <p:nvPr/>
        </p:nvSpPr>
        <p:spPr>
          <a:xfrm>
            <a:off x="4184650" y="3800077"/>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4" name="Connector 113"/>
          <p:cNvCxnSpPr/>
          <p:nvPr/>
        </p:nvCxnSpPr>
        <p:spPr>
          <a:xfrm>
            <a:off x="4184650" y="380007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365625" y="380007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16" name="TextBox 115"/>
          <p:cNvSpPr txBox="1"/>
          <p:nvPr/>
        </p:nvSpPr>
        <p:spPr>
          <a:xfrm>
            <a:off x="4613275" y="380007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KION Group</a:t>
            </a:r>
          </a:p>
        </p:txBody>
      </p:sp>
      <p:cxnSp>
        <p:nvCxnSpPr>
          <p:cNvPr id="117" name="Connector 116"/>
          <p:cNvCxnSpPr/>
          <p:nvPr/>
        </p:nvCxnSpPr>
        <p:spPr>
          <a:xfrm>
            <a:off x="4184650" y="401912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4365625" y="401912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19" name="TextBox 118"/>
          <p:cNvSpPr txBox="1"/>
          <p:nvPr/>
        </p:nvSpPr>
        <p:spPr>
          <a:xfrm>
            <a:off x="4613275" y="401912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Jungheinrich</a:t>
            </a:r>
          </a:p>
        </p:txBody>
      </p:sp>
      <p:sp>
        <p:nvSpPr>
          <p:cNvPr id="120" name="Rectangle 119"/>
          <p:cNvSpPr/>
          <p:nvPr/>
        </p:nvSpPr>
        <p:spPr>
          <a:xfrm>
            <a:off x="4184650" y="4238166"/>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1" name="Connector 120"/>
          <p:cNvCxnSpPr/>
          <p:nvPr/>
        </p:nvCxnSpPr>
        <p:spPr>
          <a:xfrm>
            <a:off x="4184650" y="423816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4365625" y="423816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23" name="TextBox 122"/>
          <p:cNvSpPr txBox="1"/>
          <p:nvPr/>
        </p:nvSpPr>
        <p:spPr>
          <a:xfrm>
            <a:off x="4613275" y="423816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Mitsubishi Logisnext</a:t>
            </a:r>
          </a:p>
        </p:txBody>
      </p:sp>
      <p:cxnSp>
        <p:nvCxnSpPr>
          <p:cNvPr id="124" name="Connector 123"/>
          <p:cNvCxnSpPr/>
          <p:nvPr/>
        </p:nvCxnSpPr>
        <p:spPr>
          <a:xfrm>
            <a:off x="4184650" y="4457210"/>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4365625" y="4457210"/>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26" name="TextBox 125"/>
          <p:cNvSpPr txBox="1"/>
          <p:nvPr/>
        </p:nvSpPr>
        <p:spPr>
          <a:xfrm>
            <a:off x="4613275" y="4457210"/>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Hyster-Yale Materials Handling</a:t>
            </a:r>
          </a:p>
        </p:txBody>
      </p:sp>
      <p:sp>
        <p:nvSpPr>
          <p:cNvPr id="127" name="Rectangle 126"/>
          <p:cNvSpPr/>
          <p:nvPr/>
        </p:nvSpPr>
        <p:spPr>
          <a:xfrm>
            <a:off x="4184650" y="4676254"/>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8" name="Connector 127"/>
          <p:cNvCxnSpPr/>
          <p:nvPr/>
        </p:nvCxnSpPr>
        <p:spPr>
          <a:xfrm>
            <a:off x="4184650" y="467625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4365625" y="4676254"/>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30" name="TextBox 129"/>
          <p:cNvSpPr txBox="1"/>
          <p:nvPr/>
        </p:nvSpPr>
        <p:spPr>
          <a:xfrm>
            <a:off x="4613275" y="4676254"/>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Crown Equipment</a:t>
            </a:r>
          </a:p>
        </p:txBody>
      </p:sp>
      <p:cxnSp>
        <p:nvCxnSpPr>
          <p:cNvPr id="131" name="Connector 130"/>
          <p:cNvCxnSpPr/>
          <p:nvPr/>
        </p:nvCxnSpPr>
        <p:spPr>
          <a:xfrm>
            <a:off x="4184650" y="489529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365625" y="4895299"/>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33" name="TextBox 132"/>
          <p:cNvSpPr txBox="1"/>
          <p:nvPr/>
        </p:nvSpPr>
        <p:spPr>
          <a:xfrm>
            <a:off x="4613275" y="4895299"/>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Manitou Group</a:t>
            </a:r>
          </a:p>
        </p:txBody>
      </p:sp>
      <p:sp>
        <p:nvSpPr>
          <p:cNvPr id="134" name="Rectangle 133"/>
          <p:cNvSpPr/>
          <p:nvPr/>
        </p:nvSpPr>
        <p:spPr>
          <a:xfrm>
            <a:off x="4184650" y="5114343"/>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5" name="Connector 134"/>
          <p:cNvCxnSpPr/>
          <p:nvPr/>
        </p:nvCxnSpPr>
        <p:spPr>
          <a:xfrm>
            <a:off x="4184650" y="5114343"/>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4365625" y="5114343"/>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37" name="TextBox 136"/>
          <p:cNvSpPr txBox="1"/>
          <p:nvPr/>
        </p:nvSpPr>
        <p:spPr>
          <a:xfrm>
            <a:off x="4613275" y="5114343"/>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Hangcha Group</a:t>
            </a:r>
          </a:p>
        </p:txBody>
      </p:sp>
      <p:cxnSp>
        <p:nvCxnSpPr>
          <p:cNvPr id="138" name="Connector 137"/>
          <p:cNvCxnSpPr/>
          <p:nvPr/>
        </p:nvCxnSpPr>
        <p:spPr>
          <a:xfrm>
            <a:off x="4184650" y="533338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365625" y="533338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40" name="TextBox 139"/>
          <p:cNvSpPr txBox="1"/>
          <p:nvPr/>
        </p:nvSpPr>
        <p:spPr>
          <a:xfrm>
            <a:off x="4613275" y="533338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Anhui Heli</a:t>
            </a:r>
          </a:p>
        </p:txBody>
      </p:sp>
      <p:sp>
        <p:nvSpPr>
          <p:cNvPr id="141" name="Rectangle 140"/>
          <p:cNvSpPr/>
          <p:nvPr/>
        </p:nvSpPr>
        <p:spPr>
          <a:xfrm>
            <a:off x="4184650" y="5552432"/>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Connector 141"/>
          <p:cNvCxnSpPr/>
          <p:nvPr/>
        </p:nvCxnSpPr>
        <p:spPr>
          <a:xfrm>
            <a:off x="4184650" y="555243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4365625" y="555243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44" name="TextBox 143"/>
          <p:cNvSpPr txBox="1"/>
          <p:nvPr/>
        </p:nvSpPr>
        <p:spPr>
          <a:xfrm>
            <a:off x="4613275" y="555243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Kalmar</a:t>
            </a:r>
          </a:p>
        </p:txBody>
      </p:sp>
      <p:cxnSp>
        <p:nvCxnSpPr>
          <p:cNvPr id="145" name="Connector 144"/>
          <p:cNvCxnSpPr/>
          <p:nvPr/>
        </p:nvCxnSpPr>
        <p:spPr>
          <a:xfrm>
            <a:off x="4184650" y="577147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4365625" y="577147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47" name="TextBox 146"/>
          <p:cNvSpPr txBox="1"/>
          <p:nvPr/>
        </p:nvSpPr>
        <p:spPr>
          <a:xfrm>
            <a:off x="4613275" y="577147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Konecranes</a:t>
            </a:r>
          </a:p>
        </p:txBody>
      </p:sp>
      <p:sp>
        <p:nvSpPr>
          <p:cNvPr id="148" name="Rectangle 147"/>
          <p:cNvSpPr/>
          <p:nvPr/>
        </p:nvSpPr>
        <p:spPr>
          <a:xfrm>
            <a:off x="4184650" y="5990521"/>
            <a:ext cx="3822700" cy="209918"/>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9" name="Connector 148"/>
          <p:cNvCxnSpPr/>
          <p:nvPr/>
        </p:nvCxnSpPr>
        <p:spPr>
          <a:xfrm>
            <a:off x="4184650" y="599052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4365625" y="599052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1" name="TextBox 150"/>
          <p:cNvSpPr txBox="1"/>
          <p:nvPr/>
        </p:nvSpPr>
        <p:spPr>
          <a:xfrm>
            <a:off x="4613275" y="599052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Terberg</a:t>
            </a:r>
          </a:p>
        </p:txBody>
      </p:sp>
      <p:sp>
        <p:nvSpPr>
          <p:cNvPr id="152" name="Rectangle 151"/>
          <p:cNvSpPr/>
          <p:nvPr/>
        </p:nvSpPr>
        <p:spPr>
          <a:xfrm>
            <a:off x="8207375" y="1554872"/>
            <a:ext cx="3841750" cy="4654693"/>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8207375" y="1554872"/>
            <a:ext cx="3841750" cy="273805"/>
          </a:xfrm>
          <a:prstGeom prst="rect">
            <a:avLst/>
          </a:prstGeom>
          <a:solidFill>
            <a:srgbClr val="0E2A5C"/>
          </a:solidFill>
          <a:ln w="12700">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207375" y="1618760"/>
            <a:ext cx="3841750"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55" name="TextBox 154"/>
          <p:cNvSpPr txBox="1"/>
          <p:nvPr/>
        </p:nvSpPr>
        <p:spPr>
          <a:xfrm>
            <a:off x="8397875" y="182867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6" name="TextBox 155"/>
          <p:cNvSpPr txBox="1"/>
          <p:nvPr/>
        </p:nvSpPr>
        <p:spPr>
          <a:xfrm>
            <a:off x="8645525" y="182867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SANY</a:t>
            </a:r>
          </a:p>
        </p:txBody>
      </p:sp>
      <p:sp>
        <p:nvSpPr>
          <p:cNvPr id="157" name="Rectangle 156"/>
          <p:cNvSpPr/>
          <p:nvPr/>
        </p:nvSpPr>
        <p:spPr>
          <a:xfrm>
            <a:off x="8216900" y="2047722"/>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8" name="Connector 157"/>
          <p:cNvCxnSpPr/>
          <p:nvPr/>
        </p:nvCxnSpPr>
        <p:spPr>
          <a:xfrm>
            <a:off x="8216900" y="204772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8397875" y="204772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60" name="TextBox 159"/>
          <p:cNvSpPr txBox="1"/>
          <p:nvPr/>
        </p:nvSpPr>
        <p:spPr>
          <a:xfrm>
            <a:off x="8645525" y="204772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Taylor Machine Works</a:t>
            </a:r>
          </a:p>
        </p:txBody>
      </p:sp>
      <p:cxnSp>
        <p:nvCxnSpPr>
          <p:cNvPr id="161" name="Connector 160"/>
          <p:cNvCxnSpPr/>
          <p:nvPr/>
        </p:nvCxnSpPr>
        <p:spPr>
          <a:xfrm>
            <a:off x="8216900" y="226676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8397875" y="226676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63" name="TextBox 162"/>
          <p:cNvSpPr txBox="1"/>
          <p:nvPr/>
        </p:nvSpPr>
        <p:spPr>
          <a:xfrm>
            <a:off x="8645525" y="226676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General Dynamics Land Systems</a:t>
            </a:r>
          </a:p>
        </p:txBody>
      </p:sp>
      <p:sp>
        <p:nvSpPr>
          <p:cNvPr id="164" name="Rectangle 163"/>
          <p:cNvSpPr/>
          <p:nvPr/>
        </p:nvSpPr>
        <p:spPr>
          <a:xfrm>
            <a:off x="8216900" y="2485811"/>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a:off x="8216900" y="248581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8397875" y="248581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67" name="TextBox 166"/>
          <p:cNvSpPr txBox="1"/>
          <p:nvPr/>
        </p:nvSpPr>
        <p:spPr>
          <a:xfrm>
            <a:off x="8645525" y="248581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BAE Systems</a:t>
            </a:r>
          </a:p>
        </p:txBody>
      </p:sp>
      <p:cxnSp>
        <p:nvCxnSpPr>
          <p:cNvPr id="168" name="Connector 167"/>
          <p:cNvCxnSpPr/>
          <p:nvPr/>
        </p:nvCxnSpPr>
        <p:spPr>
          <a:xfrm>
            <a:off x="8216900" y="2704855"/>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8397875" y="2704855"/>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70" name="TextBox 169"/>
          <p:cNvSpPr txBox="1"/>
          <p:nvPr/>
        </p:nvSpPr>
        <p:spPr>
          <a:xfrm>
            <a:off x="8645525" y="2704855"/>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Rheinmetall</a:t>
            </a:r>
          </a:p>
        </p:txBody>
      </p:sp>
      <p:sp>
        <p:nvSpPr>
          <p:cNvPr id="171" name="Rectangle 170"/>
          <p:cNvSpPr/>
          <p:nvPr/>
        </p:nvSpPr>
        <p:spPr>
          <a:xfrm>
            <a:off x="8216900" y="2923899"/>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2" name="Connector 171"/>
          <p:cNvCxnSpPr/>
          <p:nvPr/>
        </p:nvCxnSpPr>
        <p:spPr>
          <a:xfrm>
            <a:off x="8216900" y="292389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a:off x="8397875" y="2923899"/>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74" name="TextBox 173"/>
          <p:cNvSpPr txBox="1"/>
          <p:nvPr/>
        </p:nvSpPr>
        <p:spPr>
          <a:xfrm>
            <a:off x="8645525" y="2923899"/>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KNDS</a:t>
            </a:r>
          </a:p>
        </p:txBody>
      </p:sp>
      <p:cxnSp>
        <p:nvCxnSpPr>
          <p:cNvPr id="175" name="Connector 174"/>
          <p:cNvCxnSpPr/>
          <p:nvPr/>
        </p:nvCxnSpPr>
        <p:spPr>
          <a:xfrm>
            <a:off x="8216900" y="314294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8397875" y="3142944"/>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77" name="TextBox 176"/>
          <p:cNvSpPr txBox="1"/>
          <p:nvPr/>
        </p:nvSpPr>
        <p:spPr>
          <a:xfrm>
            <a:off x="8645525" y="3142944"/>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Oshkosh Defense</a:t>
            </a:r>
          </a:p>
        </p:txBody>
      </p:sp>
      <p:sp>
        <p:nvSpPr>
          <p:cNvPr id="178" name="Rectangle 177"/>
          <p:cNvSpPr/>
          <p:nvPr/>
        </p:nvSpPr>
        <p:spPr>
          <a:xfrm>
            <a:off x="8216900" y="3361988"/>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9" name="Connector 178"/>
          <p:cNvCxnSpPr/>
          <p:nvPr/>
        </p:nvCxnSpPr>
        <p:spPr>
          <a:xfrm>
            <a:off x="8216900" y="3361988"/>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0" name="TextBox 179"/>
          <p:cNvSpPr txBox="1"/>
          <p:nvPr/>
        </p:nvSpPr>
        <p:spPr>
          <a:xfrm>
            <a:off x="8397875" y="3361988"/>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81" name="TextBox 180"/>
          <p:cNvSpPr txBox="1"/>
          <p:nvPr/>
        </p:nvSpPr>
        <p:spPr>
          <a:xfrm>
            <a:off x="8645525" y="3361988"/>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Patria</a:t>
            </a:r>
          </a:p>
        </p:txBody>
      </p:sp>
      <p:cxnSp>
        <p:nvCxnSpPr>
          <p:cNvPr id="182" name="Connector 181"/>
          <p:cNvCxnSpPr/>
          <p:nvPr/>
        </p:nvCxnSpPr>
        <p:spPr>
          <a:xfrm>
            <a:off x="8216900" y="358103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3" name="TextBox 182"/>
          <p:cNvSpPr txBox="1"/>
          <p:nvPr/>
        </p:nvSpPr>
        <p:spPr>
          <a:xfrm>
            <a:off x="8397875" y="358103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84" name="TextBox 183"/>
          <p:cNvSpPr txBox="1"/>
          <p:nvPr/>
        </p:nvSpPr>
        <p:spPr>
          <a:xfrm>
            <a:off x="8645525" y="358103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Hyundai Rotem</a:t>
            </a:r>
          </a:p>
        </p:txBody>
      </p:sp>
      <p:sp>
        <p:nvSpPr>
          <p:cNvPr id="185" name="Rectangle 184"/>
          <p:cNvSpPr/>
          <p:nvPr/>
        </p:nvSpPr>
        <p:spPr>
          <a:xfrm>
            <a:off x="8216900" y="3800077"/>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6" name="Connector 185"/>
          <p:cNvCxnSpPr/>
          <p:nvPr/>
        </p:nvCxnSpPr>
        <p:spPr>
          <a:xfrm>
            <a:off x="8216900" y="380007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8397875" y="380007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88" name="TextBox 187"/>
          <p:cNvSpPr txBox="1"/>
          <p:nvPr/>
        </p:nvSpPr>
        <p:spPr>
          <a:xfrm>
            <a:off x="8645525" y="380007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Hanwha Aerospace</a:t>
            </a:r>
          </a:p>
        </p:txBody>
      </p:sp>
      <p:cxnSp>
        <p:nvCxnSpPr>
          <p:cNvPr id="189" name="Connector 188"/>
          <p:cNvCxnSpPr/>
          <p:nvPr/>
        </p:nvCxnSpPr>
        <p:spPr>
          <a:xfrm>
            <a:off x="8216900" y="401912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0" name="TextBox 189"/>
          <p:cNvSpPr txBox="1"/>
          <p:nvPr/>
        </p:nvSpPr>
        <p:spPr>
          <a:xfrm>
            <a:off x="8397875" y="4019121"/>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1" name="TextBox 190"/>
          <p:cNvSpPr txBox="1"/>
          <p:nvPr/>
        </p:nvSpPr>
        <p:spPr>
          <a:xfrm>
            <a:off x="8645525" y="4019121"/>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Mitsubishi Heavy Industries</a:t>
            </a:r>
          </a:p>
        </p:txBody>
      </p:sp>
      <p:sp>
        <p:nvSpPr>
          <p:cNvPr id="192" name="Rectangle 191"/>
          <p:cNvSpPr/>
          <p:nvPr/>
        </p:nvSpPr>
        <p:spPr>
          <a:xfrm>
            <a:off x="8216900" y="4238166"/>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3" name="Connector 192"/>
          <p:cNvCxnSpPr/>
          <p:nvPr/>
        </p:nvCxnSpPr>
        <p:spPr>
          <a:xfrm>
            <a:off x="8216900" y="423816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8397875" y="423816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5" name="TextBox 194"/>
          <p:cNvSpPr txBox="1"/>
          <p:nvPr/>
        </p:nvSpPr>
        <p:spPr>
          <a:xfrm>
            <a:off x="8645525" y="423816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Construction &amp; Mining OEMs</a:t>
            </a:r>
          </a:p>
        </p:txBody>
      </p:sp>
      <p:cxnSp>
        <p:nvCxnSpPr>
          <p:cNvPr id="196" name="Connector 195"/>
          <p:cNvCxnSpPr/>
          <p:nvPr/>
        </p:nvCxnSpPr>
        <p:spPr>
          <a:xfrm>
            <a:off x="8216900" y="4457210"/>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7" name="TextBox 196"/>
          <p:cNvSpPr txBox="1"/>
          <p:nvPr/>
        </p:nvSpPr>
        <p:spPr>
          <a:xfrm>
            <a:off x="8397875" y="4457210"/>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8" name="TextBox 197"/>
          <p:cNvSpPr txBox="1"/>
          <p:nvPr/>
        </p:nvSpPr>
        <p:spPr>
          <a:xfrm>
            <a:off x="8645525" y="4457210"/>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Construction &amp; Mining OEMs; Port &amp; Terminal Equipment</a:t>
            </a:r>
          </a:p>
        </p:txBody>
      </p:sp>
      <p:sp>
        <p:nvSpPr>
          <p:cNvPr id="199" name="Rectangle 198"/>
          <p:cNvSpPr/>
          <p:nvPr/>
        </p:nvSpPr>
        <p:spPr>
          <a:xfrm>
            <a:off x="8216900" y="4676254"/>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0" name="Connector 199"/>
          <p:cNvCxnSpPr/>
          <p:nvPr/>
        </p:nvCxnSpPr>
        <p:spPr>
          <a:xfrm>
            <a:off x="8216900" y="4676254"/>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1" name="TextBox 200"/>
          <p:cNvSpPr txBox="1"/>
          <p:nvPr/>
        </p:nvSpPr>
        <p:spPr>
          <a:xfrm>
            <a:off x="8397875" y="4676254"/>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02" name="TextBox 201"/>
          <p:cNvSpPr txBox="1"/>
          <p:nvPr/>
        </p:nvSpPr>
        <p:spPr>
          <a:xfrm>
            <a:off x="8645525" y="4676254"/>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Construction &amp; Agriculture OEMs</a:t>
            </a:r>
          </a:p>
        </p:txBody>
      </p:sp>
      <p:cxnSp>
        <p:nvCxnSpPr>
          <p:cNvPr id="203" name="Connector 202"/>
          <p:cNvCxnSpPr/>
          <p:nvPr/>
        </p:nvCxnSpPr>
        <p:spPr>
          <a:xfrm>
            <a:off x="8216900" y="4895299"/>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8397875" y="4895299"/>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05" name="TextBox 204"/>
          <p:cNvSpPr txBox="1"/>
          <p:nvPr/>
        </p:nvSpPr>
        <p:spPr>
          <a:xfrm>
            <a:off x="8645525" y="4895299"/>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Mining &amp; Forestry Specialists</a:t>
            </a:r>
          </a:p>
        </p:txBody>
      </p:sp>
      <p:sp>
        <p:nvSpPr>
          <p:cNvPr id="206" name="Rectangle 205"/>
          <p:cNvSpPr/>
          <p:nvPr/>
        </p:nvSpPr>
        <p:spPr>
          <a:xfrm>
            <a:off x="8216900" y="5114343"/>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7" name="Connector 206"/>
          <p:cNvCxnSpPr/>
          <p:nvPr/>
        </p:nvCxnSpPr>
        <p:spPr>
          <a:xfrm>
            <a:off x="8216900" y="5114343"/>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08" name="TextBox 207"/>
          <p:cNvSpPr txBox="1"/>
          <p:nvPr/>
        </p:nvSpPr>
        <p:spPr>
          <a:xfrm>
            <a:off x="8397875" y="5114343"/>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09" name="TextBox 208"/>
          <p:cNvSpPr txBox="1"/>
          <p:nvPr/>
        </p:nvSpPr>
        <p:spPr>
          <a:xfrm>
            <a:off x="8645525" y="5114343"/>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Agricultural &amp; Forestry OEMs</a:t>
            </a:r>
          </a:p>
        </p:txBody>
      </p:sp>
      <p:cxnSp>
        <p:nvCxnSpPr>
          <p:cNvPr id="210" name="Connector 209"/>
          <p:cNvCxnSpPr/>
          <p:nvPr/>
        </p:nvCxnSpPr>
        <p:spPr>
          <a:xfrm>
            <a:off x="8216900" y="5333387"/>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1" name="TextBox 210"/>
          <p:cNvSpPr txBox="1"/>
          <p:nvPr/>
        </p:nvSpPr>
        <p:spPr>
          <a:xfrm>
            <a:off x="8397875" y="5333387"/>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12" name="TextBox 211"/>
          <p:cNvSpPr txBox="1"/>
          <p:nvPr/>
        </p:nvSpPr>
        <p:spPr>
          <a:xfrm>
            <a:off x="8645525" y="5333387"/>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Industrial &amp; Material-Handling OEMs</a:t>
            </a:r>
          </a:p>
        </p:txBody>
      </p:sp>
      <p:sp>
        <p:nvSpPr>
          <p:cNvPr id="213" name="Rectangle 212"/>
          <p:cNvSpPr/>
          <p:nvPr/>
        </p:nvSpPr>
        <p:spPr>
          <a:xfrm>
            <a:off x="8216900" y="5552432"/>
            <a:ext cx="3822700" cy="21904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4" name="Connector 213"/>
          <p:cNvCxnSpPr/>
          <p:nvPr/>
        </p:nvCxnSpPr>
        <p:spPr>
          <a:xfrm>
            <a:off x="8216900" y="5552432"/>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8397875" y="5552432"/>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16" name="TextBox 215"/>
          <p:cNvSpPr txBox="1"/>
          <p:nvPr/>
        </p:nvSpPr>
        <p:spPr>
          <a:xfrm>
            <a:off x="8645525" y="5552432"/>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Port &amp; Terminal Specialists</a:t>
            </a:r>
          </a:p>
        </p:txBody>
      </p:sp>
      <p:cxnSp>
        <p:nvCxnSpPr>
          <p:cNvPr id="217" name="Connector 216"/>
          <p:cNvCxnSpPr/>
          <p:nvPr/>
        </p:nvCxnSpPr>
        <p:spPr>
          <a:xfrm>
            <a:off x="8216900" y="5771476"/>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8397875" y="5771476"/>
            <a:ext cx="190500" cy="219044"/>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19" name="TextBox 218"/>
          <p:cNvSpPr txBox="1"/>
          <p:nvPr/>
        </p:nvSpPr>
        <p:spPr>
          <a:xfrm>
            <a:off x="8645525" y="5771476"/>
            <a:ext cx="3308350" cy="219044"/>
          </a:xfrm>
          <a:prstGeom prst="rect">
            <a:avLst/>
          </a:prstGeom>
          <a:noFill/>
        </p:spPr>
        <p:txBody>
          <a:bodyPr wrap="square" lIns="28575" rIns="28575" tIns="9525" bIns="9525" anchor="ctr">
            <a:spAutoFit/>
          </a:bodyPr>
          <a:lstStyle/>
          <a:p>
            <a:pPr algn="l"/>
            <a:r>
              <a:rPr sz="1100" b="0">
                <a:solidFill>
                  <a:srgbClr val="2E2E2E"/>
                </a:solidFill>
                <a:latin typeface="Calibri"/>
              </a:rPr>
              <a:t>Military &amp; Tactical Vehicle OEMs</a:t>
            </a:r>
          </a:p>
        </p:txBody>
      </p:sp>
      <p:sp>
        <p:nvSpPr>
          <p:cNvPr id="220" name="Rectangle 219"/>
          <p:cNvSpPr/>
          <p:nvPr/>
        </p:nvSpPr>
        <p:spPr>
          <a:xfrm>
            <a:off x="8216900" y="5990521"/>
            <a:ext cx="3822700" cy="209918"/>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1" name="Connector 220"/>
          <p:cNvCxnSpPr/>
          <p:nvPr/>
        </p:nvCxnSpPr>
        <p:spPr>
          <a:xfrm>
            <a:off x="8216900" y="5990521"/>
            <a:ext cx="38227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223" name="Rectangle 22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489325"/>
            <a:ext cx="8572500" cy="514350"/>
          </a:xfrm>
          <a:prstGeom prst="rect">
            <a:avLst/>
          </a:prstGeom>
          <a:noFill/>
        </p:spPr>
        <p:txBody>
          <a:bodyPr wrap="square" lIns="0" rIns="0" tIns="0">
            <a:spAutoFit/>
          </a:bodyPr>
          <a:lstStyle/>
          <a:p>
            <a:r>
              <a:rPr sz="3000" b="1">
                <a:solidFill>
                  <a:srgbClr val="0E2A5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Global Market Outlook</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Demand Side Trends</a:t>
                      </a:r>
                      <a:endParaRPr sz="1100"/>
                    </a:p>
                  </a:txBody>
                  <a:tcPr marL="428625" marR="9525" marT="9525" marB="0" anchor="ctr"/>
                </a:tc>
              </a:tr>
              <a:tr h="175260">
                <a:tc>
                  <a:txBody>
                    <a:bodyPr wrap="square"/>
                    <a:lstStyle/>
                    <a:p>
                      <a:pPr algn="l"/>
                      <a:r>
                        <a:rPr sz="1100" b="0" i="0">
                          <a:solidFill>
                            <a:srgbClr val="0070C0"/>
                          </a:solidFill>
                          <a:latin typeface="Calibri"/>
                        </a:rPr>
                        <a:t>1.3.</a:t>
                      </a:r>
                      <a:r>
                        <a:rPr sz="700" b="0" i="0">
                          <a:solidFill>
                            <a:srgbClr val="0070C0"/>
                          </a:solidFill>
                          <a:latin typeface="Times New Roman"/>
                        </a:rPr>
                        <a:t>    </a:t>
                      </a:r>
                      <a:r>
                        <a:rPr sz="1100" b="0" i="0">
                          <a:solidFill>
                            <a:srgbClr val="0070C0"/>
                          </a:solidFill>
                          <a:latin typeface="Calibri"/>
                        </a:rPr>
                        <a:t>Supply Side Trends</a:t>
                      </a:r>
                      <a:endParaRPr sz="1100"/>
                    </a:p>
                  </a:txBody>
                  <a:tcPr marL="428625" marR="9525" marT="9525" marB="0" anchor="ctr"/>
                </a:tc>
              </a:tr>
              <a:tr h="175260">
                <a:tc>
                  <a:txBody>
                    <a:bodyPr wrap="square"/>
                    <a:lstStyle/>
                    <a:p>
                      <a:pPr algn="l"/>
                      <a:r>
                        <a:rPr sz="1100" b="0" i="0">
                          <a:solidFill>
                            <a:srgbClr val="0070C0"/>
                          </a:solidFill>
                          <a:latin typeface="Calibri"/>
                        </a:rPr>
                        <a:t>1.4.</a:t>
                      </a:r>
                      <a:r>
                        <a:rPr sz="700" b="0" i="0">
                          <a:solidFill>
                            <a:srgbClr val="0070C0"/>
                          </a:solidFill>
                          <a:latin typeface="Times New Roman"/>
                        </a:rPr>
                        <a:t>    </a:t>
                      </a:r>
                      <a:r>
                        <a:rPr sz="1100" b="0" i="0">
                          <a:solidFill>
                            <a:srgbClr val="0070C0"/>
                          </a:solidFill>
                          <a:latin typeface="Calibri"/>
                        </a:rPr>
                        <a:t>Technology Roadmap</a:t>
                      </a:r>
                      <a:endParaRPr sz="1100"/>
                    </a:p>
                  </a:txBody>
                  <a:tcPr marL="428625" marR="9525" marT="9525" marB="0" anchor="ctr"/>
                </a:tc>
              </a:tr>
              <a:tr h="175260">
                <a:tc>
                  <a:txBody>
                    <a:bodyPr wrap="square"/>
                    <a:lstStyle/>
                    <a:p>
                      <a:pPr algn="l"/>
                      <a:r>
                        <a:rPr sz="1100" b="0" i="0">
                          <a:solidFill>
                            <a:srgbClr val="0070C0"/>
                          </a:solidFill>
                          <a:latin typeface="Calibri"/>
                        </a:rPr>
                        <a:t>1.5.</a:t>
                      </a:r>
                      <a:r>
                        <a:rPr sz="700" b="0" i="0">
                          <a:solidFill>
                            <a:srgbClr val="0070C0"/>
                          </a:solidFill>
                          <a:latin typeface="Times New Roman"/>
                        </a:rPr>
                        <a:t>    </a:t>
                      </a:r>
                      <a:r>
                        <a:rPr sz="1100" b="0" i="0">
                          <a:solidFill>
                            <a:srgbClr val="0070C0"/>
                          </a:solidFill>
                          <a:latin typeface="Calibri"/>
                        </a:rPr>
                        <a:t>Analysis and Recommendations</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Market Definition / Scope / Limitations</a:t>
                      </a:r>
                      <a:endParaRPr sz="1100"/>
                    </a:p>
                  </a:txBody>
                  <a:tcPr marL="4286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Key Market Trends</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Key Trends Impacting the Market</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Product Innovation / Development Trends</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Key Success Factors</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Product Adoption / Usage Analysis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Product USPs / Features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Strategic Promotional Strategies</a:t>
                      </a:r>
                      <a:endParaRPr sz="1100"/>
                    </a:p>
                  </a:txBody>
                  <a:tcPr marL="428625"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Off-Highway Vehicle Market Demand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Historical Market Volume (Units) Analysis, 2021–2025</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Current and Future Market Volume (Units) Projections, 2026–2036</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Off-Highway Vehicle Market - Pricing Analysis</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Regional Pricing Analysis By Vehicle Type</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Global Average Pricing Analysis Benchmark</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Average Selling Price &amp; Revenue Inputs</a:t>
                      </a:r>
                      <a:endParaRPr sz="1100"/>
                    </a:p>
                  </a:txBody>
                  <a:tcPr marL="428625" marR="9525" marT="9525" marB="0" anchor="ctr"/>
                </a:tc>
              </a:tr>
              <a:tr h="175260">
                <a:tc>
                  <a:txBody>
                    <a:bodyPr wrap="square"/>
                    <a:lstStyle/>
                    <a:p>
                      <a:pPr algn="l"/>
                      <a:r>
                        <a:rPr sz="1100" b="0" i="0">
                          <a:solidFill>
                            <a:srgbClr val="000000"/>
                          </a:solidFill>
                          <a:latin typeface="Calibri"/>
                        </a:rPr>
                        <a:t>6.3.1.</a:t>
                      </a:r>
                      <a:r>
                        <a:rPr sz="700" b="0" i="0">
                          <a:solidFill>
                            <a:srgbClr val="000000"/>
                          </a:solidFill>
                          <a:latin typeface="Times New Roman"/>
                        </a:rPr>
                        <a:t>   </a:t>
                      </a:r>
                      <a:r>
                        <a:rPr sz="1100" b="0" i="0">
                          <a:solidFill>
                            <a:srgbClr val="000000"/>
                          </a:solidFill>
                          <a:latin typeface="Calibri"/>
                        </a:rPr>
                        <a:t>Average Selling Price by Vehicle Subtype (USD/vehicle)</a:t>
                      </a:r>
                      <a:endParaRPr sz="1100"/>
                    </a:p>
                  </a:txBody>
                  <a:tcPr marL="771525" marR="9525" marT="9525" marB="0" anchor="ctr"/>
                </a:tc>
              </a:tr>
              <a:tr h="175260">
                <a:tc>
                  <a:txBody>
                    <a:bodyPr wrap="square"/>
                    <a:lstStyle/>
                    <a:p>
                      <a:pPr algn="l"/>
                      <a:r>
                        <a:rPr sz="1100" b="0" i="0">
                          <a:solidFill>
                            <a:srgbClr val="000000"/>
                          </a:solidFill>
                          <a:latin typeface="Calibri"/>
                        </a:rPr>
                        <a:t>6.3.2.</a:t>
                      </a:r>
                      <a:r>
                        <a:rPr sz="700" b="0" i="0">
                          <a:solidFill>
                            <a:srgbClr val="000000"/>
                          </a:solidFill>
                          <a:latin typeface="Times New Roman"/>
                        </a:rPr>
                        <a:t>   </a:t>
                      </a:r>
                      <a:r>
                        <a:rPr sz="1100" b="0" i="0">
                          <a:solidFill>
                            <a:srgbClr val="000000"/>
                          </a:solidFill>
                          <a:latin typeface="Calibri"/>
                        </a:rPr>
                        <a:t>Average Selling Price by Powertrain and Capacity Class (USD/vehicle)</a:t>
                      </a:r>
                      <a:endParaRPr sz="1100"/>
                    </a:p>
                  </a:txBody>
                  <a:tcPr marL="771525" marR="9525" marT="9525" marB="0" anchor="ctr"/>
                </a:tc>
              </a:tr>
              <a:tr h="175260">
                <a:tc>
                  <a:txBody>
                    <a:bodyPr wrap="square"/>
                    <a:lstStyle/>
                    <a:p>
                      <a:pPr algn="l"/>
                      <a:r>
                        <a:rPr sz="1100" b="0" i="0">
                          <a:solidFill>
                            <a:srgbClr val="000000"/>
                          </a:solidFill>
                          <a:latin typeface="Calibri"/>
                        </a:rPr>
                        <a:t>6.3.3.</a:t>
                      </a:r>
                      <a:r>
                        <a:rPr sz="700" b="0" i="0">
                          <a:solidFill>
                            <a:srgbClr val="000000"/>
                          </a:solidFill>
                          <a:latin typeface="Times New Roman"/>
                        </a:rPr>
                        <a:t>   </a:t>
                      </a:r>
                      <a:r>
                        <a:rPr sz="1100" b="0" i="0">
                          <a:solidFill>
                            <a:srgbClr val="000000"/>
                          </a:solidFill>
                          <a:latin typeface="Calibri"/>
                        </a:rPr>
                        <a:t>Average Selling Price by Country and Region (USD/vehicle)</a:t>
                      </a:r>
                      <a:endParaRPr sz="1100"/>
                    </a:p>
                  </a:txBody>
                  <a:tcPr marL="771525" marR="9525" marT="9525" marB="0" anchor="ctr"/>
                </a:tc>
              </a:tr>
              <a:tr h="35052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Off-Highway Vehicle Market Demand (US$ Mn)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Historical Market Value (US$ Mn) Analysis, 2021–2025</a:t>
                      </a:r>
                      <a:endParaRPr sz="1100"/>
                    </a:p>
                  </a:txBody>
                  <a:tcPr marL="4286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Current and Future Market Value (US$ Mn) Projections, 2026–2036</a:t>
                      </a:r>
                      <a:endParaRPr sz="1100"/>
                    </a:p>
                  </a:txBody>
                  <a:tcPr marL="428625" marR="9525" marT="9525" marB="0" anchor="ctr"/>
                </a:tc>
              </a:tr>
              <a:tr h="175260">
                <a:tc>
                  <a:txBody>
                    <a:bodyPr wrap="square"/>
                    <a:lstStyle/>
                    <a:p>
                      <a:pPr algn="l"/>
                      <a:r>
                        <a:rPr sz="1100" b="0" i="0">
                          <a:solidFill>
                            <a:srgbClr val="000000"/>
                          </a:solidFill>
                          <a:latin typeface="Calibri"/>
                        </a:rPr>
                        <a:t>7.2.1.</a:t>
                      </a:r>
                      <a:r>
                        <a:rPr sz="700" b="0" i="0">
                          <a:solidFill>
                            <a:srgbClr val="000000"/>
                          </a:solidFill>
                          <a:latin typeface="Times New Roman"/>
                        </a:rPr>
                        <a:t>   </a:t>
                      </a:r>
                      <a:r>
                        <a:rPr sz="1100" b="0" i="0">
                          <a:solidFill>
                            <a:srgbClr val="000000"/>
                          </a:solidFill>
                          <a:latin typeface="Calibri"/>
                        </a:rPr>
                        <a:t>Y-o-Y Growth Trend Analysis</a:t>
                      </a:r>
                      <a:endParaRPr sz="1100"/>
                    </a:p>
                  </a:txBody>
                  <a:tcPr marL="771525" marR="9525" marT="9525" marB="0" anchor="ctr"/>
                </a:tc>
              </a:tr>
              <a:tr h="175260">
                <a:tc>
                  <a:txBody>
                    <a:bodyPr wrap="square"/>
                    <a:lstStyle/>
                    <a:p>
                      <a:pPr algn="l"/>
                      <a:r>
                        <a:rPr sz="1100" b="0" i="0">
                          <a:solidFill>
                            <a:srgbClr val="000000"/>
                          </a:solidFill>
                          <a:latin typeface="Calibri"/>
                        </a:rPr>
                        <a:t>7.2.2.</a:t>
                      </a:r>
                      <a:r>
                        <a:rPr sz="700" b="0" i="0">
                          <a:solidFill>
                            <a:srgbClr val="000000"/>
                          </a:solidFill>
                          <a:latin typeface="Times New Roman"/>
                        </a:rPr>
                        <a:t>   </a:t>
                      </a:r>
                      <a:r>
                        <a:rPr sz="1100" b="0" i="0">
                          <a:solidFill>
                            <a:srgbClr val="000000"/>
                          </a:solidFill>
                          <a:latin typeface="Calibri"/>
                        </a:rPr>
                        <a:t>Absolute $ Opportunity Analysis</a:t>
                      </a:r>
                      <a:endParaRPr sz="1100"/>
                    </a:p>
                  </a:txBody>
                  <a:tcPr marL="771525"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Market Background</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Macro-Economic Factors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Forecast Factors - Relevance &amp; Impact</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Value Chain</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Market Dynamics</a:t>
                      </a:r>
                      <a:endParaRPr sz="1100"/>
                    </a:p>
                  </a:txBody>
                  <a:tcPr marL="428625" marR="9525" marT="9525" marB="0" anchor="ctr"/>
                </a:tc>
              </a:tr>
              <a:tr h="175260">
                <a:tc>
                  <a:txBody>
                    <a:bodyPr wrap="square"/>
                    <a:lstStyle/>
                    <a:p>
                      <a:pPr algn="l"/>
                      <a:r>
                        <a:rPr sz="1100" b="0" i="0">
                          <a:solidFill>
                            <a:srgbClr val="000000"/>
                          </a:solidFill>
                          <a:latin typeface="Calibri"/>
                        </a:rPr>
                        <a:t>8.4.1.</a:t>
                      </a:r>
                      <a:r>
                        <a:rPr sz="700" b="0" i="0">
                          <a:solidFill>
                            <a:srgbClr val="000000"/>
                          </a:solidFill>
                          <a:latin typeface="Times New Roman"/>
                        </a:rPr>
                        <a:t>   </a:t>
                      </a:r>
                      <a:r>
                        <a:rPr sz="1100" b="0" i="0">
                          <a:solidFill>
                            <a:srgbClr val="000000"/>
                          </a:solidFill>
                          <a:latin typeface="Calibri"/>
                        </a:rPr>
                        <a:t>Drivers</a:t>
                      </a:r>
                      <a:endParaRPr sz="1100"/>
                    </a:p>
                  </a:txBody>
                  <a:tcPr marL="771525" marR="9525" marT="9525" marB="0" anchor="ctr"/>
                </a:tc>
              </a:tr>
              <a:tr h="175260">
                <a:tc>
                  <a:txBody>
                    <a:bodyPr wrap="square"/>
                    <a:lstStyle/>
                    <a:p>
                      <a:pPr algn="l"/>
                      <a:r>
                        <a:rPr sz="1100" b="0" i="0">
                          <a:solidFill>
                            <a:srgbClr val="000000"/>
                          </a:solidFill>
                          <a:latin typeface="Calibri"/>
                        </a:rPr>
                        <a:t>8.4.2.</a:t>
                      </a:r>
                      <a:r>
                        <a:rPr sz="700" b="0" i="0">
                          <a:solidFill>
                            <a:srgbClr val="000000"/>
                          </a:solidFill>
                          <a:latin typeface="Times New Roman"/>
                        </a:rPr>
                        <a:t>   </a:t>
                      </a:r>
                      <a:r>
                        <a:rPr sz="1100" b="0" i="0">
                          <a:solidFill>
                            <a:srgbClr val="000000"/>
                          </a:solidFill>
                          <a:latin typeface="Calibri"/>
                        </a:rPr>
                        <a:t>Restraints</a:t>
                      </a:r>
                      <a:endParaRPr sz="1100"/>
                    </a:p>
                  </a:txBody>
                  <a:tcPr marL="771525" marR="9525" marT="9525" marB="0" anchor="ctr"/>
                </a:tc>
              </a:tr>
              <a:tr h="175260">
                <a:tc>
                  <a:txBody>
                    <a:bodyPr wrap="square"/>
                    <a:lstStyle/>
                    <a:p>
                      <a:pPr algn="l"/>
                      <a:r>
                        <a:rPr sz="1100" b="0" i="0">
                          <a:solidFill>
                            <a:srgbClr val="000000"/>
                          </a:solidFill>
                          <a:latin typeface="Calibri"/>
                        </a:rPr>
                        <a:t>8.4.3.</a:t>
                      </a:r>
                      <a:r>
                        <a:rPr sz="700" b="0" i="0">
                          <a:solidFill>
                            <a:srgbClr val="000000"/>
                          </a:solidFill>
                          <a:latin typeface="Times New Roman"/>
                        </a:rPr>
                        <a:t>   </a:t>
                      </a:r>
                      <a:r>
                        <a:rPr sz="1100" b="0" i="0">
                          <a:solidFill>
                            <a:srgbClr val="000000"/>
                          </a:solidFill>
                          <a:latin typeface="Calibri"/>
                        </a:rPr>
                        <a:t>Opportunity Analysis</a:t>
                      </a:r>
                      <a:endParaRPr sz="1100"/>
                    </a:p>
                  </a:txBody>
                  <a:tcPr marL="7715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Addressable Vehicle Fleet &amp; Buyer Base</a:t>
                      </a:r>
                      <a:endParaRPr sz="1100"/>
                    </a:p>
                  </a:txBody>
                  <a:tcPr marL="428625" marR="9525" marT="9525" marB="0" anchor="ctr"/>
                </a:tc>
              </a:tr>
              <a:tr h="17526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Active Vehicle Fleet by Vehicle Type and Country</a:t>
                      </a:r>
                      <a:endParaRPr sz="1100"/>
                    </a:p>
                  </a:txBody>
                  <a:tcPr marL="771525"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Addressable Buyers by End-Use Industry</a:t>
                      </a:r>
                      <a:endParaRPr sz="1100"/>
                    </a:p>
                  </a:txBody>
                  <a:tcPr marL="771525"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Average Vehicle Fleet Size by Buyer Category</a:t>
                      </a:r>
                      <a:endParaRPr sz="1100"/>
                    </a:p>
                  </a:txBody>
                  <a:tcPr marL="771525"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Annual New-Vehicle Purchase Penetration Among Addressable Buyers</a:t>
                      </a:r>
                      <a:endParaRPr sz="1100"/>
                    </a:p>
                  </a:txBody>
                  <a:tcPr marL="771525" marR="9525" marT="9525" marB="0" anchor="ctr"/>
                </a:tc>
              </a:tr>
              <a:tr h="175260">
                <a:tc>
                  <a:txBody>
                    <a:bodyPr wrap="square"/>
                    <a:lstStyle/>
                    <a:p>
                      <a:pPr algn="l"/>
                      <a:r>
                        <a:rPr sz="1100" b="0" i="0">
                          <a:solidFill>
                            <a:srgbClr val="0070C0"/>
                          </a:solidFill>
                          <a:latin typeface="Calibri"/>
                        </a:rPr>
                        <a:t>8.6.</a:t>
                      </a:r>
                      <a:r>
                        <a:rPr sz="700" b="0" i="0">
                          <a:solidFill>
                            <a:srgbClr val="0070C0"/>
                          </a:solidFill>
                          <a:latin typeface="Times New Roman"/>
                        </a:rPr>
                        <a:t>    </a:t>
                      </a:r>
                      <a:r>
                        <a:rPr sz="1100" b="0" i="0">
                          <a:solidFill>
                            <a:srgbClr val="0070C0"/>
                          </a:solidFill>
                          <a:latin typeface="Calibri"/>
                        </a:rPr>
                        <a:t>Fleet Replacement &amp; Expansion Demand</a:t>
                      </a:r>
                      <a:endParaRPr sz="1100"/>
                    </a:p>
                  </a:txBody>
                  <a:tcPr marL="428625" marR="9525" marT="9525" marB="0" anchor="ctr"/>
                </a:tc>
              </a:tr>
              <a:tr h="175260">
                <a:tc>
                  <a:txBody>
                    <a:bodyPr wrap="square"/>
                    <a:lstStyle/>
                    <a:p>
                      <a:pPr algn="l"/>
                      <a:r>
                        <a:rPr sz="1100" b="0" i="0">
                          <a:solidFill>
                            <a:srgbClr val="000000"/>
                          </a:solidFill>
                          <a:latin typeface="Calibri"/>
                        </a:rPr>
                        <a:t>8.6.1.</a:t>
                      </a:r>
                      <a:r>
                        <a:rPr sz="700" b="0" i="0">
                          <a:solidFill>
                            <a:srgbClr val="000000"/>
                          </a:solidFill>
                          <a:latin typeface="Times New Roman"/>
                        </a:rPr>
                        <a:t>   </a:t>
                      </a:r>
                      <a:r>
                        <a:rPr sz="1100" b="0" i="0">
                          <a:solidFill>
                            <a:srgbClr val="000000"/>
                          </a:solidFill>
                          <a:latin typeface="Calibri"/>
                        </a:rPr>
                        <a:t>Average Vehicle Service Life by Vehicle Type</a:t>
                      </a:r>
                      <a:endParaRPr sz="1100"/>
                    </a:p>
                  </a:txBody>
                  <a:tcPr marL="771525" marR="9525" marT="9525" marB="0" anchor="ctr"/>
                </a:tc>
              </a:tr>
              <a:tr h="175260">
                <a:tc>
                  <a:txBody>
                    <a:bodyPr wrap="square"/>
                    <a:lstStyle/>
                    <a:p>
                      <a:pPr algn="l"/>
                      <a:r>
                        <a:rPr sz="1100" b="0" i="0">
                          <a:solidFill>
                            <a:srgbClr val="000000"/>
                          </a:solidFill>
                          <a:latin typeface="Calibri"/>
                        </a:rPr>
                        <a:t>8.6.2.</a:t>
                      </a:r>
                      <a:r>
                        <a:rPr sz="700" b="0" i="0">
                          <a:solidFill>
                            <a:srgbClr val="000000"/>
                          </a:solidFill>
                          <a:latin typeface="Times New Roman"/>
                        </a:rPr>
                        <a:t>   </a:t>
                      </a:r>
                      <a:r>
                        <a:rPr sz="1100" b="0" i="0">
                          <a:solidFill>
                            <a:srgbClr val="000000"/>
                          </a:solidFill>
                          <a:latin typeface="Calibri"/>
                        </a:rPr>
                        <a:t>Annual Fleet Replacement Rate by Vehicle Type</a:t>
                      </a:r>
                      <a:endParaRPr sz="1100"/>
                    </a:p>
                  </a:txBody>
                  <a:tcPr marL="771525" marR="9525" marT="9525" marB="0" anchor="ctr"/>
                </a:tc>
              </a:tr>
              <a:tr h="175260">
                <a:tc>
                  <a:txBody>
                    <a:bodyPr wrap="square"/>
                    <a:lstStyle/>
                    <a:p>
                      <a:pPr algn="l"/>
                      <a:r>
                        <a:rPr sz="1100" b="0" i="0">
                          <a:solidFill>
                            <a:srgbClr val="000000"/>
                          </a:solidFill>
                          <a:latin typeface="Calibri"/>
                        </a:rPr>
                        <a:t>8.6.3.</a:t>
                      </a:r>
                      <a:r>
                        <a:rPr sz="700" b="0" i="0">
                          <a:solidFill>
                            <a:srgbClr val="000000"/>
                          </a:solidFill>
                          <a:latin typeface="Times New Roman"/>
                        </a:rPr>
                        <a:t>   </a:t>
                      </a:r>
                      <a:r>
                        <a:rPr sz="1100" b="0" i="0">
                          <a:solidFill>
                            <a:srgbClr val="000000"/>
                          </a:solidFill>
                          <a:latin typeface="Calibri"/>
                        </a:rPr>
                        <a:t>Annual Fleet Expansion Rate by End-Use Industry</a:t>
                      </a:r>
                      <a:endParaRPr sz="1100"/>
                    </a:p>
                  </a:txBody>
                  <a:tcPr marL="771525" marR="9525" marT="9525" marB="0" anchor="ctr"/>
                </a:tc>
              </a:tr>
              <a:tr h="175260">
                <a:tc>
                  <a:txBody>
                    <a:bodyPr wrap="square"/>
                    <a:lstStyle/>
                    <a:p>
                      <a:pPr algn="l"/>
                      <a:r>
                        <a:rPr sz="1100" b="0" i="0">
                          <a:solidFill>
                            <a:srgbClr val="000000"/>
                          </a:solidFill>
                          <a:latin typeface="Calibri"/>
                        </a:rPr>
                        <a:t>8.6.4.</a:t>
                      </a:r>
                      <a:r>
                        <a:rPr sz="700" b="0" i="0">
                          <a:solidFill>
                            <a:srgbClr val="000000"/>
                          </a:solidFill>
                          <a:latin typeface="Times New Roman"/>
                        </a:rPr>
                        <a:t>   </a:t>
                      </a:r>
                      <a:r>
                        <a:rPr sz="1100" b="0" i="0">
                          <a:solidFill>
                            <a:srgbClr val="000000"/>
                          </a:solidFill>
                          <a:latin typeface="Calibri"/>
                        </a:rPr>
                        <a:t>Incremental Fleet Additions by Vehicle Type</a:t>
                      </a:r>
                      <a:endParaRPr sz="1100"/>
                    </a:p>
                  </a:txBody>
                  <a:tcPr marL="771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Supply Chain Risk</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Input Cost and Supply Chain Risk</a:t>
                      </a:r>
                      <a:endParaRPr sz="1100"/>
                    </a:p>
                  </a:txBody>
                  <a:tcPr marL="428625" marR="9525" marT="9525" marB="0" anchor="ctr"/>
                </a:tc>
              </a:tr>
              <a:tr h="175260">
                <a:tc>
                  <a:txBody>
                    <a:bodyPr wrap="square"/>
                    <a:lstStyle/>
                    <a:p>
                      <a:pPr algn="l"/>
                      <a:r>
                        <a:rPr sz="1100" b="0" i="0">
                          <a:solidFill>
                            <a:srgbClr val="000000"/>
                          </a:solidFill>
                          <a:latin typeface="Calibri"/>
                        </a:rPr>
                        <a:t>9.1.1.</a:t>
                      </a:r>
                      <a:r>
                        <a:rPr sz="700" b="0" i="0">
                          <a:solidFill>
                            <a:srgbClr val="000000"/>
                          </a:solidFill>
                          <a:latin typeface="Times New Roman"/>
                        </a:rPr>
                        <a:t>   </a:t>
                      </a:r>
                      <a:r>
                        <a:rPr sz="1100" b="0" i="0">
                          <a:solidFill>
                            <a:srgbClr val="000000"/>
                          </a:solidFill>
                          <a:latin typeface="Calibri"/>
                        </a:rPr>
                        <a:t>Raw Material, Input, and Energy Cost Exposure</a:t>
                      </a:r>
                      <a:endParaRPr sz="1100"/>
                    </a:p>
                  </a:txBody>
                  <a:tcPr marL="771525" marR="9525" marT="9525" marB="0" anchor="ctr"/>
                </a:tc>
              </a:tr>
              <a:tr h="175260">
                <a:tc>
                  <a:txBody>
                    <a:bodyPr wrap="square"/>
                    <a:lstStyle/>
                    <a:p>
                      <a:pPr algn="l"/>
                      <a:r>
                        <a:rPr sz="1100" b="0" i="0">
                          <a:solidFill>
                            <a:srgbClr val="000000"/>
                          </a:solidFill>
                          <a:latin typeface="Calibri"/>
                        </a:rPr>
                        <a:t>9.1.2.</a:t>
                      </a:r>
                      <a:r>
                        <a:rPr sz="700" b="0" i="0">
                          <a:solidFill>
                            <a:srgbClr val="000000"/>
                          </a:solidFill>
                          <a:latin typeface="Times New Roman"/>
                        </a:rPr>
                        <a:t>   </a:t>
                      </a:r>
                      <a:r>
                        <a:rPr sz="1100" b="0" i="0">
                          <a:solidFill>
                            <a:srgbClr val="000000"/>
                          </a:solidFill>
                          <a:latin typeface="Calibri"/>
                        </a:rPr>
                        <a:t>Supplier Concentration and Import Dependency</a:t>
                      </a:r>
                      <a:endParaRPr sz="1100"/>
                    </a:p>
                  </a:txBody>
                  <a:tcPr marL="771525" marR="9525" marT="9525" marB="0" anchor="ctr"/>
                </a:tc>
              </a:tr>
              <a:tr h="175260">
                <a:tc>
                  <a:txBody>
                    <a:bodyPr wrap="square"/>
                    <a:lstStyle/>
                    <a:p>
                      <a:pPr algn="l"/>
                      <a:r>
                        <a:rPr sz="1100" b="0" i="0">
                          <a:solidFill>
                            <a:srgbClr val="000000"/>
                          </a:solidFill>
                          <a:latin typeface="Calibri"/>
                        </a:rPr>
                        <a:t>9.1.3.</a:t>
                      </a:r>
                      <a:r>
                        <a:rPr sz="700" b="0" i="0">
                          <a:solidFill>
                            <a:srgbClr val="000000"/>
                          </a:solidFill>
                          <a:latin typeface="Times New Roman"/>
                        </a:rPr>
                        <a:t>   </a:t>
                      </a:r>
                      <a:r>
                        <a:rPr sz="1100" b="0" i="0">
                          <a:solidFill>
                            <a:srgbClr val="000000"/>
                          </a:solidFill>
                          <a:latin typeface="Calibri"/>
                        </a:rPr>
                        <a:t>Manufacturing, Logistics, and Delivery Risk</a:t>
                      </a:r>
                      <a:endParaRPr sz="1100"/>
                    </a:p>
                  </a:txBody>
                  <a:tcPr marL="7715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Pricing, Margin, and Demand Impact</a:t>
                      </a:r>
                      <a:endParaRPr sz="1100"/>
                    </a:p>
                  </a:txBody>
                  <a:tcPr marL="428625" marR="9525" marT="9525" marB="0" anchor="ctr"/>
                </a:tc>
              </a:tr>
              <a:tr h="175260">
                <a:tc>
                  <a:txBody>
                    <a:bodyPr wrap="square"/>
                    <a:lstStyle/>
                    <a:p>
                      <a:pPr algn="l"/>
                      <a:r>
                        <a:rPr sz="1100" b="0" i="0">
                          <a:solidFill>
                            <a:srgbClr val="000000"/>
                          </a:solidFill>
                          <a:latin typeface="Calibri"/>
                        </a:rPr>
                        <a:t>9.2.1.</a:t>
                      </a:r>
                      <a:r>
                        <a:rPr sz="700" b="0" i="0">
                          <a:solidFill>
                            <a:srgbClr val="000000"/>
                          </a:solidFill>
                          <a:latin typeface="Times New Roman"/>
                        </a:rPr>
                        <a:t>   </a:t>
                      </a:r>
                      <a:r>
                        <a:rPr sz="1100" b="0" i="0">
                          <a:solidFill>
                            <a:srgbClr val="000000"/>
                          </a:solidFill>
                          <a:latin typeface="Calibri"/>
                        </a:rPr>
                        <a:t>Input Cost Inflation and ASP Movement</a:t>
                      </a:r>
                      <a:endParaRPr sz="1100"/>
                    </a:p>
                  </a:txBody>
                  <a:tcPr marL="771525" marR="9525" marT="9525" marB="0" anchor="ctr"/>
                </a:tc>
              </a:tr>
              <a:tr h="175260">
                <a:tc>
                  <a:txBody>
                    <a:bodyPr wrap="square"/>
                    <a:lstStyle/>
                    <a:p>
                      <a:pPr algn="l"/>
                      <a:r>
                        <a:rPr sz="1100" b="0" i="0">
                          <a:solidFill>
                            <a:srgbClr val="000000"/>
                          </a:solidFill>
                          <a:latin typeface="Calibri"/>
                        </a:rPr>
                        <a:t>9.2.2.</a:t>
                      </a:r>
                      <a:r>
                        <a:rPr sz="700" b="0" i="0">
                          <a:solidFill>
                            <a:srgbClr val="000000"/>
                          </a:solidFill>
                          <a:latin typeface="Times New Roman"/>
                        </a:rPr>
                        <a:t>   </a:t>
                      </a:r>
                      <a:r>
                        <a:rPr sz="1100" b="0" i="0">
                          <a:solidFill>
                            <a:srgbClr val="000000"/>
                          </a:solidFill>
                          <a:latin typeface="Calibri"/>
                        </a:rPr>
                        <a:t>Supplier Margin Pressure and Buyer Cost Pass-through</a:t>
                      </a:r>
                      <a:endParaRPr sz="1100"/>
                    </a:p>
                  </a:txBody>
                  <a:tcPr marL="771525" marR="9525" marT="9525" marB="0" anchor="ctr"/>
                </a:tc>
              </a:tr>
              <a:tr h="175260">
                <a:tc>
                  <a:txBody>
                    <a:bodyPr wrap="square"/>
                    <a:lstStyle/>
                    <a:p>
                      <a:pPr algn="l"/>
                      <a:r>
                        <a:rPr sz="1100" b="0" i="0">
                          <a:solidFill>
                            <a:srgbClr val="000000"/>
                          </a:solidFill>
                          <a:latin typeface="Calibri"/>
                        </a:rPr>
                        <a:t>9.2.3.</a:t>
                      </a:r>
                      <a:r>
                        <a:rPr sz="700" b="0" i="0">
                          <a:solidFill>
                            <a:srgbClr val="000000"/>
                          </a:solidFill>
                          <a:latin typeface="Times New Roman"/>
                        </a:rPr>
                        <a:t>   </a:t>
                      </a:r>
                      <a:r>
                        <a:rPr sz="1100" b="0" i="0">
                          <a:solidFill>
                            <a:srgbClr val="000000"/>
                          </a:solidFill>
                          <a:latin typeface="Calibri"/>
                        </a:rPr>
                        <a:t>End-user Price Sensitivity and Demand Postponement</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Market Analysis and Forecast Impact</a:t>
                      </a:r>
                      <a:endParaRPr sz="1100"/>
                    </a:p>
                  </a:txBody>
                  <a:tcPr marL="428625" marR="9525" marT="9525" marB="0" anchor="ctr"/>
                </a:tc>
              </a:tr>
              <a:tr h="175260">
                <a:tc>
                  <a:txBody>
                    <a:bodyPr wrap="square"/>
                    <a:lstStyle/>
                    <a:p>
                      <a:pPr algn="l"/>
                      <a:r>
                        <a:rPr sz="1100" b="0" i="0">
                          <a:solidFill>
                            <a:srgbClr val="000000"/>
                          </a:solidFill>
                          <a:latin typeface="Calibri"/>
                        </a:rPr>
                        <a:t>9.3.1.</a:t>
                      </a:r>
                      <a:r>
                        <a:rPr sz="700" b="0" i="0">
                          <a:solidFill>
                            <a:srgbClr val="000000"/>
                          </a:solidFill>
                          <a:latin typeface="Times New Roman"/>
                        </a:rPr>
                        <a:t>   </a:t>
                      </a:r>
                      <a:r>
                        <a:rPr sz="1100" b="0" i="0">
                          <a:solidFill>
                            <a:srgbClr val="000000"/>
                          </a:solidFill>
                          <a:latin typeface="Calibri"/>
                        </a:rPr>
                        <a:t>Market Value, Volume, and ASP Impact</a:t>
                      </a:r>
                      <a:endParaRPr sz="1100"/>
                    </a:p>
                  </a:txBody>
                  <a:tcPr marL="771525" marR="9525" marT="9525" marB="0" anchor="ctr"/>
                </a:tc>
              </a:tr>
              <a:tr h="175260">
                <a:tc>
                  <a:txBody>
                    <a:bodyPr wrap="square"/>
                    <a:lstStyle/>
                    <a:p>
                      <a:pPr algn="l"/>
                      <a:r>
                        <a:rPr sz="1100" b="0" i="0">
                          <a:solidFill>
                            <a:srgbClr val="000000"/>
                          </a:solidFill>
                          <a:latin typeface="Calibri"/>
                        </a:rPr>
                        <a:t>9.3.2.</a:t>
                      </a:r>
                      <a:r>
                        <a:rPr sz="700" b="0" i="0">
                          <a:solidFill>
                            <a:srgbClr val="000000"/>
                          </a:solidFill>
                          <a:latin typeface="Times New Roman"/>
                        </a:rPr>
                        <a:t>   </a:t>
                      </a:r>
                      <a:r>
                        <a:rPr sz="1100" b="0" i="0">
                          <a:solidFill>
                            <a:srgbClr val="000000"/>
                          </a:solidFill>
                          <a:latin typeface="Calibri"/>
                        </a:rPr>
                        <a:t>CAGR and Incremental Opportunity Impact</a:t>
                      </a:r>
                      <a:endParaRPr sz="1100"/>
                    </a:p>
                  </a:txBody>
                  <a:tcPr marL="771525" marR="9525" marT="9525" marB="0" anchor="ctr"/>
                </a:tc>
              </a:tr>
              <a:tr h="175260">
                <a:tc>
                  <a:txBody>
                    <a:bodyPr wrap="square"/>
                    <a:lstStyle/>
                    <a:p>
                      <a:pPr algn="l"/>
                      <a:r>
                        <a:rPr sz="1100" b="0" i="0">
                          <a:solidFill>
                            <a:srgbClr val="000000"/>
                          </a:solidFill>
                          <a:latin typeface="Calibri"/>
                        </a:rPr>
                        <a:t>9.3.3.</a:t>
                      </a:r>
                      <a:r>
                        <a:rPr sz="700" b="0" i="0">
                          <a:solidFill>
                            <a:srgbClr val="000000"/>
                          </a:solidFill>
                          <a:latin typeface="Times New Roman"/>
                        </a:rPr>
                        <a:t>   </a:t>
                      </a:r>
                      <a:r>
                        <a:rPr sz="1100" b="0" i="0">
                          <a:solidFill>
                            <a:srgbClr val="000000"/>
                          </a:solidFill>
                          <a:latin typeface="Calibri"/>
                        </a:rPr>
                        <a:t>Short-term and Long-term Forecast Impact</a:t>
                      </a:r>
                      <a:endParaRPr sz="1100"/>
                    </a:p>
                  </a:txBody>
                  <a:tcPr marL="7715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Scenario Analysis and TMR Analyst Viewpoint</a:t>
                      </a:r>
                      <a:endParaRPr sz="1100"/>
                    </a:p>
                  </a:txBody>
                  <a:tcPr marL="428625" marR="9525" marT="9525" marB="0" anchor="ctr"/>
                </a:tc>
              </a:tr>
              <a:tr h="175260">
                <a:tc>
                  <a:txBody>
                    <a:bodyPr wrap="square"/>
                    <a:lstStyle/>
                    <a:p>
                      <a:pPr algn="l"/>
                      <a:r>
                        <a:rPr sz="1100" b="0" i="0">
                          <a:solidFill>
                            <a:srgbClr val="000000"/>
                          </a:solidFill>
                          <a:latin typeface="Calibri"/>
                        </a:rPr>
                        <a:t>9.4.1.</a:t>
                      </a:r>
                      <a:r>
                        <a:rPr sz="700" b="0" i="0">
                          <a:solidFill>
                            <a:srgbClr val="000000"/>
                          </a:solidFill>
                          <a:latin typeface="Times New Roman"/>
                        </a:rPr>
                        <a:t>   </a:t>
                      </a:r>
                      <a:r>
                        <a:rPr sz="1100" b="0" i="0">
                          <a:solidFill>
                            <a:srgbClr val="000000"/>
                          </a:solidFill>
                          <a:latin typeface="Calibri"/>
                        </a:rPr>
                        <a:t>Base, Downside, Severe Disruption, and Upside Scenarios</a:t>
                      </a:r>
                      <a:endParaRPr sz="1100"/>
                    </a:p>
                  </a:txBody>
                  <a:tcPr marL="771525" marR="9525" marT="9525" marB="0" anchor="ctr"/>
                </a:tc>
              </a:tr>
              <a:tr h="175260">
                <a:tc>
                  <a:txBody>
                    <a:bodyPr wrap="square"/>
                    <a:lstStyle/>
                    <a:p>
                      <a:pPr algn="l"/>
                      <a:r>
                        <a:rPr sz="1100" b="0" i="0">
                          <a:solidFill>
                            <a:srgbClr val="000000"/>
                          </a:solidFill>
                          <a:latin typeface="Calibri"/>
                        </a:rPr>
                        <a:t>9.4.2.</a:t>
                      </a:r>
                      <a:r>
                        <a:rPr sz="700" b="0" i="0">
                          <a:solidFill>
                            <a:srgbClr val="000000"/>
                          </a:solidFill>
                          <a:latin typeface="Times New Roman"/>
                        </a:rPr>
                        <a:t>   </a:t>
                      </a:r>
                      <a:r>
                        <a:rPr sz="1100" b="0" i="0">
                          <a:solidFill>
                            <a:srgbClr val="000000"/>
                          </a:solidFill>
                          <a:latin typeface="Calibri"/>
                        </a:rPr>
                        <a:t>Most Exposed Segments and Regions</a:t>
                      </a:r>
                      <a:endParaRPr sz="1100"/>
                    </a:p>
                  </a:txBody>
                  <a:tcPr marL="771525" marR="9525" marT="9525" marB="0" anchor="ctr"/>
                </a:tc>
              </a:tr>
              <a:tr h="175260">
                <a:tc>
                  <a:txBody>
                    <a:bodyPr wrap="square"/>
                    <a:lstStyle/>
                    <a:p>
                      <a:pPr algn="l"/>
                      <a:r>
                        <a:rPr sz="1100" b="0" i="0">
                          <a:solidFill>
                            <a:srgbClr val="000000"/>
                          </a:solidFill>
                          <a:latin typeface="Calibri"/>
                        </a:rPr>
                        <a:t>9.4.3.</a:t>
                      </a:r>
                      <a:r>
                        <a:rPr sz="700" b="0" i="0">
                          <a:solidFill>
                            <a:srgbClr val="000000"/>
                          </a:solidFill>
                          <a:latin typeface="Times New Roman"/>
                        </a:rPr>
                        <a:t>   </a:t>
                      </a:r>
                      <a:r>
                        <a:rPr sz="1100" b="0" i="0">
                          <a:solidFill>
                            <a:srgbClr val="000000"/>
                          </a:solidFill>
                          <a:latin typeface="Calibri"/>
                        </a:rPr>
                        <a:t>Strategic Recommendations</a:t>
                      </a:r>
                      <a:endParaRPr sz="1100"/>
                    </a:p>
                  </a:txBody>
                  <a:tcPr marL="771525" marR="9525" marT="9525" marB="0" anchor="ctr"/>
                </a:tc>
              </a:tr>
              <a:tr h="35052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Off-Highway Vehicle Market Analysis 2021–2025 and Forecast 2026–2036, by Vehicle Type</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Historical Market Size (US$ Mn) and Volume Analysis By Vehicle Type, 2021–2025</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Market Size (US$ Mn) and Volume Analysis and Forecast By Vehicle Type, 2026–2036</a:t>
                      </a:r>
                      <a:endParaRPr sz="1100"/>
                    </a:p>
                  </a:txBody>
                  <a:tcPr marL="428625" marR="9525" marT="9525" marB="0" anchor="ctr"/>
                </a:tc>
              </a:tr>
              <a:tr h="175260">
                <a:tc>
                  <a:txBody>
                    <a:bodyPr wrap="square"/>
                    <a:lstStyle/>
                    <a:p>
                      <a:pPr algn="l"/>
                      <a:r>
                        <a:rPr sz="1100" b="0" i="0">
                          <a:solidFill>
                            <a:srgbClr val="000000"/>
                          </a:solidFill>
                          <a:latin typeface="Calibri"/>
                        </a:rPr>
                        <a:t>10.3.1.</a:t>
                      </a:r>
                      <a:r>
                        <a:rPr sz="700" b="0" i="0">
                          <a:solidFill>
                            <a:srgbClr val="000000"/>
                          </a:solidFill>
                          <a:latin typeface="Times New Roman"/>
                        </a:rPr>
                        <a:t> </a:t>
                      </a:r>
                      <a:r>
                        <a:rPr sz="1100" b="0" i="0">
                          <a:solidFill>
                            <a:srgbClr val="000000"/>
                          </a:solidFill>
                          <a:latin typeface="Calibri"/>
                        </a:rPr>
                        <a:t>Construction and Mining Vehicles</a:t>
                      </a:r>
                      <a:endParaRPr sz="1100"/>
                    </a:p>
                  </a:txBody>
                  <a:tcPr marL="771525" marR="9525" marT="9525" marB="0" anchor="ctr"/>
                </a:tc>
              </a:tr>
              <a:tr h="175260">
                <a:tc>
                  <a:txBody>
                    <a:bodyPr wrap="square"/>
                    <a:lstStyle/>
                    <a:p>
                      <a:pPr algn="l"/>
                      <a:r>
                        <a:rPr sz="1100" b="0" i="1">
                          <a:solidFill>
                            <a:srgbClr val="000000"/>
                          </a:solidFill>
                          <a:latin typeface="Calibri"/>
                        </a:rPr>
                        <a:t>10.3.1.1.</a:t>
                      </a:r>
                      <a:r>
                        <a:rPr sz="700" b="0" i="1">
                          <a:solidFill>
                            <a:srgbClr val="000000"/>
                          </a:solidFill>
                          <a:latin typeface="Times New Roman"/>
                        </a:rPr>
                        <a:t> </a:t>
                      </a:r>
                      <a:r>
                        <a:rPr sz="1100" b="0" i="1">
                          <a:solidFill>
                            <a:srgbClr val="000000"/>
                          </a:solidFill>
                          <a:latin typeface="Calibri"/>
                        </a:rPr>
                        <a:t>Excavators &amp; Wheel Loaders</a:t>
                      </a:r>
                      <a:endParaRPr sz="1100"/>
                    </a:p>
                  </a:txBody>
                  <a:tcPr marL="1028700" marR="9525" marT="9525" marB="0" anchor="ctr"/>
                </a:tc>
              </a:tr>
              <a:tr h="175260">
                <a:tc>
                  <a:txBody>
                    <a:bodyPr wrap="square"/>
                    <a:lstStyle/>
                    <a:p>
                      <a:pPr algn="l"/>
                      <a:r>
                        <a:rPr sz="1100" b="0" i="1">
                          <a:solidFill>
                            <a:srgbClr val="000000"/>
                          </a:solidFill>
                          <a:latin typeface="Calibri"/>
                        </a:rPr>
                        <a:t>10.3.1.2.</a:t>
                      </a:r>
                      <a:r>
                        <a:rPr sz="700" b="0" i="1">
                          <a:solidFill>
                            <a:srgbClr val="000000"/>
                          </a:solidFill>
                          <a:latin typeface="Times New Roman"/>
                        </a:rPr>
                        <a:t> </a:t>
                      </a:r>
                      <a:r>
                        <a:rPr sz="1100" b="0" i="1">
                          <a:solidFill>
                            <a:srgbClr val="000000"/>
                          </a:solidFill>
                          <a:latin typeface="Calibri"/>
                        </a:rPr>
                        <a:t>Articulated &amp; Rigid Dump Trucks</a:t>
                      </a:r>
                      <a:endParaRPr sz="1100"/>
                    </a:p>
                  </a:txBody>
                  <a:tcPr marL="1028700" marR="9525" marT="9525" marB="0" anchor="ctr"/>
                </a:tc>
              </a:tr>
              <a:tr h="175260">
                <a:tc>
                  <a:txBody>
                    <a:bodyPr wrap="square"/>
                    <a:lstStyle/>
                    <a:p>
                      <a:pPr algn="l"/>
                      <a:r>
                        <a:rPr sz="1100" b="0" i="1">
                          <a:solidFill>
                            <a:srgbClr val="000000"/>
                          </a:solidFill>
                          <a:latin typeface="Calibri"/>
                        </a:rPr>
                        <a:t>10.3.1.3.</a:t>
                      </a:r>
                      <a:r>
                        <a:rPr sz="700" b="0" i="1">
                          <a:solidFill>
                            <a:srgbClr val="000000"/>
                          </a:solidFill>
                          <a:latin typeface="Times New Roman"/>
                        </a:rPr>
                        <a:t> </a:t>
                      </a:r>
                      <a:r>
                        <a:rPr sz="1100" b="0" i="1">
                          <a:solidFill>
                            <a:srgbClr val="000000"/>
                          </a:solidFill>
                          <a:latin typeface="Calibri"/>
                        </a:rPr>
                        <a:t>Backhoe Loaders</a:t>
                      </a:r>
                      <a:endParaRPr sz="1100"/>
                    </a:p>
                  </a:txBody>
                  <a:tcPr marL="1028700" marR="9525" marT="9525" marB="0" anchor="ctr"/>
                </a:tc>
              </a:tr>
              <a:tr h="175260">
                <a:tc>
                  <a:txBody>
                    <a:bodyPr wrap="square"/>
                    <a:lstStyle/>
                    <a:p>
                      <a:pPr algn="l"/>
                      <a:r>
                        <a:rPr sz="1100" b="0" i="1">
                          <a:solidFill>
                            <a:srgbClr val="000000"/>
                          </a:solidFill>
                          <a:latin typeface="Calibri"/>
                        </a:rPr>
                        <a:t>10.3.1.4.</a:t>
                      </a:r>
                      <a:r>
                        <a:rPr sz="700" b="0" i="1">
                          <a:solidFill>
                            <a:srgbClr val="000000"/>
                          </a:solidFill>
                          <a:latin typeface="Times New Roman"/>
                        </a:rPr>
                        <a:t> </a:t>
                      </a:r>
                      <a:r>
                        <a:rPr sz="1100" b="0" i="1">
                          <a:solidFill>
                            <a:srgbClr val="000000"/>
                          </a:solidFill>
                          <a:latin typeface="Calibri"/>
                        </a:rPr>
                        <a:t>Bulldozers &amp; Crawler Loaders</a:t>
                      </a:r>
                      <a:endParaRPr sz="1100"/>
                    </a:p>
                  </a:txBody>
                  <a:tcPr marL="1028700" marR="9525" marT="9525" marB="0" anchor="ctr"/>
                </a:tc>
              </a:tr>
              <a:tr h="175260">
                <a:tc>
                  <a:txBody>
                    <a:bodyPr wrap="square"/>
                    <a:lstStyle/>
                    <a:p>
                      <a:pPr algn="l"/>
                      <a:r>
                        <a:rPr sz="1100" b="0" i="1">
                          <a:solidFill>
                            <a:srgbClr val="000000"/>
                          </a:solidFill>
                          <a:latin typeface="Calibri"/>
                        </a:rPr>
                        <a:t>10.3.1.5.</a:t>
                      </a:r>
                      <a:r>
                        <a:rPr sz="700" b="0" i="1">
                          <a:solidFill>
                            <a:srgbClr val="000000"/>
                          </a:solidFill>
                          <a:latin typeface="Times New Roman"/>
                        </a:rPr>
                        <a:t> </a:t>
                      </a:r>
                      <a:r>
                        <a:rPr sz="1100" b="0" i="1">
                          <a:solidFill>
                            <a:srgbClr val="000000"/>
                          </a:solidFill>
                          <a:latin typeface="Calibri"/>
                        </a:rPr>
                        <a:t>Cold Planers</a:t>
                      </a:r>
                      <a:endParaRPr sz="1100"/>
                    </a:p>
                  </a:txBody>
                  <a:tcPr marL="1028700" marR="9525" marT="9525" marB="0" anchor="ctr"/>
                </a:tc>
              </a:tr>
              <a:tr h="175260">
                <a:tc>
                  <a:txBody>
                    <a:bodyPr wrap="square"/>
                    <a:lstStyle/>
                    <a:p>
                      <a:pPr algn="l"/>
                      <a:r>
                        <a:rPr sz="1100" b="0" i="1">
                          <a:solidFill>
                            <a:srgbClr val="000000"/>
                          </a:solidFill>
                          <a:latin typeface="Calibri"/>
                        </a:rPr>
                        <a:t>10.3.1.6.</a:t>
                      </a:r>
                      <a:r>
                        <a:rPr sz="700" b="0" i="1">
                          <a:solidFill>
                            <a:srgbClr val="000000"/>
                          </a:solidFill>
                          <a:latin typeface="Times New Roman"/>
                        </a:rPr>
                        <a:t> </a:t>
                      </a:r>
                      <a:r>
                        <a:rPr sz="1100" b="0" i="1">
                          <a:solidFill>
                            <a:srgbClr val="000000"/>
                          </a:solidFill>
                          <a:latin typeface="Calibri"/>
                        </a:rPr>
                        <a:t>Other Construction and Mining Vehicles</a:t>
                      </a:r>
                      <a:endParaRPr sz="1100"/>
                    </a:p>
                  </a:txBody>
                  <a:tcPr marL="1028700" marR="9525" marT="9525" marB="0" anchor="ctr"/>
                </a:tc>
              </a:tr>
              <a:tr h="175260">
                <a:tc>
                  <a:txBody>
                    <a:bodyPr wrap="square"/>
                    <a:lstStyle/>
                    <a:p>
                      <a:pPr algn="l"/>
                      <a:r>
                        <a:rPr sz="1100" b="0" i="0">
                          <a:solidFill>
                            <a:srgbClr val="000000"/>
                          </a:solidFill>
                          <a:latin typeface="Calibri"/>
                        </a:rPr>
                        <a:t>10.3.2.</a:t>
                      </a:r>
                      <a:r>
                        <a:rPr sz="700" b="0" i="0">
                          <a:solidFill>
                            <a:srgbClr val="000000"/>
                          </a:solidFill>
                          <a:latin typeface="Times New Roman"/>
                        </a:rPr>
                        <a:t> </a:t>
                      </a:r>
                      <a:r>
                        <a:rPr sz="1100" b="0" i="0">
                          <a:solidFill>
                            <a:srgbClr val="000000"/>
                          </a:solidFill>
                          <a:latin typeface="Calibri"/>
                        </a:rPr>
                        <a:t>Agriculture and Forestry Vehicles</a:t>
                      </a:r>
                      <a:endParaRPr sz="1100"/>
                    </a:p>
                  </a:txBody>
                  <a:tcPr marL="771525" marR="9525" marT="9525" marB="0" anchor="ctr"/>
                </a:tc>
              </a:tr>
              <a:tr h="175260">
                <a:tc>
                  <a:txBody>
                    <a:bodyPr wrap="square"/>
                    <a:lstStyle/>
                    <a:p>
                      <a:pPr algn="l"/>
                      <a:r>
                        <a:rPr sz="1100" b="0" i="1">
                          <a:solidFill>
                            <a:srgbClr val="000000"/>
                          </a:solidFill>
                          <a:latin typeface="Calibri"/>
                        </a:rPr>
                        <a:t>10.3.2.1.</a:t>
                      </a:r>
                      <a:r>
                        <a:rPr sz="700" b="0" i="1">
                          <a:solidFill>
                            <a:srgbClr val="000000"/>
                          </a:solidFill>
                          <a:latin typeface="Times New Roman"/>
                        </a:rPr>
                        <a:t> </a:t>
                      </a:r>
                      <a:r>
                        <a:rPr sz="1100" b="0" i="1">
                          <a:solidFill>
                            <a:srgbClr val="000000"/>
                          </a:solidFill>
                          <a:latin typeface="Calibri"/>
                        </a:rPr>
                        <a:t>Tractors</a:t>
                      </a:r>
                      <a:endParaRPr sz="1100"/>
                    </a:p>
                  </a:txBody>
                  <a:tcPr marL="1028700" marR="9525" marT="9525" marB="0" anchor="ctr"/>
                </a:tc>
              </a:tr>
              <a:tr h="175260">
                <a:tc>
                  <a:txBody>
                    <a:bodyPr wrap="square"/>
                    <a:lstStyle/>
                    <a:p>
                      <a:pPr algn="l"/>
                      <a:r>
                        <a:rPr sz="1100" b="0" i="1">
                          <a:solidFill>
                            <a:srgbClr val="000000"/>
                          </a:solidFill>
                          <a:latin typeface="Calibri"/>
                        </a:rPr>
                        <a:t>10.3.2.2.</a:t>
                      </a:r>
                      <a:r>
                        <a:rPr sz="700" b="0" i="1">
                          <a:solidFill>
                            <a:srgbClr val="000000"/>
                          </a:solidFill>
                          <a:latin typeface="Times New Roman"/>
                        </a:rPr>
                        <a:t> </a:t>
                      </a:r>
                      <a:r>
                        <a:rPr sz="1100" b="0" i="1">
                          <a:solidFill>
                            <a:srgbClr val="000000"/>
                          </a:solidFill>
                          <a:latin typeface="Calibri"/>
                        </a:rPr>
                        <a:t>Feller Bunchers</a:t>
                      </a:r>
                      <a:endParaRPr sz="1100"/>
                    </a:p>
                  </a:txBody>
                  <a:tcPr marL="1028700" marR="9525" marT="9525" marB="0" anchor="ctr"/>
                </a:tc>
              </a:tr>
              <a:tr h="175260">
                <a:tc>
                  <a:txBody>
                    <a:bodyPr wrap="square"/>
                    <a:lstStyle/>
                    <a:p>
                      <a:pPr algn="l"/>
                      <a:r>
                        <a:rPr sz="1100" b="0" i="1">
                          <a:solidFill>
                            <a:srgbClr val="000000"/>
                          </a:solidFill>
                          <a:latin typeface="Calibri"/>
                        </a:rPr>
                        <a:t>10.3.2.3.</a:t>
                      </a:r>
                      <a:r>
                        <a:rPr sz="700" b="0" i="1">
                          <a:solidFill>
                            <a:srgbClr val="000000"/>
                          </a:solidFill>
                          <a:latin typeface="Times New Roman"/>
                        </a:rPr>
                        <a:t> </a:t>
                      </a:r>
                      <a:r>
                        <a:rPr sz="1100" b="0" i="1">
                          <a:solidFill>
                            <a:srgbClr val="000000"/>
                          </a:solidFill>
                          <a:latin typeface="Calibri"/>
                        </a:rPr>
                        <a:t>Combine and Forage Harvesters</a:t>
                      </a:r>
                      <a:endParaRPr sz="1100"/>
                    </a:p>
                  </a:txBody>
                  <a:tcPr marL="1028700" marR="9525" marT="9525" marB="0" anchor="ctr"/>
                </a:tc>
              </a:tr>
              <a:tr h="175260">
                <a:tc>
                  <a:txBody>
                    <a:bodyPr wrap="square"/>
                    <a:lstStyle/>
                    <a:p>
                      <a:pPr algn="l"/>
                      <a:r>
                        <a:rPr sz="1100" b="0" i="1">
                          <a:solidFill>
                            <a:srgbClr val="000000"/>
                          </a:solidFill>
                          <a:latin typeface="Calibri"/>
                        </a:rPr>
                        <a:t>10.3.2.4.</a:t>
                      </a:r>
                      <a:r>
                        <a:rPr sz="700" b="0" i="1">
                          <a:solidFill>
                            <a:srgbClr val="000000"/>
                          </a:solidFill>
                          <a:latin typeface="Times New Roman"/>
                        </a:rPr>
                        <a:t> </a:t>
                      </a:r>
                      <a:r>
                        <a:rPr sz="1100" b="0" i="1">
                          <a:solidFill>
                            <a:srgbClr val="000000"/>
                          </a:solidFill>
                          <a:latin typeface="Calibri"/>
                        </a:rPr>
                        <a:t>Forestry Harvesters</a:t>
                      </a:r>
                      <a:endParaRPr sz="1100"/>
                    </a:p>
                  </a:txBody>
                  <a:tcPr marL="1028700" marR="9525" marT="9525" marB="0" anchor="ctr"/>
                </a:tc>
              </a:tr>
              <a:tr h="175260">
                <a:tc>
                  <a:txBody>
                    <a:bodyPr wrap="square"/>
                    <a:lstStyle/>
                    <a:p>
                      <a:pPr algn="l"/>
                      <a:r>
                        <a:rPr sz="1100" b="0" i="1">
                          <a:solidFill>
                            <a:srgbClr val="000000"/>
                          </a:solidFill>
                          <a:latin typeface="Calibri"/>
                        </a:rPr>
                        <a:t>10.3.2.5.</a:t>
                      </a:r>
                      <a:r>
                        <a:rPr sz="700" b="0" i="1">
                          <a:solidFill>
                            <a:srgbClr val="000000"/>
                          </a:solidFill>
                          <a:latin typeface="Times New Roman"/>
                        </a:rPr>
                        <a:t> </a:t>
                      </a:r>
                      <a:r>
                        <a:rPr sz="1100" b="0" i="1">
                          <a:solidFill>
                            <a:srgbClr val="000000"/>
                          </a:solidFill>
                          <a:latin typeface="Calibri"/>
                        </a:rPr>
                        <a:t>Other Agriculture and Forestry Vehicles</a:t>
                      </a:r>
                      <a:endParaRPr sz="1100"/>
                    </a:p>
                  </a:txBody>
                  <a:tcPr marL="1028700" marR="9525" marT="9525" marB="0" anchor="ctr"/>
                </a:tc>
              </a:tr>
              <a:tr h="175260">
                <a:tc>
                  <a:txBody>
                    <a:bodyPr wrap="square"/>
                    <a:lstStyle/>
                    <a:p>
                      <a:pPr algn="l"/>
                      <a:r>
                        <a:rPr sz="1100" b="0" i="0">
                          <a:solidFill>
                            <a:srgbClr val="000000"/>
                          </a:solidFill>
                          <a:latin typeface="Calibri"/>
                        </a:rPr>
                        <a:t>10.3.3.</a:t>
                      </a:r>
                      <a:r>
                        <a:rPr sz="700" b="0" i="0">
                          <a:solidFill>
                            <a:srgbClr val="000000"/>
                          </a:solidFill>
                          <a:latin typeface="Times New Roman"/>
                        </a:rPr>
                        <a:t> </a:t>
                      </a:r>
                      <a:r>
                        <a:rPr sz="1100" b="0" i="0">
                          <a:solidFill>
                            <a:srgbClr val="000000"/>
                          </a:solidFill>
                          <a:latin typeface="Calibri"/>
                        </a:rPr>
                        <a:t>Industrial and Port Vehicles</a:t>
                      </a:r>
                      <a:endParaRPr sz="1100"/>
                    </a:p>
                  </a:txBody>
                  <a:tcPr marL="771525" marR="9525" marT="9525" marB="0" anchor="ctr"/>
                </a:tc>
              </a:tr>
              <a:tr h="175260">
                <a:tc>
                  <a:txBody>
                    <a:bodyPr wrap="square"/>
                    <a:lstStyle/>
                    <a:p>
                      <a:pPr algn="l"/>
                      <a:r>
                        <a:rPr sz="1100" b="0" i="1">
                          <a:solidFill>
                            <a:srgbClr val="000000"/>
                          </a:solidFill>
                          <a:latin typeface="Calibri"/>
                        </a:rPr>
                        <a:t>10.3.3.1.</a:t>
                      </a:r>
                      <a:r>
                        <a:rPr sz="700" b="0" i="1">
                          <a:solidFill>
                            <a:srgbClr val="000000"/>
                          </a:solidFill>
                          <a:latin typeface="Times New Roman"/>
                        </a:rPr>
                        <a:t> </a:t>
                      </a:r>
                      <a:r>
                        <a:rPr sz="1100" b="0" i="1">
                          <a:solidFill>
                            <a:srgbClr val="000000"/>
                          </a:solidFill>
                          <a:latin typeface="Calibri"/>
                        </a:rPr>
                        <a:t>Rough-Terrain Forklifts</a:t>
                      </a:r>
                      <a:endParaRPr sz="1100"/>
                    </a:p>
                  </a:txBody>
                  <a:tcPr marL="1028700" marR="9525" marT="9525" marB="0" anchor="ctr"/>
                </a:tc>
              </a:tr>
              <a:tr h="175260">
                <a:tc>
                  <a:txBody>
                    <a:bodyPr wrap="square"/>
                    <a:lstStyle/>
                    <a:p>
                      <a:pPr algn="l"/>
                      <a:r>
                        <a:rPr sz="1100" b="0" i="1">
                          <a:solidFill>
                            <a:srgbClr val="000000"/>
                          </a:solidFill>
                          <a:latin typeface="Calibri"/>
                        </a:rPr>
                        <a:t>10.3.3.2.</a:t>
                      </a:r>
                      <a:r>
                        <a:rPr sz="700" b="0" i="1">
                          <a:solidFill>
                            <a:srgbClr val="000000"/>
                          </a:solidFill>
                          <a:latin typeface="Times New Roman"/>
                        </a:rPr>
                        <a:t> </a:t>
                      </a:r>
                      <a:r>
                        <a:rPr sz="1100" b="0" i="1">
                          <a:solidFill>
                            <a:srgbClr val="000000"/>
                          </a:solidFill>
                          <a:latin typeface="Calibri"/>
                        </a:rPr>
                        <a:t>Aisle Trucks</a:t>
                      </a:r>
                      <a:endParaRPr sz="1100"/>
                    </a:p>
                  </a:txBody>
                  <a:tcPr marL="1028700" marR="9525" marT="9525" marB="0" anchor="ctr"/>
                </a:tc>
              </a:tr>
              <a:tr h="175260">
                <a:tc>
                  <a:txBody>
                    <a:bodyPr wrap="square"/>
                    <a:lstStyle/>
                    <a:p>
                      <a:pPr algn="l"/>
                      <a:r>
                        <a:rPr sz="1100" b="0" i="1">
                          <a:solidFill>
                            <a:srgbClr val="000000"/>
                          </a:solidFill>
                          <a:latin typeface="Calibri"/>
                        </a:rPr>
                        <a:t>10.3.3.3.</a:t>
                      </a:r>
                      <a:r>
                        <a:rPr sz="700" b="0" i="1">
                          <a:solidFill>
                            <a:srgbClr val="000000"/>
                          </a:solidFill>
                          <a:latin typeface="Times New Roman"/>
                        </a:rPr>
                        <a:t> </a:t>
                      </a:r>
                      <a:r>
                        <a:rPr sz="1100" b="0" i="1">
                          <a:solidFill>
                            <a:srgbClr val="000000"/>
                          </a:solidFill>
                          <a:latin typeface="Calibri"/>
                        </a:rPr>
                        <a:t>Automated Guided Vehicles</a:t>
                      </a:r>
                      <a:endParaRPr sz="1100"/>
                    </a:p>
                  </a:txBody>
                  <a:tcPr marL="1028700"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10.3.3.4.</a:t>
                      </a:r>
                      <a:r>
                        <a:rPr sz="700" b="0" i="1">
                          <a:solidFill>
                            <a:srgbClr val="000000"/>
                          </a:solidFill>
                          <a:latin typeface="Times New Roman"/>
                        </a:rPr>
                        <a:t> </a:t>
                      </a:r>
                      <a:r>
                        <a:rPr sz="1100" b="0" i="1">
                          <a:solidFill>
                            <a:srgbClr val="000000"/>
                          </a:solidFill>
                          <a:latin typeface="Calibri"/>
                        </a:rPr>
                        <a:t>Burden Carriers</a:t>
                      </a:r>
                      <a:endParaRPr sz="1100"/>
                    </a:p>
                  </a:txBody>
                  <a:tcPr marL="1028700" marR="9525" marT="9525" marB="0" anchor="ctr"/>
                </a:tc>
              </a:tr>
              <a:tr h="175260">
                <a:tc>
                  <a:txBody>
                    <a:bodyPr wrap="square"/>
                    <a:lstStyle/>
                    <a:p>
                      <a:pPr algn="l"/>
                      <a:r>
                        <a:rPr sz="1100" b="0" i="1">
                          <a:solidFill>
                            <a:srgbClr val="000000"/>
                          </a:solidFill>
                          <a:latin typeface="Calibri"/>
                        </a:rPr>
                        <a:t>10.3.3.5.</a:t>
                      </a:r>
                      <a:r>
                        <a:rPr sz="700" b="0" i="1">
                          <a:solidFill>
                            <a:srgbClr val="000000"/>
                          </a:solidFill>
                          <a:latin typeface="Times New Roman"/>
                        </a:rPr>
                        <a:t> </a:t>
                      </a:r>
                      <a:r>
                        <a:rPr sz="1100" b="0" i="1">
                          <a:solidFill>
                            <a:srgbClr val="000000"/>
                          </a:solidFill>
                          <a:latin typeface="Calibri"/>
                        </a:rPr>
                        <a:t>Other Industrial and Port Vehicles</a:t>
                      </a:r>
                      <a:endParaRPr sz="1100"/>
                    </a:p>
                  </a:txBody>
                  <a:tcPr marL="1028700" marR="9525" marT="9525" marB="0" anchor="ctr"/>
                </a:tc>
              </a:tr>
              <a:tr h="175260">
                <a:tc>
                  <a:txBody>
                    <a:bodyPr wrap="square"/>
                    <a:lstStyle/>
                    <a:p>
                      <a:pPr algn="l"/>
                      <a:r>
                        <a:rPr sz="1100" b="0" i="0">
                          <a:solidFill>
                            <a:srgbClr val="000000"/>
                          </a:solidFill>
                          <a:latin typeface="Calibri"/>
                        </a:rPr>
                        <a:t>10.3.4.</a:t>
                      </a:r>
                      <a:r>
                        <a:rPr sz="700" b="0" i="0">
                          <a:solidFill>
                            <a:srgbClr val="000000"/>
                          </a:solidFill>
                          <a:latin typeface="Times New Roman"/>
                        </a:rPr>
                        <a:t> </a:t>
                      </a:r>
                      <a:r>
                        <a:rPr sz="1100" b="0" i="0">
                          <a:solidFill>
                            <a:srgbClr val="000000"/>
                          </a:solidFill>
                          <a:latin typeface="Calibri"/>
                        </a:rPr>
                        <a:t>Recreational and Powersports Vehicles</a:t>
                      </a:r>
                      <a:endParaRPr sz="1100"/>
                    </a:p>
                  </a:txBody>
                  <a:tcPr marL="771525" marR="9525" marT="9525" marB="0" anchor="ctr"/>
                </a:tc>
              </a:tr>
              <a:tr h="175260">
                <a:tc>
                  <a:txBody>
                    <a:bodyPr wrap="square"/>
                    <a:lstStyle/>
                    <a:p>
                      <a:pPr algn="l"/>
                      <a:r>
                        <a:rPr sz="1100" b="0" i="1">
                          <a:solidFill>
                            <a:srgbClr val="000000"/>
                          </a:solidFill>
                          <a:latin typeface="Calibri"/>
                        </a:rPr>
                        <a:t>10.3.4.1.</a:t>
                      </a:r>
                      <a:r>
                        <a:rPr sz="700" b="0" i="1">
                          <a:solidFill>
                            <a:srgbClr val="000000"/>
                          </a:solidFill>
                          <a:latin typeface="Times New Roman"/>
                        </a:rPr>
                        <a:t> </a:t>
                      </a:r>
                      <a:r>
                        <a:rPr sz="1100" b="0" i="1">
                          <a:solidFill>
                            <a:srgbClr val="000000"/>
                          </a:solidFill>
                          <a:latin typeface="Calibri"/>
                        </a:rPr>
                        <a:t>All-Terrain Vehicles (ATVs)</a:t>
                      </a:r>
                      <a:endParaRPr sz="1100"/>
                    </a:p>
                  </a:txBody>
                  <a:tcPr marL="1028700" marR="9525" marT="9525" marB="0" anchor="ctr"/>
                </a:tc>
              </a:tr>
              <a:tr h="175260">
                <a:tc>
                  <a:txBody>
                    <a:bodyPr wrap="square"/>
                    <a:lstStyle/>
                    <a:p>
                      <a:pPr algn="l"/>
                      <a:r>
                        <a:rPr sz="1100" b="0" i="1">
                          <a:solidFill>
                            <a:srgbClr val="000000"/>
                          </a:solidFill>
                          <a:latin typeface="Calibri"/>
                        </a:rPr>
                        <a:t>10.3.4.2.</a:t>
                      </a:r>
                      <a:r>
                        <a:rPr sz="700" b="0" i="1">
                          <a:solidFill>
                            <a:srgbClr val="000000"/>
                          </a:solidFill>
                          <a:latin typeface="Times New Roman"/>
                        </a:rPr>
                        <a:t> </a:t>
                      </a:r>
                      <a:r>
                        <a:rPr sz="1100" b="0" i="1">
                          <a:solidFill>
                            <a:srgbClr val="000000"/>
                          </a:solidFill>
                          <a:latin typeface="Calibri"/>
                        </a:rPr>
                        <a:t>Utility Task Vehicles</a:t>
                      </a:r>
                      <a:endParaRPr sz="1100"/>
                    </a:p>
                  </a:txBody>
                  <a:tcPr marL="1028700" marR="9525" marT="9525" marB="0" anchor="ctr"/>
                </a:tc>
              </a:tr>
              <a:tr h="175260">
                <a:tc>
                  <a:txBody>
                    <a:bodyPr wrap="square"/>
                    <a:lstStyle/>
                    <a:p>
                      <a:pPr algn="l"/>
                      <a:r>
                        <a:rPr sz="1100" b="0" i="1">
                          <a:solidFill>
                            <a:srgbClr val="000000"/>
                          </a:solidFill>
                          <a:latin typeface="Calibri"/>
                        </a:rPr>
                        <a:t>10.3.4.3.</a:t>
                      </a:r>
                      <a:r>
                        <a:rPr sz="700" b="0" i="1">
                          <a:solidFill>
                            <a:srgbClr val="000000"/>
                          </a:solidFill>
                          <a:latin typeface="Times New Roman"/>
                        </a:rPr>
                        <a:t> </a:t>
                      </a:r>
                      <a:r>
                        <a:rPr sz="1100" b="0" i="1">
                          <a:solidFill>
                            <a:srgbClr val="000000"/>
                          </a:solidFill>
                          <a:latin typeface="Calibri"/>
                        </a:rPr>
                        <a:t>Buggies</a:t>
                      </a:r>
                      <a:endParaRPr sz="1100"/>
                    </a:p>
                  </a:txBody>
                  <a:tcPr marL="1028700" marR="9525" marT="9525" marB="0" anchor="ctr"/>
                </a:tc>
              </a:tr>
              <a:tr h="175260">
                <a:tc>
                  <a:txBody>
                    <a:bodyPr wrap="square"/>
                    <a:lstStyle/>
                    <a:p>
                      <a:pPr algn="l"/>
                      <a:r>
                        <a:rPr sz="1100" b="0" i="1">
                          <a:solidFill>
                            <a:srgbClr val="000000"/>
                          </a:solidFill>
                          <a:latin typeface="Calibri"/>
                        </a:rPr>
                        <a:t>10.3.4.4.</a:t>
                      </a:r>
                      <a:r>
                        <a:rPr sz="700" b="0" i="1">
                          <a:solidFill>
                            <a:srgbClr val="000000"/>
                          </a:solidFill>
                          <a:latin typeface="Times New Roman"/>
                        </a:rPr>
                        <a:t> </a:t>
                      </a:r>
                      <a:r>
                        <a:rPr sz="1100" b="0" i="1">
                          <a:solidFill>
                            <a:srgbClr val="000000"/>
                          </a:solidFill>
                          <a:latin typeface="Calibri"/>
                        </a:rPr>
                        <a:t>Dirt Bikes</a:t>
                      </a:r>
                      <a:endParaRPr sz="1100"/>
                    </a:p>
                  </a:txBody>
                  <a:tcPr marL="1028700" marR="9525" marT="9525" marB="0" anchor="ctr"/>
                </a:tc>
              </a:tr>
              <a:tr h="175260">
                <a:tc>
                  <a:txBody>
                    <a:bodyPr wrap="square"/>
                    <a:lstStyle/>
                    <a:p>
                      <a:pPr algn="l"/>
                      <a:r>
                        <a:rPr sz="1100" b="0" i="1">
                          <a:solidFill>
                            <a:srgbClr val="000000"/>
                          </a:solidFill>
                          <a:latin typeface="Calibri"/>
                        </a:rPr>
                        <a:t>10.3.4.5.</a:t>
                      </a:r>
                      <a:r>
                        <a:rPr sz="700" b="0" i="1">
                          <a:solidFill>
                            <a:srgbClr val="000000"/>
                          </a:solidFill>
                          <a:latin typeface="Times New Roman"/>
                        </a:rPr>
                        <a:t> </a:t>
                      </a:r>
                      <a:r>
                        <a:rPr sz="1100" b="0" i="1">
                          <a:solidFill>
                            <a:srgbClr val="000000"/>
                          </a:solidFill>
                          <a:latin typeface="Calibri"/>
                        </a:rPr>
                        <a:t>Other Recreational Vehicles</a:t>
                      </a:r>
                      <a:endParaRPr sz="1100"/>
                    </a:p>
                  </a:txBody>
                  <a:tcPr marL="1028700" marR="9525" marT="9525" marB="0" anchor="ctr"/>
                </a:tc>
              </a:tr>
              <a:tr h="175260">
                <a:tc>
                  <a:txBody>
                    <a:bodyPr wrap="square"/>
                    <a:lstStyle/>
                    <a:p>
                      <a:pPr algn="l"/>
                      <a:r>
                        <a:rPr sz="1100" b="0" i="0">
                          <a:solidFill>
                            <a:srgbClr val="000000"/>
                          </a:solidFill>
                          <a:latin typeface="Calibri"/>
                        </a:rPr>
                        <a:t>10.3.5.</a:t>
                      </a:r>
                      <a:r>
                        <a:rPr sz="700" b="0" i="0">
                          <a:solidFill>
                            <a:srgbClr val="000000"/>
                          </a:solidFill>
                          <a:latin typeface="Times New Roman"/>
                        </a:rPr>
                        <a:t> </a:t>
                      </a:r>
                      <a:r>
                        <a:rPr sz="1100" b="0" i="0">
                          <a:solidFill>
                            <a:srgbClr val="000000"/>
                          </a:solidFill>
                          <a:latin typeface="Calibri"/>
                        </a:rPr>
                        <a:t>Military Vehicles</a:t>
                      </a:r>
                      <a:endParaRPr sz="1100"/>
                    </a:p>
                  </a:txBody>
                  <a:tcPr marL="771525" marR="9525" marT="9525" marB="0" anchor="ctr"/>
                </a:tc>
              </a:tr>
              <a:tr h="175260">
                <a:tc>
                  <a:txBody>
                    <a:bodyPr wrap="square"/>
                    <a:lstStyle/>
                    <a:p>
                      <a:pPr algn="l"/>
                      <a:r>
                        <a:rPr sz="1100" b="0" i="1">
                          <a:solidFill>
                            <a:srgbClr val="000000"/>
                          </a:solidFill>
                          <a:latin typeface="Calibri"/>
                        </a:rPr>
                        <a:t>10.3.5.1.</a:t>
                      </a:r>
                      <a:r>
                        <a:rPr sz="700" b="0" i="1">
                          <a:solidFill>
                            <a:srgbClr val="000000"/>
                          </a:solidFill>
                          <a:latin typeface="Times New Roman"/>
                        </a:rPr>
                        <a:t> </a:t>
                      </a:r>
                      <a:r>
                        <a:rPr sz="1100" b="0" i="1">
                          <a:solidFill>
                            <a:srgbClr val="000000"/>
                          </a:solidFill>
                          <a:latin typeface="Calibri"/>
                        </a:rPr>
                        <a:t>Tanks</a:t>
                      </a:r>
                      <a:endParaRPr sz="1100"/>
                    </a:p>
                  </a:txBody>
                  <a:tcPr marL="1028700" marR="9525" marT="9525" marB="0" anchor="ctr"/>
                </a:tc>
              </a:tr>
              <a:tr h="175260">
                <a:tc>
                  <a:txBody>
                    <a:bodyPr wrap="square"/>
                    <a:lstStyle/>
                    <a:p>
                      <a:pPr algn="l"/>
                      <a:r>
                        <a:rPr sz="1100" b="0" i="1">
                          <a:solidFill>
                            <a:srgbClr val="000000"/>
                          </a:solidFill>
                          <a:latin typeface="Calibri"/>
                        </a:rPr>
                        <a:t>10.3.5.2.</a:t>
                      </a:r>
                      <a:r>
                        <a:rPr sz="700" b="0" i="1">
                          <a:solidFill>
                            <a:srgbClr val="000000"/>
                          </a:solidFill>
                          <a:latin typeface="Times New Roman"/>
                        </a:rPr>
                        <a:t> </a:t>
                      </a:r>
                      <a:r>
                        <a:rPr sz="1100" b="0" i="1">
                          <a:solidFill>
                            <a:srgbClr val="000000"/>
                          </a:solidFill>
                          <a:latin typeface="Calibri"/>
                        </a:rPr>
                        <a:t>Armored Combat Vehicles</a:t>
                      </a:r>
                      <a:endParaRPr sz="1100"/>
                    </a:p>
                  </a:txBody>
                  <a:tcPr marL="1028700" marR="9525" marT="9525" marB="0" anchor="ctr"/>
                </a:tc>
              </a:tr>
              <a:tr h="175260">
                <a:tc>
                  <a:txBody>
                    <a:bodyPr wrap="square"/>
                    <a:lstStyle/>
                    <a:p>
                      <a:pPr algn="l"/>
                      <a:r>
                        <a:rPr sz="1100" b="0" i="1">
                          <a:solidFill>
                            <a:srgbClr val="000000"/>
                          </a:solidFill>
                          <a:latin typeface="Calibri"/>
                        </a:rPr>
                        <a:t>10.3.5.3.</a:t>
                      </a:r>
                      <a:r>
                        <a:rPr sz="700" b="0" i="1">
                          <a:solidFill>
                            <a:srgbClr val="000000"/>
                          </a:solidFill>
                          <a:latin typeface="Times New Roman"/>
                        </a:rPr>
                        <a:t> </a:t>
                      </a:r>
                      <a:r>
                        <a:rPr sz="1100" b="0" i="1">
                          <a:solidFill>
                            <a:srgbClr val="000000"/>
                          </a:solidFill>
                          <a:latin typeface="Calibri"/>
                        </a:rPr>
                        <a:t>Artillery Vehicles</a:t>
                      </a:r>
                      <a:endParaRPr sz="1100"/>
                    </a:p>
                  </a:txBody>
                  <a:tcPr marL="1028700" marR="9525" marT="9525" marB="0" anchor="ctr"/>
                </a:tc>
              </a:tr>
              <a:tr h="175260">
                <a:tc>
                  <a:txBody>
                    <a:bodyPr wrap="square"/>
                    <a:lstStyle/>
                    <a:p>
                      <a:pPr algn="l"/>
                      <a:r>
                        <a:rPr sz="1100" b="0" i="1">
                          <a:solidFill>
                            <a:srgbClr val="000000"/>
                          </a:solidFill>
                          <a:latin typeface="Calibri"/>
                        </a:rPr>
                        <a:t>10.3.5.4.</a:t>
                      </a:r>
                      <a:r>
                        <a:rPr sz="700" b="0" i="1">
                          <a:solidFill>
                            <a:srgbClr val="000000"/>
                          </a:solidFill>
                          <a:latin typeface="Times New Roman"/>
                        </a:rPr>
                        <a:t> </a:t>
                      </a:r>
                      <a:r>
                        <a:rPr sz="1100" b="0" i="1">
                          <a:solidFill>
                            <a:srgbClr val="000000"/>
                          </a:solidFill>
                          <a:latin typeface="Calibri"/>
                        </a:rPr>
                        <a:t>Special-Purpose Vehicles</a:t>
                      </a:r>
                      <a:endParaRPr sz="1100"/>
                    </a:p>
                  </a:txBody>
                  <a:tcPr marL="1028700" marR="9525" marT="9525" marB="0" anchor="ctr"/>
                </a:tc>
              </a:tr>
              <a:tr h="175260">
                <a:tc>
                  <a:txBody>
                    <a:bodyPr wrap="square"/>
                    <a:lstStyle/>
                    <a:p>
                      <a:pPr algn="l"/>
                      <a:r>
                        <a:rPr sz="1100" b="0" i="1">
                          <a:solidFill>
                            <a:srgbClr val="000000"/>
                          </a:solidFill>
                          <a:latin typeface="Calibri"/>
                        </a:rPr>
                        <a:t>10.3.5.5.</a:t>
                      </a:r>
                      <a:r>
                        <a:rPr sz="700" b="0" i="1">
                          <a:solidFill>
                            <a:srgbClr val="000000"/>
                          </a:solidFill>
                          <a:latin typeface="Times New Roman"/>
                        </a:rPr>
                        <a:t> </a:t>
                      </a:r>
                      <a:r>
                        <a:rPr sz="1100" b="0" i="1">
                          <a:solidFill>
                            <a:srgbClr val="000000"/>
                          </a:solidFill>
                          <a:latin typeface="Calibri"/>
                        </a:rPr>
                        <a:t>Other Military Vehicles</a:t>
                      </a:r>
                      <a:endParaRPr sz="1100"/>
                    </a:p>
                  </a:txBody>
                  <a:tcPr marL="1028700" marR="9525" marT="9525" marB="0" anchor="ctr"/>
                </a:tc>
              </a:tr>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Market Attractiveness Analysis By Vehicle Type</a:t>
                      </a:r>
                      <a:endParaRPr sz="1100"/>
                    </a:p>
                  </a:txBody>
                  <a:tcPr marL="428625" marR="9525" marT="9525" marB="0" anchor="ctr"/>
                </a:tc>
              </a:tr>
              <a:tr h="35052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Off-Highway Vehicle Market Analysis 2021–2025 and Forecast 2026–2036, by Powertrain</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Historical Market Size (US$ Mn) and Volume Analysis By Powertrain, 2021–2025</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Market Size (US$ Mn) and Volume Analysis and Forecast By Powertrain, 2026–2036</a:t>
                      </a:r>
                      <a:endParaRPr sz="1100"/>
                    </a:p>
                  </a:txBody>
                  <a:tcPr marL="428625" marR="9525" marT="9525" marB="0" anchor="ctr"/>
                </a:tc>
              </a:tr>
              <a:tr h="175260">
                <a:tc>
                  <a:txBody>
                    <a:bodyPr wrap="square"/>
                    <a:lstStyle/>
                    <a:p>
                      <a:pPr algn="l"/>
                      <a:r>
                        <a:rPr sz="1100" b="0" i="0">
                          <a:solidFill>
                            <a:srgbClr val="000000"/>
                          </a:solidFill>
                          <a:latin typeface="Calibri"/>
                        </a:rPr>
                        <a:t>11.3.1.</a:t>
                      </a:r>
                      <a:r>
                        <a:rPr sz="700" b="0" i="0">
                          <a:solidFill>
                            <a:srgbClr val="000000"/>
                          </a:solidFill>
                          <a:latin typeface="Times New Roman"/>
                        </a:rPr>
                        <a:t> </a:t>
                      </a:r>
                      <a:r>
                        <a:rPr sz="1100" b="0" i="0">
                          <a:solidFill>
                            <a:srgbClr val="000000"/>
                          </a:solidFill>
                          <a:latin typeface="Calibri"/>
                        </a:rPr>
                        <a:t>Internal Combustion Engine (ICE)</a:t>
                      </a:r>
                      <a:endParaRPr sz="1100"/>
                    </a:p>
                  </a:txBody>
                  <a:tcPr marL="771525" marR="9525" marT="9525" marB="0" anchor="ctr"/>
                </a:tc>
              </a:tr>
              <a:tr h="175260">
                <a:tc>
                  <a:txBody>
                    <a:bodyPr wrap="square"/>
                    <a:lstStyle/>
                    <a:p>
                      <a:pPr algn="l"/>
                      <a:r>
                        <a:rPr sz="1100" b="0" i="0">
                          <a:solidFill>
                            <a:srgbClr val="000000"/>
                          </a:solidFill>
                          <a:latin typeface="Calibri"/>
                        </a:rPr>
                        <a:t>11.3.2.</a:t>
                      </a:r>
                      <a:r>
                        <a:rPr sz="700" b="0" i="0">
                          <a:solidFill>
                            <a:srgbClr val="000000"/>
                          </a:solidFill>
                          <a:latin typeface="Times New Roman"/>
                        </a:rPr>
                        <a:t> </a:t>
                      </a:r>
                      <a:r>
                        <a:rPr sz="1100" b="0" i="0">
                          <a:solidFill>
                            <a:srgbClr val="000000"/>
                          </a:solidFill>
                          <a:latin typeface="Calibri"/>
                        </a:rPr>
                        <a:t>Battery Electric Vehicle (BEV)</a:t>
                      </a:r>
                      <a:endParaRPr sz="1100"/>
                    </a:p>
                  </a:txBody>
                  <a:tcPr marL="771525" marR="9525" marT="9525" marB="0" anchor="ctr"/>
                </a:tc>
              </a:tr>
              <a:tr h="175260">
                <a:tc>
                  <a:txBody>
                    <a:bodyPr wrap="square"/>
                    <a:lstStyle/>
                    <a:p>
                      <a:pPr algn="l"/>
                      <a:r>
                        <a:rPr sz="1100" b="0" i="0">
                          <a:solidFill>
                            <a:srgbClr val="000000"/>
                          </a:solidFill>
                          <a:latin typeface="Calibri"/>
                        </a:rPr>
                        <a:t>11.3.3.</a:t>
                      </a:r>
                      <a:r>
                        <a:rPr sz="700" b="0" i="0">
                          <a:solidFill>
                            <a:srgbClr val="000000"/>
                          </a:solidFill>
                          <a:latin typeface="Times New Roman"/>
                        </a:rPr>
                        <a:t> </a:t>
                      </a:r>
                      <a:r>
                        <a:rPr sz="1100" b="0" i="0">
                          <a:solidFill>
                            <a:srgbClr val="000000"/>
                          </a:solidFill>
                          <a:latin typeface="Calibri"/>
                        </a:rPr>
                        <a:t>Hybrid Powertrain</a:t>
                      </a:r>
                      <a:endParaRPr sz="1100"/>
                    </a:p>
                  </a:txBody>
                  <a:tcPr marL="771525" marR="9525" marT="9525" marB="0" anchor="ctr"/>
                </a:tc>
              </a:tr>
              <a:tr h="175260">
                <a:tc>
                  <a:txBody>
                    <a:bodyPr wrap="square"/>
                    <a:lstStyle/>
                    <a:p>
                      <a:pPr algn="l"/>
                      <a:r>
                        <a:rPr sz="1100" b="0" i="0">
                          <a:solidFill>
                            <a:srgbClr val="000000"/>
                          </a:solidFill>
                          <a:latin typeface="Calibri"/>
                        </a:rPr>
                        <a:t>11.3.4.</a:t>
                      </a:r>
                      <a:r>
                        <a:rPr sz="700" b="0" i="0">
                          <a:solidFill>
                            <a:srgbClr val="000000"/>
                          </a:solidFill>
                          <a:latin typeface="Times New Roman"/>
                        </a:rPr>
                        <a:t> </a:t>
                      </a:r>
                      <a:r>
                        <a:rPr sz="1100" b="0" i="0">
                          <a:solidFill>
                            <a:srgbClr val="000000"/>
                          </a:solidFill>
                          <a:latin typeface="Calibri"/>
                        </a:rPr>
                        <a:t>Alternative Fuel ICE</a:t>
                      </a:r>
                      <a:endParaRPr sz="1100"/>
                    </a:p>
                  </a:txBody>
                  <a:tcPr marL="7715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Market Attractiveness Analysis By Powertrain</a:t>
                      </a:r>
                      <a:endParaRPr sz="1100"/>
                    </a:p>
                  </a:txBody>
                  <a:tcPr marL="428625" marR="9525" marT="9525" marB="0" anchor="ctr"/>
                </a:tc>
              </a:tr>
              <a:tr h="35052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Global Off-Highway Vehicle Market Analysis 2021–2025 and Forecast 2026–2036, by Vehicle Capacity</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Historical Market Size (US$ Mn) and Volume Analysis By Vehicle Capacity, 2021–2025</a:t>
                      </a:r>
                      <a:endParaRPr sz="1100"/>
                    </a:p>
                  </a:txBody>
                  <a:tcPr marL="428625" marR="9525" marT="9525" marB="0" anchor="ctr"/>
                </a:tc>
              </a:tr>
              <a:tr h="175260">
                <a:tc>
                  <a:txBody>
                    <a:bodyPr wrap="square"/>
                    <a:lstStyle/>
                    <a:p>
                      <a:pPr algn="l"/>
                      <a:endParaRPr sz="110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Market Size (US$ Mn) and Volume Analysis and Forecast By Vehicle Capacity, 2026–2036</a:t>
                      </a:r>
                      <a:endParaRPr sz="1100"/>
                    </a:p>
                  </a:txBody>
                  <a:tcPr marL="428625" marR="9525" marT="9525" marB="0" anchor="ctr"/>
                </a:tc>
              </a:tr>
              <a:tr h="175260">
                <a:tc>
                  <a:txBody>
                    <a:bodyPr wrap="square"/>
                    <a:lstStyle/>
                    <a:p>
                      <a:pPr algn="l"/>
                      <a:r>
                        <a:rPr sz="1100" b="0" i="0">
                          <a:solidFill>
                            <a:srgbClr val="000000"/>
                          </a:solidFill>
                          <a:latin typeface="Calibri"/>
                        </a:rPr>
                        <a:t>12.3.1.</a:t>
                      </a:r>
                      <a:r>
                        <a:rPr sz="700" b="0" i="0">
                          <a:solidFill>
                            <a:srgbClr val="000000"/>
                          </a:solidFill>
                          <a:latin typeface="Times New Roman"/>
                        </a:rPr>
                        <a:t> </a:t>
                      </a:r>
                      <a:r>
                        <a:rPr sz="1100" b="0" i="0">
                          <a:solidFill>
                            <a:srgbClr val="000000"/>
                          </a:solidFill>
                          <a:latin typeface="Calibri"/>
                        </a:rPr>
                        <a:t>Compact / Light-Duty Vehicles</a:t>
                      </a:r>
                      <a:endParaRPr sz="1100"/>
                    </a:p>
                  </a:txBody>
                  <a:tcPr marL="771525" marR="9525" marT="9525" marB="0" anchor="ctr"/>
                </a:tc>
              </a:tr>
              <a:tr h="175260">
                <a:tc>
                  <a:txBody>
                    <a:bodyPr wrap="square"/>
                    <a:lstStyle/>
                    <a:p>
                      <a:pPr algn="l"/>
                      <a:r>
                        <a:rPr sz="1100" b="0" i="0">
                          <a:solidFill>
                            <a:srgbClr val="000000"/>
                          </a:solidFill>
                          <a:latin typeface="Calibri"/>
                        </a:rPr>
                        <a:t>12.3.2.</a:t>
                      </a:r>
                      <a:r>
                        <a:rPr sz="700" b="0" i="0">
                          <a:solidFill>
                            <a:srgbClr val="000000"/>
                          </a:solidFill>
                          <a:latin typeface="Times New Roman"/>
                        </a:rPr>
                        <a:t> </a:t>
                      </a:r>
                      <a:r>
                        <a:rPr sz="1100" b="0" i="0">
                          <a:solidFill>
                            <a:srgbClr val="000000"/>
                          </a:solidFill>
                          <a:latin typeface="Calibri"/>
                        </a:rPr>
                        <a:t>Medium-Duty Vehicles</a:t>
                      </a:r>
                      <a:endParaRPr sz="1100"/>
                    </a:p>
                  </a:txBody>
                  <a:tcPr marL="771525" marR="9525" marT="9525" marB="0" anchor="ctr"/>
                </a:tc>
              </a:tr>
              <a:tr h="175260">
                <a:tc>
                  <a:txBody>
                    <a:bodyPr wrap="square"/>
                    <a:lstStyle/>
                    <a:p>
                      <a:pPr algn="l"/>
                      <a:r>
                        <a:rPr sz="1100" b="0" i="0">
                          <a:solidFill>
                            <a:srgbClr val="000000"/>
                          </a:solidFill>
                          <a:latin typeface="Calibri"/>
                        </a:rPr>
                        <a:t>12.3.3.</a:t>
                      </a:r>
                      <a:r>
                        <a:rPr sz="700" b="0" i="0">
                          <a:solidFill>
                            <a:srgbClr val="000000"/>
                          </a:solidFill>
                          <a:latin typeface="Times New Roman"/>
                        </a:rPr>
                        <a:t> </a:t>
                      </a:r>
                      <a:r>
                        <a:rPr sz="1100" b="0" i="0">
                          <a:solidFill>
                            <a:srgbClr val="000000"/>
                          </a:solidFill>
                          <a:latin typeface="Calibri"/>
                        </a:rPr>
                        <a:t>Heavy-Duty Vehicles</a:t>
                      </a:r>
                      <a:endParaRPr sz="1100"/>
                    </a:p>
                  </a:txBody>
                  <a:tcPr marL="771525" marR="9525" marT="9525" marB="0" anchor="ctr"/>
                </a:tc>
              </a:tr>
              <a:tr h="175260">
                <a:tc>
                  <a:txBody>
                    <a:bodyPr wrap="square"/>
                    <a:lstStyle/>
                    <a:p>
                      <a:pPr algn="l"/>
                      <a:r>
                        <a:rPr sz="1100" b="0" i="0">
                          <a:solidFill>
                            <a:srgbClr val="000000"/>
                          </a:solidFill>
                          <a:latin typeface="Calibri"/>
                        </a:rPr>
                        <a:t>12.3.4.</a:t>
                      </a:r>
                      <a:r>
                        <a:rPr sz="700" b="0" i="0">
                          <a:solidFill>
                            <a:srgbClr val="000000"/>
                          </a:solidFill>
                          <a:latin typeface="Times New Roman"/>
                        </a:rPr>
                        <a:t> </a:t>
                      </a:r>
                      <a:r>
                        <a:rPr sz="1100" b="0" i="0">
                          <a:solidFill>
                            <a:srgbClr val="000000"/>
                          </a:solidFill>
                          <a:latin typeface="Calibri"/>
                        </a:rPr>
                        <a:t>Ultra-Heavy-Duty Vehicles</a:t>
                      </a:r>
                      <a:endParaRPr sz="1100"/>
                    </a:p>
                  </a:txBody>
                  <a:tcPr marL="7715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Market Attractiveness Analysis By Vehicle Capacity</a:t>
                      </a:r>
                      <a:endParaRPr sz="1100"/>
                    </a:p>
                  </a:txBody>
                  <a:tcPr marL="428625" marR="9525" marT="9525" marB="0" anchor="ctr"/>
                </a:tc>
              </a:tr>
              <a:tr h="35052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Global Off-Highway Vehicle Market Analysis 2021–2025 and Forecast 2026–2036, by Propulsion Configuration</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35052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Historical Market Size (US$ Mn) and Volume Analysis By Propulsion Configuration, 2021–2025</a:t>
                      </a:r>
                      <a:endParaRPr sz="1100"/>
                    </a:p>
                  </a:txBody>
                  <a:tcPr marL="428625" marR="9525" marT="9525" marB="0" anchor="ctr"/>
                </a:tc>
              </a:tr>
              <a:tr h="35052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Market Size (US$ Mn) and Volume Analysis and Forecast By Propulsion Configuration, 2026–2036</a:t>
                      </a:r>
                      <a:endParaRPr sz="1100"/>
                    </a:p>
                  </a:txBody>
                  <a:tcPr marL="428625" marR="9525" marT="9525" marB="0" anchor="ctr"/>
                </a:tc>
              </a:tr>
              <a:tr h="175260">
                <a:tc>
                  <a:txBody>
                    <a:bodyPr wrap="square"/>
                    <a:lstStyle/>
                    <a:p>
                      <a:pPr algn="l"/>
                      <a:r>
                        <a:rPr sz="1100" b="0" i="0">
                          <a:solidFill>
                            <a:srgbClr val="000000"/>
                          </a:solidFill>
                          <a:latin typeface="Calibri"/>
                        </a:rPr>
                        <a:t>13.3.1.</a:t>
                      </a:r>
                      <a:r>
                        <a:rPr sz="700" b="0" i="0">
                          <a:solidFill>
                            <a:srgbClr val="000000"/>
                          </a:solidFill>
                          <a:latin typeface="Times New Roman"/>
                        </a:rPr>
                        <a:t> </a:t>
                      </a:r>
                      <a:r>
                        <a:rPr sz="1100" b="0" i="0">
                          <a:solidFill>
                            <a:srgbClr val="000000"/>
                          </a:solidFill>
                          <a:latin typeface="Calibri"/>
                        </a:rPr>
                        <a:t>Wheeled Vehicles</a:t>
                      </a:r>
                      <a:endParaRPr sz="1100"/>
                    </a:p>
                  </a:txBody>
                  <a:tcPr marL="771525" marR="9525" marT="9525" marB="0" anchor="ctr"/>
                </a:tc>
              </a:tr>
              <a:tr h="175260">
                <a:tc>
                  <a:txBody>
                    <a:bodyPr wrap="square"/>
                    <a:lstStyle/>
                    <a:p>
                      <a:pPr algn="l"/>
                      <a:r>
                        <a:rPr sz="1100" b="0" i="0">
                          <a:solidFill>
                            <a:srgbClr val="000000"/>
                          </a:solidFill>
                          <a:latin typeface="Calibri"/>
                        </a:rPr>
                        <a:t>13.3.2.</a:t>
                      </a:r>
                      <a:r>
                        <a:rPr sz="700" b="0" i="0">
                          <a:solidFill>
                            <a:srgbClr val="000000"/>
                          </a:solidFill>
                          <a:latin typeface="Times New Roman"/>
                        </a:rPr>
                        <a:t> </a:t>
                      </a:r>
                      <a:r>
                        <a:rPr sz="1100" b="0" i="0">
                          <a:solidFill>
                            <a:srgbClr val="000000"/>
                          </a:solidFill>
                          <a:latin typeface="Calibri"/>
                        </a:rPr>
                        <a:t>Tracked Vehicles</a:t>
                      </a:r>
                      <a:endParaRPr sz="1100"/>
                    </a:p>
                  </a:txBody>
                  <a:tcPr marL="771525" marR="9525" marT="9525" marB="0" anchor="ctr"/>
                </a:tc>
              </a:tr>
              <a:tr h="175260">
                <a:tc>
                  <a:txBody>
                    <a:bodyPr wrap="square"/>
                    <a:lstStyle/>
                    <a:p>
                      <a:pPr algn="l"/>
                      <a:r>
                        <a:rPr sz="1100" b="0" i="0">
                          <a:solidFill>
                            <a:srgbClr val="000000"/>
                          </a:solidFill>
                          <a:latin typeface="Calibri"/>
                        </a:rPr>
                        <a:t>13.3.3.</a:t>
                      </a:r>
                      <a:r>
                        <a:rPr sz="700" b="0" i="0">
                          <a:solidFill>
                            <a:srgbClr val="000000"/>
                          </a:solidFill>
                          <a:latin typeface="Times New Roman"/>
                        </a:rPr>
                        <a:t> </a:t>
                      </a:r>
                      <a:r>
                        <a:rPr sz="1100" b="0" i="0">
                          <a:solidFill>
                            <a:srgbClr val="000000"/>
                          </a:solidFill>
                          <a:latin typeface="Calibri"/>
                        </a:rPr>
                        <a:t>Semi-Tracked Vehicles</a:t>
                      </a:r>
                      <a:endParaRPr sz="1100"/>
                    </a:p>
                  </a:txBody>
                  <a:tcPr marL="771525" marR="9525" marT="9525" marB="0" anchor="ctr"/>
                </a:tc>
              </a:tr>
              <a:tr h="175260">
                <a:tc>
                  <a:txBody>
                    <a:bodyPr wrap="square"/>
                    <a:lstStyle/>
                    <a:p>
                      <a:pPr algn="l"/>
                      <a:r>
                        <a:rPr sz="1100" b="0" i="0">
                          <a:solidFill>
                            <a:srgbClr val="000000"/>
                          </a:solidFill>
                          <a:latin typeface="Calibri"/>
                        </a:rPr>
                        <a:t>13.3.4.</a:t>
                      </a:r>
                      <a:r>
                        <a:rPr sz="700" b="0" i="0">
                          <a:solidFill>
                            <a:srgbClr val="000000"/>
                          </a:solidFill>
                          <a:latin typeface="Times New Roman"/>
                        </a:rPr>
                        <a:t> </a:t>
                      </a:r>
                      <a:r>
                        <a:rPr sz="1100" b="0" i="0">
                          <a:solidFill>
                            <a:srgbClr val="000000"/>
                          </a:solidFill>
                          <a:latin typeface="Calibri"/>
                        </a:rPr>
                        <a:t>Other Specialized Propulsion Configurations</a:t>
                      </a:r>
                      <a:endParaRPr sz="1100"/>
                    </a:p>
                  </a:txBody>
                  <a:tcPr marL="7715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Market Attractiveness Analysis By Propulsion Configuration</a:t>
                      </a:r>
                      <a:endParaRPr sz="1100"/>
                    </a:p>
                  </a:txBody>
                  <a:tcPr marL="4286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Global Off-Highway Vehicle Market Analysis 2021–2025 and Forecast 2026–2036, by Region</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Historical Market Size (US$ Mn) and Volume Analysis By Region, 2021–2025</a:t>
                      </a:r>
                      <a:endParaRPr sz="1100"/>
                    </a:p>
                  </a:txBody>
                  <a:tcPr marL="428625" marR="9525" marT="9525" marB="0" anchor="ctr"/>
                </a:tc>
              </a:tr>
              <a:tr h="35052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Current Market Size (US$ Mn) and Volume Analysis and Forecast By Region, 2026–2036</a:t>
                      </a:r>
                      <a:endParaRPr sz="1100"/>
                    </a:p>
                  </a:txBody>
                  <a:tcPr marL="428625" marR="9525" marT="9525" marB="0" anchor="ctr"/>
                </a:tc>
              </a:tr>
              <a:tr h="175260">
                <a:tc>
                  <a:txBody>
                    <a:bodyPr wrap="square"/>
                    <a:lstStyle/>
                    <a:p>
                      <a:pPr algn="l"/>
                      <a:r>
                        <a:rPr sz="1100" b="0" i="0">
                          <a:solidFill>
                            <a:srgbClr val="000000"/>
                          </a:solidFill>
                          <a:latin typeface="Calibri"/>
                        </a:rPr>
                        <a:t>14.3.1.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0">
                          <a:solidFill>
                            <a:srgbClr val="000000"/>
                          </a:solidFill>
                          <a:latin typeface="Calibri"/>
                        </a:rPr>
                        <a:t>14.3.2.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0">
                          <a:solidFill>
                            <a:srgbClr val="000000"/>
                          </a:solidFill>
                          <a:latin typeface="Calibri"/>
                        </a:rPr>
                        <a:t>14.3.3.</a:t>
                      </a:r>
                      <a:r>
                        <a:rPr sz="700" b="0" i="0">
                          <a:solidFill>
                            <a:srgbClr val="000000"/>
                          </a:solidFill>
                          <a:latin typeface="Times New Roman"/>
                        </a:rPr>
                        <a:t> </a:t>
                      </a:r>
                      <a:r>
                        <a:rPr sz="1100" b="0" i="0">
                          <a:solidFill>
                            <a:srgbClr val="000000"/>
                          </a:solidFill>
                          <a:latin typeface="Calibri"/>
                        </a:rPr>
                        <a:t>Western Europe</a:t>
                      </a:r>
                      <a:endParaRPr sz="1100"/>
                    </a:p>
                  </a:txBody>
                  <a:tcPr marL="771525" marR="9525" marT="9525" marB="0" anchor="ctr"/>
                </a:tc>
              </a:tr>
              <a:tr h="175260">
                <a:tc>
                  <a:txBody>
                    <a:bodyPr wrap="square"/>
                    <a:lstStyle/>
                    <a:p>
                      <a:pPr algn="l"/>
                      <a:r>
                        <a:rPr sz="1100" b="0" i="0">
                          <a:solidFill>
                            <a:srgbClr val="000000"/>
                          </a:solidFill>
                          <a:latin typeface="Calibri"/>
                        </a:rPr>
                        <a:t>14.3.4.</a:t>
                      </a:r>
                      <a:r>
                        <a:rPr sz="700" b="0" i="0">
                          <a:solidFill>
                            <a:srgbClr val="000000"/>
                          </a:solidFill>
                          <a:latin typeface="Times New Roman"/>
                        </a:rPr>
                        <a:t> </a:t>
                      </a:r>
                      <a:r>
                        <a:rPr sz="1100" b="0" i="0">
                          <a:solidFill>
                            <a:srgbClr val="000000"/>
                          </a:solidFill>
                          <a:latin typeface="Calibri"/>
                        </a:rPr>
                        <a:t>Eastern Europe</a:t>
                      </a:r>
                      <a:endParaRPr sz="1100"/>
                    </a:p>
                  </a:txBody>
                  <a:tcPr marL="771525" marR="9525" marT="9525" marB="0" anchor="ctr"/>
                </a:tc>
              </a:tr>
              <a:tr h="175260">
                <a:tc>
                  <a:txBody>
                    <a:bodyPr wrap="square"/>
                    <a:lstStyle/>
                    <a:p>
                      <a:pPr algn="l"/>
                      <a:r>
                        <a:rPr sz="1100" b="0" i="0">
                          <a:solidFill>
                            <a:srgbClr val="000000"/>
                          </a:solidFill>
                          <a:latin typeface="Calibri"/>
                        </a:rPr>
                        <a:t>14.3.5.</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0">
                          <a:solidFill>
                            <a:srgbClr val="000000"/>
                          </a:solidFill>
                          <a:latin typeface="Calibri"/>
                        </a:rPr>
                        <a:t>14.3.6.</a:t>
                      </a:r>
                      <a:r>
                        <a:rPr sz="700" b="0" i="0">
                          <a:solidFill>
                            <a:srgbClr val="000000"/>
                          </a:solidFill>
                          <a:latin typeface="Times New Roman"/>
                        </a:rPr>
                        <a:t> </a:t>
                      </a:r>
                      <a:r>
                        <a:rPr sz="1100" b="0" i="0">
                          <a:solidFill>
                            <a:srgbClr val="000000"/>
                          </a:solidFill>
                          <a:latin typeface="Calibri"/>
                        </a:rPr>
                        <a:t>South Asia and Pacific</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14.3.7.</a:t>
                      </a:r>
                      <a:r>
                        <a:rPr sz="700" b="0" i="0">
                          <a:solidFill>
                            <a:srgbClr val="000000"/>
                          </a:solidFill>
                          <a:latin typeface="Times New Roman"/>
                        </a:rPr>
                        <a:t> </a:t>
                      </a:r>
                      <a:r>
                        <a:rPr sz="1100" b="0" i="0">
                          <a:solidFill>
                            <a:srgbClr val="000000"/>
                          </a:solidFill>
                          <a:latin typeface="Calibri"/>
                        </a:rPr>
                        <a:t>Middle East and Africa (MEA)</a:t>
                      </a:r>
                      <a:endParaRPr sz="1100"/>
                    </a:p>
                  </a:txBody>
                  <a:tcPr marL="7715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Market Attractiveness Analysis By Region</a:t>
                      </a:r>
                      <a:endParaRPr sz="1100"/>
                    </a:p>
                  </a:txBody>
                  <a:tcPr marL="4286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North America Off-Highway Vehicle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15.4.1.1.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15.4.1.2.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1">
                          <a:solidFill>
                            <a:srgbClr val="000000"/>
                          </a:solidFill>
                          <a:latin typeface="Calibri"/>
                        </a:rPr>
                        <a:t>15.4.1.3.</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15.5.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15.5.1.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15.5.2.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15.5.3.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15.5.4.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15.5.5.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15.6.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15.7.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15.8.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Latin America Off-Highway Vehicle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16.4.1.1.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16.4.1.2.</a:t>
                      </a:r>
                      <a:r>
                        <a:rPr sz="700" b="0" i="1">
                          <a:solidFill>
                            <a:srgbClr val="000000"/>
                          </a:solidFill>
                          <a:latin typeface="Times New Roman"/>
                        </a:rPr>
                        <a:t> </a:t>
                      </a:r>
                      <a:r>
                        <a:rPr sz="1100" b="0" i="1">
                          <a:solidFill>
                            <a:srgbClr val="000000"/>
                          </a:solidFill>
                          <a:latin typeface="Calibri"/>
                        </a:rPr>
                        <a:t>Argentina</a:t>
                      </a:r>
                      <a:endParaRPr sz="1100"/>
                    </a:p>
                  </a:txBody>
                  <a:tcPr marL="1028700" marR="9525" marT="9525" marB="0" anchor="ctr"/>
                </a:tc>
              </a:tr>
              <a:tr h="175260">
                <a:tc>
                  <a:txBody>
                    <a:bodyPr wrap="square"/>
                    <a:lstStyle/>
                    <a:p>
                      <a:pPr algn="l"/>
                      <a:r>
                        <a:rPr sz="1100" b="0" i="1">
                          <a:solidFill>
                            <a:srgbClr val="000000"/>
                          </a:solidFill>
                          <a:latin typeface="Calibri"/>
                        </a:rPr>
                        <a:t>16.4.1.3.</a:t>
                      </a:r>
                      <a:r>
                        <a:rPr sz="700" b="0" i="1">
                          <a:solidFill>
                            <a:srgbClr val="000000"/>
                          </a:solidFill>
                          <a:latin typeface="Times New Roman"/>
                        </a:rPr>
                        <a:t> </a:t>
                      </a:r>
                      <a:r>
                        <a:rPr sz="1100" b="0" i="1">
                          <a:solidFill>
                            <a:srgbClr val="000000"/>
                          </a:solidFill>
                          <a:latin typeface="Calibri"/>
                        </a:rPr>
                        <a:t>Rest of Latin America</a:t>
                      </a:r>
                      <a:endParaRPr sz="1100"/>
                    </a:p>
                  </a:txBody>
                  <a:tcPr marL="1028700"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70C0"/>
                          </a:solidFill>
                          <a:latin typeface="Calibri"/>
                        </a:rPr>
                        <a:t>16.5.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16.5.1.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16.5.2.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16.5.3.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16.5.4.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0000"/>
                          </a:solidFill>
                          <a:latin typeface="Calibri"/>
                        </a:rPr>
                        <a:t>16.5.5.</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70C0"/>
                          </a:solidFill>
                          <a:latin typeface="Calibri"/>
                        </a:rPr>
                        <a:t>16.6.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16.7.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16.8.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Western Europe Off-Highway Vehicle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17.4.1.1.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17.4.1.2.</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17.4.1.3.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17.4.1.4.</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17.4.1.5.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17.4.1.6.</a:t>
                      </a:r>
                      <a:r>
                        <a:rPr sz="700" b="0" i="1">
                          <a:solidFill>
                            <a:srgbClr val="000000"/>
                          </a:solidFill>
                          <a:latin typeface="Times New Roman"/>
                        </a:rPr>
                        <a:t> </a:t>
                      </a:r>
                      <a:r>
                        <a:rPr sz="1100" b="0" i="1">
                          <a:solidFill>
                            <a:srgbClr val="000000"/>
                          </a:solidFill>
                          <a:latin typeface="Calibri"/>
                        </a:rPr>
                        <a:t>BENELUX</a:t>
                      </a:r>
                      <a:endParaRPr sz="1100"/>
                    </a:p>
                  </a:txBody>
                  <a:tcPr marL="1028700" marR="9525" marT="9525" marB="0" anchor="ctr"/>
                </a:tc>
              </a:tr>
              <a:tr h="175260">
                <a:tc>
                  <a:txBody>
                    <a:bodyPr wrap="square"/>
                    <a:lstStyle/>
                    <a:p>
                      <a:pPr algn="l"/>
                      <a:r>
                        <a:rPr sz="1100" b="0" i="1">
                          <a:solidFill>
                            <a:srgbClr val="000000"/>
                          </a:solidFill>
                          <a:latin typeface="Calibri"/>
                        </a:rPr>
                        <a:t>17.4.1.7.</a:t>
                      </a:r>
                      <a:r>
                        <a:rPr sz="700" b="0" i="1">
                          <a:solidFill>
                            <a:srgbClr val="000000"/>
                          </a:solidFill>
                          <a:latin typeface="Times New Roman"/>
                        </a:rPr>
                        <a:t> </a:t>
                      </a:r>
                      <a:r>
                        <a:rPr sz="1100" b="0" i="1">
                          <a:solidFill>
                            <a:srgbClr val="000000"/>
                          </a:solidFill>
                          <a:latin typeface="Calibri"/>
                        </a:rPr>
                        <a:t>Nordics</a:t>
                      </a:r>
                      <a:endParaRPr sz="1100"/>
                    </a:p>
                  </a:txBody>
                  <a:tcPr marL="1028700" marR="9525" marT="9525" marB="0" anchor="ctr"/>
                </a:tc>
              </a:tr>
              <a:tr h="175260">
                <a:tc>
                  <a:txBody>
                    <a:bodyPr wrap="square"/>
                    <a:lstStyle/>
                    <a:p>
                      <a:pPr algn="l"/>
                      <a:r>
                        <a:rPr sz="1100" b="0" i="1">
                          <a:solidFill>
                            <a:srgbClr val="000000"/>
                          </a:solidFill>
                          <a:latin typeface="Calibri"/>
                        </a:rPr>
                        <a:t>17.4.1.8.</a:t>
                      </a:r>
                      <a:r>
                        <a:rPr sz="700" b="0" i="1">
                          <a:solidFill>
                            <a:srgbClr val="000000"/>
                          </a:solidFill>
                          <a:latin typeface="Times New Roman"/>
                        </a:rPr>
                        <a:t> </a:t>
                      </a:r>
                      <a:r>
                        <a:rPr sz="1100" b="0" i="1">
                          <a:solidFill>
                            <a:srgbClr val="000000"/>
                          </a:solidFill>
                          <a:latin typeface="Calibri"/>
                        </a:rPr>
                        <a:t>Rest of Western Europe</a:t>
                      </a:r>
                      <a:endParaRPr sz="1100"/>
                    </a:p>
                  </a:txBody>
                  <a:tcPr marL="1028700" marR="9525" marT="9525" marB="0" anchor="ctr"/>
                </a:tc>
              </a:tr>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17.4.5.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17.5.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17.5.1.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17.5.2.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17.5.3.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17.5.4.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17.5.5.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17.6.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17.7.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17.8.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Eastern Europe Off-Highway Vehicle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18.4.1.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18.4.1.1.</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18.4.1.2.</a:t>
                      </a:r>
                      <a:r>
                        <a:rPr sz="700" b="0" i="1">
                          <a:solidFill>
                            <a:srgbClr val="000000"/>
                          </a:solidFill>
                          <a:latin typeface="Times New Roman"/>
                        </a:rPr>
                        <a:t> </a:t>
                      </a:r>
                      <a:r>
                        <a:rPr sz="1100" b="0" i="1">
                          <a:solidFill>
                            <a:srgbClr val="000000"/>
                          </a:solidFill>
                          <a:latin typeface="Calibri"/>
                        </a:rPr>
                        <a:t>Hungary</a:t>
                      </a:r>
                      <a:endParaRPr sz="1100"/>
                    </a:p>
                  </a:txBody>
                  <a:tcPr marL="1028700" marR="9525" marT="9525" marB="0" anchor="ctr"/>
                </a:tc>
              </a:tr>
              <a:tr h="175260">
                <a:tc>
                  <a:txBody>
                    <a:bodyPr wrap="square"/>
                    <a:lstStyle/>
                    <a:p>
                      <a:pPr algn="l"/>
                      <a:r>
                        <a:rPr sz="1100" b="0" i="1">
                          <a:solidFill>
                            <a:srgbClr val="000000"/>
                          </a:solidFill>
                          <a:latin typeface="Calibri"/>
                        </a:rPr>
                        <a:t>18.4.1.3.</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18.4.1.4.</a:t>
                      </a:r>
                      <a:r>
                        <a:rPr sz="700" b="0" i="1">
                          <a:solidFill>
                            <a:srgbClr val="000000"/>
                          </a:solidFill>
                          <a:latin typeface="Times New Roman"/>
                        </a:rPr>
                        <a:t> </a:t>
                      </a:r>
                      <a:r>
                        <a:rPr sz="1100" b="0" i="1">
                          <a:solidFill>
                            <a:srgbClr val="000000"/>
                          </a:solidFill>
                          <a:latin typeface="Calibri"/>
                        </a:rPr>
                        <a:t>Balkan &amp; Baltics</a:t>
                      </a:r>
                      <a:endParaRPr sz="1100"/>
                    </a:p>
                  </a:txBody>
                  <a:tcPr marL="1028700" marR="9525" marT="9525" marB="0" anchor="ctr"/>
                </a:tc>
              </a:tr>
              <a:tr h="175260">
                <a:tc>
                  <a:txBody>
                    <a:bodyPr wrap="square"/>
                    <a:lstStyle/>
                    <a:p>
                      <a:pPr algn="l"/>
                      <a:r>
                        <a:rPr sz="1100" b="0" i="1">
                          <a:solidFill>
                            <a:srgbClr val="000000"/>
                          </a:solidFill>
                          <a:latin typeface="Calibri"/>
                        </a:rPr>
                        <a:t>18.4.1.5.</a:t>
                      </a:r>
                      <a:r>
                        <a:rPr sz="700" b="0" i="1">
                          <a:solidFill>
                            <a:srgbClr val="000000"/>
                          </a:solidFill>
                          <a:latin typeface="Times New Roman"/>
                        </a:rPr>
                        <a:t> </a:t>
                      </a:r>
                      <a:r>
                        <a:rPr sz="1100" b="0" i="1">
                          <a:solidFill>
                            <a:srgbClr val="000000"/>
                          </a:solidFill>
                          <a:latin typeface="Calibri"/>
                        </a:rPr>
                        <a:t>Rest of Eastern Europe</a:t>
                      </a:r>
                      <a:endParaRPr sz="1100"/>
                    </a:p>
                  </a:txBody>
                  <a:tcPr marL="1028700" marR="9525" marT="9525" marB="0" anchor="ctr"/>
                </a:tc>
              </a:tr>
              <a:tr h="175260">
                <a:tc>
                  <a:txBody>
                    <a:bodyPr wrap="square"/>
                    <a:lstStyle/>
                    <a:p>
                      <a:pPr algn="l"/>
                      <a:r>
                        <a:rPr sz="1100" b="0" i="0">
                          <a:solidFill>
                            <a:srgbClr val="000000"/>
                          </a:solidFill>
                          <a:latin typeface="Calibri"/>
                        </a:rPr>
                        <a:t>18.4.2.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18.4.3.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18.4.4.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18.4.5.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18.5.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18.5.1.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18.5.2.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18.5.3.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18.5.4.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18.5.5.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18.6.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18.7.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18.8.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35052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South Asia and Pacific Off-Highway Vehicle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19.4.1.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19.4.1.1.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19.4.1.2.</a:t>
                      </a:r>
                      <a:r>
                        <a:rPr sz="700" b="0" i="1">
                          <a:solidFill>
                            <a:srgbClr val="000000"/>
                          </a:solidFill>
                          <a:latin typeface="Times New Roman"/>
                        </a:rPr>
                        <a:t> </a:t>
                      </a:r>
                      <a:r>
                        <a:rPr sz="1100" b="0" i="1">
                          <a:solidFill>
                            <a:srgbClr val="000000"/>
                          </a:solidFill>
                          <a:latin typeface="Calibri"/>
                        </a:rPr>
                        <a:t>ASEAN</a:t>
                      </a:r>
                      <a:endParaRPr sz="1100"/>
                    </a:p>
                  </a:txBody>
                  <a:tcPr marL="1028700" marR="9525" marT="9525" marB="0" anchor="ctr"/>
                </a:tc>
              </a:tr>
              <a:tr h="175260">
                <a:tc>
                  <a:txBody>
                    <a:bodyPr wrap="square"/>
                    <a:lstStyle/>
                    <a:p>
                      <a:pPr algn="l"/>
                      <a:r>
                        <a:rPr sz="1100" b="0" i="1">
                          <a:solidFill>
                            <a:srgbClr val="000000"/>
                          </a:solidFill>
                          <a:latin typeface="Calibri"/>
                        </a:rPr>
                        <a:t>19.4.1.3.</a:t>
                      </a:r>
                      <a:r>
                        <a:rPr sz="700" b="0" i="1">
                          <a:solidFill>
                            <a:srgbClr val="000000"/>
                          </a:solidFill>
                          <a:latin typeface="Times New Roman"/>
                        </a:rPr>
                        <a:t> </a:t>
                      </a:r>
                      <a:r>
                        <a:rPr sz="1100" b="0" i="1">
                          <a:solidFill>
                            <a:srgbClr val="000000"/>
                          </a:solidFill>
                          <a:latin typeface="Calibri"/>
                        </a:rPr>
                        <a:t>Australia and New Zealand</a:t>
                      </a:r>
                      <a:endParaRPr sz="1100"/>
                    </a:p>
                  </a:txBody>
                  <a:tcPr marL="1028700" marR="9525" marT="9525" marB="0" anchor="ctr"/>
                </a:tc>
              </a:tr>
              <a:tr h="175260">
                <a:tc>
                  <a:txBody>
                    <a:bodyPr wrap="square"/>
                    <a:lstStyle/>
                    <a:p>
                      <a:pPr algn="l"/>
                      <a:r>
                        <a:rPr sz="1100" b="0" i="1">
                          <a:solidFill>
                            <a:srgbClr val="000000"/>
                          </a:solidFill>
                          <a:latin typeface="Calibri"/>
                        </a:rPr>
                        <a:t>19.4.1.4.</a:t>
                      </a:r>
                      <a:r>
                        <a:rPr sz="700" b="0" i="1">
                          <a:solidFill>
                            <a:srgbClr val="000000"/>
                          </a:solidFill>
                          <a:latin typeface="Times New Roman"/>
                        </a:rPr>
                        <a:t> </a:t>
                      </a:r>
                      <a:r>
                        <a:rPr sz="1100" b="0" i="1">
                          <a:solidFill>
                            <a:srgbClr val="000000"/>
                          </a:solidFill>
                          <a:latin typeface="Calibri"/>
                        </a:rPr>
                        <a:t>Rest of South Asia &amp; Pacific</a:t>
                      </a:r>
                      <a:endParaRPr sz="1100"/>
                    </a:p>
                  </a:txBody>
                  <a:tcPr marL="1028700" marR="9525" marT="9525" marB="0" anchor="ctr"/>
                </a:tc>
              </a:tr>
              <a:tr h="175260">
                <a:tc>
                  <a:txBody>
                    <a:bodyPr wrap="square"/>
                    <a:lstStyle/>
                    <a:p>
                      <a:pPr algn="l"/>
                      <a:r>
                        <a:rPr sz="1100" b="0" i="0">
                          <a:solidFill>
                            <a:srgbClr val="000000"/>
                          </a:solidFill>
                          <a:latin typeface="Calibri"/>
                        </a:rPr>
                        <a:t>19.4.2.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19.4.3.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19.4.4.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19.4.5.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19.5.1.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19.5.2.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19.5.3.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19.5.4.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19.5.5.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19.8.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East Asia Off-Highway Vehicle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20.3.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20.4.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20.4.1.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20.4.1.1.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20.4.1.2.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20.4.1.3.</a:t>
                      </a:r>
                      <a:r>
                        <a:rPr sz="700" b="0" i="1">
                          <a:solidFill>
                            <a:srgbClr val="000000"/>
                          </a:solidFill>
                          <a:latin typeface="Times New Roman"/>
                        </a:rPr>
                        <a:t> </a:t>
                      </a:r>
                      <a:r>
                        <a:rPr sz="1100" b="0" i="1">
                          <a:solidFill>
                            <a:srgbClr val="000000"/>
                          </a:solidFill>
                          <a:latin typeface="Calibri"/>
                        </a:rPr>
                        <a:t>South Korea</a:t>
                      </a:r>
                      <a:endParaRPr sz="1100"/>
                    </a:p>
                  </a:txBody>
                  <a:tcPr marL="1028700" marR="9525" marT="9525" marB="0" anchor="ctr"/>
                </a:tc>
              </a:tr>
              <a:tr h="175260">
                <a:tc>
                  <a:txBody>
                    <a:bodyPr wrap="square"/>
                    <a:lstStyle/>
                    <a:p>
                      <a:pPr algn="l"/>
                      <a:r>
                        <a:rPr sz="1100" b="0" i="0">
                          <a:solidFill>
                            <a:srgbClr val="000000"/>
                          </a:solidFill>
                          <a:latin typeface="Calibri"/>
                        </a:rPr>
                        <a:t>20.4.2.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20.4.3.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20.4.4.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20.4.5.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20.5.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20.5.1.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20.5.2.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20.5.3.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20.5.4.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20.5.5.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20.6.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20.7.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20.8.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endParaRPr sz="110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Middle East and Africa Off-Highway Vehicle Market Analysis 2021–2025 and Forecast 2026–2036</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Introduction</a:t>
                      </a:r>
                      <a:endParaRPr sz="1100"/>
                    </a:p>
                  </a:txBody>
                  <a:tcPr marL="4286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Pricing Analysis</a:t>
                      </a:r>
                      <a:endParaRPr sz="1100"/>
                    </a:p>
                  </a:txBody>
                  <a:tcPr marL="428625" marR="9525" marT="9525" marB="0" anchor="ctr"/>
                </a:tc>
              </a:tr>
              <a:tr h="35052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Historical Market Size (US$ Mn) and Volume Trend Analysis By Market Taxonomy, 2021–2025</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Market Size (US$ Mn) and Volume Forecast By Market Taxonomy, 2026–2036</a:t>
                      </a:r>
                      <a:endParaRPr sz="1100"/>
                    </a:p>
                  </a:txBody>
                  <a:tcPr marL="428625" marR="9525" marT="9525" marB="0" anchor="ctr"/>
                </a:tc>
              </a:tr>
              <a:tr h="175260">
                <a:tc>
                  <a:txBody>
                    <a:bodyPr wrap="square"/>
                    <a:lstStyle/>
                    <a:p>
                      <a:pPr algn="l"/>
                      <a:r>
                        <a:rPr sz="1100" b="0" i="0">
                          <a:solidFill>
                            <a:srgbClr val="000000"/>
                          </a:solidFill>
                          <a:latin typeface="Calibri"/>
                        </a:rPr>
                        <a:t>21.4.1.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1">
                          <a:solidFill>
                            <a:srgbClr val="000000"/>
                          </a:solidFill>
                          <a:latin typeface="Calibri"/>
                        </a:rPr>
                        <a:t>21.4.1.1.</a:t>
                      </a:r>
                      <a:r>
                        <a:rPr sz="700" b="0" i="1">
                          <a:solidFill>
                            <a:srgbClr val="000000"/>
                          </a:solidFill>
                          <a:latin typeface="Times New Roman"/>
                        </a:rPr>
                        <a:t> </a:t>
                      </a:r>
                      <a:r>
                        <a:rPr sz="1100" b="0" i="1">
                          <a:solidFill>
                            <a:srgbClr val="000000"/>
                          </a:solidFill>
                          <a:latin typeface="Calibri"/>
                        </a:rPr>
                        <a:t>GCC Countries</a:t>
                      </a:r>
                      <a:endParaRPr sz="1100"/>
                    </a:p>
                  </a:txBody>
                  <a:tcPr marL="1028700" marR="9525" marT="9525" marB="0" anchor="ctr"/>
                </a:tc>
              </a:tr>
              <a:tr h="175260">
                <a:tc>
                  <a:txBody>
                    <a:bodyPr wrap="square"/>
                    <a:lstStyle/>
                    <a:p>
                      <a:pPr algn="l"/>
                      <a:r>
                        <a:rPr sz="1100" b="0" i="1">
                          <a:solidFill>
                            <a:srgbClr val="000000"/>
                          </a:solidFill>
                          <a:latin typeface="Calibri"/>
                        </a:rPr>
                        <a:t>21.4.1.2.</a:t>
                      </a:r>
                      <a:r>
                        <a:rPr sz="700" b="0" i="1">
                          <a:solidFill>
                            <a:srgbClr val="000000"/>
                          </a:solidFill>
                          <a:latin typeface="Times New Roman"/>
                        </a:rPr>
                        <a:t> </a:t>
                      </a:r>
                      <a:r>
                        <a:rPr sz="1100" b="0" i="1">
                          <a:solidFill>
                            <a:srgbClr val="000000"/>
                          </a:solidFill>
                          <a:latin typeface="Calibri"/>
                        </a:rPr>
                        <a:t>Turkiye</a:t>
                      </a:r>
                      <a:endParaRPr sz="1100"/>
                    </a:p>
                  </a:txBody>
                  <a:tcPr marL="1028700" marR="9525" marT="9525" marB="0" anchor="ctr"/>
                </a:tc>
              </a:tr>
              <a:tr h="175260">
                <a:tc>
                  <a:txBody>
                    <a:bodyPr wrap="square"/>
                    <a:lstStyle/>
                    <a:p>
                      <a:pPr algn="l"/>
                      <a:r>
                        <a:rPr sz="1100" b="0" i="1">
                          <a:solidFill>
                            <a:srgbClr val="000000"/>
                          </a:solidFill>
                          <a:latin typeface="Calibri"/>
                        </a:rPr>
                        <a:t>21.4.1.3.</a:t>
                      </a:r>
                      <a:r>
                        <a:rPr sz="700" b="0" i="1">
                          <a:solidFill>
                            <a:srgbClr val="000000"/>
                          </a:solidFill>
                          <a:latin typeface="Times New Roman"/>
                        </a:rPr>
                        <a:t> </a:t>
                      </a:r>
                      <a:r>
                        <a:rPr sz="1100" b="0" i="1">
                          <a:solidFill>
                            <a:srgbClr val="000000"/>
                          </a:solidFill>
                          <a:latin typeface="Calibri"/>
                        </a:rPr>
                        <a:t>Northern Africa</a:t>
                      </a:r>
                      <a:endParaRPr sz="1100"/>
                    </a:p>
                  </a:txBody>
                  <a:tcPr marL="1028700" marR="9525" marT="9525" marB="0" anchor="ctr"/>
                </a:tc>
              </a:tr>
              <a:tr h="175260">
                <a:tc>
                  <a:txBody>
                    <a:bodyPr wrap="square"/>
                    <a:lstStyle/>
                    <a:p>
                      <a:pPr algn="l"/>
                      <a:r>
                        <a:rPr sz="1100" b="0" i="1">
                          <a:solidFill>
                            <a:srgbClr val="000000"/>
                          </a:solidFill>
                          <a:latin typeface="Calibri"/>
                        </a:rPr>
                        <a:t>21.4.1.4.</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21.4.1.5.</a:t>
                      </a:r>
                      <a:r>
                        <a:rPr sz="700" b="0" i="1">
                          <a:solidFill>
                            <a:srgbClr val="000000"/>
                          </a:solidFill>
                          <a:latin typeface="Times New Roman"/>
                        </a:rPr>
                        <a:t> </a:t>
                      </a:r>
                      <a:r>
                        <a:rPr sz="1100" b="0" i="1">
                          <a:solidFill>
                            <a:srgbClr val="000000"/>
                          </a:solidFill>
                          <a:latin typeface="Calibri"/>
                        </a:rPr>
                        <a:t>Rest of Middle East and Africa</a:t>
                      </a:r>
                      <a:endParaRPr sz="1100"/>
                    </a:p>
                  </a:txBody>
                  <a:tcPr marL="1028700" marR="9525" marT="9525" marB="0" anchor="ctr"/>
                </a:tc>
              </a:tr>
              <a:tr h="175260">
                <a:tc>
                  <a:txBody>
                    <a:bodyPr wrap="square"/>
                    <a:lstStyle/>
                    <a:p>
                      <a:pPr algn="l"/>
                      <a:r>
                        <a:rPr sz="1100" b="0" i="0">
                          <a:solidFill>
                            <a:srgbClr val="000000"/>
                          </a:solidFill>
                          <a:latin typeface="Calibri"/>
                        </a:rPr>
                        <a:t>21.4.2.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21.4.3.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21.4.4.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21.4.5.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Market Attractiveness Analysis</a:t>
                      </a:r>
                      <a:endParaRPr sz="1100"/>
                    </a:p>
                  </a:txBody>
                  <a:tcPr marL="428625" marR="9525" marT="9525" marB="0" anchor="ctr"/>
                </a:tc>
              </a:tr>
              <a:tr h="175260">
                <a:tc>
                  <a:txBody>
                    <a:bodyPr wrap="square"/>
                    <a:lstStyle/>
                    <a:p>
                      <a:pPr algn="l"/>
                      <a:r>
                        <a:rPr sz="1100" b="0" i="0">
                          <a:solidFill>
                            <a:srgbClr val="000000"/>
                          </a:solidFill>
                          <a:latin typeface="Calibri"/>
                        </a:rPr>
                        <a:t>21.5.1.</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0" i="0">
                          <a:solidFill>
                            <a:srgbClr val="000000"/>
                          </a:solidFill>
                          <a:latin typeface="Calibri"/>
                        </a:rPr>
                        <a:t>21.5.2.</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21.5.3.</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21.5.4.</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21.5.5.</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Market Trends</a:t>
                      </a:r>
                      <a:endParaRPr sz="1100"/>
                    </a:p>
                  </a:txBody>
                  <a:tcPr marL="428625" marR="9525" marT="9525" marB="0" anchor="ctr"/>
                </a:tc>
              </a:tr>
              <a:tr h="175260">
                <a:tc>
                  <a:txBody>
                    <a:bodyPr wrap="square"/>
                    <a:lstStyle/>
                    <a:p>
                      <a:pPr algn="l"/>
                      <a:r>
                        <a:rPr sz="1100" b="0" i="0">
                          <a:solidFill>
                            <a:srgbClr val="0070C0"/>
                          </a:solidFill>
                          <a:latin typeface="Calibri"/>
                        </a:rPr>
                        <a:t>21.7.</a:t>
                      </a:r>
                      <a:r>
                        <a:rPr sz="700" b="0" i="0">
                          <a:solidFill>
                            <a:srgbClr val="0070C0"/>
                          </a:solidFill>
                          <a:latin typeface="Times New Roman"/>
                        </a:rPr>
                        <a:t>  </a:t>
                      </a:r>
                      <a:r>
                        <a:rPr sz="1100" b="0" i="0">
                          <a:solidFill>
                            <a:srgbClr val="0070C0"/>
                          </a:solidFill>
                          <a:latin typeface="Calibri"/>
                        </a:rPr>
                        <a:t>Key Market Participants - Intensity Mapping</a:t>
                      </a:r>
                      <a:endParaRPr sz="1100"/>
                    </a:p>
                  </a:txBody>
                  <a:tcPr marL="428625" marR="9525" marT="9525" marB="0" anchor="ctr"/>
                </a:tc>
              </a:tr>
              <a:tr h="175260">
                <a:tc>
                  <a:txBody>
                    <a:bodyPr wrap="square"/>
                    <a:lstStyle/>
                    <a:p>
                      <a:pPr algn="l"/>
                      <a:r>
                        <a:rPr sz="1100" b="0" i="0">
                          <a:solidFill>
                            <a:srgbClr val="0070C0"/>
                          </a:solidFill>
                          <a:latin typeface="Calibri"/>
                        </a:rPr>
                        <a:t>21.8.</a:t>
                      </a:r>
                      <a:r>
                        <a:rPr sz="700" b="0" i="0">
                          <a:solidFill>
                            <a:srgbClr val="0070C0"/>
                          </a:solidFill>
                          <a:latin typeface="Times New Roman"/>
                        </a:rPr>
                        <a:t>  </a:t>
                      </a:r>
                      <a:r>
                        <a:rPr sz="1100" b="0" i="0">
                          <a:solidFill>
                            <a:srgbClr val="0070C0"/>
                          </a:solidFill>
                          <a:latin typeface="Calibri"/>
                        </a:rPr>
                        <a:t>Drivers and Restraints - Impact Analysis</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Country Wise Off-Highway Vehicle Market Analysis</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U.S.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22.1.3.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Canada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22.2.1.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22.2.3.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22.2.4.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Mexico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22.3.1.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22.3.2.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22.3.3.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22.3.4.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Brazil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22.4.1.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22.4.2.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22.4.3.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22.4.4.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Germany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22.5.1.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22.5.2.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22.5.3.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22.5.4.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Italy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22.6.1.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22.6.2.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22.6.3.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22.6.4.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France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22.7.1.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22.7.2.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(7/9)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22.7.3.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22.7.4.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U.K.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22.8.1.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22.8.2.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22.8.3.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22.8.4.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22.9.</a:t>
                      </a:r>
                      <a:r>
                        <a:rPr sz="700" b="0" i="0">
                          <a:solidFill>
                            <a:srgbClr val="0070C0"/>
                          </a:solidFill>
                          <a:latin typeface="Times New Roman"/>
                        </a:rPr>
                        <a:t>  </a:t>
                      </a:r>
                      <a:r>
                        <a:rPr sz="1100" b="0" i="0">
                          <a:solidFill>
                            <a:srgbClr val="0070C0"/>
                          </a:solidFill>
                          <a:latin typeface="Calibri"/>
                        </a:rPr>
                        <a:t>Spain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22.9.1.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22.9.2.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22.9.3.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22.9.4.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22.10.</a:t>
                      </a:r>
                      <a:r>
                        <a:rPr sz="700" b="0" i="0">
                          <a:solidFill>
                            <a:srgbClr val="0070C0"/>
                          </a:solidFill>
                          <a:latin typeface="Times New Roman"/>
                        </a:rPr>
                        <a:t> </a:t>
                      </a:r>
                      <a:r>
                        <a:rPr sz="1100" b="0" i="0">
                          <a:solidFill>
                            <a:srgbClr val="0070C0"/>
                          </a:solidFill>
                          <a:latin typeface="Calibri"/>
                        </a:rPr>
                        <a:t>BENELUX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22.10.1.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22.10.2.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22.10.3.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22.10.4.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22.11.</a:t>
                      </a:r>
                      <a:r>
                        <a:rPr sz="700" b="0" i="0">
                          <a:solidFill>
                            <a:srgbClr val="0070C0"/>
                          </a:solidFill>
                          <a:latin typeface="Times New Roman"/>
                        </a:rPr>
                        <a:t> </a:t>
                      </a:r>
                      <a:r>
                        <a:rPr sz="1100" b="0" i="0">
                          <a:solidFill>
                            <a:srgbClr val="0070C0"/>
                          </a:solidFill>
                          <a:latin typeface="Calibri"/>
                        </a:rPr>
                        <a:t>Nordics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22.11.1.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22.11.2.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22.11.3.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22.11.4.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22.12.</a:t>
                      </a:r>
                      <a:r>
                        <a:rPr sz="700" b="0" i="0">
                          <a:solidFill>
                            <a:srgbClr val="0070C0"/>
                          </a:solidFill>
                          <a:latin typeface="Times New Roman"/>
                        </a:rPr>
                        <a:t> </a:t>
                      </a:r>
                      <a:r>
                        <a:rPr sz="1100" b="0" i="0">
                          <a:solidFill>
                            <a:srgbClr val="0070C0"/>
                          </a:solidFill>
                          <a:latin typeface="Calibri"/>
                        </a:rPr>
                        <a:t>Russia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22.12.1.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22.12.2.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22.12.3.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22.12.4.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22.13.</a:t>
                      </a:r>
                      <a:r>
                        <a:rPr sz="700" b="0" i="0">
                          <a:solidFill>
                            <a:srgbClr val="0070C0"/>
                          </a:solidFill>
                          <a:latin typeface="Times New Roman"/>
                        </a:rPr>
                        <a:t> </a:t>
                      </a:r>
                      <a:r>
                        <a:rPr sz="1100" b="0" i="0">
                          <a:solidFill>
                            <a:srgbClr val="0070C0"/>
                          </a:solidFill>
                          <a:latin typeface="Calibri"/>
                        </a:rPr>
                        <a:t>Hungary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22.13.1.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22.13.2.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22.13.3.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22.13.4.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22.14.</a:t>
                      </a:r>
                      <a:r>
                        <a:rPr sz="700" b="0" i="0">
                          <a:solidFill>
                            <a:srgbClr val="0070C0"/>
                          </a:solidFill>
                          <a:latin typeface="Times New Roman"/>
                        </a:rPr>
                        <a:t> </a:t>
                      </a:r>
                      <a:r>
                        <a:rPr sz="1100" b="0" i="0">
                          <a:solidFill>
                            <a:srgbClr val="0070C0"/>
                          </a:solidFill>
                          <a:latin typeface="Calibri"/>
                        </a:rPr>
                        <a:t>Poland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22.14.1.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22.14.2.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22.14.3.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22.14.4.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22.15.</a:t>
                      </a:r>
                      <a:r>
                        <a:rPr sz="700" b="0" i="0">
                          <a:solidFill>
                            <a:srgbClr val="0070C0"/>
                          </a:solidFill>
                          <a:latin typeface="Times New Roman"/>
                        </a:rPr>
                        <a:t> </a:t>
                      </a:r>
                      <a:r>
                        <a:rPr sz="1100" b="0" i="0">
                          <a:solidFill>
                            <a:srgbClr val="0070C0"/>
                          </a:solidFill>
                          <a:latin typeface="Calibri"/>
                        </a:rPr>
                        <a:t>Balkan &amp; Baltics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22.15.1.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22.15.2.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22.15.3.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22.15.4.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22.16.</a:t>
                      </a:r>
                      <a:r>
                        <a:rPr sz="700" b="0" i="0">
                          <a:solidFill>
                            <a:srgbClr val="0070C0"/>
                          </a:solidFill>
                          <a:latin typeface="Times New Roman"/>
                        </a:rPr>
                        <a:t> </a:t>
                      </a:r>
                      <a:r>
                        <a:rPr sz="1100" b="0" i="0">
                          <a:solidFill>
                            <a:srgbClr val="0070C0"/>
                          </a:solidFill>
                          <a:latin typeface="Calibri"/>
                        </a:rPr>
                        <a:t>China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22.16.1.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22.16.2.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22.16.3.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22.16.4.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22.17.</a:t>
                      </a:r>
                      <a:r>
                        <a:rPr sz="700" b="0" i="0">
                          <a:solidFill>
                            <a:srgbClr val="0070C0"/>
                          </a:solidFill>
                          <a:latin typeface="Times New Roman"/>
                        </a:rPr>
                        <a:t> </a:t>
                      </a:r>
                      <a:r>
                        <a:rPr sz="1100" b="0" i="0">
                          <a:solidFill>
                            <a:srgbClr val="0070C0"/>
                          </a:solidFill>
                          <a:latin typeface="Calibri"/>
                        </a:rPr>
                        <a:t>Japan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22.17.1.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22.17.2.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22.17.3.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22.17.4.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22.18.</a:t>
                      </a:r>
                      <a:r>
                        <a:rPr sz="700" b="0" i="0">
                          <a:solidFill>
                            <a:srgbClr val="0070C0"/>
                          </a:solidFill>
                          <a:latin typeface="Times New Roman"/>
                        </a:rPr>
                        <a:t> </a:t>
                      </a:r>
                      <a:r>
                        <a:rPr sz="1100" b="0" i="0">
                          <a:solidFill>
                            <a:srgbClr val="0070C0"/>
                          </a:solidFill>
                          <a:latin typeface="Calibri"/>
                        </a:rPr>
                        <a:t>S. Korea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22.18.1.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22.18.2.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22.18.3.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22.18.4.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22.19.</a:t>
                      </a:r>
                      <a:r>
                        <a:rPr sz="700" b="0" i="0">
                          <a:solidFill>
                            <a:srgbClr val="0070C0"/>
                          </a:solidFill>
                          <a:latin typeface="Times New Roman"/>
                        </a:rPr>
                        <a:t> </a:t>
                      </a:r>
                      <a:r>
                        <a:rPr sz="1100" b="0" i="0">
                          <a:solidFill>
                            <a:srgbClr val="0070C0"/>
                          </a:solidFill>
                          <a:latin typeface="Calibri"/>
                        </a:rPr>
                        <a:t>India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22.19.1.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22.19.2.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(8/9)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22.19.3.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22.19.4.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22.20.</a:t>
                      </a:r>
                      <a:r>
                        <a:rPr sz="700" b="0" i="0">
                          <a:solidFill>
                            <a:srgbClr val="0070C0"/>
                          </a:solidFill>
                          <a:latin typeface="Times New Roman"/>
                        </a:rPr>
                        <a:t> </a:t>
                      </a:r>
                      <a:r>
                        <a:rPr sz="1100" b="0" i="0">
                          <a:solidFill>
                            <a:srgbClr val="0070C0"/>
                          </a:solidFill>
                          <a:latin typeface="Calibri"/>
                        </a:rPr>
                        <a:t>ASEAN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22.20.1.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22.20.2.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22.20.3.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22.20.4.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22.21.</a:t>
                      </a:r>
                      <a:r>
                        <a:rPr sz="700" b="0" i="0">
                          <a:solidFill>
                            <a:srgbClr val="0070C0"/>
                          </a:solidFill>
                          <a:latin typeface="Times New Roman"/>
                        </a:rPr>
                        <a:t> </a:t>
                      </a:r>
                      <a:r>
                        <a:rPr sz="1100" b="0" i="0">
                          <a:solidFill>
                            <a:srgbClr val="0070C0"/>
                          </a:solidFill>
                          <a:latin typeface="Calibri"/>
                        </a:rPr>
                        <a:t>Australia and New Zealand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22.21.1.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22.21.2.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22.21.3.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22.21.4.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22.22.</a:t>
                      </a:r>
                      <a:r>
                        <a:rPr sz="700" b="0" i="0">
                          <a:solidFill>
                            <a:srgbClr val="0070C0"/>
                          </a:solidFill>
                          <a:latin typeface="Times New Roman"/>
                        </a:rPr>
                        <a:t> </a:t>
                      </a:r>
                      <a:r>
                        <a:rPr sz="1100" b="0" i="0">
                          <a:solidFill>
                            <a:srgbClr val="0070C0"/>
                          </a:solidFill>
                          <a:latin typeface="Calibri"/>
                        </a:rPr>
                        <a:t>GCC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22.22.1.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22.22.2.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22.22.3.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22.22.4.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22.23.</a:t>
                      </a:r>
                      <a:r>
                        <a:rPr sz="700" b="0" i="0">
                          <a:solidFill>
                            <a:srgbClr val="0070C0"/>
                          </a:solidFill>
                          <a:latin typeface="Times New Roman"/>
                        </a:rPr>
                        <a:t> </a:t>
                      </a:r>
                      <a:r>
                        <a:rPr sz="1100" b="0" i="0">
                          <a:solidFill>
                            <a:srgbClr val="0070C0"/>
                          </a:solidFill>
                          <a:latin typeface="Calibri"/>
                        </a:rPr>
                        <a:t>Northern Africa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22.23.1.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22.23.2.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22.23.3.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22.23.4.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22.24.</a:t>
                      </a:r>
                      <a:r>
                        <a:rPr sz="700" b="0" i="0">
                          <a:solidFill>
                            <a:srgbClr val="0070C0"/>
                          </a:solidFill>
                          <a:latin typeface="Times New Roman"/>
                        </a:rPr>
                        <a:t> </a:t>
                      </a:r>
                      <a:r>
                        <a:rPr sz="1100" b="0" i="0">
                          <a:solidFill>
                            <a:srgbClr val="0070C0"/>
                          </a:solidFill>
                          <a:latin typeface="Calibri"/>
                        </a:rPr>
                        <a:t>Turkiye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22.24.1.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22.24.2.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r h="175260">
                <a:tc>
                  <a:txBody>
                    <a:bodyPr wrap="square"/>
                    <a:lstStyle/>
                    <a:p>
                      <a:pPr algn="l"/>
                      <a:r>
                        <a:rPr sz="1100" b="0" i="0">
                          <a:solidFill>
                            <a:srgbClr val="000000"/>
                          </a:solidFill>
                          <a:latin typeface="Calibri"/>
                        </a:rPr>
                        <a:t>22.24.3.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22.24.4.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0" i="0">
                          <a:solidFill>
                            <a:srgbClr val="0070C0"/>
                          </a:solidFill>
                          <a:latin typeface="Calibri"/>
                        </a:rPr>
                        <a:t>22.25.</a:t>
                      </a:r>
                      <a:r>
                        <a:rPr sz="700" b="0" i="0">
                          <a:solidFill>
                            <a:srgbClr val="0070C0"/>
                          </a:solidFill>
                          <a:latin typeface="Times New Roman"/>
                        </a:rPr>
                        <a:t> </a:t>
                      </a:r>
                      <a:r>
                        <a:rPr sz="1100" b="0" i="0">
                          <a:solidFill>
                            <a:srgbClr val="0070C0"/>
                          </a:solidFill>
                          <a:latin typeface="Calibri"/>
                        </a:rPr>
                        <a:t>South Africa Off-Highway Vehicle Market Analysis</a:t>
                      </a:r>
                      <a:endParaRPr sz="1100"/>
                    </a:p>
                  </a:txBody>
                  <a:tcPr marL="428625" marR="9525" marT="9525" marB="0" anchor="ctr"/>
                </a:tc>
              </a:tr>
              <a:tr h="175260">
                <a:tc>
                  <a:txBody>
                    <a:bodyPr wrap="square"/>
                    <a:lstStyle/>
                    <a:p>
                      <a:pPr algn="l"/>
                      <a:r>
                        <a:rPr sz="1100" b="0" i="0">
                          <a:solidFill>
                            <a:srgbClr val="000000"/>
                          </a:solidFill>
                          <a:latin typeface="Calibri"/>
                        </a:rPr>
                        <a:t>22.25.1.</a:t>
                      </a:r>
                      <a:r>
                        <a:rPr sz="700" b="0" i="0">
                          <a:solidFill>
                            <a:srgbClr val="000000"/>
                          </a:solidFill>
                          <a:latin typeface="Times New Roman"/>
                        </a:rPr>
                        <a:t> </a:t>
                      </a:r>
                      <a:r>
                        <a:rPr sz="1100" b="0" i="0">
                          <a:solidFill>
                            <a:srgbClr val="000000"/>
                          </a:solidFill>
                          <a:latin typeface="Calibri"/>
                        </a:rPr>
                        <a:t>By Vehicle Type</a:t>
                      </a:r>
                      <a:endParaRPr sz="1100"/>
                    </a:p>
                  </a:txBody>
                  <a:tcPr marL="771525" marR="9525" marT="9525" marB="0" anchor="ctr"/>
                </a:tc>
              </a:tr>
              <a:tr h="175260">
                <a:tc>
                  <a:txBody>
                    <a:bodyPr wrap="square"/>
                    <a:lstStyle/>
                    <a:p>
                      <a:pPr algn="l"/>
                      <a:r>
                        <a:rPr sz="1100" b="0" i="0">
                          <a:solidFill>
                            <a:srgbClr val="000000"/>
                          </a:solidFill>
                          <a:latin typeface="Calibri"/>
                        </a:rPr>
                        <a:t>22.25.2.</a:t>
                      </a:r>
                      <a:r>
                        <a:rPr sz="700" b="0" i="0">
                          <a:solidFill>
                            <a:srgbClr val="000000"/>
                          </a:solidFill>
                          <a:latin typeface="Times New Roman"/>
                        </a:rPr>
                        <a:t> </a:t>
                      </a:r>
                      <a:r>
                        <a:rPr sz="1100" b="0" i="0">
                          <a:solidFill>
                            <a:srgbClr val="000000"/>
                          </a:solidFill>
                          <a:latin typeface="Calibri"/>
                        </a:rPr>
                        <a:t>By Powertrain</a:t>
                      </a:r>
                      <a:endParaRPr sz="1100"/>
                    </a:p>
                  </a:txBody>
                  <a:tcPr marL="771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22.25.3.</a:t>
                      </a:r>
                      <a:r>
                        <a:rPr sz="700" b="0" i="0">
                          <a:solidFill>
                            <a:srgbClr val="000000"/>
                          </a:solidFill>
                          <a:latin typeface="Times New Roman"/>
                        </a:rPr>
                        <a:t> </a:t>
                      </a:r>
                      <a:r>
                        <a:rPr sz="1100" b="0" i="0">
                          <a:solidFill>
                            <a:srgbClr val="000000"/>
                          </a:solidFill>
                          <a:latin typeface="Calibri"/>
                        </a:rPr>
                        <a:t>By Vehicle Capacity</a:t>
                      </a:r>
                      <a:endParaRPr sz="1100"/>
                    </a:p>
                  </a:txBody>
                  <a:tcPr marL="771525" marR="9525" marT="9525" marB="0" anchor="ctr"/>
                </a:tc>
              </a:tr>
              <a:tr h="175260">
                <a:tc>
                  <a:txBody>
                    <a:bodyPr wrap="square"/>
                    <a:lstStyle/>
                    <a:p>
                      <a:pPr algn="l"/>
                      <a:r>
                        <a:rPr sz="1100" b="0" i="0">
                          <a:solidFill>
                            <a:srgbClr val="000000"/>
                          </a:solidFill>
                          <a:latin typeface="Calibri"/>
                        </a:rPr>
                        <a:t>22.25.4.</a:t>
                      </a:r>
                      <a:r>
                        <a:rPr sz="700" b="0" i="0">
                          <a:solidFill>
                            <a:srgbClr val="000000"/>
                          </a:solidFill>
                          <a:latin typeface="Times New Roman"/>
                        </a:rPr>
                        <a:t> </a:t>
                      </a:r>
                      <a:r>
                        <a:rPr sz="1100" b="0" i="0">
                          <a:solidFill>
                            <a:srgbClr val="000000"/>
                          </a:solidFill>
                          <a:latin typeface="Calibri"/>
                        </a:rPr>
                        <a:t>By Propulsion Configuration</a:t>
                      </a:r>
                      <a:endParaRPr sz="1100"/>
                    </a:p>
                  </a:txBody>
                  <a:tcPr marL="7715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Market Structure Analysis</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Market Analysis by Tier of Companies</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Market Share Analysis of Top Players</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Market Presence Analysis</a:t>
                      </a:r>
                      <a:endParaRPr sz="1100"/>
                    </a:p>
                  </a:txBody>
                  <a:tcPr marL="4286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Competition Analysis</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Competition Dashboard</a:t>
                      </a:r>
                      <a:endParaRPr sz="1100"/>
                    </a:p>
                  </a:txBody>
                  <a:tcPr marL="4286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Competition Benchmarking</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Competition Deep Dive</a:t>
                      </a:r>
                      <a:endParaRPr sz="1100"/>
                    </a:p>
                  </a:txBody>
                  <a:tcPr marL="428625" marR="9525" marT="9525" marB="0" anchor="ctr"/>
                </a:tc>
              </a:tr>
              <a:tr h="175260">
                <a:tc>
                  <a:txBody>
                    <a:bodyPr wrap="square"/>
                    <a:lstStyle/>
                    <a:p>
                      <a:pPr algn="l"/>
                      <a:r>
                        <a:rPr sz="1100" b="0" i="0">
                          <a:solidFill>
                            <a:srgbClr val="000000"/>
                          </a:solidFill>
                          <a:latin typeface="Calibri"/>
                        </a:rPr>
                        <a:t>24.3.1.</a:t>
                      </a:r>
                      <a:r>
                        <a:rPr sz="700" b="0" i="0">
                          <a:solidFill>
                            <a:srgbClr val="000000"/>
                          </a:solidFill>
                          <a:latin typeface="Times New Roman"/>
                        </a:rPr>
                        <a:t> </a:t>
                      </a:r>
                      <a:r>
                        <a:rPr sz="1100" b="0" i="0">
                          <a:solidFill>
                            <a:srgbClr val="000000"/>
                          </a:solidFill>
                          <a:latin typeface="Calibri"/>
                        </a:rPr>
                        <a:t>Construction and Mining Vehicle Manufacturers</a:t>
                      </a:r>
                      <a:endParaRPr sz="1100"/>
                    </a:p>
                  </a:txBody>
                  <a:tcPr marL="771525" marR="9525" marT="9525" marB="0" anchor="ctr"/>
                </a:tc>
              </a:tr>
              <a:tr h="175260">
                <a:tc>
                  <a:txBody>
                    <a:bodyPr wrap="square"/>
                    <a:lstStyle/>
                    <a:p>
                      <a:pPr algn="l"/>
                      <a:r>
                        <a:rPr sz="1100" b="0" i="1">
                          <a:solidFill>
                            <a:srgbClr val="000000"/>
                          </a:solidFill>
                          <a:latin typeface="Calibri"/>
                        </a:rPr>
                        <a:t>24.3.1.1.</a:t>
                      </a:r>
                      <a:r>
                        <a:rPr sz="700" b="0" i="1">
                          <a:solidFill>
                            <a:srgbClr val="000000"/>
                          </a:solidFill>
                          <a:latin typeface="Times New Roman"/>
                        </a:rPr>
                        <a:t> </a:t>
                      </a:r>
                      <a:r>
                        <a:rPr sz="1100" b="0" i="1">
                          <a:solidFill>
                            <a:srgbClr val="000000"/>
                          </a:solidFill>
                          <a:latin typeface="Calibri"/>
                        </a:rPr>
                        <a:t>Caterpillar Inc.</a:t>
                      </a:r>
                      <a:endParaRPr sz="1100"/>
                    </a:p>
                  </a:txBody>
                  <a:tcPr marL="1028700" marR="9525" marT="9525" marB="0" anchor="ctr"/>
                </a:tc>
              </a:tr>
              <a:tr h="175260">
                <a:tc>
                  <a:txBody>
                    <a:bodyPr wrap="square"/>
                    <a:lstStyle/>
                    <a:p>
                      <a:pPr algn="l"/>
                      <a:r>
                        <a:rPr sz="1100" b="0" i="1">
                          <a:solidFill>
                            <a:srgbClr val="000000"/>
                          </a:solidFill>
                          <a:latin typeface="Calibri"/>
                        </a:rPr>
                        <a:t>24.3.1.1.1.</a:t>
                      </a:r>
                      <a:r>
                        <a:rPr sz="700" b="0" i="1">
                          <a:solidFill>
                            <a:srgbClr val="000000"/>
                          </a:solidFill>
                          <a:latin typeface="Times New Roman"/>
                        </a:rPr>
                        <a:t> </a:t>
                      </a:r>
                      <a:r>
                        <a:rPr sz="1100" b="0" i="1">
                          <a:solidFill>
                            <a:srgbClr val="000000"/>
                          </a:solidFill>
                          <a:latin typeface="Calibri"/>
                        </a:rPr>
                        <a:t>Overview</a:t>
                      </a:r>
                      <a:endParaRPr sz="1100"/>
                    </a:p>
                  </a:txBody>
                  <a:tcPr marL="1257300" marR="9525" marT="9525" marB="0" anchor="ctr"/>
                </a:tc>
              </a:tr>
              <a:tr h="175260">
                <a:tc>
                  <a:txBody>
                    <a:bodyPr wrap="square"/>
                    <a:lstStyle/>
                    <a:p>
                      <a:pPr algn="l"/>
                      <a:r>
                        <a:rPr sz="1100" b="0" i="1">
                          <a:solidFill>
                            <a:srgbClr val="000000"/>
                          </a:solidFill>
                          <a:latin typeface="Calibri"/>
                        </a:rPr>
                        <a:t>24.3.1.1.2.</a:t>
                      </a:r>
                      <a:r>
                        <a:rPr sz="700" b="0" i="1">
                          <a:solidFill>
                            <a:srgbClr val="000000"/>
                          </a:solidFill>
                          <a:latin typeface="Times New Roman"/>
                        </a:rPr>
                        <a:t> </a:t>
                      </a:r>
                      <a:r>
                        <a:rPr sz="1100" b="0" i="1">
                          <a:solidFill>
                            <a:srgbClr val="000000"/>
                          </a:solidFill>
                          <a:latin typeface="Calibri"/>
                        </a:rPr>
                        <a:t>Product Portfolio</a:t>
                      </a:r>
                      <a:endParaRPr sz="1100"/>
                    </a:p>
                  </a:txBody>
                  <a:tcPr marL="1257300" marR="9525" marT="9525" marB="0" anchor="ctr"/>
                </a:tc>
              </a:tr>
              <a:tr h="175260">
                <a:tc>
                  <a:txBody>
                    <a:bodyPr wrap="square"/>
                    <a:lstStyle/>
                    <a:p>
                      <a:pPr algn="l"/>
                      <a:r>
                        <a:rPr sz="1100" b="0" i="1">
                          <a:solidFill>
                            <a:srgbClr val="000000"/>
                          </a:solidFill>
                          <a:latin typeface="Calibri"/>
                        </a:rPr>
                        <a:t>24.3.1.1.3.</a:t>
                      </a:r>
                      <a:r>
                        <a:rPr sz="700" b="0" i="1">
                          <a:solidFill>
                            <a:srgbClr val="000000"/>
                          </a:solidFill>
                          <a:latin typeface="Times New Roman"/>
                        </a:rPr>
                        <a:t> </a:t>
                      </a:r>
                      <a:r>
                        <a:rPr sz="1100" b="0" i="1">
                          <a:solidFill>
                            <a:srgbClr val="000000"/>
                          </a:solidFill>
                          <a:latin typeface="Calibri"/>
                        </a:rPr>
                        <a:t>Profitability by Market Segments (Product/Channel/Region)</a:t>
                      </a:r>
                      <a:endParaRPr sz="1100"/>
                    </a:p>
                  </a:txBody>
                  <a:tcPr marL="1257300" marR="9525" marT="9525" marB="0" anchor="ctr"/>
                </a:tc>
              </a:tr>
              <a:tr h="175260">
                <a:tc>
                  <a:txBody>
                    <a:bodyPr wrap="square"/>
                    <a:lstStyle/>
                    <a:p>
                      <a:pPr algn="l"/>
                      <a:r>
                        <a:rPr sz="1100" b="0" i="1">
                          <a:solidFill>
                            <a:srgbClr val="000000"/>
                          </a:solidFill>
                          <a:latin typeface="Calibri"/>
                        </a:rPr>
                        <a:t>24.3.1.1.4.</a:t>
                      </a:r>
                      <a:r>
                        <a:rPr sz="700" b="0" i="1">
                          <a:solidFill>
                            <a:srgbClr val="000000"/>
                          </a:solidFill>
                          <a:latin typeface="Times New Roman"/>
                        </a:rPr>
                        <a:t> </a:t>
                      </a:r>
                      <a:r>
                        <a:rPr sz="1100" b="0" i="1">
                          <a:solidFill>
                            <a:srgbClr val="000000"/>
                          </a:solidFill>
                          <a:latin typeface="Calibri"/>
                        </a:rPr>
                        <a:t>Sales Footprint</a:t>
                      </a:r>
                      <a:endParaRPr sz="1100"/>
                    </a:p>
                  </a:txBody>
                  <a:tcPr marL="1257300" marR="9525" marT="9525" marB="0" anchor="ctr"/>
                </a:tc>
              </a:tr>
              <a:tr h="175260">
                <a:tc>
                  <a:txBody>
                    <a:bodyPr wrap="square"/>
                    <a:lstStyle/>
                    <a:p>
                      <a:pPr algn="l"/>
                      <a:r>
                        <a:rPr sz="1100" b="0" i="1">
                          <a:solidFill>
                            <a:srgbClr val="000000"/>
                          </a:solidFill>
                          <a:latin typeface="Calibri"/>
                        </a:rPr>
                        <a:t>24.3.1.1.5.</a:t>
                      </a:r>
                      <a:r>
                        <a:rPr sz="700" b="0" i="1">
                          <a:solidFill>
                            <a:srgbClr val="000000"/>
                          </a:solidFill>
                          <a:latin typeface="Times New Roman"/>
                        </a:rPr>
                        <a:t> </a:t>
                      </a:r>
                      <a:r>
                        <a:rPr sz="1100" b="0" i="1">
                          <a:solidFill>
                            <a:srgbClr val="000000"/>
                          </a:solidFill>
                          <a:latin typeface="Calibri"/>
                        </a:rPr>
                        <a:t>Strategy Overview</a:t>
                      </a:r>
                      <a:endParaRPr sz="1100"/>
                    </a:p>
                  </a:txBody>
                  <a:tcPr marL="1257300" marR="9525" marT="9525" marB="0" anchor="ctr"/>
                </a:tc>
              </a:tr>
              <a:tr h="175260">
                <a:tc>
                  <a:txBody>
                    <a:bodyPr wrap="square"/>
                    <a:lstStyle/>
                    <a:p>
                      <a:pPr algn="l"/>
                      <a:r>
                        <a:rPr sz="1100" b="0" i="1">
                          <a:solidFill>
                            <a:srgbClr val="000000"/>
                          </a:solidFill>
                          <a:latin typeface="Calibri"/>
                        </a:rPr>
                        <a:t>24.3.1.2.</a:t>
                      </a:r>
                      <a:r>
                        <a:rPr sz="700" b="0" i="1">
                          <a:solidFill>
                            <a:srgbClr val="000000"/>
                          </a:solidFill>
                          <a:latin typeface="Times New Roman"/>
                        </a:rPr>
                        <a:t> </a:t>
                      </a:r>
                      <a:r>
                        <a:rPr sz="1100" b="0" i="1">
                          <a:solidFill>
                            <a:srgbClr val="000000"/>
                          </a:solidFill>
                          <a:latin typeface="Calibri"/>
                        </a:rPr>
                        <a:t>Komatsu Ltd.</a:t>
                      </a:r>
                      <a:endParaRPr sz="1100"/>
                    </a:p>
                  </a:txBody>
                  <a:tcPr marL="1028700" marR="9525" marT="9525" marB="0" anchor="ctr"/>
                </a:tc>
              </a:tr>
              <a:tr h="175260">
                <a:tc>
                  <a:txBody>
                    <a:bodyPr wrap="square"/>
                    <a:lstStyle/>
                    <a:p>
                      <a:pPr algn="l"/>
                      <a:r>
                        <a:rPr sz="1100" b="0" i="1">
                          <a:solidFill>
                            <a:srgbClr val="000000"/>
                          </a:solidFill>
                          <a:latin typeface="Calibri"/>
                        </a:rPr>
                        <a:t>24.3.1.3.</a:t>
                      </a:r>
                      <a:r>
                        <a:rPr sz="700" b="0" i="1">
                          <a:solidFill>
                            <a:srgbClr val="000000"/>
                          </a:solidFill>
                          <a:latin typeface="Times New Roman"/>
                        </a:rPr>
                        <a:t> </a:t>
                      </a:r>
                      <a:r>
                        <a:rPr sz="1100" b="0" i="1">
                          <a:solidFill>
                            <a:srgbClr val="000000"/>
                          </a:solidFill>
                          <a:latin typeface="Calibri"/>
                        </a:rPr>
                        <a:t>Volvo Construction Equipment</a:t>
                      </a:r>
                      <a:endParaRPr sz="1100"/>
                    </a:p>
                  </a:txBody>
                  <a:tcPr marL="1028700" marR="9525" marT="9525" marB="0" anchor="ctr"/>
                </a:tc>
              </a:tr>
              <a:tr h="175260">
                <a:tc>
                  <a:txBody>
                    <a:bodyPr wrap="square"/>
                    <a:lstStyle/>
                    <a:p>
                      <a:pPr algn="l"/>
                      <a:r>
                        <a:rPr sz="1100" b="0" i="1">
                          <a:solidFill>
                            <a:srgbClr val="000000"/>
                          </a:solidFill>
                          <a:latin typeface="Calibri"/>
                        </a:rPr>
                        <a:t>24.3.1.4.</a:t>
                      </a:r>
                      <a:r>
                        <a:rPr sz="700" b="0" i="1">
                          <a:solidFill>
                            <a:srgbClr val="000000"/>
                          </a:solidFill>
                          <a:latin typeface="Times New Roman"/>
                        </a:rPr>
                        <a:t> </a:t>
                      </a:r>
                      <a:r>
                        <a:rPr sz="1100" b="0" i="1">
                          <a:solidFill>
                            <a:srgbClr val="000000"/>
                          </a:solidFill>
                          <a:latin typeface="Calibri"/>
                        </a:rPr>
                        <a:t>Liebherr Group</a:t>
                      </a:r>
                      <a:endParaRPr sz="1100"/>
                    </a:p>
                  </a:txBody>
                  <a:tcPr marL="1028700" marR="9525" marT="9525" marB="0" anchor="ctr"/>
                </a:tc>
              </a:tr>
              <a:tr h="175260">
                <a:tc>
                  <a:txBody>
                    <a:bodyPr wrap="square"/>
                    <a:lstStyle/>
                    <a:p>
                      <a:pPr algn="l"/>
                      <a:r>
                        <a:rPr sz="1100" b="0" i="1">
                          <a:solidFill>
                            <a:srgbClr val="000000"/>
                          </a:solidFill>
                          <a:latin typeface="Calibri"/>
                        </a:rPr>
                        <a:t>24.3.1.5.</a:t>
                      </a:r>
                      <a:r>
                        <a:rPr sz="700" b="0" i="1">
                          <a:solidFill>
                            <a:srgbClr val="000000"/>
                          </a:solidFill>
                          <a:latin typeface="Times New Roman"/>
                        </a:rPr>
                        <a:t> </a:t>
                      </a:r>
                      <a:r>
                        <a:rPr sz="1100" b="0" i="1">
                          <a:solidFill>
                            <a:srgbClr val="000000"/>
                          </a:solidFill>
                          <a:latin typeface="Calibri"/>
                        </a:rPr>
                        <a:t>Hitachi Construction Machinery</a:t>
                      </a:r>
                      <a:endParaRPr sz="1100"/>
                    </a:p>
                  </a:txBody>
                  <a:tcPr marL="1028700" marR="9525" marT="9525" marB="0" anchor="ctr"/>
                </a:tc>
              </a:tr>
              <a:tr h="175260">
                <a:tc>
                  <a:txBody>
                    <a:bodyPr wrap="square"/>
                    <a:lstStyle/>
                    <a:p>
                      <a:pPr algn="l"/>
                      <a:r>
                        <a:rPr sz="1100" b="0" i="1">
                          <a:solidFill>
                            <a:srgbClr val="000000"/>
                          </a:solidFill>
                          <a:latin typeface="Calibri"/>
                        </a:rPr>
                        <a:t>24.3.1.6.</a:t>
                      </a:r>
                      <a:r>
                        <a:rPr sz="700" b="0" i="1">
                          <a:solidFill>
                            <a:srgbClr val="000000"/>
                          </a:solidFill>
                          <a:latin typeface="Times New Roman"/>
                        </a:rPr>
                        <a:t> </a:t>
                      </a:r>
                      <a:r>
                        <a:rPr sz="1100" b="0" i="1">
                          <a:solidFill>
                            <a:srgbClr val="000000"/>
                          </a:solidFill>
                          <a:latin typeface="Calibri"/>
                        </a:rPr>
                        <a:t>XCMG Group</a:t>
                      </a:r>
                      <a:endParaRPr sz="1100"/>
                    </a:p>
                  </a:txBody>
                  <a:tcPr marL="1028700" marR="9525" marT="9525" marB="0" anchor="ctr"/>
                </a:tc>
              </a:tr>
              <a:tr h="175260">
                <a:tc>
                  <a:txBody>
                    <a:bodyPr wrap="square"/>
                    <a:lstStyle/>
                    <a:p>
                      <a:pPr algn="l"/>
                      <a:r>
                        <a:rPr sz="1100" b="0" i="1">
                          <a:solidFill>
                            <a:srgbClr val="000000"/>
                          </a:solidFill>
                          <a:latin typeface="Calibri"/>
                        </a:rPr>
                        <a:t>24.3.1.7.</a:t>
                      </a:r>
                      <a:r>
                        <a:rPr sz="700" b="0" i="1">
                          <a:solidFill>
                            <a:srgbClr val="000000"/>
                          </a:solidFill>
                          <a:latin typeface="Times New Roman"/>
                        </a:rPr>
                        <a:t> </a:t>
                      </a:r>
                      <a:r>
                        <a:rPr sz="1100" b="0" i="1">
                          <a:solidFill>
                            <a:srgbClr val="000000"/>
                          </a:solidFill>
                          <a:latin typeface="Calibri"/>
                        </a:rPr>
                        <a:t>SANY Group</a:t>
                      </a:r>
                      <a:endParaRPr sz="1100"/>
                    </a:p>
                  </a:txBody>
                  <a:tcPr marL="1028700" marR="9525" marT="9525" marB="0" anchor="ctr"/>
                </a:tc>
              </a:tr>
              <a:tr h="175260">
                <a:tc>
                  <a:txBody>
                    <a:bodyPr wrap="square"/>
                    <a:lstStyle/>
                    <a:p>
                      <a:pPr algn="l"/>
                      <a:r>
                        <a:rPr sz="1100" b="0" i="1">
                          <a:solidFill>
                            <a:srgbClr val="000000"/>
                          </a:solidFill>
                          <a:latin typeface="Calibri"/>
                        </a:rPr>
                        <a:t>24.3.1.8.</a:t>
                      </a:r>
                      <a:r>
                        <a:rPr sz="700" b="0" i="1">
                          <a:solidFill>
                            <a:srgbClr val="000000"/>
                          </a:solidFill>
                          <a:latin typeface="Times New Roman"/>
                        </a:rPr>
                        <a:t> </a:t>
                      </a:r>
                      <a:r>
                        <a:rPr sz="1100" b="0" i="1">
                          <a:solidFill>
                            <a:srgbClr val="000000"/>
                          </a:solidFill>
                          <a:latin typeface="Calibri"/>
                        </a:rPr>
                        <a:t>JCB</a:t>
                      </a:r>
                      <a:endParaRPr sz="1100"/>
                    </a:p>
                  </a:txBody>
                  <a:tcPr marL="1028700" marR="9525" marT="9525" marB="0" anchor="ctr"/>
                </a:tc>
              </a:tr>
              <a:tr h="175260">
                <a:tc>
                  <a:txBody>
                    <a:bodyPr wrap="square"/>
                    <a:lstStyle/>
                    <a:p>
                      <a:pPr algn="l"/>
                      <a:r>
                        <a:rPr sz="1100" b="0" i="1">
                          <a:solidFill>
                            <a:srgbClr val="000000"/>
                          </a:solidFill>
                          <a:latin typeface="Calibri"/>
                        </a:rPr>
                        <a:t>24.3.1.9.</a:t>
                      </a:r>
                      <a:r>
                        <a:rPr sz="700" b="0" i="1">
                          <a:solidFill>
                            <a:srgbClr val="000000"/>
                          </a:solidFill>
                          <a:latin typeface="Times New Roman"/>
                        </a:rPr>
                        <a:t> </a:t>
                      </a:r>
                      <a:r>
                        <a:rPr sz="1100" b="0" i="1">
                          <a:solidFill>
                            <a:srgbClr val="000000"/>
                          </a:solidFill>
                          <a:latin typeface="Calibri"/>
                        </a:rPr>
                        <a:t>HD Hyundai Construction Equipment</a:t>
                      </a:r>
                      <a:endParaRPr sz="1100"/>
                    </a:p>
                  </a:txBody>
                  <a:tcPr marL="1028700" marR="9525" marT="9525" marB="0" anchor="ctr"/>
                </a:tc>
              </a:tr>
              <a:tr h="175260">
                <a:tc>
                  <a:txBody>
                    <a:bodyPr wrap="square"/>
                    <a:lstStyle/>
                    <a:p>
                      <a:pPr algn="l"/>
                      <a:r>
                        <a:rPr sz="1100" b="0" i="1">
                          <a:solidFill>
                            <a:srgbClr val="000000"/>
                          </a:solidFill>
                          <a:latin typeface="Calibri"/>
                        </a:rPr>
                        <a:t>24.3.1.10.</a:t>
                      </a:r>
                      <a:r>
                        <a:rPr sz="700" b="0" i="1">
                          <a:solidFill>
                            <a:srgbClr val="000000"/>
                          </a:solidFill>
                          <a:latin typeface="Times New Roman"/>
                        </a:rPr>
                        <a:t> </a:t>
                      </a:r>
                      <a:r>
                        <a:rPr sz="1100" b="0" i="1">
                          <a:solidFill>
                            <a:srgbClr val="000000"/>
                          </a:solidFill>
                          <a:latin typeface="Calibri"/>
                        </a:rPr>
                        <a:t>LiuGong</a:t>
                      </a:r>
                      <a:endParaRPr sz="1100"/>
                    </a:p>
                  </a:txBody>
                  <a:tcPr marL="1028700" marR="9525" marT="9525" marB="0" anchor="ctr"/>
                </a:tc>
              </a:tr>
              <a:tr h="175260">
                <a:tc>
                  <a:txBody>
                    <a:bodyPr wrap="square"/>
                    <a:lstStyle/>
                    <a:p>
                      <a:pPr algn="l"/>
                      <a:r>
                        <a:rPr sz="1100" b="0" i="1">
                          <a:solidFill>
                            <a:srgbClr val="000000"/>
                          </a:solidFill>
                          <a:latin typeface="Calibri"/>
                        </a:rPr>
                        <a:t>24.3.1.11.</a:t>
                      </a:r>
                      <a:r>
                        <a:rPr sz="700" b="0" i="1">
                          <a:solidFill>
                            <a:srgbClr val="000000"/>
                          </a:solidFill>
                          <a:latin typeface="Times New Roman"/>
                        </a:rPr>
                        <a:t> </a:t>
                      </a:r>
                      <a:r>
                        <a:rPr sz="1100" b="0" i="1">
                          <a:solidFill>
                            <a:srgbClr val="000000"/>
                          </a:solidFill>
                          <a:latin typeface="Calibri"/>
                        </a:rPr>
                        <a:t>Zoomlion</a:t>
                      </a:r>
                      <a:endParaRPr sz="1100"/>
                    </a:p>
                  </a:txBody>
                  <a:tcPr marL="1028700" marR="9525" marT="9525" marB="0" anchor="ctr"/>
                </a:tc>
              </a:tr>
              <a:tr h="175260">
                <a:tc>
                  <a:txBody>
                    <a:bodyPr wrap="square"/>
                    <a:lstStyle/>
                    <a:p>
                      <a:pPr algn="l"/>
                      <a:r>
                        <a:rPr sz="1100" b="0" i="1">
                          <a:solidFill>
                            <a:srgbClr val="000000"/>
                          </a:solidFill>
                          <a:latin typeface="Calibri"/>
                        </a:rPr>
                        <a:t>24.3.1.12.</a:t>
                      </a:r>
                      <a:r>
                        <a:rPr sz="700" b="0" i="1">
                          <a:solidFill>
                            <a:srgbClr val="000000"/>
                          </a:solidFill>
                          <a:latin typeface="Times New Roman"/>
                        </a:rPr>
                        <a:t> </a:t>
                      </a:r>
                      <a:r>
                        <a:rPr sz="1100" b="0" i="1">
                          <a:solidFill>
                            <a:srgbClr val="000000"/>
                          </a:solidFill>
                          <a:latin typeface="Calibri"/>
                        </a:rPr>
                        <a:t>John Deere</a:t>
                      </a:r>
                      <a:endParaRPr sz="1100"/>
                    </a:p>
                  </a:txBody>
                  <a:tcPr marL="1028700" marR="9525" marT="9525" marB="0" anchor="ctr"/>
                </a:tc>
              </a:tr>
              <a:tr h="175260">
                <a:tc>
                  <a:txBody>
                    <a:bodyPr wrap="square"/>
                    <a:lstStyle/>
                    <a:p>
                      <a:pPr algn="l"/>
                      <a:r>
                        <a:rPr sz="1100" b="0" i="1">
                          <a:solidFill>
                            <a:srgbClr val="000000"/>
                          </a:solidFill>
                          <a:latin typeface="Calibri"/>
                        </a:rPr>
                        <a:t>24.3.1.13.</a:t>
                      </a:r>
                      <a:r>
                        <a:rPr sz="700" b="0" i="1">
                          <a:solidFill>
                            <a:srgbClr val="000000"/>
                          </a:solidFill>
                          <a:latin typeface="Times New Roman"/>
                        </a:rPr>
                        <a:t> </a:t>
                      </a:r>
                      <a:r>
                        <a:rPr sz="1100" b="0" i="1">
                          <a:solidFill>
                            <a:srgbClr val="000000"/>
                          </a:solidFill>
                          <a:latin typeface="Calibri"/>
                        </a:rPr>
                        <a:t>CNH Industrial</a:t>
                      </a:r>
                      <a:endParaRPr sz="1100"/>
                    </a:p>
                  </a:txBody>
                  <a:tcPr marL="1028700" marR="9525" marT="9525" marB="0" anchor="ctr"/>
                </a:tc>
              </a:tr>
              <a:tr h="175260">
                <a:tc>
                  <a:txBody>
                    <a:bodyPr wrap="square"/>
                    <a:lstStyle/>
                    <a:p>
                      <a:pPr algn="l"/>
                      <a:r>
                        <a:rPr sz="1100" b="0" i="0">
                          <a:solidFill>
                            <a:srgbClr val="000000"/>
                          </a:solidFill>
                          <a:latin typeface="Calibri"/>
                        </a:rPr>
                        <a:t>24.3.2.</a:t>
                      </a:r>
                      <a:r>
                        <a:rPr sz="700" b="0" i="0">
                          <a:solidFill>
                            <a:srgbClr val="000000"/>
                          </a:solidFill>
                          <a:latin typeface="Times New Roman"/>
                        </a:rPr>
                        <a:t> </a:t>
                      </a:r>
                      <a:r>
                        <a:rPr sz="1100" b="0" i="0">
                          <a:solidFill>
                            <a:srgbClr val="000000"/>
                          </a:solidFill>
                          <a:latin typeface="Calibri"/>
                        </a:rPr>
                        <a:t>Mining and Forestry Vehicle Specialists</a:t>
                      </a:r>
                      <a:endParaRPr sz="1100"/>
                    </a:p>
                  </a:txBody>
                  <a:tcPr marL="771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(9/9)</a:t>
            </a:r>
          </a:p>
        </p:txBody>
      </p:sp>
      <p:graphicFrame>
        <p:nvGraphicFramePr>
          <p:cNvPr id="6" name="TMR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24.3.2.1.</a:t>
                      </a:r>
                      <a:r>
                        <a:rPr sz="700" b="0" i="1">
                          <a:solidFill>
                            <a:srgbClr val="000000"/>
                          </a:solidFill>
                          <a:latin typeface="Times New Roman"/>
                        </a:rPr>
                        <a:t> </a:t>
                      </a:r>
                      <a:r>
                        <a:rPr sz="1100" b="0" i="1">
                          <a:solidFill>
                            <a:srgbClr val="000000"/>
                          </a:solidFill>
                          <a:latin typeface="Calibri"/>
                        </a:rPr>
                        <a:t>Sandvik</a:t>
                      </a:r>
                      <a:endParaRPr sz="1100"/>
                    </a:p>
                  </a:txBody>
                  <a:tcPr marL="1028700" marR="9525" marT="9525" marB="0" anchor="ctr"/>
                </a:tc>
              </a:tr>
              <a:tr h="175260">
                <a:tc>
                  <a:txBody>
                    <a:bodyPr wrap="square"/>
                    <a:lstStyle/>
                    <a:p>
                      <a:pPr algn="l"/>
                      <a:r>
                        <a:rPr sz="1100" b="0" i="1">
                          <a:solidFill>
                            <a:srgbClr val="000000"/>
                          </a:solidFill>
                          <a:latin typeface="Calibri"/>
                        </a:rPr>
                        <a:t>24.3.2.2.</a:t>
                      </a:r>
                      <a:r>
                        <a:rPr sz="700" b="0" i="1">
                          <a:solidFill>
                            <a:srgbClr val="000000"/>
                          </a:solidFill>
                          <a:latin typeface="Times New Roman"/>
                        </a:rPr>
                        <a:t> </a:t>
                      </a:r>
                      <a:r>
                        <a:rPr sz="1100" b="0" i="1">
                          <a:solidFill>
                            <a:srgbClr val="000000"/>
                          </a:solidFill>
                          <a:latin typeface="Calibri"/>
                        </a:rPr>
                        <a:t>Epiroc</a:t>
                      </a:r>
                      <a:endParaRPr sz="1100"/>
                    </a:p>
                  </a:txBody>
                  <a:tcPr marL="1028700" marR="9525" marT="9525" marB="0" anchor="ctr"/>
                </a:tc>
              </a:tr>
              <a:tr h="175260">
                <a:tc>
                  <a:txBody>
                    <a:bodyPr wrap="square"/>
                    <a:lstStyle/>
                    <a:p>
                      <a:pPr algn="l"/>
                      <a:r>
                        <a:rPr sz="1100" b="0" i="1">
                          <a:solidFill>
                            <a:srgbClr val="000000"/>
                          </a:solidFill>
                          <a:latin typeface="Calibri"/>
                        </a:rPr>
                        <a:t>24.3.2.3.</a:t>
                      </a:r>
                      <a:r>
                        <a:rPr sz="700" b="0" i="1">
                          <a:solidFill>
                            <a:srgbClr val="000000"/>
                          </a:solidFill>
                          <a:latin typeface="Times New Roman"/>
                        </a:rPr>
                        <a:t> </a:t>
                      </a:r>
                      <a:r>
                        <a:rPr sz="1100" b="0" i="1">
                          <a:solidFill>
                            <a:srgbClr val="000000"/>
                          </a:solidFill>
                          <a:latin typeface="Calibri"/>
                        </a:rPr>
                        <a:t>Bell Equipment</a:t>
                      </a:r>
                      <a:endParaRPr sz="1100"/>
                    </a:p>
                  </a:txBody>
                  <a:tcPr marL="1028700" marR="9525" marT="9525" marB="0" anchor="ctr"/>
                </a:tc>
              </a:tr>
              <a:tr h="175260">
                <a:tc>
                  <a:txBody>
                    <a:bodyPr wrap="square"/>
                    <a:lstStyle/>
                    <a:p>
                      <a:pPr algn="l"/>
                      <a:r>
                        <a:rPr sz="1100" b="0" i="1">
                          <a:solidFill>
                            <a:srgbClr val="000000"/>
                          </a:solidFill>
                          <a:latin typeface="Calibri"/>
                        </a:rPr>
                        <a:t>24.3.2.4.</a:t>
                      </a:r>
                      <a:r>
                        <a:rPr sz="700" b="0" i="1">
                          <a:solidFill>
                            <a:srgbClr val="000000"/>
                          </a:solidFill>
                          <a:latin typeface="Times New Roman"/>
                        </a:rPr>
                        <a:t> </a:t>
                      </a:r>
                      <a:r>
                        <a:rPr sz="1100" b="0" i="1">
                          <a:solidFill>
                            <a:srgbClr val="000000"/>
                          </a:solidFill>
                          <a:latin typeface="Calibri"/>
                        </a:rPr>
                        <a:t>Komatsu Forest</a:t>
                      </a:r>
                      <a:endParaRPr sz="1100"/>
                    </a:p>
                  </a:txBody>
                  <a:tcPr marL="1028700" marR="9525" marT="9525" marB="0" anchor="ctr"/>
                </a:tc>
              </a:tr>
              <a:tr h="175260">
                <a:tc>
                  <a:txBody>
                    <a:bodyPr wrap="square"/>
                    <a:lstStyle/>
                    <a:p>
                      <a:pPr algn="l"/>
                      <a:r>
                        <a:rPr sz="1100" b="0" i="1">
                          <a:solidFill>
                            <a:srgbClr val="000000"/>
                          </a:solidFill>
                          <a:latin typeface="Calibri"/>
                        </a:rPr>
                        <a:t>24.3.2.5.</a:t>
                      </a:r>
                      <a:r>
                        <a:rPr sz="700" b="0" i="1">
                          <a:solidFill>
                            <a:srgbClr val="000000"/>
                          </a:solidFill>
                          <a:latin typeface="Times New Roman"/>
                        </a:rPr>
                        <a:t> </a:t>
                      </a:r>
                      <a:r>
                        <a:rPr sz="1100" b="0" i="1">
                          <a:solidFill>
                            <a:srgbClr val="000000"/>
                          </a:solidFill>
                          <a:latin typeface="Calibri"/>
                        </a:rPr>
                        <a:t>Tigercat</a:t>
                      </a:r>
                      <a:endParaRPr sz="1100"/>
                    </a:p>
                  </a:txBody>
                  <a:tcPr marL="1028700" marR="9525" marT="9525" marB="0" anchor="ctr"/>
                </a:tc>
              </a:tr>
              <a:tr h="175260">
                <a:tc>
                  <a:txBody>
                    <a:bodyPr wrap="square"/>
                    <a:lstStyle/>
                    <a:p>
                      <a:pPr algn="l"/>
                      <a:r>
                        <a:rPr sz="1100" b="0" i="1">
                          <a:solidFill>
                            <a:srgbClr val="000000"/>
                          </a:solidFill>
                          <a:latin typeface="Calibri"/>
                        </a:rPr>
                        <a:t>24.3.2.6.</a:t>
                      </a:r>
                      <a:r>
                        <a:rPr sz="700" b="0" i="1">
                          <a:solidFill>
                            <a:srgbClr val="000000"/>
                          </a:solidFill>
                          <a:latin typeface="Times New Roman"/>
                        </a:rPr>
                        <a:t> </a:t>
                      </a:r>
                      <a:r>
                        <a:rPr sz="1100" b="0" i="1">
                          <a:solidFill>
                            <a:srgbClr val="000000"/>
                          </a:solidFill>
                          <a:latin typeface="Calibri"/>
                        </a:rPr>
                        <a:t>Ponsse</a:t>
                      </a:r>
                      <a:endParaRPr sz="1100"/>
                    </a:p>
                  </a:txBody>
                  <a:tcPr marL="1028700" marR="9525" marT="9525" marB="0" anchor="ctr"/>
                </a:tc>
              </a:tr>
              <a:tr h="175260">
                <a:tc>
                  <a:txBody>
                    <a:bodyPr wrap="square"/>
                    <a:lstStyle/>
                    <a:p>
                      <a:pPr algn="l"/>
                      <a:r>
                        <a:rPr sz="1100" b="0" i="1">
                          <a:solidFill>
                            <a:srgbClr val="000000"/>
                          </a:solidFill>
                          <a:latin typeface="Calibri"/>
                        </a:rPr>
                        <a:t>24.3.2.7.</a:t>
                      </a:r>
                      <a:r>
                        <a:rPr sz="700" b="0" i="1">
                          <a:solidFill>
                            <a:srgbClr val="000000"/>
                          </a:solidFill>
                          <a:latin typeface="Times New Roman"/>
                        </a:rPr>
                        <a:t> </a:t>
                      </a:r>
                      <a:r>
                        <a:rPr sz="1100" b="0" i="1">
                          <a:solidFill>
                            <a:srgbClr val="000000"/>
                          </a:solidFill>
                          <a:latin typeface="Calibri"/>
                        </a:rPr>
                        <a:t>Rottne</a:t>
                      </a:r>
                      <a:endParaRPr sz="1100"/>
                    </a:p>
                  </a:txBody>
                  <a:tcPr marL="1028700" marR="9525" marT="9525" marB="0" anchor="ctr"/>
                </a:tc>
              </a:tr>
              <a:tr h="175260">
                <a:tc>
                  <a:txBody>
                    <a:bodyPr wrap="square"/>
                    <a:lstStyle/>
                    <a:p>
                      <a:pPr algn="l"/>
                      <a:r>
                        <a:rPr sz="1100" b="0" i="0">
                          <a:solidFill>
                            <a:srgbClr val="000000"/>
                          </a:solidFill>
                          <a:latin typeface="Calibri"/>
                        </a:rPr>
                        <a:t>24.3.3.</a:t>
                      </a:r>
                      <a:r>
                        <a:rPr sz="700" b="0" i="0">
                          <a:solidFill>
                            <a:srgbClr val="000000"/>
                          </a:solidFill>
                          <a:latin typeface="Times New Roman"/>
                        </a:rPr>
                        <a:t> </a:t>
                      </a:r>
                      <a:r>
                        <a:rPr sz="1100" b="0" i="0">
                          <a:solidFill>
                            <a:srgbClr val="000000"/>
                          </a:solidFill>
                          <a:latin typeface="Calibri"/>
                        </a:rPr>
                        <a:t>Agricultural Vehicle Manufacturers</a:t>
                      </a:r>
                      <a:endParaRPr sz="1100"/>
                    </a:p>
                  </a:txBody>
                  <a:tcPr marL="771525" marR="9525" marT="9525" marB="0" anchor="ctr"/>
                </a:tc>
              </a:tr>
              <a:tr h="175260">
                <a:tc>
                  <a:txBody>
                    <a:bodyPr wrap="square"/>
                    <a:lstStyle/>
                    <a:p>
                      <a:pPr algn="l"/>
                      <a:r>
                        <a:rPr sz="1100" b="0" i="1">
                          <a:solidFill>
                            <a:srgbClr val="000000"/>
                          </a:solidFill>
                          <a:latin typeface="Calibri"/>
                        </a:rPr>
                        <a:t>24.3.3.1.</a:t>
                      </a:r>
                      <a:r>
                        <a:rPr sz="700" b="0" i="1">
                          <a:solidFill>
                            <a:srgbClr val="000000"/>
                          </a:solidFill>
                          <a:latin typeface="Times New Roman"/>
                        </a:rPr>
                        <a:t> </a:t>
                      </a:r>
                      <a:r>
                        <a:rPr sz="1100" b="0" i="1">
                          <a:solidFill>
                            <a:srgbClr val="000000"/>
                          </a:solidFill>
                          <a:latin typeface="Calibri"/>
                        </a:rPr>
                        <a:t>Deere &amp; Company</a:t>
                      </a:r>
                      <a:endParaRPr sz="1100"/>
                    </a:p>
                  </a:txBody>
                  <a:tcPr marL="1028700" marR="9525" marT="9525" marB="0" anchor="ctr"/>
                </a:tc>
              </a:tr>
              <a:tr h="175260">
                <a:tc>
                  <a:txBody>
                    <a:bodyPr wrap="square"/>
                    <a:lstStyle/>
                    <a:p>
                      <a:pPr algn="l"/>
                      <a:r>
                        <a:rPr sz="1100" b="0" i="1">
                          <a:solidFill>
                            <a:srgbClr val="000000"/>
                          </a:solidFill>
                          <a:latin typeface="Calibri"/>
                        </a:rPr>
                        <a:t>24.3.3.2.</a:t>
                      </a:r>
                      <a:r>
                        <a:rPr sz="700" b="0" i="1">
                          <a:solidFill>
                            <a:srgbClr val="000000"/>
                          </a:solidFill>
                          <a:latin typeface="Times New Roman"/>
                        </a:rPr>
                        <a:t> </a:t>
                      </a:r>
                      <a:r>
                        <a:rPr sz="1100" b="0" i="1">
                          <a:solidFill>
                            <a:srgbClr val="000000"/>
                          </a:solidFill>
                          <a:latin typeface="Calibri"/>
                        </a:rPr>
                        <a:t>CNH Industrial</a:t>
                      </a:r>
                      <a:endParaRPr sz="1100"/>
                    </a:p>
                  </a:txBody>
                  <a:tcPr marL="1028700" marR="9525" marT="9525" marB="0" anchor="ctr"/>
                </a:tc>
              </a:tr>
              <a:tr h="175260">
                <a:tc>
                  <a:txBody>
                    <a:bodyPr wrap="square"/>
                    <a:lstStyle/>
                    <a:p>
                      <a:pPr algn="l"/>
                      <a:r>
                        <a:rPr sz="1100" b="0" i="1">
                          <a:solidFill>
                            <a:srgbClr val="000000"/>
                          </a:solidFill>
                          <a:latin typeface="Calibri"/>
                        </a:rPr>
                        <a:t>24.3.3.3.</a:t>
                      </a:r>
                      <a:r>
                        <a:rPr sz="700" b="0" i="1">
                          <a:solidFill>
                            <a:srgbClr val="000000"/>
                          </a:solidFill>
                          <a:latin typeface="Times New Roman"/>
                        </a:rPr>
                        <a:t> </a:t>
                      </a:r>
                      <a:r>
                        <a:rPr sz="1100" b="0" i="1">
                          <a:solidFill>
                            <a:srgbClr val="000000"/>
                          </a:solidFill>
                          <a:latin typeface="Calibri"/>
                        </a:rPr>
                        <a:t>AGCO Corporation</a:t>
                      </a:r>
                      <a:endParaRPr sz="1100"/>
                    </a:p>
                  </a:txBody>
                  <a:tcPr marL="1028700" marR="9525" marT="9525" marB="0" anchor="ctr"/>
                </a:tc>
              </a:tr>
              <a:tr h="175260">
                <a:tc>
                  <a:txBody>
                    <a:bodyPr wrap="square"/>
                    <a:lstStyle/>
                    <a:p>
                      <a:pPr algn="l"/>
                      <a:r>
                        <a:rPr sz="1100" b="0" i="1">
                          <a:solidFill>
                            <a:srgbClr val="000000"/>
                          </a:solidFill>
                          <a:latin typeface="Calibri"/>
                        </a:rPr>
                        <a:t>24.3.3.4.</a:t>
                      </a:r>
                      <a:r>
                        <a:rPr sz="700" b="0" i="1">
                          <a:solidFill>
                            <a:srgbClr val="000000"/>
                          </a:solidFill>
                          <a:latin typeface="Times New Roman"/>
                        </a:rPr>
                        <a:t> </a:t>
                      </a:r>
                      <a:r>
                        <a:rPr sz="1100" b="0" i="1">
                          <a:solidFill>
                            <a:srgbClr val="000000"/>
                          </a:solidFill>
                          <a:latin typeface="Calibri"/>
                        </a:rPr>
                        <a:t>Kubota Corporation</a:t>
                      </a:r>
                      <a:endParaRPr sz="1100"/>
                    </a:p>
                  </a:txBody>
                  <a:tcPr marL="1028700" marR="9525" marT="9525" marB="0" anchor="ctr"/>
                </a:tc>
              </a:tr>
              <a:tr h="175260">
                <a:tc>
                  <a:txBody>
                    <a:bodyPr wrap="square"/>
                    <a:lstStyle/>
                    <a:p>
                      <a:pPr algn="l"/>
                      <a:r>
                        <a:rPr sz="1100" b="0" i="1">
                          <a:solidFill>
                            <a:srgbClr val="000000"/>
                          </a:solidFill>
                          <a:latin typeface="Calibri"/>
                        </a:rPr>
                        <a:t>24.3.3.5.</a:t>
                      </a:r>
                      <a:r>
                        <a:rPr sz="700" b="0" i="1">
                          <a:solidFill>
                            <a:srgbClr val="000000"/>
                          </a:solidFill>
                          <a:latin typeface="Times New Roman"/>
                        </a:rPr>
                        <a:t> </a:t>
                      </a:r>
                      <a:r>
                        <a:rPr sz="1100" b="0" i="1">
                          <a:solidFill>
                            <a:srgbClr val="000000"/>
                          </a:solidFill>
                          <a:latin typeface="Calibri"/>
                        </a:rPr>
                        <a:t>CLAAS</a:t>
                      </a:r>
                      <a:endParaRPr sz="1100"/>
                    </a:p>
                  </a:txBody>
                  <a:tcPr marL="1028700" marR="9525" marT="9525" marB="0" anchor="ctr"/>
                </a:tc>
              </a:tr>
              <a:tr h="175260">
                <a:tc>
                  <a:txBody>
                    <a:bodyPr wrap="square"/>
                    <a:lstStyle/>
                    <a:p>
                      <a:pPr algn="l"/>
                      <a:r>
                        <a:rPr sz="1100" b="0" i="1">
                          <a:solidFill>
                            <a:srgbClr val="000000"/>
                          </a:solidFill>
                          <a:latin typeface="Calibri"/>
                        </a:rPr>
                        <a:t>24.3.3.6.</a:t>
                      </a:r>
                      <a:r>
                        <a:rPr sz="700" b="0" i="1">
                          <a:solidFill>
                            <a:srgbClr val="000000"/>
                          </a:solidFill>
                          <a:latin typeface="Times New Roman"/>
                        </a:rPr>
                        <a:t> </a:t>
                      </a:r>
                      <a:r>
                        <a:rPr sz="1100" b="0" i="1">
                          <a:solidFill>
                            <a:srgbClr val="000000"/>
                          </a:solidFill>
                          <a:latin typeface="Calibri"/>
                        </a:rPr>
                        <a:t>Mahindra &amp; Mahindra</a:t>
                      </a:r>
                      <a:endParaRPr sz="1100"/>
                    </a:p>
                  </a:txBody>
                  <a:tcPr marL="1028700" marR="9525" marT="9525" marB="0" anchor="ctr"/>
                </a:tc>
              </a:tr>
              <a:tr h="175260">
                <a:tc>
                  <a:txBody>
                    <a:bodyPr wrap="square"/>
                    <a:lstStyle/>
                    <a:p>
                      <a:pPr algn="l"/>
                      <a:r>
                        <a:rPr sz="1100" b="0" i="1">
                          <a:solidFill>
                            <a:srgbClr val="000000"/>
                          </a:solidFill>
                          <a:latin typeface="Calibri"/>
                        </a:rPr>
                        <a:t>24.3.3.7.</a:t>
                      </a:r>
                      <a:r>
                        <a:rPr sz="700" b="0" i="1">
                          <a:solidFill>
                            <a:srgbClr val="000000"/>
                          </a:solidFill>
                          <a:latin typeface="Times New Roman"/>
                        </a:rPr>
                        <a:t> </a:t>
                      </a:r>
                      <a:r>
                        <a:rPr sz="1100" b="0" i="1">
                          <a:solidFill>
                            <a:srgbClr val="000000"/>
                          </a:solidFill>
                          <a:latin typeface="Calibri"/>
                        </a:rPr>
                        <a:t>Escorts Kubota</a:t>
                      </a:r>
                      <a:endParaRPr sz="1100"/>
                    </a:p>
                  </a:txBody>
                  <a:tcPr marL="1028700" marR="9525" marT="9525" marB="0" anchor="ctr"/>
                </a:tc>
              </a:tr>
              <a:tr h="175260">
                <a:tc>
                  <a:txBody>
                    <a:bodyPr wrap="square"/>
                    <a:lstStyle/>
                    <a:p>
                      <a:pPr algn="l"/>
                      <a:r>
                        <a:rPr sz="1100" b="0" i="1">
                          <a:solidFill>
                            <a:srgbClr val="000000"/>
                          </a:solidFill>
                          <a:latin typeface="Calibri"/>
                        </a:rPr>
                        <a:t>24.3.3.8.</a:t>
                      </a:r>
                      <a:r>
                        <a:rPr sz="700" b="0" i="1">
                          <a:solidFill>
                            <a:srgbClr val="000000"/>
                          </a:solidFill>
                          <a:latin typeface="Times New Roman"/>
                        </a:rPr>
                        <a:t> </a:t>
                      </a:r>
                      <a:r>
                        <a:rPr sz="1100" b="0" i="1">
                          <a:solidFill>
                            <a:srgbClr val="000000"/>
                          </a:solidFill>
                          <a:latin typeface="Calibri"/>
                        </a:rPr>
                        <a:t>Yanmar</a:t>
                      </a:r>
                      <a:endParaRPr sz="1100"/>
                    </a:p>
                  </a:txBody>
                  <a:tcPr marL="1028700" marR="9525" marT="9525" marB="0" anchor="ctr"/>
                </a:tc>
              </a:tr>
              <a:tr h="175260">
                <a:tc>
                  <a:txBody>
                    <a:bodyPr wrap="square"/>
                    <a:lstStyle/>
                    <a:p>
                      <a:pPr algn="l"/>
                      <a:r>
                        <a:rPr sz="1100" b="0" i="1">
                          <a:solidFill>
                            <a:srgbClr val="000000"/>
                          </a:solidFill>
                          <a:latin typeface="Calibri"/>
                        </a:rPr>
                        <a:t>24.3.3.9.</a:t>
                      </a:r>
                      <a:r>
                        <a:rPr sz="700" b="0" i="1">
                          <a:solidFill>
                            <a:srgbClr val="000000"/>
                          </a:solidFill>
                          <a:latin typeface="Times New Roman"/>
                        </a:rPr>
                        <a:t> </a:t>
                      </a:r>
                      <a:r>
                        <a:rPr sz="1100" b="0" i="1">
                          <a:solidFill>
                            <a:srgbClr val="000000"/>
                          </a:solidFill>
                          <a:latin typeface="Calibri"/>
                        </a:rPr>
                        <a:t>SDF Group</a:t>
                      </a:r>
                      <a:endParaRPr sz="1100"/>
                    </a:p>
                  </a:txBody>
                  <a:tcPr marL="1028700" marR="9525" marT="9525" marB="0" anchor="ctr"/>
                </a:tc>
              </a:tr>
              <a:tr h="175260">
                <a:tc>
                  <a:txBody>
                    <a:bodyPr wrap="square"/>
                    <a:lstStyle/>
                    <a:p>
                      <a:pPr algn="l"/>
                      <a:r>
                        <a:rPr sz="1100" b="0" i="0">
                          <a:solidFill>
                            <a:srgbClr val="000000"/>
                          </a:solidFill>
                          <a:latin typeface="Calibri"/>
                        </a:rPr>
                        <a:t>24.3.4.</a:t>
                      </a:r>
                      <a:r>
                        <a:rPr sz="700" b="0" i="0">
                          <a:solidFill>
                            <a:srgbClr val="000000"/>
                          </a:solidFill>
                          <a:latin typeface="Times New Roman"/>
                        </a:rPr>
                        <a:t> </a:t>
                      </a:r>
                      <a:r>
                        <a:rPr sz="1100" b="0" i="0">
                          <a:solidFill>
                            <a:srgbClr val="000000"/>
                          </a:solidFill>
                          <a:latin typeface="Calibri"/>
                        </a:rPr>
                        <a:t>Industrial Vehicle Manufacturers</a:t>
                      </a:r>
                      <a:endParaRPr sz="1100"/>
                    </a:p>
                  </a:txBody>
                  <a:tcPr marL="771525" marR="9525" marT="9525" marB="0" anchor="ctr"/>
                </a:tc>
              </a:tr>
              <a:tr h="175260">
                <a:tc>
                  <a:txBody>
                    <a:bodyPr wrap="square"/>
                    <a:lstStyle/>
                    <a:p>
                      <a:pPr algn="l"/>
                      <a:r>
                        <a:rPr sz="1100" b="0" i="1">
                          <a:solidFill>
                            <a:srgbClr val="000000"/>
                          </a:solidFill>
                          <a:latin typeface="Calibri"/>
                        </a:rPr>
                        <a:t>24.3.4.1.</a:t>
                      </a:r>
                      <a:r>
                        <a:rPr sz="700" b="0" i="1">
                          <a:solidFill>
                            <a:srgbClr val="000000"/>
                          </a:solidFill>
                          <a:latin typeface="Times New Roman"/>
                        </a:rPr>
                        <a:t> </a:t>
                      </a:r>
                      <a:r>
                        <a:rPr sz="1100" b="0" i="1">
                          <a:solidFill>
                            <a:srgbClr val="000000"/>
                          </a:solidFill>
                          <a:latin typeface="Calibri"/>
                        </a:rPr>
                        <a:t>Toyota Industries Corporation</a:t>
                      </a:r>
                      <a:endParaRPr sz="1100"/>
                    </a:p>
                  </a:txBody>
                  <a:tcPr marL="1028700" marR="9525" marT="9525" marB="0" anchor="ctr"/>
                </a:tc>
              </a:tr>
              <a:tr h="175260">
                <a:tc>
                  <a:txBody>
                    <a:bodyPr wrap="square"/>
                    <a:lstStyle/>
                    <a:p>
                      <a:pPr algn="l"/>
                      <a:r>
                        <a:rPr sz="1100" b="0" i="1">
                          <a:solidFill>
                            <a:srgbClr val="000000"/>
                          </a:solidFill>
                          <a:latin typeface="Calibri"/>
                        </a:rPr>
                        <a:t>24.3.4.2.</a:t>
                      </a:r>
                      <a:r>
                        <a:rPr sz="700" b="0" i="1">
                          <a:solidFill>
                            <a:srgbClr val="000000"/>
                          </a:solidFill>
                          <a:latin typeface="Times New Roman"/>
                        </a:rPr>
                        <a:t> </a:t>
                      </a:r>
                      <a:r>
                        <a:rPr sz="1100" b="0" i="1">
                          <a:solidFill>
                            <a:srgbClr val="000000"/>
                          </a:solidFill>
                          <a:latin typeface="Calibri"/>
                        </a:rPr>
                        <a:t>KION Group</a:t>
                      </a:r>
                      <a:endParaRPr sz="1100"/>
                    </a:p>
                  </a:txBody>
                  <a:tcPr marL="1028700" marR="9525" marT="9525" marB="0" anchor="ctr"/>
                </a:tc>
              </a:tr>
              <a:tr h="175260">
                <a:tc>
                  <a:txBody>
                    <a:bodyPr wrap="square"/>
                    <a:lstStyle/>
                    <a:p>
                      <a:pPr algn="l"/>
                      <a:r>
                        <a:rPr sz="1100" b="0" i="1">
                          <a:solidFill>
                            <a:srgbClr val="000000"/>
                          </a:solidFill>
                          <a:latin typeface="Calibri"/>
                        </a:rPr>
                        <a:t>24.3.4.3.</a:t>
                      </a:r>
                      <a:r>
                        <a:rPr sz="700" b="0" i="1">
                          <a:solidFill>
                            <a:srgbClr val="000000"/>
                          </a:solidFill>
                          <a:latin typeface="Times New Roman"/>
                        </a:rPr>
                        <a:t> </a:t>
                      </a:r>
                      <a:r>
                        <a:rPr sz="1100" b="0" i="1">
                          <a:solidFill>
                            <a:srgbClr val="000000"/>
                          </a:solidFill>
                          <a:latin typeface="Calibri"/>
                        </a:rPr>
                        <a:t>Jungheinrich</a:t>
                      </a:r>
                      <a:endParaRPr sz="1100"/>
                    </a:p>
                  </a:txBody>
                  <a:tcPr marL="1028700" marR="9525" marT="9525" marB="0" anchor="ctr"/>
                </a:tc>
              </a:tr>
              <a:tr h="175260">
                <a:tc>
                  <a:txBody>
                    <a:bodyPr wrap="square"/>
                    <a:lstStyle/>
                    <a:p>
                      <a:pPr algn="l"/>
                      <a:r>
                        <a:rPr sz="1100" b="0" i="1">
                          <a:solidFill>
                            <a:srgbClr val="000000"/>
                          </a:solidFill>
                          <a:latin typeface="Calibri"/>
                        </a:rPr>
                        <a:t>24.3.4.4.</a:t>
                      </a:r>
                      <a:r>
                        <a:rPr sz="700" b="0" i="1">
                          <a:solidFill>
                            <a:srgbClr val="000000"/>
                          </a:solidFill>
                          <a:latin typeface="Times New Roman"/>
                        </a:rPr>
                        <a:t> </a:t>
                      </a:r>
                      <a:r>
                        <a:rPr sz="1100" b="0" i="1">
                          <a:solidFill>
                            <a:srgbClr val="000000"/>
                          </a:solidFill>
                          <a:latin typeface="Calibri"/>
                        </a:rPr>
                        <a:t>Mitsubishi Logisnext</a:t>
                      </a:r>
                      <a:endParaRPr sz="1100"/>
                    </a:p>
                  </a:txBody>
                  <a:tcPr marL="1028700" marR="9525" marT="9525" marB="0" anchor="ctr"/>
                </a:tc>
              </a:tr>
              <a:tr h="175260">
                <a:tc>
                  <a:txBody>
                    <a:bodyPr wrap="square"/>
                    <a:lstStyle/>
                    <a:p>
                      <a:pPr algn="l"/>
                      <a:r>
                        <a:rPr sz="1100" b="0" i="1">
                          <a:solidFill>
                            <a:srgbClr val="000000"/>
                          </a:solidFill>
                          <a:latin typeface="Calibri"/>
                        </a:rPr>
                        <a:t>24.3.4.5.</a:t>
                      </a:r>
                      <a:r>
                        <a:rPr sz="700" b="0" i="1">
                          <a:solidFill>
                            <a:srgbClr val="000000"/>
                          </a:solidFill>
                          <a:latin typeface="Times New Roman"/>
                        </a:rPr>
                        <a:t> </a:t>
                      </a:r>
                      <a:r>
                        <a:rPr sz="1100" b="0" i="1">
                          <a:solidFill>
                            <a:srgbClr val="000000"/>
                          </a:solidFill>
                          <a:latin typeface="Calibri"/>
                        </a:rPr>
                        <a:t>Hyster-Yale Materials Handling</a:t>
                      </a:r>
                      <a:endParaRPr sz="1100"/>
                    </a:p>
                  </a:txBody>
                  <a:tcPr marL="1028700" marR="9525" marT="9525" marB="0" anchor="ctr"/>
                </a:tc>
              </a:tr>
              <a:tr h="175260">
                <a:tc>
                  <a:txBody>
                    <a:bodyPr wrap="square"/>
                    <a:lstStyle/>
                    <a:p>
                      <a:pPr algn="l"/>
                      <a:r>
                        <a:rPr sz="1100" b="0" i="1">
                          <a:solidFill>
                            <a:srgbClr val="000000"/>
                          </a:solidFill>
                          <a:latin typeface="Calibri"/>
                        </a:rPr>
                        <a:t>24.3.4.6.</a:t>
                      </a:r>
                      <a:r>
                        <a:rPr sz="700" b="0" i="1">
                          <a:solidFill>
                            <a:srgbClr val="000000"/>
                          </a:solidFill>
                          <a:latin typeface="Times New Roman"/>
                        </a:rPr>
                        <a:t> </a:t>
                      </a:r>
                      <a:r>
                        <a:rPr sz="1100" b="0" i="1">
                          <a:solidFill>
                            <a:srgbClr val="000000"/>
                          </a:solidFill>
                          <a:latin typeface="Calibri"/>
                        </a:rPr>
                        <a:t>Crown Equipment Corporation</a:t>
                      </a:r>
                      <a:endParaRPr sz="1100"/>
                    </a:p>
                  </a:txBody>
                  <a:tcPr marL="1028700" marR="9525" marT="9525" marB="0" anchor="ctr"/>
                </a:tc>
              </a:tr>
              <a:tr h="175260">
                <a:tc>
                  <a:txBody>
                    <a:bodyPr wrap="square"/>
                    <a:lstStyle/>
                    <a:p>
                      <a:pPr algn="l"/>
                      <a:r>
                        <a:rPr sz="1100" b="0" i="1">
                          <a:solidFill>
                            <a:srgbClr val="000000"/>
                          </a:solidFill>
                          <a:latin typeface="Calibri"/>
                        </a:rPr>
                        <a:t>24.3.4.7.</a:t>
                      </a:r>
                      <a:r>
                        <a:rPr sz="700" b="0" i="1">
                          <a:solidFill>
                            <a:srgbClr val="000000"/>
                          </a:solidFill>
                          <a:latin typeface="Times New Roman"/>
                        </a:rPr>
                        <a:t> </a:t>
                      </a:r>
                      <a:r>
                        <a:rPr sz="1100" b="0" i="1">
                          <a:solidFill>
                            <a:srgbClr val="000000"/>
                          </a:solidFill>
                          <a:latin typeface="Calibri"/>
                        </a:rPr>
                        <a:t>Manitou Group</a:t>
                      </a:r>
                      <a:endParaRPr sz="1100"/>
                    </a:p>
                  </a:txBody>
                  <a:tcPr marL="1028700" marR="9525" marT="9525" marB="0" anchor="ctr"/>
                </a:tc>
              </a:tr>
              <a:tr h="175260">
                <a:tc>
                  <a:txBody>
                    <a:bodyPr wrap="square"/>
                    <a:lstStyle/>
                    <a:p>
                      <a:pPr algn="l"/>
                      <a:r>
                        <a:rPr sz="1100" b="0" i="1">
                          <a:solidFill>
                            <a:srgbClr val="000000"/>
                          </a:solidFill>
                          <a:latin typeface="Calibri"/>
                        </a:rPr>
                        <a:t>24.3.4.8.</a:t>
                      </a:r>
                      <a:r>
                        <a:rPr sz="700" b="0" i="1">
                          <a:solidFill>
                            <a:srgbClr val="000000"/>
                          </a:solidFill>
                          <a:latin typeface="Times New Roman"/>
                        </a:rPr>
                        <a:t> </a:t>
                      </a:r>
                      <a:r>
                        <a:rPr sz="1100" b="0" i="1">
                          <a:solidFill>
                            <a:srgbClr val="000000"/>
                          </a:solidFill>
                          <a:latin typeface="Calibri"/>
                        </a:rPr>
                        <a:t>Hangcha Group</a:t>
                      </a:r>
                      <a:endParaRPr sz="1100"/>
                    </a:p>
                  </a:txBody>
                  <a:tcPr marL="1028700" marR="9525" marT="9525" marB="0" anchor="ctr"/>
                </a:tc>
              </a:tr>
              <a:tr h="175260">
                <a:tc>
                  <a:txBody>
                    <a:bodyPr wrap="square"/>
                    <a:lstStyle/>
                    <a:p>
                      <a:pPr algn="l"/>
                      <a:r>
                        <a:rPr sz="1100" b="0" i="1">
                          <a:solidFill>
                            <a:srgbClr val="000000"/>
                          </a:solidFill>
                          <a:latin typeface="Calibri"/>
                        </a:rPr>
                        <a:t>24.3.4.9.</a:t>
                      </a:r>
                      <a:r>
                        <a:rPr sz="700" b="0" i="1">
                          <a:solidFill>
                            <a:srgbClr val="000000"/>
                          </a:solidFill>
                          <a:latin typeface="Times New Roman"/>
                        </a:rPr>
                        <a:t> </a:t>
                      </a:r>
                      <a:r>
                        <a:rPr sz="1100" b="0" i="1">
                          <a:solidFill>
                            <a:srgbClr val="000000"/>
                          </a:solidFill>
                          <a:latin typeface="Calibri"/>
                        </a:rPr>
                        <a:t>Anhui Heli</a:t>
                      </a:r>
                      <a:endParaRPr sz="1100"/>
                    </a:p>
                  </a:txBody>
                  <a:tcPr marL="1028700" marR="9525" marT="9525" marB="0" anchor="ctr"/>
                </a:tc>
              </a:tr>
              <a:tr h="175260">
                <a:tc>
                  <a:txBody>
                    <a:bodyPr wrap="square"/>
                    <a:lstStyle/>
                    <a:p>
                      <a:pPr algn="l"/>
                      <a:r>
                        <a:rPr sz="1100" b="0" i="0">
                          <a:solidFill>
                            <a:srgbClr val="000000"/>
                          </a:solidFill>
                          <a:latin typeface="Calibri"/>
                        </a:rPr>
                        <a:t>24.3.5.</a:t>
                      </a:r>
                      <a:r>
                        <a:rPr sz="700" b="0" i="0">
                          <a:solidFill>
                            <a:srgbClr val="000000"/>
                          </a:solidFill>
                          <a:latin typeface="Times New Roman"/>
                        </a:rPr>
                        <a:t> </a:t>
                      </a:r>
                      <a:r>
                        <a:rPr sz="1100" b="0" i="0">
                          <a:solidFill>
                            <a:srgbClr val="000000"/>
                          </a:solidFill>
                          <a:latin typeface="Calibri"/>
                        </a:rPr>
                        <a:t>Port and Terminal Vehicle Specialists</a:t>
                      </a:r>
                      <a:endParaRPr sz="1100"/>
                    </a:p>
                  </a:txBody>
                  <a:tcPr marL="771525" marR="9525" marT="9525" marB="0" anchor="ctr"/>
                </a:tc>
              </a:tr>
              <a:tr h="175260">
                <a:tc>
                  <a:txBody>
                    <a:bodyPr wrap="square"/>
                    <a:lstStyle/>
                    <a:p>
                      <a:pPr algn="l"/>
                      <a:r>
                        <a:rPr sz="1100" b="0" i="1">
                          <a:solidFill>
                            <a:srgbClr val="000000"/>
                          </a:solidFill>
                          <a:latin typeface="Calibri"/>
                        </a:rPr>
                        <a:t>24.3.5.1.</a:t>
                      </a:r>
                      <a:r>
                        <a:rPr sz="700" b="0" i="1">
                          <a:solidFill>
                            <a:srgbClr val="000000"/>
                          </a:solidFill>
                          <a:latin typeface="Times New Roman"/>
                        </a:rPr>
                        <a:t> </a:t>
                      </a:r>
                      <a:r>
                        <a:rPr sz="1100" b="0" i="1">
                          <a:solidFill>
                            <a:srgbClr val="000000"/>
                          </a:solidFill>
                          <a:latin typeface="Calibri"/>
                        </a:rPr>
                        <a:t>Kalmar</a:t>
                      </a:r>
                      <a:endParaRPr sz="1100"/>
                    </a:p>
                  </a:txBody>
                  <a:tcPr marL="1028700" marR="9525" marT="9525" marB="0" anchor="ctr"/>
                </a:tc>
              </a:tr>
              <a:tr h="175260">
                <a:tc>
                  <a:txBody>
                    <a:bodyPr wrap="square"/>
                    <a:lstStyle/>
                    <a:p>
                      <a:pPr algn="l"/>
                      <a:r>
                        <a:rPr sz="1100" b="0" i="1">
                          <a:solidFill>
                            <a:srgbClr val="000000"/>
                          </a:solidFill>
                          <a:latin typeface="Calibri"/>
                        </a:rPr>
                        <a:t>24.3.5.2.</a:t>
                      </a:r>
                      <a:r>
                        <a:rPr sz="700" b="0" i="1">
                          <a:solidFill>
                            <a:srgbClr val="000000"/>
                          </a:solidFill>
                          <a:latin typeface="Times New Roman"/>
                        </a:rPr>
                        <a:t> </a:t>
                      </a:r>
                      <a:r>
                        <a:rPr sz="1100" b="0" i="1">
                          <a:solidFill>
                            <a:srgbClr val="000000"/>
                          </a:solidFill>
                          <a:latin typeface="Calibri"/>
                        </a:rPr>
                        <a:t>Konecranes</a:t>
                      </a:r>
                      <a:endParaRPr sz="1100"/>
                    </a:p>
                  </a:txBody>
                  <a:tcPr marL="1028700"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280416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24.3.5.3.</a:t>
                      </a:r>
                      <a:r>
                        <a:rPr sz="700" b="0" i="1">
                          <a:solidFill>
                            <a:srgbClr val="000000"/>
                          </a:solidFill>
                          <a:latin typeface="Times New Roman"/>
                        </a:rPr>
                        <a:t> </a:t>
                      </a:r>
                      <a:r>
                        <a:rPr sz="1100" b="0" i="1">
                          <a:solidFill>
                            <a:srgbClr val="000000"/>
                          </a:solidFill>
                          <a:latin typeface="Calibri"/>
                        </a:rPr>
                        <a:t>Terberg</a:t>
                      </a:r>
                      <a:endParaRPr sz="1100"/>
                    </a:p>
                  </a:txBody>
                  <a:tcPr marL="1028700" marR="9525" marT="9525" marB="0" anchor="ctr"/>
                </a:tc>
              </a:tr>
              <a:tr h="175260">
                <a:tc>
                  <a:txBody>
                    <a:bodyPr wrap="square"/>
                    <a:lstStyle/>
                    <a:p>
                      <a:pPr algn="l"/>
                      <a:r>
                        <a:rPr sz="1100" b="0" i="1">
                          <a:solidFill>
                            <a:srgbClr val="000000"/>
                          </a:solidFill>
                          <a:latin typeface="Calibri"/>
                        </a:rPr>
                        <a:t>24.3.5.4.</a:t>
                      </a:r>
                      <a:r>
                        <a:rPr sz="700" b="0" i="1">
                          <a:solidFill>
                            <a:srgbClr val="000000"/>
                          </a:solidFill>
                          <a:latin typeface="Times New Roman"/>
                        </a:rPr>
                        <a:t> </a:t>
                      </a:r>
                      <a:r>
                        <a:rPr sz="1100" b="0" i="1">
                          <a:solidFill>
                            <a:srgbClr val="000000"/>
                          </a:solidFill>
                          <a:latin typeface="Calibri"/>
                        </a:rPr>
                        <a:t>SANY</a:t>
                      </a:r>
                      <a:endParaRPr sz="1100"/>
                    </a:p>
                  </a:txBody>
                  <a:tcPr marL="1028700" marR="9525" marT="9525" marB="0" anchor="ctr"/>
                </a:tc>
              </a:tr>
              <a:tr h="175260">
                <a:tc>
                  <a:txBody>
                    <a:bodyPr wrap="square"/>
                    <a:lstStyle/>
                    <a:p>
                      <a:pPr algn="l"/>
                      <a:r>
                        <a:rPr sz="1100" b="0" i="1">
                          <a:solidFill>
                            <a:srgbClr val="000000"/>
                          </a:solidFill>
                          <a:latin typeface="Calibri"/>
                        </a:rPr>
                        <a:t>24.3.5.5.</a:t>
                      </a:r>
                      <a:r>
                        <a:rPr sz="700" b="0" i="1">
                          <a:solidFill>
                            <a:srgbClr val="000000"/>
                          </a:solidFill>
                          <a:latin typeface="Times New Roman"/>
                        </a:rPr>
                        <a:t> </a:t>
                      </a:r>
                      <a:r>
                        <a:rPr sz="1100" b="0" i="1">
                          <a:solidFill>
                            <a:srgbClr val="000000"/>
                          </a:solidFill>
                          <a:latin typeface="Calibri"/>
                        </a:rPr>
                        <a:t>Hyster-Yale Materials Handling</a:t>
                      </a:r>
                      <a:endParaRPr sz="1100"/>
                    </a:p>
                  </a:txBody>
                  <a:tcPr marL="1028700" marR="9525" marT="9525" marB="0" anchor="ctr"/>
                </a:tc>
              </a:tr>
              <a:tr h="175260">
                <a:tc>
                  <a:txBody>
                    <a:bodyPr wrap="square"/>
                    <a:lstStyle/>
                    <a:p>
                      <a:pPr algn="l"/>
                      <a:r>
                        <a:rPr sz="1100" b="0" i="1">
                          <a:solidFill>
                            <a:srgbClr val="000000"/>
                          </a:solidFill>
                          <a:latin typeface="Calibri"/>
                        </a:rPr>
                        <a:t>24.3.5.6.</a:t>
                      </a:r>
                      <a:r>
                        <a:rPr sz="700" b="0" i="1">
                          <a:solidFill>
                            <a:srgbClr val="000000"/>
                          </a:solidFill>
                          <a:latin typeface="Times New Roman"/>
                        </a:rPr>
                        <a:t> </a:t>
                      </a:r>
                      <a:r>
                        <a:rPr sz="1100" b="0" i="1">
                          <a:solidFill>
                            <a:srgbClr val="000000"/>
                          </a:solidFill>
                          <a:latin typeface="Calibri"/>
                        </a:rPr>
                        <a:t>Taylor Machine Works</a:t>
                      </a:r>
                      <a:endParaRPr sz="1100"/>
                    </a:p>
                  </a:txBody>
                  <a:tcPr marL="1028700" marR="9525" marT="9525" marB="0" anchor="ctr"/>
                </a:tc>
              </a:tr>
              <a:tr h="175260">
                <a:tc>
                  <a:txBody>
                    <a:bodyPr wrap="square"/>
                    <a:lstStyle/>
                    <a:p>
                      <a:pPr algn="l"/>
                      <a:r>
                        <a:rPr sz="1100" b="0" i="0">
                          <a:solidFill>
                            <a:srgbClr val="000000"/>
                          </a:solidFill>
                          <a:latin typeface="Calibri"/>
                        </a:rPr>
                        <a:t>24.3.6.</a:t>
                      </a:r>
                      <a:r>
                        <a:rPr sz="700" b="0" i="0">
                          <a:solidFill>
                            <a:srgbClr val="000000"/>
                          </a:solidFill>
                          <a:latin typeface="Times New Roman"/>
                        </a:rPr>
                        <a:t> </a:t>
                      </a:r>
                      <a:r>
                        <a:rPr sz="1100" b="0" i="0">
                          <a:solidFill>
                            <a:srgbClr val="000000"/>
                          </a:solidFill>
                          <a:latin typeface="Calibri"/>
                        </a:rPr>
                        <a:t>Military and Tactical Vehicle Manufacturers</a:t>
                      </a:r>
                      <a:endParaRPr sz="1100"/>
                    </a:p>
                  </a:txBody>
                  <a:tcPr marL="771525" marR="9525" marT="9525" marB="0" anchor="ctr"/>
                </a:tc>
              </a:tr>
              <a:tr h="175260">
                <a:tc>
                  <a:txBody>
                    <a:bodyPr wrap="square"/>
                    <a:lstStyle/>
                    <a:p>
                      <a:pPr algn="l"/>
                      <a:r>
                        <a:rPr sz="1100" b="0" i="1">
                          <a:solidFill>
                            <a:srgbClr val="000000"/>
                          </a:solidFill>
                          <a:latin typeface="Calibri"/>
                        </a:rPr>
                        <a:t>24.3.6.1.</a:t>
                      </a:r>
                      <a:r>
                        <a:rPr sz="700" b="0" i="1">
                          <a:solidFill>
                            <a:srgbClr val="000000"/>
                          </a:solidFill>
                          <a:latin typeface="Times New Roman"/>
                        </a:rPr>
                        <a:t> </a:t>
                      </a:r>
                      <a:r>
                        <a:rPr sz="1100" b="0" i="1">
                          <a:solidFill>
                            <a:srgbClr val="000000"/>
                          </a:solidFill>
                          <a:latin typeface="Calibri"/>
                        </a:rPr>
                        <a:t>General Dynamics Land Systems</a:t>
                      </a:r>
                      <a:endParaRPr sz="1100"/>
                    </a:p>
                  </a:txBody>
                  <a:tcPr marL="1028700" marR="9525" marT="9525" marB="0" anchor="ctr"/>
                </a:tc>
              </a:tr>
              <a:tr h="175260">
                <a:tc>
                  <a:txBody>
                    <a:bodyPr wrap="square"/>
                    <a:lstStyle/>
                    <a:p>
                      <a:pPr algn="l"/>
                      <a:r>
                        <a:rPr sz="1100" b="0" i="1">
                          <a:solidFill>
                            <a:srgbClr val="000000"/>
                          </a:solidFill>
                          <a:latin typeface="Calibri"/>
                        </a:rPr>
                        <a:t>24.3.6.2.</a:t>
                      </a:r>
                      <a:r>
                        <a:rPr sz="700" b="0" i="1">
                          <a:solidFill>
                            <a:srgbClr val="000000"/>
                          </a:solidFill>
                          <a:latin typeface="Times New Roman"/>
                        </a:rPr>
                        <a:t> </a:t>
                      </a:r>
                      <a:r>
                        <a:rPr sz="1100" b="0" i="1">
                          <a:solidFill>
                            <a:srgbClr val="000000"/>
                          </a:solidFill>
                          <a:latin typeface="Calibri"/>
                        </a:rPr>
                        <a:t>BAE Systems</a:t>
                      </a:r>
                      <a:endParaRPr sz="1100"/>
                    </a:p>
                  </a:txBody>
                  <a:tcPr marL="1028700" marR="9525" marT="9525" marB="0" anchor="ctr"/>
                </a:tc>
              </a:tr>
              <a:tr h="175260">
                <a:tc>
                  <a:txBody>
                    <a:bodyPr wrap="square"/>
                    <a:lstStyle/>
                    <a:p>
                      <a:pPr algn="l"/>
                      <a:r>
                        <a:rPr sz="1100" b="0" i="1">
                          <a:solidFill>
                            <a:srgbClr val="000000"/>
                          </a:solidFill>
                          <a:latin typeface="Calibri"/>
                        </a:rPr>
                        <a:t>24.3.6.3.</a:t>
                      </a:r>
                      <a:r>
                        <a:rPr sz="700" b="0" i="1">
                          <a:solidFill>
                            <a:srgbClr val="000000"/>
                          </a:solidFill>
                          <a:latin typeface="Times New Roman"/>
                        </a:rPr>
                        <a:t> </a:t>
                      </a:r>
                      <a:r>
                        <a:rPr sz="1100" b="0" i="1">
                          <a:solidFill>
                            <a:srgbClr val="000000"/>
                          </a:solidFill>
                          <a:latin typeface="Calibri"/>
                        </a:rPr>
                        <a:t>Rheinmetall</a:t>
                      </a:r>
                      <a:endParaRPr sz="1100"/>
                    </a:p>
                  </a:txBody>
                  <a:tcPr marL="1028700" marR="9525" marT="9525" marB="0" anchor="ctr"/>
                </a:tc>
              </a:tr>
              <a:tr h="175260">
                <a:tc>
                  <a:txBody>
                    <a:bodyPr wrap="square"/>
                    <a:lstStyle/>
                    <a:p>
                      <a:pPr algn="l"/>
                      <a:r>
                        <a:rPr sz="1100" b="0" i="1">
                          <a:solidFill>
                            <a:srgbClr val="000000"/>
                          </a:solidFill>
                          <a:latin typeface="Calibri"/>
                        </a:rPr>
                        <a:t>24.3.6.4.</a:t>
                      </a:r>
                      <a:r>
                        <a:rPr sz="700" b="0" i="1">
                          <a:solidFill>
                            <a:srgbClr val="000000"/>
                          </a:solidFill>
                          <a:latin typeface="Times New Roman"/>
                        </a:rPr>
                        <a:t> </a:t>
                      </a:r>
                      <a:r>
                        <a:rPr sz="1100" b="0" i="1">
                          <a:solidFill>
                            <a:srgbClr val="000000"/>
                          </a:solidFill>
                          <a:latin typeface="Calibri"/>
                        </a:rPr>
                        <a:t>KNDS</a:t>
                      </a:r>
                      <a:endParaRPr sz="1100"/>
                    </a:p>
                  </a:txBody>
                  <a:tcPr marL="1028700" marR="9525" marT="9525" marB="0" anchor="ctr"/>
                </a:tc>
              </a:tr>
              <a:tr h="175260">
                <a:tc>
                  <a:txBody>
                    <a:bodyPr wrap="square"/>
                    <a:lstStyle/>
                    <a:p>
                      <a:pPr algn="l"/>
                      <a:r>
                        <a:rPr sz="1100" b="0" i="1">
                          <a:solidFill>
                            <a:srgbClr val="000000"/>
                          </a:solidFill>
                          <a:latin typeface="Calibri"/>
                        </a:rPr>
                        <a:t>24.3.6.5.</a:t>
                      </a:r>
                      <a:r>
                        <a:rPr sz="700" b="0" i="1">
                          <a:solidFill>
                            <a:srgbClr val="000000"/>
                          </a:solidFill>
                          <a:latin typeface="Times New Roman"/>
                        </a:rPr>
                        <a:t> </a:t>
                      </a:r>
                      <a:r>
                        <a:rPr sz="1100" b="0" i="1">
                          <a:solidFill>
                            <a:srgbClr val="000000"/>
                          </a:solidFill>
                          <a:latin typeface="Calibri"/>
                        </a:rPr>
                        <a:t>Oshkosh Defense</a:t>
                      </a:r>
                      <a:endParaRPr sz="1100"/>
                    </a:p>
                  </a:txBody>
                  <a:tcPr marL="1028700" marR="9525" marT="9525" marB="0" anchor="ctr"/>
                </a:tc>
              </a:tr>
              <a:tr h="175260">
                <a:tc>
                  <a:txBody>
                    <a:bodyPr wrap="square"/>
                    <a:lstStyle/>
                    <a:p>
                      <a:pPr algn="l"/>
                      <a:r>
                        <a:rPr sz="1100" b="0" i="1">
                          <a:solidFill>
                            <a:srgbClr val="000000"/>
                          </a:solidFill>
                          <a:latin typeface="Calibri"/>
                        </a:rPr>
                        <a:t>24.3.6.6.</a:t>
                      </a:r>
                      <a:r>
                        <a:rPr sz="700" b="0" i="1">
                          <a:solidFill>
                            <a:srgbClr val="000000"/>
                          </a:solidFill>
                          <a:latin typeface="Times New Roman"/>
                        </a:rPr>
                        <a:t> </a:t>
                      </a:r>
                      <a:r>
                        <a:rPr sz="1100" b="0" i="1">
                          <a:solidFill>
                            <a:srgbClr val="000000"/>
                          </a:solidFill>
                          <a:latin typeface="Calibri"/>
                        </a:rPr>
                        <a:t>Patria</a:t>
                      </a:r>
                      <a:endParaRPr sz="1100"/>
                    </a:p>
                  </a:txBody>
                  <a:tcPr marL="1028700" marR="9525" marT="9525" marB="0" anchor="ctr"/>
                </a:tc>
              </a:tr>
              <a:tr h="175260">
                <a:tc>
                  <a:txBody>
                    <a:bodyPr wrap="square"/>
                    <a:lstStyle/>
                    <a:p>
                      <a:pPr algn="l"/>
                      <a:r>
                        <a:rPr sz="1100" b="0" i="1">
                          <a:solidFill>
                            <a:srgbClr val="000000"/>
                          </a:solidFill>
                          <a:latin typeface="Calibri"/>
                        </a:rPr>
                        <a:t>24.3.6.7.</a:t>
                      </a:r>
                      <a:r>
                        <a:rPr sz="700" b="0" i="1">
                          <a:solidFill>
                            <a:srgbClr val="000000"/>
                          </a:solidFill>
                          <a:latin typeface="Times New Roman"/>
                        </a:rPr>
                        <a:t> </a:t>
                      </a:r>
                      <a:r>
                        <a:rPr sz="1100" b="0" i="1">
                          <a:solidFill>
                            <a:srgbClr val="000000"/>
                          </a:solidFill>
                          <a:latin typeface="Calibri"/>
                        </a:rPr>
                        <a:t>Hyundai Rotem</a:t>
                      </a:r>
                      <a:endParaRPr sz="1100"/>
                    </a:p>
                  </a:txBody>
                  <a:tcPr marL="1028700" marR="9525" marT="9525" marB="0" anchor="ctr"/>
                </a:tc>
              </a:tr>
              <a:tr h="175260">
                <a:tc>
                  <a:txBody>
                    <a:bodyPr wrap="square"/>
                    <a:lstStyle/>
                    <a:p>
                      <a:pPr algn="l"/>
                      <a:r>
                        <a:rPr sz="1100" b="0" i="1">
                          <a:solidFill>
                            <a:srgbClr val="000000"/>
                          </a:solidFill>
                          <a:latin typeface="Calibri"/>
                        </a:rPr>
                        <a:t>24.3.6.8.</a:t>
                      </a:r>
                      <a:r>
                        <a:rPr sz="700" b="0" i="1">
                          <a:solidFill>
                            <a:srgbClr val="000000"/>
                          </a:solidFill>
                          <a:latin typeface="Times New Roman"/>
                        </a:rPr>
                        <a:t> </a:t>
                      </a:r>
                      <a:r>
                        <a:rPr sz="1100" b="0" i="1">
                          <a:solidFill>
                            <a:srgbClr val="000000"/>
                          </a:solidFill>
                          <a:latin typeface="Calibri"/>
                        </a:rPr>
                        <a:t>Hanwha Aerospace</a:t>
                      </a:r>
                      <a:endParaRPr sz="1100"/>
                    </a:p>
                  </a:txBody>
                  <a:tcPr marL="1028700" marR="9525" marT="9525" marB="0" anchor="ctr"/>
                </a:tc>
              </a:tr>
              <a:tr h="175260">
                <a:tc>
                  <a:txBody>
                    <a:bodyPr wrap="square"/>
                    <a:lstStyle/>
                    <a:p>
                      <a:pPr algn="l"/>
                      <a:r>
                        <a:rPr sz="1100" b="0" i="1">
                          <a:solidFill>
                            <a:srgbClr val="000000"/>
                          </a:solidFill>
                          <a:latin typeface="Calibri"/>
                        </a:rPr>
                        <a:t>24.3.6.9.</a:t>
                      </a:r>
                      <a:r>
                        <a:rPr sz="700" b="0" i="1">
                          <a:solidFill>
                            <a:srgbClr val="000000"/>
                          </a:solidFill>
                          <a:latin typeface="Times New Roman"/>
                        </a:rPr>
                        <a:t> </a:t>
                      </a:r>
                      <a:r>
                        <a:rPr sz="1100" b="0" i="1">
                          <a:solidFill>
                            <a:srgbClr val="000000"/>
                          </a:solidFill>
                          <a:latin typeface="Calibri"/>
                        </a:rPr>
                        <a:t>Mitsubishi Heavy Industries</a:t>
                      </a:r>
                      <a:endParaRPr sz="1100"/>
                    </a:p>
                  </a:txBody>
                  <a:tcPr marL="1028700"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292475"/>
            <a:ext cx="8572500" cy="514350"/>
          </a:xfrm>
          <a:prstGeom prst="rect">
            <a:avLst/>
          </a:prstGeom>
          <a:noFill/>
        </p:spPr>
        <p:txBody>
          <a:bodyPr wrap="square" lIns="0" rIns="0" tIns="0">
            <a:spAutoFit/>
          </a:bodyPr>
          <a:lstStyle/>
          <a:p>
            <a:r>
              <a:rPr sz="3000" b="1">
                <a:solidFill>
                  <a:srgbClr val="0E2A5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(1/6)</a:t>
            </a:r>
          </a:p>
        </p:txBody>
      </p:sp>
      <p:graphicFrame>
        <p:nvGraphicFramePr>
          <p:cNvPr id="6" name="TMR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Figure 1: Global Off-Highway Vehicle Market Value, 2021-2036</a:t>
                      </a:r>
                      <a:endParaRPr sz="1050"/>
                    </a:p>
                  </a:txBody>
                  <a:tcPr marL="9525" marR="9525" marT="9525" marB="0" anchor="ctr"/>
                </a:tc>
              </a:tr>
              <a:tr h="170266">
                <a:tc>
                  <a:txBody>
                    <a:bodyPr wrap="square"/>
                    <a:lstStyle/>
                    <a:p>
                      <a:pPr algn="l"/>
                      <a:r>
                        <a:rPr sz="1050" b="0" i="0">
                          <a:solidFill>
                            <a:srgbClr val="000000"/>
                          </a:solidFill>
                          <a:latin typeface="Calibri"/>
                        </a:rPr>
                        <a:t>Figure 2: Global Off-Highway Vehicle Market Incremental $ Opportunity, 2026-2036</a:t>
                      </a:r>
                      <a:endParaRPr sz="1050"/>
                    </a:p>
                  </a:txBody>
                  <a:tcPr marL="9525" marR="9525" marT="9525" marB="0" anchor="ctr"/>
                </a:tc>
              </a:tr>
              <a:tr h="170266">
                <a:tc>
                  <a:txBody>
                    <a:bodyPr wrap="square"/>
                    <a:lstStyle/>
                    <a:p>
                      <a:pPr algn="l"/>
                      <a:r>
                        <a:rPr sz="1050" b="0" i="0">
                          <a:solidFill>
                            <a:srgbClr val="000000"/>
                          </a:solidFill>
                          <a:latin typeface="Calibri"/>
                        </a:rPr>
                        <a:t>Figure 3: Global Off-Highway Vehicle Market Value, 2026-2036 By Vehicle Type</a:t>
                      </a:r>
                      <a:endParaRPr sz="1050"/>
                    </a:p>
                  </a:txBody>
                  <a:tcPr marL="9525" marR="9525" marT="9525" marB="0" anchor="ctr"/>
                </a:tc>
              </a:tr>
              <a:tr h="170266">
                <a:tc>
                  <a:txBody>
                    <a:bodyPr wrap="square"/>
                    <a:lstStyle/>
                    <a:p>
                      <a:pPr algn="l"/>
                      <a:r>
                        <a:rPr sz="1050" b="0" i="0">
                          <a:solidFill>
                            <a:srgbClr val="000000"/>
                          </a:solidFill>
                          <a:latin typeface="Calibri"/>
                        </a:rPr>
                        <a:t>Figure 4: Global Off-Highway Vehicle Market Value, 2026-2036 Y-o-Y Comparison By Vehicle Type</a:t>
                      </a:r>
                      <a:endParaRPr sz="1050"/>
                    </a:p>
                  </a:txBody>
                  <a:tcPr marL="9525" marR="9525" marT="9525" marB="0" anchor="ctr"/>
                </a:tc>
              </a:tr>
              <a:tr h="170266">
                <a:tc>
                  <a:txBody>
                    <a:bodyPr wrap="square"/>
                    <a:lstStyle/>
                    <a:p>
                      <a:pPr algn="l"/>
                      <a:r>
                        <a:rPr sz="1050" b="0" i="0">
                          <a:solidFill>
                            <a:srgbClr val="000000"/>
                          </a:solidFill>
                          <a:latin typeface="Calibri"/>
                        </a:rPr>
                        <a:t>Figure 5: Global Off-Highway Vehicle Market Value, 2026-2036 BPS Analysis By Vehicle Type</a:t>
                      </a:r>
                      <a:endParaRPr sz="1050"/>
                    </a:p>
                  </a:txBody>
                  <a:tcPr marL="9525" marR="9525" marT="9525" marB="0" anchor="ctr"/>
                </a:tc>
              </a:tr>
              <a:tr h="170266">
                <a:tc>
                  <a:txBody>
                    <a:bodyPr wrap="square"/>
                    <a:lstStyle/>
                    <a:p>
                      <a:pPr algn="l"/>
                      <a:r>
                        <a:rPr sz="1050" b="0" i="0">
                          <a:solidFill>
                            <a:srgbClr val="000000"/>
                          </a:solidFill>
                          <a:latin typeface="Calibri"/>
                        </a:rPr>
                        <a:t>Figure 6: Global Off-Highway Vehicle Market Attractiveness Analysis By Vehicle Type</a:t>
                      </a:r>
                      <a:endParaRPr sz="1050"/>
                    </a:p>
                  </a:txBody>
                  <a:tcPr marL="9525" marR="9525" marT="9525" marB="0" anchor="ctr"/>
                </a:tc>
              </a:tr>
              <a:tr h="170266">
                <a:tc>
                  <a:txBody>
                    <a:bodyPr wrap="square"/>
                    <a:lstStyle/>
                    <a:p>
                      <a:pPr algn="l"/>
                      <a:r>
                        <a:rPr sz="1050" b="0" i="0">
                          <a:solidFill>
                            <a:srgbClr val="000000"/>
                          </a:solidFill>
                          <a:latin typeface="Calibri"/>
                        </a:rPr>
                        <a:t>Figure 7: Global Off-Highway Vehicle Market Value, 2026-2036 By Powertrain</a:t>
                      </a:r>
                      <a:endParaRPr sz="1050"/>
                    </a:p>
                  </a:txBody>
                  <a:tcPr marL="9525" marR="9525" marT="9525" marB="0" anchor="ctr"/>
                </a:tc>
              </a:tr>
              <a:tr h="170266">
                <a:tc>
                  <a:txBody>
                    <a:bodyPr wrap="square"/>
                    <a:lstStyle/>
                    <a:p>
                      <a:pPr algn="l"/>
                      <a:r>
                        <a:rPr sz="1050" b="0" i="0">
                          <a:solidFill>
                            <a:srgbClr val="000000"/>
                          </a:solidFill>
                          <a:latin typeface="Calibri"/>
                        </a:rPr>
                        <a:t>Figure 8: Global Off-Highway Vehicle Market Value, 2026-2036 Y-o-Y Comparison By Powertrain</a:t>
                      </a:r>
                      <a:endParaRPr sz="1050"/>
                    </a:p>
                  </a:txBody>
                  <a:tcPr marL="9525" marR="9525" marT="9525" marB="0" anchor="ctr"/>
                </a:tc>
              </a:tr>
              <a:tr h="170266">
                <a:tc>
                  <a:txBody>
                    <a:bodyPr wrap="square"/>
                    <a:lstStyle/>
                    <a:p>
                      <a:pPr algn="l"/>
                      <a:r>
                        <a:rPr sz="1050" b="0" i="0">
                          <a:solidFill>
                            <a:srgbClr val="000000"/>
                          </a:solidFill>
                          <a:latin typeface="Calibri"/>
                        </a:rPr>
                        <a:t>Figure 9: Global Off-Highway Vehicle Market Value, 2026-2036 BPS Analysis By Powertrain</a:t>
                      </a:r>
                      <a:endParaRPr sz="1050"/>
                    </a:p>
                  </a:txBody>
                  <a:tcPr marL="9525" marR="9525" marT="9525" marB="0" anchor="ctr"/>
                </a:tc>
              </a:tr>
              <a:tr h="170266">
                <a:tc>
                  <a:txBody>
                    <a:bodyPr wrap="square"/>
                    <a:lstStyle/>
                    <a:p>
                      <a:pPr algn="l"/>
                      <a:r>
                        <a:rPr sz="1050" b="0" i="0">
                          <a:solidFill>
                            <a:srgbClr val="000000"/>
                          </a:solidFill>
                          <a:latin typeface="Calibri"/>
                        </a:rPr>
                        <a:t>Figure 10: Global Off-Highway Vehicle Market Attractiveness Analysis By Powertrain</a:t>
                      </a:r>
                      <a:endParaRPr sz="1050"/>
                    </a:p>
                  </a:txBody>
                  <a:tcPr marL="9525" marR="9525" marT="9525" marB="0" anchor="ctr"/>
                </a:tc>
              </a:tr>
              <a:tr h="170266">
                <a:tc>
                  <a:txBody>
                    <a:bodyPr wrap="square"/>
                    <a:lstStyle/>
                    <a:p>
                      <a:pPr algn="l"/>
                      <a:r>
                        <a:rPr sz="1050" b="0" i="0">
                          <a:solidFill>
                            <a:srgbClr val="000000"/>
                          </a:solidFill>
                          <a:latin typeface="Calibri"/>
                        </a:rPr>
                        <a:t>Figure 11: Global Off-Highway Vehicle Market Value, 2026-2036 By Vehicle Capacity</a:t>
                      </a:r>
                      <a:endParaRPr sz="1050"/>
                    </a:p>
                  </a:txBody>
                  <a:tcPr marL="9525" marR="9525" marT="9525" marB="0" anchor="ctr"/>
                </a:tc>
              </a:tr>
              <a:tr h="170266">
                <a:tc>
                  <a:txBody>
                    <a:bodyPr wrap="square"/>
                    <a:lstStyle/>
                    <a:p>
                      <a:pPr algn="l"/>
                      <a:r>
                        <a:rPr sz="1050" b="0" i="0">
                          <a:solidFill>
                            <a:srgbClr val="000000"/>
                          </a:solidFill>
                          <a:latin typeface="Calibri"/>
                        </a:rPr>
                        <a:t>Figure 12: Global Off-Highway Vehicle Market Value, 2026-2036 Y-o-Y Comparison By Vehicle Capacity</a:t>
                      </a:r>
                      <a:endParaRPr sz="1050"/>
                    </a:p>
                  </a:txBody>
                  <a:tcPr marL="9525" marR="9525" marT="9525" marB="0" anchor="ctr"/>
                </a:tc>
              </a:tr>
              <a:tr h="170266">
                <a:tc>
                  <a:txBody>
                    <a:bodyPr wrap="square"/>
                    <a:lstStyle/>
                    <a:p>
                      <a:pPr algn="l"/>
                      <a:r>
                        <a:rPr sz="1050" b="0" i="0">
                          <a:solidFill>
                            <a:srgbClr val="000000"/>
                          </a:solidFill>
                          <a:latin typeface="Calibri"/>
                        </a:rPr>
                        <a:t>Figure 13: Global Off-Highway Vehicle Market Value, 2026-2036 BPS Analysis By Vehicle Capacity</a:t>
                      </a:r>
                      <a:endParaRPr sz="1050"/>
                    </a:p>
                  </a:txBody>
                  <a:tcPr marL="9525" marR="9525" marT="9525" marB="0" anchor="ctr"/>
                </a:tc>
              </a:tr>
              <a:tr h="170266">
                <a:tc>
                  <a:txBody>
                    <a:bodyPr wrap="square"/>
                    <a:lstStyle/>
                    <a:p>
                      <a:pPr algn="l"/>
                      <a:r>
                        <a:rPr sz="1050" b="0" i="0">
                          <a:solidFill>
                            <a:srgbClr val="000000"/>
                          </a:solidFill>
                          <a:latin typeface="Calibri"/>
                        </a:rPr>
                        <a:t>Figure 14: Global Off-Highway Vehicle Market Attractiveness Analysis By Vehicle Capacity</a:t>
                      </a:r>
                      <a:endParaRPr sz="1050"/>
                    </a:p>
                  </a:txBody>
                  <a:tcPr marL="9525" marR="9525" marT="9525" marB="0" anchor="ctr"/>
                </a:tc>
              </a:tr>
              <a:tr h="170266">
                <a:tc>
                  <a:txBody>
                    <a:bodyPr wrap="square"/>
                    <a:lstStyle/>
                    <a:p>
                      <a:pPr algn="l"/>
                      <a:r>
                        <a:rPr sz="1050" b="0" i="0">
                          <a:solidFill>
                            <a:srgbClr val="000000"/>
                          </a:solidFill>
                          <a:latin typeface="Calibri"/>
                        </a:rPr>
                        <a:t>Figure 15: Global Off-Highway Vehicle Market Value, 2026-2036 By Propulsion Configuration</a:t>
                      </a:r>
                      <a:endParaRPr sz="1050"/>
                    </a:p>
                  </a:txBody>
                  <a:tcPr marL="9525" marR="9525" marT="9525" marB="0" anchor="ctr"/>
                </a:tc>
              </a:tr>
              <a:tr h="333720">
                <a:tc>
                  <a:txBody>
                    <a:bodyPr wrap="square"/>
                    <a:lstStyle/>
                    <a:p>
                      <a:pPr algn="l"/>
                      <a:r>
                        <a:rPr sz="1050" b="0" i="0">
                          <a:solidFill>
                            <a:srgbClr val="000000"/>
                          </a:solidFill>
                          <a:latin typeface="Calibri"/>
                        </a:rPr>
                        <a:t>Figure 16: Global Off-Highway Vehicle Market Value, 2026-2036 Y-o-Y Comparison By Propulsion Configuration</a:t>
                      </a:r>
                      <a:endParaRPr sz="1050"/>
                    </a:p>
                  </a:txBody>
                  <a:tcPr marL="9525" marR="9525" marT="9525" marB="0" anchor="ctr"/>
                </a:tc>
              </a:tr>
              <a:tr h="333720">
                <a:tc>
                  <a:txBody>
                    <a:bodyPr wrap="square"/>
                    <a:lstStyle/>
                    <a:p>
                      <a:pPr algn="l"/>
                      <a:r>
                        <a:rPr sz="1050" b="0" i="0">
                          <a:solidFill>
                            <a:srgbClr val="000000"/>
                          </a:solidFill>
                          <a:latin typeface="Calibri"/>
                        </a:rPr>
                        <a:t>Figure 17: Global Off-Highway Vehicle Market Value, 2026-2036 BPS Analysis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Figure 18: Global Off-Highway Vehicle Market Attractiveness Analysis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Figure 19: Global Off-Highway Vehicle Market Value, 2026-2036 By Region</a:t>
                      </a:r>
                      <a:endParaRPr sz="1050"/>
                    </a:p>
                  </a:txBody>
                  <a:tcPr marL="9525" marR="9525" marT="9525" marB="0" anchor="ctr"/>
                </a:tc>
              </a:tr>
              <a:tr h="170266">
                <a:tc>
                  <a:txBody>
                    <a:bodyPr wrap="square"/>
                    <a:lstStyle/>
                    <a:p>
                      <a:pPr algn="l"/>
                      <a:r>
                        <a:rPr sz="1050" b="0" i="0">
                          <a:solidFill>
                            <a:srgbClr val="000000"/>
                          </a:solidFill>
                          <a:latin typeface="Calibri"/>
                        </a:rPr>
                        <a:t>Figure 20: Global Off-Highway Vehicle Market Value, 2026-2036 Y-o-Y Comparison By Region</a:t>
                      </a:r>
                      <a:endParaRPr sz="1050"/>
                    </a:p>
                  </a:txBody>
                  <a:tcPr marL="9525" marR="9525" marT="9525" marB="0" anchor="ctr"/>
                </a:tc>
              </a:tr>
              <a:tr h="170266">
                <a:tc>
                  <a:txBody>
                    <a:bodyPr wrap="square"/>
                    <a:lstStyle/>
                    <a:p>
                      <a:pPr algn="l"/>
                      <a:r>
                        <a:rPr sz="1050" b="0" i="0">
                          <a:solidFill>
                            <a:srgbClr val="000000"/>
                          </a:solidFill>
                          <a:latin typeface="Calibri"/>
                        </a:rPr>
                        <a:t>Figure 21: Global Off-Highway Vehicle Market Value, 2026-2036 BPS Analysis By Region</a:t>
                      </a:r>
                      <a:endParaRPr sz="1050"/>
                    </a:p>
                  </a:txBody>
                  <a:tcPr marL="9525" marR="9525" marT="9525" marB="0" anchor="ctr"/>
                </a:tc>
              </a:tr>
              <a:tr h="170266">
                <a:tc>
                  <a:txBody>
                    <a:bodyPr wrap="square"/>
                    <a:lstStyle/>
                    <a:p>
                      <a:pPr algn="l"/>
                      <a:r>
                        <a:rPr sz="1050" b="0" i="0">
                          <a:solidFill>
                            <a:srgbClr val="000000"/>
                          </a:solidFill>
                          <a:latin typeface="Calibri"/>
                        </a:rPr>
                        <a:t>Figure 22: Global Off-Highway Vehicle Market Attractiveness Analysis By Region</a:t>
                      </a:r>
                      <a:endParaRPr sz="1050"/>
                    </a:p>
                  </a:txBody>
                  <a:tcPr marL="9525" marR="9525" marT="9525" marB="0" anchor="ctr"/>
                </a:tc>
              </a:tr>
              <a:tr h="170266">
                <a:tc>
                  <a:txBody>
                    <a:bodyPr wrap="square"/>
                    <a:lstStyle/>
                    <a:p>
                      <a:pPr algn="l"/>
                      <a:r>
                        <a:rPr sz="1050" b="0" i="0">
                          <a:solidFill>
                            <a:srgbClr val="000000"/>
                          </a:solidFill>
                          <a:latin typeface="Calibri"/>
                        </a:rPr>
                        <a:t>Figure 23: North America Off-Highway Vehicle Market Value, 2021-2036</a:t>
                      </a:r>
                      <a:endParaRPr sz="1050"/>
                    </a:p>
                  </a:txBody>
                  <a:tcPr marL="9525" marR="9525" marT="9525" marB="0" anchor="ctr"/>
                </a:tc>
              </a:tr>
              <a:tr h="170266">
                <a:tc>
                  <a:txBody>
                    <a:bodyPr wrap="square"/>
                    <a:lstStyle/>
                    <a:p>
                      <a:pPr algn="l"/>
                      <a:r>
                        <a:rPr sz="1050" b="0" i="0">
                          <a:solidFill>
                            <a:srgbClr val="000000"/>
                          </a:solidFill>
                          <a:latin typeface="Calibri"/>
                        </a:rPr>
                        <a:t>Figure 24: North America Off-Highway Vehicle Market Incremental $ Opportunity, 2026-2036</a:t>
                      </a:r>
                      <a:endParaRPr sz="1050"/>
                    </a:p>
                  </a:txBody>
                  <a:tcPr marL="9525" marR="9525" marT="9525" marB="0" anchor="ctr"/>
                </a:tc>
              </a:tr>
              <a:tr h="170266">
                <a:tc>
                  <a:txBody>
                    <a:bodyPr wrap="square"/>
                    <a:lstStyle/>
                    <a:p>
                      <a:pPr algn="l"/>
                      <a:r>
                        <a:rPr sz="1050" b="0" i="0">
                          <a:solidFill>
                            <a:srgbClr val="000000"/>
                          </a:solidFill>
                          <a:latin typeface="Calibri"/>
                        </a:rPr>
                        <a:t>Figure 25: North America Off-Highway Vehicle Market Value, 2026-2036 By Vehicle Type</a:t>
                      </a:r>
                      <a:endParaRPr sz="1050"/>
                    </a:p>
                  </a:txBody>
                  <a:tcPr marL="9525" marR="9525" marT="9525" marB="0" anchor="ctr"/>
                </a:tc>
              </a:tr>
              <a:tr h="333720">
                <a:tc>
                  <a:txBody>
                    <a:bodyPr wrap="square"/>
                    <a:lstStyle/>
                    <a:p>
                      <a:pPr algn="l"/>
                      <a:r>
                        <a:rPr sz="1050" b="0" i="0">
                          <a:solidFill>
                            <a:srgbClr val="000000"/>
                          </a:solidFill>
                          <a:latin typeface="Calibri"/>
                        </a:rPr>
                        <a:t>Figure 26: North America Off-Highway Vehicle Market Value, 2026-2036 Y-o-Y Comparison By Vehicle Type</a:t>
                      </a:r>
                      <a:endParaRPr sz="1050"/>
                    </a:p>
                  </a:txBody>
                  <a:tcPr marL="9525" marR="9525" marT="9525" marB="0" anchor="ctr"/>
                </a:tc>
              </a:tr>
              <a:tr h="170266">
                <a:tc>
                  <a:txBody>
                    <a:bodyPr wrap="square"/>
                    <a:lstStyle/>
                    <a:p>
                      <a:pPr algn="l"/>
                      <a:r>
                        <a:rPr sz="1050" b="0" i="0">
                          <a:solidFill>
                            <a:srgbClr val="000000"/>
                          </a:solidFill>
                          <a:latin typeface="Calibri"/>
                        </a:rPr>
                        <a:t>Figure 27: North America Off-Highway Vehicle Market Value, 2026-2036 BPS Analysis By Vehicle Type</a:t>
                      </a:r>
                      <a:endParaRPr sz="1050"/>
                    </a:p>
                  </a:txBody>
                  <a:tcPr marL="9525" marR="9525" marT="9525" marB="0" anchor="ctr"/>
                </a:tc>
              </a:tr>
              <a:tr h="170266">
                <a:tc>
                  <a:txBody>
                    <a:bodyPr wrap="square"/>
                    <a:lstStyle/>
                    <a:p>
                      <a:pPr algn="l"/>
                      <a:r>
                        <a:rPr sz="1050" b="0" i="0">
                          <a:solidFill>
                            <a:srgbClr val="000000"/>
                          </a:solidFill>
                          <a:latin typeface="Calibri"/>
                        </a:rPr>
                        <a:t>Figure 28: North America Off-Highway Vehicle Market Attractiveness Analysis By Vehicle Type</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02"/>
        </p:xfrm>
        <a:graphic>
          <a:graphicData uri="http://schemas.openxmlformats.org/drawingml/2006/table">
            <a:tbl>
              <a:tblPr>
                <a:tableStyleId>{3B4B98B0-60AC-42C2-AFA5-B58CD77FA1E5}</a:tableStyleId>
              </a:tblPr>
              <a:tblGrid>
                <a:gridCol w="5876925"/>
              </a:tblGrid>
              <a:tr h="170930">
                <a:tc>
                  <a:txBody>
                    <a:bodyPr wrap="square"/>
                    <a:lstStyle/>
                    <a:p>
                      <a:pPr algn="l"/>
                      <a:r>
                        <a:rPr sz="1050" b="0" i="0">
                          <a:solidFill>
                            <a:srgbClr val="000000"/>
                          </a:solidFill>
                          <a:latin typeface="Calibri"/>
                        </a:rPr>
                        <a:t>Figure 29: North America Off-Highway Vehicle Market Value, 2026-2036 By Powertrain</a:t>
                      </a:r>
                      <a:endParaRPr sz="1050"/>
                    </a:p>
                  </a:txBody>
                  <a:tcPr marL="9525" marR="9525" marT="9525" marB="0" anchor="ctr"/>
                </a:tc>
              </a:tr>
              <a:tr h="335022">
                <a:tc>
                  <a:txBody>
                    <a:bodyPr wrap="square"/>
                    <a:lstStyle/>
                    <a:p>
                      <a:pPr algn="l"/>
                      <a:r>
                        <a:rPr sz="1050" b="0" i="0">
                          <a:solidFill>
                            <a:srgbClr val="000000"/>
                          </a:solidFill>
                          <a:latin typeface="Calibri"/>
                        </a:rPr>
                        <a:t>Figure 30: North America Off-Highway Vehicle Market Value, 2026-2036 Y-o-Y Comparison By Powertrain</a:t>
                      </a:r>
                      <a:endParaRPr sz="1050"/>
                    </a:p>
                  </a:txBody>
                  <a:tcPr marL="9525" marR="9525" marT="9525" marB="0" anchor="ctr"/>
                </a:tc>
              </a:tr>
              <a:tr h="170930">
                <a:tc>
                  <a:txBody>
                    <a:bodyPr wrap="square"/>
                    <a:lstStyle/>
                    <a:p>
                      <a:pPr algn="l"/>
                      <a:r>
                        <a:rPr sz="1050" b="0" i="0">
                          <a:solidFill>
                            <a:srgbClr val="000000"/>
                          </a:solidFill>
                          <a:latin typeface="Calibri"/>
                        </a:rPr>
                        <a:t>Figure 31: North America Off-Highway Vehicle Market Value, 2026-2036 BPS Analysis By Powertrain</a:t>
                      </a:r>
                      <a:endParaRPr sz="1050"/>
                    </a:p>
                  </a:txBody>
                  <a:tcPr marL="9525" marR="9525" marT="9525" marB="0" anchor="ctr"/>
                </a:tc>
              </a:tr>
              <a:tr h="170930">
                <a:tc>
                  <a:txBody>
                    <a:bodyPr wrap="square"/>
                    <a:lstStyle/>
                    <a:p>
                      <a:pPr algn="l"/>
                      <a:r>
                        <a:rPr sz="1050" b="0" i="0">
                          <a:solidFill>
                            <a:srgbClr val="000000"/>
                          </a:solidFill>
                          <a:latin typeface="Calibri"/>
                        </a:rPr>
                        <a:t>Figure 32: North America Off-Highway Vehicle Market Attractiveness Analysis By Powertrain</a:t>
                      </a:r>
                      <a:endParaRPr sz="1050"/>
                    </a:p>
                  </a:txBody>
                  <a:tcPr marL="9525" marR="9525" marT="9525" marB="0" anchor="ctr"/>
                </a:tc>
              </a:tr>
              <a:tr h="170930">
                <a:tc>
                  <a:txBody>
                    <a:bodyPr wrap="square"/>
                    <a:lstStyle/>
                    <a:p>
                      <a:pPr algn="l"/>
                      <a:r>
                        <a:rPr sz="1050" b="0" i="0">
                          <a:solidFill>
                            <a:srgbClr val="000000"/>
                          </a:solidFill>
                          <a:latin typeface="Calibri"/>
                        </a:rPr>
                        <a:t>Figure 33: North America Off-Highway Vehicle Market Value, 2026-2036 By Vehicle Capacity</a:t>
                      </a:r>
                      <a:endParaRPr sz="1050"/>
                    </a:p>
                  </a:txBody>
                  <a:tcPr marL="9525" marR="9525" marT="9525" marB="0" anchor="ctr"/>
                </a:tc>
              </a:tr>
              <a:tr h="335022">
                <a:tc>
                  <a:txBody>
                    <a:bodyPr wrap="square"/>
                    <a:lstStyle/>
                    <a:p>
                      <a:pPr algn="l"/>
                      <a:r>
                        <a:rPr sz="1050" b="0" i="0">
                          <a:solidFill>
                            <a:srgbClr val="000000"/>
                          </a:solidFill>
                          <a:latin typeface="Calibri"/>
                        </a:rPr>
                        <a:t>Figure 34: North America Off-Highway Vehicle Market Value, 2026-2036 Y-o-Y Comparison By Vehicle Capacity</a:t>
                      </a:r>
                      <a:endParaRPr sz="1050"/>
                    </a:p>
                  </a:txBody>
                  <a:tcPr marL="9525" marR="9525" marT="9525" marB="0" anchor="ctr"/>
                </a:tc>
              </a:tr>
              <a:tr h="335022">
                <a:tc>
                  <a:txBody>
                    <a:bodyPr wrap="square"/>
                    <a:lstStyle/>
                    <a:p>
                      <a:pPr algn="l"/>
                      <a:r>
                        <a:rPr sz="1050" b="0" i="0">
                          <a:solidFill>
                            <a:srgbClr val="000000"/>
                          </a:solidFill>
                          <a:latin typeface="Calibri"/>
                        </a:rPr>
                        <a:t>Figure 35: North America Off-Highway Vehicle Market Value, 2026-2036 BPS Analysis By Vehicle Capacity</a:t>
                      </a:r>
                      <a:endParaRPr sz="1050"/>
                    </a:p>
                  </a:txBody>
                  <a:tcPr marL="9525" marR="9525" marT="9525" marB="0" anchor="ctr"/>
                </a:tc>
              </a:tr>
              <a:tr h="170930">
                <a:tc>
                  <a:txBody>
                    <a:bodyPr wrap="square"/>
                    <a:lstStyle/>
                    <a:p>
                      <a:pPr algn="l"/>
                      <a:r>
                        <a:rPr sz="1050" b="0" i="0">
                          <a:solidFill>
                            <a:srgbClr val="000000"/>
                          </a:solidFill>
                          <a:latin typeface="Calibri"/>
                        </a:rPr>
                        <a:t>Figure 36: North America Off-Highway Vehicle Market Attractiveness Analysis By Vehicle Capacity</a:t>
                      </a:r>
                      <a:endParaRPr sz="1050"/>
                    </a:p>
                  </a:txBody>
                  <a:tcPr marL="9525" marR="9525" marT="9525" marB="0" anchor="ctr"/>
                </a:tc>
              </a:tr>
              <a:tr h="170930">
                <a:tc>
                  <a:txBody>
                    <a:bodyPr wrap="square"/>
                    <a:lstStyle/>
                    <a:p>
                      <a:pPr algn="l"/>
                      <a:r>
                        <a:rPr sz="1050" b="0" i="0">
                          <a:solidFill>
                            <a:srgbClr val="000000"/>
                          </a:solidFill>
                          <a:latin typeface="Calibri"/>
                        </a:rPr>
                        <a:t>Figure 37: North America Off-Highway Vehicle Market Value, 2026-2036 By Propulsion Configuration</a:t>
                      </a:r>
                      <a:endParaRPr sz="1050"/>
                    </a:p>
                  </a:txBody>
                  <a:tcPr marL="9525" marR="9525" marT="9525" marB="0" anchor="ctr"/>
                </a:tc>
              </a:tr>
              <a:tr h="335022">
                <a:tc>
                  <a:txBody>
                    <a:bodyPr wrap="square"/>
                    <a:lstStyle/>
                    <a:p>
                      <a:pPr algn="l"/>
                      <a:r>
                        <a:rPr sz="1050" b="0" i="0">
                          <a:solidFill>
                            <a:srgbClr val="000000"/>
                          </a:solidFill>
                          <a:latin typeface="Calibri"/>
                        </a:rPr>
                        <a:t>Figure 38: North America Off-Highway Vehicle Market Value, 2026-2036 Y-o-Y Comparison By Propulsion Configuration</a:t>
                      </a:r>
                      <a:endParaRPr sz="1050"/>
                    </a:p>
                  </a:txBody>
                  <a:tcPr marL="9525" marR="9525" marT="9525" marB="0" anchor="ctr"/>
                </a:tc>
              </a:tr>
              <a:tr h="335022">
                <a:tc>
                  <a:txBody>
                    <a:bodyPr wrap="square"/>
                    <a:lstStyle/>
                    <a:p>
                      <a:pPr algn="l"/>
                      <a:r>
                        <a:rPr sz="1050" b="0" i="0">
                          <a:solidFill>
                            <a:srgbClr val="000000"/>
                          </a:solidFill>
                          <a:latin typeface="Calibri"/>
                        </a:rPr>
                        <a:t>Figure 39: North America Off-Highway Vehicle Market Value, 2026-2036 BPS Analysis By Propulsion Configuration</a:t>
                      </a:r>
                      <a:endParaRPr sz="1050"/>
                    </a:p>
                  </a:txBody>
                  <a:tcPr marL="9525" marR="9525" marT="9525" marB="0" anchor="ctr"/>
                </a:tc>
              </a:tr>
              <a:tr h="335022">
                <a:tc>
                  <a:txBody>
                    <a:bodyPr wrap="square"/>
                    <a:lstStyle/>
                    <a:p>
                      <a:pPr algn="l"/>
                      <a:r>
                        <a:rPr sz="1050" b="0" i="0">
                          <a:solidFill>
                            <a:srgbClr val="000000"/>
                          </a:solidFill>
                          <a:latin typeface="Calibri"/>
                        </a:rPr>
                        <a:t>Figure 40: North America Off-Highway Vehicle Market Attractiveness Analysis By Propulsion Configuration</a:t>
                      </a:r>
                      <a:endParaRPr sz="1050"/>
                    </a:p>
                  </a:txBody>
                  <a:tcPr marL="9525" marR="9525" marT="9525" marB="0" anchor="ctr"/>
                </a:tc>
              </a:tr>
              <a:tr h="170930">
                <a:tc>
                  <a:txBody>
                    <a:bodyPr wrap="square"/>
                    <a:lstStyle/>
                    <a:p>
                      <a:pPr algn="l"/>
                      <a:r>
                        <a:rPr sz="1050" b="0" i="0">
                          <a:solidFill>
                            <a:srgbClr val="000000"/>
                          </a:solidFill>
                          <a:latin typeface="Calibri"/>
                        </a:rPr>
                        <a:t>Figure 41: North America Off-Highway Vehicle Market Value, 2026-2036 By Region</a:t>
                      </a:r>
                      <a:endParaRPr sz="1050"/>
                    </a:p>
                  </a:txBody>
                  <a:tcPr marL="9525" marR="9525" marT="9525" marB="0" anchor="ctr"/>
                </a:tc>
              </a:tr>
              <a:tr h="170930">
                <a:tc>
                  <a:txBody>
                    <a:bodyPr wrap="square"/>
                    <a:lstStyle/>
                    <a:p>
                      <a:pPr algn="l"/>
                      <a:r>
                        <a:rPr sz="1050" b="0" i="0">
                          <a:solidFill>
                            <a:srgbClr val="000000"/>
                          </a:solidFill>
                          <a:latin typeface="Calibri"/>
                        </a:rPr>
                        <a:t>Figure 42: North America Off-Highway Vehicle Market Value, 2026-2036 Y-o-Y Comparison By Region</a:t>
                      </a:r>
                      <a:endParaRPr sz="1050"/>
                    </a:p>
                  </a:txBody>
                  <a:tcPr marL="9525" marR="9525" marT="9525" marB="0" anchor="ctr"/>
                </a:tc>
              </a:tr>
              <a:tr h="170930">
                <a:tc>
                  <a:txBody>
                    <a:bodyPr wrap="square"/>
                    <a:lstStyle/>
                    <a:p>
                      <a:pPr algn="l"/>
                      <a:r>
                        <a:rPr sz="1050" b="0" i="0">
                          <a:solidFill>
                            <a:srgbClr val="000000"/>
                          </a:solidFill>
                          <a:latin typeface="Calibri"/>
                        </a:rPr>
                        <a:t>Figure 43: North America Off-Highway Vehicle Market Value, 2026-2036 BPS Analysis By Region</a:t>
                      </a:r>
                      <a:endParaRPr sz="1050"/>
                    </a:p>
                  </a:txBody>
                  <a:tcPr marL="9525" marR="9525" marT="9525" marB="0" anchor="ctr"/>
                </a:tc>
              </a:tr>
              <a:tr h="170930">
                <a:tc>
                  <a:txBody>
                    <a:bodyPr wrap="square"/>
                    <a:lstStyle/>
                    <a:p>
                      <a:pPr algn="l"/>
                      <a:r>
                        <a:rPr sz="1050" b="0" i="0">
                          <a:solidFill>
                            <a:srgbClr val="000000"/>
                          </a:solidFill>
                          <a:latin typeface="Calibri"/>
                        </a:rPr>
                        <a:t>Figure 44: North America Off-Highway Vehicle Market Attractiveness Analysis By Region</a:t>
                      </a:r>
                      <a:endParaRPr sz="1050"/>
                    </a:p>
                  </a:txBody>
                  <a:tcPr marL="9525" marR="9525" marT="9525" marB="0" anchor="ctr"/>
                </a:tc>
              </a:tr>
              <a:tr h="170930">
                <a:tc>
                  <a:txBody>
                    <a:bodyPr wrap="square"/>
                    <a:lstStyle/>
                    <a:p>
                      <a:pPr algn="l"/>
                      <a:r>
                        <a:rPr sz="1050" b="0" i="0">
                          <a:solidFill>
                            <a:srgbClr val="000000"/>
                          </a:solidFill>
                          <a:latin typeface="Calibri"/>
                        </a:rPr>
                        <a:t>Figure 45: U.S. Off-Highway Vehicle Market Value, 2026-2036 By Vehicle Type</a:t>
                      </a:r>
                      <a:endParaRPr sz="1050"/>
                    </a:p>
                  </a:txBody>
                  <a:tcPr marL="9525" marR="9525" marT="9525" marB="0" anchor="ctr"/>
                </a:tc>
              </a:tr>
              <a:tr h="170930">
                <a:tc>
                  <a:txBody>
                    <a:bodyPr wrap="square"/>
                    <a:lstStyle/>
                    <a:p>
                      <a:pPr algn="l"/>
                      <a:r>
                        <a:rPr sz="1050" b="0" i="0">
                          <a:solidFill>
                            <a:srgbClr val="000000"/>
                          </a:solidFill>
                          <a:latin typeface="Calibri"/>
                        </a:rPr>
                        <a:t>Figure 46: U.S. Off-Highway Vehicle Market Value, 2026-2036 By Powertrain</a:t>
                      </a:r>
                      <a:endParaRPr sz="1050"/>
                    </a:p>
                  </a:txBody>
                  <a:tcPr marL="9525" marR="9525" marT="9525" marB="0" anchor="ctr"/>
                </a:tc>
              </a:tr>
              <a:tr h="170930">
                <a:tc>
                  <a:txBody>
                    <a:bodyPr wrap="square"/>
                    <a:lstStyle/>
                    <a:p>
                      <a:pPr algn="l"/>
                      <a:r>
                        <a:rPr sz="1050" b="0" i="0">
                          <a:solidFill>
                            <a:srgbClr val="000000"/>
                          </a:solidFill>
                          <a:latin typeface="Calibri"/>
                        </a:rPr>
                        <a:t>Figure 47: U.S. Off-Highway Vehicle Market Value, 2026-2036 By Vehicle Capacity</a:t>
                      </a:r>
                      <a:endParaRPr sz="1050"/>
                    </a:p>
                  </a:txBody>
                  <a:tcPr marL="9525" marR="9525" marT="9525" marB="0" anchor="ctr"/>
                </a:tc>
              </a:tr>
              <a:tr h="170930">
                <a:tc>
                  <a:txBody>
                    <a:bodyPr wrap="square"/>
                    <a:lstStyle/>
                    <a:p>
                      <a:pPr algn="l"/>
                      <a:r>
                        <a:rPr sz="1050" b="0" i="0">
                          <a:solidFill>
                            <a:srgbClr val="000000"/>
                          </a:solidFill>
                          <a:latin typeface="Calibri"/>
                        </a:rPr>
                        <a:t>Figure 48: U.S. Off-Highway Vehicle Market Value, 2026-2036 By Propulsion Configuration</a:t>
                      </a:r>
                      <a:endParaRPr sz="1050"/>
                    </a:p>
                  </a:txBody>
                  <a:tcPr marL="9525" marR="9525" marT="9525" marB="0" anchor="ctr"/>
                </a:tc>
              </a:tr>
              <a:tr h="170930">
                <a:tc>
                  <a:txBody>
                    <a:bodyPr wrap="square"/>
                    <a:lstStyle/>
                    <a:p>
                      <a:pPr algn="l"/>
                      <a:r>
                        <a:rPr sz="1050" b="0" i="0">
                          <a:solidFill>
                            <a:srgbClr val="000000"/>
                          </a:solidFill>
                          <a:latin typeface="Calibri"/>
                        </a:rPr>
                        <a:t>Figure 49: Canada Off-Highway Vehicle Market Value, 2026-2036 By Vehicle Type</a:t>
                      </a:r>
                      <a:endParaRPr sz="1050"/>
                    </a:p>
                  </a:txBody>
                  <a:tcPr marL="9525" marR="9525" marT="9525" marB="0" anchor="ctr"/>
                </a:tc>
              </a:tr>
              <a:tr h="170930">
                <a:tc>
                  <a:txBody>
                    <a:bodyPr wrap="square"/>
                    <a:lstStyle/>
                    <a:p>
                      <a:pPr algn="l"/>
                      <a:r>
                        <a:rPr sz="1050" b="0" i="0">
                          <a:solidFill>
                            <a:srgbClr val="000000"/>
                          </a:solidFill>
                          <a:latin typeface="Calibri"/>
                        </a:rPr>
                        <a:t>Figure 50: Canada Off-Highway Vehicle Market Value, 2026-2036 By Powertrain</a:t>
                      </a:r>
                      <a:endParaRPr sz="1050"/>
                    </a:p>
                  </a:txBody>
                  <a:tcPr marL="9525" marR="9525" marT="9525" marB="0" anchor="ctr"/>
                </a:tc>
              </a:tr>
              <a:tr h="170930">
                <a:tc>
                  <a:txBody>
                    <a:bodyPr wrap="square"/>
                    <a:lstStyle/>
                    <a:p>
                      <a:pPr algn="l"/>
                      <a:r>
                        <a:rPr sz="1050" b="0" i="0">
                          <a:solidFill>
                            <a:srgbClr val="000000"/>
                          </a:solidFill>
                          <a:latin typeface="Calibri"/>
                        </a:rPr>
                        <a:t>Figure 51: Canada Off-Highway Vehicle Market Value, 2026-2036 By Vehicle Capacity</a:t>
                      </a:r>
                      <a:endParaRPr sz="1050"/>
                    </a:p>
                  </a:txBody>
                  <a:tcPr marL="9525" marR="9525" marT="9525" marB="0" anchor="ctr"/>
                </a:tc>
              </a:tr>
              <a:tr h="170930">
                <a:tc>
                  <a:txBody>
                    <a:bodyPr wrap="square"/>
                    <a:lstStyle/>
                    <a:p>
                      <a:pPr algn="l"/>
                      <a:r>
                        <a:rPr sz="1050" b="0" i="0">
                          <a:solidFill>
                            <a:srgbClr val="000000"/>
                          </a:solidFill>
                          <a:latin typeface="Calibri"/>
                        </a:rPr>
                        <a:t>Figure 52: Canada Off-Highway Vehicle Market Value, 2026-2036 By Propulsion Configuration</a:t>
                      </a:r>
                      <a:endParaRPr sz="1050"/>
                    </a:p>
                  </a:txBody>
                  <a:tcPr marL="9525" marR="9525" marT="9525" marB="0" anchor="ctr"/>
                </a:tc>
              </a:tr>
              <a:tr h="170930">
                <a:tc>
                  <a:txBody>
                    <a:bodyPr wrap="square"/>
                    <a:lstStyle/>
                    <a:p>
                      <a:pPr algn="l"/>
                      <a:r>
                        <a:rPr sz="1050" b="0" i="0">
                          <a:solidFill>
                            <a:srgbClr val="000000"/>
                          </a:solidFill>
                          <a:latin typeface="Calibri"/>
                        </a:rPr>
                        <a:t>Figure 53: Mexico Off-Highway Vehicle Market Value, 2026-2036 By Vehicle Type</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(2/6)</a:t>
            </a:r>
          </a:p>
        </p:txBody>
      </p:sp>
      <p:graphicFrame>
        <p:nvGraphicFramePr>
          <p:cNvPr id="6" name="TMR Contents Table"/>
          <p:cNvGraphicFramePr>
            <a:graphicFrameLocks noGrp="1"/>
          </p:cNvGraphicFramePr>
          <p:nvPr/>
        </p:nvGraphicFramePr>
        <p:xfrm>
          <a:off x="142875" y="981075"/>
          <a:ext cx="5876925" cy="5257797"/>
        </p:xfrm>
        <a:graphic>
          <a:graphicData uri="http://schemas.openxmlformats.org/drawingml/2006/table">
            <a:tbl>
              <a:tblPr>
                <a:tableStyleId>{3B4B98B0-60AC-42C2-AFA5-B58CD77FA1E5}</a:tableStyleId>
              </a:tblPr>
              <a:tblGrid>
                <a:gridCol w="5876925"/>
              </a:tblGrid>
              <a:tr h="171152">
                <a:tc>
                  <a:txBody>
                    <a:bodyPr wrap="square"/>
                    <a:lstStyle/>
                    <a:p>
                      <a:pPr algn="l"/>
                      <a:r>
                        <a:rPr sz="1050" b="0" i="0">
                          <a:solidFill>
                            <a:srgbClr val="000000"/>
                          </a:solidFill>
                          <a:latin typeface="Calibri"/>
                        </a:rPr>
                        <a:t>Figure 54: Mexico Off-Highway Vehicle Market Value, 2026-2036 By Powertrain</a:t>
                      </a:r>
                      <a:endParaRPr sz="1050"/>
                    </a:p>
                  </a:txBody>
                  <a:tcPr marL="9525" marR="9525" marT="9525" marB="0" anchor="ctr"/>
                </a:tc>
              </a:tr>
              <a:tr h="171152">
                <a:tc>
                  <a:txBody>
                    <a:bodyPr wrap="square"/>
                    <a:lstStyle/>
                    <a:p>
                      <a:pPr algn="l"/>
                      <a:r>
                        <a:rPr sz="1050" b="0" i="0">
                          <a:solidFill>
                            <a:srgbClr val="000000"/>
                          </a:solidFill>
                          <a:latin typeface="Calibri"/>
                        </a:rPr>
                        <a:t>Figure 55: Mexico Off-Highway Vehicle Market Value, 2026-2036 By Vehicle Capacity</a:t>
                      </a:r>
                      <a:endParaRPr sz="1050"/>
                    </a:p>
                  </a:txBody>
                  <a:tcPr marL="9525" marR="9525" marT="9525" marB="0" anchor="ctr"/>
                </a:tc>
              </a:tr>
              <a:tr h="171152">
                <a:tc>
                  <a:txBody>
                    <a:bodyPr wrap="square"/>
                    <a:lstStyle/>
                    <a:p>
                      <a:pPr algn="l"/>
                      <a:r>
                        <a:rPr sz="1050" b="0" i="0">
                          <a:solidFill>
                            <a:srgbClr val="000000"/>
                          </a:solidFill>
                          <a:latin typeface="Calibri"/>
                        </a:rPr>
                        <a:t>Figure 56: Mexico Off-Highway Vehicle Market Value, 2026-2036 By Propulsion Configuration</a:t>
                      </a:r>
                      <a:endParaRPr sz="1050"/>
                    </a:p>
                  </a:txBody>
                  <a:tcPr marL="9525" marR="9525" marT="9525" marB="0" anchor="ctr"/>
                </a:tc>
              </a:tr>
              <a:tr h="171152">
                <a:tc>
                  <a:txBody>
                    <a:bodyPr wrap="square"/>
                    <a:lstStyle/>
                    <a:p>
                      <a:pPr algn="l"/>
                      <a:r>
                        <a:rPr sz="1050" b="0" i="0">
                          <a:solidFill>
                            <a:srgbClr val="000000"/>
                          </a:solidFill>
                          <a:latin typeface="Calibri"/>
                        </a:rPr>
                        <a:t>Figure 57: Latin America Off-Highway Vehicle Market Value, 2021-2036</a:t>
                      </a:r>
                      <a:endParaRPr sz="1050"/>
                    </a:p>
                  </a:txBody>
                  <a:tcPr marL="9525" marR="9525" marT="9525" marB="0" anchor="ctr"/>
                </a:tc>
              </a:tr>
              <a:tr h="171152">
                <a:tc>
                  <a:txBody>
                    <a:bodyPr wrap="square"/>
                    <a:lstStyle/>
                    <a:p>
                      <a:pPr algn="l"/>
                      <a:r>
                        <a:rPr sz="1050" b="0" i="0">
                          <a:solidFill>
                            <a:srgbClr val="000000"/>
                          </a:solidFill>
                          <a:latin typeface="Calibri"/>
                        </a:rPr>
                        <a:t>Figure 58: Latin America Off-Highway Vehicle Market Incremental $ Opportunity, 2026-2036</a:t>
                      </a:r>
                      <a:endParaRPr sz="1050"/>
                    </a:p>
                  </a:txBody>
                  <a:tcPr marL="9525" marR="9525" marT="9525" marB="0" anchor="ctr"/>
                </a:tc>
              </a:tr>
              <a:tr h="171152">
                <a:tc>
                  <a:txBody>
                    <a:bodyPr wrap="square"/>
                    <a:lstStyle/>
                    <a:p>
                      <a:pPr algn="l"/>
                      <a:r>
                        <a:rPr sz="1050" b="0" i="0">
                          <a:solidFill>
                            <a:srgbClr val="000000"/>
                          </a:solidFill>
                          <a:latin typeface="Calibri"/>
                        </a:rPr>
                        <a:t>Figure 59: Latin America Off-Highway Vehicle Market Value, 2026-2036 By Vehicle Type</a:t>
                      </a:r>
                      <a:endParaRPr sz="1050"/>
                    </a:p>
                  </a:txBody>
                  <a:tcPr marL="9525" marR="9525" marT="9525" marB="0" anchor="ctr"/>
                </a:tc>
              </a:tr>
              <a:tr h="335459">
                <a:tc>
                  <a:txBody>
                    <a:bodyPr wrap="square"/>
                    <a:lstStyle/>
                    <a:p>
                      <a:pPr algn="l"/>
                      <a:r>
                        <a:rPr sz="1050" b="0" i="0">
                          <a:solidFill>
                            <a:srgbClr val="000000"/>
                          </a:solidFill>
                          <a:latin typeface="Calibri"/>
                        </a:rPr>
                        <a:t>Figure 60: Latin America Off-Highway Vehicle Market Value, 2026-2036 Y-o-Y Comparison By Vehicle Type</a:t>
                      </a:r>
                      <a:endParaRPr sz="1050"/>
                    </a:p>
                  </a:txBody>
                  <a:tcPr marL="9525" marR="9525" marT="9525" marB="0" anchor="ctr"/>
                </a:tc>
              </a:tr>
              <a:tr h="171152">
                <a:tc>
                  <a:txBody>
                    <a:bodyPr wrap="square"/>
                    <a:lstStyle/>
                    <a:p>
                      <a:pPr algn="l"/>
                      <a:r>
                        <a:rPr sz="1050" b="0" i="0">
                          <a:solidFill>
                            <a:srgbClr val="000000"/>
                          </a:solidFill>
                          <a:latin typeface="Calibri"/>
                        </a:rPr>
                        <a:t>Figure 61: Latin America Off-Highway Vehicle Market Value, 2026-2036 BPS Analysis By Vehicle Type</a:t>
                      </a:r>
                      <a:endParaRPr sz="1050"/>
                    </a:p>
                  </a:txBody>
                  <a:tcPr marL="9525" marR="9525" marT="9525" marB="0" anchor="ctr"/>
                </a:tc>
              </a:tr>
              <a:tr h="171152">
                <a:tc>
                  <a:txBody>
                    <a:bodyPr wrap="square"/>
                    <a:lstStyle/>
                    <a:p>
                      <a:pPr algn="l"/>
                      <a:r>
                        <a:rPr sz="1050" b="0" i="0">
                          <a:solidFill>
                            <a:srgbClr val="000000"/>
                          </a:solidFill>
                          <a:latin typeface="Calibri"/>
                        </a:rPr>
                        <a:t>Figure 62: Latin America Off-Highway Vehicle Market Attractiveness Analysis By Vehicle Type</a:t>
                      </a:r>
                      <a:endParaRPr sz="1050"/>
                    </a:p>
                  </a:txBody>
                  <a:tcPr marL="9525" marR="9525" marT="9525" marB="0" anchor="ctr"/>
                </a:tc>
              </a:tr>
              <a:tr h="171152">
                <a:tc>
                  <a:txBody>
                    <a:bodyPr wrap="square"/>
                    <a:lstStyle/>
                    <a:p>
                      <a:pPr algn="l"/>
                      <a:r>
                        <a:rPr sz="1050" b="0" i="0">
                          <a:solidFill>
                            <a:srgbClr val="000000"/>
                          </a:solidFill>
                          <a:latin typeface="Calibri"/>
                        </a:rPr>
                        <a:t>Figure 63: Latin America Off-Highway Vehicle Market Value, 2026-2036 By Powertrain</a:t>
                      </a:r>
                      <a:endParaRPr sz="1050"/>
                    </a:p>
                  </a:txBody>
                  <a:tcPr marL="9525" marR="9525" marT="9525" marB="0" anchor="ctr"/>
                </a:tc>
              </a:tr>
              <a:tr h="335459">
                <a:tc>
                  <a:txBody>
                    <a:bodyPr wrap="square"/>
                    <a:lstStyle/>
                    <a:p>
                      <a:pPr algn="l"/>
                      <a:r>
                        <a:rPr sz="1050" b="0" i="0">
                          <a:solidFill>
                            <a:srgbClr val="000000"/>
                          </a:solidFill>
                          <a:latin typeface="Calibri"/>
                        </a:rPr>
                        <a:t>Figure 64: Latin America Off-Highway Vehicle Market Value, 2026-2036 Y-o-Y Comparison By Powertrain</a:t>
                      </a:r>
                      <a:endParaRPr sz="1050"/>
                    </a:p>
                  </a:txBody>
                  <a:tcPr marL="9525" marR="9525" marT="9525" marB="0" anchor="ctr"/>
                </a:tc>
              </a:tr>
              <a:tr h="171152">
                <a:tc>
                  <a:txBody>
                    <a:bodyPr wrap="square"/>
                    <a:lstStyle/>
                    <a:p>
                      <a:pPr algn="l"/>
                      <a:r>
                        <a:rPr sz="1050" b="0" i="0">
                          <a:solidFill>
                            <a:srgbClr val="000000"/>
                          </a:solidFill>
                          <a:latin typeface="Calibri"/>
                        </a:rPr>
                        <a:t>Figure 65: Latin America Off-Highway Vehicle Market Value, 2026-2036 BPS Analysis By Powertrain</a:t>
                      </a:r>
                      <a:endParaRPr sz="1050"/>
                    </a:p>
                  </a:txBody>
                  <a:tcPr marL="9525" marR="9525" marT="9525" marB="0" anchor="ctr"/>
                </a:tc>
              </a:tr>
              <a:tr h="171152">
                <a:tc>
                  <a:txBody>
                    <a:bodyPr wrap="square"/>
                    <a:lstStyle/>
                    <a:p>
                      <a:pPr algn="l"/>
                      <a:r>
                        <a:rPr sz="1050" b="0" i="0">
                          <a:solidFill>
                            <a:srgbClr val="000000"/>
                          </a:solidFill>
                          <a:latin typeface="Calibri"/>
                        </a:rPr>
                        <a:t>Figure 66: Latin America Off-Highway Vehicle Market Attractiveness Analysis By Powertrain</a:t>
                      </a:r>
                      <a:endParaRPr sz="1050"/>
                    </a:p>
                  </a:txBody>
                  <a:tcPr marL="9525" marR="9525" marT="9525" marB="0" anchor="ctr"/>
                </a:tc>
              </a:tr>
              <a:tr h="171152">
                <a:tc>
                  <a:txBody>
                    <a:bodyPr wrap="square"/>
                    <a:lstStyle/>
                    <a:p>
                      <a:pPr algn="l"/>
                      <a:r>
                        <a:rPr sz="1050" b="0" i="0">
                          <a:solidFill>
                            <a:srgbClr val="000000"/>
                          </a:solidFill>
                          <a:latin typeface="Calibri"/>
                        </a:rPr>
                        <a:t>Figure 67: Latin America Off-Highway Vehicle Market Value, 2026-2036 By Vehicle Capacity</a:t>
                      </a:r>
                      <a:endParaRPr sz="1050"/>
                    </a:p>
                  </a:txBody>
                  <a:tcPr marL="9525" marR="9525" marT="9525" marB="0" anchor="ctr"/>
                </a:tc>
              </a:tr>
              <a:tr h="335459">
                <a:tc>
                  <a:txBody>
                    <a:bodyPr wrap="square"/>
                    <a:lstStyle/>
                    <a:p>
                      <a:pPr algn="l"/>
                      <a:r>
                        <a:rPr sz="1050" b="0" i="0">
                          <a:solidFill>
                            <a:srgbClr val="000000"/>
                          </a:solidFill>
                          <a:latin typeface="Calibri"/>
                        </a:rPr>
                        <a:t>Figure 68: Latin America Off-Highway Vehicle Market Value, 2026-2036 Y-o-Y Comparison By Vehicle Capacity</a:t>
                      </a:r>
                      <a:endParaRPr sz="1050"/>
                    </a:p>
                  </a:txBody>
                  <a:tcPr marL="9525" marR="9525" marT="9525" marB="0" anchor="ctr"/>
                </a:tc>
              </a:tr>
              <a:tr h="335459">
                <a:tc>
                  <a:txBody>
                    <a:bodyPr wrap="square"/>
                    <a:lstStyle/>
                    <a:p>
                      <a:pPr algn="l"/>
                      <a:r>
                        <a:rPr sz="1050" b="0" i="0">
                          <a:solidFill>
                            <a:srgbClr val="000000"/>
                          </a:solidFill>
                          <a:latin typeface="Calibri"/>
                        </a:rPr>
                        <a:t>Figure 69: Latin America Off-Highway Vehicle Market Value, 2026-2036 BPS Analysis By Vehicle Capacity</a:t>
                      </a:r>
                      <a:endParaRPr sz="1050"/>
                    </a:p>
                  </a:txBody>
                  <a:tcPr marL="9525" marR="9525" marT="9525" marB="0" anchor="ctr"/>
                </a:tc>
              </a:tr>
              <a:tr h="171152">
                <a:tc>
                  <a:txBody>
                    <a:bodyPr wrap="square"/>
                    <a:lstStyle/>
                    <a:p>
                      <a:pPr algn="l"/>
                      <a:r>
                        <a:rPr sz="1050" b="0" i="0">
                          <a:solidFill>
                            <a:srgbClr val="000000"/>
                          </a:solidFill>
                          <a:latin typeface="Calibri"/>
                        </a:rPr>
                        <a:t>Figure 70: Latin America Off-Highway Vehicle Market Attractiveness Analysis By Vehicle Capacity</a:t>
                      </a:r>
                      <a:endParaRPr sz="1050"/>
                    </a:p>
                  </a:txBody>
                  <a:tcPr marL="9525" marR="9525" marT="9525" marB="0" anchor="ctr"/>
                </a:tc>
              </a:tr>
              <a:tr h="171152">
                <a:tc>
                  <a:txBody>
                    <a:bodyPr wrap="square"/>
                    <a:lstStyle/>
                    <a:p>
                      <a:pPr algn="l"/>
                      <a:r>
                        <a:rPr sz="1050" b="0" i="0">
                          <a:solidFill>
                            <a:srgbClr val="000000"/>
                          </a:solidFill>
                          <a:latin typeface="Calibri"/>
                        </a:rPr>
                        <a:t>Figure 71: Latin America Off-Highway Vehicle Market Value, 2026-2036 By Propulsion Configuration</a:t>
                      </a:r>
                      <a:endParaRPr sz="1050"/>
                    </a:p>
                  </a:txBody>
                  <a:tcPr marL="9525" marR="9525" marT="9525" marB="0" anchor="ctr"/>
                </a:tc>
              </a:tr>
              <a:tr h="335459">
                <a:tc>
                  <a:txBody>
                    <a:bodyPr wrap="square"/>
                    <a:lstStyle/>
                    <a:p>
                      <a:pPr algn="l"/>
                      <a:r>
                        <a:rPr sz="1050" b="0" i="0">
                          <a:solidFill>
                            <a:srgbClr val="000000"/>
                          </a:solidFill>
                          <a:latin typeface="Calibri"/>
                        </a:rPr>
                        <a:t>Figure 72: Latin America Off-Highway Vehicle Market Value, 2026-2036 Y-o-Y Comparison By Propulsion Configuration</a:t>
                      </a:r>
                      <a:endParaRPr sz="1050"/>
                    </a:p>
                  </a:txBody>
                  <a:tcPr marL="9525" marR="9525" marT="9525" marB="0" anchor="ctr"/>
                </a:tc>
              </a:tr>
              <a:tr h="335459">
                <a:tc>
                  <a:txBody>
                    <a:bodyPr wrap="square"/>
                    <a:lstStyle/>
                    <a:p>
                      <a:pPr algn="l"/>
                      <a:r>
                        <a:rPr sz="1050" b="0" i="0">
                          <a:solidFill>
                            <a:srgbClr val="000000"/>
                          </a:solidFill>
                          <a:latin typeface="Calibri"/>
                        </a:rPr>
                        <a:t>Figure 73: Latin America Off-Highway Vehicle Market Value, 2026-2036 BPS Analysis By Propulsion Configuration</a:t>
                      </a:r>
                      <a:endParaRPr sz="1050"/>
                    </a:p>
                  </a:txBody>
                  <a:tcPr marL="9525" marR="9525" marT="9525" marB="0" anchor="ctr"/>
                </a:tc>
              </a:tr>
              <a:tr h="335459">
                <a:tc>
                  <a:txBody>
                    <a:bodyPr wrap="square"/>
                    <a:lstStyle/>
                    <a:p>
                      <a:pPr algn="l"/>
                      <a:r>
                        <a:rPr sz="1050" b="0" i="0">
                          <a:solidFill>
                            <a:srgbClr val="000000"/>
                          </a:solidFill>
                          <a:latin typeface="Calibri"/>
                        </a:rPr>
                        <a:t>Figure 74: Latin America Off-Highway Vehicle Market Attractiveness Analysis By Propulsion Configuration</a:t>
                      </a:r>
                      <a:endParaRPr sz="1050"/>
                    </a:p>
                  </a:txBody>
                  <a:tcPr marL="9525" marR="9525" marT="9525" marB="0" anchor="ctr"/>
                </a:tc>
              </a:tr>
              <a:tr h="171152">
                <a:tc>
                  <a:txBody>
                    <a:bodyPr wrap="square"/>
                    <a:lstStyle/>
                    <a:p>
                      <a:pPr algn="l"/>
                      <a:r>
                        <a:rPr sz="1050" b="0" i="0">
                          <a:solidFill>
                            <a:srgbClr val="000000"/>
                          </a:solidFill>
                          <a:latin typeface="Calibri"/>
                        </a:rPr>
                        <a:t>Figure 75: Latin America Off-Highway Vehicle Market Value, 2026-2036 By Region</a:t>
                      </a:r>
                      <a:endParaRPr sz="1050"/>
                    </a:p>
                  </a:txBody>
                  <a:tcPr marL="9525" marR="9525" marT="9525" marB="0" anchor="ctr"/>
                </a:tc>
              </a:tr>
              <a:tr h="171152">
                <a:tc>
                  <a:txBody>
                    <a:bodyPr wrap="square"/>
                    <a:lstStyle/>
                    <a:p>
                      <a:pPr algn="l"/>
                      <a:r>
                        <a:rPr sz="1050" b="0" i="0">
                          <a:solidFill>
                            <a:srgbClr val="000000"/>
                          </a:solidFill>
                          <a:latin typeface="Calibri"/>
                        </a:rPr>
                        <a:t>Figure 76: Latin America Off-Highway Vehicle Market Value, 2026-2036 Y-o-Y Comparison By Region</a:t>
                      </a:r>
                      <a:endParaRPr sz="1050"/>
                    </a:p>
                  </a:txBody>
                  <a:tcPr marL="9525" marR="9525" marT="9525" marB="0" anchor="ctr"/>
                </a:tc>
              </a:tr>
              <a:tr h="171152">
                <a:tc>
                  <a:txBody>
                    <a:bodyPr wrap="square"/>
                    <a:lstStyle/>
                    <a:p>
                      <a:pPr algn="l"/>
                      <a:r>
                        <a:rPr sz="1050" b="0" i="0">
                          <a:solidFill>
                            <a:srgbClr val="000000"/>
                          </a:solidFill>
                          <a:latin typeface="Calibri"/>
                        </a:rPr>
                        <a:t>Figure 77: Latin America Off-Highway Vehicle Market Value, 2026-2036 BPS Analysis By Region</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95"/>
        </p:xfrm>
        <a:graphic>
          <a:graphicData uri="http://schemas.openxmlformats.org/drawingml/2006/table">
            <a:tbl>
              <a:tblPr>
                <a:tableStyleId>{3B4B98B0-60AC-42C2-AFA5-B58CD77FA1E5}</a:tableStyleId>
              </a:tblPr>
              <a:tblGrid>
                <a:gridCol w="5876925"/>
              </a:tblGrid>
              <a:tr h="176436">
                <a:tc>
                  <a:txBody>
                    <a:bodyPr wrap="square"/>
                    <a:lstStyle/>
                    <a:p>
                      <a:pPr algn="l"/>
                      <a:r>
                        <a:rPr sz="1050" b="0" i="0">
                          <a:solidFill>
                            <a:srgbClr val="000000"/>
                          </a:solidFill>
                          <a:latin typeface="Calibri"/>
                        </a:rPr>
                        <a:t>Figure 78: Latin America Off-Highway Vehicle Market Attractiveness Analysis By Region</a:t>
                      </a:r>
                      <a:endParaRPr sz="1050"/>
                    </a:p>
                  </a:txBody>
                  <a:tcPr marL="9525" marR="9525" marT="9525" marB="0" anchor="ctr"/>
                </a:tc>
              </a:tr>
              <a:tr h="176436">
                <a:tc>
                  <a:txBody>
                    <a:bodyPr wrap="square"/>
                    <a:lstStyle/>
                    <a:p>
                      <a:pPr algn="l"/>
                      <a:r>
                        <a:rPr sz="1050" b="0" i="0">
                          <a:solidFill>
                            <a:srgbClr val="000000"/>
                          </a:solidFill>
                          <a:latin typeface="Calibri"/>
                        </a:rPr>
                        <a:t>Figure 79: Brazil Off-Highway Vehicle Market Value, 2026-2036 By Vehicle Type</a:t>
                      </a:r>
                      <a:endParaRPr sz="1050"/>
                    </a:p>
                  </a:txBody>
                  <a:tcPr marL="9525" marR="9525" marT="9525" marB="0" anchor="ctr"/>
                </a:tc>
              </a:tr>
              <a:tr h="176436">
                <a:tc>
                  <a:txBody>
                    <a:bodyPr wrap="square"/>
                    <a:lstStyle/>
                    <a:p>
                      <a:pPr algn="l"/>
                      <a:r>
                        <a:rPr sz="1050" b="0" i="0">
                          <a:solidFill>
                            <a:srgbClr val="000000"/>
                          </a:solidFill>
                          <a:latin typeface="Calibri"/>
                        </a:rPr>
                        <a:t>Figure 80: Brazil Off-Highway Vehicle Market Value, 2026-2036 By Powertrain</a:t>
                      </a:r>
                      <a:endParaRPr sz="1050"/>
                    </a:p>
                  </a:txBody>
                  <a:tcPr marL="9525" marR="9525" marT="9525" marB="0" anchor="ctr"/>
                </a:tc>
              </a:tr>
              <a:tr h="176436">
                <a:tc>
                  <a:txBody>
                    <a:bodyPr wrap="square"/>
                    <a:lstStyle/>
                    <a:p>
                      <a:pPr algn="l"/>
                      <a:r>
                        <a:rPr sz="1050" b="0" i="0">
                          <a:solidFill>
                            <a:srgbClr val="000000"/>
                          </a:solidFill>
                          <a:latin typeface="Calibri"/>
                        </a:rPr>
                        <a:t>Figure 81: Brazil Off-Highway Vehicle Market Value, 2026-2036 By Vehicle Capacity</a:t>
                      </a:r>
                      <a:endParaRPr sz="1050"/>
                    </a:p>
                  </a:txBody>
                  <a:tcPr marL="9525" marR="9525" marT="9525" marB="0" anchor="ctr"/>
                </a:tc>
              </a:tr>
              <a:tr h="176436">
                <a:tc>
                  <a:txBody>
                    <a:bodyPr wrap="square"/>
                    <a:lstStyle/>
                    <a:p>
                      <a:pPr algn="l"/>
                      <a:r>
                        <a:rPr sz="1050" b="0" i="0">
                          <a:solidFill>
                            <a:srgbClr val="000000"/>
                          </a:solidFill>
                          <a:latin typeface="Calibri"/>
                        </a:rPr>
                        <a:t>Figure 82: Brazil Off-Highway Vehicle Market Value, 2026-2036 By Propulsion Configuration</a:t>
                      </a:r>
                      <a:endParaRPr sz="1050"/>
                    </a:p>
                  </a:txBody>
                  <a:tcPr marL="9525" marR="9525" marT="9525" marB="0" anchor="ctr"/>
                </a:tc>
              </a:tr>
              <a:tr h="176436">
                <a:tc>
                  <a:txBody>
                    <a:bodyPr wrap="square"/>
                    <a:lstStyle/>
                    <a:p>
                      <a:pPr algn="l"/>
                      <a:r>
                        <a:rPr sz="1050" b="0" i="0">
                          <a:solidFill>
                            <a:srgbClr val="000000"/>
                          </a:solidFill>
                          <a:latin typeface="Calibri"/>
                        </a:rPr>
                        <a:t>Figure 83: Argentina Off-Highway Vehicle Market Value, 2026-2036 By Vehicle Type</a:t>
                      </a:r>
                      <a:endParaRPr sz="1050"/>
                    </a:p>
                  </a:txBody>
                  <a:tcPr marL="9525" marR="9525" marT="9525" marB="0" anchor="ctr"/>
                </a:tc>
              </a:tr>
              <a:tr h="176436">
                <a:tc>
                  <a:txBody>
                    <a:bodyPr wrap="square"/>
                    <a:lstStyle/>
                    <a:p>
                      <a:pPr algn="l"/>
                      <a:r>
                        <a:rPr sz="1050" b="0" i="0">
                          <a:solidFill>
                            <a:srgbClr val="000000"/>
                          </a:solidFill>
                          <a:latin typeface="Calibri"/>
                        </a:rPr>
                        <a:t>Figure 84: Argentina Off-Highway Vehicle Market Value, 2026-2036 By Powertrain</a:t>
                      </a:r>
                      <a:endParaRPr sz="1050"/>
                    </a:p>
                  </a:txBody>
                  <a:tcPr marL="9525" marR="9525" marT="9525" marB="0" anchor="ctr"/>
                </a:tc>
              </a:tr>
              <a:tr h="176436">
                <a:tc>
                  <a:txBody>
                    <a:bodyPr wrap="square"/>
                    <a:lstStyle/>
                    <a:p>
                      <a:pPr algn="l"/>
                      <a:r>
                        <a:rPr sz="1050" b="0" i="0">
                          <a:solidFill>
                            <a:srgbClr val="000000"/>
                          </a:solidFill>
                          <a:latin typeface="Calibri"/>
                        </a:rPr>
                        <a:t>Figure 85: Argentina Off-Highway Vehicle Market Value, 2026-2036 By Vehicle Capacity</a:t>
                      </a:r>
                      <a:endParaRPr sz="1050"/>
                    </a:p>
                  </a:txBody>
                  <a:tcPr marL="9525" marR="9525" marT="9525" marB="0" anchor="ctr"/>
                </a:tc>
              </a:tr>
              <a:tr h="176436">
                <a:tc>
                  <a:txBody>
                    <a:bodyPr wrap="square"/>
                    <a:lstStyle/>
                    <a:p>
                      <a:pPr algn="l"/>
                      <a:r>
                        <a:rPr sz="1050" b="0" i="0">
                          <a:solidFill>
                            <a:srgbClr val="000000"/>
                          </a:solidFill>
                          <a:latin typeface="Calibri"/>
                        </a:rPr>
                        <a:t>Figure 86: Argentina Off-Highway Vehicle Market Value, 2026-2036 By Propulsion Configuration</a:t>
                      </a:r>
                      <a:endParaRPr sz="1050"/>
                    </a:p>
                  </a:txBody>
                  <a:tcPr marL="9525" marR="9525" marT="9525" marB="0" anchor="ctr"/>
                </a:tc>
              </a:tr>
              <a:tr h="176436">
                <a:tc>
                  <a:txBody>
                    <a:bodyPr wrap="square"/>
                    <a:lstStyle/>
                    <a:p>
                      <a:pPr algn="l"/>
                      <a:r>
                        <a:rPr sz="1050" b="0" i="0">
                          <a:solidFill>
                            <a:srgbClr val="000000"/>
                          </a:solidFill>
                          <a:latin typeface="Calibri"/>
                        </a:rPr>
                        <a:t>Figure 87: Eastern Europe Off-Highway Vehicle Market Value, 2021-2036</a:t>
                      </a:r>
                      <a:endParaRPr sz="1050"/>
                    </a:p>
                  </a:txBody>
                  <a:tcPr marL="9525" marR="9525" marT="9525" marB="0" anchor="ctr"/>
                </a:tc>
              </a:tr>
              <a:tr h="176436">
                <a:tc>
                  <a:txBody>
                    <a:bodyPr wrap="square"/>
                    <a:lstStyle/>
                    <a:p>
                      <a:pPr algn="l"/>
                      <a:r>
                        <a:rPr sz="1050" b="0" i="0">
                          <a:solidFill>
                            <a:srgbClr val="000000"/>
                          </a:solidFill>
                          <a:latin typeface="Calibri"/>
                        </a:rPr>
                        <a:t>Figure 88: Eastern Europe Off-Highway Vehicle Market Incremental $ Opportunity, 2026-2036</a:t>
                      </a:r>
                      <a:endParaRPr sz="1050"/>
                    </a:p>
                  </a:txBody>
                  <a:tcPr marL="9525" marR="9525" marT="9525" marB="0" anchor="ctr"/>
                </a:tc>
              </a:tr>
              <a:tr h="176436">
                <a:tc>
                  <a:txBody>
                    <a:bodyPr wrap="square"/>
                    <a:lstStyle/>
                    <a:p>
                      <a:pPr algn="l"/>
                      <a:r>
                        <a:rPr sz="1050" b="0" i="0">
                          <a:solidFill>
                            <a:srgbClr val="000000"/>
                          </a:solidFill>
                          <a:latin typeface="Calibri"/>
                        </a:rPr>
                        <a:t>Figure 89: Eastern Europe Off-Highway Vehicle Market Value, 2026-2036 By Vehicle Type</a:t>
                      </a:r>
                      <a:endParaRPr sz="1050"/>
                    </a:p>
                  </a:txBody>
                  <a:tcPr marL="9525" marR="9525" marT="9525" marB="0" anchor="ctr"/>
                </a:tc>
              </a:tr>
              <a:tr h="345815">
                <a:tc>
                  <a:txBody>
                    <a:bodyPr wrap="square"/>
                    <a:lstStyle/>
                    <a:p>
                      <a:pPr algn="l"/>
                      <a:r>
                        <a:rPr sz="1050" b="0" i="0">
                          <a:solidFill>
                            <a:srgbClr val="000000"/>
                          </a:solidFill>
                          <a:latin typeface="Calibri"/>
                        </a:rPr>
                        <a:t>Figure 90: Eastern Europe Off-Highway Vehicle Market Value, 2026-2036 Y-o-Y Comparison By Vehicle Type</a:t>
                      </a:r>
                      <a:endParaRPr sz="1050"/>
                    </a:p>
                  </a:txBody>
                  <a:tcPr marL="9525" marR="9525" marT="9525" marB="0" anchor="ctr"/>
                </a:tc>
              </a:tr>
              <a:tr h="176436">
                <a:tc>
                  <a:txBody>
                    <a:bodyPr wrap="square"/>
                    <a:lstStyle/>
                    <a:p>
                      <a:pPr algn="l"/>
                      <a:r>
                        <a:rPr sz="1050" b="0" i="0">
                          <a:solidFill>
                            <a:srgbClr val="000000"/>
                          </a:solidFill>
                          <a:latin typeface="Calibri"/>
                        </a:rPr>
                        <a:t>Figure 91: Eastern Europe Off-Highway Vehicle Market Value, 2026-2036 BPS Analysis By Vehicle Type</a:t>
                      </a:r>
                      <a:endParaRPr sz="1050"/>
                    </a:p>
                  </a:txBody>
                  <a:tcPr marL="9525" marR="9525" marT="9525" marB="0" anchor="ctr"/>
                </a:tc>
              </a:tr>
              <a:tr h="176436">
                <a:tc>
                  <a:txBody>
                    <a:bodyPr wrap="square"/>
                    <a:lstStyle/>
                    <a:p>
                      <a:pPr algn="l"/>
                      <a:r>
                        <a:rPr sz="1050" b="0" i="0">
                          <a:solidFill>
                            <a:srgbClr val="000000"/>
                          </a:solidFill>
                          <a:latin typeface="Calibri"/>
                        </a:rPr>
                        <a:t>Figure 92: Eastern Europe Off-Highway Vehicle Market Attractiveness Analysis By Vehicle Type</a:t>
                      </a:r>
                      <a:endParaRPr sz="1050"/>
                    </a:p>
                  </a:txBody>
                  <a:tcPr marL="9525" marR="9525" marT="9525" marB="0" anchor="ctr"/>
                </a:tc>
              </a:tr>
              <a:tr h="176436">
                <a:tc>
                  <a:txBody>
                    <a:bodyPr wrap="square"/>
                    <a:lstStyle/>
                    <a:p>
                      <a:pPr algn="l"/>
                      <a:r>
                        <a:rPr sz="1050" b="0" i="0">
                          <a:solidFill>
                            <a:srgbClr val="000000"/>
                          </a:solidFill>
                          <a:latin typeface="Calibri"/>
                        </a:rPr>
                        <a:t>Figure 93: Eastern Europe Off-Highway Vehicle Market Value, 2026-2036 By Powertrain</a:t>
                      </a:r>
                      <a:endParaRPr sz="1050"/>
                    </a:p>
                  </a:txBody>
                  <a:tcPr marL="9525" marR="9525" marT="9525" marB="0" anchor="ctr"/>
                </a:tc>
              </a:tr>
              <a:tr h="345815">
                <a:tc>
                  <a:txBody>
                    <a:bodyPr wrap="square"/>
                    <a:lstStyle/>
                    <a:p>
                      <a:pPr algn="l"/>
                      <a:r>
                        <a:rPr sz="1050" b="0" i="0">
                          <a:solidFill>
                            <a:srgbClr val="000000"/>
                          </a:solidFill>
                          <a:latin typeface="Calibri"/>
                        </a:rPr>
                        <a:t>Figure 94: Eastern Europe Off-Highway Vehicle Market Value, 2026-2036 Y-o-Y Comparison By Powertrain</a:t>
                      </a:r>
                      <a:endParaRPr sz="1050"/>
                    </a:p>
                  </a:txBody>
                  <a:tcPr marL="9525" marR="9525" marT="9525" marB="0" anchor="ctr"/>
                </a:tc>
              </a:tr>
              <a:tr h="176436">
                <a:tc>
                  <a:txBody>
                    <a:bodyPr wrap="square"/>
                    <a:lstStyle/>
                    <a:p>
                      <a:pPr algn="l"/>
                      <a:r>
                        <a:rPr sz="1050" b="0" i="0">
                          <a:solidFill>
                            <a:srgbClr val="000000"/>
                          </a:solidFill>
                          <a:latin typeface="Calibri"/>
                        </a:rPr>
                        <a:t>Figure 95: Eastern Europe Off-Highway Vehicle Market Value, 2026-2036 BPS Analysis By Powertrain</a:t>
                      </a:r>
                      <a:endParaRPr sz="1050"/>
                    </a:p>
                  </a:txBody>
                  <a:tcPr marL="9525" marR="9525" marT="9525" marB="0" anchor="ctr"/>
                </a:tc>
              </a:tr>
              <a:tr h="176436">
                <a:tc>
                  <a:txBody>
                    <a:bodyPr wrap="square"/>
                    <a:lstStyle/>
                    <a:p>
                      <a:pPr algn="l"/>
                      <a:r>
                        <a:rPr sz="1050" b="0" i="0">
                          <a:solidFill>
                            <a:srgbClr val="000000"/>
                          </a:solidFill>
                          <a:latin typeface="Calibri"/>
                        </a:rPr>
                        <a:t>Figure 96: Eastern Europe Off-Highway Vehicle Market Attractiveness Analysis By Powertrain</a:t>
                      </a:r>
                      <a:endParaRPr sz="1050"/>
                    </a:p>
                  </a:txBody>
                  <a:tcPr marL="9525" marR="9525" marT="9525" marB="0" anchor="ctr"/>
                </a:tc>
              </a:tr>
              <a:tr h="176436">
                <a:tc>
                  <a:txBody>
                    <a:bodyPr wrap="square"/>
                    <a:lstStyle/>
                    <a:p>
                      <a:pPr algn="l"/>
                      <a:r>
                        <a:rPr sz="1050" b="0" i="0">
                          <a:solidFill>
                            <a:srgbClr val="000000"/>
                          </a:solidFill>
                          <a:latin typeface="Calibri"/>
                        </a:rPr>
                        <a:t>Figure 97: Eastern Europe Off-Highway Vehicle Market Value, 2026-2036 By Vehicle Capacity</a:t>
                      </a:r>
                      <a:endParaRPr sz="1050"/>
                    </a:p>
                  </a:txBody>
                  <a:tcPr marL="9525" marR="9525" marT="9525" marB="0" anchor="ctr"/>
                </a:tc>
              </a:tr>
              <a:tr h="345815">
                <a:tc>
                  <a:txBody>
                    <a:bodyPr wrap="square"/>
                    <a:lstStyle/>
                    <a:p>
                      <a:pPr algn="l"/>
                      <a:r>
                        <a:rPr sz="1050" b="0" i="0">
                          <a:solidFill>
                            <a:srgbClr val="000000"/>
                          </a:solidFill>
                          <a:latin typeface="Calibri"/>
                        </a:rPr>
                        <a:t>Figure 98: Eastern Europe Off-Highway Vehicle Market Value, 2026-2036 Y-o-Y Comparison By Vehicle Capacity</a:t>
                      </a:r>
                      <a:endParaRPr sz="1050"/>
                    </a:p>
                  </a:txBody>
                  <a:tcPr marL="9525" marR="9525" marT="9525" marB="0" anchor="ctr"/>
                </a:tc>
              </a:tr>
              <a:tr h="345815">
                <a:tc>
                  <a:txBody>
                    <a:bodyPr wrap="square"/>
                    <a:lstStyle/>
                    <a:p>
                      <a:pPr algn="l"/>
                      <a:r>
                        <a:rPr sz="1050" b="0" i="0">
                          <a:solidFill>
                            <a:srgbClr val="000000"/>
                          </a:solidFill>
                          <a:latin typeface="Calibri"/>
                        </a:rPr>
                        <a:t>Figure 99: Eastern Europe Off-Highway Vehicle Market Value, 2026-2036 BPS Analysis By Vehicle Capacity</a:t>
                      </a:r>
                      <a:endParaRPr sz="1050"/>
                    </a:p>
                  </a:txBody>
                  <a:tcPr marL="9525" marR="9525" marT="9525" marB="0" anchor="ctr"/>
                </a:tc>
              </a:tr>
              <a:tr h="176436">
                <a:tc>
                  <a:txBody>
                    <a:bodyPr wrap="square"/>
                    <a:lstStyle/>
                    <a:p>
                      <a:pPr algn="l"/>
                      <a:r>
                        <a:rPr sz="1050" b="0" i="0">
                          <a:solidFill>
                            <a:srgbClr val="000000"/>
                          </a:solidFill>
                          <a:latin typeface="Calibri"/>
                        </a:rPr>
                        <a:t>Figure 100: Eastern Europe Off-Highway Vehicle Market Attractiveness Analysis By Vehicle Capacity</a:t>
                      </a:r>
                      <a:endParaRPr sz="1050"/>
                    </a:p>
                  </a:txBody>
                  <a:tcPr marL="9525" marR="9525" marT="9525" marB="0" anchor="ctr"/>
                </a:tc>
              </a:tr>
              <a:tr h="176436">
                <a:tc>
                  <a:txBody>
                    <a:bodyPr wrap="square"/>
                    <a:lstStyle/>
                    <a:p>
                      <a:pPr algn="l"/>
                      <a:r>
                        <a:rPr sz="1050" b="0" i="0">
                          <a:solidFill>
                            <a:srgbClr val="000000"/>
                          </a:solidFill>
                          <a:latin typeface="Calibri"/>
                        </a:rPr>
                        <a:t>Figure 101: Eastern Europe Off-Highway Vehicle Market Value, 2026-2036 By Propulsion Configuration</a:t>
                      </a:r>
                      <a:endParaRPr sz="1050"/>
                    </a:p>
                  </a:txBody>
                  <a:tcPr marL="9525" marR="9525" marT="9525" marB="0" anchor="ctr"/>
                </a:tc>
              </a:tr>
              <a:tr h="345815">
                <a:tc>
                  <a:txBody>
                    <a:bodyPr wrap="square"/>
                    <a:lstStyle/>
                    <a:p>
                      <a:pPr algn="l"/>
                      <a:r>
                        <a:rPr sz="1050" b="0" i="0">
                          <a:solidFill>
                            <a:srgbClr val="000000"/>
                          </a:solidFill>
                          <a:latin typeface="Calibri"/>
                        </a:rPr>
                        <a:t>Figure 102: Eastern Europe Off-Highway Vehicle Market Value, 2026-2036 Y-o-Y Comparison By Propulsion Configuration</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(3/6)</a:t>
            </a:r>
          </a:p>
        </p:txBody>
      </p:sp>
      <p:graphicFrame>
        <p:nvGraphicFramePr>
          <p:cNvPr id="6" name="TMR Contents Table"/>
          <p:cNvGraphicFramePr>
            <a:graphicFrameLocks noGrp="1"/>
          </p:cNvGraphicFramePr>
          <p:nvPr/>
        </p:nvGraphicFramePr>
        <p:xfrm>
          <a:off x="142875" y="981075"/>
          <a:ext cx="5876925" cy="5257804"/>
        </p:xfrm>
        <a:graphic>
          <a:graphicData uri="http://schemas.openxmlformats.org/drawingml/2006/table">
            <a:tbl>
              <a:tblPr>
                <a:tableStyleId>{3B4B98B0-60AC-42C2-AFA5-B58CD77FA1E5}</a:tableStyleId>
              </a:tblPr>
              <a:tblGrid>
                <a:gridCol w="5876925"/>
              </a:tblGrid>
              <a:tr h="345351">
                <a:tc>
                  <a:txBody>
                    <a:bodyPr wrap="square"/>
                    <a:lstStyle/>
                    <a:p>
                      <a:pPr algn="l"/>
                      <a:r>
                        <a:rPr sz="1050" b="0" i="0">
                          <a:solidFill>
                            <a:srgbClr val="000000"/>
                          </a:solidFill>
                          <a:latin typeface="Calibri"/>
                        </a:rPr>
                        <a:t>Figure 103: Eastern Europe Off-Highway Vehicle Market Value, 2026-2036 BPS Analysis By Propulsion Configuration</a:t>
                      </a:r>
                      <a:endParaRPr sz="1050"/>
                    </a:p>
                  </a:txBody>
                  <a:tcPr marL="9525" marR="9525" marT="9525" marB="0" anchor="ctr"/>
                </a:tc>
              </a:tr>
              <a:tr h="345351">
                <a:tc>
                  <a:txBody>
                    <a:bodyPr wrap="square"/>
                    <a:lstStyle/>
                    <a:p>
                      <a:pPr algn="l"/>
                      <a:r>
                        <a:rPr sz="1050" b="0" i="0">
                          <a:solidFill>
                            <a:srgbClr val="000000"/>
                          </a:solidFill>
                          <a:latin typeface="Calibri"/>
                        </a:rPr>
                        <a:t>Figure 104: Eastern Europe Off-Highway Vehicle Market Attractiveness Analysis By Propulsion Configuration</a:t>
                      </a:r>
                      <a:endParaRPr sz="1050"/>
                    </a:p>
                  </a:txBody>
                  <a:tcPr marL="9525" marR="9525" marT="9525" marB="0" anchor="ctr"/>
                </a:tc>
              </a:tr>
              <a:tr h="176200">
                <a:tc>
                  <a:txBody>
                    <a:bodyPr wrap="square"/>
                    <a:lstStyle/>
                    <a:p>
                      <a:pPr algn="l"/>
                      <a:r>
                        <a:rPr sz="1050" b="0" i="0">
                          <a:solidFill>
                            <a:srgbClr val="000000"/>
                          </a:solidFill>
                          <a:latin typeface="Calibri"/>
                        </a:rPr>
                        <a:t>Figure 105: Eastern Europe Off-Highway Vehicle Market Value, 2026-2036 By Region</a:t>
                      </a:r>
                      <a:endParaRPr sz="1050"/>
                    </a:p>
                  </a:txBody>
                  <a:tcPr marL="9525" marR="9525" marT="9525" marB="0" anchor="ctr"/>
                </a:tc>
              </a:tr>
              <a:tr h="176200">
                <a:tc>
                  <a:txBody>
                    <a:bodyPr wrap="square"/>
                    <a:lstStyle/>
                    <a:p>
                      <a:pPr algn="l"/>
                      <a:r>
                        <a:rPr sz="1050" b="0" i="0">
                          <a:solidFill>
                            <a:srgbClr val="000000"/>
                          </a:solidFill>
                          <a:latin typeface="Calibri"/>
                        </a:rPr>
                        <a:t>Figure 106: Eastern Europe Off-Highway Vehicle Market Value, 2026-2036 Y-o-Y Comparison By Region</a:t>
                      </a:r>
                      <a:endParaRPr sz="1050"/>
                    </a:p>
                  </a:txBody>
                  <a:tcPr marL="9525" marR="9525" marT="9525" marB="0" anchor="ctr"/>
                </a:tc>
              </a:tr>
              <a:tr h="176200">
                <a:tc>
                  <a:txBody>
                    <a:bodyPr wrap="square"/>
                    <a:lstStyle/>
                    <a:p>
                      <a:pPr algn="l"/>
                      <a:r>
                        <a:rPr sz="1050" b="0" i="0">
                          <a:solidFill>
                            <a:srgbClr val="000000"/>
                          </a:solidFill>
                          <a:latin typeface="Calibri"/>
                        </a:rPr>
                        <a:t>Figure 107: Eastern Europe Off-Highway Vehicle Market Value, 2026-2036 BPS Analysis By Region</a:t>
                      </a:r>
                      <a:endParaRPr sz="1050"/>
                    </a:p>
                  </a:txBody>
                  <a:tcPr marL="9525" marR="9525" marT="9525" marB="0" anchor="ctr"/>
                </a:tc>
              </a:tr>
              <a:tr h="176200">
                <a:tc>
                  <a:txBody>
                    <a:bodyPr wrap="square"/>
                    <a:lstStyle/>
                    <a:p>
                      <a:pPr algn="l"/>
                      <a:r>
                        <a:rPr sz="1050" b="0" i="0">
                          <a:solidFill>
                            <a:srgbClr val="000000"/>
                          </a:solidFill>
                          <a:latin typeface="Calibri"/>
                        </a:rPr>
                        <a:t>Figure 108: Eastern Europe Off-Highway Vehicle Market Attractiveness Analysis By Region</a:t>
                      </a:r>
                      <a:endParaRPr sz="1050"/>
                    </a:p>
                  </a:txBody>
                  <a:tcPr marL="9525" marR="9525" marT="9525" marB="0" anchor="ctr"/>
                </a:tc>
              </a:tr>
              <a:tr h="176200">
                <a:tc>
                  <a:txBody>
                    <a:bodyPr wrap="square"/>
                    <a:lstStyle/>
                    <a:p>
                      <a:pPr algn="l"/>
                      <a:r>
                        <a:rPr sz="1050" b="0" i="0">
                          <a:solidFill>
                            <a:srgbClr val="000000"/>
                          </a:solidFill>
                          <a:latin typeface="Calibri"/>
                        </a:rPr>
                        <a:t>Figure 109: Russia Off-Highway Vehicle Market Value, 2026-2036 By Vehicle Type</a:t>
                      </a:r>
                      <a:endParaRPr sz="1050"/>
                    </a:p>
                  </a:txBody>
                  <a:tcPr marL="9525" marR="9525" marT="9525" marB="0" anchor="ctr"/>
                </a:tc>
              </a:tr>
              <a:tr h="176200">
                <a:tc>
                  <a:txBody>
                    <a:bodyPr wrap="square"/>
                    <a:lstStyle/>
                    <a:p>
                      <a:pPr algn="l"/>
                      <a:r>
                        <a:rPr sz="1050" b="0" i="0">
                          <a:solidFill>
                            <a:srgbClr val="000000"/>
                          </a:solidFill>
                          <a:latin typeface="Calibri"/>
                        </a:rPr>
                        <a:t>Figure 110: Russia Off-Highway Vehicle Market Value, 2026-2036 By Powertrain</a:t>
                      </a:r>
                      <a:endParaRPr sz="1050"/>
                    </a:p>
                  </a:txBody>
                  <a:tcPr marL="9525" marR="9525" marT="9525" marB="0" anchor="ctr"/>
                </a:tc>
              </a:tr>
              <a:tr h="176200">
                <a:tc>
                  <a:txBody>
                    <a:bodyPr wrap="square"/>
                    <a:lstStyle/>
                    <a:p>
                      <a:pPr algn="l"/>
                      <a:r>
                        <a:rPr sz="1050" b="0" i="0">
                          <a:solidFill>
                            <a:srgbClr val="000000"/>
                          </a:solidFill>
                          <a:latin typeface="Calibri"/>
                        </a:rPr>
                        <a:t>Figure 111: Russia Off-Highway Vehicle Market Value, 2026-2036 By Vehicle Capacity</a:t>
                      </a:r>
                      <a:endParaRPr sz="1050"/>
                    </a:p>
                  </a:txBody>
                  <a:tcPr marL="9525" marR="9525" marT="9525" marB="0" anchor="ctr"/>
                </a:tc>
              </a:tr>
              <a:tr h="176200">
                <a:tc>
                  <a:txBody>
                    <a:bodyPr wrap="square"/>
                    <a:lstStyle/>
                    <a:p>
                      <a:pPr algn="l"/>
                      <a:r>
                        <a:rPr sz="1050" b="0" i="0">
                          <a:solidFill>
                            <a:srgbClr val="000000"/>
                          </a:solidFill>
                          <a:latin typeface="Calibri"/>
                        </a:rPr>
                        <a:t>Figure 112: Russia Off-Highway Vehicle Market Value, 2026-2036 By Propulsion Configuration</a:t>
                      </a:r>
                      <a:endParaRPr sz="1050"/>
                    </a:p>
                  </a:txBody>
                  <a:tcPr marL="9525" marR="9525" marT="9525" marB="0" anchor="ctr"/>
                </a:tc>
              </a:tr>
              <a:tr h="176200">
                <a:tc>
                  <a:txBody>
                    <a:bodyPr wrap="square"/>
                    <a:lstStyle/>
                    <a:p>
                      <a:pPr algn="l"/>
                      <a:r>
                        <a:rPr sz="1050" b="0" i="0">
                          <a:solidFill>
                            <a:srgbClr val="000000"/>
                          </a:solidFill>
                          <a:latin typeface="Calibri"/>
                        </a:rPr>
                        <a:t>Figure 113: Hungary Off-Highway Vehicle Market Value, 2026-2036 By Vehicle Type</a:t>
                      </a:r>
                      <a:endParaRPr sz="1050"/>
                    </a:p>
                  </a:txBody>
                  <a:tcPr marL="9525" marR="9525" marT="9525" marB="0" anchor="ctr"/>
                </a:tc>
              </a:tr>
              <a:tr h="176200">
                <a:tc>
                  <a:txBody>
                    <a:bodyPr wrap="square"/>
                    <a:lstStyle/>
                    <a:p>
                      <a:pPr algn="l"/>
                      <a:r>
                        <a:rPr sz="1050" b="0" i="0">
                          <a:solidFill>
                            <a:srgbClr val="000000"/>
                          </a:solidFill>
                          <a:latin typeface="Calibri"/>
                        </a:rPr>
                        <a:t>Figure 114: Hungary Off-Highway Vehicle Market Value, 2026-2036 By Powertrain</a:t>
                      </a:r>
                      <a:endParaRPr sz="1050"/>
                    </a:p>
                  </a:txBody>
                  <a:tcPr marL="9525" marR="9525" marT="9525" marB="0" anchor="ctr"/>
                </a:tc>
              </a:tr>
              <a:tr h="176200">
                <a:tc>
                  <a:txBody>
                    <a:bodyPr wrap="square"/>
                    <a:lstStyle/>
                    <a:p>
                      <a:pPr algn="l"/>
                      <a:r>
                        <a:rPr sz="1050" b="0" i="0">
                          <a:solidFill>
                            <a:srgbClr val="000000"/>
                          </a:solidFill>
                          <a:latin typeface="Calibri"/>
                        </a:rPr>
                        <a:t>Figure 115: Hungary Off-Highway Vehicle Market Value, 2026-2036 By Vehicle Capacity</a:t>
                      </a:r>
                      <a:endParaRPr sz="1050"/>
                    </a:p>
                  </a:txBody>
                  <a:tcPr marL="9525" marR="9525" marT="9525" marB="0" anchor="ctr"/>
                </a:tc>
              </a:tr>
              <a:tr h="176200">
                <a:tc>
                  <a:txBody>
                    <a:bodyPr wrap="square"/>
                    <a:lstStyle/>
                    <a:p>
                      <a:pPr algn="l"/>
                      <a:r>
                        <a:rPr sz="1050" b="0" i="0">
                          <a:solidFill>
                            <a:srgbClr val="000000"/>
                          </a:solidFill>
                          <a:latin typeface="Calibri"/>
                        </a:rPr>
                        <a:t>Figure 116: Hungary Off-Highway Vehicle Market Value, 2026-2036 By Propulsion Configuration</a:t>
                      </a:r>
                      <a:endParaRPr sz="1050"/>
                    </a:p>
                  </a:txBody>
                  <a:tcPr marL="9525" marR="9525" marT="9525" marB="0" anchor="ctr"/>
                </a:tc>
              </a:tr>
              <a:tr h="176200">
                <a:tc>
                  <a:txBody>
                    <a:bodyPr wrap="square"/>
                    <a:lstStyle/>
                    <a:p>
                      <a:pPr algn="l"/>
                      <a:r>
                        <a:rPr sz="1050" b="0" i="0">
                          <a:solidFill>
                            <a:srgbClr val="000000"/>
                          </a:solidFill>
                          <a:latin typeface="Calibri"/>
                        </a:rPr>
                        <a:t>Figure 117: Poland Off-Highway Vehicle Market Value, 2026-2036 By Vehicle Type</a:t>
                      </a:r>
                      <a:endParaRPr sz="1050"/>
                    </a:p>
                  </a:txBody>
                  <a:tcPr marL="9525" marR="9525" marT="9525" marB="0" anchor="ctr"/>
                </a:tc>
              </a:tr>
              <a:tr h="176200">
                <a:tc>
                  <a:txBody>
                    <a:bodyPr wrap="square"/>
                    <a:lstStyle/>
                    <a:p>
                      <a:pPr algn="l"/>
                      <a:r>
                        <a:rPr sz="1050" b="0" i="0">
                          <a:solidFill>
                            <a:srgbClr val="000000"/>
                          </a:solidFill>
                          <a:latin typeface="Calibri"/>
                        </a:rPr>
                        <a:t>Figure 118: Poland Off-Highway Vehicle Market Value, 2026-2036 By Powertrain</a:t>
                      </a:r>
                      <a:endParaRPr sz="1050"/>
                    </a:p>
                  </a:txBody>
                  <a:tcPr marL="9525" marR="9525" marT="9525" marB="0" anchor="ctr"/>
                </a:tc>
              </a:tr>
              <a:tr h="176200">
                <a:tc>
                  <a:txBody>
                    <a:bodyPr wrap="square"/>
                    <a:lstStyle/>
                    <a:p>
                      <a:pPr algn="l"/>
                      <a:r>
                        <a:rPr sz="1050" b="0" i="0">
                          <a:solidFill>
                            <a:srgbClr val="000000"/>
                          </a:solidFill>
                          <a:latin typeface="Calibri"/>
                        </a:rPr>
                        <a:t>Figure 119: Poland Off-Highway Vehicle Market Value, 2026-2036 By Vehicle Capacity</a:t>
                      </a:r>
                      <a:endParaRPr sz="1050"/>
                    </a:p>
                  </a:txBody>
                  <a:tcPr marL="9525" marR="9525" marT="9525" marB="0" anchor="ctr"/>
                </a:tc>
              </a:tr>
              <a:tr h="176200">
                <a:tc>
                  <a:txBody>
                    <a:bodyPr wrap="square"/>
                    <a:lstStyle/>
                    <a:p>
                      <a:pPr algn="l"/>
                      <a:r>
                        <a:rPr sz="1050" b="0" i="0">
                          <a:solidFill>
                            <a:srgbClr val="000000"/>
                          </a:solidFill>
                          <a:latin typeface="Calibri"/>
                        </a:rPr>
                        <a:t>Figure 120: Poland Off-Highway Vehicle Market Value, 2026-2036 By Propulsion Configuration</a:t>
                      </a:r>
                      <a:endParaRPr sz="1050"/>
                    </a:p>
                  </a:txBody>
                  <a:tcPr marL="9525" marR="9525" marT="9525" marB="0" anchor="ctr"/>
                </a:tc>
              </a:tr>
              <a:tr h="176200">
                <a:tc>
                  <a:txBody>
                    <a:bodyPr wrap="square"/>
                    <a:lstStyle/>
                    <a:p>
                      <a:pPr algn="l"/>
                      <a:r>
                        <a:rPr sz="1050" b="0" i="0">
                          <a:solidFill>
                            <a:srgbClr val="000000"/>
                          </a:solidFill>
                          <a:latin typeface="Calibri"/>
                        </a:rPr>
                        <a:t>Figure 121: Balkan and Baltics Off-Highway Vehicle Market Value, 2026-2036 By Vehicle Type</a:t>
                      </a:r>
                      <a:endParaRPr sz="1050"/>
                    </a:p>
                  </a:txBody>
                  <a:tcPr marL="9525" marR="9525" marT="9525" marB="0" anchor="ctr"/>
                </a:tc>
              </a:tr>
              <a:tr h="176200">
                <a:tc>
                  <a:txBody>
                    <a:bodyPr wrap="square"/>
                    <a:lstStyle/>
                    <a:p>
                      <a:pPr algn="l"/>
                      <a:r>
                        <a:rPr sz="1050" b="0" i="0">
                          <a:solidFill>
                            <a:srgbClr val="000000"/>
                          </a:solidFill>
                          <a:latin typeface="Calibri"/>
                        </a:rPr>
                        <a:t>Figure 122: Balkan and Baltics Off-Highway Vehicle Market Value, 2026-2036 By Powertrain</a:t>
                      </a:r>
                      <a:endParaRPr sz="1050"/>
                    </a:p>
                  </a:txBody>
                  <a:tcPr marL="9525" marR="9525" marT="9525" marB="0" anchor="ctr"/>
                </a:tc>
              </a:tr>
              <a:tr h="176200">
                <a:tc>
                  <a:txBody>
                    <a:bodyPr wrap="square"/>
                    <a:lstStyle/>
                    <a:p>
                      <a:pPr algn="l"/>
                      <a:r>
                        <a:rPr sz="1050" b="0" i="0">
                          <a:solidFill>
                            <a:srgbClr val="000000"/>
                          </a:solidFill>
                          <a:latin typeface="Calibri"/>
                        </a:rPr>
                        <a:t>Figure 123: Balkan and Baltics Off-Highway Vehicle Market Value, 2026-2036 By Vehicle Capacity</a:t>
                      </a:r>
                      <a:endParaRPr sz="1050"/>
                    </a:p>
                  </a:txBody>
                  <a:tcPr marL="9525" marR="9525" marT="9525" marB="0" anchor="ctr"/>
                </a:tc>
              </a:tr>
              <a:tr h="345351">
                <a:tc>
                  <a:txBody>
                    <a:bodyPr wrap="square"/>
                    <a:lstStyle/>
                    <a:p>
                      <a:pPr algn="l"/>
                      <a:r>
                        <a:rPr sz="1050" b="0" i="0">
                          <a:solidFill>
                            <a:srgbClr val="000000"/>
                          </a:solidFill>
                          <a:latin typeface="Calibri"/>
                        </a:rPr>
                        <a:t>Figure 124: Balkan and Baltics Off-Highway Vehicle Market Value, 2026-2036 By Propulsion Configuration</a:t>
                      </a:r>
                      <a:endParaRPr sz="1050"/>
                    </a:p>
                  </a:txBody>
                  <a:tcPr marL="9525" marR="9525" marT="9525" marB="0" anchor="ctr"/>
                </a:tc>
              </a:tr>
              <a:tr h="176200">
                <a:tc>
                  <a:txBody>
                    <a:bodyPr wrap="square"/>
                    <a:lstStyle/>
                    <a:p>
                      <a:pPr algn="l"/>
                      <a:r>
                        <a:rPr sz="1050" b="0" i="0">
                          <a:solidFill>
                            <a:srgbClr val="000000"/>
                          </a:solidFill>
                          <a:latin typeface="Calibri"/>
                        </a:rPr>
                        <a:t>Figure 125: Western Europe Off-Highway Vehicle Market Value, 2021-2036</a:t>
                      </a:r>
                      <a:endParaRPr sz="1050"/>
                    </a:p>
                  </a:txBody>
                  <a:tcPr marL="9525" marR="9525" marT="9525" marB="0" anchor="ctr"/>
                </a:tc>
              </a:tr>
              <a:tr h="176200">
                <a:tc>
                  <a:txBody>
                    <a:bodyPr wrap="square"/>
                    <a:lstStyle/>
                    <a:p>
                      <a:pPr algn="l"/>
                      <a:r>
                        <a:rPr sz="1050" b="0" i="0">
                          <a:solidFill>
                            <a:srgbClr val="000000"/>
                          </a:solidFill>
                          <a:latin typeface="Calibri"/>
                        </a:rPr>
                        <a:t>Figure 126: Western Europe Off-Highway Vehicle Market Incremental $ Opportunity, 2026-2036</a:t>
                      </a:r>
                      <a:endParaRPr sz="1050"/>
                    </a:p>
                  </a:txBody>
                  <a:tcPr marL="9525" marR="9525" marT="9525" marB="0" anchor="ctr"/>
                </a:tc>
              </a:tr>
              <a:tr h="176200">
                <a:tc>
                  <a:txBody>
                    <a:bodyPr wrap="square"/>
                    <a:lstStyle/>
                    <a:p>
                      <a:pPr algn="l"/>
                      <a:r>
                        <a:rPr sz="1050" b="0" i="0">
                          <a:solidFill>
                            <a:srgbClr val="000000"/>
                          </a:solidFill>
                          <a:latin typeface="Calibri"/>
                        </a:rPr>
                        <a:t>Figure 127: Western Europe Off-Highway Vehicle Market Value, 2026-2036 By Vehicle Type</a:t>
                      </a:r>
                      <a:endParaRPr sz="1050"/>
                    </a:p>
                  </a:txBody>
                  <a:tcPr marL="9525" marR="9525" marT="9525" marB="0" anchor="ctr"/>
                </a:tc>
              </a:tr>
              <a:tr h="345351">
                <a:tc>
                  <a:txBody>
                    <a:bodyPr wrap="square"/>
                    <a:lstStyle/>
                    <a:p>
                      <a:pPr algn="l"/>
                      <a:r>
                        <a:rPr sz="1050" b="0" i="0">
                          <a:solidFill>
                            <a:srgbClr val="000000"/>
                          </a:solidFill>
                          <a:latin typeface="Calibri"/>
                        </a:rPr>
                        <a:t>Figure 128: Western Europe Off-Highway Vehicle Market Value, 2026-2036 Y-o-Y Comparison By Vehicle Type</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336334">
                <a:tc>
                  <a:txBody>
                    <a:bodyPr wrap="square"/>
                    <a:lstStyle/>
                    <a:p>
                      <a:pPr algn="l"/>
                      <a:r>
                        <a:rPr sz="1050" b="0" i="0">
                          <a:solidFill>
                            <a:srgbClr val="000000"/>
                          </a:solidFill>
                          <a:latin typeface="Calibri"/>
                        </a:rPr>
                        <a:t>Figure 129: Western Europe Off-Highway Vehicle Market Value, 2026-2036 BPS Analysis By Vehicle Type</a:t>
                      </a:r>
                      <a:endParaRPr sz="1050"/>
                    </a:p>
                  </a:txBody>
                  <a:tcPr marL="9525" marR="9525" marT="9525" marB="0" anchor="ctr"/>
                </a:tc>
              </a:tr>
              <a:tr h="171599">
                <a:tc>
                  <a:txBody>
                    <a:bodyPr wrap="square"/>
                    <a:lstStyle/>
                    <a:p>
                      <a:pPr algn="l"/>
                      <a:r>
                        <a:rPr sz="1050" b="0" i="0">
                          <a:solidFill>
                            <a:srgbClr val="000000"/>
                          </a:solidFill>
                          <a:latin typeface="Calibri"/>
                        </a:rPr>
                        <a:t>Figure 130: Western Europe Off-Highway Vehicle Market Attractiveness Analysis By Vehicle Type</a:t>
                      </a:r>
                      <a:endParaRPr sz="1050"/>
                    </a:p>
                  </a:txBody>
                  <a:tcPr marL="9525" marR="9525" marT="9525" marB="0" anchor="ctr"/>
                </a:tc>
              </a:tr>
              <a:tr h="171599">
                <a:tc>
                  <a:txBody>
                    <a:bodyPr wrap="square"/>
                    <a:lstStyle/>
                    <a:p>
                      <a:pPr algn="l"/>
                      <a:r>
                        <a:rPr sz="1050" b="0" i="0">
                          <a:solidFill>
                            <a:srgbClr val="000000"/>
                          </a:solidFill>
                          <a:latin typeface="Calibri"/>
                        </a:rPr>
                        <a:t>Figure 131: Western Europe Off-Highway Vehicle Market Value, 2026-2036 By Powertrain</a:t>
                      </a:r>
                      <a:endParaRPr sz="1050"/>
                    </a:p>
                  </a:txBody>
                  <a:tcPr marL="9525" marR="9525" marT="9525" marB="0" anchor="ctr"/>
                </a:tc>
              </a:tr>
              <a:tr h="336334">
                <a:tc>
                  <a:txBody>
                    <a:bodyPr wrap="square"/>
                    <a:lstStyle/>
                    <a:p>
                      <a:pPr algn="l"/>
                      <a:r>
                        <a:rPr sz="1050" b="0" i="0">
                          <a:solidFill>
                            <a:srgbClr val="000000"/>
                          </a:solidFill>
                          <a:latin typeface="Calibri"/>
                        </a:rPr>
                        <a:t>Figure 132: Western Europe Off-Highway Vehicle Market Value, 2026-2036 Y-o-Y Comparison By Powertrain</a:t>
                      </a:r>
                      <a:endParaRPr sz="1050"/>
                    </a:p>
                  </a:txBody>
                  <a:tcPr marL="9525" marR="9525" marT="9525" marB="0" anchor="ctr"/>
                </a:tc>
              </a:tr>
              <a:tr h="171599">
                <a:tc>
                  <a:txBody>
                    <a:bodyPr wrap="square"/>
                    <a:lstStyle/>
                    <a:p>
                      <a:pPr algn="l"/>
                      <a:r>
                        <a:rPr sz="1050" b="0" i="0">
                          <a:solidFill>
                            <a:srgbClr val="000000"/>
                          </a:solidFill>
                          <a:latin typeface="Calibri"/>
                        </a:rPr>
                        <a:t>Figure 133: Western Europe Off-Highway Vehicle Market Value, 2026-2036 BPS Analysis By Powertrain</a:t>
                      </a:r>
                      <a:endParaRPr sz="1050"/>
                    </a:p>
                  </a:txBody>
                  <a:tcPr marL="9525" marR="9525" marT="9525" marB="0" anchor="ctr"/>
                </a:tc>
              </a:tr>
              <a:tr h="171599">
                <a:tc>
                  <a:txBody>
                    <a:bodyPr wrap="square"/>
                    <a:lstStyle/>
                    <a:p>
                      <a:pPr algn="l"/>
                      <a:r>
                        <a:rPr sz="1050" b="0" i="0">
                          <a:solidFill>
                            <a:srgbClr val="000000"/>
                          </a:solidFill>
                          <a:latin typeface="Calibri"/>
                        </a:rPr>
                        <a:t>Figure 134: Western Europe Off-Highway Vehicle Market Attractiveness Analysis By Powertrain</a:t>
                      </a:r>
                      <a:endParaRPr sz="1050"/>
                    </a:p>
                  </a:txBody>
                  <a:tcPr marL="9525" marR="9525" marT="9525" marB="0" anchor="ctr"/>
                </a:tc>
              </a:tr>
              <a:tr h="171599">
                <a:tc>
                  <a:txBody>
                    <a:bodyPr wrap="square"/>
                    <a:lstStyle/>
                    <a:p>
                      <a:pPr algn="l"/>
                      <a:r>
                        <a:rPr sz="1050" b="0" i="0">
                          <a:solidFill>
                            <a:srgbClr val="000000"/>
                          </a:solidFill>
                          <a:latin typeface="Calibri"/>
                        </a:rPr>
                        <a:t>Figure 135: Western Europe Off-Highway Vehicle Market Value, 2026-2036 By Vehicle Capacity</a:t>
                      </a:r>
                      <a:endParaRPr sz="1050"/>
                    </a:p>
                  </a:txBody>
                  <a:tcPr marL="9525" marR="9525" marT="9525" marB="0" anchor="ctr"/>
                </a:tc>
              </a:tr>
              <a:tr h="336334">
                <a:tc>
                  <a:txBody>
                    <a:bodyPr wrap="square"/>
                    <a:lstStyle/>
                    <a:p>
                      <a:pPr algn="l"/>
                      <a:r>
                        <a:rPr sz="1050" b="0" i="0">
                          <a:solidFill>
                            <a:srgbClr val="000000"/>
                          </a:solidFill>
                          <a:latin typeface="Calibri"/>
                        </a:rPr>
                        <a:t>Figure 136: Western Europe Off-Highway Vehicle Market Value, 2026-2036 Y-o-Y Comparison By Vehicle Capacity</a:t>
                      </a:r>
                      <a:endParaRPr sz="1050"/>
                    </a:p>
                  </a:txBody>
                  <a:tcPr marL="9525" marR="9525" marT="9525" marB="0" anchor="ctr"/>
                </a:tc>
              </a:tr>
              <a:tr h="336334">
                <a:tc>
                  <a:txBody>
                    <a:bodyPr wrap="square"/>
                    <a:lstStyle/>
                    <a:p>
                      <a:pPr algn="l"/>
                      <a:r>
                        <a:rPr sz="1050" b="0" i="0">
                          <a:solidFill>
                            <a:srgbClr val="000000"/>
                          </a:solidFill>
                          <a:latin typeface="Calibri"/>
                        </a:rPr>
                        <a:t>Figure 137: Western Europe Off-Highway Vehicle Market Value, 2026-2036 BPS Analysis By Vehicle Capacity</a:t>
                      </a:r>
                      <a:endParaRPr sz="1050"/>
                    </a:p>
                  </a:txBody>
                  <a:tcPr marL="9525" marR="9525" marT="9525" marB="0" anchor="ctr"/>
                </a:tc>
              </a:tr>
              <a:tr h="171599">
                <a:tc>
                  <a:txBody>
                    <a:bodyPr wrap="square"/>
                    <a:lstStyle/>
                    <a:p>
                      <a:pPr algn="l"/>
                      <a:r>
                        <a:rPr sz="1050" b="0" i="0">
                          <a:solidFill>
                            <a:srgbClr val="000000"/>
                          </a:solidFill>
                          <a:latin typeface="Calibri"/>
                        </a:rPr>
                        <a:t>Figure 138: Western Europe Off-Highway Vehicle Market Attractiveness Analysis By Vehicle Capacity</a:t>
                      </a:r>
                      <a:endParaRPr sz="1050"/>
                    </a:p>
                  </a:txBody>
                  <a:tcPr marL="9525" marR="9525" marT="9525" marB="0" anchor="ctr"/>
                </a:tc>
              </a:tr>
              <a:tr h="336334">
                <a:tc>
                  <a:txBody>
                    <a:bodyPr wrap="square"/>
                    <a:lstStyle/>
                    <a:p>
                      <a:pPr algn="l"/>
                      <a:r>
                        <a:rPr sz="1050" b="0" i="0">
                          <a:solidFill>
                            <a:srgbClr val="000000"/>
                          </a:solidFill>
                          <a:latin typeface="Calibri"/>
                        </a:rPr>
                        <a:t>Figure 139: Western Europe Off-Highway Vehicle Market Value, 2026-2036 By Propulsion Configuration</a:t>
                      </a:r>
                      <a:endParaRPr sz="1050"/>
                    </a:p>
                  </a:txBody>
                  <a:tcPr marL="9525" marR="9525" marT="9525" marB="0" anchor="ctr"/>
                </a:tc>
              </a:tr>
              <a:tr h="336334">
                <a:tc>
                  <a:txBody>
                    <a:bodyPr wrap="square"/>
                    <a:lstStyle/>
                    <a:p>
                      <a:pPr algn="l"/>
                      <a:r>
                        <a:rPr sz="1050" b="0" i="0">
                          <a:solidFill>
                            <a:srgbClr val="000000"/>
                          </a:solidFill>
                          <a:latin typeface="Calibri"/>
                        </a:rPr>
                        <a:t>Figure 140: Western Europe Off-Highway Vehicle Market Value, 2026-2036 Y-o-Y Comparison By Propulsion Configuration</a:t>
                      </a:r>
                      <a:endParaRPr sz="1050"/>
                    </a:p>
                  </a:txBody>
                  <a:tcPr marL="9525" marR="9525" marT="9525" marB="0" anchor="ctr"/>
                </a:tc>
              </a:tr>
              <a:tr h="336334">
                <a:tc>
                  <a:txBody>
                    <a:bodyPr wrap="square"/>
                    <a:lstStyle/>
                    <a:p>
                      <a:pPr algn="l"/>
                      <a:r>
                        <a:rPr sz="1050" b="0" i="0">
                          <a:solidFill>
                            <a:srgbClr val="000000"/>
                          </a:solidFill>
                          <a:latin typeface="Calibri"/>
                        </a:rPr>
                        <a:t>Figure 141: Western Europe Off-Highway Vehicle Market Value, 2026-2036 BPS Analysis By Propulsion Configuration</a:t>
                      </a:r>
                      <a:endParaRPr sz="1050"/>
                    </a:p>
                  </a:txBody>
                  <a:tcPr marL="9525" marR="9525" marT="9525" marB="0" anchor="ctr"/>
                </a:tc>
              </a:tr>
              <a:tr h="336334">
                <a:tc>
                  <a:txBody>
                    <a:bodyPr wrap="square"/>
                    <a:lstStyle/>
                    <a:p>
                      <a:pPr algn="l"/>
                      <a:r>
                        <a:rPr sz="1050" b="0" i="0">
                          <a:solidFill>
                            <a:srgbClr val="000000"/>
                          </a:solidFill>
                          <a:latin typeface="Calibri"/>
                        </a:rPr>
                        <a:t>Figure 142: Western Europe Off-Highway Vehicle Market Attractiveness Analysis By Propulsion Configuration</a:t>
                      </a:r>
                      <a:endParaRPr sz="1050"/>
                    </a:p>
                  </a:txBody>
                  <a:tcPr marL="9525" marR="9525" marT="9525" marB="0" anchor="ctr"/>
                </a:tc>
              </a:tr>
              <a:tr h="171599">
                <a:tc>
                  <a:txBody>
                    <a:bodyPr wrap="square"/>
                    <a:lstStyle/>
                    <a:p>
                      <a:pPr algn="l"/>
                      <a:r>
                        <a:rPr sz="1050" b="0" i="0">
                          <a:solidFill>
                            <a:srgbClr val="000000"/>
                          </a:solidFill>
                          <a:latin typeface="Calibri"/>
                        </a:rPr>
                        <a:t>Figure 143: Western Europe Off-Highway Vehicle Market Value, 2026-2036 By Region</a:t>
                      </a:r>
                      <a:endParaRPr sz="1050"/>
                    </a:p>
                  </a:txBody>
                  <a:tcPr marL="9525" marR="9525" marT="9525" marB="0" anchor="ctr"/>
                </a:tc>
              </a:tr>
              <a:tr h="336334">
                <a:tc>
                  <a:txBody>
                    <a:bodyPr wrap="square"/>
                    <a:lstStyle/>
                    <a:p>
                      <a:pPr algn="l"/>
                      <a:r>
                        <a:rPr sz="1050" b="0" i="0">
                          <a:solidFill>
                            <a:srgbClr val="000000"/>
                          </a:solidFill>
                          <a:latin typeface="Calibri"/>
                        </a:rPr>
                        <a:t>Figure 144: Western Europe Off-Highway Vehicle Market Value, 2026-2036 Y-o-Y Comparison By Region</a:t>
                      </a:r>
                      <a:endParaRPr sz="1050"/>
                    </a:p>
                  </a:txBody>
                  <a:tcPr marL="9525" marR="9525" marT="9525" marB="0" anchor="ctr"/>
                </a:tc>
              </a:tr>
              <a:tr h="171599">
                <a:tc>
                  <a:txBody>
                    <a:bodyPr wrap="square"/>
                    <a:lstStyle/>
                    <a:p>
                      <a:pPr algn="l"/>
                      <a:r>
                        <a:rPr sz="1050" b="0" i="0">
                          <a:solidFill>
                            <a:srgbClr val="000000"/>
                          </a:solidFill>
                          <a:latin typeface="Calibri"/>
                        </a:rPr>
                        <a:t>Figure 145: Western Europe Off-Highway Vehicle Market Value, 2026-2036 BPS Analysis By Region</a:t>
                      </a:r>
                      <a:endParaRPr sz="1050"/>
                    </a:p>
                  </a:txBody>
                  <a:tcPr marL="9525" marR="9525" marT="9525" marB="0" anchor="ctr"/>
                </a:tc>
              </a:tr>
              <a:tr h="171599">
                <a:tc>
                  <a:txBody>
                    <a:bodyPr wrap="square"/>
                    <a:lstStyle/>
                    <a:p>
                      <a:pPr algn="l"/>
                      <a:r>
                        <a:rPr sz="1050" b="0" i="0">
                          <a:solidFill>
                            <a:srgbClr val="000000"/>
                          </a:solidFill>
                          <a:latin typeface="Calibri"/>
                        </a:rPr>
                        <a:t>Figure 146: Western Europe Off-Highway Vehicle Market Attractiveness Analysis By Region</a:t>
                      </a:r>
                      <a:endParaRPr sz="1050"/>
                    </a:p>
                  </a:txBody>
                  <a:tcPr marL="9525" marR="9525" marT="9525" marB="0" anchor="ctr"/>
                </a:tc>
              </a:tr>
              <a:tr h="171599">
                <a:tc>
                  <a:txBody>
                    <a:bodyPr wrap="square"/>
                    <a:lstStyle/>
                    <a:p>
                      <a:pPr algn="l"/>
                      <a:r>
                        <a:rPr sz="1050" b="0" i="0">
                          <a:solidFill>
                            <a:srgbClr val="000000"/>
                          </a:solidFill>
                          <a:latin typeface="Calibri"/>
                        </a:rPr>
                        <a:t>Figure 147: Germany Off-Highway Vehicle Market Value, 2026-2036 By Vehicle Type</a:t>
                      </a:r>
                      <a:endParaRPr sz="1050"/>
                    </a:p>
                  </a:txBody>
                  <a:tcPr marL="9525" marR="9525" marT="9525" marB="0" anchor="ctr"/>
                </a:tc>
              </a:tr>
              <a:tr h="171599">
                <a:tc>
                  <a:txBody>
                    <a:bodyPr wrap="square"/>
                    <a:lstStyle/>
                    <a:p>
                      <a:pPr algn="l"/>
                      <a:r>
                        <a:rPr sz="1050" b="0" i="0">
                          <a:solidFill>
                            <a:srgbClr val="000000"/>
                          </a:solidFill>
                          <a:latin typeface="Calibri"/>
                        </a:rPr>
                        <a:t>Figure 148: Germany Off-Highway Vehicle Market Value, 2026-2036 By Powertrain</a:t>
                      </a:r>
                      <a:endParaRPr sz="1050"/>
                    </a:p>
                  </a:txBody>
                  <a:tcPr marL="9525" marR="9525" marT="9525" marB="0" anchor="ctr"/>
                </a:tc>
              </a:tr>
              <a:tr h="171599">
                <a:tc>
                  <a:txBody>
                    <a:bodyPr wrap="square"/>
                    <a:lstStyle/>
                    <a:p>
                      <a:pPr algn="l"/>
                      <a:r>
                        <a:rPr sz="1050" b="0" i="0">
                          <a:solidFill>
                            <a:srgbClr val="000000"/>
                          </a:solidFill>
                          <a:latin typeface="Calibri"/>
                        </a:rPr>
                        <a:t>Figure 149: Germany Off-Highway Vehicle Market Value, 2026-2036 By Vehicle Capacity</a:t>
                      </a:r>
                      <a:endParaRPr sz="1050"/>
                    </a:p>
                  </a:txBody>
                  <a:tcPr marL="9525" marR="9525" marT="9525" marB="0" anchor="ctr"/>
                </a:tc>
              </a:tr>
              <a:tr h="171599">
                <a:tc>
                  <a:txBody>
                    <a:bodyPr wrap="square"/>
                    <a:lstStyle/>
                    <a:p>
                      <a:pPr algn="l"/>
                      <a:r>
                        <a:rPr sz="1050" b="0" i="0">
                          <a:solidFill>
                            <a:srgbClr val="000000"/>
                          </a:solidFill>
                          <a:latin typeface="Calibri"/>
                        </a:rPr>
                        <a:t>Figure 150: Germany Off-Highway Vehicle Market Value, 2026-2036 By Propulsion Configuration</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(4/6)</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151: Italy Off-Highway Vehicle Market Value, 2026-2036 By Vehicle Type</a:t>
                      </a:r>
                      <a:endParaRPr sz="1050"/>
                    </a:p>
                  </a:txBody>
                  <a:tcPr marL="9525" marR="9525" marT="9525" marB="0" anchor="ctr"/>
                </a:tc>
              </a:tr>
              <a:tr h="169606">
                <a:tc>
                  <a:txBody>
                    <a:bodyPr wrap="square"/>
                    <a:lstStyle/>
                    <a:p>
                      <a:pPr algn="l"/>
                      <a:r>
                        <a:rPr sz="1050" b="0" i="0">
                          <a:solidFill>
                            <a:srgbClr val="000000"/>
                          </a:solidFill>
                          <a:latin typeface="Calibri"/>
                        </a:rPr>
                        <a:t>Figure 152: Italy Off-Highway Vehicle Market Value, 2026-2036 By Powertrain</a:t>
                      </a:r>
                      <a:endParaRPr sz="1050"/>
                    </a:p>
                  </a:txBody>
                  <a:tcPr marL="9525" marR="9525" marT="9525" marB="0" anchor="ctr"/>
                </a:tc>
              </a:tr>
              <a:tr h="169606">
                <a:tc>
                  <a:txBody>
                    <a:bodyPr wrap="square"/>
                    <a:lstStyle/>
                    <a:p>
                      <a:pPr algn="l"/>
                      <a:r>
                        <a:rPr sz="1050" b="0" i="0">
                          <a:solidFill>
                            <a:srgbClr val="000000"/>
                          </a:solidFill>
                          <a:latin typeface="Calibri"/>
                        </a:rPr>
                        <a:t>Figure 153: Italy Off-Highway Vehicle Market Value, 2026-2036 By Vehicle Capacity</a:t>
                      </a:r>
                      <a:endParaRPr sz="1050"/>
                    </a:p>
                  </a:txBody>
                  <a:tcPr marL="9525" marR="9525" marT="9525" marB="0" anchor="ctr"/>
                </a:tc>
              </a:tr>
              <a:tr h="169606">
                <a:tc>
                  <a:txBody>
                    <a:bodyPr wrap="square"/>
                    <a:lstStyle/>
                    <a:p>
                      <a:pPr algn="l"/>
                      <a:r>
                        <a:rPr sz="1050" b="0" i="0">
                          <a:solidFill>
                            <a:srgbClr val="000000"/>
                          </a:solidFill>
                          <a:latin typeface="Calibri"/>
                        </a:rPr>
                        <a:t>Figure 154: Italy Off-Highway Vehicle Market Value, 2026-2036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Figure 155: France Off-Highway Vehicle Market Value, 2026-2036 By Vehicle Type</a:t>
                      </a:r>
                      <a:endParaRPr sz="1050"/>
                    </a:p>
                  </a:txBody>
                  <a:tcPr marL="9525" marR="9525" marT="9525" marB="0" anchor="ctr"/>
                </a:tc>
              </a:tr>
              <a:tr h="169606">
                <a:tc>
                  <a:txBody>
                    <a:bodyPr wrap="square"/>
                    <a:lstStyle/>
                    <a:p>
                      <a:pPr algn="l"/>
                      <a:r>
                        <a:rPr sz="1050" b="0" i="0">
                          <a:solidFill>
                            <a:srgbClr val="000000"/>
                          </a:solidFill>
                          <a:latin typeface="Calibri"/>
                        </a:rPr>
                        <a:t>Figure 156: France Off-Highway Vehicle Market Value, 2026-2036 By Powertrain</a:t>
                      </a:r>
                      <a:endParaRPr sz="1050"/>
                    </a:p>
                  </a:txBody>
                  <a:tcPr marL="9525" marR="9525" marT="9525" marB="0" anchor="ctr"/>
                </a:tc>
              </a:tr>
              <a:tr h="169606">
                <a:tc>
                  <a:txBody>
                    <a:bodyPr wrap="square"/>
                    <a:lstStyle/>
                    <a:p>
                      <a:pPr algn="l"/>
                      <a:r>
                        <a:rPr sz="1050" b="0" i="0">
                          <a:solidFill>
                            <a:srgbClr val="000000"/>
                          </a:solidFill>
                          <a:latin typeface="Calibri"/>
                        </a:rPr>
                        <a:t>Figure 157: France Off-Highway Vehicle Market Value, 2026-2036 By Vehicle Capacity</a:t>
                      </a:r>
                      <a:endParaRPr sz="1050"/>
                    </a:p>
                  </a:txBody>
                  <a:tcPr marL="9525" marR="9525" marT="9525" marB="0" anchor="ctr"/>
                </a:tc>
              </a:tr>
              <a:tr h="169606">
                <a:tc>
                  <a:txBody>
                    <a:bodyPr wrap="square"/>
                    <a:lstStyle/>
                    <a:p>
                      <a:pPr algn="l"/>
                      <a:r>
                        <a:rPr sz="1050" b="0" i="0">
                          <a:solidFill>
                            <a:srgbClr val="000000"/>
                          </a:solidFill>
                          <a:latin typeface="Calibri"/>
                        </a:rPr>
                        <a:t>Figure 158: France Off-Highway Vehicle Market Value, 2026-2036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Figure 159: U.K. Off-Highway Vehicle Market Value, 2026-2036 By Vehicle Type</a:t>
                      </a:r>
                      <a:endParaRPr sz="1050"/>
                    </a:p>
                  </a:txBody>
                  <a:tcPr marL="9525" marR="9525" marT="9525" marB="0" anchor="ctr"/>
                </a:tc>
              </a:tr>
              <a:tr h="169606">
                <a:tc>
                  <a:txBody>
                    <a:bodyPr wrap="square"/>
                    <a:lstStyle/>
                    <a:p>
                      <a:pPr algn="l"/>
                      <a:r>
                        <a:rPr sz="1050" b="0" i="0">
                          <a:solidFill>
                            <a:srgbClr val="000000"/>
                          </a:solidFill>
                          <a:latin typeface="Calibri"/>
                        </a:rPr>
                        <a:t>Figure 160: U.K. Off-Highway Vehicle Market Value, 2026-2036 By Powertrain</a:t>
                      </a:r>
                      <a:endParaRPr sz="1050"/>
                    </a:p>
                  </a:txBody>
                  <a:tcPr marL="9525" marR="9525" marT="9525" marB="0" anchor="ctr"/>
                </a:tc>
              </a:tr>
              <a:tr h="169606">
                <a:tc>
                  <a:txBody>
                    <a:bodyPr wrap="square"/>
                    <a:lstStyle/>
                    <a:p>
                      <a:pPr algn="l"/>
                      <a:r>
                        <a:rPr sz="1050" b="0" i="0">
                          <a:solidFill>
                            <a:srgbClr val="000000"/>
                          </a:solidFill>
                          <a:latin typeface="Calibri"/>
                        </a:rPr>
                        <a:t>Figure 161: U.K. Off-Highway Vehicle Market Value, 2026-2036 By Vehicle Capacity</a:t>
                      </a:r>
                      <a:endParaRPr sz="1050"/>
                    </a:p>
                  </a:txBody>
                  <a:tcPr marL="9525" marR="9525" marT="9525" marB="0" anchor="ctr"/>
                </a:tc>
              </a:tr>
              <a:tr h="169606">
                <a:tc>
                  <a:txBody>
                    <a:bodyPr wrap="square"/>
                    <a:lstStyle/>
                    <a:p>
                      <a:pPr algn="l"/>
                      <a:r>
                        <a:rPr sz="1050" b="0" i="0">
                          <a:solidFill>
                            <a:srgbClr val="000000"/>
                          </a:solidFill>
                          <a:latin typeface="Calibri"/>
                        </a:rPr>
                        <a:t>Figure 162: U.K. Off-Highway Vehicle Market Value, 2026-2036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Figure 163: Spain Off-Highway Vehicle Market Value, 2026-2036 By Vehicle Type</a:t>
                      </a:r>
                      <a:endParaRPr sz="1050"/>
                    </a:p>
                  </a:txBody>
                  <a:tcPr marL="9525" marR="9525" marT="9525" marB="0" anchor="ctr"/>
                </a:tc>
              </a:tr>
              <a:tr h="169606">
                <a:tc>
                  <a:txBody>
                    <a:bodyPr wrap="square"/>
                    <a:lstStyle/>
                    <a:p>
                      <a:pPr algn="l"/>
                      <a:r>
                        <a:rPr sz="1050" b="0" i="0">
                          <a:solidFill>
                            <a:srgbClr val="000000"/>
                          </a:solidFill>
                          <a:latin typeface="Calibri"/>
                        </a:rPr>
                        <a:t>Figure 164: Spain Off-Highway Vehicle Market Value, 2026-2036 By Powertrain</a:t>
                      </a:r>
                      <a:endParaRPr sz="1050"/>
                    </a:p>
                  </a:txBody>
                  <a:tcPr marL="9525" marR="9525" marT="9525" marB="0" anchor="ctr"/>
                </a:tc>
              </a:tr>
              <a:tr h="169606">
                <a:tc>
                  <a:txBody>
                    <a:bodyPr wrap="square"/>
                    <a:lstStyle/>
                    <a:p>
                      <a:pPr algn="l"/>
                      <a:r>
                        <a:rPr sz="1050" b="0" i="0">
                          <a:solidFill>
                            <a:srgbClr val="000000"/>
                          </a:solidFill>
                          <a:latin typeface="Calibri"/>
                        </a:rPr>
                        <a:t>Figure 165: Spain Off-Highway Vehicle Market Value, 2026-2036 By Vehicle Capacity</a:t>
                      </a:r>
                      <a:endParaRPr sz="1050"/>
                    </a:p>
                  </a:txBody>
                  <a:tcPr marL="9525" marR="9525" marT="9525" marB="0" anchor="ctr"/>
                </a:tc>
              </a:tr>
              <a:tr h="169606">
                <a:tc>
                  <a:txBody>
                    <a:bodyPr wrap="square"/>
                    <a:lstStyle/>
                    <a:p>
                      <a:pPr algn="l"/>
                      <a:r>
                        <a:rPr sz="1050" b="0" i="0">
                          <a:solidFill>
                            <a:srgbClr val="000000"/>
                          </a:solidFill>
                          <a:latin typeface="Calibri"/>
                        </a:rPr>
                        <a:t>Figure 166: Spain Off-Highway Vehicle Market Value, 2026-2036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Figure 167: BENELUX Off-Highway Vehicle Market Value, 2026-2036 By Vehicle Type</a:t>
                      </a:r>
                      <a:endParaRPr sz="1050"/>
                    </a:p>
                  </a:txBody>
                  <a:tcPr marL="9525" marR="9525" marT="9525" marB="0" anchor="ctr"/>
                </a:tc>
              </a:tr>
              <a:tr h="169606">
                <a:tc>
                  <a:txBody>
                    <a:bodyPr wrap="square"/>
                    <a:lstStyle/>
                    <a:p>
                      <a:pPr algn="l"/>
                      <a:r>
                        <a:rPr sz="1050" b="0" i="0">
                          <a:solidFill>
                            <a:srgbClr val="000000"/>
                          </a:solidFill>
                          <a:latin typeface="Calibri"/>
                        </a:rPr>
                        <a:t>Figure 168: BENELUX Off-Highway Vehicle Market Value, 2026-2036 By Powertrain</a:t>
                      </a:r>
                      <a:endParaRPr sz="1050"/>
                    </a:p>
                  </a:txBody>
                  <a:tcPr marL="9525" marR="9525" marT="9525" marB="0" anchor="ctr"/>
                </a:tc>
              </a:tr>
              <a:tr h="169606">
                <a:tc>
                  <a:txBody>
                    <a:bodyPr wrap="square"/>
                    <a:lstStyle/>
                    <a:p>
                      <a:pPr algn="l"/>
                      <a:r>
                        <a:rPr sz="1050" b="0" i="0">
                          <a:solidFill>
                            <a:srgbClr val="000000"/>
                          </a:solidFill>
                          <a:latin typeface="Calibri"/>
                        </a:rPr>
                        <a:t>Figure 169: BENELUX Off-Highway Vehicle Market Value, 2026-2036 By Vehicle Capacity</a:t>
                      </a:r>
                      <a:endParaRPr sz="1050"/>
                    </a:p>
                  </a:txBody>
                  <a:tcPr marL="9525" marR="9525" marT="9525" marB="0" anchor="ctr"/>
                </a:tc>
              </a:tr>
              <a:tr h="169606">
                <a:tc>
                  <a:txBody>
                    <a:bodyPr wrap="square"/>
                    <a:lstStyle/>
                    <a:p>
                      <a:pPr algn="l"/>
                      <a:r>
                        <a:rPr sz="1050" b="0" i="0">
                          <a:solidFill>
                            <a:srgbClr val="000000"/>
                          </a:solidFill>
                          <a:latin typeface="Calibri"/>
                        </a:rPr>
                        <a:t>Figure 170: BENELUX Off-Highway Vehicle Market Value, 2026-2036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Figure 171: Nordics Off-Highway Vehicle Market Value, 2026-2036 By Vehicle Type</a:t>
                      </a:r>
                      <a:endParaRPr sz="1050"/>
                    </a:p>
                  </a:txBody>
                  <a:tcPr marL="9525" marR="9525" marT="9525" marB="0" anchor="ctr"/>
                </a:tc>
              </a:tr>
              <a:tr h="169606">
                <a:tc>
                  <a:txBody>
                    <a:bodyPr wrap="square"/>
                    <a:lstStyle/>
                    <a:p>
                      <a:pPr algn="l"/>
                      <a:r>
                        <a:rPr sz="1050" b="0" i="0">
                          <a:solidFill>
                            <a:srgbClr val="000000"/>
                          </a:solidFill>
                          <a:latin typeface="Calibri"/>
                        </a:rPr>
                        <a:t>Figure 172: Nordics Off-Highway Vehicle Market Value, 2026-2036 By Powertrain</a:t>
                      </a:r>
                      <a:endParaRPr sz="1050"/>
                    </a:p>
                  </a:txBody>
                  <a:tcPr marL="9525" marR="9525" marT="9525" marB="0" anchor="ctr"/>
                </a:tc>
              </a:tr>
              <a:tr h="169606">
                <a:tc>
                  <a:txBody>
                    <a:bodyPr wrap="square"/>
                    <a:lstStyle/>
                    <a:p>
                      <a:pPr algn="l"/>
                      <a:r>
                        <a:rPr sz="1050" b="0" i="0">
                          <a:solidFill>
                            <a:srgbClr val="000000"/>
                          </a:solidFill>
                          <a:latin typeface="Calibri"/>
                        </a:rPr>
                        <a:t>Figure 173: Nordics Off-Highway Vehicle Market Value, 2026-2036 By Vehicle Capacity</a:t>
                      </a:r>
                      <a:endParaRPr sz="1050"/>
                    </a:p>
                  </a:txBody>
                  <a:tcPr marL="9525" marR="9525" marT="9525" marB="0" anchor="ctr"/>
                </a:tc>
              </a:tr>
              <a:tr h="169606">
                <a:tc>
                  <a:txBody>
                    <a:bodyPr wrap="square"/>
                    <a:lstStyle/>
                    <a:p>
                      <a:pPr algn="l"/>
                      <a:r>
                        <a:rPr sz="1050" b="0" i="0">
                          <a:solidFill>
                            <a:srgbClr val="000000"/>
                          </a:solidFill>
                          <a:latin typeface="Calibri"/>
                        </a:rPr>
                        <a:t>Figure 174: Nordics Off-Highway Vehicle Market Value, 2026-2036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Figure 175: East Asia Off-Highway Vehicle Market Value, 2021-2036</a:t>
                      </a:r>
                      <a:endParaRPr sz="1050"/>
                    </a:p>
                  </a:txBody>
                  <a:tcPr marL="9525" marR="9525" marT="9525" marB="0" anchor="ctr"/>
                </a:tc>
              </a:tr>
              <a:tr h="169606">
                <a:tc>
                  <a:txBody>
                    <a:bodyPr wrap="square"/>
                    <a:lstStyle/>
                    <a:p>
                      <a:pPr algn="l"/>
                      <a:r>
                        <a:rPr sz="1050" b="0" i="0">
                          <a:solidFill>
                            <a:srgbClr val="000000"/>
                          </a:solidFill>
                          <a:latin typeface="Calibri"/>
                        </a:rPr>
                        <a:t>Figure 176: East Asia Off-Highway Vehicle Market Incremental $ Opportunity, 2026-2036</a:t>
                      </a:r>
                      <a:endParaRPr sz="1050"/>
                    </a:p>
                  </a:txBody>
                  <a:tcPr marL="9525" marR="9525" marT="9525" marB="0" anchor="ctr"/>
                </a:tc>
              </a:tr>
              <a:tr h="169606">
                <a:tc>
                  <a:txBody>
                    <a:bodyPr wrap="square"/>
                    <a:lstStyle/>
                    <a:p>
                      <a:pPr algn="l"/>
                      <a:r>
                        <a:rPr sz="1050" b="0" i="0">
                          <a:solidFill>
                            <a:srgbClr val="000000"/>
                          </a:solidFill>
                          <a:latin typeface="Calibri"/>
                        </a:rPr>
                        <a:t>Figure 177: East Asia Off-Highway Vehicle Market Value, 2026-2036 By Vehicle Type</a:t>
                      </a:r>
                      <a:endParaRPr sz="1050"/>
                    </a:p>
                  </a:txBody>
                  <a:tcPr marL="9525" marR="9525" marT="9525" marB="0" anchor="ctr"/>
                </a:tc>
              </a:tr>
              <a:tr h="169606">
                <a:tc>
                  <a:txBody>
                    <a:bodyPr wrap="square"/>
                    <a:lstStyle/>
                    <a:p>
                      <a:pPr algn="l"/>
                      <a:r>
                        <a:rPr sz="1050" b="0" i="0">
                          <a:solidFill>
                            <a:srgbClr val="000000"/>
                          </a:solidFill>
                          <a:latin typeface="Calibri"/>
                        </a:rPr>
                        <a:t>Figure 178: East Asia Off-Highway Vehicle Market Value, 2026-2036 Y-o-Y Comparison By Vehicle Type</a:t>
                      </a:r>
                      <a:endParaRPr sz="1050"/>
                    </a:p>
                  </a:txBody>
                  <a:tcPr marL="9525" marR="9525" marT="9525" marB="0" anchor="ctr"/>
                </a:tc>
              </a:tr>
              <a:tr h="169606">
                <a:tc>
                  <a:txBody>
                    <a:bodyPr wrap="square"/>
                    <a:lstStyle/>
                    <a:p>
                      <a:pPr algn="l"/>
                      <a:r>
                        <a:rPr sz="1050" b="0" i="0">
                          <a:solidFill>
                            <a:srgbClr val="000000"/>
                          </a:solidFill>
                          <a:latin typeface="Calibri"/>
                        </a:rPr>
                        <a:t>Figure 179: East Asia Off-Highway Vehicle Market Value, 2026-2036 BPS Analysis By Vehicle Type</a:t>
                      </a:r>
                      <a:endParaRPr sz="1050"/>
                    </a:p>
                  </a:txBody>
                  <a:tcPr marL="9525" marR="9525" marT="9525" marB="0" anchor="ctr"/>
                </a:tc>
              </a:tr>
              <a:tr h="169606">
                <a:tc>
                  <a:txBody>
                    <a:bodyPr wrap="square"/>
                    <a:lstStyle/>
                    <a:p>
                      <a:pPr algn="l"/>
                      <a:r>
                        <a:rPr sz="1050" b="0" i="0">
                          <a:solidFill>
                            <a:srgbClr val="000000"/>
                          </a:solidFill>
                          <a:latin typeface="Calibri"/>
                        </a:rPr>
                        <a:t>Figure 180: East Asia Off-Highway Vehicle Market Attractiveness Analysis By Vehicle Type</a:t>
                      </a:r>
                      <a:endParaRPr sz="1050"/>
                    </a:p>
                  </a:txBody>
                  <a:tcPr marL="9525" marR="9525" marT="9525" marB="0" anchor="ctr"/>
                </a:tc>
              </a:tr>
              <a:tr h="169606">
                <a:tc>
                  <a:txBody>
                    <a:bodyPr wrap="square"/>
                    <a:lstStyle/>
                    <a:p>
                      <a:pPr algn="l"/>
                      <a:r>
                        <a:rPr sz="1050" b="0" i="0">
                          <a:solidFill>
                            <a:srgbClr val="000000"/>
                          </a:solidFill>
                          <a:latin typeface="Calibri"/>
                        </a:rPr>
                        <a:t>Figure 181: East Asia Off-Highway Vehicle Market Value, 2026-2036 By Powertrain</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Figure 182: East Asia Off-Highway Vehicle Market Value, 2026-2036 Y-o-Y Comparison By Powertrain</a:t>
                      </a:r>
                      <a:endParaRPr sz="1050"/>
                    </a:p>
                  </a:txBody>
                  <a:tcPr marL="9525" marR="9525" marT="9525" marB="0" anchor="ctr"/>
                </a:tc>
              </a:tr>
              <a:tr h="170266">
                <a:tc>
                  <a:txBody>
                    <a:bodyPr wrap="square"/>
                    <a:lstStyle/>
                    <a:p>
                      <a:pPr algn="l"/>
                      <a:r>
                        <a:rPr sz="1050" b="0" i="0">
                          <a:solidFill>
                            <a:srgbClr val="000000"/>
                          </a:solidFill>
                          <a:latin typeface="Calibri"/>
                        </a:rPr>
                        <a:t>Figure 183: East Asia Off-Highway Vehicle Market Value, 2026-2036 BPS Analysis By Powertrain</a:t>
                      </a:r>
                      <a:endParaRPr sz="1050"/>
                    </a:p>
                  </a:txBody>
                  <a:tcPr marL="9525" marR="9525" marT="9525" marB="0" anchor="ctr"/>
                </a:tc>
              </a:tr>
              <a:tr h="170266">
                <a:tc>
                  <a:txBody>
                    <a:bodyPr wrap="square"/>
                    <a:lstStyle/>
                    <a:p>
                      <a:pPr algn="l"/>
                      <a:r>
                        <a:rPr sz="1050" b="0" i="0">
                          <a:solidFill>
                            <a:srgbClr val="000000"/>
                          </a:solidFill>
                          <a:latin typeface="Calibri"/>
                        </a:rPr>
                        <a:t>Figure 184: East Asia Off-Highway Vehicle Market Attractiveness Analysis By Powertrain</a:t>
                      </a:r>
                      <a:endParaRPr sz="1050"/>
                    </a:p>
                  </a:txBody>
                  <a:tcPr marL="9525" marR="9525" marT="9525" marB="0" anchor="ctr"/>
                </a:tc>
              </a:tr>
              <a:tr h="170266">
                <a:tc>
                  <a:txBody>
                    <a:bodyPr wrap="square"/>
                    <a:lstStyle/>
                    <a:p>
                      <a:pPr algn="l"/>
                      <a:r>
                        <a:rPr sz="1050" b="0" i="0">
                          <a:solidFill>
                            <a:srgbClr val="000000"/>
                          </a:solidFill>
                          <a:latin typeface="Calibri"/>
                        </a:rPr>
                        <a:t>Figure 185: East Asia Off-Highway Vehicle Market Value, 2026-2036 By Vehicle Capacity</a:t>
                      </a:r>
                      <a:endParaRPr sz="1050"/>
                    </a:p>
                  </a:txBody>
                  <a:tcPr marL="9525" marR="9525" marT="9525" marB="0" anchor="ctr"/>
                </a:tc>
              </a:tr>
              <a:tr h="333720">
                <a:tc>
                  <a:txBody>
                    <a:bodyPr wrap="square"/>
                    <a:lstStyle/>
                    <a:p>
                      <a:pPr algn="l"/>
                      <a:r>
                        <a:rPr sz="1050" b="0" i="0">
                          <a:solidFill>
                            <a:srgbClr val="000000"/>
                          </a:solidFill>
                          <a:latin typeface="Calibri"/>
                        </a:rPr>
                        <a:t>Figure 186: East Asia Off-Highway Vehicle Market Value, 2026-2036 Y-o-Y Comparison By Vehicle Capacity</a:t>
                      </a:r>
                      <a:endParaRPr sz="1050"/>
                    </a:p>
                  </a:txBody>
                  <a:tcPr marL="9525" marR="9525" marT="9525" marB="0" anchor="ctr"/>
                </a:tc>
              </a:tr>
              <a:tr h="170266">
                <a:tc>
                  <a:txBody>
                    <a:bodyPr wrap="square"/>
                    <a:lstStyle/>
                    <a:p>
                      <a:pPr algn="l"/>
                      <a:r>
                        <a:rPr sz="1050" b="0" i="0">
                          <a:solidFill>
                            <a:srgbClr val="000000"/>
                          </a:solidFill>
                          <a:latin typeface="Calibri"/>
                        </a:rPr>
                        <a:t>Figure 187: East Asia Off-Highway Vehicle Market Value, 2026-2036 BPS Analysis By Vehicle Capacity</a:t>
                      </a:r>
                      <a:endParaRPr sz="1050"/>
                    </a:p>
                  </a:txBody>
                  <a:tcPr marL="9525" marR="9525" marT="9525" marB="0" anchor="ctr"/>
                </a:tc>
              </a:tr>
              <a:tr h="170266">
                <a:tc>
                  <a:txBody>
                    <a:bodyPr wrap="square"/>
                    <a:lstStyle/>
                    <a:p>
                      <a:pPr algn="l"/>
                      <a:r>
                        <a:rPr sz="1050" b="0" i="0">
                          <a:solidFill>
                            <a:srgbClr val="000000"/>
                          </a:solidFill>
                          <a:latin typeface="Calibri"/>
                        </a:rPr>
                        <a:t>Figure 188: East Asia Off-Highway Vehicle Market Attractiveness Analysis By Vehicle Capacity</a:t>
                      </a:r>
                      <a:endParaRPr sz="1050"/>
                    </a:p>
                  </a:txBody>
                  <a:tcPr marL="9525" marR="9525" marT="9525" marB="0" anchor="ctr"/>
                </a:tc>
              </a:tr>
              <a:tr h="170266">
                <a:tc>
                  <a:txBody>
                    <a:bodyPr wrap="square"/>
                    <a:lstStyle/>
                    <a:p>
                      <a:pPr algn="l"/>
                      <a:r>
                        <a:rPr sz="1050" b="0" i="0">
                          <a:solidFill>
                            <a:srgbClr val="000000"/>
                          </a:solidFill>
                          <a:latin typeface="Calibri"/>
                        </a:rPr>
                        <a:t>Figure 189: East Asia Off-Highway Vehicle Market Value, 2026-2036 By Propulsion Configuration</a:t>
                      </a:r>
                      <a:endParaRPr sz="1050"/>
                    </a:p>
                  </a:txBody>
                  <a:tcPr marL="9525" marR="9525" marT="9525" marB="0" anchor="ctr"/>
                </a:tc>
              </a:tr>
              <a:tr h="333720">
                <a:tc>
                  <a:txBody>
                    <a:bodyPr wrap="square"/>
                    <a:lstStyle/>
                    <a:p>
                      <a:pPr algn="l"/>
                      <a:r>
                        <a:rPr sz="1050" b="0" i="0">
                          <a:solidFill>
                            <a:srgbClr val="000000"/>
                          </a:solidFill>
                          <a:latin typeface="Calibri"/>
                        </a:rPr>
                        <a:t>Figure 190: East Asia Off-Highway Vehicle Market Value, 2026-2036 Y-o-Y Comparison By Propulsion Configuration</a:t>
                      </a:r>
                      <a:endParaRPr sz="1050"/>
                    </a:p>
                  </a:txBody>
                  <a:tcPr marL="9525" marR="9525" marT="9525" marB="0" anchor="ctr"/>
                </a:tc>
              </a:tr>
              <a:tr h="333720">
                <a:tc>
                  <a:txBody>
                    <a:bodyPr wrap="square"/>
                    <a:lstStyle/>
                    <a:p>
                      <a:pPr algn="l"/>
                      <a:r>
                        <a:rPr sz="1050" b="0" i="0">
                          <a:solidFill>
                            <a:srgbClr val="000000"/>
                          </a:solidFill>
                          <a:latin typeface="Calibri"/>
                        </a:rPr>
                        <a:t>Figure 191: East Asia Off-Highway Vehicle Market Value, 2026-2036 BPS Analysis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Figure 192: East Asia Off-Highway Vehicle Market Attractiveness Analysis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Figure 193: East Asia Off-Highway Vehicle Market Value, 2026-2036 By Region</a:t>
                      </a:r>
                      <a:endParaRPr sz="1050"/>
                    </a:p>
                  </a:txBody>
                  <a:tcPr marL="9525" marR="9525" marT="9525" marB="0" anchor="ctr"/>
                </a:tc>
              </a:tr>
              <a:tr h="170266">
                <a:tc>
                  <a:txBody>
                    <a:bodyPr wrap="square"/>
                    <a:lstStyle/>
                    <a:p>
                      <a:pPr algn="l"/>
                      <a:r>
                        <a:rPr sz="1050" b="0" i="0">
                          <a:solidFill>
                            <a:srgbClr val="000000"/>
                          </a:solidFill>
                          <a:latin typeface="Calibri"/>
                        </a:rPr>
                        <a:t>Figure 194: East Asia Off-Highway Vehicle Market Value, 2026-2036 Y-o-Y Comparison By Region</a:t>
                      </a:r>
                      <a:endParaRPr sz="1050"/>
                    </a:p>
                  </a:txBody>
                  <a:tcPr marL="9525" marR="9525" marT="9525" marB="0" anchor="ctr"/>
                </a:tc>
              </a:tr>
              <a:tr h="170266">
                <a:tc>
                  <a:txBody>
                    <a:bodyPr wrap="square"/>
                    <a:lstStyle/>
                    <a:p>
                      <a:pPr algn="l"/>
                      <a:r>
                        <a:rPr sz="1050" b="0" i="0">
                          <a:solidFill>
                            <a:srgbClr val="000000"/>
                          </a:solidFill>
                          <a:latin typeface="Calibri"/>
                        </a:rPr>
                        <a:t>Figure 195: East Asia Off-Highway Vehicle Market Value, 2026-2036 BPS Analysis By Region</a:t>
                      </a:r>
                      <a:endParaRPr sz="1050"/>
                    </a:p>
                  </a:txBody>
                  <a:tcPr marL="9525" marR="9525" marT="9525" marB="0" anchor="ctr"/>
                </a:tc>
              </a:tr>
              <a:tr h="170266">
                <a:tc>
                  <a:txBody>
                    <a:bodyPr wrap="square"/>
                    <a:lstStyle/>
                    <a:p>
                      <a:pPr algn="l"/>
                      <a:r>
                        <a:rPr sz="1050" b="0" i="0">
                          <a:solidFill>
                            <a:srgbClr val="000000"/>
                          </a:solidFill>
                          <a:latin typeface="Calibri"/>
                        </a:rPr>
                        <a:t>Figure 196: East Asia Off-Highway Vehicle Market Attractiveness Analysis By Region</a:t>
                      </a:r>
                      <a:endParaRPr sz="1050"/>
                    </a:p>
                  </a:txBody>
                  <a:tcPr marL="9525" marR="9525" marT="9525" marB="0" anchor="ctr"/>
                </a:tc>
              </a:tr>
              <a:tr h="170266">
                <a:tc>
                  <a:txBody>
                    <a:bodyPr wrap="square"/>
                    <a:lstStyle/>
                    <a:p>
                      <a:pPr algn="l"/>
                      <a:r>
                        <a:rPr sz="1050" b="0" i="0">
                          <a:solidFill>
                            <a:srgbClr val="000000"/>
                          </a:solidFill>
                          <a:latin typeface="Calibri"/>
                        </a:rPr>
                        <a:t>Figure 197: China Off-Highway Vehicle Market Value, 2026-2036 By Vehicle Type</a:t>
                      </a:r>
                      <a:endParaRPr sz="1050"/>
                    </a:p>
                  </a:txBody>
                  <a:tcPr marL="9525" marR="9525" marT="9525" marB="0" anchor="ctr"/>
                </a:tc>
              </a:tr>
              <a:tr h="170266">
                <a:tc>
                  <a:txBody>
                    <a:bodyPr wrap="square"/>
                    <a:lstStyle/>
                    <a:p>
                      <a:pPr algn="l"/>
                      <a:r>
                        <a:rPr sz="1050" b="0" i="0">
                          <a:solidFill>
                            <a:srgbClr val="000000"/>
                          </a:solidFill>
                          <a:latin typeface="Calibri"/>
                        </a:rPr>
                        <a:t>Figure 198: China Off-Highway Vehicle Market Value, 2026-2036 By Powertrain</a:t>
                      </a:r>
                      <a:endParaRPr sz="1050"/>
                    </a:p>
                  </a:txBody>
                  <a:tcPr marL="9525" marR="9525" marT="9525" marB="0" anchor="ctr"/>
                </a:tc>
              </a:tr>
              <a:tr h="170266">
                <a:tc>
                  <a:txBody>
                    <a:bodyPr wrap="square"/>
                    <a:lstStyle/>
                    <a:p>
                      <a:pPr algn="l"/>
                      <a:r>
                        <a:rPr sz="1050" b="0" i="0">
                          <a:solidFill>
                            <a:srgbClr val="000000"/>
                          </a:solidFill>
                          <a:latin typeface="Calibri"/>
                        </a:rPr>
                        <a:t>Figure 199: China Off-Highway Vehicle Market Value, 2026-2036 By Vehicle Capacity</a:t>
                      </a:r>
                      <a:endParaRPr sz="1050"/>
                    </a:p>
                  </a:txBody>
                  <a:tcPr marL="9525" marR="9525" marT="9525" marB="0" anchor="ctr"/>
                </a:tc>
              </a:tr>
              <a:tr h="170266">
                <a:tc>
                  <a:txBody>
                    <a:bodyPr wrap="square"/>
                    <a:lstStyle/>
                    <a:p>
                      <a:pPr algn="l"/>
                      <a:r>
                        <a:rPr sz="1050" b="0" i="0">
                          <a:solidFill>
                            <a:srgbClr val="000000"/>
                          </a:solidFill>
                          <a:latin typeface="Calibri"/>
                        </a:rPr>
                        <a:t>Figure 200: China Off-Highway Vehicle Market Value, 2026-2036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Figure 201: Japan Off-Highway Vehicle Market Value, 2026-2036 By Vehicle Type</a:t>
                      </a:r>
                      <a:endParaRPr sz="1050"/>
                    </a:p>
                  </a:txBody>
                  <a:tcPr marL="9525" marR="9525" marT="9525" marB="0" anchor="ctr"/>
                </a:tc>
              </a:tr>
              <a:tr h="170266">
                <a:tc>
                  <a:txBody>
                    <a:bodyPr wrap="square"/>
                    <a:lstStyle/>
                    <a:p>
                      <a:pPr algn="l"/>
                      <a:r>
                        <a:rPr sz="1050" b="0" i="0">
                          <a:solidFill>
                            <a:srgbClr val="000000"/>
                          </a:solidFill>
                          <a:latin typeface="Calibri"/>
                        </a:rPr>
                        <a:t>Figure 202: Japan Off-Highway Vehicle Market Value, 2026-2036 By Powertrain</a:t>
                      </a:r>
                      <a:endParaRPr sz="1050"/>
                    </a:p>
                  </a:txBody>
                  <a:tcPr marL="9525" marR="9525" marT="9525" marB="0" anchor="ctr"/>
                </a:tc>
              </a:tr>
              <a:tr h="170266">
                <a:tc>
                  <a:txBody>
                    <a:bodyPr wrap="square"/>
                    <a:lstStyle/>
                    <a:p>
                      <a:pPr algn="l"/>
                      <a:r>
                        <a:rPr sz="1050" b="0" i="0">
                          <a:solidFill>
                            <a:srgbClr val="000000"/>
                          </a:solidFill>
                          <a:latin typeface="Calibri"/>
                        </a:rPr>
                        <a:t>Figure 203: Japan Off-Highway Vehicle Market Value, 2026-2036 By Vehicle Capacity</a:t>
                      </a:r>
                      <a:endParaRPr sz="1050"/>
                    </a:p>
                  </a:txBody>
                  <a:tcPr marL="9525" marR="9525" marT="9525" marB="0" anchor="ctr"/>
                </a:tc>
              </a:tr>
              <a:tr h="170266">
                <a:tc>
                  <a:txBody>
                    <a:bodyPr wrap="square"/>
                    <a:lstStyle/>
                    <a:p>
                      <a:pPr algn="l"/>
                      <a:r>
                        <a:rPr sz="1050" b="0" i="0">
                          <a:solidFill>
                            <a:srgbClr val="000000"/>
                          </a:solidFill>
                          <a:latin typeface="Calibri"/>
                        </a:rPr>
                        <a:t>Figure 204: Japan Off-Highway Vehicle Market Value, 2026-2036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Figure 205: South Korea Off-Highway Vehicle Market Value, 2026-2036 By Vehicle Type</a:t>
                      </a:r>
                      <a:endParaRPr sz="1050"/>
                    </a:p>
                  </a:txBody>
                  <a:tcPr marL="9525" marR="9525" marT="9525" marB="0" anchor="ctr"/>
                </a:tc>
              </a:tr>
              <a:tr h="170266">
                <a:tc>
                  <a:txBody>
                    <a:bodyPr wrap="square"/>
                    <a:lstStyle/>
                    <a:p>
                      <a:pPr algn="l"/>
                      <a:r>
                        <a:rPr sz="1050" b="0" i="0">
                          <a:solidFill>
                            <a:srgbClr val="000000"/>
                          </a:solidFill>
                          <a:latin typeface="Calibri"/>
                        </a:rPr>
                        <a:t>Figure 206: South Korea Off-Highway Vehicle Market Value, 2026-2036 By Powertrain</a:t>
                      </a:r>
                      <a:endParaRPr sz="1050"/>
                    </a:p>
                  </a:txBody>
                  <a:tcPr marL="9525" marR="9525" marT="9525" marB="0" anchor="ctr"/>
                </a:tc>
              </a:tr>
              <a:tr h="170266">
                <a:tc>
                  <a:txBody>
                    <a:bodyPr wrap="square"/>
                    <a:lstStyle/>
                    <a:p>
                      <a:pPr algn="l"/>
                      <a:r>
                        <a:rPr sz="1050" b="0" i="0">
                          <a:solidFill>
                            <a:srgbClr val="000000"/>
                          </a:solidFill>
                          <a:latin typeface="Calibri"/>
                        </a:rPr>
                        <a:t>Figure 207: South Korea Off-Highway Vehicle Market Value, 2026-2036 By Vehicle Capacity</a:t>
                      </a:r>
                      <a:endParaRPr sz="1050"/>
                    </a:p>
                  </a:txBody>
                  <a:tcPr marL="9525" marR="9525" marT="9525" marB="0" anchor="ctr"/>
                </a:tc>
              </a:tr>
              <a:tr h="170266">
                <a:tc>
                  <a:txBody>
                    <a:bodyPr wrap="square"/>
                    <a:lstStyle/>
                    <a:p>
                      <a:pPr algn="l"/>
                      <a:r>
                        <a:rPr sz="1050" b="0" i="0">
                          <a:solidFill>
                            <a:srgbClr val="000000"/>
                          </a:solidFill>
                          <a:latin typeface="Calibri"/>
                        </a:rPr>
                        <a:t>Figure 208: South Korea Off-Highway Vehicle Market Value, 2026-2036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Figure 209: South Asia and Pacific Off-Highway Vehicle Market Value, 2021-2036</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(5/6)</a:t>
            </a:r>
          </a:p>
        </p:txBody>
      </p:sp>
      <p:graphicFrame>
        <p:nvGraphicFramePr>
          <p:cNvPr id="6" name="TMR Contents Table"/>
          <p:cNvGraphicFramePr>
            <a:graphicFrameLocks noGrp="1"/>
          </p:cNvGraphicFramePr>
          <p:nvPr/>
        </p:nvGraphicFramePr>
        <p:xfrm>
          <a:off x="142875" y="981075"/>
          <a:ext cx="5876925" cy="5257802"/>
        </p:xfrm>
        <a:graphic>
          <a:graphicData uri="http://schemas.openxmlformats.org/drawingml/2006/table">
            <a:tbl>
              <a:tblPr>
                <a:tableStyleId>{3B4B98B0-60AC-42C2-AFA5-B58CD77FA1E5}</a:tableStyleId>
              </a:tblPr>
              <a:tblGrid>
                <a:gridCol w="5876925"/>
              </a:tblGrid>
              <a:tr h="172274">
                <a:tc>
                  <a:txBody>
                    <a:bodyPr wrap="square"/>
                    <a:lstStyle/>
                    <a:p>
                      <a:pPr algn="l"/>
                      <a:r>
                        <a:rPr sz="1050" b="0" i="0">
                          <a:solidFill>
                            <a:srgbClr val="000000"/>
                          </a:solidFill>
                          <a:latin typeface="Calibri"/>
                        </a:rPr>
                        <a:t>Figure 210: South Asia and Pacific Off-Highway Vehicle Market Incremental $ Opportunity, 2026-2036</a:t>
                      </a:r>
                      <a:endParaRPr sz="1050"/>
                    </a:p>
                  </a:txBody>
                  <a:tcPr marL="9525" marR="9525" marT="9525" marB="0" anchor="ctr"/>
                </a:tc>
              </a:tr>
              <a:tr h="172274">
                <a:tc>
                  <a:txBody>
                    <a:bodyPr wrap="square"/>
                    <a:lstStyle/>
                    <a:p>
                      <a:pPr algn="l"/>
                      <a:r>
                        <a:rPr sz="1050" b="0" i="0">
                          <a:solidFill>
                            <a:srgbClr val="000000"/>
                          </a:solidFill>
                          <a:latin typeface="Calibri"/>
                        </a:rPr>
                        <a:t>Figure 211: South Asia and Pacific Off-Highway Vehicle Market Value, 2026-2036 By Vehicle Type</a:t>
                      </a:r>
                      <a:endParaRPr sz="1050"/>
                    </a:p>
                  </a:txBody>
                  <a:tcPr marL="9525" marR="9525" marT="9525" marB="0" anchor="ctr"/>
                </a:tc>
              </a:tr>
              <a:tr h="337657">
                <a:tc>
                  <a:txBody>
                    <a:bodyPr wrap="square"/>
                    <a:lstStyle/>
                    <a:p>
                      <a:pPr algn="l"/>
                      <a:r>
                        <a:rPr sz="1050" b="0" i="0">
                          <a:solidFill>
                            <a:srgbClr val="000000"/>
                          </a:solidFill>
                          <a:latin typeface="Calibri"/>
                        </a:rPr>
                        <a:t>Figure 212: South Asia and Pacific Off-Highway Vehicle Market Value, 2026-2036 Y-o-Y Comparison By Vehicle Type</a:t>
                      </a:r>
                      <a:endParaRPr sz="1050"/>
                    </a:p>
                  </a:txBody>
                  <a:tcPr marL="9525" marR="9525" marT="9525" marB="0" anchor="ctr"/>
                </a:tc>
              </a:tr>
              <a:tr h="337657">
                <a:tc>
                  <a:txBody>
                    <a:bodyPr wrap="square"/>
                    <a:lstStyle/>
                    <a:p>
                      <a:pPr algn="l"/>
                      <a:r>
                        <a:rPr sz="1050" b="0" i="0">
                          <a:solidFill>
                            <a:srgbClr val="000000"/>
                          </a:solidFill>
                          <a:latin typeface="Calibri"/>
                        </a:rPr>
                        <a:t>Figure 213: South Asia and Pacific Off-Highway Vehicle Market Value, 2026-2036 BPS Analysis By Vehicle Type</a:t>
                      </a:r>
                      <a:endParaRPr sz="1050"/>
                    </a:p>
                  </a:txBody>
                  <a:tcPr marL="9525" marR="9525" marT="9525" marB="0" anchor="ctr"/>
                </a:tc>
              </a:tr>
              <a:tr h="172274">
                <a:tc>
                  <a:txBody>
                    <a:bodyPr wrap="square"/>
                    <a:lstStyle/>
                    <a:p>
                      <a:pPr algn="l"/>
                      <a:r>
                        <a:rPr sz="1050" b="0" i="0">
                          <a:solidFill>
                            <a:srgbClr val="000000"/>
                          </a:solidFill>
                          <a:latin typeface="Calibri"/>
                        </a:rPr>
                        <a:t>Figure 214: South Asia and Pacific Off-Highway Vehicle Market Attractiveness Analysis By Vehicle Type</a:t>
                      </a:r>
                      <a:endParaRPr sz="1050"/>
                    </a:p>
                  </a:txBody>
                  <a:tcPr marL="9525" marR="9525" marT="9525" marB="0" anchor="ctr"/>
                </a:tc>
              </a:tr>
              <a:tr h="172274">
                <a:tc>
                  <a:txBody>
                    <a:bodyPr wrap="square"/>
                    <a:lstStyle/>
                    <a:p>
                      <a:pPr algn="l"/>
                      <a:r>
                        <a:rPr sz="1050" b="0" i="0">
                          <a:solidFill>
                            <a:srgbClr val="000000"/>
                          </a:solidFill>
                          <a:latin typeface="Calibri"/>
                        </a:rPr>
                        <a:t>Figure 215: South Asia and Pacific Off-Highway Vehicle Market Value, 2026-2036 By Powertrain</a:t>
                      </a:r>
                      <a:endParaRPr sz="1050"/>
                    </a:p>
                  </a:txBody>
                  <a:tcPr marL="9525" marR="9525" marT="9525" marB="0" anchor="ctr"/>
                </a:tc>
              </a:tr>
              <a:tr h="337657">
                <a:tc>
                  <a:txBody>
                    <a:bodyPr wrap="square"/>
                    <a:lstStyle/>
                    <a:p>
                      <a:pPr algn="l"/>
                      <a:r>
                        <a:rPr sz="1050" b="0" i="0">
                          <a:solidFill>
                            <a:srgbClr val="000000"/>
                          </a:solidFill>
                          <a:latin typeface="Calibri"/>
                        </a:rPr>
                        <a:t>Figure 216: South Asia and Pacific Off-Highway Vehicle Market Value, 2026-2036 Y-o-Y Comparison By Powertrain</a:t>
                      </a:r>
                      <a:endParaRPr sz="1050"/>
                    </a:p>
                  </a:txBody>
                  <a:tcPr marL="9525" marR="9525" marT="9525" marB="0" anchor="ctr"/>
                </a:tc>
              </a:tr>
              <a:tr h="337657">
                <a:tc>
                  <a:txBody>
                    <a:bodyPr wrap="square"/>
                    <a:lstStyle/>
                    <a:p>
                      <a:pPr algn="l"/>
                      <a:r>
                        <a:rPr sz="1050" b="0" i="0">
                          <a:solidFill>
                            <a:srgbClr val="000000"/>
                          </a:solidFill>
                          <a:latin typeface="Calibri"/>
                        </a:rPr>
                        <a:t>Figure 217: South Asia and Pacific Off-Highway Vehicle Market Value, 2026-2036 BPS Analysis By Powertrain</a:t>
                      </a:r>
                      <a:endParaRPr sz="1050"/>
                    </a:p>
                  </a:txBody>
                  <a:tcPr marL="9525" marR="9525" marT="9525" marB="0" anchor="ctr"/>
                </a:tc>
              </a:tr>
              <a:tr h="172274">
                <a:tc>
                  <a:txBody>
                    <a:bodyPr wrap="square"/>
                    <a:lstStyle/>
                    <a:p>
                      <a:pPr algn="l"/>
                      <a:r>
                        <a:rPr sz="1050" b="0" i="0">
                          <a:solidFill>
                            <a:srgbClr val="000000"/>
                          </a:solidFill>
                          <a:latin typeface="Calibri"/>
                        </a:rPr>
                        <a:t>Figure 218: South Asia and Pacific Off-Highway Vehicle Market Attractiveness Analysis By Powertrain</a:t>
                      </a:r>
                      <a:endParaRPr sz="1050"/>
                    </a:p>
                  </a:txBody>
                  <a:tcPr marL="9525" marR="9525" marT="9525" marB="0" anchor="ctr"/>
                </a:tc>
              </a:tr>
              <a:tr h="172274">
                <a:tc>
                  <a:txBody>
                    <a:bodyPr wrap="square"/>
                    <a:lstStyle/>
                    <a:p>
                      <a:pPr algn="l"/>
                      <a:r>
                        <a:rPr sz="1050" b="0" i="0">
                          <a:solidFill>
                            <a:srgbClr val="000000"/>
                          </a:solidFill>
                          <a:latin typeface="Calibri"/>
                        </a:rPr>
                        <a:t>Figure 219: South Asia and Pacific Off-Highway Vehicle Market Value, 2026-2036 By Vehicle Capacity</a:t>
                      </a:r>
                      <a:endParaRPr sz="1050"/>
                    </a:p>
                  </a:txBody>
                  <a:tcPr marL="9525" marR="9525" marT="9525" marB="0" anchor="ctr"/>
                </a:tc>
              </a:tr>
              <a:tr h="337657">
                <a:tc>
                  <a:txBody>
                    <a:bodyPr wrap="square"/>
                    <a:lstStyle/>
                    <a:p>
                      <a:pPr algn="l"/>
                      <a:r>
                        <a:rPr sz="1050" b="0" i="0">
                          <a:solidFill>
                            <a:srgbClr val="000000"/>
                          </a:solidFill>
                          <a:latin typeface="Calibri"/>
                        </a:rPr>
                        <a:t>Figure 220: South Asia and Pacific Off-Highway Vehicle Market Value, 2026-2036 Y-o-Y Comparison By Vehicle Capacity</a:t>
                      </a:r>
                      <a:endParaRPr sz="1050"/>
                    </a:p>
                  </a:txBody>
                  <a:tcPr marL="9525" marR="9525" marT="9525" marB="0" anchor="ctr"/>
                </a:tc>
              </a:tr>
              <a:tr h="337657">
                <a:tc>
                  <a:txBody>
                    <a:bodyPr wrap="square"/>
                    <a:lstStyle/>
                    <a:p>
                      <a:pPr algn="l"/>
                      <a:r>
                        <a:rPr sz="1050" b="0" i="0">
                          <a:solidFill>
                            <a:srgbClr val="000000"/>
                          </a:solidFill>
                          <a:latin typeface="Calibri"/>
                        </a:rPr>
                        <a:t>Figure 221: South Asia and Pacific Off-Highway Vehicle Market Value, 2026-2036 BPS Analysis By Vehicle Capacity</a:t>
                      </a:r>
                      <a:endParaRPr sz="1050"/>
                    </a:p>
                  </a:txBody>
                  <a:tcPr marL="9525" marR="9525" marT="9525" marB="0" anchor="ctr"/>
                </a:tc>
              </a:tr>
              <a:tr h="337657">
                <a:tc>
                  <a:txBody>
                    <a:bodyPr wrap="square"/>
                    <a:lstStyle/>
                    <a:p>
                      <a:pPr algn="l"/>
                      <a:r>
                        <a:rPr sz="1050" b="0" i="0">
                          <a:solidFill>
                            <a:srgbClr val="000000"/>
                          </a:solidFill>
                          <a:latin typeface="Calibri"/>
                        </a:rPr>
                        <a:t>Figure 222: South Asia and Pacific Off-Highway Vehicle Market Attractiveness Analysis By Vehicle Capacity</a:t>
                      </a:r>
                      <a:endParaRPr sz="1050"/>
                    </a:p>
                  </a:txBody>
                  <a:tcPr marL="9525" marR="9525" marT="9525" marB="0" anchor="ctr"/>
                </a:tc>
              </a:tr>
              <a:tr h="337657">
                <a:tc>
                  <a:txBody>
                    <a:bodyPr wrap="square"/>
                    <a:lstStyle/>
                    <a:p>
                      <a:pPr algn="l"/>
                      <a:r>
                        <a:rPr sz="1050" b="0" i="0">
                          <a:solidFill>
                            <a:srgbClr val="000000"/>
                          </a:solidFill>
                          <a:latin typeface="Calibri"/>
                        </a:rPr>
                        <a:t>Figure 223: South Asia and Pacific Off-Highway Vehicle Market Value, 2026-2036 By Propulsion Configuration</a:t>
                      </a:r>
                      <a:endParaRPr sz="1050"/>
                    </a:p>
                  </a:txBody>
                  <a:tcPr marL="9525" marR="9525" marT="9525" marB="0" anchor="ctr"/>
                </a:tc>
              </a:tr>
              <a:tr h="337657">
                <a:tc>
                  <a:txBody>
                    <a:bodyPr wrap="square"/>
                    <a:lstStyle/>
                    <a:p>
                      <a:pPr algn="l"/>
                      <a:r>
                        <a:rPr sz="1050" b="0" i="0">
                          <a:solidFill>
                            <a:srgbClr val="000000"/>
                          </a:solidFill>
                          <a:latin typeface="Calibri"/>
                        </a:rPr>
                        <a:t>Figure 224: South Asia and Pacific Off-Highway Vehicle Market Value, 2026-2036 Y-o-Y Comparison By Propulsion Configuration</a:t>
                      </a:r>
                      <a:endParaRPr sz="1050"/>
                    </a:p>
                  </a:txBody>
                  <a:tcPr marL="9525" marR="9525" marT="9525" marB="0" anchor="ctr"/>
                </a:tc>
              </a:tr>
              <a:tr h="337657">
                <a:tc>
                  <a:txBody>
                    <a:bodyPr wrap="square"/>
                    <a:lstStyle/>
                    <a:p>
                      <a:pPr algn="l"/>
                      <a:r>
                        <a:rPr sz="1050" b="0" i="0">
                          <a:solidFill>
                            <a:srgbClr val="000000"/>
                          </a:solidFill>
                          <a:latin typeface="Calibri"/>
                        </a:rPr>
                        <a:t>Figure 225: South Asia and Pacific Off-Highway Vehicle Market Value, 2026-2036 BPS Analysis By Propulsion Configuration</a:t>
                      </a:r>
                      <a:endParaRPr sz="1050"/>
                    </a:p>
                  </a:txBody>
                  <a:tcPr marL="9525" marR="9525" marT="9525" marB="0" anchor="ctr"/>
                </a:tc>
              </a:tr>
              <a:tr h="337657">
                <a:tc>
                  <a:txBody>
                    <a:bodyPr wrap="square"/>
                    <a:lstStyle/>
                    <a:p>
                      <a:pPr algn="l"/>
                      <a:r>
                        <a:rPr sz="1050" b="0" i="0">
                          <a:solidFill>
                            <a:srgbClr val="000000"/>
                          </a:solidFill>
                          <a:latin typeface="Calibri"/>
                        </a:rPr>
                        <a:t>Figure 226: South Asia and Pacific Off-Highway Vehicle Market Attractiveness Analysis By Propulsion Configuration</a:t>
                      </a:r>
                      <a:endParaRPr sz="1050"/>
                    </a:p>
                  </a:txBody>
                  <a:tcPr marL="9525" marR="9525" marT="9525" marB="0" anchor="ctr"/>
                </a:tc>
              </a:tr>
              <a:tr h="172274">
                <a:tc>
                  <a:txBody>
                    <a:bodyPr wrap="square"/>
                    <a:lstStyle/>
                    <a:p>
                      <a:pPr algn="l"/>
                      <a:r>
                        <a:rPr sz="1050" b="0" i="0">
                          <a:solidFill>
                            <a:srgbClr val="000000"/>
                          </a:solidFill>
                          <a:latin typeface="Calibri"/>
                        </a:rPr>
                        <a:t>Figure 227: South Asia and Pacific Off-Highway Vehicle Market Value, 2026-2036 By Region</a:t>
                      </a:r>
                      <a:endParaRPr sz="1050"/>
                    </a:p>
                  </a:txBody>
                  <a:tcPr marL="9525" marR="9525" marT="9525" marB="0" anchor="ctr"/>
                </a:tc>
              </a:tr>
              <a:tr h="337657">
                <a:tc>
                  <a:txBody>
                    <a:bodyPr wrap="square"/>
                    <a:lstStyle/>
                    <a:p>
                      <a:pPr algn="l"/>
                      <a:r>
                        <a:rPr sz="1050" b="0" i="0">
                          <a:solidFill>
                            <a:srgbClr val="000000"/>
                          </a:solidFill>
                          <a:latin typeface="Calibri"/>
                        </a:rPr>
                        <a:t>Figure 228: South Asia and Pacific Off-Highway Vehicle Market Value, 2026-2036 Y-o-Y Comparison By Region</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97"/>
        </p:xfrm>
        <a:graphic>
          <a:graphicData uri="http://schemas.openxmlformats.org/drawingml/2006/table">
            <a:tbl>
              <a:tblPr>
                <a:tableStyleId>{3B4B98B0-60AC-42C2-AFA5-B58CD77FA1E5}</a:tableStyleId>
              </a:tblPr>
              <a:tblGrid>
                <a:gridCol w="5876925"/>
              </a:tblGrid>
              <a:tr h="335459">
                <a:tc>
                  <a:txBody>
                    <a:bodyPr wrap="square"/>
                    <a:lstStyle/>
                    <a:p>
                      <a:pPr algn="l"/>
                      <a:r>
                        <a:rPr sz="1050" b="0" i="0">
                          <a:solidFill>
                            <a:srgbClr val="000000"/>
                          </a:solidFill>
                          <a:latin typeface="Calibri"/>
                        </a:rPr>
                        <a:t>Figure 229: South Asia and Pacific Off-Highway Vehicle Market Value, 2026-2036 BPS Analysis By Region</a:t>
                      </a:r>
                      <a:endParaRPr sz="1050"/>
                    </a:p>
                  </a:txBody>
                  <a:tcPr marL="9525" marR="9525" marT="9525" marB="0" anchor="ctr"/>
                </a:tc>
              </a:tr>
              <a:tr h="171152">
                <a:tc>
                  <a:txBody>
                    <a:bodyPr wrap="square"/>
                    <a:lstStyle/>
                    <a:p>
                      <a:pPr algn="l"/>
                      <a:r>
                        <a:rPr sz="1050" b="0" i="0">
                          <a:solidFill>
                            <a:srgbClr val="000000"/>
                          </a:solidFill>
                          <a:latin typeface="Calibri"/>
                        </a:rPr>
                        <a:t>Figure 230: South Asia and Pacific Off-Highway Vehicle Market Attractiveness Analysis By Region</a:t>
                      </a:r>
                      <a:endParaRPr sz="1050"/>
                    </a:p>
                  </a:txBody>
                  <a:tcPr marL="9525" marR="9525" marT="9525" marB="0" anchor="ctr"/>
                </a:tc>
              </a:tr>
              <a:tr h="171152">
                <a:tc>
                  <a:txBody>
                    <a:bodyPr wrap="square"/>
                    <a:lstStyle/>
                    <a:p>
                      <a:pPr algn="l"/>
                      <a:r>
                        <a:rPr sz="1050" b="0" i="0">
                          <a:solidFill>
                            <a:srgbClr val="000000"/>
                          </a:solidFill>
                          <a:latin typeface="Calibri"/>
                        </a:rPr>
                        <a:t>Figure 231: India Off-Highway Vehicle Market Value, 2026-2036 By Vehicle Type</a:t>
                      </a:r>
                      <a:endParaRPr sz="1050"/>
                    </a:p>
                  </a:txBody>
                  <a:tcPr marL="9525" marR="9525" marT="9525" marB="0" anchor="ctr"/>
                </a:tc>
              </a:tr>
              <a:tr h="171152">
                <a:tc>
                  <a:txBody>
                    <a:bodyPr wrap="square"/>
                    <a:lstStyle/>
                    <a:p>
                      <a:pPr algn="l"/>
                      <a:r>
                        <a:rPr sz="1050" b="0" i="0">
                          <a:solidFill>
                            <a:srgbClr val="000000"/>
                          </a:solidFill>
                          <a:latin typeface="Calibri"/>
                        </a:rPr>
                        <a:t>Figure 232: India Off-Highway Vehicle Market Value, 2026-2036 By Powertrain</a:t>
                      </a:r>
                      <a:endParaRPr sz="1050"/>
                    </a:p>
                  </a:txBody>
                  <a:tcPr marL="9525" marR="9525" marT="9525" marB="0" anchor="ctr"/>
                </a:tc>
              </a:tr>
              <a:tr h="171152">
                <a:tc>
                  <a:txBody>
                    <a:bodyPr wrap="square"/>
                    <a:lstStyle/>
                    <a:p>
                      <a:pPr algn="l"/>
                      <a:r>
                        <a:rPr sz="1050" b="0" i="0">
                          <a:solidFill>
                            <a:srgbClr val="000000"/>
                          </a:solidFill>
                          <a:latin typeface="Calibri"/>
                        </a:rPr>
                        <a:t>Figure 233: India Off-Highway Vehicle Market Value, 2026-2036 By Vehicle Capacity</a:t>
                      </a:r>
                      <a:endParaRPr sz="1050"/>
                    </a:p>
                  </a:txBody>
                  <a:tcPr marL="9525" marR="9525" marT="9525" marB="0" anchor="ctr"/>
                </a:tc>
              </a:tr>
              <a:tr h="171152">
                <a:tc>
                  <a:txBody>
                    <a:bodyPr wrap="square"/>
                    <a:lstStyle/>
                    <a:p>
                      <a:pPr algn="l"/>
                      <a:r>
                        <a:rPr sz="1050" b="0" i="0">
                          <a:solidFill>
                            <a:srgbClr val="000000"/>
                          </a:solidFill>
                          <a:latin typeface="Calibri"/>
                        </a:rPr>
                        <a:t>Figure 234: India Off-Highway Vehicle Market Value, 2026-2036 By Propulsion Configuration</a:t>
                      </a:r>
                      <a:endParaRPr sz="1050"/>
                    </a:p>
                  </a:txBody>
                  <a:tcPr marL="9525" marR="9525" marT="9525" marB="0" anchor="ctr"/>
                </a:tc>
              </a:tr>
              <a:tr h="171152">
                <a:tc>
                  <a:txBody>
                    <a:bodyPr wrap="square"/>
                    <a:lstStyle/>
                    <a:p>
                      <a:pPr algn="l"/>
                      <a:r>
                        <a:rPr sz="1050" b="0" i="0">
                          <a:solidFill>
                            <a:srgbClr val="000000"/>
                          </a:solidFill>
                          <a:latin typeface="Calibri"/>
                        </a:rPr>
                        <a:t>Figure 235: ASEAN Off-Highway Vehicle Market Value, 2026-2036 By Vehicle Type</a:t>
                      </a:r>
                      <a:endParaRPr sz="1050"/>
                    </a:p>
                  </a:txBody>
                  <a:tcPr marL="9525" marR="9525" marT="9525" marB="0" anchor="ctr"/>
                </a:tc>
              </a:tr>
              <a:tr h="171152">
                <a:tc>
                  <a:txBody>
                    <a:bodyPr wrap="square"/>
                    <a:lstStyle/>
                    <a:p>
                      <a:pPr algn="l"/>
                      <a:r>
                        <a:rPr sz="1050" b="0" i="0">
                          <a:solidFill>
                            <a:srgbClr val="000000"/>
                          </a:solidFill>
                          <a:latin typeface="Calibri"/>
                        </a:rPr>
                        <a:t>Figure 236: ASEAN Off-Highway Vehicle Market Value, 2026-2036 By Powertrain</a:t>
                      </a:r>
                      <a:endParaRPr sz="1050"/>
                    </a:p>
                  </a:txBody>
                  <a:tcPr marL="9525" marR="9525" marT="9525" marB="0" anchor="ctr"/>
                </a:tc>
              </a:tr>
              <a:tr h="171152">
                <a:tc>
                  <a:txBody>
                    <a:bodyPr wrap="square"/>
                    <a:lstStyle/>
                    <a:p>
                      <a:pPr algn="l"/>
                      <a:r>
                        <a:rPr sz="1050" b="0" i="0">
                          <a:solidFill>
                            <a:srgbClr val="000000"/>
                          </a:solidFill>
                          <a:latin typeface="Calibri"/>
                        </a:rPr>
                        <a:t>Figure 237: ASEAN Off-Highway Vehicle Market Value, 2026-2036 By Vehicle Capacity</a:t>
                      </a:r>
                      <a:endParaRPr sz="1050"/>
                    </a:p>
                  </a:txBody>
                  <a:tcPr marL="9525" marR="9525" marT="9525" marB="0" anchor="ctr"/>
                </a:tc>
              </a:tr>
              <a:tr h="171152">
                <a:tc>
                  <a:txBody>
                    <a:bodyPr wrap="square"/>
                    <a:lstStyle/>
                    <a:p>
                      <a:pPr algn="l"/>
                      <a:r>
                        <a:rPr sz="1050" b="0" i="0">
                          <a:solidFill>
                            <a:srgbClr val="000000"/>
                          </a:solidFill>
                          <a:latin typeface="Calibri"/>
                        </a:rPr>
                        <a:t>Figure 238: ASEAN Off-Highway Vehicle Market Value, 2026-2036 By Propulsion Configuration</a:t>
                      </a:r>
                      <a:endParaRPr sz="1050"/>
                    </a:p>
                  </a:txBody>
                  <a:tcPr marL="9525" marR="9525" marT="9525" marB="0" anchor="ctr"/>
                </a:tc>
              </a:tr>
              <a:tr h="171152">
                <a:tc>
                  <a:txBody>
                    <a:bodyPr wrap="square"/>
                    <a:lstStyle/>
                    <a:p>
                      <a:pPr algn="l"/>
                      <a:r>
                        <a:rPr sz="1050" b="0" i="0">
                          <a:solidFill>
                            <a:srgbClr val="000000"/>
                          </a:solidFill>
                          <a:latin typeface="Calibri"/>
                        </a:rPr>
                        <a:t>Figure 239: Australia and New Zealand Off-Highway Vehicle Market Value, 2026-2036 By Vehicle Type</a:t>
                      </a:r>
                      <a:endParaRPr sz="1050"/>
                    </a:p>
                  </a:txBody>
                  <a:tcPr marL="9525" marR="9525" marT="9525" marB="0" anchor="ctr"/>
                </a:tc>
              </a:tr>
              <a:tr h="171152">
                <a:tc>
                  <a:txBody>
                    <a:bodyPr wrap="square"/>
                    <a:lstStyle/>
                    <a:p>
                      <a:pPr algn="l"/>
                      <a:r>
                        <a:rPr sz="1050" b="0" i="0">
                          <a:solidFill>
                            <a:srgbClr val="000000"/>
                          </a:solidFill>
                          <a:latin typeface="Calibri"/>
                        </a:rPr>
                        <a:t>Figure 240: Australia and New Zealand Off-Highway Vehicle Market Value, 2026-2036 By Powertrain</a:t>
                      </a:r>
                      <a:endParaRPr sz="1050"/>
                    </a:p>
                  </a:txBody>
                  <a:tcPr marL="9525" marR="9525" marT="9525" marB="0" anchor="ctr"/>
                </a:tc>
              </a:tr>
              <a:tr h="335459">
                <a:tc>
                  <a:txBody>
                    <a:bodyPr wrap="square"/>
                    <a:lstStyle/>
                    <a:p>
                      <a:pPr algn="l"/>
                      <a:r>
                        <a:rPr sz="1050" b="0" i="0">
                          <a:solidFill>
                            <a:srgbClr val="000000"/>
                          </a:solidFill>
                          <a:latin typeface="Calibri"/>
                        </a:rPr>
                        <a:t>Figure 241: Australia and New Zealand Off-Highway Vehicle Market Value, 2026-2036 By Vehicle Capacity</a:t>
                      </a:r>
                      <a:endParaRPr sz="1050"/>
                    </a:p>
                  </a:txBody>
                  <a:tcPr marL="9525" marR="9525" marT="9525" marB="0" anchor="ctr"/>
                </a:tc>
              </a:tr>
              <a:tr h="335459">
                <a:tc>
                  <a:txBody>
                    <a:bodyPr wrap="square"/>
                    <a:lstStyle/>
                    <a:p>
                      <a:pPr algn="l"/>
                      <a:r>
                        <a:rPr sz="1050" b="0" i="0">
                          <a:solidFill>
                            <a:srgbClr val="000000"/>
                          </a:solidFill>
                          <a:latin typeface="Calibri"/>
                        </a:rPr>
                        <a:t>Figure 242: Australia and New Zealand Off-Highway Vehicle Market Value, 2026-2036 By Propulsion Configuration</a:t>
                      </a:r>
                      <a:endParaRPr sz="1050"/>
                    </a:p>
                  </a:txBody>
                  <a:tcPr marL="9525" marR="9525" marT="9525" marB="0" anchor="ctr"/>
                </a:tc>
              </a:tr>
              <a:tr h="171152">
                <a:tc>
                  <a:txBody>
                    <a:bodyPr wrap="square"/>
                    <a:lstStyle/>
                    <a:p>
                      <a:pPr algn="l"/>
                      <a:r>
                        <a:rPr sz="1050" b="0" i="0">
                          <a:solidFill>
                            <a:srgbClr val="000000"/>
                          </a:solidFill>
                          <a:latin typeface="Calibri"/>
                        </a:rPr>
                        <a:t>Figure 243: Middle East and Africa Off-Highway Vehicle Market Value, 2021-2036</a:t>
                      </a:r>
                      <a:endParaRPr sz="1050"/>
                    </a:p>
                  </a:txBody>
                  <a:tcPr marL="9525" marR="9525" marT="9525" marB="0" anchor="ctr"/>
                </a:tc>
              </a:tr>
              <a:tr h="171152">
                <a:tc>
                  <a:txBody>
                    <a:bodyPr wrap="square"/>
                    <a:lstStyle/>
                    <a:p>
                      <a:pPr algn="l"/>
                      <a:r>
                        <a:rPr sz="1050" b="0" i="0">
                          <a:solidFill>
                            <a:srgbClr val="000000"/>
                          </a:solidFill>
                          <a:latin typeface="Calibri"/>
                        </a:rPr>
                        <a:t>Figure 244: Middle East and Africa Off-Highway Vehicle Market Incremental $ Opportunity, 2026-2036</a:t>
                      </a:r>
                      <a:endParaRPr sz="1050"/>
                    </a:p>
                  </a:txBody>
                  <a:tcPr marL="9525" marR="9525" marT="9525" marB="0" anchor="ctr"/>
                </a:tc>
              </a:tr>
              <a:tr h="171152">
                <a:tc>
                  <a:txBody>
                    <a:bodyPr wrap="square"/>
                    <a:lstStyle/>
                    <a:p>
                      <a:pPr algn="l"/>
                      <a:r>
                        <a:rPr sz="1050" b="0" i="0">
                          <a:solidFill>
                            <a:srgbClr val="000000"/>
                          </a:solidFill>
                          <a:latin typeface="Calibri"/>
                        </a:rPr>
                        <a:t>Figure 245: Middle East and Africa Off-Highway Vehicle Market Value, 2026-2036 By Vehicle Type</a:t>
                      </a:r>
                      <a:endParaRPr sz="1050"/>
                    </a:p>
                  </a:txBody>
                  <a:tcPr marL="9525" marR="9525" marT="9525" marB="0" anchor="ctr"/>
                </a:tc>
              </a:tr>
              <a:tr h="335459">
                <a:tc>
                  <a:txBody>
                    <a:bodyPr wrap="square"/>
                    <a:lstStyle/>
                    <a:p>
                      <a:pPr algn="l"/>
                      <a:r>
                        <a:rPr sz="1050" b="0" i="0">
                          <a:solidFill>
                            <a:srgbClr val="000000"/>
                          </a:solidFill>
                          <a:latin typeface="Calibri"/>
                        </a:rPr>
                        <a:t>Figure 246: Middle East and Africa Off-Highway Vehicle Market Value, 2026-2036 Y-o-Y Comparison By Vehicle Type</a:t>
                      </a:r>
                      <a:endParaRPr sz="1050"/>
                    </a:p>
                  </a:txBody>
                  <a:tcPr marL="9525" marR="9525" marT="9525" marB="0" anchor="ctr"/>
                </a:tc>
              </a:tr>
              <a:tr h="335459">
                <a:tc>
                  <a:txBody>
                    <a:bodyPr wrap="square"/>
                    <a:lstStyle/>
                    <a:p>
                      <a:pPr algn="l"/>
                      <a:r>
                        <a:rPr sz="1050" b="0" i="0">
                          <a:solidFill>
                            <a:srgbClr val="000000"/>
                          </a:solidFill>
                          <a:latin typeface="Calibri"/>
                        </a:rPr>
                        <a:t>Figure 247: Middle East and Africa Off-Highway Vehicle Market Value, 2026-2036 BPS Analysis By Vehicle Type</a:t>
                      </a:r>
                      <a:endParaRPr sz="1050"/>
                    </a:p>
                  </a:txBody>
                  <a:tcPr marL="9525" marR="9525" marT="9525" marB="0" anchor="ctr"/>
                </a:tc>
              </a:tr>
              <a:tr h="171152">
                <a:tc>
                  <a:txBody>
                    <a:bodyPr wrap="square"/>
                    <a:lstStyle/>
                    <a:p>
                      <a:pPr algn="l"/>
                      <a:r>
                        <a:rPr sz="1050" b="0" i="0">
                          <a:solidFill>
                            <a:srgbClr val="000000"/>
                          </a:solidFill>
                          <a:latin typeface="Calibri"/>
                        </a:rPr>
                        <a:t>Figure 248: Middle East and Africa Off-Highway Vehicle Market Attractiveness Analysis By Vehicle Type</a:t>
                      </a:r>
                      <a:endParaRPr sz="1050"/>
                    </a:p>
                  </a:txBody>
                  <a:tcPr marL="9525" marR="9525" marT="9525" marB="0" anchor="ctr"/>
                </a:tc>
              </a:tr>
              <a:tr h="171152">
                <a:tc>
                  <a:txBody>
                    <a:bodyPr wrap="square"/>
                    <a:lstStyle/>
                    <a:p>
                      <a:pPr algn="l"/>
                      <a:r>
                        <a:rPr sz="1050" b="0" i="0">
                          <a:solidFill>
                            <a:srgbClr val="000000"/>
                          </a:solidFill>
                          <a:latin typeface="Calibri"/>
                        </a:rPr>
                        <a:t>Figure 249: Middle East and Africa Off-Highway Vehicle Market Value, 2026-2036 By Powertrain</a:t>
                      </a:r>
                      <a:endParaRPr sz="1050"/>
                    </a:p>
                  </a:txBody>
                  <a:tcPr marL="9525" marR="9525" marT="9525" marB="0" anchor="ctr"/>
                </a:tc>
              </a:tr>
              <a:tr h="335459">
                <a:tc>
                  <a:txBody>
                    <a:bodyPr wrap="square"/>
                    <a:lstStyle/>
                    <a:p>
                      <a:pPr algn="l"/>
                      <a:r>
                        <a:rPr sz="1050" b="0" i="0">
                          <a:solidFill>
                            <a:srgbClr val="000000"/>
                          </a:solidFill>
                          <a:latin typeface="Calibri"/>
                        </a:rPr>
                        <a:t>Figure 250: Middle East and Africa Off-Highway Vehicle Market Value, 2026-2036 Y-o-Y Comparison By Powertrain</a:t>
                      </a:r>
                      <a:endParaRPr sz="1050"/>
                    </a:p>
                  </a:txBody>
                  <a:tcPr marL="9525" marR="9525" marT="9525" marB="0" anchor="ctr"/>
                </a:tc>
              </a:tr>
              <a:tr h="335459">
                <a:tc>
                  <a:txBody>
                    <a:bodyPr wrap="square"/>
                    <a:lstStyle/>
                    <a:p>
                      <a:pPr algn="l"/>
                      <a:r>
                        <a:rPr sz="1050" b="0" i="0">
                          <a:solidFill>
                            <a:srgbClr val="000000"/>
                          </a:solidFill>
                          <a:latin typeface="Calibri"/>
                        </a:rPr>
                        <a:t>Figure 251: Middle East and Africa Off-Highway Vehicle Market Value, 2026-2036 BPS Analysis By Powertrain</a:t>
                      </a:r>
                      <a:endParaRPr sz="1050"/>
                    </a:p>
                  </a:txBody>
                  <a:tcPr marL="9525" marR="9525" marT="9525" marB="0" anchor="ctr"/>
                </a:tc>
              </a:tr>
              <a:tr h="171152">
                <a:tc>
                  <a:txBody>
                    <a:bodyPr wrap="square"/>
                    <a:lstStyle/>
                    <a:p>
                      <a:pPr algn="l"/>
                      <a:r>
                        <a:rPr sz="1050" b="0" i="0">
                          <a:solidFill>
                            <a:srgbClr val="000000"/>
                          </a:solidFill>
                          <a:latin typeface="Calibri"/>
                        </a:rPr>
                        <a:t>Figure 252: Middle East and Africa Off-Highway Vehicle Market Attractiveness Analysis By Powertrain</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(6/6)</a:t>
            </a:r>
          </a:p>
        </p:txBody>
      </p:sp>
      <p:graphicFrame>
        <p:nvGraphicFramePr>
          <p:cNvPr id="6" name="TMR Contents Table"/>
          <p:cNvGraphicFramePr>
            <a:graphicFrameLocks noGrp="1"/>
          </p:cNvGraphicFramePr>
          <p:nvPr/>
        </p:nvGraphicFramePr>
        <p:xfrm>
          <a:off x="142875" y="981075"/>
          <a:ext cx="5876925" cy="5257793"/>
        </p:xfrm>
        <a:graphic>
          <a:graphicData uri="http://schemas.openxmlformats.org/drawingml/2006/table">
            <a:tbl>
              <a:tblPr>
                <a:tableStyleId>{3B4B98B0-60AC-42C2-AFA5-B58CD77FA1E5}</a:tableStyleId>
              </a:tblPr>
              <a:tblGrid>
                <a:gridCol w="5876925"/>
              </a:tblGrid>
              <a:tr h="171599">
                <a:tc>
                  <a:txBody>
                    <a:bodyPr wrap="square"/>
                    <a:lstStyle/>
                    <a:p>
                      <a:pPr algn="l"/>
                      <a:r>
                        <a:rPr sz="1050" b="0" i="0">
                          <a:solidFill>
                            <a:srgbClr val="000000"/>
                          </a:solidFill>
                          <a:latin typeface="Calibri"/>
                        </a:rPr>
                        <a:t>Figure 253: Middle East and Africa Off-Highway Vehicle Market Value, 2026-2036 By Vehicle Capacity</a:t>
                      </a:r>
                      <a:endParaRPr sz="1050"/>
                    </a:p>
                  </a:txBody>
                  <a:tcPr marL="9525" marR="9525" marT="9525" marB="0" anchor="ctr"/>
                </a:tc>
              </a:tr>
              <a:tr h="336334">
                <a:tc>
                  <a:txBody>
                    <a:bodyPr wrap="square"/>
                    <a:lstStyle/>
                    <a:p>
                      <a:pPr algn="l"/>
                      <a:r>
                        <a:rPr sz="1050" b="0" i="0">
                          <a:solidFill>
                            <a:srgbClr val="000000"/>
                          </a:solidFill>
                          <a:latin typeface="Calibri"/>
                        </a:rPr>
                        <a:t>Figure 254: Middle East and Africa Off-Highway Vehicle Market Value, 2026-2036 Y-o-Y Comparison By Vehicle Capacity</a:t>
                      </a:r>
                      <a:endParaRPr sz="1050"/>
                    </a:p>
                  </a:txBody>
                  <a:tcPr marL="9525" marR="9525" marT="9525" marB="0" anchor="ctr"/>
                </a:tc>
              </a:tr>
              <a:tr h="336334">
                <a:tc>
                  <a:txBody>
                    <a:bodyPr wrap="square"/>
                    <a:lstStyle/>
                    <a:p>
                      <a:pPr algn="l"/>
                      <a:r>
                        <a:rPr sz="1050" b="0" i="0">
                          <a:solidFill>
                            <a:srgbClr val="000000"/>
                          </a:solidFill>
                          <a:latin typeface="Calibri"/>
                        </a:rPr>
                        <a:t>Figure 255: Middle East and Africa Off-Highway Vehicle Market Value, 2026-2036 BPS Analysis By Vehicle Capacity</a:t>
                      </a:r>
                      <a:endParaRPr sz="1050"/>
                    </a:p>
                  </a:txBody>
                  <a:tcPr marL="9525" marR="9525" marT="9525" marB="0" anchor="ctr"/>
                </a:tc>
              </a:tr>
              <a:tr h="336334">
                <a:tc>
                  <a:txBody>
                    <a:bodyPr wrap="square"/>
                    <a:lstStyle/>
                    <a:p>
                      <a:pPr algn="l"/>
                      <a:r>
                        <a:rPr sz="1050" b="0" i="0">
                          <a:solidFill>
                            <a:srgbClr val="000000"/>
                          </a:solidFill>
                          <a:latin typeface="Calibri"/>
                        </a:rPr>
                        <a:t>Figure 256: Middle East and Africa Off-Highway Vehicle Market Attractiveness Analysis By Vehicle Capacity</a:t>
                      </a:r>
                      <a:endParaRPr sz="1050"/>
                    </a:p>
                  </a:txBody>
                  <a:tcPr marL="9525" marR="9525" marT="9525" marB="0" anchor="ctr"/>
                </a:tc>
              </a:tr>
              <a:tr h="336334">
                <a:tc>
                  <a:txBody>
                    <a:bodyPr wrap="square"/>
                    <a:lstStyle/>
                    <a:p>
                      <a:pPr algn="l"/>
                      <a:r>
                        <a:rPr sz="1050" b="0" i="0">
                          <a:solidFill>
                            <a:srgbClr val="000000"/>
                          </a:solidFill>
                          <a:latin typeface="Calibri"/>
                        </a:rPr>
                        <a:t>Figure 257: Middle East and Africa Off-Highway Vehicle Market Value, 2026-2036 By Propulsion Configuration</a:t>
                      </a:r>
                      <a:endParaRPr sz="1050"/>
                    </a:p>
                  </a:txBody>
                  <a:tcPr marL="9525" marR="9525" marT="9525" marB="0" anchor="ctr"/>
                </a:tc>
              </a:tr>
              <a:tr h="336334">
                <a:tc>
                  <a:txBody>
                    <a:bodyPr wrap="square"/>
                    <a:lstStyle/>
                    <a:p>
                      <a:pPr algn="l"/>
                      <a:r>
                        <a:rPr sz="1050" b="0" i="0">
                          <a:solidFill>
                            <a:srgbClr val="000000"/>
                          </a:solidFill>
                          <a:latin typeface="Calibri"/>
                        </a:rPr>
                        <a:t>Figure 258: Middle East and Africa Off-Highway Vehicle Market Value, 2026-2036 Y-o-Y Comparison By Propulsion Configuration</a:t>
                      </a:r>
                      <a:endParaRPr sz="1050"/>
                    </a:p>
                  </a:txBody>
                  <a:tcPr marL="9525" marR="9525" marT="9525" marB="0" anchor="ctr"/>
                </a:tc>
              </a:tr>
              <a:tr h="336334">
                <a:tc>
                  <a:txBody>
                    <a:bodyPr wrap="square"/>
                    <a:lstStyle/>
                    <a:p>
                      <a:pPr algn="l"/>
                      <a:r>
                        <a:rPr sz="1050" b="0" i="0">
                          <a:solidFill>
                            <a:srgbClr val="000000"/>
                          </a:solidFill>
                          <a:latin typeface="Calibri"/>
                        </a:rPr>
                        <a:t>Figure 259: Middle East and Africa Off-Highway Vehicle Market Value, 2026-2036 BPS Analysis By Propulsion Configuration</a:t>
                      </a:r>
                      <a:endParaRPr sz="1050"/>
                    </a:p>
                  </a:txBody>
                  <a:tcPr marL="9525" marR="9525" marT="9525" marB="0" anchor="ctr"/>
                </a:tc>
              </a:tr>
              <a:tr h="336334">
                <a:tc>
                  <a:txBody>
                    <a:bodyPr wrap="square"/>
                    <a:lstStyle/>
                    <a:p>
                      <a:pPr algn="l"/>
                      <a:r>
                        <a:rPr sz="1050" b="0" i="0">
                          <a:solidFill>
                            <a:srgbClr val="000000"/>
                          </a:solidFill>
                          <a:latin typeface="Calibri"/>
                        </a:rPr>
                        <a:t>Figure 260: Middle East and Africa Off-Highway Vehicle Market Attractiveness Analysis By Propulsion Configuration</a:t>
                      </a:r>
                      <a:endParaRPr sz="1050"/>
                    </a:p>
                  </a:txBody>
                  <a:tcPr marL="9525" marR="9525" marT="9525" marB="0" anchor="ctr"/>
                </a:tc>
              </a:tr>
              <a:tr h="171599">
                <a:tc>
                  <a:txBody>
                    <a:bodyPr wrap="square"/>
                    <a:lstStyle/>
                    <a:p>
                      <a:pPr algn="l"/>
                      <a:r>
                        <a:rPr sz="1050" b="0" i="0">
                          <a:solidFill>
                            <a:srgbClr val="000000"/>
                          </a:solidFill>
                          <a:latin typeface="Calibri"/>
                        </a:rPr>
                        <a:t>Figure 261: Middle East and Africa Off-Highway Vehicle Market Value, 2026-2036 By Region</a:t>
                      </a:r>
                      <a:endParaRPr sz="1050"/>
                    </a:p>
                  </a:txBody>
                  <a:tcPr marL="9525" marR="9525" marT="9525" marB="0" anchor="ctr"/>
                </a:tc>
              </a:tr>
              <a:tr h="336334">
                <a:tc>
                  <a:txBody>
                    <a:bodyPr wrap="square"/>
                    <a:lstStyle/>
                    <a:p>
                      <a:pPr algn="l"/>
                      <a:r>
                        <a:rPr sz="1050" b="0" i="0">
                          <a:solidFill>
                            <a:srgbClr val="000000"/>
                          </a:solidFill>
                          <a:latin typeface="Calibri"/>
                        </a:rPr>
                        <a:t>Figure 262: Middle East and Africa Off-Highway Vehicle Market Value, 2026-2036 Y-o-Y Comparison By Region</a:t>
                      </a:r>
                      <a:endParaRPr sz="1050"/>
                    </a:p>
                  </a:txBody>
                  <a:tcPr marL="9525" marR="9525" marT="9525" marB="0" anchor="ctr"/>
                </a:tc>
              </a:tr>
              <a:tr h="336334">
                <a:tc>
                  <a:txBody>
                    <a:bodyPr wrap="square"/>
                    <a:lstStyle/>
                    <a:p>
                      <a:pPr algn="l"/>
                      <a:r>
                        <a:rPr sz="1050" b="0" i="0">
                          <a:solidFill>
                            <a:srgbClr val="000000"/>
                          </a:solidFill>
                          <a:latin typeface="Calibri"/>
                        </a:rPr>
                        <a:t>Figure 263: Middle East and Africa Off-Highway Vehicle Market Value, 2026-2036 BPS Analysis By Region</a:t>
                      </a:r>
                      <a:endParaRPr sz="1050"/>
                    </a:p>
                  </a:txBody>
                  <a:tcPr marL="9525" marR="9525" marT="9525" marB="0" anchor="ctr"/>
                </a:tc>
              </a:tr>
              <a:tr h="171599">
                <a:tc>
                  <a:txBody>
                    <a:bodyPr wrap="square"/>
                    <a:lstStyle/>
                    <a:p>
                      <a:pPr algn="l"/>
                      <a:r>
                        <a:rPr sz="1050" b="0" i="0">
                          <a:solidFill>
                            <a:srgbClr val="000000"/>
                          </a:solidFill>
                          <a:latin typeface="Calibri"/>
                        </a:rPr>
                        <a:t>Figure 264: Middle East and Africa Off-Highway Vehicle Market Attractiveness Analysis By Region</a:t>
                      </a:r>
                      <a:endParaRPr sz="1050"/>
                    </a:p>
                  </a:txBody>
                  <a:tcPr marL="9525" marR="9525" marT="9525" marB="0" anchor="ctr"/>
                </a:tc>
              </a:tr>
              <a:tr h="171599">
                <a:tc>
                  <a:txBody>
                    <a:bodyPr wrap="square"/>
                    <a:lstStyle/>
                    <a:p>
                      <a:pPr algn="l"/>
                      <a:r>
                        <a:rPr sz="1050" b="0" i="0">
                          <a:solidFill>
                            <a:srgbClr val="000000"/>
                          </a:solidFill>
                          <a:latin typeface="Calibri"/>
                        </a:rPr>
                        <a:t>Figure 265: GCC Countries Off-Highway Vehicle Market Value, 2026-2036 By Vehicle Type</a:t>
                      </a:r>
                      <a:endParaRPr sz="1050"/>
                    </a:p>
                  </a:txBody>
                  <a:tcPr marL="9525" marR="9525" marT="9525" marB="0" anchor="ctr"/>
                </a:tc>
              </a:tr>
              <a:tr h="171599">
                <a:tc>
                  <a:txBody>
                    <a:bodyPr wrap="square"/>
                    <a:lstStyle/>
                    <a:p>
                      <a:pPr algn="l"/>
                      <a:r>
                        <a:rPr sz="1050" b="0" i="0">
                          <a:solidFill>
                            <a:srgbClr val="000000"/>
                          </a:solidFill>
                          <a:latin typeface="Calibri"/>
                        </a:rPr>
                        <a:t>Figure 266: GCC Countries Off-Highway Vehicle Market Value, 2026-2036 By Powertrain</a:t>
                      </a:r>
                      <a:endParaRPr sz="1050"/>
                    </a:p>
                  </a:txBody>
                  <a:tcPr marL="9525" marR="9525" marT="9525" marB="0" anchor="ctr"/>
                </a:tc>
              </a:tr>
              <a:tr h="171599">
                <a:tc>
                  <a:txBody>
                    <a:bodyPr wrap="square"/>
                    <a:lstStyle/>
                    <a:p>
                      <a:pPr algn="l"/>
                      <a:r>
                        <a:rPr sz="1050" b="0" i="0">
                          <a:solidFill>
                            <a:srgbClr val="000000"/>
                          </a:solidFill>
                          <a:latin typeface="Calibri"/>
                        </a:rPr>
                        <a:t>Figure 267: GCC Countries Off-Highway Vehicle Market Value, 2026-2036 By Vehicle Capacity</a:t>
                      </a:r>
                      <a:endParaRPr sz="1050"/>
                    </a:p>
                  </a:txBody>
                  <a:tcPr marL="9525" marR="9525" marT="9525" marB="0" anchor="ctr"/>
                </a:tc>
              </a:tr>
              <a:tr h="171599">
                <a:tc>
                  <a:txBody>
                    <a:bodyPr wrap="square"/>
                    <a:lstStyle/>
                    <a:p>
                      <a:pPr algn="l"/>
                      <a:r>
                        <a:rPr sz="1050" b="0" i="0">
                          <a:solidFill>
                            <a:srgbClr val="000000"/>
                          </a:solidFill>
                          <a:latin typeface="Calibri"/>
                        </a:rPr>
                        <a:t>Figure 268: GCC Countries Off-Highway Vehicle Market Value, 2026-2036 By Propulsion Configuration</a:t>
                      </a:r>
                      <a:endParaRPr sz="1050"/>
                    </a:p>
                  </a:txBody>
                  <a:tcPr marL="9525" marR="9525" marT="9525" marB="0" anchor="ctr"/>
                </a:tc>
              </a:tr>
              <a:tr h="171599">
                <a:tc>
                  <a:txBody>
                    <a:bodyPr wrap="square"/>
                    <a:lstStyle/>
                    <a:p>
                      <a:pPr algn="l"/>
                      <a:r>
                        <a:rPr sz="1050" b="0" i="0">
                          <a:solidFill>
                            <a:srgbClr val="000000"/>
                          </a:solidFill>
                          <a:latin typeface="Calibri"/>
                        </a:rPr>
                        <a:t>Figure 269: Turkiye Off-Highway Vehicle Market Value, 2026-2036 By Vehicle Type</a:t>
                      </a:r>
                      <a:endParaRPr sz="1050"/>
                    </a:p>
                  </a:txBody>
                  <a:tcPr marL="9525" marR="9525" marT="9525" marB="0" anchor="ctr"/>
                </a:tc>
              </a:tr>
              <a:tr h="171599">
                <a:tc>
                  <a:txBody>
                    <a:bodyPr wrap="square"/>
                    <a:lstStyle/>
                    <a:p>
                      <a:pPr algn="l"/>
                      <a:r>
                        <a:rPr sz="1050" b="0" i="0">
                          <a:solidFill>
                            <a:srgbClr val="000000"/>
                          </a:solidFill>
                          <a:latin typeface="Calibri"/>
                        </a:rPr>
                        <a:t>Figure 270: Turkiye Off-Highway Vehicle Market Value, 2026-2036 By Powertrain</a:t>
                      </a:r>
                      <a:endParaRPr sz="1050"/>
                    </a:p>
                  </a:txBody>
                  <a:tcPr marL="9525" marR="9525" marT="9525" marB="0" anchor="ctr"/>
                </a:tc>
              </a:tr>
              <a:tr h="171599">
                <a:tc>
                  <a:txBody>
                    <a:bodyPr wrap="square"/>
                    <a:lstStyle/>
                    <a:p>
                      <a:pPr algn="l"/>
                      <a:r>
                        <a:rPr sz="1050" b="0" i="0">
                          <a:solidFill>
                            <a:srgbClr val="000000"/>
                          </a:solidFill>
                          <a:latin typeface="Calibri"/>
                        </a:rPr>
                        <a:t>Figure 271: Turkiye Off-Highway Vehicle Market Value, 2026-2036 By Vehicle Capacity</a:t>
                      </a:r>
                      <a:endParaRPr sz="1050"/>
                    </a:p>
                  </a:txBody>
                  <a:tcPr marL="9525" marR="9525" marT="9525" marB="0" anchor="ctr"/>
                </a:tc>
              </a:tr>
              <a:tr h="171599">
                <a:tc>
                  <a:txBody>
                    <a:bodyPr wrap="square"/>
                    <a:lstStyle/>
                    <a:p>
                      <a:pPr algn="l"/>
                      <a:r>
                        <a:rPr sz="1050" b="0" i="0">
                          <a:solidFill>
                            <a:srgbClr val="000000"/>
                          </a:solidFill>
                          <a:latin typeface="Calibri"/>
                        </a:rPr>
                        <a:t>Figure 272: Turkiye Off-Highway Vehicle Market Value, 2026-2036 By Propulsion Configuration</a:t>
                      </a:r>
                      <a:endParaRPr sz="1050"/>
                    </a:p>
                  </a:txBody>
                  <a:tcPr marL="9525" marR="9525" marT="9525" marB="0" anchor="ctr"/>
                </a:tc>
              </a:tr>
              <a:tr h="171599">
                <a:tc>
                  <a:txBody>
                    <a:bodyPr wrap="square"/>
                    <a:lstStyle/>
                    <a:p>
                      <a:pPr algn="l"/>
                      <a:r>
                        <a:rPr sz="1050" b="0" i="0">
                          <a:solidFill>
                            <a:srgbClr val="000000"/>
                          </a:solidFill>
                          <a:latin typeface="Calibri"/>
                        </a:rPr>
                        <a:t>Figure 273: Northern Africa Off-Highway Vehicle Market Value, 2026-2036 By Vehicle Type</a:t>
                      </a:r>
                      <a:endParaRPr sz="1050"/>
                    </a:p>
                  </a:txBody>
                  <a:tcPr marL="9525" marR="9525" marT="9525" marB="0" anchor="ctr"/>
                </a:tc>
              </a:tr>
              <a:tr h="171599">
                <a:tc>
                  <a:txBody>
                    <a:bodyPr wrap="square"/>
                    <a:lstStyle/>
                    <a:p>
                      <a:pPr algn="l"/>
                      <a:r>
                        <a:rPr sz="1050" b="0" i="0">
                          <a:solidFill>
                            <a:srgbClr val="000000"/>
                          </a:solidFill>
                          <a:latin typeface="Calibri"/>
                        </a:rPr>
                        <a:t>Figure 274: Northern Africa Off-Highway Vehicle Market Value, 2026-2036 By Powertrain</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1000128"/>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275: Northern Africa Off-Highway Vehicle Market Value, 2026-2036 By Vehicle Capacity</a:t>
                      </a:r>
                      <a:endParaRPr sz="1050"/>
                    </a:p>
                  </a:txBody>
                  <a:tcPr marL="9525" marR="9525" marT="9525" marB="0" anchor="ctr"/>
                </a:tc>
              </a:tr>
              <a:tr h="166688">
                <a:tc>
                  <a:txBody>
                    <a:bodyPr wrap="square"/>
                    <a:lstStyle/>
                    <a:p>
                      <a:pPr algn="l"/>
                      <a:r>
                        <a:rPr sz="1050" b="0" i="0">
                          <a:solidFill>
                            <a:srgbClr val="000000"/>
                          </a:solidFill>
                          <a:latin typeface="Calibri"/>
                        </a:rPr>
                        <a:t>Figure 276: Northern Africa Off-Highway Vehicle Market Value, 2026-2036 By Propulsion Configuration</a:t>
                      </a:r>
                      <a:endParaRPr sz="1050"/>
                    </a:p>
                  </a:txBody>
                  <a:tcPr marL="9525" marR="9525" marT="9525" marB="0" anchor="ctr"/>
                </a:tc>
              </a:tr>
              <a:tr h="166688">
                <a:tc>
                  <a:txBody>
                    <a:bodyPr wrap="square"/>
                    <a:lstStyle/>
                    <a:p>
                      <a:pPr algn="l"/>
                      <a:r>
                        <a:rPr sz="1050" b="0" i="0">
                          <a:solidFill>
                            <a:srgbClr val="000000"/>
                          </a:solidFill>
                          <a:latin typeface="Calibri"/>
                        </a:rPr>
                        <a:t>Figure 277: South Africa Off-Highway Vehicle Market Value, 2026-2036 By Vehicle Type</a:t>
                      </a:r>
                      <a:endParaRPr sz="1050"/>
                    </a:p>
                  </a:txBody>
                  <a:tcPr marL="9525" marR="9525" marT="9525" marB="0" anchor="ctr"/>
                </a:tc>
              </a:tr>
              <a:tr h="166688">
                <a:tc>
                  <a:txBody>
                    <a:bodyPr wrap="square"/>
                    <a:lstStyle/>
                    <a:p>
                      <a:pPr algn="l"/>
                      <a:r>
                        <a:rPr sz="1050" b="0" i="0">
                          <a:solidFill>
                            <a:srgbClr val="000000"/>
                          </a:solidFill>
                          <a:latin typeface="Calibri"/>
                        </a:rPr>
                        <a:t>Figure 278: South Africa Off-Highway Vehicle Market Value, 2026-2036 By Powertrain</a:t>
                      </a:r>
                      <a:endParaRPr sz="1050"/>
                    </a:p>
                  </a:txBody>
                  <a:tcPr marL="9525" marR="9525" marT="9525" marB="0" anchor="ctr"/>
                </a:tc>
              </a:tr>
              <a:tr h="166688">
                <a:tc>
                  <a:txBody>
                    <a:bodyPr wrap="square"/>
                    <a:lstStyle/>
                    <a:p>
                      <a:pPr algn="l"/>
                      <a:r>
                        <a:rPr sz="1050" b="0" i="0">
                          <a:solidFill>
                            <a:srgbClr val="000000"/>
                          </a:solidFill>
                          <a:latin typeface="Calibri"/>
                        </a:rPr>
                        <a:t>Figure 279: South Africa Off-Highway Vehicle Market Value, 2026-2036 By Vehicle Capacity</a:t>
                      </a:r>
                      <a:endParaRPr sz="1050"/>
                    </a:p>
                  </a:txBody>
                  <a:tcPr marL="9525" marR="9525" marT="9525" marB="0" anchor="ctr"/>
                </a:tc>
              </a:tr>
              <a:tr h="166688">
                <a:tc>
                  <a:txBody>
                    <a:bodyPr wrap="square"/>
                    <a:lstStyle/>
                    <a:p>
                      <a:pPr algn="l"/>
                      <a:r>
                        <a:rPr sz="1050" b="0" i="0">
                          <a:solidFill>
                            <a:srgbClr val="000000"/>
                          </a:solidFill>
                          <a:latin typeface="Calibri"/>
                        </a:rPr>
                        <a:t>Figure 280: South Africa Off-Highway Vehicle Market Value, 2026-2036 By Propulsion Configuration</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(1/5)</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 Global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2: Global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3: Global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4: Global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5: Global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6: Global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7: Global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8: Global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9: Global Off-Highway Vehicle Market Value, 2021-2036 By Region</a:t>
                      </a:r>
                      <a:endParaRPr sz="1050"/>
                    </a:p>
                  </a:txBody>
                  <a:tcPr marL="9525" marR="9525" marT="9525" marB="0" anchor="ctr"/>
                </a:tc>
              </a:tr>
              <a:tr h="169606">
                <a:tc>
                  <a:txBody>
                    <a:bodyPr wrap="square"/>
                    <a:lstStyle/>
                    <a:p>
                      <a:pPr algn="l"/>
                      <a:r>
                        <a:rPr sz="1050" b="0" i="0">
                          <a:solidFill>
                            <a:srgbClr val="000000"/>
                          </a:solidFill>
                          <a:latin typeface="Calibri"/>
                        </a:rPr>
                        <a:t>Table 10: Global Off-Highway Vehicle Market Volume,2021-2036 By Region</a:t>
                      </a:r>
                      <a:endParaRPr sz="1050"/>
                    </a:p>
                  </a:txBody>
                  <a:tcPr marL="9525" marR="9525" marT="9525" marB="0" anchor="ctr"/>
                </a:tc>
              </a:tr>
              <a:tr h="169606">
                <a:tc>
                  <a:txBody>
                    <a:bodyPr wrap="square"/>
                    <a:lstStyle/>
                    <a:p>
                      <a:pPr algn="l"/>
                      <a:r>
                        <a:rPr sz="1050" b="0" i="0">
                          <a:solidFill>
                            <a:srgbClr val="000000"/>
                          </a:solidFill>
                          <a:latin typeface="Calibri"/>
                        </a:rPr>
                        <a:t>Table 11: North America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12: North America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13: North America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14: North America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15: North America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16: North America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17: North America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18: North America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19: North America Off-Highway Vehicle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20: North America Off-Highway Vehicle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21: U.S.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22: U.S.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23: U.S.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24: U.S.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25: U.S.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26: U.S.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27: U.S.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28: U.S.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29: Canada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30: Canada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31: Canada Off-Highway Vehicle Market Value, 2021-2036 By Powertrain</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32: Canada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33: Canada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34: Canada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35: Canada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36: Canada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37: Mexico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38: Mexico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39: Mexico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40: Mexico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41: Mexico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42: Mexico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43: Mexico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44: Mexico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45: Latin America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46: Latin America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47: Latin America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48: Latin America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49: Latin America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50: Latin America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51: Latin America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52: Latin America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53: Latin America Off-Highway Vehicle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54: Latin America Off-Highway Vehicle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55: Brazil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56: Brazil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57: Brazil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58: Brazil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59: Brazil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60: Brazil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61: Brazil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62: Brazil Off-Highway Vehicle Market Volume, 2021-2036 By Propulsion Configuration</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(2/5)</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63: Argentina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64: Argentina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65: Argentina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66: Argentina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67: Argentina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68: Argentina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69: Argentina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70: Argentina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71: Eastern Europe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72: Eastern Europe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73: Eastern Europe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74: Eastern Europe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75: Eastern Europe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76: Eastern Europe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77: Eastern Europe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78: Eastern Europe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79: Eastern Europe Off-Highway Vehicle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80: Eastern Europe Off-Highway Vehicle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81: Hungary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82: Hungary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83: Hungary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84: Hungary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85: Hungary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86: Hungary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87: Hungary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88: Hungary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89: Poland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90: Poland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91: Poland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92: Poland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93: Poland Off-Highway Vehicle Market Value, 2021-2036 By Vehicle Capacity</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94: Poland Off-Highway Vehicle Market Volume, 2021-2036 By Vehicle Capacity</a:t>
                      </a:r>
                      <a:endParaRPr sz="1050"/>
                    </a:p>
                  </a:txBody>
                  <a:tcPr marL="9525" marR="9525" marT="9525" marB="0" anchor="ctr"/>
                </a:tc>
              </a:tr>
              <a:tr h="170266">
                <a:tc>
                  <a:txBody>
                    <a:bodyPr wrap="square"/>
                    <a:lstStyle/>
                    <a:p>
                      <a:pPr algn="l"/>
                      <a:r>
                        <a:rPr sz="1050" b="0" i="0">
                          <a:solidFill>
                            <a:srgbClr val="000000"/>
                          </a:solidFill>
                          <a:latin typeface="Calibri"/>
                        </a:rPr>
                        <a:t>Table 95: Poland Off-Highway Vehicle Market Value, 2021-2036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Table 96: Poland Off-Highway Vehicle Market Volume, 2021-2036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Table 97: Russia Off-Highway Vehicle Market Value, 2021-2036 By Vehicle Type</a:t>
                      </a:r>
                      <a:endParaRPr sz="1050"/>
                    </a:p>
                  </a:txBody>
                  <a:tcPr marL="9525" marR="9525" marT="9525" marB="0" anchor="ctr"/>
                </a:tc>
              </a:tr>
              <a:tr h="170266">
                <a:tc>
                  <a:txBody>
                    <a:bodyPr wrap="square"/>
                    <a:lstStyle/>
                    <a:p>
                      <a:pPr algn="l"/>
                      <a:r>
                        <a:rPr sz="1050" b="0" i="0">
                          <a:solidFill>
                            <a:srgbClr val="000000"/>
                          </a:solidFill>
                          <a:latin typeface="Calibri"/>
                        </a:rPr>
                        <a:t>Table 98: Russia Off-Highway Vehicle Market Volume, 2021-2036 By Vehicle Type</a:t>
                      </a:r>
                      <a:endParaRPr sz="1050"/>
                    </a:p>
                  </a:txBody>
                  <a:tcPr marL="9525" marR="9525" marT="9525" marB="0" anchor="ctr"/>
                </a:tc>
              </a:tr>
              <a:tr h="170266">
                <a:tc>
                  <a:txBody>
                    <a:bodyPr wrap="square"/>
                    <a:lstStyle/>
                    <a:p>
                      <a:pPr algn="l"/>
                      <a:r>
                        <a:rPr sz="1050" b="0" i="0">
                          <a:solidFill>
                            <a:srgbClr val="000000"/>
                          </a:solidFill>
                          <a:latin typeface="Calibri"/>
                        </a:rPr>
                        <a:t>Table 99: Russia Off-Highway Vehicle Market Value, 2021-2036 By Powertrain</a:t>
                      </a:r>
                      <a:endParaRPr sz="1050"/>
                    </a:p>
                  </a:txBody>
                  <a:tcPr marL="9525" marR="9525" marT="9525" marB="0" anchor="ctr"/>
                </a:tc>
              </a:tr>
              <a:tr h="170266">
                <a:tc>
                  <a:txBody>
                    <a:bodyPr wrap="square"/>
                    <a:lstStyle/>
                    <a:p>
                      <a:pPr algn="l"/>
                      <a:r>
                        <a:rPr sz="1050" b="0" i="0">
                          <a:solidFill>
                            <a:srgbClr val="000000"/>
                          </a:solidFill>
                          <a:latin typeface="Calibri"/>
                        </a:rPr>
                        <a:t>Table 100: Russia Off-Highway Vehicle Market Volume, 2021-2036 By Powertrain</a:t>
                      </a:r>
                      <a:endParaRPr sz="1050"/>
                    </a:p>
                  </a:txBody>
                  <a:tcPr marL="9525" marR="9525" marT="9525" marB="0" anchor="ctr"/>
                </a:tc>
              </a:tr>
              <a:tr h="170266">
                <a:tc>
                  <a:txBody>
                    <a:bodyPr wrap="square"/>
                    <a:lstStyle/>
                    <a:p>
                      <a:pPr algn="l"/>
                      <a:r>
                        <a:rPr sz="1050" b="0" i="0">
                          <a:solidFill>
                            <a:srgbClr val="000000"/>
                          </a:solidFill>
                          <a:latin typeface="Calibri"/>
                        </a:rPr>
                        <a:t>Table 101: Russia Off-Highway Vehicle Market Value, 2021-2036 By Vehicle Capacity</a:t>
                      </a:r>
                      <a:endParaRPr sz="1050"/>
                    </a:p>
                  </a:txBody>
                  <a:tcPr marL="9525" marR="9525" marT="9525" marB="0" anchor="ctr"/>
                </a:tc>
              </a:tr>
              <a:tr h="170266">
                <a:tc>
                  <a:txBody>
                    <a:bodyPr wrap="square"/>
                    <a:lstStyle/>
                    <a:p>
                      <a:pPr algn="l"/>
                      <a:r>
                        <a:rPr sz="1050" b="0" i="0">
                          <a:solidFill>
                            <a:srgbClr val="000000"/>
                          </a:solidFill>
                          <a:latin typeface="Calibri"/>
                        </a:rPr>
                        <a:t>Table 102: Russia Off-Highway Vehicle Market Volume, 2021-2036 By Vehicle Capacity</a:t>
                      </a:r>
                      <a:endParaRPr sz="1050"/>
                    </a:p>
                  </a:txBody>
                  <a:tcPr marL="9525" marR="9525" marT="9525" marB="0" anchor="ctr"/>
                </a:tc>
              </a:tr>
              <a:tr h="170266">
                <a:tc>
                  <a:txBody>
                    <a:bodyPr wrap="square"/>
                    <a:lstStyle/>
                    <a:p>
                      <a:pPr algn="l"/>
                      <a:r>
                        <a:rPr sz="1050" b="0" i="0">
                          <a:solidFill>
                            <a:srgbClr val="000000"/>
                          </a:solidFill>
                          <a:latin typeface="Calibri"/>
                        </a:rPr>
                        <a:t>Table 103: Russia Off-Highway Vehicle Market Value, 2021-2036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Table 104: Russia Off-Highway Vehicle Market Volume, 2021-2036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Table 105: Balkan and Baltics Off-Highway Vehicle Market Value, 2021-2036 By Vehicle Type</a:t>
                      </a:r>
                      <a:endParaRPr sz="1050"/>
                    </a:p>
                  </a:txBody>
                  <a:tcPr marL="9525" marR="9525" marT="9525" marB="0" anchor="ctr"/>
                </a:tc>
              </a:tr>
              <a:tr h="170266">
                <a:tc>
                  <a:txBody>
                    <a:bodyPr wrap="square"/>
                    <a:lstStyle/>
                    <a:p>
                      <a:pPr algn="l"/>
                      <a:r>
                        <a:rPr sz="1050" b="0" i="0">
                          <a:solidFill>
                            <a:srgbClr val="000000"/>
                          </a:solidFill>
                          <a:latin typeface="Calibri"/>
                        </a:rPr>
                        <a:t>Table 106: Balkan and Baltics Off-Highway Vehicle Market Volume, 2021-2036 By Vehicle Type</a:t>
                      </a:r>
                      <a:endParaRPr sz="1050"/>
                    </a:p>
                  </a:txBody>
                  <a:tcPr marL="9525" marR="9525" marT="9525" marB="0" anchor="ctr"/>
                </a:tc>
              </a:tr>
              <a:tr h="170266">
                <a:tc>
                  <a:txBody>
                    <a:bodyPr wrap="square"/>
                    <a:lstStyle/>
                    <a:p>
                      <a:pPr algn="l"/>
                      <a:r>
                        <a:rPr sz="1050" b="0" i="0">
                          <a:solidFill>
                            <a:srgbClr val="000000"/>
                          </a:solidFill>
                          <a:latin typeface="Calibri"/>
                        </a:rPr>
                        <a:t>Table 107: Balkan and Baltics Off-Highway Vehicle Market Value, 2021-2036 By Powertrain</a:t>
                      </a:r>
                      <a:endParaRPr sz="1050"/>
                    </a:p>
                  </a:txBody>
                  <a:tcPr marL="9525" marR="9525" marT="9525" marB="0" anchor="ctr"/>
                </a:tc>
              </a:tr>
              <a:tr h="170266">
                <a:tc>
                  <a:txBody>
                    <a:bodyPr wrap="square"/>
                    <a:lstStyle/>
                    <a:p>
                      <a:pPr algn="l"/>
                      <a:r>
                        <a:rPr sz="1050" b="0" i="0">
                          <a:solidFill>
                            <a:srgbClr val="000000"/>
                          </a:solidFill>
                          <a:latin typeface="Calibri"/>
                        </a:rPr>
                        <a:t>Table 108: Balkan and Baltics Off-Highway Vehicle Market Volume, 2021-2036 By Powertrain</a:t>
                      </a:r>
                      <a:endParaRPr sz="1050"/>
                    </a:p>
                  </a:txBody>
                  <a:tcPr marL="9525" marR="9525" marT="9525" marB="0" anchor="ctr"/>
                </a:tc>
              </a:tr>
              <a:tr h="170266">
                <a:tc>
                  <a:txBody>
                    <a:bodyPr wrap="square"/>
                    <a:lstStyle/>
                    <a:p>
                      <a:pPr algn="l"/>
                      <a:r>
                        <a:rPr sz="1050" b="0" i="0">
                          <a:solidFill>
                            <a:srgbClr val="000000"/>
                          </a:solidFill>
                          <a:latin typeface="Calibri"/>
                        </a:rPr>
                        <a:t>Table 109: Balkan and Baltics Off-Highway Vehicle Market Value, 2021-2036 By Vehicle Capacity</a:t>
                      </a:r>
                      <a:endParaRPr sz="1050"/>
                    </a:p>
                  </a:txBody>
                  <a:tcPr marL="9525" marR="9525" marT="9525" marB="0" anchor="ctr"/>
                </a:tc>
              </a:tr>
              <a:tr h="170266">
                <a:tc>
                  <a:txBody>
                    <a:bodyPr wrap="square"/>
                    <a:lstStyle/>
                    <a:p>
                      <a:pPr algn="l"/>
                      <a:r>
                        <a:rPr sz="1050" b="0" i="0">
                          <a:solidFill>
                            <a:srgbClr val="000000"/>
                          </a:solidFill>
                          <a:latin typeface="Calibri"/>
                        </a:rPr>
                        <a:t>Table 110: Balkan and Baltics Off-Highway Vehicle Market Volume, 2021-2036 By Vehicle Capacity</a:t>
                      </a:r>
                      <a:endParaRPr sz="1050"/>
                    </a:p>
                  </a:txBody>
                  <a:tcPr marL="9525" marR="9525" marT="9525" marB="0" anchor="ctr"/>
                </a:tc>
              </a:tr>
              <a:tr h="333720">
                <a:tc>
                  <a:txBody>
                    <a:bodyPr wrap="square"/>
                    <a:lstStyle/>
                    <a:p>
                      <a:pPr algn="l"/>
                      <a:r>
                        <a:rPr sz="1050" b="0" i="0">
                          <a:solidFill>
                            <a:srgbClr val="000000"/>
                          </a:solidFill>
                          <a:latin typeface="Calibri"/>
                        </a:rPr>
                        <a:t>Table 111: Balkan and Baltics Off-Highway Vehicle Market Value, 2021-2036 By Propulsion Configuration</a:t>
                      </a:r>
                      <a:endParaRPr sz="1050"/>
                    </a:p>
                  </a:txBody>
                  <a:tcPr marL="9525" marR="9525" marT="9525" marB="0" anchor="ctr"/>
                </a:tc>
              </a:tr>
              <a:tr h="333720">
                <a:tc>
                  <a:txBody>
                    <a:bodyPr wrap="square"/>
                    <a:lstStyle/>
                    <a:p>
                      <a:pPr algn="l"/>
                      <a:r>
                        <a:rPr sz="1050" b="0" i="0">
                          <a:solidFill>
                            <a:srgbClr val="000000"/>
                          </a:solidFill>
                          <a:latin typeface="Calibri"/>
                        </a:rPr>
                        <a:t>Table 112: Balkan and Baltics Off-Highway Vehicle Market Volume, 2021-2036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Table 113: Western Europe Off-Highway Vehicle Market Value, 2021-2036 By Vehicle Type</a:t>
                      </a:r>
                      <a:endParaRPr sz="1050"/>
                    </a:p>
                  </a:txBody>
                  <a:tcPr marL="9525" marR="9525" marT="9525" marB="0" anchor="ctr"/>
                </a:tc>
              </a:tr>
              <a:tr h="170266">
                <a:tc>
                  <a:txBody>
                    <a:bodyPr wrap="square"/>
                    <a:lstStyle/>
                    <a:p>
                      <a:pPr algn="l"/>
                      <a:r>
                        <a:rPr sz="1050" b="0" i="0">
                          <a:solidFill>
                            <a:srgbClr val="000000"/>
                          </a:solidFill>
                          <a:latin typeface="Calibri"/>
                        </a:rPr>
                        <a:t>Table 114: Western Europe Off-Highway Vehicle Market Volume, 2021-2036 By Vehicle Type</a:t>
                      </a:r>
                      <a:endParaRPr sz="1050"/>
                    </a:p>
                  </a:txBody>
                  <a:tcPr marL="9525" marR="9525" marT="9525" marB="0" anchor="ctr"/>
                </a:tc>
              </a:tr>
              <a:tr h="170266">
                <a:tc>
                  <a:txBody>
                    <a:bodyPr wrap="square"/>
                    <a:lstStyle/>
                    <a:p>
                      <a:pPr algn="l"/>
                      <a:r>
                        <a:rPr sz="1050" b="0" i="0">
                          <a:solidFill>
                            <a:srgbClr val="000000"/>
                          </a:solidFill>
                          <a:latin typeface="Calibri"/>
                        </a:rPr>
                        <a:t>Table 115: Western Europe Off-Highway Vehicle Market Value, 2021-2036 By Powertrain</a:t>
                      </a:r>
                      <a:endParaRPr sz="1050"/>
                    </a:p>
                  </a:txBody>
                  <a:tcPr marL="9525" marR="9525" marT="9525" marB="0" anchor="ctr"/>
                </a:tc>
              </a:tr>
              <a:tr h="170266">
                <a:tc>
                  <a:txBody>
                    <a:bodyPr wrap="square"/>
                    <a:lstStyle/>
                    <a:p>
                      <a:pPr algn="l"/>
                      <a:r>
                        <a:rPr sz="1050" b="0" i="0">
                          <a:solidFill>
                            <a:srgbClr val="000000"/>
                          </a:solidFill>
                          <a:latin typeface="Calibri"/>
                        </a:rPr>
                        <a:t>Table 116: Western Europe Off-Highway Vehicle Market Volume, 2021-2036 By Powertrain</a:t>
                      </a:r>
                      <a:endParaRPr sz="1050"/>
                    </a:p>
                  </a:txBody>
                  <a:tcPr marL="9525" marR="9525" marT="9525" marB="0" anchor="ctr"/>
                </a:tc>
              </a:tr>
              <a:tr h="170266">
                <a:tc>
                  <a:txBody>
                    <a:bodyPr wrap="square"/>
                    <a:lstStyle/>
                    <a:p>
                      <a:pPr algn="l"/>
                      <a:r>
                        <a:rPr sz="1050" b="0" i="0">
                          <a:solidFill>
                            <a:srgbClr val="000000"/>
                          </a:solidFill>
                          <a:latin typeface="Calibri"/>
                        </a:rPr>
                        <a:t>Table 117: Western Europe Off-Highway Vehicle Market Value, 2021-2036 By Vehicle Capacity</a:t>
                      </a:r>
                      <a:endParaRPr sz="1050"/>
                    </a:p>
                  </a:txBody>
                  <a:tcPr marL="9525" marR="9525" marT="9525" marB="0" anchor="ctr"/>
                </a:tc>
              </a:tr>
              <a:tr h="170266">
                <a:tc>
                  <a:txBody>
                    <a:bodyPr wrap="square"/>
                    <a:lstStyle/>
                    <a:p>
                      <a:pPr algn="l"/>
                      <a:r>
                        <a:rPr sz="1050" b="0" i="0">
                          <a:solidFill>
                            <a:srgbClr val="000000"/>
                          </a:solidFill>
                          <a:latin typeface="Calibri"/>
                        </a:rPr>
                        <a:t>Table 118: Western Europe Off-Highway Vehicle Market Volume, 2021-2036 By Vehicle Capacity</a:t>
                      </a:r>
                      <a:endParaRPr sz="1050"/>
                    </a:p>
                  </a:txBody>
                  <a:tcPr marL="9525" marR="9525" marT="9525" marB="0" anchor="ctr"/>
                </a:tc>
              </a:tr>
              <a:tr h="170266">
                <a:tc>
                  <a:txBody>
                    <a:bodyPr wrap="square"/>
                    <a:lstStyle/>
                    <a:p>
                      <a:pPr algn="l"/>
                      <a:r>
                        <a:rPr sz="1050" b="0" i="0">
                          <a:solidFill>
                            <a:srgbClr val="000000"/>
                          </a:solidFill>
                          <a:latin typeface="Calibri"/>
                        </a:rPr>
                        <a:t>Table 119: Western Europe Off-Highway Vehicle Market Value, 2021-2036 By Propulsion Configuration</a:t>
                      </a:r>
                      <a:endParaRPr sz="1050"/>
                    </a:p>
                  </a:txBody>
                  <a:tcPr marL="9525" marR="9525" marT="9525" marB="0" anchor="ctr"/>
                </a:tc>
              </a:tr>
              <a:tr h="333720">
                <a:tc>
                  <a:txBody>
                    <a:bodyPr wrap="square"/>
                    <a:lstStyle/>
                    <a:p>
                      <a:pPr algn="l"/>
                      <a:r>
                        <a:rPr sz="1050" b="0" i="0">
                          <a:solidFill>
                            <a:srgbClr val="000000"/>
                          </a:solidFill>
                          <a:latin typeface="Calibri"/>
                        </a:rPr>
                        <a:t>Table 120: Western Europe Off-Highway Vehicle Market Volume, 2021-2036 By Propulsion Configuration</a:t>
                      </a:r>
                      <a:endParaRPr sz="1050"/>
                    </a:p>
                  </a:txBody>
                  <a:tcPr marL="9525" marR="9525" marT="9525" marB="0" anchor="ctr"/>
                </a:tc>
              </a:tr>
              <a:tr h="170266">
                <a:tc>
                  <a:txBody>
                    <a:bodyPr wrap="square"/>
                    <a:lstStyle/>
                    <a:p>
                      <a:pPr algn="l"/>
                      <a:r>
                        <a:rPr sz="1050" b="0" i="0">
                          <a:solidFill>
                            <a:srgbClr val="000000"/>
                          </a:solidFill>
                          <a:latin typeface="Calibri"/>
                        </a:rPr>
                        <a:t>Table 121: Western Europe Off-Highway Vehicle Market Value, 2021-2036 By Country</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(3/5)</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122: Western Europe Off-Highway Vehicle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123: Germany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124: Germany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125: Germany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126: Germany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127: Germany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128: Germany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129: Germany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130: Germany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131: Italy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132: Italy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133: Italy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134: Italy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135: Italy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136: Italy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137: Italy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138: Italy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139: France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140: France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141: France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142: France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143: France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144: France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145: France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146: France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147: U.K.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148: U.K.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149: U.K.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150: U.K.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151: U.K.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152: U.K. Off-Highway Vehicle Market Volume, 2021-2036 By Vehicle Capacity</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153: U.K.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154: U.K.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155: Spain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156: Spain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157: Spain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158: Spain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159: Spain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160: Spain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161: Spain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162: Spain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163: BENELUX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164: BENELUX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165: BENELUX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166: BENELUX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167: BENELUX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168: BENELUX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169: BENELUX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170: BENELUX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171: Nordics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172: Nordics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173: Nordics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174: Nordics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175: Nordics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176: Nordics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177: Nordics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178: Nordics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179: East Asia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180: East Asia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181: East Asia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182: East Asia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183: East Asia Off-Highway Vehicle Market Value, 2021-2036 By Vehicle Capacity</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(4/5)</a:t>
            </a:r>
          </a:p>
        </p:txBody>
      </p:sp>
      <p:graphicFrame>
        <p:nvGraphicFramePr>
          <p:cNvPr id="6" name="TMR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184: East Asia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185: East Asia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186: East Asia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187: East Asia Off-Highway Vehicle Market Value, 2021-2036 By Country</a:t>
                      </a:r>
                      <a:endParaRPr sz="1050"/>
                    </a:p>
                  </a:txBody>
                  <a:tcPr marL="9525" marR="9525" marT="9525" marB="0" anchor="ctr"/>
                </a:tc>
              </a:tr>
              <a:tr h="169606">
                <a:tc>
                  <a:txBody>
                    <a:bodyPr wrap="square"/>
                    <a:lstStyle/>
                    <a:p>
                      <a:pPr algn="l"/>
                      <a:r>
                        <a:rPr sz="1050" b="0" i="0">
                          <a:solidFill>
                            <a:srgbClr val="000000"/>
                          </a:solidFill>
                          <a:latin typeface="Calibri"/>
                        </a:rPr>
                        <a:t>Table 188: East Asia Off-Highway Vehicle Market Volume,2021-2036 By Country</a:t>
                      </a:r>
                      <a:endParaRPr sz="1050"/>
                    </a:p>
                  </a:txBody>
                  <a:tcPr marL="9525" marR="9525" marT="9525" marB="0" anchor="ctr"/>
                </a:tc>
              </a:tr>
              <a:tr h="169606">
                <a:tc>
                  <a:txBody>
                    <a:bodyPr wrap="square"/>
                    <a:lstStyle/>
                    <a:p>
                      <a:pPr algn="l"/>
                      <a:r>
                        <a:rPr sz="1050" b="0" i="0">
                          <a:solidFill>
                            <a:srgbClr val="000000"/>
                          </a:solidFill>
                          <a:latin typeface="Calibri"/>
                        </a:rPr>
                        <a:t>Table 189: China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190: China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191: China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192: China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193: China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194: China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195: China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196: China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197: Japan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198: Japan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199: Japan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200: Japan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201: Japan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202: Japan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203: Japan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204: Japan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205: South Korea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206: South Korea Off-Highway Vehicle Market Volume,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207: South Korea Off-Highway Vehicle Market Value,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208: South Korea Off-Highway Vehicle Market Volume, 2021-2036 By Powertrain</a:t>
                      </a:r>
                      <a:endParaRPr sz="1050"/>
                    </a:p>
                  </a:txBody>
                  <a:tcPr marL="9525" marR="9525" marT="9525" marB="0" anchor="ctr"/>
                </a:tc>
              </a:tr>
              <a:tr h="169606">
                <a:tc>
                  <a:txBody>
                    <a:bodyPr wrap="square"/>
                    <a:lstStyle/>
                    <a:p>
                      <a:pPr algn="l"/>
                      <a:r>
                        <a:rPr sz="1050" b="0" i="0">
                          <a:solidFill>
                            <a:srgbClr val="000000"/>
                          </a:solidFill>
                          <a:latin typeface="Calibri"/>
                        </a:rPr>
                        <a:t>Table 209: South Korea Off-Highway Vehicle Market Value,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210: South Korea Off-Highway Vehicle Market Volume, 2021-2036 By Vehicle Capacity</a:t>
                      </a:r>
                      <a:endParaRPr sz="1050"/>
                    </a:p>
                  </a:txBody>
                  <a:tcPr marL="9525" marR="9525" marT="9525" marB="0" anchor="ctr"/>
                </a:tc>
              </a:tr>
              <a:tr h="169606">
                <a:tc>
                  <a:txBody>
                    <a:bodyPr wrap="square"/>
                    <a:lstStyle/>
                    <a:p>
                      <a:pPr algn="l"/>
                      <a:r>
                        <a:rPr sz="1050" b="0" i="0">
                          <a:solidFill>
                            <a:srgbClr val="000000"/>
                          </a:solidFill>
                          <a:latin typeface="Calibri"/>
                        </a:rPr>
                        <a:t>Table 211: South Korea Off-Highway Vehicle Market Value,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212: South Korea Off-Highway Vehicle Market Volume, 2021-2036 By Propulsion Configuration</a:t>
                      </a:r>
                      <a:endParaRPr sz="1050"/>
                    </a:p>
                  </a:txBody>
                  <a:tcPr marL="9525" marR="9525" marT="9525" marB="0" anchor="ctr"/>
                </a:tc>
              </a:tr>
              <a:tr h="169606">
                <a:tc>
                  <a:txBody>
                    <a:bodyPr wrap="square"/>
                    <a:lstStyle/>
                    <a:p>
                      <a:pPr algn="l"/>
                      <a:r>
                        <a:rPr sz="1050" b="0" i="0">
                          <a:solidFill>
                            <a:srgbClr val="000000"/>
                          </a:solidFill>
                          <a:latin typeface="Calibri"/>
                        </a:rPr>
                        <a:t>Table 213: South Asia and Pacific Off-Highway Vehicle Market Value, 2021-2036 By Vehicle Type</a:t>
                      </a:r>
                      <a:endParaRPr sz="1050"/>
                    </a:p>
                  </a:txBody>
                  <a:tcPr marL="9525" marR="9525" marT="9525" marB="0" anchor="ctr"/>
                </a:tc>
              </a:tr>
              <a:tr h="169606">
                <a:tc>
                  <a:txBody>
                    <a:bodyPr wrap="square"/>
                    <a:lstStyle/>
                    <a:p>
                      <a:pPr algn="l"/>
                      <a:r>
                        <a:rPr sz="1050" b="0" i="0">
                          <a:solidFill>
                            <a:srgbClr val="000000"/>
                          </a:solidFill>
                          <a:latin typeface="Calibri"/>
                        </a:rPr>
                        <a:t>Table 214: South Asia and Pacific Off-Highway Vehicle Market Volume, 2021-2036 By Vehicle Type</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175729">
                <a:tc>
                  <a:txBody>
                    <a:bodyPr wrap="square"/>
                    <a:lstStyle/>
                    <a:p>
                      <a:pPr algn="l"/>
                      <a:r>
                        <a:rPr sz="1050" b="0" i="0">
                          <a:solidFill>
                            <a:srgbClr val="000000"/>
                          </a:solidFill>
                          <a:latin typeface="Calibri"/>
                        </a:rPr>
                        <a:t>Table 215: South Asia and Pacific Off-Highway Vehicle Market Value, 2021-2036 By Powertrain</a:t>
                      </a:r>
                      <a:endParaRPr sz="1050"/>
                    </a:p>
                  </a:txBody>
                  <a:tcPr marL="9525" marR="9525" marT="9525" marB="0" anchor="ctr"/>
                </a:tc>
              </a:tr>
              <a:tr h="175729">
                <a:tc>
                  <a:txBody>
                    <a:bodyPr wrap="square"/>
                    <a:lstStyle/>
                    <a:p>
                      <a:pPr algn="l"/>
                      <a:r>
                        <a:rPr sz="1050" b="0" i="0">
                          <a:solidFill>
                            <a:srgbClr val="000000"/>
                          </a:solidFill>
                          <a:latin typeface="Calibri"/>
                        </a:rPr>
                        <a:t>Table 216: South Asia and Pacific Off-Highway Vehicle Market Volume, 2021-2036 By Powertrain</a:t>
                      </a:r>
                      <a:endParaRPr sz="1050"/>
                    </a:p>
                  </a:txBody>
                  <a:tcPr marL="9525" marR="9525" marT="9525" marB="0" anchor="ctr"/>
                </a:tc>
              </a:tr>
              <a:tr h="175729">
                <a:tc>
                  <a:txBody>
                    <a:bodyPr wrap="square"/>
                    <a:lstStyle/>
                    <a:p>
                      <a:pPr algn="l"/>
                      <a:r>
                        <a:rPr sz="1050" b="0" i="0">
                          <a:solidFill>
                            <a:srgbClr val="000000"/>
                          </a:solidFill>
                          <a:latin typeface="Calibri"/>
                        </a:rPr>
                        <a:t>Table 217: South Asia and Pacific Off-Highway Vehicle Market Value, 2021-2036 By Vehicle Capacity</a:t>
                      </a:r>
                      <a:endParaRPr sz="1050"/>
                    </a:p>
                  </a:txBody>
                  <a:tcPr marL="9525" marR="9525" marT="9525" marB="0" anchor="ctr"/>
                </a:tc>
              </a:tr>
              <a:tr h="175729">
                <a:tc>
                  <a:txBody>
                    <a:bodyPr wrap="square"/>
                    <a:lstStyle/>
                    <a:p>
                      <a:pPr algn="l"/>
                      <a:r>
                        <a:rPr sz="1050" b="0" i="0">
                          <a:solidFill>
                            <a:srgbClr val="000000"/>
                          </a:solidFill>
                          <a:latin typeface="Calibri"/>
                        </a:rPr>
                        <a:t>Table 218: South Asia and Pacific Off-Highway Vehicle Market Volume, 2021-2036 By Vehicle Capacity</a:t>
                      </a:r>
                      <a:endParaRPr sz="1050"/>
                    </a:p>
                  </a:txBody>
                  <a:tcPr marL="9525" marR="9525" marT="9525" marB="0" anchor="ctr"/>
                </a:tc>
              </a:tr>
              <a:tr h="344428">
                <a:tc>
                  <a:txBody>
                    <a:bodyPr wrap="square"/>
                    <a:lstStyle/>
                    <a:p>
                      <a:pPr algn="l"/>
                      <a:r>
                        <a:rPr sz="1050" b="0" i="0">
                          <a:solidFill>
                            <a:srgbClr val="000000"/>
                          </a:solidFill>
                          <a:latin typeface="Calibri"/>
                        </a:rPr>
                        <a:t>Table 219: South Asia and Pacific Off-Highway Vehicle Market Value, 2021-2036 By Propulsion Configuration</a:t>
                      </a:r>
                      <a:endParaRPr sz="1050"/>
                    </a:p>
                  </a:txBody>
                  <a:tcPr marL="9525" marR="9525" marT="9525" marB="0" anchor="ctr"/>
                </a:tc>
              </a:tr>
              <a:tr h="344428">
                <a:tc>
                  <a:txBody>
                    <a:bodyPr wrap="square"/>
                    <a:lstStyle/>
                    <a:p>
                      <a:pPr algn="l"/>
                      <a:r>
                        <a:rPr sz="1050" b="0" i="0">
                          <a:solidFill>
                            <a:srgbClr val="000000"/>
                          </a:solidFill>
                          <a:latin typeface="Calibri"/>
                        </a:rPr>
                        <a:t>Table 220: South Asia and Pacific Off-Highway Vehicle Market Volume, 2021-2036 By Propulsion Configuration</a:t>
                      </a:r>
                      <a:endParaRPr sz="1050"/>
                    </a:p>
                  </a:txBody>
                  <a:tcPr marL="9525" marR="9525" marT="9525" marB="0" anchor="ctr"/>
                </a:tc>
              </a:tr>
              <a:tr h="175729">
                <a:tc>
                  <a:txBody>
                    <a:bodyPr wrap="square"/>
                    <a:lstStyle/>
                    <a:p>
                      <a:pPr algn="l"/>
                      <a:r>
                        <a:rPr sz="1050" b="0" i="0">
                          <a:solidFill>
                            <a:srgbClr val="000000"/>
                          </a:solidFill>
                          <a:latin typeface="Calibri"/>
                        </a:rPr>
                        <a:t>Table 221: South Asia and Pacific Off-Highway Vehicle Market Value, 2021-2036 By Country</a:t>
                      </a:r>
                      <a:endParaRPr sz="1050"/>
                    </a:p>
                  </a:txBody>
                  <a:tcPr marL="9525" marR="9525" marT="9525" marB="0" anchor="ctr"/>
                </a:tc>
              </a:tr>
              <a:tr h="175729">
                <a:tc>
                  <a:txBody>
                    <a:bodyPr wrap="square"/>
                    <a:lstStyle/>
                    <a:p>
                      <a:pPr algn="l"/>
                      <a:r>
                        <a:rPr sz="1050" b="0" i="0">
                          <a:solidFill>
                            <a:srgbClr val="000000"/>
                          </a:solidFill>
                          <a:latin typeface="Calibri"/>
                        </a:rPr>
                        <a:t>Table 222: South Asia and Pacific Off-Highway Vehicle Market Volume,2021-2036 By Country</a:t>
                      </a:r>
                      <a:endParaRPr sz="1050"/>
                    </a:p>
                  </a:txBody>
                  <a:tcPr marL="9525" marR="9525" marT="9525" marB="0" anchor="ctr"/>
                </a:tc>
              </a:tr>
              <a:tr h="175729">
                <a:tc>
                  <a:txBody>
                    <a:bodyPr wrap="square"/>
                    <a:lstStyle/>
                    <a:p>
                      <a:pPr algn="l"/>
                      <a:r>
                        <a:rPr sz="1050" b="0" i="0">
                          <a:solidFill>
                            <a:srgbClr val="000000"/>
                          </a:solidFill>
                          <a:latin typeface="Calibri"/>
                        </a:rPr>
                        <a:t>Table 223: India Off-Highway Vehicle Market Value, 2021-2036 By Vehicle Type</a:t>
                      </a:r>
                      <a:endParaRPr sz="1050"/>
                    </a:p>
                  </a:txBody>
                  <a:tcPr marL="9525" marR="9525" marT="9525" marB="0" anchor="ctr"/>
                </a:tc>
              </a:tr>
              <a:tr h="175729">
                <a:tc>
                  <a:txBody>
                    <a:bodyPr wrap="square"/>
                    <a:lstStyle/>
                    <a:p>
                      <a:pPr algn="l"/>
                      <a:r>
                        <a:rPr sz="1050" b="0" i="0">
                          <a:solidFill>
                            <a:srgbClr val="000000"/>
                          </a:solidFill>
                          <a:latin typeface="Calibri"/>
                        </a:rPr>
                        <a:t>Table 224: India Off-Highway Vehicle Market Volume, 2021-2036 By Vehicle Type</a:t>
                      </a:r>
                      <a:endParaRPr sz="1050"/>
                    </a:p>
                  </a:txBody>
                  <a:tcPr marL="9525" marR="9525" marT="9525" marB="0" anchor="ctr"/>
                </a:tc>
              </a:tr>
              <a:tr h="175729">
                <a:tc>
                  <a:txBody>
                    <a:bodyPr wrap="square"/>
                    <a:lstStyle/>
                    <a:p>
                      <a:pPr algn="l"/>
                      <a:r>
                        <a:rPr sz="1050" b="0" i="0">
                          <a:solidFill>
                            <a:srgbClr val="000000"/>
                          </a:solidFill>
                          <a:latin typeface="Calibri"/>
                        </a:rPr>
                        <a:t>Table 225: India Off-Highway Vehicle Market Value, 2021-2036 By Powertrain</a:t>
                      </a:r>
                      <a:endParaRPr sz="1050"/>
                    </a:p>
                  </a:txBody>
                  <a:tcPr marL="9525" marR="9525" marT="9525" marB="0" anchor="ctr"/>
                </a:tc>
              </a:tr>
              <a:tr h="175729">
                <a:tc>
                  <a:txBody>
                    <a:bodyPr wrap="square"/>
                    <a:lstStyle/>
                    <a:p>
                      <a:pPr algn="l"/>
                      <a:r>
                        <a:rPr sz="1050" b="0" i="0">
                          <a:solidFill>
                            <a:srgbClr val="000000"/>
                          </a:solidFill>
                          <a:latin typeface="Calibri"/>
                        </a:rPr>
                        <a:t>Table 226: India Off-Highway Vehicle Market Volume, 2021-2036 By Powertrain</a:t>
                      </a:r>
                      <a:endParaRPr sz="1050"/>
                    </a:p>
                  </a:txBody>
                  <a:tcPr marL="9525" marR="9525" marT="9525" marB="0" anchor="ctr"/>
                </a:tc>
              </a:tr>
              <a:tr h="175729">
                <a:tc>
                  <a:txBody>
                    <a:bodyPr wrap="square"/>
                    <a:lstStyle/>
                    <a:p>
                      <a:pPr algn="l"/>
                      <a:r>
                        <a:rPr sz="1050" b="0" i="0">
                          <a:solidFill>
                            <a:srgbClr val="000000"/>
                          </a:solidFill>
                          <a:latin typeface="Calibri"/>
                        </a:rPr>
                        <a:t>Table 227: India Off-Highway Vehicle Market Value, 2021-2036 By Vehicle Capacity</a:t>
                      </a:r>
                      <a:endParaRPr sz="1050"/>
                    </a:p>
                  </a:txBody>
                  <a:tcPr marL="9525" marR="9525" marT="9525" marB="0" anchor="ctr"/>
                </a:tc>
              </a:tr>
              <a:tr h="175729">
                <a:tc>
                  <a:txBody>
                    <a:bodyPr wrap="square"/>
                    <a:lstStyle/>
                    <a:p>
                      <a:pPr algn="l"/>
                      <a:r>
                        <a:rPr sz="1050" b="0" i="0">
                          <a:solidFill>
                            <a:srgbClr val="000000"/>
                          </a:solidFill>
                          <a:latin typeface="Calibri"/>
                        </a:rPr>
                        <a:t>Table 228: India Off-Highway Vehicle Market Volume, 2021-2036 By Vehicle Capacity</a:t>
                      </a:r>
                      <a:endParaRPr sz="1050"/>
                    </a:p>
                  </a:txBody>
                  <a:tcPr marL="9525" marR="9525" marT="9525" marB="0" anchor="ctr"/>
                </a:tc>
              </a:tr>
              <a:tr h="175729">
                <a:tc>
                  <a:txBody>
                    <a:bodyPr wrap="square"/>
                    <a:lstStyle/>
                    <a:p>
                      <a:pPr algn="l"/>
                      <a:r>
                        <a:rPr sz="1050" b="0" i="0">
                          <a:solidFill>
                            <a:srgbClr val="000000"/>
                          </a:solidFill>
                          <a:latin typeface="Calibri"/>
                        </a:rPr>
                        <a:t>Table 229: India Off-Highway Vehicle Market Value, 2021-2036 By Propulsion Configuration</a:t>
                      </a:r>
                      <a:endParaRPr sz="1050"/>
                    </a:p>
                  </a:txBody>
                  <a:tcPr marL="9525" marR="9525" marT="9525" marB="0" anchor="ctr"/>
                </a:tc>
              </a:tr>
              <a:tr h="175729">
                <a:tc>
                  <a:txBody>
                    <a:bodyPr wrap="square"/>
                    <a:lstStyle/>
                    <a:p>
                      <a:pPr algn="l"/>
                      <a:r>
                        <a:rPr sz="1050" b="0" i="0">
                          <a:solidFill>
                            <a:srgbClr val="000000"/>
                          </a:solidFill>
                          <a:latin typeface="Calibri"/>
                        </a:rPr>
                        <a:t>Table 230: India Off-Highway Vehicle Market Volume, 2021-2036 By Propulsion Configuration</a:t>
                      </a:r>
                      <a:endParaRPr sz="1050"/>
                    </a:p>
                  </a:txBody>
                  <a:tcPr marL="9525" marR="9525" marT="9525" marB="0" anchor="ctr"/>
                </a:tc>
              </a:tr>
              <a:tr h="175729">
                <a:tc>
                  <a:txBody>
                    <a:bodyPr wrap="square"/>
                    <a:lstStyle/>
                    <a:p>
                      <a:pPr algn="l"/>
                      <a:r>
                        <a:rPr sz="1050" b="0" i="0">
                          <a:solidFill>
                            <a:srgbClr val="000000"/>
                          </a:solidFill>
                          <a:latin typeface="Calibri"/>
                        </a:rPr>
                        <a:t>Table 231: ASEAN Off-Highway Vehicle Market Value, 2021-2036 By Vehicle Type</a:t>
                      </a:r>
                      <a:endParaRPr sz="1050"/>
                    </a:p>
                  </a:txBody>
                  <a:tcPr marL="9525" marR="9525" marT="9525" marB="0" anchor="ctr"/>
                </a:tc>
              </a:tr>
              <a:tr h="175729">
                <a:tc>
                  <a:txBody>
                    <a:bodyPr wrap="square"/>
                    <a:lstStyle/>
                    <a:p>
                      <a:pPr algn="l"/>
                      <a:r>
                        <a:rPr sz="1050" b="0" i="0">
                          <a:solidFill>
                            <a:srgbClr val="000000"/>
                          </a:solidFill>
                          <a:latin typeface="Calibri"/>
                        </a:rPr>
                        <a:t>Table 232: ASEAN Off-Highway Vehicle Market Volume, 2021-2036 By Vehicle Type</a:t>
                      </a:r>
                      <a:endParaRPr sz="1050"/>
                    </a:p>
                  </a:txBody>
                  <a:tcPr marL="9525" marR="9525" marT="9525" marB="0" anchor="ctr"/>
                </a:tc>
              </a:tr>
              <a:tr h="175729">
                <a:tc>
                  <a:txBody>
                    <a:bodyPr wrap="square"/>
                    <a:lstStyle/>
                    <a:p>
                      <a:pPr algn="l"/>
                      <a:r>
                        <a:rPr sz="1050" b="0" i="0">
                          <a:solidFill>
                            <a:srgbClr val="000000"/>
                          </a:solidFill>
                          <a:latin typeface="Calibri"/>
                        </a:rPr>
                        <a:t>Table 233: ASEAN Off-Highway Vehicle Market Value, 2021-2036 By Powertrain</a:t>
                      </a:r>
                      <a:endParaRPr sz="1050"/>
                    </a:p>
                  </a:txBody>
                  <a:tcPr marL="9525" marR="9525" marT="9525" marB="0" anchor="ctr"/>
                </a:tc>
              </a:tr>
              <a:tr h="175729">
                <a:tc>
                  <a:txBody>
                    <a:bodyPr wrap="square"/>
                    <a:lstStyle/>
                    <a:p>
                      <a:pPr algn="l"/>
                      <a:r>
                        <a:rPr sz="1050" b="0" i="0">
                          <a:solidFill>
                            <a:srgbClr val="000000"/>
                          </a:solidFill>
                          <a:latin typeface="Calibri"/>
                        </a:rPr>
                        <a:t>Table 234: ASEAN Off-Highway Vehicle Market Volume, 2021-2036 By Powertrain</a:t>
                      </a:r>
                      <a:endParaRPr sz="1050"/>
                    </a:p>
                  </a:txBody>
                  <a:tcPr marL="9525" marR="9525" marT="9525" marB="0" anchor="ctr"/>
                </a:tc>
              </a:tr>
              <a:tr h="175729">
                <a:tc>
                  <a:txBody>
                    <a:bodyPr wrap="square"/>
                    <a:lstStyle/>
                    <a:p>
                      <a:pPr algn="l"/>
                      <a:r>
                        <a:rPr sz="1050" b="0" i="0">
                          <a:solidFill>
                            <a:srgbClr val="000000"/>
                          </a:solidFill>
                          <a:latin typeface="Calibri"/>
                        </a:rPr>
                        <a:t>Table 235: ASEAN Off-Highway Vehicle Market Value, 2021-2036 By Vehicle Capacity</a:t>
                      </a:r>
                      <a:endParaRPr sz="1050"/>
                    </a:p>
                  </a:txBody>
                  <a:tcPr marL="9525" marR="9525" marT="9525" marB="0" anchor="ctr"/>
                </a:tc>
              </a:tr>
              <a:tr h="175729">
                <a:tc>
                  <a:txBody>
                    <a:bodyPr wrap="square"/>
                    <a:lstStyle/>
                    <a:p>
                      <a:pPr algn="l"/>
                      <a:r>
                        <a:rPr sz="1050" b="0" i="0">
                          <a:solidFill>
                            <a:srgbClr val="000000"/>
                          </a:solidFill>
                          <a:latin typeface="Calibri"/>
                        </a:rPr>
                        <a:t>Table 236: ASEAN Off-Highway Vehicle Market Volume, 2021-2036 By Vehicle Capacity</a:t>
                      </a:r>
                      <a:endParaRPr sz="1050"/>
                    </a:p>
                  </a:txBody>
                  <a:tcPr marL="9525" marR="9525" marT="9525" marB="0" anchor="ctr"/>
                </a:tc>
              </a:tr>
              <a:tr h="175729">
                <a:tc>
                  <a:txBody>
                    <a:bodyPr wrap="square"/>
                    <a:lstStyle/>
                    <a:p>
                      <a:pPr algn="l"/>
                      <a:r>
                        <a:rPr sz="1050" b="0" i="0">
                          <a:solidFill>
                            <a:srgbClr val="000000"/>
                          </a:solidFill>
                          <a:latin typeface="Calibri"/>
                        </a:rPr>
                        <a:t>Table 237: ASEAN Off-Highway Vehicle Market Value, 2021-2036 By Propulsion Configuration</a:t>
                      </a:r>
                      <a:endParaRPr sz="1050"/>
                    </a:p>
                  </a:txBody>
                  <a:tcPr marL="9525" marR="9525" marT="9525" marB="0" anchor="ctr"/>
                </a:tc>
              </a:tr>
              <a:tr h="175729">
                <a:tc>
                  <a:txBody>
                    <a:bodyPr wrap="square"/>
                    <a:lstStyle/>
                    <a:p>
                      <a:pPr algn="l"/>
                      <a:r>
                        <a:rPr sz="1050" b="0" i="0">
                          <a:solidFill>
                            <a:srgbClr val="000000"/>
                          </a:solidFill>
                          <a:latin typeface="Calibri"/>
                        </a:rPr>
                        <a:t>Table 238: ASEAN Off-Highway Vehicle Market Volume, 2021-2036 By Propulsion Configuration</a:t>
                      </a:r>
                      <a:endParaRPr sz="1050"/>
                    </a:p>
                  </a:txBody>
                  <a:tcPr marL="9525" marR="9525" marT="9525" marB="0" anchor="ctr"/>
                </a:tc>
              </a:tr>
              <a:tr h="175729">
                <a:tc>
                  <a:txBody>
                    <a:bodyPr wrap="square"/>
                    <a:lstStyle/>
                    <a:p>
                      <a:pPr algn="l"/>
                      <a:r>
                        <a:rPr sz="1050" b="0" i="0">
                          <a:solidFill>
                            <a:srgbClr val="000000"/>
                          </a:solidFill>
                          <a:latin typeface="Calibri"/>
                        </a:rPr>
                        <a:t>Table 239: Australia and New Zealand Off-Highway Vehicle Market Value, 2021-2036 By Vehicle Type</a:t>
                      </a:r>
                      <a:endParaRPr sz="1050"/>
                    </a:p>
                  </a:txBody>
                  <a:tcPr marL="9525" marR="9525" marT="9525" marB="0" anchor="ctr"/>
                </a:tc>
              </a:tr>
              <a:tr h="175729">
                <a:tc>
                  <a:txBody>
                    <a:bodyPr wrap="square"/>
                    <a:lstStyle/>
                    <a:p>
                      <a:pPr algn="l"/>
                      <a:r>
                        <a:rPr sz="1050" b="0" i="0">
                          <a:solidFill>
                            <a:srgbClr val="000000"/>
                          </a:solidFill>
                          <a:latin typeface="Calibri"/>
                        </a:rPr>
                        <a:t>Table 240: Australia and New Zealand Off-Highway Vehicle Market Volume, 2021-2036 By Vehicle Type</a:t>
                      </a:r>
                      <a:endParaRPr sz="1050"/>
                    </a:p>
                  </a:txBody>
                  <a:tcPr marL="9525" marR="9525" marT="9525" marB="0" anchor="ctr"/>
                </a:tc>
              </a:tr>
              <a:tr h="175729">
                <a:tc>
                  <a:txBody>
                    <a:bodyPr wrap="square"/>
                    <a:lstStyle/>
                    <a:p>
                      <a:pPr algn="l"/>
                      <a:r>
                        <a:rPr sz="1050" b="0" i="0">
                          <a:solidFill>
                            <a:srgbClr val="000000"/>
                          </a:solidFill>
                          <a:latin typeface="Calibri"/>
                        </a:rPr>
                        <a:t>Table 241: Australia and New Zealand Off-Highway Vehicle Market Value, 2021-2036 By Powertrain</a:t>
                      </a:r>
                      <a:endParaRPr sz="1050"/>
                    </a:p>
                  </a:txBody>
                  <a:tcPr marL="9525" marR="9525" marT="9525" marB="0" anchor="ctr"/>
                </a:tc>
              </a:tr>
              <a:tr h="175729">
                <a:tc>
                  <a:txBody>
                    <a:bodyPr wrap="square"/>
                    <a:lstStyle/>
                    <a:p>
                      <a:pPr algn="l"/>
                      <a:r>
                        <a:rPr sz="1050" b="0" i="0">
                          <a:solidFill>
                            <a:srgbClr val="000000"/>
                          </a:solidFill>
                          <a:latin typeface="Calibri"/>
                        </a:rPr>
                        <a:t>Table 242: Australia and New Zealand Off-Highway Vehicle Market Volume, 2021-2036 By Powertrain</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76200"/>
            <a:ext cx="10896600"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(5/5)</a:t>
            </a:r>
          </a:p>
        </p:txBody>
      </p:sp>
      <p:graphicFrame>
        <p:nvGraphicFramePr>
          <p:cNvPr id="6" name="TMR Contents Table"/>
          <p:cNvGraphicFramePr>
            <a:graphicFrameLocks noGrp="1"/>
          </p:cNvGraphicFramePr>
          <p:nvPr/>
        </p:nvGraphicFramePr>
        <p:xfrm>
          <a:off x="142875" y="981075"/>
          <a:ext cx="5876925" cy="5257802"/>
        </p:xfrm>
        <a:graphic>
          <a:graphicData uri="http://schemas.openxmlformats.org/drawingml/2006/table">
            <a:tbl>
              <a:tblPr>
                <a:tableStyleId>{3B4B98B0-60AC-42C2-AFA5-B58CD77FA1E5}</a:tableStyleId>
              </a:tblPr>
              <a:tblGrid>
                <a:gridCol w="5876925"/>
              </a:tblGrid>
              <a:tr h="335022">
                <a:tc>
                  <a:txBody>
                    <a:bodyPr wrap="square"/>
                    <a:lstStyle/>
                    <a:p>
                      <a:pPr algn="l"/>
                      <a:r>
                        <a:rPr sz="1050" b="0" i="0">
                          <a:solidFill>
                            <a:srgbClr val="000000"/>
                          </a:solidFill>
                          <a:latin typeface="Calibri"/>
                        </a:rPr>
                        <a:t>Table 243: Australia and New Zealand Off-Highway Vehicle Market Value, 2021-2036 By Vehicle Capacity</a:t>
                      </a:r>
                      <a:endParaRPr sz="1050"/>
                    </a:p>
                  </a:txBody>
                  <a:tcPr marL="9525" marR="9525" marT="9525" marB="0" anchor="ctr"/>
                </a:tc>
              </a:tr>
              <a:tr h="335022">
                <a:tc>
                  <a:txBody>
                    <a:bodyPr wrap="square"/>
                    <a:lstStyle/>
                    <a:p>
                      <a:pPr algn="l"/>
                      <a:r>
                        <a:rPr sz="1050" b="0" i="0">
                          <a:solidFill>
                            <a:srgbClr val="000000"/>
                          </a:solidFill>
                          <a:latin typeface="Calibri"/>
                        </a:rPr>
                        <a:t>Table 244: Australia and New Zealand Off-Highway Vehicle Market Volume, 2021-2036 By Vehicle Capacity</a:t>
                      </a:r>
                      <a:endParaRPr sz="1050"/>
                    </a:p>
                  </a:txBody>
                  <a:tcPr marL="9525" marR="9525" marT="9525" marB="0" anchor="ctr"/>
                </a:tc>
              </a:tr>
              <a:tr h="335022">
                <a:tc>
                  <a:txBody>
                    <a:bodyPr wrap="square"/>
                    <a:lstStyle/>
                    <a:p>
                      <a:pPr algn="l"/>
                      <a:r>
                        <a:rPr sz="1050" b="0" i="0">
                          <a:solidFill>
                            <a:srgbClr val="000000"/>
                          </a:solidFill>
                          <a:latin typeface="Calibri"/>
                        </a:rPr>
                        <a:t>Table 245: Australia and New Zealand Off-Highway Vehicle Market Value, 2021-2036 By Propulsion Configuration</a:t>
                      </a:r>
                      <a:endParaRPr sz="1050"/>
                    </a:p>
                  </a:txBody>
                  <a:tcPr marL="9525" marR="9525" marT="9525" marB="0" anchor="ctr"/>
                </a:tc>
              </a:tr>
              <a:tr h="335022">
                <a:tc>
                  <a:txBody>
                    <a:bodyPr wrap="square"/>
                    <a:lstStyle/>
                    <a:p>
                      <a:pPr algn="l"/>
                      <a:r>
                        <a:rPr sz="1050" b="0" i="0">
                          <a:solidFill>
                            <a:srgbClr val="000000"/>
                          </a:solidFill>
                          <a:latin typeface="Calibri"/>
                        </a:rPr>
                        <a:t>Table 246: Australia and New Zealand Off-Highway Vehicle Market Volume, 2021-2036 By Propulsion Configuration</a:t>
                      </a:r>
                      <a:endParaRPr sz="1050"/>
                    </a:p>
                  </a:txBody>
                  <a:tcPr marL="9525" marR="9525" marT="9525" marB="0" anchor="ctr"/>
                </a:tc>
              </a:tr>
              <a:tr h="170930">
                <a:tc>
                  <a:txBody>
                    <a:bodyPr wrap="square"/>
                    <a:lstStyle/>
                    <a:p>
                      <a:pPr algn="l"/>
                      <a:r>
                        <a:rPr sz="1050" b="0" i="0">
                          <a:solidFill>
                            <a:srgbClr val="000000"/>
                          </a:solidFill>
                          <a:latin typeface="Calibri"/>
                        </a:rPr>
                        <a:t>Table 247: Middle East and Africa Off-Highway Vehicle Market Value,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248: Middle East and Africa Off-Highway Vehicle Market Volume,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249: Middle East and Africa Off-Highway Vehicle Market Value, 2021-2036 By Powertrain</a:t>
                      </a:r>
                      <a:endParaRPr sz="1050"/>
                    </a:p>
                  </a:txBody>
                  <a:tcPr marL="9525" marR="9525" marT="9525" marB="0" anchor="ctr"/>
                </a:tc>
              </a:tr>
              <a:tr h="170930">
                <a:tc>
                  <a:txBody>
                    <a:bodyPr wrap="square"/>
                    <a:lstStyle/>
                    <a:p>
                      <a:pPr algn="l"/>
                      <a:r>
                        <a:rPr sz="1050" b="0" i="0">
                          <a:solidFill>
                            <a:srgbClr val="000000"/>
                          </a:solidFill>
                          <a:latin typeface="Calibri"/>
                        </a:rPr>
                        <a:t>Table 250: Middle East and Africa Off-Highway Vehicle Market Volume, 2021-2036 By Powertrain</a:t>
                      </a:r>
                      <a:endParaRPr sz="1050"/>
                    </a:p>
                  </a:txBody>
                  <a:tcPr marL="9525" marR="9525" marT="9525" marB="0" anchor="ctr"/>
                </a:tc>
              </a:tr>
              <a:tr h="170930">
                <a:tc>
                  <a:txBody>
                    <a:bodyPr wrap="square"/>
                    <a:lstStyle/>
                    <a:p>
                      <a:pPr algn="l"/>
                      <a:r>
                        <a:rPr sz="1050" b="0" i="0">
                          <a:solidFill>
                            <a:srgbClr val="000000"/>
                          </a:solidFill>
                          <a:latin typeface="Calibri"/>
                        </a:rPr>
                        <a:t>Table 251: Middle East and Africa Off-Highway Vehicle Market Value, 2021-2036 By Vehicle Capacity</a:t>
                      </a:r>
                      <a:endParaRPr sz="1050"/>
                    </a:p>
                  </a:txBody>
                  <a:tcPr marL="9525" marR="9525" marT="9525" marB="0" anchor="ctr"/>
                </a:tc>
              </a:tr>
              <a:tr h="170930">
                <a:tc>
                  <a:txBody>
                    <a:bodyPr wrap="square"/>
                    <a:lstStyle/>
                    <a:p>
                      <a:pPr algn="l"/>
                      <a:r>
                        <a:rPr sz="1050" b="0" i="0">
                          <a:solidFill>
                            <a:srgbClr val="000000"/>
                          </a:solidFill>
                          <a:latin typeface="Calibri"/>
                        </a:rPr>
                        <a:t>Table 252: Middle East and Africa Off-Highway Vehicle Market Volume, 2021-2036 By Vehicle Capacity</a:t>
                      </a:r>
                      <a:endParaRPr sz="1050"/>
                    </a:p>
                  </a:txBody>
                  <a:tcPr marL="9525" marR="9525" marT="9525" marB="0" anchor="ctr"/>
                </a:tc>
              </a:tr>
              <a:tr h="335022">
                <a:tc>
                  <a:txBody>
                    <a:bodyPr wrap="square"/>
                    <a:lstStyle/>
                    <a:p>
                      <a:pPr algn="l"/>
                      <a:r>
                        <a:rPr sz="1050" b="0" i="0">
                          <a:solidFill>
                            <a:srgbClr val="000000"/>
                          </a:solidFill>
                          <a:latin typeface="Calibri"/>
                        </a:rPr>
                        <a:t>Table 253: Middle East and Africa Off-Highway Vehicle Market Value, 2021-2036 By Propulsion Configuration</a:t>
                      </a:r>
                      <a:endParaRPr sz="1050"/>
                    </a:p>
                  </a:txBody>
                  <a:tcPr marL="9525" marR="9525" marT="9525" marB="0" anchor="ctr"/>
                </a:tc>
              </a:tr>
              <a:tr h="335022">
                <a:tc>
                  <a:txBody>
                    <a:bodyPr wrap="square"/>
                    <a:lstStyle/>
                    <a:p>
                      <a:pPr algn="l"/>
                      <a:r>
                        <a:rPr sz="1050" b="0" i="0">
                          <a:solidFill>
                            <a:srgbClr val="000000"/>
                          </a:solidFill>
                          <a:latin typeface="Calibri"/>
                        </a:rPr>
                        <a:t>Table 254: Middle East and Africa Off-Highway Vehicle Market Volume, 2021-2036 By Propulsion Configuration</a:t>
                      </a:r>
                      <a:endParaRPr sz="1050"/>
                    </a:p>
                  </a:txBody>
                  <a:tcPr marL="9525" marR="9525" marT="9525" marB="0" anchor="ctr"/>
                </a:tc>
              </a:tr>
              <a:tr h="170930">
                <a:tc>
                  <a:txBody>
                    <a:bodyPr wrap="square"/>
                    <a:lstStyle/>
                    <a:p>
                      <a:pPr algn="l"/>
                      <a:r>
                        <a:rPr sz="1050" b="0" i="0">
                          <a:solidFill>
                            <a:srgbClr val="000000"/>
                          </a:solidFill>
                          <a:latin typeface="Calibri"/>
                        </a:rPr>
                        <a:t>Table 255: Middle East and Africa Off-Highway Vehicle Market Value, 2021-2036 By Country</a:t>
                      </a:r>
                      <a:endParaRPr sz="1050"/>
                    </a:p>
                  </a:txBody>
                  <a:tcPr marL="9525" marR="9525" marT="9525" marB="0" anchor="ctr"/>
                </a:tc>
              </a:tr>
              <a:tr h="170930">
                <a:tc>
                  <a:txBody>
                    <a:bodyPr wrap="square"/>
                    <a:lstStyle/>
                    <a:p>
                      <a:pPr algn="l"/>
                      <a:r>
                        <a:rPr sz="1050" b="0" i="0">
                          <a:solidFill>
                            <a:srgbClr val="000000"/>
                          </a:solidFill>
                          <a:latin typeface="Calibri"/>
                        </a:rPr>
                        <a:t>Table 256: Middle East and Africa Off-Highway Vehicle Market Volume,2021-2036 By Country</a:t>
                      </a:r>
                      <a:endParaRPr sz="1050"/>
                    </a:p>
                  </a:txBody>
                  <a:tcPr marL="9525" marR="9525" marT="9525" marB="0" anchor="ctr"/>
                </a:tc>
              </a:tr>
              <a:tr h="170930">
                <a:tc>
                  <a:txBody>
                    <a:bodyPr wrap="square"/>
                    <a:lstStyle/>
                    <a:p>
                      <a:pPr algn="l"/>
                      <a:r>
                        <a:rPr sz="1050" b="0" i="0">
                          <a:solidFill>
                            <a:srgbClr val="000000"/>
                          </a:solidFill>
                          <a:latin typeface="Calibri"/>
                        </a:rPr>
                        <a:t>Table 257: GCC Countries Off-Highway Vehicle Market Value,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258: GCC Countries Off-Highway Vehicle Market Volume,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259: GCC Countries Off-Highway Vehicle Market Value, 2021-2036 By Powertrain</a:t>
                      </a:r>
                      <a:endParaRPr sz="1050"/>
                    </a:p>
                  </a:txBody>
                  <a:tcPr marL="9525" marR="9525" marT="9525" marB="0" anchor="ctr"/>
                </a:tc>
              </a:tr>
              <a:tr h="170930">
                <a:tc>
                  <a:txBody>
                    <a:bodyPr wrap="square"/>
                    <a:lstStyle/>
                    <a:p>
                      <a:pPr algn="l"/>
                      <a:r>
                        <a:rPr sz="1050" b="0" i="0">
                          <a:solidFill>
                            <a:srgbClr val="000000"/>
                          </a:solidFill>
                          <a:latin typeface="Calibri"/>
                        </a:rPr>
                        <a:t>Table 260: GCC Countries Off-Highway Vehicle Market Volume, 2021-2036 By Powertrain</a:t>
                      </a:r>
                      <a:endParaRPr sz="1050"/>
                    </a:p>
                  </a:txBody>
                  <a:tcPr marL="9525" marR="9525" marT="9525" marB="0" anchor="ctr"/>
                </a:tc>
              </a:tr>
              <a:tr h="170930">
                <a:tc>
                  <a:txBody>
                    <a:bodyPr wrap="square"/>
                    <a:lstStyle/>
                    <a:p>
                      <a:pPr algn="l"/>
                      <a:r>
                        <a:rPr sz="1050" b="0" i="0">
                          <a:solidFill>
                            <a:srgbClr val="000000"/>
                          </a:solidFill>
                          <a:latin typeface="Calibri"/>
                        </a:rPr>
                        <a:t>Table 261: GCC Countries Off-Highway Vehicle Market Value, 2021-2036 By Vehicle Capacity</a:t>
                      </a:r>
                      <a:endParaRPr sz="1050"/>
                    </a:p>
                  </a:txBody>
                  <a:tcPr marL="9525" marR="9525" marT="9525" marB="0" anchor="ctr"/>
                </a:tc>
              </a:tr>
              <a:tr h="170930">
                <a:tc>
                  <a:txBody>
                    <a:bodyPr wrap="square"/>
                    <a:lstStyle/>
                    <a:p>
                      <a:pPr algn="l"/>
                      <a:r>
                        <a:rPr sz="1050" b="0" i="0">
                          <a:solidFill>
                            <a:srgbClr val="000000"/>
                          </a:solidFill>
                          <a:latin typeface="Calibri"/>
                        </a:rPr>
                        <a:t>Table 262: GCC Countries Off-Highway Vehicle Market Volume, 2021-2036 By Vehicle Capacity</a:t>
                      </a:r>
                      <a:endParaRPr sz="1050"/>
                    </a:p>
                  </a:txBody>
                  <a:tcPr marL="9525" marR="9525" marT="9525" marB="0" anchor="ctr"/>
                </a:tc>
              </a:tr>
              <a:tr h="170930">
                <a:tc>
                  <a:txBody>
                    <a:bodyPr wrap="square"/>
                    <a:lstStyle/>
                    <a:p>
                      <a:pPr algn="l"/>
                      <a:r>
                        <a:rPr sz="1050" b="0" i="0">
                          <a:solidFill>
                            <a:srgbClr val="000000"/>
                          </a:solidFill>
                          <a:latin typeface="Calibri"/>
                        </a:rPr>
                        <a:t>Table 263: GCC Countries Off-Highway Vehicle Market Value, 2021-2036 By Propulsion Configuration</a:t>
                      </a:r>
                      <a:endParaRPr sz="1050"/>
                    </a:p>
                  </a:txBody>
                  <a:tcPr marL="9525" marR="9525" marT="9525" marB="0" anchor="ctr"/>
                </a:tc>
              </a:tr>
              <a:tr h="170930">
                <a:tc>
                  <a:txBody>
                    <a:bodyPr wrap="square"/>
                    <a:lstStyle/>
                    <a:p>
                      <a:pPr algn="l"/>
                      <a:r>
                        <a:rPr sz="1050" b="0" i="0">
                          <a:solidFill>
                            <a:srgbClr val="000000"/>
                          </a:solidFill>
                          <a:latin typeface="Calibri"/>
                        </a:rPr>
                        <a:t>Table 264: GCC Countries Off-Highway Vehicle Market Volume, 2021-2036 By Propulsion Configuration</a:t>
                      </a:r>
                      <a:endParaRPr sz="1050"/>
                    </a:p>
                  </a:txBody>
                  <a:tcPr marL="9525" marR="9525" marT="9525" marB="0" anchor="ctr"/>
                </a:tc>
              </a:tr>
              <a:tr h="170930">
                <a:tc>
                  <a:txBody>
                    <a:bodyPr wrap="square"/>
                    <a:lstStyle/>
                    <a:p>
                      <a:pPr algn="l"/>
                      <a:r>
                        <a:rPr sz="1050" b="0" i="0">
                          <a:solidFill>
                            <a:srgbClr val="000000"/>
                          </a:solidFill>
                          <a:latin typeface="Calibri"/>
                        </a:rPr>
                        <a:t>Table 265: Turkiye Off-Highway Vehicle Market Value,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266: Turkiye Off-Highway Vehicle Market Volume, 2021-2036 By Vehicle Type</a:t>
                      </a:r>
                      <a:endParaRPr sz="1050"/>
                    </a:p>
                  </a:txBody>
                  <a:tcPr marL="9525" marR="9525" marT="9525" marB="0" anchor="ctr"/>
                </a:tc>
              </a:tr>
              <a:tr h="170930">
                <a:tc>
                  <a:txBody>
                    <a:bodyPr wrap="square"/>
                    <a:lstStyle/>
                    <a:p>
                      <a:pPr algn="l"/>
                      <a:r>
                        <a:rPr sz="1050" b="0" i="0">
                          <a:solidFill>
                            <a:srgbClr val="000000"/>
                          </a:solidFill>
                          <a:latin typeface="Calibri"/>
                        </a:rPr>
                        <a:t>Table 267: Turkiye Off-Highway Vehicle Market Value, 2021-2036 By Powertrain</a:t>
                      </a:r>
                      <a:endParaRPr sz="1050"/>
                    </a:p>
                  </a:txBody>
                  <a:tcPr marL="9525" marR="9525" marT="9525" marB="0" anchor="ctr"/>
                </a:tc>
              </a:tr>
            </a:tbl>
          </a:graphicData>
        </a:graphic>
      </p:graphicFrame>
      <p:graphicFrame>
        <p:nvGraphicFramePr>
          <p:cNvPr id="7" name="TMR Contents Table"/>
          <p:cNvGraphicFramePr>
            <a:graphicFrameLocks noGrp="1"/>
          </p:cNvGraphicFramePr>
          <p:nvPr/>
        </p:nvGraphicFramePr>
        <p:xfrm>
          <a:off x="6172200" y="981075"/>
          <a:ext cx="5876925" cy="3660468"/>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268: Turkiye Off-Highway Vehicle Market Volume, 2021-2036 By Powertrain</a:t>
                      </a:r>
                      <a:endParaRPr sz="1050"/>
                    </a:p>
                  </a:txBody>
                  <a:tcPr marL="9525" marR="9525" marT="9525" marB="0" anchor="ctr"/>
                </a:tc>
              </a:tr>
              <a:tr h="166688">
                <a:tc>
                  <a:txBody>
                    <a:bodyPr wrap="square"/>
                    <a:lstStyle/>
                    <a:p>
                      <a:pPr algn="l"/>
                      <a:r>
                        <a:rPr sz="1050" b="0" i="0">
                          <a:solidFill>
                            <a:srgbClr val="000000"/>
                          </a:solidFill>
                          <a:latin typeface="Calibri"/>
                        </a:rPr>
                        <a:t>Table 269: Turkiye Off-Highway Vehicle Market Value, 2021-2036 By Vehicle Capacity</a:t>
                      </a:r>
                      <a:endParaRPr sz="1050"/>
                    </a:p>
                  </a:txBody>
                  <a:tcPr marL="9525" marR="9525" marT="9525" marB="0" anchor="ctr"/>
                </a:tc>
              </a:tr>
              <a:tr h="166688">
                <a:tc>
                  <a:txBody>
                    <a:bodyPr wrap="square"/>
                    <a:lstStyle/>
                    <a:p>
                      <a:pPr algn="l"/>
                      <a:r>
                        <a:rPr sz="1050" b="0" i="0">
                          <a:solidFill>
                            <a:srgbClr val="000000"/>
                          </a:solidFill>
                          <a:latin typeface="Calibri"/>
                        </a:rPr>
                        <a:t>Table 270: Turkiye Off-Highway Vehicle Market Volume, 2021-2036 By Vehicle Capacity</a:t>
                      </a:r>
                      <a:endParaRPr sz="1050"/>
                    </a:p>
                  </a:txBody>
                  <a:tcPr marL="9525" marR="9525" marT="9525" marB="0" anchor="ctr"/>
                </a:tc>
              </a:tr>
              <a:tr h="166688">
                <a:tc>
                  <a:txBody>
                    <a:bodyPr wrap="square"/>
                    <a:lstStyle/>
                    <a:p>
                      <a:pPr algn="l"/>
                      <a:r>
                        <a:rPr sz="1050" b="0" i="0">
                          <a:solidFill>
                            <a:srgbClr val="000000"/>
                          </a:solidFill>
                          <a:latin typeface="Calibri"/>
                        </a:rPr>
                        <a:t>Table 271: Turkiye Off-Highway Vehicle Market Value, 2021-2036 By Propulsion Configuration</a:t>
                      </a:r>
                      <a:endParaRPr sz="1050"/>
                    </a:p>
                  </a:txBody>
                  <a:tcPr marL="9525" marR="9525" marT="9525" marB="0" anchor="ctr"/>
                </a:tc>
              </a:tr>
              <a:tr h="166688">
                <a:tc>
                  <a:txBody>
                    <a:bodyPr wrap="square"/>
                    <a:lstStyle/>
                    <a:p>
                      <a:pPr algn="l"/>
                      <a:r>
                        <a:rPr sz="1050" b="0" i="0">
                          <a:solidFill>
                            <a:srgbClr val="000000"/>
                          </a:solidFill>
                          <a:latin typeface="Calibri"/>
                        </a:rPr>
                        <a:t>Table 272: Turkiye Off-Highway Vehicle Market Volume, 2021-2036 By Propulsion Configuration</a:t>
                      </a:r>
                      <a:endParaRPr sz="1050"/>
                    </a:p>
                  </a:txBody>
                  <a:tcPr marL="9525" marR="9525" marT="9525" marB="0" anchor="ctr"/>
                </a:tc>
              </a:tr>
              <a:tr h="166688">
                <a:tc>
                  <a:txBody>
                    <a:bodyPr wrap="square"/>
                    <a:lstStyle/>
                    <a:p>
                      <a:pPr algn="l"/>
                      <a:r>
                        <a:rPr sz="1050" b="0" i="0">
                          <a:solidFill>
                            <a:srgbClr val="000000"/>
                          </a:solidFill>
                          <a:latin typeface="Calibri"/>
                        </a:rPr>
                        <a:t>Table 273: Northern Africa Off-Highway Vehicle Market Value, 2021-2036 By Vehicle Type</a:t>
                      </a:r>
                      <a:endParaRPr sz="1050"/>
                    </a:p>
                  </a:txBody>
                  <a:tcPr marL="9525" marR="9525" marT="9525" marB="0" anchor="ctr"/>
                </a:tc>
              </a:tr>
              <a:tr h="166688">
                <a:tc>
                  <a:txBody>
                    <a:bodyPr wrap="square"/>
                    <a:lstStyle/>
                    <a:p>
                      <a:pPr algn="l"/>
                      <a:r>
                        <a:rPr sz="1050" b="0" i="0">
                          <a:solidFill>
                            <a:srgbClr val="000000"/>
                          </a:solidFill>
                          <a:latin typeface="Calibri"/>
                        </a:rPr>
                        <a:t>Table 274: Northern Africa Off-Highway Vehicle Market Volume, 2021-2036 By Vehicle Type</a:t>
                      </a:r>
                      <a:endParaRPr sz="1050"/>
                    </a:p>
                  </a:txBody>
                  <a:tcPr marL="9525" marR="9525" marT="9525" marB="0" anchor="ctr"/>
                </a:tc>
              </a:tr>
              <a:tr h="166688">
                <a:tc>
                  <a:txBody>
                    <a:bodyPr wrap="square"/>
                    <a:lstStyle/>
                    <a:p>
                      <a:pPr algn="l"/>
                      <a:r>
                        <a:rPr sz="1050" b="0" i="0">
                          <a:solidFill>
                            <a:srgbClr val="000000"/>
                          </a:solidFill>
                          <a:latin typeface="Calibri"/>
                        </a:rPr>
                        <a:t>Table 275: Northern Africa Off-Highway Vehicle Market Value, 2021-2036 By Powertrain</a:t>
                      </a:r>
                      <a:endParaRPr sz="1050"/>
                    </a:p>
                  </a:txBody>
                  <a:tcPr marL="9525" marR="9525" marT="9525" marB="0" anchor="ctr"/>
                </a:tc>
              </a:tr>
              <a:tr h="166688">
                <a:tc>
                  <a:txBody>
                    <a:bodyPr wrap="square"/>
                    <a:lstStyle/>
                    <a:p>
                      <a:pPr algn="l"/>
                      <a:r>
                        <a:rPr sz="1050" b="0" i="0">
                          <a:solidFill>
                            <a:srgbClr val="000000"/>
                          </a:solidFill>
                          <a:latin typeface="Calibri"/>
                        </a:rPr>
                        <a:t>Table 276: Northern Africa Off-Highway Vehicle Market Volume, 2021-2036 By Powertrain</a:t>
                      </a:r>
                      <a:endParaRPr sz="1050"/>
                    </a:p>
                  </a:txBody>
                  <a:tcPr marL="9525" marR="9525" marT="9525" marB="0" anchor="ctr"/>
                </a:tc>
              </a:tr>
              <a:tr h="166688">
                <a:tc>
                  <a:txBody>
                    <a:bodyPr wrap="square"/>
                    <a:lstStyle/>
                    <a:p>
                      <a:pPr algn="l"/>
                      <a:r>
                        <a:rPr sz="1050" b="0" i="0">
                          <a:solidFill>
                            <a:srgbClr val="000000"/>
                          </a:solidFill>
                          <a:latin typeface="Calibri"/>
                        </a:rPr>
                        <a:t>Table 277: Northern Africa Off-Highway Vehicle Market Value, 2021-2036 By Vehicle Capacity</a:t>
                      </a:r>
                      <a:endParaRPr sz="1050"/>
                    </a:p>
                  </a:txBody>
                  <a:tcPr marL="9525" marR="9525" marT="9525" marB="0" anchor="ctr"/>
                </a:tc>
              </a:tr>
              <a:tr h="166688">
                <a:tc>
                  <a:txBody>
                    <a:bodyPr wrap="square"/>
                    <a:lstStyle/>
                    <a:p>
                      <a:pPr algn="l"/>
                      <a:r>
                        <a:rPr sz="1050" b="0" i="0">
                          <a:solidFill>
                            <a:srgbClr val="000000"/>
                          </a:solidFill>
                          <a:latin typeface="Calibri"/>
                        </a:rPr>
                        <a:t>Table 278: Northern Africa Off-Highway Vehicle Market Volume, 2021-2036 By Vehicle Capacity</a:t>
                      </a:r>
                      <a:endParaRPr sz="1050"/>
                    </a:p>
                  </a:txBody>
                  <a:tcPr marL="9525" marR="9525" marT="9525" marB="0" anchor="ctr"/>
                </a:tc>
              </a:tr>
              <a:tr h="166688">
                <a:tc>
                  <a:txBody>
                    <a:bodyPr wrap="square"/>
                    <a:lstStyle/>
                    <a:p>
                      <a:pPr algn="l"/>
                      <a:r>
                        <a:rPr sz="1050" b="0" i="0">
                          <a:solidFill>
                            <a:srgbClr val="000000"/>
                          </a:solidFill>
                          <a:latin typeface="Calibri"/>
                        </a:rPr>
                        <a:t>Table 279: Northern Africa Off-Highway Vehicle Market Value, 2021-2036 By Propulsion Configuration</a:t>
                      </a:r>
                      <a:endParaRPr sz="1050"/>
                    </a:p>
                  </a:txBody>
                  <a:tcPr marL="9525" marR="9525" marT="9525" marB="0" anchor="ctr"/>
                </a:tc>
              </a:tr>
              <a:tr h="326708">
                <a:tc>
                  <a:txBody>
                    <a:bodyPr wrap="square"/>
                    <a:lstStyle/>
                    <a:p>
                      <a:pPr algn="l"/>
                      <a:r>
                        <a:rPr sz="1050" b="0" i="0">
                          <a:solidFill>
                            <a:srgbClr val="000000"/>
                          </a:solidFill>
                          <a:latin typeface="Calibri"/>
                        </a:rPr>
                        <a:t>Table 280: Northern Africa Off-Highway Vehicle Market Volume, 2021-2036 By Propulsion Configuration</a:t>
                      </a:r>
                      <a:endParaRPr sz="1050"/>
                    </a:p>
                  </a:txBody>
                  <a:tcPr marL="9525" marR="9525" marT="9525" marB="0" anchor="ctr"/>
                </a:tc>
              </a:tr>
              <a:tr h="166688">
                <a:tc>
                  <a:txBody>
                    <a:bodyPr wrap="square"/>
                    <a:lstStyle/>
                    <a:p>
                      <a:pPr algn="l"/>
                      <a:r>
                        <a:rPr sz="1050" b="0" i="0">
                          <a:solidFill>
                            <a:srgbClr val="000000"/>
                          </a:solidFill>
                          <a:latin typeface="Calibri"/>
                        </a:rPr>
                        <a:t>Table 281: South Africa Off-Highway Vehicle Market Value, 2021-2036 By Vehicle Type</a:t>
                      </a:r>
                      <a:endParaRPr sz="1050"/>
                    </a:p>
                  </a:txBody>
                  <a:tcPr marL="9525" marR="9525" marT="9525" marB="0" anchor="ctr"/>
                </a:tc>
              </a:tr>
              <a:tr h="166688">
                <a:tc>
                  <a:txBody>
                    <a:bodyPr wrap="square"/>
                    <a:lstStyle/>
                    <a:p>
                      <a:pPr algn="l"/>
                      <a:r>
                        <a:rPr sz="1050" b="0" i="0">
                          <a:solidFill>
                            <a:srgbClr val="000000"/>
                          </a:solidFill>
                          <a:latin typeface="Calibri"/>
                        </a:rPr>
                        <a:t>Table 282: South Africa Off-Highway Vehicle Market Volume, 2021-2036 By Vehicle Type</a:t>
                      </a:r>
                      <a:endParaRPr sz="1050"/>
                    </a:p>
                  </a:txBody>
                  <a:tcPr marL="9525" marR="9525" marT="9525" marB="0" anchor="ctr"/>
                </a:tc>
              </a:tr>
              <a:tr h="166688">
                <a:tc>
                  <a:txBody>
                    <a:bodyPr wrap="square"/>
                    <a:lstStyle/>
                    <a:p>
                      <a:pPr algn="l"/>
                      <a:r>
                        <a:rPr sz="1050" b="0" i="0">
                          <a:solidFill>
                            <a:srgbClr val="000000"/>
                          </a:solidFill>
                          <a:latin typeface="Calibri"/>
                        </a:rPr>
                        <a:t>Table 283: South Africa Off-Highway Vehicle Market Value, 2021-2036 By Powertrain</a:t>
                      </a:r>
                      <a:endParaRPr sz="1050"/>
                    </a:p>
                  </a:txBody>
                  <a:tcPr marL="9525" marR="9525" marT="9525" marB="0" anchor="ctr"/>
                </a:tc>
              </a:tr>
              <a:tr h="166688">
                <a:tc>
                  <a:txBody>
                    <a:bodyPr wrap="square"/>
                    <a:lstStyle/>
                    <a:p>
                      <a:pPr algn="l"/>
                      <a:r>
                        <a:rPr sz="1050" b="0" i="0">
                          <a:solidFill>
                            <a:srgbClr val="000000"/>
                          </a:solidFill>
                          <a:latin typeface="Calibri"/>
                        </a:rPr>
                        <a:t>Table 284: South Africa Off-Highway Vehicle Market Volume, 2021-2036 By Powertrain</a:t>
                      </a:r>
                      <a:endParaRPr sz="1050"/>
                    </a:p>
                  </a:txBody>
                  <a:tcPr marL="9525" marR="9525" marT="9525" marB="0" anchor="ctr"/>
                </a:tc>
              </a:tr>
              <a:tr h="166688">
                <a:tc>
                  <a:txBody>
                    <a:bodyPr wrap="square"/>
                    <a:lstStyle/>
                    <a:p>
                      <a:pPr algn="l"/>
                      <a:r>
                        <a:rPr sz="1050" b="0" i="0">
                          <a:solidFill>
                            <a:srgbClr val="000000"/>
                          </a:solidFill>
                          <a:latin typeface="Calibri"/>
                        </a:rPr>
                        <a:t>Table 285: South Africa Off-Highway Vehicle Market Value, 2021-2036 By Vehicle Capacity</a:t>
                      </a:r>
                      <a:endParaRPr sz="1050"/>
                    </a:p>
                  </a:txBody>
                  <a:tcPr marL="9525" marR="9525" marT="9525" marB="0" anchor="ctr"/>
                </a:tc>
              </a:tr>
              <a:tr h="166688">
                <a:tc>
                  <a:txBody>
                    <a:bodyPr wrap="square"/>
                    <a:lstStyle/>
                    <a:p>
                      <a:pPr algn="l"/>
                      <a:r>
                        <a:rPr sz="1050" b="0" i="0">
                          <a:solidFill>
                            <a:srgbClr val="000000"/>
                          </a:solidFill>
                          <a:latin typeface="Calibri"/>
                        </a:rPr>
                        <a:t>Table 286: South Africa Off-Highway Vehicle Market Volume, 2021-2036 By Vehicle Capacity</a:t>
                      </a:r>
                      <a:endParaRPr sz="1050"/>
                    </a:p>
                  </a:txBody>
                  <a:tcPr marL="9525" marR="9525" marT="9525" marB="0" anchor="ctr"/>
                </a:tc>
              </a:tr>
              <a:tr h="166688">
                <a:tc>
                  <a:txBody>
                    <a:bodyPr wrap="square"/>
                    <a:lstStyle/>
                    <a:p>
                      <a:pPr algn="l"/>
                      <a:r>
                        <a:rPr sz="1050" b="0" i="0">
                          <a:solidFill>
                            <a:srgbClr val="000000"/>
                          </a:solidFill>
                          <a:latin typeface="Calibri"/>
                        </a:rPr>
                        <a:t>Table 287: South Africa Off-Highway Vehicle Market Value, 2021-2036 By Propulsion Configuration</a:t>
                      </a:r>
                      <a:endParaRPr sz="1050"/>
                    </a:p>
                  </a:txBody>
                  <a:tcPr marL="9525" marR="9525" marT="9525" marB="0" anchor="ctr"/>
                </a:tc>
              </a:tr>
              <a:tr h="166688">
                <a:tc>
                  <a:txBody>
                    <a:bodyPr wrap="square"/>
                    <a:lstStyle/>
                    <a:p>
                      <a:pPr algn="l"/>
                      <a:r>
                        <a:rPr sz="1050" b="0" i="0">
                          <a:solidFill>
                            <a:srgbClr val="000000"/>
                          </a:solidFill>
                          <a:latin typeface="Calibri"/>
                        </a:rPr>
                        <a:t>Table 288: South Africa Off-Highway Vehicle Market Volume, 2021-2036 By Propulsion Configuration</a:t>
                      </a:r>
                      <a:endParaRPr sz="1050"/>
                    </a:p>
                  </a:txBody>
                  <a:tcPr marL="9525" marR="9525" marT="9525" marB="0" anchor="ctr"/>
                </a:tc>
              </a:tr>
            </a:tbl>
          </a:graphicData>
        </a:graphic>
      </p:graphicFrame>
      <p:sp>
        <p:nvSpPr>
          <p:cNvPr id="8" name="Rectangle 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44919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275399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458845"/>
            <a:ext cx="7124700" cy="23787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Vehicle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Powertrain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Vehicle Capacity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Propulsion Configuration</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Summary, By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371428" cy="186689"/>
          </a:xfrm>
          <a:prstGeom prst="rect">
            <a:avLst/>
          </a:prstGeom>
          <a:noFill/>
        </p:spPr>
        <p:txBody>
          <a:bodyPr wrap="none" lIns="0" rIns="0" tIns="0" bIns="0">
            <a:spAutoFit/>
          </a:bodyPr>
          <a:lstStyle/>
          <a:p>
            <a:r>
              <a:rPr sz="1100" b="0">
                <a:solidFill>
                  <a:srgbClr val="2E2E2E"/>
                </a:solidFill>
                <a:latin typeface="Calibri"/>
              </a:rPr>
              <a:t>Global Off-Highway vehicle market is projected to register</a:t>
            </a:r>
          </a:p>
        </p:txBody>
      </p:sp>
      <p:pic>
        <p:nvPicPr>
          <p:cNvPr id="33" name="Picture 32" descr="lock.png"/>
          <p:cNvPicPr>
            <a:picLocks noChangeAspect="1"/>
          </p:cNvPicPr>
          <p:nvPr/>
        </p:nvPicPr>
        <p:blipFill>
          <a:blip r:embed="rId6"/>
          <a:stretch>
            <a:fillRect/>
          </a:stretch>
        </p:blipFill>
        <p:spPr>
          <a:xfrm>
            <a:off x="11368104" y="2037208"/>
            <a:ext cx="128699" cy="187198"/>
          </a:xfrm>
          <a:prstGeom prst="rect">
            <a:avLst/>
          </a:prstGeom>
        </p:spPr>
      </p:pic>
      <p:sp>
        <p:nvSpPr>
          <p:cNvPr id="34" name="TextBox 33"/>
          <p:cNvSpPr txBox="1"/>
          <p:nvPr/>
        </p:nvSpPr>
        <p:spPr>
          <a:xfrm>
            <a:off x="11535600"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5" name="TextBox 34"/>
          <p:cNvSpPr txBox="1"/>
          <p:nvPr/>
        </p:nvSpPr>
        <p:spPr>
          <a:xfrm>
            <a:off x="8048625" y="2214627"/>
            <a:ext cx="3608809" cy="186689"/>
          </a:xfrm>
          <a:prstGeom prst="rect">
            <a:avLst/>
          </a:prstGeom>
          <a:noFill/>
        </p:spPr>
        <p:txBody>
          <a:bodyPr wrap="none" lIns="0" rIns="0" tIns="0" bIns="0">
            <a:spAutoFit/>
          </a:bodyPr>
          <a:lstStyle/>
          <a:p>
            <a:r>
              <a:rPr sz="1100" b="0">
                <a:solidFill>
                  <a:srgbClr val="2E2E2E"/>
                </a:solidFill>
                <a:latin typeface="Calibri"/>
              </a:rPr>
              <a:t>increase in volume by the end of forecast period, 2036. Global</a:t>
            </a:r>
          </a:p>
        </p:txBody>
      </p:sp>
      <p:sp>
        <p:nvSpPr>
          <p:cNvPr id="36" name="TextBox 35"/>
          <p:cNvSpPr txBox="1"/>
          <p:nvPr/>
        </p:nvSpPr>
        <p:spPr>
          <a:xfrm>
            <a:off x="8048625" y="2382267"/>
            <a:ext cx="2609353" cy="186689"/>
          </a:xfrm>
          <a:prstGeom prst="rect">
            <a:avLst/>
          </a:prstGeom>
          <a:noFill/>
        </p:spPr>
        <p:txBody>
          <a:bodyPr wrap="none" lIns="0" rIns="0" tIns="0" bIns="0">
            <a:spAutoFit/>
          </a:bodyPr>
          <a:lstStyle/>
          <a:p>
            <a:r>
              <a:rPr sz="1100" b="0">
                <a:solidFill>
                  <a:srgbClr val="2E2E2E"/>
                </a:solidFill>
                <a:latin typeface="Calibri"/>
              </a:rPr>
              <a:t>Off-Highway vehicle market volume stood at</a:t>
            </a:r>
          </a:p>
        </p:txBody>
      </p:sp>
      <p:pic>
        <p:nvPicPr>
          <p:cNvPr id="37" name="Picture 36" descr="lock.png"/>
          <p:cNvPicPr>
            <a:picLocks noChangeAspect="1"/>
          </p:cNvPicPr>
          <p:nvPr/>
        </p:nvPicPr>
        <p:blipFill>
          <a:blip r:embed="rId6"/>
          <a:stretch>
            <a:fillRect/>
          </a:stretch>
        </p:blipFill>
        <p:spPr>
          <a:xfrm>
            <a:off x="10606030" y="2372488"/>
            <a:ext cx="128699" cy="187198"/>
          </a:xfrm>
          <a:prstGeom prst="rect">
            <a:avLst/>
          </a:prstGeom>
        </p:spPr>
      </p:pic>
      <p:sp>
        <p:nvSpPr>
          <p:cNvPr id="38" name="TextBox 37"/>
          <p:cNvSpPr txBox="1"/>
          <p:nvPr/>
        </p:nvSpPr>
        <p:spPr>
          <a:xfrm>
            <a:off x="10773526" y="2382267"/>
            <a:ext cx="1071016" cy="186689"/>
          </a:xfrm>
          <a:prstGeom prst="rect">
            <a:avLst/>
          </a:prstGeom>
          <a:noFill/>
        </p:spPr>
        <p:txBody>
          <a:bodyPr wrap="none" lIns="0" rIns="0" tIns="0" bIns="0">
            <a:spAutoFit/>
          </a:bodyPr>
          <a:lstStyle/>
          <a:p>
            <a:r>
              <a:rPr sz="1100" b="0">
                <a:solidFill>
                  <a:srgbClr val="2E2E2E"/>
                </a:solidFill>
                <a:latin typeface="Calibri"/>
              </a:rPr>
              <a:t>Units in 2025 and</a:t>
            </a:r>
          </a:p>
        </p:txBody>
      </p:sp>
      <p:sp>
        <p:nvSpPr>
          <p:cNvPr id="39" name="TextBox 38"/>
          <p:cNvSpPr txBox="1"/>
          <p:nvPr/>
        </p:nvSpPr>
        <p:spPr>
          <a:xfrm>
            <a:off x="8048625" y="2549907"/>
            <a:ext cx="1218629" cy="186689"/>
          </a:xfrm>
          <a:prstGeom prst="rect">
            <a:avLst/>
          </a:prstGeom>
          <a:noFill/>
        </p:spPr>
        <p:txBody>
          <a:bodyPr wrap="none" lIns="0" rIns="0" tIns="0" bIns="0">
            <a:spAutoFit/>
          </a:bodyPr>
          <a:lstStyle/>
          <a:p>
            <a:r>
              <a:rPr sz="1100" b="0">
                <a:solidFill>
                  <a:srgbClr val="2E2E2E"/>
                </a:solidFill>
                <a:latin typeface="Calibri"/>
              </a:rPr>
              <a:t>is expected to reach</a:t>
            </a:r>
          </a:p>
        </p:txBody>
      </p:sp>
      <p:pic>
        <p:nvPicPr>
          <p:cNvPr id="40" name="Picture 39" descr="lock.png"/>
          <p:cNvPicPr>
            <a:picLocks noChangeAspect="1"/>
          </p:cNvPicPr>
          <p:nvPr/>
        </p:nvPicPr>
        <p:blipFill>
          <a:blip r:embed="rId6"/>
          <a:stretch>
            <a:fillRect/>
          </a:stretch>
        </p:blipFill>
        <p:spPr>
          <a:xfrm>
            <a:off x="9215306" y="2540128"/>
            <a:ext cx="128699" cy="187198"/>
          </a:xfrm>
          <a:prstGeom prst="rect">
            <a:avLst/>
          </a:prstGeom>
        </p:spPr>
      </p:pic>
      <p:sp>
        <p:nvSpPr>
          <p:cNvPr id="41" name="TextBox 40"/>
          <p:cNvSpPr txBox="1"/>
          <p:nvPr/>
        </p:nvSpPr>
        <p:spPr>
          <a:xfrm>
            <a:off x="9382801" y="254990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2" name="Picture 41" descr="lock.png"/>
          <p:cNvPicPr>
            <a:picLocks noChangeAspect="1"/>
          </p:cNvPicPr>
          <p:nvPr/>
        </p:nvPicPr>
        <p:blipFill>
          <a:blip r:embed="rId6"/>
          <a:stretch>
            <a:fillRect/>
          </a:stretch>
        </p:blipFill>
        <p:spPr>
          <a:xfrm>
            <a:off x="11213313" y="2540128"/>
            <a:ext cx="128699" cy="187198"/>
          </a:xfrm>
          <a:prstGeom prst="rect">
            <a:avLst/>
          </a:prstGeom>
        </p:spPr>
      </p:pic>
      <p:sp>
        <p:nvSpPr>
          <p:cNvPr id="43" name="TextBox 42"/>
          <p:cNvSpPr txBox="1"/>
          <p:nvPr/>
        </p:nvSpPr>
        <p:spPr>
          <a:xfrm>
            <a:off x="11380809" y="254990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8048625" y="2767838"/>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5" name="TextBox 44"/>
          <p:cNvSpPr txBox="1"/>
          <p:nvPr/>
        </p:nvSpPr>
        <p:spPr>
          <a:xfrm>
            <a:off x="8048625" y="293547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6" name="TextBox 45"/>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7" name="Picture 46" descr="lock.png"/>
          <p:cNvPicPr>
            <a:picLocks noChangeAspect="1"/>
          </p:cNvPicPr>
          <p:nvPr/>
        </p:nvPicPr>
        <p:blipFill>
          <a:blip r:embed="rId6"/>
          <a:stretch>
            <a:fillRect/>
          </a:stretch>
        </p:blipFill>
        <p:spPr>
          <a:xfrm>
            <a:off x="10866614" y="4446251"/>
            <a:ext cx="134549" cy="195707"/>
          </a:xfrm>
          <a:prstGeom prst="rect">
            <a:avLst/>
          </a:prstGeom>
        </p:spPr>
      </p:pic>
      <p:sp>
        <p:nvSpPr>
          <p:cNvPr id="48" name="TextBox 47"/>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9" name="TextBox 48"/>
          <p:cNvSpPr txBox="1"/>
          <p:nvPr/>
        </p:nvSpPr>
        <p:spPr>
          <a:xfrm>
            <a:off x="8048625" y="4684312"/>
            <a:ext cx="3706055" cy="194310"/>
          </a:xfrm>
          <a:prstGeom prst="rect">
            <a:avLst/>
          </a:prstGeom>
          <a:noFill/>
        </p:spPr>
        <p:txBody>
          <a:bodyPr wrap="none" lIns="0" rIns="0" tIns="0" bIns="0">
            <a:spAutoFit/>
          </a:bodyPr>
          <a:lstStyle/>
          <a:p>
            <a:r>
              <a:rPr sz="1150" b="0">
                <a:solidFill>
                  <a:srgbClr val="2E2E2E"/>
                </a:solidFill>
                <a:latin typeface="Calibri"/>
              </a:rPr>
              <a:t>▪ Demand concentrates in 'Construction and Mining Vehicles'</a:t>
            </a:r>
          </a:p>
        </p:txBody>
      </p:sp>
      <p:sp>
        <p:nvSpPr>
          <p:cNvPr id="50" name="TextBox 49"/>
          <p:cNvSpPr txBox="1"/>
          <p:nvPr/>
        </p:nvSpPr>
        <p:spPr>
          <a:xfrm>
            <a:off x="8048625" y="4859572"/>
            <a:ext cx="1274836" cy="194310"/>
          </a:xfrm>
          <a:prstGeom prst="rect">
            <a:avLst/>
          </a:prstGeom>
          <a:noFill/>
        </p:spPr>
        <p:txBody>
          <a:bodyPr wrap="none" lIns="0" rIns="0" tIns="0" bIns="0">
            <a:spAutoFit/>
          </a:bodyPr>
          <a:lstStyle/>
          <a:p>
            <a:r>
              <a:rPr sz="1150" b="0">
                <a:solidFill>
                  <a:srgbClr val="2E2E2E"/>
                </a:solidFill>
                <a:latin typeface="Calibri"/>
              </a:rPr>
              <a:t>within Vehicle Type.</a:t>
            </a:r>
          </a:p>
        </p:txBody>
      </p:sp>
      <p:sp>
        <p:nvSpPr>
          <p:cNvPr id="51" name="TextBox 50"/>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2" name="TextBox 51"/>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3"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Vehicle Type  ·  range across 2021–2036 (US$/Units)</a:t>
            </a:r>
          </a:p>
        </p:txBody>
      </p:sp>
      <p:cxnSp>
        <p:nvCxnSpPr>
          <p:cNvPr id="9" name="Connector 8"/>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TMR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TMR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TMR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358265" y="1971736"/>
            <a:ext cx="0" cy="32930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26820" y="230104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26820" y="197173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139190" y="2049440"/>
            <a:ext cx="438150" cy="164926"/>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139190" y="2130404"/>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181933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2760345" y="1732719"/>
            <a:ext cx="0" cy="37693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28900" y="210965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28900" y="173271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541270" y="1821123"/>
            <a:ext cx="438150" cy="188772"/>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541270" y="1913614"/>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59305" y="1580319"/>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4162425" y="1662416"/>
            <a:ext cx="0" cy="35455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030980" y="201697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03098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943350" y="1743253"/>
            <a:ext cx="438150" cy="177649"/>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943350" y="1829537"/>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461385" y="151001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1" name="Connector 40"/>
          <p:cNvCxnSpPr/>
          <p:nvPr/>
        </p:nvCxnSpPr>
        <p:spPr>
          <a:xfrm flipV="1">
            <a:off x="5564505" y="2765301"/>
            <a:ext cx="0" cy="29358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3306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433060" y="276530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45430" y="2834880"/>
            <a:ext cx="438150" cy="147042"/>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5345430" y="2907167"/>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863465" y="2612901"/>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7" name="Connector 46"/>
          <p:cNvCxnSpPr/>
          <p:nvPr/>
        </p:nvCxnSpPr>
        <p:spPr>
          <a:xfrm flipV="1">
            <a:off x="6966585" y="1843603"/>
            <a:ext cx="0" cy="17604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835140" y="201964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835140" y="184360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747510" y="1875665"/>
            <a:ext cx="438150" cy="88338"/>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6747510" y="1915899"/>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65545" y="1691203"/>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53" name="TextBox 52"/>
          <p:cNvSpPr txBox="1"/>
          <p:nvPr/>
        </p:nvSpPr>
        <p:spPr>
          <a:xfrm>
            <a:off x="65722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Construction and Mini…</a:t>
            </a:r>
          </a:p>
        </p:txBody>
      </p:sp>
      <p:sp>
        <p:nvSpPr>
          <p:cNvPr id="54" name="TextBox 53"/>
          <p:cNvSpPr txBox="1"/>
          <p:nvPr/>
        </p:nvSpPr>
        <p:spPr>
          <a:xfrm>
            <a:off x="205930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Agriculture and Fores…</a:t>
            </a:r>
          </a:p>
        </p:txBody>
      </p:sp>
      <p:sp>
        <p:nvSpPr>
          <p:cNvPr id="55" name="TextBox 54"/>
          <p:cNvSpPr txBox="1"/>
          <p:nvPr/>
        </p:nvSpPr>
        <p:spPr>
          <a:xfrm>
            <a:off x="346138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Industrial and Port V…</a:t>
            </a:r>
          </a:p>
        </p:txBody>
      </p:sp>
      <p:sp>
        <p:nvSpPr>
          <p:cNvPr id="56" name="TextBox 55"/>
          <p:cNvSpPr txBox="1"/>
          <p:nvPr/>
        </p:nvSpPr>
        <p:spPr>
          <a:xfrm>
            <a:off x="486346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Recreational and Powe…</a:t>
            </a:r>
          </a:p>
        </p:txBody>
      </p:sp>
      <p:sp>
        <p:nvSpPr>
          <p:cNvPr id="57" name="TextBox 56"/>
          <p:cNvSpPr txBox="1"/>
          <p:nvPr/>
        </p:nvSpPr>
        <p:spPr>
          <a:xfrm>
            <a:off x="626554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Military Vehicles</a:t>
            </a:r>
          </a:p>
        </p:txBody>
      </p:sp>
      <p:sp>
        <p:nvSpPr>
          <p:cNvPr id="58" name="Rounded Rectangle 57"/>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60" name="Connector 59"/>
          <p:cNvCxnSpPr/>
          <p:nvPr/>
        </p:nvCxnSpPr>
        <p:spPr>
          <a:xfrm>
            <a:off x="619125" y="431805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125" y="472891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19125" y="555063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19125" y="596150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19125" y="4318051"/>
            <a:ext cx="0" cy="1643449"/>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90550" y="4318051"/>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90550" y="472891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90550" y="55506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90550" y="596150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1" name="TMR Scale tick"/>
          <p:cNvSpPr txBox="1"/>
          <p:nvPr/>
        </p:nvSpPr>
        <p:spPr>
          <a:xfrm>
            <a:off x="219075" y="4251376"/>
            <a:ext cx="361950" cy="133350"/>
          </a:xfrm>
          <a:prstGeom prst="rect">
            <a:avLst/>
          </a:prstGeom>
          <a:noFill/>
        </p:spPr>
        <p:txBody>
          <a:bodyPr wrap="none" lIns="0" rIns="0" tIns="0" bIns="0" anchor="ctr">
            <a:spAutoFit/>
          </a:bodyPr>
          <a:lstStyle/>
          <a:p>
            <a:pPr algn="r"/>
            <a:r>
              <a:rPr sz="1100" b="0">
                <a:solidFill>
                  <a:srgbClr val="6C7A89"/>
                </a:solidFill>
                <a:latin typeface="Calibri"/>
              </a:rPr>
              <a:t>+56%</a:t>
            </a:r>
          </a:p>
        </p:txBody>
      </p:sp>
      <p:sp>
        <p:nvSpPr>
          <p:cNvPr id="72" name="TMR Scale tick"/>
          <p:cNvSpPr txBox="1"/>
          <p:nvPr/>
        </p:nvSpPr>
        <p:spPr>
          <a:xfrm>
            <a:off x="219075" y="4662239"/>
            <a:ext cx="361950" cy="133350"/>
          </a:xfrm>
          <a:prstGeom prst="rect">
            <a:avLst/>
          </a:prstGeom>
          <a:noFill/>
        </p:spPr>
        <p:txBody>
          <a:bodyPr wrap="none" lIns="0" rIns="0" tIns="0" bIns="0" anchor="ctr">
            <a:spAutoFit/>
          </a:bodyPr>
          <a:lstStyle/>
          <a:p>
            <a:pPr algn="r"/>
            <a:r>
              <a:rPr sz="1100" b="0">
                <a:solidFill>
                  <a:srgbClr val="6C7A89"/>
                </a:solidFill>
                <a:latin typeface="Calibri"/>
              </a:rPr>
              <a:t>+28%</a:t>
            </a:r>
          </a:p>
        </p:txBody>
      </p:sp>
      <p:sp>
        <p:nvSpPr>
          <p:cNvPr id="73" name="TMR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74" name="TMR Scale tick"/>
          <p:cNvSpPr txBox="1"/>
          <p:nvPr/>
        </p:nvSpPr>
        <p:spPr>
          <a:xfrm>
            <a:off x="219075" y="5483963"/>
            <a:ext cx="361950" cy="133350"/>
          </a:xfrm>
          <a:prstGeom prst="rect">
            <a:avLst/>
          </a:prstGeom>
          <a:noFill/>
        </p:spPr>
        <p:txBody>
          <a:bodyPr wrap="none" lIns="0" rIns="0" tIns="0" bIns="0" anchor="ctr">
            <a:spAutoFit/>
          </a:bodyPr>
          <a:lstStyle/>
          <a:p>
            <a:pPr algn="r"/>
            <a:r>
              <a:rPr sz="1100" b="0">
                <a:solidFill>
                  <a:srgbClr val="6C7A89"/>
                </a:solidFill>
                <a:latin typeface="Calibri"/>
              </a:rPr>
              <a:t>-28%</a:t>
            </a:r>
          </a:p>
        </p:txBody>
      </p:sp>
      <p:sp>
        <p:nvSpPr>
          <p:cNvPr id="75" name="TMR Scale tick"/>
          <p:cNvSpPr txBox="1"/>
          <p:nvPr/>
        </p:nvSpPr>
        <p:spPr>
          <a:xfrm>
            <a:off x="219075" y="5894825"/>
            <a:ext cx="361950" cy="133350"/>
          </a:xfrm>
          <a:prstGeom prst="rect">
            <a:avLst/>
          </a:prstGeom>
          <a:noFill/>
        </p:spPr>
        <p:txBody>
          <a:bodyPr wrap="none" lIns="0" rIns="0" tIns="0" bIns="0" anchor="ctr">
            <a:spAutoFit/>
          </a:bodyPr>
          <a:lstStyle/>
          <a:p>
            <a:pPr algn="r"/>
            <a:r>
              <a:rPr sz="1100" b="0">
                <a:solidFill>
                  <a:srgbClr val="6C7A89"/>
                </a:solidFill>
                <a:latin typeface="Calibri"/>
              </a:rPr>
              <a:t>-56%</a:t>
            </a:r>
          </a:p>
        </p:txBody>
      </p:sp>
      <p:cxnSp>
        <p:nvCxnSpPr>
          <p:cNvPr id="76" name="Connector 75"/>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893989"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MR Data Label"/>
          <p:cNvSpPr txBox="1"/>
          <p:nvPr/>
        </p:nvSpPr>
        <p:spPr>
          <a:xfrm>
            <a:off x="619125" y="428058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Rectangle 78"/>
          <p:cNvSpPr/>
          <p:nvPr/>
        </p:nvSpPr>
        <p:spPr>
          <a:xfrm>
            <a:off x="1900918" y="5103210"/>
            <a:ext cx="457200" cy="3656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MR Data Label"/>
          <p:cNvSpPr txBox="1"/>
          <p:nvPr/>
        </p:nvSpPr>
        <p:spPr>
          <a:xfrm>
            <a:off x="1626054" y="4960335"/>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1" name="Rectangle 80"/>
          <p:cNvSpPr/>
          <p:nvPr/>
        </p:nvSpPr>
        <p:spPr>
          <a:xfrm>
            <a:off x="2907846" y="4590081"/>
            <a:ext cx="457200" cy="54969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MR Data Label"/>
          <p:cNvSpPr txBox="1"/>
          <p:nvPr/>
        </p:nvSpPr>
        <p:spPr>
          <a:xfrm>
            <a:off x="2632982" y="4447206"/>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3" name="Rectangle 82"/>
          <p:cNvSpPr/>
          <p:nvPr/>
        </p:nvSpPr>
        <p:spPr>
          <a:xfrm>
            <a:off x="3914775" y="4944419"/>
            <a:ext cx="457200" cy="19535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MR Data Label"/>
          <p:cNvSpPr txBox="1"/>
          <p:nvPr/>
        </p:nvSpPr>
        <p:spPr>
          <a:xfrm>
            <a:off x="3639911" y="4801544"/>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5" name="Rectangle 84"/>
          <p:cNvSpPr/>
          <p:nvPr/>
        </p:nvSpPr>
        <p:spPr>
          <a:xfrm>
            <a:off x="4921704" y="5139776"/>
            <a:ext cx="457200" cy="41284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MR Data Label"/>
          <p:cNvSpPr txBox="1"/>
          <p:nvPr/>
        </p:nvSpPr>
        <p:spPr>
          <a:xfrm>
            <a:off x="4646839" y="5562147"/>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7" name="Rectangle 86"/>
          <p:cNvSpPr/>
          <p:nvPr/>
        </p:nvSpPr>
        <p:spPr>
          <a:xfrm>
            <a:off x="5928632" y="5139776"/>
            <a:ext cx="457200" cy="52905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MR Data Label"/>
          <p:cNvSpPr txBox="1"/>
          <p:nvPr/>
        </p:nvSpPr>
        <p:spPr>
          <a:xfrm>
            <a:off x="5653768" y="5678351"/>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9" name="Rectangle 88"/>
          <p:cNvSpPr/>
          <p:nvPr/>
        </p:nvSpPr>
        <p:spPr>
          <a:xfrm>
            <a:off x="6935561" y="5139776"/>
            <a:ext cx="457200" cy="6007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MR Data Label"/>
          <p:cNvSpPr txBox="1"/>
          <p:nvPr/>
        </p:nvSpPr>
        <p:spPr>
          <a:xfrm>
            <a:off x="6660696" y="520937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91" name="TextBox 90"/>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92" name="TextBox 91"/>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93" name="TextBox 92"/>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94" name="TextBox 93"/>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95" name="TextBox 94"/>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96" name="TextBox 95"/>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97" name="TextBox 96"/>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98" name="Rounded Rectangle 97"/>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100" name="Rectangle 99"/>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02" name="Rectangle 10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04" name="Picture 103" descr="lock.png"/>
          <p:cNvPicPr>
            <a:picLocks noChangeAspect="1"/>
          </p:cNvPicPr>
          <p:nvPr/>
        </p:nvPicPr>
        <p:blipFill>
          <a:blip r:embed="rId4"/>
          <a:stretch>
            <a:fillRect/>
          </a:stretch>
        </p:blipFill>
        <p:spPr>
          <a:xfrm>
            <a:off x="1293915" y="1792412"/>
            <a:ext cx="128699" cy="187198"/>
          </a:xfrm>
          <a:prstGeom prst="rect">
            <a:avLst/>
          </a:prstGeom>
        </p:spPr>
      </p:pic>
      <p:pic>
        <p:nvPicPr>
          <p:cNvPr id="105" name="Picture 104" descr="lock.png"/>
          <p:cNvPicPr>
            <a:picLocks noChangeAspect="1"/>
          </p:cNvPicPr>
          <p:nvPr/>
        </p:nvPicPr>
        <p:blipFill>
          <a:blip r:embed="rId4"/>
          <a:stretch>
            <a:fillRect/>
          </a:stretch>
        </p:blipFill>
        <p:spPr>
          <a:xfrm>
            <a:off x="2695995" y="1553395"/>
            <a:ext cx="128699" cy="187198"/>
          </a:xfrm>
          <a:prstGeom prst="rect">
            <a:avLst/>
          </a:prstGeom>
        </p:spPr>
      </p:pic>
      <p:pic>
        <p:nvPicPr>
          <p:cNvPr id="106" name="Picture 105" descr="lock.png"/>
          <p:cNvPicPr>
            <a:picLocks noChangeAspect="1"/>
          </p:cNvPicPr>
          <p:nvPr/>
        </p:nvPicPr>
        <p:blipFill>
          <a:blip r:embed="rId4"/>
          <a:stretch>
            <a:fillRect/>
          </a:stretch>
        </p:blipFill>
        <p:spPr>
          <a:xfrm>
            <a:off x="4098075" y="1483092"/>
            <a:ext cx="128699" cy="187198"/>
          </a:xfrm>
          <a:prstGeom prst="rect">
            <a:avLst/>
          </a:prstGeom>
        </p:spPr>
      </p:pic>
      <p:pic>
        <p:nvPicPr>
          <p:cNvPr id="107" name="Picture 106" descr="lock.png"/>
          <p:cNvPicPr>
            <a:picLocks noChangeAspect="1"/>
          </p:cNvPicPr>
          <p:nvPr/>
        </p:nvPicPr>
        <p:blipFill>
          <a:blip r:embed="rId4"/>
          <a:stretch>
            <a:fillRect/>
          </a:stretch>
        </p:blipFill>
        <p:spPr>
          <a:xfrm>
            <a:off x="5500155" y="2585977"/>
            <a:ext cx="128699" cy="187198"/>
          </a:xfrm>
          <a:prstGeom prst="rect">
            <a:avLst/>
          </a:prstGeom>
        </p:spPr>
      </p:pic>
      <p:pic>
        <p:nvPicPr>
          <p:cNvPr id="108" name="Picture 107" descr="lock.png"/>
          <p:cNvPicPr>
            <a:picLocks noChangeAspect="1"/>
          </p:cNvPicPr>
          <p:nvPr/>
        </p:nvPicPr>
        <p:blipFill>
          <a:blip r:embed="rId4"/>
          <a:stretch>
            <a:fillRect/>
          </a:stretch>
        </p:blipFill>
        <p:spPr>
          <a:xfrm>
            <a:off x="6902235" y="1664279"/>
            <a:ext cx="128699" cy="187198"/>
          </a:xfrm>
          <a:prstGeom prst="rect">
            <a:avLst/>
          </a:prstGeom>
        </p:spPr>
      </p:pic>
      <p:pic>
        <p:nvPicPr>
          <p:cNvPr id="109" name="Picture 108" descr="lock.png"/>
          <p:cNvPicPr>
            <a:picLocks noChangeAspect="1"/>
          </p:cNvPicPr>
          <p:nvPr/>
        </p:nvPicPr>
        <p:blipFill>
          <a:blip r:embed="rId4"/>
          <a:stretch>
            <a:fillRect/>
          </a:stretch>
        </p:blipFill>
        <p:spPr>
          <a:xfrm>
            <a:off x="1058240" y="4253659"/>
            <a:ext cx="128699" cy="187198"/>
          </a:xfrm>
          <a:prstGeom prst="rect">
            <a:avLst/>
          </a:prstGeom>
        </p:spPr>
      </p:pic>
      <p:pic>
        <p:nvPicPr>
          <p:cNvPr id="110" name="Picture 109" descr="lock.png"/>
          <p:cNvPicPr>
            <a:picLocks noChangeAspect="1"/>
          </p:cNvPicPr>
          <p:nvPr/>
        </p:nvPicPr>
        <p:blipFill>
          <a:blip r:embed="rId4"/>
          <a:stretch>
            <a:fillRect/>
          </a:stretch>
        </p:blipFill>
        <p:spPr>
          <a:xfrm>
            <a:off x="2065168" y="4933411"/>
            <a:ext cx="128699" cy="187198"/>
          </a:xfrm>
          <a:prstGeom prst="rect">
            <a:avLst/>
          </a:prstGeom>
        </p:spPr>
      </p:pic>
      <p:pic>
        <p:nvPicPr>
          <p:cNvPr id="111" name="Picture 110" descr="lock.png"/>
          <p:cNvPicPr>
            <a:picLocks noChangeAspect="1"/>
          </p:cNvPicPr>
          <p:nvPr/>
        </p:nvPicPr>
        <p:blipFill>
          <a:blip r:embed="rId4"/>
          <a:stretch>
            <a:fillRect/>
          </a:stretch>
        </p:blipFill>
        <p:spPr>
          <a:xfrm>
            <a:off x="3072097" y="4420282"/>
            <a:ext cx="128699" cy="187198"/>
          </a:xfrm>
          <a:prstGeom prst="rect">
            <a:avLst/>
          </a:prstGeom>
        </p:spPr>
      </p:pic>
      <p:pic>
        <p:nvPicPr>
          <p:cNvPr id="112" name="Picture 111" descr="lock.png"/>
          <p:cNvPicPr>
            <a:picLocks noChangeAspect="1"/>
          </p:cNvPicPr>
          <p:nvPr/>
        </p:nvPicPr>
        <p:blipFill>
          <a:blip r:embed="rId4"/>
          <a:stretch>
            <a:fillRect/>
          </a:stretch>
        </p:blipFill>
        <p:spPr>
          <a:xfrm>
            <a:off x="4079026" y="4774620"/>
            <a:ext cx="128699" cy="187198"/>
          </a:xfrm>
          <a:prstGeom prst="rect">
            <a:avLst/>
          </a:prstGeom>
        </p:spPr>
      </p:pic>
      <p:pic>
        <p:nvPicPr>
          <p:cNvPr id="113" name="Picture 112" descr="lock.png"/>
          <p:cNvPicPr>
            <a:picLocks noChangeAspect="1"/>
          </p:cNvPicPr>
          <p:nvPr/>
        </p:nvPicPr>
        <p:blipFill>
          <a:blip r:embed="rId4"/>
          <a:stretch>
            <a:fillRect/>
          </a:stretch>
        </p:blipFill>
        <p:spPr>
          <a:xfrm>
            <a:off x="5085954" y="5535223"/>
            <a:ext cx="128699" cy="187198"/>
          </a:xfrm>
          <a:prstGeom prst="rect">
            <a:avLst/>
          </a:prstGeom>
        </p:spPr>
      </p:pic>
      <p:pic>
        <p:nvPicPr>
          <p:cNvPr id="114" name="Picture 113" descr="lock.png"/>
          <p:cNvPicPr>
            <a:picLocks noChangeAspect="1"/>
          </p:cNvPicPr>
          <p:nvPr/>
        </p:nvPicPr>
        <p:blipFill>
          <a:blip r:embed="rId4"/>
          <a:stretch>
            <a:fillRect/>
          </a:stretch>
        </p:blipFill>
        <p:spPr>
          <a:xfrm>
            <a:off x="6092883" y="5651426"/>
            <a:ext cx="128699" cy="187198"/>
          </a:xfrm>
          <a:prstGeom prst="rect">
            <a:avLst/>
          </a:prstGeom>
        </p:spPr>
      </p:pic>
      <p:pic>
        <p:nvPicPr>
          <p:cNvPr id="115" name="Picture 114" descr="lock.png"/>
          <p:cNvPicPr>
            <a:picLocks noChangeAspect="1"/>
          </p:cNvPicPr>
          <p:nvPr/>
        </p:nvPicPr>
        <p:blipFill>
          <a:blip r:embed="rId4"/>
          <a:stretch>
            <a:fillRect/>
          </a:stretch>
        </p:blipFill>
        <p:spPr>
          <a:xfrm>
            <a:off x="7099811" y="5182449"/>
            <a:ext cx="128699" cy="187198"/>
          </a:xfrm>
          <a:prstGeom prst="rect">
            <a:avLst/>
          </a:prstGeom>
        </p:spPr>
      </p:pic>
      <p:sp>
        <p:nvSpPr>
          <p:cNvPr id="116" name="TextBox 115"/>
          <p:cNvSpPr txBox="1"/>
          <p:nvPr/>
        </p:nvSpPr>
        <p:spPr>
          <a:xfrm>
            <a:off x="8048625" y="1471995"/>
            <a:ext cx="3726023" cy="194310"/>
          </a:xfrm>
          <a:prstGeom prst="rect">
            <a:avLst/>
          </a:prstGeom>
          <a:noFill/>
        </p:spPr>
        <p:txBody>
          <a:bodyPr wrap="none" lIns="0" rIns="0" tIns="0" bIns="0">
            <a:spAutoFit/>
          </a:bodyPr>
          <a:lstStyle/>
          <a:p>
            <a:r>
              <a:rPr sz="1150" b="0">
                <a:solidFill>
                  <a:srgbClr val="2E2E2E"/>
                </a:solidFill>
                <a:latin typeface="Calibri"/>
              </a:rPr>
              <a:t>Industrial and port vehicles segment is expected to command</a:t>
            </a:r>
          </a:p>
        </p:txBody>
      </p:sp>
      <p:sp>
        <p:nvSpPr>
          <p:cNvPr id="117" name="TextBox 116"/>
          <p:cNvSpPr txBox="1"/>
          <p:nvPr/>
        </p:nvSpPr>
        <p:spPr>
          <a:xfrm>
            <a:off x="8048625" y="1647255"/>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118" name="Picture 117" descr="lock.png"/>
          <p:cNvPicPr>
            <a:picLocks noChangeAspect="1"/>
          </p:cNvPicPr>
          <p:nvPr/>
        </p:nvPicPr>
        <p:blipFill>
          <a:blip r:embed="rId4"/>
          <a:stretch>
            <a:fillRect/>
          </a:stretch>
        </p:blipFill>
        <p:spPr>
          <a:xfrm>
            <a:off x="9996305" y="1637031"/>
            <a:ext cx="134549" cy="195707"/>
          </a:xfrm>
          <a:prstGeom prst="rect">
            <a:avLst/>
          </a:prstGeom>
        </p:spPr>
      </p:pic>
      <p:sp>
        <p:nvSpPr>
          <p:cNvPr id="119" name="TextBox 118"/>
          <p:cNvSpPr txBox="1"/>
          <p:nvPr/>
        </p:nvSpPr>
        <p:spPr>
          <a:xfrm>
            <a:off x="10171414"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120" name="TextBox 119"/>
          <p:cNvSpPr txBox="1"/>
          <p:nvPr/>
        </p:nvSpPr>
        <p:spPr>
          <a:xfrm>
            <a:off x="8048625" y="1822515"/>
            <a:ext cx="3335511" cy="194310"/>
          </a:xfrm>
          <a:prstGeom prst="rect">
            <a:avLst/>
          </a:prstGeom>
          <a:noFill/>
        </p:spPr>
        <p:txBody>
          <a:bodyPr wrap="none" lIns="0" rIns="0" tIns="0" bIns="0">
            <a:spAutoFit/>
          </a:bodyPr>
          <a:lstStyle/>
          <a:p>
            <a:r>
              <a:rPr sz="1150" b="0">
                <a:solidFill>
                  <a:srgbClr val="2E2E2E"/>
                </a:solidFill>
                <a:latin typeface="Calibri"/>
              </a:rPr>
              <a:t>selling price of Off-Highway vehicle is estimated at US$</a:t>
            </a:r>
          </a:p>
        </p:txBody>
      </p:sp>
      <p:pic>
        <p:nvPicPr>
          <p:cNvPr id="121" name="Picture 120" descr="lock.png"/>
          <p:cNvPicPr>
            <a:picLocks noChangeAspect="1"/>
          </p:cNvPicPr>
          <p:nvPr/>
        </p:nvPicPr>
        <p:blipFill>
          <a:blip r:embed="rId4"/>
          <a:stretch>
            <a:fillRect/>
          </a:stretch>
        </p:blipFill>
        <p:spPr>
          <a:xfrm>
            <a:off x="11333290" y="1812291"/>
            <a:ext cx="134549" cy="195707"/>
          </a:xfrm>
          <a:prstGeom prst="rect">
            <a:avLst/>
          </a:prstGeom>
        </p:spPr>
      </p:pic>
      <p:sp>
        <p:nvSpPr>
          <p:cNvPr id="122" name="TextBox 121"/>
          <p:cNvSpPr txBox="1"/>
          <p:nvPr/>
        </p:nvSpPr>
        <p:spPr>
          <a:xfrm>
            <a:off x="11508399" y="182251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123" name="TextBox 122"/>
          <p:cNvSpPr txBox="1"/>
          <p:nvPr/>
        </p:nvSpPr>
        <p:spPr>
          <a:xfrm>
            <a:off x="8048625" y="1997775"/>
            <a:ext cx="3698924" cy="194310"/>
          </a:xfrm>
          <a:prstGeom prst="rect">
            <a:avLst/>
          </a:prstGeom>
          <a:noFill/>
        </p:spPr>
        <p:txBody>
          <a:bodyPr wrap="none" lIns="0" rIns="0" tIns="0" bIns="0">
            <a:spAutoFit/>
          </a:bodyPr>
          <a:lstStyle/>
          <a:p>
            <a:r>
              <a:rPr sz="1150" b="0">
                <a:solidFill>
                  <a:srgbClr val="2E2E2E"/>
                </a:solidFill>
                <a:latin typeface="Calibri"/>
              </a:rPr>
              <a:t>Unit in 2025 and is projected to remain broadly stable at US$</a:t>
            </a:r>
          </a:p>
        </p:txBody>
      </p:sp>
      <p:pic>
        <p:nvPicPr>
          <p:cNvPr id="124" name="Picture 123" descr="lock.png"/>
          <p:cNvPicPr>
            <a:picLocks noChangeAspect="1"/>
          </p:cNvPicPr>
          <p:nvPr/>
        </p:nvPicPr>
        <p:blipFill>
          <a:blip r:embed="rId4"/>
          <a:stretch>
            <a:fillRect/>
          </a:stretch>
        </p:blipFill>
        <p:spPr>
          <a:xfrm>
            <a:off x="8034545" y="2162811"/>
            <a:ext cx="134549" cy="195707"/>
          </a:xfrm>
          <a:prstGeom prst="rect">
            <a:avLst/>
          </a:prstGeom>
        </p:spPr>
      </p:pic>
      <p:sp>
        <p:nvSpPr>
          <p:cNvPr id="125" name="TextBox 124"/>
          <p:cNvSpPr txBox="1"/>
          <p:nvPr/>
        </p:nvSpPr>
        <p:spPr>
          <a:xfrm>
            <a:off x="8209654"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26" name="TextBox 125"/>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27" name="TextBox 126"/>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28" name="TextBox 127"/>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29" name="Picture 128" descr="lock.png"/>
          <p:cNvPicPr>
            <a:picLocks noChangeAspect="1"/>
          </p:cNvPicPr>
          <p:nvPr/>
        </p:nvPicPr>
        <p:blipFill>
          <a:blip r:embed="rId4"/>
          <a:stretch>
            <a:fillRect/>
          </a:stretch>
        </p:blipFill>
        <p:spPr>
          <a:xfrm>
            <a:off x="8524680" y="2741169"/>
            <a:ext cx="134549" cy="195707"/>
          </a:xfrm>
          <a:prstGeom prst="rect">
            <a:avLst/>
          </a:prstGeom>
        </p:spPr>
      </p:pic>
      <p:sp>
        <p:nvSpPr>
          <p:cNvPr id="130" name="TextBox 129"/>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4 of 7 regions price above and 3 below.</a:t>
            </a:r>
          </a:p>
        </p:txBody>
      </p:sp>
      <p:sp>
        <p:nvSpPr>
          <p:cNvPr id="131" name="TextBox 130"/>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32" name="Picture 131" descr="lock.png"/>
          <p:cNvPicPr>
            <a:picLocks noChangeAspect="1"/>
          </p:cNvPicPr>
          <p:nvPr/>
        </p:nvPicPr>
        <p:blipFill>
          <a:blip r:embed="rId4"/>
          <a:stretch>
            <a:fillRect/>
          </a:stretch>
        </p:blipFill>
        <p:spPr>
          <a:xfrm>
            <a:off x="10105842" y="2969007"/>
            <a:ext cx="134549" cy="195707"/>
          </a:xfrm>
          <a:prstGeom prst="rect">
            <a:avLst/>
          </a:prstGeom>
        </p:spPr>
      </p:pic>
      <p:sp>
        <p:nvSpPr>
          <p:cNvPr id="133" name="TextBox 132"/>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34" name="TextBox 133"/>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35" name="Picture 134" descr="lock.png"/>
          <p:cNvPicPr>
            <a:picLocks noChangeAspect="1"/>
          </p:cNvPicPr>
          <p:nvPr/>
        </p:nvPicPr>
        <p:blipFill>
          <a:blip r:embed="rId4"/>
          <a:stretch>
            <a:fillRect/>
          </a:stretch>
        </p:blipFill>
        <p:spPr>
          <a:xfrm>
            <a:off x="9651433" y="3144267"/>
            <a:ext cx="134549" cy="195707"/>
          </a:xfrm>
          <a:prstGeom prst="rect">
            <a:avLst/>
          </a:prstGeom>
        </p:spPr>
      </p:pic>
      <p:sp>
        <p:nvSpPr>
          <p:cNvPr id="136" name="TextBox 135"/>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37" name="TextBox 136"/>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959,300</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1,531,700</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4.8%</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7512844"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3991062" y="5157531"/>
            <a:ext cx="289830" cy="421571"/>
          </a:xfrm>
          <a:prstGeom prst="rect">
            <a:avLst/>
          </a:prstGeom>
        </p:spPr>
      </p:pic>
      <p:sp>
        <p:nvSpPr>
          <p:cNvPr id="29" name="TextBox 28"/>
          <p:cNvSpPr txBox="1"/>
          <p:nvPr/>
        </p:nvSpPr>
        <p:spPr>
          <a:xfrm>
            <a:off x="8048625" y="2046987"/>
            <a:ext cx="3105025" cy="194310"/>
          </a:xfrm>
          <a:prstGeom prst="rect">
            <a:avLst/>
          </a:prstGeom>
          <a:noFill/>
        </p:spPr>
        <p:txBody>
          <a:bodyPr wrap="none" lIns="0" rIns="0" tIns="0" bIns="0">
            <a:spAutoFit/>
          </a:bodyPr>
          <a:lstStyle/>
          <a:p>
            <a:r>
              <a:rPr sz="1150" b="0">
                <a:solidFill>
                  <a:srgbClr val="2E2E2E"/>
                </a:solidFill>
                <a:latin typeface="Calibri"/>
              </a:rPr>
              <a:t>Off-Highway vehicle market is projected to register</a:t>
            </a:r>
          </a:p>
        </p:txBody>
      </p:sp>
      <p:pic>
        <p:nvPicPr>
          <p:cNvPr id="30" name="Picture 29" descr="lock.png"/>
          <p:cNvPicPr>
            <a:picLocks noChangeAspect="1"/>
          </p:cNvPicPr>
          <p:nvPr/>
        </p:nvPicPr>
        <p:blipFill>
          <a:blip r:embed="rId6"/>
          <a:stretch>
            <a:fillRect/>
          </a:stretch>
        </p:blipFill>
        <p:spPr>
          <a:xfrm>
            <a:off x="11102804" y="2036763"/>
            <a:ext cx="134549" cy="195707"/>
          </a:xfrm>
          <a:prstGeom prst="rect">
            <a:avLst/>
          </a:prstGeom>
        </p:spPr>
      </p:pic>
      <p:sp>
        <p:nvSpPr>
          <p:cNvPr id="31" name="TextBox 30"/>
          <p:cNvSpPr txBox="1"/>
          <p:nvPr/>
        </p:nvSpPr>
        <p:spPr>
          <a:xfrm>
            <a:off x="11277914"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2" name="TextBox 31"/>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3" name="TextBox 32"/>
          <p:cNvSpPr txBox="1"/>
          <p:nvPr/>
        </p:nvSpPr>
        <p:spPr>
          <a:xfrm>
            <a:off x="8048625" y="2397507"/>
            <a:ext cx="3768241" cy="194310"/>
          </a:xfrm>
          <a:prstGeom prst="rect">
            <a:avLst/>
          </a:prstGeom>
          <a:noFill/>
        </p:spPr>
        <p:txBody>
          <a:bodyPr wrap="none" lIns="0" rIns="0" tIns="0" bIns="0">
            <a:spAutoFit/>
          </a:bodyPr>
          <a:lstStyle/>
          <a:p>
            <a:r>
              <a:rPr sz="1150" b="0">
                <a:solidFill>
                  <a:srgbClr val="2E2E2E"/>
                </a:solidFill>
                <a:latin typeface="Calibri"/>
              </a:rPr>
              <a:t>Global Off-Highway vehicle market is expected to be valued at</a:t>
            </a:r>
          </a:p>
        </p:txBody>
      </p:sp>
      <p:sp>
        <p:nvSpPr>
          <p:cNvPr id="34" name="TextBox 33"/>
          <p:cNvSpPr txBox="1"/>
          <p:nvPr/>
        </p:nvSpPr>
        <p:spPr>
          <a:xfrm>
            <a:off x="8048625" y="2572767"/>
            <a:ext cx="1973138" cy="194310"/>
          </a:xfrm>
          <a:prstGeom prst="rect">
            <a:avLst/>
          </a:prstGeom>
          <a:noFill/>
        </p:spPr>
        <p:txBody>
          <a:bodyPr wrap="none" lIns="0" rIns="0" tIns="0" bIns="0">
            <a:spAutoFit/>
          </a:bodyPr>
          <a:lstStyle/>
          <a:p>
            <a:r>
              <a:rPr sz="1150" b="0">
                <a:solidFill>
                  <a:srgbClr val="2E2E2E"/>
                </a:solidFill>
                <a:latin typeface="Calibri"/>
              </a:rPr>
              <a:t>US$ 1,531,700 Mn by 2036 end.</a:t>
            </a:r>
          </a:p>
        </p:txBody>
      </p:sp>
      <p:sp>
        <p:nvSpPr>
          <p:cNvPr id="35" name="TextBox 34"/>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6" name="Picture 35" descr="lock.png"/>
          <p:cNvPicPr>
            <a:picLocks noChangeAspect="1"/>
          </p:cNvPicPr>
          <p:nvPr/>
        </p:nvPicPr>
        <p:blipFill>
          <a:blip r:embed="rId6"/>
          <a:stretch>
            <a:fillRect/>
          </a:stretch>
        </p:blipFill>
        <p:spPr>
          <a:xfrm>
            <a:off x="8034545" y="2965641"/>
            <a:ext cx="134549" cy="195707"/>
          </a:xfrm>
          <a:prstGeom prst="rect">
            <a:avLst/>
          </a:prstGeom>
        </p:spPr>
      </p:pic>
      <p:sp>
        <p:nvSpPr>
          <p:cNvPr id="37" name="TextBox 36"/>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38" name="TextBox 3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39" name="Picture 38" descr="lock.png"/>
          <p:cNvPicPr>
            <a:picLocks noChangeAspect="1"/>
          </p:cNvPicPr>
          <p:nvPr/>
        </p:nvPicPr>
        <p:blipFill>
          <a:blip r:embed="rId6"/>
          <a:stretch>
            <a:fillRect/>
          </a:stretch>
        </p:blipFill>
        <p:spPr>
          <a:xfrm>
            <a:off x="10866614" y="4446251"/>
            <a:ext cx="134549" cy="195707"/>
          </a:xfrm>
          <a:prstGeom prst="rect">
            <a:avLst/>
          </a:prstGeom>
        </p:spPr>
      </p:pic>
      <p:sp>
        <p:nvSpPr>
          <p:cNvPr id="40" name="TextBox 3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1" name="TextBox 40"/>
          <p:cNvSpPr txBox="1"/>
          <p:nvPr/>
        </p:nvSpPr>
        <p:spPr>
          <a:xfrm>
            <a:off x="8048625" y="4684312"/>
            <a:ext cx="3706055" cy="194310"/>
          </a:xfrm>
          <a:prstGeom prst="rect">
            <a:avLst/>
          </a:prstGeom>
          <a:noFill/>
        </p:spPr>
        <p:txBody>
          <a:bodyPr wrap="none" lIns="0" rIns="0" tIns="0" bIns="0">
            <a:spAutoFit/>
          </a:bodyPr>
          <a:lstStyle/>
          <a:p>
            <a:r>
              <a:rPr sz="1150" b="0">
                <a:solidFill>
                  <a:srgbClr val="2E2E2E"/>
                </a:solidFill>
                <a:latin typeface="Calibri"/>
              </a:rPr>
              <a:t>▪ Demand concentrates in 'Construction and Mining Vehicles'</a:t>
            </a:r>
          </a:p>
        </p:txBody>
      </p:sp>
      <p:sp>
        <p:nvSpPr>
          <p:cNvPr id="42" name="TextBox 41"/>
          <p:cNvSpPr txBox="1"/>
          <p:nvPr/>
        </p:nvSpPr>
        <p:spPr>
          <a:xfrm>
            <a:off x="8048625" y="4859572"/>
            <a:ext cx="1274836" cy="194310"/>
          </a:xfrm>
          <a:prstGeom prst="rect">
            <a:avLst/>
          </a:prstGeom>
          <a:noFill/>
        </p:spPr>
        <p:txBody>
          <a:bodyPr wrap="none" lIns="0" rIns="0" tIns="0" bIns="0">
            <a:spAutoFit/>
          </a:bodyPr>
          <a:lstStyle/>
          <a:p>
            <a:r>
              <a:rPr sz="1150" b="0">
                <a:solidFill>
                  <a:srgbClr val="2E2E2E"/>
                </a:solidFill>
                <a:latin typeface="Calibri"/>
              </a:rPr>
              <a:t>within Vehicle Type.</a:t>
            </a:r>
          </a:p>
        </p:txBody>
      </p:sp>
      <p:sp>
        <p:nvSpPr>
          <p:cNvPr id="43" name="TextBox 42"/>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44" name="TextBox 43"/>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45"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7" name="Rounded Rectangle 6"/>
          <p:cNvSpPr/>
          <p:nvPr/>
        </p:nvSpPr>
        <p:spPr>
          <a:xfrm>
            <a:off x="142875" y="981075"/>
            <a:ext cx="4695825"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9" name="Chart 8"/>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71750"/>
          </a:xfrm>
          <a:prstGeom prst="roundRect">
            <a:avLst>
              <a:gd name="adj" fmla="val 29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2" name="Chart 11"/>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86175"/>
            <a:ext cx="25146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4.8%</a:t>
            </a:r>
          </a:p>
        </p:txBody>
      </p:sp>
      <p:sp>
        <p:nvSpPr>
          <p:cNvPr id="15" name="Rounded Rectangle 14"/>
          <p:cNvSpPr/>
          <p:nvPr/>
        </p:nvSpPr>
        <p:spPr>
          <a:xfrm>
            <a:off x="54768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86175"/>
            <a:ext cx="3200400" cy="7334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552950"/>
            <a:ext cx="11906250" cy="2057400"/>
          </a:xfrm>
          <a:prstGeom prst="roundRect">
            <a:avLst>
              <a:gd name="adj" fmla="val 370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&amp; Value Analysis</a:t>
            </a:r>
          </a:p>
        </p:txBody>
      </p:sp>
      <p:sp>
        <p:nvSpPr>
          <p:cNvPr id="19" name="Rectangle 18"/>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3894" y="2050946"/>
            <a:ext cx="205327" cy="298657"/>
          </a:xfrm>
          <a:prstGeom prst="rect">
            <a:avLst/>
          </a:prstGeom>
        </p:spPr>
      </p:pic>
      <p:pic>
        <p:nvPicPr>
          <p:cNvPr id="24" name="Picture 23" descr="lock.png"/>
          <p:cNvPicPr>
            <a:picLocks noChangeAspect="1"/>
          </p:cNvPicPr>
          <p:nvPr/>
        </p:nvPicPr>
        <p:blipFill>
          <a:blip r:embed="rId6"/>
          <a:stretch>
            <a:fillRect/>
          </a:stretch>
        </p:blipFill>
        <p:spPr>
          <a:xfrm>
            <a:off x="8530846" y="2011501"/>
            <a:ext cx="259564" cy="377547"/>
          </a:xfrm>
          <a:prstGeom prst="rect">
            <a:avLst/>
          </a:prstGeom>
        </p:spPr>
      </p:pic>
      <p:pic>
        <p:nvPicPr>
          <p:cNvPr id="25" name="Picture 24" descr="lock.png"/>
          <p:cNvPicPr>
            <a:picLocks noChangeAspect="1"/>
          </p:cNvPicPr>
          <p:nvPr/>
        </p:nvPicPr>
        <p:blipFill>
          <a:blip r:embed="rId6"/>
          <a:stretch>
            <a:fillRect/>
          </a:stretch>
        </p:blipFill>
        <p:spPr>
          <a:xfrm>
            <a:off x="1321594" y="4022407"/>
            <a:ext cx="157162" cy="228600"/>
          </a:xfrm>
          <a:prstGeom prst="rect">
            <a:avLst/>
          </a:prstGeom>
        </p:spPr>
      </p:pic>
      <p:pic>
        <p:nvPicPr>
          <p:cNvPr id="26" name="Picture 25" descr="lock.png"/>
          <p:cNvPicPr>
            <a:picLocks noChangeAspect="1"/>
          </p:cNvPicPr>
          <p:nvPr/>
        </p:nvPicPr>
        <p:blipFill>
          <a:blip r:embed="rId6"/>
          <a:stretch>
            <a:fillRect/>
          </a:stretch>
        </p:blipFill>
        <p:spPr>
          <a:xfrm>
            <a:off x="6998494" y="4022407"/>
            <a:ext cx="157162" cy="228600"/>
          </a:xfrm>
          <a:prstGeom prst="rect">
            <a:avLst/>
          </a:prstGeom>
        </p:spPr>
      </p:pic>
      <p:pic>
        <p:nvPicPr>
          <p:cNvPr id="27" name="Picture 26" descr="lock.png"/>
          <p:cNvPicPr>
            <a:picLocks noChangeAspect="1"/>
          </p:cNvPicPr>
          <p:nvPr/>
        </p:nvPicPr>
        <p:blipFill>
          <a:blip r:embed="rId6"/>
          <a:stretch>
            <a:fillRect/>
          </a:stretch>
        </p:blipFill>
        <p:spPr>
          <a:xfrm>
            <a:off x="10351294" y="4022407"/>
            <a:ext cx="157162" cy="228600"/>
          </a:xfrm>
          <a:prstGeom prst="rect">
            <a:avLst/>
          </a:prstGeom>
        </p:spPr>
      </p:pic>
      <p:sp>
        <p:nvSpPr>
          <p:cNvPr id="28" name="TextBox 27"/>
          <p:cNvSpPr txBox="1"/>
          <p:nvPr/>
        </p:nvSpPr>
        <p:spPr>
          <a:xfrm>
            <a:off x="276225" y="4972050"/>
            <a:ext cx="3105025" cy="194310"/>
          </a:xfrm>
          <a:prstGeom prst="rect">
            <a:avLst/>
          </a:prstGeom>
          <a:noFill/>
        </p:spPr>
        <p:txBody>
          <a:bodyPr wrap="none" lIns="0" rIns="0" tIns="0" bIns="0">
            <a:spAutoFit/>
          </a:bodyPr>
          <a:lstStyle/>
          <a:p>
            <a:r>
              <a:rPr sz="1150" b="0">
                <a:solidFill>
                  <a:srgbClr val="2E2E2E"/>
                </a:solidFill>
                <a:latin typeface="Calibri"/>
              </a:rPr>
              <a:t>Off-Highway vehicle market is projected to register</a:t>
            </a:r>
          </a:p>
        </p:txBody>
      </p:sp>
      <p:pic>
        <p:nvPicPr>
          <p:cNvPr id="29" name="Picture 28" descr="lock.png"/>
          <p:cNvPicPr>
            <a:picLocks noChangeAspect="1"/>
          </p:cNvPicPr>
          <p:nvPr/>
        </p:nvPicPr>
        <p:blipFill>
          <a:blip r:embed="rId6"/>
          <a:stretch>
            <a:fillRect/>
          </a:stretch>
        </p:blipFill>
        <p:spPr>
          <a:xfrm>
            <a:off x="3330404" y="4961826"/>
            <a:ext cx="134549" cy="195707"/>
          </a:xfrm>
          <a:prstGeom prst="rect">
            <a:avLst/>
          </a:prstGeom>
        </p:spPr>
      </p:pic>
      <p:sp>
        <p:nvSpPr>
          <p:cNvPr id="30" name="TextBox 29"/>
          <p:cNvSpPr txBox="1"/>
          <p:nvPr/>
        </p:nvSpPr>
        <p:spPr>
          <a:xfrm>
            <a:off x="3505514" y="4972050"/>
            <a:ext cx="8299499"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Off-Highway vehicle market is expected to be valued at US$ 1,531,700</a:t>
            </a:r>
          </a:p>
        </p:txBody>
      </p:sp>
      <p:sp>
        <p:nvSpPr>
          <p:cNvPr id="31" name="TextBox 30"/>
          <p:cNvSpPr txBox="1"/>
          <p:nvPr/>
        </p:nvSpPr>
        <p:spPr>
          <a:xfrm>
            <a:off x="276225" y="514731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2" name="TextBox 31"/>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3" name="Picture 32" descr="lock.png"/>
          <p:cNvPicPr>
            <a:picLocks noChangeAspect="1"/>
          </p:cNvPicPr>
          <p:nvPr/>
        </p:nvPicPr>
        <p:blipFill>
          <a:blip r:embed="rId6"/>
          <a:stretch>
            <a:fillRect/>
          </a:stretch>
        </p:blipFill>
        <p:spPr>
          <a:xfrm>
            <a:off x="4037834" y="5364924"/>
            <a:ext cx="134549" cy="195707"/>
          </a:xfrm>
          <a:prstGeom prst="rect">
            <a:avLst/>
          </a:prstGeom>
        </p:spPr>
      </p:pic>
      <p:sp>
        <p:nvSpPr>
          <p:cNvPr id="34" name="TextBox 33"/>
          <p:cNvSpPr txBox="1"/>
          <p:nvPr/>
        </p:nvSpPr>
        <p:spPr>
          <a:xfrm>
            <a:off x="4212943" y="5375147"/>
            <a:ext cx="4933788" cy="194310"/>
          </a:xfrm>
          <a:prstGeom prst="rect">
            <a:avLst/>
          </a:prstGeom>
          <a:noFill/>
        </p:spPr>
        <p:txBody>
          <a:bodyPr wrap="none" lIns="0" rIns="0" tIns="0" bIns="0">
            <a:spAutoFit/>
          </a:bodyPr>
          <a:lstStyle/>
          <a:p>
            <a:r>
              <a:rPr sz="1150" b="0">
                <a:solidFill>
                  <a:srgbClr val="2E2E2E"/>
                </a:solidFill>
                <a:latin typeface="Calibri"/>
              </a:rPr>
              <a:t>Mn from 2025 to 2036. Global Off-Highway vehicle market is projected to register</a:t>
            </a:r>
          </a:p>
        </p:txBody>
      </p:sp>
      <p:pic>
        <p:nvPicPr>
          <p:cNvPr id="35" name="Picture 34" descr="lock.png"/>
          <p:cNvPicPr>
            <a:picLocks noChangeAspect="1"/>
          </p:cNvPicPr>
          <p:nvPr/>
        </p:nvPicPr>
        <p:blipFill>
          <a:blip r:embed="rId6"/>
          <a:stretch>
            <a:fillRect/>
          </a:stretch>
        </p:blipFill>
        <p:spPr>
          <a:xfrm>
            <a:off x="9095886" y="5364924"/>
            <a:ext cx="134549" cy="195707"/>
          </a:xfrm>
          <a:prstGeom prst="rect">
            <a:avLst/>
          </a:prstGeom>
        </p:spPr>
      </p:pic>
      <p:sp>
        <p:nvSpPr>
          <p:cNvPr id="36" name="TextBox 35"/>
          <p:cNvSpPr txBox="1"/>
          <p:nvPr/>
        </p:nvSpPr>
        <p:spPr>
          <a:xfrm>
            <a:off x="9270995"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37" name="TextBox 36"/>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38" name="TextBox 37"/>
          <p:cNvSpPr txBox="1"/>
          <p:nvPr/>
        </p:nvSpPr>
        <p:spPr>
          <a:xfrm>
            <a:off x="276225" y="5778245"/>
            <a:ext cx="3140682" cy="194310"/>
          </a:xfrm>
          <a:prstGeom prst="rect">
            <a:avLst/>
          </a:prstGeom>
          <a:noFill/>
        </p:spPr>
        <p:txBody>
          <a:bodyPr wrap="none" lIns="0" rIns="0" tIns="0" bIns="0">
            <a:spAutoFit/>
          </a:bodyPr>
          <a:lstStyle/>
          <a:p>
            <a:r>
              <a:rPr sz="1150" b="0">
                <a:solidFill>
                  <a:srgbClr val="2E2E2E"/>
                </a:solidFill>
                <a:latin typeface="Calibri"/>
              </a:rPr>
              <a:t>Global Off-Highway vehicle market volume stood at</a:t>
            </a:r>
          </a:p>
        </p:txBody>
      </p:sp>
      <p:pic>
        <p:nvPicPr>
          <p:cNvPr id="39" name="Picture 38" descr="lock.png"/>
          <p:cNvPicPr>
            <a:picLocks noChangeAspect="1"/>
          </p:cNvPicPr>
          <p:nvPr/>
        </p:nvPicPr>
        <p:blipFill>
          <a:blip r:embed="rId6"/>
          <a:stretch>
            <a:fillRect/>
          </a:stretch>
        </p:blipFill>
        <p:spPr>
          <a:xfrm>
            <a:off x="3366061" y="5768022"/>
            <a:ext cx="134549" cy="195707"/>
          </a:xfrm>
          <a:prstGeom prst="rect">
            <a:avLst/>
          </a:prstGeom>
        </p:spPr>
      </p:pic>
      <p:sp>
        <p:nvSpPr>
          <p:cNvPr id="40" name="TextBox 39"/>
          <p:cNvSpPr txBox="1"/>
          <p:nvPr/>
        </p:nvSpPr>
        <p:spPr>
          <a:xfrm>
            <a:off x="3541170" y="577824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41" name="Picture 40" descr="lock.png"/>
          <p:cNvPicPr>
            <a:picLocks noChangeAspect="1"/>
          </p:cNvPicPr>
          <p:nvPr/>
        </p:nvPicPr>
        <p:blipFill>
          <a:blip r:embed="rId6"/>
          <a:stretch>
            <a:fillRect/>
          </a:stretch>
        </p:blipFill>
        <p:spPr>
          <a:xfrm>
            <a:off x="5834008" y="5768022"/>
            <a:ext cx="134549" cy="195707"/>
          </a:xfrm>
          <a:prstGeom prst="rect">
            <a:avLst/>
          </a:prstGeom>
        </p:spPr>
      </p:pic>
      <p:sp>
        <p:nvSpPr>
          <p:cNvPr id="42" name="TextBox 41"/>
          <p:cNvSpPr txBox="1"/>
          <p:nvPr/>
        </p:nvSpPr>
        <p:spPr>
          <a:xfrm>
            <a:off x="6009117" y="577824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43" name="Picture 42" descr="lock.png"/>
          <p:cNvPicPr>
            <a:picLocks noChangeAspect="1"/>
          </p:cNvPicPr>
          <p:nvPr/>
        </p:nvPicPr>
        <p:blipFill>
          <a:blip r:embed="rId6"/>
          <a:stretch>
            <a:fillRect/>
          </a:stretch>
        </p:blipFill>
        <p:spPr>
          <a:xfrm>
            <a:off x="7922834" y="5768022"/>
            <a:ext cx="134549" cy="195707"/>
          </a:xfrm>
          <a:prstGeom prst="rect">
            <a:avLst/>
          </a:prstGeom>
        </p:spPr>
      </p:pic>
      <p:sp>
        <p:nvSpPr>
          <p:cNvPr id="44" name="TextBox 43"/>
          <p:cNvSpPr txBox="1"/>
          <p:nvPr/>
        </p:nvSpPr>
        <p:spPr>
          <a:xfrm>
            <a:off x="8097943" y="5778245"/>
            <a:ext cx="3395699"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 the</a:t>
            </a:r>
          </a:p>
        </p:txBody>
      </p:sp>
      <p:sp>
        <p:nvSpPr>
          <p:cNvPr id="45" name="TextBox 44"/>
          <p:cNvSpPr txBox="1"/>
          <p:nvPr/>
        </p:nvSpPr>
        <p:spPr>
          <a:xfrm>
            <a:off x="276225" y="5953505"/>
            <a:ext cx="3701206" cy="194310"/>
          </a:xfrm>
          <a:prstGeom prst="rect">
            <a:avLst/>
          </a:prstGeom>
          <a:noFill/>
        </p:spPr>
        <p:txBody>
          <a:bodyPr wrap="none" lIns="0" rIns="0" tIns="0" bIns="0">
            <a:spAutoFit/>
          </a:bodyPr>
          <a:lstStyle/>
          <a:p>
            <a:r>
              <a:rPr sz="1150" b="0">
                <a:solidFill>
                  <a:srgbClr val="2E2E2E"/>
                </a:solidFill>
                <a:latin typeface="Calibri"/>
              </a:rPr>
              <a:t>forecast period, owing to an increase in average selling price.</a:t>
            </a:r>
          </a:p>
        </p:txBody>
      </p:sp>
      <p:sp>
        <p:nvSpPr>
          <p:cNvPr id="46" name="lockshield_9"/>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12"/>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Summary Country Indices (Value)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27746" cy="213207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Chile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77189">
                <a:tc>
                  <a:txBody>
                    <a:bodyPr wrap="none"/>
                    <a:lstStyle/>
                    <a:p>
                      <a:pPr algn="l"/>
                      <a:r>
                        <a:rPr sz="1100" b="1">
                          <a:solidFill>
                            <a:srgbClr val="2E2E2E"/>
                          </a:solidFill>
                          <a:latin typeface="Calibri"/>
                        </a:rPr>
                        <a:t>Poland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2523950" cy="1794080"/>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6734000" y="1293011"/>
            <a:ext cx="1219375" cy="1794080"/>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7" name="Rectangle 16"/>
          <p:cNvSpPr/>
          <p:nvPr/>
        </p:nvSpPr>
        <p:spPr>
          <a:xfrm>
            <a:off x="4210050" y="3087091"/>
            <a:ext cx="1452626" cy="1407612"/>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8" name="Rectangle 17"/>
          <p:cNvSpPr/>
          <p:nvPr/>
        </p:nvSpPr>
        <p:spPr>
          <a:xfrm>
            <a:off x="4210050" y="4494703"/>
            <a:ext cx="1452626" cy="1383906"/>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9" name="Rectangle 18"/>
          <p:cNvSpPr/>
          <p:nvPr/>
        </p:nvSpPr>
        <p:spPr>
          <a:xfrm>
            <a:off x="5662676" y="3087091"/>
            <a:ext cx="1148173" cy="1260029"/>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0" name="Rectangle 19"/>
          <p:cNvSpPr/>
          <p:nvPr/>
        </p:nvSpPr>
        <p:spPr>
          <a:xfrm>
            <a:off x="6810849" y="3087091"/>
            <a:ext cx="1142526" cy="1260029"/>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Mexico</a:t>
            </a:r>
          </a:p>
          <a:p>
            <a:pPr algn="ctr"/>
            <a:r>
              <a:rPr sz="1100" b="0">
                <a:solidFill>
                  <a:srgbClr val="2E2E2E"/>
                </a:solidFill>
                <a:latin typeface="Calibri"/>
              </a:rPr>
              <a:t> </a:t>
            </a:r>
          </a:p>
        </p:txBody>
      </p:sp>
      <p:sp>
        <p:nvSpPr>
          <p:cNvPr id="21" name="Rectangle 20"/>
          <p:cNvSpPr/>
          <p:nvPr/>
        </p:nvSpPr>
        <p:spPr>
          <a:xfrm>
            <a:off x="5662676" y="4347120"/>
            <a:ext cx="1182619" cy="786238"/>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Kingdom of Saudi Arabia</a:t>
            </a:r>
          </a:p>
          <a:p>
            <a:pPr algn="ctr"/>
            <a:r>
              <a:rPr sz="1100" b="0">
                <a:solidFill>
                  <a:srgbClr val="FFFFFF"/>
                </a:solidFill>
                <a:latin typeface="Calibri"/>
              </a:rPr>
              <a:t> </a:t>
            </a:r>
          </a:p>
        </p:txBody>
      </p:sp>
      <p:sp>
        <p:nvSpPr>
          <p:cNvPr id="22" name="Rectangle 21"/>
          <p:cNvSpPr/>
          <p:nvPr/>
        </p:nvSpPr>
        <p:spPr>
          <a:xfrm>
            <a:off x="5662676" y="5133358"/>
            <a:ext cx="1182619" cy="745251"/>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23" name="Rectangle 22"/>
          <p:cNvSpPr/>
          <p:nvPr/>
        </p:nvSpPr>
        <p:spPr>
          <a:xfrm>
            <a:off x="6845295" y="4347120"/>
            <a:ext cx="1108080" cy="780139"/>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Japan</a:t>
            </a:r>
          </a:p>
          <a:p>
            <a:pPr algn="ctr"/>
            <a:r>
              <a:rPr sz="1100" b="0">
                <a:solidFill>
                  <a:srgbClr val="2E2E2E"/>
                </a:solidFill>
                <a:latin typeface="Calibri"/>
              </a:rPr>
              <a:t> </a:t>
            </a:r>
          </a:p>
        </p:txBody>
      </p:sp>
      <p:sp>
        <p:nvSpPr>
          <p:cNvPr id="24" name="Rectangle 23"/>
          <p:cNvSpPr/>
          <p:nvPr/>
        </p:nvSpPr>
        <p:spPr>
          <a:xfrm>
            <a:off x="6845295" y="5127258"/>
            <a:ext cx="1108080" cy="751351"/>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ASEAN</a:t>
            </a:r>
          </a:p>
          <a:p>
            <a:pPr algn="ctr"/>
            <a:r>
              <a:rPr sz="1100" b="0">
                <a:solidFill>
                  <a:srgbClr val="2E2E2E"/>
                </a:solidFill>
                <a:latin typeface="Calibri"/>
              </a:rPr>
              <a:t> </a:t>
            </a:r>
          </a:p>
        </p:txBody>
      </p:sp>
      <p:sp>
        <p:nvSpPr>
          <p:cNvPr id="25" name="Rounded Rectangle 24"/>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7" name="Chart 26"/>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8" name="Rounded Rectangle 27"/>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9" name="Table 28"/>
          <p:cNvGraphicFramePr>
            <a:graphicFrameLocks noGrp="1"/>
          </p:cNvGraphicFramePr>
          <p:nvPr/>
        </p:nvGraphicFramePr>
        <p:xfrm>
          <a:off x="8096250" y="3547710"/>
          <a:ext cx="3928892" cy="2159451"/>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82665">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0" name="TextBox 29"/>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31" name="Rounded Rectangle 30"/>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6"/>
          <a:stretch>
            <a:fillRect/>
          </a:stretch>
        </p:blipFill>
        <p:spPr>
          <a:xfrm>
            <a:off x="3188017" y="2125483"/>
            <a:ext cx="183356" cy="266700"/>
          </a:xfrm>
          <a:prstGeom prst="rect">
            <a:avLst/>
          </a:prstGeom>
        </p:spPr>
      </p:pic>
      <p:pic>
        <p:nvPicPr>
          <p:cNvPr id="35" name="Picture 34" descr="lock.png"/>
          <p:cNvPicPr>
            <a:picLocks noChangeAspect="1"/>
          </p:cNvPicPr>
          <p:nvPr/>
        </p:nvPicPr>
        <p:blipFill>
          <a:blip r:embed="rId6"/>
          <a:stretch>
            <a:fillRect/>
          </a:stretch>
        </p:blipFill>
        <p:spPr>
          <a:xfrm>
            <a:off x="2266294" y="4499083"/>
            <a:ext cx="351971" cy="511958"/>
          </a:xfrm>
          <a:prstGeom prst="rect">
            <a:avLst/>
          </a:prstGeom>
        </p:spPr>
      </p:pic>
      <p:pic>
        <p:nvPicPr>
          <p:cNvPr id="36" name="Picture 35" descr="lock.png"/>
          <p:cNvPicPr>
            <a:picLocks noChangeAspect="1"/>
          </p:cNvPicPr>
          <p:nvPr/>
        </p:nvPicPr>
        <p:blipFill>
          <a:blip r:embed="rId6"/>
          <a:stretch>
            <a:fillRect/>
          </a:stretch>
        </p:blipFill>
        <p:spPr>
          <a:xfrm>
            <a:off x="5414399" y="2190051"/>
            <a:ext cx="115252" cy="167639"/>
          </a:xfrm>
          <a:prstGeom prst="rect">
            <a:avLst/>
          </a:prstGeom>
        </p:spPr>
      </p:pic>
      <p:pic>
        <p:nvPicPr>
          <p:cNvPr id="37" name="Picture 36" descr="lock.png"/>
          <p:cNvPicPr>
            <a:picLocks noChangeAspect="1"/>
          </p:cNvPicPr>
          <p:nvPr/>
        </p:nvPicPr>
        <p:blipFill>
          <a:blip r:embed="rId6"/>
          <a:stretch>
            <a:fillRect/>
          </a:stretch>
        </p:blipFill>
        <p:spPr>
          <a:xfrm>
            <a:off x="7286061" y="2190051"/>
            <a:ext cx="115252" cy="167639"/>
          </a:xfrm>
          <a:prstGeom prst="rect">
            <a:avLst/>
          </a:prstGeom>
        </p:spPr>
      </p:pic>
      <p:pic>
        <p:nvPicPr>
          <p:cNvPr id="38" name="Picture 37" descr="lock.png"/>
          <p:cNvPicPr>
            <a:picLocks noChangeAspect="1"/>
          </p:cNvPicPr>
          <p:nvPr/>
        </p:nvPicPr>
        <p:blipFill>
          <a:blip r:embed="rId6"/>
          <a:stretch>
            <a:fillRect/>
          </a:stretch>
        </p:blipFill>
        <p:spPr>
          <a:xfrm>
            <a:off x="4878737" y="3790897"/>
            <a:ext cx="115252" cy="167639"/>
          </a:xfrm>
          <a:prstGeom prst="rect">
            <a:avLst/>
          </a:prstGeom>
        </p:spPr>
      </p:pic>
      <p:pic>
        <p:nvPicPr>
          <p:cNvPr id="39" name="Picture 38" descr="lock.png"/>
          <p:cNvPicPr>
            <a:picLocks noChangeAspect="1"/>
          </p:cNvPicPr>
          <p:nvPr/>
        </p:nvPicPr>
        <p:blipFill>
          <a:blip r:embed="rId6"/>
          <a:stretch>
            <a:fillRect/>
          </a:stretch>
        </p:blipFill>
        <p:spPr>
          <a:xfrm>
            <a:off x="4878737" y="5186656"/>
            <a:ext cx="115252" cy="167639"/>
          </a:xfrm>
          <a:prstGeom prst="rect">
            <a:avLst/>
          </a:prstGeom>
        </p:spPr>
      </p:pic>
      <p:pic>
        <p:nvPicPr>
          <p:cNvPr id="40" name="Picture 39" descr="lock.png"/>
          <p:cNvPicPr>
            <a:picLocks noChangeAspect="1"/>
          </p:cNvPicPr>
          <p:nvPr/>
        </p:nvPicPr>
        <p:blipFill>
          <a:blip r:embed="rId6"/>
          <a:stretch>
            <a:fillRect/>
          </a:stretch>
        </p:blipFill>
        <p:spPr>
          <a:xfrm>
            <a:off x="6179136" y="3717105"/>
            <a:ext cx="115252" cy="167639"/>
          </a:xfrm>
          <a:prstGeom prst="rect">
            <a:avLst/>
          </a:prstGeom>
        </p:spPr>
      </p:pic>
      <p:pic>
        <p:nvPicPr>
          <p:cNvPr id="41" name="Picture 40" descr="lock.png"/>
          <p:cNvPicPr>
            <a:picLocks noChangeAspect="1"/>
          </p:cNvPicPr>
          <p:nvPr/>
        </p:nvPicPr>
        <p:blipFill>
          <a:blip r:embed="rId6"/>
          <a:stretch>
            <a:fillRect/>
          </a:stretch>
        </p:blipFill>
        <p:spPr>
          <a:xfrm>
            <a:off x="7324486" y="3717105"/>
            <a:ext cx="115252" cy="167639"/>
          </a:xfrm>
          <a:prstGeom prst="rect">
            <a:avLst/>
          </a:prstGeom>
        </p:spPr>
      </p:pic>
      <p:pic>
        <p:nvPicPr>
          <p:cNvPr id="42" name="Picture 41" descr="lock.png"/>
          <p:cNvPicPr>
            <a:picLocks noChangeAspect="1"/>
          </p:cNvPicPr>
          <p:nvPr/>
        </p:nvPicPr>
        <p:blipFill>
          <a:blip r:embed="rId6"/>
          <a:stretch>
            <a:fillRect/>
          </a:stretch>
        </p:blipFill>
        <p:spPr>
          <a:xfrm>
            <a:off x="6196359" y="4740239"/>
            <a:ext cx="115252" cy="167639"/>
          </a:xfrm>
          <a:prstGeom prst="rect">
            <a:avLst/>
          </a:prstGeom>
        </p:spPr>
      </p:pic>
      <p:pic>
        <p:nvPicPr>
          <p:cNvPr id="43" name="Picture 42" descr="lock.png"/>
          <p:cNvPicPr>
            <a:picLocks noChangeAspect="1"/>
          </p:cNvPicPr>
          <p:nvPr/>
        </p:nvPicPr>
        <p:blipFill>
          <a:blip r:embed="rId6"/>
          <a:stretch>
            <a:fillRect/>
          </a:stretch>
        </p:blipFill>
        <p:spPr>
          <a:xfrm>
            <a:off x="6196359" y="5505983"/>
            <a:ext cx="115252" cy="167639"/>
          </a:xfrm>
          <a:prstGeom prst="rect">
            <a:avLst/>
          </a:prstGeom>
        </p:spPr>
      </p:pic>
      <p:pic>
        <p:nvPicPr>
          <p:cNvPr id="44" name="Picture 43" descr="lock.png"/>
          <p:cNvPicPr>
            <a:picLocks noChangeAspect="1"/>
          </p:cNvPicPr>
          <p:nvPr/>
        </p:nvPicPr>
        <p:blipFill>
          <a:blip r:embed="rId6"/>
          <a:stretch>
            <a:fillRect/>
          </a:stretch>
        </p:blipFill>
        <p:spPr>
          <a:xfrm>
            <a:off x="7341709" y="4737189"/>
            <a:ext cx="115252" cy="167639"/>
          </a:xfrm>
          <a:prstGeom prst="rect">
            <a:avLst/>
          </a:prstGeom>
        </p:spPr>
      </p:pic>
      <p:pic>
        <p:nvPicPr>
          <p:cNvPr id="45" name="Picture 44" descr="lock.png"/>
          <p:cNvPicPr>
            <a:picLocks noChangeAspect="1"/>
          </p:cNvPicPr>
          <p:nvPr/>
        </p:nvPicPr>
        <p:blipFill>
          <a:blip r:embed="rId6"/>
          <a:stretch>
            <a:fillRect/>
          </a:stretch>
        </p:blipFill>
        <p:spPr>
          <a:xfrm>
            <a:off x="7341709" y="5502933"/>
            <a:ext cx="115252" cy="167639"/>
          </a:xfrm>
          <a:prstGeom prst="rect">
            <a:avLst/>
          </a:prstGeom>
        </p:spPr>
      </p:pic>
      <p:pic>
        <p:nvPicPr>
          <p:cNvPr id="46" name="Picture 45" descr="lock.png"/>
          <p:cNvPicPr>
            <a:picLocks noChangeAspect="1"/>
          </p:cNvPicPr>
          <p:nvPr/>
        </p:nvPicPr>
        <p:blipFill>
          <a:blip r:embed="rId6"/>
          <a:stretch>
            <a:fillRect/>
          </a:stretch>
        </p:blipFill>
        <p:spPr>
          <a:xfrm>
            <a:off x="11131867" y="2120920"/>
            <a:ext cx="183356" cy="266700"/>
          </a:xfrm>
          <a:prstGeom prst="rect">
            <a:avLst/>
          </a:prstGeom>
        </p:spPr>
      </p:pic>
      <p:pic>
        <p:nvPicPr>
          <p:cNvPr id="47" name="Picture 46" descr="lock.png"/>
          <p:cNvPicPr>
            <a:picLocks noChangeAspect="1"/>
          </p:cNvPicPr>
          <p:nvPr/>
        </p:nvPicPr>
        <p:blipFill>
          <a:blip r:embed="rId6"/>
          <a:stretch>
            <a:fillRect/>
          </a:stretch>
        </p:blipFill>
        <p:spPr>
          <a:xfrm>
            <a:off x="10175439" y="4490163"/>
            <a:ext cx="357960" cy="520669"/>
          </a:xfrm>
          <a:prstGeom prst="rect">
            <a:avLst/>
          </a:prstGeom>
        </p:spPr>
      </p:pic>
      <p:sp>
        <p:nvSpPr>
          <p:cNvPr id="48" name="TextBox 47"/>
          <p:cNvSpPr txBox="1"/>
          <p:nvPr/>
        </p:nvSpPr>
        <p:spPr>
          <a:xfrm>
            <a:off x="257175" y="6160574"/>
            <a:ext cx="3439641" cy="186689"/>
          </a:xfrm>
          <a:prstGeom prst="rect">
            <a:avLst/>
          </a:prstGeom>
          <a:noFill/>
        </p:spPr>
        <p:txBody>
          <a:bodyPr wrap="none" lIns="0" rIns="0" tIns="0" bIns="0">
            <a:spAutoFit/>
          </a:bodyPr>
          <a:lstStyle/>
          <a:p>
            <a:r>
              <a:rPr sz="1100" b="0">
                <a:solidFill>
                  <a:srgbClr val="2E2E2E"/>
                </a:solidFill>
                <a:latin typeface="Calibri"/>
              </a:rPr>
              <a:t>The U.S. off-highway vehicle market is projected to register</a:t>
            </a:r>
          </a:p>
        </p:txBody>
      </p:sp>
      <p:pic>
        <p:nvPicPr>
          <p:cNvPr id="49" name="Picture 48" descr="lock.png"/>
          <p:cNvPicPr>
            <a:picLocks noChangeAspect="1"/>
          </p:cNvPicPr>
          <p:nvPr/>
        </p:nvPicPr>
        <p:blipFill>
          <a:blip r:embed="rId6"/>
          <a:stretch>
            <a:fillRect/>
          </a:stretch>
        </p:blipFill>
        <p:spPr>
          <a:xfrm>
            <a:off x="3644867" y="6150795"/>
            <a:ext cx="128699" cy="187198"/>
          </a:xfrm>
          <a:prstGeom prst="rect">
            <a:avLst/>
          </a:prstGeom>
        </p:spPr>
      </p:pic>
      <p:sp>
        <p:nvSpPr>
          <p:cNvPr id="50" name="TextBox 49"/>
          <p:cNvSpPr txBox="1"/>
          <p:nvPr/>
        </p:nvSpPr>
        <p:spPr>
          <a:xfrm>
            <a:off x="3812363" y="6160574"/>
            <a:ext cx="4198970" cy="186689"/>
          </a:xfrm>
          <a:prstGeom prst="rect">
            <a:avLst/>
          </a:prstGeom>
          <a:noFill/>
        </p:spPr>
        <p:txBody>
          <a:bodyPr wrap="none" lIns="0" rIns="0" tIns="0" bIns="0">
            <a:spAutoFit/>
          </a:bodyPr>
          <a:lstStyle/>
          <a:p>
            <a:r>
              <a:rPr sz="1100" b="0">
                <a:solidFill>
                  <a:srgbClr val="2E2E2E"/>
                </a:solidFill>
                <a:latin typeface="Calibri"/>
              </a:rPr>
              <a:t>X higher value than Canada in 2036. India posts the highest CAGR Index (</a:t>
            </a:r>
          </a:p>
        </p:txBody>
      </p:sp>
      <p:pic>
        <p:nvPicPr>
          <p:cNvPr id="51" name="Picture 50" descr="lock.png"/>
          <p:cNvPicPr>
            <a:picLocks noChangeAspect="1"/>
          </p:cNvPicPr>
          <p:nvPr/>
        </p:nvPicPr>
        <p:blipFill>
          <a:blip r:embed="rId6"/>
          <a:stretch>
            <a:fillRect/>
          </a:stretch>
        </p:blipFill>
        <p:spPr>
          <a:xfrm>
            <a:off x="7959385" y="6150795"/>
            <a:ext cx="128699" cy="187198"/>
          </a:xfrm>
          <a:prstGeom prst="rect">
            <a:avLst/>
          </a:prstGeom>
        </p:spPr>
      </p:pic>
      <p:sp>
        <p:nvSpPr>
          <p:cNvPr id="52" name="TextBox 51"/>
          <p:cNvSpPr txBox="1"/>
          <p:nvPr/>
        </p:nvSpPr>
        <p:spPr>
          <a:xfrm>
            <a:off x="8126881"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3" name="Picture 52" descr="lock.png"/>
          <p:cNvPicPr>
            <a:picLocks noChangeAspect="1"/>
          </p:cNvPicPr>
          <p:nvPr/>
        </p:nvPicPr>
        <p:blipFill>
          <a:blip r:embed="rId6"/>
          <a:stretch>
            <a:fillRect/>
          </a:stretch>
        </p:blipFill>
        <p:spPr>
          <a:xfrm>
            <a:off x="8864912" y="6150795"/>
            <a:ext cx="128699" cy="187198"/>
          </a:xfrm>
          <a:prstGeom prst="rect">
            <a:avLst/>
          </a:prstGeom>
        </p:spPr>
      </p:pic>
      <p:sp>
        <p:nvSpPr>
          <p:cNvPr id="54" name="TextBox 53"/>
          <p:cNvSpPr txBox="1"/>
          <p:nvPr/>
        </p:nvSpPr>
        <p:spPr>
          <a:xfrm>
            <a:off x="9032408"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5" name="TextBox 54"/>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6" name="Picture 55" descr="lock.png"/>
          <p:cNvPicPr>
            <a:picLocks noChangeAspect="1"/>
          </p:cNvPicPr>
          <p:nvPr/>
        </p:nvPicPr>
        <p:blipFill>
          <a:blip r:embed="rId6"/>
          <a:stretch>
            <a:fillRect/>
          </a:stretch>
        </p:blipFill>
        <p:spPr>
          <a:xfrm>
            <a:off x="3785386" y="6318435"/>
            <a:ext cx="128699" cy="187198"/>
          </a:xfrm>
          <a:prstGeom prst="rect">
            <a:avLst/>
          </a:prstGeom>
        </p:spPr>
      </p:pic>
      <p:sp>
        <p:nvSpPr>
          <p:cNvPr id="57" name="TextBox 56"/>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58" name="Picture 57" descr="lock.png"/>
          <p:cNvPicPr>
            <a:picLocks noChangeAspect="1"/>
          </p:cNvPicPr>
          <p:nvPr/>
        </p:nvPicPr>
        <p:blipFill>
          <a:blip r:embed="rId6"/>
          <a:stretch>
            <a:fillRect/>
          </a:stretch>
        </p:blipFill>
        <p:spPr>
          <a:xfrm>
            <a:off x="7212880" y="6318435"/>
            <a:ext cx="128699" cy="187198"/>
          </a:xfrm>
          <a:prstGeom prst="rect">
            <a:avLst/>
          </a:prstGeom>
        </p:spPr>
      </p:pic>
      <p:sp>
        <p:nvSpPr>
          <p:cNvPr id="59" name="TextBox 58"/>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0"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27"/>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Summary Country Indices (Value)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9810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152400" y="1057275"/>
          <a:ext cx="11887200" cy="1485896"/>
        </p:xfrm>
        <a:graphic>
          <a:graphicData uri="http://schemas.openxmlformats.org/drawingml/2006/table">
            <a:tbl>
              <a:tblPr>
                <a:tableStyleId>{5C22544A-7EE6-4342-B048-85BDC9FD1C3A}</a:tableStyleId>
              </a:tblPr>
              <a:tblGrid>
                <a:gridCol w="1917762"/>
                <a:gridCol w="3323146"/>
                <a:gridCol w="3323146"/>
                <a:gridCol w="3323146"/>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Hungary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Turkiye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9" name="TextBox 8"/>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0" name="Rounded Rectangle 9"/>
          <p:cNvSpPr/>
          <p:nvPr/>
        </p:nvSpPr>
        <p:spPr>
          <a:xfrm>
            <a:off x="142875" y="290512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2981325"/>
          <a:ext cx="11887199" cy="1485896"/>
        </p:xfrm>
        <a:graphic>
          <a:graphicData uri="http://schemas.openxmlformats.org/drawingml/2006/table">
            <a:tbl>
              <a:tblPr>
                <a:tableStyleId>{5C22544A-7EE6-4342-B048-85BDC9FD1C3A}</a:tableStyleId>
              </a:tblPr>
              <a:tblGrid>
                <a:gridCol w="3952787"/>
                <a:gridCol w="2644804"/>
                <a:gridCol w="2644804"/>
                <a:gridCol w="2644804"/>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Russia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ASEAN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Kingdom of Saudi Arabia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Chile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4"/>
          <a:stretch>
            <a:fillRect/>
          </a:stretch>
        </p:blipFill>
        <p:spPr>
          <a:xfrm>
            <a:off x="6868190" y="1656588"/>
            <a:ext cx="366712" cy="533400"/>
          </a:xfrm>
          <a:prstGeom prst="rect">
            <a:avLst/>
          </a:prstGeom>
        </p:spPr>
      </p:pic>
      <p:pic>
        <p:nvPicPr>
          <p:cNvPr id="16" name="Picture 15" descr="lock.png"/>
          <p:cNvPicPr>
            <a:picLocks noChangeAspect="1"/>
          </p:cNvPicPr>
          <p:nvPr/>
        </p:nvPicPr>
        <p:blipFill>
          <a:blip r:embed="rId4"/>
          <a:stretch>
            <a:fillRect/>
          </a:stretch>
        </p:blipFill>
        <p:spPr>
          <a:xfrm>
            <a:off x="7885702" y="3580638"/>
            <a:ext cx="366712" cy="5334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00350"/>
            <a:ext cx="11906250" cy="1571625"/>
          </a:xfrm>
          <a:prstGeom prst="roundRect">
            <a:avLst>
              <a:gd name="adj" fmla="val 48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242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505325"/>
            <a:ext cx="3943350"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8291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'Recreational and Powersports Vehicles'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5 vehicle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488692" cy="194310"/>
          </a:xfrm>
          <a:prstGeom prst="rect">
            <a:avLst/>
          </a:prstGeom>
          <a:noFill/>
        </p:spPr>
        <p:txBody>
          <a:bodyPr wrap="none" lIns="0" rIns="0" tIns="0" bIns="0">
            <a:spAutoFit/>
          </a:bodyPr>
          <a:lstStyle/>
          <a:p>
            <a:r>
              <a:rPr sz="1150" b="0">
                <a:solidFill>
                  <a:srgbClr val="2E2E2E"/>
                </a:solidFill>
                <a:latin typeface="Calibri"/>
              </a:rPr>
              <a:t>Global Off-Highway vehicle market is expected to witness</a:t>
            </a:r>
          </a:p>
        </p:txBody>
      </p:sp>
      <p:pic>
        <p:nvPicPr>
          <p:cNvPr id="30" name="Picture 29" descr="lock.png"/>
          <p:cNvPicPr>
            <a:picLocks noChangeAspect="1"/>
          </p:cNvPicPr>
          <p:nvPr/>
        </p:nvPicPr>
        <p:blipFill>
          <a:blip r:embed="rId4"/>
          <a:stretch>
            <a:fillRect/>
          </a:stretch>
        </p:blipFill>
        <p:spPr>
          <a:xfrm>
            <a:off x="3714071" y="1389951"/>
            <a:ext cx="134549" cy="195707"/>
          </a:xfrm>
          <a:prstGeom prst="rect">
            <a:avLst/>
          </a:prstGeom>
        </p:spPr>
      </p:pic>
      <p:sp>
        <p:nvSpPr>
          <p:cNvPr id="31" name="TextBox 30"/>
          <p:cNvSpPr txBox="1"/>
          <p:nvPr/>
        </p:nvSpPr>
        <p:spPr>
          <a:xfrm>
            <a:off x="3889180" y="1400175"/>
            <a:ext cx="5377358" cy="194310"/>
          </a:xfrm>
          <a:prstGeom prst="rect">
            <a:avLst/>
          </a:prstGeom>
          <a:noFill/>
        </p:spPr>
        <p:txBody>
          <a:bodyPr wrap="none" lIns="0" rIns="0" tIns="0" bIns="0">
            <a:spAutoFit/>
          </a:bodyPr>
          <a:lstStyle/>
          <a:p>
            <a:r>
              <a:rPr sz="1150" b="0">
                <a:solidFill>
                  <a:srgbClr val="2E2E2E"/>
                </a:solidFill>
                <a:latin typeface="Calibri"/>
              </a:rPr>
              <a:t>X increase in revenue by 2036 end. Global Off-Highway vehicle market accounted for US$</a:t>
            </a:r>
          </a:p>
        </p:txBody>
      </p:sp>
      <p:pic>
        <p:nvPicPr>
          <p:cNvPr id="32" name="Picture 31" descr="lock.png"/>
          <p:cNvPicPr>
            <a:picLocks noChangeAspect="1"/>
          </p:cNvPicPr>
          <p:nvPr/>
        </p:nvPicPr>
        <p:blipFill>
          <a:blip r:embed="rId4"/>
          <a:stretch>
            <a:fillRect/>
          </a:stretch>
        </p:blipFill>
        <p:spPr>
          <a:xfrm>
            <a:off x="9215693" y="1389951"/>
            <a:ext cx="134549" cy="195707"/>
          </a:xfrm>
          <a:prstGeom prst="rect">
            <a:avLst/>
          </a:prstGeom>
        </p:spPr>
      </p:pic>
      <p:sp>
        <p:nvSpPr>
          <p:cNvPr id="33" name="TextBox 32"/>
          <p:cNvSpPr txBox="1"/>
          <p:nvPr/>
        </p:nvSpPr>
        <p:spPr>
          <a:xfrm>
            <a:off x="9390802"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4" name="TextBox 33"/>
          <p:cNvSpPr txBox="1"/>
          <p:nvPr/>
        </p:nvSpPr>
        <p:spPr>
          <a:xfrm>
            <a:off x="276225" y="1575435"/>
            <a:ext cx="3468421" cy="194310"/>
          </a:xfrm>
          <a:prstGeom prst="rect">
            <a:avLst/>
          </a:prstGeom>
          <a:noFill/>
        </p:spPr>
        <p:txBody>
          <a:bodyPr wrap="none" lIns="0" rIns="0" tIns="0" bIns="0">
            <a:spAutoFit/>
          </a:bodyPr>
          <a:lstStyle/>
          <a:p>
            <a:r>
              <a:rPr sz="1150" b="0">
                <a:solidFill>
                  <a:srgbClr val="2E2E2E"/>
                </a:solidFill>
                <a:latin typeface="Calibri"/>
              </a:rPr>
              <a:t>increase to US$ 1,531,700 Mn in 2036 at a CAGR of 4.8%.</a:t>
            </a:r>
          </a:p>
        </p:txBody>
      </p:sp>
      <p:sp>
        <p:nvSpPr>
          <p:cNvPr id="35" name="TextBox 34"/>
          <p:cNvSpPr txBox="1"/>
          <p:nvPr/>
        </p:nvSpPr>
        <p:spPr>
          <a:xfrm>
            <a:off x="276225" y="1803273"/>
            <a:ext cx="11414187" cy="194310"/>
          </a:xfrm>
          <a:prstGeom prst="rect">
            <a:avLst/>
          </a:prstGeom>
          <a:noFill/>
        </p:spPr>
        <p:txBody>
          <a:bodyPr wrap="none" lIns="0" rIns="0" tIns="0" bIns="0">
            <a:spAutoFit/>
          </a:bodyPr>
          <a:lstStyle/>
          <a:p>
            <a:r>
              <a:rPr sz="1150" b="0">
                <a:solidFill>
                  <a:srgbClr val="2E2E2E"/>
                </a:solidFill>
                <a:latin typeface="Calibri"/>
              </a:rPr>
              <a:t>The global off-highway vehicle market has been analysed on the basis of vehicle type, powertrain, vehicle capacity and propulsion configuration across the globe. North America is expected to</a:t>
            </a:r>
          </a:p>
        </p:txBody>
      </p:sp>
      <p:sp>
        <p:nvSpPr>
          <p:cNvPr id="36" name="TextBox 35"/>
          <p:cNvSpPr txBox="1"/>
          <p:nvPr/>
        </p:nvSpPr>
        <p:spPr>
          <a:xfrm>
            <a:off x="276225" y="1978533"/>
            <a:ext cx="8105509" cy="194310"/>
          </a:xfrm>
          <a:prstGeom prst="rect">
            <a:avLst/>
          </a:prstGeom>
          <a:noFill/>
        </p:spPr>
        <p:txBody>
          <a:bodyPr wrap="none" lIns="0" rIns="0" tIns="0" bIns="0">
            <a:spAutoFit/>
          </a:bodyPr>
          <a:lstStyle/>
          <a:p>
            <a:r>
              <a:rPr sz="1150" b="0">
                <a:solidFill>
                  <a:srgbClr val="2E2E2E"/>
                </a:solidFill>
                <a:latin typeface="Calibri"/>
              </a:rPr>
              <a:t>remain the largest market for Off-Highway vehicle, while demand in South Asia &amp; Pacific is projected to increase at the highest CAGR of</a:t>
            </a:r>
          </a:p>
        </p:txBody>
      </p:sp>
      <p:pic>
        <p:nvPicPr>
          <p:cNvPr id="37" name="Picture 36" descr="lock.png"/>
          <p:cNvPicPr>
            <a:picLocks noChangeAspect="1"/>
          </p:cNvPicPr>
          <p:nvPr/>
        </p:nvPicPr>
        <p:blipFill>
          <a:blip r:embed="rId4"/>
          <a:stretch>
            <a:fillRect/>
          </a:stretch>
        </p:blipFill>
        <p:spPr>
          <a:xfrm>
            <a:off x="8330888" y="1968309"/>
            <a:ext cx="134549" cy="195707"/>
          </a:xfrm>
          <a:prstGeom prst="rect">
            <a:avLst/>
          </a:prstGeom>
        </p:spPr>
      </p:pic>
      <p:sp>
        <p:nvSpPr>
          <p:cNvPr id="38" name="TextBox 37"/>
          <p:cNvSpPr txBox="1"/>
          <p:nvPr/>
        </p:nvSpPr>
        <p:spPr>
          <a:xfrm>
            <a:off x="8505997"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39" name="TextBox 38"/>
          <p:cNvSpPr txBox="1"/>
          <p:nvPr/>
        </p:nvSpPr>
        <p:spPr>
          <a:xfrm>
            <a:off x="276225" y="3219450"/>
            <a:ext cx="6893483"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vehicle type category 'Construction and Mining Vehicles' holds</a:t>
            </a:r>
          </a:p>
        </p:txBody>
      </p:sp>
      <p:pic>
        <p:nvPicPr>
          <p:cNvPr id="40" name="Picture 39" descr="lock.png"/>
          <p:cNvPicPr>
            <a:picLocks noChangeAspect="1"/>
          </p:cNvPicPr>
          <p:nvPr/>
        </p:nvPicPr>
        <p:blipFill>
          <a:blip r:embed="rId4"/>
          <a:stretch>
            <a:fillRect/>
          </a:stretch>
        </p:blipFill>
        <p:spPr>
          <a:xfrm>
            <a:off x="7118862" y="3209226"/>
            <a:ext cx="134549" cy="195707"/>
          </a:xfrm>
          <a:prstGeom prst="rect">
            <a:avLst/>
          </a:prstGeom>
        </p:spPr>
      </p:pic>
      <p:sp>
        <p:nvSpPr>
          <p:cNvPr id="41" name="TextBox 40"/>
          <p:cNvSpPr txBox="1"/>
          <p:nvPr/>
        </p:nvSpPr>
        <p:spPr>
          <a:xfrm>
            <a:off x="7293971"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2" name="TextBox 41"/>
          <p:cNvSpPr txBox="1"/>
          <p:nvPr/>
        </p:nvSpPr>
        <p:spPr>
          <a:xfrm>
            <a:off x="276225" y="3447287"/>
            <a:ext cx="4859052" cy="194310"/>
          </a:xfrm>
          <a:prstGeom prst="rect">
            <a:avLst/>
          </a:prstGeom>
          <a:noFill/>
        </p:spPr>
        <p:txBody>
          <a:bodyPr wrap="none" lIns="0" rIns="0" tIns="0" bIns="0">
            <a:spAutoFit/>
          </a:bodyPr>
          <a:lstStyle/>
          <a:p>
            <a:r>
              <a:rPr sz="1150" b="0">
                <a:solidFill>
                  <a:srgbClr val="2E2E2E"/>
                </a:solidFill>
                <a:latin typeface="Calibri"/>
              </a:rPr>
              <a:t>▪ Demand spans 7 regions and 4 segmentation lenses (5 vehicle type categories).</a:t>
            </a:r>
          </a:p>
        </p:txBody>
      </p:sp>
      <p:sp>
        <p:nvSpPr>
          <p:cNvPr id="43" name="TextBox 42"/>
          <p:cNvSpPr txBox="1"/>
          <p:nvPr/>
        </p:nvSpPr>
        <p:spPr>
          <a:xfrm>
            <a:off x="276225" y="3675125"/>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44" name="Picture 43" descr="lock.png"/>
          <p:cNvPicPr>
            <a:picLocks noChangeAspect="1"/>
          </p:cNvPicPr>
          <p:nvPr/>
        </p:nvPicPr>
        <p:blipFill>
          <a:blip r:embed="rId4"/>
          <a:stretch>
            <a:fillRect/>
          </a:stretch>
        </p:blipFill>
        <p:spPr>
          <a:xfrm>
            <a:off x="3176367" y="3664902"/>
            <a:ext cx="134549" cy="195707"/>
          </a:xfrm>
          <a:prstGeom prst="rect">
            <a:avLst/>
          </a:prstGeom>
        </p:spPr>
      </p:pic>
      <p:sp>
        <p:nvSpPr>
          <p:cNvPr id="45" name="TextBox 44"/>
          <p:cNvSpPr txBox="1"/>
          <p:nvPr/>
        </p:nvSpPr>
        <p:spPr>
          <a:xfrm>
            <a:off x="3351477"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4924425"/>
            <a:ext cx="3348062" cy="194310"/>
          </a:xfrm>
          <a:prstGeom prst="rect">
            <a:avLst/>
          </a:prstGeom>
          <a:noFill/>
        </p:spPr>
        <p:txBody>
          <a:bodyPr wrap="none" lIns="0" rIns="0" tIns="0" bIns="0">
            <a:spAutoFit/>
          </a:bodyPr>
          <a:lstStyle/>
          <a:p>
            <a:r>
              <a:rPr sz="1150" b="0">
                <a:solidFill>
                  <a:srgbClr val="2E2E2E"/>
                </a:solidFill>
                <a:latin typeface="Calibri"/>
              </a:rPr>
              <a:t>▪ Accelerating uptake of 'Recreational and Powersports</a:t>
            </a:r>
          </a:p>
        </p:txBody>
      </p:sp>
      <p:sp>
        <p:nvSpPr>
          <p:cNvPr id="47" name="TextBox 46"/>
          <p:cNvSpPr txBox="1"/>
          <p:nvPr/>
        </p:nvSpPr>
        <p:spPr>
          <a:xfrm>
            <a:off x="276225" y="5099685"/>
            <a:ext cx="677229" cy="194310"/>
          </a:xfrm>
          <a:prstGeom prst="rect">
            <a:avLst/>
          </a:prstGeom>
          <a:noFill/>
        </p:spPr>
        <p:txBody>
          <a:bodyPr wrap="none" lIns="0" rIns="0" tIns="0" bIns="0">
            <a:spAutoFit/>
          </a:bodyPr>
          <a:lstStyle/>
          <a:p>
            <a:r>
              <a:rPr sz="1150" b="0">
                <a:solidFill>
                  <a:srgbClr val="2E2E2E"/>
                </a:solidFill>
                <a:latin typeface="Calibri"/>
              </a:rPr>
              <a:t>Vehicles' (</a:t>
            </a:r>
          </a:p>
        </p:txBody>
      </p:sp>
      <p:pic>
        <p:nvPicPr>
          <p:cNvPr id="48" name="Picture 47" descr="lock.png"/>
          <p:cNvPicPr>
            <a:picLocks noChangeAspect="1"/>
          </p:cNvPicPr>
          <p:nvPr/>
        </p:nvPicPr>
        <p:blipFill>
          <a:blip r:embed="rId4"/>
          <a:stretch>
            <a:fillRect/>
          </a:stretch>
        </p:blipFill>
        <p:spPr>
          <a:xfrm>
            <a:off x="902608" y="5089461"/>
            <a:ext cx="134549" cy="195707"/>
          </a:xfrm>
          <a:prstGeom prst="rect">
            <a:avLst/>
          </a:prstGeom>
        </p:spPr>
      </p:pic>
      <p:sp>
        <p:nvSpPr>
          <p:cNvPr id="49" name="TextBox 48"/>
          <p:cNvSpPr txBox="1"/>
          <p:nvPr/>
        </p:nvSpPr>
        <p:spPr>
          <a:xfrm>
            <a:off x="1077718"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0" name="TextBox 49"/>
          <p:cNvSpPr txBox="1"/>
          <p:nvPr/>
        </p:nvSpPr>
        <p:spPr>
          <a:xfrm>
            <a:off x="276225" y="532752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1" name="Picture 50" descr="lock.png"/>
          <p:cNvPicPr>
            <a:picLocks noChangeAspect="1"/>
          </p:cNvPicPr>
          <p:nvPr/>
        </p:nvPicPr>
        <p:blipFill>
          <a:blip r:embed="rId4"/>
          <a:stretch>
            <a:fillRect/>
          </a:stretch>
        </p:blipFill>
        <p:spPr>
          <a:xfrm>
            <a:off x="3102424" y="5317299"/>
            <a:ext cx="134549" cy="195707"/>
          </a:xfrm>
          <a:prstGeom prst="rect">
            <a:avLst/>
          </a:prstGeom>
        </p:spPr>
      </p:pic>
      <p:sp>
        <p:nvSpPr>
          <p:cNvPr id="52" name="TextBox 51"/>
          <p:cNvSpPr txBox="1"/>
          <p:nvPr/>
        </p:nvSpPr>
        <p:spPr>
          <a:xfrm>
            <a:off x="3277533"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3" name="TextBox 52"/>
          <p:cNvSpPr txBox="1"/>
          <p:nvPr/>
        </p:nvSpPr>
        <p:spPr>
          <a:xfrm>
            <a:off x="276225" y="5555360"/>
            <a:ext cx="3184326" cy="194310"/>
          </a:xfrm>
          <a:prstGeom prst="rect">
            <a:avLst/>
          </a:prstGeom>
          <a:noFill/>
        </p:spPr>
        <p:txBody>
          <a:bodyPr wrap="none" lIns="0" rIns="0" tIns="0" bIns="0">
            <a:spAutoFit/>
          </a:bodyPr>
          <a:lstStyle/>
          <a:p>
            <a:r>
              <a:rPr sz="1150" b="0">
                <a:solidFill>
                  <a:srgbClr val="2E2E2E"/>
                </a:solidFill>
                <a:latin typeface="Calibri"/>
              </a:rPr>
              <a:t>▪ Momentum in Battery Electric Vehicle (BEV) within</a:t>
            </a:r>
          </a:p>
        </p:txBody>
      </p:sp>
      <p:sp>
        <p:nvSpPr>
          <p:cNvPr id="54" name="TextBox 53"/>
          <p:cNvSpPr txBox="1"/>
          <p:nvPr/>
        </p:nvSpPr>
        <p:spPr>
          <a:xfrm>
            <a:off x="276225" y="5730620"/>
            <a:ext cx="815863" cy="194310"/>
          </a:xfrm>
          <a:prstGeom prst="rect">
            <a:avLst/>
          </a:prstGeom>
          <a:noFill/>
        </p:spPr>
        <p:txBody>
          <a:bodyPr wrap="none" lIns="0" rIns="0" tIns="0" bIns="0">
            <a:spAutoFit/>
          </a:bodyPr>
          <a:lstStyle/>
          <a:p>
            <a:r>
              <a:rPr sz="1150" b="0">
                <a:solidFill>
                  <a:srgbClr val="2E2E2E"/>
                </a:solidFill>
                <a:latin typeface="Calibri"/>
              </a:rPr>
              <a:t>powertrain (</a:t>
            </a:r>
          </a:p>
        </p:txBody>
      </p:sp>
      <p:pic>
        <p:nvPicPr>
          <p:cNvPr id="55" name="Picture 54" descr="lock.png"/>
          <p:cNvPicPr>
            <a:picLocks noChangeAspect="1"/>
          </p:cNvPicPr>
          <p:nvPr/>
        </p:nvPicPr>
        <p:blipFill>
          <a:blip r:embed="rId4"/>
          <a:stretch>
            <a:fillRect/>
          </a:stretch>
        </p:blipFill>
        <p:spPr>
          <a:xfrm>
            <a:off x="1041242" y="5720397"/>
            <a:ext cx="134549" cy="195707"/>
          </a:xfrm>
          <a:prstGeom prst="rect">
            <a:avLst/>
          </a:prstGeom>
        </p:spPr>
      </p:pic>
      <p:sp>
        <p:nvSpPr>
          <p:cNvPr id="56" name="TextBox 55"/>
          <p:cNvSpPr txBox="1"/>
          <p:nvPr/>
        </p:nvSpPr>
        <p:spPr>
          <a:xfrm>
            <a:off x="1216351"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4371975" y="4924425"/>
            <a:ext cx="3248793" cy="194310"/>
          </a:xfrm>
          <a:prstGeom prst="rect">
            <a:avLst/>
          </a:prstGeom>
          <a:noFill/>
        </p:spPr>
        <p:txBody>
          <a:bodyPr wrap="none" lIns="0" rIns="0" tIns="0" bIns="0">
            <a:spAutoFit/>
          </a:bodyPr>
          <a:lstStyle/>
          <a:p>
            <a:r>
              <a:rPr sz="1150" b="0">
                <a:solidFill>
                  <a:srgbClr val="2E2E2E"/>
                </a:solidFill>
                <a:latin typeface="Calibri"/>
              </a:rPr>
              <a:t>▪ Slower momentum in 'Industrial and Port Vehicles' (</a:t>
            </a:r>
          </a:p>
        </p:txBody>
      </p:sp>
      <p:pic>
        <p:nvPicPr>
          <p:cNvPr id="58" name="Picture 57" descr="lock.png"/>
          <p:cNvPicPr>
            <a:picLocks noChangeAspect="1"/>
          </p:cNvPicPr>
          <p:nvPr/>
        </p:nvPicPr>
        <p:blipFill>
          <a:blip r:embed="rId4"/>
          <a:stretch>
            <a:fillRect/>
          </a:stretch>
        </p:blipFill>
        <p:spPr>
          <a:xfrm>
            <a:off x="7569922" y="4914201"/>
            <a:ext cx="134549" cy="195707"/>
          </a:xfrm>
          <a:prstGeom prst="rect">
            <a:avLst/>
          </a:prstGeom>
        </p:spPr>
      </p:pic>
      <p:sp>
        <p:nvSpPr>
          <p:cNvPr id="59" name="TextBox 58"/>
          <p:cNvSpPr txBox="1"/>
          <p:nvPr/>
        </p:nvSpPr>
        <p:spPr>
          <a:xfrm>
            <a:off x="7745032" y="49244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0" name="TextBox 59"/>
          <p:cNvSpPr txBox="1"/>
          <p:nvPr/>
        </p:nvSpPr>
        <p:spPr>
          <a:xfrm>
            <a:off x="4371975" y="51522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1" name="TextBox 60"/>
          <p:cNvSpPr txBox="1"/>
          <p:nvPr/>
        </p:nvSpPr>
        <p:spPr>
          <a:xfrm>
            <a:off x="4371975" y="53275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2" name="Picture 61" descr="lock.png"/>
          <p:cNvPicPr>
            <a:picLocks noChangeAspect="1"/>
          </p:cNvPicPr>
          <p:nvPr/>
        </p:nvPicPr>
        <p:blipFill>
          <a:blip r:embed="rId4"/>
          <a:stretch>
            <a:fillRect/>
          </a:stretch>
        </p:blipFill>
        <p:spPr>
          <a:xfrm>
            <a:off x="4883401" y="5317299"/>
            <a:ext cx="134549" cy="195707"/>
          </a:xfrm>
          <a:prstGeom prst="rect">
            <a:avLst/>
          </a:prstGeom>
        </p:spPr>
      </p:pic>
      <p:sp>
        <p:nvSpPr>
          <p:cNvPr id="63" name="TextBox 62"/>
          <p:cNvSpPr txBox="1"/>
          <p:nvPr/>
        </p:nvSpPr>
        <p:spPr>
          <a:xfrm>
            <a:off x="5058510" y="53275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4" name="TextBox 63"/>
          <p:cNvSpPr txBox="1"/>
          <p:nvPr/>
        </p:nvSpPr>
        <p:spPr>
          <a:xfrm>
            <a:off x="4371975" y="5555360"/>
            <a:ext cx="3533775" cy="194310"/>
          </a:xfrm>
          <a:prstGeom prst="rect">
            <a:avLst/>
          </a:prstGeom>
          <a:noFill/>
        </p:spPr>
        <p:txBody>
          <a:bodyPr wrap="none" lIns="0" rIns="0" tIns="0" bIns="0">
            <a:spAutoFit/>
          </a:bodyPr>
          <a:lstStyle/>
          <a:p>
            <a:r>
              <a:rPr sz="1150" b="0">
                <a:solidFill>
                  <a:srgbClr val="2E2E2E"/>
                </a:solidFill>
                <a:latin typeface="Calibri"/>
              </a:rPr>
              <a:t>▪ Value concentration in 'Construction and Mining Vehicles'</a:t>
            </a:r>
          </a:p>
        </p:txBody>
      </p:sp>
      <p:sp>
        <p:nvSpPr>
          <p:cNvPr id="65" name="TextBox 64"/>
          <p:cNvSpPr txBox="1"/>
          <p:nvPr/>
        </p:nvSpPr>
        <p:spPr>
          <a:xfrm>
            <a:off x="4371975" y="573062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'Recreational and Powersports Vehicles' and South Asia &amp; Pacific.</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vehicle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North America and South Asia &amp; Pacific.</a:t>
            </a:r>
          </a:p>
        </p:txBody>
      </p:sp>
      <p:sp>
        <p:nvSpPr>
          <p:cNvPr id="11" name="Rounded Rectangle 10"/>
          <p:cNvSpPr/>
          <p:nvPr/>
        </p:nvSpPr>
        <p:spPr>
          <a:xfrm>
            <a:off x="6172200"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R&amp;D aligns with the migration to 'Recreational and Powersports Vehicles' and adjacent premium tiers.</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Development spend targets vehicle type categories gaining share to 2036.</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Innovation underpins the 4.8% forecast CAGR.</a:t>
            </a:r>
          </a:p>
        </p:txBody>
      </p:sp>
      <p:sp>
        <p:nvSpPr>
          <p:cNvPr id="23" name="Rounded Rectangle 22"/>
          <p:cNvSpPr/>
          <p:nvPr/>
        </p:nvSpPr>
        <p:spPr>
          <a:xfrm>
            <a:off x="142875" y="44100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vehicle type share (2036)</a:t>
            </a:r>
          </a:p>
        </p:txBody>
      </p:sp>
      <p:graphicFrame>
        <p:nvGraphicFramePr>
          <p:cNvPr id="25" name="Chart 24"/>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6" name="TextBox 25"/>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43964" y="5349744"/>
            <a:ext cx="366052" cy="532439"/>
          </a:xfrm>
          <a:prstGeom prst="rect">
            <a:avLst/>
          </a:prstGeom>
        </p:spPr>
      </p:pic>
      <p:sp>
        <p:nvSpPr>
          <p:cNvPr id="30" name="TextBox 29"/>
          <p:cNvSpPr txBox="1"/>
          <p:nvPr/>
        </p:nvSpPr>
        <p:spPr>
          <a:xfrm>
            <a:off x="6305550" y="1400175"/>
            <a:ext cx="3124497" cy="186689"/>
          </a:xfrm>
          <a:prstGeom prst="rect">
            <a:avLst/>
          </a:prstGeom>
          <a:noFill/>
        </p:spPr>
        <p:txBody>
          <a:bodyPr wrap="none" lIns="0" rIns="0" tIns="0" bIns="0">
            <a:spAutoFit/>
          </a:bodyPr>
          <a:lstStyle/>
          <a:p>
            <a:r>
              <a:rPr sz="1100" b="0">
                <a:solidFill>
                  <a:srgbClr val="2E2E2E"/>
                </a:solidFill>
                <a:latin typeface="Calibri"/>
              </a:rPr>
              <a:t>▪ 2026 size 959,300 US$ Mn; 2036 1,531,700 US$ Mn.</a:t>
            </a:r>
          </a:p>
        </p:txBody>
      </p:sp>
      <p:sp>
        <p:nvSpPr>
          <p:cNvPr id="31" name="TextBox 30"/>
          <p:cNvSpPr txBox="1"/>
          <p:nvPr/>
        </p:nvSpPr>
        <p:spPr>
          <a:xfrm>
            <a:off x="6305550" y="1618107"/>
            <a:ext cx="2088979" cy="186689"/>
          </a:xfrm>
          <a:prstGeom prst="rect">
            <a:avLst/>
          </a:prstGeom>
          <a:noFill/>
        </p:spPr>
        <p:txBody>
          <a:bodyPr wrap="none" lIns="0" rIns="0" tIns="0" bIns="0">
            <a:spAutoFit/>
          </a:bodyPr>
          <a:lstStyle/>
          <a:p>
            <a:r>
              <a:rPr sz="1100" b="0">
                <a:solidFill>
                  <a:srgbClr val="2E2E2E"/>
                </a:solidFill>
                <a:latin typeface="Calibri"/>
              </a:rPr>
              <a:t>▪ Forecast CAGR 4.8% (2026–2036).</a:t>
            </a:r>
          </a:p>
        </p:txBody>
      </p:sp>
      <p:sp>
        <p:nvSpPr>
          <p:cNvPr id="32" name="TextBox 31"/>
          <p:cNvSpPr txBox="1"/>
          <p:nvPr/>
        </p:nvSpPr>
        <p:spPr>
          <a:xfrm>
            <a:off x="6305550" y="1836039"/>
            <a:ext cx="2950691" cy="186689"/>
          </a:xfrm>
          <a:prstGeom prst="rect">
            <a:avLst/>
          </a:prstGeom>
          <a:noFill/>
        </p:spPr>
        <p:txBody>
          <a:bodyPr wrap="none" lIns="0" rIns="0" tIns="0" bIns="0">
            <a:spAutoFit/>
          </a:bodyPr>
          <a:lstStyle/>
          <a:p>
            <a:r>
              <a:rPr sz="1100" b="0">
                <a:solidFill>
                  <a:srgbClr val="2E2E2E"/>
                </a:solidFill>
                <a:latin typeface="Calibri"/>
              </a:rPr>
              <a:t>▪ Lead category 'Construction and Mining Vehicles'</a:t>
            </a:r>
          </a:p>
        </p:txBody>
      </p:sp>
      <p:pic>
        <p:nvPicPr>
          <p:cNvPr id="33" name="Picture 32" descr="lock.png"/>
          <p:cNvPicPr>
            <a:picLocks noChangeAspect="1"/>
          </p:cNvPicPr>
          <p:nvPr/>
        </p:nvPicPr>
        <p:blipFill>
          <a:blip r:embed="rId5"/>
          <a:stretch>
            <a:fillRect/>
          </a:stretch>
        </p:blipFill>
        <p:spPr>
          <a:xfrm>
            <a:off x="9204292" y="1826260"/>
            <a:ext cx="128699" cy="187198"/>
          </a:xfrm>
          <a:prstGeom prst="rect">
            <a:avLst/>
          </a:prstGeom>
        </p:spPr>
      </p:pic>
      <p:sp>
        <p:nvSpPr>
          <p:cNvPr id="34" name="TextBox 33"/>
          <p:cNvSpPr txBox="1"/>
          <p:nvPr/>
        </p:nvSpPr>
        <p:spPr>
          <a:xfrm>
            <a:off x="9371788"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35" name="TextBox 34"/>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36" name="Picture 35" descr="lock.png"/>
          <p:cNvPicPr>
            <a:picLocks noChangeAspect="1"/>
          </p:cNvPicPr>
          <p:nvPr/>
        </p:nvPicPr>
        <p:blipFill>
          <a:blip r:embed="rId5"/>
          <a:stretch>
            <a:fillRect/>
          </a:stretch>
        </p:blipFill>
        <p:spPr>
          <a:xfrm>
            <a:off x="7939898" y="2044192"/>
            <a:ext cx="128699" cy="187198"/>
          </a:xfrm>
          <a:prstGeom prst="rect">
            <a:avLst/>
          </a:prstGeom>
        </p:spPr>
      </p:pic>
      <p:sp>
        <p:nvSpPr>
          <p:cNvPr id="37" name="TextBox 36"/>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8" name="TextBox 37"/>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39" name="Picture 38" descr="lock.png"/>
          <p:cNvPicPr>
            <a:picLocks noChangeAspect="1"/>
          </p:cNvPicPr>
          <p:nvPr/>
        </p:nvPicPr>
        <p:blipFill>
          <a:blip r:embed="rId5"/>
          <a:stretch>
            <a:fillRect/>
          </a:stretch>
        </p:blipFill>
        <p:spPr>
          <a:xfrm>
            <a:off x="7808384" y="2262124"/>
            <a:ext cx="128699" cy="187198"/>
          </a:xfrm>
          <a:prstGeom prst="rect">
            <a:avLst/>
          </a:prstGeom>
        </p:spPr>
      </p:pic>
      <p:sp>
        <p:nvSpPr>
          <p:cNvPr id="40" name="TextBox 39"/>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1" name="TextBox 40"/>
          <p:cNvSpPr txBox="1"/>
          <p:nvPr/>
        </p:nvSpPr>
        <p:spPr>
          <a:xfrm>
            <a:off x="276225" y="3267075"/>
            <a:ext cx="5482480"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'Recreational and Powersports Vehicles'</a:t>
            </a:r>
          </a:p>
        </p:txBody>
      </p:sp>
      <p:sp>
        <p:nvSpPr>
          <p:cNvPr id="42" name="TextBox 41"/>
          <p:cNvSpPr txBox="1"/>
          <p:nvPr/>
        </p:nvSpPr>
        <p:spPr>
          <a:xfrm>
            <a:off x="276225" y="3434715"/>
            <a:ext cx="118491"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3" name="Picture 42" descr="lock.png"/>
          <p:cNvPicPr>
            <a:picLocks noChangeAspect="1"/>
          </p:cNvPicPr>
          <p:nvPr/>
        </p:nvPicPr>
        <p:blipFill>
          <a:blip r:embed="rId5"/>
          <a:stretch>
            <a:fillRect/>
          </a:stretch>
        </p:blipFill>
        <p:spPr>
          <a:xfrm>
            <a:off x="342768" y="3424936"/>
            <a:ext cx="128699" cy="187198"/>
          </a:xfrm>
          <a:prstGeom prst="rect">
            <a:avLst/>
          </a:prstGeom>
        </p:spPr>
      </p:pic>
      <p:sp>
        <p:nvSpPr>
          <p:cNvPr id="44" name="TextBox 43"/>
          <p:cNvSpPr txBox="1"/>
          <p:nvPr/>
        </p:nvSpPr>
        <p:spPr>
          <a:xfrm>
            <a:off x="510264" y="343471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276225" y="3652647"/>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46" name="Picture 45" descr="lock.png"/>
          <p:cNvPicPr>
            <a:picLocks noChangeAspect="1"/>
          </p:cNvPicPr>
          <p:nvPr/>
        </p:nvPicPr>
        <p:blipFill>
          <a:blip r:embed="rId5"/>
          <a:stretch>
            <a:fillRect/>
          </a:stretch>
        </p:blipFill>
        <p:spPr>
          <a:xfrm>
            <a:off x="1576057" y="3642868"/>
            <a:ext cx="128699" cy="187198"/>
          </a:xfrm>
          <a:prstGeom prst="rect">
            <a:avLst/>
          </a:prstGeom>
        </p:spPr>
      </p:pic>
      <p:sp>
        <p:nvSpPr>
          <p:cNvPr id="47" name="TextBox 46"/>
          <p:cNvSpPr txBox="1"/>
          <p:nvPr/>
        </p:nvSpPr>
        <p:spPr>
          <a:xfrm>
            <a:off x="1743553" y="3652647"/>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48" name="TextBox 47"/>
          <p:cNvSpPr txBox="1"/>
          <p:nvPr/>
        </p:nvSpPr>
        <p:spPr>
          <a:xfrm>
            <a:off x="276225" y="3870579"/>
            <a:ext cx="3830910" cy="186689"/>
          </a:xfrm>
          <a:prstGeom prst="rect">
            <a:avLst/>
          </a:prstGeom>
          <a:noFill/>
        </p:spPr>
        <p:txBody>
          <a:bodyPr wrap="none" lIns="0" rIns="0" tIns="0" bIns="0">
            <a:spAutoFit/>
          </a:bodyPr>
          <a:lstStyle/>
          <a:p>
            <a:r>
              <a:rPr sz="1100" b="0">
                <a:solidFill>
                  <a:srgbClr val="2E2E2E"/>
                </a:solidFill>
                <a:latin typeface="Calibri"/>
              </a:rPr>
              <a:t>▪ Scale players anchor around 'Construction and Mining Vehicles' (</a:t>
            </a:r>
          </a:p>
        </p:txBody>
      </p:sp>
      <p:pic>
        <p:nvPicPr>
          <p:cNvPr id="49" name="Picture 48" descr="lock.png"/>
          <p:cNvPicPr>
            <a:picLocks noChangeAspect="1"/>
          </p:cNvPicPr>
          <p:nvPr/>
        </p:nvPicPr>
        <p:blipFill>
          <a:blip r:embed="rId5"/>
          <a:stretch>
            <a:fillRect/>
          </a:stretch>
        </p:blipFill>
        <p:spPr>
          <a:xfrm>
            <a:off x="4055186" y="3860800"/>
            <a:ext cx="128699" cy="187198"/>
          </a:xfrm>
          <a:prstGeom prst="rect">
            <a:avLst/>
          </a:prstGeom>
        </p:spPr>
      </p:pic>
      <p:sp>
        <p:nvSpPr>
          <p:cNvPr id="50" name="TextBox 49"/>
          <p:cNvSpPr txBox="1"/>
          <p:nvPr/>
        </p:nvSpPr>
        <p:spPr>
          <a:xfrm>
            <a:off x="4222682" y="387057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1" name="lockshield_25"/>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'Recreational and Powersports Vehicles' tier and Battery Electric Vehicle (BEV) within powertrain.</a:t>
            </a:r>
          </a:p>
        </p:txBody>
      </p:sp>
      <p:sp>
        <p:nvSpPr>
          <p:cNvPr id="15" name="Rounded Rectangle 14"/>
          <p:cNvSpPr/>
          <p:nvPr/>
        </p:nvSpPr>
        <p:spPr>
          <a:xfrm>
            <a:off x="142875"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Region</a:t>
            </a:r>
          </a:p>
        </p:txBody>
      </p:sp>
      <p:sp>
        <p:nvSpPr>
          <p:cNvPr id="21" name="Rectangle 20"/>
          <p:cNvSpPr/>
          <p:nvPr/>
        </p:nvSpPr>
        <p:spPr>
          <a:xfrm>
            <a:off x="6305550"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619625"/>
            <a:ext cx="11906250" cy="2000250"/>
          </a:xfrm>
          <a:prstGeom prst="roundRect">
            <a:avLst>
              <a:gd name="adj" fmla="val 38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9434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443822" cy="194310"/>
          </a:xfrm>
          <a:prstGeom prst="rect">
            <a:avLst/>
          </a:prstGeom>
          <a:noFill/>
        </p:spPr>
        <p:txBody>
          <a:bodyPr wrap="none" lIns="0" rIns="0" tIns="0" bIns="0">
            <a:spAutoFit/>
          </a:bodyPr>
          <a:lstStyle/>
          <a:p>
            <a:r>
              <a:rPr sz="1150" b="0">
                <a:solidFill>
                  <a:srgbClr val="2E2E2E"/>
                </a:solidFill>
                <a:latin typeface="Calibri"/>
              </a:rPr>
              <a:t>▪ Balance scale in 'Construction and Mining Vehicles' with targeted growth in 'Recreational</a:t>
            </a:r>
          </a:p>
        </p:txBody>
      </p:sp>
      <p:sp>
        <p:nvSpPr>
          <p:cNvPr id="30" name="TextBox 29"/>
          <p:cNvSpPr txBox="1"/>
          <p:nvPr/>
        </p:nvSpPr>
        <p:spPr>
          <a:xfrm>
            <a:off x="276225" y="1575435"/>
            <a:ext cx="2456929" cy="194310"/>
          </a:xfrm>
          <a:prstGeom prst="rect">
            <a:avLst/>
          </a:prstGeom>
          <a:noFill/>
        </p:spPr>
        <p:txBody>
          <a:bodyPr wrap="none" lIns="0" rIns="0" tIns="0" bIns="0">
            <a:spAutoFit/>
          </a:bodyPr>
          <a:lstStyle/>
          <a:p>
            <a:r>
              <a:rPr sz="1150" b="0">
                <a:solidFill>
                  <a:srgbClr val="2E2E2E"/>
                </a:solidFill>
                <a:latin typeface="Calibri"/>
              </a:rPr>
              <a:t>and Powersports Vehicles', pursuing the</a:t>
            </a:r>
          </a:p>
        </p:txBody>
      </p:sp>
      <p:pic>
        <p:nvPicPr>
          <p:cNvPr id="31" name="Picture 30" descr="lock.png"/>
          <p:cNvPicPr>
            <a:picLocks noChangeAspect="1"/>
          </p:cNvPicPr>
          <p:nvPr/>
        </p:nvPicPr>
        <p:blipFill>
          <a:blip r:embed="rId4"/>
          <a:stretch>
            <a:fillRect/>
          </a:stretch>
        </p:blipFill>
        <p:spPr>
          <a:xfrm>
            <a:off x="2682308" y="1565211"/>
            <a:ext cx="134549" cy="195707"/>
          </a:xfrm>
          <a:prstGeom prst="rect">
            <a:avLst/>
          </a:prstGeom>
        </p:spPr>
      </p:pic>
      <p:sp>
        <p:nvSpPr>
          <p:cNvPr id="32" name="TextBox 31"/>
          <p:cNvSpPr txBox="1"/>
          <p:nvPr/>
        </p:nvSpPr>
        <p:spPr>
          <a:xfrm>
            <a:off x="2857417"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19450"/>
            <a:ext cx="3180903" cy="194310"/>
          </a:xfrm>
          <a:prstGeom prst="rect">
            <a:avLst/>
          </a:prstGeom>
          <a:noFill/>
        </p:spPr>
        <p:txBody>
          <a:bodyPr wrap="none" lIns="0" rIns="0" tIns="0" bIns="0">
            <a:spAutoFit/>
          </a:bodyPr>
          <a:lstStyle/>
          <a:p>
            <a:r>
              <a:rPr sz="1150" b="0">
                <a:solidFill>
                  <a:srgbClr val="2E2E2E"/>
                </a:solidFill>
                <a:latin typeface="Calibri"/>
              </a:rPr>
              <a:t>▪ Prioritise 'Recreational and Powersports Vehicles' (</a:t>
            </a:r>
          </a:p>
        </p:txBody>
      </p:sp>
      <p:pic>
        <p:nvPicPr>
          <p:cNvPr id="34" name="Picture 33" descr="lock.png"/>
          <p:cNvPicPr>
            <a:picLocks noChangeAspect="1"/>
          </p:cNvPicPr>
          <p:nvPr/>
        </p:nvPicPr>
        <p:blipFill>
          <a:blip r:embed="rId4"/>
          <a:stretch>
            <a:fillRect/>
          </a:stretch>
        </p:blipFill>
        <p:spPr>
          <a:xfrm>
            <a:off x="3406282" y="3209226"/>
            <a:ext cx="134549" cy="195707"/>
          </a:xfrm>
          <a:prstGeom prst="rect">
            <a:avLst/>
          </a:prstGeom>
        </p:spPr>
      </p:pic>
      <p:sp>
        <p:nvSpPr>
          <p:cNvPr id="35" name="TextBox 34"/>
          <p:cNvSpPr txBox="1"/>
          <p:nvPr/>
        </p:nvSpPr>
        <p:spPr>
          <a:xfrm>
            <a:off x="3581391" y="3219450"/>
            <a:ext cx="2249549" cy="194310"/>
          </a:xfrm>
          <a:prstGeom prst="rect">
            <a:avLst/>
          </a:prstGeom>
          <a:noFill/>
        </p:spPr>
        <p:txBody>
          <a:bodyPr wrap="none" lIns="0" rIns="0" tIns="0" bIns="0">
            <a:spAutoFit/>
          </a:bodyPr>
          <a:lstStyle/>
          <a:p>
            <a:r>
              <a:rPr sz="1150" b="0">
                <a:solidFill>
                  <a:srgbClr val="2E2E2E"/>
                </a:solidFill>
                <a:latin typeface="Calibri"/>
              </a:rPr>
              <a:t>); 'Construction and Mining Vehicles'</a:t>
            </a:r>
          </a:p>
        </p:txBody>
      </p:sp>
      <p:sp>
        <p:nvSpPr>
          <p:cNvPr id="36" name="TextBox 35"/>
          <p:cNvSpPr txBox="1"/>
          <p:nvPr/>
        </p:nvSpPr>
        <p:spPr>
          <a:xfrm>
            <a:off x="276225" y="3394710"/>
            <a:ext cx="546583" cy="194310"/>
          </a:xfrm>
          <a:prstGeom prst="rect">
            <a:avLst/>
          </a:prstGeom>
          <a:noFill/>
        </p:spPr>
        <p:txBody>
          <a:bodyPr wrap="none" lIns="0" rIns="0" tIns="0" bIns="0">
            <a:spAutoFit/>
          </a:bodyPr>
          <a:lstStyle/>
          <a:p>
            <a:r>
              <a:rPr sz="1150" b="0">
                <a:solidFill>
                  <a:srgbClr val="2E2E2E"/>
                </a:solidFill>
                <a:latin typeface="Calibri"/>
              </a:rPr>
              <a:t>anchors</a:t>
            </a:r>
          </a:p>
        </p:txBody>
      </p:sp>
      <p:pic>
        <p:nvPicPr>
          <p:cNvPr id="37" name="Picture 36" descr="lock.png"/>
          <p:cNvPicPr>
            <a:picLocks noChangeAspect="1"/>
          </p:cNvPicPr>
          <p:nvPr/>
        </p:nvPicPr>
        <p:blipFill>
          <a:blip r:embed="rId4"/>
          <a:stretch>
            <a:fillRect/>
          </a:stretch>
        </p:blipFill>
        <p:spPr>
          <a:xfrm>
            <a:off x="771962" y="3384486"/>
            <a:ext cx="134549" cy="195707"/>
          </a:xfrm>
          <a:prstGeom prst="rect">
            <a:avLst/>
          </a:prstGeom>
        </p:spPr>
      </p:pic>
      <p:sp>
        <p:nvSpPr>
          <p:cNvPr id="38" name="TextBox 37"/>
          <p:cNvSpPr txBox="1"/>
          <p:nvPr/>
        </p:nvSpPr>
        <p:spPr>
          <a:xfrm>
            <a:off x="947071"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9" name="TextBox 38"/>
          <p:cNvSpPr txBox="1"/>
          <p:nvPr/>
        </p:nvSpPr>
        <p:spPr>
          <a:xfrm>
            <a:off x="6305550" y="321945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0" name="Picture 39" descr="lock.png"/>
          <p:cNvPicPr>
            <a:picLocks noChangeAspect="1"/>
          </p:cNvPicPr>
          <p:nvPr/>
        </p:nvPicPr>
        <p:blipFill>
          <a:blip r:embed="rId4"/>
          <a:stretch>
            <a:fillRect/>
          </a:stretch>
        </p:blipFill>
        <p:spPr>
          <a:xfrm>
            <a:off x="7975392" y="3209226"/>
            <a:ext cx="134549" cy="195707"/>
          </a:xfrm>
          <a:prstGeom prst="rect">
            <a:avLst/>
          </a:prstGeom>
        </p:spPr>
      </p:pic>
      <p:sp>
        <p:nvSpPr>
          <p:cNvPr id="41" name="TextBox 40"/>
          <p:cNvSpPr txBox="1"/>
          <p:nvPr/>
        </p:nvSpPr>
        <p:spPr>
          <a:xfrm>
            <a:off x="8150501" y="321945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2" name="Picture 41" descr="lock.png"/>
          <p:cNvPicPr>
            <a:picLocks noChangeAspect="1"/>
          </p:cNvPicPr>
          <p:nvPr/>
        </p:nvPicPr>
        <p:blipFill>
          <a:blip r:embed="rId4"/>
          <a:stretch>
            <a:fillRect/>
          </a:stretch>
        </p:blipFill>
        <p:spPr>
          <a:xfrm>
            <a:off x="10602510" y="3209226"/>
            <a:ext cx="134549" cy="195707"/>
          </a:xfrm>
          <a:prstGeom prst="rect">
            <a:avLst/>
          </a:prstGeom>
        </p:spPr>
      </p:pic>
      <p:sp>
        <p:nvSpPr>
          <p:cNvPr id="43" name="TextBox 42"/>
          <p:cNvSpPr txBox="1"/>
          <p:nvPr/>
        </p:nvSpPr>
        <p:spPr>
          <a:xfrm>
            <a:off x="10777620"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038725"/>
            <a:ext cx="1683035" cy="194310"/>
          </a:xfrm>
          <a:prstGeom prst="rect">
            <a:avLst/>
          </a:prstGeom>
          <a:noFill/>
        </p:spPr>
        <p:txBody>
          <a:bodyPr wrap="none" lIns="0" rIns="0" tIns="0" bIns="0">
            <a:spAutoFit/>
          </a:bodyPr>
          <a:lstStyle/>
          <a:p>
            <a:r>
              <a:rPr sz="1150" b="0">
                <a:solidFill>
                  <a:srgbClr val="2E2E2E"/>
                </a:solidFill>
                <a:latin typeface="Calibri"/>
              </a:rPr>
              <a:t>▪ Off-Highway Vehicle adds</a:t>
            </a:r>
          </a:p>
        </p:txBody>
      </p:sp>
      <p:pic>
        <p:nvPicPr>
          <p:cNvPr id="45" name="Picture 44" descr="lock.png"/>
          <p:cNvPicPr>
            <a:picLocks noChangeAspect="1"/>
          </p:cNvPicPr>
          <p:nvPr/>
        </p:nvPicPr>
        <p:blipFill>
          <a:blip r:embed="rId4"/>
          <a:stretch>
            <a:fillRect/>
          </a:stretch>
        </p:blipFill>
        <p:spPr>
          <a:xfrm>
            <a:off x="1908414" y="5028501"/>
            <a:ext cx="134549" cy="195707"/>
          </a:xfrm>
          <a:prstGeom prst="rect">
            <a:avLst/>
          </a:prstGeom>
        </p:spPr>
      </p:pic>
      <p:sp>
        <p:nvSpPr>
          <p:cNvPr id="46" name="TextBox 45"/>
          <p:cNvSpPr txBox="1"/>
          <p:nvPr/>
        </p:nvSpPr>
        <p:spPr>
          <a:xfrm>
            <a:off x="2083523"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3847785" y="5028501"/>
            <a:ext cx="134549" cy="195707"/>
          </a:xfrm>
          <a:prstGeom prst="rect">
            <a:avLst/>
          </a:prstGeom>
        </p:spPr>
      </p:pic>
      <p:sp>
        <p:nvSpPr>
          <p:cNvPr id="48" name="TextBox 47"/>
          <p:cNvSpPr txBox="1"/>
          <p:nvPr/>
        </p:nvSpPr>
        <p:spPr>
          <a:xfrm>
            <a:off x="4022894"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266563"/>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0" name="TextBox 49"/>
          <p:cNvSpPr txBox="1"/>
          <p:nvPr/>
        </p:nvSpPr>
        <p:spPr>
          <a:xfrm>
            <a:off x="276225" y="5494400"/>
            <a:ext cx="5354253" cy="194310"/>
          </a:xfrm>
          <a:prstGeom prst="rect">
            <a:avLst/>
          </a:prstGeom>
          <a:noFill/>
        </p:spPr>
        <p:txBody>
          <a:bodyPr wrap="none" lIns="0" rIns="0" tIns="0" bIns="0">
            <a:spAutoFit/>
          </a:bodyPr>
          <a:lstStyle/>
          <a:p>
            <a:r>
              <a:rPr sz="1150" b="0">
                <a:solidFill>
                  <a:srgbClr val="2E2E2E"/>
                </a:solidFill>
                <a:latin typeface="Calibri"/>
              </a:rPr>
              <a:t>▪ Defend share in 'Construction and Mining Vehicles' as the value anchor of the portfolio.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Off-Highway Vehicle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61295"/>
            <a:ext cx="635826" cy="844005"/>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060861"/>
            <a:ext cx="635826" cy="124443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893133"/>
            <a:ext cx="635826" cy="1412167"/>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2751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2273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67033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56556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1316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0838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Off-Highway Vehicle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5710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48887"/>
            <a:ext cx="108107" cy="157246"/>
          </a:xfrm>
          <a:prstGeom prst="rect">
            <a:avLst/>
          </a:prstGeom>
        </p:spPr>
      </p:pic>
      <p:sp>
        <p:nvSpPr>
          <p:cNvPr id="54" name="TextBox 53"/>
          <p:cNvSpPr txBox="1"/>
          <p:nvPr/>
        </p:nvSpPr>
        <p:spPr>
          <a:xfrm>
            <a:off x="2032418" y="259992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591712"/>
            <a:ext cx="108107" cy="157246"/>
          </a:xfrm>
          <a:prstGeom prst="rect">
            <a:avLst/>
          </a:prstGeom>
        </p:spPr>
      </p:pic>
      <p:sp>
        <p:nvSpPr>
          <p:cNvPr id="56" name="TextBox 55"/>
          <p:cNvSpPr txBox="1"/>
          <p:nvPr/>
        </p:nvSpPr>
        <p:spPr>
          <a:xfrm>
            <a:off x="2032418" y="234275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34537"/>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2728490" cy="194310"/>
          </a:xfrm>
          <a:prstGeom prst="rect">
            <a:avLst/>
          </a:prstGeom>
          <a:noFill/>
        </p:spPr>
        <p:txBody>
          <a:bodyPr wrap="none" lIns="0" rIns="0" tIns="0" bIns="0">
            <a:spAutoFit/>
          </a:bodyPr>
          <a:lstStyle/>
          <a:p>
            <a:r>
              <a:rPr sz="1150" b="0">
                <a:solidFill>
                  <a:srgbClr val="2E2E2E"/>
                </a:solidFill>
                <a:latin typeface="Calibri"/>
              </a:rPr>
              <a:t>▪ Likely (base forecast): 1,531,700 US$ Mn at</a:t>
            </a:r>
          </a:p>
        </p:txBody>
      </p:sp>
      <p:pic>
        <p:nvPicPr>
          <p:cNvPr id="64" name="Picture 63" descr="lock.png"/>
          <p:cNvPicPr>
            <a:picLocks noChangeAspect="1"/>
          </p:cNvPicPr>
          <p:nvPr/>
        </p:nvPicPr>
        <p:blipFill>
          <a:blip r:embed="rId5"/>
          <a:stretch>
            <a:fillRect/>
          </a:stretch>
        </p:blipFill>
        <p:spPr>
          <a:xfrm>
            <a:off x="2953869" y="5589714"/>
            <a:ext cx="134549" cy="195707"/>
          </a:xfrm>
          <a:prstGeom prst="rect">
            <a:avLst/>
          </a:prstGeom>
        </p:spPr>
      </p:pic>
      <p:sp>
        <p:nvSpPr>
          <p:cNvPr id="65" name="TextBox 64"/>
          <p:cNvSpPr txBox="1"/>
          <p:nvPr/>
        </p:nvSpPr>
        <p:spPr>
          <a:xfrm>
            <a:off x="3128979"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6" name="TextBox 65"/>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7" name="Picture 66" descr="lock.png"/>
          <p:cNvPicPr>
            <a:picLocks noChangeAspect="1"/>
          </p:cNvPicPr>
          <p:nvPr/>
        </p:nvPicPr>
        <p:blipFill>
          <a:blip r:embed="rId5"/>
          <a:stretch>
            <a:fillRect/>
          </a:stretch>
        </p:blipFill>
        <p:spPr>
          <a:xfrm>
            <a:off x="1194994" y="5817552"/>
            <a:ext cx="134549" cy="195707"/>
          </a:xfrm>
          <a:prstGeom prst="rect">
            <a:avLst/>
          </a:prstGeom>
        </p:spPr>
      </p:pic>
      <p:sp>
        <p:nvSpPr>
          <p:cNvPr id="68" name="TextBox 67"/>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9" name="Picture 68" descr="lock.png"/>
          <p:cNvPicPr>
            <a:picLocks noChangeAspect="1"/>
          </p:cNvPicPr>
          <p:nvPr/>
        </p:nvPicPr>
        <p:blipFill>
          <a:blip r:embed="rId5"/>
          <a:stretch>
            <a:fillRect/>
          </a:stretch>
        </p:blipFill>
        <p:spPr>
          <a:xfrm>
            <a:off x="2017310" y="5817552"/>
            <a:ext cx="134549" cy="195707"/>
          </a:xfrm>
          <a:prstGeom prst="rect">
            <a:avLst/>
          </a:prstGeom>
        </p:spPr>
      </p:pic>
      <p:sp>
        <p:nvSpPr>
          <p:cNvPr id="70" name="TextBox 69"/>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1" name="TextBox 70"/>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2" name="Picture 71" descr="lock.png"/>
          <p:cNvPicPr>
            <a:picLocks noChangeAspect="1"/>
          </p:cNvPicPr>
          <p:nvPr/>
        </p:nvPicPr>
        <p:blipFill>
          <a:blip r:embed="rId5"/>
          <a:stretch>
            <a:fillRect/>
          </a:stretch>
        </p:blipFill>
        <p:spPr>
          <a:xfrm>
            <a:off x="3885509" y="6045390"/>
            <a:ext cx="134549" cy="195707"/>
          </a:xfrm>
          <a:prstGeom prst="rect">
            <a:avLst/>
          </a:prstGeom>
        </p:spPr>
      </p:pic>
      <p:sp>
        <p:nvSpPr>
          <p:cNvPr id="73" name="TextBox 72"/>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4"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Off-Highway Vehicle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 Regional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7 regions,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330779"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330779"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19" name="Rectangle 18"/>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370364"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311979" y="1773916"/>
            <a:ext cx="1330779"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11979" y="1992961"/>
            <a:ext cx="1330779"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26" name="Rectangle 25"/>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3815443"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4757057" y="1773916"/>
            <a:ext cx="1330779"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57057" y="1992961"/>
            <a:ext cx="1330779"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33" name="Rectangle 32"/>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5260521"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6202136" y="1773916"/>
            <a:ext cx="1330779"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02136" y="1992961"/>
            <a:ext cx="1330779"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40" name="Rectangle 39"/>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670560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7647214" y="1773916"/>
            <a:ext cx="1330779"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647214" y="1992961"/>
            <a:ext cx="1330779"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47" name="Rectangle 46"/>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8150679"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9092293" y="1773916"/>
            <a:ext cx="1330779"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92293" y="1992961"/>
            <a:ext cx="1330779"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Eastern Europe</a:t>
            </a:r>
          </a:p>
        </p:txBody>
      </p:sp>
      <p:sp>
        <p:nvSpPr>
          <p:cNvPr id="54" name="Rectangle 53"/>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5" name="Rectangle 54"/>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6" name="Rectangle 55"/>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7" name="Oval 56"/>
          <p:cNvSpPr/>
          <p:nvPr/>
        </p:nvSpPr>
        <p:spPr>
          <a:xfrm>
            <a:off x="9595757"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58" name="Rounded Rectangle 57"/>
          <p:cNvSpPr/>
          <p:nvPr/>
        </p:nvSpPr>
        <p:spPr>
          <a:xfrm>
            <a:off x="10537371" y="1773916"/>
            <a:ext cx="1330779" cy="438089"/>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537371" y="1992961"/>
            <a:ext cx="1330779" cy="219044"/>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Calibri"/>
              </a:rPr>
              <a:t>Western Europe</a:t>
            </a:r>
          </a:p>
        </p:txBody>
      </p:sp>
      <p:sp>
        <p:nvSpPr>
          <p:cNvPr id="61" name="Rectangle 60"/>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2" name="Rectangle 61"/>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3" name="Rectangle 62"/>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
            </a:r>
          </a:p>
        </p:txBody>
      </p:sp>
      <p:sp>
        <p:nvSpPr>
          <p:cNvPr id="64" name="Oval 63"/>
          <p:cNvSpPr/>
          <p:nvPr/>
        </p:nvSpPr>
        <p:spPr>
          <a:xfrm>
            <a:off x="11040836" y="1445350"/>
            <a:ext cx="323850" cy="310313"/>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65" name="Rounded Rectangle 64"/>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7" name="Rectangle 66"/>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9" name="Rounded Rectangle 68"/>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71" name="Rectangle 70"/>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C7A89"/>
                </a:solidFill>
                <a:latin typeface="Calibri"/>
              </a:rPr>
              <a:t/>
            </a:r>
            <a:r>
              <a:rPr sz="1100" b="1">
                <a:solidFill>
                  <a:srgbClr val="6C7A89"/>
                </a:solidFill>
                <a:latin typeface="Calibri"/>
              </a:rPr>
              <a:t/>
            </a:r>
            <a:r>
              <a:rPr sz="1100" b="0">
                <a:solidFill>
                  <a:srgbClr val="2E2E2E"/>
                </a:solidFill>
                <a:latin typeface="Calibri"/>
              </a:rPr>
              <a:t/>
            </a:r>
          </a:p>
        </p:txBody>
      </p:sp>
      <p:sp>
        <p:nvSpPr>
          <p:cNvPr id="73" name="Rounded Rectangle 72"/>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5" name="Rectangle 74"/>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77" name="Rectangle 76"/>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The Global market is projected to grow at a CAGR of 4.8% from 2026 to 2036.</a:t>
            </a:r>
          </a:p>
        </p:txBody>
      </p:sp>
      <p:sp>
        <p:nvSpPr>
          <p:cNvPr id="79" name="TextBox 78"/>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80" name="Rectangle 7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82" name="Picture 81" descr="379_892_605E5C.png"/>
          <p:cNvPicPr>
            <a:picLocks noChangeAspect="1"/>
          </p:cNvPicPr>
          <p:nvPr/>
        </p:nvPicPr>
        <p:blipFill>
          <a:blip r:embed="rId4"/>
          <a:stretch>
            <a:fillRect/>
          </a:stretch>
        </p:blipFill>
        <p:spPr>
          <a:xfrm>
            <a:off x="1717902" y="2286582"/>
            <a:ext cx="1628775" cy="361950"/>
          </a:xfrm>
          <a:prstGeom prst="rect">
            <a:avLst/>
          </a:prstGeom>
        </p:spPr>
      </p:pic>
      <p:pic>
        <p:nvPicPr>
          <p:cNvPr id="83" name="Picture 82" descr="563_557_605E5C.png"/>
          <p:cNvPicPr>
            <a:picLocks noChangeAspect="1"/>
          </p:cNvPicPr>
          <p:nvPr/>
        </p:nvPicPr>
        <p:blipFill>
          <a:blip r:embed="rId5"/>
          <a:stretch>
            <a:fillRect/>
          </a:stretch>
        </p:blipFill>
        <p:spPr>
          <a:xfrm>
            <a:off x="1717902" y="2779432"/>
            <a:ext cx="1628775" cy="361950"/>
          </a:xfrm>
          <a:prstGeom prst="rect">
            <a:avLst/>
          </a:prstGeom>
        </p:spPr>
      </p:pic>
      <p:pic>
        <p:nvPicPr>
          <p:cNvPr id="84" name="Picture 83" descr="4_0__605E5C.png"/>
          <p:cNvPicPr>
            <a:picLocks noChangeAspect="1"/>
          </p:cNvPicPr>
          <p:nvPr/>
        </p:nvPicPr>
        <p:blipFill>
          <a:blip r:embed="rId6"/>
          <a:stretch>
            <a:fillRect/>
          </a:stretch>
        </p:blipFill>
        <p:spPr>
          <a:xfrm>
            <a:off x="2041071" y="3272281"/>
            <a:ext cx="982436" cy="361950"/>
          </a:xfrm>
          <a:prstGeom prst="rect">
            <a:avLst/>
          </a:prstGeom>
        </p:spPr>
      </p:pic>
      <p:pic>
        <p:nvPicPr>
          <p:cNvPr id="85" name="Picture 84" descr="149_654_605E5C.png"/>
          <p:cNvPicPr>
            <a:picLocks noChangeAspect="1"/>
          </p:cNvPicPr>
          <p:nvPr/>
        </p:nvPicPr>
        <p:blipFill>
          <a:blip r:embed="rId7"/>
          <a:stretch>
            <a:fillRect/>
          </a:stretch>
        </p:blipFill>
        <p:spPr>
          <a:xfrm>
            <a:off x="3162980" y="2286582"/>
            <a:ext cx="1628775" cy="361950"/>
          </a:xfrm>
          <a:prstGeom prst="rect">
            <a:avLst/>
          </a:prstGeom>
        </p:spPr>
      </p:pic>
      <p:pic>
        <p:nvPicPr>
          <p:cNvPr id="86" name="Picture 85" descr="234_467_605E5C.png"/>
          <p:cNvPicPr>
            <a:picLocks noChangeAspect="1"/>
          </p:cNvPicPr>
          <p:nvPr/>
        </p:nvPicPr>
        <p:blipFill>
          <a:blip r:embed="rId8"/>
          <a:stretch>
            <a:fillRect/>
          </a:stretch>
        </p:blipFill>
        <p:spPr>
          <a:xfrm>
            <a:off x="3162980" y="2779432"/>
            <a:ext cx="1628775" cy="361950"/>
          </a:xfrm>
          <a:prstGeom prst="rect">
            <a:avLst/>
          </a:prstGeom>
        </p:spPr>
      </p:pic>
      <p:pic>
        <p:nvPicPr>
          <p:cNvPr id="87" name="Picture 86" descr="4_6__605E5C.png"/>
          <p:cNvPicPr>
            <a:picLocks noChangeAspect="1"/>
          </p:cNvPicPr>
          <p:nvPr/>
        </p:nvPicPr>
        <p:blipFill>
          <a:blip r:embed="rId9"/>
          <a:stretch>
            <a:fillRect/>
          </a:stretch>
        </p:blipFill>
        <p:spPr>
          <a:xfrm>
            <a:off x="3486150" y="3272281"/>
            <a:ext cx="982436" cy="361950"/>
          </a:xfrm>
          <a:prstGeom prst="rect">
            <a:avLst/>
          </a:prstGeom>
        </p:spPr>
      </p:pic>
      <p:pic>
        <p:nvPicPr>
          <p:cNvPr id="88" name="Picture 87" descr="138_142_605E5C.png"/>
          <p:cNvPicPr>
            <a:picLocks noChangeAspect="1"/>
          </p:cNvPicPr>
          <p:nvPr/>
        </p:nvPicPr>
        <p:blipFill>
          <a:blip r:embed="rId10"/>
          <a:stretch>
            <a:fillRect/>
          </a:stretch>
        </p:blipFill>
        <p:spPr>
          <a:xfrm>
            <a:off x="4608059" y="2286582"/>
            <a:ext cx="1628775" cy="361950"/>
          </a:xfrm>
          <a:prstGeom prst="rect">
            <a:avLst/>
          </a:prstGeom>
        </p:spPr>
      </p:pic>
      <p:pic>
        <p:nvPicPr>
          <p:cNvPr id="89" name="Picture 88" descr="243_531_605E5C.png"/>
          <p:cNvPicPr>
            <a:picLocks noChangeAspect="1"/>
          </p:cNvPicPr>
          <p:nvPr/>
        </p:nvPicPr>
        <p:blipFill>
          <a:blip r:embed="rId11"/>
          <a:stretch>
            <a:fillRect/>
          </a:stretch>
        </p:blipFill>
        <p:spPr>
          <a:xfrm>
            <a:off x="4608059" y="2779432"/>
            <a:ext cx="1628775" cy="361950"/>
          </a:xfrm>
          <a:prstGeom prst="rect">
            <a:avLst/>
          </a:prstGeom>
        </p:spPr>
      </p:pic>
      <p:pic>
        <p:nvPicPr>
          <p:cNvPr id="90" name="Picture 89" descr="5_8__605E5C.png"/>
          <p:cNvPicPr>
            <a:picLocks noChangeAspect="1"/>
          </p:cNvPicPr>
          <p:nvPr/>
        </p:nvPicPr>
        <p:blipFill>
          <a:blip r:embed="rId12"/>
          <a:stretch>
            <a:fillRect/>
          </a:stretch>
        </p:blipFill>
        <p:spPr>
          <a:xfrm>
            <a:off x="4931228" y="3272281"/>
            <a:ext cx="982436" cy="361950"/>
          </a:xfrm>
          <a:prstGeom prst="rect">
            <a:avLst/>
          </a:prstGeom>
        </p:spPr>
      </p:pic>
      <p:pic>
        <p:nvPicPr>
          <p:cNvPr id="91" name="Picture 90" descr="92_095_605E5C.png"/>
          <p:cNvPicPr>
            <a:picLocks noChangeAspect="1"/>
          </p:cNvPicPr>
          <p:nvPr/>
        </p:nvPicPr>
        <p:blipFill>
          <a:blip r:embed="rId13"/>
          <a:stretch>
            <a:fillRect/>
          </a:stretch>
        </p:blipFill>
        <p:spPr>
          <a:xfrm>
            <a:off x="6163015" y="2286582"/>
            <a:ext cx="1409020" cy="361950"/>
          </a:xfrm>
          <a:prstGeom prst="rect">
            <a:avLst/>
          </a:prstGeom>
        </p:spPr>
      </p:pic>
      <p:pic>
        <p:nvPicPr>
          <p:cNvPr id="92" name="Picture 91" descr="160_065_605E5C.png"/>
          <p:cNvPicPr>
            <a:picLocks noChangeAspect="1"/>
          </p:cNvPicPr>
          <p:nvPr/>
        </p:nvPicPr>
        <p:blipFill>
          <a:blip r:embed="rId14"/>
          <a:stretch>
            <a:fillRect/>
          </a:stretch>
        </p:blipFill>
        <p:spPr>
          <a:xfrm>
            <a:off x="6053138" y="2779432"/>
            <a:ext cx="1628775" cy="361950"/>
          </a:xfrm>
          <a:prstGeom prst="rect">
            <a:avLst/>
          </a:prstGeom>
        </p:spPr>
      </p:pic>
      <p:pic>
        <p:nvPicPr>
          <p:cNvPr id="93" name="Picture 92" descr="5_7__605E5C.png"/>
          <p:cNvPicPr>
            <a:picLocks noChangeAspect="1"/>
          </p:cNvPicPr>
          <p:nvPr/>
        </p:nvPicPr>
        <p:blipFill>
          <a:blip r:embed="rId15"/>
          <a:stretch>
            <a:fillRect/>
          </a:stretch>
        </p:blipFill>
        <p:spPr>
          <a:xfrm>
            <a:off x="6376307" y="3272281"/>
            <a:ext cx="982436" cy="361950"/>
          </a:xfrm>
          <a:prstGeom prst="rect">
            <a:avLst/>
          </a:prstGeom>
        </p:spPr>
      </p:pic>
      <p:pic>
        <p:nvPicPr>
          <p:cNvPr id="94" name="Picture 93" descr="80_583_605E5C.png"/>
          <p:cNvPicPr>
            <a:picLocks noChangeAspect="1"/>
          </p:cNvPicPr>
          <p:nvPr/>
        </p:nvPicPr>
        <p:blipFill>
          <a:blip r:embed="rId16"/>
          <a:stretch>
            <a:fillRect/>
          </a:stretch>
        </p:blipFill>
        <p:spPr>
          <a:xfrm>
            <a:off x="7608093" y="2286582"/>
            <a:ext cx="1409020" cy="361950"/>
          </a:xfrm>
          <a:prstGeom prst="rect">
            <a:avLst/>
          </a:prstGeom>
        </p:spPr>
      </p:pic>
      <p:pic>
        <p:nvPicPr>
          <p:cNvPr id="95" name="Picture 94" descr="127_752_605E5C.png"/>
          <p:cNvPicPr>
            <a:picLocks noChangeAspect="1"/>
          </p:cNvPicPr>
          <p:nvPr/>
        </p:nvPicPr>
        <p:blipFill>
          <a:blip r:embed="rId17"/>
          <a:stretch>
            <a:fillRect/>
          </a:stretch>
        </p:blipFill>
        <p:spPr>
          <a:xfrm>
            <a:off x="7498216" y="2779432"/>
            <a:ext cx="1628775" cy="361950"/>
          </a:xfrm>
          <a:prstGeom prst="rect">
            <a:avLst/>
          </a:prstGeom>
        </p:spPr>
      </p:pic>
      <p:pic>
        <p:nvPicPr>
          <p:cNvPr id="96" name="Picture 95" descr="4_7__605E5C.png"/>
          <p:cNvPicPr>
            <a:picLocks noChangeAspect="1"/>
          </p:cNvPicPr>
          <p:nvPr/>
        </p:nvPicPr>
        <p:blipFill>
          <a:blip r:embed="rId18"/>
          <a:stretch>
            <a:fillRect/>
          </a:stretch>
        </p:blipFill>
        <p:spPr>
          <a:xfrm>
            <a:off x="7821385" y="3272281"/>
            <a:ext cx="982436" cy="361950"/>
          </a:xfrm>
          <a:prstGeom prst="rect">
            <a:avLst/>
          </a:prstGeom>
        </p:spPr>
      </p:pic>
      <p:pic>
        <p:nvPicPr>
          <p:cNvPr id="97" name="Picture 96" descr="70_730_605E5C.png"/>
          <p:cNvPicPr>
            <a:picLocks noChangeAspect="1"/>
          </p:cNvPicPr>
          <p:nvPr/>
        </p:nvPicPr>
        <p:blipFill>
          <a:blip r:embed="rId19"/>
          <a:stretch>
            <a:fillRect/>
          </a:stretch>
        </p:blipFill>
        <p:spPr>
          <a:xfrm>
            <a:off x="9053172" y="2286582"/>
            <a:ext cx="1409020" cy="361950"/>
          </a:xfrm>
          <a:prstGeom prst="rect">
            <a:avLst/>
          </a:prstGeom>
        </p:spPr>
      </p:pic>
      <p:pic>
        <p:nvPicPr>
          <p:cNvPr id="98" name="Picture 97" descr="120_876_605E5C.png"/>
          <p:cNvPicPr>
            <a:picLocks noChangeAspect="1"/>
          </p:cNvPicPr>
          <p:nvPr/>
        </p:nvPicPr>
        <p:blipFill>
          <a:blip r:embed="rId20"/>
          <a:stretch>
            <a:fillRect/>
          </a:stretch>
        </p:blipFill>
        <p:spPr>
          <a:xfrm>
            <a:off x="8943295" y="2779432"/>
            <a:ext cx="1628775" cy="361950"/>
          </a:xfrm>
          <a:prstGeom prst="rect">
            <a:avLst/>
          </a:prstGeom>
        </p:spPr>
      </p:pic>
      <p:pic>
        <p:nvPicPr>
          <p:cNvPr id="99" name="Picture 98" descr="5_5__605E5C.png"/>
          <p:cNvPicPr>
            <a:picLocks noChangeAspect="1"/>
          </p:cNvPicPr>
          <p:nvPr/>
        </p:nvPicPr>
        <p:blipFill>
          <a:blip r:embed="rId21"/>
          <a:stretch>
            <a:fillRect/>
          </a:stretch>
        </p:blipFill>
        <p:spPr>
          <a:xfrm>
            <a:off x="9266464" y="3272281"/>
            <a:ext cx="982436" cy="361950"/>
          </a:xfrm>
          <a:prstGeom prst="rect">
            <a:avLst/>
          </a:prstGeom>
        </p:spPr>
      </p:pic>
      <p:pic>
        <p:nvPicPr>
          <p:cNvPr id="100" name="Picture 99" descr="48_203_605E5C.png"/>
          <p:cNvPicPr>
            <a:picLocks noChangeAspect="1"/>
          </p:cNvPicPr>
          <p:nvPr/>
        </p:nvPicPr>
        <p:blipFill>
          <a:blip r:embed="rId22"/>
          <a:stretch>
            <a:fillRect/>
          </a:stretch>
        </p:blipFill>
        <p:spPr>
          <a:xfrm>
            <a:off x="10498250" y="2286582"/>
            <a:ext cx="1409020" cy="361950"/>
          </a:xfrm>
          <a:prstGeom prst="rect">
            <a:avLst/>
          </a:prstGeom>
        </p:spPr>
      </p:pic>
      <p:pic>
        <p:nvPicPr>
          <p:cNvPr id="101" name="Picture 100" descr="81_453_605E5C.png"/>
          <p:cNvPicPr>
            <a:picLocks noChangeAspect="1"/>
          </p:cNvPicPr>
          <p:nvPr/>
        </p:nvPicPr>
        <p:blipFill>
          <a:blip r:embed="rId23"/>
          <a:stretch>
            <a:fillRect/>
          </a:stretch>
        </p:blipFill>
        <p:spPr>
          <a:xfrm>
            <a:off x="10498250" y="2779432"/>
            <a:ext cx="1409020" cy="361950"/>
          </a:xfrm>
          <a:prstGeom prst="rect">
            <a:avLst/>
          </a:prstGeom>
        </p:spPr>
      </p:pic>
      <p:pic>
        <p:nvPicPr>
          <p:cNvPr id="102" name="Picture 101" descr="5_4__605E5C.png"/>
          <p:cNvPicPr>
            <a:picLocks noChangeAspect="1"/>
          </p:cNvPicPr>
          <p:nvPr/>
        </p:nvPicPr>
        <p:blipFill>
          <a:blip r:embed="rId24"/>
          <a:stretch>
            <a:fillRect/>
          </a:stretch>
        </p:blipFill>
        <p:spPr>
          <a:xfrm>
            <a:off x="10711542" y="3272281"/>
            <a:ext cx="982436" cy="361950"/>
          </a:xfrm>
          <a:prstGeom prst="rect">
            <a:avLst/>
          </a:prstGeom>
        </p:spPr>
      </p:pic>
      <p:pic>
        <p:nvPicPr>
          <p:cNvPr id="103" name="Picture 102" descr="lock.png"/>
          <p:cNvPicPr>
            <a:picLocks noChangeAspect="1"/>
          </p:cNvPicPr>
          <p:nvPr/>
        </p:nvPicPr>
        <p:blipFill>
          <a:blip r:embed="rId25"/>
          <a:stretch>
            <a:fillRect/>
          </a:stretch>
        </p:blipFill>
        <p:spPr>
          <a:xfrm>
            <a:off x="2438944" y="2827057"/>
            <a:ext cx="183356" cy="266700"/>
          </a:xfrm>
          <a:prstGeom prst="rect">
            <a:avLst/>
          </a:prstGeom>
        </p:spPr>
      </p:pic>
      <p:pic>
        <p:nvPicPr>
          <p:cNvPr id="104" name="Picture 103" descr="lock.png"/>
          <p:cNvPicPr>
            <a:picLocks noChangeAspect="1"/>
          </p:cNvPicPr>
          <p:nvPr/>
        </p:nvPicPr>
        <p:blipFill>
          <a:blip r:embed="rId25"/>
          <a:stretch>
            <a:fillRect/>
          </a:stretch>
        </p:blipFill>
        <p:spPr>
          <a:xfrm>
            <a:off x="3884023" y="2827057"/>
            <a:ext cx="183356" cy="266700"/>
          </a:xfrm>
          <a:prstGeom prst="rect">
            <a:avLst/>
          </a:prstGeom>
        </p:spPr>
      </p:pic>
      <p:pic>
        <p:nvPicPr>
          <p:cNvPr id="105" name="Picture 104" descr="lock.png"/>
          <p:cNvPicPr>
            <a:picLocks noChangeAspect="1"/>
          </p:cNvPicPr>
          <p:nvPr/>
        </p:nvPicPr>
        <p:blipFill>
          <a:blip r:embed="rId25"/>
          <a:stretch>
            <a:fillRect/>
          </a:stretch>
        </p:blipFill>
        <p:spPr>
          <a:xfrm>
            <a:off x="5329101" y="2827057"/>
            <a:ext cx="183356" cy="266700"/>
          </a:xfrm>
          <a:prstGeom prst="rect">
            <a:avLst/>
          </a:prstGeom>
        </p:spPr>
      </p:pic>
      <p:pic>
        <p:nvPicPr>
          <p:cNvPr id="106" name="Picture 105" descr="lock.png"/>
          <p:cNvPicPr>
            <a:picLocks noChangeAspect="1"/>
          </p:cNvPicPr>
          <p:nvPr/>
        </p:nvPicPr>
        <p:blipFill>
          <a:blip r:embed="rId25"/>
          <a:stretch>
            <a:fillRect/>
          </a:stretch>
        </p:blipFill>
        <p:spPr>
          <a:xfrm>
            <a:off x="6774180" y="2827057"/>
            <a:ext cx="183356" cy="266700"/>
          </a:xfrm>
          <a:prstGeom prst="rect">
            <a:avLst/>
          </a:prstGeom>
        </p:spPr>
      </p:pic>
      <p:pic>
        <p:nvPicPr>
          <p:cNvPr id="107" name="Picture 106" descr="lock.png"/>
          <p:cNvPicPr>
            <a:picLocks noChangeAspect="1"/>
          </p:cNvPicPr>
          <p:nvPr/>
        </p:nvPicPr>
        <p:blipFill>
          <a:blip r:embed="rId25"/>
          <a:stretch>
            <a:fillRect/>
          </a:stretch>
        </p:blipFill>
        <p:spPr>
          <a:xfrm>
            <a:off x="8219258" y="2827057"/>
            <a:ext cx="183356" cy="266700"/>
          </a:xfrm>
          <a:prstGeom prst="rect">
            <a:avLst/>
          </a:prstGeom>
        </p:spPr>
      </p:pic>
      <p:pic>
        <p:nvPicPr>
          <p:cNvPr id="108" name="Picture 107" descr="lock.png"/>
          <p:cNvPicPr>
            <a:picLocks noChangeAspect="1"/>
          </p:cNvPicPr>
          <p:nvPr/>
        </p:nvPicPr>
        <p:blipFill>
          <a:blip r:embed="rId25"/>
          <a:stretch>
            <a:fillRect/>
          </a:stretch>
        </p:blipFill>
        <p:spPr>
          <a:xfrm>
            <a:off x="9664337" y="2827057"/>
            <a:ext cx="183356" cy="266700"/>
          </a:xfrm>
          <a:prstGeom prst="rect">
            <a:avLst/>
          </a:prstGeom>
        </p:spPr>
      </p:pic>
      <p:pic>
        <p:nvPicPr>
          <p:cNvPr id="109" name="Picture 108" descr="lock.png"/>
          <p:cNvPicPr>
            <a:picLocks noChangeAspect="1"/>
          </p:cNvPicPr>
          <p:nvPr/>
        </p:nvPicPr>
        <p:blipFill>
          <a:blip r:embed="rId25"/>
          <a:stretch>
            <a:fillRect/>
          </a:stretch>
        </p:blipFill>
        <p:spPr>
          <a:xfrm>
            <a:off x="11109415" y="2827057"/>
            <a:ext cx="183356" cy="266700"/>
          </a:xfrm>
          <a:prstGeom prst="rect">
            <a:avLst/>
          </a:prstGeom>
        </p:spPr>
      </p:pic>
      <p:sp>
        <p:nvSpPr>
          <p:cNvPr id="110" name="TextBox 109"/>
          <p:cNvSpPr txBox="1"/>
          <p:nvPr/>
        </p:nvSpPr>
        <p:spPr>
          <a:xfrm>
            <a:off x="485775" y="4229437"/>
            <a:ext cx="2606352" cy="186689"/>
          </a:xfrm>
          <a:prstGeom prst="rect">
            <a:avLst/>
          </a:prstGeom>
          <a:noFill/>
        </p:spPr>
        <p:txBody>
          <a:bodyPr wrap="none" lIns="0" rIns="0" tIns="0" bIns="0">
            <a:spAutoFit/>
          </a:bodyPr>
          <a:lstStyle/>
          <a:p>
            <a:r>
              <a:rPr sz="1100" b="0">
                <a:solidFill>
                  <a:srgbClr val="2E2E2E"/>
                </a:solidFill>
                <a:latin typeface="Calibri"/>
              </a:rPr>
              <a:t>North America off-highway vehicle market is</a:t>
            </a:r>
          </a:p>
        </p:txBody>
      </p:sp>
      <p:sp>
        <p:nvSpPr>
          <p:cNvPr id="111" name="TextBox 110"/>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12" name="Picture 111" descr="lock.png"/>
          <p:cNvPicPr>
            <a:picLocks noChangeAspect="1"/>
          </p:cNvPicPr>
          <p:nvPr/>
        </p:nvPicPr>
        <p:blipFill>
          <a:blip r:embed="rId25"/>
          <a:stretch>
            <a:fillRect/>
          </a:stretch>
        </p:blipFill>
        <p:spPr>
          <a:xfrm>
            <a:off x="1678376" y="4387298"/>
            <a:ext cx="128699" cy="187198"/>
          </a:xfrm>
          <a:prstGeom prst="rect">
            <a:avLst/>
          </a:prstGeom>
        </p:spPr>
      </p:pic>
      <p:sp>
        <p:nvSpPr>
          <p:cNvPr id="113" name="TextBox 112"/>
          <p:cNvSpPr txBox="1"/>
          <p:nvPr/>
        </p:nvSpPr>
        <p:spPr>
          <a:xfrm>
            <a:off x="1845872" y="4397077"/>
            <a:ext cx="1535683" cy="186689"/>
          </a:xfrm>
          <a:prstGeom prst="rect">
            <a:avLst/>
          </a:prstGeom>
          <a:noFill/>
        </p:spPr>
        <p:txBody>
          <a:bodyPr wrap="none" lIns="0" rIns="0" tIns="0" bIns="0">
            <a:spAutoFit/>
          </a:bodyPr>
          <a:lstStyle/>
          <a:p>
            <a:r>
              <a:rPr sz="1100" b="0">
                <a:solidFill>
                  <a:srgbClr val="2E2E2E"/>
                </a:solidFill>
                <a:latin typeface="Calibri"/>
              </a:rPr>
              <a:t>X higher value than South</a:t>
            </a:r>
          </a:p>
        </p:txBody>
      </p:sp>
      <p:sp>
        <p:nvSpPr>
          <p:cNvPr id="114" name="TextBox 113"/>
          <p:cNvSpPr txBox="1"/>
          <p:nvPr/>
        </p:nvSpPr>
        <p:spPr>
          <a:xfrm>
            <a:off x="485775" y="4564717"/>
            <a:ext cx="2897212" cy="186689"/>
          </a:xfrm>
          <a:prstGeom prst="rect">
            <a:avLst/>
          </a:prstGeom>
          <a:noFill/>
        </p:spPr>
        <p:txBody>
          <a:bodyPr wrap="none" lIns="0" rIns="0" tIns="0" bIns="0">
            <a:spAutoFit/>
          </a:bodyPr>
          <a:lstStyle/>
          <a:p>
            <a:r>
              <a:rPr sz="1100" b="0">
                <a:solidFill>
                  <a:srgbClr val="2E2E2E"/>
                </a:solidFill>
                <a:latin typeface="Calibri"/>
              </a:rPr>
              <a:t>Asia &amp; Pacific in 2036. Among off-highway vehicle</a:t>
            </a:r>
          </a:p>
        </p:txBody>
      </p:sp>
      <p:sp>
        <p:nvSpPr>
          <p:cNvPr id="115" name="TextBox 114"/>
          <p:cNvSpPr txBox="1"/>
          <p:nvPr/>
        </p:nvSpPr>
        <p:spPr>
          <a:xfrm>
            <a:off x="485775" y="4732357"/>
            <a:ext cx="2619722" cy="186689"/>
          </a:xfrm>
          <a:prstGeom prst="rect">
            <a:avLst/>
          </a:prstGeom>
          <a:noFill/>
        </p:spPr>
        <p:txBody>
          <a:bodyPr wrap="none" lIns="0" rIns="0" tIns="0" bIns="0">
            <a:spAutoFit/>
          </a:bodyPr>
          <a:lstStyle/>
          <a:p>
            <a:r>
              <a:rPr sz="1100" b="0">
                <a:solidFill>
                  <a:srgbClr val="2E2E2E"/>
                </a:solidFill>
                <a:latin typeface="Calibri"/>
              </a:rPr>
              <a:t>by region, South Asia &amp; Pacific is expected to</a:t>
            </a:r>
          </a:p>
        </p:txBody>
      </p:sp>
      <p:sp>
        <p:nvSpPr>
          <p:cNvPr id="116" name="TextBox 115"/>
          <p:cNvSpPr txBox="1"/>
          <p:nvPr/>
        </p:nvSpPr>
        <p:spPr>
          <a:xfrm>
            <a:off x="485775" y="489999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117" name="Picture 116" descr="lock.png"/>
          <p:cNvPicPr>
            <a:picLocks noChangeAspect="1"/>
          </p:cNvPicPr>
          <p:nvPr/>
        </p:nvPicPr>
        <p:blipFill>
          <a:blip r:embed="rId25"/>
          <a:stretch>
            <a:fillRect/>
          </a:stretch>
        </p:blipFill>
        <p:spPr>
          <a:xfrm>
            <a:off x="2108919" y="4890217"/>
            <a:ext cx="128699" cy="187198"/>
          </a:xfrm>
          <a:prstGeom prst="rect">
            <a:avLst/>
          </a:prstGeom>
        </p:spPr>
      </p:pic>
      <p:sp>
        <p:nvSpPr>
          <p:cNvPr id="118" name="TextBox 117"/>
          <p:cNvSpPr txBox="1"/>
          <p:nvPr/>
        </p:nvSpPr>
        <p:spPr>
          <a:xfrm>
            <a:off x="2276415" y="489999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119" name="TextBox 118"/>
          <p:cNvSpPr txBox="1"/>
          <p:nvPr/>
        </p:nvSpPr>
        <p:spPr>
          <a:xfrm>
            <a:off x="485775" y="5067637"/>
            <a:ext cx="482475" cy="186689"/>
          </a:xfrm>
          <a:prstGeom prst="rect">
            <a:avLst/>
          </a:prstGeom>
          <a:noFill/>
        </p:spPr>
        <p:txBody>
          <a:bodyPr wrap="none" lIns="0" rIns="0" tIns="0" bIns="0">
            <a:spAutoFit/>
          </a:bodyPr>
          <a:lstStyle/>
          <a:p>
            <a:r>
              <a:rPr sz="1100" b="0">
                <a:solidFill>
                  <a:srgbClr val="2E2E2E"/>
                </a:solidFill>
                <a:latin typeface="Calibri"/>
              </a:rPr>
              <a:t>period.</a:t>
            </a:r>
          </a:p>
        </p:txBody>
      </p:sp>
      <p:sp>
        <p:nvSpPr>
          <p:cNvPr id="120" name="TextBox 119"/>
          <p:cNvSpPr txBox="1"/>
          <p:nvPr/>
        </p:nvSpPr>
        <p:spPr>
          <a:xfrm>
            <a:off x="485775" y="528556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21" name="TextBox 120"/>
          <p:cNvSpPr txBox="1"/>
          <p:nvPr/>
        </p:nvSpPr>
        <p:spPr>
          <a:xfrm>
            <a:off x="485775" y="545320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22" name="Picture 121" descr="lock.png"/>
          <p:cNvPicPr>
            <a:picLocks noChangeAspect="1"/>
          </p:cNvPicPr>
          <p:nvPr/>
        </p:nvPicPr>
        <p:blipFill>
          <a:blip r:embed="rId25"/>
          <a:stretch>
            <a:fillRect/>
          </a:stretch>
        </p:blipFill>
        <p:spPr>
          <a:xfrm>
            <a:off x="2822716" y="5443430"/>
            <a:ext cx="128699" cy="187198"/>
          </a:xfrm>
          <a:prstGeom prst="rect">
            <a:avLst/>
          </a:prstGeom>
        </p:spPr>
      </p:pic>
      <p:sp>
        <p:nvSpPr>
          <p:cNvPr id="123" name="TextBox 122"/>
          <p:cNvSpPr txBox="1"/>
          <p:nvPr/>
        </p:nvSpPr>
        <p:spPr>
          <a:xfrm>
            <a:off x="2990212" y="545320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24" name="TextBox 123"/>
          <p:cNvSpPr txBox="1"/>
          <p:nvPr/>
        </p:nvSpPr>
        <p:spPr>
          <a:xfrm>
            <a:off x="485775" y="562084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25" name="Picture 124" descr="lock.png"/>
          <p:cNvPicPr>
            <a:picLocks noChangeAspect="1"/>
          </p:cNvPicPr>
          <p:nvPr/>
        </p:nvPicPr>
        <p:blipFill>
          <a:blip r:embed="rId25"/>
          <a:stretch>
            <a:fillRect/>
          </a:stretch>
        </p:blipFill>
        <p:spPr>
          <a:xfrm>
            <a:off x="1576057" y="5611070"/>
            <a:ext cx="128699" cy="187198"/>
          </a:xfrm>
          <a:prstGeom prst="rect">
            <a:avLst/>
          </a:prstGeom>
        </p:spPr>
      </p:pic>
      <p:sp>
        <p:nvSpPr>
          <p:cNvPr id="126" name="TextBox 125"/>
          <p:cNvSpPr txBox="1"/>
          <p:nvPr/>
        </p:nvSpPr>
        <p:spPr>
          <a:xfrm>
            <a:off x="1743553" y="562084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27" name="TextBox 126"/>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28" name="Picture 127" descr="lock.png"/>
          <p:cNvPicPr>
            <a:picLocks noChangeAspect="1"/>
          </p:cNvPicPr>
          <p:nvPr/>
        </p:nvPicPr>
        <p:blipFill>
          <a:blip r:embed="rId25"/>
          <a:stretch>
            <a:fillRect/>
          </a:stretch>
        </p:blipFill>
        <p:spPr>
          <a:xfrm>
            <a:off x="4850003" y="4219658"/>
            <a:ext cx="128699" cy="187198"/>
          </a:xfrm>
          <a:prstGeom prst="rect">
            <a:avLst/>
          </a:prstGeom>
        </p:spPr>
      </p:pic>
      <p:sp>
        <p:nvSpPr>
          <p:cNvPr id="129" name="TextBox 128"/>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5"/>
          <a:stretch>
            <a:fillRect/>
          </a:stretch>
        </p:blipFill>
        <p:spPr>
          <a:xfrm>
            <a:off x="5876949" y="4219658"/>
            <a:ext cx="128699" cy="187198"/>
          </a:xfrm>
          <a:prstGeom prst="rect">
            <a:avLst/>
          </a:prstGeom>
        </p:spPr>
      </p:pic>
      <p:sp>
        <p:nvSpPr>
          <p:cNvPr id="131" name="TextBox 130"/>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32" name="TextBox 131"/>
          <p:cNvSpPr txBox="1"/>
          <p:nvPr/>
        </p:nvSpPr>
        <p:spPr>
          <a:xfrm>
            <a:off x="3838575" y="4447369"/>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33" name="Picture 132" descr="lock.png"/>
          <p:cNvPicPr>
            <a:picLocks noChangeAspect="1"/>
          </p:cNvPicPr>
          <p:nvPr/>
        </p:nvPicPr>
        <p:blipFill>
          <a:blip r:embed="rId25"/>
          <a:stretch>
            <a:fillRect/>
          </a:stretch>
        </p:blipFill>
        <p:spPr>
          <a:xfrm>
            <a:off x="4518727" y="4437590"/>
            <a:ext cx="128699" cy="187198"/>
          </a:xfrm>
          <a:prstGeom prst="rect">
            <a:avLst/>
          </a:prstGeom>
        </p:spPr>
      </p:pic>
      <p:sp>
        <p:nvSpPr>
          <p:cNvPr id="134" name="TextBox 133"/>
          <p:cNvSpPr txBox="1"/>
          <p:nvPr/>
        </p:nvSpPr>
        <p:spPr>
          <a:xfrm>
            <a:off x="468622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5"/>
          <a:stretch>
            <a:fillRect/>
          </a:stretch>
        </p:blipFill>
        <p:spPr>
          <a:xfrm>
            <a:off x="5545673" y="4437590"/>
            <a:ext cx="128699" cy="187198"/>
          </a:xfrm>
          <a:prstGeom prst="rect">
            <a:avLst/>
          </a:prstGeom>
        </p:spPr>
      </p:pic>
      <p:sp>
        <p:nvSpPr>
          <p:cNvPr id="136" name="TextBox 135"/>
          <p:cNvSpPr txBox="1"/>
          <p:nvPr/>
        </p:nvSpPr>
        <p:spPr>
          <a:xfrm>
            <a:off x="571316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7" name="TextBox 136"/>
          <p:cNvSpPr txBox="1"/>
          <p:nvPr/>
        </p:nvSpPr>
        <p:spPr>
          <a:xfrm>
            <a:off x="3838575" y="4665301"/>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8" name="Picture 137" descr="lock.png"/>
          <p:cNvPicPr>
            <a:picLocks noChangeAspect="1"/>
          </p:cNvPicPr>
          <p:nvPr/>
        </p:nvPicPr>
        <p:blipFill>
          <a:blip r:embed="rId25"/>
          <a:stretch>
            <a:fillRect/>
          </a:stretch>
        </p:blipFill>
        <p:spPr>
          <a:xfrm>
            <a:off x="5136770" y="4655522"/>
            <a:ext cx="128699" cy="187198"/>
          </a:xfrm>
          <a:prstGeom prst="rect">
            <a:avLst/>
          </a:prstGeom>
        </p:spPr>
      </p:pic>
      <p:sp>
        <p:nvSpPr>
          <p:cNvPr id="139" name="TextBox 138"/>
          <p:cNvSpPr txBox="1"/>
          <p:nvPr/>
        </p:nvSpPr>
        <p:spPr>
          <a:xfrm>
            <a:off x="5304266"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5"/>
          <a:stretch>
            <a:fillRect/>
          </a:stretch>
        </p:blipFill>
        <p:spPr>
          <a:xfrm>
            <a:off x="6163716" y="4655522"/>
            <a:ext cx="128699" cy="187198"/>
          </a:xfrm>
          <a:prstGeom prst="rect">
            <a:avLst/>
          </a:prstGeom>
        </p:spPr>
      </p:pic>
      <p:sp>
        <p:nvSpPr>
          <p:cNvPr id="141" name="TextBox 140"/>
          <p:cNvSpPr txBox="1"/>
          <p:nvPr/>
        </p:nvSpPr>
        <p:spPr>
          <a:xfrm>
            <a:off x="6331212"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42" name="TextBox 141"/>
          <p:cNvSpPr txBox="1"/>
          <p:nvPr/>
        </p:nvSpPr>
        <p:spPr>
          <a:xfrm>
            <a:off x="3838575" y="4883233"/>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43" name="Picture 142" descr="lock.png"/>
          <p:cNvPicPr>
            <a:picLocks noChangeAspect="1"/>
          </p:cNvPicPr>
          <p:nvPr/>
        </p:nvPicPr>
        <p:blipFill>
          <a:blip r:embed="rId25"/>
          <a:stretch>
            <a:fillRect/>
          </a:stretch>
        </p:blipFill>
        <p:spPr>
          <a:xfrm>
            <a:off x="4794887" y="4873454"/>
            <a:ext cx="128699" cy="187198"/>
          </a:xfrm>
          <a:prstGeom prst="rect">
            <a:avLst/>
          </a:prstGeom>
        </p:spPr>
      </p:pic>
      <p:sp>
        <p:nvSpPr>
          <p:cNvPr id="144" name="TextBox 143"/>
          <p:cNvSpPr txBox="1"/>
          <p:nvPr/>
        </p:nvSpPr>
        <p:spPr>
          <a:xfrm>
            <a:off x="4962383"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5"/>
          <a:stretch>
            <a:fillRect/>
          </a:stretch>
        </p:blipFill>
        <p:spPr>
          <a:xfrm>
            <a:off x="5821833" y="4873454"/>
            <a:ext cx="128699" cy="187198"/>
          </a:xfrm>
          <a:prstGeom prst="rect">
            <a:avLst/>
          </a:prstGeom>
        </p:spPr>
      </p:pic>
      <p:sp>
        <p:nvSpPr>
          <p:cNvPr id="146" name="TextBox 145"/>
          <p:cNvSpPr txBox="1"/>
          <p:nvPr/>
        </p:nvSpPr>
        <p:spPr>
          <a:xfrm>
            <a:off x="5989329" y="4883233"/>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7" name="TextBox 146"/>
          <p:cNvSpPr txBox="1"/>
          <p:nvPr/>
        </p:nvSpPr>
        <p:spPr>
          <a:xfrm>
            <a:off x="3838575" y="5101165"/>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8" name="Picture 147" descr="lock.png"/>
          <p:cNvPicPr>
            <a:picLocks noChangeAspect="1"/>
          </p:cNvPicPr>
          <p:nvPr/>
        </p:nvPicPr>
        <p:blipFill>
          <a:blip r:embed="rId25"/>
          <a:stretch>
            <a:fillRect/>
          </a:stretch>
        </p:blipFill>
        <p:spPr>
          <a:xfrm>
            <a:off x="5173571" y="5091385"/>
            <a:ext cx="128699" cy="187198"/>
          </a:xfrm>
          <a:prstGeom prst="rect">
            <a:avLst/>
          </a:prstGeom>
        </p:spPr>
      </p:pic>
      <p:sp>
        <p:nvSpPr>
          <p:cNvPr id="149" name="TextBox 148"/>
          <p:cNvSpPr txBox="1"/>
          <p:nvPr/>
        </p:nvSpPr>
        <p:spPr>
          <a:xfrm>
            <a:off x="5341067"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0" name="Picture 149" descr="lock.png"/>
          <p:cNvPicPr>
            <a:picLocks noChangeAspect="1"/>
          </p:cNvPicPr>
          <p:nvPr/>
        </p:nvPicPr>
        <p:blipFill>
          <a:blip r:embed="rId25"/>
          <a:stretch>
            <a:fillRect/>
          </a:stretch>
        </p:blipFill>
        <p:spPr>
          <a:xfrm>
            <a:off x="6200517" y="5091385"/>
            <a:ext cx="128699" cy="187198"/>
          </a:xfrm>
          <a:prstGeom prst="rect">
            <a:avLst/>
          </a:prstGeom>
        </p:spPr>
      </p:pic>
      <p:sp>
        <p:nvSpPr>
          <p:cNvPr id="151" name="TextBox 150"/>
          <p:cNvSpPr txBox="1"/>
          <p:nvPr/>
        </p:nvSpPr>
        <p:spPr>
          <a:xfrm>
            <a:off x="6368013"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2" name="TextBox 151"/>
          <p:cNvSpPr txBox="1"/>
          <p:nvPr/>
        </p:nvSpPr>
        <p:spPr>
          <a:xfrm>
            <a:off x="3838575" y="5319097"/>
            <a:ext cx="1096630" cy="186689"/>
          </a:xfrm>
          <a:prstGeom prst="rect">
            <a:avLst/>
          </a:prstGeom>
          <a:noFill/>
        </p:spPr>
        <p:txBody>
          <a:bodyPr wrap="none" lIns="0" rIns="0" tIns="0" bIns="0">
            <a:spAutoFit/>
          </a:bodyPr>
          <a:lstStyle/>
          <a:p>
            <a:r>
              <a:rPr sz="1100" b="0">
                <a:solidFill>
                  <a:srgbClr val="2E2E2E"/>
                </a:solidFill>
                <a:latin typeface="Calibri"/>
              </a:rPr>
              <a:t>● Eastern Europe:</a:t>
            </a:r>
          </a:p>
        </p:txBody>
      </p:sp>
      <p:pic>
        <p:nvPicPr>
          <p:cNvPr id="153" name="Picture 152" descr="lock.png"/>
          <p:cNvPicPr>
            <a:picLocks noChangeAspect="1"/>
          </p:cNvPicPr>
          <p:nvPr/>
        </p:nvPicPr>
        <p:blipFill>
          <a:blip r:embed="rId25"/>
          <a:stretch>
            <a:fillRect/>
          </a:stretch>
        </p:blipFill>
        <p:spPr>
          <a:xfrm>
            <a:off x="4883257" y="5309317"/>
            <a:ext cx="128699" cy="187198"/>
          </a:xfrm>
          <a:prstGeom prst="rect">
            <a:avLst/>
          </a:prstGeom>
        </p:spPr>
      </p:pic>
      <p:sp>
        <p:nvSpPr>
          <p:cNvPr id="154" name="TextBox 153"/>
          <p:cNvSpPr txBox="1"/>
          <p:nvPr/>
        </p:nvSpPr>
        <p:spPr>
          <a:xfrm>
            <a:off x="5050753"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55" name="Picture 154" descr="lock.png"/>
          <p:cNvPicPr>
            <a:picLocks noChangeAspect="1"/>
          </p:cNvPicPr>
          <p:nvPr/>
        </p:nvPicPr>
        <p:blipFill>
          <a:blip r:embed="rId25"/>
          <a:stretch>
            <a:fillRect/>
          </a:stretch>
        </p:blipFill>
        <p:spPr>
          <a:xfrm>
            <a:off x="5910203" y="5309317"/>
            <a:ext cx="128699" cy="187198"/>
          </a:xfrm>
          <a:prstGeom prst="rect">
            <a:avLst/>
          </a:prstGeom>
        </p:spPr>
      </p:pic>
      <p:sp>
        <p:nvSpPr>
          <p:cNvPr id="156" name="TextBox 155"/>
          <p:cNvSpPr txBox="1"/>
          <p:nvPr/>
        </p:nvSpPr>
        <p:spPr>
          <a:xfrm>
            <a:off x="6077699"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57" name="TextBox 156"/>
          <p:cNvSpPr txBox="1"/>
          <p:nvPr/>
        </p:nvSpPr>
        <p:spPr>
          <a:xfrm>
            <a:off x="3838575" y="5537029"/>
            <a:ext cx="1155600" cy="186689"/>
          </a:xfrm>
          <a:prstGeom prst="rect">
            <a:avLst/>
          </a:prstGeom>
          <a:noFill/>
        </p:spPr>
        <p:txBody>
          <a:bodyPr wrap="none" lIns="0" rIns="0" tIns="0" bIns="0">
            <a:spAutoFit/>
          </a:bodyPr>
          <a:lstStyle/>
          <a:p>
            <a:r>
              <a:rPr sz="1100" b="0">
                <a:solidFill>
                  <a:srgbClr val="2E2E2E"/>
                </a:solidFill>
                <a:latin typeface="Calibri"/>
              </a:rPr>
              <a:t>● Western Europe:</a:t>
            </a:r>
          </a:p>
        </p:txBody>
      </p:sp>
      <p:pic>
        <p:nvPicPr>
          <p:cNvPr id="158" name="Picture 157" descr="lock.png"/>
          <p:cNvPicPr>
            <a:picLocks noChangeAspect="1"/>
          </p:cNvPicPr>
          <p:nvPr/>
        </p:nvPicPr>
        <p:blipFill>
          <a:blip r:embed="rId25"/>
          <a:stretch>
            <a:fillRect/>
          </a:stretch>
        </p:blipFill>
        <p:spPr>
          <a:xfrm>
            <a:off x="4942227" y="5527249"/>
            <a:ext cx="128699" cy="187198"/>
          </a:xfrm>
          <a:prstGeom prst="rect">
            <a:avLst/>
          </a:prstGeom>
        </p:spPr>
      </p:pic>
      <p:sp>
        <p:nvSpPr>
          <p:cNvPr id="159" name="TextBox 158"/>
          <p:cNvSpPr txBox="1"/>
          <p:nvPr/>
        </p:nvSpPr>
        <p:spPr>
          <a:xfrm>
            <a:off x="5109723" y="553702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60" name="Picture 159" descr="lock.png"/>
          <p:cNvPicPr>
            <a:picLocks noChangeAspect="1"/>
          </p:cNvPicPr>
          <p:nvPr/>
        </p:nvPicPr>
        <p:blipFill>
          <a:blip r:embed="rId25"/>
          <a:stretch>
            <a:fillRect/>
          </a:stretch>
        </p:blipFill>
        <p:spPr>
          <a:xfrm>
            <a:off x="5969173" y="5527249"/>
            <a:ext cx="128699" cy="187198"/>
          </a:xfrm>
          <a:prstGeom prst="rect">
            <a:avLst/>
          </a:prstGeom>
        </p:spPr>
      </p:pic>
      <p:sp>
        <p:nvSpPr>
          <p:cNvPr id="161" name="TextBox 160"/>
          <p:cNvSpPr txBox="1"/>
          <p:nvPr/>
        </p:nvSpPr>
        <p:spPr>
          <a:xfrm>
            <a:off x="6136669" y="553702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Analysis, By Region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530164"/>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4712970" y="152540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44920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5" name="BPS Value 1"/>
          <p:cNvSpPr txBox="1"/>
          <p:nvPr/>
        </p:nvSpPr>
        <p:spPr>
          <a:xfrm>
            <a:off x="6305550" y="151111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551045" y="1721842"/>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4712970" y="171708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64088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19" name="BPS Value 2"/>
          <p:cNvSpPr txBox="1"/>
          <p:nvPr/>
        </p:nvSpPr>
        <p:spPr>
          <a:xfrm>
            <a:off x="6305550" y="170279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551045" y="2004726"/>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19999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19237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3" name="BPS Value 3"/>
          <p:cNvSpPr txBox="1"/>
          <p:nvPr/>
        </p:nvSpPr>
        <p:spPr>
          <a:xfrm>
            <a:off x="6305550" y="19856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551045" y="2348887"/>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34412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226792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7" name="BPS Value 4"/>
          <p:cNvSpPr txBox="1"/>
          <p:nvPr/>
        </p:nvSpPr>
        <p:spPr>
          <a:xfrm>
            <a:off x="6305550" y="232983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TMR Legend Chip"/>
          <p:cNvSpPr/>
          <p:nvPr/>
        </p:nvSpPr>
        <p:spPr>
          <a:xfrm>
            <a:off x="4551045" y="2932358"/>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4712970" y="2927595"/>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285139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1" name="BPS Value 5"/>
          <p:cNvSpPr txBox="1"/>
          <p:nvPr/>
        </p:nvSpPr>
        <p:spPr>
          <a:xfrm>
            <a:off x="6305550" y="291330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TMR Legend Chip"/>
          <p:cNvSpPr/>
          <p:nvPr/>
        </p:nvSpPr>
        <p:spPr>
          <a:xfrm>
            <a:off x="4551045" y="376215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rot="10800000">
            <a:off x="4712970" y="37573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368119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5" name="BPS Value 6"/>
          <p:cNvSpPr txBox="1"/>
          <p:nvPr/>
        </p:nvSpPr>
        <p:spPr>
          <a:xfrm>
            <a:off x="6305550" y="374310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6" name="TMR Legend Chip"/>
          <p:cNvSpPr/>
          <p:nvPr/>
        </p:nvSpPr>
        <p:spPr>
          <a:xfrm>
            <a:off x="4551045" y="4661284"/>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a:off x="4712970" y="465652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4855845" y="458032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9" name="BPS Value 7"/>
          <p:cNvSpPr txBox="1"/>
          <p:nvPr/>
        </p:nvSpPr>
        <p:spPr>
          <a:xfrm>
            <a:off x="6305550" y="464223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42" name="Rectangle 4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2A5F8F"/>
                </a:solidFill>
                <a:latin typeface="Calibri"/>
              </a:rPr>
              <a:t/>
            </a:r>
          </a:p>
        </p:txBody>
      </p:sp>
      <p:sp>
        <p:nvSpPr>
          <p:cNvPr id="45" name="Rounded Rectangle 4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2A5F8F"/>
                </a:solidFill>
                <a:latin typeface="Calibri"/>
              </a:rPr>
              <a:t/>
            </a:r>
          </a:p>
        </p:txBody>
      </p:sp>
      <p:sp>
        <p:nvSpPr>
          <p:cNvPr id="46" name="Rounded Rectangle 4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r>
          </a:p>
        </p:txBody>
      </p:sp>
      <p:sp>
        <p:nvSpPr>
          <p:cNvPr id="47" name="Rectangle 4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pic>
        <p:nvPicPr>
          <p:cNvPr id="50" name="Picture 49" descr="233_975_610_605E5C.png"/>
          <p:cNvPicPr>
            <a:picLocks noChangeAspect="1"/>
          </p:cNvPicPr>
          <p:nvPr/>
        </p:nvPicPr>
        <p:blipFill>
          <a:blip r:embed="rId6"/>
          <a:stretch>
            <a:fillRect/>
          </a:stretch>
        </p:blipFill>
        <p:spPr>
          <a:xfrm>
            <a:off x="459921" y="5897562"/>
            <a:ext cx="3309250" cy="482599"/>
          </a:xfrm>
          <a:prstGeom prst="rect">
            <a:avLst/>
          </a:prstGeom>
        </p:spPr>
      </p:pic>
      <p:pic>
        <p:nvPicPr>
          <p:cNvPr id="51" name="Picture 50" descr="358_192_707_605E5C.png"/>
          <p:cNvPicPr>
            <a:picLocks noChangeAspect="1"/>
          </p:cNvPicPr>
          <p:nvPr/>
        </p:nvPicPr>
        <p:blipFill>
          <a:blip r:embed="rId7"/>
          <a:stretch>
            <a:fillRect/>
          </a:stretch>
        </p:blipFill>
        <p:spPr>
          <a:xfrm>
            <a:off x="4493758" y="5897562"/>
            <a:ext cx="3309250" cy="482599"/>
          </a:xfrm>
          <a:prstGeom prst="rect">
            <a:avLst/>
          </a:prstGeom>
        </p:spPr>
      </p:pic>
      <p:pic>
        <p:nvPicPr>
          <p:cNvPr id="52" name="Picture 51" descr="4_4__605E5C.png"/>
          <p:cNvPicPr>
            <a:picLocks noChangeAspect="1"/>
          </p:cNvPicPr>
          <p:nvPr/>
        </p:nvPicPr>
        <p:blipFill>
          <a:blip r:embed="rId8"/>
          <a:stretch>
            <a:fillRect/>
          </a:stretch>
        </p:blipFill>
        <p:spPr>
          <a:xfrm>
            <a:off x="9465355" y="5897562"/>
            <a:ext cx="1309912" cy="482599"/>
          </a:xfrm>
          <a:prstGeom prst="rect">
            <a:avLst/>
          </a:prstGeom>
        </p:spPr>
      </p:pic>
      <p:pic>
        <p:nvPicPr>
          <p:cNvPr id="53" name="Picture 52" descr="lock.png"/>
          <p:cNvPicPr>
            <a:picLocks noChangeAspect="1"/>
          </p:cNvPicPr>
          <p:nvPr/>
        </p:nvPicPr>
        <p:blipFill>
          <a:blip r:embed="rId5"/>
          <a:stretch>
            <a:fillRect/>
          </a:stretch>
        </p:blipFill>
        <p:spPr>
          <a:xfrm>
            <a:off x="5914657" y="5893409"/>
            <a:ext cx="337498" cy="490906"/>
          </a:xfrm>
          <a:prstGeom prst="rect">
            <a:avLst/>
          </a:prstGeom>
        </p:spPr>
      </p:pic>
      <p:sp>
        <p:nvSpPr>
          <p:cNvPr id="54" name="TextBox 53"/>
          <p:cNvSpPr txBox="1"/>
          <p:nvPr/>
        </p:nvSpPr>
        <p:spPr>
          <a:xfrm>
            <a:off x="7239000" y="1400175"/>
            <a:ext cx="4275708" cy="194310"/>
          </a:xfrm>
          <a:prstGeom prst="rect">
            <a:avLst/>
          </a:prstGeom>
          <a:noFill/>
        </p:spPr>
        <p:txBody>
          <a:bodyPr wrap="none" lIns="0" rIns="0" tIns="0" bIns="0">
            <a:spAutoFit/>
          </a:bodyPr>
          <a:lstStyle/>
          <a:p>
            <a:r>
              <a:rPr sz="1150" b="0">
                <a:solidFill>
                  <a:srgbClr val="2E2E2E"/>
                </a:solidFill>
                <a:latin typeface="Calibri"/>
              </a:rPr>
              <a:t>South Asia &amp; Pacific off-highway vehicle market is projected to register</a:t>
            </a:r>
          </a:p>
        </p:txBody>
      </p:sp>
      <p:pic>
        <p:nvPicPr>
          <p:cNvPr id="55" name="Picture 54" descr="lock.png"/>
          <p:cNvPicPr>
            <a:picLocks noChangeAspect="1"/>
          </p:cNvPicPr>
          <p:nvPr/>
        </p:nvPicPr>
        <p:blipFill>
          <a:blip r:embed="rId5"/>
          <a:stretch>
            <a:fillRect/>
          </a:stretch>
        </p:blipFill>
        <p:spPr>
          <a:xfrm>
            <a:off x="11463861" y="1389951"/>
            <a:ext cx="134549" cy="195707"/>
          </a:xfrm>
          <a:prstGeom prst="rect">
            <a:avLst/>
          </a:prstGeom>
        </p:spPr>
      </p:pic>
      <p:sp>
        <p:nvSpPr>
          <p:cNvPr id="56" name="TextBox 55"/>
          <p:cNvSpPr txBox="1"/>
          <p:nvPr/>
        </p:nvSpPr>
        <p:spPr>
          <a:xfrm>
            <a:off x="11638971"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7" name="TextBox 56"/>
          <p:cNvSpPr txBox="1"/>
          <p:nvPr/>
        </p:nvSpPr>
        <p:spPr>
          <a:xfrm>
            <a:off x="7239000" y="1575435"/>
            <a:ext cx="4475385" cy="194310"/>
          </a:xfrm>
          <a:prstGeom prst="rect">
            <a:avLst/>
          </a:prstGeom>
          <a:noFill/>
        </p:spPr>
        <p:txBody>
          <a:bodyPr wrap="none" lIns="0" rIns="0" tIns="0" bIns="0">
            <a:spAutoFit/>
          </a:bodyPr>
          <a:lstStyle/>
          <a:p>
            <a:r>
              <a:rPr sz="1150" b="0">
                <a:solidFill>
                  <a:srgbClr val="2E2E2E"/>
                </a:solidFill>
                <a:latin typeface="Calibri"/>
              </a:rPr>
              <a:t>higher volume than North America in 2036. Among off-highway vehicle by</a:t>
            </a:r>
          </a:p>
        </p:txBody>
      </p:sp>
      <p:sp>
        <p:nvSpPr>
          <p:cNvPr id="58" name="TextBox 57"/>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59" name="Picture 58" descr="lock.png"/>
          <p:cNvPicPr>
            <a:picLocks noChangeAspect="1"/>
          </p:cNvPicPr>
          <p:nvPr/>
        </p:nvPicPr>
        <p:blipFill>
          <a:blip r:embed="rId5"/>
          <a:stretch>
            <a:fillRect/>
          </a:stretch>
        </p:blipFill>
        <p:spPr>
          <a:xfrm>
            <a:off x="11452148" y="1740471"/>
            <a:ext cx="134549" cy="195707"/>
          </a:xfrm>
          <a:prstGeom prst="rect">
            <a:avLst/>
          </a:prstGeom>
        </p:spPr>
      </p:pic>
      <p:sp>
        <p:nvSpPr>
          <p:cNvPr id="60" name="TextBox 59"/>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61" name="TextBox 60"/>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62" name="TextBox 61"/>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3" name="Picture 62" descr="lock.png"/>
          <p:cNvPicPr>
            <a:picLocks noChangeAspect="1"/>
          </p:cNvPicPr>
          <p:nvPr/>
        </p:nvPicPr>
        <p:blipFill>
          <a:blip r:embed="rId5"/>
          <a:stretch>
            <a:fillRect/>
          </a:stretch>
        </p:blipFill>
        <p:spPr>
          <a:xfrm>
            <a:off x="9025226" y="2318829"/>
            <a:ext cx="134549" cy="195707"/>
          </a:xfrm>
          <a:prstGeom prst="rect">
            <a:avLst/>
          </a:prstGeom>
        </p:spPr>
      </p:pic>
      <p:sp>
        <p:nvSpPr>
          <p:cNvPr id="64" name="TextBox 63"/>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5" name="Picture 64" descr="lock.png"/>
          <p:cNvPicPr>
            <a:picLocks noChangeAspect="1"/>
          </p:cNvPicPr>
          <p:nvPr/>
        </p:nvPicPr>
        <p:blipFill>
          <a:blip r:embed="rId5"/>
          <a:stretch>
            <a:fillRect/>
          </a:stretch>
        </p:blipFill>
        <p:spPr>
          <a:xfrm>
            <a:off x="10595478" y="2318829"/>
            <a:ext cx="134549" cy="195707"/>
          </a:xfrm>
          <a:prstGeom prst="rect">
            <a:avLst/>
          </a:prstGeom>
        </p:spPr>
      </p:pic>
      <p:sp>
        <p:nvSpPr>
          <p:cNvPr id="66" name="TextBox 65"/>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7" name="TextBox 66"/>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8" name="Picture 67" descr="lock.png"/>
          <p:cNvPicPr>
            <a:picLocks noChangeAspect="1"/>
          </p:cNvPicPr>
          <p:nvPr/>
        </p:nvPicPr>
        <p:blipFill>
          <a:blip r:embed="rId5"/>
          <a:stretch>
            <a:fillRect/>
          </a:stretch>
        </p:blipFill>
        <p:spPr>
          <a:xfrm>
            <a:off x="9271685" y="2494089"/>
            <a:ext cx="134549" cy="195707"/>
          </a:xfrm>
          <a:prstGeom prst="rect">
            <a:avLst/>
          </a:prstGeom>
        </p:spPr>
      </p:pic>
      <p:sp>
        <p:nvSpPr>
          <p:cNvPr id="69" name="TextBox 68"/>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70" name="TextBox 69"/>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71" name="Picture 70" descr="lock.png"/>
          <p:cNvPicPr>
            <a:picLocks noChangeAspect="1"/>
          </p:cNvPicPr>
          <p:nvPr/>
        </p:nvPicPr>
        <p:blipFill>
          <a:blip r:embed="rId5"/>
          <a:stretch>
            <a:fillRect/>
          </a:stretch>
        </p:blipFill>
        <p:spPr>
          <a:xfrm>
            <a:off x="7943258" y="2669349"/>
            <a:ext cx="134549" cy="195707"/>
          </a:xfrm>
          <a:prstGeom prst="rect">
            <a:avLst/>
          </a:prstGeom>
        </p:spPr>
      </p:pic>
      <p:sp>
        <p:nvSpPr>
          <p:cNvPr id="72" name="TextBox 71"/>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3"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559593"/>
            <a:ext cx="85725" cy="85725"/>
          </a:xfrm>
          <a:prstGeom prst="rect">
            <a:avLst/>
          </a:prstGeom>
          <a:solidFill>
            <a:srgbClr val="5862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55483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47863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Western Europe</a:t>
            </a:r>
          </a:p>
        </p:txBody>
      </p:sp>
      <p:sp>
        <p:nvSpPr>
          <p:cNvPr id="15" name="BPS Value 1"/>
          <p:cNvSpPr txBox="1"/>
          <p:nvPr/>
        </p:nvSpPr>
        <p:spPr>
          <a:xfrm>
            <a:off x="6305550" y="15405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1801796"/>
            <a:ext cx="85725" cy="85725"/>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179703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172083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Eastern Europe</a:t>
            </a:r>
          </a:p>
        </p:txBody>
      </p:sp>
      <p:sp>
        <p:nvSpPr>
          <p:cNvPr id="19" name="BPS Value 2"/>
          <p:cNvSpPr txBox="1"/>
          <p:nvPr/>
        </p:nvSpPr>
        <p:spPr>
          <a:xfrm>
            <a:off x="6305550" y="178274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551045" y="2099422"/>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20946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201845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23" name="BPS Value 3"/>
          <p:cNvSpPr txBox="1"/>
          <p:nvPr/>
        </p:nvSpPr>
        <p:spPr>
          <a:xfrm>
            <a:off x="6305550" y="208037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551045" y="2443960"/>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4712970" y="243919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4855845" y="236299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7" name="BPS Value 4"/>
          <p:cNvSpPr txBox="1"/>
          <p:nvPr/>
        </p:nvSpPr>
        <p:spPr>
          <a:xfrm>
            <a:off x="6305550" y="24249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TMR Legend Chip"/>
          <p:cNvSpPr/>
          <p:nvPr/>
        </p:nvSpPr>
        <p:spPr>
          <a:xfrm>
            <a:off x="4551045" y="2916244"/>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rot="10800000">
            <a:off x="4712970" y="291148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4855845" y="283528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31" name="BPS Value 5"/>
          <p:cNvSpPr txBox="1"/>
          <p:nvPr/>
        </p:nvSpPr>
        <p:spPr>
          <a:xfrm>
            <a:off x="6305550" y="289719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2" name="TMR Legend Chip"/>
          <p:cNvSpPr/>
          <p:nvPr/>
        </p:nvSpPr>
        <p:spPr>
          <a:xfrm>
            <a:off x="4551045" y="3488444"/>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sosceles Triangle 32"/>
          <p:cNvSpPr/>
          <p:nvPr/>
        </p:nvSpPr>
        <p:spPr>
          <a:xfrm>
            <a:off x="4712970" y="348368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PS Name 6"/>
          <p:cNvSpPr txBox="1"/>
          <p:nvPr/>
        </p:nvSpPr>
        <p:spPr>
          <a:xfrm>
            <a:off x="4855845" y="340748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5" name="BPS Value 6"/>
          <p:cNvSpPr txBox="1"/>
          <p:nvPr/>
        </p:nvSpPr>
        <p:spPr>
          <a:xfrm>
            <a:off x="6305550" y="346939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6" name="TMR Legend Chip"/>
          <p:cNvSpPr/>
          <p:nvPr/>
        </p:nvSpPr>
        <p:spPr>
          <a:xfrm>
            <a:off x="4551045" y="4454591"/>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sosceles Triangle 36"/>
          <p:cNvSpPr/>
          <p:nvPr/>
        </p:nvSpPr>
        <p:spPr>
          <a:xfrm rot="10800000">
            <a:off x="4712970" y="44498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PS Name 7"/>
          <p:cNvSpPr txBox="1"/>
          <p:nvPr/>
        </p:nvSpPr>
        <p:spPr>
          <a:xfrm>
            <a:off x="4855845" y="437362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9" name="BPS Value 7"/>
          <p:cNvSpPr txBox="1"/>
          <p:nvPr/>
        </p:nvSpPr>
        <p:spPr>
          <a:xfrm>
            <a:off x="6305550" y="443554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40" name="Rounded Rectangle 39"/>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42" name="Rectangle 41"/>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4" name="Rounded Rectangle 43"/>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959,300</a:t>
            </a:r>
          </a:p>
        </p:txBody>
      </p:sp>
      <p:sp>
        <p:nvSpPr>
          <p:cNvPr id="45" name="Rounded Rectangle 44"/>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1,531,700</a:t>
            </a:r>
          </a:p>
        </p:txBody>
      </p:sp>
      <p:sp>
        <p:nvSpPr>
          <p:cNvPr id="46" name="Rounded Rectangle 45"/>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4.8%</a:t>
            </a:r>
          </a:p>
        </p:txBody>
      </p:sp>
      <p:sp>
        <p:nvSpPr>
          <p:cNvPr id="47" name="Rectangle 4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9" name="Picture 48" descr="lock.png"/>
          <p:cNvPicPr>
            <a:picLocks noChangeAspect="1"/>
          </p:cNvPicPr>
          <p:nvPr/>
        </p:nvPicPr>
        <p:blipFill>
          <a:blip r:embed="rId5"/>
          <a:stretch>
            <a:fillRect/>
          </a:stretch>
        </p:blipFill>
        <p:spPr>
          <a:xfrm>
            <a:off x="2333863" y="3121818"/>
            <a:ext cx="343793" cy="500062"/>
          </a:xfrm>
          <a:prstGeom prst="rect">
            <a:avLst/>
          </a:prstGeom>
        </p:spPr>
      </p:pic>
      <p:sp>
        <p:nvSpPr>
          <p:cNvPr id="50" name="TextBox 49"/>
          <p:cNvSpPr txBox="1"/>
          <p:nvPr/>
        </p:nvSpPr>
        <p:spPr>
          <a:xfrm>
            <a:off x="7239000" y="1400175"/>
            <a:ext cx="3975906" cy="194310"/>
          </a:xfrm>
          <a:prstGeom prst="rect">
            <a:avLst/>
          </a:prstGeom>
          <a:noFill/>
        </p:spPr>
        <p:txBody>
          <a:bodyPr wrap="none" lIns="0" rIns="0" tIns="0" bIns="0">
            <a:spAutoFit/>
          </a:bodyPr>
          <a:lstStyle/>
          <a:p>
            <a:r>
              <a:rPr sz="1150" b="0">
                <a:solidFill>
                  <a:srgbClr val="2E2E2E"/>
                </a:solidFill>
                <a:latin typeface="Calibri"/>
              </a:rPr>
              <a:t>North America off-highway vehicle market is projected to register</a:t>
            </a:r>
          </a:p>
        </p:txBody>
      </p:sp>
      <p:pic>
        <p:nvPicPr>
          <p:cNvPr id="51" name="Picture 50" descr="lock.png"/>
          <p:cNvPicPr>
            <a:picLocks noChangeAspect="1"/>
          </p:cNvPicPr>
          <p:nvPr/>
        </p:nvPicPr>
        <p:blipFill>
          <a:blip r:embed="rId5"/>
          <a:stretch>
            <a:fillRect/>
          </a:stretch>
        </p:blipFill>
        <p:spPr>
          <a:xfrm>
            <a:off x="11164060" y="1389951"/>
            <a:ext cx="134549" cy="195707"/>
          </a:xfrm>
          <a:prstGeom prst="rect">
            <a:avLst/>
          </a:prstGeom>
        </p:spPr>
      </p:pic>
      <p:sp>
        <p:nvSpPr>
          <p:cNvPr id="52" name="TextBox 51"/>
          <p:cNvSpPr txBox="1"/>
          <p:nvPr/>
        </p:nvSpPr>
        <p:spPr>
          <a:xfrm>
            <a:off x="11339169"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3" name="TextBox 52"/>
          <p:cNvSpPr txBox="1"/>
          <p:nvPr/>
        </p:nvSpPr>
        <p:spPr>
          <a:xfrm>
            <a:off x="7239000" y="1575435"/>
            <a:ext cx="4648200" cy="194310"/>
          </a:xfrm>
          <a:prstGeom prst="rect">
            <a:avLst/>
          </a:prstGeom>
          <a:noFill/>
        </p:spPr>
        <p:txBody>
          <a:bodyPr wrap="none" lIns="0" rIns="0" tIns="0" bIns="0">
            <a:spAutoFit/>
          </a:bodyPr>
          <a:lstStyle/>
          <a:p>
            <a:r>
              <a:rPr sz="1150" b="0">
                <a:solidFill>
                  <a:srgbClr val="2E2E2E"/>
                </a:solidFill>
                <a:latin typeface="Calibri"/>
              </a:rPr>
              <a:t>higher value than South Asia &amp; Pacific in 2036. Among off-highway vehicle by</a:t>
            </a:r>
          </a:p>
        </p:txBody>
      </p:sp>
      <p:sp>
        <p:nvSpPr>
          <p:cNvPr id="54" name="TextBox 53"/>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55" name="Picture 54" descr="lock.png"/>
          <p:cNvPicPr>
            <a:picLocks noChangeAspect="1"/>
          </p:cNvPicPr>
          <p:nvPr/>
        </p:nvPicPr>
        <p:blipFill>
          <a:blip r:embed="rId5"/>
          <a:stretch>
            <a:fillRect/>
          </a:stretch>
        </p:blipFill>
        <p:spPr>
          <a:xfrm>
            <a:off x="11452148" y="1740471"/>
            <a:ext cx="134549" cy="195707"/>
          </a:xfrm>
          <a:prstGeom prst="rect">
            <a:avLst/>
          </a:prstGeom>
        </p:spPr>
      </p:pic>
      <p:sp>
        <p:nvSpPr>
          <p:cNvPr id="56" name="TextBox 55"/>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7" name="TextBox 56"/>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58" name="TextBox 57"/>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59" name="Picture 58" descr="lock.png"/>
          <p:cNvPicPr>
            <a:picLocks noChangeAspect="1"/>
          </p:cNvPicPr>
          <p:nvPr/>
        </p:nvPicPr>
        <p:blipFill>
          <a:blip r:embed="rId5"/>
          <a:stretch>
            <a:fillRect/>
          </a:stretch>
        </p:blipFill>
        <p:spPr>
          <a:xfrm>
            <a:off x="8106708" y="2318829"/>
            <a:ext cx="134549" cy="195707"/>
          </a:xfrm>
          <a:prstGeom prst="rect">
            <a:avLst/>
          </a:prstGeom>
        </p:spPr>
      </p:pic>
      <p:sp>
        <p:nvSpPr>
          <p:cNvPr id="60" name="TextBox 59"/>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1" name="Picture 60" descr="lock.png"/>
          <p:cNvPicPr>
            <a:picLocks noChangeAspect="1"/>
          </p:cNvPicPr>
          <p:nvPr/>
        </p:nvPicPr>
        <p:blipFill>
          <a:blip r:embed="rId5"/>
          <a:stretch>
            <a:fillRect/>
          </a:stretch>
        </p:blipFill>
        <p:spPr>
          <a:xfrm>
            <a:off x="9676961" y="2318829"/>
            <a:ext cx="134549" cy="195707"/>
          </a:xfrm>
          <a:prstGeom prst="rect">
            <a:avLst/>
          </a:prstGeom>
        </p:spPr>
      </p:pic>
      <p:sp>
        <p:nvSpPr>
          <p:cNvPr id="62" name="TextBox 61"/>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3"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Share Analysis, By Region Volume (Units) (1/3)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7" name="Rounded Rectangle 6"/>
          <p:cNvSpPr/>
          <p:nvPr/>
        </p:nvSpPr>
        <p:spPr>
          <a:xfrm>
            <a:off x="142875" y="981075"/>
            <a:ext cx="11906250" cy="2362200"/>
          </a:xfrm>
          <a:prstGeom prst="roundRect">
            <a:avLst>
              <a:gd name="adj" fmla="val 322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9" name="Table 8"/>
          <p:cNvGraphicFramePr>
            <a:graphicFrameLocks noGrp="1"/>
          </p:cNvGraphicFramePr>
          <p:nvPr/>
        </p:nvGraphicFramePr>
        <p:xfrm>
          <a:off x="152400" y="1238250"/>
          <a:ext cx="12059240" cy="1895476"/>
        </p:xfrm>
        <a:graphic>
          <a:graphicData uri="http://schemas.openxmlformats.org/drawingml/2006/table">
            <a:tbl>
              <a:tblPr>
                <a:tableStyleId>{5C22544A-7EE6-4342-B048-85BDC9FD1C3A}</a:tableStyleId>
              </a:tblPr>
              <a:tblGrid>
                <a:gridCol w="5734047"/>
                <a:gridCol w="371861"/>
                <a:gridCol w="371861"/>
                <a:gridCol w="371861"/>
                <a:gridCol w="371861"/>
                <a:gridCol w="371861"/>
                <a:gridCol w="371861"/>
                <a:gridCol w="371861"/>
                <a:gridCol w="371861"/>
                <a:gridCol w="371861"/>
                <a:gridCol w="371861"/>
                <a:gridCol w="371861"/>
                <a:gridCol w="371861"/>
                <a:gridCol w="371861"/>
                <a:gridCol w="371861"/>
                <a:gridCol w="371861"/>
                <a:gridCol w="371861"/>
                <a:gridCol w="375417"/>
              </a:tblGrid>
              <a:tr h="438912">
                <a:tc>
                  <a:txBody>
                    <a:bodyPr wrap="none"/>
                    <a:lstStyle/>
                    <a:p>
                      <a:pPr algn="l"/>
                      <a:r>
                        <a:rPr sz="1100" b="1">
                          <a:solidFill>
                            <a:srgbClr val="0E2A5C"/>
                          </a:solidFill>
                          <a:latin typeface="Calibri"/>
                        </a:rPr>
                        <a:t>Region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728282">
                <a:tc>
                  <a:txBody>
                    <a:bodyPr wrap="none"/>
                    <a:lstStyle/>
                    <a:p>
                      <a:pPr algn="l"/>
                      <a:r>
                        <a:rPr sz="1100" b="1">
                          <a:solidFill>
                            <a:srgbClr val="2E2E2E"/>
                          </a:solidFill>
                          <a:latin typeface="Calibri"/>
                        </a:rPr>
                        <a:t>North</a:t>
                      </a:r>
                      <a:endParaRPr sz="1100"/>
                    </a:p>
                    <a:p>
                      <a:pPr algn="l"/>
                      <a:r>
                        <a:rPr sz="1100" b="1">
                          <a:solidFill>
                            <a:srgbClr val="2E2E2E"/>
                          </a:solidFill>
                          <a:latin typeface="Calibri"/>
                        </a:rPr>
                        <a:t>Americ</a:t>
                      </a:r>
                      <a:endParaRPr sz="1100"/>
                    </a:p>
                    <a:p>
                      <a:pPr algn="l"/>
                      <a:r>
                        <a:rPr sz="1100" b="1">
                          <a:solidFill>
                            <a:srgbClr val="2E2E2E"/>
                          </a:solidFill>
                          <a:latin typeface="Calibri"/>
                        </a:rPr>
                        <a:t>a</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728282">
                <a:tc>
                  <a:txBody>
                    <a:bodyPr wrap="none"/>
                    <a:lstStyle/>
                    <a:p>
                      <a:pPr algn="l"/>
                      <a:r>
                        <a:rPr sz="1100" b="1">
                          <a:solidFill>
                            <a:srgbClr val="2E2E2E"/>
                          </a:solidFill>
                          <a:latin typeface="Calibri"/>
                        </a:rPr>
                        <a:t>Latin</a:t>
                      </a:r>
                      <a:endParaRPr sz="1100"/>
                    </a:p>
                    <a:p>
                      <a:pPr algn="l"/>
                      <a:r>
                        <a:rPr sz="1100" b="1">
                          <a:solidFill>
                            <a:srgbClr val="2E2E2E"/>
                          </a:solidFill>
                          <a:latin typeface="Calibri"/>
                        </a:rPr>
                        <a:t>Americ</a:t>
                      </a:r>
                      <a:endParaRPr sz="1100"/>
                    </a:p>
                    <a:p>
                      <a:pPr algn="l"/>
                      <a:r>
                        <a:rPr sz="1100" b="1">
                          <a:solidFill>
                            <a:srgbClr val="2E2E2E"/>
                          </a:solidFill>
                          <a:latin typeface="Calibri"/>
                        </a:rPr>
                        <a:t>a</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3143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73606" y="2138744"/>
            <a:ext cx="366712" cy="5334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Share Analysis, By Region Volume (Units) (2/3)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7" name="Rounded Rectangle 6"/>
          <p:cNvSpPr/>
          <p:nvPr/>
        </p:nvSpPr>
        <p:spPr>
          <a:xfrm>
            <a:off x="142875" y="981075"/>
            <a:ext cx="11906250" cy="4505325"/>
          </a:xfrm>
          <a:prstGeom prst="roundRect">
            <a:avLst>
              <a:gd name="adj" fmla="val 169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9" name="Table 8"/>
          <p:cNvGraphicFramePr>
            <a:graphicFrameLocks noGrp="1"/>
          </p:cNvGraphicFramePr>
          <p:nvPr/>
        </p:nvGraphicFramePr>
        <p:xfrm>
          <a:off x="152400" y="1238250"/>
          <a:ext cx="12044618" cy="4038599"/>
        </p:xfrm>
        <a:graphic>
          <a:graphicData uri="http://schemas.openxmlformats.org/drawingml/2006/table">
            <a:tbl>
              <a:tblPr>
                <a:tableStyleId>{5C22544A-7EE6-4342-B048-85BDC9FD1C3A}</a:tableStyleId>
              </a:tblPr>
              <a:tblGrid>
                <a:gridCol w="5734055"/>
                <a:gridCol w="373012"/>
                <a:gridCol w="373012"/>
                <a:gridCol w="373012"/>
                <a:gridCol w="373012"/>
                <a:gridCol w="373012"/>
                <a:gridCol w="373012"/>
                <a:gridCol w="373012"/>
                <a:gridCol w="373012"/>
                <a:gridCol w="373012"/>
                <a:gridCol w="373012"/>
                <a:gridCol w="373012"/>
                <a:gridCol w="373012"/>
                <a:gridCol w="373012"/>
                <a:gridCol w="373012"/>
                <a:gridCol w="373012"/>
                <a:gridCol w="373012"/>
                <a:gridCol w="342371"/>
              </a:tblGrid>
              <a:tr h="631697">
                <a:tc>
                  <a:txBody>
                    <a:bodyPr wrap="none"/>
                    <a:lstStyle/>
                    <a:p>
                      <a:pPr algn="l"/>
                      <a:r>
                        <a:rPr sz="1100" b="1">
                          <a:solidFill>
                            <a:srgbClr val="0E2A5C"/>
                          </a:solidFill>
                          <a:latin typeface="Calibri"/>
                        </a:rPr>
                        <a:t>Region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632079">
                <a:tc>
                  <a:txBody>
                    <a:bodyPr wrap="none"/>
                    <a:lstStyle/>
                    <a:p>
                      <a:pPr algn="l"/>
                      <a:r>
                        <a:rPr sz="1100" b="1">
                          <a:solidFill>
                            <a:srgbClr val="2E2E2E"/>
                          </a:solidFill>
                          <a:latin typeface="Calibri"/>
                        </a:rPr>
                        <a:t>Wester</a:t>
                      </a:r>
                      <a:endParaRPr sz="1100"/>
                    </a:p>
                    <a:p>
                      <a:pPr algn="l"/>
                      <a:r>
                        <a:rPr sz="1100" b="1">
                          <a:solidFill>
                            <a:srgbClr val="2E2E2E"/>
                          </a:solidFill>
                          <a:latin typeface="Calibri"/>
                        </a:rPr>
                        <a:t>n</a:t>
                      </a:r>
                      <a:endParaRPr sz="1100"/>
                    </a:p>
                    <a:p>
                      <a:pPr algn="l"/>
                      <a:r>
                        <a:rPr sz="1100" b="1">
                          <a:solidFill>
                            <a:srgbClr val="2E2E2E"/>
                          </a:solidFill>
                          <a:latin typeface="Calibri"/>
                        </a:rPr>
                        <a:t>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079">
                <a:tc>
                  <a:txBody>
                    <a:bodyPr wrap="none"/>
                    <a:lstStyle/>
                    <a:p>
                      <a:pPr algn="l"/>
                      <a:r>
                        <a:rPr sz="1100" b="1">
                          <a:solidFill>
                            <a:srgbClr val="2E2E2E"/>
                          </a:solidFill>
                          <a:latin typeface="Calibri"/>
                        </a:rPr>
                        <a:t>Easter</a:t>
                      </a:r>
                      <a:endParaRPr sz="1100"/>
                    </a:p>
                    <a:p>
                      <a:pPr algn="l"/>
                      <a:r>
                        <a:rPr sz="1100" b="1">
                          <a:solidFill>
                            <a:srgbClr val="2E2E2E"/>
                          </a:solidFill>
                          <a:latin typeface="Calibri"/>
                        </a:rPr>
                        <a:t>n</a:t>
                      </a:r>
                      <a:endParaRPr sz="1100"/>
                    </a:p>
                    <a:p>
                      <a:pPr algn="l"/>
                      <a:r>
                        <a:rPr sz="1100" b="1">
                          <a:solidFill>
                            <a:srgbClr val="2E2E2E"/>
                          </a:solidFill>
                          <a:latin typeface="Calibri"/>
                        </a:rPr>
                        <a:t>Europe</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9293">
                <a:tc>
                  <a:txBody>
                    <a:bodyPr wrap="none"/>
                    <a:lstStyle/>
                    <a:p>
                      <a:pPr algn="l"/>
                      <a:r>
                        <a:rPr sz="1100" b="1">
                          <a:solidFill>
                            <a:srgbClr val="2E2E2E"/>
                          </a:solidFill>
                          <a:latin typeface="Calibri"/>
                        </a:rPr>
                        <a:t>East</a:t>
                      </a:r>
                      <a:endParaRPr sz="1100"/>
                    </a:p>
                    <a:p>
                      <a:pPr algn="l"/>
                      <a:r>
                        <a:rPr sz="1100" b="1">
                          <a:solidFill>
                            <a:srgbClr val="2E2E2E"/>
                          </a:solidFill>
                          <a:latin typeface="Calibri"/>
                        </a:rPr>
                        <a:t>Asia</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079">
                <a:tc>
                  <a:txBody>
                    <a:bodyPr wrap="none"/>
                    <a:lstStyle/>
                    <a:p>
                      <a:pPr algn="l"/>
                      <a:r>
                        <a:rPr sz="1100" b="1">
                          <a:solidFill>
                            <a:srgbClr val="2E2E2E"/>
                          </a:solidFill>
                          <a:latin typeface="Calibri"/>
                        </a:rPr>
                        <a:t>South</a:t>
                      </a:r>
                      <a:endParaRPr sz="1100"/>
                    </a:p>
                    <a:p>
                      <a:pPr algn="l"/>
                      <a:r>
                        <a:rPr sz="1100" b="1">
                          <a:solidFill>
                            <a:srgbClr val="2E2E2E"/>
                          </a:solidFill>
                          <a:latin typeface="Calibri"/>
                        </a:rPr>
                        <a:t>Asia &amp;</a:t>
                      </a:r>
                      <a:endParaRPr sz="1100"/>
                    </a:p>
                    <a:p>
                      <a:pPr algn="l"/>
                      <a:r>
                        <a:rPr sz="1100" b="1">
                          <a:solidFill>
                            <a:srgbClr val="2E2E2E"/>
                          </a:solidFill>
                          <a:latin typeface="Calibri"/>
                        </a:rPr>
                        <a:t>Pacific</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632079">
                <a:tc>
                  <a:txBody>
                    <a:bodyPr wrap="none"/>
                    <a:lstStyle/>
                    <a:p>
                      <a:pPr algn="l"/>
                      <a:r>
                        <a:rPr sz="1100" b="1">
                          <a:solidFill>
                            <a:srgbClr val="2E2E2E"/>
                          </a:solidFill>
                          <a:latin typeface="Calibri"/>
                        </a:rPr>
                        <a:t>Middle</a:t>
                      </a:r>
                      <a:endParaRPr sz="1100"/>
                    </a:p>
                    <a:p>
                      <a:pPr algn="l"/>
                      <a:r>
                        <a:rPr sz="1100" b="1">
                          <a:solidFill>
                            <a:srgbClr val="2E2E2E"/>
                          </a:solidFill>
                          <a:latin typeface="Calibri"/>
                        </a:rPr>
                        <a:t>East &amp;</a:t>
                      </a:r>
                      <a:endParaRPr sz="1100"/>
                    </a:p>
                    <a:p>
                      <a:pPr algn="l"/>
                      <a:r>
                        <a:rPr sz="1100" b="1">
                          <a:solidFill>
                            <a:srgbClr val="2E2E2E"/>
                          </a:solidFill>
                          <a:latin typeface="Calibri"/>
                        </a:rPr>
                        <a:t>Africa</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293">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286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57865" y="3306698"/>
            <a:ext cx="366712" cy="5334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Share Analysis, By Region Volume (Units) (3/3)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Volume Share Read-out, By Region</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3" name="TextBox 12"/>
          <p:cNvSpPr txBox="1"/>
          <p:nvPr/>
        </p:nvSpPr>
        <p:spPr>
          <a:xfrm>
            <a:off x="276225" y="1400175"/>
            <a:ext cx="4275708" cy="194310"/>
          </a:xfrm>
          <a:prstGeom prst="rect">
            <a:avLst/>
          </a:prstGeom>
          <a:noFill/>
        </p:spPr>
        <p:txBody>
          <a:bodyPr wrap="none" lIns="0" rIns="0" tIns="0" bIns="0">
            <a:spAutoFit/>
          </a:bodyPr>
          <a:lstStyle/>
          <a:p>
            <a:r>
              <a:rPr sz="1150" b="0">
                <a:solidFill>
                  <a:srgbClr val="2E2E2E"/>
                </a:solidFill>
                <a:latin typeface="Calibri"/>
              </a:rPr>
              <a:t>South Asia &amp; Pacific off-highway vehicle market is projected to register</a:t>
            </a:r>
          </a:p>
        </p:txBody>
      </p:sp>
      <p:pic>
        <p:nvPicPr>
          <p:cNvPr id="14" name="Picture 13" descr="lock.png"/>
          <p:cNvPicPr>
            <a:picLocks noChangeAspect="1"/>
          </p:cNvPicPr>
          <p:nvPr/>
        </p:nvPicPr>
        <p:blipFill>
          <a:blip r:embed="rId4"/>
          <a:stretch>
            <a:fillRect/>
          </a:stretch>
        </p:blipFill>
        <p:spPr>
          <a:xfrm>
            <a:off x="4501086" y="1389951"/>
            <a:ext cx="134549" cy="195707"/>
          </a:xfrm>
          <a:prstGeom prst="rect">
            <a:avLst/>
          </a:prstGeom>
        </p:spPr>
      </p:pic>
      <p:sp>
        <p:nvSpPr>
          <p:cNvPr id="15" name="TextBox 14"/>
          <p:cNvSpPr txBox="1"/>
          <p:nvPr/>
        </p:nvSpPr>
        <p:spPr>
          <a:xfrm>
            <a:off x="4676196" y="1400175"/>
            <a:ext cx="7100577" cy="194310"/>
          </a:xfrm>
          <a:prstGeom prst="rect">
            <a:avLst/>
          </a:prstGeom>
          <a:noFill/>
        </p:spPr>
        <p:txBody>
          <a:bodyPr wrap="none" lIns="0" rIns="0" tIns="0" bIns="0">
            <a:spAutoFit/>
          </a:bodyPr>
          <a:lstStyle/>
          <a:p>
            <a:r>
              <a:rPr sz="1150" b="0">
                <a:solidFill>
                  <a:srgbClr val="2E2E2E"/>
                </a:solidFill>
                <a:latin typeface="Calibri"/>
              </a:rPr>
              <a:t>X higher volume than North America in 2036. Among off-highway vehicle by region, South Asia &amp; Pacific is expected to</a:t>
            </a:r>
          </a:p>
        </p:txBody>
      </p:sp>
      <p:sp>
        <p:nvSpPr>
          <p:cNvPr id="16" name="TextBox 15"/>
          <p:cNvSpPr txBox="1"/>
          <p:nvPr/>
        </p:nvSpPr>
        <p:spPr>
          <a:xfrm>
            <a:off x="276225" y="15754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17" name="Picture 16" descr="lock.png"/>
          <p:cNvPicPr>
            <a:picLocks noChangeAspect="1"/>
          </p:cNvPicPr>
          <p:nvPr/>
        </p:nvPicPr>
        <p:blipFill>
          <a:blip r:embed="rId4"/>
          <a:stretch>
            <a:fillRect/>
          </a:stretch>
        </p:blipFill>
        <p:spPr>
          <a:xfrm>
            <a:off x="1973149" y="1565211"/>
            <a:ext cx="134549" cy="195707"/>
          </a:xfrm>
          <a:prstGeom prst="rect">
            <a:avLst/>
          </a:prstGeom>
        </p:spPr>
      </p:pic>
      <p:sp>
        <p:nvSpPr>
          <p:cNvPr id="18" name="TextBox 17"/>
          <p:cNvSpPr txBox="1"/>
          <p:nvPr/>
        </p:nvSpPr>
        <p:spPr>
          <a:xfrm>
            <a:off x="2148258" y="15754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19" name="TextBox 18"/>
          <p:cNvSpPr txBox="1"/>
          <p:nvPr/>
        </p:nvSpPr>
        <p:spPr>
          <a:xfrm>
            <a:off x="276225" y="1803273"/>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0" name="Picture 19" descr="lock.png"/>
          <p:cNvPicPr>
            <a:picLocks noChangeAspect="1"/>
          </p:cNvPicPr>
          <p:nvPr/>
        </p:nvPicPr>
        <p:blipFill>
          <a:blip r:embed="rId4"/>
          <a:stretch>
            <a:fillRect/>
          </a:stretch>
        </p:blipFill>
        <p:spPr>
          <a:xfrm>
            <a:off x="6271943" y="1793049"/>
            <a:ext cx="134549" cy="195707"/>
          </a:xfrm>
          <a:prstGeom prst="rect">
            <a:avLst/>
          </a:prstGeom>
        </p:spPr>
      </p:pic>
      <p:sp>
        <p:nvSpPr>
          <p:cNvPr id="21" name="TextBox 20"/>
          <p:cNvSpPr txBox="1"/>
          <p:nvPr/>
        </p:nvSpPr>
        <p:spPr>
          <a:xfrm>
            <a:off x="6447052" y="180327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2" name="Picture 21" descr="lock.png"/>
          <p:cNvPicPr>
            <a:picLocks noChangeAspect="1"/>
          </p:cNvPicPr>
          <p:nvPr/>
        </p:nvPicPr>
        <p:blipFill>
          <a:blip r:embed="rId4"/>
          <a:stretch>
            <a:fillRect/>
          </a:stretch>
        </p:blipFill>
        <p:spPr>
          <a:xfrm>
            <a:off x="7842195" y="1793049"/>
            <a:ext cx="134549" cy="195707"/>
          </a:xfrm>
          <a:prstGeom prst="rect">
            <a:avLst/>
          </a:prstGeom>
        </p:spPr>
      </p:pic>
      <p:sp>
        <p:nvSpPr>
          <p:cNvPr id="23" name="TextBox 22"/>
          <p:cNvSpPr txBox="1"/>
          <p:nvPr/>
        </p:nvSpPr>
        <p:spPr>
          <a:xfrm>
            <a:off x="8017304" y="1803273"/>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24" name="Picture 23" descr="lock.png"/>
          <p:cNvPicPr>
            <a:picLocks noChangeAspect="1"/>
          </p:cNvPicPr>
          <p:nvPr/>
        </p:nvPicPr>
        <p:blipFill>
          <a:blip r:embed="rId4"/>
          <a:stretch>
            <a:fillRect/>
          </a:stretch>
        </p:blipFill>
        <p:spPr>
          <a:xfrm>
            <a:off x="10953104" y="1793049"/>
            <a:ext cx="134549" cy="195707"/>
          </a:xfrm>
          <a:prstGeom prst="rect">
            <a:avLst/>
          </a:prstGeom>
        </p:spPr>
      </p:pic>
      <p:sp>
        <p:nvSpPr>
          <p:cNvPr id="25" name="TextBox 24"/>
          <p:cNvSpPr txBox="1"/>
          <p:nvPr/>
        </p:nvSpPr>
        <p:spPr>
          <a:xfrm>
            <a:off x="11128213" y="180327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26" name="TextBox 25"/>
          <p:cNvSpPr txBox="1"/>
          <p:nvPr/>
        </p:nvSpPr>
        <p:spPr>
          <a:xfrm>
            <a:off x="276225" y="197853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27" name="Picture 26" descr="lock.png"/>
          <p:cNvPicPr>
            <a:picLocks noChangeAspect="1"/>
          </p:cNvPicPr>
          <p:nvPr/>
        </p:nvPicPr>
        <p:blipFill>
          <a:blip r:embed="rId4"/>
          <a:stretch>
            <a:fillRect/>
          </a:stretch>
        </p:blipFill>
        <p:spPr>
          <a:xfrm>
            <a:off x="2608427" y="1968309"/>
            <a:ext cx="134549" cy="195707"/>
          </a:xfrm>
          <a:prstGeom prst="rect">
            <a:avLst/>
          </a:prstGeom>
        </p:spPr>
      </p:pic>
      <p:sp>
        <p:nvSpPr>
          <p:cNvPr id="28" name="TextBox 27"/>
          <p:cNvSpPr txBox="1"/>
          <p:nvPr/>
        </p:nvSpPr>
        <p:spPr>
          <a:xfrm>
            <a:off x="2783536" y="197853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Share Analysis, By Region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7" name="Rounded Rectangle 6"/>
          <p:cNvSpPr/>
          <p:nvPr/>
        </p:nvSpPr>
        <p:spPr>
          <a:xfrm>
            <a:off x="142875" y="981075"/>
            <a:ext cx="11906250" cy="2876550"/>
          </a:xfrm>
          <a:prstGeom prst="roundRect">
            <a:avLst>
              <a:gd name="adj" fmla="val 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9" name="Table 8"/>
          <p:cNvGraphicFramePr>
            <a:graphicFrameLocks noGrp="1"/>
          </p:cNvGraphicFramePr>
          <p:nvPr/>
        </p:nvGraphicFramePr>
        <p:xfrm>
          <a:off x="152400" y="1238250"/>
          <a:ext cx="11888646" cy="2409824"/>
        </p:xfrm>
        <a:graphic>
          <a:graphicData uri="http://schemas.openxmlformats.org/drawingml/2006/table">
            <a:tbl>
              <a:tblPr>
                <a:tableStyleId>{5C22544A-7EE6-4342-B048-85BDC9FD1C3A}</a:tableStyleId>
              </a:tblPr>
              <a:tblGrid>
                <a:gridCol w="1348921"/>
                <a:gridCol w="562162"/>
                <a:gridCol w="562162"/>
                <a:gridCol w="562162"/>
                <a:gridCol w="562162"/>
                <a:gridCol w="562162"/>
                <a:gridCol w="562162"/>
                <a:gridCol w="672173"/>
                <a:gridCol w="672173"/>
                <a:gridCol w="672173"/>
                <a:gridCol w="672173"/>
                <a:gridCol w="672173"/>
                <a:gridCol w="672173"/>
                <a:gridCol w="672173"/>
                <a:gridCol w="672173"/>
                <a:gridCol w="672173"/>
                <a:gridCol w="672173"/>
                <a:gridCol w="445023"/>
              </a:tblGrid>
              <a:tr h="438912">
                <a:tc>
                  <a:txBody>
                    <a:bodyPr wrap="none"/>
                    <a:lstStyle/>
                    <a:p>
                      <a:pPr algn="l"/>
                      <a:r>
                        <a:rPr sz="1100" b="1">
                          <a:solidFill>
                            <a:srgbClr val="0E2A5C"/>
                          </a:solidFill>
                          <a:latin typeface="Calibri"/>
                        </a:rPr>
                        <a:t>Region</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2021A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2022A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2023A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2024A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2025A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2026E</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2027F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2028F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2029F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2030F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2031F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2032F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2033F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2034F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2035F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2036F</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F-CAGR</a:t>
                      </a:r>
                      <a:endParaRPr sz="1100"/>
                    </a:p>
                  </a:txBody>
                  <a:tcPr marL="38100" marR="28575" marT="19050" marB="19050" anchor="ctr">
                    <a:solidFill>
                      <a:srgbClr val="EBF2F9"/>
                    </a:solidFill>
                  </a:tcPr>
                </a:tc>
              </a:tr>
              <a:tr h="246364">
                <a:tc>
                  <a:txBody>
                    <a:bodyPr wrap="none"/>
                    <a:lstStyle/>
                    <a:p>
                      <a:pPr algn="l"/>
                      <a:r>
                        <a:rPr sz="1100" b="1">
                          <a:solidFill>
                            <a:srgbClr val="2E2E2E"/>
                          </a:solidFill>
                          <a:latin typeface="Calibri"/>
                        </a:rPr>
                        <a:t>North America</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E2E2E"/>
                          </a:solidFill>
                          <a:latin typeface="Calibri"/>
                        </a:rPr>
                        <a:t>Latin America</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364">
                <a:tc>
                  <a:txBody>
                    <a:bodyPr wrap="none"/>
                    <a:lstStyle/>
                    <a:p>
                      <a:pPr algn="l"/>
                      <a:r>
                        <a:rPr sz="1100" b="1">
                          <a:solidFill>
                            <a:srgbClr val="2E2E2E"/>
                          </a:solidFill>
                          <a:latin typeface="Calibri"/>
                        </a:rPr>
                        <a:t>Western Europe</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E2E2E"/>
                          </a:solidFill>
                          <a:latin typeface="Calibri"/>
                        </a:rPr>
                        <a:t>Eastern Europe</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364">
                <a:tc>
                  <a:txBody>
                    <a:bodyPr wrap="none"/>
                    <a:lstStyle/>
                    <a:p>
                      <a:pPr algn="l"/>
                      <a:r>
                        <a:rPr sz="1100" b="1">
                          <a:solidFill>
                            <a:srgbClr val="2E2E2E"/>
                          </a:solidFill>
                          <a:latin typeface="Calibri"/>
                        </a:rPr>
                        <a:t>East Asia</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E2E2E"/>
                          </a:solidFill>
                          <a:latin typeface="Calibri"/>
                        </a:rPr>
                        <a:t>South Asia &amp; Pacific</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364">
                <a:tc>
                  <a:txBody>
                    <a:bodyPr wrap="none"/>
                    <a:lstStyle/>
                    <a:p>
                      <a:pPr algn="l"/>
                      <a:r>
                        <a:rPr sz="1100" b="1">
                          <a:solidFill>
                            <a:srgbClr val="2E2E2E"/>
                          </a:solidFill>
                          <a:latin typeface="Calibri"/>
                        </a:rPr>
                        <a:t>Middle East &amp; Africa</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364">
                <a:tc>
                  <a:txBody>
                    <a:bodyPr wrap="none"/>
                    <a:lstStyle/>
                    <a:p>
                      <a:pPr algn="l"/>
                      <a:r>
                        <a:rPr sz="1100" b="1">
                          <a:solidFill>
                            <a:srgbClr val="2E2E2E"/>
                          </a:solidFill>
                          <a:latin typeface="Calibri"/>
                        </a:rPr>
                        <a:t>Total</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b="1">
                          <a:solidFill>
                            <a:srgbClr val="2E2E2E"/>
                          </a:solidFill>
                          <a:latin typeface="Calibri"/>
                        </a:rPr>
                        <a:t>959,300</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a:t> </a:t>
                      </a:r>
                      <a:endParaRPr sz="1100"/>
                    </a:p>
                  </a:txBody>
                  <a:tcPr marL="38100" marR="28575" marT="19050" marB="19050" anchor="ctr">
                    <a:solidFill>
                      <a:srgbClr val="EBF2F9"/>
                    </a:solidFill>
                  </a:tcPr>
                </a:tc>
                <a:tc>
                  <a:txBody>
                    <a:bodyPr wrap="none"/>
                    <a:lstStyle/>
                    <a:p>
                      <a:pPr algn="ctr"/>
                      <a:r>
                        <a:rPr sz="1100" b="1">
                          <a:solidFill>
                            <a:srgbClr val="2E2E2E"/>
                          </a:solidFill>
                          <a:latin typeface="Calibri"/>
                        </a:rPr>
                        <a:t>1,531,700</a:t>
                      </a:r>
                      <a:endParaRPr sz="1100"/>
                    </a:p>
                  </a:txBody>
                  <a:tcPr marL="38100" marR="28575" marT="19050" marB="19050" anchor="ctr">
                    <a:solidFill>
                      <a:srgbClr val="EBF2F9"/>
                    </a:solidFill>
                  </a:tcPr>
                </a:tc>
                <a:tc>
                  <a:txBody>
                    <a:bodyPr wrap="none"/>
                    <a:lstStyle/>
                    <a:p>
                      <a:pPr algn="ctr"/>
                      <a:r>
                        <a:rPr sz="1100" b="1">
                          <a:solidFill>
                            <a:srgbClr val="2E2E2E"/>
                          </a:solidFill>
                          <a:latin typeface="Calibri"/>
                        </a:rPr>
                        <a:t>4.8%</a:t>
                      </a:r>
                      <a:endParaRPr sz="1100"/>
                    </a:p>
                  </a:txBody>
                  <a:tcPr marL="38100" marR="28575" marT="19050" marB="19050" anchor="ctr">
                    <a:solidFill>
                      <a:srgbClr val="EBF2F9"/>
                    </a:solidFill>
                  </a:tcPr>
                </a:tc>
              </a:tr>
            </a:tbl>
          </a:graphicData>
        </a:graphic>
      </p:graphicFrame>
      <p:sp>
        <p:nvSpPr>
          <p:cNvPr id="10" name="TextBox 9"/>
          <p:cNvSpPr txBox="1"/>
          <p:nvPr/>
        </p:nvSpPr>
        <p:spPr>
          <a:xfrm>
            <a:off x="219075" y="36576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990975"/>
            <a:ext cx="11906250" cy="2638425"/>
          </a:xfrm>
          <a:prstGeom prst="roundRect">
            <a:avLst>
              <a:gd name="adj" fmla="val 288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076700"/>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Share Read-out, By Region</a:t>
            </a:r>
          </a:p>
        </p:txBody>
      </p:sp>
      <p:sp>
        <p:nvSpPr>
          <p:cNvPr id="13" name="Rectangle 12"/>
          <p:cNvSpPr/>
          <p:nvPr/>
        </p:nvSpPr>
        <p:spPr>
          <a:xfrm>
            <a:off x="276225" y="43148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400550"/>
            <a:ext cx="11639550" cy="21526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566551" y="2395917"/>
            <a:ext cx="366712" cy="533400"/>
          </a:xfrm>
          <a:prstGeom prst="rect">
            <a:avLst/>
          </a:prstGeom>
        </p:spPr>
      </p:pic>
      <p:sp>
        <p:nvSpPr>
          <p:cNvPr id="18" name="TextBox 17"/>
          <p:cNvSpPr txBox="1"/>
          <p:nvPr/>
        </p:nvSpPr>
        <p:spPr>
          <a:xfrm>
            <a:off x="276225" y="4410075"/>
            <a:ext cx="3975906" cy="194310"/>
          </a:xfrm>
          <a:prstGeom prst="rect">
            <a:avLst/>
          </a:prstGeom>
          <a:noFill/>
        </p:spPr>
        <p:txBody>
          <a:bodyPr wrap="none" lIns="0" rIns="0" tIns="0" bIns="0">
            <a:spAutoFit/>
          </a:bodyPr>
          <a:lstStyle/>
          <a:p>
            <a:r>
              <a:rPr sz="1150" b="0">
                <a:solidFill>
                  <a:srgbClr val="2E2E2E"/>
                </a:solidFill>
                <a:latin typeface="Calibri"/>
              </a:rPr>
              <a:t>North America off-highway vehicle market is projected to register</a:t>
            </a:r>
          </a:p>
        </p:txBody>
      </p:sp>
      <p:pic>
        <p:nvPicPr>
          <p:cNvPr id="19" name="Picture 18" descr="lock.png"/>
          <p:cNvPicPr>
            <a:picLocks noChangeAspect="1"/>
          </p:cNvPicPr>
          <p:nvPr/>
        </p:nvPicPr>
        <p:blipFill>
          <a:blip r:embed="rId4"/>
          <a:stretch>
            <a:fillRect/>
          </a:stretch>
        </p:blipFill>
        <p:spPr>
          <a:xfrm>
            <a:off x="4201285" y="4399851"/>
            <a:ext cx="134549" cy="195707"/>
          </a:xfrm>
          <a:prstGeom prst="rect">
            <a:avLst/>
          </a:prstGeom>
        </p:spPr>
      </p:pic>
      <p:sp>
        <p:nvSpPr>
          <p:cNvPr id="20" name="TextBox 19"/>
          <p:cNvSpPr txBox="1"/>
          <p:nvPr/>
        </p:nvSpPr>
        <p:spPr>
          <a:xfrm>
            <a:off x="4376394" y="4410075"/>
            <a:ext cx="7276579" cy="194310"/>
          </a:xfrm>
          <a:prstGeom prst="rect">
            <a:avLst/>
          </a:prstGeom>
          <a:noFill/>
        </p:spPr>
        <p:txBody>
          <a:bodyPr wrap="none" lIns="0" rIns="0" tIns="0" bIns="0">
            <a:spAutoFit/>
          </a:bodyPr>
          <a:lstStyle/>
          <a:p>
            <a:r>
              <a:rPr sz="1150" b="0">
                <a:solidFill>
                  <a:srgbClr val="2E2E2E"/>
                </a:solidFill>
                <a:latin typeface="Calibri"/>
              </a:rPr>
              <a:t>X higher value than South Asia &amp; Pacific in 2036. Among off-highway vehicle by region, South Asia &amp; Pacific is expected to</a:t>
            </a:r>
          </a:p>
        </p:txBody>
      </p:sp>
      <p:sp>
        <p:nvSpPr>
          <p:cNvPr id="21" name="TextBox 20"/>
          <p:cNvSpPr txBox="1"/>
          <p:nvPr/>
        </p:nvSpPr>
        <p:spPr>
          <a:xfrm>
            <a:off x="276225" y="458533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2" name="Picture 21" descr="lock.png"/>
          <p:cNvPicPr>
            <a:picLocks noChangeAspect="1"/>
          </p:cNvPicPr>
          <p:nvPr/>
        </p:nvPicPr>
        <p:blipFill>
          <a:blip r:embed="rId4"/>
          <a:stretch>
            <a:fillRect/>
          </a:stretch>
        </p:blipFill>
        <p:spPr>
          <a:xfrm>
            <a:off x="1973149" y="4575111"/>
            <a:ext cx="134549" cy="195707"/>
          </a:xfrm>
          <a:prstGeom prst="rect">
            <a:avLst/>
          </a:prstGeom>
        </p:spPr>
      </p:pic>
      <p:sp>
        <p:nvSpPr>
          <p:cNvPr id="23" name="TextBox 22"/>
          <p:cNvSpPr txBox="1"/>
          <p:nvPr/>
        </p:nvSpPr>
        <p:spPr>
          <a:xfrm>
            <a:off x="2148258" y="45853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81317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5" name="Picture 24" descr="lock.png"/>
          <p:cNvPicPr>
            <a:picLocks noChangeAspect="1"/>
          </p:cNvPicPr>
          <p:nvPr/>
        </p:nvPicPr>
        <p:blipFill>
          <a:blip r:embed="rId4"/>
          <a:stretch>
            <a:fillRect/>
          </a:stretch>
        </p:blipFill>
        <p:spPr>
          <a:xfrm>
            <a:off x="5767043" y="4802949"/>
            <a:ext cx="134549" cy="195707"/>
          </a:xfrm>
          <a:prstGeom prst="rect">
            <a:avLst/>
          </a:prstGeom>
        </p:spPr>
      </p:pic>
      <p:sp>
        <p:nvSpPr>
          <p:cNvPr id="26" name="TextBox 25"/>
          <p:cNvSpPr txBox="1"/>
          <p:nvPr/>
        </p:nvSpPr>
        <p:spPr>
          <a:xfrm>
            <a:off x="5942153" y="48131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7337296" y="4802949"/>
            <a:ext cx="134549" cy="195707"/>
          </a:xfrm>
          <a:prstGeom prst="rect">
            <a:avLst/>
          </a:prstGeom>
        </p:spPr>
      </p:pic>
      <p:sp>
        <p:nvSpPr>
          <p:cNvPr id="28" name="TextBox 27"/>
          <p:cNvSpPr txBox="1"/>
          <p:nvPr/>
        </p:nvSpPr>
        <p:spPr>
          <a:xfrm>
            <a:off x="7512405" y="48131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Trends, By Region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(Units)</a:t>
            </a:r>
          </a:p>
        </p:txBody>
      </p:sp>
      <p:graphicFrame>
        <p:nvGraphicFramePr>
          <p:cNvPr id="9" name="Chart 8"/>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9763125" y="1304925"/>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MR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2" name="TMR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E2A5C"/>
                </a:solidFill>
                <a:latin typeface="Calibri"/>
              </a:rPr>
              <a:t>■  </a:t>
            </a:r>
            <a:r>
              <a:rPr sz="750">
                <a:solidFill>
                  <a:srgbClr val="2E2E2E"/>
                </a:solidFill>
                <a:latin typeface="Calibri"/>
              </a:rPr>
              <a:t>   South Asia &amp; Pacific</a:t>
            </a:r>
          </a:p>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081E2"/>
                </a:solidFill>
                <a:latin typeface="Calibri"/>
              </a:rPr>
              <a:t>■  </a:t>
            </a:r>
            <a:r>
              <a:rPr sz="750">
                <a:solidFill>
                  <a:srgbClr val="2E2E2E"/>
                </a:solidFill>
                <a:latin typeface="Calibri"/>
              </a:rPr>
              <a:t>   East Asia</a:t>
            </a:r>
          </a:p>
          <a:p>
            <a:pPr>
              <a:spcBef>
                <a:spcPts val="500"/>
              </a:spcBef>
            </a:pPr>
            <a:r>
              <a:rPr sz="900">
                <a:solidFill>
                  <a:srgbClr val="00ACAC"/>
                </a:solidFill>
                <a:latin typeface="Calibri"/>
              </a:rPr>
              <a:t>■  </a:t>
            </a:r>
            <a:r>
              <a:rPr sz="750">
                <a:solidFill>
                  <a:srgbClr val="2E2E2E"/>
                </a:solidFill>
                <a:latin typeface="Calibri"/>
              </a:rPr>
              <a:t>   Latin America</a:t>
            </a:r>
          </a:p>
          <a:p>
            <a:pPr>
              <a:spcBef>
                <a:spcPts val="500"/>
              </a:spcBef>
            </a:pPr>
            <a:r>
              <a:rPr sz="900">
                <a:solidFill>
                  <a:srgbClr val="F47620"/>
                </a:solidFill>
                <a:latin typeface="Calibri"/>
              </a:rPr>
              <a:t>■  </a:t>
            </a:r>
            <a:r>
              <a:rPr sz="750">
                <a:solidFill>
                  <a:srgbClr val="2E2E2E"/>
                </a:solidFill>
                <a:latin typeface="Calibri"/>
              </a:rPr>
              <a:t>   Middle East &amp; Africa</a:t>
            </a:r>
          </a:p>
          <a:p>
            <a:pPr>
              <a:spcBef>
                <a:spcPts val="500"/>
              </a:spcBef>
            </a:pPr>
            <a:r>
              <a:rPr sz="900">
                <a:solidFill>
                  <a:srgbClr val="79C3EC"/>
                </a:solidFill>
                <a:latin typeface="Calibri"/>
              </a:rPr>
              <a:t>■  </a:t>
            </a:r>
            <a:r>
              <a:rPr sz="750">
                <a:solidFill>
                  <a:srgbClr val="2E2E2E"/>
                </a:solidFill>
                <a:latin typeface="Calibri"/>
              </a:rPr>
              <a:t>   Eastern Europe</a:t>
            </a:r>
          </a:p>
          <a:p>
            <a:pPr>
              <a:spcBef>
                <a:spcPts val="500"/>
              </a:spcBef>
            </a:pPr>
            <a:r>
              <a:rPr sz="900">
                <a:solidFill>
                  <a:srgbClr val="586272"/>
                </a:solidFill>
                <a:latin typeface="Calibri"/>
              </a:rPr>
              <a:t>■  </a:t>
            </a:r>
            <a:r>
              <a:rPr sz="750">
                <a:solidFill>
                  <a:srgbClr val="2E2E2E"/>
                </a:solidFill>
                <a:latin typeface="Calibri"/>
              </a:rPr>
              <a:t>   Western Europe</a:t>
            </a:r>
          </a:p>
        </p:txBody>
      </p:sp>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5" name="Chart 14"/>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6" name="Rounded Rectangle 15"/>
          <p:cNvSpPr/>
          <p:nvPr/>
        </p:nvSpPr>
        <p:spPr>
          <a:xfrm>
            <a:off x="9763125" y="4191000"/>
            <a:ext cx="2190750" cy="2333625"/>
          </a:xfrm>
          <a:prstGeom prst="roundRect">
            <a:avLst>
              <a:gd name="adj" fmla="val 34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MR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18" name="TMR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2A5F8F"/>
                </a:solidFill>
                <a:latin typeface="Calibri"/>
              </a:rPr>
              <a:t>■  </a:t>
            </a:r>
            <a:r>
              <a:rPr sz="750">
                <a:solidFill>
                  <a:srgbClr val="2E2E2E"/>
                </a:solidFill>
                <a:latin typeface="Calibri"/>
              </a:rPr>
              <a:t>   North America</a:t>
            </a:r>
          </a:p>
          <a:p>
            <a:pPr>
              <a:spcBef>
                <a:spcPts val="500"/>
              </a:spcBef>
            </a:pPr>
            <a:r>
              <a:rPr sz="900">
                <a:solidFill>
                  <a:srgbClr val="0E2A5C"/>
                </a:solidFill>
                <a:latin typeface="Calibri"/>
              </a:rPr>
              <a:t>■  </a:t>
            </a:r>
            <a:r>
              <a:rPr sz="750">
                <a:solidFill>
                  <a:srgbClr val="2E2E2E"/>
                </a:solidFill>
                <a:latin typeface="Calibri"/>
              </a:rPr>
              <a:t>   South Asia &amp; Pacific</a:t>
            </a:r>
          </a:p>
          <a:p>
            <a:pPr>
              <a:spcBef>
                <a:spcPts val="500"/>
              </a:spcBef>
            </a:pPr>
            <a:r>
              <a:rPr sz="900">
                <a:solidFill>
                  <a:srgbClr val="0081E2"/>
                </a:solidFill>
                <a:latin typeface="Calibri"/>
              </a:rPr>
              <a:t>■  </a:t>
            </a:r>
            <a:r>
              <a:rPr sz="750">
                <a:solidFill>
                  <a:srgbClr val="2E2E2E"/>
                </a:solidFill>
                <a:latin typeface="Calibri"/>
              </a:rPr>
              <a:t>   East Asia</a:t>
            </a:r>
          </a:p>
          <a:p>
            <a:pPr>
              <a:spcBef>
                <a:spcPts val="500"/>
              </a:spcBef>
            </a:pPr>
            <a:r>
              <a:rPr sz="900">
                <a:solidFill>
                  <a:srgbClr val="00ACAC"/>
                </a:solidFill>
                <a:latin typeface="Calibri"/>
              </a:rPr>
              <a:t>■  </a:t>
            </a:r>
            <a:r>
              <a:rPr sz="750">
                <a:solidFill>
                  <a:srgbClr val="2E2E2E"/>
                </a:solidFill>
                <a:latin typeface="Calibri"/>
              </a:rPr>
              <a:t>   Latin America</a:t>
            </a:r>
          </a:p>
          <a:p>
            <a:pPr>
              <a:spcBef>
                <a:spcPts val="500"/>
              </a:spcBef>
            </a:pPr>
            <a:r>
              <a:rPr sz="900">
                <a:solidFill>
                  <a:srgbClr val="F47620"/>
                </a:solidFill>
                <a:latin typeface="Calibri"/>
              </a:rPr>
              <a:t>■  </a:t>
            </a:r>
            <a:r>
              <a:rPr sz="750">
                <a:solidFill>
                  <a:srgbClr val="2E2E2E"/>
                </a:solidFill>
                <a:latin typeface="Calibri"/>
              </a:rPr>
              <a:t>   Middle East &amp; Africa</a:t>
            </a:r>
          </a:p>
          <a:p>
            <a:pPr>
              <a:spcBef>
                <a:spcPts val="500"/>
              </a:spcBef>
            </a:pPr>
            <a:r>
              <a:rPr sz="900">
                <a:solidFill>
                  <a:srgbClr val="79C3EC"/>
                </a:solidFill>
                <a:latin typeface="Calibri"/>
              </a:rPr>
              <a:t>■  </a:t>
            </a:r>
            <a:r>
              <a:rPr sz="750">
                <a:solidFill>
                  <a:srgbClr val="2E2E2E"/>
                </a:solidFill>
                <a:latin typeface="Calibri"/>
              </a:rPr>
              <a:t>   Eastern Europe</a:t>
            </a:r>
          </a:p>
          <a:p>
            <a:pPr>
              <a:spcBef>
                <a:spcPts val="500"/>
              </a:spcBef>
            </a:pPr>
            <a:r>
              <a:rPr sz="900">
                <a:solidFill>
                  <a:srgbClr val="586272"/>
                </a:solidFill>
                <a:latin typeface="Calibri"/>
              </a:rPr>
              <a:t>■  </a:t>
            </a:r>
            <a:r>
              <a:rPr sz="750">
                <a:solidFill>
                  <a:srgbClr val="2E2E2E"/>
                </a:solidFill>
                <a:latin typeface="Calibri"/>
              </a:rPr>
              <a:t>   Western Europe</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1" name="TextBox 20"/>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2" name="TextBox 21"/>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3" name="lockshield_9"/>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ckshield_15"/>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Top 10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9" name="Rectangle 8"/>
          <p:cNvSpPr/>
          <p:nvPr/>
        </p:nvSpPr>
        <p:spPr>
          <a:xfrm>
            <a:off x="238125" y="1266825"/>
            <a:ext cx="3090574"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3328699" y="1266825"/>
            <a:ext cx="2888699" cy="2742290"/>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1" name="Rectangle 10"/>
          <p:cNvSpPr/>
          <p:nvPr/>
        </p:nvSpPr>
        <p:spPr>
          <a:xfrm>
            <a:off x="3328699" y="4009115"/>
            <a:ext cx="2888699" cy="2563135"/>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2" name="Rectangle 11"/>
          <p:cNvSpPr/>
          <p:nvPr/>
        </p:nvSpPr>
        <p:spPr>
          <a:xfrm>
            <a:off x="6217398" y="1266825"/>
            <a:ext cx="2359498" cy="3085160"/>
          </a:xfrm>
          <a:prstGeom prst="rect">
            <a:avLst/>
          </a:prstGeom>
          <a:solidFill>
            <a:srgbClr val="00ACA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3" name="Rectangle 12"/>
          <p:cNvSpPr/>
          <p:nvPr/>
        </p:nvSpPr>
        <p:spPr>
          <a:xfrm>
            <a:off x="6217398" y="4351985"/>
            <a:ext cx="2359498" cy="2220265"/>
          </a:xfrm>
          <a:prstGeom prst="rect">
            <a:avLst/>
          </a:prstGeom>
          <a:solidFill>
            <a:srgbClr val="F4762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4" name="Rectangle 13"/>
          <p:cNvSpPr/>
          <p:nvPr/>
        </p:nvSpPr>
        <p:spPr>
          <a:xfrm>
            <a:off x="8576896" y="1266825"/>
            <a:ext cx="2051776" cy="2540699"/>
          </a:xfrm>
          <a:prstGeom prst="rect">
            <a:avLst/>
          </a:prstGeom>
          <a:solidFill>
            <a:srgbClr val="79C3E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Mexico</a:t>
            </a:r>
          </a:p>
          <a:p>
            <a:pPr algn="ctr"/>
            <a:r>
              <a:rPr sz="1100" b="0">
                <a:solidFill>
                  <a:srgbClr val="2E2E2E"/>
                </a:solidFill>
                <a:latin typeface="Calibri"/>
              </a:rPr>
              <a:t> </a:t>
            </a:r>
          </a:p>
        </p:txBody>
      </p:sp>
      <p:sp>
        <p:nvSpPr>
          <p:cNvPr id="15" name="Rectangle 14"/>
          <p:cNvSpPr/>
          <p:nvPr/>
        </p:nvSpPr>
        <p:spPr>
          <a:xfrm>
            <a:off x="10628672" y="1266825"/>
            <a:ext cx="1325203" cy="2540699"/>
          </a:xfrm>
          <a:prstGeom prst="rect">
            <a:avLst/>
          </a:prstGeom>
          <a:solidFill>
            <a:srgbClr val="58627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Kingdom of Saudi Arabia</a:t>
            </a:r>
          </a:p>
          <a:p>
            <a:pPr algn="ctr"/>
            <a:r>
              <a:rPr sz="1100" b="0">
                <a:solidFill>
                  <a:srgbClr val="FFFFFF"/>
                </a:solidFill>
                <a:latin typeface="Calibri"/>
              </a:rPr>
              <a:t> </a:t>
            </a:r>
          </a:p>
        </p:txBody>
      </p:sp>
      <p:sp>
        <p:nvSpPr>
          <p:cNvPr id="16" name="Rectangle 15"/>
          <p:cNvSpPr/>
          <p:nvPr/>
        </p:nvSpPr>
        <p:spPr>
          <a:xfrm>
            <a:off x="8576896" y="3807524"/>
            <a:ext cx="2286547" cy="1395739"/>
          </a:xfrm>
          <a:prstGeom prst="rect">
            <a:avLst/>
          </a:prstGeom>
          <a:solidFill>
            <a:srgbClr val="1F47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Russia</a:t>
            </a:r>
          </a:p>
          <a:p>
            <a:pPr algn="ctr"/>
            <a:r>
              <a:rPr sz="1100" b="0">
                <a:solidFill>
                  <a:srgbClr val="FFFFFF"/>
                </a:solidFill>
                <a:latin typeface="Calibri"/>
              </a:rPr>
              <a:t> </a:t>
            </a:r>
          </a:p>
        </p:txBody>
      </p:sp>
      <p:sp>
        <p:nvSpPr>
          <p:cNvPr id="17" name="Rectangle 16"/>
          <p:cNvSpPr/>
          <p:nvPr/>
        </p:nvSpPr>
        <p:spPr>
          <a:xfrm>
            <a:off x="8576896" y="5203263"/>
            <a:ext cx="2286547" cy="1368987"/>
          </a:xfrm>
          <a:prstGeom prst="rect">
            <a:avLst/>
          </a:prstGeom>
          <a:solidFill>
            <a:srgbClr val="BCBEC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Japan</a:t>
            </a:r>
          </a:p>
          <a:p>
            <a:pPr algn="ctr"/>
            <a:r>
              <a:rPr sz="1100" b="0">
                <a:solidFill>
                  <a:srgbClr val="2E2E2E"/>
                </a:solidFill>
                <a:latin typeface="Calibri"/>
              </a:rPr>
              <a:t> </a:t>
            </a:r>
          </a:p>
        </p:txBody>
      </p:sp>
      <p:sp>
        <p:nvSpPr>
          <p:cNvPr id="18" name="Rectangle 17"/>
          <p:cNvSpPr/>
          <p:nvPr/>
        </p:nvSpPr>
        <p:spPr>
          <a:xfrm>
            <a:off x="10863443" y="3807524"/>
            <a:ext cx="1090432" cy="2764726"/>
          </a:xfrm>
          <a:prstGeom prst="rect">
            <a:avLst/>
          </a:prstGeom>
          <a:solidFill>
            <a:srgbClr val="3DC6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E2E2E"/>
                </a:solidFill>
                <a:latin typeface="Calibri"/>
              </a:rPr>
              <a:t>ASEAN</a:t>
            </a:r>
          </a:p>
          <a:p>
            <a:pPr algn="ctr"/>
            <a:r>
              <a:rPr sz="1100" b="0">
                <a:solidFill>
                  <a:srgbClr val="2E2E2E"/>
                </a:solidFill>
                <a:latin typeface="Calibri"/>
              </a:rPr>
              <a:t> </a:t>
            </a:r>
          </a:p>
        </p:txBody>
      </p:sp>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4"/>
          <a:stretch>
            <a:fillRect/>
          </a:stretch>
        </p:blipFill>
        <p:spPr>
          <a:xfrm>
            <a:off x="1628973" y="3919537"/>
            <a:ext cx="308877" cy="449275"/>
          </a:xfrm>
          <a:prstGeom prst="rect">
            <a:avLst/>
          </a:prstGeom>
        </p:spPr>
      </p:pic>
      <p:pic>
        <p:nvPicPr>
          <p:cNvPr id="22" name="Picture 21" descr="lock.png"/>
          <p:cNvPicPr>
            <a:picLocks noChangeAspect="1"/>
          </p:cNvPicPr>
          <p:nvPr/>
        </p:nvPicPr>
        <p:blipFill>
          <a:blip r:embed="rId4"/>
          <a:stretch>
            <a:fillRect/>
          </a:stretch>
        </p:blipFill>
        <p:spPr>
          <a:xfrm>
            <a:off x="4618610" y="2637970"/>
            <a:ext cx="308877" cy="449275"/>
          </a:xfrm>
          <a:prstGeom prst="rect">
            <a:avLst/>
          </a:prstGeom>
        </p:spPr>
      </p:pic>
      <p:pic>
        <p:nvPicPr>
          <p:cNvPr id="23" name="Picture 22" descr="lock.png"/>
          <p:cNvPicPr>
            <a:picLocks noChangeAspect="1"/>
          </p:cNvPicPr>
          <p:nvPr/>
        </p:nvPicPr>
        <p:blipFill>
          <a:blip r:embed="rId4"/>
          <a:stretch>
            <a:fillRect/>
          </a:stretch>
        </p:blipFill>
        <p:spPr>
          <a:xfrm>
            <a:off x="4618610" y="5290682"/>
            <a:ext cx="308877" cy="449275"/>
          </a:xfrm>
          <a:prstGeom prst="rect">
            <a:avLst/>
          </a:prstGeom>
        </p:spPr>
      </p:pic>
      <p:pic>
        <p:nvPicPr>
          <p:cNvPr id="24" name="Picture 23" descr="lock.png"/>
          <p:cNvPicPr>
            <a:picLocks noChangeAspect="1"/>
          </p:cNvPicPr>
          <p:nvPr/>
        </p:nvPicPr>
        <p:blipFill>
          <a:blip r:embed="rId4"/>
          <a:stretch>
            <a:fillRect/>
          </a:stretch>
        </p:blipFill>
        <p:spPr>
          <a:xfrm>
            <a:off x="7242708" y="2809405"/>
            <a:ext cx="308877" cy="449275"/>
          </a:xfrm>
          <a:prstGeom prst="rect">
            <a:avLst/>
          </a:prstGeom>
        </p:spPr>
      </p:pic>
      <p:pic>
        <p:nvPicPr>
          <p:cNvPr id="25" name="Picture 24" descr="lock.png"/>
          <p:cNvPicPr>
            <a:picLocks noChangeAspect="1"/>
          </p:cNvPicPr>
          <p:nvPr/>
        </p:nvPicPr>
        <p:blipFill>
          <a:blip r:embed="rId4"/>
          <a:stretch>
            <a:fillRect/>
          </a:stretch>
        </p:blipFill>
        <p:spPr>
          <a:xfrm>
            <a:off x="7242708" y="5462117"/>
            <a:ext cx="308877" cy="449275"/>
          </a:xfrm>
          <a:prstGeom prst="rect">
            <a:avLst/>
          </a:prstGeom>
        </p:spPr>
      </p:pic>
      <p:pic>
        <p:nvPicPr>
          <p:cNvPr id="26" name="Picture 25" descr="lock.png"/>
          <p:cNvPicPr>
            <a:picLocks noChangeAspect="1"/>
          </p:cNvPicPr>
          <p:nvPr/>
        </p:nvPicPr>
        <p:blipFill>
          <a:blip r:embed="rId4"/>
          <a:stretch>
            <a:fillRect/>
          </a:stretch>
        </p:blipFill>
        <p:spPr>
          <a:xfrm>
            <a:off x="9448345" y="2537174"/>
            <a:ext cx="308877" cy="449275"/>
          </a:xfrm>
          <a:prstGeom prst="rect">
            <a:avLst/>
          </a:prstGeom>
        </p:spPr>
      </p:pic>
      <p:pic>
        <p:nvPicPr>
          <p:cNvPr id="27" name="Picture 26" descr="lock.png"/>
          <p:cNvPicPr>
            <a:picLocks noChangeAspect="1"/>
          </p:cNvPicPr>
          <p:nvPr/>
        </p:nvPicPr>
        <p:blipFill>
          <a:blip r:embed="rId4"/>
          <a:stretch>
            <a:fillRect/>
          </a:stretch>
        </p:blipFill>
        <p:spPr>
          <a:xfrm>
            <a:off x="11136835" y="2537174"/>
            <a:ext cx="308877" cy="449275"/>
          </a:xfrm>
          <a:prstGeom prst="rect">
            <a:avLst/>
          </a:prstGeom>
        </p:spPr>
      </p:pic>
      <p:pic>
        <p:nvPicPr>
          <p:cNvPr id="28" name="Picture 27" descr="lock.png"/>
          <p:cNvPicPr>
            <a:picLocks noChangeAspect="1"/>
          </p:cNvPicPr>
          <p:nvPr/>
        </p:nvPicPr>
        <p:blipFill>
          <a:blip r:embed="rId4"/>
          <a:stretch>
            <a:fillRect/>
          </a:stretch>
        </p:blipFill>
        <p:spPr>
          <a:xfrm>
            <a:off x="9565731" y="4505393"/>
            <a:ext cx="308877" cy="449275"/>
          </a:xfrm>
          <a:prstGeom prst="rect">
            <a:avLst/>
          </a:prstGeom>
        </p:spPr>
      </p:pic>
      <p:pic>
        <p:nvPicPr>
          <p:cNvPr id="29" name="Picture 28" descr="lock.png"/>
          <p:cNvPicPr>
            <a:picLocks noChangeAspect="1"/>
          </p:cNvPicPr>
          <p:nvPr/>
        </p:nvPicPr>
        <p:blipFill>
          <a:blip r:embed="rId4"/>
          <a:stretch>
            <a:fillRect/>
          </a:stretch>
        </p:blipFill>
        <p:spPr>
          <a:xfrm>
            <a:off x="9565731" y="5887756"/>
            <a:ext cx="308877" cy="449275"/>
          </a:xfrm>
          <a:prstGeom prst="rect">
            <a:avLst/>
          </a:prstGeom>
        </p:spPr>
      </p:pic>
      <p:pic>
        <p:nvPicPr>
          <p:cNvPr id="30" name="Picture 29" descr="lock.png"/>
          <p:cNvPicPr>
            <a:picLocks noChangeAspect="1"/>
          </p:cNvPicPr>
          <p:nvPr/>
        </p:nvPicPr>
        <p:blipFill>
          <a:blip r:embed="rId4"/>
          <a:stretch>
            <a:fillRect/>
          </a:stretch>
        </p:blipFill>
        <p:spPr>
          <a:xfrm>
            <a:off x="11254220" y="5189887"/>
            <a:ext cx="308877" cy="449275"/>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Global Market Analysis By Segments</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Powertrain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Configuration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Vehicle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Vehicle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Vehicle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Vehicle Type segment categorizes the market by vehicle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Construction and Mining Vehicles</a:t>
            </a:r>
          </a:p>
        </p:txBody>
      </p:sp>
      <p:sp>
        <p:nvSpPr>
          <p:cNvPr id="19" name="Rectangle 18"/>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Agriculture and Forestry Vehicles</a:t>
            </a:r>
          </a:p>
        </p:txBody>
      </p:sp>
      <p:sp>
        <p:nvSpPr>
          <p:cNvPr id="26" name="Rectangle 25"/>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Military Vehicles</a:t>
            </a:r>
          </a:p>
        </p:txBody>
      </p:sp>
      <p:sp>
        <p:nvSpPr>
          <p:cNvPr id="33" name="Rectangle 32"/>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Recreational and Powersports Vehi…</a:t>
            </a:r>
          </a:p>
        </p:txBody>
      </p:sp>
      <p:sp>
        <p:nvSpPr>
          <p:cNvPr id="40" name="Rectangle 39"/>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and Port Vehicles</a:t>
            </a:r>
          </a:p>
        </p:txBody>
      </p:sp>
      <p:sp>
        <p:nvSpPr>
          <p:cNvPr id="47" name="Rectangle 46"/>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3" name="Rectangle 52"/>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5" name="Rounded Rectangle 5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7" name="Rectangle 56"/>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59" name="Rounded Rectangle 5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1" name="Rectangle 60"/>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Vehicle Type split shows how demand is distributed across vehicle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63" name="Rectangle 6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5" name="TextBox 6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66" name="Rectangle 6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8" name="Picture 67" descr="256_334_605E5C.png"/>
          <p:cNvPicPr>
            <a:picLocks noChangeAspect="1"/>
          </p:cNvPicPr>
          <p:nvPr/>
        </p:nvPicPr>
        <p:blipFill>
          <a:blip r:embed="rId4"/>
          <a:stretch>
            <a:fillRect/>
          </a:stretch>
        </p:blipFill>
        <p:spPr>
          <a:xfrm>
            <a:off x="2006917" y="2286582"/>
            <a:ext cx="1628775" cy="361950"/>
          </a:xfrm>
          <a:prstGeom prst="rect">
            <a:avLst/>
          </a:prstGeom>
        </p:spPr>
      </p:pic>
      <p:pic>
        <p:nvPicPr>
          <p:cNvPr id="69" name="Picture 68" descr="438_864_605E5C.png"/>
          <p:cNvPicPr>
            <a:picLocks noChangeAspect="1"/>
          </p:cNvPicPr>
          <p:nvPr/>
        </p:nvPicPr>
        <p:blipFill>
          <a:blip r:embed="rId5"/>
          <a:stretch>
            <a:fillRect/>
          </a:stretch>
        </p:blipFill>
        <p:spPr>
          <a:xfrm>
            <a:off x="2006917" y="2779432"/>
            <a:ext cx="1628775" cy="361950"/>
          </a:xfrm>
          <a:prstGeom prst="rect">
            <a:avLst/>
          </a:prstGeom>
        </p:spPr>
      </p:pic>
      <p:pic>
        <p:nvPicPr>
          <p:cNvPr id="70" name="Picture 69" descr="5_5__605E5C.png"/>
          <p:cNvPicPr>
            <a:picLocks noChangeAspect="1"/>
          </p:cNvPicPr>
          <p:nvPr/>
        </p:nvPicPr>
        <p:blipFill>
          <a:blip r:embed="rId6"/>
          <a:stretch>
            <a:fillRect/>
          </a:stretch>
        </p:blipFill>
        <p:spPr>
          <a:xfrm>
            <a:off x="2330087" y="3272281"/>
            <a:ext cx="982436" cy="361950"/>
          </a:xfrm>
          <a:prstGeom prst="rect">
            <a:avLst/>
          </a:prstGeom>
        </p:spPr>
      </p:pic>
      <p:pic>
        <p:nvPicPr>
          <p:cNvPr id="71" name="Picture 70" descr="215_680_605E5C.png"/>
          <p:cNvPicPr>
            <a:picLocks noChangeAspect="1"/>
          </p:cNvPicPr>
          <p:nvPr/>
        </p:nvPicPr>
        <p:blipFill>
          <a:blip r:embed="rId7"/>
          <a:stretch>
            <a:fillRect/>
          </a:stretch>
        </p:blipFill>
        <p:spPr>
          <a:xfrm>
            <a:off x="4030027" y="2286582"/>
            <a:ext cx="1628775" cy="361950"/>
          </a:xfrm>
          <a:prstGeom prst="rect">
            <a:avLst/>
          </a:prstGeom>
        </p:spPr>
      </p:pic>
      <p:pic>
        <p:nvPicPr>
          <p:cNvPr id="72" name="Picture 71" descr="328_291_605E5C.png"/>
          <p:cNvPicPr>
            <a:picLocks noChangeAspect="1"/>
          </p:cNvPicPr>
          <p:nvPr/>
        </p:nvPicPr>
        <p:blipFill>
          <a:blip r:embed="rId8"/>
          <a:stretch>
            <a:fillRect/>
          </a:stretch>
        </p:blipFill>
        <p:spPr>
          <a:xfrm>
            <a:off x="4030027" y="2779432"/>
            <a:ext cx="1628775" cy="361950"/>
          </a:xfrm>
          <a:prstGeom prst="rect">
            <a:avLst/>
          </a:prstGeom>
        </p:spPr>
      </p:pic>
      <p:pic>
        <p:nvPicPr>
          <p:cNvPr id="73" name="Picture 72" descr="4_3__605E5C.png"/>
          <p:cNvPicPr>
            <a:picLocks noChangeAspect="1"/>
          </p:cNvPicPr>
          <p:nvPr/>
        </p:nvPicPr>
        <p:blipFill>
          <a:blip r:embed="rId9"/>
          <a:stretch>
            <a:fillRect/>
          </a:stretch>
        </p:blipFill>
        <p:spPr>
          <a:xfrm>
            <a:off x="4353197" y="3272281"/>
            <a:ext cx="982436" cy="361950"/>
          </a:xfrm>
          <a:prstGeom prst="rect">
            <a:avLst/>
          </a:prstGeom>
        </p:spPr>
      </p:pic>
      <p:pic>
        <p:nvPicPr>
          <p:cNvPr id="74" name="Picture 73" descr="201_965_605E5C.png"/>
          <p:cNvPicPr>
            <a:picLocks noChangeAspect="1"/>
          </p:cNvPicPr>
          <p:nvPr/>
        </p:nvPicPr>
        <p:blipFill>
          <a:blip r:embed="rId10"/>
          <a:stretch>
            <a:fillRect/>
          </a:stretch>
        </p:blipFill>
        <p:spPr>
          <a:xfrm>
            <a:off x="6053137" y="2286582"/>
            <a:ext cx="1628775" cy="361950"/>
          </a:xfrm>
          <a:prstGeom prst="rect">
            <a:avLst/>
          </a:prstGeom>
        </p:spPr>
      </p:pic>
      <p:pic>
        <p:nvPicPr>
          <p:cNvPr id="75" name="Picture 74" descr="292_990_605E5C.png"/>
          <p:cNvPicPr>
            <a:picLocks noChangeAspect="1"/>
          </p:cNvPicPr>
          <p:nvPr/>
        </p:nvPicPr>
        <p:blipFill>
          <a:blip r:embed="rId11"/>
          <a:stretch>
            <a:fillRect/>
          </a:stretch>
        </p:blipFill>
        <p:spPr>
          <a:xfrm>
            <a:off x="6053137" y="2779432"/>
            <a:ext cx="1628775" cy="361950"/>
          </a:xfrm>
          <a:prstGeom prst="rect">
            <a:avLst/>
          </a:prstGeom>
        </p:spPr>
      </p:pic>
      <p:pic>
        <p:nvPicPr>
          <p:cNvPr id="76" name="Picture 75" descr="3_8__605E5C.png"/>
          <p:cNvPicPr>
            <a:picLocks noChangeAspect="1"/>
          </p:cNvPicPr>
          <p:nvPr/>
        </p:nvPicPr>
        <p:blipFill>
          <a:blip r:embed="rId12"/>
          <a:stretch>
            <a:fillRect/>
          </a:stretch>
        </p:blipFill>
        <p:spPr>
          <a:xfrm>
            <a:off x="6376307" y="3272281"/>
            <a:ext cx="982436" cy="361950"/>
          </a:xfrm>
          <a:prstGeom prst="rect">
            <a:avLst/>
          </a:prstGeom>
        </p:spPr>
      </p:pic>
      <p:pic>
        <p:nvPicPr>
          <p:cNvPr id="77" name="Picture 76" descr="145_692_605E5C.png"/>
          <p:cNvPicPr>
            <a:picLocks noChangeAspect="1"/>
          </p:cNvPicPr>
          <p:nvPr/>
        </p:nvPicPr>
        <p:blipFill>
          <a:blip r:embed="rId13"/>
          <a:stretch>
            <a:fillRect/>
          </a:stretch>
        </p:blipFill>
        <p:spPr>
          <a:xfrm>
            <a:off x="8076247" y="2286582"/>
            <a:ext cx="1628775" cy="361950"/>
          </a:xfrm>
          <a:prstGeom prst="rect">
            <a:avLst/>
          </a:prstGeom>
        </p:spPr>
      </p:pic>
      <p:pic>
        <p:nvPicPr>
          <p:cNvPr id="78" name="Picture 77" descr="269_187_605E5C.png"/>
          <p:cNvPicPr>
            <a:picLocks noChangeAspect="1"/>
          </p:cNvPicPr>
          <p:nvPr/>
        </p:nvPicPr>
        <p:blipFill>
          <a:blip r:embed="rId14"/>
          <a:stretch>
            <a:fillRect/>
          </a:stretch>
        </p:blipFill>
        <p:spPr>
          <a:xfrm>
            <a:off x="8076247" y="2779432"/>
            <a:ext cx="1628775" cy="361950"/>
          </a:xfrm>
          <a:prstGeom prst="rect">
            <a:avLst/>
          </a:prstGeom>
        </p:spPr>
      </p:pic>
      <p:pic>
        <p:nvPicPr>
          <p:cNvPr id="79" name="Picture 78" descr="6_3__605E5C.png"/>
          <p:cNvPicPr>
            <a:picLocks noChangeAspect="1"/>
          </p:cNvPicPr>
          <p:nvPr/>
        </p:nvPicPr>
        <p:blipFill>
          <a:blip r:embed="rId15"/>
          <a:stretch>
            <a:fillRect/>
          </a:stretch>
        </p:blipFill>
        <p:spPr>
          <a:xfrm>
            <a:off x="8399417" y="3272281"/>
            <a:ext cx="982436" cy="361950"/>
          </a:xfrm>
          <a:prstGeom prst="rect">
            <a:avLst/>
          </a:prstGeom>
        </p:spPr>
      </p:pic>
      <p:pic>
        <p:nvPicPr>
          <p:cNvPr id="80" name="Picture 79" descr="139_629_605E5C.png"/>
          <p:cNvPicPr>
            <a:picLocks noChangeAspect="1"/>
          </p:cNvPicPr>
          <p:nvPr/>
        </p:nvPicPr>
        <p:blipFill>
          <a:blip r:embed="rId16"/>
          <a:stretch>
            <a:fillRect/>
          </a:stretch>
        </p:blipFill>
        <p:spPr>
          <a:xfrm>
            <a:off x="10099357" y="2286582"/>
            <a:ext cx="1628775" cy="361950"/>
          </a:xfrm>
          <a:prstGeom prst="rect">
            <a:avLst/>
          </a:prstGeom>
        </p:spPr>
      </p:pic>
      <p:pic>
        <p:nvPicPr>
          <p:cNvPr id="81" name="Picture 80" descr="202_368_605E5C.png"/>
          <p:cNvPicPr>
            <a:picLocks noChangeAspect="1"/>
          </p:cNvPicPr>
          <p:nvPr/>
        </p:nvPicPr>
        <p:blipFill>
          <a:blip r:embed="rId17"/>
          <a:stretch>
            <a:fillRect/>
          </a:stretch>
        </p:blipFill>
        <p:spPr>
          <a:xfrm>
            <a:off x="10099357" y="2779432"/>
            <a:ext cx="1628775" cy="361950"/>
          </a:xfrm>
          <a:prstGeom prst="rect">
            <a:avLst/>
          </a:prstGeom>
        </p:spPr>
      </p:pic>
      <p:pic>
        <p:nvPicPr>
          <p:cNvPr id="82" name="Picture 81" descr="3_8__605E5C.png"/>
          <p:cNvPicPr>
            <a:picLocks noChangeAspect="1"/>
          </p:cNvPicPr>
          <p:nvPr/>
        </p:nvPicPr>
        <p:blipFill>
          <a:blip r:embed="rId12"/>
          <a:stretch>
            <a:fillRect/>
          </a:stretch>
        </p:blipFill>
        <p:spPr>
          <a:xfrm>
            <a:off x="10422527" y="3272281"/>
            <a:ext cx="982436" cy="361950"/>
          </a:xfrm>
          <a:prstGeom prst="rect">
            <a:avLst/>
          </a:prstGeom>
        </p:spPr>
      </p:pic>
      <p:pic>
        <p:nvPicPr>
          <p:cNvPr id="83" name="Picture 82" descr="lock.png"/>
          <p:cNvPicPr>
            <a:picLocks noChangeAspect="1"/>
          </p:cNvPicPr>
          <p:nvPr/>
        </p:nvPicPr>
        <p:blipFill>
          <a:blip r:embed="rId18"/>
          <a:stretch>
            <a:fillRect/>
          </a:stretch>
        </p:blipFill>
        <p:spPr>
          <a:xfrm>
            <a:off x="2727960" y="2827057"/>
            <a:ext cx="183356" cy="266700"/>
          </a:xfrm>
          <a:prstGeom prst="rect">
            <a:avLst/>
          </a:prstGeom>
        </p:spPr>
      </p:pic>
      <p:pic>
        <p:nvPicPr>
          <p:cNvPr id="84" name="Picture 83" descr="lock.png"/>
          <p:cNvPicPr>
            <a:picLocks noChangeAspect="1"/>
          </p:cNvPicPr>
          <p:nvPr/>
        </p:nvPicPr>
        <p:blipFill>
          <a:blip r:embed="rId18"/>
          <a:stretch>
            <a:fillRect/>
          </a:stretch>
        </p:blipFill>
        <p:spPr>
          <a:xfrm>
            <a:off x="4751070" y="2827057"/>
            <a:ext cx="183356" cy="266700"/>
          </a:xfrm>
          <a:prstGeom prst="rect">
            <a:avLst/>
          </a:prstGeom>
        </p:spPr>
      </p:pic>
      <p:pic>
        <p:nvPicPr>
          <p:cNvPr id="85" name="Picture 84" descr="lock.png"/>
          <p:cNvPicPr>
            <a:picLocks noChangeAspect="1"/>
          </p:cNvPicPr>
          <p:nvPr/>
        </p:nvPicPr>
        <p:blipFill>
          <a:blip r:embed="rId18"/>
          <a:stretch>
            <a:fillRect/>
          </a:stretch>
        </p:blipFill>
        <p:spPr>
          <a:xfrm>
            <a:off x="6774180" y="2827057"/>
            <a:ext cx="183356" cy="266700"/>
          </a:xfrm>
          <a:prstGeom prst="rect">
            <a:avLst/>
          </a:prstGeom>
        </p:spPr>
      </p:pic>
      <p:pic>
        <p:nvPicPr>
          <p:cNvPr id="86" name="Picture 85" descr="lock.png"/>
          <p:cNvPicPr>
            <a:picLocks noChangeAspect="1"/>
          </p:cNvPicPr>
          <p:nvPr/>
        </p:nvPicPr>
        <p:blipFill>
          <a:blip r:embed="rId18"/>
          <a:stretch>
            <a:fillRect/>
          </a:stretch>
        </p:blipFill>
        <p:spPr>
          <a:xfrm>
            <a:off x="8797290" y="2827057"/>
            <a:ext cx="183356" cy="266700"/>
          </a:xfrm>
          <a:prstGeom prst="rect">
            <a:avLst/>
          </a:prstGeom>
        </p:spPr>
      </p:pic>
      <p:pic>
        <p:nvPicPr>
          <p:cNvPr id="87" name="Picture 86" descr="lock.png"/>
          <p:cNvPicPr>
            <a:picLocks noChangeAspect="1"/>
          </p:cNvPicPr>
          <p:nvPr/>
        </p:nvPicPr>
        <p:blipFill>
          <a:blip r:embed="rId18"/>
          <a:stretch>
            <a:fillRect/>
          </a:stretch>
        </p:blipFill>
        <p:spPr>
          <a:xfrm>
            <a:off x="10820400" y="2827057"/>
            <a:ext cx="183356" cy="266700"/>
          </a:xfrm>
          <a:prstGeom prst="rect">
            <a:avLst/>
          </a:prstGeom>
        </p:spPr>
      </p:pic>
      <p:sp>
        <p:nvSpPr>
          <p:cNvPr id="88" name="TextBox 87"/>
          <p:cNvSpPr txBox="1"/>
          <p:nvPr/>
        </p:nvSpPr>
        <p:spPr>
          <a:xfrm>
            <a:off x="485775" y="4229437"/>
            <a:ext cx="2539231" cy="186689"/>
          </a:xfrm>
          <a:prstGeom prst="rect">
            <a:avLst/>
          </a:prstGeom>
          <a:noFill/>
        </p:spPr>
        <p:txBody>
          <a:bodyPr wrap="none" lIns="0" rIns="0" tIns="0" bIns="0">
            <a:spAutoFit/>
          </a:bodyPr>
          <a:lstStyle/>
          <a:p>
            <a:r>
              <a:rPr sz="1100" b="0">
                <a:solidFill>
                  <a:srgbClr val="2E2E2E"/>
                </a:solidFill>
                <a:latin typeface="Calibri"/>
              </a:rPr>
              <a:t>Among off-highway vehicle by vehicle type,</a:t>
            </a:r>
          </a:p>
        </p:txBody>
      </p:sp>
      <p:sp>
        <p:nvSpPr>
          <p:cNvPr id="89" name="TextBox 88"/>
          <p:cNvSpPr txBox="1"/>
          <p:nvPr/>
        </p:nvSpPr>
        <p:spPr>
          <a:xfrm>
            <a:off x="485775" y="4397077"/>
            <a:ext cx="2885479" cy="186689"/>
          </a:xfrm>
          <a:prstGeom prst="rect">
            <a:avLst/>
          </a:prstGeom>
          <a:noFill/>
        </p:spPr>
        <p:txBody>
          <a:bodyPr wrap="none" lIns="0" rIns="0" tIns="0" bIns="0">
            <a:spAutoFit/>
          </a:bodyPr>
          <a:lstStyle/>
          <a:p>
            <a:r>
              <a:rPr sz="1100" b="0">
                <a:solidFill>
                  <a:srgbClr val="2E2E2E"/>
                </a:solidFill>
                <a:latin typeface="Calibri"/>
              </a:rPr>
              <a:t>recreational and powersports vehicles segment is</a:t>
            </a:r>
          </a:p>
        </p:txBody>
      </p:sp>
      <p:sp>
        <p:nvSpPr>
          <p:cNvPr id="90" name="TextBox 89"/>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91" name="Picture 90" descr="lock.png"/>
          <p:cNvPicPr>
            <a:picLocks noChangeAspect="1"/>
          </p:cNvPicPr>
          <p:nvPr/>
        </p:nvPicPr>
        <p:blipFill>
          <a:blip r:embed="rId18"/>
          <a:stretch>
            <a:fillRect/>
          </a:stretch>
        </p:blipFill>
        <p:spPr>
          <a:xfrm>
            <a:off x="2815059" y="4554938"/>
            <a:ext cx="128699" cy="187198"/>
          </a:xfrm>
          <a:prstGeom prst="rect">
            <a:avLst/>
          </a:prstGeom>
        </p:spPr>
      </p:pic>
      <p:sp>
        <p:nvSpPr>
          <p:cNvPr id="92" name="TextBox 91"/>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93" name="TextBox 92"/>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94" name="TextBox 93"/>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vehicle type, the construction and mining vehicles</a:t>
            </a:r>
          </a:p>
        </p:txBody>
      </p:sp>
      <p:sp>
        <p:nvSpPr>
          <p:cNvPr id="95" name="TextBox 94"/>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96" name="TextBox 95"/>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97" name="Picture 96" descr="lock.png"/>
          <p:cNvPicPr>
            <a:picLocks noChangeAspect="1"/>
          </p:cNvPicPr>
          <p:nvPr/>
        </p:nvPicPr>
        <p:blipFill>
          <a:blip r:embed="rId18"/>
          <a:stretch>
            <a:fillRect/>
          </a:stretch>
        </p:blipFill>
        <p:spPr>
          <a:xfrm>
            <a:off x="919576" y="5225498"/>
            <a:ext cx="128699" cy="187198"/>
          </a:xfrm>
          <a:prstGeom prst="rect">
            <a:avLst/>
          </a:prstGeom>
        </p:spPr>
      </p:pic>
      <p:sp>
        <p:nvSpPr>
          <p:cNvPr id="98" name="TextBox 97"/>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99" name="Picture 98" descr="lock.png"/>
          <p:cNvPicPr>
            <a:picLocks noChangeAspect="1"/>
          </p:cNvPicPr>
          <p:nvPr/>
        </p:nvPicPr>
        <p:blipFill>
          <a:blip r:embed="rId18"/>
          <a:stretch>
            <a:fillRect/>
          </a:stretch>
        </p:blipFill>
        <p:spPr>
          <a:xfrm>
            <a:off x="2421557" y="5225498"/>
            <a:ext cx="128699" cy="187198"/>
          </a:xfrm>
          <a:prstGeom prst="rect">
            <a:avLst/>
          </a:prstGeom>
        </p:spPr>
      </p:pic>
      <p:sp>
        <p:nvSpPr>
          <p:cNvPr id="100" name="TextBox 99"/>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101" name="TextBox 100"/>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02" name="TextBox 101"/>
          <p:cNvSpPr txBox="1"/>
          <p:nvPr/>
        </p:nvSpPr>
        <p:spPr>
          <a:xfrm>
            <a:off x="485775" y="5620849"/>
            <a:ext cx="2599258" cy="186689"/>
          </a:xfrm>
          <a:prstGeom prst="rect">
            <a:avLst/>
          </a:prstGeom>
          <a:noFill/>
        </p:spPr>
        <p:txBody>
          <a:bodyPr wrap="none" lIns="0" rIns="0" tIns="0" bIns="0">
            <a:spAutoFit/>
          </a:bodyPr>
          <a:lstStyle/>
          <a:p>
            <a:r>
              <a:rPr sz="1100" b="0">
                <a:solidFill>
                  <a:srgbClr val="2E2E2E"/>
                </a:solidFill>
                <a:latin typeface="Calibri"/>
              </a:rPr>
              <a:t>Construction and mining vehicles segment is</a:t>
            </a:r>
          </a:p>
        </p:txBody>
      </p:sp>
      <p:sp>
        <p:nvSpPr>
          <p:cNvPr id="103" name="TextBox 102"/>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4" name="Picture 103" descr="lock.png"/>
          <p:cNvPicPr>
            <a:picLocks noChangeAspect="1"/>
          </p:cNvPicPr>
          <p:nvPr/>
        </p:nvPicPr>
        <p:blipFill>
          <a:blip r:embed="rId18"/>
          <a:stretch>
            <a:fillRect/>
          </a:stretch>
        </p:blipFill>
        <p:spPr>
          <a:xfrm>
            <a:off x="1678376" y="5778710"/>
            <a:ext cx="128699" cy="187198"/>
          </a:xfrm>
          <a:prstGeom prst="rect">
            <a:avLst/>
          </a:prstGeom>
        </p:spPr>
      </p:pic>
      <p:sp>
        <p:nvSpPr>
          <p:cNvPr id="105" name="TextBox 104"/>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6" name="TextBox 105"/>
          <p:cNvSpPr txBox="1"/>
          <p:nvPr/>
        </p:nvSpPr>
        <p:spPr>
          <a:xfrm>
            <a:off x="485775" y="5956129"/>
            <a:ext cx="2914650" cy="186689"/>
          </a:xfrm>
          <a:prstGeom prst="rect">
            <a:avLst/>
          </a:prstGeom>
          <a:noFill/>
        </p:spPr>
        <p:txBody>
          <a:bodyPr wrap="none" lIns="0" rIns="0" tIns="0" bIns="0">
            <a:spAutoFit/>
          </a:bodyPr>
          <a:lstStyle/>
          <a:p>
            <a:r>
              <a:rPr sz="1100" b="0">
                <a:solidFill>
                  <a:srgbClr val="2E2E2E"/>
                </a:solidFill>
                <a:latin typeface="Calibri"/>
              </a:rPr>
              <a:t>agriculture and forestry vehicles segment in 2036.</a:t>
            </a:r>
          </a:p>
        </p:txBody>
      </p:sp>
      <p:sp>
        <p:nvSpPr>
          <p:cNvPr id="107" name="TextBox 106"/>
          <p:cNvSpPr txBox="1"/>
          <p:nvPr/>
        </p:nvSpPr>
        <p:spPr>
          <a:xfrm>
            <a:off x="3838575" y="4229437"/>
            <a:ext cx="2135410" cy="186689"/>
          </a:xfrm>
          <a:prstGeom prst="rect">
            <a:avLst/>
          </a:prstGeom>
          <a:noFill/>
        </p:spPr>
        <p:txBody>
          <a:bodyPr wrap="none" lIns="0" rIns="0" tIns="0" bIns="0">
            <a:spAutoFit/>
          </a:bodyPr>
          <a:lstStyle/>
          <a:p>
            <a:r>
              <a:rPr sz="1100" b="0">
                <a:solidFill>
                  <a:srgbClr val="2E2E2E"/>
                </a:solidFill>
                <a:latin typeface="Calibri"/>
              </a:rPr>
              <a:t>● Construction and Mining Vehicles:</a:t>
            </a:r>
          </a:p>
        </p:txBody>
      </p:sp>
      <p:pic>
        <p:nvPicPr>
          <p:cNvPr id="108" name="Picture 107" descr="lock.png"/>
          <p:cNvPicPr>
            <a:picLocks noChangeAspect="1"/>
          </p:cNvPicPr>
          <p:nvPr/>
        </p:nvPicPr>
        <p:blipFill>
          <a:blip r:embed="rId18"/>
          <a:stretch>
            <a:fillRect/>
          </a:stretch>
        </p:blipFill>
        <p:spPr>
          <a:xfrm>
            <a:off x="5922037" y="4219658"/>
            <a:ext cx="128699" cy="187198"/>
          </a:xfrm>
          <a:prstGeom prst="rect">
            <a:avLst/>
          </a:prstGeom>
        </p:spPr>
      </p:pic>
      <p:sp>
        <p:nvSpPr>
          <p:cNvPr id="109" name="TextBox 108"/>
          <p:cNvSpPr txBox="1"/>
          <p:nvPr/>
        </p:nvSpPr>
        <p:spPr>
          <a:xfrm>
            <a:off x="608953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8"/>
          <a:stretch>
            <a:fillRect/>
          </a:stretch>
        </p:blipFill>
        <p:spPr>
          <a:xfrm>
            <a:off x="6948983" y="4219658"/>
            <a:ext cx="128699" cy="187198"/>
          </a:xfrm>
          <a:prstGeom prst="rect">
            <a:avLst/>
          </a:prstGeom>
        </p:spPr>
      </p:pic>
      <p:sp>
        <p:nvSpPr>
          <p:cNvPr id="111" name="TextBox 110"/>
          <p:cNvSpPr txBox="1"/>
          <p:nvPr/>
        </p:nvSpPr>
        <p:spPr>
          <a:xfrm>
            <a:off x="7116479"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12" name="TextBox 11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13" name="TextBox 112"/>
          <p:cNvSpPr txBox="1"/>
          <p:nvPr/>
        </p:nvSpPr>
        <p:spPr>
          <a:xfrm>
            <a:off x="3838575" y="4615009"/>
            <a:ext cx="2109187" cy="186689"/>
          </a:xfrm>
          <a:prstGeom prst="rect">
            <a:avLst/>
          </a:prstGeom>
          <a:noFill/>
        </p:spPr>
        <p:txBody>
          <a:bodyPr wrap="none" lIns="0" rIns="0" tIns="0" bIns="0">
            <a:spAutoFit/>
          </a:bodyPr>
          <a:lstStyle/>
          <a:p>
            <a:r>
              <a:rPr sz="1100" b="0">
                <a:solidFill>
                  <a:srgbClr val="2E2E2E"/>
                </a:solidFill>
                <a:latin typeface="Calibri"/>
              </a:rPr>
              <a:t>● Agriculture and Forestry Vehicles:</a:t>
            </a:r>
          </a:p>
        </p:txBody>
      </p:sp>
      <p:pic>
        <p:nvPicPr>
          <p:cNvPr id="114" name="Picture 113" descr="lock.png"/>
          <p:cNvPicPr>
            <a:picLocks noChangeAspect="1"/>
          </p:cNvPicPr>
          <p:nvPr/>
        </p:nvPicPr>
        <p:blipFill>
          <a:blip r:embed="rId18"/>
          <a:stretch>
            <a:fillRect/>
          </a:stretch>
        </p:blipFill>
        <p:spPr>
          <a:xfrm>
            <a:off x="5895813" y="4605230"/>
            <a:ext cx="128699" cy="187198"/>
          </a:xfrm>
          <a:prstGeom prst="rect">
            <a:avLst/>
          </a:prstGeom>
        </p:spPr>
      </p:pic>
      <p:sp>
        <p:nvSpPr>
          <p:cNvPr id="115" name="TextBox 114"/>
          <p:cNvSpPr txBox="1"/>
          <p:nvPr/>
        </p:nvSpPr>
        <p:spPr>
          <a:xfrm>
            <a:off x="6063309"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8"/>
          <a:stretch>
            <a:fillRect/>
          </a:stretch>
        </p:blipFill>
        <p:spPr>
          <a:xfrm>
            <a:off x="6922759" y="4605230"/>
            <a:ext cx="128699" cy="187198"/>
          </a:xfrm>
          <a:prstGeom prst="rect">
            <a:avLst/>
          </a:prstGeom>
        </p:spPr>
      </p:pic>
      <p:sp>
        <p:nvSpPr>
          <p:cNvPr id="117" name="TextBox 116"/>
          <p:cNvSpPr txBox="1"/>
          <p:nvPr/>
        </p:nvSpPr>
        <p:spPr>
          <a:xfrm>
            <a:off x="7090255"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8" name="TextBox 117"/>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9" name="TextBox 118"/>
          <p:cNvSpPr txBox="1"/>
          <p:nvPr/>
        </p:nvSpPr>
        <p:spPr>
          <a:xfrm>
            <a:off x="3838575" y="5000581"/>
            <a:ext cx="1173336" cy="186689"/>
          </a:xfrm>
          <a:prstGeom prst="rect">
            <a:avLst/>
          </a:prstGeom>
          <a:noFill/>
        </p:spPr>
        <p:txBody>
          <a:bodyPr wrap="none" lIns="0" rIns="0" tIns="0" bIns="0">
            <a:spAutoFit/>
          </a:bodyPr>
          <a:lstStyle/>
          <a:p>
            <a:r>
              <a:rPr sz="1100" b="0">
                <a:solidFill>
                  <a:srgbClr val="2E2E2E"/>
                </a:solidFill>
                <a:latin typeface="Calibri"/>
              </a:rPr>
              <a:t>● Military Vehicles:</a:t>
            </a:r>
          </a:p>
        </p:txBody>
      </p:sp>
      <p:pic>
        <p:nvPicPr>
          <p:cNvPr id="120" name="Picture 119" descr="lock.png"/>
          <p:cNvPicPr>
            <a:picLocks noChangeAspect="1"/>
          </p:cNvPicPr>
          <p:nvPr/>
        </p:nvPicPr>
        <p:blipFill>
          <a:blip r:embed="rId18"/>
          <a:stretch>
            <a:fillRect/>
          </a:stretch>
        </p:blipFill>
        <p:spPr>
          <a:xfrm>
            <a:off x="4959962" y="4990801"/>
            <a:ext cx="128699" cy="187198"/>
          </a:xfrm>
          <a:prstGeom prst="rect">
            <a:avLst/>
          </a:prstGeom>
        </p:spPr>
      </p:pic>
      <p:sp>
        <p:nvSpPr>
          <p:cNvPr id="121" name="TextBox 120"/>
          <p:cNvSpPr txBox="1"/>
          <p:nvPr/>
        </p:nvSpPr>
        <p:spPr>
          <a:xfrm>
            <a:off x="5127458"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18"/>
          <a:stretch>
            <a:fillRect/>
          </a:stretch>
        </p:blipFill>
        <p:spPr>
          <a:xfrm>
            <a:off x="5986908" y="4990801"/>
            <a:ext cx="128699" cy="187198"/>
          </a:xfrm>
          <a:prstGeom prst="rect">
            <a:avLst/>
          </a:prstGeom>
        </p:spPr>
      </p:pic>
      <p:sp>
        <p:nvSpPr>
          <p:cNvPr id="123" name="TextBox 122"/>
          <p:cNvSpPr txBox="1"/>
          <p:nvPr/>
        </p:nvSpPr>
        <p:spPr>
          <a:xfrm>
            <a:off x="6154404"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4" name="TextBox 123"/>
          <p:cNvSpPr txBox="1"/>
          <p:nvPr/>
        </p:nvSpPr>
        <p:spPr>
          <a:xfrm>
            <a:off x="3838575" y="5218513"/>
            <a:ext cx="2439640" cy="186689"/>
          </a:xfrm>
          <a:prstGeom prst="rect">
            <a:avLst/>
          </a:prstGeom>
          <a:noFill/>
        </p:spPr>
        <p:txBody>
          <a:bodyPr wrap="none" lIns="0" rIns="0" tIns="0" bIns="0">
            <a:spAutoFit/>
          </a:bodyPr>
          <a:lstStyle/>
          <a:p>
            <a:r>
              <a:rPr sz="1100" b="0">
                <a:solidFill>
                  <a:srgbClr val="2E2E2E"/>
                </a:solidFill>
                <a:latin typeface="Calibri"/>
              </a:rPr>
              <a:t>● Recreational and Powersports Vehicles:</a:t>
            </a:r>
          </a:p>
        </p:txBody>
      </p:sp>
      <p:pic>
        <p:nvPicPr>
          <p:cNvPr id="125" name="Picture 124" descr="lock.png"/>
          <p:cNvPicPr>
            <a:picLocks noChangeAspect="1"/>
          </p:cNvPicPr>
          <p:nvPr/>
        </p:nvPicPr>
        <p:blipFill>
          <a:blip r:embed="rId18"/>
          <a:stretch>
            <a:fillRect/>
          </a:stretch>
        </p:blipFill>
        <p:spPr>
          <a:xfrm>
            <a:off x="6226266" y="5208733"/>
            <a:ext cx="128699" cy="187198"/>
          </a:xfrm>
          <a:prstGeom prst="rect">
            <a:avLst/>
          </a:prstGeom>
        </p:spPr>
      </p:pic>
      <p:sp>
        <p:nvSpPr>
          <p:cNvPr id="126" name="TextBox 125"/>
          <p:cNvSpPr txBox="1"/>
          <p:nvPr/>
        </p:nvSpPr>
        <p:spPr>
          <a:xfrm>
            <a:off x="6393762"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8"/>
          <a:stretch>
            <a:fillRect/>
          </a:stretch>
        </p:blipFill>
        <p:spPr>
          <a:xfrm>
            <a:off x="7253212" y="5208733"/>
            <a:ext cx="128699" cy="187198"/>
          </a:xfrm>
          <a:prstGeom prst="rect">
            <a:avLst/>
          </a:prstGeom>
        </p:spPr>
      </p:pic>
      <p:sp>
        <p:nvSpPr>
          <p:cNvPr id="128" name="TextBox 127"/>
          <p:cNvSpPr txBox="1"/>
          <p:nvPr/>
        </p:nvSpPr>
        <p:spPr>
          <a:xfrm>
            <a:off x="7420708" y="5218513"/>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29" name="TextBox 128"/>
          <p:cNvSpPr txBox="1"/>
          <p:nvPr/>
        </p:nvSpPr>
        <p:spPr>
          <a:xfrm>
            <a:off x="3838575" y="5386153"/>
            <a:ext cx="867742" cy="186689"/>
          </a:xfrm>
          <a:prstGeom prst="rect">
            <a:avLst/>
          </a:prstGeom>
          <a:noFill/>
        </p:spPr>
        <p:txBody>
          <a:bodyPr wrap="none" lIns="0" rIns="0" tIns="0" bIns="0">
            <a:spAutoFit/>
          </a:bodyPr>
          <a:lstStyle/>
          <a:p>
            <a:r>
              <a:rPr sz="1100" b="0">
                <a:solidFill>
                  <a:srgbClr val="2E2E2E"/>
                </a:solidFill>
                <a:latin typeface="Calibri"/>
              </a:rPr>
              <a:t>grows fastest.</a:t>
            </a:r>
          </a:p>
        </p:txBody>
      </p:sp>
      <p:sp>
        <p:nvSpPr>
          <p:cNvPr id="130" name="TextBox 129"/>
          <p:cNvSpPr txBox="1"/>
          <p:nvPr/>
        </p:nvSpPr>
        <p:spPr>
          <a:xfrm>
            <a:off x="3838575" y="5604085"/>
            <a:ext cx="1786979" cy="186689"/>
          </a:xfrm>
          <a:prstGeom prst="rect">
            <a:avLst/>
          </a:prstGeom>
          <a:noFill/>
        </p:spPr>
        <p:txBody>
          <a:bodyPr wrap="none" lIns="0" rIns="0" tIns="0" bIns="0">
            <a:spAutoFit/>
          </a:bodyPr>
          <a:lstStyle/>
          <a:p>
            <a:r>
              <a:rPr sz="1100" b="0">
                <a:solidFill>
                  <a:srgbClr val="2E2E2E"/>
                </a:solidFill>
                <a:latin typeface="Calibri"/>
              </a:rPr>
              <a:t>● Industrial and Port Vehicles:</a:t>
            </a:r>
          </a:p>
        </p:txBody>
      </p:sp>
      <p:pic>
        <p:nvPicPr>
          <p:cNvPr id="131" name="Picture 130" descr="lock.png"/>
          <p:cNvPicPr>
            <a:picLocks noChangeAspect="1"/>
          </p:cNvPicPr>
          <p:nvPr/>
        </p:nvPicPr>
        <p:blipFill>
          <a:blip r:embed="rId18"/>
          <a:stretch>
            <a:fillRect/>
          </a:stretch>
        </p:blipFill>
        <p:spPr>
          <a:xfrm>
            <a:off x="5573605" y="5594305"/>
            <a:ext cx="128699" cy="187198"/>
          </a:xfrm>
          <a:prstGeom prst="rect">
            <a:avLst/>
          </a:prstGeom>
        </p:spPr>
      </p:pic>
      <p:sp>
        <p:nvSpPr>
          <p:cNvPr id="132" name="TextBox 131"/>
          <p:cNvSpPr txBox="1"/>
          <p:nvPr/>
        </p:nvSpPr>
        <p:spPr>
          <a:xfrm>
            <a:off x="5741101"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18"/>
          <a:stretch>
            <a:fillRect/>
          </a:stretch>
        </p:blipFill>
        <p:spPr>
          <a:xfrm>
            <a:off x="6600551" y="5594305"/>
            <a:ext cx="128699" cy="187198"/>
          </a:xfrm>
          <a:prstGeom prst="rect">
            <a:avLst/>
          </a:prstGeom>
        </p:spPr>
      </p:pic>
      <p:sp>
        <p:nvSpPr>
          <p:cNvPr id="134" name="TextBox 133"/>
          <p:cNvSpPr txBox="1"/>
          <p:nvPr/>
        </p:nvSpPr>
        <p:spPr>
          <a:xfrm>
            <a:off x="6768047" y="560408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5" name="TextBox 134"/>
          <p:cNvSpPr txBox="1"/>
          <p:nvPr/>
        </p:nvSpPr>
        <p:spPr>
          <a:xfrm>
            <a:off x="3838575" y="577172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6" name="TextBox 135"/>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Vehicle Type segment is projected to grow at a</a:t>
            </a:r>
          </a:p>
        </p:txBody>
      </p:sp>
      <p:sp>
        <p:nvSpPr>
          <p:cNvPr id="137" name="TextBox 136"/>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8" name="Picture 137" descr="lock.png"/>
          <p:cNvPicPr>
            <a:picLocks noChangeAspect="1"/>
          </p:cNvPicPr>
          <p:nvPr/>
        </p:nvPicPr>
        <p:blipFill>
          <a:blip r:embed="rId18"/>
          <a:stretch>
            <a:fillRect/>
          </a:stretch>
        </p:blipFill>
        <p:spPr>
          <a:xfrm>
            <a:off x="9048826" y="6007677"/>
            <a:ext cx="134549" cy="195707"/>
          </a:xfrm>
          <a:prstGeom prst="rect">
            <a:avLst/>
          </a:prstGeom>
        </p:spPr>
      </p:pic>
      <p:sp>
        <p:nvSpPr>
          <p:cNvPr id="139" name="TextBox 138"/>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Vehicle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Vehicle Type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Type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Vehicle Type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77166" cy="186689"/>
          </a:xfrm>
          <a:prstGeom prst="rect">
            <a:avLst/>
          </a:prstGeom>
          <a:noFill/>
        </p:spPr>
        <p:txBody>
          <a:bodyPr wrap="none" lIns="0" rIns="0" tIns="0" bIns="0">
            <a:spAutoFit/>
          </a:bodyPr>
          <a:lstStyle/>
          <a:p>
            <a:r>
              <a:rPr sz="1100" b="0">
                <a:solidFill>
                  <a:srgbClr val="2E2E2E"/>
                </a:solidFill>
                <a:latin typeface="Calibri"/>
              </a:rPr>
              <a:t>Construction and mining vehicles followed by recreational and powersports vehicles are expected to be the two most attractive vehicle type segments in the global off-highway vehicle market in terms of</a:t>
            </a:r>
          </a:p>
        </p:txBody>
      </p:sp>
      <p:sp>
        <p:nvSpPr>
          <p:cNvPr id="18" name="TextBox 17"/>
          <p:cNvSpPr txBox="1"/>
          <p:nvPr/>
        </p:nvSpPr>
        <p:spPr>
          <a:xfrm>
            <a:off x="257175" y="5861685"/>
            <a:ext cx="7537308" cy="186689"/>
          </a:xfrm>
          <a:prstGeom prst="rect">
            <a:avLst/>
          </a:prstGeom>
          <a:noFill/>
        </p:spPr>
        <p:txBody>
          <a:bodyPr wrap="none" lIns="0" rIns="0" tIns="0" bIns="0">
            <a:spAutoFit/>
          </a:bodyPr>
          <a:lstStyle/>
          <a:p>
            <a:r>
              <a:rPr sz="1100" b="0">
                <a:solidFill>
                  <a:srgbClr val="2E2E2E"/>
                </a:solidFill>
                <a:latin typeface="Calibri"/>
              </a:rPr>
              <a:t>value over the forecast period. Construction and mining vehicles and recreational and powersports vehicles exhibit a CAGR index of</a:t>
            </a:r>
          </a:p>
        </p:txBody>
      </p:sp>
      <p:pic>
        <p:nvPicPr>
          <p:cNvPr id="19" name="Picture 18" descr="lock.png"/>
          <p:cNvPicPr>
            <a:picLocks noChangeAspect="1"/>
          </p:cNvPicPr>
          <p:nvPr/>
        </p:nvPicPr>
        <p:blipFill>
          <a:blip r:embed="rId6"/>
          <a:stretch>
            <a:fillRect/>
          </a:stretch>
        </p:blipFill>
        <p:spPr>
          <a:xfrm>
            <a:off x="7742535" y="5851905"/>
            <a:ext cx="128699" cy="187198"/>
          </a:xfrm>
          <a:prstGeom prst="rect">
            <a:avLst/>
          </a:prstGeom>
        </p:spPr>
      </p:pic>
      <p:sp>
        <p:nvSpPr>
          <p:cNvPr id="20" name="TextBox 19"/>
          <p:cNvSpPr txBox="1"/>
          <p:nvPr/>
        </p:nvSpPr>
        <p:spPr>
          <a:xfrm>
            <a:off x="791003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8147925" y="5851905"/>
            <a:ext cx="128699" cy="187198"/>
          </a:xfrm>
          <a:prstGeom prst="rect">
            <a:avLst/>
          </a:prstGeom>
        </p:spPr>
      </p:pic>
      <p:sp>
        <p:nvSpPr>
          <p:cNvPr id="22" name="TextBox 21"/>
          <p:cNvSpPr txBox="1"/>
          <p:nvPr/>
        </p:nvSpPr>
        <p:spPr>
          <a:xfrm>
            <a:off x="8315421"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9924394" y="5851905"/>
            <a:ext cx="128699" cy="187198"/>
          </a:xfrm>
          <a:prstGeom prst="rect">
            <a:avLst/>
          </a:prstGeom>
        </p:spPr>
      </p:pic>
      <p:sp>
        <p:nvSpPr>
          <p:cNvPr id="24" name="TextBox 23"/>
          <p:cNvSpPr txBox="1"/>
          <p:nvPr/>
        </p:nvSpPr>
        <p:spPr>
          <a:xfrm>
            <a:off x="10091890"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329785" y="5851905"/>
            <a:ext cx="128699" cy="187198"/>
          </a:xfrm>
          <a:prstGeom prst="rect">
            <a:avLst/>
          </a:prstGeom>
        </p:spPr>
      </p:pic>
      <p:sp>
        <p:nvSpPr>
          <p:cNvPr id="26" name="TextBox 25"/>
          <p:cNvSpPr txBox="1"/>
          <p:nvPr/>
        </p:nvSpPr>
        <p:spPr>
          <a:xfrm>
            <a:off x="10497281" y="5861685"/>
            <a:ext cx="793526"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27" name="TextBox 26"/>
          <p:cNvSpPr txBox="1"/>
          <p:nvPr/>
        </p:nvSpPr>
        <p:spPr>
          <a:xfrm>
            <a:off x="257175" y="6029325"/>
            <a:ext cx="1857375" cy="186689"/>
          </a:xfrm>
          <a:prstGeom prst="rect">
            <a:avLst/>
          </a:prstGeom>
          <a:noFill/>
        </p:spPr>
        <p:txBody>
          <a:bodyPr wrap="none" lIns="0" rIns="0" tIns="0" bIns="0">
            <a:spAutoFit/>
          </a:bodyPr>
          <a:lstStyle/>
          <a:p>
            <a:r>
              <a:rPr sz="1100" b="0">
                <a:solidFill>
                  <a:srgbClr val="2E2E2E"/>
                </a:solidFill>
                <a:latin typeface="Calibri"/>
              </a:rPr>
              <a:t>against the segment average of</a:t>
            </a:r>
          </a:p>
        </p:txBody>
      </p:sp>
      <p:pic>
        <p:nvPicPr>
          <p:cNvPr id="28" name="Picture 27" descr="lock.png"/>
          <p:cNvPicPr>
            <a:picLocks noChangeAspect="1"/>
          </p:cNvPicPr>
          <p:nvPr/>
        </p:nvPicPr>
        <p:blipFill>
          <a:blip r:embed="rId6"/>
          <a:stretch>
            <a:fillRect/>
          </a:stretch>
        </p:blipFill>
        <p:spPr>
          <a:xfrm>
            <a:off x="2062601" y="6019545"/>
            <a:ext cx="128699" cy="187198"/>
          </a:xfrm>
          <a:prstGeom prst="rect">
            <a:avLst/>
          </a:prstGeom>
        </p:spPr>
      </p:pic>
      <p:sp>
        <p:nvSpPr>
          <p:cNvPr id="29" name="TextBox 28"/>
          <p:cNvSpPr txBox="1"/>
          <p:nvPr/>
        </p:nvSpPr>
        <p:spPr>
          <a:xfrm>
            <a:off x="2230097" y="6029325"/>
            <a:ext cx="9189970" cy="186689"/>
          </a:xfrm>
          <a:prstGeom prst="rect">
            <a:avLst/>
          </a:prstGeom>
          <a:noFill/>
        </p:spPr>
        <p:txBody>
          <a:bodyPr wrap="none" lIns="0" rIns="0" tIns="0" bIns="0">
            <a:spAutoFit/>
          </a:bodyPr>
          <a:lstStyle/>
          <a:p>
            <a:r>
              <a:rPr sz="1100" b="0">
                <a:solidFill>
                  <a:srgbClr val="2E2E2E"/>
                </a:solidFill>
                <a:latin typeface="Calibri"/>
              </a:rPr>
              <a:t>. The industrial and port vehicles segment is expected to be less attractive as compared to other segments over the forecast period, owing to its lower CAGR and</a:t>
            </a:r>
          </a:p>
        </p:txBody>
      </p:sp>
      <p:sp>
        <p:nvSpPr>
          <p:cNvPr id="30" name="TextBox 29"/>
          <p:cNvSpPr txBox="1"/>
          <p:nvPr/>
        </p:nvSpPr>
        <p:spPr>
          <a:xfrm>
            <a:off x="257175" y="6196965"/>
            <a:ext cx="5838262" cy="186689"/>
          </a:xfrm>
          <a:prstGeom prst="rect">
            <a:avLst/>
          </a:prstGeom>
          <a:noFill/>
        </p:spPr>
        <p:txBody>
          <a:bodyPr wrap="none" lIns="0" rIns="0" tIns="0" bIns="0">
            <a:spAutoFit/>
          </a:bodyPr>
          <a:lstStyle/>
          <a:p>
            <a:r>
              <a:rPr sz="1100" b="0">
                <a:solidFill>
                  <a:srgbClr val="2E2E2E"/>
                </a:solidFill>
                <a:latin typeface="Calibri"/>
              </a:rPr>
              <a:t>incremental opportunity. Bubbles right 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Vehicle Type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Construction and Mining Vehicles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Agriculture and Forestry Vehicles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Industrial and Port Vehicles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Recreational and Powersports Vehicles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Vehicle Type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Type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Military Vehicles</a:t>
            </a:r>
          </a:p>
        </p:txBody>
      </p:sp>
      <p:graphicFrame>
        <p:nvGraphicFramePr>
          <p:cNvPr id="9" name="Chart 8"/>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Summary of Global Absolute $ Opportunity Analysis, By Vehicle Type</a:t>
            </a:r>
          </a:p>
        </p:txBody>
      </p:sp>
      <p:sp>
        <p:nvSpPr>
          <p:cNvPr id="12" name="Rectangle 11"/>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390650"/>
            <a:ext cx="5610225"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5"/>
          <a:stretch>
            <a:fillRect/>
          </a:stretch>
        </p:blipFill>
        <p:spPr>
          <a:xfrm>
            <a:off x="3024059" y="3583939"/>
            <a:ext cx="402511" cy="585471"/>
          </a:xfrm>
          <a:prstGeom prst="rect">
            <a:avLst/>
          </a:prstGeom>
        </p:spPr>
      </p:pic>
      <p:sp>
        <p:nvSpPr>
          <p:cNvPr id="17" name="TextBox 16"/>
          <p:cNvSpPr txBox="1"/>
          <p:nvPr/>
        </p:nvSpPr>
        <p:spPr>
          <a:xfrm>
            <a:off x="6305550" y="1400175"/>
            <a:ext cx="5452358" cy="194310"/>
          </a:xfrm>
          <a:prstGeom prst="rect">
            <a:avLst/>
          </a:prstGeom>
          <a:noFill/>
        </p:spPr>
        <p:txBody>
          <a:bodyPr wrap="none" lIns="0" rIns="0" tIns="0" bIns="0">
            <a:spAutoFit/>
          </a:bodyPr>
          <a:lstStyle/>
          <a:p>
            <a:r>
              <a:rPr sz="1150" b="0">
                <a:solidFill>
                  <a:srgbClr val="2E2E2E"/>
                </a:solidFill>
                <a:latin typeface="Calibri"/>
              </a:rPr>
              <a:t>By 2036, construction and mining vehicles segment is anticipated to witness an increase of</a:t>
            </a:r>
          </a:p>
        </p:txBody>
      </p:sp>
      <p:pic>
        <p:nvPicPr>
          <p:cNvPr id="18" name="Picture 17" descr="lock.png"/>
          <p:cNvPicPr>
            <a:picLocks noChangeAspect="1"/>
          </p:cNvPicPr>
          <p:nvPr/>
        </p:nvPicPr>
        <p:blipFill>
          <a:blip r:embed="rId5"/>
          <a:stretch>
            <a:fillRect/>
          </a:stretch>
        </p:blipFill>
        <p:spPr>
          <a:xfrm>
            <a:off x="6291470" y="1565211"/>
            <a:ext cx="134549" cy="195707"/>
          </a:xfrm>
          <a:prstGeom prst="rect">
            <a:avLst/>
          </a:prstGeom>
        </p:spPr>
      </p:pic>
      <p:sp>
        <p:nvSpPr>
          <p:cNvPr id="19" name="TextBox 18"/>
          <p:cNvSpPr txBox="1"/>
          <p:nvPr/>
        </p:nvSpPr>
        <p:spPr>
          <a:xfrm>
            <a:off x="6466579" y="1575435"/>
            <a:ext cx="5412159"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construction and mining vehicles segment is</a:t>
            </a:r>
          </a:p>
        </p:txBody>
      </p:sp>
      <p:sp>
        <p:nvSpPr>
          <p:cNvPr id="20" name="TextBox 19"/>
          <p:cNvSpPr txBox="1"/>
          <p:nvPr/>
        </p:nvSpPr>
        <p:spPr>
          <a:xfrm>
            <a:off x="6305550" y="1750695"/>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21" name="Picture 20" descr="lock.png"/>
          <p:cNvPicPr>
            <a:picLocks noChangeAspect="1"/>
          </p:cNvPicPr>
          <p:nvPr/>
        </p:nvPicPr>
        <p:blipFill>
          <a:blip r:embed="rId5"/>
          <a:stretch>
            <a:fillRect/>
          </a:stretch>
        </p:blipFill>
        <p:spPr>
          <a:xfrm>
            <a:off x="9540010" y="1740471"/>
            <a:ext cx="134549" cy="195707"/>
          </a:xfrm>
          <a:prstGeom prst="rect">
            <a:avLst/>
          </a:prstGeom>
        </p:spPr>
      </p:pic>
      <p:sp>
        <p:nvSpPr>
          <p:cNvPr id="22" name="TextBox 21"/>
          <p:cNvSpPr txBox="1"/>
          <p:nvPr/>
        </p:nvSpPr>
        <p:spPr>
          <a:xfrm>
            <a:off x="9715119" y="1750695"/>
            <a:ext cx="1892411" cy="194310"/>
          </a:xfrm>
          <a:prstGeom prst="rect">
            <a:avLst/>
          </a:prstGeom>
          <a:noFill/>
        </p:spPr>
        <p:txBody>
          <a:bodyPr wrap="none" lIns="0" rIns="0" tIns="0" bIns="0">
            <a:spAutoFit/>
          </a:bodyPr>
          <a:lstStyle/>
          <a:p>
            <a:r>
              <a:rPr sz="1150" b="0">
                <a:solidFill>
                  <a:srgbClr val="2E2E2E"/>
                </a:solidFill>
                <a:latin typeface="Calibri"/>
              </a:rPr>
              <a:t>Mn for the overall off-highway</a:t>
            </a:r>
          </a:p>
        </p:txBody>
      </p:sp>
      <p:sp>
        <p:nvSpPr>
          <p:cNvPr id="23" name="TextBox 22"/>
          <p:cNvSpPr txBox="1"/>
          <p:nvPr/>
        </p:nvSpPr>
        <p:spPr>
          <a:xfrm>
            <a:off x="6305550" y="1925955"/>
            <a:ext cx="2130313" cy="194310"/>
          </a:xfrm>
          <a:prstGeom prst="rect">
            <a:avLst/>
          </a:prstGeom>
          <a:noFill/>
        </p:spPr>
        <p:txBody>
          <a:bodyPr wrap="none" lIns="0" rIns="0" tIns="0" bIns="0">
            <a:spAutoFit/>
          </a:bodyPr>
          <a:lstStyle/>
          <a:p>
            <a:r>
              <a:rPr sz="1150" b="0">
                <a:solidFill>
                  <a:srgbClr val="2E2E2E"/>
                </a:solidFill>
                <a:latin typeface="Calibri"/>
              </a:rPr>
              <a:t>vehicle market from 2026 to 2036.</a:t>
            </a:r>
          </a:p>
        </p:txBody>
      </p:sp>
      <p:sp>
        <p:nvSpPr>
          <p:cNvPr id="24" name="TextBox 23"/>
          <p:cNvSpPr txBox="1"/>
          <p:nvPr/>
        </p:nvSpPr>
        <p:spPr>
          <a:xfrm>
            <a:off x="6305550" y="2153793"/>
            <a:ext cx="5343413" cy="194310"/>
          </a:xfrm>
          <a:prstGeom prst="rect">
            <a:avLst/>
          </a:prstGeom>
          <a:noFill/>
        </p:spPr>
        <p:txBody>
          <a:bodyPr wrap="none" lIns="0" rIns="0" tIns="0" bIns="0">
            <a:spAutoFit/>
          </a:bodyPr>
          <a:lstStyle/>
          <a:p>
            <a:r>
              <a:rPr sz="1150" b="0">
                <a:solidFill>
                  <a:srgbClr val="2E2E2E"/>
                </a:solidFill>
                <a:latin typeface="Calibri"/>
              </a:rPr>
              <a:t>The recreational and powersports vehicles segment is expected to create an incremental</a:t>
            </a:r>
          </a:p>
        </p:txBody>
      </p:sp>
      <p:sp>
        <p:nvSpPr>
          <p:cNvPr id="25" name="TextBox 24"/>
          <p:cNvSpPr txBox="1"/>
          <p:nvPr/>
        </p:nvSpPr>
        <p:spPr>
          <a:xfrm>
            <a:off x="6305550" y="2329053"/>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6" name="Picture 25" descr="lock.png"/>
          <p:cNvPicPr>
            <a:picLocks noChangeAspect="1"/>
          </p:cNvPicPr>
          <p:nvPr/>
        </p:nvPicPr>
        <p:blipFill>
          <a:blip r:embed="rId5"/>
          <a:stretch>
            <a:fillRect/>
          </a:stretch>
        </p:blipFill>
        <p:spPr>
          <a:xfrm>
            <a:off x="7463647" y="2318829"/>
            <a:ext cx="134549" cy="195707"/>
          </a:xfrm>
          <a:prstGeom prst="rect">
            <a:avLst/>
          </a:prstGeom>
        </p:spPr>
      </p:pic>
      <p:sp>
        <p:nvSpPr>
          <p:cNvPr id="27" name="TextBox 26"/>
          <p:cNvSpPr txBox="1"/>
          <p:nvPr/>
        </p:nvSpPr>
        <p:spPr>
          <a:xfrm>
            <a:off x="7638756" y="2329053"/>
            <a:ext cx="4233490" cy="194310"/>
          </a:xfrm>
          <a:prstGeom prst="rect">
            <a:avLst/>
          </a:prstGeom>
          <a:noFill/>
        </p:spPr>
        <p:txBody>
          <a:bodyPr wrap="none" lIns="0" rIns="0" tIns="0" bIns="0">
            <a:spAutoFit/>
          </a:bodyPr>
          <a:lstStyle/>
          <a:p>
            <a:r>
              <a:rPr sz="1150" b="0">
                <a:solidFill>
                  <a:srgbClr val="2E2E2E"/>
                </a:solidFill>
                <a:latin typeface="Calibri"/>
              </a:rPr>
              <a:t>Mn for the overall off-highway vehicle market from 2026 to 2036. The</a:t>
            </a:r>
          </a:p>
        </p:txBody>
      </p:sp>
      <p:sp>
        <p:nvSpPr>
          <p:cNvPr id="28" name="TextBox 27"/>
          <p:cNvSpPr txBox="1"/>
          <p:nvPr/>
        </p:nvSpPr>
        <p:spPr>
          <a:xfrm>
            <a:off x="6305550" y="2504313"/>
            <a:ext cx="5591175" cy="194310"/>
          </a:xfrm>
          <a:prstGeom prst="rect">
            <a:avLst/>
          </a:prstGeom>
          <a:noFill/>
        </p:spPr>
        <p:txBody>
          <a:bodyPr wrap="none" lIns="0" rIns="0" tIns="0" bIns="0">
            <a:spAutoFit/>
          </a:bodyPr>
          <a:lstStyle/>
          <a:p>
            <a:r>
              <a:rPr sz="1150" b="0">
                <a:solidFill>
                  <a:srgbClr val="2E2E2E"/>
                </a:solidFill>
                <a:latin typeface="Calibri"/>
              </a:rPr>
              <a:t>agriculture and forestry vehicles segment is expected to create an incremental opportunity of</a:t>
            </a:r>
          </a:p>
        </p:txBody>
      </p:sp>
      <p:sp>
        <p:nvSpPr>
          <p:cNvPr id="29" name="TextBox 28"/>
          <p:cNvSpPr txBox="1"/>
          <p:nvPr/>
        </p:nvSpPr>
        <p:spPr>
          <a:xfrm>
            <a:off x="6305550" y="267957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0" name="Picture 29" descr="lock.png"/>
          <p:cNvPicPr>
            <a:picLocks noChangeAspect="1"/>
          </p:cNvPicPr>
          <p:nvPr/>
        </p:nvPicPr>
        <p:blipFill>
          <a:blip r:embed="rId5"/>
          <a:stretch>
            <a:fillRect/>
          </a:stretch>
        </p:blipFill>
        <p:spPr>
          <a:xfrm>
            <a:off x="6565953" y="2669349"/>
            <a:ext cx="134549" cy="195707"/>
          </a:xfrm>
          <a:prstGeom prst="rect">
            <a:avLst/>
          </a:prstGeom>
        </p:spPr>
      </p:pic>
      <p:sp>
        <p:nvSpPr>
          <p:cNvPr id="31" name="TextBox 30"/>
          <p:cNvSpPr txBox="1"/>
          <p:nvPr/>
        </p:nvSpPr>
        <p:spPr>
          <a:xfrm>
            <a:off x="6741062" y="2679573"/>
            <a:ext cx="3979614" cy="194310"/>
          </a:xfrm>
          <a:prstGeom prst="rect">
            <a:avLst/>
          </a:prstGeom>
          <a:noFill/>
        </p:spPr>
        <p:txBody>
          <a:bodyPr wrap="none" lIns="0" rIns="0" tIns="0" bIns="0">
            <a:spAutoFit/>
          </a:bodyPr>
          <a:lstStyle/>
          <a:p>
            <a:r>
              <a:rPr sz="1150" b="0">
                <a:solidFill>
                  <a:srgbClr val="2E2E2E"/>
                </a:solidFill>
                <a:latin typeface="Calibri"/>
              </a:rPr>
              <a:t>Mn for the overall off-highway vehicle market from 2026 to 2036.</a:t>
            </a:r>
          </a:p>
        </p:txBody>
      </p:sp>
      <p:sp>
        <p:nvSpPr>
          <p:cNvPr id="32" name="lockshield_9"/>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Vehicle Type (US$ Mn) (1/3)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Type, 2021–2036, highlighting the sub-segments driving growth</a:t>
            </a:r>
          </a:p>
        </p:txBody>
      </p:sp>
      <p:sp>
        <p:nvSpPr>
          <p:cNvPr id="7" name="Rounded Rectangle 6"/>
          <p:cNvSpPr/>
          <p:nvPr/>
        </p:nvSpPr>
        <p:spPr>
          <a:xfrm>
            <a:off x="142875" y="981075"/>
            <a:ext cx="11906250" cy="5457825"/>
          </a:xfrm>
          <a:prstGeom prst="roundRect">
            <a:avLst>
              <a:gd name="adj" fmla="val 13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Vehicle Type (US$ Mn)</a:t>
            </a:r>
          </a:p>
        </p:txBody>
      </p:sp>
      <p:graphicFrame>
        <p:nvGraphicFramePr>
          <p:cNvPr id="9" name="Table 8"/>
          <p:cNvGraphicFramePr>
            <a:graphicFrameLocks noGrp="1"/>
          </p:cNvGraphicFramePr>
          <p:nvPr/>
        </p:nvGraphicFramePr>
        <p:xfrm>
          <a:off x="152400" y="1238250"/>
          <a:ext cx="11889201" cy="4991100"/>
        </p:xfrm>
        <a:graphic>
          <a:graphicData uri="http://schemas.openxmlformats.org/drawingml/2006/table">
            <a:tbl>
              <a:tblPr>
                <a:tableStyleId>{5C22544A-7EE6-4342-B048-85BDC9FD1C3A}</a:tableStyleId>
              </a:tblPr>
              <a:tblGrid>
                <a:gridCol w="2616200"/>
                <a:gridCol w="545353"/>
                <a:gridCol w="545353"/>
                <a:gridCol w="545353"/>
                <a:gridCol w="545353"/>
                <a:gridCol w="545353"/>
                <a:gridCol w="545353"/>
                <a:gridCol w="545353"/>
                <a:gridCol w="545353"/>
                <a:gridCol w="545353"/>
                <a:gridCol w="545353"/>
                <a:gridCol w="545353"/>
                <a:gridCol w="545353"/>
                <a:gridCol w="545353"/>
                <a:gridCol w="545353"/>
                <a:gridCol w="545353"/>
                <a:gridCol w="545353"/>
                <a:gridCol w="547353"/>
              </a:tblGrid>
              <a:tr h="246126">
                <a:tc>
                  <a:txBody>
                    <a:bodyPr wrap="none"/>
                    <a:lstStyle/>
                    <a:p>
                      <a:pPr algn="l"/>
                      <a:r>
                        <a:rPr sz="1100" b="1">
                          <a:solidFill>
                            <a:srgbClr val="0E2A5C"/>
                          </a:solidFill>
                          <a:latin typeface="Calibri"/>
                        </a:rPr>
                        <a:t>Vehicle Type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2021A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2022A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2023A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2024A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2025A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2027F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2028F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2029F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2030F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2031F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2032F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2033F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2034F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2035F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F-CAGR</a:t>
                      </a:r>
                      <a:endParaRPr sz="1100"/>
                    </a:p>
                  </a:txBody>
                  <a:tcPr marL="28575" marR="19050" marT="19050" marB="19050" anchor="ctr">
                    <a:solidFill>
                      <a:srgbClr val="EBF2F9"/>
                    </a:solidFill>
                  </a:tcPr>
                </a:tc>
              </a:tr>
              <a:tr h="364998">
                <a:tc>
                  <a:txBody>
                    <a:bodyPr wrap="none"/>
                    <a:lstStyle/>
                    <a:p>
                      <a:pPr algn="l"/>
                      <a:r>
                        <a:rPr sz="1100" b="1">
                          <a:solidFill>
                            <a:srgbClr val="2E2E2E"/>
                          </a:solidFill>
                          <a:latin typeface="Calibri"/>
                        </a:rPr>
                        <a:t>Construction and Mining Vehicles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364998">
                <a:tc>
                  <a:txBody>
                    <a:bodyPr wrap="none"/>
                    <a:lstStyle/>
                    <a:p>
                      <a:pPr algn="l"/>
                      <a:r>
                        <a:rPr sz="1100" b="1">
                          <a:solidFill>
                            <a:srgbClr val="2E2E2E"/>
                          </a:solidFill>
                          <a:latin typeface="Calibri"/>
                        </a:rPr>
                        <a:t>– Excavators &amp; Wheel Loaders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364998">
                <a:tc>
                  <a:txBody>
                    <a:bodyPr wrap="none"/>
                    <a:lstStyle/>
                    <a:p>
                      <a:pPr algn="l"/>
                      <a:r>
                        <a:rPr sz="1100" b="1">
                          <a:solidFill>
                            <a:srgbClr val="2E2E2E"/>
                          </a:solidFill>
                          <a:latin typeface="Calibri"/>
                        </a:rPr>
                        <a:t>– Articulated &amp; Rigid Dump Trucks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364998">
                <a:tc>
                  <a:txBody>
                    <a:bodyPr wrap="none"/>
                    <a:lstStyle/>
                    <a:p>
                      <a:pPr algn="l"/>
                      <a:r>
                        <a:rPr sz="1100" b="1">
                          <a:solidFill>
                            <a:srgbClr val="2E2E2E"/>
                          </a:solidFill>
                          <a:latin typeface="Calibri"/>
                        </a:rPr>
                        <a:t>– Backhoe Loaders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364998">
                <a:tc>
                  <a:txBody>
                    <a:bodyPr wrap="none"/>
                    <a:lstStyle/>
                    <a:p>
                      <a:pPr algn="l"/>
                      <a:r>
                        <a:rPr sz="1100" b="1">
                          <a:solidFill>
                            <a:srgbClr val="2E2E2E"/>
                          </a:solidFill>
                          <a:latin typeface="Calibri"/>
                        </a:rPr>
                        <a:t>– Bulldozers &amp; Crawler Loaders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364998">
                <a:tc>
                  <a:txBody>
                    <a:bodyPr wrap="none"/>
                    <a:lstStyle/>
                    <a:p>
                      <a:pPr algn="l"/>
                      <a:r>
                        <a:rPr sz="1100" b="1">
                          <a:solidFill>
                            <a:srgbClr val="2E2E2E"/>
                          </a:solidFill>
                          <a:latin typeface="Calibri"/>
                        </a:rPr>
                        <a:t>– Cold Planers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364998">
                <a:tc>
                  <a:txBody>
                    <a:bodyPr wrap="none"/>
                    <a:lstStyle/>
                    <a:p>
                      <a:pPr algn="l"/>
                      <a:r>
                        <a:rPr sz="1100" b="1">
                          <a:solidFill>
                            <a:srgbClr val="2E2E2E"/>
                          </a:solidFill>
                          <a:latin typeface="Calibri"/>
                        </a:rPr>
                        <a:t>– Other Construction and Mining Vehicles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364998">
                <a:tc>
                  <a:txBody>
                    <a:bodyPr wrap="none"/>
                    <a:lstStyle/>
                    <a:p>
                      <a:pPr algn="l"/>
                      <a:r>
                        <a:rPr sz="1100" b="1">
                          <a:solidFill>
                            <a:srgbClr val="2E2E2E"/>
                          </a:solidFill>
                          <a:latin typeface="Calibri"/>
                        </a:rPr>
                        <a:t>Agriculture and Forestry Vehicles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364998">
                <a:tc>
                  <a:txBody>
                    <a:bodyPr wrap="none"/>
                    <a:lstStyle/>
                    <a:p>
                      <a:pPr algn="l"/>
                      <a:r>
                        <a:rPr sz="1100" b="1">
                          <a:solidFill>
                            <a:srgbClr val="2E2E2E"/>
                          </a:solidFill>
                          <a:latin typeface="Calibri"/>
                        </a:rPr>
                        <a:t>– Tractors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364998">
                <a:tc>
                  <a:txBody>
                    <a:bodyPr wrap="none"/>
                    <a:lstStyle/>
                    <a:p>
                      <a:pPr algn="l"/>
                      <a:r>
                        <a:rPr sz="1100" b="1">
                          <a:solidFill>
                            <a:srgbClr val="2E2E2E"/>
                          </a:solidFill>
                          <a:latin typeface="Calibri"/>
                        </a:rPr>
                        <a:t>– Feller Bunchers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364998">
                <a:tc>
                  <a:txBody>
                    <a:bodyPr wrap="none"/>
                    <a:lstStyle/>
                    <a:p>
                      <a:pPr algn="l"/>
                      <a:r>
                        <a:rPr sz="1100" b="1">
                          <a:solidFill>
                            <a:srgbClr val="2E2E2E"/>
                          </a:solidFill>
                          <a:latin typeface="Calibri"/>
                        </a:rPr>
                        <a:t>– Combine and Forage Harvesters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364998">
                <a:tc>
                  <a:txBody>
                    <a:bodyPr wrap="none"/>
                    <a:lstStyle/>
                    <a:p>
                      <a:pPr algn="l"/>
                      <a:r>
                        <a:rPr sz="1100" b="1">
                          <a:solidFill>
                            <a:srgbClr val="2E2E2E"/>
                          </a:solidFill>
                          <a:latin typeface="Calibri"/>
                        </a:rPr>
                        <a:t>– Forestry Harvesters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364998">
                <a:tc>
                  <a:txBody>
                    <a:bodyPr wrap="none"/>
                    <a:lstStyle/>
                    <a:p>
                      <a:pPr algn="l"/>
                      <a:r>
                        <a:rPr sz="1100" b="1">
                          <a:solidFill>
                            <a:srgbClr val="2E2E2E"/>
                          </a:solidFill>
                          <a:latin typeface="Calibri"/>
                        </a:rPr>
                        <a:t>– Other Agriculture and Forestry Vehicles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bl>
          </a:graphicData>
        </a:graphic>
      </p:graphicFrame>
      <p:sp>
        <p:nvSpPr>
          <p:cNvPr id="10" name="TextBox 9"/>
          <p:cNvSpPr txBox="1"/>
          <p:nvPr/>
        </p:nvSpPr>
        <p:spPr>
          <a:xfrm>
            <a:off x="219075" y="62388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200417" y="3590162"/>
            <a:ext cx="366712" cy="5334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Vehicle Type (US$ Mn) (2/3)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Type, 2021–2036, highlighting the sub-segments driving growth</a:t>
            </a:r>
          </a:p>
        </p:txBody>
      </p:sp>
      <p:sp>
        <p:nvSpPr>
          <p:cNvPr id="7" name="Rounded Rectangle 6"/>
          <p:cNvSpPr/>
          <p:nvPr/>
        </p:nvSpPr>
        <p:spPr>
          <a:xfrm>
            <a:off x="142875" y="981075"/>
            <a:ext cx="11906250" cy="4495800"/>
          </a:xfrm>
          <a:prstGeom prst="roundRect">
            <a:avLst>
              <a:gd name="adj" fmla="val 169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Vehicle Type (US$ Mn)</a:t>
            </a:r>
          </a:p>
        </p:txBody>
      </p:sp>
      <p:graphicFrame>
        <p:nvGraphicFramePr>
          <p:cNvPr id="9" name="Table 8"/>
          <p:cNvGraphicFramePr>
            <a:graphicFrameLocks noGrp="1"/>
          </p:cNvGraphicFramePr>
          <p:nvPr/>
        </p:nvGraphicFramePr>
        <p:xfrm>
          <a:off x="152400" y="1238250"/>
          <a:ext cx="11888384" cy="4029070"/>
        </p:xfrm>
        <a:graphic>
          <a:graphicData uri="http://schemas.openxmlformats.org/drawingml/2006/table">
            <a:tbl>
              <a:tblPr>
                <a:tableStyleId>{5C22544A-7EE6-4342-B048-85BDC9FD1C3A}</a:tableStyleId>
              </a:tblPr>
              <a:tblGrid>
                <a:gridCol w="2456543"/>
                <a:gridCol w="562445"/>
                <a:gridCol w="562445"/>
                <a:gridCol w="562445"/>
                <a:gridCol w="562445"/>
                <a:gridCol w="562445"/>
                <a:gridCol w="562445"/>
                <a:gridCol w="562445"/>
                <a:gridCol w="562445"/>
                <a:gridCol w="562445"/>
                <a:gridCol w="562445"/>
                <a:gridCol w="562445"/>
                <a:gridCol w="562445"/>
                <a:gridCol w="562445"/>
                <a:gridCol w="562445"/>
                <a:gridCol w="562445"/>
                <a:gridCol w="562445"/>
                <a:gridCol w="432721"/>
              </a:tblGrid>
              <a:tr h="438912">
                <a:tc>
                  <a:txBody>
                    <a:bodyPr wrap="none"/>
                    <a:lstStyle/>
                    <a:p>
                      <a:pPr algn="l"/>
                      <a:r>
                        <a:rPr sz="1100" b="1">
                          <a:solidFill>
                            <a:srgbClr val="0E2A5C"/>
                          </a:solidFill>
                          <a:latin typeface="Calibri"/>
                        </a:rPr>
                        <a:t>Vehicle Type</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2021A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2022A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2023A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2024A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2025A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2026E</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2027F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2028F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2029F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2030F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2031F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2032F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2033F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2034F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2035F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2036F</a:t>
                      </a:r>
                      <a:endParaRPr sz="1100"/>
                    </a:p>
                  </a:txBody>
                  <a:tcPr marL="38100" marR="28575" marT="19050" marB="19050" anchor="ctr">
                    <a:solidFill>
                      <a:srgbClr val="EBF2F9"/>
                    </a:solidFill>
                  </a:tcPr>
                </a:tc>
                <a:tc>
                  <a:txBody>
                    <a:bodyPr wrap="square"/>
                    <a:lstStyle/>
                    <a:p>
                      <a:pPr algn="ctr"/>
                      <a:r>
                        <a:rPr sz="1100" b="1">
                          <a:solidFill>
                            <a:srgbClr val="0E2A5C"/>
                          </a:solidFill>
                          <a:latin typeface="Calibri"/>
                        </a:rPr>
                        <a:t>F-CAGR</a:t>
                      </a:r>
                      <a:endParaRPr sz="1100"/>
                    </a:p>
                  </a:txBody>
                  <a:tcPr marL="38100" marR="28575" marT="19050" marB="19050" anchor="ctr">
                    <a:solidFill>
                      <a:srgbClr val="EBF2F9"/>
                    </a:solidFill>
                  </a:tcPr>
                </a:tc>
              </a:tr>
              <a:tr h="276166">
                <a:tc>
                  <a:txBody>
                    <a:bodyPr wrap="none"/>
                    <a:lstStyle/>
                    <a:p>
                      <a:pPr algn="l"/>
                      <a:r>
                        <a:rPr sz="1100" b="1">
                          <a:solidFill>
                            <a:srgbClr val="2E2E2E"/>
                          </a:solidFill>
                          <a:latin typeface="Calibri"/>
                        </a:rPr>
                        <a:t>Industrial and Port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76166">
                <a:tc>
                  <a:txBody>
                    <a:bodyPr wrap="none"/>
                    <a:lstStyle/>
                    <a:p>
                      <a:pPr algn="l"/>
                      <a:r>
                        <a:rPr sz="1100" b="1">
                          <a:solidFill>
                            <a:srgbClr val="2E2E2E"/>
                          </a:solidFill>
                          <a:latin typeface="Calibri"/>
                        </a:rPr>
                        <a:t>– Rough-Terrain Forklifts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76166">
                <a:tc>
                  <a:txBody>
                    <a:bodyPr wrap="none"/>
                    <a:lstStyle/>
                    <a:p>
                      <a:pPr algn="l"/>
                      <a:r>
                        <a:rPr sz="1100" b="1">
                          <a:solidFill>
                            <a:srgbClr val="2E2E2E"/>
                          </a:solidFill>
                          <a:latin typeface="Calibri"/>
                        </a:rPr>
                        <a:t>– Aisle Trucks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76166">
                <a:tc>
                  <a:txBody>
                    <a:bodyPr wrap="none"/>
                    <a:lstStyle/>
                    <a:p>
                      <a:pPr algn="l"/>
                      <a:r>
                        <a:rPr sz="1100" b="1">
                          <a:solidFill>
                            <a:srgbClr val="2E2E2E"/>
                          </a:solidFill>
                          <a:latin typeface="Calibri"/>
                        </a:rPr>
                        <a:t>– Automated Guided Vehicles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76166">
                <a:tc>
                  <a:txBody>
                    <a:bodyPr wrap="none"/>
                    <a:lstStyle/>
                    <a:p>
                      <a:pPr algn="l"/>
                      <a:r>
                        <a:rPr sz="1100" b="1">
                          <a:solidFill>
                            <a:srgbClr val="2E2E2E"/>
                          </a:solidFill>
                          <a:latin typeface="Calibri"/>
                        </a:rPr>
                        <a:t>– Burden Carriers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76166">
                <a:tc>
                  <a:txBody>
                    <a:bodyPr wrap="none"/>
                    <a:lstStyle/>
                    <a:p>
                      <a:pPr algn="l"/>
                      <a:r>
                        <a:rPr sz="1100" b="1">
                          <a:solidFill>
                            <a:srgbClr val="2E2E2E"/>
                          </a:solidFill>
                          <a:latin typeface="Calibri"/>
                        </a:rPr>
                        <a:t>– Other Industrial and Port Vehicles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76166">
                <a:tc>
                  <a:txBody>
                    <a:bodyPr wrap="none"/>
                    <a:lstStyle/>
                    <a:p>
                      <a:pPr algn="l"/>
                      <a:r>
                        <a:rPr sz="1100" b="1">
                          <a:solidFill>
                            <a:srgbClr val="2E2E2E"/>
                          </a:solidFill>
                          <a:latin typeface="Calibri"/>
                        </a:rPr>
                        <a:t>Recreational and Powersports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76166">
                <a:tc>
                  <a:txBody>
                    <a:bodyPr wrap="none"/>
                    <a:lstStyle/>
                    <a:p>
                      <a:pPr algn="l"/>
                      <a:r>
                        <a:rPr sz="1100" b="1">
                          <a:solidFill>
                            <a:srgbClr val="2E2E2E"/>
                          </a:solidFill>
                          <a:latin typeface="Calibri"/>
                        </a:rPr>
                        <a:t>– All-Terrain Vehicles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76166">
                <a:tc>
                  <a:txBody>
                    <a:bodyPr wrap="none"/>
                    <a:lstStyle/>
                    <a:p>
                      <a:pPr algn="l"/>
                      <a:r>
                        <a:rPr sz="1100" b="1">
                          <a:solidFill>
                            <a:srgbClr val="2E2E2E"/>
                          </a:solidFill>
                          <a:latin typeface="Calibri"/>
                        </a:rPr>
                        <a:t>– Utility Task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76166">
                <a:tc>
                  <a:txBody>
                    <a:bodyPr wrap="none"/>
                    <a:lstStyle/>
                    <a:p>
                      <a:pPr algn="l"/>
                      <a:r>
                        <a:rPr sz="1100" b="1">
                          <a:solidFill>
                            <a:srgbClr val="2E2E2E"/>
                          </a:solidFill>
                          <a:latin typeface="Calibri"/>
                        </a:rPr>
                        <a:t>– Buggies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76166">
                <a:tc>
                  <a:txBody>
                    <a:bodyPr wrap="none"/>
                    <a:lstStyle/>
                    <a:p>
                      <a:pPr algn="l"/>
                      <a:r>
                        <a:rPr sz="1100" b="1">
                          <a:solidFill>
                            <a:srgbClr val="2E2E2E"/>
                          </a:solidFill>
                          <a:latin typeface="Calibri"/>
                        </a:rPr>
                        <a:t>– Dirt Bikes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76166">
                <a:tc>
                  <a:txBody>
                    <a:bodyPr wrap="none"/>
                    <a:lstStyle/>
                    <a:p>
                      <a:pPr algn="l"/>
                      <a:r>
                        <a:rPr sz="1100" b="1">
                          <a:solidFill>
                            <a:srgbClr val="2E2E2E"/>
                          </a:solidFill>
                          <a:latin typeface="Calibri"/>
                        </a:rPr>
                        <a:t>– Other Recreational Vehicles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76166">
                <a:tc>
                  <a:txBody>
                    <a:bodyPr wrap="none"/>
                    <a:lstStyle/>
                    <a:p>
                      <a:pPr algn="l"/>
                      <a:r>
                        <a:rPr sz="1100" b="1">
                          <a:solidFill>
                            <a:srgbClr val="2E2E2E"/>
                          </a:solidFill>
                          <a:latin typeface="Calibri"/>
                        </a:rPr>
                        <a:t>Military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bl>
          </a:graphicData>
        </a:graphic>
      </p:graphicFrame>
      <p:sp>
        <p:nvSpPr>
          <p:cNvPr id="10" name="TextBox 9"/>
          <p:cNvSpPr txBox="1"/>
          <p:nvPr/>
        </p:nvSpPr>
        <p:spPr>
          <a:xfrm>
            <a:off x="219075" y="5276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124556" y="3205540"/>
            <a:ext cx="366712" cy="5334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Vehicle Type (US$ Mn) (3/3)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Type, 2021–2036, highlighting the sub-segments driving growth</a:t>
            </a:r>
          </a:p>
        </p:txBody>
      </p:sp>
      <p:sp>
        <p:nvSpPr>
          <p:cNvPr id="7" name="Rounded Rectangle 6"/>
          <p:cNvSpPr/>
          <p:nvPr/>
        </p:nvSpPr>
        <p:spPr>
          <a:xfrm>
            <a:off x="142875" y="981075"/>
            <a:ext cx="11906250" cy="2390775"/>
          </a:xfrm>
          <a:prstGeom prst="roundRect">
            <a:avLst>
              <a:gd name="adj" fmla="val 31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Vehicle Type (US$ Mn)</a:t>
            </a:r>
          </a:p>
        </p:txBody>
      </p:sp>
      <p:graphicFrame>
        <p:nvGraphicFramePr>
          <p:cNvPr id="9" name="Table 8"/>
          <p:cNvGraphicFramePr>
            <a:graphicFrameLocks noGrp="1"/>
          </p:cNvGraphicFramePr>
          <p:nvPr/>
        </p:nvGraphicFramePr>
        <p:xfrm>
          <a:off x="152400" y="1238250"/>
          <a:ext cx="11889730" cy="1924050"/>
        </p:xfrm>
        <a:graphic>
          <a:graphicData uri="http://schemas.openxmlformats.org/drawingml/2006/table">
            <a:tbl>
              <a:tblPr>
                <a:tableStyleId>{5C22544A-7EE6-4342-B048-85BDC9FD1C3A}</a:tableStyleId>
              </a:tblPr>
              <a:tblGrid>
                <a:gridCol w="1787979"/>
                <a:gridCol w="532619"/>
                <a:gridCol w="532619"/>
                <a:gridCol w="532619"/>
                <a:gridCol w="532619"/>
                <a:gridCol w="532619"/>
                <a:gridCol w="532619"/>
                <a:gridCol w="642412"/>
                <a:gridCol w="642412"/>
                <a:gridCol w="642412"/>
                <a:gridCol w="642412"/>
                <a:gridCol w="642412"/>
                <a:gridCol w="642412"/>
                <a:gridCol w="642412"/>
                <a:gridCol w="642412"/>
                <a:gridCol w="642412"/>
                <a:gridCol w="642412"/>
                <a:gridCol w="481917"/>
              </a:tblGrid>
              <a:tr h="438912">
                <a:tc>
                  <a:txBody>
                    <a:bodyPr wrap="none"/>
                    <a:lstStyle/>
                    <a:p>
                      <a:pPr algn="l"/>
                      <a:r>
                        <a:rPr sz="1100" b="1">
                          <a:solidFill>
                            <a:srgbClr val="0E2A5C"/>
                          </a:solidFill>
                          <a:latin typeface="Calibri"/>
                        </a:rPr>
                        <a:t>Vehicle Type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9050" marT="19050" marB="19050" anchor="ctr">
                    <a:solidFill>
                      <a:srgbClr val="EBF2F9"/>
                    </a:solidFill>
                  </a:tcPr>
                </a:tc>
              </a:tr>
              <a:tr h="247523">
                <a:tc>
                  <a:txBody>
                    <a:bodyPr wrap="none"/>
                    <a:lstStyle/>
                    <a:p>
                      <a:pPr algn="l"/>
                      <a:r>
                        <a:rPr sz="1100" b="1">
                          <a:solidFill>
                            <a:srgbClr val="2E2E2E"/>
                          </a:solidFill>
                          <a:latin typeface="Calibri"/>
                        </a:rPr>
                        <a:t>– Tanks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7523">
                <a:tc>
                  <a:txBody>
                    <a:bodyPr wrap="none"/>
                    <a:lstStyle/>
                    <a:p>
                      <a:pPr algn="l"/>
                      <a:r>
                        <a:rPr sz="1100" b="1">
                          <a:solidFill>
                            <a:srgbClr val="2E2E2E"/>
                          </a:solidFill>
                          <a:latin typeface="Calibri"/>
                        </a:rPr>
                        <a:t>– Armored Combat Vehicles</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r>
              <a:tr h="247523">
                <a:tc>
                  <a:txBody>
                    <a:bodyPr wrap="none"/>
                    <a:lstStyle/>
                    <a:p>
                      <a:pPr algn="l"/>
                      <a:r>
                        <a:rPr sz="1100" b="1">
                          <a:solidFill>
                            <a:srgbClr val="2E2E2E"/>
                          </a:solidFill>
                          <a:latin typeface="Calibri"/>
                        </a:rPr>
                        <a:t>– Artillery Vehicles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7523">
                <a:tc>
                  <a:txBody>
                    <a:bodyPr wrap="none"/>
                    <a:lstStyle/>
                    <a:p>
                      <a:pPr algn="l"/>
                      <a:r>
                        <a:rPr sz="1100" b="1">
                          <a:solidFill>
                            <a:srgbClr val="2E2E2E"/>
                          </a:solidFill>
                          <a:latin typeface="Calibri"/>
                        </a:rPr>
                        <a:t>– Special-Purpose Vehicles</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r>
              <a:tr h="247523">
                <a:tc>
                  <a:txBody>
                    <a:bodyPr wrap="none"/>
                    <a:lstStyle/>
                    <a:p>
                      <a:pPr algn="l"/>
                      <a:r>
                        <a:rPr sz="1100" b="1">
                          <a:solidFill>
                            <a:srgbClr val="2E2E2E"/>
                          </a:solidFill>
                          <a:latin typeface="Calibri"/>
                        </a:rPr>
                        <a:t>– Other Military Vehicles</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47523">
                <a:tc>
                  <a:txBody>
                    <a:bodyPr wrap="none"/>
                    <a:lstStyle/>
                    <a:p>
                      <a:pPr algn="l"/>
                      <a:r>
                        <a:rPr sz="1100" b="1">
                          <a:solidFill>
                            <a:srgbClr val="2E2E2E"/>
                          </a:solidFill>
                          <a:latin typeface="Calibri"/>
                        </a:rPr>
                        <a:t>Total</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b="1">
                          <a:solidFill>
                            <a:srgbClr val="2E2E2E"/>
                          </a:solidFill>
                          <a:latin typeface="Calibri"/>
                        </a:rPr>
                        <a:t>959,300</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b="1">
                          <a:solidFill>
                            <a:srgbClr val="2E2E2E"/>
                          </a:solidFill>
                          <a:latin typeface="Calibri"/>
                        </a:rPr>
                        <a:t>1,531,700</a:t>
                      </a:r>
                      <a:endParaRPr sz="1100"/>
                    </a:p>
                  </a:txBody>
                  <a:tcPr marL="19050" marR="19050" marT="19050" marB="19050" anchor="ctr">
                    <a:solidFill>
                      <a:srgbClr val="EBF2F9"/>
                    </a:solidFill>
                  </a:tcPr>
                </a:tc>
                <a:tc>
                  <a:txBody>
                    <a:bodyPr wrap="none"/>
                    <a:lstStyle/>
                    <a:p>
                      <a:pPr algn="ctr"/>
                      <a:r>
                        <a:rPr sz="1100" b="1">
                          <a:solidFill>
                            <a:srgbClr val="2E2E2E"/>
                          </a:solidFill>
                          <a:latin typeface="Calibri"/>
                        </a:rPr>
                        <a:t>4.8%</a:t>
                      </a:r>
                      <a:endParaRPr sz="1100"/>
                    </a:p>
                  </a:txBody>
                  <a:tcPr marL="19050" marR="19050" marT="19050" marB="19050" anchor="ctr">
                    <a:solidFill>
                      <a:srgbClr val="EBF2F9"/>
                    </a:solidFill>
                  </a:tcPr>
                </a:tc>
              </a:tr>
            </a:tbl>
          </a:graphicData>
        </a:graphic>
      </p:graphicFrame>
      <p:sp>
        <p:nvSpPr>
          <p:cNvPr id="10" name="TextBox 9"/>
          <p:cNvSpPr txBox="1"/>
          <p:nvPr/>
        </p:nvSpPr>
        <p:spPr>
          <a:xfrm>
            <a:off x="219075" y="3171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505200"/>
            <a:ext cx="11906250" cy="3124200"/>
          </a:xfrm>
          <a:prstGeom prst="roundRect">
            <a:avLst>
              <a:gd name="adj" fmla="val 24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59092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Vehicle Type</a:t>
            </a:r>
          </a:p>
        </p:txBody>
      </p:sp>
      <p:sp>
        <p:nvSpPr>
          <p:cNvPr id="13" name="Rectangle 12"/>
          <p:cNvSpPr/>
          <p:nvPr/>
        </p:nvSpPr>
        <p:spPr>
          <a:xfrm>
            <a:off x="276225" y="38290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914775"/>
            <a:ext cx="11639550" cy="26384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776703" y="2153031"/>
            <a:ext cx="366712" cy="533400"/>
          </a:xfrm>
          <a:prstGeom prst="rect">
            <a:avLst/>
          </a:prstGeom>
        </p:spPr>
      </p:pic>
      <p:sp>
        <p:nvSpPr>
          <p:cNvPr id="18" name="TextBox 17"/>
          <p:cNvSpPr txBox="1"/>
          <p:nvPr/>
        </p:nvSpPr>
        <p:spPr>
          <a:xfrm>
            <a:off x="276225" y="3924300"/>
            <a:ext cx="3968489" cy="194310"/>
          </a:xfrm>
          <a:prstGeom prst="rect">
            <a:avLst/>
          </a:prstGeom>
          <a:noFill/>
        </p:spPr>
        <p:txBody>
          <a:bodyPr wrap="none" lIns="0" rIns="0" tIns="0" bIns="0">
            <a:spAutoFit/>
          </a:bodyPr>
          <a:lstStyle/>
          <a:p>
            <a:r>
              <a:rPr sz="1150" b="0">
                <a:solidFill>
                  <a:srgbClr val="2E2E2E"/>
                </a:solidFill>
                <a:latin typeface="Calibri"/>
              </a:rPr>
              <a:t>Construction and mining vehicles segment is projected to register</a:t>
            </a:r>
          </a:p>
        </p:txBody>
      </p:sp>
      <p:pic>
        <p:nvPicPr>
          <p:cNvPr id="19" name="Picture 18" descr="lock.png"/>
          <p:cNvPicPr>
            <a:picLocks noChangeAspect="1"/>
          </p:cNvPicPr>
          <p:nvPr/>
        </p:nvPicPr>
        <p:blipFill>
          <a:blip r:embed="rId4"/>
          <a:stretch>
            <a:fillRect/>
          </a:stretch>
        </p:blipFill>
        <p:spPr>
          <a:xfrm>
            <a:off x="4193868" y="3914076"/>
            <a:ext cx="134549" cy="195707"/>
          </a:xfrm>
          <a:prstGeom prst="rect">
            <a:avLst/>
          </a:prstGeom>
        </p:spPr>
      </p:pic>
      <p:sp>
        <p:nvSpPr>
          <p:cNvPr id="20" name="TextBox 19"/>
          <p:cNvSpPr txBox="1"/>
          <p:nvPr/>
        </p:nvSpPr>
        <p:spPr>
          <a:xfrm>
            <a:off x="4368977" y="3924300"/>
            <a:ext cx="6831297" cy="194310"/>
          </a:xfrm>
          <a:prstGeom prst="rect">
            <a:avLst/>
          </a:prstGeom>
          <a:noFill/>
        </p:spPr>
        <p:txBody>
          <a:bodyPr wrap="none" lIns="0" rIns="0" tIns="0" bIns="0">
            <a:spAutoFit/>
          </a:bodyPr>
          <a:lstStyle/>
          <a:p>
            <a:r>
              <a:rPr sz="1150" b="0">
                <a:solidFill>
                  <a:srgbClr val="2E2E2E"/>
                </a:solidFill>
                <a:latin typeface="Calibri"/>
              </a:rPr>
              <a:t>X higher value than agriculture and forestry vehicles segment in 2036. Among off-highway vehicle by vehicle type,</a:t>
            </a:r>
          </a:p>
        </p:txBody>
      </p:sp>
      <p:sp>
        <p:nvSpPr>
          <p:cNvPr id="21" name="TextBox 20"/>
          <p:cNvSpPr txBox="1"/>
          <p:nvPr/>
        </p:nvSpPr>
        <p:spPr>
          <a:xfrm>
            <a:off x="276225" y="4099560"/>
            <a:ext cx="5456070" cy="194310"/>
          </a:xfrm>
          <a:prstGeom prst="rect">
            <a:avLst/>
          </a:prstGeom>
          <a:noFill/>
        </p:spPr>
        <p:txBody>
          <a:bodyPr wrap="none" lIns="0" rIns="0" tIns="0" bIns="0">
            <a:spAutoFit/>
          </a:bodyPr>
          <a:lstStyle/>
          <a:p>
            <a:r>
              <a:rPr sz="1150" b="0">
                <a:solidFill>
                  <a:srgbClr val="2E2E2E"/>
                </a:solidFill>
                <a:latin typeface="Calibri"/>
              </a:rPr>
              <a:t>recreational and powersports vehicles segment is expected to witness the highest CAGR of</a:t>
            </a:r>
          </a:p>
        </p:txBody>
      </p:sp>
      <p:pic>
        <p:nvPicPr>
          <p:cNvPr id="22" name="Picture 21" descr="lock.png"/>
          <p:cNvPicPr>
            <a:picLocks noChangeAspect="1"/>
          </p:cNvPicPr>
          <p:nvPr/>
        </p:nvPicPr>
        <p:blipFill>
          <a:blip r:embed="rId4"/>
          <a:stretch>
            <a:fillRect/>
          </a:stretch>
        </p:blipFill>
        <p:spPr>
          <a:xfrm>
            <a:off x="5681449" y="4089336"/>
            <a:ext cx="134549" cy="195707"/>
          </a:xfrm>
          <a:prstGeom prst="rect">
            <a:avLst/>
          </a:prstGeom>
        </p:spPr>
      </p:pic>
      <p:sp>
        <p:nvSpPr>
          <p:cNvPr id="23" name="TextBox 22"/>
          <p:cNvSpPr txBox="1"/>
          <p:nvPr/>
        </p:nvSpPr>
        <p:spPr>
          <a:xfrm>
            <a:off x="5856559" y="40995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327397"/>
            <a:ext cx="7815994" cy="194310"/>
          </a:xfrm>
          <a:prstGeom prst="rect">
            <a:avLst/>
          </a:prstGeom>
          <a:noFill/>
        </p:spPr>
        <p:txBody>
          <a:bodyPr wrap="none" lIns="0" rIns="0" tIns="0" bIns="0">
            <a:spAutoFit/>
          </a:bodyPr>
          <a:lstStyle/>
          <a:p>
            <a:r>
              <a:rPr sz="1150" b="0">
                <a:solidFill>
                  <a:srgbClr val="2E2E2E"/>
                </a:solidFill>
                <a:latin typeface="Calibri"/>
              </a:rPr>
              <a:t>In terms of value share by vehicle type, the construction and mining vehicles segment is expected to dominate the market, gaining</a:t>
            </a:r>
          </a:p>
        </p:txBody>
      </p:sp>
      <p:pic>
        <p:nvPicPr>
          <p:cNvPr id="25" name="Picture 24" descr="lock.png"/>
          <p:cNvPicPr>
            <a:picLocks noChangeAspect="1"/>
          </p:cNvPicPr>
          <p:nvPr/>
        </p:nvPicPr>
        <p:blipFill>
          <a:blip r:embed="rId4"/>
          <a:stretch>
            <a:fillRect/>
          </a:stretch>
        </p:blipFill>
        <p:spPr>
          <a:xfrm>
            <a:off x="8041373" y="4317174"/>
            <a:ext cx="134549" cy="195707"/>
          </a:xfrm>
          <a:prstGeom prst="rect">
            <a:avLst/>
          </a:prstGeom>
        </p:spPr>
      </p:pic>
      <p:sp>
        <p:nvSpPr>
          <p:cNvPr id="26" name="TextBox 25"/>
          <p:cNvSpPr txBox="1"/>
          <p:nvPr/>
        </p:nvSpPr>
        <p:spPr>
          <a:xfrm>
            <a:off x="8216482" y="43273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611625" y="4317174"/>
            <a:ext cx="134549" cy="195707"/>
          </a:xfrm>
          <a:prstGeom prst="rect">
            <a:avLst/>
          </a:prstGeom>
        </p:spPr>
      </p:pic>
      <p:sp>
        <p:nvSpPr>
          <p:cNvPr id="28" name="TextBox 27"/>
          <p:cNvSpPr txBox="1"/>
          <p:nvPr/>
        </p:nvSpPr>
        <p:spPr>
          <a:xfrm>
            <a:off x="9786734" y="4327397"/>
            <a:ext cx="1687028" cy="194310"/>
          </a:xfrm>
          <a:prstGeom prst="rect">
            <a:avLst/>
          </a:prstGeom>
          <a:noFill/>
        </p:spPr>
        <p:txBody>
          <a:bodyPr wrap="none" lIns="0" rIns="0" tIns="0" bIns="0">
            <a:spAutoFit/>
          </a:bodyPr>
          <a:lstStyle/>
          <a:p>
            <a:r>
              <a:rPr sz="1150" b="0">
                <a:solidFill>
                  <a:srgbClr val="2E2E2E"/>
                </a:solidFill>
                <a:latin typeface="Calibri"/>
              </a:rPr>
              <a:t>share by 2036. The military</a:t>
            </a:r>
          </a:p>
        </p:txBody>
      </p:sp>
      <p:sp>
        <p:nvSpPr>
          <p:cNvPr id="29" name="TextBox 28"/>
          <p:cNvSpPr txBox="1"/>
          <p:nvPr/>
        </p:nvSpPr>
        <p:spPr>
          <a:xfrm>
            <a:off x="276225" y="4502657"/>
            <a:ext cx="2233004" cy="194310"/>
          </a:xfrm>
          <a:prstGeom prst="rect">
            <a:avLst/>
          </a:prstGeom>
          <a:noFill/>
        </p:spPr>
        <p:txBody>
          <a:bodyPr wrap="none" lIns="0" rIns="0" tIns="0" bIns="0">
            <a:spAutoFit/>
          </a:bodyPr>
          <a:lstStyle/>
          <a:p>
            <a:r>
              <a:rPr sz="1150" b="0">
                <a:solidFill>
                  <a:srgbClr val="2E2E2E"/>
                </a:solidFill>
                <a:latin typeface="Calibri"/>
              </a:rPr>
              <a:t>vehicles segment is expected to lose</a:t>
            </a:r>
          </a:p>
        </p:txBody>
      </p:sp>
      <p:pic>
        <p:nvPicPr>
          <p:cNvPr id="30" name="Picture 29" descr="lock.png"/>
          <p:cNvPicPr>
            <a:picLocks noChangeAspect="1"/>
          </p:cNvPicPr>
          <p:nvPr/>
        </p:nvPicPr>
        <p:blipFill>
          <a:blip r:embed="rId4"/>
          <a:stretch>
            <a:fillRect/>
          </a:stretch>
        </p:blipFill>
        <p:spPr>
          <a:xfrm>
            <a:off x="2458383" y="4492434"/>
            <a:ext cx="134549" cy="195707"/>
          </a:xfrm>
          <a:prstGeom prst="rect">
            <a:avLst/>
          </a:prstGeom>
        </p:spPr>
      </p:pic>
      <p:sp>
        <p:nvSpPr>
          <p:cNvPr id="31" name="TextBox 30"/>
          <p:cNvSpPr txBox="1"/>
          <p:nvPr/>
        </p:nvSpPr>
        <p:spPr>
          <a:xfrm>
            <a:off x="2633492" y="450265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220997" y="4492434"/>
            <a:ext cx="134549" cy="195707"/>
          </a:xfrm>
          <a:prstGeom prst="rect">
            <a:avLst/>
          </a:prstGeom>
        </p:spPr>
      </p:pic>
      <p:sp>
        <p:nvSpPr>
          <p:cNvPr id="33" name="TextBox 32"/>
          <p:cNvSpPr txBox="1"/>
          <p:nvPr/>
        </p:nvSpPr>
        <p:spPr>
          <a:xfrm>
            <a:off x="5396106" y="450265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Vehicle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Vehicle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Vehicle Type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973308"/>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96854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89234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and Port Vehicles</a:t>
            </a:r>
          </a:p>
        </p:txBody>
      </p:sp>
      <p:sp>
        <p:nvSpPr>
          <p:cNvPr id="15" name="BPS Value 1"/>
          <p:cNvSpPr txBox="1"/>
          <p:nvPr/>
        </p:nvSpPr>
        <p:spPr>
          <a:xfrm>
            <a:off x="6896100" y="195425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677143"/>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67238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59618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Recreational and Powersports Vehicles</a:t>
            </a:r>
          </a:p>
        </p:txBody>
      </p:sp>
      <p:sp>
        <p:nvSpPr>
          <p:cNvPr id="19" name="BPS Value 2"/>
          <p:cNvSpPr txBox="1"/>
          <p:nvPr/>
        </p:nvSpPr>
        <p:spPr>
          <a:xfrm>
            <a:off x="6896100" y="265809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3516239"/>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51147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4352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Military Vehicles</a:t>
            </a:r>
          </a:p>
        </p:txBody>
      </p:sp>
      <p:sp>
        <p:nvSpPr>
          <p:cNvPr id="23" name="BPS Value 3"/>
          <p:cNvSpPr txBox="1"/>
          <p:nvPr/>
        </p:nvSpPr>
        <p:spPr>
          <a:xfrm>
            <a:off x="6896100" y="349718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928997" y="444355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443879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43625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Agriculture and Forestry Vehicles</a:t>
            </a:r>
          </a:p>
        </p:txBody>
      </p:sp>
      <p:sp>
        <p:nvSpPr>
          <p:cNvPr id="27" name="BPS Value 4"/>
          <p:cNvSpPr txBox="1"/>
          <p:nvPr/>
        </p:nvSpPr>
        <p:spPr>
          <a:xfrm>
            <a:off x="6896100" y="442450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5588597"/>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558383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550763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Construction and Mining Vehicles</a:t>
            </a:r>
          </a:p>
        </p:txBody>
      </p:sp>
      <p:sp>
        <p:nvSpPr>
          <p:cNvPr id="31" name="BPS Value 5"/>
          <p:cNvSpPr txBox="1"/>
          <p:nvPr/>
        </p:nvSpPr>
        <p:spPr>
          <a:xfrm>
            <a:off x="6896100" y="556954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Vehicle Type</a:t>
            </a:r>
          </a:p>
        </p:txBody>
      </p:sp>
      <p:sp>
        <p:nvSpPr>
          <p:cNvPr id="34" name="Rectangle 33"/>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6" name="Rectangle 3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8" name="Picture 37" descr="lock.png"/>
          <p:cNvPicPr>
            <a:picLocks noChangeAspect="1"/>
          </p:cNvPicPr>
          <p:nvPr/>
        </p:nvPicPr>
        <p:blipFill>
          <a:blip r:embed="rId5"/>
          <a:stretch>
            <a:fillRect/>
          </a:stretch>
        </p:blipFill>
        <p:spPr>
          <a:xfrm>
            <a:off x="2557843" y="3833622"/>
            <a:ext cx="275034" cy="400050"/>
          </a:xfrm>
          <a:prstGeom prst="rect">
            <a:avLst/>
          </a:prstGeom>
        </p:spPr>
      </p:pic>
      <p:sp>
        <p:nvSpPr>
          <p:cNvPr id="39" name="TextBox 38"/>
          <p:cNvSpPr txBox="1"/>
          <p:nvPr/>
        </p:nvSpPr>
        <p:spPr>
          <a:xfrm>
            <a:off x="7829550" y="1400175"/>
            <a:ext cx="3660130" cy="194310"/>
          </a:xfrm>
          <a:prstGeom prst="rect">
            <a:avLst/>
          </a:prstGeom>
          <a:noFill/>
        </p:spPr>
        <p:txBody>
          <a:bodyPr wrap="none" lIns="0" rIns="0" tIns="0" bIns="0">
            <a:spAutoFit/>
          </a:bodyPr>
          <a:lstStyle/>
          <a:p>
            <a:r>
              <a:rPr sz="1150" b="0">
                <a:solidFill>
                  <a:srgbClr val="2E2E2E"/>
                </a:solidFill>
                <a:latin typeface="Calibri"/>
              </a:rPr>
              <a:t>Among off-highway vehicle by vehicle type, recreational and</a:t>
            </a:r>
          </a:p>
        </p:txBody>
      </p:sp>
      <p:sp>
        <p:nvSpPr>
          <p:cNvPr id="40" name="TextBox 39"/>
          <p:cNvSpPr txBox="1"/>
          <p:nvPr/>
        </p:nvSpPr>
        <p:spPr>
          <a:xfrm>
            <a:off x="7829550" y="1575435"/>
            <a:ext cx="3925701" cy="194310"/>
          </a:xfrm>
          <a:prstGeom prst="rect">
            <a:avLst/>
          </a:prstGeom>
          <a:noFill/>
        </p:spPr>
        <p:txBody>
          <a:bodyPr wrap="none" lIns="0" rIns="0" tIns="0" bIns="0">
            <a:spAutoFit/>
          </a:bodyPr>
          <a:lstStyle/>
          <a:p>
            <a:r>
              <a:rPr sz="1150" b="0">
                <a:solidFill>
                  <a:srgbClr val="2E2E2E"/>
                </a:solidFill>
                <a:latin typeface="Calibri"/>
              </a:rPr>
              <a:t>powersports vehicles segment is expected to witness the highest</a:t>
            </a:r>
          </a:p>
        </p:txBody>
      </p:sp>
      <p:sp>
        <p:nvSpPr>
          <p:cNvPr id="41" name="TextBox 40"/>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2" name="Picture 41" descr="lock.png"/>
          <p:cNvPicPr>
            <a:picLocks noChangeAspect="1"/>
          </p:cNvPicPr>
          <p:nvPr/>
        </p:nvPicPr>
        <p:blipFill>
          <a:blip r:embed="rId5"/>
          <a:stretch>
            <a:fillRect/>
          </a:stretch>
        </p:blipFill>
        <p:spPr>
          <a:xfrm>
            <a:off x="8343240" y="1740471"/>
            <a:ext cx="134549" cy="195707"/>
          </a:xfrm>
          <a:prstGeom prst="rect">
            <a:avLst/>
          </a:prstGeom>
        </p:spPr>
      </p:pic>
      <p:sp>
        <p:nvSpPr>
          <p:cNvPr id="43" name="TextBox 42"/>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44" name="TextBox 43"/>
          <p:cNvSpPr txBox="1"/>
          <p:nvPr/>
        </p:nvSpPr>
        <p:spPr>
          <a:xfrm>
            <a:off x="7829550" y="1925955"/>
            <a:ext cx="3714328" cy="194310"/>
          </a:xfrm>
          <a:prstGeom prst="rect">
            <a:avLst/>
          </a:prstGeom>
          <a:noFill/>
        </p:spPr>
        <p:txBody>
          <a:bodyPr wrap="none" lIns="0" rIns="0" tIns="0" bIns="0">
            <a:spAutoFit/>
          </a:bodyPr>
          <a:lstStyle/>
          <a:p>
            <a:r>
              <a:rPr sz="1150" b="0">
                <a:solidFill>
                  <a:srgbClr val="2E2E2E"/>
                </a:solidFill>
                <a:latin typeface="Calibri"/>
              </a:rPr>
              <a:t>vehicle type, the construction and mining vehicles segment is</a:t>
            </a:r>
          </a:p>
        </p:txBody>
      </p:sp>
      <p:sp>
        <p:nvSpPr>
          <p:cNvPr id="45" name="TextBox 44"/>
          <p:cNvSpPr txBox="1"/>
          <p:nvPr/>
        </p:nvSpPr>
        <p:spPr>
          <a:xfrm>
            <a:off x="7829550" y="210121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46" name="Picture 45" descr="lock.png"/>
          <p:cNvPicPr>
            <a:picLocks noChangeAspect="1"/>
          </p:cNvPicPr>
          <p:nvPr/>
        </p:nvPicPr>
        <p:blipFill>
          <a:blip r:embed="rId5"/>
          <a:stretch>
            <a:fillRect/>
          </a:stretch>
        </p:blipFill>
        <p:spPr>
          <a:xfrm>
            <a:off x="10354013" y="2090991"/>
            <a:ext cx="134549" cy="195707"/>
          </a:xfrm>
          <a:prstGeom prst="rect">
            <a:avLst/>
          </a:prstGeom>
        </p:spPr>
      </p:pic>
      <p:sp>
        <p:nvSpPr>
          <p:cNvPr id="47" name="TextBox 46"/>
          <p:cNvSpPr txBox="1"/>
          <p:nvPr/>
        </p:nvSpPr>
        <p:spPr>
          <a:xfrm>
            <a:off x="10529122"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8" name="TextBox 47"/>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9" name="Picture 48" descr="lock.png"/>
          <p:cNvPicPr>
            <a:picLocks noChangeAspect="1"/>
          </p:cNvPicPr>
          <p:nvPr/>
        </p:nvPicPr>
        <p:blipFill>
          <a:blip r:embed="rId5"/>
          <a:stretch>
            <a:fillRect/>
          </a:stretch>
        </p:blipFill>
        <p:spPr>
          <a:xfrm>
            <a:off x="8027482" y="2266251"/>
            <a:ext cx="134549" cy="195707"/>
          </a:xfrm>
          <a:prstGeom prst="rect">
            <a:avLst/>
          </a:prstGeom>
        </p:spPr>
      </p:pic>
      <p:sp>
        <p:nvSpPr>
          <p:cNvPr id="50" name="TextBox 49"/>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TextBox 50"/>
          <p:cNvSpPr txBox="1"/>
          <p:nvPr/>
        </p:nvSpPr>
        <p:spPr>
          <a:xfrm>
            <a:off x="7829550" y="2504313"/>
            <a:ext cx="2973809" cy="194310"/>
          </a:xfrm>
          <a:prstGeom prst="rect">
            <a:avLst/>
          </a:prstGeom>
          <a:noFill/>
        </p:spPr>
        <p:txBody>
          <a:bodyPr wrap="none" lIns="0" rIns="0" tIns="0" bIns="0">
            <a:spAutoFit/>
          </a:bodyPr>
          <a:lstStyle/>
          <a:p>
            <a:r>
              <a:rPr sz="1150" b="0">
                <a:solidFill>
                  <a:srgbClr val="2E2E2E"/>
                </a:solidFill>
                <a:latin typeface="Calibri"/>
              </a:rPr>
              <a:t>The military vehicles segment is expected to lose</a:t>
            </a:r>
          </a:p>
        </p:txBody>
      </p:sp>
      <p:pic>
        <p:nvPicPr>
          <p:cNvPr id="52" name="Picture 51" descr="lock.png"/>
          <p:cNvPicPr>
            <a:picLocks noChangeAspect="1"/>
          </p:cNvPicPr>
          <p:nvPr/>
        </p:nvPicPr>
        <p:blipFill>
          <a:blip r:embed="rId5"/>
          <a:stretch>
            <a:fillRect/>
          </a:stretch>
        </p:blipFill>
        <p:spPr>
          <a:xfrm>
            <a:off x="10752513" y="2494089"/>
            <a:ext cx="134549" cy="195707"/>
          </a:xfrm>
          <a:prstGeom prst="rect">
            <a:avLst/>
          </a:prstGeom>
        </p:spPr>
      </p:pic>
      <p:sp>
        <p:nvSpPr>
          <p:cNvPr id="53" name="TextBox 52"/>
          <p:cNvSpPr txBox="1"/>
          <p:nvPr/>
        </p:nvSpPr>
        <p:spPr>
          <a:xfrm>
            <a:off x="10927622" y="250431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4" name="TextBox 53"/>
          <p:cNvSpPr txBox="1"/>
          <p:nvPr/>
        </p:nvSpPr>
        <p:spPr>
          <a:xfrm>
            <a:off x="7829550" y="267957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5" name="Picture 54" descr="lock.png"/>
          <p:cNvPicPr>
            <a:picLocks noChangeAspect="1"/>
          </p:cNvPicPr>
          <p:nvPr/>
        </p:nvPicPr>
        <p:blipFill>
          <a:blip r:embed="rId5"/>
          <a:stretch>
            <a:fillRect/>
          </a:stretch>
        </p:blipFill>
        <p:spPr>
          <a:xfrm>
            <a:off x="9630324" y="2669349"/>
            <a:ext cx="134549" cy="195707"/>
          </a:xfrm>
          <a:prstGeom prst="rect">
            <a:avLst/>
          </a:prstGeom>
        </p:spPr>
      </p:pic>
      <p:sp>
        <p:nvSpPr>
          <p:cNvPr id="56" name="TextBox 55"/>
          <p:cNvSpPr txBox="1"/>
          <p:nvPr/>
        </p:nvSpPr>
        <p:spPr>
          <a:xfrm>
            <a:off x="980543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Powertrain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Powertrain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Powertrain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Powertrain,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Powertrain segment categorizes the market by powertrain.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Battery Electric Vehicle</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Alternative Fuel ICE</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Hybrid Powertrain</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Internal Combustion Engine</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Powertrain split shows how demand is distributed across powertrain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291_356_605E5C.png"/>
          <p:cNvPicPr>
            <a:picLocks noChangeAspect="1"/>
          </p:cNvPicPr>
          <p:nvPr/>
        </p:nvPicPr>
        <p:blipFill>
          <a:blip r:embed="rId4"/>
          <a:stretch>
            <a:fillRect/>
          </a:stretch>
        </p:blipFill>
        <p:spPr>
          <a:xfrm>
            <a:off x="2259806" y="2286582"/>
            <a:ext cx="1628775" cy="361950"/>
          </a:xfrm>
          <a:prstGeom prst="rect">
            <a:avLst/>
          </a:prstGeom>
        </p:spPr>
      </p:pic>
      <p:pic>
        <p:nvPicPr>
          <p:cNvPr id="62" name="Picture 61" descr="571_962_605E5C.png"/>
          <p:cNvPicPr>
            <a:picLocks noChangeAspect="1"/>
          </p:cNvPicPr>
          <p:nvPr/>
        </p:nvPicPr>
        <p:blipFill>
          <a:blip r:embed="rId5"/>
          <a:stretch>
            <a:fillRect/>
          </a:stretch>
        </p:blipFill>
        <p:spPr>
          <a:xfrm>
            <a:off x="2259806" y="2779432"/>
            <a:ext cx="1628775" cy="361950"/>
          </a:xfrm>
          <a:prstGeom prst="rect">
            <a:avLst/>
          </a:prstGeom>
        </p:spPr>
      </p:pic>
      <p:pic>
        <p:nvPicPr>
          <p:cNvPr id="63" name="Picture 62" descr="7_0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280_772_605E5C.png"/>
          <p:cNvPicPr>
            <a:picLocks noChangeAspect="1"/>
          </p:cNvPicPr>
          <p:nvPr/>
        </p:nvPicPr>
        <p:blipFill>
          <a:blip r:embed="rId7"/>
          <a:stretch>
            <a:fillRect/>
          </a:stretch>
        </p:blipFill>
        <p:spPr>
          <a:xfrm>
            <a:off x="4788694" y="2286582"/>
            <a:ext cx="1628775" cy="361950"/>
          </a:xfrm>
          <a:prstGeom prst="rect">
            <a:avLst/>
          </a:prstGeom>
        </p:spPr>
      </p:pic>
      <p:pic>
        <p:nvPicPr>
          <p:cNvPr id="65" name="Picture 64" descr="454_110_605E5C.png"/>
          <p:cNvPicPr>
            <a:picLocks noChangeAspect="1"/>
          </p:cNvPicPr>
          <p:nvPr/>
        </p:nvPicPr>
        <p:blipFill>
          <a:blip r:embed="rId8"/>
          <a:stretch>
            <a:fillRect/>
          </a:stretch>
        </p:blipFill>
        <p:spPr>
          <a:xfrm>
            <a:off x="4788694" y="2779432"/>
            <a:ext cx="1628775" cy="361950"/>
          </a:xfrm>
          <a:prstGeom prst="rect">
            <a:avLst/>
          </a:prstGeom>
        </p:spPr>
      </p:pic>
      <p:pic>
        <p:nvPicPr>
          <p:cNvPr id="66" name="Picture 65" descr="4_9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214_791_605E5C.png"/>
          <p:cNvPicPr>
            <a:picLocks noChangeAspect="1"/>
          </p:cNvPicPr>
          <p:nvPr/>
        </p:nvPicPr>
        <p:blipFill>
          <a:blip r:embed="rId10"/>
          <a:stretch>
            <a:fillRect/>
          </a:stretch>
        </p:blipFill>
        <p:spPr>
          <a:xfrm>
            <a:off x="7317581" y="2286582"/>
            <a:ext cx="1628775" cy="361950"/>
          </a:xfrm>
          <a:prstGeom prst="rect">
            <a:avLst/>
          </a:prstGeom>
        </p:spPr>
      </p:pic>
      <p:pic>
        <p:nvPicPr>
          <p:cNvPr id="68" name="Picture 67" descr="245_569_605E5C.png"/>
          <p:cNvPicPr>
            <a:picLocks noChangeAspect="1"/>
          </p:cNvPicPr>
          <p:nvPr/>
        </p:nvPicPr>
        <p:blipFill>
          <a:blip r:embed="rId11"/>
          <a:stretch>
            <a:fillRect/>
          </a:stretch>
        </p:blipFill>
        <p:spPr>
          <a:xfrm>
            <a:off x="7317581" y="2779432"/>
            <a:ext cx="1628775" cy="361950"/>
          </a:xfrm>
          <a:prstGeom prst="rect">
            <a:avLst/>
          </a:prstGeom>
        </p:spPr>
      </p:pic>
      <p:pic>
        <p:nvPicPr>
          <p:cNvPr id="69" name="Picture 68" descr="1_3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172_380_605E5C.png"/>
          <p:cNvPicPr>
            <a:picLocks noChangeAspect="1"/>
          </p:cNvPicPr>
          <p:nvPr/>
        </p:nvPicPr>
        <p:blipFill>
          <a:blip r:embed="rId13"/>
          <a:stretch>
            <a:fillRect/>
          </a:stretch>
        </p:blipFill>
        <p:spPr>
          <a:xfrm>
            <a:off x="9846468" y="2286582"/>
            <a:ext cx="1628775" cy="361950"/>
          </a:xfrm>
          <a:prstGeom prst="rect">
            <a:avLst/>
          </a:prstGeom>
        </p:spPr>
      </p:pic>
      <p:pic>
        <p:nvPicPr>
          <p:cNvPr id="71" name="Picture 70" descr="260_059_605E5C.png"/>
          <p:cNvPicPr>
            <a:picLocks noChangeAspect="1"/>
          </p:cNvPicPr>
          <p:nvPr/>
        </p:nvPicPr>
        <p:blipFill>
          <a:blip r:embed="rId14"/>
          <a:stretch>
            <a:fillRect/>
          </a:stretch>
        </p:blipFill>
        <p:spPr>
          <a:xfrm>
            <a:off x="9846468" y="2779432"/>
            <a:ext cx="1628775" cy="361950"/>
          </a:xfrm>
          <a:prstGeom prst="rect">
            <a:avLst/>
          </a:prstGeom>
        </p:spPr>
      </p:pic>
      <p:pic>
        <p:nvPicPr>
          <p:cNvPr id="72" name="Picture 71" descr="4_2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off-highway vehicle by powertrain, battery</a:t>
            </a:r>
          </a:p>
        </p:txBody>
      </p:sp>
      <p:sp>
        <p:nvSpPr>
          <p:cNvPr id="78" name="TextBox 77"/>
          <p:cNvSpPr txBox="1"/>
          <p:nvPr/>
        </p:nvSpPr>
        <p:spPr>
          <a:xfrm>
            <a:off x="485775" y="4397077"/>
            <a:ext cx="2612355" cy="186689"/>
          </a:xfrm>
          <a:prstGeom prst="rect">
            <a:avLst/>
          </a:prstGeom>
          <a:noFill/>
        </p:spPr>
        <p:txBody>
          <a:bodyPr wrap="none" lIns="0" rIns="0" tIns="0" bIns="0">
            <a:spAutoFit/>
          </a:bodyPr>
          <a:lstStyle/>
          <a:p>
            <a:r>
              <a:rPr sz="1100" b="0">
                <a:solidFill>
                  <a:srgbClr val="2E2E2E"/>
                </a:solidFill>
                <a:latin typeface="Calibri"/>
              </a:rPr>
              <a:t>electric vehicle (BEV) segment is expected to</a:t>
            </a:r>
          </a:p>
        </p:txBody>
      </p:sp>
      <p:sp>
        <p:nvSpPr>
          <p:cNvPr id="79" name="TextBox 78"/>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80" name="Picture 79" descr="lock.png"/>
          <p:cNvPicPr>
            <a:picLocks noChangeAspect="1"/>
          </p:cNvPicPr>
          <p:nvPr/>
        </p:nvPicPr>
        <p:blipFill>
          <a:blip r:embed="rId16"/>
          <a:stretch>
            <a:fillRect/>
          </a:stretch>
        </p:blipFill>
        <p:spPr>
          <a:xfrm>
            <a:off x="2108919" y="4554938"/>
            <a:ext cx="128699" cy="187198"/>
          </a:xfrm>
          <a:prstGeom prst="rect">
            <a:avLst/>
          </a:prstGeom>
        </p:spPr>
      </p:pic>
      <p:sp>
        <p:nvSpPr>
          <p:cNvPr id="81" name="TextBox 80"/>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82" name="TextBox 81"/>
          <p:cNvSpPr txBox="1"/>
          <p:nvPr/>
        </p:nvSpPr>
        <p:spPr>
          <a:xfrm>
            <a:off x="485775" y="4732357"/>
            <a:ext cx="2905397" cy="186689"/>
          </a:xfrm>
          <a:prstGeom prst="rect">
            <a:avLst/>
          </a:prstGeom>
          <a:noFill/>
        </p:spPr>
        <p:txBody>
          <a:bodyPr wrap="none" lIns="0" rIns="0" tIns="0" bIns="0">
            <a:spAutoFit/>
          </a:bodyPr>
          <a:lstStyle/>
          <a:p>
            <a:r>
              <a:rPr sz="1100" b="0">
                <a:solidFill>
                  <a:srgbClr val="2E2E2E"/>
                </a:solidFill>
                <a:latin typeface="Calibri"/>
              </a:rPr>
              <a:t>period. In terms of value share by powertrain, the</a:t>
            </a:r>
          </a:p>
        </p:txBody>
      </p:sp>
      <p:sp>
        <p:nvSpPr>
          <p:cNvPr id="83" name="TextBox 82"/>
          <p:cNvSpPr txBox="1"/>
          <p:nvPr/>
        </p:nvSpPr>
        <p:spPr>
          <a:xfrm>
            <a:off x="485775" y="4899997"/>
            <a:ext cx="2907580" cy="186689"/>
          </a:xfrm>
          <a:prstGeom prst="rect">
            <a:avLst/>
          </a:prstGeom>
          <a:noFill/>
        </p:spPr>
        <p:txBody>
          <a:bodyPr wrap="none" lIns="0" rIns="0" tIns="0" bIns="0">
            <a:spAutoFit/>
          </a:bodyPr>
          <a:lstStyle/>
          <a:p>
            <a:r>
              <a:rPr sz="1100" b="0">
                <a:solidFill>
                  <a:srgbClr val="2E2E2E"/>
                </a:solidFill>
                <a:latin typeface="Calibri"/>
              </a:rPr>
              <a:t>battery electric vehicle (BEV) segment is expected</a:t>
            </a:r>
          </a:p>
        </p:txBody>
      </p:sp>
      <p:sp>
        <p:nvSpPr>
          <p:cNvPr id="84" name="TextBox 83"/>
          <p:cNvSpPr txBox="1"/>
          <p:nvPr/>
        </p:nvSpPr>
        <p:spPr>
          <a:xfrm>
            <a:off x="485775" y="5067637"/>
            <a:ext cx="1912763" cy="186689"/>
          </a:xfrm>
          <a:prstGeom prst="rect">
            <a:avLst/>
          </a:prstGeom>
          <a:noFill/>
        </p:spPr>
        <p:txBody>
          <a:bodyPr wrap="none" lIns="0" rIns="0" tIns="0" bIns="0">
            <a:spAutoFit/>
          </a:bodyPr>
          <a:lstStyle/>
          <a:p>
            <a:r>
              <a:rPr sz="1100" b="0">
                <a:solidFill>
                  <a:srgbClr val="2E2E2E"/>
                </a:solidFill>
                <a:latin typeface="Calibri"/>
              </a:rPr>
              <a:t>to dominate the market, gaining</a:t>
            </a:r>
          </a:p>
        </p:txBody>
      </p:sp>
      <p:pic>
        <p:nvPicPr>
          <p:cNvPr id="85" name="Picture 84" descr="lock.png"/>
          <p:cNvPicPr>
            <a:picLocks noChangeAspect="1"/>
          </p:cNvPicPr>
          <p:nvPr/>
        </p:nvPicPr>
        <p:blipFill>
          <a:blip r:embed="rId16"/>
          <a:stretch>
            <a:fillRect/>
          </a:stretch>
        </p:blipFill>
        <p:spPr>
          <a:xfrm>
            <a:off x="2346590" y="5057858"/>
            <a:ext cx="128699" cy="187198"/>
          </a:xfrm>
          <a:prstGeom prst="rect">
            <a:avLst/>
          </a:prstGeom>
        </p:spPr>
      </p:pic>
      <p:sp>
        <p:nvSpPr>
          <p:cNvPr id="86" name="TextBox 85"/>
          <p:cNvSpPr txBox="1"/>
          <p:nvPr/>
        </p:nvSpPr>
        <p:spPr>
          <a:xfrm>
            <a:off x="2514086"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7" name="TextBox 86"/>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8" name="Picture 87" descr="lock.png"/>
          <p:cNvPicPr>
            <a:picLocks noChangeAspect="1"/>
          </p:cNvPicPr>
          <p:nvPr/>
        </p:nvPicPr>
        <p:blipFill>
          <a:blip r:embed="rId16"/>
          <a:stretch>
            <a:fillRect/>
          </a:stretch>
        </p:blipFill>
        <p:spPr>
          <a:xfrm>
            <a:off x="1330764" y="5225498"/>
            <a:ext cx="128699" cy="187198"/>
          </a:xfrm>
          <a:prstGeom prst="rect">
            <a:avLst/>
          </a:prstGeom>
        </p:spPr>
      </p:pic>
      <p:sp>
        <p:nvSpPr>
          <p:cNvPr id="89" name="TextBox 88"/>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Battery electric vehicle (BEV) segment is projected</a:t>
            </a:r>
          </a:p>
        </p:txBody>
      </p:sp>
      <p:sp>
        <p:nvSpPr>
          <p:cNvPr id="91" name="TextBox 90"/>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92" name="Picture 91" descr="lock.png"/>
          <p:cNvPicPr>
            <a:picLocks noChangeAspect="1"/>
          </p:cNvPicPr>
          <p:nvPr/>
        </p:nvPicPr>
        <p:blipFill>
          <a:blip r:embed="rId16"/>
          <a:stretch>
            <a:fillRect/>
          </a:stretch>
        </p:blipFill>
        <p:spPr>
          <a:xfrm>
            <a:off x="1098567" y="5611070"/>
            <a:ext cx="128699" cy="187198"/>
          </a:xfrm>
          <a:prstGeom prst="rect">
            <a:avLst/>
          </a:prstGeom>
        </p:spPr>
      </p:pic>
      <p:sp>
        <p:nvSpPr>
          <p:cNvPr id="93" name="TextBox 92"/>
          <p:cNvSpPr txBox="1"/>
          <p:nvPr/>
        </p:nvSpPr>
        <p:spPr>
          <a:xfrm>
            <a:off x="1266063" y="5620849"/>
            <a:ext cx="2069926" cy="186689"/>
          </a:xfrm>
          <a:prstGeom prst="rect">
            <a:avLst/>
          </a:prstGeom>
          <a:noFill/>
        </p:spPr>
        <p:txBody>
          <a:bodyPr wrap="none" lIns="0" rIns="0" tIns="0" bIns="0">
            <a:spAutoFit/>
          </a:bodyPr>
          <a:lstStyle/>
          <a:p>
            <a:r>
              <a:rPr sz="1100" b="0">
                <a:solidFill>
                  <a:srgbClr val="2E2E2E"/>
                </a:solidFill>
                <a:latin typeface="Calibri"/>
              </a:rPr>
              <a:t>X higher value than alternative fuel</a:t>
            </a:r>
          </a:p>
        </p:txBody>
      </p:sp>
      <p:sp>
        <p:nvSpPr>
          <p:cNvPr id="94" name="TextBox 93"/>
          <p:cNvSpPr txBox="1"/>
          <p:nvPr/>
        </p:nvSpPr>
        <p:spPr>
          <a:xfrm>
            <a:off x="485775" y="5788489"/>
            <a:ext cx="1265014" cy="186689"/>
          </a:xfrm>
          <a:prstGeom prst="rect">
            <a:avLst/>
          </a:prstGeom>
          <a:noFill/>
        </p:spPr>
        <p:txBody>
          <a:bodyPr wrap="none" lIns="0" rIns="0" tIns="0" bIns="0">
            <a:spAutoFit/>
          </a:bodyPr>
          <a:lstStyle/>
          <a:p>
            <a:r>
              <a:rPr sz="1100" b="0">
                <a:solidFill>
                  <a:srgbClr val="2E2E2E"/>
                </a:solidFill>
                <a:latin typeface="Calibri"/>
              </a:rPr>
              <a:t>ICE segment in 2036.</a:t>
            </a:r>
          </a:p>
        </p:txBody>
      </p:sp>
      <p:sp>
        <p:nvSpPr>
          <p:cNvPr id="95" name="TextBox 94"/>
          <p:cNvSpPr txBox="1"/>
          <p:nvPr/>
        </p:nvSpPr>
        <p:spPr>
          <a:xfrm>
            <a:off x="3838575" y="4229437"/>
            <a:ext cx="1883295" cy="186689"/>
          </a:xfrm>
          <a:prstGeom prst="rect">
            <a:avLst/>
          </a:prstGeom>
          <a:noFill/>
        </p:spPr>
        <p:txBody>
          <a:bodyPr wrap="none" lIns="0" rIns="0" tIns="0" bIns="0">
            <a:spAutoFit/>
          </a:bodyPr>
          <a:lstStyle/>
          <a:p>
            <a:r>
              <a:rPr sz="1100" b="0">
                <a:solidFill>
                  <a:srgbClr val="2E2E2E"/>
                </a:solidFill>
                <a:latin typeface="Calibri"/>
              </a:rPr>
              <a:t>● Battery Electric Vehicle (BEV):</a:t>
            </a:r>
          </a:p>
        </p:txBody>
      </p:sp>
      <p:pic>
        <p:nvPicPr>
          <p:cNvPr id="96" name="Picture 95" descr="lock.png"/>
          <p:cNvPicPr>
            <a:picLocks noChangeAspect="1"/>
          </p:cNvPicPr>
          <p:nvPr/>
        </p:nvPicPr>
        <p:blipFill>
          <a:blip r:embed="rId16"/>
          <a:stretch>
            <a:fillRect/>
          </a:stretch>
        </p:blipFill>
        <p:spPr>
          <a:xfrm>
            <a:off x="5669922" y="4219658"/>
            <a:ext cx="128699" cy="187198"/>
          </a:xfrm>
          <a:prstGeom prst="rect">
            <a:avLst/>
          </a:prstGeom>
        </p:spPr>
      </p:pic>
      <p:sp>
        <p:nvSpPr>
          <p:cNvPr id="97" name="TextBox 96"/>
          <p:cNvSpPr txBox="1"/>
          <p:nvPr/>
        </p:nvSpPr>
        <p:spPr>
          <a:xfrm>
            <a:off x="583741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6"/>
          <a:stretch>
            <a:fillRect/>
          </a:stretch>
        </p:blipFill>
        <p:spPr>
          <a:xfrm>
            <a:off x="6696868" y="4219658"/>
            <a:ext cx="128699" cy="187198"/>
          </a:xfrm>
          <a:prstGeom prst="rect">
            <a:avLst/>
          </a:prstGeom>
        </p:spPr>
      </p:pic>
      <p:sp>
        <p:nvSpPr>
          <p:cNvPr id="99" name="TextBox 98"/>
          <p:cNvSpPr txBox="1"/>
          <p:nvPr/>
        </p:nvSpPr>
        <p:spPr>
          <a:xfrm>
            <a:off x="6864364"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0" name="TextBox 9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1" name="TextBox 100"/>
          <p:cNvSpPr txBox="1"/>
          <p:nvPr/>
        </p:nvSpPr>
        <p:spPr>
          <a:xfrm>
            <a:off x="3838575" y="4615009"/>
            <a:ext cx="1340321" cy="186689"/>
          </a:xfrm>
          <a:prstGeom prst="rect">
            <a:avLst/>
          </a:prstGeom>
          <a:noFill/>
        </p:spPr>
        <p:txBody>
          <a:bodyPr wrap="none" lIns="0" rIns="0" tIns="0" bIns="0">
            <a:spAutoFit/>
          </a:bodyPr>
          <a:lstStyle/>
          <a:p>
            <a:r>
              <a:rPr sz="1100" b="0">
                <a:solidFill>
                  <a:srgbClr val="2E2E2E"/>
                </a:solidFill>
                <a:latin typeface="Calibri"/>
              </a:rPr>
              <a:t>● Alternative Fuel ICE:</a:t>
            </a:r>
          </a:p>
        </p:txBody>
      </p:sp>
      <p:pic>
        <p:nvPicPr>
          <p:cNvPr id="102" name="Picture 101" descr="lock.png"/>
          <p:cNvPicPr>
            <a:picLocks noChangeAspect="1"/>
          </p:cNvPicPr>
          <p:nvPr/>
        </p:nvPicPr>
        <p:blipFill>
          <a:blip r:embed="rId16"/>
          <a:stretch>
            <a:fillRect/>
          </a:stretch>
        </p:blipFill>
        <p:spPr>
          <a:xfrm>
            <a:off x="5126947" y="4605230"/>
            <a:ext cx="128699" cy="187198"/>
          </a:xfrm>
          <a:prstGeom prst="rect">
            <a:avLst/>
          </a:prstGeom>
        </p:spPr>
      </p:pic>
      <p:sp>
        <p:nvSpPr>
          <p:cNvPr id="103" name="TextBox 102"/>
          <p:cNvSpPr txBox="1"/>
          <p:nvPr/>
        </p:nvSpPr>
        <p:spPr>
          <a:xfrm>
            <a:off x="5294443"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6153893" y="4605230"/>
            <a:ext cx="128699" cy="187198"/>
          </a:xfrm>
          <a:prstGeom prst="rect">
            <a:avLst/>
          </a:prstGeom>
        </p:spPr>
      </p:pic>
      <p:sp>
        <p:nvSpPr>
          <p:cNvPr id="105" name="TextBox 104"/>
          <p:cNvSpPr txBox="1"/>
          <p:nvPr/>
        </p:nvSpPr>
        <p:spPr>
          <a:xfrm>
            <a:off x="6321389"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6" name="TextBox 105"/>
          <p:cNvSpPr txBox="1"/>
          <p:nvPr/>
        </p:nvSpPr>
        <p:spPr>
          <a:xfrm>
            <a:off x="3838575" y="4832941"/>
            <a:ext cx="1271835" cy="186689"/>
          </a:xfrm>
          <a:prstGeom prst="rect">
            <a:avLst/>
          </a:prstGeom>
          <a:noFill/>
        </p:spPr>
        <p:txBody>
          <a:bodyPr wrap="none" lIns="0" rIns="0" tIns="0" bIns="0">
            <a:spAutoFit/>
          </a:bodyPr>
          <a:lstStyle/>
          <a:p>
            <a:r>
              <a:rPr sz="1100" b="0">
                <a:solidFill>
                  <a:srgbClr val="2E2E2E"/>
                </a:solidFill>
                <a:latin typeface="Calibri"/>
              </a:rPr>
              <a:t>● Hybrid Powertrain:</a:t>
            </a:r>
          </a:p>
        </p:txBody>
      </p:sp>
      <p:pic>
        <p:nvPicPr>
          <p:cNvPr id="107" name="Picture 106" descr="lock.png"/>
          <p:cNvPicPr>
            <a:picLocks noChangeAspect="1"/>
          </p:cNvPicPr>
          <p:nvPr/>
        </p:nvPicPr>
        <p:blipFill>
          <a:blip r:embed="rId16"/>
          <a:stretch>
            <a:fillRect/>
          </a:stretch>
        </p:blipFill>
        <p:spPr>
          <a:xfrm>
            <a:off x="5058462" y="4823162"/>
            <a:ext cx="128699" cy="187198"/>
          </a:xfrm>
          <a:prstGeom prst="rect">
            <a:avLst/>
          </a:prstGeom>
        </p:spPr>
      </p:pic>
      <p:sp>
        <p:nvSpPr>
          <p:cNvPr id="108" name="TextBox 107"/>
          <p:cNvSpPr txBox="1"/>
          <p:nvPr/>
        </p:nvSpPr>
        <p:spPr>
          <a:xfrm>
            <a:off x="5225957"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6"/>
          <a:stretch>
            <a:fillRect/>
          </a:stretch>
        </p:blipFill>
        <p:spPr>
          <a:xfrm>
            <a:off x="6085408" y="4823162"/>
            <a:ext cx="128699" cy="187198"/>
          </a:xfrm>
          <a:prstGeom prst="rect">
            <a:avLst/>
          </a:prstGeom>
        </p:spPr>
      </p:pic>
      <p:sp>
        <p:nvSpPr>
          <p:cNvPr id="110" name="TextBox 109"/>
          <p:cNvSpPr txBox="1"/>
          <p:nvPr/>
        </p:nvSpPr>
        <p:spPr>
          <a:xfrm>
            <a:off x="6252904"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1" name="TextBox 110"/>
          <p:cNvSpPr txBox="1"/>
          <p:nvPr/>
        </p:nvSpPr>
        <p:spPr>
          <a:xfrm>
            <a:off x="3838575" y="5050872"/>
            <a:ext cx="2103214" cy="186689"/>
          </a:xfrm>
          <a:prstGeom prst="rect">
            <a:avLst/>
          </a:prstGeom>
          <a:noFill/>
        </p:spPr>
        <p:txBody>
          <a:bodyPr wrap="none" lIns="0" rIns="0" tIns="0" bIns="0">
            <a:spAutoFit/>
          </a:bodyPr>
          <a:lstStyle/>
          <a:p>
            <a:r>
              <a:rPr sz="1100" b="0">
                <a:solidFill>
                  <a:srgbClr val="2E2E2E"/>
                </a:solidFill>
                <a:latin typeface="Calibri"/>
              </a:rPr>
              <a:t>● Internal Combustion Engine (ICE):</a:t>
            </a:r>
          </a:p>
        </p:txBody>
      </p:sp>
      <p:pic>
        <p:nvPicPr>
          <p:cNvPr id="112" name="Picture 111" descr="lock.png"/>
          <p:cNvPicPr>
            <a:picLocks noChangeAspect="1"/>
          </p:cNvPicPr>
          <p:nvPr/>
        </p:nvPicPr>
        <p:blipFill>
          <a:blip r:embed="rId16"/>
          <a:stretch>
            <a:fillRect/>
          </a:stretch>
        </p:blipFill>
        <p:spPr>
          <a:xfrm>
            <a:off x="5889840" y="5041093"/>
            <a:ext cx="128699" cy="187198"/>
          </a:xfrm>
          <a:prstGeom prst="rect">
            <a:avLst/>
          </a:prstGeom>
        </p:spPr>
      </p:pic>
      <p:sp>
        <p:nvSpPr>
          <p:cNvPr id="113" name="TextBox 112"/>
          <p:cNvSpPr txBox="1"/>
          <p:nvPr/>
        </p:nvSpPr>
        <p:spPr>
          <a:xfrm>
            <a:off x="6057336"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6"/>
          <a:stretch>
            <a:fillRect/>
          </a:stretch>
        </p:blipFill>
        <p:spPr>
          <a:xfrm>
            <a:off x="6916786" y="5041093"/>
            <a:ext cx="128699" cy="187198"/>
          </a:xfrm>
          <a:prstGeom prst="rect">
            <a:avLst/>
          </a:prstGeom>
        </p:spPr>
      </p:pic>
      <p:sp>
        <p:nvSpPr>
          <p:cNvPr id="115" name="TextBox 114"/>
          <p:cNvSpPr txBox="1"/>
          <p:nvPr/>
        </p:nvSpPr>
        <p:spPr>
          <a:xfrm>
            <a:off x="7084282" y="5050872"/>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6" name="TextBox 115"/>
          <p:cNvSpPr txBox="1"/>
          <p:nvPr/>
        </p:nvSpPr>
        <p:spPr>
          <a:xfrm>
            <a:off x="3838575" y="521851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7" name="TextBox 116"/>
          <p:cNvSpPr txBox="1"/>
          <p:nvPr/>
        </p:nvSpPr>
        <p:spPr>
          <a:xfrm>
            <a:off x="8524875" y="5842641"/>
            <a:ext cx="3079067" cy="194310"/>
          </a:xfrm>
          <a:prstGeom prst="rect">
            <a:avLst/>
          </a:prstGeom>
          <a:noFill/>
        </p:spPr>
        <p:txBody>
          <a:bodyPr wrap="none" lIns="0" rIns="0" tIns="0" bIns="0">
            <a:spAutoFit/>
          </a:bodyPr>
          <a:lstStyle/>
          <a:p>
            <a:r>
              <a:rPr sz="1150" b="1">
                <a:solidFill>
                  <a:srgbClr val="0B2E4A"/>
                </a:solidFill>
                <a:latin typeface="Calibri"/>
              </a:rPr>
              <a:t>The Powertrain segment is projected to grow at a</a:t>
            </a:r>
          </a:p>
        </p:txBody>
      </p:sp>
      <p:sp>
        <p:nvSpPr>
          <p:cNvPr id="118" name="TextBox 11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19" name="Picture 118" descr="lock.png"/>
          <p:cNvPicPr>
            <a:picLocks noChangeAspect="1"/>
          </p:cNvPicPr>
          <p:nvPr/>
        </p:nvPicPr>
        <p:blipFill>
          <a:blip r:embed="rId16"/>
          <a:stretch>
            <a:fillRect/>
          </a:stretch>
        </p:blipFill>
        <p:spPr>
          <a:xfrm>
            <a:off x="9048826" y="6007677"/>
            <a:ext cx="134549" cy="195707"/>
          </a:xfrm>
          <a:prstGeom prst="rect">
            <a:avLst/>
          </a:prstGeom>
        </p:spPr>
      </p:pic>
      <p:sp>
        <p:nvSpPr>
          <p:cNvPr id="120" name="TextBox 11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Powertrain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Powertrain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Powertrain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Powertrain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30235" cy="186689"/>
          </a:xfrm>
          <a:prstGeom prst="rect">
            <a:avLst/>
          </a:prstGeom>
          <a:noFill/>
        </p:spPr>
        <p:txBody>
          <a:bodyPr wrap="none" lIns="0" rIns="0" tIns="0" bIns="0">
            <a:spAutoFit/>
          </a:bodyPr>
          <a:lstStyle/>
          <a:p>
            <a:r>
              <a:rPr sz="1100" b="0">
                <a:solidFill>
                  <a:srgbClr val="2E2E2E"/>
                </a:solidFill>
                <a:latin typeface="Calibri"/>
              </a:rPr>
              <a:t>Battery electric vehicle (BEV) followed by alternative fuel ICE are expected to be the two most attractive powertrain segments in the global off-highway vehicle market in terms of value over the forecast</a:t>
            </a:r>
          </a:p>
        </p:txBody>
      </p:sp>
      <p:sp>
        <p:nvSpPr>
          <p:cNvPr id="18" name="TextBox 17"/>
          <p:cNvSpPr txBox="1"/>
          <p:nvPr/>
        </p:nvSpPr>
        <p:spPr>
          <a:xfrm>
            <a:off x="257175" y="5861685"/>
            <a:ext cx="4863090" cy="186689"/>
          </a:xfrm>
          <a:prstGeom prst="rect">
            <a:avLst/>
          </a:prstGeom>
          <a:noFill/>
        </p:spPr>
        <p:txBody>
          <a:bodyPr wrap="none" lIns="0" rIns="0" tIns="0" bIns="0">
            <a:spAutoFit/>
          </a:bodyPr>
          <a:lstStyle/>
          <a:p>
            <a:r>
              <a:rPr sz="1100" b="0">
                <a:solidFill>
                  <a:srgbClr val="2E2E2E"/>
                </a:solidFill>
                <a:latin typeface="Calibri"/>
              </a:rPr>
              <a:t>period. Battery electric vehicle (BEV) and alternative fuel ICE exhibit a CAGR index of</a:t>
            </a:r>
          </a:p>
        </p:txBody>
      </p:sp>
      <p:pic>
        <p:nvPicPr>
          <p:cNvPr id="19" name="Picture 18" descr="lock.png"/>
          <p:cNvPicPr>
            <a:picLocks noChangeAspect="1"/>
          </p:cNvPicPr>
          <p:nvPr/>
        </p:nvPicPr>
        <p:blipFill>
          <a:blip r:embed="rId6"/>
          <a:stretch>
            <a:fillRect/>
          </a:stretch>
        </p:blipFill>
        <p:spPr>
          <a:xfrm>
            <a:off x="5068317" y="5851905"/>
            <a:ext cx="128699" cy="187198"/>
          </a:xfrm>
          <a:prstGeom prst="rect">
            <a:avLst/>
          </a:prstGeom>
        </p:spPr>
      </p:pic>
      <p:sp>
        <p:nvSpPr>
          <p:cNvPr id="20" name="TextBox 19"/>
          <p:cNvSpPr txBox="1"/>
          <p:nvPr/>
        </p:nvSpPr>
        <p:spPr>
          <a:xfrm>
            <a:off x="523581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473707" y="5851905"/>
            <a:ext cx="128699" cy="187198"/>
          </a:xfrm>
          <a:prstGeom prst="rect">
            <a:avLst/>
          </a:prstGeom>
        </p:spPr>
      </p:pic>
      <p:sp>
        <p:nvSpPr>
          <p:cNvPr id="22" name="TextBox 21"/>
          <p:cNvSpPr txBox="1"/>
          <p:nvPr/>
        </p:nvSpPr>
        <p:spPr>
          <a:xfrm>
            <a:off x="5641203"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250176" y="5851905"/>
            <a:ext cx="128699" cy="187198"/>
          </a:xfrm>
          <a:prstGeom prst="rect">
            <a:avLst/>
          </a:prstGeom>
        </p:spPr>
      </p:pic>
      <p:sp>
        <p:nvSpPr>
          <p:cNvPr id="24" name="TextBox 23"/>
          <p:cNvSpPr txBox="1"/>
          <p:nvPr/>
        </p:nvSpPr>
        <p:spPr>
          <a:xfrm>
            <a:off x="741767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7655567" y="5851905"/>
            <a:ext cx="128699" cy="187198"/>
          </a:xfrm>
          <a:prstGeom prst="rect">
            <a:avLst/>
          </a:prstGeom>
        </p:spPr>
      </p:pic>
      <p:sp>
        <p:nvSpPr>
          <p:cNvPr id="26" name="TextBox 25"/>
          <p:cNvSpPr txBox="1"/>
          <p:nvPr/>
        </p:nvSpPr>
        <p:spPr>
          <a:xfrm>
            <a:off x="7823062"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377466" y="5851905"/>
            <a:ext cx="128699" cy="187198"/>
          </a:xfrm>
          <a:prstGeom prst="rect">
            <a:avLst/>
          </a:prstGeom>
        </p:spPr>
      </p:pic>
      <p:sp>
        <p:nvSpPr>
          <p:cNvPr id="28" name="TextBox 27"/>
          <p:cNvSpPr txBox="1"/>
          <p:nvPr/>
        </p:nvSpPr>
        <p:spPr>
          <a:xfrm>
            <a:off x="10544962" y="5861685"/>
            <a:ext cx="750416" cy="186689"/>
          </a:xfrm>
          <a:prstGeom prst="rect">
            <a:avLst/>
          </a:prstGeom>
          <a:noFill/>
        </p:spPr>
        <p:txBody>
          <a:bodyPr wrap="none" lIns="0" rIns="0" tIns="0" bIns="0">
            <a:spAutoFit/>
          </a:bodyPr>
          <a:lstStyle/>
          <a:p>
            <a:r>
              <a:rPr sz="1100" b="0">
                <a:solidFill>
                  <a:srgbClr val="2E2E2E"/>
                </a:solidFill>
                <a:latin typeface="Calibri"/>
              </a:rPr>
              <a:t>. The hybrid</a:t>
            </a:r>
          </a:p>
        </p:txBody>
      </p:sp>
      <p:sp>
        <p:nvSpPr>
          <p:cNvPr id="29" name="TextBox 28"/>
          <p:cNvSpPr txBox="1"/>
          <p:nvPr/>
        </p:nvSpPr>
        <p:spPr>
          <a:xfrm>
            <a:off x="257175" y="6029325"/>
            <a:ext cx="11533475" cy="186689"/>
          </a:xfrm>
          <a:prstGeom prst="rect">
            <a:avLst/>
          </a:prstGeom>
          <a:noFill/>
        </p:spPr>
        <p:txBody>
          <a:bodyPr wrap="none" lIns="0" rIns="0" tIns="0" bIns="0">
            <a:spAutoFit/>
          </a:bodyPr>
          <a:lstStyle/>
          <a:p>
            <a:r>
              <a:rPr sz="1100" b="0">
                <a:solidFill>
                  <a:srgbClr val="2E2E2E"/>
                </a:solidFill>
                <a:latin typeface="Calibri"/>
              </a:rPr>
              <a:t>powertrain segment is expected to be less attractive as compared to other segments over the forecast period, owing to its lower CAGR and incremental opportunity. Bubbles right of the CAGR-Index line</a:t>
            </a:r>
          </a:p>
        </p:txBody>
      </p:sp>
      <p:sp>
        <p:nvSpPr>
          <p:cNvPr id="30" name="TextBox 29"/>
          <p:cNvSpPr txBox="1"/>
          <p:nvPr/>
        </p:nvSpPr>
        <p:spPr>
          <a:xfrm>
            <a:off x="257175" y="6196965"/>
            <a:ext cx="2279476" cy="186689"/>
          </a:xfrm>
          <a:prstGeom prst="rect">
            <a:avLst/>
          </a:prstGeom>
          <a:noFill/>
        </p:spPr>
        <p:txBody>
          <a:bodyPr wrap="none" lIns="0" rIns="0" tIns="0" bIns="0">
            <a:spAutoFit/>
          </a:bodyPr>
          <a:lstStyle/>
          <a:p>
            <a:r>
              <a:rPr sz="1100" b="0">
                <a:solidFill>
                  <a:srgbClr val="2E2E2E"/>
                </a:solidFill>
                <a:latin typeface="Calibri"/>
              </a:rPr>
              <a:t>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Powertrain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Powertrain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Internal Combustion Engine (ICE)</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Battery Electric Vehicle (BEV)</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Hybrid Powertrain</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Alternative Fuel ICE</a:t>
            </a:r>
          </a:p>
        </p:txBody>
      </p:sp>
      <p:graphicFrame>
        <p:nvGraphicFramePr>
          <p:cNvPr id="18" name="Chart 17"/>
          <p:cNvGraphicFramePr>
            <a:graphicFrameLocks noGrp="1"/>
          </p:cNvGraphicFramePr>
          <p:nvPr/>
        </p:nvGraphicFramePr>
        <p:xfrm>
          <a:off x="6267450" y="4152900"/>
          <a:ext cx="5686425" cy="240982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094826" y="5123309"/>
            <a:ext cx="263506" cy="383281"/>
          </a:xfrm>
          <a:prstGeom prst="rect">
            <a:avLst/>
          </a:prstGeom>
        </p:spPr>
      </p:pic>
      <p:pic>
        <p:nvPicPr>
          <p:cNvPr id="24" name="Picture 23" descr="lock.png"/>
          <p:cNvPicPr>
            <a:picLocks noChangeAspect="1"/>
          </p:cNvPicPr>
          <p:nvPr/>
        </p:nvPicPr>
        <p:blipFill>
          <a:blip r:embed="rId8"/>
          <a:stretch>
            <a:fillRect/>
          </a:stretch>
        </p:blipFill>
        <p:spPr>
          <a:xfrm>
            <a:off x="9124151" y="5123309"/>
            <a:ext cx="263506" cy="383281"/>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Powertrain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Powertrain, 2021–2036, highlighting the sub-segments driving growth</a:t>
            </a:r>
          </a:p>
        </p:txBody>
      </p:sp>
      <p:sp>
        <p:nvSpPr>
          <p:cNvPr id="7" name="Rounded Rectangle 6"/>
          <p:cNvSpPr/>
          <p:nvPr/>
        </p:nvSpPr>
        <p:spPr>
          <a:xfrm>
            <a:off x="142875" y="981075"/>
            <a:ext cx="11906250" cy="2333625"/>
          </a:xfrm>
          <a:prstGeom prst="roundRect">
            <a:avLst>
              <a:gd name="adj" fmla="val 32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Powertrain (US$ Mn)</a:t>
            </a:r>
          </a:p>
        </p:txBody>
      </p:sp>
      <p:graphicFrame>
        <p:nvGraphicFramePr>
          <p:cNvPr id="9" name="Table 8"/>
          <p:cNvGraphicFramePr>
            <a:graphicFrameLocks noGrp="1"/>
          </p:cNvGraphicFramePr>
          <p:nvPr/>
        </p:nvGraphicFramePr>
        <p:xfrm>
          <a:off x="152400" y="1238250"/>
          <a:ext cx="11891421" cy="1866902"/>
        </p:xfrm>
        <a:graphic>
          <a:graphicData uri="http://schemas.openxmlformats.org/drawingml/2006/table">
            <a:tbl>
              <a:tblPr>
                <a:tableStyleId>{5C22544A-7EE6-4342-B048-85BDC9FD1C3A}</a:tableStyleId>
              </a:tblPr>
              <a:tblGrid>
                <a:gridCol w="1817914"/>
                <a:gridCol w="530784"/>
                <a:gridCol w="530784"/>
                <a:gridCol w="530784"/>
                <a:gridCol w="530784"/>
                <a:gridCol w="530784"/>
                <a:gridCol w="530784"/>
                <a:gridCol w="640198"/>
                <a:gridCol w="640198"/>
                <a:gridCol w="640198"/>
                <a:gridCol w="640198"/>
                <a:gridCol w="640198"/>
                <a:gridCol w="640198"/>
                <a:gridCol w="640198"/>
                <a:gridCol w="640198"/>
                <a:gridCol w="640198"/>
                <a:gridCol w="640198"/>
                <a:gridCol w="486823"/>
              </a:tblGrid>
              <a:tr h="438912">
                <a:tc>
                  <a:txBody>
                    <a:bodyPr wrap="none"/>
                    <a:lstStyle/>
                    <a:p>
                      <a:pPr algn="l"/>
                      <a:r>
                        <a:rPr sz="1100" b="1">
                          <a:solidFill>
                            <a:srgbClr val="0E2A5C"/>
                          </a:solidFill>
                          <a:latin typeface="Calibri"/>
                        </a:rPr>
                        <a:t>Powertrain</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9050"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9050" marT="19050" marB="19050" anchor="ctr">
                    <a:solidFill>
                      <a:srgbClr val="EBF2F9"/>
                    </a:solidFill>
                  </a:tcPr>
                </a:tc>
              </a:tr>
              <a:tr h="285598">
                <a:tc>
                  <a:txBody>
                    <a:bodyPr wrap="none"/>
                    <a:lstStyle/>
                    <a:p>
                      <a:pPr algn="l"/>
                      <a:r>
                        <a:rPr sz="1100" b="1">
                          <a:solidFill>
                            <a:srgbClr val="2E2E2E"/>
                          </a:solidFill>
                          <a:latin typeface="Calibri"/>
                        </a:rPr>
                        <a:t>Internal Combustion Engine</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85598">
                <a:tc>
                  <a:txBody>
                    <a:bodyPr wrap="none"/>
                    <a:lstStyle/>
                    <a:p>
                      <a:pPr algn="l"/>
                      <a:r>
                        <a:rPr sz="1100" b="1">
                          <a:solidFill>
                            <a:srgbClr val="2E2E2E"/>
                          </a:solidFill>
                          <a:latin typeface="Calibri"/>
                        </a:rPr>
                        <a:t>Battery Electric Vehicle</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r>
              <a:tr h="285598">
                <a:tc>
                  <a:txBody>
                    <a:bodyPr wrap="none"/>
                    <a:lstStyle/>
                    <a:p>
                      <a:pPr algn="l"/>
                      <a:r>
                        <a:rPr sz="1100" b="1">
                          <a:solidFill>
                            <a:srgbClr val="2E2E2E"/>
                          </a:solidFill>
                          <a:latin typeface="Calibri"/>
                        </a:rPr>
                        <a:t>Hybrid Powertrain</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c>
                  <a:txBody>
                    <a:bodyPr wrap="none"/>
                    <a:lstStyle/>
                    <a:p>
                      <a:pPr algn="ctr"/>
                      <a:r>
                        <a:rPr sz="1100"/>
                        <a:t> </a:t>
                      </a:r>
                      <a:endParaRPr sz="1100"/>
                    </a:p>
                  </a:txBody>
                  <a:tcPr marL="19050" marR="19050" marT="19050" marB="19050" anchor="ctr">
                    <a:solidFill>
                      <a:srgbClr val="FFFFFF"/>
                    </a:solidFill>
                  </a:tcPr>
                </a:tc>
              </a:tr>
              <a:tr h="285598">
                <a:tc>
                  <a:txBody>
                    <a:bodyPr wrap="none"/>
                    <a:lstStyle/>
                    <a:p>
                      <a:pPr algn="l"/>
                      <a:r>
                        <a:rPr sz="1100" b="1">
                          <a:solidFill>
                            <a:srgbClr val="2E2E2E"/>
                          </a:solidFill>
                          <a:latin typeface="Calibri"/>
                        </a:rPr>
                        <a:t>Alternative Fuel ICE</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c>
                  <a:txBody>
                    <a:bodyPr wrap="none"/>
                    <a:lstStyle/>
                    <a:p>
                      <a:pPr algn="ctr"/>
                      <a:r>
                        <a:rPr sz="1100"/>
                        <a:t> </a:t>
                      </a:r>
                      <a:endParaRPr sz="1100"/>
                    </a:p>
                  </a:txBody>
                  <a:tcPr marL="19050" marR="19050" marT="19050" marB="19050" anchor="ctr">
                    <a:solidFill>
                      <a:srgbClr val="F5F9FD"/>
                    </a:solidFill>
                  </a:tcPr>
                </a:tc>
              </a:tr>
              <a:tr h="285598">
                <a:tc>
                  <a:txBody>
                    <a:bodyPr wrap="none"/>
                    <a:lstStyle/>
                    <a:p>
                      <a:pPr algn="l"/>
                      <a:r>
                        <a:rPr sz="1100" b="1">
                          <a:solidFill>
                            <a:srgbClr val="2E2E2E"/>
                          </a:solidFill>
                          <a:latin typeface="Calibri"/>
                        </a:rPr>
                        <a:t>Total</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b="1">
                          <a:solidFill>
                            <a:srgbClr val="2E2E2E"/>
                          </a:solidFill>
                          <a:latin typeface="Calibri"/>
                        </a:rPr>
                        <a:t>959,300</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a:t> </a:t>
                      </a:r>
                      <a:endParaRPr sz="1100"/>
                    </a:p>
                  </a:txBody>
                  <a:tcPr marL="19050" marR="19050" marT="19050" marB="19050" anchor="ctr">
                    <a:solidFill>
                      <a:srgbClr val="EBF2F9"/>
                    </a:solidFill>
                  </a:tcPr>
                </a:tc>
                <a:tc>
                  <a:txBody>
                    <a:bodyPr wrap="none"/>
                    <a:lstStyle/>
                    <a:p>
                      <a:pPr algn="ctr"/>
                      <a:r>
                        <a:rPr sz="1100" b="1">
                          <a:solidFill>
                            <a:srgbClr val="2E2E2E"/>
                          </a:solidFill>
                          <a:latin typeface="Calibri"/>
                        </a:rPr>
                        <a:t>1,531,700</a:t>
                      </a:r>
                      <a:endParaRPr sz="1100"/>
                    </a:p>
                  </a:txBody>
                  <a:tcPr marL="19050" marR="19050" marT="19050" marB="19050" anchor="ctr">
                    <a:solidFill>
                      <a:srgbClr val="EBF2F9"/>
                    </a:solidFill>
                  </a:tcPr>
                </a:tc>
                <a:tc>
                  <a:txBody>
                    <a:bodyPr wrap="none"/>
                    <a:lstStyle/>
                    <a:p>
                      <a:pPr algn="ctr"/>
                      <a:r>
                        <a:rPr sz="1100" b="1">
                          <a:solidFill>
                            <a:srgbClr val="2E2E2E"/>
                          </a:solidFill>
                          <a:latin typeface="Calibri"/>
                        </a:rPr>
                        <a:t>4.8%</a:t>
                      </a:r>
                      <a:endParaRPr sz="1100"/>
                    </a:p>
                  </a:txBody>
                  <a:tcPr marL="19050" marR="19050" marT="19050" marB="19050" anchor="ctr">
                    <a:solidFill>
                      <a:srgbClr val="EBF2F9"/>
                    </a:solidFill>
                  </a:tcPr>
                </a:tc>
              </a:tr>
            </a:tbl>
          </a:graphicData>
        </a:graphic>
      </p:graphicFrame>
      <p:sp>
        <p:nvSpPr>
          <p:cNvPr id="10" name="TextBox 9"/>
          <p:cNvSpPr txBox="1"/>
          <p:nvPr/>
        </p:nvSpPr>
        <p:spPr>
          <a:xfrm>
            <a:off x="219075" y="3114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448050"/>
            <a:ext cx="1190625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5337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Powertrain</a:t>
            </a:r>
          </a:p>
        </p:txBody>
      </p:sp>
      <p:sp>
        <p:nvSpPr>
          <p:cNvPr id="13" name="Rectangle 12"/>
          <p:cNvSpPr/>
          <p:nvPr/>
        </p:nvSpPr>
        <p:spPr>
          <a:xfrm>
            <a:off x="276225" y="37719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857625"/>
            <a:ext cx="11639550" cy="2695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774251" y="2124457"/>
            <a:ext cx="366712" cy="533399"/>
          </a:xfrm>
          <a:prstGeom prst="rect">
            <a:avLst/>
          </a:prstGeom>
        </p:spPr>
      </p:pic>
      <p:sp>
        <p:nvSpPr>
          <p:cNvPr id="18" name="TextBox 17"/>
          <p:cNvSpPr txBox="1"/>
          <p:nvPr/>
        </p:nvSpPr>
        <p:spPr>
          <a:xfrm>
            <a:off x="276225" y="3867150"/>
            <a:ext cx="3714613" cy="194310"/>
          </a:xfrm>
          <a:prstGeom prst="rect">
            <a:avLst/>
          </a:prstGeom>
          <a:noFill/>
        </p:spPr>
        <p:txBody>
          <a:bodyPr wrap="none" lIns="0" rIns="0" tIns="0" bIns="0">
            <a:spAutoFit/>
          </a:bodyPr>
          <a:lstStyle/>
          <a:p>
            <a:r>
              <a:rPr sz="1150" b="0">
                <a:solidFill>
                  <a:srgbClr val="2E2E2E"/>
                </a:solidFill>
                <a:latin typeface="Calibri"/>
              </a:rPr>
              <a:t>Battery electric vehicle (BEV) segment is projected to register</a:t>
            </a:r>
          </a:p>
        </p:txBody>
      </p:sp>
      <p:pic>
        <p:nvPicPr>
          <p:cNvPr id="19" name="Picture 18" descr="lock.png"/>
          <p:cNvPicPr>
            <a:picLocks noChangeAspect="1"/>
          </p:cNvPicPr>
          <p:nvPr/>
        </p:nvPicPr>
        <p:blipFill>
          <a:blip r:embed="rId4"/>
          <a:stretch>
            <a:fillRect/>
          </a:stretch>
        </p:blipFill>
        <p:spPr>
          <a:xfrm>
            <a:off x="3939992" y="3856926"/>
            <a:ext cx="134549" cy="195707"/>
          </a:xfrm>
          <a:prstGeom prst="rect">
            <a:avLst/>
          </a:prstGeom>
        </p:spPr>
      </p:pic>
      <p:sp>
        <p:nvSpPr>
          <p:cNvPr id="20" name="TextBox 19"/>
          <p:cNvSpPr txBox="1"/>
          <p:nvPr/>
        </p:nvSpPr>
        <p:spPr>
          <a:xfrm>
            <a:off x="4115101" y="3867150"/>
            <a:ext cx="7735267" cy="194310"/>
          </a:xfrm>
          <a:prstGeom prst="rect">
            <a:avLst/>
          </a:prstGeom>
          <a:noFill/>
        </p:spPr>
        <p:txBody>
          <a:bodyPr wrap="none" lIns="0" rIns="0" tIns="0" bIns="0">
            <a:spAutoFit/>
          </a:bodyPr>
          <a:lstStyle/>
          <a:p>
            <a:r>
              <a:rPr sz="1150" b="0">
                <a:solidFill>
                  <a:srgbClr val="2E2E2E"/>
                </a:solidFill>
                <a:latin typeface="Calibri"/>
              </a:rPr>
              <a:t>X higher value than alternative fuel ICE segment in 2036. Among off-highway vehicle by powertrain, battery electric vehicle (BEV)</a:t>
            </a:r>
          </a:p>
        </p:txBody>
      </p:sp>
      <p:sp>
        <p:nvSpPr>
          <p:cNvPr id="21" name="TextBox 20"/>
          <p:cNvSpPr txBox="1"/>
          <p:nvPr/>
        </p:nvSpPr>
        <p:spPr>
          <a:xfrm>
            <a:off x="276225" y="404241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4032186"/>
            <a:ext cx="134549" cy="195707"/>
          </a:xfrm>
          <a:prstGeom prst="rect">
            <a:avLst/>
          </a:prstGeom>
        </p:spPr>
      </p:pic>
      <p:sp>
        <p:nvSpPr>
          <p:cNvPr id="23" name="TextBox 22"/>
          <p:cNvSpPr txBox="1"/>
          <p:nvPr/>
        </p:nvSpPr>
        <p:spPr>
          <a:xfrm>
            <a:off x="3557127" y="4042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270247"/>
            <a:ext cx="7522467" cy="194310"/>
          </a:xfrm>
          <a:prstGeom prst="rect">
            <a:avLst/>
          </a:prstGeom>
          <a:noFill/>
        </p:spPr>
        <p:txBody>
          <a:bodyPr wrap="none" lIns="0" rIns="0" tIns="0" bIns="0">
            <a:spAutoFit/>
          </a:bodyPr>
          <a:lstStyle/>
          <a:p>
            <a:r>
              <a:rPr sz="1150" b="0">
                <a:solidFill>
                  <a:srgbClr val="2E2E2E"/>
                </a:solidFill>
                <a:latin typeface="Calibri"/>
              </a:rPr>
              <a:t>In terms of value share by powertrain, the battery electric vehicle (BEV) segment is expected to dominate the market, gaining</a:t>
            </a:r>
          </a:p>
        </p:txBody>
      </p:sp>
      <p:pic>
        <p:nvPicPr>
          <p:cNvPr id="25" name="Picture 24" descr="lock.png"/>
          <p:cNvPicPr>
            <a:picLocks noChangeAspect="1"/>
          </p:cNvPicPr>
          <p:nvPr/>
        </p:nvPicPr>
        <p:blipFill>
          <a:blip r:embed="rId4"/>
          <a:stretch>
            <a:fillRect/>
          </a:stretch>
        </p:blipFill>
        <p:spPr>
          <a:xfrm>
            <a:off x="7747846" y="4260024"/>
            <a:ext cx="134549" cy="195707"/>
          </a:xfrm>
          <a:prstGeom prst="rect">
            <a:avLst/>
          </a:prstGeom>
        </p:spPr>
      </p:pic>
      <p:sp>
        <p:nvSpPr>
          <p:cNvPr id="26" name="TextBox 25"/>
          <p:cNvSpPr txBox="1"/>
          <p:nvPr/>
        </p:nvSpPr>
        <p:spPr>
          <a:xfrm>
            <a:off x="7922956" y="4270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318099" y="4260024"/>
            <a:ext cx="134549" cy="195707"/>
          </a:xfrm>
          <a:prstGeom prst="rect">
            <a:avLst/>
          </a:prstGeom>
        </p:spPr>
      </p:pic>
      <p:sp>
        <p:nvSpPr>
          <p:cNvPr id="28" name="TextBox 27"/>
          <p:cNvSpPr txBox="1"/>
          <p:nvPr/>
        </p:nvSpPr>
        <p:spPr>
          <a:xfrm>
            <a:off x="9493208" y="4270247"/>
            <a:ext cx="1614289" cy="194310"/>
          </a:xfrm>
          <a:prstGeom prst="rect">
            <a:avLst/>
          </a:prstGeom>
          <a:noFill/>
        </p:spPr>
        <p:txBody>
          <a:bodyPr wrap="none" lIns="0" rIns="0" tIns="0" bIns="0">
            <a:spAutoFit/>
          </a:bodyPr>
          <a:lstStyle/>
          <a:p>
            <a:r>
              <a:rPr sz="1150" b="0">
                <a:solidFill>
                  <a:srgbClr val="2E2E2E"/>
                </a:solidFill>
                <a:latin typeface="Calibri"/>
              </a:rPr>
              <a:t>share by 2036. The hybrid</a:t>
            </a:r>
          </a:p>
        </p:txBody>
      </p:sp>
      <p:sp>
        <p:nvSpPr>
          <p:cNvPr id="29" name="TextBox 28"/>
          <p:cNvSpPr txBox="1"/>
          <p:nvPr/>
        </p:nvSpPr>
        <p:spPr>
          <a:xfrm>
            <a:off x="276225" y="4445507"/>
            <a:ext cx="2420987" cy="194310"/>
          </a:xfrm>
          <a:prstGeom prst="rect">
            <a:avLst/>
          </a:prstGeom>
          <a:noFill/>
        </p:spPr>
        <p:txBody>
          <a:bodyPr wrap="none" lIns="0" rIns="0" tIns="0" bIns="0">
            <a:spAutoFit/>
          </a:bodyPr>
          <a:lstStyle/>
          <a:p>
            <a:r>
              <a:rPr sz="1150" b="0">
                <a:solidFill>
                  <a:srgbClr val="2E2E2E"/>
                </a:solidFill>
                <a:latin typeface="Calibri"/>
              </a:rPr>
              <a:t>powertrain segment is expected to lose</a:t>
            </a:r>
          </a:p>
        </p:txBody>
      </p:sp>
      <p:pic>
        <p:nvPicPr>
          <p:cNvPr id="30" name="Picture 29" descr="lock.png"/>
          <p:cNvPicPr>
            <a:picLocks noChangeAspect="1"/>
          </p:cNvPicPr>
          <p:nvPr/>
        </p:nvPicPr>
        <p:blipFill>
          <a:blip r:embed="rId4"/>
          <a:stretch>
            <a:fillRect/>
          </a:stretch>
        </p:blipFill>
        <p:spPr>
          <a:xfrm>
            <a:off x="2646366" y="4435284"/>
            <a:ext cx="134549" cy="195707"/>
          </a:xfrm>
          <a:prstGeom prst="rect">
            <a:avLst/>
          </a:prstGeom>
        </p:spPr>
      </p:pic>
      <p:sp>
        <p:nvSpPr>
          <p:cNvPr id="31" name="TextBox 30"/>
          <p:cNvSpPr txBox="1"/>
          <p:nvPr/>
        </p:nvSpPr>
        <p:spPr>
          <a:xfrm>
            <a:off x="2821475" y="4445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408979" y="4435284"/>
            <a:ext cx="134549" cy="195707"/>
          </a:xfrm>
          <a:prstGeom prst="rect">
            <a:avLst/>
          </a:prstGeom>
        </p:spPr>
      </p:pic>
      <p:sp>
        <p:nvSpPr>
          <p:cNvPr id="33" name="TextBox 32"/>
          <p:cNvSpPr txBox="1"/>
          <p:nvPr/>
        </p:nvSpPr>
        <p:spPr>
          <a:xfrm>
            <a:off x="5584089" y="4445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Powertrain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Powertrain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Powertrain ·  2021 / 2026 / 2036 (US$ Mn)  ·  right axis = BPS share shift</a:t>
            </a:r>
          </a:p>
        </p:txBody>
      </p:sp>
      <p:graphicFrame>
        <p:nvGraphicFramePr>
          <p:cNvPr id="9" name="Chart 8"/>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3932301"/>
            <a:ext cx="38100" cy="38100"/>
          </a:xfrm>
          <a:prstGeom prst="rect">
            <a:avLst/>
          </a:prstGeom>
          <a:noFill/>
        </p:spPr>
        <p:txBody>
          <a:bodyPr wrap="none">
            <a:spAutoFit/>
          </a:bodyPr>
          <a:lstStyle/>
          <a:p/>
        </p:txBody>
      </p:sp>
      <p:sp>
        <p:nvSpPr>
          <p:cNvPr id="12" name="TMR Legend Chip"/>
          <p:cNvSpPr/>
          <p:nvPr/>
        </p:nvSpPr>
        <p:spPr>
          <a:xfrm>
            <a:off x="4928997" y="188639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88162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80542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Hybrid Powertrain</a:t>
            </a:r>
          </a:p>
        </p:txBody>
      </p:sp>
      <p:sp>
        <p:nvSpPr>
          <p:cNvPr id="15" name="BPS Value 1"/>
          <p:cNvSpPr txBox="1"/>
          <p:nvPr/>
        </p:nvSpPr>
        <p:spPr>
          <a:xfrm>
            <a:off x="6896100" y="186734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668250"/>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66348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5872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Internal Combustion Engine</a:t>
            </a:r>
          </a:p>
        </p:txBody>
      </p:sp>
      <p:sp>
        <p:nvSpPr>
          <p:cNvPr id="19" name="BPS Value 2"/>
          <p:cNvSpPr txBox="1"/>
          <p:nvPr/>
        </p:nvSpPr>
        <p:spPr>
          <a:xfrm>
            <a:off x="6896100" y="264920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3772579"/>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76781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69161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Alternative Fuel ICE</a:t>
            </a:r>
          </a:p>
        </p:txBody>
      </p:sp>
      <p:sp>
        <p:nvSpPr>
          <p:cNvPr id="23" name="BPS Value 3"/>
          <p:cNvSpPr txBox="1"/>
          <p:nvPr/>
        </p:nvSpPr>
        <p:spPr>
          <a:xfrm>
            <a:off x="6896100" y="375352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5359206"/>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35444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5278244"/>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Battery Electric Vehicle</a:t>
            </a:r>
          </a:p>
        </p:txBody>
      </p:sp>
      <p:sp>
        <p:nvSpPr>
          <p:cNvPr id="27" name="BPS Value 4"/>
          <p:cNvSpPr txBox="1"/>
          <p:nvPr/>
        </p:nvSpPr>
        <p:spPr>
          <a:xfrm>
            <a:off x="6896100" y="534015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Powertrain</a:t>
            </a:r>
          </a:p>
        </p:txBody>
      </p:sp>
      <p:sp>
        <p:nvSpPr>
          <p:cNvPr id="30" name="Rectangle 29"/>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751325"/>
            <a:ext cx="275034" cy="400050"/>
          </a:xfrm>
          <a:prstGeom prst="rect">
            <a:avLst/>
          </a:prstGeom>
        </p:spPr>
      </p:pic>
      <p:sp>
        <p:nvSpPr>
          <p:cNvPr id="35" name="TextBox 34"/>
          <p:cNvSpPr txBox="1"/>
          <p:nvPr/>
        </p:nvSpPr>
        <p:spPr>
          <a:xfrm>
            <a:off x="7829550" y="1400175"/>
            <a:ext cx="3986460" cy="194310"/>
          </a:xfrm>
          <a:prstGeom prst="rect">
            <a:avLst/>
          </a:prstGeom>
          <a:noFill/>
        </p:spPr>
        <p:txBody>
          <a:bodyPr wrap="none" lIns="0" rIns="0" tIns="0" bIns="0">
            <a:spAutoFit/>
          </a:bodyPr>
          <a:lstStyle/>
          <a:p>
            <a:r>
              <a:rPr sz="1150" b="0">
                <a:solidFill>
                  <a:srgbClr val="2E2E2E"/>
                </a:solidFill>
                <a:latin typeface="Calibri"/>
              </a:rPr>
              <a:t>Among off-highway vehicle by powertrain, battery electric vehicle</a:t>
            </a:r>
          </a:p>
        </p:txBody>
      </p:sp>
      <p:sp>
        <p:nvSpPr>
          <p:cNvPr id="36" name="TextBox 35"/>
          <p:cNvSpPr txBox="1"/>
          <p:nvPr/>
        </p:nvSpPr>
        <p:spPr>
          <a:xfrm>
            <a:off x="7829550" y="1575435"/>
            <a:ext cx="3512065" cy="194310"/>
          </a:xfrm>
          <a:prstGeom prst="rect">
            <a:avLst/>
          </a:prstGeom>
          <a:noFill/>
        </p:spPr>
        <p:txBody>
          <a:bodyPr wrap="none" lIns="0" rIns="0" tIns="0" bIns="0">
            <a:spAutoFit/>
          </a:bodyPr>
          <a:lstStyle/>
          <a:p>
            <a:r>
              <a:rPr sz="1150" b="0">
                <a:solidFill>
                  <a:srgbClr val="2E2E2E"/>
                </a:solidFill>
                <a:latin typeface="Calibri"/>
              </a:rPr>
              <a:t>(BEV) segment is expected to witness the highest CAGR of</a:t>
            </a:r>
          </a:p>
        </p:txBody>
      </p:sp>
      <p:pic>
        <p:nvPicPr>
          <p:cNvPr id="37" name="Picture 36" descr="lock.png"/>
          <p:cNvPicPr>
            <a:picLocks noChangeAspect="1"/>
          </p:cNvPicPr>
          <p:nvPr/>
        </p:nvPicPr>
        <p:blipFill>
          <a:blip r:embed="rId5"/>
          <a:stretch>
            <a:fillRect/>
          </a:stretch>
        </p:blipFill>
        <p:spPr>
          <a:xfrm>
            <a:off x="11290769" y="1565211"/>
            <a:ext cx="134549" cy="195707"/>
          </a:xfrm>
          <a:prstGeom prst="rect">
            <a:avLst/>
          </a:prstGeom>
        </p:spPr>
      </p:pic>
      <p:sp>
        <p:nvSpPr>
          <p:cNvPr id="38" name="TextBox 37"/>
          <p:cNvSpPr txBox="1"/>
          <p:nvPr/>
        </p:nvSpPr>
        <p:spPr>
          <a:xfrm>
            <a:off x="11465878" y="157543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39" name="TextBox 38"/>
          <p:cNvSpPr txBox="1"/>
          <p:nvPr/>
        </p:nvSpPr>
        <p:spPr>
          <a:xfrm>
            <a:off x="7829550" y="1750695"/>
            <a:ext cx="3781933" cy="194310"/>
          </a:xfrm>
          <a:prstGeom prst="rect">
            <a:avLst/>
          </a:prstGeom>
          <a:noFill/>
        </p:spPr>
        <p:txBody>
          <a:bodyPr wrap="none" lIns="0" rIns="0" tIns="0" bIns="0">
            <a:spAutoFit/>
          </a:bodyPr>
          <a:lstStyle/>
          <a:p>
            <a:r>
              <a:rPr sz="1150" b="0">
                <a:solidFill>
                  <a:srgbClr val="2E2E2E"/>
                </a:solidFill>
                <a:latin typeface="Calibri"/>
              </a:rPr>
              <a:t>the forecast period. In terms of value share by powertrain, the</a:t>
            </a:r>
          </a:p>
        </p:txBody>
      </p:sp>
      <p:sp>
        <p:nvSpPr>
          <p:cNvPr id="40" name="TextBox 39"/>
          <p:cNvSpPr txBox="1"/>
          <p:nvPr/>
        </p:nvSpPr>
        <p:spPr>
          <a:xfrm>
            <a:off x="7829550" y="1925955"/>
            <a:ext cx="4032671" cy="194310"/>
          </a:xfrm>
          <a:prstGeom prst="rect">
            <a:avLst/>
          </a:prstGeom>
          <a:noFill/>
        </p:spPr>
        <p:txBody>
          <a:bodyPr wrap="none" lIns="0" rIns="0" tIns="0" bIns="0">
            <a:spAutoFit/>
          </a:bodyPr>
          <a:lstStyle/>
          <a:p>
            <a:r>
              <a:rPr sz="1150" b="0">
                <a:solidFill>
                  <a:srgbClr val="2E2E2E"/>
                </a:solidFill>
                <a:latin typeface="Calibri"/>
              </a:rPr>
              <a:t>battery electric vehicle (BEV) segment is expected to dominate the</a:t>
            </a:r>
          </a:p>
        </p:txBody>
      </p:sp>
      <p:sp>
        <p:nvSpPr>
          <p:cNvPr id="41" name="TextBox 40"/>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42" name="Picture 41" descr="lock.png"/>
          <p:cNvPicPr>
            <a:picLocks noChangeAspect="1"/>
          </p:cNvPicPr>
          <p:nvPr/>
        </p:nvPicPr>
        <p:blipFill>
          <a:blip r:embed="rId5"/>
          <a:stretch>
            <a:fillRect/>
          </a:stretch>
        </p:blipFill>
        <p:spPr>
          <a:xfrm>
            <a:off x="8778556" y="2090991"/>
            <a:ext cx="134549" cy="195707"/>
          </a:xfrm>
          <a:prstGeom prst="rect">
            <a:avLst/>
          </a:prstGeom>
        </p:spPr>
      </p:pic>
      <p:sp>
        <p:nvSpPr>
          <p:cNvPr id="43" name="TextBox 42"/>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4" name="Picture 43" descr="lock.png"/>
          <p:cNvPicPr>
            <a:picLocks noChangeAspect="1"/>
          </p:cNvPicPr>
          <p:nvPr/>
        </p:nvPicPr>
        <p:blipFill>
          <a:blip r:embed="rId5"/>
          <a:stretch>
            <a:fillRect/>
          </a:stretch>
        </p:blipFill>
        <p:spPr>
          <a:xfrm>
            <a:off x="10348808" y="2090991"/>
            <a:ext cx="134549" cy="195707"/>
          </a:xfrm>
          <a:prstGeom prst="rect">
            <a:avLst/>
          </a:prstGeom>
        </p:spPr>
      </p:pic>
      <p:sp>
        <p:nvSpPr>
          <p:cNvPr id="45" name="TextBox 44"/>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TextBox 45"/>
          <p:cNvSpPr txBox="1"/>
          <p:nvPr/>
        </p:nvSpPr>
        <p:spPr>
          <a:xfrm>
            <a:off x="7829550" y="2329053"/>
            <a:ext cx="3089051" cy="194310"/>
          </a:xfrm>
          <a:prstGeom prst="rect">
            <a:avLst/>
          </a:prstGeom>
          <a:noFill/>
        </p:spPr>
        <p:txBody>
          <a:bodyPr wrap="none" lIns="0" rIns="0" tIns="0" bIns="0">
            <a:spAutoFit/>
          </a:bodyPr>
          <a:lstStyle/>
          <a:p>
            <a:r>
              <a:rPr sz="1150" b="0">
                <a:solidFill>
                  <a:srgbClr val="2E2E2E"/>
                </a:solidFill>
                <a:latin typeface="Calibri"/>
              </a:rPr>
              <a:t>The hybrid powertrain segment is expected to lose</a:t>
            </a:r>
          </a:p>
        </p:txBody>
      </p:sp>
      <p:pic>
        <p:nvPicPr>
          <p:cNvPr id="47" name="Picture 46" descr="lock.png"/>
          <p:cNvPicPr>
            <a:picLocks noChangeAspect="1"/>
          </p:cNvPicPr>
          <p:nvPr/>
        </p:nvPicPr>
        <p:blipFill>
          <a:blip r:embed="rId5"/>
          <a:stretch>
            <a:fillRect/>
          </a:stretch>
        </p:blipFill>
        <p:spPr>
          <a:xfrm>
            <a:off x="10867755" y="2318829"/>
            <a:ext cx="134549" cy="195707"/>
          </a:xfrm>
          <a:prstGeom prst="rect">
            <a:avLst/>
          </a:prstGeom>
        </p:spPr>
      </p:pic>
      <p:sp>
        <p:nvSpPr>
          <p:cNvPr id="48" name="TextBox 47"/>
          <p:cNvSpPr txBox="1"/>
          <p:nvPr/>
        </p:nvSpPr>
        <p:spPr>
          <a:xfrm>
            <a:off x="11042864"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49" name="TextBox 48"/>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0" name="Picture 49" descr="lock.png"/>
          <p:cNvPicPr>
            <a:picLocks noChangeAspect="1"/>
          </p:cNvPicPr>
          <p:nvPr/>
        </p:nvPicPr>
        <p:blipFill>
          <a:blip r:embed="rId5"/>
          <a:stretch>
            <a:fillRect/>
          </a:stretch>
        </p:blipFill>
        <p:spPr>
          <a:xfrm>
            <a:off x="9861950" y="2494089"/>
            <a:ext cx="134549" cy="195707"/>
          </a:xfrm>
          <a:prstGeom prst="rect">
            <a:avLst/>
          </a:prstGeom>
        </p:spPr>
      </p:pic>
      <p:sp>
        <p:nvSpPr>
          <p:cNvPr id="51" name="TextBox 50"/>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9"/>
          <p:cNvSpPr/>
          <p:nvPr/>
        </p:nvSpPr>
        <p:spPr>
          <a:xfrm>
            <a:off x="238125" y="1409700"/>
            <a:ext cx="4614672" cy="516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Vehicle Capacity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Capacity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Vehicle Capacity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Vehicle Capacity,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Vehicle Capacity segment categorizes the market by vehicle capacity.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Heavy-Duty Vehicles</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Ultra-Heavy-Duty Vehicles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Compact / Light-Duty Vehicles</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Medium-Duty Vehicles</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Vehicle Capacity split shows how demand is distributed across vehicle capacity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366_207_605E5C.png"/>
          <p:cNvPicPr>
            <a:picLocks noChangeAspect="1"/>
          </p:cNvPicPr>
          <p:nvPr/>
        </p:nvPicPr>
        <p:blipFill>
          <a:blip r:embed="rId4"/>
          <a:stretch>
            <a:fillRect/>
          </a:stretch>
        </p:blipFill>
        <p:spPr>
          <a:xfrm>
            <a:off x="2259806" y="2286582"/>
            <a:ext cx="1628775" cy="361950"/>
          </a:xfrm>
          <a:prstGeom prst="rect">
            <a:avLst/>
          </a:prstGeom>
        </p:spPr>
      </p:pic>
      <p:pic>
        <p:nvPicPr>
          <p:cNvPr id="62" name="Picture 61" descr="616_398_605E5C.png"/>
          <p:cNvPicPr>
            <a:picLocks noChangeAspect="1"/>
          </p:cNvPicPr>
          <p:nvPr/>
        </p:nvPicPr>
        <p:blipFill>
          <a:blip r:embed="rId5"/>
          <a:stretch>
            <a:fillRect/>
          </a:stretch>
        </p:blipFill>
        <p:spPr>
          <a:xfrm>
            <a:off x="2259806" y="2779432"/>
            <a:ext cx="1628775" cy="361950"/>
          </a:xfrm>
          <a:prstGeom prst="rect">
            <a:avLst/>
          </a:prstGeom>
        </p:spPr>
      </p:pic>
      <p:pic>
        <p:nvPicPr>
          <p:cNvPr id="63" name="Picture 62" descr="5_3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236_471_605E5C.png"/>
          <p:cNvPicPr>
            <a:picLocks noChangeAspect="1"/>
          </p:cNvPicPr>
          <p:nvPr/>
        </p:nvPicPr>
        <p:blipFill>
          <a:blip r:embed="rId7"/>
          <a:stretch>
            <a:fillRect/>
          </a:stretch>
        </p:blipFill>
        <p:spPr>
          <a:xfrm>
            <a:off x="4788694" y="2286582"/>
            <a:ext cx="1628775" cy="361950"/>
          </a:xfrm>
          <a:prstGeom prst="rect">
            <a:avLst/>
          </a:prstGeom>
        </p:spPr>
      </p:pic>
      <p:pic>
        <p:nvPicPr>
          <p:cNvPr id="65" name="Picture 64" descr="265_834_605E5C.png"/>
          <p:cNvPicPr>
            <a:picLocks noChangeAspect="1"/>
          </p:cNvPicPr>
          <p:nvPr/>
        </p:nvPicPr>
        <p:blipFill>
          <a:blip r:embed="rId8"/>
          <a:stretch>
            <a:fillRect/>
          </a:stretch>
        </p:blipFill>
        <p:spPr>
          <a:xfrm>
            <a:off x="4788694" y="2779432"/>
            <a:ext cx="1628775" cy="361950"/>
          </a:xfrm>
          <a:prstGeom prst="rect">
            <a:avLst/>
          </a:prstGeom>
        </p:spPr>
      </p:pic>
      <p:pic>
        <p:nvPicPr>
          <p:cNvPr id="66" name="Picture 65" descr="1_2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231_419_605E5C.png"/>
          <p:cNvPicPr>
            <a:picLocks noChangeAspect="1"/>
          </p:cNvPicPr>
          <p:nvPr/>
        </p:nvPicPr>
        <p:blipFill>
          <a:blip r:embed="rId10"/>
          <a:stretch>
            <a:fillRect/>
          </a:stretch>
        </p:blipFill>
        <p:spPr>
          <a:xfrm>
            <a:off x="7317581" y="2286582"/>
            <a:ext cx="1628775" cy="361950"/>
          </a:xfrm>
          <a:prstGeom prst="rect">
            <a:avLst/>
          </a:prstGeom>
        </p:spPr>
      </p:pic>
      <p:pic>
        <p:nvPicPr>
          <p:cNvPr id="68" name="Picture 67" descr="438_643_605E5C.png"/>
          <p:cNvPicPr>
            <a:picLocks noChangeAspect="1"/>
          </p:cNvPicPr>
          <p:nvPr/>
        </p:nvPicPr>
        <p:blipFill>
          <a:blip r:embed="rId11"/>
          <a:stretch>
            <a:fillRect/>
          </a:stretch>
        </p:blipFill>
        <p:spPr>
          <a:xfrm>
            <a:off x="7317581" y="2779432"/>
            <a:ext cx="1628775" cy="361950"/>
          </a:xfrm>
          <a:prstGeom prst="rect">
            <a:avLst/>
          </a:prstGeom>
        </p:spPr>
      </p:pic>
      <p:pic>
        <p:nvPicPr>
          <p:cNvPr id="69" name="Picture 68" descr="6_6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125_204_605E5C.png"/>
          <p:cNvPicPr>
            <a:picLocks noChangeAspect="1"/>
          </p:cNvPicPr>
          <p:nvPr/>
        </p:nvPicPr>
        <p:blipFill>
          <a:blip r:embed="rId13"/>
          <a:stretch>
            <a:fillRect/>
          </a:stretch>
        </p:blipFill>
        <p:spPr>
          <a:xfrm>
            <a:off x="9846468" y="2286582"/>
            <a:ext cx="1628775" cy="361950"/>
          </a:xfrm>
          <a:prstGeom prst="rect">
            <a:avLst/>
          </a:prstGeom>
        </p:spPr>
      </p:pic>
      <p:pic>
        <p:nvPicPr>
          <p:cNvPr id="71" name="Picture 70" descr="210_824_605E5C.png"/>
          <p:cNvPicPr>
            <a:picLocks noChangeAspect="1"/>
          </p:cNvPicPr>
          <p:nvPr/>
        </p:nvPicPr>
        <p:blipFill>
          <a:blip r:embed="rId14"/>
          <a:stretch>
            <a:fillRect/>
          </a:stretch>
        </p:blipFill>
        <p:spPr>
          <a:xfrm>
            <a:off x="9846468" y="2779432"/>
            <a:ext cx="1628775" cy="361950"/>
          </a:xfrm>
          <a:prstGeom prst="rect">
            <a:avLst/>
          </a:prstGeom>
        </p:spPr>
      </p:pic>
      <p:pic>
        <p:nvPicPr>
          <p:cNvPr id="72" name="Picture 71" descr="5_3__605E5C.png"/>
          <p:cNvPicPr>
            <a:picLocks noChangeAspect="1"/>
          </p:cNvPicPr>
          <p:nvPr/>
        </p:nvPicPr>
        <p:blipFill>
          <a:blip r:embed="rId6"/>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5"/>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5"/>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5"/>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5"/>
          <a:stretch>
            <a:fillRect/>
          </a:stretch>
        </p:blipFill>
        <p:spPr>
          <a:xfrm>
            <a:off x="10567511" y="2827057"/>
            <a:ext cx="183356" cy="266700"/>
          </a:xfrm>
          <a:prstGeom prst="rect">
            <a:avLst/>
          </a:prstGeom>
        </p:spPr>
      </p:pic>
      <p:sp>
        <p:nvSpPr>
          <p:cNvPr id="77" name="TextBox 76"/>
          <p:cNvSpPr txBox="1"/>
          <p:nvPr/>
        </p:nvSpPr>
        <p:spPr>
          <a:xfrm>
            <a:off x="485775" y="4229437"/>
            <a:ext cx="2753965" cy="186689"/>
          </a:xfrm>
          <a:prstGeom prst="rect">
            <a:avLst/>
          </a:prstGeom>
          <a:noFill/>
        </p:spPr>
        <p:txBody>
          <a:bodyPr wrap="none" lIns="0" rIns="0" tIns="0" bIns="0">
            <a:spAutoFit/>
          </a:bodyPr>
          <a:lstStyle/>
          <a:p>
            <a:r>
              <a:rPr sz="1100" b="0">
                <a:solidFill>
                  <a:srgbClr val="2E2E2E"/>
                </a:solidFill>
                <a:latin typeface="Calibri"/>
              </a:rPr>
              <a:t>Among off-highway vehicle by vehicle capacity,</a:t>
            </a:r>
          </a:p>
        </p:txBody>
      </p:sp>
      <p:sp>
        <p:nvSpPr>
          <p:cNvPr id="78" name="TextBox 77"/>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compact / light-duty vehicles segment is expected</a:t>
            </a:r>
          </a:p>
        </p:txBody>
      </p:sp>
      <p:sp>
        <p:nvSpPr>
          <p:cNvPr id="79" name="TextBox 78"/>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80" name="Picture 79" descr="lock.png"/>
          <p:cNvPicPr>
            <a:picLocks noChangeAspect="1"/>
          </p:cNvPicPr>
          <p:nvPr/>
        </p:nvPicPr>
        <p:blipFill>
          <a:blip r:embed="rId15"/>
          <a:stretch>
            <a:fillRect/>
          </a:stretch>
        </p:blipFill>
        <p:spPr>
          <a:xfrm>
            <a:off x="2261170" y="4554938"/>
            <a:ext cx="128699" cy="187198"/>
          </a:xfrm>
          <a:prstGeom prst="rect">
            <a:avLst/>
          </a:prstGeom>
        </p:spPr>
      </p:pic>
      <p:sp>
        <p:nvSpPr>
          <p:cNvPr id="81" name="TextBox 80"/>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82" name="TextBox 81"/>
          <p:cNvSpPr txBox="1"/>
          <p:nvPr/>
        </p:nvSpPr>
        <p:spPr>
          <a:xfrm>
            <a:off x="485775" y="4732357"/>
            <a:ext cx="2908399" cy="186689"/>
          </a:xfrm>
          <a:prstGeom prst="rect">
            <a:avLst/>
          </a:prstGeom>
          <a:noFill/>
        </p:spPr>
        <p:txBody>
          <a:bodyPr wrap="none" lIns="0" rIns="0" tIns="0" bIns="0">
            <a:spAutoFit/>
          </a:bodyPr>
          <a:lstStyle/>
          <a:p>
            <a:r>
              <a:rPr sz="1100" b="0">
                <a:solidFill>
                  <a:srgbClr val="2E2E2E"/>
                </a:solidFill>
                <a:latin typeface="Calibri"/>
              </a:rPr>
              <a:t>forecast period. In terms of value share by vehicle</a:t>
            </a:r>
          </a:p>
        </p:txBody>
      </p:sp>
      <p:sp>
        <p:nvSpPr>
          <p:cNvPr id="83" name="TextBox 82"/>
          <p:cNvSpPr txBox="1"/>
          <p:nvPr/>
        </p:nvSpPr>
        <p:spPr>
          <a:xfrm>
            <a:off x="485775" y="4899997"/>
            <a:ext cx="2595165" cy="186689"/>
          </a:xfrm>
          <a:prstGeom prst="rect">
            <a:avLst/>
          </a:prstGeom>
          <a:noFill/>
        </p:spPr>
        <p:txBody>
          <a:bodyPr wrap="none" lIns="0" rIns="0" tIns="0" bIns="0">
            <a:spAutoFit/>
          </a:bodyPr>
          <a:lstStyle/>
          <a:p>
            <a:r>
              <a:rPr sz="1100" b="0">
                <a:solidFill>
                  <a:srgbClr val="2E2E2E"/>
                </a:solidFill>
                <a:latin typeface="Calibri"/>
              </a:rPr>
              <a:t>capacity, the heavy-duty vehicles segment is</a:t>
            </a:r>
          </a:p>
        </p:txBody>
      </p:sp>
      <p:sp>
        <p:nvSpPr>
          <p:cNvPr id="84" name="TextBox 83"/>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5" name="Picture 84" descr="lock.png"/>
          <p:cNvPicPr>
            <a:picLocks noChangeAspect="1"/>
          </p:cNvPicPr>
          <p:nvPr/>
        </p:nvPicPr>
        <p:blipFill>
          <a:blip r:embed="rId15"/>
          <a:stretch>
            <a:fillRect/>
          </a:stretch>
        </p:blipFill>
        <p:spPr>
          <a:xfrm>
            <a:off x="2900479" y="5057858"/>
            <a:ext cx="128699" cy="187198"/>
          </a:xfrm>
          <a:prstGeom prst="rect">
            <a:avLst/>
          </a:prstGeom>
        </p:spPr>
      </p:pic>
      <p:sp>
        <p:nvSpPr>
          <p:cNvPr id="86" name="TextBox 85"/>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7" name="TextBox 86"/>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8" name="Picture 87" descr="lock.png"/>
          <p:cNvPicPr>
            <a:picLocks noChangeAspect="1"/>
          </p:cNvPicPr>
          <p:nvPr/>
        </p:nvPicPr>
        <p:blipFill>
          <a:blip r:embed="rId15"/>
          <a:stretch>
            <a:fillRect/>
          </a:stretch>
        </p:blipFill>
        <p:spPr>
          <a:xfrm>
            <a:off x="1576057" y="5225498"/>
            <a:ext cx="128699" cy="187198"/>
          </a:xfrm>
          <a:prstGeom prst="rect">
            <a:avLst/>
          </a:prstGeom>
        </p:spPr>
      </p:pic>
      <p:sp>
        <p:nvSpPr>
          <p:cNvPr id="89" name="TextBox 88"/>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453209"/>
            <a:ext cx="2584797" cy="186689"/>
          </a:xfrm>
          <a:prstGeom prst="rect">
            <a:avLst/>
          </a:prstGeom>
          <a:noFill/>
        </p:spPr>
        <p:txBody>
          <a:bodyPr wrap="none" lIns="0" rIns="0" tIns="0" bIns="0">
            <a:spAutoFit/>
          </a:bodyPr>
          <a:lstStyle/>
          <a:p>
            <a:r>
              <a:rPr sz="1100" b="0">
                <a:solidFill>
                  <a:srgbClr val="2E2E2E"/>
                </a:solidFill>
                <a:latin typeface="Calibri"/>
              </a:rPr>
              <a:t>Heavy-duty vehicles segment is projected to</a:t>
            </a:r>
          </a:p>
        </p:txBody>
      </p:sp>
      <p:sp>
        <p:nvSpPr>
          <p:cNvPr id="91" name="TextBox 90"/>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92" name="Picture 91" descr="lock.png"/>
          <p:cNvPicPr>
            <a:picLocks noChangeAspect="1"/>
          </p:cNvPicPr>
          <p:nvPr/>
        </p:nvPicPr>
        <p:blipFill>
          <a:blip r:embed="rId15"/>
          <a:stretch>
            <a:fillRect/>
          </a:stretch>
        </p:blipFill>
        <p:spPr>
          <a:xfrm>
            <a:off x="946316" y="5611070"/>
            <a:ext cx="128699" cy="187198"/>
          </a:xfrm>
          <a:prstGeom prst="rect">
            <a:avLst/>
          </a:prstGeom>
        </p:spPr>
      </p:pic>
      <p:sp>
        <p:nvSpPr>
          <p:cNvPr id="93" name="TextBox 92"/>
          <p:cNvSpPr txBox="1"/>
          <p:nvPr/>
        </p:nvSpPr>
        <p:spPr>
          <a:xfrm>
            <a:off x="1113812" y="5620849"/>
            <a:ext cx="1780703" cy="186689"/>
          </a:xfrm>
          <a:prstGeom prst="rect">
            <a:avLst/>
          </a:prstGeom>
          <a:noFill/>
        </p:spPr>
        <p:txBody>
          <a:bodyPr wrap="none" lIns="0" rIns="0" tIns="0" bIns="0">
            <a:spAutoFit/>
          </a:bodyPr>
          <a:lstStyle/>
          <a:p>
            <a:r>
              <a:rPr sz="1100" b="0">
                <a:solidFill>
                  <a:srgbClr val="2E2E2E"/>
                </a:solidFill>
                <a:latin typeface="Calibri"/>
              </a:rPr>
              <a:t>X higher value than compact /</a:t>
            </a:r>
          </a:p>
        </p:txBody>
      </p:sp>
      <p:sp>
        <p:nvSpPr>
          <p:cNvPr id="94" name="TextBox 93"/>
          <p:cNvSpPr txBox="1"/>
          <p:nvPr/>
        </p:nvSpPr>
        <p:spPr>
          <a:xfrm>
            <a:off x="485775" y="5788489"/>
            <a:ext cx="2122859" cy="186689"/>
          </a:xfrm>
          <a:prstGeom prst="rect">
            <a:avLst/>
          </a:prstGeom>
          <a:noFill/>
        </p:spPr>
        <p:txBody>
          <a:bodyPr wrap="none" lIns="0" rIns="0" tIns="0" bIns="0">
            <a:spAutoFit/>
          </a:bodyPr>
          <a:lstStyle/>
          <a:p>
            <a:r>
              <a:rPr sz="1100" b="0">
                <a:solidFill>
                  <a:srgbClr val="2E2E2E"/>
                </a:solidFill>
                <a:latin typeface="Calibri"/>
              </a:rPr>
              <a:t>light-duty vehicles segment in 2036.</a:t>
            </a:r>
          </a:p>
        </p:txBody>
      </p:sp>
      <p:sp>
        <p:nvSpPr>
          <p:cNvPr id="95" name="TextBox 94"/>
          <p:cNvSpPr txBox="1"/>
          <p:nvPr/>
        </p:nvSpPr>
        <p:spPr>
          <a:xfrm>
            <a:off x="3838575" y="4229437"/>
            <a:ext cx="1393527" cy="186689"/>
          </a:xfrm>
          <a:prstGeom prst="rect">
            <a:avLst/>
          </a:prstGeom>
          <a:noFill/>
        </p:spPr>
        <p:txBody>
          <a:bodyPr wrap="none" lIns="0" rIns="0" tIns="0" bIns="0">
            <a:spAutoFit/>
          </a:bodyPr>
          <a:lstStyle/>
          <a:p>
            <a:r>
              <a:rPr sz="1100" b="0">
                <a:solidFill>
                  <a:srgbClr val="2E2E2E"/>
                </a:solidFill>
                <a:latin typeface="Calibri"/>
              </a:rPr>
              <a:t>● Heavy-Duty Vehicles:</a:t>
            </a:r>
          </a:p>
        </p:txBody>
      </p:sp>
      <p:pic>
        <p:nvPicPr>
          <p:cNvPr id="96" name="Picture 95" descr="lock.png"/>
          <p:cNvPicPr>
            <a:picLocks noChangeAspect="1"/>
          </p:cNvPicPr>
          <p:nvPr/>
        </p:nvPicPr>
        <p:blipFill>
          <a:blip r:embed="rId15"/>
          <a:stretch>
            <a:fillRect/>
          </a:stretch>
        </p:blipFill>
        <p:spPr>
          <a:xfrm>
            <a:off x="5180153" y="4219658"/>
            <a:ext cx="128699" cy="187198"/>
          </a:xfrm>
          <a:prstGeom prst="rect">
            <a:avLst/>
          </a:prstGeom>
        </p:spPr>
      </p:pic>
      <p:sp>
        <p:nvSpPr>
          <p:cNvPr id="97" name="TextBox 96"/>
          <p:cNvSpPr txBox="1"/>
          <p:nvPr/>
        </p:nvSpPr>
        <p:spPr>
          <a:xfrm>
            <a:off x="534764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5"/>
          <a:stretch>
            <a:fillRect/>
          </a:stretch>
        </p:blipFill>
        <p:spPr>
          <a:xfrm>
            <a:off x="6207099" y="4219658"/>
            <a:ext cx="128699" cy="187198"/>
          </a:xfrm>
          <a:prstGeom prst="rect">
            <a:avLst/>
          </a:prstGeom>
        </p:spPr>
      </p:pic>
      <p:sp>
        <p:nvSpPr>
          <p:cNvPr id="99" name="TextBox 98"/>
          <p:cNvSpPr txBox="1"/>
          <p:nvPr/>
        </p:nvSpPr>
        <p:spPr>
          <a:xfrm>
            <a:off x="6374595"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0" name="TextBox 9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1" name="TextBox 100"/>
          <p:cNvSpPr txBox="1"/>
          <p:nvPr/>
        </p:nvSpPr>
        <p:spPr>
          <a:xfrm>
            <a:off x="3838575" y="4615009"/>
            <a:ext cx="1720949" cy="186689"/>
          </a:xfrm>
          <a:prstGeom prst="rect">
            <a:avLst/>
          </a:prstGeom>
          <a:noFill/>
        </p:spPr>
        <p:txBody>
          <a:bodyPr wrap="none" lIns="0" rIns="0" tIns="0" bIns="0">
            <a:spAutoFit/>
          </a:bodyPr>
          <a:lstStyle/>
          <a:p>
            <a:r>
              <a:rPr sz="1100" b="0">
                <a:solidFill>
                  <a:srgbClr val="2E2E2E"/>
                </a:solidFill>
                <a:latin typeface="Calibri"/>
              </a:rPr>
              <a:t>● Ultra-Heavy-Duty Vehicles:</a:t>
            </a:r>
          </a:p>
        </p:txBody>
      </p:sp>
      <p:pic>
        <p:nvPicPr>
          <p:cNvPr id="102" name="Picture 101" descr="lock.png"/>
          <p:cNvPicPr>
            <a:picLocks noChangeAspect="1"/>
          </p:cNvPicPr>
          <p:nvPr/>
        </p:nvPicPr>
        <p:blipFill>
          <a:blip r:embed="rId15"/>
          <a:stretch>
            <a:fillRect/>
          </a:stretch>
        </p:blipFill>
        <p:spPr>
          <a:xfrm>
            <a:off x="5507575" y="4605230"/>
            <a:ext cx="128699" cy="187198"/>
          </a:xfrm>
          <a:prstGeom prst="rect">
            <a:avLst/>
          </a:prstGeom>
        </p:spPr>
      </p:pic>
      <p:sp>
        <p:nvSpPr>
          <p:cNvPr id="103" name="TextBox 102"/>
          <p:cNvSpPr txBox="1"/>
          <p:nvPr/>
        </p:nvSpPr>
        <p:spPr>
          <a:xfrm>
            <a:off x="5675071"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5"/>
          <a:stretch>
            <a:fillRect/>
          </a:stretch>
        </p:blipFill>
        <p:spPr>
          <a:xfrm>
            <a:off x="6534521" y="4605230"/>
            <a:ext cx="128699" cy="187198"/>
          </a:xfrm>
          <a:prstGeom prst="rect">
            <a:avLst/>
          </a:prstGeom>
        </p:spPr>
      </p:pic>
      <p:sp>
        <p:nvSpPr>
          <p:cNvPr id="105" name="TextBox 104"/>
          <p:cNvSpPr txBox="1"/>
          <p:nvPr/>
        </p:nvSpPr>
        <p:spPr>
          <a:xfrm>
            <a:off x="6702017"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6" name="TextBox 105"/>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07" name="TextBox 106"/>
          <p:cNvSpPr txBox="1"/>
          <p:nvPr/>
        </p:nvSpPr>
        <p:spPr>
          <a:xfrm>
            <a:off x="3838575" y="5000581"/>
            <a:ext cx="1944141" cy="186689"/>
          </a:xfrm>
          <a:prstGeom prst="rect">
            <a:avLst/>
          </a:prstGeom>
          <a:noFill/>
        </p:spPr>
        <p:txBody>
          <a:bodyPr wrap="none" lIns="0" rIns="0" tIns="0" bIns="0">
            <a:spAutoFit/>
          </a:bodyPr>
          <a:lstStyle/>
          <a:p>
            <a:r>
              <a:rPr sz="1100" b="0">
                <a:solidFill>
                  <a:srgbClr val="2E2E2E"/>
                </a:solidFill>
                <a:latin typeface="Calibri"/>
              </a:rPr>
              <a:t>● Compact / Light-Duty Vehicles:</a:t>
            </a:r>
          </a:p>
        </p:txBody>
      </p:sp>
      <p:pic>
        <p:nvPicPr>
          <p:cNvPr id="108" name="Picture 107" descr="lock.png"/>
          <p:cNvPicPr>
            <a:picLocks noChangeAspect="1"/>
          </p:cNvPicPr>
          <p:nvPr/>
        </p:nvPicPr>
        <p:blipFill>
          <a:blip r:embed="rId15"/>
          <a:stretch>
            <a:fillRect/>
          </a:stretch>
        </p:blipFill>
        <p:spPr>
          <a:xfrm>
            <a:off x="5730768" y="4990801"/>
            <a:ext cx="128699" cy="187198"/>
          </a:xfrm>
          <a:prstGeom prst="rect">
            <a:avLst/>
          </a:prstGeom>
        </p:spPr>
      </p:pic>
      <p:sp>
        <p:nvSpPr>
          <p:cNvPr id="109" name="TextBox 108"/>
          <p:cNvSpPr txBox="1"/>
          <p:nvPr/>
        </p:nvSpPr>
        <p:spPr>
          <a:xfrm>
            <a:off x="5898264"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5"/>
          <a:stretch>
            <a:fillRect/>
          </a:stretch>
        </p:blipFill>
        <p:spPr>
          <a:xfrm>
            <a:off x="6757714" y="4990801"/>
            <a:ext cx="128699" cy="187198"/>
          </a:xfrm>
          <a:prstGeom prst="rect">
            <a:avLst/>
          </a:prstGeom>
        </p:spPr>
      </p:pic>
      <p:sp>
        <p:nvSpPr>
          <p:cNvPr id="111" name="TextBox 110"/>
          <p:cNvSpPr txBox="1"/>
          <p:nvPr/>
        </p:nvSpPr>
        <p:spPr>
          <a:xfrm>
            <a:off x="6925210" y="500058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12" name="TextBox 111"/>
          <p:cNvSpPr txBox="1"/>
          <p:nvPr/>
        </p:nvSpPr>
        <p:spPr>
          <a:xfrm>
            <a:off x="3838575" y="516822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13" name="TextBox 112"/>
          <p:cNvSpPr txBox="1"/>
          <p:nvPr/>
        </p:nvSpPr>
        <p:spPr>
          <a:xfrm>
            <a:off x="3838575" y="5386153"/>
            <a:ext cx="1523404" cy="186689"/>
          </a:xfrm>
          <a:prstGeom prst="rect">
            <a:avLst/>
          </a:prstGeom>
          <a:noFill/>
        </p:spPr>
        <p:txBody>
          <a:bodyPr wrap="none" lIns="0" rIns="0" tIns="0" bIns="0">
            <a:spAutoFit/>
          </a:bodyPr>
          <a:lstStyle/>
          <a:p>
            <a:r>
              <a:rPr sz="1100" b="0">
                <a:solidFill>
                  <a:srgbClr val="2E2E2E"/>
                </a:solidFill>
                <a:latin typeface="Calibri"/>
              </a:rPr>
              <a:t>● Medium-Duty Vehicles:</a:t>
            </a:r>
          </a:p>
        </p:txBody>
      </p:sp>
      <p:pic>
        <p:nvPicPr>
          <p:cNvPr id="114" name="Picture 113" descr="lock.png"/>
          <p:cNvPicPr>
            <a:picLocks noChangeAspect="1"/>
          </p:cNvPicPr>
          <p:nvPr/>
        </p:nvPicPr>
        <p:blipFill>
          <a:blip r:embed="rId15"/>
          <a:stretch>
            <a:fillRect/>
          </a:stretch>
        </p:blipFill>
        <p:spPr>
          <a:xfrm>
            <a:off x="5310031" y="5376373"/>
            <a:ext cx="128699" cy="187198"/>
          </a:xfrm>
          <a:prstGeom prst="rect">
            <a:avLst/>
          </a:prstGeom>
        </p:spPr>
      </p:pic>
      <p:sp>
        <p:nvSpPr>
          <p:cNvPr id="115" name="TextBox 114"/>
          <p:cNvSpPr txBox="1"/>
          <p:nvPr/>
        </p:nvSpPr>
        <p:spPr>
          <a:xfrm>
            <a:off x="5477527"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5"/>
          <a:stretch>
            <a:fillRect/>
          </a:stretch>
        </p:blipFill>
        <p:spPr>
          <a:xfrm>
            <a:off x="6336977" y="5376373"/>
            <a:ext cx="128699" cy="187198"/>
          </a:xfrm>
          <a:prstGeom prst="rect">
            <a:avLst/>
          </a:prstGeom>
        </p:spPr>
      </p:pic>
      <p:sp>
        <p:nvSpPr>
          <p:cNvPr id="117" name="TextBox 116"/>
          <p:cNvSpPr txBox="1"/>
          <p:nvPr/>
        </p:nvSpPr>
        <p:spPr>
          <a:xfrm>
            <a:off x="6504473" y="538615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8524875" y="5842641"/>
            <a:ext cx="3132980" cy="194310"/>
          </a:xfrm>
          <a:prstGeom prst="rect">
            <a:avLst/>
          </a:prstGeom>
          <a:noFill/>
        </p:spPr>
        <p:txBody>
          <a:bodyPr wrap="none" lIns="0" rIns="0" tIns="0" bIns="0">
            <a:spAutoFit/>
          </a:bodyPr>
          <a:lstStyle/>
          <a:p>
            <a:r>
              <a:rPr sz="1150" b="1">
                <a:solidFill>
                  <a:srgbClr val="0B2E4A"/>
                </a:solidFill>
                <a:latin typeface="Calibri"/>
              </a:rPr>
              <a:t>The Vehicle Capacity segment is projected to grow</a:t>
            </a:r>
          </a:p>
        </p:txBody>
      </p:sp>
      <p:sp>
        <p:nvSpPr>
          <p:cNvPr id="119" name="TextBox 118"/>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20" name="Picture 119" descr="lock.png"/>
          <p:cNvPicPr>
            <a:picLocks noChangeAspect="1"/>
          </p:cNvPicPr>
          <p:nvPr/>
        </p:nvPicPr>
        <p:blipFill>
          <a:blip r:embed="rId15"/>
          <a:stretch>
            <a:fillRect/>
          </a:stretch>
        </p:blipFill>
        <p:spPr>
          <a:xfrm>
            <a:off x="9310118" y="6007677"/>
            <a:ext cx="134549" cy="195707"/>
          </a:xfrm>
          <a:prstGeom prst="rect">
            <a:avLst/>
          </a:prstGeom>
        </p:spPr>
      </p:pic>
      <p:sp>
        <p:nvSpPr>
          <p:cNvPr id="121" name="TextBox 120"/>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Vehicle Capacity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Vehicle Capacity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Capacity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Vehicle Capacity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366524" cy="186689"/>
          </a:xfrm>
          <a:prstGeom prst="rect">
            <a:avLst/>
          </a:prstGeom>
          <a:noFill/>
        </p:spPr>
        <p:txBody>
          <a:bodyPr wrap="none" lIns="0" rIns="0" tIns="0" bIns="0">
            <a:spAutoFit/>
          </a:bodyPr>
          <a:lstStyle/>
          <a:p>
            <a:r>
              <a:rPr sz="1100" b="0">
                <a:solidFill>
                  <a:srgbClr val="2E2E2E"/>
                </a:solidFill>
                <a:latin typeface="Calibri"/>
              </a:rPr>
              <a:t>Heavy-duty vehicles followed by compact / light-duty vehicles are expected to be the two most attractive vehicle capacity segments in the global off-highway vehicle market in terms of value over the</a:t>
            </a:r>
          </a:p>
        </p:txBody>
      </p:sp>
      <p:sp>
        <p:nvSpPr>
          <p:cNvPr id="18" name="TextBox 17"/>
          <p:cNvSpPr txBox="1"/>
          <p:nvPr/>
        </p:nvSpPr>
        <p:spPr>
          <a:xfrm>
            <a:off x="257175" y="5861685"/>
            <a:ext cx="5473459" cy="186689"/>
          </a:xfrm>
          <a:prstGeom prst="rect">
            <a:avLst/>
          </a:prstGeom>
          <a:noFill/>
        </p:spPr>
        <p:txBody>
          <a:bodyPr wrap="none" lIns="0" rIns="0" tIns="0" bIns="0">
            <a:spAutoFit/>
          </a:bodyPr>
          <a:lstStyle/>
          <a:p>
            <a:r>
              <a:rPr sz="1100" b="0">
                <a:solidFill>
                  <a:srgbClr val="2E2E2E"/>
                </a:solidFill>
                <a:latin typeface="Calibri"/>
              </a:rPr>
              <a:t>forecast period. Heavy-Duty vehicles and compact / Light-Duty vehicles exhibit a CAGR index of</a:t>
            </a:r>
          </a:p>
        </p:txBody>
      </p:sp>
      <p:pic>
        <p:nvPicPr>
          <p:cNvPr id="19" name="Picture 18" descr="lock.png"/>
          <p:cNvPicPr>
            <a:picLocks noChangeAspect="1"/>
          </p:cNvPicPr>
          <p:nvPr/>
        </p:nvPicPr>
        <p:blipFill>
          <a:blip r:embed="rId6"/>
          <a:stretch>
            <a:fillRect/>
          </a:stretch>
        </p:blipFill>
        <p:spPr>
          <a:xfrm>
            <a:off x="5678686" y="5851905"/>
            <a:ext cx="128699" cy="187198"/>
          </a:xfrm>
          <a:prstGeom prst="rect">
            <a:avLst/>
          </a:prstGeom>
        </p:spPr>
      </p:pic>
      <p:sp>
        <p:nvSpPr>
          <p:cNvPr id="20" name="TextBox 19"/>
          <p:cNvSpPr txBox="1"/>
          <p:nvPr/>
        </p:nvSpPr>
        <p:spPr>
          <a:xfrm>
            <a:off x="584618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6084076" y="5851905"/>
            <a:ext cx="128699" cy="187198"/>
          </a:xfrm>
          <a:prstGeom prst="rect">
            <a:avLst/>
          </a:prstGeom>
        </p:spPr>
      </p:pic>
      <p:sp>
        <p:nvSpPr>
          <p:cNvPr id="22" name="TextBox 21"/>
          <p:cNvSpPr txBox="1"/>
          <p:nvPr/>
        </p:nvSpPr>
        <p:spPr>
          <a:xfrm>
            <a:off x="625157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860545" y="5851905"/>
            <a:ext cx="128699" cy="187198"/>
          </a:xfrm>
          <a:prstGeom prst="rect">
            <a:avLst/>
          </a:prstGeom>
        </p:spPr>
      </p:pic>
      <p:sp>
        <p:nvSpPr>
          <p:cNvPr id="24" name="TextBox 23"/>
          <p:cNvSpPr txBox="1"/>
          <p:nvPr/>
        </p:nvSpPr>
        <p:spPr>
          <a:xfrm>
            <a:off x="802804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8265935" y="5851905"/>
            <a:ext cx="128699" cy="187198"/>
          </a:xfrm>
          <a:prstGeom prst="rect">
            <a:avLst/>
          </a:prstGeom>
        </p:spPr>
      </p:pic>
      <p:sp>
        <p:nvSpPr>
          <p:cNvPr id="26" name="TextBox 25"/>
          <p:cNvSpPr txBox="1"/>
          <p:nvPr/>
        </p:nvSpPr>
        <p:spPr>
          <a:xfrm>
            <a:off x="8433431"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987835" y="5851905"/>
            <a:ext cx="128699" cy="187198"/>
          </a:xfrm>
          <a:prstGeom prst="rect">
            <a:avLst/>
          </a:prstGeom>
        </p:spPr>
      </p:pic>
      <p:sp>
        <p:nvSpPr>
          <p:cNvPr id="28" name="TextBox 27"/>
          <p:cNvSpPr txBox="1"/>
          <p:nvPr/>
        </p:nvSpPr>
        <p:spPr>
          <a:xfrm>
            <a:off x="11155331" y="586168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29" name="TextBox 28"/>
          <p:cNvSpPr txBox="1"/>
          <p:nvPr/>
        </p:nvSpPr>
        <p:spPr>
          <a:xfrm>
            <a:off x="257175" y="6029325"/>
            <a:ext cx="11630355" cy="186689"/>
          </a:xfrm>
          <a:prstGeom prst="rect">
            <a:avLst/>
          </a:prstGeom>
          <a:noFill/>
        </p:spPr>
        <p:txBody>
          <a:bodyPr wrap="none" lIns="0" rIns="0" tIns="0" bIns="0">
            <a:spAutoFit/>
          </a:bodyPr>
          <a:lstStyle/>
          <a:p>
            <a:r>
              <a:rPr sz="1100" b="0">
                <a:solidFill>
                  <a:srgbClr val="2E2E2E"/>
                </a:solidFill>
                <a:latin typeface="Calibri"/>
              </a:rPr>
              <a:t>The ultra-heavy-duty vehicles segment is expected to be less attractive as compared to other segments over the forecast period, owing to its lower CAGR and incremental opportunity. Bubbles right of the</a:t>
            </a:r>
          </a:p>
        </p:txBody>
      </p:sp>
      <p:sp>
        <p:nvSpPr>
          <p:cNvPr id="30" name="TextBox 29"/>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Vehicle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Capacity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Compact / Light-Duty Vehicles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Medium-Duty Vehicles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Heavy-Duty Vehicles</a:t>
            </a:r>
          </a:p>
        </p:txBody>
      </p:sp>
      <p:graphicFrame>
        <p:nvGraphicFramePr>
          <p:cNvPr id="15" name="Chart 14"/>
          <p:cNvGraphicFramePr>
            <a:graphicFrameLocks noGrp="1"/>
          </p:cNvGraphicFramePr>
          <p:nvPr/>
        </p:nvGraphicFramePr>
        <p:xfrm>
          <a:off x="238125" y="4152900"/>
          <a:ext cx="5686425" cy="240982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Ultra-Heavy-Duty Vehicles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094826" y="5123309"/>
            <a:ext cx="263506" cy="383281"/>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152900"/>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Vehicle Capacity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Capacity, 2021–2036, highlighting the sub-segments driving growth</a:t>
            </a:r>
          </a:p>
        </p:txBody>
      </p:sp>
      <p:sp>
        <p:nvSpPr>
          <p:cNvPr id="7" name="Rounded Rectangle 6"/>
          <p:cNvSpPr/>
          <p:nvPr/>
        </p:nvSpPr>
        <p:spPr>
          <a:xfrm>
            <a:off x="142875" y="9810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Vehicle Capacity (US$ Mn)</a:t>
            </a:r>
          </a:p>
        </p:txBody>
      </p:sp>
      <p:graphicFrame>
        <p:nvGraphicFramePr>
          <p:cNvPr id="9" name="Table 8"/>
          <p:cNvGraphicFramePr>
            <a:graphicFrameLocks noGrp="1"/>
          </p:cNvGraphicFramePr>
          <p:nvPr/>
        </p:nvGraphicFramePr>
        <p:xfrm>
          <a:off x="152400" y="1238250"/>
          <a:ext cx="11890315" cy="1676402"/>
        </p:xfrm>
        <a:graphic>
          <a:graphicData uri="http://schemas.openxmlformats.org/drawingml/2006/table">
            <a:tbl>
              <a:tblPr>
                <a:tableStyleId>{5C22544A-7EE6-4342-B048-85BDC9FD1C3A}</a:tableStyleId>
              </a:tblPr>
              <a:tblGrid>
                <a:gridCol w="1937657"/>
                <a:gridCol w="526811"/>
                <a:gridCol w="526811"/>
                <a:gridCol w="526811"/>
                <a:gridCol w="526811"/>
                <a:gridCol w="526811"/>
                <a:gridCol w="526811"/>
                <a:gridCol w="636381"/>
                <a:gridCol w="636381"/>
                <a:gridCol w="636381"/>
                <a:gridCol w="636381"/>
                <a:gridCol w="636381"/>
                <a:gridCol w="636381"/>
                <a:gridCol w="636381"/>
                <a:gridCol w="636381"/>
                <a:gridCol w="636381"/>
                <a:gridCol w="636381"/>
                <a:gridCol w="427982"/>
              </a:tblGrid>
              <a:tr h="438912">
                <a:tc>
                  <a:txBody>
                    <a:bodyPr wrap="none"/>
                    <a:lstStyle/>
                    <a:p>
                      <a:pPr algn="l"/>
                      <a:r>
                        <a:rPr sz="1100" b="1">
                          <a:solidFill>
                            <a:srgbClr val="0E2A5C"/>
                          </a:solidFill>
                          <a:latin typeface="Calibri"/>
                        </a:rPr>
                        <a:t>Vehicle Capacity</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247498">
                <a:tc>
                  <a:txBody>
                    <a:bodyPr wrap="none"/>
                    <a:lstStyle/>
                    <a:p>
                      <a:pPr algn="l"/>
                      <a:r>
                        <a:rPr sz="1100" b="1">
                          <a:solidFill>
                            <a:srgbClr val="2E2E2E"/>
                          </a:solidFill>
                          <a:latin typeface="Calibri"/>
                        </a:rPr>
                        <a:t>Compact / Light-Duty 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498">
                <a:tc>
                  <a:txBody>
                    <a:bodyPr wrap="none"/>
                    <a:lstStyle/>
                    <a:p>
                      <a:pPr algn="l"/>
                      <a:r>
                        <a:rPr sz="1100" b="1">
                          <a:solidFill>
                            <a:srgbClr val="2E2E2E"/>
                          </a:solidFill>
                          <a:latin typeface="Calibri"/>
                        </a:rPr>
                        <a:t>Medium-Duty 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7498">
                <a:tc>
                  <a:txBody>
                    <a:bodyPr wrap="none"/>
                    <a:lstStyle/>
                    <a:p>
                      <a:pPr algn="l"/>
                      <a:r>
                        <a:rPr sz="1100" b="1">
                          <a:solidFill>
                            <a:srgbClr val="2E2E2E"/>
                          </a:solidFill>
                          <a:latin typeface="Calibri"/>
                        </a:rPr>
                        <a:t>Heavy-Duty 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498">
                <a:tc>
                  <a:txBody>
                    <a:bodyPr wrap="none"/>
                    <a:lstStyle/>
                    <a:p>
                      <a:pPr algn="l"/>
                      <a:r>
                        <a:rPr sz="1100" b="1">
                          <a:solidFill>
                            <a:srgbClr val="2E2E2E"/>
                          </a:solidFill>
                          <a:latin typeface="Calibri"/>
                        </a:rPr>
                        <a:t>Ultra-Heavy-Duty 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7498">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b="1">
                          <a:solidFill>
                            <a:srgbClr val="2E2E2E"/>
                          </a:solidFill>
                          <a:latin typeface="Calibri"/>
                        </a:rPr>
                        <a:t>959,300</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b="1">
                          <a:solidFill>
                            <a:srgbClr val="2E2E2E"/>
                          </a:solidFill>
                          <a:latin typeface="Calibri"/>
                        </a:rPr>
                        <a:t>1,531,700</a:t>
                      </a:r>
                      <a:endParaRPr sz="1100"/>
                    </a:p>
                  </a:txBody>
                  <a:tcPr marL="19050" marR="14288" marT="19050" marB="19050" anchor="ctr">
                    <a:solidFill>
                      <a:srgbClr val="EBF2F9"/>
                    </a:solidFill>
                  </a:tcPr>
                </a:tc>
                <a:tc>
                  <a:txBody>
                    <a:bodyPr wrap="none"/>
                    <a:lstStyle/>
                    <a:p>
                      <a:pPr algn="ctr"/>
                      <a:r>
                        <a:rPr sz="1100" b="1">
                          <a:solidFill>
                            <a:srgbClr val="2E2E2E"/>
                          </a:solidFill>
                          <a:latin typeface="Calibri"/>
                        </a:rPr>
                        <a:t>4.8%</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257550"/>
            <a:ext cx="11906250" cy="3371850"/>
          </a:xfrm>
          <a:prstGeom prst="roundRect">
            <a:avLst>
              <a:gd name="adj" fmla="val 22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Vehicle Capacity</a:t>
            </a:r>
          </a:p>
        </p:txBody>
      </p:sp>
      <p:sp>
        <p:nvSpPr>
          <p:cNvPr id="13" name="Rectangle 12"/>
          <p:cNvSpPr/>
          <p:nvPr/>
        </p:nvSpPr>
        <p:spPr>
          <a:xfrm>
            <a:off x="276225" y="3581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41776" y="2029206"/>
            <a:ext cx="366712" cy="533400"/>
          </a:xfrm>
          <a:prstGeom prst="rect">
            <a:avLst/>
          </a:prstGeom>
        </p:spPr>
      </p:pic>
      <p:sp>
        <p:nvSpPr>
          <p:cNvPr id="18" name="TextBox 17"/>
          <p:cNvSpPr txBox="1"/>
          <p:nvPr/>
        </p:nvSpPr>
        <p:spPr>
          <a:xfrm>
            <a:off x="276225" y="3676650"/>
            <a:ext cx="3188034" cy="194310"/>
          </a:xfrm>
          <a:prstGeom prst="rect">
            <a:avLst/>
          </a:prstGeom>
          <a:noFill/>
        </p:spPr>
        <p:txBody>
          <a:bodyPr wrap="none" lIns="0" rIns="0" tIns="0" bIns="0">
            <a:spAutoFit/>
          </a:bodyPr>
          <a:lstStyle/>
          <a:p>
            <a:r>
              <a:rPr sz="1150" b="0">
                <a:solidFill>
                  <a:srgbClr val="2E2E2E"/>
                </a:solidFill>
                <a:latin typeface="Calibri"/>
              </a:rPr>
              <a:t>Heavy-duty vehicles segment is projected to register</a:t>
            </a:r>
          </a:p>
        </p:txBody>
      </p:sp>
      <p:pic>
        <p:nvPicPr>
          <p:cNvPr id="19" name="Picture 18" descr="lock.png"/>
          <p:cNvPicPr>
            <a:picLocks noChangeAspect="1"/>
          </p:cNvPicPr>
          <p:nvPr/>
        </p:nvPicPr>
        <p:blipFill>
          <a:blip r:embed="rId4"/>
          <a:stretch>
            <a:fillRect/>
          </a:stretch>
        </p:blipFill>
        <p:spPr>
          <a:xfrm>
            <a:off x="3413413" y="3666426"/>
            <a:ext cx="134549" cy="195707"/>
          </a:xfrm>
          <a:prstGeom prst="rect">
            <a:avLst/>
          </a:prstGeom>
        </p:spPr>
      </p:pic>
      <p:sp>
        <p:nvSpPr>
          <p:cNvPr id="20" name="TextBox 19"/>
          <p:cNvSpPr txBox="1"/>
          <p:nvPr/>
        </p:nvSpPr>
        <p:spPr>
          <a:xfrm>
            <a:off x="3588523" y="3676650"/>
            <a:ext cx="8107808" cy="194310"/>
          </a:xfrm>
          <a:prstGeom prst="rect">
            <a:avLst/>
          </a:prstGeom>
          <a:noFill/>
        </p:spPr>
        <p:txBody>
          <a:bodyPr wrap="none" lIns="0" rIns="0" tIns="0" bIns="0">
            <a:spAutoFit/>
          </a:bodyPr>
          <a:lstStyle/>
          <a:p>
            <a:r>
              <a:rPr sz="1150" b="0">
                <a:solidFill>
                  <a:srgbClr val="2E2E2E"/>
                </a:solidFill>
                <a:latin typeface="Calibri"/>
              </a:rPr>
              <a:t>X higher value than compact / light-duty vehicles segment in 2036. Among off-highway vehicle by vehicle capacity, compact / light-duty</a:t>
            </a:r>
          </a:p>
        </p:txBody>
      </p:sp>
      <p:sp>
        <p:nvSpPr>
          <p:cNvPr id="21" name="TextBox 20"/>
          <p:cNvSpPr txBox="1"/>
          <p:nvPr/>
        </p:nvSpPr>
        <p:spPr>
          <a:xfrm>
            <a:off x="276225" y="3851910"/>
            <a:ext cx="3664105" cy="194310"/>
          </a:xfrm>
          <a:prstGeom prst="rect">
            <a:avLst/>
          </a:prstGeom>
          <a:noFill/>
        </p:spPr>
        <p:txBody>
          <a:bodyPr wrap="none" lIns="0" rIns="0" tIns="0" bIns="0">
            <a:spAutoFit/>
          </a:bodyPr>
          <a:lstStyle/>
          <a:p>
            <a:r>
              <a:rPr sz="1150" b="0">
                <a:solidFill>
                  <a:srgbClr val="2E2E2E"/>
                </a:solidFill>
                <a:latin typeface="Calibri"/>
              </a:rPr>
              <a:t>vehicles segment is expected to witness the highest CAGR of</a:t>
            </a:r>
          </a:p>
        </p:txBody>
      </p:sp>
      <p:pic>
        <p:nvPicPr>
          <p:cNvPr id="22" name="Picture 21" descr="lock.png"/>
          <p:cNvPicPr>
            <a:picLocks noChangeAspect="1"/>
          </p:cNvPicPr>
          <p:nvPr/>
        </p:nvPicPr>
        <p:blipFill>
          <a:blip r:embed="rId4"/>
          <a:stretch>
            <a:fillRect/>
          </a:stretch>
        </p:blipFill>
        <p:spPr>
          <a:xfrm>
            <a:off x="3889484" y="3841686"/>
            <a:ext cx="134549" cy="195707"/>
          </a:xfrm>
          <a:prstGeom prst="rect">
            <a:avLst/>
          </a:prstGeom>
        </p:spPr>
      </p:pic>
      <p:sp>
        <p:nvSpPr>
          <p:cNvPr id="23" name="TextBox 22"/>
          <p:cNvSpPr txBox="1"/>
          <p:nvPr/>
        </p:nvSpPr>
        <p:spPr>
          <a:xfrm>
            <a:off x="4064594" y="38519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079747"/>
            <a:ext cx="7261745" cy="194310"/>
          </a:xfrm>
          <a:prstGeom prst="rect">
            <a:avLst/>
          </a:prstGeom>
          <a:noFill/>
        </p:spPr>
        <p:txBody>
          <a:bodyPr wrap="none" lIns="0" rIns="0" tIns="0" bIns="0">
            <a:spAutoFit/>
          </a:bodyPr>
          <a:lstStyle/>
          <a:p>
            <a:r>
              <a:rPr sz="1150" b="0">
                <a:solidFill>
                  <a:srgbClr val="2E2E2E"/>
                </a:solidFill>
                <a:latin typeface="Calibri"/>
              </a:rPr>
              <a:t>In terms of value share by vehicle capacity, the heavy-duty vehicles segment is expected to dominate the market, gaining</a:t>
            </a:r>
          </a:p>
        </p:txBody>
      </p:sp>
      <p:pic>
        <p:nvPicPr>
          <p:cNvPr id="25" name="Picture 24" descr="lock.png"/>
          <p:cNvPicPr>
            <a:picLocks noChangeAspect="1"/>
          </p:cNvPicPr>
          <p:nvPr/>
        </p:nvPicPr>
        <p:blipFill>
          <a:blip r:embed="rId4"/>
          <a:stretch>
            <a:fillRect/>
          </a:stretch>
        </p:blipFill>
        <p:spPr>
          <a:xfrm>
            <a:off x="7487124" y="4069524"/>
            <a:ext cx="134549" cy="195707"/>
          </a:xfrm>
          <a:prstGeom prst="rect">
            <a:avLst/>
          </a:prstGeom>
        </p:spPr>
      </p:pic>
      <p:sp>
        <p:nvSpPr>
          <p:cNvPr id="26" name="TextBox 25"/>
          <p:cNvSpPr txBox="1"/>
          <p:nvPr/>
        </p:nvSpPr>
        <p:spPr>
          <a:xfrm>
            <a:off x="7662234" y="40797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057377" y="4069524"/>
            <a:ext cx="134549" cy="195707"/>
          </a:xfrm>
          <a:prstGeom prst="rect">
            <a:avLst/>
          </a:prstGeom>
        </p:spPr>
      </p:pic>
      <p:sp>
        <p:nvSpPr>
          <p:cNvPr id="28" name="TextBox 27"/>
          <p:cNvSpPr txBox="1"/>
          <p:nvPr/>
        </p:nvSpPr>
        <p:spPr>
          <a:xfrm>
            <a:off x="9232486" y="4079747"/>
            <a:ext cx="2223306" cy="194310"/>
          </a:xfrm>
          <a:prstGeom prst="rect">
            <a:avLst/>
          </a:prstGeom>
          <a:noFill/>
        </p:spPr>
        <p:txBody>
          <a:bodyPr wrap="none" lIns="0" rIns="0" tIns="0" bIns="0">
            <a:spAutoFit/>
          </a:bodyPr>
          <a:lstStyle/>
          <a:p>
            <a:r>
              <a:rPr sz="1150" b="0">
                <a:solidFill>
                  <a:srgbClr val="2E2E2E"/>
                </a:solidFill>
                <a:latin typeface="Calibri"/>
              </a:rPr>
              <a:t>share by 2036. The ultra-heavy-duty</a:t>
            </a:r>
          </a:p>
        </p:txBody>
      </p:sp>
      <p:sp>
        <p:nvSpPr>
          <p:cNvPr id="29" name="TextBox 28"/>
          <p:cNvSpPr txBox="1"/>
          <p:nvPr/>
        </p:nvSpPr>
        <p:spPr>
          <a:xfrm>
            <a:off x="276225" y="4255007"/>
            <a:ext cx="2233004" cy="194310"/>
          </a:xfrm>
          <a:prstGeom prst="rect">
            <a:avLst/>
          </a:prstGeom>
          <a:noFill/>
        </p:spPr>
        <p:txBody>
          <a:bodyPr wrap="none" lIns="0" rIns="0" tIns="0" bIns="0">
            <a:spAutoFit/>
          </a:bodyPr>
          <a:lstStyle/>
          <a:p>
            <a:r>
              <a:rPr sz="1150" b="0">
                <a:solidFill>
                  <a:srgbClr val="2E2E2E"/>
                </a:solidFill>
                <a:latin typeface="Calibri"/>
              </a:rPr>
              <a:t>vehicles segment is expected to lose</a:t>
            </a:r>
          </a:p>
        </p:txBody>
      </p:sp>
      <p:pic>
        <p:nvPicPr>
          <p:cNvPr id="30" name="Picture 29" descr="lock.png"/>
          <p:cNvPicPr>
            <a:picLocks noChangeAspect="1"/>
          </p:cNvPicPr>
          <p:nvPr/>
        </p:nvPicPr>
        <p:blipFill>
          <a:blip r:embed="rId4"/>
          <a:stretch>
            <a:fillRect/>
          </a:stretch>
        </p:blipFill>
        <p:spPr>
          <a:xfrm>
            <a:off x="2458383" y="4244784"/>
            <a:ext cx="134549" cy="195707"/>
          </a:xfrm>
          <a:prstGeom prst="rect">
            <a:avLst/>
          </a:prstGeom>
        </p:spPr>
      </p:pic>
      <p:sp>
        <p:nvSpPr>
          <p:cNvPr id="31" name="TextBox 30"/>
          <p:cNvSpPr txBox="1"/>
          <p:nvPr/>
        </p:nvSpPr>
        <p:spPr>
          <a:xfrm>
            <a:off x="2633492" y="42550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220997" y="4244784"/>
            <a:ext cx="134549" cy="195707"/>
          </a:xfrm>
          <a:prstGeom prst="rect">
            <a:avLst/>
          </a:prstGeom>
        </p:spPr>
      </p:pic>
      <p:sp>
        <p:nvSpPr>
          <p:cNvPr id="33" name="TextBox 32"/>
          <p:cNvSpPr txBox="1"/>
          <p:nvPr/>
        </p:nvSpPr>
        <p:spPr>
          <a:xfrm>
            <a:off x="5396106" y="42550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Vehicle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Vehicle Capacity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Vehicle Capacity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985929"/>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198116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90496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Medium-Duty Vehicles</a:t>
            </a:r>
          </a:p>
        </p:txBody>
      </p:sp>
      <p:sp>
        <p:nvSpPr>
          <p:cNvPr id="15" name="BPS Value 1"/>
          <p:cNvSpPr txBox="1"/>
          <p:nvPr/>
        </p:nvSpPr>
        <p:spPr>
          <a:xfrm>
            <a:off x="6896100" y="196687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928997" y="2697381"/>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69261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61641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Ultra-Heavy-Duty Vehicles</a:t>
            </a:r>
          </a:p>
        </p:txBody>
      </p:sp>
      <p:sp>
        <p:nvSpPr>
          <p:cNvPr id="19" name="BPS Value 2"/>
          <p:cNvSpPr txBox="1"/>
          <p:nvPr/>
        </p:nvSpPr>
        <p:spPr>
          <a:xfrm>
            <a:off x="6896100" y="267833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374887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74411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66791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Compact / Light-Duty Vehicles</a:t>
            </a:r>
          </a:p>
        </p:txBody>
      </p:sp>
      <p:sp>
        <p:nvSpPr>
          <p:cNvPr id="23" name="BPS Value 3"/>
          <p:cNvSpPr txBox="1"/>
          <p:nvPr/>
        </p:nvSpPr>
        <p:spPr>
          <a:xfrm>
            <a:off x="6896100" y="372982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5323611"/>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3188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524264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Heavy-Duty Vehicles</a:t>
            </a:r>
          </a:p>
        </p:txBody>
      </p:sp>
      <p:sp>
        <p:nvSpPr>
          <p:cNvPr id="27" name="BPS Value 4"/>
          <p:cNvSpPr txBox="1"/>
          <p:nvPr/>
        </p:nvSpPr>
        <p:spPr>
          <a:xfrm>
            <a:off x="6896100" y="530456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Vehicle Capacity</a:t>
            </a:r>
          </a:p>
        </p:txBody>
      </p:sp>
      <p:sp>
        <p:nvSpPr>
          <p:cNvPr id="30" name="Rectangle 29"/>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off-highway vehicle by vehicle capacity, compact / light-duty</a:t>
            </a:r>
          </a:p>
        </p:txBody>
      </p:sp>
      <p:sp>
        <p:nvSpPr>
          <p:cNvPr id="36" name="TextBox 35"/>
          <p:cNvSpPr txBox="1"/>
          <p:nvPr/>
        </p:nvSpPr>
        <p:spPr>
          <a:xfrm>
            <a:off x="7829550" y="1575435"/>
            <a:ext cx="3664105" cy="194310"/>
          </a:xfrm>
          <a:prstGeom prst="rect">
            <a:avLst/>
          </a:prstGeom>
          <a:noFill/>
        </p:spPr>
        <p:txBody>
          <a:bodyPr wrap="none" lIns="0" rIns="0" tIns="0" bIns="0">
            <a:spAutoFit/>
          </a:bodyPr>
          <a:lstStyle/>
          <a:p>
            <a:r>
              <a:rPr sz="1150" b="0">
                <a:solidFill>
                  <a:srgbClr val="2E2E2E"/>
                </a:solidFill>
                <a:latin typeface="Calibri"/>
              </a:rPr>
              <a:t>vehicles segment is expected to witness the highest CAGR of</a:t>
            </a:r>
          </a:p>
        </p:txBody>
      </p:sp>
      <p:pic>
        <p:nvPicPr>
          <p:cNvPr id="37" name="Picture 36" descr="lock.png"/>
          <p:cNvPicPr>
            <a:picLocks noChangeAspect="1"/>
          </p:cNvPicPr>
          <p:nvPr/>
        </p:nvPicPr>
        <p:blipFill>
          <a:blip r:embed="rId5"/>
          <a:stretch>
            <a:fillRect/>
          </a:stretch>
        </p:blipFill>
        <p:spPr>
          <a:xfrm>
            <a:off x="11442809" y="1565211"/>
            <a:ext cx="134549" cy="195707"/>
          </a:xfrm>
          <a:prstGeom prst="rect">
            <a:avLst/>
          </a:prstGeom>
        </p:spPr>
      </p:pic>
      <p:sp>
        <p:nvSpPr>
          <p:cNvPr id="38" name="TextBox 37"/>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vehicle capacity,</a:t>
            </a:r>
          </a:p>
        </p:txBody>
      </p:sp>
      <p:sp>
        <p:nvSpPr>
          <p:cNvPr id="39" name="TextBox 38"/>
          <p:cNvSpPr txBox="1"/>
          <p:nvPr/>
        </p:nvSpPr>
        <p:spPr>
          <a:xfrm>
            <a:off x="7829550" y="1925955"/>
            <a:ext cx="3726308" cy="194310"/>
          </a:xfrm>
          <a:prstGeom prst="rect">
            <a:avLst/>
          </a:prstGeom>
          <a:noFill/>
        </p:spPr>
        <p:txBody>
          <a:bodyPr wrap="none" lIns="0" rIns="0" tIns="0" bIns="0">
            <a:spAutoFit/>
          </a:bodyPr>
          <a:lstStyle/>
          <a:p>
            <a:r>
              <a:rPr sz="1150" b="0">
                <a:solidFill>
                  <a:srgbClr val="2E2E2E"/>
                </a:solidFill>
                <a:latin typeface="Calibri"/>
              </a:rPr>
              <a:t>the heavy-duty vehicles segment is expected to dominate the</a:t>
            </a:r>
          </a:p>
        </p:txBody>
      </p:sp>
      <p:sp>
        <p:nvSpPr>
          <p:cNvPr id="40" name="TextBox 39"/>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41" name="Picture 40" descr="lock.png"/>
          <p:cNvPicPr>
            <a:picLocks noChangeAspect="1"/>
          </p:cNvPicPr>
          <p:nvPr/>
        </p:nvPicPr>
        <p:blipFill>
          <a:blip r:embed="rId5"/>
          <a:stretch>
            <a:fillRect/>
          </a:stretch>
        </p:blipFill>
        <p:spPr>
          <a:xfrm>
            <a:off x="8778556" y="2090991"/>
            <a:ext cx="134549" cy="195707"/>
          </a:xfrm>
          <a:prstGeom prst="rect">
            <a:avLst/>
          </a:prstGeom>
        </p:spPr>
      </p:pic>
      <p:sp>
        <p:nvSpPr>
          <p:cNvPr id="42" name="TextBox 41"/>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10348808" y="2090991"/>
            <a:ext cx="134549" cy="195707"/>
          </a:xfrm>
          <a:prstGeom prst="rect">
            <a:avLst/>
          </a:prstGeom>
        </p:spPr>
      </p:pic>
      <p:sp>
        <p:nvSpPr>
          <p:cNvPr id="44" name="TextBox 43"/>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329053"/>
            <a:ext cx="3510086" cy="194310"/>
          </a:xfrm>
          <a:prstGeom prst="rect">
            <a:avLst/>
          </a:prstGeom>
          <a:noFill/>
        </p:spPr>
        <p:txBody>
          <a:bodyPr wrap="none" lIns="0" rIns="0" tIns="0" bIns="0">
            <a:spAutoFit/>
          </a:bodyPr>
          <a:lstStyle/>
          <a:p>
            <a:r>
              <a:rPr sz="1150" b="0">
                <a:solidFill>
                  <a:srgbClr val="2E2E2E"/>
                </a:solidFill>
                <a:latin typeface="Calibri"/>
              </a:rPr>
              <a:t>The ultra-heavy-duty vehicles segment is expected to lose</a:t>
            </a:r>
          </a:p>
        </p:txBody>
      </p:sp>
      <p:pic>
        <p:nvPicPr>
          <p:cNvPr id="46" name="Picture 45" descr="lock.png"/>
          <p:cNvPicPr>
            <a:picLocks noChangeAspect="1"/>
          </p:cNvPicPr>
          <p:nvPr/>
        </p:nvPicPr>
        <p:blipFill>
          <a:blip r:embed="rId5"/>
          <a:stretch>
            <a:fillRect/>
          </a:stretch>
        </p:blipFill>
        <p:spPr>
          <a:xfrm>
            <a:off x="11288790" y="2318829"/>
            <a:ext cx="134549" cy="195707"/>
          </a:xfrm>
          <a:prstGeom prst="rect">
            <a:avLst/>
          </a:prstGeom>
        </p:spPr>
      </p:pic>
      <p:sp>
        <p:nvSpPr>
          <p:cNvPr id="47" name="TextBox 46"/>
          <p:cNvSpPr txBox="1"/>
          <p:nvPr/>
        </p:nvSpPr>
        <p:spPr>
          <a:xfrm>
            <a:off x="11463899"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48" name="TextBox 47"/>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49" name="Picture 48" descr="lock.png"/>
          <p:cNvPicPr>
            <a:picLocks noChangeAspect="1"/>
          </p:cNvPicPr>
          <p:nvPr/>
        </p:nvPicPr>
        <p:blipFill>
          <a:blip r:embed="rId5"/>
          <a:stretch>
            <a:fillRect/>
          </a:stretch>
        </p:blipFill>
        <p:spPr>
          <a:xfrm>
            <a:off x="10161752" y="2494089"/>
            <a:ext cx="134549" cy="195707"/>
          </a:xfrm>
          <a:prstGeom prst="rect">
            <a:avLst/>
          </a:prstGeom>
        </p:spPr>
      </p:pic>
      <p:sp>
        <p:nvSpPr>
          <p:cNvPr id="50" name="TextBox 49"/>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Propulsion Configuration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Configuration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Propulsion Configuration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Propulsion Configuration,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Propulsion Configuration segment categorizes the market by propulsion configuration.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Wheeled Vehicles</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Semi-Tracked Vehicles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Tracked Vehicles</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Specialized Propulsion Conf…</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Propulsion Configuration split shows how demand is distributed across propulsion configuration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491_598_605E5C.png"/>
          <p:cNvPicPr>
            <a:picLocks noChangeAspect="1"/>
          </p:cNvPicPr>
          <p:nvPr/>
        </p:nvPicPr>
        <p:blipFill>
          <a:blip r:embed="rId4"/>
          <a:stretch>
            <a:fillRect/>
          </a:stretch>
        </p:blipFill>
        <p:spPr>
          <a:xfrm>
            <a:off x="2259806" y="2286582"/>
            <a:ext cx="1628775" cy="361950"/>
          </a:xfrm>
          <a:prstGeom prst="rect">
            <a:avLst/>
          </a:prstGeom>
        </p:spPr>
      </p:pic>
      <p:pic>
        <p:nvPicPr>
          <p:cNvPr id="62" name="Picture 61" descr="857_028_605E5C.png"/>
          <p:cNvPicPr>
            <a:picLocks noChangeAspect="1"/>
          </p:cNvPicPr>
          <p:nvPr/>
        </p:nvPicPr>
        <p:blipFill>
          <a:blip r:embed="rId5"/>
          <a:stretch>
            <a:fillRect/>
          </a:stretch>
        </p:blipFill>
        <p:spPr>
          <a:xfrm>
            <a:off x="2259806" y="2779432"/>
            <a:ext cx="1628775" cy="361950"/>
          </a:xfrm>
          <a:prstGeom prst="rect">
            <a:avLst/>
          </a:prstGeom>
        </p:spPr>
      </p:pic>
      <p:pic>
        <p:nvPicPr>
          <p:cNvPr id="63" name="Picture 62" descr="5_7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262_356_605E5C.png"/>
          <p:cNvPicPr>
            <a:picLocks noChangeAspect="1"/>
          </p:cNvPicPr>
          <p:nvPr/>
        </p:nvPicPr>
        <p:blipFill>
          <a:blip r:embed="rId7"/>
          <a:stretch>
            <a:fillRect/>
          </a:stretch>
        </p:blipFill>
        <p:spPr>
          <a:xfrm>
            <a:off x="4788694" y="2286582"/>
            <a:ext cx="1628775" cy="361950"/>
          </a:xfrm>
          <a:prstGeom prst="rect">
            <a:avLst/>
          </a:prstGeom>
        </p:spPr>
      </p:pic>
      <p:pic>
        <p:nvPicPr>
          <p:cNvPr id="65" name="Picture 64" descr="341_237_605E5C.png"/>
          <p:cNvPicPr>
            <a:picLocks noChangeAspect="1"/>
          </p:cNvPicPr>
          <p:nvPr/>
        </p:nvPicPr>
        <p:blipFill>
          <a:blip r:embed="rId8"/>
          <a:stretch>
            <a:fillRect/>
          </a:stretch>
        </p:blipFill>
        <p:spPr>
          <a:xfrm>
            <a:off x="4788694" y="2779432"/>
            <a:ext cx="1628775" cy="361950"/>
          </a:xfrm>
          <a:prstGeom prst="rect">
            <a:avLst/>
          </a:prstGeom>
        </p:spPr>
      </p:pic>
      <p:pic>
        <p:nvPicPr>
          <p:cNvPr id="66" name="Picture 65" descr="2_7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144_162_605E5C.png"/>
          <p:cNvPicPr>
            <a:picLocks noChangeAspect="1"/>
          </p:cNvPicPr>
          <p:nvPr/>
        </p:nvPicPr>
        <p:blipFill>
          <a:blip r:embed="rId10"/>
          <a:stretch>
            <a:fillRect/>
          </a:stretch>
        </p:blipFill>
        <p:spPr>
          <a:xfrm>
            <a:off x="7317581" y="2286582"/>
            <a:ext cx="1628775" cy="361950"/>
          </a:xfrm>
          <a:prstGeom prst="rect">
            <a:avLst/>
          </a:prstGeom>
        </p:spPr>
      </p:pic>
      <p:pic>
        <p:nvPicPr>
          <p:cNvPr id="68" name="Picture 67" descr="251_647_605E5C.png"/>
          <p:cNvPicPr>
            <a:picLocks noChangeAspect="1"/>
          </p:cNvPicPr>
          <p:nvPr/>
        </p:nvPicPr>
        <p:blipFill>
          <a:blip r:embed="rId11"/>
          <a:stretch>
            <a:fillRect/>
          </a:stretch>
        </p:blipFill>
        <p:spPr>
          <a:xfrm>
            <a:off x="7317581" y="2779432"/>
            <a:ext cx="1628775" cy="361950"/>
          </a:xfrm>
          <a:prstGeom prst="rect">
            <a:avLst/>
          </a:prstGeom>
        </p:spPr>
      </p:pic>
      <p:pic>
        <p:nvPicPr>
          <p:cNvPr id="69" name="Picture 68" descr="5_7__605E5C.png"/>
          <p:cNvPicPr>
            <a:picLocks noChangeAspect="1"/>
          </p:cNvPicPr>
          <p:nvPr/>
        </p:nvPicPr>
        <p:blipFill>
          <a:blip r:embed="rId6"/>
          <a:stretch>
            <a:fillRect/>
          </a:stretch>
        </p:blipFill>
        <p:spPr>
          <a:xfrm>
            <a:off x="7640751" y="3272281"/>
            <a:ext cx="982436" cy="361950"/>
          </a:xfrm>
          <a:prstGeom prst="rect">
            <a:avLst/>
          </a:prstGeom>
        </p:spPr>
      </p:pic>
      <p:pic>
        <p:nvPicPr>
          <p:cNvPr id="70" name="Picture 69" descr="61_185_605E5C.png"/>
          <p:cNvPicPr>
            <a:picLocks noChangeAspect="1"/>
          </p:cNvPicPr>
          <p:nvPr/>
        </p:nvPicPr>
        <p:blipFill>
          <a:blip r:embed="rId12"/>
          <a:stretch>
            <a:fillRect/>
          </a:stretch>
        </p:blipFill>
        <p:spPr>
          <a:xfrm>
            <a:off x="9956346" y="2286582"/>
            <a:ext cx="1409020" cy="361950"/>
          </a:xfrm>
          <a:prstGeom prst="rect">
            <a:avLst/>
          </a:prstGeom>
        </p:spPr>
      </p:pic>
      <p:pic>
        <p:nvPicPr>
          <p:cNvPr id="71" name="Picture 70" descr="81_787_605E5C.png"/>
          <p:cNvPicPr>
            <a:picLocks noChangeAspect="1"/>
          </p:cNvPicPr>
          <p:nvPr/>
        </p:nvPicPr>
        <p:blipFill>
          <a:blip r:embed="rId13"/>
          <a:stretch>
            <a:fillRect/>
          </a:stretch>
        </p:blipFill>
        <p:spPr>
          <a:xfrm>
            <a:off x="9956346" y="2779432"/>
            <a:ext cx="1409020" cy="361950"/>
          </a:xfrm>
          <a:prstGeom prst="rect">
            <a:avLst/>
          </a:prstGeom>
        </p:spPr>
      </p:pic>
      <p:pic>
        <p:nvPicPr>
          <p:cNvPr id="72" name="Picture 71" descr="2_9__605E5C.png"/>
          <p:cNvPicPr>
            <a:picLocks noChangeAspect="1"/>
          </p:cNvPicPr>
          <p:nvPr/>
        </p:nvPicPr>
        <p:blipFill>
          <a:blip r:embed="rId14"/>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5"/>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5"/>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5"/>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5"/>
          <a:stretch>
            <a:fillRect/>
          </a:stretch>
        </p:blipFill>
        <p:spPr>
          <a:xfrm>
            <a:off x="10567511" y="2827057"/>
            <a:ext cx="183356" cy="266700"/>
          </a:xfrm>
          <a:prstGeom prst="rect">
            <a:avLst/>
          </a:prstGeom>
        </p:spPr>
      </p:pic>
      <p:sp>
        <p:nvSpPr>
          <p:cNvPr id="77" name="TextBox 76"/>
          <p:cNvSpPr txBox="1"/>
          <p:nvPr/>
        </p:nvSpPr>
        <p:spPr>
          <a:xfrm>
            <a:off x="485775" y="4229437"/>
            <a:ext cx="2428999" cy="186689"/>
          </a:xfrm>
          <a:prstGeom prst="rect">
            <a:avLst/>
          </a:prstGeom>
          <a:noFill/>
        </p:spPr>
        <p:txBody>
          <a:bodyPr wrap="none" lIns="0" rIns="0" tIns="0" bIns="0">
            <a:spAutoFit/>
          </a:bodyPr>
          <a:lstStyle/>
          <a:p>
            <a:r>
              <a:rPr sz="1100" b="0">
                <a:solidFill>
                  <a:srgbClr val="2E2E2E"/>
                </a:solidFill>
                <a:latin typeface="Calibri"/>
              </a:rPr>
              <a:t>Among off-highway vehicle by propulsion</a:t>
            </a:r>
          </a:p>
        </p:txBody>
      </p:sp>
      <p:sp>
        <p:nvSpPr>
          <p:cNvPr id="78" name="TextBox 77"/>
          <p:cNvSpPr txBox="1"/>
          <p:nvPr/>
        </p:nvSpPr>
        <p:spPr>
          <a:xfrm>
            <a:off x="485775" y="4397077"/>
            <a:ext cx="2460104" cy="186689"/>
          </a:xfrm>
          <a:prstGeom prst="rect">
            <a:avLst/>
          </a:prstGeom>
          <a:noFill/>
        </p:spPr>
        <p:txBody>
          <a:bodyPr wrap="none" lIns="0" rIns="0" tIns="0" bIns="0">
            <a:spAutoFit/>
          </a:bodyPr>
          <a:lstStyle/>
          <a:p>
            <a:r>
              <a:rPr sz="1100" b="0">
                <a:solidFill>
                  <a:srgbClr val="2E2E2E"/>
                </a:solidFill>
                <a:latin typeface="Calibri"/>
              </a:rPr>
              <a:t>configuration, tracked vehicles segment is</a:t>
            </a:r>
          </a:p>
        </p:txBody>
      </p:sp>
      <p:sp>
        <p:nvSpPr>
          <p:cNvPr id="79" name="TextBox 7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80" name="Picture 79" descr="lock.png"/>
          <p:cNvPicPr>
            <a:picLocks noChangeAspect="1"/>
          </p:cNvPicPr>
          <p:nvPr/>
        </p:nvPicPr>
        <p:blipFill>
          <a:blip r:embed="rId15"/>
          <a:stretch>
            <a:fillRect/>
          </a:stretch>
        </p:blipFill>
        <p:spPr>
          <a:xfrm>
            <a:off x="2815059" y="4554938"/>
            <a:ext cx="128699" cy="187198"/>
          </a:xfrm>
          <a:prstGeom prst="rect">
            <a:avLst/>
          </a:prstGeom>
        </p:spPr>
      </p:pic>
      <p:sp>
        <p:nvSpPr>
          <p:cNvPr id="81" name="TextBox 8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2" name="TextBox 8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83" name="TextBox 82"/>
          <p:cNvSpPr txBox="1"/>
          <p:nvPr/>
        </p:nvSpPr>
        <p:spPr>
          <a:xfrm>
            <a:off x="485775" y="4899997"/>
            <a:ext cx="2739776" cy="186689"/>
          </a:xfrm>
          <a:prstGeom prst="rect">
            <a:avLst/>
          </a:prstGeom>
          <a:noFill/>
        </p:spPr>
        <p:txBody>
          <a:bodyPr wrap="none" lIns="0" rIns="0" tIns="0" bIns="0">
            <a:spAutoFit/>
          </a:bodyPr>
          <a:lstStyle/>
          <a:p>
            <a:r>
              <a:rPr sz="1100" b="0">
                <a:solidFill>
                  <a:srgbClr val="2E2E2E"/>
                </a:solidFill>
                <a:latin typeface="Calibri"/>
              </a:rPr>
              <a:t>propulsion configuration, the wheeled vehicles</a:t>
            </a:r>
          </a:p>
        </p:txBody>
      </p:sp>
      <p:sp>
        <p:nvSpPr>
          <p:cNvPr id="84" name="TextBox 83"/>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85" name="TextBox 84"/>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86" name="Picture 85" descr="lock.png"/>
          <p:cNvPicPr>
            <a:picLocks noChangeAspect="1"/>
          </p:cNvPicPr>
          <p:nvPr/>
        </p:nvPicPr>
        <p:blipFill>
          <a:blip r:embed="rId15"/>
          <a:stretch>
            <a:fillRect/>
          </a:stretch>
        </p:blipFill>
        <p:spPr>
          <a:xfrm>
            <a:off x="919576" y="5225498"/>
            <a:ext cx="128699" cy="187198"/>
          </a:xfrm>
          <a:prstGeom prst="rect">
            <a:avLst/>
          </a:prstGeom>
        </p:spPr>
      </p:pic>
      <p:sp>
        <p:nvSpPr>
          <p:cNvPr id="87" name="TextBox 86"/>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8" name="Picture 87" descr="lock.png"/>
          <p:cNvPicPr>
            <a:picLocks noChangeAspect="1"/>
          </p:cNvPicPr>
          <p:nvPr/>
        </p:nvPicPr>
        <p:blipFill>
          <a:blip r:embed="rId15"/>
          <a:stretch>
            <a:fillRect/>
          </a:stretch>
        </p:blipFill>
        <p:spPr>
          <a:xfrm>
            <a:off x="2421557" y="5225498"/>
            <a:ext cx="128699" cy="187198"/>
          </a:xfrm>
          <a:prstGeom prst="rect">
            <a:avLst/>
          </a:prstGeom>
        </p:spPr>
      </p:pic>
      <p:sp>
        <p:nvSpPr>
          <p:cNvPr id="89" name="TextBox 88"/>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90" name="TextBox 89"/>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91" name="TextBox 90"/>
          <p:cNvSpPr txBox="1"/>
          <p:nvPr/>
        </p:nvSpPr>
        <p:spPr>
          <a:xfrm>
            <a:off x="485775" y="5620849"/>
            <a:ext cx="2914650" cy="186689"/>
          </a:xfrm>
          <a:prstGeom prst="rect">
            <a:avLst/>
          </a:prstGeom>
          <a:noFill/>
        </p:spPr>
        <p:txBody>
          <a:bodyPr wrap="none" lIns="0" rIns="0" tIns="0" bIns="0">
            <a:spAutoFit/>
          </a:bodyPr>
          <a:lstStyle/>
          <a:p>
            <a:r>
              <a:rPr sz="1100" b="0">
                <a:solidFill>
                  <a:srgbClr val="2E2E2E"/>
                </a:solidFill>
                <a:latin typeface="Calibri"/>
              </a:rPr>
              <a:t>Wheeled vehicles segment is projected to register</a:t>
            </a:r>
          </a:p>
        </p:txBody>
      </p:sp>
      <p:pic>
        <p:nvPicPr>
          <p:cNvPr id="92" name="Picture 91" descr="lock.png"/>
          <p:cNvPicPr>
            <a:picLocks noChangeAspect="1"/>
          </p:cNvPicPr>
          <p:nvPr/>
        </p:nvPicPr>
        <p:blipFill>
          <a:blip r:embed="rId15"/>
          <a:stretch>
            <a:fillRect/>
          </a:stretch>
        </p:blipFill>
        <p:spPr>
          <a:xfrm>
            <a:off x="472307" y="5778710"/>
            <a:ext cx="128699" cy="187198"/>
          </a:xfrm>
          <a:prstGeom prst="rect">
            <a:avLst/>
          </a:prstGeom>
        </p:spPr>
      </p:pic>
      <p:sp>
        <p:nvSpPr>
          <p:cNvPr id="93" name="TextBox 92"/>
          <p:cNvSpPr txBox="1"/>
          <p:nvPr/>
        </p:nvSpPr>
        <p:spPr>
          <a:xfrm>
            <a:off x="639803" y="5788489"/>
            <a:ext cx="2428726" cy="186689"/>
          </a:xfrm>
          <a:prstGeom prst="rect">
            <a:avLst/>
          </a:prstGeom>
          <a:noFill/>
        </p:spPr>
        <p:txBody>
          <a:bodyPr wrap="none" lIns="0" rIns="0" tIns="0" bIns="0">
            <a:spAutoFit/>
          </a:bodyPr>
          <a:lstStyle/>
          <a:p>
            <a:r>
              <a:rPr sz="1100" b="0">
                <a:solidFill>
                  <a:srgbClr val="2E2E2E"/>
                </a:solidFill>
                <a:latin typeface="Calibri"/>
              </a:rPr>
              <a:t>X higher value than semi-tracked vehicles</a:t>
            </a:r>
          </a:p>
        </p:txBody>
      </p:sp>
      <p:sp>
        <p:nvSpPr>
          <p:cNvPr id="94" name="TextBox 93"/>
          <p:cNvSpPr txBox="1"/>
          <p:nvPr/>
        </p:nvSpPr>
        <p:spPr>
          <a:xfrm>
            <a:off x="485775" y="595612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95" name="TextBox 94"/>
          <p:cNvSpPr txBox="1"/>
          <p:nvPr/>
        </p:nvSpPr>
        <p:spPr>
          <a:xfrm>
            <a:off x="3838575" y="4229437"/>
            <a:ext cx="1243458" cy="186689"/>
          </a:xfrm>
          <a:prstGeom prst="rect">
            <a:avLst/>
          </a:prstGeom>
          <a:noFill/>
        </p:spPr>
        <p:txBody>
          <a:bodyPr wrap="none" lIns="0" rIns="0" tIns="0" bIns="0">
            <a:spAutoFit/>
          </a:bodyPr>
          <a:lstStyle/>
          <a:p>
            <a:r>
              <a:rPr sz="1100" b="0">
                <a:solidFill>
                  <a:srgbClr val="2E2E2E"/>
                </a:solidFill>
                <a:latin typeface="Calibri"/>
              </a:rPr>
              <a:t>● Wheeled Vehicles:</a:t>
            </a:r>
          </a:p>
        </p:txBody>
      </p:sp>
      <p:pic>
        <p:nvPicPr>
          <p:cNvPr id="96" name="Picture 95" descr="lock.png"/>
          <p:cNvPicPr>
            <a:picLocks noChangeAspect="1"/>
          </p:cNvPicPr>
          <p:nvPr/>
        </p:nvPicPr>
        <p:blipFill>
          <a:blip r:embed="rId15"/>
          <a:stretch>
            <a:fillRect/>
          </a:stretch>
        </p:blipFill>
        <p:spPr>
          <a:xfrm>
            <a:off x="5030085" y="4219658"/>
            <a:ext cx="128699" cy="187198"/>
          </a:xfrm>
          <a:prstGeom prst="rect">
            <a:avLst/>
          </a:prstGeom>
        </p:spPr>
      </p:pic>
      <p:sp>
        <p:nvSpPr>
          <p:cNvPr id="97" name="TextBox 96"/>
          <p:cNvSpPr txBox="1"/>
          <p:nvPr/>
        </p:nvSpPr>
        <p:spPr>
          <a:xfrm>
            <a:off x="519758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5"/>
          <a:stretch>
            <a:fillRect/>
          </a:stretch>
        </p:blipFill>
        <p:spPr>
          <a:xfrm>
            <a:off x="6057031" y="4219658"/>
            <a:ext cx="128699" cy="187198"/>
          </a:xfrm>
          <a:prstGeom prst="rect">
            <a:avLst/>
          </a:prstGeom>
        </p:spPr>
      </p:pic>
      <p:sp>
        <p:nvSpPr>
          <p:cNvPr id="99" name="TextBox 98"/>
          <p:cNvSpPr txBox="1"/>
          <p:nvPr/>
        </p:nvSpPr>
        <p:spPr>
          <a:xfrm>
            <a:off x="6224527"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0" name="TextBox 99"/>
          <p:cNvSpPr txBox="1"/>
          <p:nvPr/>
        </p:nvSpPr>
        <p:spPr>
          <a:xfrm>
            <a:off x="3838575" y="4447369"/>
            <a:ext cx="1501303" cy="186689"/>
          </a:xfrm>
          <a:prstGeom prst="rect">
            <a:avLst/>
          </a:prstGeom>
          <a:noFill/>
        </p:spPr>
        <p:txBody>
          <a:bodyPr wrap="none" lIns="0" rIns="0" tIns="0" bIns="0">
            <a:spAutoFit/>
          </a:bodyPr>
          <a:lstStyle/>
          <a:p>
            <a:r>
              <a:rPr sz="1100" b="0">
                <a:solidFill>
                  <a:srgbClr val="2E2E2E"/>
                </a:solidFill>
                <a:latin typeface="Calibri"/>
              </a:rPr>
              <a:t>● Semi-Tracked Vehicles:</a:t>
            </a:r>
          </a:p>
        </p:txBody>
      </p:sp>
      <p:pic>
        <p:nvPicPr>
          <p:cNvPr id="101" name="Picture 100" descr="lock.png"/>
          <p:cNvPicPr>
            <a:picLocks noChangeAspect="1"/>
          </p:cNvPicPr>
          <p:nvPr/>
        </p:nvPicPr>
        <p:blipFill>
          <a:blip r:embed="rId15"/>
          <a:stretch>
            <a:fillRect/>
          </a:stretch>
        </p:blipFill>
        <p:spPr>
          <a:xfrm>
            <a:off x="5287930" y="4437590"/>
            <a:ext cx="128699" cy="187198"/>
          </a:xfrm>
          <a:prstGeom prst="rect">
            <a:avLst/>
          </a:prstGeom>
        </p:spPr>
      </p:pic>
      <p:sp>
        <p:nvSpPr>
          <p:cNvPr id="102" name="TextBox 101"/>
          <p:cNvSpPr txBox="1"/>
          <p:nvPr/>
        </p:nvSpPr>
        <p:spPr>
          <a:xfrm>
            <a:off x="5455426"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5"/>
          <a:stretch>
            <a:fillRect/>
          </a:stretch>
        </p:blipFill>
        <p:spPr>
          <a:xfrm>
            <a:off x="6314876" y="4437590"/>
            <a:ext cx="128699" cy="187198"/>
          </a:xfrm>
          <a:prstGeom prst="rect">
            <a:avLst/>
          </a:prstGeom>
        </p:spPr>
      </p:pic>
      <p:sp>
        <p:nvSpPr>
          <p:cNvPr id="104" name="TextBox 103"/>
          <p:cNvSpPr txBox="1"/>
          <p:nvPr/>
        </p:nvSpPr>
        <p:spPr>
          <a:xfrm>
            <a:off x="6482372"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3838575" y="4665301"/>
            <a:ext cx="1180975" cy="186689"/>
          </a:xfrm>
          <a:prstGeom prst="rect">
            <a:avLst/>
          </a:prstGeom>
          <a:noFill/>
        </p:spPr>
        <p:txBody>
          <a:bodyPr wrap="none" lIns="0" rIns="0" tIns="0" bIns="0">
            <a:spAutoFit/>
          </a:bodyPr>
          <a:lstStyle/>
          <a:p>
            <a:r>
              <a:rPr sz="1100" b="0">
                <a:solidFill>
                  <a:srgbClr val="2E2E2E"/>
                </a:solidFill>
                <a:latin typeface="Calibri"/>
              </a:rPr>
              <a:t>● Tracked Vehicles:</a:t>
            </a:r>
          </a:p>
        </p:txBody>
      </p:sp>
      <p:pic>
        <p:nvPicPr>
          <p:cNvPr id="106" name="Picture 105" descr="lock.png"/>
          <p:cNvPicPr>
            <a:picLocks noChangeAspect="1"/>
          </p:cNvPicPr>
          <p:nvPr/>
        </p:nvPicPr>
        <p:blipFill>
          <a:blip r:embed="rId15"/>
          <a:stretch>
            <a:fillRect/>
          </a:stretch>
        </p:blipFill>
        <p:spPr>
          <a:xfrm>
            <a:off x="4967602" y="4655522"/>
            <a:ext cx="128699" cy="187198"/>
          </a:xfrm>
          <a:prstGeom prst="rect">
            <a:avLst/>
          </a:prstGeom>
        </p:spPr>
      </p:pic>
      <p:sp>
        <p:nvSpPr>
          <p:cNvPr id="107" name="TextBox 106"/>
          <p:cNvSpPr txBox="1"/>
          <p:nvPr/>
        </p:nvSpPr>
        <p:spPr>
          <a:xfrm>
            <a:off x="513509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8" name="Picture 107" descr="lock.png"/>
          <p:cNvPicPr>
            <a:picLocks noChangeAspect="1"/>
          </p:cNvPicPr>
          <p:nvPr/>
        </p:nvPicPr>
        <p:blipFill>
          <a:blip r:embed="rId15"/>
          <a:stretch>
            <a:fillRect/>
          </a:stretch>
        </p:blipFill>
        <p:spPr>
          <a:xfrm>
            <a:off x="5994548" y="4655522"/>
            <a:ext cx="128699" cy="187198"/>
          </a:xfrm>
          <a:prstGeom prst="rect">
            <a:avLst/>
          </a:prstGeom>
        </p:spPr>
      </p:pic>
      <p:sp>
        <p:nvSpPr>
          <p:cNvPr id="109" name="TextBox 108"/>
          <p:cNvSpPr txBox="1"/>
          <p:nvPr/>
        </p:nvSpPr>
        <p:spPr>
          <a:xfrm>
            <a:off x="6162044"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10" name="TextBox 109"/>
          <p:cNvSpPr txBox="1"/>
          <p:nvPr/>
        </p:nvSpPr>
        <p:spPr>
          <a:xfrm>
            <a:off x="3838575" y="4883233"/>
            <a:ext cx="2781796" cy="186689"/>
          </a:xfrm>
          <a:prstGeom prst="rect">
            <a:avLst/>
          </a:prstGeom>
          <a:noFill/>
        </p:spPr>
        <p:txBody>
          <a:bodyPr wrap="none" lIns="0" rIns="0" tIns="0" bIns="0">
            <a:spAutoFit/>
          </a:bodyPr>
          <a:lstStyle/>
          <a:p>
            <a:r>
              <a:rPr sz="1100" b="1">
                <a:solidFill>
                  <a:srgbClr val="6F3CC2"/>
                </a:solidFill>
                <a:latin typeface="Calibri"/>
              </a:rPr>
              <a:t>● Other Specialized Propulsion Configurations:</a:t>
            </a:r>
          </a:p>
        </p:txBody>
      </p:sp>
      <p:pic>
        <p:nvPicPr>
          <p:cNvPr id="111" name="Picture 110" descr="lock.png"/>
          <p:cNvPicPr>
            <a:picLocks noChangeAspect="1"/>
          </p:cNvPicPr>
          <p:nvPr/>
        </p:nvPicPr>
        <p:blipFill>
          <a:blip r:embed="rId15"/>
          <a:stretch>
            <a:fillRect/>
          </a:stretch>
        </p:blipFill>
        <p:spPr>
          <a:xfrm>
            <a:off x="6568422" y="4873454"/>
            <a:ext cx="128699" cy="187198"/>
          </a:xfrm>
          <a:prstGeom prst="rect">
            <a:avLst/>
          </a:prstGeom>
        </p:spPr>
      </p:pic>
      <p:sp>
        <p:nvSpPr>
          <p:cNvPr id="112" name="TextBox 111"/>
          <p:cNvSpPr txBox="1"/>
          <p:nvPr/>
        </p:nvSpPr>
        <p:spPr>
          <a:xfrm>
            <a:off x="6735918" y="4883233"/>
            <a:ext cx="926405" cy="186689"/>
          </a:xfrm>
          <a:prstGeom prst="rect">
            <a:avLst/>
          </a:prstGeom>
          <a:noFill/>
        </p:spPr>
        <p:txBody>
          <a:bodyPr wrap="none" lIns="0" rIns="0" tIns="0" bIns="0">
            <a:spAutoFit/>
          </a:bodyPr>
          <a:lstStyle/>
          <a:p>
            <a:r>
              <a:rPr sz="1100" b="1">
                <a:solidFill>
                  <a:srgbClr val="6F3CC2"/>
                </a:solidFill>
                <a:latin typeface="Calibri"/>
              </a:rPr>
              <a:t>of 2026 value ·</a:t>
            </a:r>
          </a:p>
        </p:txBody>
      </p:sp>
      <p:pic>
        <p:nvPicPr>
          <p:cNvPr id="113" name="Picture 112" descr="lock.png"/>
          <p:cNvPicPr>
            <a:picLocks noChangeAspect="1"/>
          </p:cNvPicPr>
          <p:nvPr/>
        </p:nvPicPr>
        <p:blipFill>
          <a:blip r:embed="rId15"/>
          <a:stretch>
            <a:fillRect/>
          </a:stretch>
        </p:blipFill>
        <p:spPr>
          <a:xfrm>
            <a:off x="7610375" y="4873454"/>
            <a:ext cx="128699" cy="187198"/>
          </a:xfrm>
          <a:prstGeom prst="rect">
            <a:avLst/>
          </a:prstGeom>
        </p:spPr>
      </p:pic>
      <p:sp>
        <p:nvSpPr>
          <p:cNvPr id="114" name="TextBox 113"/>
          <p:cNvSpPr txBox="1"/>
          <p:nvPr/>
        </p:nvSpPr>
        <p:spPr>
          <a:xfrm>
            <a:off x="3838575" y="5050873"/>
            <a:ext cx="1284633" cy="186689"/>
          </a:xfrm>
          <a:prstGeom prst="rect">
            <a:avLst/>
          </a:prstGeom>
          <a:noFill/>
        </p:spPr>
        <p:txBody>
          <a:bodyPr wrap="none" lIns="0" rIns="0" tIns="0" bIns="0">
            <a:spAutoFit/>
          </a:bodyPr>
          <a:lstStyle/>
          <a:p>
            <a:r>
              <a:rPr sz="1100" b="1">
                <a:solidFill>
                  <a:srgbClr val="6F3CC2"/>
                </a:solidFill>
                <a:latin typeface="Calibri"/>
              </a:rPr>
              <a:t>CAGR serves a niche.</a:t>
            </a:r>
          </a:p>
        </p:txBody>
      </p:sp>
      <p:sp>
        <p:nvSpPr>
          <p:cNvPr id="115" name="TextBox 114"/>
          <p:cNvSpPr txBox="1"/>
          <p:nvPr/>
        </p:nvSpPr>
        <p:spPr>
          <a:xfrm>
            <a:off x="8524875" y="5842641"/>
            <a:ext cx="3150666" cy="194310"/>
          </a:xfrm>
          <a:prstGeom prst="rect">
            <a:avLst/>
          </a:prstGeom>
          <a:noFill/>
        </p:spPr>
        <p:txBody>
          <a:bodyPr wrap="none" lIns="0" rIns="0" tIns="0" bIns="0">
            <a:spAutoFit/>
          </a:bodyPr>
          <a:lstStyle/>
          <a:p>
            <a:r>
              <a:rPr sz="1150" b="1">
                <a:solidFill>
                  <a:srgbClr val="0B2E4A"/>
                </a:solidFill>
                <a:latin typeface="Calibri"/>
              </a:rPr>
              <a:t>The Propulsion Configuration segment is projected</a:t>
            </a:r>
          </a:p>
        </p:txBody>
      </p:sp>
      <p:sp>
        <p:nvSpPr>
          <p:cNvPr id="116" name="TextBox 115"/>
          <p:cNvSpPr txBox="1"/>
          <p:nvPr/>
        </p:nvSpPr>
        <p:spPr>
          <a:xfrm>
            <a:off x="8524875" y="6017901"/>
            <a:ext cx="1340133" cy="194310"/>
          </a:xfrm>
          <a:prstGeom prst="rect">
            <a:avLst/>
          </a:prstGeom>
          <a:noFill/>
        </p:spPr>
        <p:txBody>
          <a:bodyPr wrap="none" lIns="0" rIns="0" tIns="0" bIns="0">
            <a:spAutoFit/>
          </a:bodyPr>
          <a:lstStyle/>
          <a:p>
            <a:r>
              <a:rPr sz="1150" b="1">
                <a:solidFill>
                  <a:srgbClr val="0B2E4A"/>
                </a:solidFill>
                <a:latin typeface="Calibri"/>
              </a:rPr>
              <a:t>to grow at a CAGR of</a:t>
            </a:r>
          </a:p>
        </p:txBody>
      </p:sp>
      <p:pic>
        <p:nvPicPr>
          <p:cNvPr id="117" name="Picture 116" descr="lock.png"/>
          <p:cNvPicPr>
            <a:picLocks noChangeAspect="1"/>
          </p:cNvPicPr>
          <p:nvPr/>
        </p:nvPicPr>
        <p:blipFill>
          <a:blip r:embed="rId15"/>
          <a:stretch>
            <a:fillRect/>
          </a:stretch>
        </p:blipFill>
        <p:spPr>
          <a:xfrm>
            <a:off x="9814162" y="6007677"/>
            <a:ext cx="134549" cy="195707"/>
          </a:xfrm>
          <a:prstGeom prst="rect">
            <a:avLst/>
          </a:prstGeom>
        </p:spPr>
      </p:pic>
      <p:sp>
        <p:nvSpPr>
          <p:cNvPr id="118" name="TextBox 117"/>
          <p:cNvSpPr txBox="1"/>
          <p:nvPr/>
        </p:nvSpPr>
        <p:spPr>
          <a:xfrm>
            <a:off x="9989271"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Propulsion Configuration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Propulsion Configuration mix within each region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Propulsion Configuration mix within each region (share of 2036 value) · row label = region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Propulsion Configuration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96402" cy="186689"/>
          </a:xfrm>
          <a:prstGeom prst="rect">
            <a:avLst/>
          </a:prstGeom>
          <a:noFill/>
        </p:spPr>
        <p:txBody>
          <a:bodyPr wrap="none" lIns="0" rIns="0" tIns="0" bIns="0">
            <a:spAutoFit/>
          </a:bodyPr>
          <a:lstStyle/>
          <a:p>
            <a:r>
              <a:rPr sz="1100" b="0">
                <a:solidFill>
                  <a:srgbClr val="2E2E2E"/>
                </a:solidFill>
                <a:latin typeface="Calibri"/>
              </a:rPr>
              <a:t>Wheeled vehicles followed by tracked vehicles are expected to be the two most attractive propulsion configuration segments in the global off-highway vehicle market in terms of value over the forecast</a:t>
            </a:r>
          </a:p>
        </p:txBody>
      </p:sp>
      <p:sp>
        <p:nvSpPr>
          <p:cNvPr id="18" name="TextBox 17"/>
          <p:cNvSpPr txBox="1"/>
          <p:nvPr/>
        </p:nvSpPr>
        <p:spPr>
          <a:xfrm>
            <a:off x="257175" y="5861685"/>
            <a:ext cx="4060361" cy="186689"/>
          </a:xfrm>
          <a:prstGeom prst="rect">
            <a:avLst/>
          </a:prstGeom>
          <a:noFill/>
        </p:spPr>
        <p:txBody>
          <a:bodyPr wrap="none" lIns="0" rIns="0" tIns="0" bIns="0">
            <a:spAutoFit/>
          </a:bodyPr>
          <a:lstStyle/>
          <a:p>
            <a:r>
              <a:rPr sz="1100" b="0">
                <a:solidFill>
                  <a:srgbClr val="2E2E2E"/>
                </a:solidFill>
                <a:latin typeface="Calibri"/>
              </a:rPr>
              <a:t>period. Wheeled vehicles and tracked vehicles exhibit a CAGR index of</a:t>
            </a:r>
          </a:p>
        </p:txBody>
      </p:sp>
      <p:pic>
        <p:nvPicPr>
          <p:cNvPr id="19" name="Picture 18" descr="lock.png"/>
          <p:cNvPicPr>
            <a:picLocks noChangeAspect="1"/>
          </p:cNvPicPr>
          <p:nvPr/>
        </p:nvPicPr>
        <p:blipFill>
          <a:blip r:embed="rId6"/>
          <a:stretch>
            <a:fillRect/>
          </a:stretch>
        </p:blipFill>
        <p:spPr>
          <a:xfrm>
            <a:off x="4265588" y="5851905"/>
            <a:ext cx="128699" cy="187198"/>
          </a:xfrm>
          <a:prstGeom prst="rect">
            <a:avLst/>
          </a:prstGeom>
        </p:spPr>
      </p:pic>
      <p:sp>
        <p:nvSpPr>
          <p:cNvPr id="20" name="TextBox 19"/>
          <p:cNvSpPr txBox="1"/>
          <p:nvPr/>
        </p:nvSpPr>
        <p:spPr>
          <a:xfrm>
            <a:off x="443308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4670978" y="5851905"/>
            <a:ext cx="128699" cy="187198"/>
          </a:xfrm>
          <a:prstGeom prst="rect">
            <a:avLst/>
          </a:prstGeom>
        </p:spPr>
      </p:pic>
      <p:sp>
        <p:nvSpPr>
          <p:cNvPr id="22" name="TextBox 21"/>
          <p:cNvSpPr txBox="1"/>
          <p:nvPr/>
        </p:nvSpPr>
        <p:spPr>
          <a:xfrm>
            <a:off x="483847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6447447" y="5851905"/>
            <a:ext cx="128699" cy="187198"/>
          </a:xfrm>
          <a:prstGeom prst="rect">
            <a:avLst/>
          </a:prstGeom>
        </p:spPr>
      </p:pic>
      <p:sp>
        <p:nvSpPr>
          <p:cNvPr id="24" name="TextBox 23"/>
          <p:cNvSpPr txBox="1"/>
          <p:nvPr/>
        </p:nvSpPr>
        <p:spPr>
          <a:xfrm>
            <a:off x="661494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6852837" y="5851905"/>
            <a:ext cx="128699" cy="187198"/>
          </a:xfrm>
          <a:prstGeom prst="rect">
            <a:avLst/>
          </a:prstGeom>
        </p:spPr>
      </p:pic>
      <p:sp>
        <p:nvSpPr>
          <p:cNvPr id="26" name="TextBox 25"/>
          <p:cNvSpPr txBox="1"/>
          <p:nvPr/>
        </p:nvSpPr>
        <p:spPr>
          <a:xfrm>
            <a:off x="7020333"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9574737" y="5851905"/>
            <a:ext cx="128699" cy="187198"/>
          </a:xfrm>
          <a:prstGeom prst="rect">
            <a:avLst/>
          </a:prstGeom>
        </p:spPr>
      </p:pic>
      <p:sp>
        <p:nvSpPr>
          <p:cNvPr id="28" name="TextBox 27"/>
          <p:cNvSpPr txBox="1"/>
          <p:nvPr/>
        </p:nvSpPr>
        <p:spPr>
          <a:xfrm>
            <a:off x="9742233" y="5861685"/>
            <a:ext cx="1348233" cy="186689"/>
          </a:xfrm>
          <a:prstGeom prst="rect">
            <a:avLst/>
          </a:prstGeom>
          <a:noFill/>
        </p:spPr>
        <p:txBody>
          <a:bodyPr wrap="none" lIns="0" rIns="0" tIns="0" bIns="0">
            <a:spAutoFit/>
          </a:bodyPr>
          <a:lstStyle/>
          <a:p>
            <a:r>
              <a:rPr sz="1100" b="0">
                <a:solidFill>
                  <a:srgbClr val="2E2E2E"/>
                </a:solidFill>
                <a:latin typeface="Calibri"/>
              </a:rPr>
              <a:t>. The other specialized</a:t>
            </a:r>
          </a:p>
        </p:txBody>
      </p:sp>
      <p:sp>
        <p:nvSpPr>
          <p:cNvPr id="29" name="TextBox 28"/>
          <p:cNvSpPr txBox="1"/>
          <p:nvPr/>
        </p:nvSpPr>
        <p:spPr>
          <a:xfrm>
            <a:off x="257175" y="6029325"/>
            <a:ext cx="11412073" cy="186689"/>
          </a:xfrm>
          <a:prstGeom prst="rect">
            <a:avLst/>
          </a:prstGeom>
          <a:noFill/>
        </p:spPr>
        <p:txBody>
          <a:bodyPr wrap="none" lIns="0" rIns="0" tIns="0" bIns="0">
            <a:spAutoFit/>
          </a:bodyPr>
          <a:lstStyle/>
          <a:p>
            <a:r>
              <a:rPr sz="1100" b="0">
                <a:solidFill>
                  <a:srgbClr val="2E2E2E"/>
                </a:solidFill>
                <a:latin typeface="Calibri"/>
              </a:rPr>
              <a:t>propulsion configurations segment is expected to be less attractive as compared to other segments over the forecast period, owing to its lower CAGR and incremental opportunity. Bubbles right of the</a:t>
            </a:r>
          </a:p>
        </p:txBody>
      </p:sp>
      <p:sp>
        <p:nvSpPr>
          <p:cNvPr id="30" name="TextBox 29"/>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Propulsion Configuration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Propulsion Configuration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Wheeled Vehicles</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Tracked Vehicles</a:t>
            </a:r>
          </a:p>
        </p:txBody>
      </p:sp>
      <p:graphicFrame>
        <p:nvGraphicFramePr>
          <p:cNvPr id="12" name="Chart 11"/>
          <p:cNvGraphicFramePr>
            <a:graphicFrameLocks noGrp="1"/>
          </p:cNvGraphicFramePr>
          <p:nvPr/>
        </p:nvGraphicFramePr>
        <p:xfrm>
          <a:off x="6267450" y="1266825"/>
          <a:ext cx="5686425" cy="24098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Semi-Tracked Vehicles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Specialized Propulsion Configurations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094826" y="2237234"/>
            <a:ext cx="263506" cy="383281"/>
          </a:xfrm>
          <a:prstGeom prst="rect">
            <a:avLst/>
          </a:prstGeom>
        </p:spPr>
      </p:pic>
      <p:pic>
        <p:nvPicPr>
          <p:cNvPr id="22" name="Picture 21" descr="lock.png"/>
          <p:cNvPicPr>
            <a:picLocks noChangeAspect="1"/>
          </p:cNvPicPr>
          <p:nvPr/>
        </p:nvPicPr>
        <p:blipFill>
          <a:blip r:embed="rId8"/>
          <a:stretch>
            <a:fillRect/>
          </a:stretch>
        </p:blipFill>
        <p:spPr>
          <a:xfrm>
            <a:off x="9124151" y="2237234"/>
            <a:ext cx="263506" cy="383281"/>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Propulsion Configuration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Propulsion Configuration, 2021–2036, highlighting the sub-segments driving growth</a:t>
            </a:r>
          </a:p>
        </p:txBody>
      </p:sp>
      <p:sp>
        <p:nvSpPr>
          <p:cNvPr id="7" name="Rounded Rectangle 6"/>
          <p:cNvSpPr/>
          <p:nvPr/>
        </p:nvSpPr>
        <p:spPr>
          <a:xfrm>
            <a:off x="142875" y="981075"/>
            <a:ext cx="11906250" cy="2333625"/>
          </a:xfrm>
          <a:prstGeom prst="roundRect">
            <a:avLst>
              <a:gd name="adj" fmla="val 32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Propulsion Configuration (US$ Mn)</a:t>
            </a:r>
          </a:p>
        </p:txBody>
      </p:sp>
      <p:graphicFrame>
        <p:nvGraphicFramePr>
          <p:cNvPr id="9" name="Table 8"/>
          <p:cNvGraphicFramePr>
            <a:graphicFrameLocks noGrp="1"/>
          </p:cNvGraphicFramePr>
          <p:nvPr/>
        </p:nvGraphicFramePr>
        <p:xfrm>
          <a:off x="152400" y="1238250"/>
          <a:ext cx="12037194" cy="1866898"/>
        </p:xfrm>
        <a:graphic>
          <a:graphicData uri="http://schemas.openxmlformats.org/drawingml/2006/table">
            <a:tbl>
              <a:tblPr>
                <a:tableStyleId>{5C22544A-7EE6-4342-B048-85BDC9FD1C3A}</a:tableStyleId>
              </a:tblPr>
              <a:tblGrid>
                <a:gridCol w="5734058"/>
                <a:gridCol w="327011"/>
                <a:gridCol w="327011"/>
                <a:gridCol w="327011"/>
                <a:gridCol w="327011"/>
                <a:gridCol w="327011"/>
                <a:gridCol w="327011"/>
                <a:gridCol w="395025"/>
                <a:gridCol w="395025"/>
                <a:gridCol w="395025"/>
                <a:gridCol w="395025"/>
                <a:gridCol w="395025"/>
                <a:gridCol w="395025"/>
                <a:gridCol w="395025"/>
                <a:gridCol w="395025"/>
                <a:gridCol w="395025"/>
                <a:gridCol w="395025"/>
                <a:gridCol w="390820"/>
              </a:tblGrid>
              <a:tr h="438912">
                <a:tc>
                  <a:txBody>
                    <a:bodyPr wrap="none"/>
                    <a:lstStyle/>
                    <a:p>
                      <a:pPr algn="l"/>
                      <a:r>
                        <a:rPr sz="1100" b="1">
                          <a:solidFill>
                            <a:srgbClr val="0E2A5C"/>
                          </a:solidFill>
                          <a:latin typeface="Calibri"/>
                        </a:rPr>
                        <a:t>Propulsion Configuration</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247040">
                <a:tc>
                  <a:txBody>
                    <a:bodyPr wrap="none"/>
                    <a:lstStyle/>
                    <a:p>
                      <a:pPr algn="l"/>
                      <a:r>
                        <a:rPr sz="1100" b="1">
                          <a:solidFill>
                            <a:srgbClr val="2E2E2E"/>
                          </a:solidFill>
                          <a:latin typeface="Calibri"/>
                        </a:rPr>
                        <a:t>Wheeled 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040">
                <a:tc>
                  <a:txBody>
                    <a:bodyPr wrap="none"/>
                    <a:lstStyle/>
                    <a:p>
                      <a:pPr algn="l"/>
                      <a:r>
                        <a:rPr sz="1100" b="1">
                          <a:solidFill>
                            <a:srgbClr val="2E2E2E"/>
                          </a:solidFill>
                          <a:latin typeface="Calibri"/>
                        </a:rPr>
                        <a:t>Tracked 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7040">
                <a:tc>
                  <a:txBody>
                    <a:bodyPr wrap="none"/>
                    <a:lstStyle/>
                    <a:p>
                      <a:pPr algn="l"/>
                      <a:r>
                        <a:rPr sz="1100" b="1">
                          <a:solidFill>
                            <a:srgbClr val="2E2E2E"/>
                          </a:solidFill>
                          <a:latin typeface="Calibri"/>
                        </a:rPr>
                        <a:t>Semi-Tracked 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26">
                <a:tc>
                  <a:txBody>
                    <a:bodyPr wrap="none"/>
                    <a:lstStyle/>
                    <a:p>
                      <a:pPr algn="l"/>
                      <a:r>
                        <a:rPr sz="1100" b="1">
                          <a:solidFill>
                            <a:srgbClr val="2E2E2E"/>
                          </a:solidFill>
                          <a:latin typeface="Calibri"/>
                        </a:rPr>
                        <a:t>Other Specialized Propulsion</a:t>
                      </a:r>
                      <a:endParaRPr sz="1100"/>
                    </a:p>
                    <a:p>
                      <a:pPr algn="l"/>
                      <a:r>
                        <a:rPr sz="1100" b="1">
                          <a:solidFill>
                            <a:srgbClr val="2E2E2E"/>
                          </a:solidFill>
                          <a:latin typeface="Calibri"/>
                        </a:rPr>
                        <a:t>Configurations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247040">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b="1">
                          <a:solidFill>
                            <a:srgbClr val="2E2E2E"/>
                          </a:solidFill>
                          <a:latin typeface="Calibri"/>
                        </a:rPr>
                        <a:t>959,300</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c>
                  <a:txBody>
                    <a:bodyPr wrap="none"/>
                    <a:lstStyle/>
                    <a:p>
                      <a:pPr algn="ctr"/>
                      <a:r>
                        <a:rPr sz="1100" b="1">
                          <a:solidFill>
                            <a:srgbClr val="2E2E2E"/>
                          </a:solidFill>
                          <a:latin typeface="Calibri"/>
                        </a:rPr>
                        <a:t>1,531,700</a:t>
                      </a:r>
                      <a:endParaRPr sz="1100"/>
                    </a:p>
                  </a:txBody>
                  <a:tcPr marL="19050" marR="14288" marT="19050" marB="19050" anchor="ctr">
                    <a:solidFill>
                      <a:srgbClr val="EBF2F9"/>
                    </a:solidFill>
                  </a:tcPr>
                </a:tc>
                <a:tc>
                  <a:txBody>
                    <a:bodyPr wrap="none"/>
                    <a:lstStyle/>
                    <a:p>
                      <a:pPr algn="ctr"/>
                      <a:r>
                        <a:rPr sz="1100" b="1">
                          <a:solidFill>
                            <a:srgbClr val="2E2E2E"/>
                          </a:solidFill>
                          <a:latin typeface="Calibri"/>
                        </a:rPr>
                        <a:t>4.8%</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3114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448050"/>
            <a:ext cx="1190625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533775"/>
            <a:ext cx="11639550" cy="209550"/>
          </a:xfrm>
          <a:prstGeom prst="rect">
            <a:avLst/>
          </a:prstGeom>
          <a:noFill/>
        </p:spPr>
        <p:txBody>
          <a:bodyPr wrap="square" lIns="0" rIns="19050" tIns="9525" bIns="9525">
            <a:spAutoFit/>
          </a:bodyPr>
          <a:lstStyle/>
          <a:p>
            <a:pPr algn="l"/>
            <a:r>
              <a:rPr sz="1300" b="1">
                <a:solidFill>
                  <a:srgbClr val="0E2A5C"/>
                </a:solidFill>
                <a:latin typeface="Calibri"/>
              </a:rPr>
              <a:t>Global Value Analysis, By Propulsion Configuration</a:t>
            </a:r>
          </a:p>
        </p:txBody>
      </p:sp>
      <p:sp>
        <p:nvSpPr>
          <p:cNvPr id="13" name="Rectangle 12"/>
          <p:cNvSpPr/>
          <p:nvPr/>
        </p:nvSpPr>
        <p:spPr>
          <a:xfrm>
            <a:off x="276225" y="37719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857625"/>
            <a:ext cx="11639550" cy="2695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60357" y="2124454"/>
            <a:ext cx="366712" cy="533400"/>
          </a:xfrm>
          <a:prstGeom prst="rect">
            <a:avLst/>
          </a:prstGeom>
        </p:spPr>
      </p:pic>
      <p:sp>
        <p:nvSpPr>
          <p:cNvPr id="18" name="TextBox 17"/>
          <p:cNvSpPr txBox="1"/>
          <p:nvPr/>
        </p:nvSpPr>
        <p:spPr>
          <a:xfrm>
            <a:off x="276225" y="3867150"/>
            <a:ext cx="3044266" cy="194310"/>
          </a:xfrm>
          <a:prstGeom prst="rect">
            <a:avLst/>
          </a:prstGeom>
          <a:noFill/>
        </p:spPr>
        <p:txBody>
          <a:bodyPr wrap="none" lIns="0" rIns="0" tIns="0" bIns="0">
            <a:spAutoFit/>
          </a:bodyPr>
          <a:lstStyle/>
          <a:p>
            <a:r>
              <a:rPr sz="1150" b="0">
                <a:solidFill>
                  <a:srgbClr val="2E2E2E"/>
                </a:solidFill>
                <a:latin typeface="Calibri"/>
              </a:rPr>
              <a:t>Wheeled vehicles segment is projected to register</a:t>
            </a:r>
          </a:p>
        </p:txBody>
      </p:sp>
      <p:pic>
        <p:nvPicPr>
          <p:cNvPr id="19" name="Picture 18" descr="lock.png"/>
          <p:cNvPicPr>
            <a:picLocks noChangeAspect="1"/>
          </p:cNvPicPr>
          <p:nvPr/>
        </p:nvPicPr>
        <p:blipFill>
          <a:blip r:embed="rId4"/>
          <a:stretch>
            <a:fillRect/>
          </a:stretch>
        </p:blipFill>
        <p:spPr>
          <a:xfrm>
            <a:off x="3269645" y="3856926"/>
            <a:ext cx="134549" cy="195707"/>
          </a:xfrm>
          <a:prstGeom prst="rect">
            <a:avLst/>
          </a:prstGeom>
        </p:spPr>
      </p:pic>
      <p:sp>
        <p:nvSpPr>
          <p:cNvPr id="20" name="TextBox 19"/>
          <p:cNvSpPr txBox="1"/>
          <p:nvPr/>
        </p:nvSpPr>
        <p:spPr>
          <a:xfrm>
            <a:off x="3444755" y="3867150"/>
            <a:ext cx="7940079" cy="194310"/>
          </a:xfrm>
          <a:prstGeom prst="rect">
            <a:avLst/>
          </a:prstGeom>
          <a:noFill/>
        </p:spPr>
        <p:txBody>
          <a:bodyPr wrap="none" lIns="0" rIns="0" tIns="0" bIns="0">
            <a:spAutoFit/>
          </a:bodyPr>
          <a:lstStyle/>
          <a:p>
            <a:r>
              <a:rPr sz="1150" b="0">
                <a:solidFill>
                  <a:srgbClr val="2E2E2E"/>
                </a:solidFill>
                <a:latin typeface="Calibri"/>
              </a:rPr>
              <a:t>X higher value than semi-tracked vehicles segment in 2036. Among off-highway vehicle by propulsion configuration, tracked vehicles</a:t>
            </a:r>
          </a:p>
        </p:txBody>
      </p:sp>
      <p:sp>
        <p:nvSpPr>
          <p:cNvPr id="21" name="TextBox 20"/>
          <p:cNvSpPr txBox="1"/>
          <p:nvPr/>
        </p:nvSpPr>
        <p:spPr>
          <a:xfrm>
            <a:off x="276225" y="404241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4032186"/>
            <a:ext cx="134549" cy="195707"/>
          </a:xfrm>
          <a:prstGeom prst="rect">
            <a:avLst/>
          </a:prstGeom>
        </p:spPr>
      </p:pic>
      <p:sp>
        <p:nvSpPr>
          <p:cNvPr id="23" name="TextBox 22"/>
          <p:cNvSpPr txBox="1"/>
          <p:nvPr/>
        </p:nvSpPr>
        <p:spPr>
          <a:xfrm>
            <a:off x="3557127" y="4042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270247"/>
            <a:ext cx="7633146" cy="194310"/>
          </a:xfrm>
          <a:prstGeom prst="rect">
            <a:avLst/>
          </a:prstGeom>
          <a:noFill/>
        </p:spPr>
        <p:txBody>
          <a:bodyPr wrap="none" lIns="0" rIns="0" tIns="0" bIns="0">
            <a:spAutoFit/>
          </a:bodyPr>
          <a:lstStyle/>
          <a:p>
            <a:r>
              <a:rPr sz="1150" b="0">
                <a:solidFill>
                  <a:srgbClr val="2E2E2E"/>
                </a:solidFill>
                <a:latin typeface="Calibri"/>
              </a:rPr>
              <a:t>In terms of value share by propulsion configuration, the wheeled vehicles segment is expected to dominate the market, gaining</a:t>
            </a:r>
          </a:p>
        </p:txBody>
      </p:sp>
      <p:pic>
        <p:nvPicPr>
          <p:cNvPr id="25" name="Picture 24" descr="lock.png"/>
          <p:cNvPicPr>
            <a:picLocks noChangeAspect="1"/>
          </p:cNvPicPr>
          <p:nvPr/>
        </p:nvPicPr>
        <p:blipFill>
          <a:blip r:embed="rId4"/>
          <a:stretch>
            <a:fillRect/>
          </a:stretch>
        </p:blipFill>
        <p:spPr>
          <a:xfrm>
            <a:off x="7858525" y="4260024"/>
            <a:ext cx="134549" cy="195707"/>
          </a:xfrm>
          <a:prstGeom prst="rect">
            <a:avLst/>
          </a:prstGeom>
        </p:spPr>
      </p:pic>
      <p:sp>
        <p:nvSpPr>
          <p:cNvPr id="26" name="TextBox 25"/>
          <p:cNvSpPr txBox="1"/>
          <p:nvPr/>
        </p:nvSpPr>
        <p:spPr>
          <a:xfrm>
            <a:off x="8033634" y="4270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428777" y="4260024"/>
            <a:ext cx="134549" cy="195707"/>
          </a:xfrm>
          <a:prstGeom prst="rect">
            <a:avLst/>
          </a:prstGeom>
        </p:spPr>
      </p:pic>
      <p:sp>
        <p:nvSpPr>
          <p:cNvPr id="28" name="TextBox 27"/>
          <p:cNvSpPr txBox="1"/>
          <p:nvPr/>
        </p:nvSpPr>
        <p:spPr>
          <a:xfrm>
            <a:off x="9603887" y="4270247"/>
            <a:ext cx="2005942" cy="194310"/>
          </a:xfrm>
          <a:prstGeom prst="rect">
            <a:avLst/>
          </a:prstGeom>
          <a:noFill/>
        </p:spPr>
        <p:txBody>
          <a:bodyPr wrap="none" lIns="0" rIns="0" tIns="0" bIns="0">
            <a:spAutoFit/>
          </a:bodyPr>
          <a:lstStyle/>
          <a:p>
            <a:r>
              <a:rPr sz="1150" b="0">
                <a:solidFill>
                  <a:srgbClr val="2E2E2E"/>
                </a:solidFill>
                <a:latin typeface="Calibri"/>
              </a:rPr>
              <a:t>share by 2036. The semi-tracked</a:t>
            </a:r>
          </a:p>
        </p:txBody>
      </p:sp>
      <p:sp>
        <p:nvSpPr>
          <p:cNvPr id="29" name="TextBox 28"/>
          <p:cNvSpPr txBox="1"/>
          <p:nvPr/>
        </p:nvSpPr>
        <p:spPr>
          <a:xfrm>
            <a:off x="276225" y="4445507"/>
            <a:ext cx="2233004" cy="194310"/>
          </a:xfrm>
          <a:prstGeom prst="rect">
            <a:avLst/>
          </a:prstGeom>
          <a:noFill/>
        </p:spPr>
        <p:txBody>
          <a:bodyPr wrap="none" lIns="0" rIns="0" tIns="0" bIns="0">
            <a:spAutoFit/>
          </a:bodyPr>
          <a:lstStyle/>
          <a:p>
            <a:r>
              <a:rPr sz="1150" b="0">
                <a:solidFill>
                  <a:srgbClr val="2E2E2E"/>
                </a:solidFill>
                <a:latin typeface="Calibri"/>
              </a:rPr>
              <a:t>vehicles segment is expected to lose</a:t>
            </a:r>
          </a:p>
        </p:txBody>
      </p:sp>
      <p:pic>
        <p:nvPicPr>
          <p:cNvPr id="30" name="Picture 29" descr="lock.png"/>
          <p:cNvPicPr>
            <a:picLocks noChangeAspect="1"/>
          </p:cNvPicPr>
          <p:nvPr/>
        </p:nvPicPr>
        <p:blipFill>
          <a:blip r:embed="rId4"/>
          <a:stretch>
            <a:fillRect/>
          </a:stretch>
        </p:blipFill>
        <p:spPr>
          <a:xfrm>
            <a:off x="2458383" y="4435284"/>
            <a:ext cx="134549" cy="195707"/>
          </a:xfrm>
          <a:prstGeom prst="rect">
            <a:avLst/>
          </a:prstGeom>
        </p:spPr>
      </p:pic>
      <p:sp>
        <p:nvSpPr>
          <p:cNvPr id="31" name="TextBox 30"/>
          <p:cNvSpPr txBox="1"/>
          <p:nvPr/>
        </p:nvSpPr>
        <p:spPr>
          <a:xfrm>
            <a:off x="2633492" y="4445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220997" y="4435284"/>
            <a:ext cx="134549" cy="195707"/>
          </a:xfrm>
          <a:prstGeom prst="rect">
            <a:avLst/>
          </a:prstGeom>
        </p:spPr>
      </p:pic>
      <p:sp>
        <p:nvSpPr>
          <p:cNvPr id="33" name="TextBox 32"/>
          <p:cNvSpPr txBox="1"/>
          <p:nvPr/>
        </p:nvSpPr>
        <p:spPr>
          <a:xfrm>
            <a:off x="5396106" y="4445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Propulsion Configuration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Propulsion Configuration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Propulsion Configuration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79333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8856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1236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Specialized Propulsion Configurations</a:t>
            </a:r>
          </a:p>
        </p:txBody>
      </p:sp>
      <p:sp>
        <p:nvSpPr>
          <p:cNvPr id="15" name="BPS Value 1"/>
          <p:cNvSpPr txBox="1"/>
          <p:nvPr/>
        </p:nvSpPr>
        <p:spPr>
          <a:xfrm>
            <a:off x="6896100" y="177428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291010"/>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28624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21004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Tracked Vehicles</a:t>
            </a:r>
          </a:p>
        </p:txBody>
      </p:sp>
      <p:sp>
        <p:nvSpPr>
          <p:cNvPr id="19" name="BPS Value 2"/>
          <p:cNvSpPr txBox="1"/>
          <p:nvPr/>
        </p:nvSpPr>
        <p:spPr>
          <a:xfrm>
            <a:off x="6896100" y="227196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3175939"/>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17117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0949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Semi-Tracked Vehicles</a:t>
            </a:r>
          </a:p>
        </p:txBody>
      </p:sp>
      <p:sp>
        <p:nvSpPr>
          <p:cNvPr id="23" name="BPS Value 3"/>
          <p:cNvSpPr txBox="1"/>
          <p:nvPr/>
        </p:nvSpPr>
        <p:spPr>
          <a:xfrm>
            <a:off x="6896100" y="315688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928997" y="4964451"/>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495968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488348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Wheeled Vehicles</a:t>
            </a:r>
          </a:p>
        </p:txBody>
      </p:sp>
      <p:sp>
        <p:nvSpPr>
          <p:cNvPr id="27" name="BPS Value 4"/>
          <p:cNvSpPr txBox="1"/>
          <p:nvPr/>
        </p:nvSpPr>
        <p:spPr>
          <a:xfrm>
            <a:off x="6896100" y="494540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Global Read-out, By Propulsion Configuration</a:t>
            </a:r>
          </a:p>
        </p:txBody>
      </p:sp>
      <p:sp>
        <p:nvSpPr>
          <p:cNvPr id="30" name="Rectangle 29"/>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883198" cy="194310"/>
          </a:xfrm>
          <a:prstGeom prst="rect">
            <a:avLst/>
          </a:prstGeom>
          <a:noFill/>
        </p:spPr>
        <p:txBody>
          <a:bodyPr wrap="none" lIns="0" rIns="0" tIns="0" bIns="0">
            <a:spAutoFit/>
          </a:bodyPr>
          <a:lstStyle/>
          <a:p>
            <a:r>
              <a:rPr sz="1150" b="0">
                <a:solidFill>
                  <a:srgbClr val="2E2E2E"/>
                </a:solidFill>
                <a:latin typeface="Calibri"/>
              </a:rPr>
              <a:t>Among off-highway vehicle by propulsion configuration, tracked</a:t>
            </a:r>
          </a:p>
        </p:txBody>
      </p:sp>
      <p:sp>
        <p:nvSpPr>
          <p:cNvPr id="36" name="TextBox 35"/>
          <p:cNvSpPr txBox="1"/>
          <p:nvPr/>
        </p:nvSpPr>
        <p:spPr>
          <a:xfrm>
            <a:off x="7829550" y="1575435"/>
            <a:ext cx="3664105" cy="194310"/>
          </a:xfrm>
          <a:prstGeom prst="rect">
            <a:avLst/>
          </a:prstGeom>
          <a:noFill/>
        </p:spPr>
        <p:txBody>
          <a:bodyPr wrap="none" lIns="0" rIns="0" tIns="0" bIns="0">
            <a:spAutoFit/>
          </a:bodyPr>
          <a:lstStyle/>
          <a:p>
            <a:r>
              <a:rPr sz="1150" b="0">
                <a:solidFill>
                  <a:srgbClr val="2E2E2E"/>
                </a:solidFill>
                <a:latin typeface="Calibri"/>
              </a:rPr>
              <a:t>vehicles segment is expected to witness the highest CAGR of</a:t>
            </a:r>
          </a:p>
        </p:txBody>
      </p:sp>
      <p:pic>
        <p:nvPicPr>
          <p:cNvPr id="37" name="Picture 36" descr="lock.png"/>
          <p:cNvPicPr>
            <a:picLocks noChangeAspect="1"/>
          </p:cNvPicPr>
          <p:nvPr/>
        </p:nvPicPr>
        <p:blipFill>
          <a:blip r:embed="rId5"/>
          <a:stretch>
            <a:fillRect/>
          </a:stretch>
        </p:blipFill>
        <p:spPr>
          <a:xfrm>
            <a:off x="11442809" y="1565211"/>
            <a:ext cx="134549" cy="195707"/>
          </a:xfrm>
          <a:prstGeom prst="rect">
            <a:avLst/>
          </a:prstGeom>
        </p:spPr>
      </p:pic>
      <p:sp>
        <p:nvSpPr>
          <p:cNvPr id="38" name="TextBox 37"/>
          <p:cNvSpPr txBox="1"/>
          <p:nvPr/>
        </p:nvSpPr>
        <p:spPr>
          <a:xfrm>
            <a:off x="7829550" y="1750695"/>
            <a:ext cx="3787638"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propulsion</a:t>
            </a:r>
          </a:p>
        </p:txBody>
      </p:sp>
      <p:sp>
        <p:nvSpPr>
          <p:cNvPr id="39" name="TextBox 38"/>
          <p:cNvSpPr txBox="1"/>
          <p:nvPr/>
        </p:nvSpPr>
        <p:spPr>
          <a:xfrm>
            <a:off x="7829550" y="1925955"/>
            <a:ext cx="3600226" cy="194310"/>
          </a:xfrm>
          <a:prstGeom prst="rect">
            <a:avLst/>
          </a:prstGeom>
          <a:noFill/>
        </p:spPr>
        <p:txBody>
          <a:bodyPr wrap="none" lIns="0" rIns="0" tIns="0" bIns="0">
            <a:spAutoFit/>
          </a:bodyPr>
          <a:lstStyle/>
          <a:p>
            <a:r>
              <a:rPr sz="1150" b="0">
                <a:solidFill>
                  <a:srgbClr val="2E2E2E"/>
                </a:solidFill>
                <a:latin typeface="Calibri"/>
              </a:rPr>
              <a:t>configuration, the wheeled vehicles segment is expected to</a:t>
            </a:r>
          </a:p>
        </p:txBody>
      </p:sp>
      <p:sp>
        <p:nvSpPr>
          <p:cNvPr id="40" name="TextBox 39"/>
          <p:cNvSpPr txBox="1"/>
          <p:nvPr/>
        </p:nvSpPr>
        <p:spPr>
          <a:xfrm>
            <a:off x="7829550" y="210121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1" name="Picture 40" descr="lock.png"/>
          <p:cNvPicPr>
            <a:picLocks noChangeAspect="1"/>
          </p:cNvPicPr>
          <p:nvPr/>
        </p:nvPicPr>
        <p:blipFill>
          <a:blip r:embed="rId5"/>
          <a:stretch>
            <a:fillRect/>
          </a:stretch>
        </p:blipFill>
        <p:spPr>
          <a:xfrm>
            <a:off x="9615776" y="2090991"/>
            <a:ext cx="134549" cy="195707"/>
          </a:xfrm>
          <a:prstGeom prst="rect">
            <a:avLst/>
          </a:prstGeom>
        </p:spPr>
      </p:pic>
      <p:sp>
        <p:nvSpPr>
          <p:cNvPr id="42" name="TextBox 41"/>
          <p:cNvSpPr txBox="1"/>
          <p:nvPr/>
        </p:nvSpPr>
        <p:spPr>
          <a:xfrm>
            <a:off x="979088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11186028" y="2090991"/>
            <a:ext cx="134549" cy="195707"/>
          </a:xfrm>
          <a:prstGeom prst="rect">
            <a:avLst/>
          </a:prstGeom>
        </p:spPr>
      </p:pic>
      <p:sp>
        <p:nvSpPr>
          <p:cNvPr id="44" name="TextBox 43"/>
          <p:cNvSpPr txBox="1"/>
          <p:nvPr/>
        </p:nvSpPr>
        <p:spPr>
          <a:xfrm>
            <a:off x="7829550"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504313"/>
            <a:ext cx="3292723" cy="194310"/>
          </a:xfrm>
          <a:prstGeom prst="rect">
            <a:avLst/>
          </a:prstGeom>
          <a:noFill/>
        </p:spPr>
        <p:txBody>
          <a:bodyPr wrap="none" lIns="0" rIns="0" tIns="0" bIns="0">
            <a:spAutoFit/>
          </a:bodyPr>
          <a:lstStyle/>
          <a:p>
            <a:r>
              <a:rPr sz="1150" b="0">
                <a:solidFill>
                  <a:srgbClr val="2E2E2E"/>
                </a:solidFill>
                <a:latin typeface="Calibri"/>
              </a:rPr>
              <a:t>The semi-tracked vehicles segment is expected to lose</a:t>
            </a:r>
          </a:p>
        </p:txBody>
      </p:sp>
      <p:pic>
        <p:nvPicPr>
          <p:cNvPr id="46" name="Picture 45" descr="lock.png"/>
          <p:cNvPicPr>
            <a:picLocks noChangeAspect="1"/>
          </p:cNvPicPr>
          <p:nvPr/>
        </p:nvPicPr>
        <p:blipFill>
          <a:blip r:embed="rId5"/>
          <a:stretch>
            <a:fillRect/>
          </a:stretch>
        </p:blipFill>
        <p:spPr>
          <a:xfrm>
            <a:off x="11071426" y="2494089"/>
            <a:ext cx="134549" cy="195707"/>
          </a:xfrm>
          <a:prstGeom prst="rect">
            <a:avLst/>
          </a:prstGeom>
        </p:spPr>
      </p:pic>
      <p:sp>
        <p:nvSpPr>
          <p:cNvPr id="47" name="TextBox 46"/>
          <p:cNvSpPr txBox="1"/>
          <p:nvPr/>
        </p:nvSpPr>
        <p:spPr>
          <a:xfrm>
            <a:off x="11246536" y="250431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48" name="TextBox 47"/>
          <p:cNvSpPr txBox="1"/>
          <p:nvPr/>
        </p:nvSpPr>
        <p:spPr>
          <a:xfrm>
            <a:off x="7829550" y="267957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49" name="Picture 48" descr="lock.png"/>
          <p:cNvPicPr>
            <a:picLocks noChangeAspect="1"/>
          </p:cNvPicPr>
          <p:nvPr/>
        </p:nvPicPr>
        <p:blipFill>
          <a:blip r:embed="rId5"/>
          <a:stretch>
            <a:fillRect/>
          </a:stretch>
        </p:blipFill>
        <p:spPr>
          <a:xfrm>
            <a:off x="9861950" y="2669349"/>
            <a:ext cx="134549" cy="195707"/>
          </a:xfrm>
          <a:prstGeom prst="rect">
            <a:avLst/>
          </a:prstGeom>
        </p:spPr>
      </p:pic>
      <p:sp>
        <p:nvSpPr>
          <p:cNvPr id="50" name="TextBox 49"/>
          <p:cNvSpPr txBox="1"/>
          <p:nvPr/>
        </p:nvSpPr>
        <p:spPr>
          <a:xfrm>
            <a:off x="10037059"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22059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2525395"/>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687445"/>
            <a:ext cx="7124700" cy="23787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Vehicle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Powertrain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Vehicle Capacity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Propulsion Configuration</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Summary, By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1" name="Rounded Rectangle 20"/>
          <p:cNvSpPr/>
          <p:nvPr/>
        </p:nvSpPr>
        <p:spPr>
          <a:xfrm>
            <a:off x="7915275" y="4037375"/>
            <a:ext cx="413385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36122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838823" cy="186689"/>
          </a:xfrm>
          <a:prstGeom prst="rect">
            <a:avLst/>
          </a:prstGeom>
          <a:noFill/>
        </p:spPr>
        <p:txBody>
          <a:bodyPr wrap="none" lIns="0" rIns="0" tIns="0" bIns="0">
            <a:spAutoFit/>
          </a:bodyPr>
          <a:lstStyle/>
          <a:p>
            <a:r>
              <a:rPr sz="1100" b="0">
                <a:solidFill>
                  <a:srgbClr val="2E2E2E"/>
                </a:solidFill>
                <a:latin typeface="Calibri"/>
              </a:rPr>
              <a:t>North America Off-Highway vehicle market is projected to register</a:t>
            </a:r>
          </a:p>
        </p:txBody>
      </p:sp>
      <p:pic>
        <p:nvPicPr>
          <p:cNvPr id="33" name="Picture 32" descr="lock.png"/>
          <p:cNvPicPr>
            <a:picLocks noChangeAspect="1"/>
          </p:cNvPicPr>
          <p:nvPr/>
        </p:nvPicPr>
        <p:blipFill>
          <a:blip r:embed="rId6"/>
          <a:stretch>
            <a:fillRect/>
          </a:stretch>
        </p:blipFill>
        <p:spPr>
          <a:xfrm>
            <a:off x="8035157" y="2204848"/>
            <a:ext cx="128699" cy="187198"/>
          </a:xfrm>
          <a:prstGeom prst="rect">
            <a:avLst/>
          </a:prstGeom>
        </p:spPr>
      </p:pic>
      <p:sp>
        <p:nvSpPr>
          <p:cNvPr id="34" name="TextBox 33"/>
          <p:cNvSpPr txBox="1"/>
          <p:nvPr/>
        </p:nvSpPr>
        <p:spPr>
          <a:xfrm>
            <a:off x="8202653" y="2214627"/>
            <a:ext cx="3679750"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 2036. North</a:t>
            </a:r>
          </a:p>
        </p:txBody>
      </p:sp>
      <p:sp>
        <p:nvSpPr>
          <p:cNvPr id="35" name="TextBox 34"/>
          <p:cNvSpPr txBox="1"/>
          <p:nvPr/>
        </p:nvSpPr>
        <p:spPr>
          <a:xfrm>
            <a:off x="8048625" y="2382267"/>
            <a:ext cx="3110036" cy="186689"/>
          </a:xfrm>
          <a:prstGeom prst="rect">
            <a:avLst/>
          </a:prstGeom>
          <a:noFill/>
        </p:spPr>
        <p:txBody>
          <a:bodyPr wrap="none" lIns="0" rIns="0" tIns="0" bIns="0">
            <a:spAutoFit/>
          </a:bodyPr>
          <a:lstStyle/>
          <a:p>
            <a:r>
              <a:rPr sz="1100" b="0">
                <a:solidFill>
                  <a:srgbClr val="2E2E2E"/>
                </a:solidFill>
                <a:latin typeface="Calibri"/>
              </a:rPr>
              <a:t>America Off-Highway vehicle market volume stood at</a:t>
            </a:r>
          </a:p>
        </p:txBody>
      </p:sp>
      <p:pic>
        <p:nvPicPr>
          <p:cNvPr id="36" name="Picture 35" descr="lock.png"/>
          <p:cNvPicPr>
            <a:picLocks noChangeAspect="1"/>
          </p:cNvPicPr>
          <p:nvPr/>
        </p:nvPicPr>
        <p:blipFill>
          <a:blip r:embed="rId6"/>
          <a:stretch>
            <a:fillRect/>
          </a:stretch>
        </p:blipFill>
        <p:spPr>
          <a:xfrm>
            <a:off x="11106713" y="2372488"/>
            <a:ext cx="128699" cy="187198"/>
          </a:xfrm>
          <a:prstGeom prst="rect">
            <a:avLst/>
          </a:prstGeom>
        </p:spPr>
      </p:pic>
      <p:sp>
        <p:nvSpPr>
          <p:cNvPr id="37" name="TextBox 36"/>
          <p:cNvSpPr txBox="1"/>
          <p:nvPr/>
        </p:nvSpPr>
        <p:spPr>
          <a:xfrm>
            <a:off x="11274208" y="2382267"/>
            <a:ext cx="510306" cy="186689"/>
          </a:xfrm>
          <a:prstGeom prst="rect">
            <a:avLst/>
          </a:prstGeom>
          <a:noFill/>
        </p:spPr>
        <p:txBody>
          <a:bodyPr wrap="none" lIns="0" rIns="0" tIns="0" bIns="0">
            <a:spAutoFit/>
          </a:bodyPr>
          <a:lstStyle/>
          <a:p>
            <a:r>
              <a:rPr sz="1100" b="0">
                <a:solidFill>
                  <a:srgbClr val="2E2E2E"/>
                </a:solidFill>
                <a:latin typeface="Calibri"/>
              </a:rPr>
              <a:t>Units in</a:t>
            </a:r>
          </a:p>
        </p:txBody>
      </p:sp>
      <p:sp>
        <p:nvSpPr>
          <p:cNvPr id="38" name="TextBox 37"/>
          <p:cNvSpPr txBox="1"/>
          <p:nvPr/>
        </p:nvSpPr>
        <p:spPr>
          <a:xfrm>
            <a:off x="8048625" y="2549907"/>
            <a:ext cx="1779339" cy="186689"/>
          </a:xfrm>
          <a:prstGeom prst="rect">
            <a:avLst/>
          </a:prstGeom>
          <a:noFill/>
        </p:spPr>
        <p:txBody>
          <a:bodyPr wrap="none" lIns="0" rIns="0" tIns="0" bIns="0">
            <a:spAutoFit/>
          </a:bodyPr>
          <a:lstStyle/>
          <a:p>
            <a:r>
              <a:rPr sz="1100" b="0">
                <a:solidFill>
                  <a:srgbClr val="2E2E2E"/>
                </a:solidFill>
                <a:latin typeface="Calibri"/>
              </a:rPr>
              <a:t>2025 and is expected to reach</a:t>
            </a:r>
          </a:p>
        </p:txBody>
      </p:sp>
      <p:pic>
        <p:nvPicPr>
          <p:cNvPr id="39" name="Picture 38" descr="lock.png"/>
          <p:cNvPicPr>
            <a:picLocks noChangeAspect="1"/>
          </p:cNvPicPr>
          <p:nvPr/>
        </p:nvPicPr>
        <p:blipFill>
          <a:blip r:embed="rId6"/>
          <a:stretch>
            <a:fillRect/>
          </a:stretch>
        </p:blipFill>
        <p:spPr>
          <a:xfrm>
            <a:off x="9776016" y="2540128"/>
            <a:ext cx="128699" cy="187198"/>
          </a:xfrm>
          <a:prstGeom prst="rect">
            <a:avLst/>
          </a:prstGeom>
        </p:spPr>
      </p:pic>
      <p:sp>
        <p:nvSpPr>
          <p:cNvPr id="40" name="TextBox 39"/>
          <p:cNvSpPr txBox="1"/>
          <p:nvPr/>
        </p:nvSpPr>
        <p:spPr>
          <a:xfrm>
            <a:off x="9943511" y="254990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1" name="Picture 40" descr="lock.png"/>
          <p:cNvPicPr>
            <a:picLocks noChangeAspect="1"/>
          </p:cNvPicPr>
          <p:nvPr/>
        </p:nvPicPr>
        <p:blipFill>
          <a:blip r:embed="rId6"/>
          <a:stretch>
            <a:fillRect/>
          </a:stretch>
        </p:blipFill>
        <p:spPr>
          <a:xfrm>
            <a:off x="8035157" y="2707768"/>
            <a:ext cx="128699" cy="187198"/>
          </a:xfrm>
          <a:prstGeom prst="rect">
            <a:avLst/>
          </a:prstGeom>
        </p:spPr>
      </p:pic>
      <p:sp>
        <p:nvSpPr>
          <p:cNvPr id="42" name="TextBox 41"/>
          <p:cNvSpPr txBox="1"/>
          <p:nvPr/>
        </p:nvSpPr>
        <p:spPr>
          <a:xfrm>
            <a:off x="82026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3" name="TextBox 42"/>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4" name="TextBox 43"/>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5" name="TextBox 44"/>
          <p:cNvSpPr txBox="1"/>
          <p:nvPr/>
        </p:nvSpPr>
        <p:spPr>
          <a:xfrm>
            <a:off x="8048625" y="4456475"/>
            <a:ext cx="2130883" cy="194310"/>
          </a:xfrm>
          <a:prstGeom prst="rect">
            <a:avLst/>
          </a:prstGeom>
          <a:noFill/>
        </p:spPr>
        <p:txBody>
          <a:bodyPr wrap="none" lIns="0" rIns="0" tIns="0" bIns="0">
            <a:spAutoFit/>
          </a:bodyPr>
          <a:lstStyle/>
          <a:p>
            <a:r>
              <a:rPr sz="1150" b="0">
                <a:solidFill>
                  <a:srgbClr val="2E2E2E"/>
                </a:solidFill>
                <a:latin typeface="Calibri"/>
              </a:rPr>
              <a:t>▪ 'Mexico' leads regional growth at</a:t>
            </a:r>
          </a:p>
        </p:txBody>
      </p:sp>
      <p:pic>
        <p:nvPicPr>
          <p:cNvPr id="46" name="Picture 45" descr="lock.png"/>
          <p:cNvPicPr>
            <a:picLocks noChangeAspect="1"/>
          </p:cNvPicPr>
          <p:nvPr/>
        </p:nvPicPr>
        <p:blipFill>
          <a:blip r:embed="rId6"/>
          <a:stretch>
            <a:fillRect/>
          </a:stretch>
        </p:blipFill>
        <p:spPr>
          <a:xfrm>
            <a:off x="10128662" y="4446251"/>
            <a:ext cx="134549" cy="195707"/>
          </a:xfrm>
          <a:prstGeom prst="rect">
            <a:avLst/>
          </a:prstGeom>
        </p:spPr>
      </p:pic>
      <p:sp>
        <p:nvSpPr>
          <p:cNvPr id="47" name="TextBox 46"/>
          <p:cNvSpPr txBox="1"/>
          <p:nvPr/>
        </p:nvSpPr>
        <p:spPr>
          <a:xfrm>
            <a:off x="10303772"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8" name="TextBox 47"/>
          <p:cNvSpPr txBox="1"/>
          <p:nvPr/>
        </p:nvSpPr>
        <p:spPr>
          <a:xfrm>
            <a:off x="8048625" y="4684312"/>
            <a:ext cx="3706055" cy="194310"/>
          </a:xfrm>
          <a:prstGeom prst="rect">
            <a:avLst/>
          </a:prstGeom>
          <a:noFill/>
        </p:spPr>
        <p:txBody>
          <a:bodyPr wrap="none" lIns="0" rIns="0" tIns="0" bIns="0">
            <a:spAutoFit/>
          </a:bodyPr>
          <a:lstStyle/>
          <a:p>
            <a:r>
              <a:rPr sz="1150" b="0">
                <a:solidFill>
                  <a:srgbClr val="2E2E2E"/>
                </a:solidFill>
                <a:latin typeface="Calibri"/>
              </a:rPr>
              <a:t>▪ Demand concentrates in 'Construction and Mining Vehicles'</a:t>
            </a:r>
          </a:p>
        </p:txBody>
      </p:sp>
      <p:sp>
        <p:nvSpPr>
          <p:cNvPr id="49" name="TextBox 48"/>
          <p:cNvSpPr txBox="1"/>
          <p:nvPr/>
        </p:nvSpPr>
        <p:spPr>
          <a:xfrm>
            <a:off x="8048625" y="4859572"/>
            <a:ext cx="1274836" cy="194310"/>
          </a:xfrm>
          <a:prstGeom prst="rect">
            <a:avLst/>
          </a:prstGeom>
          <a:noFill/>
        </p:spPr>
        <p:txBody>
          <a:bodyPr wrap="none" lIns="0" rIns="0" tIns="0" bIns="0">
            <a:spAutoFit/>
          </a:bodyPr>
          <a:lstStyle/>
          <a:p>
            <a:r>
              <a:rPr sz="1150" b="0">
                <a:solidFill>
                  <a:srgbClr val="2E2E2E"/>
                </a:solidFill>
                <a:latin typeface="Calibri"/>
              </a:rPr>
              <a:t>within Vehicle Type.</a:t>
            </a:r>
          </a:p>
        </p:txBody>
      </p:sp>
      <p:sp>
        <p:nvSpPr>
          <p:cNvPr id="50" name="TextBox 49"/>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1" name="TextBox 50"/>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2"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Pricing &amp; Regional Price Index</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7" name="Rounded Rectangle 6"/>
          <p:cNvSpPr/>
          <p:nvPr/>
        </p:nvSpPr>
        <p:spPr>
          <a:xfrm>
            <a:off x="142875" y="1052895"/>
            <a:ext cx="7696200" cy="2665040"/>
          </a:xfrm>
          <a:prstGeom prst="roundRect">
            <a:avLst>
              <a:gd name="adj" fmla="val 28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Vehicle Type  ·  range across 2021–2036 (US$/Units)</a:t>
            </a:r>
          </a:p>
        </p:txBody>
      </p:sp>
      <p:cxnSp>
        <p:nvCxnSpPr>
          <p:cNvPr id="9" name="Connector 8"/>
          <p:cNvCxnSpPr/>
          <p:nvPr/>
        </p:nvCxnSpPr>
        <p:spPr>
          <a:xfrm>
            <a:off x="657225" y="326835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57225" y="281450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7225" y="236065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190679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452945"/>
            <a:ext cx="0" cy="181541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28650" y="326835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8650" y="281450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236065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19067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0" name="TMR Scale tick"/>
          <p:cNvSpPr txBox="1"/>
          <p:nvPr/>
        </p:nvSpPr>
        <p:spPr>
          <a:xfrm>
            <a:off x="219075" y="320168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1" name="TMR Scale tick"/>
          <p:cNvSpPr txBox="1"/>
          <p:nvPr/>
        </p:nvSpPr>
        <p:spPr>
          <a:xfrm>
            <a:off x="219075" y="229397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2" name="TMR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3" name="Connector 22"/>
          <p:cNvCxnSpPr/>
          <p:nvPr/>
        </p:nvCxnSpPr>
        <p:spPr>
          <a:xfrm flipV="1">
            <a:off x="1358265" y="1872037"/>
            <a:ext cx="0" cy="65694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26820" y="252898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26820" y="187203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139190" y="2051061"/>
            <a:ext cx="438150" cy="327936"/>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139190" y="2219863"/>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7225" y="1719637"/>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29" name="Connector 28"/>
          <p:cNvCxnSpPr/>
          <p:nvPr/>
        </p:nvCxnSpPr>
        <p:spPr>
          <a:xfrm flipV="1">
            <a:off x="2760345" y="1662416"/>
            <a:ext cx="0" cy="71960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28900" y="238202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28900" y="166241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541270" y="1858004"/>
            <a:ext cx="438150" cy="359231"/>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541270" y="2042747"/>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59305" y="151001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35" name="Connector 34"/>
          <p:cNvCxnSpPr/>
          <p:nvPr/>
        </p:nvCxnSpPr>
        <p:spPr>
          <a:xfrm flipV="1">
            <a:off x="4162425" y="1676413"/>
            <a:ext cx="0" cy="70028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030980" y="237669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030980" y="167641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943350" y="1866015"/>
            <a:ext cx="438150" cy="349664"/>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3943350" y="2045608"/>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461385" y="1524013"/>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1" name="Connector 40"/>
          <p:cNvCxnSpPr/>
          <p:nvPr/>
        </p:nvCxnSpPr>
        <p:spPr>
          <a:xfrm flipV="1">
            <a:off x="5564505" y="2519941"/>
            <a:ext cx="0" cy="53894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33060" y="305888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433060" y="251994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45430" y="2666878"/>
            <a:ext cx="438150" cy="269033"/>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a:off x="5345430" y="2805383"/>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863465" y="2367541"/>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cxnSp>
        <p:nvCxnSpPr>
          <p:cNvPr id="47" name="Connector 46"/>
          <p:cNvCxnSpPr/>
          <p:nvPr/>
        </p:nvCxnSpPr>
        <p:spPr>
          <a:xfrm flipV="1">
            <a:off x="6966585" y="1820654"/>
            <a:ext cx="0" cy="56053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835140" y="238119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835140" y="182065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747510" y="1967945"/>
            <a:ext cx="438150" cy="280290"/>
          </a:xfrm>
          <a:prstGeom prst="rect">
            <a:avLst/>
          </a:prstGeom>
          <a:solidFill>
            <a:srgbClr val="CFE7F5"/>
          </a:solidFill>
          <a:ln w="15875">
            <a:solidFill>
              <a:srgbClr val="0E2A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6747510" y="2110483"/>
            <a:ext cx="438150" cy="0"/>
          </a:xfrm>
          <a:prstGeom prst="line">
            <a:avLst/>
          </a:prstGeom>
          <a:ln w="2540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65545" y="1668254"/>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53" name="TextBox 52"/>
          <p:cNvSpPr txBox="1"/>
          <p:nvPr/>
        </p:nvSpPr>
        <p:spPr>
          <a:xfrm>
            <a:off x="65722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Construction and Mini…</a:t>
            </a:r>
          </a:p>
        </p:txBody>
      </p:sp>
      <p:sp>
        <p:nvSpPr>
          <p:cNvPr id="54" name="TextBox 53"/>
          <p:cNvSpPr txBox="1"/>
          <p:nvPr/>
        </p:nvSpPr>
        <p:spPr>
          <a:xfrm>
            <a:off x="205930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Agriculture and Fores…</a:t>
            </a:r>
          </a:p>
        </p:txBody>
      </p:sp>
      <p:sp>
        <p:nvSpPr>
          <p:cNvPr id="55" name="TextBox 54"/>
          <p:cNvSpPr txBox="1"/>
          <p:nvPr/>
        </p:nvSpPr>
        <p:spPr>
          <a:xfrm>
            <a:off x="346138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Industrial and Port V…</a:t>
            </a:r>
          </a:p>
        </p:txBody>
      </p:sp>
      <p:sp>
        <p:nvSpPr>
          <p:cNvPr id="56" name="TextBox 55"/>
          <p:cNvSpPr txBox="1"/>
          <p:nvPr/>
        </p:nvSpPr>
        <p:spPr>
          <a:xfrm>
            <a:off x="486346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Recreational and Powe…</a:t>
            </a:r>
          </a:p>
        </p:txBody>
      </p:sp>
      <p:sp>
        <p:nvSpPr>
          <p:cNvPr id="57" name="TextBox 56"/>
          <p:cNvSpPr txBox="1"/>
          <p:nvPr/>
        </p:nvSpPr>
        <p:spPr>
          <a:xfrm>
            <a:off x="6265545" y="3296930"/>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Military Vehicles</a:t>
            </a:r>
          </a:p>
        </p:txBody>
      </p:sp>
      <p:sp>
        <p:nvSpPr>
          <p:cNvPr id="58" name="Rounded Rectangle 57"/>
          <p:cNvSpPr/>
          <p:nvPr/>
        </p:nvSpPr>
        <p:spPr>
          <a:xfrm>
            <a:off x="142875" y="3772696"/>
            <a:ext cx="7696200" cy="2783689"/>
          </a:xfrm>
          <a:prstGeom prst="roundRect">
            <a:avLst>
              <a:gd name="adj" fmla="val 27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60" name="Connector 59"/>
          <p:cNvCxnSpPr/>
          <p:nvPr/>
        </p:nvCxnSpPr>
        <p:spPr>
          <a:xfrm>
            <a:off x="619125" y="432157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9125" y="475734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19125" y="562888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19125" y="606465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19125" y="4321579"/>
            <a:ext cx="0" cy="174307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590550" y="432157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90550" y="475734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90550" y="562888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90550" y="606465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1" name="TMR Scale tick"/>
          <p:cNvSpPr txBox="1"/>
          <p:nvPr/>
        </p:nvSpPr>
        <p:spPr>
          <a:xfrm>
            <a:off x="138112" y="4254904"/>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+4.7%</a:t>
            </a:r>
          </a:p>
        </p:txBody>
      </p:sp>
      <p:sp>
        <p:nvSpPr>
          <p:cNvPr id="72" name="TMR Scale tick"/>
          <p:cNvSpPr txBox="1"/>
          <p:nvPr/>
        </p:nvSpPr>
        <p:spPr>
          <a:xfrm>
            <a:off x="138112" y="4690672"/>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+2.4%</a:t>
            </a:r>
          </a:p>
        </p:txBody>
      </p:sp>
      <p:sp>
        <p:nvSpPr>
          <p:cNvPr id="73" name="TMR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74" name="TMR Scale tick"/>
          <p:cNvSpPr txBox="1"/>
          <p:nvPr/>
        </p:nvSpPr>
        <p:spPr>
          <a:xfrm>
            <a:off x="164306" y="5562209"/>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-2.4%</a:t>
            </a:r>
          </a:p>
        </p:txBody>
      </p:sp>
      <p:sp>
        <p:nvSpPr>
          <p:cNvPr id="75" name="TMR Scale tick"/>
          <p:cNvSpPr txBox="1"/>
          <p:nvPr/>
        </p:nvSpPr>
        <p:spPr>
          <a:xfrm>
            <a:off x="164306" y="5997978"/>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-4.7%</a:t>
            </a:r>
          </a:p>
        </p:txBody>
      </p:sp>
      <p:cxnSp>
        <p:nvCxnSpPr>
          <p:cNvPr id="76" name="Connector 75"/>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1565275" y="5193116"/>
            <a:ext cx="457200" cy="38046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MR Data Label"/>
          <p:cNvSpPr txBox="1"/>
          <p:nvPr/>
        </p:nvSpPr>
        <p:spPr>
          <a:xfrm>
            <a:off x="619125" y="5583105"/>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9" name="Rectangle 78"/>
          <p:cNvSpPr/>
          <p:nvPr/>
        </p:nvSpPr>
        <p:spPr>
          <a:xfrm>
            <a:off x="3914775"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MR Data Label"/>
          <p:cNvSpPr txBox="1"/>
          <p:nvPr/>
        </p:nvSpPr>
        <p:spPr>
          <a:xfrm>
            <a:off x="2968625" y="4294412"/>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1" name="Rectangle 80"/>
          <p:cNvSpPr/>
          <p:nvPr/>
        </p:nvSpPr>
        <p:spPr>
          <a:xfrm>
            <a:off x="6264275" y="5030160"/>
            <a:ext cx="457200" cy="16295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MR Data Label"/>
          <p:cNvSpPr txBox="1"/>
          <p:nvPr/>
        </p:nvSpPr>
        <p:spPr>
          <a:xfrm>
            <a:off x="5318125" y="4887285"/>
            <a:ext cx="234950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83" name="TextBox 82"/>
          <p:cNvSpPr txBox="1"/>
          <p:nvPr/>
        </p:nvSpPr>
        <p:spPr>
          <a:xfrm>
            <a:off x="6191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84" name="TextBox 83"/>
          <p:cNvSpPr txBox="1"/>
          <p:nvPr/>
        </p:nvSpPr>
        <p:spPr>
          <a:xfrm>
            <a:off x="29686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85" name="TextBox 84"/>
          <p:cNvSpPr txBox="1"/>
          <p:nvPr/>
        </p:nvSpPr>
        <p:spPr>
          <a:xfrm>
            <a:off x="5318125" y="6242060"/>
            <a:ext cx="2349500" cy="247650"/>
          </a:xfrm>
          <a:prstGeom prst="rect">
            <a:avLst/>
          </a:prstGeom>
          <a:noFill/>
        </p:spPr>
        <p:txBody>
          <a:bodyPr wrap="square" lIns="28575" rIns="28575" tIns="9525" bIns="9525">
            <a:spAutoFit/>
          </a:bodyPr>
          <a:lstStyle/>
          <a:p>
            <a:pPr algn="ctr"/>
            <a:r>
              <a:rPr sz="1100" b="0">
                <a:solidFill>
                  <a:srgbClr val="2E2E2E"/>
                </a:solidFill>
                <a:latin typeface="Calibri"/>
              </a:rPr>
              <a:t>Mexico</a:t>
            </a:r>
          </a:p>
        </p:txBody>
      </p:sp>
      <p:sp>
        <p:nvSpPr>
          <p:cNvPr id="86" name="Rounded Rectangle 85"/>
          <p:cNvSpPr/>
          <p:nvPr/>
        </p:nvSpPr>
        <p:spPr>
          <a:xfrm>
            <a:off x="7915275" y="1052895"/>
            <a:ext cx="4133850" cy="5503490"/>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88" name="Rectangle 87"/>
          <p:cNvSpPr/>
          <p:nvPr/>
        </p:nvSpPr>
        <p:spPr>
          <a:xfrm>
            <a:off x="8048625" y="1376745"/>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90" name="Rectangle 8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92" name="Picture 91" descr="lock.png"/>
          <p:cNvPicPr>
            <a:picLocks noChangeAspect="1"/>
          </p:cNvPicPr>
          <p:nvPr/>
        </p:nvPicPr>
        <p:blipFill>
          <a:blip r:embed="rId4"/>
          <a:stretch>
            <a:fillRect/>
          </a:stretch>
        </p:blipFill>
        <p:spPr>
          <a:xfrm>
            <a:off x="1293915" y="1692713"/>
            <a:ext cx="128699" cy="187198"/>
          </a:xfrm>
          <a:prstGeom prst="rect">
            <a:avLst/>
          </a:prstGeom>
        </p:spPr>
      </p:pic>
      <p:pic>
        <p:nvPicPr>
          <p:cNvPr id="93" name="Picture 92" descr="lock.png"/>
          <p:cNvPicPr>
            <a:picLocks noChangeAspect="1"/>
          </p:cNvPicPr>
          <p:nvPr/>
        </p:nvPicPr>
        <p:blipFill>
          <a:blip r:embed="rId4"/>
          <a:stretch>
            <a:fillRect/>
          </a:stretch>
        </p:blipFill>
        <p:spPr>
          <a:xfrm>
            <a:off x="2695995" y="1483092"/>
            <a:ext cx="128699" cy="187198"/>
          </a:xfrm>
          <a:prstGeom prst="rect">
            <a:avLst/>
          </a:prstGeom>
        </p:spPr>
      </p:pic>
      <p:pic>
        <p:nvPicPr>
          <p:cNvPr id="94" name="Picture 93" descr="lock.png"/>
          <p:cNvPicPr>
            <a:picLocks noChangeAspect="1"/>
          </p:cNvPicPr>
          <p:nvPr/>
        </p:nvPicPr>
        <p:blipFill>
          <a:blip r:embed="rId4"/>
          <a:stretch>
            <a:fillRect/>
          </a:stretch>
        </p:blipFill>
        <p:spPr>
          <a:xfrm>
            <a:off x="4098075" y="1497089"/>
            <a:ext cx="128699" cy="187198"/>
          </a:xfrm>
          <a:prstGeom prst="rect">
            <a:avLst/>
          </a:prstGeom>
        </p:spPr>
      </p:pic>
      <p:pic>
        <p:nvPicPr>
          <p:cNvPr id="95" name="Picture 94" descr="lock.png"/>
          <p:cNvPicPr>
            <a:picLocks noChangeAspect="1"/>
          </p:cNvPicPr>
          <p:nvPr/>
        </p:nvPicPr>
        <p:blipFill>
          <a:blip r:embed="rId4"/>
          <a:stretch>
            <a:fillRect/>
          </a:stretch>
        </p:blipFill>
        <p:spPr>
          <a:xfrm>
            <a:off x="5500155" y="2340617"/>
            <a:ext cx="128699" cy="187198"/>
          </a:xfrm>
          <a:prstGeom prst="rect">
            <a:avLst/>
          </a:prstGeom>
        </p:spPr>
      </p:pic>
      <p:pic>
        <p:nvPicPr>
          <p:cNvPr id="96" name="Picture 95" descr="lock.png"/>
          <p:cNvPicPr>
            <a:picLocks noChangeAspect="1"/>
          </p:cNvPicPr>
          <p:nvPr/>
        </p:nvPicPr>
        <p:blipFill>
          <a:blip r:embed="rId4"/>
          <a:stretch>
            <a:fillRect/>
          </a:stretch>
        </p:blipFill>
        <p:spPr>
          <a:xfrm>
            <a:off x="6902235" y="1641330"/>
            <a:ext cx="128699" cy="187198"/>
          </a:xfrm>
          <a:prstGeom prst="rect">
            <a:avLst/>
          </a:prstGeom>
        </p:spPr>
      </p:pic>
      <p:pic>
        <p:nvPicPr>
          <p:cNvPr id="97" name="Picture 96" descr="lock.png"/>
          <p:cNvPicPr>
            <a:picLocks noChangeAspect="1"/>
          </p:cNvPicPr>
          <p:nvPr/>
        </p:nvPicPr>
        <p:blipFill>
          <a:blip r:embed="rId4"/>
          <a:stretch>
            <a:fillRect/>
          </a:stretch>
        </p:blipFill>
        <p:spPr>
          <a:xfrm>
            <a:off x="1729525" y="5556181"/>
            <a:ext cx="128699" cy="187198"/>
          </a:xfrm>
          <a:prstGeom prst="rect">
            <a:avLst/>
          </a:prstGeom>
        </p:spPr>
      </p:pic>
      <p:pic>
        <p:nvPicPr>
          <p:cNvPr id="98" name="Picture 97" descr="lock.png"/>
          <p:cNvPicPr>
            <a:picLocks noChangeAspect="1"/>
          </p:cNvPicPr>
          <p:nvPr/>
        </p:nvPicPr>
        <p:blipFill>
          <a:blip r:embed="rId4"/>
          <a:stretch>
            <a:fillRect/>
          </a:stretch>
        </p:blipFill>
        <p:spPr>
          <a:xfrm>
            <a:off x="4079025" y="4267488"/>
            <a:ext cx="128699" cy="187198"/>
          </a:xfrm>
          <a:prstGeom prst="rect">
            <a:avLst/>
          </a:prstGeom>
        </p:spPr>
      </p:pic>
      <p:pic>
        <p:nvPicPr>
          <p:cNvPr id="99" name="Picture 98" descr="lock.png"/>
          <p:cNvPicPr>
            <a:picLocks noChangeAspect="1"/>
          </p:cNvPicPr>
          <p:nvPr/>
        </p:nvPicPr>
        <p:blipFill>
          <a:blip r:embed="rId4"/>
          <a:stretch>
            <a:fillRect/>
          </a:stretch>
        </p:blipFill>
        <p:spPr>
          <a:xfrm>
            <a:off x="6428525" y="4860361"/>
            <a:ext cx="128699" cy="187198"/>
          </a:xfrm>
          <a:prstGeom prst="rect">
            <a:avLst/>
          </a:prstGeom>
        </p:spPr>
      </p:pic>
      <p:sp>
        <p:nvSpPr>
          <p:cNvPr id="100" name="TextBox 99"/>
          <p:cNvSpPr txBox="1"/>
          <p:nvPr/>
        </p:nvSpPr>
        <p:spPr>
          <a:xfrm>
            <a:off x="8048625" y="1471995"/>
            <a:ext cx="3410532" cy="194310"/>
          </a:xfrm>
          <a:prstGeom prst="rect">
            <a:avLst/>
          </a:prstGeom>
          <a:noFill/>
        </p:spPr>
        <p:txBody>
          <a:bodyPr wrap="none" lIns="0" rIns="0" tIns="0" bIns="0">
            <a:spAutoFit/>
          </a:bodyPr>
          <a:lstStyle/>
          <a:p>
            <a:r>
              <a:rPr sz="1150" b="0">
                <a:solidFill>
                  <a:srgbClr val="2E2E2E"/>
                </a:solidFill>
                <a:latin typeface="Calibri"/>
              </a:rPr>
              <a:t>Agriculture and forestry vehicles segment is expected to</a:t>
            </a:r>
          </a:p>
        </p:txBody>
      </p:sp>
      <p:sp>
        <p:nvSpPr>
          <p:cNvPr id="101" name="TextBox 100"/>
          <p:cNvSpPr txBox="1"/>
          <p:nvPr/>
        </p:nvSpPr>
        <p:spPr>
          <a:xfrm>
            <a:off x="8048625" y="1647255"/>
            <a:ext cx="2627225" cy="194310"/>
          </a:xfrm>
          <a:prstGeom prst="rect">
            <a:avLst/>
          </a:prstGeom>
          <a:noFill/>
        </p:spPr>
        <p:txBody>
          <a:bodyPr wrap="none" lIns="0" rIns="0" tIns="0" bIns="0">
            <a:spAutoFit/>
          </a:bodyPr>
          <a:lstStyle/>
          <a:p>
            <a:r>
              <a:rPr sz="1150" b="0">
                <a:solidFill>
                  <a:srgbClr val="2E2E2E"/>
                </a:solidFill>
                <a:latin typeface="Calibri"/>
              </a:rPr>
              <a:t>command the highest average price of US$</a:t>
            </a:r>
          </a:p>
        </p:txBody>
      </p:sp>
      <p:pic>
        <p:nvPicPr>
          <p:cNvPr id="102" name="Picture 101" descr="lock.png"/>
          <p:cNvPicPr>
            <a:picLocks noChangeAspect="1"/>
          </p:cNvPicPr>
          <p:nvPr/>
        </p:nvPicPr>
        <p:blipFill>
          <a:blip r:embed="rId4"/>
          <a:stretch>
            <a:fillRect/>
          </a:stretch>
        </p:blipFill>
        <p:spPr>
          <a:xfrm>
            <a:off x="10625004" y="1637031"/>
            <a:ext cx="134549" cy="195707"/>
          </a:xfrm>
          <a:prstGeom prst="rect">
            <a:avLst/>
          </a:prstGeom>
        </p:spPr>
      </p:pic>
      <p:sp>
        <p:nvSpPr>
          <p:cNvPr id="103" name="TextBox 102"/>
          <p:cNvSpPr txBox="1"/>
          <p:nvPr/>
        </p:nvSpPr>
        <p:spPr>
          <a:xfrm>
            <a:off x="10800113" y="1647255"/>
            <a:ext cx="706611" cy="194310"/>
          </a:xfrm>
          <a:prstGeom prst="rect">
            <a:avLst/>
          </a:prstGeom>
          <a:noFill/>
        </p:spPr>
        <p:txBody>
          <a:bodyPr wrap="none" lIns="0" rIns="0" tIns="0" bIns="0">
            <a:spAutoFit/>
          </a:bodyPr>
          <a:lstStyle/>
          <a:p>
            <a:r>
              <a:rPr sz="1150" b="0">
                <a:solidFill>
                  <a:srgbClr val="2E2E2E"/>
                </a:solidFill>
                <a:latin typeface="Calibri"/>
              </a:rPr>
              <a:t>per Unit in</a:t>
            </a:r>
          </a:p>
        </p:txBody>
      </p:sp>
      <p:sp>
        <p:nvSpPr>
          <p:cNvPr id="104" name="TextBox 103"/>
          <p:cNvSpPr txBox="1"/>
          <p:nvPr/>
        </p:nvSpPr>
        <p:spPr>
          <a:xfrm>
            <a:off x="8048625" y="1822515"/>
            <a:ext cx="3800434" cy="194310"/>
          </a:xfrm>
          <a:prstGeom prst="rect">
            <a:avLst/>
          </a:prstGeom>
          <a:noFill/>
        </p:spPr>
        <p:txBody>
          <a:bodyPr wrap="none" lIns="0" rIns="0" tIns="0" bIns="0">
            <a:spAutoFit/>
          </a:bodyPr>
          <a:lstStyle/>
          <a:p>
            <a:r>
              <a:rPr sz="1150" b="0">
                <a:solidFill>
                  <a:srgbClr val="2E2E2E"/>
                </a:solidFill>
                <a:latin typeface="Calibri"/>
              </a:rPr>
              <a:t>2036. Average selling price of Off-Highway vehicle is estimated</a:t>
            </a:r>
          </a:p>
        </p:txBody>
      </p:sp>
      <p:sp>
        <p:nvSpPr>
          <p:cNvPr id="105" name="TextBox 104"/>
          <p:cNvSpPr txBox="1"/>
          <p:nvPr/>
        </p:nvSpPr>
        <p:spPr>
          <a:xfrm>
            <a:off x="8048625" y="1997775"/>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106" name="Picture 105" descr="lock.png"/>
          <p:cNvPicPr>
            <a:picLocks noChangeAspect="1"/>
          </p:cNvPicPr>
          <p:nvPr/>
        </p:nvPicPr>
        <p:blipFill>
          <a:blip r:embed="rId4"/>
          <a:stretch>
            <a:fillRect/>
          </a:stretch>
        </p:blipFill>
        <p:spPr>
          <a:xfrm>
            <a:off x="8461068" y="1987551"/>
            <a:ext cx="134549" cy="195707"/>
          </a:xfrm>
          <a:prstGeom prst="rect">
            <a:avLst/>
          </a:prstGeom>
        </p:spPr>
      </p:pic>
      <p:sp>
        <p:nvSpPr>
          <p:cNvPr id="107" name="TextBox 106"/>
          <p:cNvSpPr txBox="1"/>
          <p:nvPr/>
        </p:nvSpPr>
        <p:spPr>
          <a:xfrm>
            <a:off x="8636177" y="1997775"/>
            <a:ext cx="3138115" cy="194310"/>
          </a:xfrm>
          <a:prstGeom prst="rect">
            <a:avLst/>
          </a:prstGeom>
          <a:noFill/>
        </p:spPr>
        <p:txBody>
          <a:bodyPr wrap="none" lIns="0" rIns="0" tIns="0" bIns="0">
            <a:spAutoFit/>
          </a:bodyPr>
          <a:lstStyle/>
          <a:p>
            <a:r>
              <a:rPr sz="1150" b="0">
                <a:solidFill>
                  <a:srgbClr val="2E2E2E"/>
                </a:solidFill>
                <a:latin typeface="Calibri"/>
              </a:rPr>
              <a:t>per Unit in 2025 and is projected to increase to US$</a:t>
            </a:r>
          </a:p>
        </p:txBody>
      </p:sp>
      <p:pic>
        <p:nvPicPr>
          <p:cNvPr id="108" name="Picture 107" descr="lock.png"/>
          <p:cNvPicPr>
            <a:picLocks noChangeAspect="1"/>
          </p:cNvPicPr>
          <p:nvPr/>
        </p:nvPicPr>
        <p:blipFill>
          <a:blip r:embed="rId4"/>
          <a:stretch>
            <a:fillRect/>
          </a:stretch>
        </p:blipFill>
        <p:spPr>
          <a:xfrm>
            <a:off x="8034545" y="2162811"/>
            <a:ext cx="134549" cy="195707"/>
          </a:xfrm>
          <a:prstGeom prst="rect">
            <a:avLst/>
          </a:prstGeom>
        </p:spPr>
      </p:pic>
      <p:sp>
        <p:nvSpPr>
          <p:cNvPr id="109" name="TextBox 108"/>
          <p:cNvSpPr txBox="1"/>
          <p:nvPr/>
        </p:nvSpPr>
        <p:spPr>
          <a:xfrm>
            <a:off x="8209654" y="2173035"/>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110" name="TextBox 109"/>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111" name="TextBox 110"/>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112" name="Picture 111" descr="lock.png"/>
          <p:cNvPicPr>
            <a:picLocks noChangeAspect="1"/>
          </p:cNvPicPr>
          <p:nvPr/>
        </p:nvPicPr>
        <p:blipFill>
          <a:blip r:embed="rId4"/>
          <a:stretch>
            <a:fillRect/>
          </a:stretch>
        </p:blipFill>
        <p:spPr>
          <a:xfrm>
            <a:off x="8034545" y="2741169"/>
            <a:ext cx="134549" cy="195707"/>
          </a:xfrm>
          <a:prstGeom prst="rect">
            <a:avLst/>
          </a:prstGeom>
        </p:spPr>
      </p:pic>
      <p:sp>
        <p:nvSpPr>
          <p:cNvPr id="113" name="TextBox 112"/>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2 of 3 countries price above and 1 below.</a:t>
            </a:r>
          </a:p>
        </p:txBody>
      </p:sp>
      <p:sp>
        <p:nvSpPr>
          <p:cNvPr id="114" name="TextBox 113"/>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115" name="Picture 114" descr="lock.png"/>
          <p:cNvPicPr>
            <a:picLocks noChangeAspect="1"/>
          </p:cNvPicPr>
          <p:nvPr/>
        </p:nvPicPr>
        <p:blipFill>
          <a:blip r:embed="rId4"/>
          <a:stretch>
            <a:fillRect/>
          </a:stretch>
        </p:blipFill>
        <p:spPr>
          <a:xfrm>
            <a:off x="9675109" y="2969007"/>
            <a:ext cx="134549" cy="195707"/>
          </a:xfrm>
          <a:prstGeom prst="rect">
            <a:avLst/>
          </a:prstGeom>
        </p:spPr>
      </p:pic>
      <p:sp>
        <p:nvSpPr>
          <p:cNvPr id="116" name="TextBox 115"/>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117" name="TextBox 116"/>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118" name="Picture 117" descr="lock.png"/>
          <p:cNvPicPr>
            <a:picLocks noChangeAspect="1"/>
          </p:cNvPicPr>
          <p:nvPr/>
        </p:nvPicPr>
        <p:blipFill>
          <a:blip r:embed="rId4"/>
          <a:stretch>
            <a:fillRect/>
          </a:stretch>
        </p:blipFill>
        <p:spPr>
          <a:xfrm>
            <a:off x="8840741" y="3144267"/>
            <a:ext cx="134549" cy="195707"/>
          </a:xfrm>
          <a:prstGeom prst="rect">
            <a:avLst/>
          </a:prstGeom>
        </p:spPr>
      </p:pic>
      <p:sp>
        <p:nvSpPr>
          <p:cNvPr id="119" name="TextBox 118"/>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120" name="TextBox 119"/>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Summary, By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7" name="Rounded Rectangle 6"/>
          <p:cNvSpPr/>
          <p:nvPr/>
        </p:nvSpPr>
        <p:spPr>
          <a:xfrm>
            <a:off x="142875"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2A5F8F"/>
                </a:solidFill>
                <a:latin typeface="Calibri"/>
              </a:rPr>
              <a:t> </a:t>
            </a:r>
          </a:p>
        </p:txBody>
      </p:sp>
      <p:sp>
        <p:nvSpPr>
          <p:cNvPr id="8" name="Rounded Rectangle 7"/>
          <p:cNvSpPr/>
          <p:nvPr/>
        </p:nvSpPr>
        <p:spPr>
          <a:xfrm>
            <a:off x="31432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p:txBody>
      </p:sp>
      <p:sp>
        <p:nvSpPr>
          <p:cNvPr id="9" name="Rounded Rectangle 8"/>
          <p:cNvSpPr/>
          <p:nvPr/>
        </p:nvSpPr>
        <p:spPr>
          <a:xfrm>
            <a:off x="61531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2A5F8F"/>
                </a:solidFill>
                <a:latin typeface="Calibri"/>
              </a:rPr>
              <a:t> </a:t>
            </a:r>
          </a:p>
        </p:txBody>
      </p:sp>
      <p:sp>
        <p:nvSpPr>
          <p:cNvPr id="10" name="Rounded Rectangle 9"/>
          <p:cNvSpPr/>
          <p:nvPr/>
        </p:nvSpPr>
        <p:spPr>
          <a:xfrm>
            <a:off x="9163050" y="1025515"/>
            <a:ext cx="2876550" cy="511104"/>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627887"/>
            <a:ext cx="769620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3" name="Chart 12"/>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4037375"/>
            <a:ext cx="7696200" cy="2519010"/>
          </a:xfrm>
          <a:prstGeom prst="roundRect">
            <a:avLst>
              <a:gd name="adj" fmla="val 30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6" name="Chart 15"/>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7" name="Rounded Rectangle 16"/>
          <p:cNvSpPr/>
          <p:nvPr/>
        </p:nvSpPr>
        <p:spPr>
          <a:xfrm>
            <a:off x="7915275" y="1627887"/>
            <a:ext cx="4133850" cy="2955981"/>
          </a:xfrm>
          <a:prstGeom prst="roundRect">
            <a:avLst>
              <a:gd name="adj" fmla="val 25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9" name="Rectangle 18"/>
          <p:cNvSpPr/>
          <p:nvPr/>
        </p:nvSpPr>
        <p:spPr>
          <a:xfrm>
            <a:off x="8048625" y="1951737"/>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2037462"/>
            <a:ext cx="3867150" cy="247020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1" name="Rounded Rectangle 20"/>
          <p:cNvSpPr/>
          <p:nvPr/>
        </p:nvSpPr>
        <p:spPr>
          <a:xfrm>
            <a:off x="7915275" y="4638629"/>
            <a:ext cx="4133850" cy="1917756"/>
          </a:xfrm>
          <a:prstGeom prst="roundRect">
            <a:avLst>
              <a:gd name="adj" fmla="val 397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4724354"/>
            <a:ext cx="3867150" cy="209550"/>
          </a:xfrm>
          <a:prstGeom prst="rect">
            <a:avLst/>
          </a:prstGeom>
          <a:noFill/>
        </p:spPr>
        <p:txBody>
          <a:bodyPr wrap="square" lIns="0" rIns="19050" tIns="9525" bIns="9525">
            <a:spAutoFit/>
          </a:bodyPr>
          <a:lstStyle/>
          <a:p>
            <a:pPr algn="l"/>
            <a:r>
              <a:rPr sz="1300" b="1">
                <a:solidFill>
                  <a:srgbClr val="0E2A5C"/>
                </a:solidFill>
                <a:latin typeface="Calibri"/>
              </a:rPr>
              <a:t>Growth Drivers</a:t>
            </a:r>
          </a:p>
        </p:txBody>
      </p:sp>
      <p:sp>
        <p:nvSpPr>
          <p:cNvPr id="23" name="Rectangle 22"/>
          <p:cNvSpPr/>
          <p:nvPr/>
        </p:nvSpPr>
        <p:spPr>
          <a:xfrm>
            <a:off x="8048625" y="4962479"/>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5048204"/>
            <a:ext cx="3867150" cy="143198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1502569" y="1250587"/>
            <a:ext cx="157162" cy="228600"/>
          </a:xfrm>
          <a:prstGeom prst="rect">
            <a:avLst/>
          </a:prstGeom>
        </p:spPr>
      </p:pic>
      <p:pic>
        <p:nvPicPr>
          <p:cNvPr id="28" name="Picture 27" descr="lock.png"/>
          <p:cNvPicPr>
            <a:picLocks noChangeAspect="1"/>
          </p:cNvPicPr>
          <p:nvPr/>
        </p:nvPicPr>
        <p:blipFill>
          <a:blip r:embed="rId6"/>
          <a:stretch>
            <a:fillRect/>
          </a:stretch>
        </p:blipFill>
        <p:spPr>
          <a:xfrm>
            <a:off x="4502944" y="1250587"/>
            <a:ext cx="157162" cy="228600"/>
          </a:xfrm>
          <a:prstGeom prst="rect">
            <a:avLst/>
          </a:prstGeom>
        </p:spPr>
      </p:pic>
      <p:pic>
        <p:nvPicPr>
          <p:cNvPr id="29" name="Picture 28" descr="lock.png"/>
          <p:cNvPicPr>
            <a:picLocks noChangeAspect="1"/>
          </p:cNvPicPr>
          <p:nvPr/>
        </p:nvPicPr>
        <p:blipFill>
          <a:blip r:embed="rId6"/>
          <a:stretch>
            <a:fillRect/>
          </a:stretch>
        </p:blipFill>
        <p:spPr>
          <a:xfrm>
            <a:off x="7512844"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105227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3991062" y="5157531"/>
            <a:ext cx="289830" cy="421571"/>
          </a:xfrm>
          <a:prstGeom prst="rect">
            <a:avLst/>
          </a:prstGeom>
        </p:spPr>
      </p:pic>
      <p:sp>
        <p:nvSpPr>
          <p:cNvPr id="32" name="TextBox 31"/>
          <p:cNvSpPr txBox="1"/>
          <p:nvPr/>
        </p:nvSpPr>
        <p:spPr>
          <a:xfrm>
            <a:off x="8048625" y="2046987"/>
            <a:ext cx="3805262" cy="186689"/>
          </a:xfrm>
          <a:prstGeom prst="rect">
            <a:avLst/>
          </a:prstGeom>
          <a:noFill/>
        </p:spPr>
        <p:txBody>
          <a:bodyPr wrap="none" lIns="0" rIns="0" tIns="0" bIns="0">
            <a:spAutoFit/>
          </a:bodyPr>
          <a:lstStyle/>
          <a:p>
            <a:r>
              <a:rPr sz="1100" b="0">
                <a:solidFill>
                  <a:srgbClr val="2E2E2E"/>
                </a:solidFill>
                <a:latin typeface="Calibri"/>
              </a:rPr>
              <a:t>Off-highway vehicle market value in North America is expected to</a:t>
            </a:r>
          </a:p>
        </p:txBody>
      </p:sp>
      <p:sp>
        <p:nvSpPr>
          <p:cNvPr id="33" name="TextBox 32"/>
          <p:cNvSpPr txBox="1"/>
          <p:nvPr/>
        </p:nvSpPr>
        <p:spPr>
          <a:xfrm>
            <a:off x="8048625" y="2214627"/>
            <a:ext cx="550416" cy="186689"/>
          </a:xfrm>
          <a:prstGeom prst="rect">
            <a:avLst/>
          </a:prstGeom>
          <a:noFill/>
        </p:spPr>
        <p:txBody>
          <a:bodyPr wrap="none" lIns="0" rIns="0" tIns="0" bIns="0">
            <a:spAutoFit/>
          </a:bodyPr>
          <a:lstStyle/>
          <a:p>
            <a:r>
              <a:rPr sz="1100" b="0">
                <a:solidFill>
                  <a:srgbClr val="2E2E2E"/>
                </a:solidFill>
                <a:latin typeface="Calibri"/>
              </a:rPr>
              <a:t>increase</a:t>
            </a:r>
          </a:p>
        </p:txBody>
      </p:sp>
      <p:pic>
        <p:nvPicPr>
          <p:cNvPr id="34" name="Picture 33" descr="lock.png"/>
          <p:cNvPicPr>
            <a:picLocks noChangeAspect="1"/>
          </p:cNvPicPr>
          <p:nvPr/>
        </p:nvPicPr>
        <p:blipFill>
          <a:blip r:embed="rId6"/>
          <a:stretch>
            <a:fillRect/>
          </a:stretch>
        </p:blipFill>
        <p:spPr>
          <a:xfrm>
            <a:off x="8547092" y="2204848"/>
            <a:ext cx="128699" cy="187198"/>
          </a:xfrm>
          <a:prstGeom prst="rect">
            <a:avLst/>
          </a:prstGeom>
        </p:spPr>
      </p:pic>
      <p:sp>
        <p:nvSpPr>
          <p:cNvPr id="35" name="TextBox 34"/>
          <p:cNvSpPr txBox="1"/>
          <p:nvPr/>
        </p:nvSpPr>
        <p:spPr>
          <a:xfrm>
            <a:off x="8714588" y="2214627"/>
            <a:ext cx="3014265" cy="186689"/>
          </a:xfrm>
          <a:prstGeom prst="rect">
            <a:avLst/>
          </a:prstGeom>
          <a:noFill/>
        </p:spPr>
        <p:txBody>
          <a:bodyPr wrap="none" lIns="0" rIns="0" tIns="0" bIns="0">
            <a:spAutoFit/>
          </a:bodyPr>
          <a:lstStyle/>
          <a:p>
            <a:r>
              <a:rPr sz="1100" b="0">
                <a:solidFill>
                  <a:srgbClr val="2E2E2E"/>
                </a:solidFill>
                <a:latin typeface="Calibri"/>
              </a:rPr>
              <a:t>X between 2025 and 2036. In 2025, the off-highway</a:t>
            </a:r>
          </a:p>
        </p:txBody>
      </p:sp>
      <p:sp>
        <p:nvSpPr>
          <p:cNvPr id="36" name="TextBox 35"/>
          <p:cNvSpPr txBox="1"/>
          <p:nvPr/>
        </p:nvSpPr>
        <p:spPr>
          <a:xfrm>
            <a:off x="8048625" y="2382267"/>
            <a:ext cx="2982069" cy="186689"/>
          </a:xfrm>
          <a:prstGeom prst="rect">
            <a:avLst/>
          </a:prstGeom>
          <a:noFill/>
        </p:spPr>
        <p:txBody>
          <a:bodyPr wrap="none" lIns="0" rIns="0" tIns="0" bIns="0">
            <a:spAutoFit/>
          </a:bodyPr>
          <a:lstStyle/>
          <a:p>
            <a:r>
              <a:rPr sz="1100" b="0">
                <a:solidFill>
                  <a:srgbClr val="2E2E2E"/>
                </a:solidFill>
                <a:latin typeface="Calibri"/>
              </a:rPr>
              <a:t>vehicle market in North America was valued at US$</a:t>
            </a:r>
          </a:p>
        </p:txBody>
      </p:sp>
      <p:pic>
        <p:nvPicPr>
          <p:cNvPr id="37" name="Picture 36" descr="lock.png"/>
          <p:cNvPicPr>
            <a:picLocks noChangeAspect="1"/>
          </p:cNvPicPr>
          <p:nvPr/>
        </p:nvPicPr>
        <p:blipFill>
          <a:blip r:embed="rId6"/>
          <a:stretch>
            <a:fillRect/>
          </a:stretch>
        </p:blipFill>
        <p:spPr>
          <a:xfrm>
            <a:off x="10978745" y="2372488"/>
            <a:ext cx="128699" cy="187198"/>
          </a:xfrm>
          <a:prstGeom prst="rect">
            <a:avLst/>
          </a:prstGeom>
        </p:spPr>
      </p:pic>
      <p:sp>
        <p:nvSpPr>
          <p:cNvPr id="38" name="TextBox 37"/>
          <p:cNvSpPr txBox="1"/>
          <p:nvPr/>
        </p:nvSpPr>
        <p:spPr>
          <a:xfrm>
            <a:off x="11146241" y="2382267"/>
            <a:ext cx="632817" cy="186689"/>
          </a:xfrm>
          <a:prstGeom prst="rect">
            <a:avLst/>
          </a:prstGeom>
          <a:noFill/>
        </p:spPr>
        <p:txBody>
          <a:bodyPr wrap="none" lIns="0" rIns="0" tIns="0" bIns="0">
            <a:spAutoFit/>
          </a:bodyPr>
          <a:lstStyle/>
          <a:p>
            <a:r>
              <a:rPr sz="1100" b="0">
                <a:solidFill>
                  <a:srgbClr val="2E2E2E"/>
                </a:solidFill>
                <a:latin typeface="Calibri"/>
              </a:rPr>
              <a:t>Mn and is</a:t>
            </a:r>
          </a:p>
        </p:txBody>
      </p:sp>
      <p:sp>
        <p:nvSpPr>
          <p:cNvPr id="39" name="TextBox 38"/>
          <p:cNvSpPr txBox="1"/>
          <p:nvPr/>
        </p:nvSpPr>
        <p:spPr>
          <a:xfrm>
            <a:off x="8048625" y="2549907"/>
            <a:ext cx="1737593" cy="186689"/>
          </a:xfrm>
          <a:prstGeom prst="rect">
            <a:avLst/>
          </a:prstGeom>
          <a:noFill/>
        </p:spPr>
        <p:txBody>
          <a:bodyPr wrap="none" lIns="0" rIns="0" tIns="0" bIns="0">
            <a:spAutoFit/>
          </a:bodyPr>
          <a:lstStyle/>
          <a:p>
            <a:r>
              <a:rPr sz="1100" b="0">
                <a:solidFill>
                  <a:srgbClr val="2E2E2E"/>
                </a:solidFill>
                <a:latin typeface="Calibri"/>
              </a:rPr>
              <a:t>estimated to account for US$</a:t>
            </a:r>
          </a:p>
        </p:txBody>
      </p:sp>
      <p:pic>
        <p:nvPicPr>
          <p:cNvPr id="40" name="Picture 39" descr="lock.png"/>
          <p:cNvPicPr>
            <a:picLocks noChangeAspect="1"/>
          </p:cNvPicPr>
          <p:nvPr/>
        </p:nvPicPr>
        <p:blipFill>
          <a:blip r:embed="rId6"/>
          <a:stretch>
            <a:fillRect/>
          </a:stretch>
        </p:blipFill>
        <p:spPr>
          <a:xfrm>
            <a:off x="9734269" y="2540128"/>
            <a:ext cx="128699" cy="187198"/>
          </a:xfrm>
          <a:prstGeom prst="rect">
            <a:avLst/>
          </a:prstGeom>
        </p:spPr>
      </p:pic>
      <p:sp>
        <p:nvSpPr>
          <p:cNvPr id="41" name="TextBox 40"/>
          <p:cNvSpPr txBox="1"/>
          <p:nvPr/>
        </p:nvSpPr>
        <p:spPr>
          <a:xfrm>
            <a:off x="9901765" y="2549907"/>
            <a:ext cx="1977156" cy="186689"/>
          </a:xfrm>
          <a:prstGeom prst="rect">
            <a:avLst/>
          </a:prstGeom>
          <a:noFill/>
        </p:spPr>
        <p:txBody>
          <a:bodyPr wrap="none" lIns="0" rIns="0" tIns="0" bIns="0">
            <a:spAutoFit/>
          </a:bodyPr>
          <a:lstStyle/>
          <a:p>
            <a:r>
              <a:rPr sz="1100" b="0">
                <a:solidFill>
                  <a:srgbClr val="2E2E2E"/>
                </a:solidFill>
                <a:latin typeface="Calibri"/>
              </a:rPr>
              <a:t>Mn by the end of 2026, reflecting</a:t>
            </a:r>
          </a:p>
        </p:txBody>
      </p:sp>
      <p:sp>
        <p:nvSpPr>
          <p:cNvPr id="42" name="TextBox 41"/>
          <p:cNvSpPr txBox="1"/>
          <p:nvPr/>
        </p:nvSpPr>
        <p:spPr>
          <a:xfrm>
            <a:off x="8048625" y="2717547"/>
            <a:ext cx="1322313" cy="186689"/>
          </a:xfrm>
          <a:prstGeom prst="rect">
            <a:avLst/>
          </a:prstGeom>
          <a:noFill/>
        </p:spPr>
        <p:txBody>
          <a:bodyPr wrap="none" lIns="0" rIns="0" tIns="0" bIns="0">
            <a:spAutoFit/>
          </a:bodyPr>
          <a:lstStyle/>
          <a:p>
            <a:r>
              <a:rPr sz="1100" b="0">
                <a:solidFill>
                  <a:srgbClr val="2E2E2E"/>
                </a:solidFill>
                <a:latin typeface="Calibri"/>
              </a:rPr>
              <a:t>a Y-o-Y growth rate of</a:t>
            </a:r>
          </a:p>
        </p:txBody>
      </p:sp>
      <p:pic>
        <p:nvPicPr>
          <p:cNvPr id="43" name="Picture 42" descr="lock.png"/>
          <p:cNvPicPr>
            <a:picLocks noChangeAspect="1"/>
          </p:cNvPicPr>
          <p:nvPr/>
        </p:nvPicPr>
        <p:blipFill>
          <a:blip r:embed="rId6"/>
          <a:stretch>
            <a:fillRect/>
          </a:stretch>
        </p:blipFill>
        <p:spPr>
          <a:xfrm>
            <a:off x="9318989" y="2707768"/>
            <a:ext cx="128699" cy="187198"/>
          </a:xfrm>
          <a:prstGeom prst="rect">
            <a:avLst/>
          </a:prstGeom>
        </p:spPr>
      </p:pic>
      <p:sp>
        <p:nvSpPr>
          <p:cNvPr id="44" name="TextBox 43"/>
          <p:cNvSpPr txBox="1"/>
          <p:nvPr/>
        </p:nvSpPr>
        <p:spPr>
          <a:xfrm>
            <a:off x="9486485"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6" name="Picture 45" descr="lock.png"/>
          <p:cNvPicPr>
            <a:picLocks noChangeAspect="1"/>
          </p:cNvPicPr>
          <p:nvPr/>
        </p:nvPicPr>
        <p:blipFill>
          <a:blip r:embed="rId6"/>
          <a:stretch>
            <a:fillRect/>
          </a:stretch>
        </p:blipFill>
        <p:spPr>
          <a:xfrm>
            <a:off x="8035157" y="3093340"/>
            <a:ext cx="128699" cy="187198"/>
          </a:xfrm>
          <a:prstGeom prst="rect">
            <a:avLst/>
          </a:prstGeom>
        </p:spPr>
      </p:pic>
      <p:sp>
        <p:nvSpPr>
          <p:cNvPr id="47" name="TextBox 46"/>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48" name="Picture 47" descr="lock.png"/>
          <p:cNvPicPr>
            <a:picLocks noChangeAspect="1"/>
          </p:cNvPicPr>
          <p:nvPr/>
        </p:nvPicPr>
        <p:blipFill>
          <a:blip r:embed="rId6"/>
          <a:stretch>
            <a:fillRect/>
          </a:stretch>
        </p:blipFill>
        <p:spPr>
          <a:xfrm>
            <a:off x="9646261" y="3093340"/>
            <a:ext cx="128699" cy="187198"/>
          </a:xfrm>
          <a:prstGeom prst="rect">
            <a:avLst/>
          </a:prstGeom>
        </p:spPr>
      </p:pic>
      <p:sp>
        <p:nvSpPr>
          <p:cNvPr id="49" name="TextBox 48"/>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0" name="TextBox 49"/>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1" name="Picture 50" descr="lock.png"/>
          <p:cNvPicPr>
            <a:picLocks noChangeAspect="1"/>
          </p:cNvPicPr>
          <p:nvPr/>
        </p:nvPicPr>
        <p:blipFill>
          <a:blip r:embed="rId6"/>
          <a:stretch>
            <a:fillRect/>
          </a:stretch>
        </p:blipFill>
        <p:spPr>
          <a:xfrm>
            <a:off x="8035157" y="3428620"/>
            <a:ext cx="128699" cy="187198"/>
          </a:xfrm>
          <a:prstGeom prst="rect">
            <a:avLst/>
          </a:prstGeom>
        </p:spPr>
      </p:pic>
      <p:sp>
        <p:nvSpPr>
          <p:cNvPr id="52" name="TextBox 51"/>
          <p:cNvSpPr txBox="1"/>
          <p:nvPr/>
        </p:nvSpPr>
        <p:spPr>
          <a:xfrm>
            <a:off x="8202653" y="3438399"/>
            <a:ext cx="3459286" cy="186689"/>
          </a:xfrm>
          <a:prstGeom prst="rect">
            <a:avLst/>
          </a:prstGeom>
          <a:noFill/>
        </p:spPr>
        <p:txBody>
          <a:bodyPr wrap="none" lIns="0" rIns="0" tIns="0" bIns="0">
            <a:spAutoFit/>
          </a:bodyPr>
          <a:lstStyle/>
          <a:p>
            <a:r>
              <a:rPr sz="1100" b="0">
                <a:solidFill>
                  <a:srgbClr val="2E2E2E"/>
                </a:solidFill>
                <a:latin typeface="Calibri"/>
              </a:rPr>
              <a:t>Mn for the overall off-highway vehicle market from 2025 to</a:t>
            </a:r>
          </a:p>
        </p:txBody>
      </p:sp>
      <p:sp>
        <p:nvSpPr>
          <p:cNvPr id="53" name="TextBox 52"/>
          <p:cNvSpPr txBox="1"/>
          <p:nvPr/>
        </p:nvSpPr>
        <p:spPr>
          <a:xfrm>
            <a:off x="8048625" y="360603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54" name="TextBox 53"/>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5" name="Picture 54" descr="lock.png"/>
          <p:cNvPicPr>
            <a:picLocks noChangeAspect="1"/>
          </p:cNvPicPr>
          <p:nvPr/>
        </p:nvPicPr>
        <p:blipFill>
          <a:blip r:embed="rId6"/>
          <a:stretch>
            <a:fillRect/>
          </a:stretch>
        </p:blipFill>
        <p:spPr>
          <a:xfrm>
            <a:off x="10833861" y="3814192"/>
            <a:ext cx="128699" cy="187198"/>
          </a:xfrm>
          <a:prstGeom prst="rect">
            <a:avLst/>
          </a:prstGeom>
        </p:spPr>
      </p:pic>
      <p:sp>
        <p:nvSpPr>
          <p:cNvPr id="56" name="TextBox 55"/>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7" name="TextBox 56"/>
          <p:cNvSpPr txBox="1"/>
          <p:nvPr/>
        </p:nvSpPr>
        <p:spPr>
          <a:xfrm>
            <a:off x="8048625" y="5057729"/>
            <a:ext cx="2130883" cy="194310"/>
          </a:xfrm>
          <a:prstGeom prst="rect">
            <a:avLst/>
          </a:prstGeom>
          <a:noFill/>
        </p:spPr>
        <p:txBody>
          <a:bodyPr wrap="none" lIns="0" rIns="0" tIns="0" bIns="0">
            <a:spAutoFit/>
          </a:bodyPr>
          <a:lstStyle/>
          <a:p>
            <a:r>
              <a:rPr sz="1150" b="0">
                <a:solidFill>
                  <a:srgbClr val="2E2E2E"/>
                </a:solidFill>
                <a:latin typeface="Calibri"/>
              </a:rPr>
              <a:t>▪ 'Mexico' leads regional growth at</a:t>
            </a:r>
          </a:p>
        </p:txBody>
      </p:sp>
      <p:pic>
        <p:nvPicPr>
          <p:cNvPr id="58" name="Picture 57" descr="lock.png"/>
          <p:cNvPicPr>
            <a:picLocks noChangeAspect="1"/>
          </p:cNvPicPr>
          <p:nvPr/>
        </p:nvPicPr>
        <p:blipFill>
          <a:blip r:embed="rId6"/>
          <a:stretch>
            <a:fillRect/>
          </a:stretch>
        </p:blipFill>
        <p:spPr>
          <a:xfrm>
            <a:off x="10128662" y="5047505"/>
            <a:ext cx="134549" cy="195707"/>
          </a:xfrm>
          <a:prstGeom prst="rect">
            <a:avLst/>
          </a:prstGeom>
        </p:spPr>
      </p:pic>
      <p:sp>
        <p:nvSpPr>
          <p:cNvPr id="59" name="TextBox 58"/>
          <p:cNvSpPr txBox="1"/>
          <p:nvPr/>
        </p:nvSpPr>
        <p:spPr>
          <a:xfrm>
            <a:off x="10303772" y="505772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0" name="TextBox 59"/>
          <p:cNvSpPr txBox="1"/>
          <p:nvPr/>
        </p:nvSpPr>
        <p:spPr>
          <a:xfrm>
            <a:off x="8048625" y="5285566"/>
            <a:ext cx="3706055" cy="194310"/>
          </a:xfrm>
          <a:prstGeom prst="rect">
            <a:avLst/>
          </a:prstGeom>
          <a:noFill/>
        </p:spPr>
        <p:txBody>
          <a:bodyPr wrap="none" lIns="0" rIns="0" tIns="0" bIns="0">
            <a:spAutoFit/>
          </a:bodyPr>
          <a:lstStyle/>
          <a:p>
            <a:r>
              <a:rPr sz="1150" b="0">
                <a:solidFill>
                  <a:srgbClr val="2E2E2E"/>
                </a:solidFill>
                <a:latin typeface="Calibri"/>
              </a:rPr>
              <a:t>▪ Demand concentrates in 'Construction and Mining Vehicles'</a:t>
            </a:r>
          </a:p>
        </p:txBody>
      </p:sp>
      <p:sp>
        <p:nvSpPr>
          <p:cNvPr id="61" name="TextBox 60"/>
          <p:cNvSpPr txBox="1"/>
          <p:nvPr/>
        </p:nvSpPr>
        <p:spPr>
          <a:xfrm>
            <a:off x="8048625" y="5460826"/>
            <a:ext cx="1274836" cy="194310"/>
          </a:xfrm>
          <a:prstGeom prst="rect">
            <a:avLst/>
          </a:prstGeom>
          <a:noFill/>
        </p:spPr>
        <p:txBody>
          <a:bodyPr wrap="none" lIns="0" rIns="0" tIns="0" bIns="0">
            <a:spAutoFit/>
          </a:bodyPr>
          <a:lstStyle/>
          <a:p>
            <a:r>
              <a:rPr sz="1150" b="0">
                <a:solidFill>
                  <a:srgbClr val="2E2E2E"/>
                </a:solidFill>
                <a:latin typeface="Calibri"/>
              </a:rPr>
              <a:t>within Vehicle Type.</a:t>
            </a:r>
          </a:p>
        </p:txBody>
      </p:sp>
      <p:sp>
        <p:nvSpPr>
          <p:cNvPr id="62" name="TextBox 61"/>
          <p:cNvSpPr txBox="1"/>
          <p:nvPr/>
        </p:nvSpPr>
        <p:spPr>
          <a:xfrm>
            <a:off x="8048625" y="568866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3" name="TextBox 62"/>
          <p:cNvSpPr txBox="1"/>
          <p:nvPr/>
        </p:nvSpPr>
        <p:spPr>
          <a:xfrm>
            <a:off x="8048625" y="591650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4" name="lockshield_13"/>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6"/>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Volume &amp; Value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7" name="Rounded Rectangle 6"/>
          <p:cNvSpPr/>
          <p:nvPr/>
        </p:nvSpPr>
        <p:spPr>
          <a:xfrm>
            <a:off x="142875" y="981075"/>
            <a:ext cx="4695825"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9" name="Chart 8"/>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0" name="Rounded Rectangle 9"/>
          <p:cNvSpPr/>
          <p:nvPr/>
        </p:nvSpPr>
        <p:spPr>
          <a:xfrm>
            <a:off x="4991100" y="981075"/>
            <a:ext cx="7048500" cy="2524125"/>
          </a:xfrm>
          <a:prstGeom prst="roundRect">
            <a:avLst>
              <a:gd name="adj" fmla="val 30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2" name="Chart 11"/>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2A5F8F"/>
                </a:solidFill>
                <a:latin typeface="Calibri"/>
              </a:rPr>
              <a:t> </a:t>
            </a:r>
          </a:p>
        </p:txBody>
      </p:sp>
      <p:sp>
        <p:nvSpPr>
          <p:cNvPr id="14" name="Rounded Rectangle 13"/>
          <p:cNvSpPr/>
          <p:nvPr/>
        </p:nvSpPr>
        <p:spPr>
          <a:xfrm>
            <a:off x="2809875" y="3638550"/>
            <a:ext cx="25146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2A5F8F"/>
                </a:solidFill>
                <a:latin typeface="Calibri"/>
              </a:rPr>
              <a:t> </a:t>
            </a:r>
          </a:p>
        </p:txBody>
      </p:sp>
      <p:sp>
        <p:nvSpPr>
          <p:cNvPr id="15" name="Rounded Rectangle 14"/>
          <p:cNvSpPr/>
          <p:nvPr/>
        </p:nvSpPr>
        <p:spPr>
          <a:xfrm>
            <a:off x="54768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2A5F8F"/>
                </a:solidFill>
                <a:latin typeface="Calibri"/>
              </a:rPr>
              <a:t> </a:t>
            </a:r>
          </a:p>
        </p:txBody>
      </p:sp>
      <p:sp>
        <p:nvSpPr>
          <p:cNvPr id="16" name="Rounded Rectangle 15"/>
          <p:cNvSpPr/>
          <p:nvPr/>
        </p:nvSpPr>
        <p:spPr>
          <a:xfrm>
            <a:off x="8829675" y="3638550"/>
            <a:ext cx="3200400" cy="68580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2A5F8F"/>
                </a:solidFill>
                <a:latin typeface="Calibri"/>
              </a:rPr>
              <a:t> </a:t>
            </a:r>
          </a:p>
        </p:txBody>
      </p:sp>
      <p:sp>
        <p:nvSpPr>
          <p:cNvPr id="17" name="Rounded Rectangle 16"/>
          <p:cNvSpPr/>
          <p:nvPr/>
        </p:nvSpPr>
        <p:spPr>
          <a:xfrm>
            <a:off x="142875" y="4457700"/>
            <a:ext cx="11906250" cy="2152650"/>
          </a:xfrm>
          <a:prstGeom prst="roundRect">
            <a:avLst>
              <a:gd name="adj" fmla="val 35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&amp; Value Analysis</a:t>
            </a:r>
          </a:p>
        </p:txBody>
      </p:sp>
      <p:sp>
        <p:nvSpPr>
          <p:cNvPr id="19" name="Rectangle 18"/>
          <p:cNvSpPr/>
          <p:nvPr/>
        </p:nvSpPr>
        <p:spPr>
          <a:xfrm>
            <a:off x="276225" y="47815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2535356" y="2029222"/>
            <a:ext cx="202455" cy="294480"/>
          </a:xfrm>
          <a:prstGeom prst="rect">
            <a:avLst/>
          </a:prstGeom>
        </p:spPr>
      </p:pic>
      <p:pic>
        <p:nvPicPr>
          <p:cNvPr id="24" name="Picture 23" descr="lock.png"/>
          <p:cNvPicPr>
            <a:picLocks noChangeAspect="1"/>
          </p:cNvPicPr>
          <p:nvPr/>
        </p:nvPicPr>
        <p:blipFill>
          <a:blip r:embed="rId6"/>
          <a:stretch>
            <a:fillRect/>
          </a:stretch>
        </p:blipFill>
        <p:spPr>
          <a:xfrm>
            <a:off x="8532694" y="1990329"/>
            <a:ext cx="255933" cy="372266"/>
          </a:xfrm>
          <a:prstGeom prst="rect">
            <a:avLst/>
          </a:prstGeom>
        </p:spPr>
      </p:pic>
      <p:pic>
        <p:nvPicPr>
          <p:cNvPr id="25" name="Picture 24" descr="lock.png"/>
          <p:cNvPicPr>
            <a:picLocks noChangeAspect="1"/>
          </p:cNvPicPr>
          <p:nvPr/>
        </p:nvPicPr>
        <p:blipFill>
          <a:blip r:embed="rId6"/>
          <a:stretch>
            <a:fillRect/>
          </a:stretch>
        </p:blipFill>
        <p:spPr>
          <a:xfrm>
            <a:off x="1321594" y="3950970"/>
            <a:ext cx="157162" cy="228600"/>
          </a:xfrm>
          <a:prstGeom prst="rect">
            <a:avLst/>
          </a:prstGeom>
        </p:spPr>
      </p:pic>
      <p:pic>
        <p:nvPicPr>
          <p:cNvPr id="26" name="Picture 25" descr="lock.png"/>
          <p:cNvPicPr>
            <a:picLocks noChangeAspect="1"/>
          </p:cNvPicPr>
          <p:nvPr/>
        </p:nvPicPr>
        <p:blipFill>
          <a:blip r:embed="rId6"/>
          <a:stretch>
            <a:fillRect/>
          </a:stretch>
        </p:blipFill>
        <p:spPr>
          <a:xfrm>
            <a:off x="3988594" y="3950970"/>
            <a:ext cx="157162" cy="228600"/>
          </a:xfrm>
          <a:prstGeom prst="rect">
            <a:avLst/>
          </a:prstGeom>
        </p:spPr>
      </p:pic>
      <p:pic>
        <p:nvPicPr>
          <p:cNvPr id="27" name="Picture 26" descr="lock.png"/>
          <p:cNvPicPr>
            <a:picLocks noChangeAspect="1"/>
          </p:cNvPicPr>
          <p:nvPr/>
        </p:nvPicPr>
        <p:blipFill>
          <a:blip r:embed="rId6"/>
          <a:stretch>
            <a:fillRect/>
          </a:stretch>
        </p:blipFill>
        <p:spPr>
          <a:xfrm>
            <a:off x="69984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10351294" y="3950970"/>
            <a:ext cx="157162" cy="228600"/>
          </a:xfrm>
          <a:prstGeom prst="rect">
            <a:avLst/>
          </a:prstGeom>
        </p:spPr>
      </p:pic>
      <p:sp>
        <p:nvSpPr>
          <p:cNvPr id="29" name="TextBox 28"/>
          <p:cNvSpPr txBox="1"/>
          <p:nvPr/>
        </p:nvSpPr>
        <p:spPr>
          <a:xfrm>
            <a:off x="276225" y="4876800"/>
            <a:ext cx="4503625" cy="194310"/>
          </a:xfrm>
          <a:prstGeom prst="rect">
            <a:avLst/>
          </a:prstGeom>
          <a:noFill/>
        </p:spPr>
        <p:txBody>
          <a:bodyPr wrap="none" lIns="0" rIns="0" tIns="0" bIns="0">
            <a:spAutoFit/>
          </a:bodyPr>
          <a:lstStyle/>
          <a:p>
            <a:r>
              <a:rPr sz="1150" b="0">
                <a:solidFill>
                  <a:srgbClr val="2E2E2E"/>
                </a:solidFill>
                <a:latin typeface="Calibri"/>
              </a:rPr>
              <a:t>Off-highway vehicle market value in North America is expected to increase</a:t>
            </a:r>
          </a:p>
        </p:txBody>
      </p:sp>
      <p:pic>
        <p:nvPicPr>
          <p:cNvPr id="30" name="Picture 29" descr="lock.png"/>
          <p:cNvPicPr>
            <a:picLocks noChangeAspect="1"/>
          </p:cNvPicPr>
          <p:nvPr/>
        </p:nvPicPr>
        <p:blipFill>
          <a:blip r:embed="rId6"/>
          <a:stretch>
            <a:fillRect/>
          </a:stretch>
        </p:blipFill>
        <p:spPr>
          <a:xfrm>
            <a:off x="4729004" y="4866576"/>
            <a:ext cx="134549" cy="195707"/>
          </a:xfrm>
          <a:prstGeom prst="rect">
            <a:avLst/>
          </a:prstGeom>
        </p:spPr>
      </p:pic>
      <p:sp>
        <p:nvSpPr>
          <p:cNvPr id="31" name="TextBox 30"/>
          <p:cNvSpPr txBox="1"/>
          <p:nvPr/>
        </p:nvSpPr>
        <p:spPr>
          <a:xfrm>
            <a:off x="4904114" y="4876800"/>
            <a:ext cx="6218857" cy="194310"/>
          </a:xfrm>
          <a:prstGeom prst="rect">
            <a:avLst/>
          </a:prstGeom>
          <a:noFill/>
        </p:spPr>
        <p:txBody>
          <a:bodyPr wrap="none" lIns="0" rIns="0" tIns="0" bIns="0">
            <a:spAutoFit/>
          </a:bodyPr>
          <a:lstStyle/>
          <a:p>
            <a:r>
              <a:rPr sz="1150" b="0">
                <a:solidFill>
                  <a:srgbClr val="2E2E2E"/>
                </a:solidFill>
                <a:latin typeface="Calibri"/>
              </a:rPr>
              <a:t>X between 2025 and 2036. In 2025, the off-highway vehicle market in North America was valued at US$</a:t>
            </a:r>
          </a:p>
        </p:txBody>
      </p:sp>
      <p:pic>
        <p:nvPicPr>
          <p:cNvPr id="32" name="Picture 31" descr="lock.png"/>
          <p:cNvPicPr>
            <a:picLocks noChangeAspect="1"/>
          </p:cNvPicPr>
          <p:nvPr/>
        </p:nvPicPr>
        <p:blipFill>
          <a:blip r:embed="rId6"/>
          <a:stretch>
            <a:fillRect/>
          </a:stretch>
        </p:blipFill>
        <p:spPr>
          <a:xfrm>
            <a:off x="11072125" y="4866576"/>
            <a:ext cx="134549" cy="195707"/>
          </a:xfrm>
          <a:prstGeom prst="rect">
            <a:avLst/>
          </a:prstGeom>
        </p:spPr>
      </p:pic>
      <p:sp>
        <p:nvSpPr>
          <p:cNvPr id="33" name="TextBox 32"/>
          <p:cNvSpPr txBox="1"/>
          <p:nvPr/>
        </p:nvSpPr>
        <p:spPr>
          <a:xfrm>
            <a:off x="11247234" y="4876800"/>
            <a:ext cx="534317" cy="194310"/>
          </a:xfrm>
          <a:prstGeom prst="rect">
            <a:avLst/>
          </a:prstGeom>
          <a:noFill/>
        </p:spPr>
        <p:txBody>
          <a:bodyPr wrap="none" lIns="0" rIns="0" tIns="0" bIns="0">
            <a:spAutoFit/>
          </a:bodyPr>
          <a:lstStyle/>
          <a:p>
            <a:r>
              <a:rPr sz="1150" b="0">
                <a:solidFill>
                  <a:srgbClr val="2E2E2E"/>
                </a:solidFill>
                <a:latin typeface="Calibri"/>
              </a:rPr>
              <a:t>Mn and</a:t>
            </a:r>
          </a:p>
        </p:txBody>
      </p:sp>
      <p:sp>
        <p:nvSpPr>
          <p:cNvPr id="34" name="TextBox 33"/>
          <p:cNvSpPr txBox="1"/>
          <p:nvPr/>
        </p:nvSpPr>
        <p:spPr>
          <a:xfrm>
            <a:off x="276225" y="5052060"/>
            <a:ext cx="1936911" cy="194310"/>
          </a:xfrm>
          <a:prstGeom prst="rect">
            <a:avLst/>
          </a:prstGeom>
          <a:noFill/>
        </p:spPr>
        <p:txBody>
          <a:bodyPr wrap="none" lIns="0" rIns="0" tIns="0" bIns="0">
            <a:spAutoFit/>
          </a:bodyPr>
          <a:lstStyle/>
          <a:p>
            <a:r>
              <a:rPr sz="1150" b="0">
                <a:solidFill>
                  <a:srgbClr val="2E2E2E"/>
                </a:solidFill>
                <a:latin typeface="Calibri"/>
              </a:rPr>
              <a:t>is estimated to account for US$</a:t>
            </a:r>
          </a:p>
        </p:txBody>
      </p:sp>
      <p:pic>
        <p:nvPicPr>
          <p:cNvPr id="35" name="Picture 34" descr="lock.png"/>
          <p:cNvPicPr>
            <a:picLocks noChangeAspect="1"/>
          </p:cNvPicPr>
          <p:nvPr/>
        </p:nvPicPr>
        <p:blipFill>
          <a:blip r:embed="rId6"/>
          <a:stretch>
            <a:fillRect/>
          </a:stretch>
        </p:blipFill>
        <p:spPr>
          <a:xfrm>
            <a:off x="2162290" y="5041836"/>
            <a:ext cx="134549" cy="195707"/>
          </a:xfrm>
          <a:prstGeom prst="rect">
            <a:avLst/>
          </a:prstGeom>
        </p:spPr>
      </p:pic>
      <p:sp>
        <p:nvSpPr>
          <p:cNvPr id="36" name="TextBox 35"/>
          <p:cNvSpPr txBox="1"/>
          <p:nvPr/>
        </p:nvSpPr>
        <p:spPr>
          <a:xfrm>
            <a:off x="2337399"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7" name="Picture 36" descr="lock.png"/>
          <p:cNvPicPr>
            <a:picLocks noChangeAspect="1"/>
          </p:cNvPicPr>
          <p:nvPr/>
        </p:nvPicPr>
        <p:blipFill>
          <a:blip r:embed="rId6"/>
          <a:stretch>
            <a:fillRect/>
          </a:stretch>
        </p:blipFill>
        <p:spPr>
          <a:xfrm>
            <a:off x="5685961" y="5041836"/>
            <a:ext cx="134549" cy="195707"/>
          </a:xfrm>
          <a:prstGeom prst="rect">
            <a:avLst/>
          </a:prstGeom>
        </p:spPr>
      </p:pic>
      <p:sp>
        <p:nvSpPr>
          <p:cNvPr id="38" name="TextBox 37"/>
          <p:cNvSpPr txBox="1"/>
          <p:nvPr/>
        </p:nvSpPr>
        <p:spPr>
          <a:xfrm>
            <a:off x="5861070"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39" name="Picture 38" descr="lock.png"/>
          <p:cNvPicPr>
            <a:picLocks noChangeAspect="1"/>
          </p:cNvPicPr>
          <p:nvPr/>
        </p:nvPicPr>
        <p:blipFill>
          <a:blip r:embed="rId6"/>
          <a:stretch>
            <a:fillRect/>
          </a:stretch>
        </p:blipFill>
        <p:spPr>
          <a:xfrm>
            <a:off x="9526549" y="5041836"/>
            <a:ext cx="134549" cy="195707"/>
          </a:xfrm>
          <a:prstGeom prst="rect">
            <a:avLst/>
          </a:prstGeom>
        </p:spPr>
      </p:pic>
      <p:sp>
        <p:nvSpPr>
          <p:cNvPr id="40" name="TextBox 39"/>
          <p:cNvSpPr txBox="1"/>
          <p:nvPr/>
        </p:nvSpPr>
        <p:spPr>
          <a:xfrm>
            <a:off x="9701658" y="5052060"/>
            <a:ext cx="1560072" cy="194310"/>
          </a:xfrm>
          <a:prstGeom prst="rect">
            <a:avLst/>
          </a:prstGeom>
          <a:noFill/>
        </p:spPr>
        <p:txBody>
          <a:bodyPr wrap="none" lIns="0" rIns="0" tIns="0" bIns="0">
            <a:spAutoFit/>
          </a:bodyPr>
          <a:lstStyle/>
          <a:p>
            <a:r>
              <a:rPr sz="1150" b="0">
                <a:solidFill>
                  <a:srgbClr val="2E2E2E"/>
                </a:solidFill>
                <a:latin typeface="Calibri"/>
              </a:rPr>
              <a:t>Mn by 2036 at a CAGR of</a:t>
            </a:r>
          </a:p>
        </p:txBody>
      </p:sp>
      <p:pic>
        <p:nvPicPr>
          <p:cNvPr id="41" name="Picture 40" descr="lock.png"/>
          <p:cNvPicPr>
            <a:picLocks noChangeAspect="1"/>
          </p:cNvPicPr>
          <p:nvPr/>
        </p:nvPicPr>
        <p:blipFill>
          <a:blip r:embed="rId6"/>
          <a:stretch>
            <a:fillRect/>
          </a:stretch>
        </p:blipFill>
        <p:spPr>
          <a:xfrm>
            <a:off x="11210885" y="5041836"/>
            <a:ext cx="134549" cy="195707"/>
          </a:xfrm>
          <a:prstGeom prst="rect">
            <a:avLst/>
          </a:prstGeom>
        </p:spPr>
      </p:pic>
      <p:sp>
        <p:nvSpPr>
          <p:cNvPr id="42" name="TextBox 41"/>
          <p:cNvSpPr txBox="1"/>
          <p:nvPr/>
        </p:nvSpPr>
        <p:spPr>
          <a:xfrm>
            <a:off x="276225"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3" name="TextBox 42"/>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4" name="Picture 43" descr="lock.png"/>
          <p:cNvPicPr>
            <a:picLocks noChangeAspect="1"/>
          </p:cNvPicPr>
          <p:nvPr/>
        </p:nvPicPr>
        <p:blipFill>
          <a:blip r:embed="rId6"/>
          <a:stretch>
            <a:fillRect/>
          </a:stretch>
        </p:blipFill>
        <p:spPr>
          <a:xfrm>
            <a:off x="4539310" y="5444934"/>
            <a:ext cx="134549" cy="195707"/>
          </a:xfrm>
          <a:prstGeom prst="rect">
            <a:avLst/>
          </a:prstGeom>
        </p:spPr>
      </p:pic>
      <p:sp>
        <p:nvSpPr>
          <p:cNvPr id="45" name="TextBox 44"/>
          <p:cNvSpPr txBox="1"/>
          <p:nvPr/>
        </p:nvSpPr>
        <p:spPr>
          <a:xfrm>
            <a:off x="4714420" y="5455157"/>
            <a:ext cx="6899188" cy="194310"/>
          </a:xfrm>
          <a:prstGeom prst="rect">
            <a:avLst/>
          </a:prstGeom>
          <a:noFill/>
        </p:spPr>
        <p:txBody>
          <a:bodyPr wrap="none" lIns="0" rIns="0" tIns="0" bIns="0">
            <a:spAutoFit/>
          </a:bodyPr>
          <a:lstStyle/>
          <a:p>
            <a:r>
              <a:rPr sz="1150" b="0">
                <a:solidFill>
                  <a:srgbClr val="2E2E2E"/>
                </a:solidFill>
                <a:latin typeface="Calibri"/>
              </a:rPr>
              <a:t>Mn for the overall off-highway vehicle market from 2025 to 2036. Absolute $ value for 2026 is estimated to be US$</a:t>
            </a:r>
          </a:p>
        </p:txBody>
      </p:sp>
      <p:pic>
        <p:nvPicPr>
          <p:cNvPr id="46" name="Picture 45" descr="lock.png"/>
          <p:cNvPicPr>
            <a:picLocks noChangeAspect="1"/>
          </p:cNvPicPr>
          <p:nvPr/>
        </p:nvPicPr>
        <p:blipFill>
          <a:blip r:embed="rId6"/>
          <a:stretch>
            <a:fillRect/>
          </a:stretch>
        </p:blipFill>
        <p:spPr>
          <a:xfrm>
            <a:off x="262145" y="5620194"/>
            <a:ext cx="134549" cy="195707"/>
          </a:xfrm>
          <a:prstGeom prst="rect">
            <a:avLst/>
          </a:prstGeom>
        </p:spPr>
      </p:pic>
      <p:sp>
        <p:nvSpPr>
          <p:cNvPr id="47" name="TextBox 46"/>
          <p:cNvSpPr txBox="1"/>
          <p:nvPr/>
        </p:nvSpPr>
        <p:spPr>
          <a:xfrm>
            <a:off x="437254" y="5630417"/>
            <a:ext cx="4281413" cy="194310"/>
          </a:xfrm>
          <a:prstGeom prst="rect">
            <a:avLst/>
          </a:prstGeom>
          <a:noFill/>
        </p:spPr>
        <p:txBody>
          <a:bodyPr wrap="none" lIns="0" rIns="0" tIns="0" bIns="0">
            <a:spAutoFit/>
          </a:bodyPr>
          <a:lstStyle/>
          <a:p>
            <a:r>
              <a:rPr sz="1150" b="0">
                <a:solidFill>
                  <a:srgbClr val="2E2E2E"/>
                </a:solidFill>
                <a:latin typeface="Calibri"/>
              </a:rPr>
              <a:t>Mn. North America Off-Highway vehicle market is projected to register</a:t>
            </a:r>
          </a:p>
        </p:txBody>
      </p:sp>
      <p:pic>
        <p:nvPicPr>
          <p:cNvPr id="48" name="Picture 47" descr="lock.png"/>
          <p:cNvPicPr>
            <a:picLocks noChangeAspect="1"/>
          </p:cNvPicPr>
          <p:nvPr/>
        </p:nvPicPr>
        <p:blipFill>
          <a:blip r:embed="rId6"/>
          <a:stretch>
            <a:fillRect/>
          </a:stretch>
        </p:blipFill>
        <p:spPr>
          <a:xfrm>
            <a:off x="4667821" y="5620194"/>
            <a:ext cx="134549" cy="195707"/>
          </a:xfrm>
          <a:prstGeom prst="rect">
            <a:avLst/>
          </a:prstGeom>
        </p:spPr>
      </p:pic>
      <p:sp>
        <p:nvSpPr>
          <p:cNvPr id="49" name="TextBox 48"/>
          <p:cNvSpPr txBox="1"/>
          <p:nvPr/>
        </p:nvSpPr>
        <p:spPr>
          <a:xfrm>
            <a:off x="4842931"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0" name="TextBox 49"/>
          <p:cNvSpPr txBox="1"/>
          <p:nvPr/>
        </p:nvSpPr>
        <p:spPr>
          <a:xfrm>
            <a:off x="276225" y="5858255"/>
            <a:ext cx="3629322" cy="194310"/>
          </a:xfrm>
          <a:prstGeom prst="rect">
            <a:avLst/>
          </a:prstGeom>
          <a:noFill/>
        </p:spPr>
        <p:txBody>
          <a:bodyPr wrap="none" lIns="0" rIns="0" tIns="0" bIns="0">
            <a:spAutoFit/>
          </a:bodyPr>
          <a:lstStyle/>
          <a:p>
            <a:r>
              <a:rPr sz="1150" b="0">
                <a:solidFill>
                  <a:srgbClr val="2E2E2E"/>
                </a:solidFill>
                <a:latin typeface="Calibri"/>
              </a:rPr>
              <a:t>North America Off-Highway vehicle market volume stood at</a:t>
            </a:r>
          </a:p>
        </p:txBody>
      </p:sp>
      <p:pic>
        <p:nvPicPr>
          <p:cNvPr id="51" name="Picture 50" descr="lock.png"/>
          <p:cNvPicPr>
            <a:picLocks noChangeAspect="1"/>
          </p:cNvPicPr>
          <p:nvPr/>
        </p:nvPicPr>
        <p:blipFill>
          <a:blip r:embed="rId6"/>
          <a:stretch>
            <a:fillRect/>
          </a:stretch>
        </p:blipFill>
        <p:spPr>
          <a:xfrm>
            <a:off x="3854701" y="5848032"/>
            <a:ext cx="134549" cy="195707"/>
          </a:xfrm>
          <a:prstGeom prst="rect">
            <a:avLst/>
          </a:prstGeom>
        </p:spPr>
      </p:pic>
      <p:sp>
        <p:nvSpPr>
          <p:cNvPr id="52" name="TextBox 51"/>
          <p:cNvSpPr txBox="1"/>
          <p:nvPr/>
        </p:nvSpPr>
        <p:spPr>
          <a:xfrm>
            <a:off x="4029810" y="585825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53" name="Picture 52" descr="lock.png"/>
          <p:cNvPicPr>
            <a:picLocks noChangeAspect="1"/>
          </p:cNvPicPr>
          <p:nvPr/>
        </p:nvPicPr>
        <p:blipFill>
          <a:blip r:embed="rId6"/>
          <a:stretch>
            <a:fillRect/>
          </a:stretch>
        </p:blipFill>
        <p:spPr>
          <a:xfrm>
            <a:off x="6322648" y="5848032"/>
            <a:ext cx="134549" cy="195707"/>
          </a:xfrm>
          <a:prstGeom prst="rect">
            <a:avLst/>
          </a:prstGeom>
        </p:spPr>
      </p:pic>
      <p:sp>
        <p:nvSpPr>
          <p:cNvPr id="54" name="TextBox 53"/>
          <p:cNvSpPr txBox="1"/>
          <p:nvPr/>
        </p:nvSpPr>
        <p:spPr>
          <a:xfrm>
            <a:off x="6497757" y="585825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55" name="Picture 54" descr="lock.png"/>
          <p:cNvPicPr>
            <a:picLocks noChangeAspect="1"/>
          </p:cNvPicPr>
          <p:nvPr/>
        </p:nvPicPr>
        <p:blipFill>
          <a:blip r:embed="rId6"/>
          <a:stretch>
            <a:fillRect/>
          </a:stretch>
        </p:blipFill>
        <p:spPr>
          <a:xfrm>
            <a:off x="8411474" y="5848032"/>
            <a:ext cx="134549" cy="195707"/>
          </a:xfrm>
          <a:prstGeom prst="rect">
            <a:avLst/>
          </a:prstGeom>
        </p:spPr>
      </p:pic>
      <p:sp>
        <p:nvSpPr>
          <p:cNvPr id="56" name="TextBox 55"/>
          <p:cNvSpPr txBox="1"/>
          <p:nvPr/>
        </p:nvSpPr>
        <p:spPr>
          <a:xfrm>
            <a:off x="8586583" y="5858255"/>
            <a:ext cx="2864271"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a:t>
            </a:r>
          </a:p>
        </p:txBody>
      </p:sp>
      <p:sp>
        <p:nvSpPr>
          <p:cNvPr id="57" name="TextBox 56"/>
          <p:cNvSpPr txBox="1"/>
          <p:nvPr/>
        </p:nvSpPr>
        <p:spPr>
          <a:xfrm>
            <a:off x="276225" y="6033515"/>
            <a:ext cx="4232634" cy="194310"/>
          </a:xfrm>
          <a:prstGeom prst="rect">
            <a:avLst/>
          </a:prstGeom>
          <a:noFill/>
        </p:spPr>
        <p:txBody>
          <a:bodyPr wrap="none" lIns="0" rIns="0" tIns="0" bIns="0">
            <a:spAutoFit/>
          </a:bodyPr>
          <a:lstStyle/>
          <a:p>
            <a:r>
              <a:rPr sz="1150" b="0">
                <a:solidFill>
                  <a:srgbClr val="2E2E2E"/>
                </a:solidFill>
                <a:latin typeface="Calibri"/>
              </a:rPr>
              <a:t>over the forecast period, owing to an increase in average selling price.</a:t>
            </a:r>
          </a:p>
        </p:txBody>
      </p:sp>
      <p:sp>
        <p:nvSpPr>
          <p:cNvPr id="58" name="lockshield_9"/>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2"/>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Summary Country Indices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7" name="Rounded Rectangle 6"/>
          <p:cNvSpPr/>
          <p:nvPr/>
        </p:nvSpPr>
        <p:spPr>
          <a:xfrm>
            <a:off x="142875" y="1007261"/>
            <a:ext cx="3933825" cy="2445995"/>
          </a:xfrm>
          <a:prstGeom prst="roundRect">
            <a:avLst>
              <a:gd name="adj" fmla="val 311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9" name="Chart 8"/>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489764"/>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3565964"/>
          <a:ext cx="3928892" cy="213207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CAGR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628648">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8648">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62864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3" name="Rounded Rectangle 12"/>
          <p:cNvSpPr/>
          <p:nvPr/>
        </p:nvSpPr>
        <p:spPr>
          <a:xfrm>
            <a:off x="4114800" y="1007261"/>
            <a:ext cx="3933825" cy="4928498"/>
          </a:xfrm>
          <a:prstGeom prst="roundRect">
            <a:avLst>
              <a:gd name="adj" fmla="val 193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5" name="Rectangle 14"/>
          <p:cNvSpPr/>
          <p:nvPr/>
        </p:nvSpPr>
        <p:spPr>
          <a:xfrm>
            <a:off x="4210050" y="1293011"/>
            <a:ext cx="3743325" cy="254607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6" name="Rectangle 15"/>
          <p:cNvSpPr/>
          <p:nvPr/>
        </p:nvSpPr>
        <p:spPr>
          <a:xfrm>
            <a:off x="4210050" y="3839086"/>
            <a:ext cx="2257649" cy="2039523"/>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7" name="Rectangle 16"/>
          <p:cNvSpPr/>
          <p:nvPr/>
        </p:nvSpPr>
        <p:spPr>
          <a:xfrm>
            <a:off x="6467699" y="3839086"/>
            <a:ext cx="1485676" cy="2039523"/>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18" name="Rounded Rectangle 17"/>
          <p:cNvSpPr/>
          <p:nvPr/>
        </p:nvSpPr>
        <p:spPr>
          <a:xfrm>
            <a:off x="8086725" y="1007261"/>
            <a:ext cx="3933825" cy="2436869"/>
          </a:xfrm>
          <a:prstGeom prst="roundRect">
            <a:avLst>
              <a:gd name="adj" fmla="val 312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0" name="Chart 1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1" name="Rounded Rectangle 20"/>
          <p:cNvSpPr/>
          <p:nvPr/>
        </p:nvSpPr>
        <p:spPr>
          <a:xfrm>
            <a:off x="8086725" y="3471510"/>
            <a:ext cx="3933825" cy="2464249"/>
          </a:xfrm>
          <a:prstGeom prst="roundRect">
            <a:avLst>
              <a:gd name="adj" fmla="val 309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2" name="Table 21"/>
          <p:cNvGraphicFramePr>
            <a:graphicFrameLocks noGrp="1"/>
          </p:cNvGraphicFramePr>
          <p:nvPr/>
        </p:nvGraphicFramePr>
        <p:xfrm>
          <a:off x="8096250" y="3547710"/>
          <a:ext cx="3928892" cy="215944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Absolute Index</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 Opp (US$ Mn)</a:t>
                      </a:r>
                      <a:endParaRPr sz="1100"/>
                    </a:p>
                  </a:txBody>
                  <a:tcPr marL="47625" marR="38100" marT="19050" marB="19050" anchor="ctr">
                    <a:solidFill>
                      <a:srgbClr val="EBF2F9"/>
                    </a:solidFill>
                  </a:tcPr>
                </a:tc>
              </a:tr>
              <a:tr h="637774">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37774">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63777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23" name="TextBox 2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4" name="Rounded Rectangle 23"/>
          <p:cNvSpPr/>
          <p:nvPr/>
        </p:nvSpPr>
        <p:spPr>
          <a:xfrm>
            <a:off x="142875" y="6027028"/>
            <a:ext cx="10858500" cy="602372"/>
          </a:xfrm>
          <a:prstGeom prst="roundRect">
            <a:avLst>
              <a:gd name="adj" fmla="val 126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5" name="Rectangle 2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7" name="Picture 26" descr="lock.png"/>
          <p:cNvPicPr>
            <a:picLocks noChangeAspect="1"/>
          </p:cNvPicPr>
          <p:nvPr/>
        </p:nvPicPr>
        <p:blipFill>
          <a:blip r:embed="rId6"/>
          <a:stretch>
            <a:fillRect/>
          </a:stretch>
        </p:blipFill>
        <p:spPr>
          <a:xfrm>
            <a:off x="3188017" y="2125483"/>
            <a:ext cx="183356" cy="266700"/>
          </a:xfrm>
          <a:prstGeom prst="rect">
            <a:avLst/>
          </a:prstGeom>
        </p:spPr>
      </p:pic>
      <p:pic>
        <p:nvPicPr>
          <p:cNvPr id="28" name="Picture 27" descr="lock.png"/>
          <p:cNvPicPr>
            <a:picLocks noChangeAspect="1"/>
          </p:cNvPicPr>
          <p:nvPr/>
        </p:nvPicPr>
        <p:blipFill>
          <a:blip r:embed="rId6"/>
          <a:stretch>
            <a:fillRect/>
          </a:stretch>
        </p:blipFill>
        <p:spPr>
          <a:xfrm>
            <a:off x="2232897" y="4496596"/>
            <a:ext cx="355389" cy="516930"/>
          </a:xfrm>
          <a:prstGeom prst="rect">
            <a:avLst/>
          </a:prstGeom>
        </p:spPr>
      </p:pic>
      <p:pic>
        <p:nvPicPr>
          <p:cNvPr id="29" name="Picture 28" descr="lock.png"/>
          <p:cNvPicPr>
            <a:picLocks noChangeAspect="1"/>
          </p:cNvPicPr>
          <p:nvPr/>
        </p:nvPicPr>
        <p:blipFill>
          <a:blip r:embed="rId6"/>
          <a:stretch>
            <a:fillRect/>
          </a:stretch>
        </p:blipFill>
        <p:spPr>
          <a:xfrm>
            <a:off x="6024086" y="2566048"/>
            <a:ext cx="115252" cy="167639"/>
          </a:xfrm>
          <a:prstGeom prst="rect">
            <a:avLst/>
          </a:prstGeom>
        </p:spPr>
      </p:pic>
      <p:pic>
        <p:nvPicPr>
          <p:cNvPr id="30" name="Picture 29" descr="lock.png"/>
          <p:cNvPicPr>
            <a:picLocks noChangeAspect="1"/>
          </p:cNvPicPr>
          <p:nvPr/>
        </p:nvPicPr>
        <p:blipFill>
          <a:blip r:embed="rId6"/>
          <a:stretch>
            <a:fillRect/>
          </a:stretch>
        </p:blipFill>
        <p:spPr>
          <a:xfrm>
            <a:off x="5281248" y="4858847"/>
            <a:ext cx="115252" cy="167639"/>
          </a:xfrm>
          <a:prstGeom prst="rect">
            <a:avLst/>
          </a:prstGeom>
        </p:spPr>
      </p:pic>
      <p:pic>
        <p:nvPicPr>
          <p:cNvPr id="31" name="Picture 30" descr="lock.png"/>
          <p:cNvPicPr>
            <a:picLocks noChangeAspect="1"/>
          </p:cNvPicPr>
          <p:nvPr/>
        </p:nvPicPr>
        <p:blipFill>
          <a:blip r:embed="rId6"/>
          <a:stretch>
            <a:fillRect/>
          </a:stretch>
        </p:blipFill>
        <p:spPr>
          <a:xfrm>
            <a:off x="7152911" y="4858847"/>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2"/>
            <a:ext cx="357960" cy="520669"/>
          </a:xfrm>
          <a:prstGeom prst="rect">
            <a:avLst/>
          </a:prstGeom>
        </p:spPr>
      </p:pic>
      <p:sp>
        <p:nvSpPr>
          <p:cNvPr id="34" name="TextBox 33"/>
          <p:cNvSpPr txBox="1"/>
          <p:nvPr/>
        </p:nvSpPr>
        <p:spPr>
          <a:xfrm>
            <a:off x="257175" y="6160574"/>
            <a:ext cx="3439641" cy="186689"/>
          </a:xfrm>
          <a:prstGeom prst="rect">
            <a:avLst/>
          </a:prstGeom>
          <a:noFill/>
        </p:spPr>
        <p:txBody>
          <a:bodyPr wrap="none" lIns="0" rIns="0" tIns="0" bIns="0">
            <a:spAutoFit/>
          </a:bodyPr>
          <a:lstStyle/>
          <a:p>
            <a:r>
              <a:rPr sz="1100" b="0">
                <a:solidFill>
                  <a:srgbClr val="2E2E2E"/>
                </a:solidFill>
                <a:latin typeface="Calibri"/>
              </a:rPr>
              <a:t>The U.S. off-highway vehicle market is projected to register</a:t>
            </a:r>
          </a:p>
        </p:txBody>
      </p:sp>
      <p:pic>
        <p:nvPicPr>
          <p:cNvPr id="35" name="Picture 34" descr="lock.png"/>
          <p:cNvPicPr>
            <a:picLocks noChangeAspect="1"/>
          </p:cNvPicPr>
          <p:nvPr/>
        </p:nvPicPr>
        <p:blipFill>
          <a:blip r:embed="rId6"/>
          <a:stretch>
            <a:fillRect/>
          </a:stretch>
        </p:blipFill>
        <p:spPr>
          <a:xfrm>
            <a:off x="3644867" y="6150795"/>
            <a:ext cx="128699" cy="187198"/>
          </a:xfrm>
          <a:prstGeom prst="rect">
            <a:avLst/>
          </a:prstGeom>
        </p:spPr>
      </p:pic>
      <p:sp>
        <p:nvSpPr>
          <p:cNvPr id="36" name="TextBox 35"/>
          <p:cNvSpPr txBox="1"/>
          <p:nvPr/>
        </p:nvSpPr>
        <p:spPr>
          <a:xfrm>
            <a:off x="3812363" y="6160574"/>
            <a:ext cx="4332667" cy="186689"/>
          </a:xfrm>
          <a:prstGeom prst="rect">
            <a:avLst/>
          </a:prstGeom>
          <a:noFill/>
        </p:spPr>
        <p:txBody>
          <a:bodyPr wrap="none" lIns="0" rIns="0" tIns="0" bIns="0">
            <a:spAutoFit/>
          </a:bodyPr>
          <a:lstStyle/>
          <a:p>
            <a:r>
              <a:rPr sz="1100" b="0">
                <a:solidFill>
                  <a:srgbClr val="2E2E2E"/>
                </a:solidFill>
                <a:latin typeface="Calibri"/>
              </a:rPr>
              <a:t>X higher value than Canada in 2036. Mexico posts the highest CAGR Index (</a:t>
            </a:r>
          </a:p>
        </p:txBody>
      </p:sp>
      <p:pic>
        <p:nvPicPr>
          <p:cNvPr id="37" name="Picture 36" descr="lock.png"/>
          <p:cNvPicPr>
            <a:picLocks noChangeAspect="1"/>
          </p:cNvPicPr>
          <p:nvPr/>
        </p:nvPicPr>
        <p:blipFill>
          <a:blip r:embed="rId6"/>
          <a:stretch>
            <a:fillRect/>
          </a:stretch>
        </p:blipFill>
        <p:spPr>
          <a:xfrm>
            <a:off x="8093082" y="6150795"/>
            <a:ext cx="128699" cy="187198"/>
          </a:xfrm>
          <a:prstGeom prst="rect">
            <a:avLst/>
          </a:prstGeom>
        </p:spPr>
      </p:pic>
      <p:sp>
        <p:nvSpPr>
          <p:cNvPr id="38" name="TextBox 37"/>
          <p:cNvSpPr txBox="1"/>
          <p:nvPr/>
        </p:nvSpPr>
        <p:spPr>
          <a:xfrm>
            <a:off x="8260578"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8998609" y="6150795"/>
            <a:ext cx="128699" cy="187198"/>
          </a:xfrm>
          <a:prstGeom prst="rect">
            <a:avLst/>
          </a:prstGeom>
        </p:spPr>
      </p:pic>
      <p:sp>
        <p:nvSpPr>
          <p:cNvPr id="40" name="TextBox 39"/>
          <p:cNvSpPr txBox="1"/>
          <p:nvPr/>
        </p:nvSpPr>
        <p:spPr>
          <a:xfrm>
            <a:off x="9166105"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1" name="TextBox 40"/>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286068" y="6318435"/>
            <a:ext cx="128699" cy="187198"/>
          </a:xfrm>
          <a:prstGeom prst="rect">
            <a:avLst/>
          </a:prstGeom>
        </p:spPr>
      </p:pic>
      <p:sp>
        <p:nvSpPr>
          <p:cNvPr id="43" name="TextBox 42"/>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713563" y="6318435"/>
            <a:ext cx="128699" cy="187198"/>
          </a:xfrm>
          <a:prstGeom prst="rect">
            <a:avLst/>
          </a:prstGeom>
        </p:spPr>
      </p:pic>
      <p:sp>
        <p:nvSpPr>
          <p:cNvPr id="45" name="TextBox 44"/>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9"/>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7" name="Rounded Rectangle 6"/>
          <p:cNvSpPr/>
          <p:nvPr/>
        </p:nvSpPr>
        <p:spPr>
          <a:xfrm>
            <a:off x="142875" y="981075"/>
            <a:ext cx="11906250"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E2A5C"/>
                </a:solidFill>
                <a:latin typeface="Calibri"/>
              </a:rPr>
              <a:t>Market Overview</a:t>
            </a:r>
          </a:p>
        </p:txBody>
      </p:sp>
      <p:sp>
        <p:nvSpPr>
          <p:cNvPr id="9" name="Rectangle 8"/>
          <p:cNvSpPr/>
          <p:nvPr/>
        </p:nvSpPr>
        <p:spPr>
          <a:xfrm>
            <a:off x="276225" y="13049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1" name="Rounded Rectangle 10"/>
          <p:cNvSpPr/>
          <p:nvPr/>
        </p:nvSpPr>
        <p:spPr>
          <a:xfrm>
            <a:off x="142875" y="2800350"/>
            <a:ext cx="11906250" cy="1571625"/>
          </a:xfrm>
          <a:prstGeom prst="roundRect">
            <a:avLst>
              <a:gd name="adj" fmla="val 48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Competitive Landscape</a:t>
            </a:r>
          </a:p>
        </p:txBody>
      </p:sp>
      <p:sp>
        <p:nvSpPr>
          <p:cNvPr id="13" name="Rectangle 12"/>
          <p:cNvSpPr/>
          <p:nvPr/>
        </p:nvSpPr>
        <p:spPr>
          <a:xfrm>
            <a:off x="276225" y="31242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ounded Rectangle 14"/>
          <p:cNvSpPr/>
          <p:nvPr/>
        </p:nvSpPr>
        <p:spPr>
          <a:xfrm>
            <a:off x="142875" y="4505325"/>
            <a:ext cx="3943350"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E2A5C"/>
                </a:solidFill>
                <a:latin typeface="Calibri"/>
              </a:rPr>
              <a:t>Drivers</a:t>
            </a:r>
          </a:p>
        </p:txBody>
      </p:sp>
      <p:sp>
        <p:nvSpPr>
          <p:cNvPr id="17" name="Rectangle 16"/>
          <p:cNvSpPr/>
          <p:nvPr/>
        </p:nvSpPr>
        <p:spPr>
          <a:xfrm>
            <a:off x="276225" y="4829175"/>
            <a:ext cx="3676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4238625"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Restraints</a:t>
            </a:r>
          </a:p>
        </p:txBody>
      </p:sp>
      <p:sp>
        <p:nvSpPr>
          <p:cNvPr id="21" name="Rectangle 20"/>
          <p:cNvSpPr/>
          <p:nvPr/>
        </p:nvSpPr>
        <p:spPr>
          <a:xfrm>
            <a:off x="4371975"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8210550" y="4505325"/>
            <a:ext cx="3819525" cy="2124075"/>
          </a:xfrm>
          <a:prstGeom prst="roundRect">
            <a:avLst>
              <a:gd name="adj" fmla="val 3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E2A5C"/>
                </a:solidFill>
                <a:latin typeface="Calibri"/>
              </a:rPr>
              <a:t>Trends</a:t>
            </a:r>
          </a:p>
        </p:txBody>
      </p:sp>
      <p:sp>
        <p:nvSpPr>
          <p:cNvPr id="25" name="Rectangle 24"/>
          <p:cNvSpPr/>
          <p:nvPr/>
        </p:nvSpPr>
        <p:spPr>
          <a:xfrm>
            <a:off x="8343900" y="4829175"/>
            <a:ext cx="35528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Mix shifting toward 'Recreational and Powersports Vehicles' and higher-growth tiers.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Mexico outpacing the North America average.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Demand broadening across 5 vehicle type categories.</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3488692" cy="194310"/>
          </a:xfrm>
          <a:prstGeom prst="rect">
            <a:avLst/>
          </a:prstGeom>
          <a:noFill/>
        </p:spPr>
        <p:txBody>
          <a:bodyPr wrap="none" lIns="0" rIns="0" tIns="0" bIns="0">
            <a:spAutoFit/>
          </a:bodyPr>
          <a:lstStyle/>
          <a:p>
            <a:r>
              <a:rPr sz="1150" b="0">
                <a:solidFill>
                  <a:srgbClr val="2E2E2E"/>
                </a:solidFill>
                <a:latin typeface="Calibri"/>
              </a:rPr>
              <a:t>Global Off-Highway vehicle market is expected to witness</a:t>
            </a:r>
          </a:p>
        </p:txBody>
      </p:sp>
      <p:pic>
        <p:nvPicPr>
          <p:cNvPr id="30" name="Picture 29" descr="lock.png"/>
          <p:cNvPicPr>
            <a:picLocks noChangeAspect="1"/>
          </p:cNvPicPr>
          <p:nvPr/>
        </p:nvPicPr>
        <p:blipFill>
          <a:blip r:embed="rId4"/>
          <a:stretch>
            <a:fillRect/>
          </a:stretch>
        </p:blipFill>
        <p:spPr>
          <a:xfrm>
            <a:off x="3714071" y="1389951"/>
            <a:ext cx="134549" cy="195707"/>
          </a:xfrm>
          <a:prstGeom prst="rect">
            <a:avLst/>
          </a:prstGeom>
        </p:spPr>
      </p:pic>
      <p:sp>
        <p:nvSpPr>
          <p:cNvPr id="31" name="TextBox 30"/>
          <p:cNvSpPr txBox="1"/>
          <p:nvPr/>
        </p:nvSpPr>
        <p:spPr>
          <a:xfrm>
            <a:off x="3889180" y="1400175"/>
            <a:ext cx="5377358" cy="194310"/>
          </a:xfrm>
          <a:prstGeom prst="rect">
            <a:avLst/>
          </a:prstGeom>
          <a:noFill/>
        </p:spPr>
        <p:txBody>
          <a:bodyPr wrap="none" lIns="0" rIns="0" tIns="0" bIns="0">
            <a:spAutoFit/>
          </a:bodyPr>
          <a:lstStyle/>
          <a:p>
            <a:r>
              <a:rPr sz="1150" b="0">
                <a:solidFill>
                  <a:srgbClr val="2E2E2E"/>
                </a:solidFill>
                <a:latin typeface="Calibri"/>
              </a:rPr>
              <a:t>X increase in revenue by 2036 end. Global Off-Highway vehicle market accounted for US$</a:t>
            </a:r>
          </a:p>
        </p:txBody>
      </p:sp>
      <p:pic>
        <p:nvPicPr>
          <p:cNvPr id="32" name="Picture 31" descr="lock.png"/>
          <p:cNvPicPr>
            <a:picLocks noChangeAspect="1"/>
          </p:cNvPicPr>
          <p:nvPr/>
        </p:nvPicPr>
        <p:blipFill>
          <a:blip r:embed="rId4"/>
          <a:stretch>
            <a:fillRect/>
          </a:stretch>
        </p:blipFill>
        <p:spPr>
          <a:xfrm>
            <a:off x="9215693" y="1389951"/>
            <a:ext cx="134549" cy="195707"/>
          </a:xfrm>
          <a:prstGeom prst="rect">
            <a:avLst/>
          </a:prstGeom>
        </p:spPr>
      </p:pic>
      <p:sp>
        <p:nvSpPr>
          <p:cNvPr id="33" name="TextBox 32"/>
          <p:cNvSpPr txBox="1"/>
          <p:nvPr/>
        </p:nvSpPr>
        <p:spPr>
          <a:xfrm>
            <a:off x="9390802" y="1400175"/>
            <a:ext cx="2036179" cy="194310"/>
          </a:xfrm>
          <a:prstGeom prst="rect">
            <a:avLst/>
          </a:prstGeom>
          <a:noFill/>
        </p:spPr>
        <p:txBody>
          <a:bodyPr wrap="none" lIns="0" rIns="0" tIns="0" bIns="0">
            <a:spAutoFit/>
          </a:bodyPr>
          <a:lstStyle/>
          <a:p>
            <a:r>
              <a:rPr sz="1150" b="0">
                <a:solidFill>
                  <a:srgbClr val="2E2E2E"/>
                </a:solidFill>
                <a:latin typeface="Calibri"/>
              </a:rPr>
              <a:t>Mn in 2025, which is expected to</a:t>
            </a:r>
          </a:p>
        </p:txBody>
      </p:sp>
      <p:sp>
        <p:nvSpPr>
          <p:cNvPr id="34" name="TextBox 33"/>
          <p:cNvSpPr txBox="1"/>
          <p:nvPr/>
        </p:nvSpPr>
        <p:spPr>
          <a:xfrm>
            <a:off x="276225" y="1575435"/>
            <a:ext cx="999281" cy="194310"/>
          </a:xfrm>
          <a:prstGeom prst="rect">
            <a:avLst/>
          </a:prstGeom>
          <a:noFill/>
        </p:spPr>
        <p:txBody>
          <a:bodyPr wrap="none" lIns="0" rIns="0" tIns="0" bIns="0">
            <a:spAutoFit/>
          </a:bodyPr>
          <a:lstStyle/>
          <a:p>
            <a:r>
              <a:rPr sz="1150" b="0">
                <a:solidFill>
                  <a:srgbClr val="2E2E2E"/>
                </a:solidFill>
                <a:latin typeface="Calibri"/>
              </a:rPr>
              <a:t>increase to US$</a:t>
            </a:r>
          </a:p>
        </p:txBody>
      </p:sp>
      <p:pic>
        <p:nvPicPr>
          <p:cNvPr id="35" name="Picture 34" descr="lock.png"/>
          <p:cNvPicPr>
            <a:picLocks noChangeAspect="1"/>
          </p:cNvPicPr>
          <p:nvPr/>
        </p:nvPicPr>
        <p:blipFill>
          <a:blip r:embed="rId4"/>
          <a:stretch>
            <a:fillRect/>
          </a:stretch>
        </p:blipFill>
        <p:spPr>
          <a:xfrm>
            <a:off x="1224660" y="1565211"/>
            <a:ext cx="134549" cy="195707"/>
          </a:xfrm>
          <a:prstGeom prst="rect">
            <a:avLst/>
          </a:prstGeom>
        </p:spPr>
      </p:pic>
      <p:sp>
        <p:nvSpPr>
          <p:cNvPr id="36" name="TextBox 35"/>
          <p:cNvSpPr txBox="1"/>
          <p:nvPr/>
        </p:nvSpPr>
        <p:spPr>
          <a:xfrm>
            <a:off x="1399769"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7" name="Picture 36" descr="lock.png"/>
          <p:cNvPicPr>
            <a:picLocks noChangeAspect="1"/>
          </p:cNvPicPr>
          <p:nvPr/>
        </p:nvPicPr>
        <p:blipFill>
          <a:blip r:embed="rId4"/>
          <a:stretch>
            <a:fillRect/>
          </a:stretch>
        </p:blipFill>
        <p:spPr>
          <a:xfrm>
            <a:off x="2876477" y="1565211"/>
            <a:ext cx="134549" cy="195707"/>
          </a:xfrm>
          <a:prstGeom prst="rect">
            <a:avLst/>
          </a:prstGeom>
        </p:spPr>
      </p:pic>
      <p:sp>
        <p:nvSpPr>
          <p:cNvPr id="38" name="TextBox 37"/>
          <p:cNvSpPr txBox="1"/>
          <p:nvPr/>
        </p:nvSpPr>
        <p:spPr>
          <a:xfrm>
            <a:off x="3051587"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9" name="TextBox 38"/>
          <p:cNvSpPr txBox="1"/>
          <p:nvPr/>
        </p:nvSpPr>
        <p:spPr>
          <a:xfrm>
            <a:off x="276225" y="1803273"/>
            <a:ext cx="11462394" cy="194310"/>
          </a:xfrm>
          <a:prstGeom prst="rect">
            <a:avLst/>
          </a:prstGeom>
          <a:noFill/>
        </p:spPr>
        <p:txBody>
          <a:bodyPr wrap="none" lIns="0" rIns="0" tIns="0" bIns="0">
            <a:spAutoFit/>
          </a:bodyPr>
          <a:lstStyle/>
          <a:p>
            <a:r>
              <a:rPr sz="1150" b="0">
                <a:solidFill>
                  <a:srgbClr val="2E2E2E"/>
                </a:solidFill>
                <a:latin typeface="Calibri"/>
              </a:rPr>
              <a:t>The global off-highway vehicle market has been analysed on the basis of vehicle type, powertrain, vehicle capacity and propulsion configuration across the globe. U.S. is expected to remain the</a:t>
            </a:r>
          </a:p>
        </p:txBody>
      </p:sp>
      <p:sp>
        <p:nvSpPr>
          <p:cNvPr id="40" name="TextBox 39"/>
          <p:cNvSpPr txBox="1"/>
          <p:nvPr/>
        </p:nvSpPr>
        <p:spPr>
          <a:xfrm>
            <a:off x="276225" y="1978533"/>
            <a:ext cx="6682092" cy="194310"/>
          </a:xfrm>
          <a:prstGeom prst="rect">
            <a:avLst/>
          </a:prstGeom>
          <a:noFill/>
        </p:spPr>
        <p:txBody>
          <a:bodyPr wrap="none" lIns="0" rIns="0" tIns="0" bIns="0">
            <a:spAutoFit/>
          </a:bodyPr>
          <a:lstStyle/>
          <a:p>
            <a:r>
              <a:rPr sz="1150" b="0">
                <a:solidFill>
                  <a:srgbClr val="2E2E2E"/>
                </a:solidFill>
                <a:latin typeface="Calibri"/>
              </a:rPr>
              <a:t>largest market for Off-Highway vehicle, while demand in Mexico is projected to increase at the highest CAGR of</a:t>
            </a:r>
          </a:p>
        </p:txBody>
      </p:sp>
      <p:pic>
        <p:nvPicPr>
          <p:cNvPr id="41" name="Picture 40" descr="lock.png"/>
          <p:cNvPicPr>
            <a:picLocks noChangeAspect="1"/>
          </p:cNvPicPr>
          <p:nvPr/>
        </p:nvPicPr>
        <p:blipFill>
          <a:blip r:embed="rId4"/>
          <a:stretch>
            <a:fillRect/>
          </a:stretch>
        </p:blipFill>
        <p:spPr>
          <a:xfrm>
            <a:off x="6907471" y="1968309"/>
            <a:ext cx="134549" cy="195707"/>
          </a:xfrm>
          <a:prstGeom prst="rect">
            <a:avLst/>
          </a:prstGeom>
        </p:spPr>
      </p:pic>
      <p:sp>
        <p:nvSpPr>
          <p:cNvPr id="42" name="TextBox 41"/>
          <p:cNvSpPr txBox="1"/>
          <p:nvPr/>
        </p:nvSpPr>
        <p:spPr>
          <a:xfrm>
            <a:off x="7082580"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3" name="TextBox 42"/>
          <p:cNvSpPr txBox="1"/>
          <p:nvPr/>
        </p:nvSpPr>
        <p:spPr>
          <a:xfrm>
            <a:off x="276225" y="3219450"/>
            <a:ext cx="6893483" cy="194310"/>
          </a:xfrm>
          <a:prstGeom prst="rect">
            <a:avLst/>
          </a:prstGeom>
          <a:noFill/>
        </p:spPr>
        <p:txBody>
          <a:bodyPr wrap="none" lIns="0" rIns="0" tIns="0" bIns="0">
            <a:spAutoFit/>
          </a:bodyPr>
          <a:lstStyle/>
          <a:p>
            <a:r>
              <a:rPr sz="1150" b="0">
                <a:solidFill>
                  <a:srgbClr val="2E2E2E"/>
                </a:solidFill>
                <a:latin typeface="Calibri"/>
              </a:rPr>
              <a:t>▪ The market is moderately fragmented: the leading vehicle type category 'Construction and Mining Vehicles' holds</a:t>
            </a:r>
          </a:p>
        </p:txBody>
      </p:sp>
      <p:pic>
        <p:nvPicPr>
          <p:cNvPr id="44" name="Picture 43" descr="lock.png"/>
          <p:cNvPicPr>
            <a:picLocks noChangeAspect="1"/>
          </p:cNvPicPr>
          <p:nvPr/>
        </p:nvPicPr>
        <p:blipFill>
          <a:blip r:embed="rId4"/>
          <a:stretch>
            <a:fillRect/>
          </a:stretch>
        </p:blipFill>
        <p:spPr>
          <a:xfrm>
            <a:off x="7118862" y="3209226"/>
            <a:ext cx="134549" cy="195707"/>
          </a:xfrm>
          <a:prstGeom prst="rect">
            <a:avLst/>
          </a:prstGeom>
        </p:spPr>
      </p:pic>
      <p:sp>
        <p:nvSpPr>
          <p:cNvPr id="45" name="TextBox 44"/>
          <p:cNvSpPr txBox="1"/>
          <p:nvPr/>
        </p:nvSpPr>
        <p:spPr>
          <a:xfrm>
            <a:off x="7293971"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6" name="TextBox 45"/>
          <p:cNvSpPr txBox="1"/>
          <p:nvPr/>
        </p:nvSpPr>
        <p:spPr>
          <a:xfrm>
            <a:off x="276225" y="3447287"/>
            <a:ext cx="4978003" cy="194310"/>
          </a:xfrm>
          <a:prstGeom prst="rect">
            <a:avLst/>
          </a:prstGeom>
          <a:noFill/>
        </p:spPr>
        <p:txBody>
          <a:bodyPr wrap="none" lIns="0" rIns="0" tIns="0" bIns="0">
            <a:spAutoFit/>
          </a:bodyPr>
          <a:lstStyle/>
          <a:p>
            <a:r>
              <a:rPr sz="1150" b="0">
                <a:solidFill>
                  <a:srgbClr val="2E2E2E"/>
                </a:solidFill>
                <a:latin typeface="Calibri"/>
              </a:rPr>
              <a:t>▪ Demand spans 3 countries and 4 segmentation lenses (5 vehicle type categories).</a:t>
            </a:r>
          </a:p>
        </p:txBody>
      </p:sp>
      <p:sp>
        <p:nvSpPr>
          <p:cNvPr id="47" name="TextBox 46"/>
          <p:cNvSpPr txBox="1"/>
          <p:nvPr/>
        </p:nvSpPr>
        <p:spPr>
          <a:xfrm>
            <a:off x="276225" y="367512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48" name="Picture 47" descr="lock.png"/>
          <p:cNvPicPr>
            <a:picLocks noChangeAspect="1"/>
          </p:cNvPicPr>
          <p:nvPr/>
        </p:nvPicPr>
        <p:blipFill>
          <a:blip r:embed="rId4"/>
          <a:stretch>
            <a:fillRect/>
          </a:stretch>
        </p:blipFill>
        <p:spPr>
          <a:xfrm>
            <a:off x="2514293" y="3664902"/>
            <a:ext cx="134549" cy="195707"/>
          </a:xfrm>
          <a:prstGeom prst="rect">
            <a:avLst/>
          </a:prstGeom>
        </p:spPr>
      </p:pic>
      <p:sp>
        <p:nvSpPr>
          <p:cNvPr id="49" name="TextBox 48"/>
          <p:cNvSpPr txBox="1"/>
          <p:nvPr/>
        </p:nvSpPr>
        <p:spPr>
          <a:xfrm>
            <a:off x="2689402"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0" name="TextBox 49"/>
          <p:cNvSpPr txBox="1"/>
          <p:nvPr/>
        </p:nvSpPr>
        <p:spPr>
          <a:xfrm>
            <a:off x="276225" y="4924425"/>
            <a:ext cx="3348062" cy="194310"/>
          </a:xfrm>
          <a:prstGeom prst="rect">
            <a:avLst/>
          </a:prstGeom>
          <a:noFill/>
        </p:spPr>
        <p:txBody>
          <a:bodyPr wrap="none" lIns="0" rIns="0" tIns="0" bIns="0">
            <a:spAutoFit/>
          </a:bodyPr>
          <a:lstStyle/>
          <a:p>
            <a:r>
              <a:rPr sz="1150" b="0">
                <a:solidFill>
                  <a:srgbClr val="2E2E2E"/>
                </a:solidFill>
                <a:latin typeface="Calibri"/>
              </a:rPr>
              <a:t>▪ Accelerating uptake of 'Recreational and Powersports</a:t>
            </a:r>
          </a:p>
        </p:txBody>
      </p:sp>
      <p:sp>
        <p:nvSpPr>
          <p:cNvPr id="51" name="TextBox 50"/>
          <p:cNvSpPr txBox="1"/>
          <p:nvPr/>
        </p:nvSpPr>
        <p:spPr>
          <a:xfrm>
            <a:off x="276225" y="5099685"/>
            <a:ext cx="677229" cy="194310"/>
          </a:xfrm>
          <a:prstGeom prst="rect">
            <a:avLst/>
          </a:prstGeom>
          <a:noFill/>
        </p:spPr>
        <p:txBody>
          <a:bodyPr wrap="none" lIns="0" rIns="0" tIns="0" bIns="0">
            <a:spAutoFit/>
          </a:bodyPr>
          <a:lstStyle/>
          <a:p>
            <a:r>
              <a:rPr sz="1150" b="0">
                <a:solidFill>
                  <a:srgbClr val="2E2E2E"/>
                </a:solidFill>
                <a:latin typeface="Calibri"/>
              </a:rPr>
              <a:t>Vehicles' (</a:t>
            </a:r>
          </a:p>
        </p:txBody>
      </p:sp>
      <p:pic>
        <p:nvPicPr>
          <p:cNvPr id="52" name="Picture 51" descr="lock.png"/>
          <p:cNvPicPr>
            <a:picLocks noChangeAspect="1"/>
          </p:cNvPicPr>
          <p:nvPr/>
        </p:nvPicPr>
        <p:blipFill>
          <a:blip r:embed="rId4"/>
          <a:stretch>
            <a:fillRect/>
          </a:stretch>
        </p:blipFill>
        <p:spPr>
          <a:xfrm>
            <a:off x="902608" y="5089461"/>
            <a:ext cx="134549" cy="195707"/>
          </a:xfrm>
          <a:prstGeom prst="rect">
            <a:avLst/>
          </a:prstGeom>
        </p:spPr>
      </p:pic>
      <p:sp>
        <p:nvSpPr>
          <p:cNvPr id="53" name="TextBox 52"/>
          <p:cNvSpPr txBox="1"/>
          <p:nvPr/>
        </p:nvSpPr>
        <p:spPr>
          <a:xfrm>
            <a:off x="1077718"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4" name="TextBox 53"/>
          <p:cNvSpPr txBox="1"/>
          <p:nvPr/>
        </p:nvSpPr>
        <p:spPr>
          <a:xfrm>
            <a:off x="276225" y="5327522"/>
            <a:ext cx="2139093" cy="194310"/>
          </a:xfrm>
          <a:prstGeom prst="rect">
            <a:avLst/>
          </a:prstGeom>
          <a:noFill/>
        </p:spPr>
        <p:txBody>
          <a:bodyPr wrap="none" lIns="0" rIns="0" tIns="0" bIns="0">
            <a:spAutoFit/>
          </a:bodyPr>
          <a:lstStyle/>
          <a:p>
            <a:r>
              <a:rPr sz="1150" b="0">
                <a:solidFill>
                  <a:srgbClr val="2E2E2E"/>
                </a:solidFill>
                <a:latin typeface="Calibri"/>
              </a:rPr>
              <a:t>▪ Fast-growing demand in Mexico (</a:t>
            </a:r>
          </a:p>
        </p:txBody>
      </p:sp>
      <p:pic>
        <p:nvPicPr>
          <p:cNvPr id="55" name="Picture 54" descr="lock.png"/>
          <p:cNvPicPr>
            <a:picLocks noChangeAspect="1"/>
          </p:cNvPicPr>
          <p:nvPr/>
        </p:nvPicPr>
        <p:blipFill>
          <a:blip r:embed="rId4"/>
          <a:stretch>
            <a:fillRect/>
          </a:stretch>
        </p:blipFill>
        <p:spPr>
          <a:xfrm>
            <a:off x="2364472" y="5317299"/>
            <a:ext cx="134549" cy="195707"/>
          </a:xfrm>
          <a:prstGeom prst="rect">
            <a:avLst/>
          </a:prstGeom>
        </p:spPr>
      </p:pic>
      <p:sp>
        <p:nvSpPr>
          <p:cNvPr id="56" name="TextBox 55"/>
          <p:cNvSpPr txBox="1"/>
          <p:nvPr/>
        </p:nvSpPr>
        <p:spPr>
          <a:xfrm>
            <a:off x="2539582"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7" name="TextBox 56"/>
          <p:cNvSpPr txBox="1"/>
          <p:nvPr/>
        </p:nvSpPr>
        <p:spPr>
          <a:xfrm>
            <a:off x="276225" y="5555360"/>
            <a:ext cx="3184326" cy="194310"/>
          </a:xfrm>
          <a:prstGeom prst="rect">
            <a:avLst/>
          </a:prstGeom>
          <a:noFill/>
        </p:spPr>
        <p:txBody>
          <a:bodyPr wrap="none" lIns="0" rIns="0" tIns="0" bIns="0">
            <a:spAutoFit/>
          </a:bodyPr>
          <a:lstStyle/>
          <a:p>
            <a:r>
              <a:rPr sz="1150" b="0">
                <a:solidFill>
                  <a:srgbClr val="2E2E2E"/>
                </a:solidFill>
                <a:latin typeface="Calibri"/>
              </a:rPr>
              <a:t>▪ Momentum in Battery Electric Vehicle (BEV) within</a:t>
            </a:r>
          </a:p>
        </p:txBody>
      </p:sp>
      <p:sp>
        <p:nvSpPr>
          <p:cNvPr id="58" name="TextBox 57"/>
          <p:cNvSpPr txBox="1"/>
          <p:nvPr/>
        </p:nvSpPr>
        <p:spPr>
          <a:xfrm>
            <a:off x="276225" y="5730620"/>
            <a:ext cx="815863" cy="194310"/>
          </a:xfrm>
          <a:prstGeom prst="rect">
            <a:avLst/>
          </a:prstGeom>
          <a:noFill/>
        </p:spPr>
        <p:txBody>
          <a:bodyPr wrap="none" lIns="0" rIns="0" tIns="0" bIns="0">
            <a:spAutoFit/>
          </a:bodyPr>
          <a:lstStyle/>
          <a:p>
            <a:r>
              <a:rPr sz="1150" b="0">
                <a:solidFill>
                  <a:srgbClr val="2E2E2E"/>
                </a:solidFill>
                <a:latin typeface="Calibri"/>
              </a:rPr>
              <a:t>powertrain (</a:t>
            </a:r>
          </a:p>
        </p:txBody>
      </p:sp>
      <p:pic>
        <p:nvPicPr>
          <p:cNvPr id="59" name="Picture 58" descr="lock.png"/>
          <p:cNvPicPr>
            <a:picLocks noChangeAspect="1"/>
          </p:cNvPicPr>
          <p:nvPr/>
        </p:nvPicPr>
        <p:blipFill>
          <a:blip r:embed="rId4"/>
          <a:stretch>
            <a:fillRect/>
          </a:stretch>
        </p:blipFill>
        <p:spPr>
          <a:xfrm>
            <a:off x="1041242" y="5720397"/>
            <a:ext cx="134549" cy="195707"/>
          </a:xfrm>
          <a:prstGeom prst="rect">
            <a:avLst/>
          </a:prstGeom>
        </p:spPr>
      </p:pic>
      <p:sp>
        <p:nvSpPr>
          <p:cNvPr id="60" name="TextBox 59"/>
          <p:cNvSpPr txBox="1"/>
          <p:nvPr/>
        </p:nvSpPr>
        <p:spPr>
          <a:xfrm>
            <a:off x="1216351" y="573062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4924425"/>
            <a:ext cx="3248793" cy="194310"/>
          </a:xfrm>
          <a:prstGeom prst="rect">
            <a:avLst/>
          </a:prstGeom>
          <a:noFill/>
        </p:spPr>
        <p:txBody>
          <a:bodyPr wrap="none" lIns="0" rIns="0" tIns="0" bIns="0">
            <a:spAutoFit/>
          </a:bodyPr>
          <a:lstStyle/>
          <a:p>
            <a:r>
              <a:rPr sz="1150" b="0">
                <a:solidFill>
                  <a:srgbClr val="2E2E2E"/>
                </a:solidFill>
                <a:latin typeface="Calibri"/>
              </a:rPr>
              <a:t>▪ Slower momentum in 'Industrial and Port Vehicles' (</a:t>
            </a:r>
          </a:p>
        </p:txBody>
      </p:sp>
      <p:pic>
        <p:nvPicPr>
          <p:cNvPr id="62" name="Picture 61" descr="lock.png"/>
          <p:cNvPicPr>
            <a:picLocks noChangeAspect="1"/>
          </p:cNvPicPr>
          <p:nvPr/>
        </p:nvPicPr>
        <p:blipFill>
          <a:blip r:embed="rId4"/>
          <a:stretch>
            <a:fillRect/>
          </a:stretch>
        </p:blipFill>
        <p:spPr>
          <a:xfrm>
            <a:off x="7569922" y="4914201"/>
            <a:ext cx="134549" cy="195707"/>
          </a:xfrm>
          <a:prstGeom prst="rect">
            <a:avLst/>
          </a:prstGeom>
        </p:spPr>
      </p:pic>
      <p:sp>
        <p:nvSpPr>
          <p:cNvPr id="63" name="TextBox 62"/>
          <p:cNvSpPr txBox="1"/>
          <p:nvPr/>
        </p:nvSpPr>
        <p:spPr>
          <a:xfrm>
            <a:off x="7745032" y="492442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4" name="TextBox 63"/>
          <p:cNvSpPr txBox="1"/>
          <p:nvPr/>
        </p:nvSpPr>
        <p:spPr>
          <a:xfrm>
            <a:off x="4371975" y="5152263"/>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5" name="TextBox 64"/>
          <p:cNvSpPr txBox="1"/>
          <p:nvPr/>
        </p:nvSpPr>
        <p:spPr>
          <a:xfrm>
            <a:off x="4371975" y="532752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6" name="Picture 65" descr="lock.png"/>
          <p:cNvPicPr>
            <a:picLocks noChangeAspect="1"/>
          </p:cNvPicPr>
          <p:nvPr/>
        </p:nvPicPr>
        <p:blipFill>
          <a:blip r:embed="rId4"/>
          <a:stretch>
            <a:fillRect/>
          </a:stretch>
        </p:blipFill>
        <p:spPr>
          <a:xfrm>
            <a:off x="4883401" y="5317299"/>
            <a:ext cx="134549" cy="195707"/>
          </a:xfrm>
          <a:prstGeom prst="rect">
            <a:avLst/>
          </a:prstGeom>
        </p:spPr>
      </p:pic>
      <p:sp>
        <p:nvSpPr>
          <p:cNvPr id="67" name="TextBox 66"/>
          <p:cNvSpPr txBox="1"/>
          <p:nvPr/>
        </p:nvSpPr>
        <p:spPr>
          <a:xfrm>
            <a:off x="5058510" y="532752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4371975" y="5555360"/>
            <a:ext cx="3533775" cy="194310"/>
          </a:xfrm>
          <a:prstGeom prst="rect">
            <a:avLst/>
          </a:prstGeom>
          <a:noFill/>
        </p:spPr>
        <p:txBody>
          <a:bodyPr wrap="none" lIns="0" rIns="0" tIns="0" bIns="0">
            <a:spAutoFit/>
          </a:bodyPr>
          <a:lstStyle/>
          <a:p>
            <a:r>
              <a:rPr sz="1150" b="0">
                <a:solidFill>
                  <a:srgbClr val="2E2E2E"/>
                </a:solidFill>
                <a:latin typeface="Calibri"/>
              </a:rPr>
              <a:t>▪ Value concentration in 'Construction and Mining Vehicles'</a:t>
            </a:r>
          </a:p>
        </p:txBody>
      </p:sp>
      <p:sp>
        <p:nvSpPr>
          <p:cNvPr id="69" name="TextBox 68"/>
          <p:cNvSpPr txBox="1"/>
          <p:nvPr/>
        </p:nvSpPr>
        <p:spPr>
          <a:xfrm>
            <a:off x="4371975" y="5730620"/>
            <a:ext cx="1978843" cy="194310"/>
          </a:xfrm>
          <a:prstGeom prst="rect">
            <a:avLst/>
          </a:prstGeom>
          <a:noFill/>
        </p:spPr>
        <p:txBody>
          <a:bodyPr wrap="none" lIns="0" rIns="0" tIns="0" bIns="0">
            <a:spAutoFit/>
          </a:bodyPr>
          <a:lstStyle/>
          <a:p>
            <a:r>
              <a:rPr sz="1150" b="0">
                <a:solidFill>
                  <a:srgbClr val="2E2E2E"/>
                </a:solidFill>
                <a:latin typeface="Calibri"/>
              </a:rPr>
              <a:t>raises barriers for new entrants.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7" name="Rounded Rectangle 6"/>
          <p:cNvSpPr/>
          <p:nvPr/>
        </p:nvSpPr>
        <p:spPr>
          <a:xfrm>
            <a:off x="142875"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Recent Developments &amp; Key Industry Activities</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477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Capacity and product development are concentrating in 'Recreational and Powersports Vehicles' and Mexico.</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Portfolio expansion tracks the shift toward higher-growth vehicle type categories.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Commercial focus is intensifying across U.S. and Mexico.</a:t>
            </a:r>
          </a:p>
        </p:txBody>
      </p:sp>
      <p:sp>
        <p:nvSpPr>
          <p:cNvPr id="11" name="Rounded Rectangle 10"/>
          <p:cNvSpPr/>
          <p:nvPr/>
        </p:nvSpPr>
        <p:spPr>
          <a:xfrm>
            <a:off x="6172200" y="981075"/>
            <a:ext cx="5876925" cy="1733550"/>
          </a:xfrm>
          <a:prstGeom prst="roundRect">
            <a:avLst>
              <a:gd name="adj" fmla="val 4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Key Insights</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477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5" name="Rounded Rectangle 14"/>
          <p:cNvSpPr/>
          <p:nvPr/>
        </p:nvSpPr>
        <p:spPr>
          <a:xfrm>
            <a:off x="142875"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Strategic Acquisitions &amp; New Investments</a:t>
            </a:r>
          </a:p>
        </p:txBody>
      </p:sp>
      <p:sp>
        <p:nvSpPr>
          <p:cNvPr id="17" name="Rectangle 16"/>
          <p:cNvSpPr/>
          <p:nvPr/>
        </p:nvSpPr>
        <p:spPr>
          <a:xfrm>
            <a:off x="276225"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19" name="Rounded Rectangle 18"/>
          <p:cNvSpPr/>
          <p:nvPr/>
        </p:nvSpPr>
        <p:spPr>
          <a:xfrm>
            <a:off x="6172200" y="2847975"/>
            <a:ext cx="5876925" cy="1428750"/>
          </a:xfrm>
          <a:prstGeom prst="roundRect">
            <a:avLst>
              <a:gd name="adj" fmla="val 533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933700"/>
            <a:ext cx="5610225" cy="209550"/>
          </a:xfrm>
          <a:prstGeom prst="rect">
            <a:avLst/>
          </a:prstGeom>
          <a:noFill/>
        </p:spPr>
        <p:txBody>
          <a:bodyPr wrap="square" lIns="0" rIns="19050" tIns="9525" bIns="9525">
            <a:spAutoFit/>
          </a:bodyPr>
          <a:lstStyle/>
          <a:p>
            <a:pPr algn="l"/>
            <a:r>
              <a:rPr sz="1300" b="1">
                <a:solidFill>
                  <a:srgbClr val="0E2A5C"/>
                </a:solidFill>
                <a:latin typeface="Calibri"/>
              </a:rPr>
              <a:t>Substantial Investment in R&amp;D</a:t>
            </a:r>
          </a:p>
        </p:txBody>
      </p:sp>
      <p:sp>
        <p:nvSpPr>
          <p:cNvPr id="21" name="Rectangle 20"/>
          <p:cNvSpPr/>
          <p:nvPr/>
        </p:nvSpPr>
        <p:spPr>
          <a:xfrm>
            <a:off x="6305550" y="31718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57550"/>
            <a:ext cx="5610225" cy="9429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ounded Rectangle 22"/>
          <p:cNvSpPr/>
          <p:nvPr/>
        </p:nvSpPr>
        <p:spPr>
          <a:xfrm>
            <a:off x="142875" y="4410075"/>
            <a:ext cx="11906250" cy="2209800"/>
          </a:xfrm>
          <a:prstGeom prst="roundRect">
            <a:avLst>
              <a:gd name="adj" fmla="val 344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8125" y="4467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vehicle type share (2036)</a:t>
            </a:r>
          </a:p>
        </p:txBody>
      </p:sp>
      <p:graphicFrame>
        <p:nvGraphicFramePr>
          <p:cNvPr id="25" name="Chart 24"/>
          <p:cNvGraphicFramePr>
            <a:graphicFrameLocks noGrp="1"/>
          </p:cNvGraphicFramePr>
          <p:nvPr/>
        </p:nvGraphicFramePr>
        <p:xfrm>
          <a:off x="238125" y="4695825"/>
          <a:ext cx="11715750" cy="1866900"/>
        </p:xfrm>
        <a:graphic>
          <a:graphicData uri="http://schemas.openxmlformats.org/drawingml/2006/chart">
            <c:chart xmlns:c="http://schemas.openxmlformats.org/drawingml/2006/chart" r:id="rId3"/>
          </a:graphicData>
        </a:graphic>
      </p:graphicFrame>
      <p:sp>
        <p:nvSpPr>
          <p:cNvPr id="26" name="TextBox 25"/>
          <p:cNvSpPr txBox="1"/>
          <p:nvPr/>
        </p:nvSpPr>
        <p:spPr>
          <a:xfrm>
            <a:off x="3892075" y="5514975"/>
            <a:ext cx="893125"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5"/>
          <a:stretch>
            <a:fillRect/>
          </a:stretch>
        </p:blipFill>
        <p:spPr>
          <a:xfrm>
            <a:off x="4143964" y="5349744"/>
            <a:ext cx="366052" cy="532439"/>
          </a:xfrm>
          <a:prstGeom prst="rect">
            <a:avLst/>
          </a:prstGeom>
        </p:spPr>
      </p:pic>
      <p:sp>
        <p:nvSpPr>
          <p:cNvPr id="30" name="TextBox 29"/>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1" name="Picture 30" descr="lock.png"/>
          <p:cNvPicPr>
            <a:picLocks noChangeAspect="1"/>
          </p:cNvPicPr>
          <p:nvPr/>
        </p:nvPicPr>
        <p:blipFill>
          <a:blip r:embed="rId5"/>
          <a:stretch>
            <a:fillRect/>
          </a:stretch>
        </p:blipFill>
        <p:spPr>
          <a:xfrm>
            <a:off x="6937714" y="1390396"/>
            <a:ext cx="128699" cy="187198"/>
          </a:xfrm>
          <a:prstGeom prst="rect">
            <a:avLst/>
          </a:prstGeom>
        </p:spPr>
      </p:pic>
      <p:sp>
        <p:nvSpPr>
          <p:cNvPr id="32" name="TextBox 31"/>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3" name="Picture 32" descr="lock.png"/>
          <p:cNvPicPr>
            <a:picLocks noChangeAspect="1"/>
          </p:cNvPicPr>
          <p:nvPr/>
        </p:nvPicPr>
        <p:blipFill>
          <a:blip r:embed="rId5"/>
          <a:stretch>
            <a:fillRect/>
          </a:stretch>
        </p:blipFill>
        <p:spPr>
          <a:xfrm>
            <a:off x="7931645" y="1390396"/>
            <a:ext cx="128699" cy="187198"/>
          </a:xfrm>
          <a:prstGeom prst="rect">
            <a:avLst/>
          </a:prstGeom>
        </p:spPr>
      </p:pic>
      <p:sp>
        <p:nvSpPr>
          <p:cNvPr id="34" name="TextBox 33"/>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5" name="TextBox 34"/>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6" name="Picture 35" descr="lock.png"/>
          <p:cNvPicPr>
            <a:picLocks noChangeAspect="1"/>
          </p:cNvPicPr>
          <p:nvPr/>
        </p:nvPicPr>
        <p:blipFill>
          <a:blip r:embed="rId5"/>
          <a:stretch>
            <a:fillRect/>
          </a:stretch>
        </p:blipFill>
        <p:spPr>
          <a:xfrm>
            <a:off x="7245444" y="1608328"/>
            <a:ext cx="128699" cy="187198"/>
          </a:xfrm>
          <a:prstGeom prst="rect">
            <a:avLst/>
          </a:prstGeom>
        </p:spPr>
      </p:pic>
      <p:sp>
        <p:nvSpPr>
          <p:cNvPr id="37" name="TextBox 36"/>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38" name="TextBox 37"/>
          <p:cNvSpPr txBox="1"/>
          <p:nvPr/>
        </p:nvSpPr>
        <p:spPr>
          <a:xfrm>
            <a:off x="6305550" y="1836039"/>
            <a:ext cx="2950691" cy="186689"/>
          </a:xfrm>
          <a:prstGeom prst="rect">
            <a:avLst/>
          </a:prstGeom>
          <a:noFill/>
        </p:spPr>
        <p:txBody>
          <a:bodyPr wrap="none" lIns="0" rIns="0" tIns="0" bIns="0">
            <a:spAutoFit/>
          </a:bodyPr>
          <a:lstStyle/>
          <a:p>
            <a:r>
              <a:rPr sz="1100" b="0">
                <a:solidFill>
                  <a:srgbClr val="2E2E2E"/>
                </a:solidFill>
                <a:latin typeface="Calibri"/>
              </a:rPr>
              <a:t>▪ Lead category 'Construction and Mining Vehicles'</a:t>
            </a:r>
          </a:p>
        </p:txBody>
      </p:sp>
      <p:pic>
        <p:nvPicPr>
          <p:cNvPr id="39" name="Picture 38" descr="lock.png"/>
          <p:cNvPicPr>
            <a:picLocks noChangeAspect="1"/>
          </p:cNvPicPr>
          <p:nvPr/>
        </p:nvPicPr>
        <p:blipFill>
          <a:blip r:embed="rId5"/>
          <a:stretch>
            <a:fillRect/>
          </a:stretch>
        </p:blipFill>
        <p:spPr>
          <a:xfrm>
            <a:off x="9204292" y="1826260"/>
            <a:ext cx="128699" cy="187198"/>
          </a:xfrm>
          <a:prstGeom prst="rect">
            <a:avLst/>
          </a:prstGeom>
        </p:spPr>
      </p:pic>
      <p:sp>
        <p:nvSpPr>
          <p:cNvPr id="40" name="TextBox 39"/>
          <p:cNvSpPr txBox="1"/>
          <p:nvPr/>
        </p:nvSpPr>
        <p:spPr>
          <a:xfrm>
            <a:off x="9371788"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1" name="TextBox 40"/>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2" name="Picture 41" descr="lock.png"/>
          <p:cNvPicPr>
            <a:picLocks noChangeAspect="1"/>
          </p:cNvPicPr>
          <p:nvPr/>
        </p:nvPicPr>
        <p:blipFill>
          <a:blip r:embed="rId5"/>
          <a:stretch>
            <a:fillRect/>
          </a:stretch>
        </p:blipFill>
        <p:spPr>
          <a:xfrm>
            <a:off x="7405655" y="2044192"/>
            <a:ext cx="128699" cy="187198"/>
          </a:xfrm>
          <a:prstGeom prst="rect">
            <a:avLst/>
          </a:prstGeom>
        </p:spPr>
      </p:pic>
      <p:sp>
        <p:nvSpPr>
          <p:cNvPr id="43" name="TextBox 42"/>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4" name="TextBox 43"/>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5" name="Picture 44" descr="lock.png"/>
          <p:cNvPicPr>
            <a:picLocks noChangeAspect="1"/>
          </p:cNvPicPr>
          <p:nvPr/>
        </p:nvPicPr>
        <p:blipFill>
          <a:blip r:embed="rId5"/>
          <a:stretch>
            <a:fillRect/>
          </a:stretch>
        </p:blipFill>
        <p:spPr>
          <a:xfrm>
            <a:off x="7808384" y="2262124"/>
            <a:ext cx="128699" cy="187198"/>
          </a:xfrm>
          <a:prstGeom prst="rect">
            <a:avLst/>
          </a:prstGeom>
        </p:spPr>
      </p:pic>
      <p:sp>
        <p:nvSpPr>
          <p:cNvPr id="46" name="TextBox 45"/>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7" name="TextBox 46"/>
          <p:cNvSpPr txBox="1"/>
          <p:nvPr/>
        </p:nvSpPr>
        <p:spPr>
          <a:xfrm>
            <a:off x="276225" y="3267075"/>
            <a:ext cx="5482480"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'Recreational and Powersports Vehicles'</a:t>
            </a:r>
          </a:p>
        </p:txBody>
      </p:sp>
      <p:sp>
        <p:nvSpPr>
          <p:cNvPr id="48" name="TextBox 47"/>
          <p:cNvSpPr txBox="1"/>
          <p:nvPr/>
        </p:nvSpPr>
        <p:spPr>
          <a:xfrm>
            <a:off x="276225" y="3434715"/>
            <a:ext cx="118491"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9" name="Picture 48" descr="lock.png"/>
          <p:cNvPicPr>
            <a:picLocks noChangeAspect="1"/>
          </p:cNvPicPr>
          <p:nvPr/>
        </p:nvPicPr>
        <p:blipFill>
          <a:blip r:embed="rId5"/>
          <a:stretch>
            <a:fillRect/>
          </a:stretch>
        </p:blipFill>
        <p:spPr>
          <a:xfrm>
            <a:off x="342768" y="3424936"/>
            <a:ext cx="128699" cy="187198"/>
          </a:xfrm>
          <a:prstGeom prst="rect">
            <a:avLst/>
          </a:prstGeom>
        </p:spPr>
      </p:pic>
      <p:sp>
        <p:nvSpPr>
          <p:cNvPr id="50" name="TextBox 49"/>
          <p:cNvSpPr txBox="1"/>
          <p:nvPr/>
        </p:nvSpPr>
        <p:spPr>
          <a:xfrm>
            <a:off x="510264" y="343471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1" name="TextBox 50"/>
          <p:cNvSpPr txBox="1"/>
          <p:nvPr/>
        </p:nvSpPr>
        <p:spPr>
          <a:xfrm>
            <a:off x="276225" y="3652647"/>
            <a:ext cx="645914" cy="186689"/>
          </a:xfrm>
          <a:prstGeom prst="rect">
            <a:avLst/>
          </a:prstGeom>
          <a:noFill/>
        </p:spPr>
        <p:txBody>
          <a:bodyPr wrap="none" lIns="0" rIns="0" tIns="0" bIns="0">
            <a:spAutoFit/>
          </a:bodyPr>
          <a:lstStyle/>
          <a:p>
            <a:r>
              <a:rPr sz="1100" b="0">
                <a:solidFill>
                  <a:srgbClr val="2E2E2E"/>
                </a:solidFill>
                <a:latin typeface="Calibri"/>
              </a:rPr>
              <a:t>▪ Mexico (</a:t>
            </a:r>
          </a:p>
        </p:txBody>
      </p:sp>
      <p:pic>
        <p:nvPicPr>
          <p:cNvPr id="52" name="Picture 51" descr="lock.png"/>
          <p:cNvPicPr>
            <a:picLocks noChangeAspect="1"/>
          </p:cNvPicPr>
          <p:nvPr/>
        </p:nvPicPr>
        <p:blipFill>
          <a:blip r:embed="rId5"/>
          <a:stretch>
            <a:fillRect/>
          </a:stretch>
        </p:blipFill>
        <p:spPr>
          <a:xfrm>
            <a:off x="870190" y="3642868"/>
            <a:ext cx="128699" cy="187198"/>
          </a:xfrm>
          <a:prstGeom prst="rect">
            <a:avLst/>
          </a:prstGeom>
        </p:spPr>
      </p:pic>
      <p:sp>
        <p:nvSpPr>
          <p:cNvPr id="53" name="TextBox 52"/>
          <p:cNvSpPr txBox="1"/>
          <p:nvPr/>
        </p:nvSpPr>
        <p:spPr>
          <a:xfrm>
            <a:off x="1037686" y="3652647"/>
            <a:ext cx="2262832" cy="186689"/>
          </a:xfrm>
          <a:prstGeom prst="rect">
            <a:avLst/>
          </a:prstGeom>
          <a:noFill/>
        </p:spPr>
        <p:txBody>
          <a:bodyPr wrap="none" lIns="0" rIns="0" tIns="0" bIns="0">
            <a:spAutoFit/>
          </a:bodyPr>
          <a:lstStyle/>
          <a:p>
            <a:r>
              <a:rPr sz="1100" b="0">
                <a:solidFill>
                  <a:srgbClr val="2E2E2E"/>
                </a:solidFill>
                <a:latin typeface="Calibri"/>
              </a:rPr>
              <a:t>) is a priority country for new capacity.</a:t>
            </a:r>
          </a:p>
        </p:txBody>
      </p:sp>
      <p:sp>
        <p:nvSpPr>
          <p:cNvPr id="54" name="TextBox 53"/>
          <p:cNvSpPr txBox="1"/>
          <p:nvPr/>
        </p:nvSpPr>
        <p:spPr>
          <a:xfrm>
            <a:off x="276225" y="3870579"/>
            <a:ext cx="3830910" cy="186689"/>
          </a:xfrm>
          <a:prstGeom prst="rect">
            <a:avLst/>
          </a:prstGeom>
          <a:noFill/>
        </p:spPr>
        <p:txBody>
          <a:bodyPr wrap="none" lIns="0" rIns="0" tIns="0" bIns="0">
            <a:spAutoFit/>
          </a:bodyPr>
          <a:lstStyle/>
          <a:p>
            <a:r>
              <a:rPr sz="1100" b="0">
                <a:solidFill>
                  <a:srgbClr val="2E2E2E"/>
                </a:solidFill>
                <a:latin typeface="Calibri"/>
              </a:rPr>
              <a:t>▪ Scale players anchor around 'Construction and Mining Vehicles' (</a:t>
            </a:r>
          </a:p>
        </p:txBody>
      </p:sp>
      <p:pic>
        <p:nvPicPr>
          <p:cNvPr id="55" name="Picture 54" descr="lock.png"/>
          <p:cNvPicPr>
            <a:picLocks noChangeAspect="1"/>
          </p:cNvPicPr>
          <p:nvPr/>
        </p:nvPicPr>
        <p:blipFill>
          <a:blip r:embed="rId5"/>
          <a:stretch>
            <a:fillRect/>
          </a:stretch>
        </p:blipFill>
        <p:spPr>
          <a:xfrm>
            <a:off x="4055186" y="3860800"/>
            <a:ext cx="128699" cy="187198"/>
          </a:xfrm>
          <a:prstGeom prst="rect">
            <a:avLst/>
          </a:prstGeom>
        </p:spPr>
      </p:pic>
      <p:sp>
        <p:nvSpPr>
          <p:cNvPr id="56" name="TextBox 55"/>
          <p:cNvSpPr txBox="1"/>
          <p:nvPr/>
        </p:nvSpPr>
        <p:spPr>
          <a:xfrm>
            <a:off x="4222682" y="3870579"/>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7" name="TextBox 56"/>
          <p:cNvSpPr txBox="1"/>
          <p:nvPr/>
        </p:nvSpPr>
        <p:spPr>
          <a:xfrm>
            <a:off x="6305550" y="3267075"/>
            <a:ext cx="5591175" cy="186689"/>
          </a:xfrm>
          <a:prstGeom prst="rect">
            <a:avLst/>
          </a:prstGeom>
          <a:noFill/>
        </p:spPr>
        <p:txBody>
          <a:bodyPr wrap="none" lIns="0" rIns="0" tIns="0" bIns="0">
            <a:spAutoFit/>
          </a:bodyPr>
          <a:lstStyle/>
          <a:p>
            <a:r>
              <a:rPr sz="1100" b="0">
                <a:solidFill>
                  <a:srgbClr val="2E2E2E"/>
                </a:solidFill>
                <a:latin typeface="Calibri"/>
              </a:rPr>
              <a:t>▪ R&amp;D aligns with the migration to 'Recreational and Powersports Vehicles' and adjacent premium</a:t>
            </a:r>
          </a:p>
        </p:txBody>
      </p:sp>
      <p:sp>
        <p:nvSpPr>
          <p:cNvPr id="58" name="TextBox 57"/>
          <p:cNvSpPr txBox="1"/>
          <p:nvPr/>
        </p:nvSpPr>
        <p:spPr>
          <a:xfrm>
            <a:off x="6305550" y="3434715"/>
            <a:ext cx="363512" cy="186689"/>
          </a:xfrm>
          <a:prstGeom prst="rect">
            <a:avLst/>
          </a:prstGeom>
          <a:noFill/>
        </p:spPr>
        <p:txBody>
          <a:bodyPr wrap="none" lIns="0" rIns="0" tIns="0" bIns="0">
            <a:spAutoFit/>
          </a:bodyPr>
          <a:lstStyle/>
          <a:p>
            <a:r>
              <a:rPr sz="1100" b="0">
                <a:solidFill>
                  <a:srgbClr val="2E2E2E"/>
                </a:solidFill>
                <a:latin typeface="Calibri"/>
              </a:rPr>
              <a:t>tiers.</a:t>
            </a:r>
          </a:p>
        </p:txBody>
      </p:sp>
      <p:sp>
        <p:nvSpPr>
          <p:cNvPr id="59" name="TextBox 58"/>
          <p:cNvSpPr txBox="1"/>
          <p:nvPr/>
        </p:nvSpPr>
        <p:spPr>
          <a:xfrm>
            <a:off x="6305550" y="3652647"/>
            <a:ext cx="4356695" cy="186689"/>
          </a:xfrm>
          <a:prstGeom prst="rect">
            <a:avLst/>
          </a:prstGeom>
          <a:noFill/>
        </p:spPr>
        <p:txBody>
          <a:bodyPr wrap="none" lIns="0" rIns="0" tIns="0" bIns="0">
            <a:spAutoFit/>
          </a:bodyPr>
          <a:lstStyle/>
          <a:p>
            <a:r>
              <a:rPr sz="1100" b="0">
                <a:solidFill>
                  <a:srgbClr val="2E2E2E"/>
                </a:solidFill>
                <a:latin typeface="Calibri"/>
              </a:rPr>
              <a:t>▪ Development spend targets vehicle type categories gaining share to 2036.</a:t>
            </a:r>
          </a:p>
        </p:txBody>
      </p:sp>
      <p:sp>
        <p:nvSpPr>
          <p:cNvPr id="60" name="TextBox 59"/>
          <p:cNvSpPr txBox="1"/>
          <p:nvPr/>
        </p:nvSpPr>
        <p:spPr>
          <a:xfrm>
            <a:off x="6305550" y="3870579"/>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847947" y="3860800"/>
            <a:ext cx="128699" cy="187198"/>
          </a:xfrm>
          <a:prstGeom prst="rect">
            <a:avLst/>
          </a:prstGeom>
        </p:spPr>
      </p:pic>
      <p:sp>
        <p:nvSpPr>
          <p:cNvPr id="62" name="TextBox 61"/>
          <p:cNvSpPr txBox="1"/>
          <p:nvPr/>
        </p:nvSpPr>
        <p:spPr>
          <a:xfrm>
            <a:off x="8015443" y="3870579"/>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3" name="lockshield_25"/>
          <p:cNvSpPr/>
          <p:nvPr/>
        </p:nvSpPr>
        <p:spPr>
          <a:xfrm>
            <a:off x="238125" y="4695825"/>
            <a:ext cx="11715750" cy="18669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TMR's analysis and recommendation</a:t>
            </a:r>
          </a:p>
        </p:txBody>
      </p:sp>
      <p:sp>
        <p:nvSpPr>
          <p:cNvPr id="7" name="Rounded Rectangle 6"/>
          <p:cNvSpPr/>
          <p:nvPr/>
        </p:nvSpPr>
        <p:spPr>
          <a:xfrm>
            <a:off x="142875"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Overall Market Approach</a:t>
            </a:r>
          </a:p>
        </p:txBody>
      </p:sp>
      <p:sp>
        <p:nvSpPr>
          <p:cNvPr id="9" name="Rectangle 8"/>
          <p:cNvSpPr/>
          <p:nvPr/>
        </p:nvSpPr>
        <p:spPr>
          <a:xfrm>
            <a:off x="276225"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1" name="Rounded Rectangle 10"/>
          <p:cNvSpPr/>
          <p:nvPr/>
        </p:nvSpPr>
        <p:spPr>
          <a:xfrm>
            <a:off x="6172200" y="981075"/>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E2A5C"/>
                </a:solidFill>
                <a:latin typeface="Calibri"/>
              </a:rPr>
              <a:t>Differentiating Strategy</a:t>
            </a:r>
          </a:p>
        </p:txBody>
      </p:sp>
      <p:sp>
        <p:nvSpPr>
          <p:cNvPr id="13" name="Rectangle 12"/>
          <p:cNvSpPr/>
          <p:nvPr/>
        </p:nvSpPr>
        <p:spPr>
          <a:xfrm>
            <a:off x="6305550" y="130492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Differentiate through the high-growth 'Recreational and Powersports Vehicles' tier and Battery Electric Vehicle (BEV) within powertrain.</a:t>
            </a:r>
          </a:p>
        </p:txBody>
      </p:sp>
      <p:sp>
        <p:nvSpPr>
          <p:cNvPr id="15" name="Rounded Rectangle 14"/>
          <p:cNvSpPr/>
          <p:nvPr/>
        </p:nvSpPr>
        <p:spPr>
          <a:xfrm>
            <a:off x="142875"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Segment</a:t>
            </a:r>
          </a:p>
        </p:txBody>
      </p:sp>
      <p:sp>
        <p:nvSpPr>
          <p:cNvPr id="17" name="Rectangle 16"/>
          <p:cNvSpPr/>
          <p:nvPr/>
        </p:nvSpPr>
        <p:spPr>
          <a:xfrm>
            <a:off x="276225"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9" name="Rounded Rectangle 18"/>
          <p:cNvSpPr/>
          <p:nvPr/>
        </p:nvSpPr>
        <p:spPr>
          <a:xfrm>
            <a:off x="6172200" y="2800350"/>
            <a:ext cx="5876925" cy="1685925"/>
          </a:xfrm>
          <a:prstGeom prst="roundRect">
            <a:avLst>
              <a:gd name="adj" fmla="val 45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E2A5C"/>
                </a:solidFill>
                <a:latin typeface="Calibri"/>
              </a:rPr>
              <a:t>Market Country</a:t>
            </a:r>
          </a:p>
        </p:txBody>
      </p:sp>
      <p:sp>
        <p:nvSpPr>
          <p:cNvPr id="21" name="Rectangle 20"/>
          <p:cNvSpPr/>
          <p:nvPr/>
        </p:nvSpPr>
        <p:spPr>
          <a:xfrm>
            <a:off x="6305550" y="3124200"/>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3" name="Rounded Rectangle 22"/>
          <p:cNvSpPr/>
          <p:nvPr/>
        </p:nvSpPr>
        <p:spPr>
          <a:xfrm>
            <a:off x="142875" y="4619625"/>
            <a:ext cx="11906250" cy="2000250"/>
          </a:xfrm>
          <a:prstGeom prst="roundRect">
            <a:avLst>
              <a:gd name="adj" fmla="val 380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E2A5C"/>
                </a:solidFill>
                <a:latin typeface="Calibri"/>
              </a:rPr>
              <a:t>TMR Analysis &amp; Recommendation</a:t>
            </a:r>
          </a:p>
        </p:txBody>
      </p:sp>
      <p:sp>
        <p:nvSpPr>
          <p:cNvPr id="25" name="Rectangle 24"/>
          <p:cNvSpPr/>
          <p:nvPr/>
        </p:nvSpPr>
        <p:spPr>
          <a:xfrm>
            <a:off x="276225" y="49434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9" name="TextBox 28"/>
          <p:cNvSpPr txBox="1"/>
          <p:nvPr/>
        </p:nvSpPr>
        <p:spPr>
          <a:xfrm>
            <a:off x="276225" y="1400175"/>
            <a:ext cx="5443822" cy="194310"/>
          </a:xfrm>
          <a:prstGeom prst="rect">
            <a:avLst/>
          </a:prstGeom>
          <a:noFill/>
        </p:spPr>
        <p:txBody>
          <a:bodyPr wrap="none" lIns="0" rIns="0" tIns="0" bIns="0">
            <a:spAutoFit/>
          </a:bodyPr>
          <a:lstStyle/>
          <a:p>
            <a:r>
              <a:rPr sz="1150" b="0">
                <a:solidFill>
                  <a:srgbClr val="2E2E2E"/>
                </a:solidFill>
                <a:latin typeface="Calibri"/>
              </a:rPr>
              <a:t>▪ Balance scale in 'Construction and Mining Vehicles' with targeted growth in 'Recreational</a:t>
            </a:r>
          </a:p>
        </p:txBody>
      </p:sp>
      <p:sp>
        <p:nvSpPr>
          <p:cNvPr id="30" name="TextBox 29"/>
          <p:cNvSpPr txBox="1"/>
          <p:nvPr/>
        </p:nvSpPr>
        <p:spPr>
          <a:xfrm>
            <a:off x="276225" y="1575435"/>
            <a:ext cx="2456929" cy="194310"/>
          </a:xfrm>
          <a:prstGeom prst="rect">
            <a:avLst/>
          </a:prstGeom>
          <a:noFill/>
        </p:spPr>
        <p:txBody>
          <a:bodyPr wrap="none" lIns="0" rIns="0" tIns="0" bIns="0">
            <a:spAutoFit/>
          </a:bodyPr>
          <a:lstStyle/>
          <a:p>
            <a:r>
              <a:rPr sz="1150" b="0">
                <a:solidFill>
                  <a:srgbClr val="2E2E2E"/>
                </a:solidFill>
                <a:latin typeface="Calibri"/>
              </a:rPr>
              <a:t>and Powersports Vehicles', pursuing the</a:t>
            </a:r>
          </a:p>
        </p:txBody>
      </p:sp>
      <p:pic>
        <p:nvPicPr>
          <p:cNvPr id="31" name="Picture 30" descr="lock.png"/>
          <p:cNvPicPr>
            <a:picLocks noChangeAspect="1"/>
          </p:cNvPicPr>
          <p:nvPr/>
        </p:nvPicPr>
        <p:blipFill>
          <a:blip r:embed="rId4"/>
          <a:stretch>
            <a:fillRect/>
          </a:stretch>
        </p:blipFill>
        <p:spPr>
          <a:xfrm>
            <a:off x="2682308" y="1565211"/>
            <a:ext cx="134549" cy="195707"/>
          </a:xfrm>
          <a:prstGeom prst="rect">
            <a:avLst/>
          </a:prstGeom>
        </p:spPr>
      </p:pic>
      <p:sp>
        <p:nvSpPr>
          <p:cNvPr id="32" name="TextBox 31"/>
          <p:cNvSpPr txBox="1"/>
          <p:nvPr/>
        </p:nvSpPr>
        <p:spPr>
          <a:xfrm>
            <a:off x="2857417"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3" name="TextBox 32"/>
          <p:cNvSpPr txBox="1"/>
          <p:nvPr/>
        </p:nvSpPr>
        <p:spPr>
          <a:xfrm>
            <a:off x="276225" y="3219450"/>
            <a:ext cx="3180903" cy="194310"/>
          </a:xfrm>
          <a:prstGeom prst="rect">
            <a:avLst/>
          </a:prstGeom>
          <a:noFill/>
        </p:spPr>
        <p:txBody>
          <a:bodyPr wrap="none" lIns="0" rIns="0" tIns="0" bIns="0">
            <a:spAutoFit/>
          </a:bodyPr>
          <a:lstStyle/>
          <a:p>
            <a:r>
              <a:rPr sz="1150" b="0">
                <a:solidFill>
                  <a:srgbClr val="2E2E2E"/>
                </a:solidFill>
                <a:latin typeface="Calibri"/>
              </a:rPr>
              <a:t>▪ Prioritise 'Recreational and Powersports Vehicles' (</a:t>
            </a:r>
          </a:p>
        </p:txBody>
      </p:sp>
      <p:pic>
        <p:nvPicPr>
          <p:cNvPr id="34" name="Picture 33" descr="lock.png"/>
          <p:cNvPicPr>
            <a:picLocks noChangeAspect="1"/>
          </p:cNvPicPr>
          <p:nvPr/>
        </p:nvPicPr>
        <p:blipFill>
          <a:blip r:embed="rId4"/>
          <a:stretch>
            <a:fillRect/>
          </a:stretch>
        </p:blipFill>
        <p:spPr>
          <a:xfrm>
            <a:off x="3406282" y="3209226"/>
            <a:ext cx="134549" cy="195707"/>
          </a:xfrm>
          <a:prstGeom prst="rect">
            <a:avLst/>
          </a:prstGeom>
        </p:spPr>
      </p:pic>
      <p:sp>
        <p:nvSpPr>
          <p:cNvPr id="35" name="TextBox 34"/>
          <p:cNvSpPr txBox="1"/>
          <p:nvPr/>
        </p:nvSpPr>
        <p:spPr>
          <a:xfrm>
            <a:off x="3581391" y="3219450"/>
            <a:ext cx="2249549" cy="194310"/>
          </a:xfrm>
          <a:prstGeom prst="rect">
            <a:avLst/>
          </a:prstGeom>
          <a:noFill/>
        </p:spPr>
        <p:txBody>
          <a:bodyPr wrap="none" lIns="0" rIns="0" tIns="0" bIns="0">
            <a:spAutoFit/>
          </a:bodyPr>
          <a:lstStyle/>
          <a:p>
            <a:r>
              <a:rPr sz="1150" b="0">
                <a:solidFill>
                  <a:srgbClr val="2E2E2E"/>
                </a:solidFill>
                <a:latin typeface="Calibri"/>
              </a:rPr>
              <a:t>); 'Construction and Mining Vehicles'</a:t>
            </a:r>
          </a:p>
        </p:txBody>
      </p:sp>
      <p:sp>
        <p:nvSpPr>
          <p:cNvPr id="36" name="TextBox 35"/>
          <p:cNvSpPr txBox="1"/>
          <p:nvPr/>
        </p:nvSpPr>
        <p:spPr>
          <a:xfrm>
            <a:off x="276225" y="3394710"/>
            <a:ext cx="546583" cy="194310"/>
          </a:xfrm>
          <a:prstGeom prst="rect">
            <a:avLst/>
          </a:prstGeom>
          <a:noFill/>
        </p:spPr>
        <p:txBody>
          <a:bodyPr wrap="none" lIns="0" rIns="0" tIns="0" bIns="0">
            <a:spAutoFit/>
          </a:bodyPr>
          <a:lstStyle/>
          <a:p>
            <a:r>
              <a:rPr sz="1150" b="0">
                <a:solidFill>
                  <a:srgbClr val="2E2E2E"/>
                </a:solidFill>
                <a:latin typeface="Calibri"/>
              </a:rPr>
              <a:t>anchors</a:t>
            </a:r>
          </a:p>
        </p:txBody>
      </p:sp>
      <p:pic>
        <p:nvPicPr>
          <p:cNvPr id="37" name="Picture 36" descr="lock.png"/>
          <p:cNvPicPr>
            <a:picLocks noChangeAspect="1"/>
          </p:cNvPicPr>
          <p:nvPr/>
        </p:nvPicPr>
        <p:blipFill>
          <a:blip r:embed="rId4"/>
          <a:stretch>
            <a:fillRect/>
          </a:stretch>
        </p:blipFill>
        <p:spPr>
          <a:xfrm>
            <a:off x="771962" y="3384486"/>
            <a:ext cx="134549" cy="195707"/>
          </a:xfrm>
          <a:prstGeom prst="rect">
            <a:avLst/>
          </a:prstGeom>
        </p:spPr>
      </p:pic>
      <p:sp>
        <p:nvSpPr>
          <p:cNvPr id="38" name="TextBox 37"/>
          <p:cNvSpPr txBox="1"/>
          <p:nvPr/>
        </p:nvSpPr>
        <p:spPr>
          <a:xfrm>
            <a:off x="947071"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39" name="TextBox 38"/>
          <p:cNvSpPr txBox="1"/>
          <p:nvPr/>
        </p:nvSpPr>
        <p:spPr>
          <a:xfrm>
            <a:off x="6305550" y="321945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0" name="Picture 39" descr="lock.png"/>
          <p:cNvPicPr>
            <a:picLocks noChangeAspect="1"/>
          </p:cNvPicPr>
          <p:nvPr/>
        </p:nvPicPr>
        <p:blipFill>
          <a:blip r:embed="rId4"/>
          <a:stretch>
            <a:fillRect/>
          </a:stretch>
        </p:blipFill>
        <p:spPr>
          <a:xfrm>
            <a:off x="7338135" y="3209226"/>
            <a:ext cx="134549" cy="195707"/>
          </a:xfrm>
          <a:prstGeom prst="rect">
            <a:avLst/>
          </a:prstGeom>
        </p:spPr>
      </p:pic>
      <p:sp>
        <p:nvSpPr>
          <p:cNvPr id="41" name="TextBox 40"/>
          <p:cNvSpPr txBox="1"/>
          <p:nvPr/>
        </p:nvSpPr>
        <p:spPr>
          <a:xfrm>
            <a:off x="7513244" y="3219450"/>
            <a:ext cx="1764903" cy="194310"/>
          </a:xfrm>
          <a:prstGeom prst="rect">
            <a:avLst/>
          </a:prstGeom>
          <a:noFill/>
        </p:spPr>
        <p:txBody>
          <a:bodyPr wrap="none" lIns="0" rIns="0" tIns="0" bIns="0">
            <a:spAutoFit/>
          </a:bodyPr>
          <a:lstStyle/>
          <a:p>
            <a:r>
              <a:rPr sz="1150" b="0">
                <a:solidFill>
                  <a:srgbClr val="2E2E2E"/>
                </a:solidFill>
                <a:latin typeface="Calibri"/>
              </a:rPr>
              <a:t>); capture upside in Mexico (</a:t>
            </a:r>
          </a:p>
        </p:txBody>
      </p:sp>
      <p:pic>
        <p:nvPicPr>
          <p:cNvPr id="42" name="Picture 41" descr="lock.png"/>
          <p:cNvPicPr>
            <a:picLocks noChangeAspect="1"/>
          </p:cNvPicPr>
          <p:nvPr/>
        </p:nvPicPr>
        <p:blipFill>
          <a:blip r:embed="rId4"/>
          <a:stretch>
            <a:fillRect/>
          </a:stretch>
        </p:blipFill>
        <p:spPr>
          <a:xfrm>
            <a:off x="9227301" y="3209226"/>
            <a:ext cx="134549" cy="195707"/>
          </a:xfrm>
          <a:prstGeom prst="rect">
            <a:avLst/>
          </a:prstGeom>
        </p:spPr>
      </p:pic>
      <p:sp>
        <p:nvSpPr>
          <p:cNvPr id="43" name="TextBox 42"/>
          <p:cNvSpPr txBox="1"/>
          <p:nvPr/>
        </p:nvSpPr>
        <p:spPr>
          <a:xfrm>
            <a:off x="9402411"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038725"/>
            <a:ext cx="1683035" cy="194310"/>
          </a:xfrm>
          <a:prstGeom prst="rect">
            <a:avLst/>
          </a:prstGeom>
          <a:noFill/>
        </p:spPr>
        <p:txBody>
          <a:bodyPr wrap="none" lIns="0" rIns="0" tIns="0" bIns="0">
            <a:spAutoFit/>
          </a:bodyPr>
          <a:lstStyle/>
          <a:p>
            <a:r>
              <a:rPr sz="1150" b="0">
                <a:solidFill>
                  <a:srgbClr val="2E2E2E"/>
                </a:solidFill>
                <a:latin typeface="Calibri"/>
              </a:rPr>
              <a:t>▪ Off-Highway Vehicle adds</a:t>
            </a:r>
          </a:p>
        </p:txBody>
      </p:sp>
      <p:pic>
        <p:nvPicPr>
          <p:cNvPr id="45" name="Picture 44" descr="lock.png"/>
          <p:cNvPicPr>
            <a:picLocks noChangeAspect="1"/>
          </p:cNvPicPr>
          <p:nvPr/>
        </p:nvPicPr>
        <p:blipFill>
          <a:blip r:embed="rId4"/>
          <a:stretch>
            <a:fillRect/>
          </a:stretch>
        </p:blipFill>
        <p:spPr>
          <a:xfrm>
            <a:off x="1908414" y="5028501"/>
            <a:ext cx="134549" cy="195707"/>
          </a:xfrm>
          <a:prstGeom prst="rect">
            <a:avLst/>
          </a:prstGeom>
        </p:spPr>
      </p:pic>
      <p:sp>
        <p:nvSpPr>
          <p:cNvPr id="46" name="TextBox 45"/>
          <p:cNvSpPr txBox="1"/>
          <p:nvPr/>
        </p:nvSpPr>
        <p:spPr>
          <a:xfrm>
            <a:off x="2083523"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7" name="Picture 46" descr="lock.png"/>
          <p:cNvPicPr>
            <a:picLocks noChangeAspect="1"/>
          </p:cNvPicPr>
          <p:nvPr/>
        </p:nvPicPr>
        <p:blipFill>
          <a:blip r:embed="rId4"/>
          <a:stretch>
            <a:fillRect/>
          </a:stretch>
        </p:blipFill>
        <p:spPr>
          <a:xfrm>
            <a:off x="3847785" y="5028501"/>
            <a:ext cx="134549" cy="195707"/>
          </a:xfrm>
          <a:prstGeom prst="rect">
            <a:avLst/>
          </a:prstGeom>
        </p:spPr>
      </p:pic>
      <p:sp>
        <p:nvSpPr>
          <p:cNvPr id="48" name="TextBox 47"/>
          <p:cNvSpPr txBox="1"/>
          <p:nvPr/>
        </p:nvSpPr>
        <p:spPr>
          <a:xfrm>
            <a:off x="4022894"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49" name="TextBox 48"/>
          <p:cNvSpPr txBox="1"/>
          <p:nvPr/>
        </p:nvSpPr>
        <p:spPr>
          <a:xfrm>
            <a:off x="276225" y="5266563"/>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0" name="TextBox 49"/>
          <p:cNvSpPr txBox="1"/>
          <p:nvPr/>
        </p:nvSpPr>
        <p:spPr>
          <a:xfrm>
            <a:off x="276225" y="5494400"/>
            <a:ext cx="5354253" cy="194310"/>
          </a:xfrm>
          <a:prstGeom prst="rect">
            <a:avLst/>
          </a:prstGeom>
          <a:noFill/>
        </p:spPr>
        <p:txBody>
          <a:bodyPr wrap="none" lIns="0" rIns="0" tIns="0" bIns="0">
            <a:spAutoFit/>
          </a:bodyPr>
          <a:lstStyle/>
          <a:p>
            <a:r>
              <a:rPr sz="1150" b="0">
                <a:solidFill>
                  <a:srgbClr val="2E2E2E"/>
                </a:solidFill>
                <a:latin typeface="Calibri"/>
              </a:rPr>
              <a:t>▪ Defend share in 'Construction and Mining Vehicles' as the value anchor of the portfolio.</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7" name="Rounded Rectangle 6"/>
          <p:cNvSpPr/>
          <p:nvPr/>
        </p:nvSpPr>
        <p:spPr>
          <a:xfrm>
            <a:off x="142875" y="981075"/>
            <a:ext cx="3943350"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8" name="Rounded Rectangle 7"/>
          <p:cNvSpPr/>
          <p:nvPr/>
        </p:nvSpPr>
        <p:spPr>
          <a:xfrm>
            <a:off x="4238625"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9" name="Rounded Rectangle 8"/>
          <p:cNvSpPr/>
          <p:nvPr/>
        </p:nvSpPr>
        <p:spPr>
          <a:xfrm>
            <a:off x="8210550" y="981075"/>
            <a:ext cx="3819525" cy="69532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0" name="Rounded Rectangle 9"/>
          <p:cNvSpPr/>
          <p:nvPr/>
        </p:nvSpPr>
        <p:spPr>
          <a:xfrm>
            <a:off x="142875"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Off-Highway Vehicle Market Value (US$ Mn) Scenario Forecast, 2025 &amp; 2036</a:t>
            </a:r>
          </a:p>
        </p:txBody>
      </p:sp>
      <p:cxnSp>
        <p:nvCxnSpPr>
          <p:cNvPr id="12" name="Connector 11"/>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06342" y="3431089"/>
            <a:ext cx="635826" cy="874211"/>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3936" y="3092719"/>
            <a:ext cx="635826" cy="1212581"/>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5725" y="2955866"/>
            <a:ext cx="635826" cy="134943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56468" y="2959369"/>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570768" y="2854594"/>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19" name="Connector 18"/>
          <p:cNvCxnSpPr/>
          <p:nvPr/>
        </p:nvCxnSpPr>
        <p:spPr>
          <a:xfrm>
            <a:off x="1456468" y="2702194"/>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570768" y="2597419"/>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1" name="Connector 20"/>
          <p:cNvCxnSpPr/>
          <p:nvPr/>
        </p:nvCxnSpPr>
        <p:spPr>
          <a:xfrm>
            <a:off x="1456468" y="2445019"/>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570768" y="2340244"/>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3" name="TextBox 22"/>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4" name="TextBox 23"/>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5" name="Oval 24"/>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27" name="Oval 26"/>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29" name="Oval 28"/>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1" name="Rounded Rectangle 30"/>
          <p:cNvSpPr/>
          <p:nvPr/>
        </p:nvSpPr>
        <p:spPr>
          <a:xfrm>
            <a:off x="6172200" y="1809750"/>
            <a:ext cx="5876925" cy="3009900"/>
          </a:xfrm>
          <a:prstGeom prst="roundRect">
            <a:avLst>
              <a:gd name="adj" fmla="val 253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Off-Highway Vehicle Market Attractiveness Analysis By Region, 2026–2036</a:t>
            </a:r>
          </a:p>
        </p:txBody>
      </p:sp>
      <p:graphicFrame>
        <p:nvGraphicFramePr>
          <p:cNvPr id="33" name="Chart 32"/>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4" name="Rounded Rectangle 33"/>
          <p:cNvSpPr/>
          <p:nvPr/>
        </p:nvSpPr>
        <p:spPr>
          <a:xfrm>
            <a:off x="142875" y="4953000"/>
            <a:ext cx="11906250" cy="1676400"/>
          </a:xfrm>
          <a:prstGeom prst="roundRect">
            <a:avLst>
              <a:gd name="adj" fmla="val 454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E2A5C"/>
                </a:solidFill>
                <a:latin typeface="Calibri"/>
              </a:rPr>
              <a:t>Scenario Assumptions &amp; Outlook</a:t>
            </a:r>
          </a:p>
        </p:txBody>
      </p:sp>
      <p:sp>
        <p:nvSpPr>
          <p:cNvPr id="36" name="Rectangle 35"/>
          <p:cNvSpPr/>
          <p:nvPr/>
        </p:nvSpPr>
        <p:spPr>
          <a:xfrm>
            <a:off x="276225" y="52768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38" name="Rectangle 3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40" name="Picture 39" descr="lock.png"/>
          <p:cNvPicPr>
            <a:picLocks noChangeAspect="1"/>
          </p:cNvPicPr>
          <p:nvPr/>
        </p:nvPicPr>
        <p:blipFill>
          <a:blip r:embed="rId5"/>
          <a:stretch>
            <a:fillRect/>
          </a:stretch>
        </p:blipFill>
        <p:spPr>
          <a:xfrm>
            <a:off x="2035969" y="1214437"/>
            <a:ext cx="157162" cy="228600"/>
          </a:xfrm>
          <a:prstGeom prst="rect">
            <a:avLst/>
          </a:prstGeom>
        </p:spPr>
      </p:pic>
      <p:pic>
        <p:nvPicPr>
          <p:cNvPr id="41" name="Picture 40" descr="lock.png"/>
          <p:cNvPicPr>
            <a:picLocks noChangeAspect="1"/>
          </p:cNvPicPr>
          <p:nvPr/>
        </p:nvPicPr>
        <p:blipFill>
          <a:blip r:embed="rId5"/>
          <a:stretch>
            <a:fillRect/>
          </a:stretch>
        </p:blipFill>
        <p:spPr>
          <a:xfrm>
            <a:off x="6069806" y="1214437"/>
            <a:ext cx="157162" cy="228600"/>
          </a:xfrm>
          <a:prstGeom prst="rect">
            <a:avLst/>
          </a:prstGeom>
        </p:spPr>
      </p:pic>
      <p:pic>
        <p:nvPicPr>
          <p:cNvPr id="42" name="Picture 41" descr="lock.png"/>
          <p:cNvPicPr>
            <a:picLocks noChangeAspect="1"/>
          </p:cNvPicPr>
          <p:nvPr/>
        </p:nvPicPr>
        <p:blipFill>
          <a:blip r:embed="rId5"/>
          <a:stretch>
            <a:fillRect/>
          </a:stretch>
        </p:blipFill>
        <p:spPr>
          <a:xfrm>
            <a:off x="10041731" y="1214437"/>
            <a:ext cx="157162" cy="228600"/>
          </a:xfrm>
          <a:prstGeom prst="rect">
            <a:avLst/>
          </a:prstGeom>
        </p:spPr>
      </p:pic>
      <p:sp>
        <p:nvSpPr>
          <p:cNvPr id="43" name="TextBox 42"/>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4" name="TextBox 43"/>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5" name="Picture 44" descr="lock.png"/>
          <p:cNvPicPr>
            <a:picLocks noChangeAspect="1"/>
          </p:cNvPicPr>
          <p:nvPr/>
        </p:nvPicPr>
        <p:blipFill>
          <a:blip r:embed="rId5"/>
          <a:stretch>
            <a:fillRect/>
          </a:stretch>
        </p:blipFill>
        <p:spPr>
          <a:xfrm>
            <a:off x="2208575" y="1473019"/>
            <a:ext cx="113255" cy="164734"/>
          </a:xfrm>
          <a:prstGeom prst="rect">
            <a:avLst/>
          </a:prstGeom>
        </p:spPr>
      </p:pic>
      <p:sp>
        <p:nvSpPr>
          <p:cNvPr id="46" name="TextBox 45"/>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7" name="TextBox 46"/>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8" name="Picture 47" descr="lock.png"/>
          <p:cNvPicPr>
            <a:picLocks noChangeAspect="1"/>
          </p:cNvPicPr>
          <p:nvPr/>
        </p:nvPicPr>
        <p:blipFill>
          <a:blip r:embed="rId5"/>
          <a:stretch>
            <a:fillRect/>
          </a:stretch>
        </p:blipFill>
        <p:spPr>
          <a:xfrm>
            <a:off x="6242412" y="1473019"/>
            <a:ext cx="113255" cy="164734"/>
          </a:xfrm>
          <a:prstGeom prst="rect">
            <a:avLst/>
          </a:prstGeom>
        </p:spPr>
      </p:pic>
      <p:sp>
        <p:nvSpPr>
          <p:cNvPr id="49" name="TextBox 48"/>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0" name="TextBox 49"/>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1" name="Picture 50" descr="lock.png"/>
          <p:cNvPicPr>
            <a:picLocks noChangeAspect="1"/>
          </p:cNvPicPr>
          <p:nvPr/>
        </p:nvPicPr>
        <p:blipFill>
          <a:blip r:embed="rId5"/>
          <a:stretch>
            <a:fillRect/>
          </a:stretch>
        </p:blipFill>
        <p:spPr>
          <a:xfrm>
            <a:off x="10214337" y="1473019"/>
            <a:ext cx="113255" cy="164734"/>
          </a:xfrm>
          <a:prstGeom prst="rect">
            <a:avLst/>
          </a:prstGeom>
        </p:spPr>
      </p:pic>
      <p:sp>
        <p:nvSpPr>
          <p:cNvPr id="52" name="TextBox 51"/>
          <p:cNvSpPr txBox="1"/>
          <p:nvPr/>
        </p:nvSpPr>
        <p:spPr>
          <a:xfrm>
            <a:off x="2032418" y="2888960"/>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3" name="Picture 52" descr="lock.png"/>
          <p:cNvPicPr>
            <a:picLocks noChangeAspect="1"/>
          </p:cNvPicPr>
          <p:nvPr/>
        </p:nvPicPr>
        <p:blipFill>
          <a:blip r:embed="rId5"/>
          <a:stretch>
            <a:fillRect/>
          </a:stretch>
        </p:blipFill>
        <p:spPr>
          <a:xfrm>
            <a:off x="2358973" y="2880745"/>
            <a:ext cx="108107" cy="157246"/>
          </a:xfrm>
          <a:prstGeom prst="rect">
            <a:avLst/>
          </a:prstGeom>
        </p:spPr>
      </p:pic>
      <p:sp>
        <p:nvSpPr>
          <p:cNvPr id="54" name="TextBox 53"/>
          <p:cNvSpPr txBox="1"/>
          <p:nvPr/>
        </p:nvSpPr>
        <p:spPr>
          <a:xfrm>
            <a:off x="2032418" y="2631785"/>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623570"/>
            <a:ext cx="108107" cy="157246"/>
          </a:xfrm>
          <a:prstGeom prst="rect">
            <a:avLst/>
          </a:prstGeom>
        </p:spPr>
      </p:pic>
      <p:sp>
        <p:nvSpPr>
          <p:cNvPr id="56" name="TextBox 55"/>
          <p:cNvSpPr txBox="1"/>
          <p:nvPr/>
        </p:nvSpPr>
        <p:spPr>
          <a:xfrm>
            <a:off x="2032418" y="2374610"/>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366395"/>
            <a:ext cx="108107" cy="157246"/>
          </a:xfrm>
          <a:prstGeom prst="rect">
            <a:avLst/>
          </a:prstGeom>
        </p:spPr>
      </p:pic>
      <p:sp>
        <p:nvSpPr>
          <p:cNvPr id="58" name="TextBox 57"/>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59" name="Picture 58" descr="lock.png"/>
          <p:cNvPicPr>
            <a:picLocks noChangeAspect="1"/>
          </p:cNvPicPr>
          <p:nvPr/>
        </p:nvPicPr>
        <p:blipFill>
          <a:blip r:embed="rId5"/>
          <a:stretch>
            <a:fillRect/>
          </a:stretch>
        </p:blipFill>
        <p:spPr>
          <a:xfrm>
            <a:off x="1033540" y="5361876"/>
            <a:ext cx="134549" cy="195707"/>
          </a:xfrm>
          <a:prstGeom prst="rect">
            <a:avLst/>
          </a:prstGeom>
        </p:spPr>
      </p:pic>
      <p:sp>
        <p:nvSpPr>
          <p:cNvPr id="60" name="TextBox 59"/>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1" name="Picture 60" descr="lock.png"/>
          <p:cNvPicPr>
            <a:picLocks noChangeAspect="1"/>
          </p:cNvPicPr>
          <p:nvPr/>
        </p:nvPicPr>
        <p:blipFill>
          <a:blip r:embed="rId5"/>
          <a:stretch>
            <a:fillRect/>
          </a:stretch>
        </p:blipFill>
        <p:spPr>
          <a:xfrm>
            <a:off x="2361612" y="5361876"/>
            <a:ext cx="134549" cy="195707"/>
          </a:xfrm>
          <a:prstGeom prst="rect">
            <a:avLst/>
          </a:prstGeom>
        </p:spPr>
      </p:pic>
      <p:sp>
        <p:nvSpPr>
          <p:cNvPr id="62" name="TextBox 61"/>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3" name="TextBox 62"/>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4" name="Picture 63" descr="lock.png"/>
          <p:cNvPicPr>
            <a:picLocks noChangeAspect="1"/>
          </p:cNvPicPr>
          <p:nvPr/>
        </p:nvPicPr>
        <p:blipFill>
          <a:blip r:embed="rId5"/>
          <a:stretch>
            <a:fillRect/>
          </a:stretch>
        </p:blipFill>
        <p:spPr>
          <a:xfrm>
            <a:off x="1673650" y="5589714"/>
            <a:ext cx="134549" cy="195707"/>
          </a:xfrm>
          <a:prstGeom prst="rect">
            <a:avLst/>
          </a:prstGeom>
        </p:spPr>
      </p:pic>
      <p:sp>
        <p:nvSpPr>
          <p:cNvPr id="65" name="TextBox 64"/>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6" name="Picture 65" descr="lock.png"/>
          <p:cNvPicPr>
            <a:picLocks noChangeAspect="1"/>
          </p:cNvPicPr>
          <p:nvPr/>
        </p:nvPicPr>
        <p:blipFill>
          <a:blip r:embed="rId5"/>
          <a:stretch>
            <a:fillRect/>
          </a:stretch>
        </p:blipFill>
        <p:spPr>
          <a:xfrm>
            <a:off x="2495966" y="5589714"/>
            <a:ext cx="134549" cy="195707"/>
          </a:xfrm>
          <a:prstGeom prst="rect">
            <a:avLst/>
          </a:prstGeom>
        </p:spPr>
      </p:pic>
      <p:sp>
        <p:nvSpPr>
          <p:cNvPr id="67" name="TextBox 66"/>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8" name="TextBox 67"/>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69" name="Picture 68" descr="lock.png"/>
          <p:cNvPicPr>
            <a:picLocks noChangeAspect="1"/>
          </p:cNvPicPr>
          <p:nvPr/>
        </p:nvPicPr>
        <p:blipFill>
          <a:blip r:embed="rId5"/>
          <a:stretch>
            <a:fillRect/>
          </a:stretch>
        </p:blipFill>
        <p:spPr>
          <a:xfrm>
            <a:off x="1194994" y="5817552"/>
            <a:ext cx="134549" cy="195707"/>
          </a:xfrm>
          <a:prstGeom prst="rect">
            <a:avLst/>
          </a:prstGeom>
        </p:spPr>
      </p:pic>
      <p:sp>
        <p:nvSpPr>
          <p:cNvPr id="70" name="TextBox 69"/>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1" name="Picture 70" descr="lock.png"/>
          <p:cNvPicPr>
            <a:picLocks noChangeAspect="1"/>
          </p:cNvPicPr>
          <p:nvPr/>
        </p:nvPicPr>
        <p:blipFill>
          <a:blip r:embed="rId5"/>
          <a:stretch>
            <a:fillRect/>
          </a:stretch>
        </p:blipFill>
        <p:spPr>
          <a:xfrm>
            <a:off x="2017310" y="5817552"/>
            <a:ext cx="134549" cy="195707"/>
          </a:xfrm>
          <a:prstGeom prst="rect">
            <a:avLst/>
          </a:prstGeom>
        </p:spPr>
      </p:pic>
      <p:sp>
        <p:nvSpPr>
          <p:cNvPr id="72" name="TextBox 71"/>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3" name="TextBox 72"/>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4" name="Picture 73" descr="lock.png"/>
          <p:cNvPicPr>
            <a:picLocks noChangeAspect="1"/>
          </p:cNvPicPr>
          <p:nvPr/>
        </p:nvPicPr>
        <p:blipFill>
          <a:blip r:embed="rId5"/>
          <a:stretch>
            <a:fillRect/>
          </a:stretch>
        </p:blipFill>
        <p:spPr>
          <a:xfrm>
            <a:off x="3885509" y="6045390"/>
            <a:ext cx="134549" cy="195707"/>
          </a:xfrm>
          <a:prstGeom prst="rect">
            <a:avLst/>
          </a:prstGeom>
        </p:spPr>
      </p:pic>
      <p:sp>
        <p:nvSpPr>
          <p:cNvPr id="75" name="TextBox 74"/>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6" name="lockshield_33"/>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Off-Highway Vehicle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 Country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3 countries, highlighting where value concentrates,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325755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325755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19" name="Rectangle 18"/>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0" name="Rectangle 19"/>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1" name="Rectangle 20"/>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2" name="Oval 21"/>
          <p:cNvSpPr/>
          <p:nvPr/>
        </p:nvSpPr>
        <p:spPr>
          <a:xfrm>
            <a:off x="333375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5238750" y="1773916"/>
            <a:ext cx="325755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38750" y="1992961"/>
            <a:ext cx="325755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6" name="Rectangle 25"/>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7" name="Rectangle 26"/>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8" name="Rectangle 27"/>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29" name="Oval 28"/>
          <p:cNvSpPr/>
          <p:nvPr/>
        </p:nvSpPr>
        <p:spPr>
          <a:xfrm>
            <a:off x="670560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8610600" y="1773916"/>
            <a:ext cx="325755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10600" y="1992961"/>
            <a:ext cx="325755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Calibri"/>
              </a:rPr>
              <a:t>Mexico</a:t>
            </a:r>
          </a:p>
        </p:txBody>
      </p:sp>
      <p:sp>
        <p:nvSpPr>
          <p:cNvPr id="33" name="Rectangle 32"/>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4" name="Rectangle 33"/>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5" name="Rectangle 34"/>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t>
            </a:r>
          </a:p>
        </p:txBody>
      </p:sp>
      <p:sp>
        <p:nvSpPr>
          <p:cNvPr id="36" name="Oval 35"/>
          <p:cNvSpPr/>
          <p:nvPr/>
        </p:nvSpPr>
        <p:spPr>
          <a:xfrm>
            <a:off x="1007745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9" name="Rectangle 38"/>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1" name="Rounded Rectangle 4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43" name="Rectangle 42"/>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p:txBody>
      </p:sp>
      <p:sp>
        <p:nvSpPr>
          <p:cNvPr id="45" name="Rounded Rectangle 4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7" name="Rectangle 46"/>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demand and access dynamics are rebalancing the geographic mix through 2036.</a:t>
            </a:r>
          </a:p>
        </p:txBody>
      </p:sp>
      <p:sp>
        <p:nvSpPr>
          <p:cNvPr id="49" name="Rectangle 4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1" name="TextBox 5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4" name="Picture 53" descr="lock.png"/>
          <p:cNvPicPr>
            <a:picLocks noChangeAspect="1"/>
          </p:cNvPicPr>
          <p:nvPr/>
        </p:nvPicPr>
        <p:blipFill>
          <a:blip r:embed="rId4"/>
          <a:stretch>
            <a:fillRect/>
          </a:stretch>
        </p:blipFill>
        <p:spPr>
          <a:xfrm>
            <a:off x="3407926" y="2339922"/>
            <a:ext cx="175498" cy="255270"/>
          </a:xfrm>
          <a:prstGeom prst="rect">
            <a:avLst/>
          </a:prstGeom>
        </p:spPr>
      </p:pic>
      <p:pic>
        <p:nvPicPr>
          <p:cNvPr id="55" name="Picture 54" descr="lock.png"/>
          <p:cNvPicPr>
            <a:picLocks noChangeAspect="1"/>
          </p:cNvPicPr>
          <p:nvPr/>
        </p:nvPicPr>
        <p:blipFill>
          <a:blip r:embed="rId4"/>
          <a:stretch>
            <a:fillRect/>
          </a:stretch>
        </p:blipFill>
        <p:spPr>
          <a:xfrm>
            <a:off x="3407926" y="2832772"/>
            <a:ext cx="175498" cy="255270"/>
          </a:xfrm>
          <a:prstGeom prst="rect">
            <a:avLst/>
          </a:prstGeom>
        </p:spPr>
      </p:pic>
      <p:pic>
        <p:nvPicPr>
          <p:cNvPr id="56" name="Picture 55" descr="lock.png"/>
          <p:cNvPicPr>
            <a:picLocks noChangeAspect="1"/>
          </p:cNvPicPr>
          <p:nvPr/>
        </p:nvPicPr>
        <p:blipFill>
          <a:blip r:embed="rId4"/>
          <a:stretch>
            <a:fillRect/>
          </a:stretch>
        </p:blipFill>
        <p:spPr>
          <a:xfrm>
            <a:off x="3407926" y="3325622"/>
            <a:ext cx="175498" cy="255270"/>
          </a:xfrm>
          <a:prstGeom prst="rect">
            <a:avLst/>
          </a:prstGeom>
        </p:spPr>
      </p:pic>
      <p:pic>
        <p:nvPicPr>
          <p:cNvPr id="57" name="Picture 56" descr="lock.png"/>
          <p:cNvPicPr>
            <a:picLocks noChangeAspect="1"/>
          </p:cNvPicPr>
          <p:nvPr/>
        </p:nvPicPr>
        <p:blipFill>
          <a:blip r:embed="rId4"/>
          <a:stretch>
            <a:fillRect/>
          </a:stretch>
        </p:blipFill>
        <p:spPr>
          <a:xfrm>
            <a:off x="6779776" y="2339922"/>
            <a:ext cx="175498" cy="255270"/>
          </a:xfrm>
          <a:prstGeom prst="rect">
            <a:avLst/>
          </a:prstGeom>
        </p:spPr>
      </p:pic>
      <p:pic>
        <p:nvPicPr>
          <p:cNvPr id="58" name="Picture 57" descr="lock.png"/>
          <p:cNvPicPr>
            <a:picLocks noChangeAspect="1"/>
          </p:cNvPicPr>
          <p:nvPr/>
        </p:nvPicPr>
        <p:blipFill>
          <a:blip r:embed="rId4"/>
          <a:stretch>
            <a:fillRect/>
          </a:stretch>
        </p:blipFill>
        <p:spPr>
          <a:xfrm>
            <a:off x="6779776" y="2832772"/>
            <a:ext cx="175498" cy="255270"/>
          </a:xfrm>
          <a:prstGeom prst="rect">
            <a:avLst/>
          </a:prstGeom>
        </p:spPr>
      </p:pic>
      <p:pic>
        <p:nvPicPr>
          <p:cNvPr id="59" name="Picture 58" descr="lock.png"/>
          <p:cNvPicPr>
            <a:picLocks noChangeAspect="1"/>
          </p:cNvPicPr>
          <p:nvPr/>
        </p:nvPicPr>
        <p:blipFill>
          <a:blip r:embed="rId4"/>
          <a:stretch>
            <a:fillRect/>
          </a:stretch>
        </p:blipFill>
        <p:spPr>
          <a:xfrm>
            <a:off x="6779776" y="3325622"/>
            <a:ext cx="175498" cy="255270"/>
          </a:xfrm>
          <a:prstGeom prst="rect">
            <a:avLst/>
          </a:prstGeom>
        </p:spPr>
      </p:pic>
      <p:pic>
        <p:nvPicPr>
          <p:cNvPr id="60" name="Picture 59" descr="lock.png"/>
          <p:cNvPicPr>
            <a:picLocks noChangeAspect="1"/>
          </p:cNvPicPr>
          <p:nvPr/>
        </p:nvPicPr>
        <p:blipFill>
          <a:blip r:embed="rId4"/>
          <a:stretch>
            <a:fillRect/>
          </a:stretch>
        </p:blipFill>
        <p:spPr>
          <a:xfrm>
            <a:off x="10151626" y="2339922"/>
            <a:ext cx="175498" cy="255270"/>
          </a:xfrm>
          <a:prstGeom prst="rect">
            <a:avLst/>
          </a:prstGeom>
        </p:spPr>
      </p:pic>
      <p:pic>
        <p:nvPicPr>
          <p:cNvPr id="61" name="Picture 60" descr="lock.png"/>
          <p:cNvPicPr>
            <a:picLocks noChangeAspect="1"/>
          </p:cNvPicPr>
          <p:nvPr/>
        </p:nvPicPr>
        <p:blipFill>
          <a:blip r:embed="rId4"/>
          <a:stretch>
            <a:fillRect/>
          </a:stretch>
        </p:blipFill>
        <p:spPr>
          <a:xfrm>
            <a:off x="10151626" y="2832772"/>
            <a:ext cx="175498" cy="255270"/>
          </a:xfrm>
          <a:prstGeom prst="rect">
            <a:avLst/>
          </a:prstGeom>
        </p:spPr>
      </p:pic>
      <p:pic>
        <p:nvPicPr>
          <p:cNvPr id="62" name="Picture 61" descr="lock.png"/>
          <p:cNvPicPr>
            <a:picLocks noChangeAspect="1"/>
          </p:cNvPicPr>
          <p:nvPr/>
        </p:nvPicPr>
        <p:blipFill>
          <a:blip r:embed="rId4"/>
          <a:stretch>
            <a:fillRect/>
          </a:stretch>
        </p:blipFill>
        <p:spPr>
          <a:xfrm>
            <a:off x="10151626" y="3325622"/>
            <a:ext cx="175498" cy="255270"/>
          </a:xfrm>
          <a:prstGeom prst="rect">
            <a:avLst/>
          </a:prstGeom>
        </p:spPr>
      </p:pic>
      <p:sp>
        <p:nvSpPr>
          <p:cNvPr id="63" name="TextBox 62"/>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The U.S. off-highway vehicle market is projected to</a:t>
            </a:r>
          </a:p>
        </p:txBody>
      </p:sp>
      <p:sp>
        <p:nvSpPr>
          <p:cNvPr id="64" name="TextBox 63"/>
          <p:cNvSpPr txBox="1"/>
          <p:nvPr/>
        </p:nvSpPr>
        <p:spPr>
          <a:xfrm>
            <a:off x="485775" y="439707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65" name="Picture 64" descr="lock.png"/>
          <p:cNvPicPr>
            <a:picLocks noChangeAspect="1"/>
          </p:cNvPicPr>
          <p:nvPr/>
        </p:nvPicPr>
        <p:blipFill>
          <a:blip r:embed="rId4"/>
          <a:stretch>
            <a:fillRect/>
          </a:stretch>
        </p:blipFill>
        <p:spPr>
          <a:xfrm>
            <a:off x="946316" y="4387298"/>
            <a:ext cx="128699" cy="187198"/>
          </a:xfrm>
          <a:prstGeom prst="rect">
            <a:avLst/>
          </a:prstGeom>
        </p:spPr>
      </p:pic>
      <p:sp>
        <p:nvSpPr>
          <p:cNvPr id="66" name="TextBox 65"/>
          <p:cNvSpPr txBox="1"/>
          <p:nvPr/>
        </p:nvSpPr>
        <p:spPr>
          <a:xfrm>
            <a:off x="1113812" y="4397077"/>
            <a:ext cx="2113855" cy="186689"/>
          </a:xfrm>
          <a:prstGeom prst="rect">
            <a:avLst/>
          </a:prstGeom>
          <a:noFill/>
        </p:spPr>
        <p:txBody>
          <a:bodyPr wrap="none" lIns="0" rIns="0" tIns="0" bIns="0">
            <a:spAutoFit/>
          </a:bodyPr>
          <a:lstStyle/>
          <a:p>
            <a:r>
              <a:rPr sz="1100" b="0">
                <a:solidFill>
                  <a:srgbClr val="2E2E2E"/>
                </a:solidFill>
                <a:latin typeface="Calibri"/>
              </a:rPr>
              <a:t>X higher value than Canada in 2036.</a:t>
            </a:r>
          </a:p>
        </p:txBody>
      </p:sp>
      <p:sp>
        <p:nvSpPr>
          <p:cNvPr id="67" name="TextBox 66"/>
          <p:cNvSpPr txBox="1"/>
          <p:nvPr/>
        </p:nvSpPr>
        <p:spPr>
          <a:xfrm>
            <a:off x="485775" y="4564717"/>
            <a:ext cx="2858740" cy="186689"/>
          </a:xfrm>
          <a:prstGeom prst="rect">
            <a:avLst/>
          </a:prstGeom>
          <a:noFill/>
        </p:spPr>
        <p:txBody>
          <a:bodyPr wrap="none" lIns="0" rIns="0" tIns="0" bIns="0">
            <a:spAutoFit/>
          </a:bodyPr>
          <a:lstStyle/>
          <a:p>
            <a:r>
              <a:rPr sz="1100" b="0">
                <a:solidFill>
                  <a:srgbClr val="2E2E2E"/>
                </a:solidFill>
                <a:latin typeface="Calibri"/>
              </a:rPr>
              <a:t>Among off-highway vehicle by country, Mexico is</a:t>
            </a:r>
          </a:p>
        </p:txBody>
      </p:sp>
      <p:sp>
        <p:nvSpPr>
          <p:cNvPr id="68" name="TextBox 67"/>
          <p:cNvSpPr txBox="1"/>
          <p:nvPr/>
        </p:nvSpPr>
        <p:spPr>
          <a:xfrm>
            <a:off x="485775" y="473235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9" name="Picture 68" descr="lock.png"/>
          <p:cNvPicPr>
            <a:picLocks noChangeAspect="1"/>
          </p:cNvPicPr>
          <p:nvPr/>
        </p:nvPicPr>
        <p:blipFill>
          <a:blip r:embed="rId4"/>
          <a:stretch>
            <a:fillRect/>
          </a:stretch>
        </p:blipFill>
        <p:spPr>
          <a:xfrm>
            <a:off x="2815059" y="4722578"/>
            <a:ext cx="128699" cy="187198"/>
          </a:xfrm>
          <a:prstGeom prst="rect">
            <a:avLst/>
          </a:prstGeom>
        </p:spPr>
      </p:pic>
      <p:sp>
        <p:nvSpPr>
          <p:cNvPr id="70" name="TextBox 69"/>
          <p:cNvSpPr txBox="1"/>
          <p:nvPr/>
        </p:nvSpPr>
        <p:spPr>
          <a:xfrm>
            <a:off x="2982555" y="473235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71" name="TextBox 70"/>
          <p:cNvSpPr txBox="1"/>
          <p:nvPr/>
        </p:nvSpPr>
        <p:spPr>
          <a:xfrm>
            <a:off x="485775" y="4899997"/>
            <a:ext cx="1197892" cy="186689"/>
          </a:xfrm>
          <a:prstGeom prst="rect">
            <a:avLst/>
          </a:prstGeom>
          <a:noFill/>
        </p:spPr>
        <p:txBody>
          <a:bodyPr wrap="none" lIns="0" rIns="0" tIns="0" bIns="0">
            <a:spAutoFit/>
          </a:bodyPr>
          <a:lstStyle/>
          <a:p>
            <a:r>
              <a:rPr sz="1100" b="0">
                <a:solidFill>
                  <a:srgbClr val="2E2E2E"/>
                </a:solidFill>
                <a:latin typeface="Calibri"/>
              </a:rPr>
              <a:t>the forecast period.</a:t>
            </a:r>
          </a:p>
        </p:txBody>
      </p:sp>
      <p:sp>
        <p:nvSpPr>
          <p:cNvPr id="72" name="TextBox 71"/>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73" name="TextBox 72"/>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74" name="Picture 73" descr="lock.png"/>
          <p:cNvPicPr>
            <a:picLocks noChangeAspect="1"/>
          </p:cNvPicPr>
          <p:nvPr/>
        </p:nvPicPr>
        <p:blipFill>
          <a:blip r:embed="rId4"/>
          <a:stretch>
            <a:fillRect/>
          </a:stretch>
        </p:blipFill>
        <p:spPr>
          <a:xfrm>
            <a:off x="2268827" y="5275790"/>
            <a:ext cx="128699" cy="187198"/>
          </a:xfrm>
          <a:prstGeom prst="rect">
            <a:avLst/>
          </a:prstGeom>
        </p:spPr>
      </p:pic>
      <p:sp>
        <p:nvSpPr>
          <p:cNvPr id="75" name="TextBox 74"/>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76" name="TextBox 75"/>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77" name="Picture 76" descr="lock.png"/>
          <p:cNvPicPr>
            <a:picLocks noChangeAspect="1"/>
          </p:cNvPicPr>
          <p:nvPr/>
        </p:nvPicPr>
        <p:blipFill>
          <a:blip r:embed="rId4"/>
          <a:stretch>
            <a:fillRect/>
          </a:stretch>
        </p:blipFill>
        <p:spPr>
          <a:xfrm>
            <a:off x="1330764" y="5443430"/>
            <a:ext cx="128699" cy="187198"/>
          </a:xfrm>
          <a:prstGeom prst="rect">
            <a:avLst/>
          </a:prstGeom>
        </p:spPr>
      </p:pic>
      <p:sp>
        <p:nvSpPr>
          <p:cNvPr id="78" name="TextBox 77"/>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9" name="TextBox 78"/>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80" name="Picture 79" descr="lock.png"/>
          <p:cNvPicPr>
            <a:picLocks noChangeAspect="1"/>
          </p:cNvPicPr>
          <p:nvPr/>
        </p:nvPicPr>
        <p:blipFill>
          <a:blip r:embed="rId4"/>
          <a:stretch>
            <a:fillRect/>
          </a:stretch>
        </p:blipFill>
        <p:spPr>
          <a:xfrm>
            <a:off x="4240453" y="4219658"/>
            <a:ext cx="128699" cy="187198"/>
          </a:xfrm>
          <a:prstGeom prst="rect">
            <a:avLst/>
          </a:prstGeom>
        </p:spPr>
      </p:pic>
      <p:sp>
        <p:nvSpPr>
          <p:cNvPr id="81" name="TextBox 80"/>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4"/>
          <a:stretch>
            <a:fillRect/>
          </a:stretch>
        </p:blipFill>
        <p:spPr>
          <a:xfrm>
            <a:off x="5267399" y="4219658"/>
            <a:ext cx="128699" cy="187198"/>
          </a:xfrm>
          <a:prstGeom prst="rect">
            <a:avLst/>
          </a:prstGeom>
        </p:spPr>
      </p:pic>
      <p:sp>
        <p:nvSpPr>
          <p:cNvPr id="83" name="TextBox 82"/>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84" name="TextBox 83"/>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85" name="Picture 84" descr="lock.png"/>
          <p:cNvPicPr>
            <a:picLocks noChangeAspect="1"/>
          </p:cNvPicPr>
          <p:nvPr/>
        </p:nvPicPr>
        <p:blipFill>
          <a:blip r:embed="rId4"/>
          <a:stretch>
            <a:fillRect/>
          </a:stretch>
        </p:blipFill>
        <p:spPr>
          <a:xfrm>
            <a:off x="4437997" y="4437590"/>
            <a:ext cx="128699" cy="187198"/>
          </a:xfrm>
          <a:prstGeom prst="rect">
            <a:avLst/>
          </a:prstGeom>
        </p:spPr>
      </p:pic>
      <p:sp>
        <p:nvSpPr>
          <p:cNvPr id="86" name="TextBox 85"/>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7" name="Picture 86" descr="lock.png"/>
          <p:cNvPicPr>
            <a:picLocks noChangeAspect="1"/>
          </p:cNvPicPr>
          <p:nvPr/>
        </p:nvPicPr>
        <p:blipFill>
          <a:blip r:embed="rId4"/>
          <a:stretch>
            <a:fillRect/>
          </a:stretch>
        </p:blipFill>
        <p:spPr>
          <a:xfrm>
            <a:off x="5464943" y="4437590"/>
            <a:ext cx="128699" cy="187198"/>
          </a:xfrm>
          <a:prstGeom prst="rect">
            <a:avLst/>
          </a:prstGeom>
        </p:spPr>
      </p:pic>
      <p:sp>
        <p:nvSpPr>
          <p:cNvPr id="88" name="TextBox 87"/>
          <p:cNvSpPr txBox="1"/>
          <p:nvPr/>
        </p:nvSpPr>
        <p:spPr>
          <a:xfrm>
            <a:off x="5632439"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89" name="TextBox 88"/>
          <p:cNvSpPr txBox="1"/>
          <p:nvPr/>
        </p:nvSpPr>
        <p:spPr>
          <a:xfrm>
            <a:off x="3838575" y="4665301"/>
            <a:ext cx="644276" cy="186689"/>
          </a:xfrm>
          <a:prstGeom prst="rect">
            <a:avLst/>
          </a:prstGeom>
          <a:noFill/>
        </p:spPr>
        <p:txBody>
          <a:bodyPr wrap="none" lIns="0" rIns="0" tIns="0" bIns="0">
            <a:spAutoFit/>
          </a:bodyPr>
          <a:lstStyle/>
          <a:p>
            <a:r>
              <a:rPr sz="1100" b="0">
                <a:solidFill>
                  <a:srgbClr val="2E2E2E"/>
                </a:solidFill>
                <a:latin typeface="Calibri"/>
              </a:rPr>
              <a:t>● Mexico:</a:t>
            </a:r>
          </a:p>
        </p:txBody>
      </p:sp>
      <p:pic>
        <p:nvPicPr>
          <p:cNvPr id="90" name="Picture 89" descr="lock.png"/>
          <p:cNvPicPr>
            <a:picLocks noChangeAspect="1"/>
          </p:cNvPicPr>
          <p:nvPr/>
        </p:nvPicPr>
        <p:blipFill>
          <a:blip r:embed="rId4"/>
          <a:stretch>
            <a:fillRect/>
          </a:stretch>
        </p:blipFill>
        <p:spPr>
          <a:xfrm>
            <a:off x="4430903" y="4655522"/>
            <a:ext cx="128699" cy="187198"/>
          </a:xfrm>
          <a:prstGeom prst="rect">
            <a:avLst/>
          </a:prstGeom>
        </p:spPr>
      </p:pic>
      <p:sp>
        <p:nvSpPr>
          <p:cNvPr id="91" name="TextBox 90"/>
          <p:cNvSpPr txBox="1"/>
          <p:nvPr/>
        </p:nvSpPr>
        <p:spPr>
          <a:xfrm>
            <a:off x="4598399"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2" name="Picture 91" descr="lock.png"/>
          <p:cNvPicPr>
            <a:picLocks noChangeAspect="1"/>
          </p:cNvPicPr>
          <p:nvPr/>
        </p:nvPicPr>
        <p:blipFill>
          <a:blip r:embed="rId4"/>
          <a:stretch>
            <a:fillRect/>
          </a:stretch>
        </p:blipFill>
        <p:spPr>
          <a:xfrm>
            <a:off x="5457849" y="4655522"/>
            <a:ext cx="128699" cy="187198"/>
          </a:xfrm>
          <a:prstGeom prst="rect">
            <a:avLst/>
          </a:prstGeom>
        </p:spPr>
      </p:pic>
      <p:sp>
        <p:nvSpPr>
          <p:cNvPr id="93" name="TextBox 92"/>
          <p:cNvSpPr txBox="1"/>
          <p:nvPr/>
        </p:nvSpPr>
        <p:spPr>
          <a:xfrm>
            <a:off x="5625345"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94" name="TextBox 93"/>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95" name="TextBox 94"/>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96" name="Picture 95" descr="lock.png"/>
          <p:cNvPicPr>
            <a:picLocks noChangeAspect="1"/>
          </p:cNvPicPr>
          <p:nvPr/>
        </p:nvPicPr>
        <p:blipFill>
          <a:blip r:embed="rId4"/>
          <a:stretch>
            <a:fillRect/>
          </a:stretch>
        </p:blipFill>
        <p:spPr>
          <a:xfrm>
            <a:off x="9048826" y="6007677"/>
            <a:ext cx="134549" cy="195707"/>
          </a:xfrm>
          <a:prstGeom prst="rect">
            <a:avLst/>
          </a:prstGeom>
        </p:spPr>
      </p:pic>
      <p:sp>
        <p:nvSpPr>
          <p:cNvPr id="97" name="TextBox 96"/>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Analysis, By Country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783136"/>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77837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70217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Mexico</a:t>
            </a:r>
          </a:p>
        </p:txBody>
      </p:sp>
      <p:sp>
        <p:nvSpPr>
          <p:cNvPr id="15" name="BPS Value 1"/>
          <p:cNvSpPr txBox="1"/>
          <p:nvPr/>
        </p:nvSpPr>
        <p:spPr>
          <a:xfrm>
            <a:off x="6305550" y="176408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2574790"/>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257002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249382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2"/>
          <p:cNvSpPr txBox="1"/>
          <p:nvPr/>
        </p:nvSpPr>
        <p:spPr>
          <a:xfrm>
            <a:off x="6305550" y="25557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551045" y="4087304"/>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408254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400634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3"/>
          <p:cNvSpPr txBox="1"/>
          <p:nvPr/>
        </p:nvSpPr>
        <p:spPr>
          <a:xfrm>
            <a:off x="6305550" y="406825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6" name="Rectangle 25"/>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2A5F8F"/>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2A5F8F"/>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31" name="Rectangle 3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3" name="Picture 32" descr="lock.png"/>
          <p:cNvPicPr>
            <a:picLocks noChangeAspect="1"/>
          </p:cNvPicPr>
          <p:nvPr/>
        </p:nvPicPr>
        <p:blipFill>
          <a:blip r:embed="rId5"/>
          <a:stretch>
            <a:fillRect/>
          </a:stretch>
        </p:blipFill>
        <p:spPr>
          <a:xfrm>
            <a:off x="2368867" y="3171825"/>
            <a:ext cx="275034" cy="400050"/>
          </a:xfrm>
          <a:prstGeom prst="rect">
            <a:avLst/>
          </a:prstGeom>
        </p:spPr>
      </p:pic>
      <p:pic>
        <p:nvPicPr>
          <p:cNvPr id="34" name="Picture 33" descr="lock.png"/>
          <p:cNvPicPr>
            <a:picLocks noChangeAspect="1"/>
          </p:cNvPicPr>
          <p:nvPr/>
        </p:nvPicPr>
        <p:blipFill>
          <a:blip r:embed="rId5"/>
          <a:stretch>
            <a:fillRect/>
          </a:stretch>
        </p:blipFill>
        <p:spPr>
          <a:xfrm>
            <a:off x="2009775"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6043612" y="6070282"/>
            <a:ext cx="209550" cy="304800"/>
          </a:xfrm>
          <a:prstGeom prst="rect">
            <a:avLst/>
          </a:prstGeom>
        </p:spPr>
      </p:pic>
      <p:pic>
        <p:nvPicPr>
          <p:cNvPr id="36" name="Picture 35" descr="lock.png"/>
          <p:cNvPicPr>
            <a:picLocks noChangeAspect="1"/>
          </p:cNvPicPr>
          <p:nvPr/>
        </p:nvPicPr>
        <p:blipFill>
          <a:blip r:embed="rId5"/>
          <a:stretch>
            <a:fillRect/>
          </a:stretch>
        </p:blipFill>
        <p:spPr>
          <a:xfrm>
            <a:off x="10015537" y="6070282"/>
            <a:ext cx="209550" cy="304800"/>
          </a:xfrm>
          <a:prstGeom prst="rect">
            <a:avLst/>
          </a:prstGeom>
        </p:spPr>
      </p:pic>
      <p:sp>
        <p:nvSpPr>
          <p:cNvPr id="37" name="TextBox 36"/>
          <p:cNvSpPr txBox="1"/>
          <p:nvPr/>
        </p:nvSpPr>
        <p:spPr>
          <a:xfrm>
            <a:off x="7239000" y="1400175"/>
            <a:ext cx="3592524" cy="194310"/>
          </a:xfrm>
          <a:prstGeom prst="rect">
            <a:avLst/>
          </a:prstGeom>
          <a:noFill/>
        </p:spPr>
        <p:txBody>
          <a:bodyPr wrap="none" lIns="0" rIns="0" tIns="0" bIns="0">
            <a:spAutoFit/>
          </a:bodyPr>
          <a:lstStyle/>
          <a:p>
            <a:r>
              <a:rPr sz="1150" b="0">
                <a:solidFill>
                  <a:srgbClr val="2E2E2E"/>
                </a:solidFill>
                <a:latin typeface="Calibri"/>
              </a:rPr>
              <a:t>The U.S. off-highway vehicle market is projected to register</a:t>
            </a:r>
          </a:p>
        </p:txBody>
      </p:sp>
      <p:pic>
        <p:nvPicPr>
          <p:cNvPr id="38" name="Picture 37" descr="lock.png"/>
          <p:cNvPicPr>
            <a:picLocks noChangeAspect="1"/>
          </p:cNvPicPr>
          <p:nvPr/>
        </p:nvPicPr>
        <p:blipFill>
          <a:blip r:embed="rId5"/>
          <a:stretch>
            <a:fillRect/>
          </a:stretch>
        </p:blipFill>
        <p:spPr>
          <a:xfrm>
            <a:off x="10780678" y="1389951"/>
            <a:ext cx="134549" cy="195707"/>
          </a:xfrm>
          <a:prstGeom prst="rect">
            <a:avLst/>
          </a:prstGeom>
        </p:spPr>
      </p:pic>
      <p:sp>
        <p:nvSpPr>
          <p:cNvPr id="39" name="TextBox 38"/>
          <p:cNvSpPr txBox="1"/>
          <p:nvPr/>
        </p:nvSpPr>
        <p:spPr>
          <a:xfrm>
            <a:off x="10955788"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40" name="TextBox 39"/>
          <p:cNvSpPr txBox="1"/>
          <p:nvPr/>
        </p:nvSpPr>
        <p:spPr>
          <a:xfrm>
            <a:off x="7239000" y="1575435"/>
            <a:ext cx="4626855" cy="194310"/>
          </a:xfrm>
          <a:prstGeom prst="rect">
            <a:avLst/>
          </a:prstGeom>
          <a:noFill/>
        </p:spPr>
        <p:txBody>
          <a:bodyPr wrap="none" lIns="0" rIns="0" tIns="0" bIns="0">
            <a:spAutoFit/>
          </a:bodyPr>
          <a:lstStyle/>
          <a:p>
            <a:r>
              <a:rPr sz="1150" b="0">
                <a:solidFill>
                  <a:srgbClr val="2E2E2E"/>
                </a:solidFill>
                <a:latin typeface="Calibri"/>
              </a:rPr>
              <a:t>volume than Canada in 2036. Among off-highway vehicle by country, Mexico</a:t>
            </a:r>
          </a:p>
        </p:txBody>
      </p:sp>
      <p:sp>
        <p:nvSpPr>
          <p:cNvPr id="41" name="TextBox 40"/>
          <p:cNvSpPr txBox="1"/>
          <p:nvPr/>
        </p:nvSpPr>
        <p:spPr>
          <a:xfrm>
            <a:off x="7239000" y="1750695"/>
            <a:ext cx="2609807" cy="194310"/>
          </a:xfrm>
          <a:prstGeom prst="rect">
            <a:avLst/>
          </a:prstGeom>
          <a:noFill/>
        </p:spPr>
        <p:txBody>
          <a:bodyPr wrap="none" lIns="0" rIns="0" tIns="0" bIns="0">
            <a:spAutoFit/>
          </a:bodyPr>
          <a:lstStyle/>
          <a:p>
            <a:r>
              <a:rPr sz="1150" b="0">
                <a:solidFill>
                  <a:srgbClr val="2E2E2E"/>
                </a:solidFill>
                <a:latin typeface="Calibri"/>
              </a:rPr>
              <a:t>is expected to witness the highest CAGR of</a:t>
            </a:r>
          </a:p>
        </p:txBody>
      </p:sp>
      <p:pic>
        <p:nvPicPr>
          <p:cNvPr id="42" name="Picture 41" descr="lock.png"/>
          <p:cNvPicPr>
            <a:picLocks noChangeAspect="1"/>
          </p:cNvPicPr>
          <p:nvPr/>
        </p:nvPicPr>
        <p:blipFill>
          <a:blip r:embed="rId5"/>
          <a:stretch>
            <a:fillRect/>
          </a:stretch>
        </p:blipFill>
        <p:spPr>
          <a:xfrm>
            <a:off x="9797961" y="1740471"/>
            <a:ext cx="134549" cy="195707"/>
          </a:xfrm>
          <a:prstGeom prst="rect">
            <a:avLst/>
          </a:prstGeom>
        </p:spPr>
      </p:pic>
      <p:sp>
        <p:nvSpPr>
          <p:cNvPr id="43" name="TextBox 42"/>
          <p:cNvSpPr txBox="1"/>
          <p:nvPr/>
        </p:nvSpPr>
        <p:spPr>
          <a:xfrm>
            <a:off x="99730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4" name="TextBox 43"/>
          <p:cNvSpPr txBox="1"/>
          <p:nvPr/>
        </p:nvSpPr>
        <p:spPr>
          <a:xfrm>
            <a:off x="7239000" y="197853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5" name="TextBox 44"/>
          <p:cNvSpPr txBox="1"/>
          <p:nvPr/>
        </p:nvSpPr>
        <p:spPr>
          <a:xfrm>
            <a:off x="7239000" y="215379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6" name="Picture 45" descr="lock.png"/>
          <p:cNvPicPr>
            <a:picLocks noChangeAspect="1"/>
          </p:cNvPicPr>
          <p:nvPr/>
        </p:nvPicPr>
        <p:blipFill>
          <a:blip r:embed="rId5"/>
          <a:stretch>
            <a:fillRect/>
          </a:stretch>
        </p:blipFill>
        <p:spPr>
          <a:xfrm>
            <a:off x="8106708" y="2143569"/>
            <a:ext cx="134549" cy="195707"/>
          </a:xfrm>
          <a:prstGeom prst="rect">
            <a:avLst/>
          </a:prstGeom>
        </p:spPr>
      </p:pic>
      <p:sp>
        <p:nvSpPr>
          <p:cNvPr id="47" name="TextBox 46"/>
          <p:cNvSpPr txBox="1"/>
          <p:nvPr/>
        </p:nvSpPr>
        <p:spPr>
          <a:xfrm>
            <a:off x="8281817"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9676961" y="2143569"/>
            <a:ext cx="134549" cy="195707"/>
          </a:xfrm>
          <a:prstGeom prst="rect">
            <a:avLst/>
          </a:prstGeom>
        </p:spPr>
      </p:pic>
      <p:sp>
        <p:nvSpPr>
          <p:cNvPr id="49" name="TextBox 48"/>
          <p:cNvSpPr txBox="1"/>
          <p:nvPr/>
        </p:nvSpPr>
        <p:spPr>
          <a:xfrm>
            <a:off x="9852070"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7" name="Rounded Rectangle 6"/>
          <p:cNvSpPr/>
          <p:nvPr/>
        </p:nvSpPr>
        <p:spPr>
          <a:xfrm>
            <a:off x="142875" y="981075"/>
            <a:ext cx="6810375"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9" name="Chart 8"/>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0" name="TextBox 9"/>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2A5F8F"/>
                </a:solidFill>
                <a:latin typeface="Calibri"/>
              </a:rPr>
              <a:t>BPS Δ  (2026→2036)</a:t>
            </a:r>
          </a:p>
        </p:txBody>
      </p:sp>
      <p:sp>
        <p:nvSpPr>
          <p:cNvPr id="11" name="TMR Lock Anchor"/>
          <p:cNvSpPr txBox="1"/>
          <p:nvPr/>
        </p:nvSpPr>
        <p:spPr>
          <a:xfrm>
            <a:off x="2489835" y="3352800"/>
            <a:ext cx="38100" cy="38100"/>
          </a:xfrm>
          <a:prstGeom prst="rect">
            <a:avLst/>
          </a:prstGeom>
          <a:noFill/>
        </p:spPr>
        <p:txBody>
          <a:bodyPr wrap="none">
            <a:spAutoFit/>
          </a:bodyPr>
          <a:lstStyle/>
          <a:p/>
        </p:txBody>
      </p:sp>
      <p:sp>
        <p:nvSpPr>
          <p:cNvPr id="12" name="TMR Legend Chip"/>
          <p:cNvSpPr/>
          <p:nvPr/>
        </p:nvSpPr>
        <p:spPr>
          <a:xfrm>
            <a:off x="4551045" y="1785752"/>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4712970" y="178098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4855845" y="170478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Mexico</a:t>
            </a:r>
          </a:p>
        </p:txBody>
      </p:sp>
      <p:sp>
        <p:nvSpPr>
          <p:cNvPr id="15" name="BPS Value 1"/>
          <p:cNvSpPr txBox="1"/>
          <p:nvPr/>
        </p:nvSpPr>
        <p:spPr>
          <a:xfrm>
            <a:off x="6305550" y="176670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551045" y="2601260"/>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4712970" y="259649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4855845" y="252029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9" name="BPS Value 2"/>
          <p:cNvSpPr txBox="1"/>
          <p:nvPr/>
        </p:nvSpPr>
        <p:spPr>
          <a:xfrm>
            <a:off x="6305550" y="25822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551045" y="4111158"/>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4712970" y="410639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4855845" y="403019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3" name="BPS Value 3"/>
          <p:cNvSpPr txBox="1"/>
          <p:nvPr/>
        </p:nvSpPr>
        <p:spPr>
          <a:xfrm>
            <a:off x="6305550" y="409210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Rounded Rectangle 23"/>
          <p:cNvSpPr/>
          <p:nvPr/>
        </p:nvSpPr>
        <p:spPr>
          <a:xfrm>
            <a:off x="7105650" y="981075"/>
            <a:ext cx="4933950" cy="4533900"/>
          </a:xfrm>
          <a:prstGeom prst="roundRect">
            <a:avLst>
              <a:gd name="adj" fmla="val 16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E2A5C"/>
                </a:solidFill>
                <a:latin typeface="Calibri"/>
              </a:rPr>
              <a:t>Regional Highlights</a:t>
            </a:r>
          </a:p>
        </p:txBody>
      </p:sp>
      <p:sp>
        <p:nvSpPr>
          <p:cNvPr id="26" name="Rectangle 25"/>
          <p:cNvSpPr/>
          <p:nvPr/>
        </p:nvSpPr>
        <p:spPr>
          <a:xfrm>
            <a:off x="7239000" y="1304925"/>
            <a:ext cx="46672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8" name="Rounded Rectangle 27"/>
          <p:cNvSpPr/>
          <p:nvPr/>
        </p:nvSpPr>
        <p:spPr>
          <a:xfrm>
            <a:off x="142875" y="5648325"/>
            <a:ext cx="3943350"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2A5F8F"/>
                </a:solidFill>
                <a:latin typeface="Calibri"/>
              </a:rPr>
              <a:t> </a:t>
            </a:r>
          </a:p>
        </p:txBody>
      </p:sp>
      <p:sp>
        <p:nvSpPr>
          <p:cNvPr id="29" name="Rounded Rectangle 28"/>
          <p:cNvSpPr/>
          <p:nvPr/>
        </p:nvSpPr>
        <p:spPr>
          <a:xfrm>
            <a:off x="4238625"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2A5F8F"/>
                </a:solidFill>
                <a:latin typeface="Calibri"/>
              </a:rPr>
              <a:t> </a:t>
            </a:r>
          </a:p>
        </p:txBody>
      </p:sp>
      <p:sp>
        <p:nvSpPr>
          <p:cNvPr id="30" name="Rounded Rectangle 29"/>
          <p:cNvSpPr/>
          <p:nvPr/>
        </p:nvSpPr>
        <p:spPr>
          <a:xfrm>
            <a:off x="8210550" y="5648325"/>
            <a:ext cx="3819525" cy="981075"/>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2A5F8F"/>
                </a:solidFill>
                <a:latin typeface="Calibri"/>
              </a:rPr>
              <a:t> </a:t>
            </a:r>
          </a:p>
        </p:txBody>
      </p:sp>
      <p:sp>
        <p:nvSpPr>
          <p:cNvPr id="31" name="Rectangle 3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3" name="Picture 32" descr="lock.png"/>
          <p:cNvPicPr>
            <a:picLocks noChangeAspect="1"/>
          </p:cNvPicPr>
          <p:nvPr/>
        </p:nvPicPr>
        <p:blipFill>
          <a:blip r:embed="rId5"/>
          <a:stretch>
            <a:fillRect/>
          </a:stretch>
        </p:blipFill>
        <p:spPr>
          <a:xfrm>
            <a:off x="2368867" y="3171825"/>
            <a:ext cx="275034" cy="400050"/>
          </a:xfrm>
          <a:prstGeom prst="rect">
            <a:avLst/>
          </a:prstGeom>
        </p:spPr>
      </p:pic>
      <p:pic>
        <p:nvPicPr>
          <p:cNvPr id="34" name="Picture 33" descr="lock.png"/>
          <p:cNvPicPr>
            <a:picLocks noChangeAspect="1"/>
          </p:cNvPicPr>
          <p:nvPr/>
        </p:nvPicPr>
        <p:blipFill>
          <a:blip r:embed="rId5"/>
          <a:stretch>
            <a:fillRect/>
          </a:stretch>
        </p:blipFill>
        <p:spPr>
          <a:xfrm>
            <a:off x="2009775" y="6070282"/>
            <a:ext cx="209550" cy="304800"/>
          </a:xfrm>
          <a:prstGeom prst="rect">
            <a:avLst/>
          </a:prstGeom>
        </p:spPr>
      </p:pic>
      <p:pic>
        <p:nvPicPr>
          <p:cNvPr id="35" name="Picture 34" descr="lock.png"/>
          <p:cNvPicPr>
            <a:picLocks noChangeAspect="1"/>
          </p:cNvPicPr>
          <p:nvPr/>
        </p:nvPicPr>
        <p:blipFill>
          <a:blip r:embed="rId5"/>
          <a:stretch>
            <a:fillRect/>
          </a:stretch>
        </p:blipFill>
        <p:spPr>
          <a:xfrm>
            <a:off x="6043612" y="6070282"/>
            <a:ext cx="209550" cy="304800"/>
          </a:xfrm>
          <a:prstGeom prst="rect">
            <a:avLst/>
          </a:prstGeom>
        </p:spPr>
      </p:pic>
      <p:pic>
        <p:nvPicPr>
          <p:cNvPr id="36" name="Picture 35" descr="lock.png"/>
          <p:cNvPicPr>
            <a:picLocks noChangeAspect="1"/>
          </p:cNvPicPr>
          <p:nvPr/>
        </p:nvPicPr>
        <p:blipFill>
          <a:blip r:embed="rId5"/>
          <a:stretch>
            <a:fillRect/>
          </a:stretch>
        </p:blipFill>
        <p:spPr>
          <a:xfrm>
            <a:off x="10015537" y="6070282"/>
            <a:ext cx="209550" cy="304800"/>
          </a:xfrm>
          <a:prstGeom prst="rect">
            <a:avLst/>
          </a:prstGeom>
        </p:spPr>
      </p:pic>
      <p:sp>
        <p:nvSpPr>
          <p:cNvPr id="37" name="TextBox 36"/>
          <p:cNvSpPr txBox="1"/>
          <p:nvPr/>
        </p:nvSpPr>
        <p:spPr>
          <a:xfrm>
            <a:off x="7239000" y="1400175"/>
            <a:ext cx="3592524" cy="194310"/>
          </a:xfrm>
          <a:prstGeom prst="rect">
            <a:avLst/>
          </a:prstGeom>
          <a:noFill/>
        </p:spPr>
        <p:txBody>
          <a:bodyPr wrap="none" lIns="0" rIns="0" tIns="0" bIns="0">
            <a:spAutoFit/>
          </a:bodyPr>
          <a:lstStyle/>
          <a:p>
            <a:r>
              <a:rPr sz="1150" b="0">
                <a:solidFill>
                  <a:srgbClr val="2E2E2E"/>
                </a:solidFill>
                <a:latin typeface="Calibri"/>
              </a:rPr>
              <a:t>The U.S. off-highway vehicle market is projected to register</a:t>
            </a:r>
          </a:p>
        </p:txBody>
      </p:sp>
      <p:pic>
        <p:nvPicPr>
          <p:cNvPr id="38" name="Picture 37" descr="lock.png"/>
          <p:cNvPicPr>
            <a:picLocks noChangeAspect="1"/>
          </p:cNvPicPr>
          <p:nvPr/>
        </p:nvPicPr>
        <p:blipFill>
          <a:blip r:embed="rId5"/>
          <a:stretch>
            <a:fillRect/>
          </a:stretch>
        </p:blipFill>
        <p:spPr>
          <a:xfrm>
            <a:off x="10780678" y="1389951"/>
            <a:ext cx="134549" cy="195707"/>
          </a:xfrm>
          <a:prstGeom prst="rect">
            <a:avLst/>
          </a:prstGeom>
        </p:spPr>
      </p:pic>
      <p:sp>
        <p:nvSpPr>
          <p:cNvPr id="39" name="TextBox 38"/>
          <p:cNvSpPr txBox="1"/>
          <p:nvPr/>
        </p:nvSpPr>
        <p:spPr>
          <a:xfrm>
            <a:off x="10955788" y="1400175"/>
            <a:ext cx="916843" cy="194310"/>
          </a:xfrm>
          <a:prstGeom prst="rect">
            <a:avLst/>
          </a:prstGeom>
          <a:noFill/>
        </p:spPr>
        <p:txBody>
          <a:bodyPr wrap="none" lIns="0" rIns="0" tIns="0" bIns="0">
            <a:spAutoFit/>
          </a:bodyPr>
          <a:lstStyle/>
          <a:p>
            <a:r>
              <a:rPr sz="1150" b="0">
                <a:solidFill>
                  <a:srgbClr val="2E2E2E"/>
                </a:solidFill>
                <a:latin typeface="Calibri"/>
              </a:rPr>
              <a:t>X higher value</a:t>
            </a:r>
          </a:p>
        </p:txBody>
      </p:sp>
      <p:sp>
        <p:nvSpPr>
          <p:cNvPr id="40" name="TextBox 39"/>
          <p:cNvSpPr txBox="1"/>
          <p:nvPr/>
        </p:nvSpPr>
        <p:spPr>
          <a:xfrm>
            <a:off x="7239000" y="1575435"/>
            <a:ext cx="4274852" cy="194310"/>
          </a:xfrm>
          <a:prstGeom prst="rect">
            <a:avLst/>
          </a:prstGeom>
          <a:noFill/>
        </p:spPr>
        <p:txBody>
          <a:bodyPr wrap="none" lIns="0" rIns="0" tIns="0" bIns="0">
            <a:spAutoFit/>
          </a:bodyPr>
          <a:lstStyle/>
          <a:p>
            <a:r>
              <a:rPr sz="1150" b="0">
                <a:solidFill>
                  <a:srgbClr val="2E2E2E"/>
                </a:solidFill>
                <a:latin typeface="Calibri"/>
              </a:rPr>
              <a:t>than Canada in 2036. Among off-highway vehicle by country, Mexico is</a:t>
            </a:r>
          </a:p>
        </p:txBody>
      </p:sp>
      <p:sp>
        <p:nvSpPr>
          <p:cNvPr id="41" name="TextBox 40"/>
          <p:cNvSpPr txBox="1"/>
          <p:nvPr/>
        </p:nvSpPr>
        <p:spPr>
          <a:xfrm>
            <a:off x="7239000" y="1750695"/>
            <a:ext cx="2486007" cy="194310"/>
          </a:xfrm>
          <a:prstGeom prst="rect">
            <a:avLst/>
          </a:prstGeom>
          <a:noFill/>
        </p:spPr>
        <p:txBody>
          <a:bodyPr wrap="none" lIns="0" rIns="0" tIns="0" bIns="0">
            <a:spAutoFit/>
          </a:bodyPr>
          <a:lstStyle/>
          <a:p>
            <a:r>
              <a:rPr sz="1150" b="0">
                <a:solidFill>
                  <a:srgbClr val="2E2E2E"/>
                </a:solidFill>
                <a:latin typeface="Calibri"/>
              </a:rPr>
              <a:t>expected to witness the highest CAGR of</a:t>
            </a:r>
          </a:p>
        </p:txBody>
      </p:sp>
      <p:pic>
        <p:nvPicPr>
          <p:cNvPr id="42" name="Picture 41" descr="lock.png"/>
          <p:cNvPicPr>
            <a:picLocks noChangeAspect="1"/>
          </p:cNvPicPr>
          <p:nvPr/>
        </p:nvPicPr>
        <p:blipFill>
          <a:blip r:embed="rId5"/>
          <a:stretch>
            <a:fillRect/>
          </a:stretch>
        </p:blipFill>
        <p:spPr>
          <a:xfrm>
            <a:off x="9674161" y="1740471"/>
            <a:ext cx="134549" cy="195707"/>
          </a:xfrm>
          <a:prstGeom prst="rect">
            <a:avLst/>
          </a:prstGeom>
        </p:spPr>
      </p:pic>
      <p:sp>
        <p:nvSpPr>
          <p:cNvPr id="43" name="TextBox 42"/>
          <p:cNvSpPr txBox="1"/>
          <p:nvPr/>
        </p:nvSpPr>
        <p:spPr>
          <a:xfrm>
            <a:off x="984927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4" name="TextBox 43"/>
          <p:cNvSpPr txBox="1"/>
          <p:nvPr/>
        </p:nvSpPr>
        <p:spPr>
          <a:xfrm>
            <a:off x="7239000" y="197853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5" name="TextBox 44"/>
          <p:cNvSpPr txBox="1"/>
          <p:nvPr/>
        </p:nvSpPr>
        <p:spPr>
          <a:xfrm>
            <a:off x="7239000" y="215379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6" name="Picture 45" descr="lock.png"/>
          <p:cNvPicPr>
            <a:picLocks noChangeAspect="1"/>
          </p:cNvPicPr>
          <p:nvPr/>
        </p:nvPicPr>
        <p:blipFill>
          <a:blip r:embed="rId5"/>
          <a:stretch>
            <a:fillRect/>
          </a:stretch>
        </p:blipFill>
        <p:spPr>
          <a:xfrm>
            <a:off x="7611222" y="2143569"/>
            <a:ext cx="134549" cy="195707"/>
          </a:xfrm>
          <a:prstGeom prst="rect">
            <a:avLst/>
          </a:prstGeom>
        </p:spPr>
      </p:pic>
      <p:sp>
        <p:nvSpPr>
          <p:cNvPr id="47" name="TextBox 46"/>
          <p:cNvSpPr txBox="1"/>
          <p:nvPr/>
        </p:nvSpPr>
        <p:spPr>
          <a:xfrm>
            <a:off x="7786331" y="215379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8" name="Picture 47" descr="lock.png"/>
          <p:cNvPicPr>
            <a:picLocks noChangeAspect="1"/>
          </p:cNvPicPr>
          <p:nvPr/>
        </p:nvPicPr>
        <p:blipFill>
          <a:blip r:embed="rId5"/>
          <a:stretch>
            <a:fillRect/>
          </a:stretch>
        </p:blipFill>
        <p:spPr>
          <a:xfrm>
            <a:off x="9181475" y="2143569"/>
            <a:ext cx="134549" cy="195707"/>
          </a:xfrm>
          <a:prstGeom prst="rect">
            <a:avLst/>
          </a:prstGeom>
        </p:spPr>
      </p:pic>
      <p:sp>
        <p:nvSpPr>
          <p:cNvPr id="49" name="TextBox 48"/>
          <p:cNvSpPr txBox="1"/>
          <p:nvPr/>
        </p:nvSpPr>
        <p:spPr>
          <a:xfrm>
            <a:off x="9356584" y="215379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0" name="lockshield_9"/>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Share Analysis, By Country Volume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7" name="Rounded Rectangle 6"/>
          <p:cNvSpPr/>
          <p:nvPr/>
        </p:nvSpPr>
        <p:spPr>
          <a:xfrm>
            <a:off x="142875" y="981075"/>
            <a:ext cx="11906250" cy="2667000"/>
          </a:xfrm>
          <a:prstGeom prst="roundRect">
            <a:avLst>
              <a:gd name="adj" fmla="val 285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(Units)</a:t>
            </a:r>
          </a:p>
        </p:txBody>
      </p:sp>
      <p:graphicFrame>
        <p:nvGraphicFramePr>
          <p:cNvPr id="9" name="Table 8"/>
          <p:cNvGraphicFramePr>
            <a:graphicFrameLocks noGrp="1"/>
          </p:cNvGraphicFramePr>
          <p:nvPr/>
        </p:nvGraphicFramePr>
        <p:xfrm>
          <a:off x="152400" y="1238250"/>
          <a:ext cx="11894066" cy="2200276"/>
        </p:xfrm>
        <a:graphic>
          <a:graphicData uri="http://schemas.openxmlformats.org/drawingml/2006/table">
            <a:tbl>
              <a:tblPr>
                <a:tableStyleId>{5C22544A-7EE6-4342-B048-85BDC9FD1C3A}</a:tableStyleId>
              </a:tblPr>
              <a:tblGrid>
                <a:gridCol w="720271"/>
                <a:gridCol w="674866"/>
                <a:gridCol w="674866"/>
                <a:gridCol w="674866"/>
                <a:gridCol w="674866"/>
                <a:gridCol w="674866"/>
                <a:gridCol w="674866"/>
                <a:gridCol w="674866"/>
                <a:gridCol w="674866"/>
                <a:gridCol w="674866"/>
                <a:gridCol w="674866"/>
                <a:gridCol w="674866"/>
                <a:gridCol w="674866"/>
                <a:gridCol w="674866"/>
                <a:gridCol w="674866"/>
                <a:gridCol w="674866"/>
                <a:gridCol w="674866"/>
                <a:gridCol w="375939"/>
              </a:tblGrid>
              <a:tr h="438912">
                <a:tc>
                  <a:txBody>
                    <a:bodyPr wrap="none"/>
                    <a:lstStyle/>
                    <a:p>
                      <a:pPr algn="l"/>
                      <a:r>
                        <a:rPr sz="1100" b="1">
                          <a:solidFill>
                            <a:srgbClr val="0E2A5C"/>
                          </a:solidFill>
                          <a:latin typeface="Calibri"/>
                        </a:rPr>
                        <a:t>Countr</a:t>
                      </a:r>
                      <a:endParaRPr sz="1100"/>
                    </a:p>
                    <a:p>
                      <a:pPr algn="l"/>
                      <a:r>
                        <a:rPr sz="1100" b="1">
                          <a:solidFill>
                            <a:srgbClr val="0E2A5C"/>
                          </a:solidFill>
                          <a:latin typeface="Calibri"/>
                        </a:rPr>
                        <a:t>y</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440341">
                <a:tc>
                  <a:txBody>
                    <a:bodyPr wrap="none"/>
                    <a:lstStyle/>
                    <a:p>
                      <a:pPr algn="l"/>
                      <a:r>
                        <a:rPr sz="1100" b="1">
                          <a:solidFill>
                            <a:srgbClr val="2E2E2E"/>
                          </a:solidFill>
                          <a:latin typeface="Calibri"/>
                        </a:rPr>
                        <a:t>U.S.</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40341">
                <a:tc>
                  <a:txBody>
                    <a:bodyPr wrap="none"/>
                    <a:lstStyle/>
                    <a:p>
                      <a:pPr algn="l"/>
                      <a:r>
                        <a:rPr sz="1100" b="1">
                          <a:solidFill>
                            <a:srgbClr val="2E2E2E"/>
                          </a:solidFill>
                          <a:latin typeface="Calibri"/>
                        </a:rPr>
                        <a:t>Canada</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40341">
                <a:tc>
                  <a:txBody>
                    <a:bodyPr wrap="none"/>
                    <a:lstStyle/>
                    <a:p>
                      <a:pPr algn="l"/>
                      <a:r>
                        <a:rPr sz="1100" b="1">
                          <a:solidFill>
                            <a:srgbClr val="2E2E2E"/>
                          </a:solidFill>
                          <a:latin typeface="Calibri"/>
                        </a:rPr>
                        <a:t>Mexico</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40341">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3448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781425"/>
            <a:ext cx="11906250" cy="2847975"/>
          </a:xfrm>
          <a:prstGeom prst="roundRect">
            <a:avLst>
              <a:gd name="adj" fmla="val 267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867150"/>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Volume Share Read-out, By Country</a:t>
            </a:r>
          </a:p>
        </p:txBody>
      </p:sp>
      <p:sp>
        <p:nvSpPr>
          <p:cNvPr id="13" name="Rectangle 12"/>
          <p:cNvSpPr/>
          <p:nvPr/>
        </p:nvSpPr>
        <p:spPr>
          <a:xfrm>
            <a:off x="276225" y="410527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191000"/>
            <a:ext cx="11639550" cy="23622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165718" y="2291144"/>
            <a:ext cx="366712" cy="533400"/>
          </a:xfrm>
          <a:prstGeom prst="rect">
            <a:avLst/>
          </a:prstGeom>
        </p:spPr>
      </p:pic>
      <p:sp>
        <p:nvSpPr>
          <p:cNvPr id="18" name="TextBox 17"/>
          <p:cNvSpPr txBox="1"/>
          <p:nvPr/>
        </p:nvSpPr>
        <p:spPr>
          <a:xfrm>
            <a:off x="276225" y="4200525"/>
            <a:ext cx="3592524" cy="194310"/>
          </a:xfrm>
          <a:prstGeom prst="rect">
            <a:avLst/>
          </a:prstGeom>
          <a:noFill/>
        </p:spPr>
        <p:txBody>
          <a:bodyPr wrap="none" lIns="0" rIns="0" tIns="0" bIns="0">
            <a:spAutoFit/>
          </a:bodyPr>
          <a:lstStyle/>
          <a:p>
            <a:r>
              <a:rPr sz="1150" b="0">
                <a:solidFill>
                  <a:srgbClr val="2E2E2E"/>
                </a:solidFill>
                <a:latin typeface="Calibri"/>
              </a:rPr>
              <a:t>The U.S. off-highway vehicle market is projected to register</a:t>
            </a:r>
          </a:p>
        </p:txBody>
      </p:sp>
      <p:pic>
        <p:nvPicPr>
          <p:cNvPr id="19" name="Picture 18" descr="lock.png"/>
          <p:cNvPicPr>
            <a:picLocks noChangeAspect="1"/>
          </p:cNvPicPr>
          <p:nvPr/>
        </p:nvPicPr>
        <p:blipFill>
          <a:blip r:embed="rId4"/>
          <a:stretch>
            <a:fillRect/>
          </a:stretch>
        </p:blipFill>
        <p:spPr>
          <a:xfrm>
            <a:off x="3817903" y="4190301"/>
            <a:ext cx="134549" cy="195707"/>
          </a:xfrm>
          <a:prstGeom prst="rect">
            <a:avLst/>
          </a:prstGeom>
        </p:spPr>
      </p:pic>
      <p:sp>
        <p:nvSpPr>
          <p:cNvPr id="20" name="TextBox 19"/>
          <p:cNvSpPr txBox="1"/>
          <p:nvPr/>
        </p:nvSpPr>
        <p:spPr>
          <a:xfrm>
            <a:off x="3993013" y="4200525"/>
            <a:ext cx="7715281" cy="194310"/>
          </a:xfrm>
          <a:prstGeom prst="rect">
            <a:avLst/>
          </a:prstGeom>
          <a:noFill/>
        </p:spPr>
        <p:txBody>
          <a:bodyPr wrap="none" lIns="0" rIns="0" tIns="0" bIns="0">
            <a:spAutoFit/>
          </a:bodyPr>
          <a:lstStyle/>
          <a:p>
            <a:r>
              <a:rPr sz="1150" b="0">
                <a:solidFill>
                  <a:srgbClr val="2E2E2E"/>
                </a:solidFill>
                <a:latin typeface="Calibri"/>
              </a:rPr>
              <a:t>X higher volume than Canada in 2036. Among off-highway vehicle by country, Mexico is expected to witness the highest CAGR of</a:t>
            </a:r>
          </a:p>
        </p:txBody>
      </p:sp>
      <p:pic>
        <p:nvPicPr>
          <p:cNvPr id="21" name="Picture 20" descr="lock.png"/>
          <p:cNvPicPr>
            <a:picLocks noChangeAspect="1"/>
          </p:cNvPicPr>
          <p:nvPr/>
        </p:nvPicPr>
        <p:blipFill>
          <a:blip r:embed="rId4"/>
          <a:stretch>
            <a:fillRect/>
          </a:stretch>
        </p:blipFill>
        <p:spPr>
          <a:xfrm>
            <a:off x="262145" y="4365561"/>
            <a:ext cx="134549" cy="195707"/>
          </a:xfrm>
          <a:prstGeom prst="rect">
            <a:avLst/>
          </a:prstGeom>
        </p:spPr>
      </p:pic>
      <p:sp>
        <p:nvSpPr>
          <p:cNvPr id="22" name="TextBox 21"/>
          <p:cNvSpPr txBox="1"/>
          <p:nvPr/>
        </p:nvSpPr>
        <p:spPr>
          <a:xfrm>
            <a:off x="437254" y="43757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3" name="TextBox 22"/>
          <p:cNvSpPr txBox="1"/>
          <p:nvPr/>
        </p:nvSpPr>
        <p:spPr>
          <a:xfrm>
            <a:off x="276225" y="4603622"/>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4" name="Picture 23" descr="lock.png"/>
          <p:cNvPicPr>
            <a:picLocks noChangeAspect="1"/>
          </p:cNvPicPr>
          <p:nvPr/>
        </p:nvPicPr>
        <p:blipFill>
          <a:blip r:embed="rId4"/>
          <a:stretch>
            <a:fillRect/>
          </a:stretch>
        </p:blipFill>
        <p:spPr>
          <a:xfrm>
            <a:off x="5332316" y="4593399"/>
            <a:ext cx="134549" cy="195707"/>
          </a:xfrm>
          <a:prstGeom prst="rect">
            <a:avLst/>
          </a:prstGeom>
        </p:spPr>
      </p:pic>
      <p:sp>
        <p:nvSpPr>
          <p:cNvPr id="25" name="TextBox 24"/>
          <p:cNvSpPr txBox="1"/>
          <p:nvPr/>
        </p:nvSpPr>
        <p:spPr>
          <a:xfrm>
            <a:off x="5507426" y="46036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6" name="Picture 25" descr="lock.png"/>
          <p:cNvPicPr>
            <a:picLocks noChangeAspect="1"/>
          </p:cNvPicPr>
          <p:nvPr/>
        </p:nvPicPr>
        <p:blipFill>
          <a:blip r:embed="rId4"/>
          <a:stretch>
            <a:fillRect/>
          </a:stretch>
        </p:blipFill>
        <p:spPr>
          <a:xfrm>
            <a:off x="6902569" y="4593399"/>
            <a:ext cx="134549" cy="195707"/>
          </a:xfrm>
          <a:prstGeom prst="rect">
            <a:avLst/>
          </a:prstGeom>
        </p:spPr>
      </p:pic>
      <p:sp>
        <p:nvSpPr>
          <p:cNvPr id="27" name="TextBox 26"/>
          <p:cNvSpPr txBox="1"/>
          <p:nvPr/>
        </p:nvSpPr>
        <p:spPr>
          <a:xfrm>
            <a:off x="7077678" y="46036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Share Analysis, By Country Value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7" name="Rounded Rectangle 6"/>
          <p:cNvSpPr/>
          <p:nvPr/>
        </p:nvSpPr>
        <p:spPr>
          <a:xfrm>
            <a:off x="142875" y="981075"/>
            <a:ext cx="11906250" cy="1704975"/>
          </a:xfrm>
          <a:prstGeom prst="roundRect">
            <a:avLst>
              <a:gd name="adj" fmla="val 446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9" name="Table 8"/>
          <p:cNvGraphicFramePr>
            <a:graphicFrameLocks noGrp="1"/>
          </p:cNvGraphicFramePr>
          <p:nvPr/>
        </p:nvGraphicFramePr>
        <p:xfrm>
          <a:off x="152400" y="1238250"/>
          <a:ext cx="11887205" cy="123825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8031">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Canada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8031">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2819400"/>
            <a:ext cx="11906250" cy="3810000"/>
          </a:xfrm>
          <a:prstGeom prst="roundRect">
            <a:avLst>
              <a:gd name="adj" fmla="val 20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290512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Share Read-out, By Country</a:t>
            </a:r>
          </a:p>
        </p:txBody>
      </p:sp>
      <p:sp>
        <p:nvSpPr>
          <p:cNvPr id="13" name="Rectangle 12"/>
          <p:cNvSpPr/>
          <p:nvPr/>
        </p:nvSpPr>
        <p:spPr>
          <a:xfrm>
            <a:off x="276225" y="314325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228975"/>
            <a:ext cx="1163955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240824" y="1713738"/>
            <a:ext cx="366712" cy="533400"/>
          </a:xfrm>
          <a:prstGeom prst="rect">
            <a:avLst/>
          </a:prstGeom>
        </p:spPr>
      </p:pic>
      <p:sp>
        <p:nvSpPr>
          <p:cNvPr id="18" name="TextBox 17"/>
          <p:cNvSpPr txBox="1"/>
          <p:nvPr/>
        </p:nvSpPr>
        <p:spPr>
          <a:xfrm>
            <a:off x="276225" y="3238500"/>
            <a:ext cx="3592524" cy="194310"/>
          </a:xfrm>
          <a:prstGeom prst="rect">
            <a:avLst/>
          </a:prstGeom>
          <a:noFill/>
        </p:spPr>
        <p:txBody>
          <a:bodyPr wrap="none" lIns="0" rIns="0" tIns="0" bIns="0">
            <a:spAutoFit/>
          </a:bodyPr>
          <a:lstStyle/>
          <a:p>
            <a:r>
              <a:rPr sz="1150" b="0">
                <a:solidFill>
                  <a:srgbClr val="2E2E2E"/>
                </a:solidFill>
                <a:latin typeface="Calibri"/>
              </a:rPr>
              <a:t>The U.S. off-highway vehicle market is projected to register</a:t>
            </a:r>
          </a:p>
        </p:txBody>
      </p:sp>
      <p:pic>
        <p:nvPicPr>
          <p:cNvPr id="19" name="Picture 18" descr="lock.png"/>
          <p:cNvPicPr>
            <a:picLocks noChangeAspect="1"/>
          </p:cNvPicPr>
          <p:nvPr/>
        </p:nvPicPr>
        <p:blipFill>
          <a:blip r:embed="rId4"/>
          <a:stretch>
            <a:fillRect/>
          </a:stretch>
        </p:blipFill>
        <p:spPr>
          <a:xfrm>
            <a:off x="3817903" y="3228276"/>
            <a:ext cx="134549" cy="195707"/>
          </a:xfrm>
          <a:prstGeom prst="rect">
            <a:avLst/>
          </a:prstGeom>
        </p:spPr>
      </p:pic>
      <p:sp>
        <p:nvSpPr>
          <p:cNvPr id="20" name="TextBox 19"/>
          <p:cNvSpPr txBox="1"/>
          <p:nvPr/>
        </p:nvSpPr>
        <p:spPr>
          <a:xfrm>
            <a:off x="3993013" y="3238500"/>
            <a:ext cx="7591481" cy="194310"/>
          </a:xfrm>
          <a:prstGeom prst="rect">
            <a:avLst/>
          </a:prstGeom>
          <a:noFill/>
        </p:spPr>
        <p:txBody>
          <a:bodyPr wrap="none" lIns="0" rIns="0" tIns="0" bIns="0">
            <a:spAutoFit/>
          </a:bodyPr>
          <a:lstStyle/>
          <a:p>
            <a:r>
              <a:rPr sz="1150" b="0">
                <a:solidFill>
                  <a:srgbClr val="2E2E2E"/>
                </a:solidFill>
                <a:latin typeface="Calibri"/>
              </a:rPr>
              <a:t>X higher value than Canada in 2036. Among off-highway vehicle by country, Mexico is expected to witness the highest CAGR of</a:t>
            </a:r>
          </a:p>
        </p:txBody>
      </p:sp>
      <p:pic>
        <p:nvPicPr>
          <p:cNvPr id="21" name="Picture 20" descr="lock.png"/>
          <p:cNvPicPr>
            <a:picLocks noChangeAspect="1"/>
          </p:cNvPicPr>
          <p:nvPr/>
        </p:nvPicPr>
        <p:blipFill>
          <a:blip r:embed="rId4"/>
          <a:stretch>
            <a:fillRect/>
          </a:stretch>
        </p:blipFill>
        <p:spPr>
          <a:xfrm>
            <a:off x="11533648" y="3228276"/>
            <a:ext cx="134549" cy="195707"/>
          </a:xfrm>
          <a:prstGeom prst="rect">
            <a:avLst/>
          </a:prstGeom>
        </p:spPr>
      </p:pic>
      <p:sp>
        <p:nvSpPr>
          <p:cNvPr id="22" name="TextBox 21"/>
          <p:cNvSpPr txBox="1"/>
          <p:nvPr/>
        </p:nvSpPr>
        <p:spPr>
          <a:xfrm>
            <a:off x="276225" y="341376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3" name="TextBox 22"/>
          <p:cNvSpPr txBox="1"/>
          <p:nvPr/>
        </p:nvSpPr>
        <p:spPr>
          <a:xfrm>
            <a:off x="276225" y="364159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4" name="Picture 23" descr="lock.png"/>
          <p:cNvPicPr>
            <a:picLocks noChangeAspect="1"/>
          </p:cNvPicPr>
          <p:nvPr/>
        </p:nvPicPr>
        <p:blipFill>
          <a:blip r:embed="rId4"/>
          <a:stretch>
            <a:fillRect/>
          </a:stretch>
        </p:blipFill>
        <p:spPr>
          <a:xfrm>
            <a:off x="5208516" y="3631374"/>
            <a:ext cx="134549" cy="195707"/>
          </a:xfrm>
          <a:prstGeom prst="rect">
            <a:avLst/>
          </a:prstGeom>
        </p:spPr>
      </p:pic>
      <p:sp>
        <p:nvSpPr>
          <p:cNvPr id="25" name="TextBox 24"/>
          <p:cNvSpPr txBox="1"/>
          <p:nvPr/>
        </p:nvSpPr>
        <p:spPr>
          <a:xfrm>
            <a:off x="5383625" y="364159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6" name="Picture 25" descr="lock.png"/>
          <p:cNvPicPr>
            <a:picLocks noChangeAspect="1"/>
          </p:cNvPicPr>
          <p:nvPr/>
        </p:nvPicPr>
        <p:blipFill>
          <a:blip r:embed="rId4"/>
          <a:stretch>
            <a:fillRect/>
          </a:stretch>
        </p:blipFill>
        <p:spPr>
          <a:xfrm>
            <a:off x="6778769" y="3631374"/>
            <a:ext cx="134549" cy="195707"/>
          </a:xfrm>
          <a:prstGeom prst="rect">
            <a:avLst/>
          </a:prstGeom>
        </p:spPr>
      </p:pic>
      <p:sp>
        <p:nvSpPr>
          <p:cNvPr id="27" name="TextBox 26"/>
          <p:cNvSpPr txBox="1"/>
          <p:nvPr/>
        </p:nvSpPr>
        <p:spPr>
          <a:xfrm>
            <a:off x="6953878" y="364159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Trends, By Country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7" name="Rounded Rectangle 6"/>
          <p:cNvSpPr/>
          <p:nvPr/>
        </p:nvSpPr>
        <p:spPr>
          <a:xfrm>
            <a:off x="142875" y="981075"/>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(Units)</a:t>
            </a:r>
          </a:p>
        </p:txBody>
      </p:sp>
      <p:graphicFrame>
        <p:nvGraphicFramePr>
          <p:cNvPr id="9" name="Chart 8"/>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2" name="Chart 11"/>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3" name="Rectangle 1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5" name="Picture 14" descr="lock.png"/>
          <p:cNvPicPr>
            <a:picLocks noChangeAspect="1"/>
          </p:cNvPicPr>
          <p:nvPr/>
        </p:nvPicPr>
        <p:blipFill>
          <a:blip r:embed="rId6"/>
          <a:stretch>
            <a:fillRect/>
          </a:stretch>
        </p:blipFill>
        <p:spPr>
          <a:xfrm>
            <a:off x="6058646" y="2026489"/>
            <a:ext cx="363375" cy="528545"/>
          </a:xfrm>
          <a:prstGeom prst="rect">
            <a:avLst/>
          </a:prstGeom>
        </p:spPr>
      </p:pic>
      <p:pic>
        <p:nvPicPr>
          <p:cNvPr id="16" name="Picture 15" descr="lock.png"/>
          <p:cNvPicPr>
            <a:picLocks noChangeAspect="1"/>
          </p:cNvPicPr>
          <p:nvPr/>
        </p:nvPicPr>
        <p:blipFill>
          <a:blip r:embed="rId6"/>
          <a:stretch>
            <a:fillRect/>
          </a:stretch>
        </p:blipFill>
        <p:spPr>
          <a:xfrm>
            <a:off x="6058646" y="4912564"/>
            <a:ext cx="363375" cy="528545"/>
          </a:xfrm>
          <a:prstGeom prst="rect">
            <a:avLst/>
          </a:prstGeom>
        </p:spPr>
      </p:pic>
      <p:sp>
        <p:nvSpPr>
          <p:cNvPr id="17" name="lockshield_9"/>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ockshield_12"/>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Off-Highway Vehicle Market Top 3 Countries (2036)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7" name="Rounded Rectangle 6"/>
          <p:cNvSpPr/>
          <p:nvPr/>
        </p:nvSpPr>
        <p:spPr>
          <a:xfrm>
            <a:off x="142875" y="981075"/>
            <a:ext cx="11906250"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9" name="Rectangle 8"/>
          <p:cNvSpPr/>
          <p:nvPr/>
        </p:nvSpPr>
        <p:spPr>
          <a:xfrm>
            <a:off x="238125" y="1266825"/>
            <a:ext cx="6504970" cy="5305425"/>
          </a:xfrm>
          <a:prstGeom prst="rect">
            <a:avLst/>
          </a:prstGeom>
          <a:solidFill>
            <a:srgbClr val="2A5F8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0" name="Rectangle 9"/>
          <p:cNvSpPr/>
          <p:nvPr/>
        </p:nvSpPr>
        <p:spPr>
          <a:xfrm>
            <a:off x="6743095" y="1266825"/>
            <a:ext cx="5210780" cy="3199773"/>
          </a:xfrm>
          <a:prstGeom prst="rect">
            <a:avLst/>
          </a:prstGeom>
          <a:solidFill>
            <a:srgbClr val="0081E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1" name="Rectangle 10"/>
          <p:cNvSpPr/>
          <p:nvPr/>
        </p:nvSpPr>
        <p:spPr>
          <a:xfrm>
            <a:off x="6743095" y="4466598"/>
            <a:ext cx="5210780" cy="2105652"/>
          </a:xfrm>
          <a:prstGeom prst="rect">
            <a:avLst/>
          </a:prstGeom>
          <a:solidFill>
            <a:srgbClr val="0E2A5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Mexico</a:t>
            </a:r>
          </a:p>
          <a:p>
            <a:pPr algn="ctr"/>
            <a:r>
              <a:rPr sz="1100" b="0">
                <a:solidFill>
                  <a:srgbClr val="FFFFFF"/>
                </a:solidFill>
                <a:latin typeface="Calibri"/>
              </a:rPr>
              <a:t> </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 name="Picture 13" descr="lock.png"/>
          <p:cNvPicPr>
            <a:picLocks noChangeAspect="1"/>
          </p:cNvPicPr>
          <p:nvPr/>
        </p:nvPicPr>
        <p:blipFill>
          <a:blip r:embed="rId4"/>
          <a:stretch>
            <a:fillRect/>
          </a:stretch>
        </p:blipFill>
        <p:spPr>
          <a:xfrm>
            <a:off x="3432984" y="3919537"/>
            <a:ext cx="115252" cy="167639"/>
          </a:xfrm>
          <a:prstGeom prst="rect">
            <a:avLst/>
          </a:prstGeom>
        </p:spPr>
      </p:pic>
      <p:pic>
        <p:nvPicPr>
          <p:cNvPr id="15" name="Picture 14" descr="lock.png"/>
          <p:cNvPicPr>
            <a:picLocks noChangeAspect="1"/>
          </p:cNvPicPr>
          <p:nvPr/>
        </p:nvPicPr>
        <p:blipFill>
          <a:blip r:embed="rId4"/>
          <a:stretch>
            <a:fillRect/>
          </a:stretch>
        </p:blipFill>
        <p:spPr>
          <a:xfrm>
            <a:off x="9290859" y="2866711"/>
            <a:ext cx="115252" cy="167639"/>
          </a:xfrm>
          <a:prstGeom prst="rect">
            <a:avLst/>
          </a:prstGeom>
        </p:spPr>
      </p:pic>
      <p:pic>
        <p:nvPicPr>
          <p:cNvPr id="16" name="Picture 15" descr="lock.png"/>
          <p:cNvPicPr>
            <a:picLocks noChangeAspect="1"/>
          </p:cNvPicPr>
          <p:nvPr/>
        </p:nvPicPr>
        <p:blipFill>
          <a:blip r:embed="rId4"/>
          <a:stretch>
            <a:fillRect/>
          </a:stretch>
        </p:blipFill>
        <p:spPr>
          <a:xfrm>
            <a:off x="9290859" y="5519424"/>
            <a:ext cx="115252" cy="167639"/>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North America Market Analysis By Segments</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Powertrain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Configuration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Vehicle Type</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Type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Vehicle Type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5 sub-segments of Vehicle Type,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Vehicle Type segment categorizes the market by vehicle type.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1908810"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1908810"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Construction and Mining Vehicles</a:t>
            </a:r>
          </a:p>
        </p:txBody>
      </p:sp>
      <p:sp>
        <p:nvSpPr>
          <p:cNvPr id="19" name="Rectangle 18"/>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659380"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3890010" y="1773916"/>
            <a:ext cx="1908810"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0010" y="1992961"/>
            <a:ext cx="1908810"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Agriculture and Forestry Vehicles</a:t>
            </a:r>
          </a:p>
        </p:txBody>
      </p:sp>
      <p:sp>
        <p:nvSpPr>
          <p:cNvPr id="26" name="Rectangle 25"/>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4682490"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5913120" y="1773916"/>
            <a:ext cx="1908810"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13120" y="1992961"/>
            <a:ext cx="1908810"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Military Vehicles</a:t>
            </a:r>
          </a:p>
        </p:txBody>
      </p:sp>
      <p:sp>
        <p:nvSpPr>
          <p:cNvPr id="33" name="Rectangle 32"/>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6705600"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7936230" y="1773916"/>
            <a:ext cx="1908810"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36230" y="1992961"/>
            <a:ext cx="1908810"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Recreational and Powersports Vehi…</a:t>
            </a:r>
          </a:p>
        </p:txBody>
      </p:sp>
      <p:sp>
        <p:nvSpPr>
          <p:cNvPr id="40" name="Rectangle 39"/>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8728710"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9959340" y="1773916"/>
            <a:ext cx="1908810"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59340" y="1992961"/>
            <a:ext cx="1908810"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Calibri"/>
              </a:rPr>
              <a:t>Industrial and Port Vehicles</a:t>
            </a:r>
          </a:p>
        </p:txBody>
      </p:sp>
      <p:sp>
        <p:nvSpPr>
          <p:cNvPr id="47" name="Rectangle 46"/>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8" name="Rectangle 47"/>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49" name="Rectangle 48"/>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0" name="Oval 49"/>
          <p:cNvSpPr/>
          <p:nvPr/>
        </p:nvSpPr>
        <p:spPr>
          <a:xfrm>
            <a:off x="10751820"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1" name="Rounded Rectangle 5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3" name="Rectangle 52"/>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5" name="Rounded Rectangle 5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7" name="Rectangle 56"/>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p:txBody>
      </p:sp>
      <p:sp>
        <p:nvSpPr>
          <p:cNvPr id="59" name="Rounded Rectangle 5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61" name="Rectangle 60"/>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Vehicle Type split shows how demand is distributed across vehicle type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63" name="Rectangle 6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5" name="TextBox 6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66" name="Rectangle 6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8" name="Picture 67" descr="98_893_605E5C.png"/>
          <p:cNvPicPr>
            <a:picLocks noChangeAspect="1"/>
          </p:cNvPicPr>
          <p:nvPr/>
        </p:nvPicPr>
        <p:blipFill>
          <a:blip r:embed="rId4"/>
          <a:stretch>
            <a:fillRect/>
          </a:stretch>
        </p:blipFill>
        <p:spPr>
          <a:xfrm>
            <a:off x="2116795" y="2286582"/>
            <a:ext cx="1409020" cy="361950"/>
          </a:xfrm>
          <a:prstGeom prst="rect">
            <a:avLst/>
          </a:prstGeom>
        </p:spPr>
      </p:pic>
      <p:pic>
        <p:nvPicPr>
          <p:cNvPr id="69" name="Picture 68" descr="157_711_605E5C.png"/>
          <p:cNvPicPr>
            <a:picLocks noChangeAspect="1"/>
          </p:cNvPicPr>
          <p:nvPr/>
        </p:nvPicPr>
        <p:blipFill>
          <a:blip r:embed="rId5"/>
          <a:stretch>
            <a:fillRect/>
          </a:stretch>
        </p:blipFill>
        <p:spPr>
          <a:xfrm>
            <a:off x="2006917" y="2779432"/>
            <a:ext cx="1628775" cy="361950"/>
          </a:xfrm>
          <a:prstGeom prst="rect">
            <a:avLst/>
          </a:prstGeom>
        </p:spPr>
      </p:pic>
      <p:pic>
        <p:nvPicPr>
          <p:cNvPr id="70" name="Picture 69" descr="4_8__605E5C.png"/>
          <p:cNvPicPr>
            <a:picLocks noChangeAspect="1"/>
          </p:cNvPicPr>
          <p:nvPr/>
        </p:nvPicPr>
        <p:blipFill>
          <a:blip r:embed="rId6"/>
          <a:stretch>
            <a:fillRect/>
          </a:stretch>
        </p:blipFill>
        <p:spPr>
          <a:xfrm>
            <a:off x="2330087" y="3272281"/>
            <a:ext cx="982436" cy="361950"/>
          </a:xfrm>
          <a:prstGeom prst="rect">
            <a:avLst/>
          </a:prstGeom>
        </p:spPr>
      </p:pic>
      <p:pic>
        <p:nvPicPr>
          <p:cNvPr id="71" name="Picture 70" descr="85_302_605E5C.png"/>
          <p:cNvPicPr>
            <a:picLocks noChangeAspect="1"/>
          </p:cNvPicPr>
          <p:nvPr/>
        </p:nvPicPr>
        <p:blipFill>
          <a:blip r:embed="rId7"/>
          <a:stretch>
            <a:fillRect/>
          </a:stretch>
        </p:blipFill>
        <p:spPr>
          <a:xfrm>
            <a:off x="4139905" y="2286582"/>
            <a:ext cx="1409020" cy="361950"/>
          </a:xfrm>
          <a:prstGeom prst="rect">
            <a:avLst/>
          </a:prstGeom>
        </p:spPr>
      </p:pic>
      <p:pic>
        <p:nvPicPr>
          <p:cNvPr id="72" name="Picture 71" descr="121_014_605E5C.png"/>
          <p:cNvPicPr>
            <a:picLocks noChangeAspect="1"/>
          </p:cNvPicPr>
          <p:nvPr/>
        </p:nvPicPr>
        <p:blipFill>
          <a:blip r:embed="rId8"/>
          <a:stretch>
            <a:fillRect/>
          </a:stretch>
        </p:blipFill>
        <p:spPr>
          <a:xfrm>
            <a:off x="4030027" y="2779432"/>
            <a:ext cx="1628775" cy="361950"/>
          </a:xfrm>
          <a:prstGeom prst="rect">
            <a:avLst/>
          </a:prstGeom>
        </p:spPr>
      </p:pic>
      <p:pic>
        <p:nvPicPr>
          <p:cNvPr id="73" name="Picture 72" descr="3_6__605E5C.png"/>
          <p:cNvPicPr>
            <a:picLocks noChangeAspect="1"/>
          </p:cNvPicPr>
          <p:nvPr/>
        </p:nvPicPr>
        <p:blipFill>
          <a:blip r:embed="rId9"/>
          <a:stretch>
            <a:fillRect/>
          </a:stretch>
        </p:blipFill>
        <p:spPr>
          <a:xfrm>
            <a:off x="4353197" y="3272281"/>
            <a:ext cx="982436" cy="361950"/>
          </a:xfrm>
          <a:prstGeom prst="rect">
            <a:avLst/>
          </a:prstGeom>
        </p:spPr>
      </p:pic>
      <p:pic>
        <p:nvPicPr>
          <p:cNvPr id="74" name="Picture 73" descr="81_629_605E5C.png"/>
          <p:cNvPicPr>
            <a:picLocks noChangeAspect="1"/>
          </p:cNvPicPr>
          <p:nvPr/>
        </p:nvPicPr>
        <p:blipFill>
          <a:blip r:embed="rId10"/>
          <a:stretch>
            <a:fillRect/>
          </a:stretch>
        </p:blipFill>
        <p:spPr>
          <a:xfrm>
            <a:off x="6163015" y="2286582"/>
            <a:ext cx="1409020" cy="361950"/>
          </a:xfrm>
          <a:prstGeom prst="rect">
            <a:avLst/>
          </a:prstGeom>
        </p:spPr>
      </p:pic>
      <p:pic>
        <p:nvPicPr>
          <p:cNvPr id="75" name="Picture 74" descr="109_941_605E5C.png"/>
          <p:cNvPicPr>
            <a:picLocks noChangeAspect="1"/>
          </p:cNvPicPr>
          <p:nvPr/>
        </p:nvPicPr>
        <p:blipFill>
          <a:blip r:embed="rId11"/>
          <a:stretch>
            <a:fillRect/>
          </a:stretch>
        </p:blipFill>
        <p:spPr>
          <a:xfrm>
            <a:off x="6053137" y="2779432"/>
            <a:ext cx="1628775" cy="361950"/>
          </a:xfrm>
          <a:prstGeom prst="rect">
            <a:avLst/>
          </a:prstGeom>
        </p:spPr>
      </p:pic>
      <p:pic>
        <p:nvPicPr>
          <p:cNvPr id="76" name="Picture 75" descr="3_0__605E5C.png"/>
          <p:cNvPicPr>
            <a:picLocks noChangeAspect="1"/>
          </p:cNvPicPr>
          <p:nvPr/>
        </p:nvPicPr>
        <p:blipFill>
          <a:blip r:embed="rId12"/>
          <a:stretch>
            <a:fillRect/>
          </a:stretch>
        </p:blipFill>
        <p:spPr>
          <a:xfrm>
            <a:off x="6376307" y="3272281"/>
            <a:ext cx="982436" cy="361950"/>
          </a:xfrm>
          <a:prstGeom prst="rect">
            <a:avLst/>
          </a:prstGeom>
        </p:spPr>
      </p:pic>
      <p:pic>
        <p:nvPicPr>
          <p:cNvPr id="77" name="Picture 76" descr="58_039_605E5C.png"/>
          <p:cNvPicPr>
            <a:picLocks noChangeAspect="1"/>
          </p:cNvPicPr>
          <p:nvPr/>
        </p:nvPicPr>
        <p:blipFill>
          <a:blip r:embed="rId13"/>
          <a:stretch>
            <a:fillRect/>
          </a:stretch>
        </p:blipFill>
        <p:spPr>
          <a:xfrm>
            <a:off x="8186125" y="2286582"/>
            <a:ext cx="1409020" cy="361950"/>
          </a:xfrm>
          <a:prstGeom prst="rect">
            <a:avLst/>
          </a:prstGeom>
        </p:spPr>
      </p:pic>
      <p:pic>
        <p:nvPicPr>
          <p:cNvPr id="78" name="Picture 77" descr="99_626_605E5C.png"/>
          <p:cNvPicPr>
            <a:picLocks noChangeAspect="1"/>
          </p:cNvPicPr>
          <p:nvPr/>
        </p:nvPicPr>
        <p:blipFill>
          <a:blip r:embed="rId14"/>
          <a:stretch>
            <a:fillRect/>
          </a:stretch>
        </p:blipFill>
        <p:spPr>
          <a:xfrm>
            <a:off x="8186125" y="2779432"/>
            <a:ext cx="1409020" cy="361950"/>
          </a:xfrm>
          <a:prstGeom prst="rect">
            <a:avLst/>
          </a:prstGeom>
        </p:spPr>
      </p:pic>
      <p:pic>
        <p:nvPicPr>
          <p:cNvPr id="79" name="Picture 78" descr="5_6__605E5C.png"/>
          <p:cNvPicPr>
            <a:picLocks noChangeAspect="1"/>
          </p:cNvPicPr>
          <p:nvPr/>
        </p:nvPicPr>
        <p:blipFill>
          <a:blip r:embed="rId15"/>
          <a:stretch>
            <a:fillRect/>
          </a:stretch>
        </p:blipFill>
        <p:spPr>
          <a:xfrm>
            <a:off x="8399417" y="3272281"/>
            <a:ext cx="982436" cy="361950"/>
          </a:xfrm>
          <a:prstGeom prst="rect">
            <a:avLst/>
          </a:prstGeom>
        </p:spPr>
      </p:pic>
      <p:pic>
        <p:nvPicPr>
          <p:cNvPr id="80" name="Picture 79" descr="56_030_605E5C.png"/>
          <p:cNvPicPr>
            <a:picLocks noChangeAspect="1"/>
          </p:cNvPicPr>
          <p:nvPr/>
        </p:nvPicPr>
        <p:blipFill>
          <a:blip r:embed="rId16"/>
          <a:stretch>
            <a:fillRect/>
          </a:stretch>
        </p:blipFill>
        <p:spPr>
          <a:xfrm>
            <a:off x="10209235" y="2286582"/>
            <a:ext cx="1409020" cy="361950"/>
          </a:xfrm>
          <a:prstGeom prst="rect">
            <a:avLst/>
          </a:prstGeom>
        </p:spPr>
      </p:pic>
      <p:pic>
        <p:nvPicPr>
          <p:cNvPr id="81" name="Picture 80" descr="75_265_605E5C.png"/>
          <p:cNvPicPr>
            <a:picLocks noChangeAspect="1"/>
          </p:cNvPicPr>
          <p:nvPr/>
        </p:nvPicPr>
        <p:blipFill>
          <a:blip r:embed="rId17"/>
          <a:stretch>
            <a:fillRect/>
          </a:stretch>
        </p:blipFill>
        <p:spPr>
          <a:xfrm>
            <a:off x="10209235" y="2779432"/>
            <a:ext cx="1409020" cy="361950"/>
          </a:xfrm>
          <a:prstGeom prst="rect">
            <a:avLst/>
          </a:prstGeom>
        </p:spPr>
      </p:pic>
      <p:pic>
        <p:nvPicPr>
          <p:cNvPr id="82" name="Picture 81" descr="3_0__605E5C.png"/>
          <p:cNvPicPr>
            <a:picLocks noChangeAspect="1"/>
          </p:cNvPicPr>
          <p:nvPr/>
        </p:nvPicPr>
        <p:blipFill>
          <a:blip r:embed="rId12"/>
          <a:stretch>
            <a:fillRect/>
          </a:stretch>
        </p:blipFill>
        <p:spPr>
          <a:xfrm>
            <a:off x="10422527" y="3272281"/>
            <a:ext cx="982436" cy="361950"/>
          </a:xfrm>
          <a:prstGeom prst="rect">
            <a:avLst/>
          </a:prstGeom>
        </p:spPr>
      </p:pic>
      <p:pic>
        <p:nvPicPr>
          <p:cNvPr id="83" name="Picture 82" descr="lock.png"/>
          <p:cNvPicPr>
            <a:picLocks noChangeAspect="1"/>
          </p:cNvPicPr>
          <p:nvPr/>
        </p:nvPicPr>
        <p:blipFill>
          <a:blip r:embed="rId18"/>
          <a:stretch>
            <a:fillRect/>
          </a:stretch>
        </p:blipFill>
        <p:spPr>
          <a:xfrm>
            <a:off x="2727960" y="2827057"/>
            <a:ext cx="183356" cy="266700"/>
          </a:xfrm>
          <a:prstGeom prst="rect">
            <a:avLst/>
          </a:prstGeom>
        </p:spPr>
      </p:pic>
      <p:pic>
        <p:nvPicPr>
          <p:cNvPr id="84" name="Picture 83" descr="lock.png"/>
          <p:cNvPicPr>
            <a:picLocks noChangeAspect="1"/>
          </p:cNvPicPr>
          <p:nvPr/>
        </p:nvPicPr>
        <p:blipFill>
          <a:blip r:embed="rId18"/>
          <a:stretch>
            <a:fillRect/>
          </a:stretch>
        </p:blipFill>
        <p:spPr>
          <a:xfrm>
            <a:off x="4751070" y="2827057"/>
            <a:ext cx="183356" cy="266700"/>
          </a:xfrm>
          <a:prstGeom prst="rect">
            <a:avLst/>
          </a:prstGeom>
        </p:spPr>
      </p:pic>
      <p:pic>
        <p:nvPicPr>
          <p:cNvPr id="85" name="Picture 84" descr="lock.png"/>
          <p:cNvPicPr>
            <a:picLocks noChangeAspect="1"/>
          </p:cNvPicPr>
          <p:nvPr/>
        </p:nvPicPr>
        <p:blipFill>
          <a:blip r:embed="rId18"/>
          <a:stretch>
            <a:fillRect/>
          </a:stretch>
        </p:blipFill>
        <p:spPr>
          <a:xfrm>
            <a:off x="6774180" y="2827057"/>
            <a:ext cx="183356" cy="266700"/>
          </a:xfrm>
          <a:prstGeom prst="rect">
            <a:avLst/>
          </a:prstGeom>
        </p:spPr>
      </p:pic>
      <p:pic>
        <p:nvPicPr>
          <p:cNvPr id="86" name="Picture 85" descr="lock.png"/>
          <p:cNvPicPr>
            <a:picLocks noChangeAspect="1"/>
          </p:cNvPicPr>
          <p:nvPr/>
        </p:nvPicPr>
        <p:blipFill>
          <a:blip r:embed="rId18"/>
          <a:stretch>
            <a:fillRect/>
          </a:stretch>
        </p:blipFill>
        <p:spPr>
          <a:xfrm>
            <a:off x="8797290" y="2827057"/>
            <a:ext cx="183356" cy="266700"/>
          </a:xfrm>
          <a:prstGeom prst="rect">
            <a:avLst/>
          </a:prstGeom>
        </p:spPr>
      </p:pic>
      <p:pic>
        <p:nvPicPr>
          <p:cNvPr id="87" name="Picture 86" descr="lock.png"/>
          <p:cNvPicPr>
            <a:picLocks noChangeAspect="1"/>
          </p:cNvPicPr>
          <p:nvPr/>
        </p:nvPicPr>
        <p:blipFill>
          <a:blip r:embed="rId18"/>
          <a:stretch>
            <a:fillRect/>
          </a:stretch>
        </p:blipFill>
        <p:spPr>
          <a:xfrm>
            <a:off x="10820400" y="2827057"/>
            <a:ext cx="183356" cy="266700"/>
          </a:xfrm>
          <a:prstGeom prst="rect">
            <a:avLst/>
          </a:prstGeom>
        </p:spPr>
      </p:pic>
      <p:sp>
        <p:nvSpPr>
          <p:cNvPr id="88" name="TextBox 87"/>
          <p:cNvSpPr txBox="1"/>
          <p:nvPr/>
        </p:nvSpPr>
        <p:spPr>
          <a:xfrm>
            <a:off x="485775" y="4229437"/>
            <a:ext cx="2539231" cy="186689"/>
          </a:xfrm>
          <a:prstGeom prst="rect">
            <a:avLst/>
          </a:prstGeom>
          <a:noFill/>
        </p:spPr>
        <p:txBody>
          <a:bodyPr wrap="none" lIns="0" rIns="0" tIns="0" bIns="0">
            <a:spAutoFit/>
          </a:bodyPr>
          <a:lstStyle/>
          <a:p>
            <a:r>
              <a:rPr sz="1100" b="0">
                <a:solidFill>
                  <a:srgbClr val="2E2E2E"/>
                </a:solidFill>
                <a:latin typeface="Calibri"/>
              </a:rPr>
              <a:t>Among off-highway vehicle by vehicle type,</a:t>
            </a:r>
          </a:p>
        </p:txBody>
      </p:sp>
      <p:sp>
        <p:nvSpPr>
          <p:cNvPr id="89" name="TextBox 88"/>
          <p:cNvSpPr txBox="1"/>
          <p:nvPr/>
        </p:nvSpPr>
        <p:spPr>
          <a:xfrm>
            <a:off x="485775" y="4397077"/>
            <a:ext cx="2885479" cy="186689"/>
          </a:xfrm>
          <a:prstGeom prst="rect">
            <a:avLst/>
          </a:prstGeom>
          <a:noFill/>
        </p:spPr>
        <p:txBody>
          <a:bodyPr wrap="none" lIns="0" rIns="0" tIns="0" bIns="0">
            <a:spAutoFit/>
          </a:bodyPr>
          <a:lstStyle/>
          <a:p>
            <a:r>
              <a:rPr sz="1100" b="0">
                <a:solidFill>
                  <a:srgbClr val="2E2E2E"/>
                </a:solidFill>
                <a:latin typeface="Calibri"/>
              </a:rPr>
              <a:t>recreational and powersports vehicles segment is</a:t>
            </a:r>
          </a:p>
        </p:txBody>
      </p:sp>
      <p:sp>
        <p:nvSpPr>
          <p:cNvPr id="90" name="TextBox 89"/>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91" name="Picture 90" descr="lock.png"/>
          <p:cNvPicPr>
            <a:picLocks noChangeAspect="1"/>
          </p:cNvPicPr>
          <p:nvPr/>
        </p:nvPicPr>
        <p:blipFill>
          <a:blip r:embed="rId18"/>
          <a:stretch>
            <a:fillRect/>
          </a:stretch>
        </p:blipFill>
        <p:spPr>
          <a:xfrm>
            <a:off x="2815059" y="4554938"/>
            <a:ext cx="128699" cy="187198"/>
          </a:xfrm>
          <a:prstGeom prst="rect">
            <a:avLst/>
          </a:prstGeom>
        </p:spPr>
      </p:pic>
      <p:sp>
        <p:nvSpPr>
          <p:cNvPr id="92" name="TextBox 91"/>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93" name="TextBox 92"/>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94" name="TextBox 93"/>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vehicle type, the construction and mining vehicles</a:t>
            </a:r>
          </a:p>
        </p:txBody>
      </p:sp>
      <p:sp>
        <p:nvSpPr>
          <p:cNvPr id="95" name="TextBox 94"/>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96" name="TextBox 95"/>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97" name="Picture 96" descr="lock.png"/>
          <p:cNvPicPr>
            <a:picLocks noChangeAspect="1"/>
          </p:cNvPicPr>
          <p:nvPr/>
        </p:nvPicPr>
        <p:blipFill>
          <a:blip r:embed="rId18"/>
          <a:stretch>
            <a:fillRect/>
          </a:stretch>
        </p:blipFill>
        <p:spPr>
          <a:xfrm>
            <a:off x="919576" y="5225498"/>
            <a:ext cx="128699" cy="187198"/>
          </a:xfrm>
          <a:prstGeom prst="rect">
            <a:avLst/>
          </a:prstGeom>
        </p:spPr>
      </p:pic>
      <p:sp>
        <p:nvSpPr>
          <p:cNvPr id="98" name="TextBox 97"/>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99" name="Picture 98" descr="lock.png"/>
          <p:cNvPicPr>
            <a:picLocks noChangeAspect="1"/>
          </p:cNvPicPr>
          <p:nvPr/>
        </p:nvPicPr>
        <p:blipFill>
          <a:blip r:embed="rId18"/>
          <a:stretch>
            <a:fillRect/>
          </a:stretch>
        </p:blipFill>
        <p:spPr>
          <a:xfrm>
            <a:off x="2421557" y="5225498"/>
            <a:ext cx="128699" cy="187198"/>
          </a:xfrm>
          <a:prstGeom prst="rect">
            <a:avLst/>
          </a:prstGeom>
        </p:spPr>
      </p:pic>
      <p:sp>
        <p:nvSpPr>
          <p:cNvPr id="100" name="TextBox 99"/>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101" name="TextBox 100"/>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102" name="TextBox 101"/>
          <p:cNvSpPr txBox="1"/>
          <p:nvPr/>
        </p:nvSpPr>
        <p:spPr>
          <a:xfrm>
            <a:off x="485775" y="5620849"/>
            <a:ext cx="2599258" cy="186689"/>
          </a:xfrm>
          <a:prstGeom prst="rect">
            <a:avLst/>
          </a:prstGeom>
          <a:noFill/>
        </p:spPr>
        <p:txBody>
          <a:bodyPr wrap="none" lIns="0" rIns="0" tIns="0" bIns="0">
            <a:spAutoFit/>
          </a:bodyPr>
          <a:lstStyle/>
          <a:p>
            <a:r>
              <a:rPr sz="1100" b="0">
                <a:solidFill>
                  <a:srgbClr val="2E2E2E"/>
                </a:solidFill>
                <a:latin typeface="Calibri"/>
              </a:rPr>
              <a:t>Construction and mining vehicles segment is</a:t>
            </a:r>
          </a:p>
        </p:txBody>
      </p:sp>
      <p:sp>
        <p:nvSpPr>
          <p:cNvPr id="103" name="TextBox 102"/>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4" name="Picture 103" descr="lock.png"/>
          <p:cNvPicPr>
            <a:picLocks noChangeAspect="1"/>
          </p:cNvPicPr>
          <p:nvPr/>
        </p:nvPicPr>
        <p:blipFill>
          <a:blip r:embed="rId18"/>
          <a:stretch>
            <a:fillRect/>
          </a:stretch>
        </p:blipFill>
        <p:spPr>
          <a:xfrm>
            <a:off x="1678376" y="5778710"/>
            <a:ext cx="128699" cy="187198"/>
          </a:xfrm>
          <a:prstGeom prst="rect">
            <a:avLst/>
          </a:prstGeom>
        </p:spPr>
      </p:pic>
      <p:sp>
        <p:nvSpPr>
          <p:cNvPr id="105" name="TextBox 104"/>
          <p:cNvSpPr txBox="1"/>
          <p:nvPr/>
        </p:nvSpPr>
        <p:spPr>
          <a:xfrm>
            <a:off x="1845872" y="5788489"/>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6" name="TextBox 105"/>
          <p:cNvSpPr txBox="1"/>
          <p:nvPr/>
        </p:nvSpPr>
        <p:spPr>
          <a:xfrm>
            <a:off x="485775" y="5956129"/>
            <a:ext cx="2914650" cy="186689"/>
          </a:xfrm>
          <a:prstGeom prst="rect">
            <a:avLst/>
          </a:prstGeom>
          <a:noFill/>
        </p:spPr>
        <p:txBody>
          <a:bodyPr wrap="none" lIns="0" rIns="0" tIns="0" bIns="0">
            <a:spAutoFit/>
          </a:bodyPr>
          <a:lstStyle/>
          <a:p>
            <a:r>
              <a:rPr sz="1100" b="0">
                <a:solidFill>
                  <a:srgbClr val="2E2E2E"/>
                </a:solidFill>
                <a:latin typeface="Calibri"/>
              </a:rPr>
              <a:t>agriculture and forestry vehicles segment in 2036.</a:t>
            </a:r>
          </a:p>
        </p:txBody>
      </p:sp>
      <p:sp>
        <p:nvSpPr>
          <p:cNvPr id="107" name="TextBox 106"/>
          <p:cNvSpPr txBox="1"/>
          <p:nvPr/>
        </p:nvSpPr>
        <p:spPr>
          <a:xfrm>
            <a:off x="3838575" y="4229437"/>
            <a:ext cx="2135410" cy="186689"/>
          </a:xfrm>
          <a:prstGeom prst="rect">
            <a:avLst/>
          </a:prstGeom>
          <a:noFill/>
        </p:spPr>
        <p:txBody>
          <a:bodyPr wrap="none" lIns="0" rIns="0" tIns="0" bIns="0">
            <a:spAutoFit/>
          </a:bodyPr>
          <a:lstStyle/>
          <a:p>
            <a:r>
              <a:rPr sz="1100" b="0">
                <a:solidFill>
                  <a:srgbClr val="2E2E2E"/>
                </a:solidFill>
                <a:latin typeface="Calibri"/>
              </a:rPr>
              <a:t>● Construction and Mining Vehicles:</a:t>
            </a:r>
          </a:p>
        </p:txBody>
      </p:sp>
      <p:pic>
        <p:nvPicPr>
          <p:cNvPr id="108" name="Picture 107" descr="lock.png"/>
          <p:cNvPicPr>
            <a:picLocks noChangeAspect="1"/>
          </p:cNvPicPr>
          <p:nvPr/>
        </p:nvPicPr>
        <p:blipFill>
          <a:blip r:embed="rId18"/>
          <a:stretch>
            <a:fillRect/>
          </a:stretch>
        </p:blipFill>
        <p:spPr>
          <a:xfrm>
            <a:off x="5922037" y="4219658"/>
            <a:ext cx="128699" cy="187198"/>
          </a:xfrm>
          <a:prstGeom prst="rect">
            <a:avLst/>
          </a:prstGeom>
        </p:spPr>
      </p:pic>
      <p:sp>
        <p:nvSpPr>
          <p:cNvPr id="109" name="TextBox 108"/>
          <p:cNvSpPr txBox="1"/>
          <p:nvPr/>
        </p:nvSpPr>
        <p:spPr>
          <a:xfrm>
            <a:off x="608953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8"/>
          <a:stretch>
            <a:fillRect/>
          </a:stretch>
        </p:blipFill>
        <p:spPr>
          <a:xfrm>
            <a:off x="6948983" y="4219658"/>
            <a:ext cx="128699" cy="187198"/>
          </a:xfrm>
          <a:prstGeom prst="rect">
            <a:avLst/>
          </a:prstGeom>
        </p:spPr>
      </p:pic>
      <p:sp>
        <p:nvSpPr>
          <p:cNvPr id="111" name="TextBox 110"/>
          <p:cNvSpPr txBox="1"/>
          <p:nvPr/>
        </p:nvSpPr>
        <p:spPr>
          <a:xfrm>
            <a:off x="7116479"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12" name="TextBox 11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13" name="TextBox 112"/>
          <p:cNvSpPr txBox="1"/>
          <p:nvPr/>
        </p:nvSpPr>
        <p:spPr>
          <a:xfrm>
            <a:off x="3838575" y="4615009"/>
            <a:ext cx="2109187" cy="186689"/>
          </a:xfrm>
          <a:prstGeom prst="rect">
            <a:avLst/>
          </a:prstGeom>
          <a:noFill/>
        </p:spPr>
        <p:txBody>
          <a:bodyPr wrap="none" lIns="0" rIns="0" tIns="0" bIns="0">
            <a:spAutoFit/>
          </a:bodyPr>
          <a:lstStyle/>
          <a:p>
            <a:r>
              <a:rPr sz="1100" b="0">
                <a:solidFill>
                  <a:srgbClr val="2E2E2E"/>
                </a:solidFill>
                <a:latin typeface="Calibri"/>
              </a:rPr>
              <a:t>● Agriculture and Forestry Vehicles:</a:t>
            </a:r>
          </a:p>
        </p:txBody>
      </p:sp>
      <p:pic>
        <p:nvPicPr>
          <p:cNvPr id="114" name="Picture 113" descr="lock.png"/>
          <p:cNvPicPr>
            <a:picLocks noChangeAspect="1"/>
          </p:cNvPicPr>
          <p:nvPr/>
        </p:nvPicPr>
        <p:blipFill>
          <a:blip r:embed="rId18"/>
          <a:stretch>
            <a:fillRect/>
          </a:stretch>
        </p:blipFill>
        <p:spPr>
          <a:xfrm>
            <a:off x="5895813" y="4605230"/>
            <a:ext cx="128699" cy="187198"/>
          </a:xfrm>
          <a:prstGeom prst="rect">
            <a:avLst/>
          </a:prstGeom>
        </p:spPr>
      </p:pic>
      <p:sp>
        <p:nvSpPr>
          <p:cNvPr id="115" name="TextBox 114"/>
          <p:cNvSpPr txBox="1"/>
          <p:nvPr/>
        </p:nvSpPr>
        <p:spPr>
          <a:xfrm>
            <a:off x="6063309"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8"/>
          <a:stretch>
            <a:fillRect/>
          </a:stretch>
        </p:blipFill>
        <p:spPr>
          <a:xfrm>
            <a:off x="6922759" y="4605230"/>
            <a:ext cx="128699" cy="187198"/>
          </a:xfrm>
          <a:prstGeom prst="rect">
            <a:avLst/>
          </a:prstGeom>
        </p:spPr>
      </p:pic>
      <p:sp>
        <p:nvSpPr>
          <p:cNvPr id="117" name="TextBox 116"/>
          <p:cNvSpPr txBox="1"/>
          <p:nvPr/>
        </p:nvSpPr>
        <p:spPr>
          <a:xfrm>
            <a:off x="7090255"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8" name="TextBox 117"/>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9" name="TextBox 118"/>
          <p:cNvSpPr txBox="1"/>
          <p:nvPr/>
        </p:nvSpPr>
        <p:spPr>
          <a:xfrm>
            <a:off x="3838575" y="5000581"/>
            <a:ext cx="1173336" cy="186689"/>
          </a:xfrm>
          <a:prstGeom prst="rect">
            <a:avLst/>
          </a:prstGeom>
          <a:noFill/>
        </p:spPr>
        <p:txBody>
          <a:bodyPr wrap="none" lIns="0" rIns="0" tIns="0" bIns="0">
            <a:spAutoFit/>
          </a:bodyPr>
          <a:lstStyle/>
          <a:p>
            <a:r>
              <a:rPr sz="1100" b="0">
                <a:solidFill>
                  <a:srgbClr val="2E2E2E"/>
                </a:solidFill>
                <a:latin typeface="Calibri"/>
              </a:rPr>
              <a:t>● Military Vehicles:</a:t>
            </a:r>
          </a:p>
        </p:txBody>
      </p:sp>
      <p:pic>
        <p:nvPicPr>
          <p:cNvPr id="120" name="Picture 119" descr="lock.png"/>
          <p:cNvPicPr>
            <a:picLocks noChangeAspect="1"/>
          </p:cNvPicPr>
          <p:nvPr/>
        </p:nvPicPr>
        <p:blipFill>
          <a:blip r:embed="rId18"/>
          <a:stretch>
            <a:fillRect/>
          </a:stretch>
        </p:blipFill>
        <p:spPr>
          <a:xfrm>
            <a:off x="4959962" y="4990801"/>
            <a:ext cx="128699" cy="187198"/>
          </a:xfrm>
          <a:prstGeom prst="rect">
            <a:avLst/>
          </a:prstGeom>
        </p:spPr>
      </p:pic>
      <p:sp>
        <p:nvSpPr>
          <p:cNvPr id="121" name="TextBox 120"/>
          <p:cNvSpPr txBox="1"/>
          <p:nvPr/>
        </p:nvSpPr>
        <p:spPr>
          <a:xfrm>
            <a:off x="5127458"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2" name="Picture 121" descr="lock.png"/>
          <p:cNvPicPr>
            <a:picLocks noChangeAspect="1"/>
          </p:cNvPicPr>
          <p:nvPr/>
        </p:nvPicPr>
        <p:blipFill>
          <a:blip r:embed="rId18"/>
          <a:stretch>
            <a:fillRect/>
          </a:stretch>
        </p:blipFill>
        <p:spPr>
          <a:xfrm>
            <a:off x="5986908" y="4990801"/>
            <a:ext cx="128699" cy="187198"/>
          </a:xfrm>
          <a:prstGeom prst="rect">
            <a:avLst/>
          </a:prstGeom>
        </p:spPr>
      </p:pic>
      <p:sp>
        <p:nvSpPr>
          <p:cNvPr id="123" name="TextBox 122"/>
          <p:cNvSpPr txBox="1"/>
          <p:nvPr/>
        </p:nvSpPr>
        <p:spPr>
          <a:xfrm>
            <a:off x="6154404" y="500058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24" name="TextBox 123"/>
          <p:cNvSpPr txBox="1"/>
          <p:nvPr/>
        </p:nvSpPr>
        <p:spPr>
          <a:xfrm>
            <a:off x="3838575" y="5218513"/>
            <a:ext cx="2439640" cy="186689"/>
          </a:xfrm>
          <a:prstGeom prst="rect">
            <a:avLst/>
          </a:prstGeom>
          <a:noFill/>
        </p:spPr>
        <p:txBody>
          <a:bodyPr wrap="none" lIns="0" rIns="0" tIns="0" bIns="0">
            <a:spAutoFit/>
          </a:bodyPr>
          <a:lstStyle/>
          <a:p>
            <a:r>
              <a:rPr sz="1100" b="0">
                <a:solidFill>
                  <a:srgbClr val="2E2E2E"/>
                </a:solidFill>
                <a:latin typeface="Calibri"/>
              </a:rPr>
              <a:t>● Recreational and Powersports Vehicles:</a:t>
            </a:r>
          </a:p>
        </p:txBody>
      </p:sp>
      <p:pic>
        <p:nvPicPr>
          <p:cNvPr id="125" name="Picture 124" descr="lock.png"/>
          <p:cNvPicPr>
            <a:picLocks noChangeAspect="1"/>
          </p:cNvPicPr>
          <p:nvPr/>
        </p:nvPicPr>
        <p:blipFill>
          <a:blip r:embed="rId18"/>
          <a:stretch>
            <a:fillRect/>
          </a:stretch>
        </p:blipFill>
        <p:spPr>
          <a:xfrm>
            <a:off x="6226266" y="5208733"/>
            <a:ext cx="128699" cy="187198"/>
          </a:xfrm>
          <a:prstGeom prst="rect">
            <a:avLst/>
          </a:prstGeom>
        </p:spPr>
      </p:pic>
      <p:sp>
        <p:nvSpPr>
          <p:cNvPr id="126" name="TextBox 125"/>
          <p:cNvSpPr txBox="1"/>
          <p:nvPr/>
        </p:nvSpPr>
        <p:spPr>
          <a:xfrm>
            <a:off x="6393762" y="521851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7" name="Picture 126" descr="lock.png"/>
          <p:cNvPicPr>
            <a:picLocks noChangeAspect="1"/>
          </p:cNvPicPr>
          <p:nvPr/>
        </p:nvPicPr>
        <p:blipFill>
          <a:blip r:embed="rId18"/>
          <a:stretch>
            <a:fillRect/>
          </a:stretch>
        </p:blipFill>
        <p:spPr>
          <a:xfrm>
            <a:off x="7253212" y="5208733"/>
            <a:ext cx="128699" cy="187198"/>
          </a:xfrm>
          <a:prstGeom prst="rect">
            <a:avLst/>
          </a:prstGeom>
        </p:spPr>
      </p:pic>
      <p:sp>
        <p:nvSpPr>
          <p:cNvPr id="128" name="TextBox 127"/>
          <p:cNvSpPr txBox="1"/>
          <p:nvPr/>
        </p:nvSpPr>
        <p:spPr>
          <a:xfrm>
            <a:off x="7420708" y="5218513"/>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29" name="TextBox 128"/>
          <p:cNvSpPr txBox="1"/>
          <p:nvPr/>
        </p:nvSpPr>
        <p:spPr>
          <a:xfrm>
            <a:off x="3838575" y="5386153"/>
            <a:ext cx="867742" cy="186689"/>
          </a:xfrm>
          <a:prstGeom prst="rect">
            <a:avLst/>
          </a:prstGeom>
          <a:noFill/>
        </p:spPr>
        <p:txBody>
          <a:bodyPr wrap="none" lIns="0" rIns="0" tIns="0" bIns="0">
            <a:spAutoFit/>
          </a:bodyPr>
          <a:lstStyle/>
          <a:p>
            <a:r>
              <a:rPr sz="1100" b="0">
                <a:solidFill>
                  <a:srgbClr val="2E2E2E"/>
                </a:solidFill>
                <a:latin typeface="Calibri"/>
              </a:rPr>
              <a:t>grows fastest.</a:t>
            </a:r>
          </a:p>
        </p:txBody>
      </p:sp>
      <p:sp>
        <p:nvSpPr>
          <p:cNvPr id="130" name="TextBox 129"/>
          <p:cNvSpPr txBox="1"/>
          <p:nvPr/>
        </p:nvSpPr>
        <p:spPr>
          <a:xfrm>
            <a:off x="3838575" y="5604085"/>
            <a:ext cx="1786979" cy="186689"/>
          </a:xfrm>
          <a:prstGeom prst="rect">
            <a:avLst/>
          </a:prstGeom>
          <a:noFill/>
        </p:spPr>
        <p:txBody>
          <a:bodyPr wrap="none" lIns="0" rIns="0" tIns="0" bIns="0">
            <a:spAutoFit/>
          </a:bodyPr>
          <a:lstStyle/>
          <a:p>
            <a:r>
              <a:rPr sz="1100" b="0">
                <a:solidFill>
                  <a:srgbClr val="2E2E2E"/>
                </a:solidFill>
                <a:latin typeface="Calibri"/>
              </a:rPr>
              <a:t>● Industrial and Port Vehicles:</a:t>
            </a:r>
          </a:p>
        </p:txBody>
      </p:sp>
      <p:pic>
        <p:nvPicPr>
          <p:cNvPr id="131" name="Picture 130" descr="lock.png"/>
          <p:cNvPicPr>
            <a:picLocks noChangeAspect="1"/>
          </p:cNvPicPr>
          <p:nvPr/>
        </p:nvPicPr>
        <p:blipFill>
          <a:blip r:embed="rId18"/>
          <a:stretch>
            <a:fillRect/>
          </a:stretch>
        </p:blipFill>
        <p:spPr>
          <a:xfrm>
            <a:off x="5573605" y="5594305"/>
            <a:ext cx="128699" cy="187198"/>
          </a:xfrm>
          <a:prstGeom prst="rect">
            <a:avLst/>
          </a:prstGeom>
        </p:spPr>
      </p:pic>
      <p:sp>
        <p:nvSpPr>
          <p:cNvPr id="132" name="TextBox 131"/>
          <p:cNvSpPr txBox="1"/>
          <p:nvPr/>
        </p:nvSpPr>
        <p:spPr>
          <a:xfrm>
            <a:off x="5741101" y="560408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3" name="Picture 132" descr="lock.png"/>
          <p:cNvPicPr>
            <a:picLocks noChangeAspect="1"/>
          </p:cNvPicPr>
          <p:nvPr/>
        </p:nvPicPr>
        <p:blipFill>
          <a:blip r:embed="rId18"/>
          <a:stretch>
            <a:fillRect/>
          </a:stretch>
        </p:blipFill>
        <p:spPr>
          <a:xfrm>
            <a:off x="6600551" y="5594305"/>
            <a:ext cx="128699" cy="187198"/>
          </a:xfrm>
          <a:prstGeom prst="rect">
            <a:avLst/>
          </a:prstGeom>
        </p:spPr>
      </p:pic>
      <p:sp>
        <p:nvSpPr>
          <p:cNvPr id="134" name="TextBox 133"/>
          <p:cNvSpPr txBox="1"/>
          <p:nvPr/>
        </p:nvSpPr>
        <p:spPr>
          <a:xfrm>
            <a:off x="6768047" y="5604085"/>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35" name="TextBox 134"/>
          <p:cNvSpPr txBox="1"/>
          <p:nvPr/>
        </p:nvSpPr>
        <p:spPr>
          <a:xfrm>
            <a:off x="3838575" y="5771725"/>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36" name="TextBox 135"/>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Vehicle Type segment is projected to grow at a</a:t>
            </a:r>
          </a:p>
        </p:txBody>
      </p:sp>
      <p:sp>
        <p:nvSpPr>
          <p:cNvPr id="137" name="TextBox 136"/>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38" name="Picture 137" descr="lock.png"/>
          <p:cNvPicPr>
            <a:picLocks noChangeAspect="1"/>
          </p:cNvPicPr>
          <p:nvPr/>
        </p:nvPicPr>
        <p:blipFill>
          <a:blip r:embed="rId18"/>
          <a:stretch>
            <a:fillRect/>
          </a:stretch>
        </p:blipFill>
        <p:spPr>
          <a:xfrm>
            <a:off x="9048826" y="6007677"/>
            <a:ext cx="134549" cy="195707"/>
          </a:xfrm>
          <a:prstGeom prst="rect">
            <a:avLst/>
          </a:prstGeom>
        </p:spPr>
      </p:pic>
      <p:sp>
        <p:nvSpPr>
          <p:cNvPr id="139" name="TextBox 138"/>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Vehicle Type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Vehicle Type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Type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Vehicle Type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55883" cy="186689"/>
          </a:xfrm>
          <a:prstGeom prst="rect">
            <a:avLst/>
          </a:prstGeom>
          <a:noFill/>
        </p:spPr>
        <p:txBody>
          <a:bodyPr wrap="none" lIns="0" rIns="0" tIns="0" bIns="0">
            <a:spAutoFit/>
          </a:bodyPr>
          <a:lstStyle/>
          <a:p>
            <a:r>
              <a:rPr sz="1100" b="0">
                <a:solidFill>
                  <a:srgbClr val="2E2E2E"/>
                </a:solidFill>
                <a:latin typeface="Calibri"/>
              </a:rPr>
              <a:t>Construction and mining vehicles followed by recreational and powersports vehicles are expected to be the two most attractive vehicle type segments in the North America off-highway vehicle market in</a:t>
            </a:r>
          </a:p>
        </p:txBody>
      </p:sp>
      <p:sp>
        <p:nvSpPr>
          <p:cNvPr id="18" name="TextBox 17"/>
          <p:cNvSpPr txBox="1"/>
          <p:nvPr/>
        </p:nvSpPr>
        <p:spPr>
          <a:xfrm>
            <a:off x="257175" y="5861685"/>
            <a:ext cx="8048359" cy="186689"/>
          </a:xfrm>
          <a:prstGeom prst="rect">
            <a:avLst/>
          </a:prstGeom>
          <a:noFill/>
        </p:spPr>
        <p:txBody>
          <a:bodyPr wrap="none" lIns="0" rIns="0" tIns="0" bIns="0">
            <a:spAutoFit/>
          </a:bodyPr>
          <a:lstStyle/>
          <a:p>
            <a:r>
              <a:rPr sz="1100" b="0">
                <a:solidFill>
                  <a:srgbClr val="2E2E2E"/>
                </a:solidFill>
                <a:latin typeface="Calibri"/>
              </a:rPr>
              <a:t>terms of value over the forecast period. Construction and mining vehicles and recreational and powersports vehicles exhibit a CAGR index of</a:t>
            </a:r>
          </a:p>
        </p:txBody>
      </p:sp>
      <p:pic>
        <p:nvPicPr>
          <p:cNvPr id="19" name="Picture 18" descr="lock.png"/>
          <p:cNvPicPr>
            <a:picLocks noChangeAspect="1"/>
          </p:cNvPicPr>
          <p:nvPr/>
        </p:nvPicPr>
        <p:blipFill>
          <a:blip r:embed="rId6"/>
          <a:stretch>
            <a:fillRect/>
          </a:stretch>
        </p:blipFill>
        <p:spPr>
          <a:xfrm>
            <a:off x="8253586" y="5851905"/>
            <a:ext cx="128699" cy="187198"/>
          </a:xfrm>
          <a:prstGeom prst="rect">
            <a:avLst/>
          </a:prstGeom>
        </p:spPr>
      </p:pic>
      <p:sp>
        <p:nvSpPr>
          <p:cNvPr id="20" name="TextBox 19"/>
          <p:cNvSpPr txBox="1"/>
          <p:nvPr/>
        </p:nvSpPr>
        <p:spPr>
          <a:xfrm>
            <a:off x="8421082"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8658976" y="5851905"/>
            <a:ext cx="128699" cy="187198"/>
          </a:xfrm>
          <a:prstGeom prst="rect">
            <a:avLst/>
          </a:prstGeom>
        </p:spPr>
      </p:pic>
      <p:sp>
        <p:nvSpPr>
          <p:cNvPr id="22" name="TextBox 21"/>
          <p:cNvSpPr txBox="1"/>
          <p:nvPr/>
        </p:nvSpPr>
        <p:spPr>
          <a:xfrm>
            <a:off x="8826472"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10435445" y="5851905"/>
            <a:ext cx="128699" cy="187198"/>
          </a:xfrm>
          <a:prstGeom prst="rect">
            <a:avLst/>
          </a:prstGeom>
        </p:spPr>
      </p:pic>
      <p:sp>
        <p:nvSpPr>
          <p:cNvPr id="24" name="TextBox 23"/>
          <p:cNvSpPr txBox="1"/>
          <p:nvPr/>
        </p:nvSpPr>
        <p:spPr>
          <a:xfrm>
            <a:off x="10602941"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10840836" y="5851905"/>
            <a:ext cx="128699" cy="187198"/>
          </a:xfrm>
          <a:prstGeom prst="rect">
            <a:avLst/>
          </a:prstGeom>
        </p:spPr>
      </p:pic>
      <p:sp>
        <p:nvSpPr>
          <p:cNvPr id="26" name="TextBox 25"/>
          <p:cNvSpPr txBox="1"/>
          <p:nvPr/>
        </p:nvSpPr>
        <p:spPr>
          <a:xfrm>
            <a:off x="257175"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2811579" y="6019545"/>
            <a:ext cx="128699" cy="187198"/>
          </a:xfrm>
          <a:prstGeom prst="rect">
            <a:avLst/>
          </a:prstGeom>
        </p:spPr>
      </p:pic>
      <p:sp>
        <p:nvSpPr>
          <p:cNvPr id="28" name="TextBox 27"/>
          <p:cNvSpPr txBox="1"/>
          <p:nvPr/>
        </p:nvSpPr>
        <p:spPr>
          <a:xfrm>
            <a:off x="2979074" y="6029325"/>
            <a:ext cx="8944677" cy="186689"/>
          </a:xfrm>
          <a:prstGeom prst="rect">
            <a:avLst/>
          </a:prstGeom>
          <a:noFill/>
        </p:spPr>
        <p:txBody>
          <a:bodyPr wrap="none" lIns="0" rIns="0" tIns="0" bIns="0">
            <a:spAutoFit/>
          </a:bodyPr>
          <a:lstStyle/>
          <a:p>
            <a:r>
              <a:rPr sz="1100" b="0">
                <a:solidFill>
                  <a:srgbClr val="2E2E2E"/>
                </a:solidFill>
                <a:latin typeface="Calibri"/>
              </a:rPr>
              <a:t>. The industrial and port vehicles segment is expected to be less attractive as compared to other segments over the forecast period, owing to its lower CAGR</a:t>
            </a:r>
          </a:p>
        </p:txBody>
      </p:sp>
      <p:sp>
        <p:nvSpPr>
          <p:cNvPr id="29" name="TextBox 28"/>
          <p:cNvSpPr txBox="1"/>
          <p:nvPr/>
        </p:nvSpPr>
        <p:spPr>
          <a:xfrm>
            <a:off x="257175" y="6196965"/>
            <a:ext cx="6083555" cy="186689"/>
          </a:xfrm>
          <a:prstGeom prst="rect">
            <a:avLst/>
          </a:prstGeom>
          <a:noFill/>
        </p:spPr>
        <p:txBody>
          <a:bodyPr wrap="none" lIns="0" rIns="0" tIns="0" bIns="0">
            <a:spAutoFit/>
          </a:bodyPr>
          <a:lstStyle/>
          <a:p>
            <a:r>
              <a:rPr sz="1100" b="0">
                <a:solidFill>
                  <a:srgbClr val="2E2E2E"/>
                </a:solidFill>
                <a:latin typeface="Calibri"/>
              </a:rPr>
              <a:t>and incremental opportunity. Bubbles right of the CAGR-Index line grow faster than the segment average.</a:t>
            </a:r>
          </a:p>
        </p:txBody>
      </p:sp>
      <p:sp>
        <p:nvSpPr>
          <p:cNvPr id="30"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Vehicle Type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Type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Construction and Mining Vehicles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Agriculture and Forestry Vehicles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Industrial and Port Vehicles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Recreational and Powersports Vehicles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Vehicle Type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Type and the absolute $ opportunity each sub-segment adds, 2026–2036</a:t>
            </a:r>
          </a:p>
        </p:txBody>
      </p:sp>
      <p:sp>
        <p:nvSpPr>
          <p:cNvPr id="7" name="Rounded Rectangle 6"/>
          <p:cNvSpPr/>
          <p:nvPr/>
        </p:nvSpPr>
        <p:spPr>
          <a:xfrm>
            <a:off x="142875"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Military Vehicles</a:t>
            </a:r>
          </a:p>
        </p:txBody>
      </p:sp>
      <p:graphicFrame>
        <p:nvGraphicFramePr>
          <p:cNvPr id="9" name="Chart 8"/>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5550" y="1066800"/>
            <a:ext cx="5610225" cy="407620"/>
          </a:xfrm>
          <a:prstGeom prst="rect">
            <a:avLst/>
          </a:prstGeom>
          <a:noFill/>
        </p:spPr>
        <p:txBody>
          <a:bodyPr wrap="square" lIns="0" rIns="19050" tIns="9525" bIns="9525">
            <a:spAutoFit/>
          </a:bodyPr>
          <a:lstStyle/>
          <a:p>
            <a:pPr algn="l"/>
            <a:r>
              <a:rPr sz="1300" b="1">
                <a:solidFill>
                  <a:srgbClr val="0E2A5C"/>
                </a:solidFill>
                <a:latin typeface="Calibri"/>
              </a:rPr>
              <a:t>Summary of North America Absolute $ Opportunity Analysis, By Vehicle Type</a:t>
            </a:r>
          </a:p>
        </p:txBody>
      </p:sp>
      <p:sp>
        <p:nvSpPr>
          <p:cNvPr id="12" name="Rectangle 11"/>
          <p:cNvSpPr/>
          <p:nvPr/>
        </p:nvSpPr>
        <p:spPr>
          <a:xfrm>
            <a:off x="6305550" y="1502995"/>
            <a:ext cx="561022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588720"/>
            <a:ext cx="5610225"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5"/>
          <a:stretch>
            <a:fillRect/>
          </a:stretch>
        </p:blipFill>
        <p:spPr>
          <a:xfrm>
            <a:off x="3027556" y="3674659"/>
            <a:ext cx="395643" cy="575481"/>
          </a:xfrm>
          <a:prstGeom prst="rect">
            <a:avLst/>
          </a:prstGeom>
        </p:spPr>
      </p:pic>
      <p:sp>
        <p:nvSpPr>
          <p:cNvPr id="17" name="TextBox 16"/>
          <p:cNvSpPr txBox="1"/>
          <p:nvPr/>
        </p:nvSpPr>
        <p:spPr>
          <a:xfrm>
            <a:off x="6305550" y="1598245"/>
            <a:ext cx="5452358" cy="194310"/>
          </a:xfrm>
          <a:prstGeom prst="rect">
            <a:avLst/>
          </a:prstGeom>
          <a:noFill/>
        </p:spPr>
        <p:txBody>
          <a:bodyPr wrap="none" lIns="0" rIns="0" tIns="0" bIns="0">
            <a:spAutoFit/>
          </a:bodyPr>
          <a:lstStyle/>
          <a:p>
            <a:r>
              <a:rPr sz="1150" b="0">
                <a:solidFill>
                  <a:srgbClr val="2E2E2E"/>
                </a:solidFill>
                <a:latin typeface="Calibri"/>
              </a:rPr>
              <a:t>By 2036, construction and mining vehicles segment is anticipated to witness an increase of</a:t>
            </a:r>
          </a:p>
        </p:txBody>
      </p:sp>
      <p:pic>
        <p:nvPicPr>
          <p:cNvPr id="18" name="Picture 17" descr="lock.png"/>
          <p:cNvPicPr>
            <a:picLocks noChangeAspect="1"/>
          </p:cNvPicPr>
          <p:nvPr/>
        </p:nvPicPr>
        <p:blipFill>
          <a:blip r:embed="rId5"/>
          <a:stretch>
            <a:fillRect/>
          </a:stretch>
        </p:blipFill>
        <p:spPr>
          <a:xfrm>
            <a:off x="6291470" y="1763281"/>
            <a:ext cx="134549" cy="195707"/>
          </a:xfrm>
          <a:prstGeom prst="rect">
            <a:avLst/>
          </a:prstGeom>
        </p:spPr>
      </p:pic>
      <p:sp>
        <p:nvSpPr>
          <p:cNvPr id="19" name="TextBox 18"/>
          <p:cNvSpPr txBox="1"/>
          <p:nvPr/>
        </p:nvSpPr>
        <p:spPr>
          <a:xfrm>
            <a:off x="6466579" y="1773505"/>
            <a:ext cx="5412159" cy="194310"/>
          </a:xfrm>
          <a:prstGeom prst="rect">
            <a:avLst/>
          </a:prstGeom>
          <a:noFill/>
        </p:spPr>
        <p:txBody>
          <a:bodyPr wrap="none" lIns="0" rIns="0" tIns="0" bIns="0">
            <a:spAutoFit/>
          </a:bodyPr>
          <a:lstStyle/>
          <a:p>
            <a:r>
              <a:rPr sz="1150" b="0">
                <a:solidFill>
                  <a:srgbClr val="2E2E2E"/>
                </a:solidFill>
                <a:latin typeface="Calibri"/>
              </a:rPr>
              <a:t>X in terms of value as compared to 2026. The construction and mining vehicles segment is</a:t>
            </a:r>
          </a:p>
        </p:txBody>
      </p:sp>
      <p:sp>
        <p:nvSpPr>
          <p:cNvPr id="20" name="TextBox 19"/>
          <p:cNvSpPr txBox="1"/>
          <p:nvPr/>
        </p:nvSpPr>
        <p:spPr>
          <a:xfrm>
            <a:off x="6305550" y="1948765"/>
            <a:ext cx="3285306" cy="194310"/>
          </a:xfrm>
          <a:prstGeom prst="rect">
            <a:avLst/>
          </a:prstGeom>
          <a:noFill/>
        </p:spPr>
        <p:txBody>
          <a:bodyPr wrap="none" lIns="0" rIns="0" tIns="0" bIns="0">
            <a:spAutoFit/>
          </a:bodyPr>
          <a:lstStyle/>
          <a:p>
            <a:r>
              <a:rPr sz="1150" b="0">
                <a:solidFill>
                  <a:srgbClr val="2E2E2E"/>
                </a:solidFill>
                <a:latin typeface="Calibri"/>
              </a:rPr>
              <a:t>expected to create an incremental opportunity of US$</a:t>
            </a:r>
          </a:p>
        </p:txBody>
      </p:sp>
      <p:pic>
        <p:nvPicPr>
          <p:cNvPr id="21" name="Picture 20" descr="lock.png"/>
          <p:cNvPicPr>
            <a:picLocks noChangeAspect="1"/>
          </p:cNvPicPr>
          <p:nvPr/>
        </p:nvPicPr>
        <p:blipFill>
          <a:blip r:embed="rId5"/>
          <a:stretch>
            <a:fillRect/>
          </a:stretch>
        </p:blipFill>
        <p:spPr>
          <a:xfrm>
            <a:off x="9540010" y="1938541"/>
            <a:ext cx="134549" cy="195707"/>
          </a:xfrm>
          <a:prstGeom prst="rect">
            <a:avLst/>
          </a:prstGeom>
        </p:spPr>
      </p:pic>
      <p:sp>
        <p:nvSpPr>
          <p:cNvPr id="22" name="TextBox 21"/>
          <p:cNvSpPr txBox="1"/>
          <p:nvPr/>
        </p:nvSpPr>
        <p:spPr>
          <a:xfrm>
            <a:off x="9715119" y="1948765"/>
            <a:ext cx="1892411" cy="194310"/>
          </a:xfrm>
          <a:prstGeom prst="rect">
            <a:avLst/>
          </a:prstGeom>
          <a:noFill/>
        </p:spPr>
        <p:txBody>
          <a:bodyPr wrap="none" lIns="0" rIns="0" tIns="0" bIns="0">
            <a:spAutoFit/>
          </a:bodyPr>
          <a:lstStyle/>
          <a:p>
            <a:r>
              <a:rPr sz="1150" b="0">
                <a:solidFill>
                  <a:srgbClr val="2E2E2E"/>
                </a:solidFill>
                <a:latin typeface="Calibri"/>
              </a:rPr>
              <a:t>Mn for the overall off-highway</a:t>
            </a:r>
          </a:p>
        </p:txBody>
      </p:sp>
      <p:sp>
        <p:nvSpPr>
          <p:cNvPr id="23" name="TextBox 22"/>
          <p:cNvSpPr txBox="1"/>
          <p:nvPr/>
        </p:nvSpPr>
        <p:spPr>
          <a:xfrm>
            <a:off x="6305550" y="2124025"/>
            <a:ext cx="2130313" cy="194310"/>
          </a:xfrm>
          <a:prstGeom prst="rect">
            <a:avLst/>
          </a:prstGeom>
          <a:noFill/>
        </p:spPr>
        <p:txBody>
          <a:bodyPr wrap="none" lIns="0" rIns="0" tIns="0" bIns="0">
            <a:spAutoFit/>
          </a:bodyPr>
          <a:lstStyle/>
          <a:p>
            <a:r>
              <a:rPr sz="1150" b="0">
                <a:solidFill>
                  <a:srgbClr val="2E2E2E"/>
                </a:solidFill>
                <a:latin typeface="Calibri"/>
              </a:rPr>
              <a:t>vehicle market from 2026 to 2036.</a:t>
            </a:r>
          </a:p>
        </p:txBody>
      </p:sp>
      <p:sp>
        <p:nvSpPr>
          <p:cNvPr id="24" name="TextBox 23"/>
          <p:cNvSpPr txBox="1"/>
          <p:nvPr/>
        </p:nvSpPr>
        <p:spPr>
          <a:xfrm>
            <a:off x="6305550" y="2351863"/>
            <a:ext cx="5343413" cy="194310"/>
          </a:xfrm>
          <a:prstGeom prst="rect">
            <a:avLst/>
          </a:prstGeom>
          <a:noFill/>
        </p:spPr>
        <p:txBody>
          <a:bodyPr wrap="none" lIns="0" rIns="0" tIns="0" bIns="0">
            <a:spAutoFit/>
          </a:bodyPr>
          <a:lstStyle/>
          <a:p>
            <a:r>
              <a:rPr sz="1150" b="0">
                <a:solidFill>
                  <a:srgbClr val="2E2E2E"/>
                </a:solidFill>
                <a:latin typeface="Calibri"/>
              </a:rPr>
              <a:t>The recreational and powersports vehicles segment is expected to create an incremental</a:t>
            </a:r>
          </a:p>
        </p:txBody>
      </p:sp>
      <p:sp>
        <p:nvSpPr>
          <p:cNvPr id="25" name="TextBox 24"/>
          <p:cNvSpPr txBox="1"/>
          <p:nvPr/>
        </p:nvSpPr>
        <p:spPr>
          <a:xfrm>
            <a:off x="6305550" y="2527123"/>
            <a:ext cx="1208943" cy="194310"/>
          </a:xfrm>
          <a:prstGeom prst="rect">
            <a:avLst/>
          </a:prstGeom>
          <a:noFill/>
        </p:spPr>
        <p:txBody>
          <a:bodyPr wrap="none" lIns="0" rIns="0" tIns="0" bIns="0">
            <a:spAutoFit/>
          </a:bodyPr>
          <a:lstStyle/>
          <a:p>
            <a:r>
              <a:rPr sz="1150" b="0">
                <a:solidFill>
                  <a:srgbClr val="2E2E2E"/>
                </a:solidFill>
                <a:latin typeface="Calibri"/>
              </a:rPr>
              <a:t>opportunity of US$</a:t>
            </a:r>
          </a:p>
        </p:txBody>
      </p:sp>
      <p:pic>
        <p:nvPicPr>
          <p:cNvPr id="26" name="Picture 25" descr="lock.png"/>
          <p:cNvPicPr>
            <a:picLocks noChangeAspect="1"/>
          </p:cNvPicPr>
          <p:nvPr/>
        </p:nvPicPr>
        <p:blipFill>
          <a:blip r:embed="rId5"/>
          <a:stretch>
            <a:fillRect/>
          </a:stretch>
        </p:blipFill>
        <p:spPr>
          <a:xfrm>
            <a:off x="7463647" y="2516899"/>
            <a:ext cx="134549" cy="195707"/>
          </a:xfrm>
          <a:prstGeom prst="rect">
            <a:avLst/>
          </a:prstGeom>
        </p:spPr>
      </p:pic>
      <p:sp>
        <p:nvSpPr>
          <p:cNvPr id="27" name="TextBox 26"/>
          <p:cNvSpPr txBox="1"/>
          <p:nvPr/>
        </p:nvSpPr>
        <p:spPr>
          <a:xfrm>
            <a:off x="7638756" y="2527123"/>
            <a:ext cx="4233490" cy="194310"/>
          </a:xfrm>
          <a:prstGeom prst="rect">
            <a:avLst/>
          </a:prstGeom>
          <a:noFill/>
        </p:spPr>
        <p:txBody>
          <a:bodyPr wrap="none" lIns="0" rIns="0" tIns="0" bIns="0">
            <a:spAutoFit/>
          </a:bodyPr>
          <a:lstStyle/>
          <a:p>
            <a:r>
              <a:rPr sz="1150" b="0">
                <a:solidFill>
                  <a:srgbClr val="2E2E2E"/>
                </a:solidFill>
                <a:latin typeface="Calibri"/>
              </a:rPr>
              <a:t>Mn for the overall off-highway vehicle market from 2026 to 2036. The</a:t>
            </a:r>
          </a:p>
        </p:txBody>
      </p:sp>
      <p:sp>
        <p:nvSpPr>
          <p:cNvPr id="28" name="TextBox 27"/>
          <p:cNvSpPr txBox="1"/>
          <p:nvPr/>
        </p:nvSpPr>
        <p:spPr>
          <a:xfrm>
            <a:off x="6305550" y="2702383"/>
            <a:ext cx="5591175" cy="194310"/>
          </a:xfrm>
          <a:prstGeom prst="rect">
            <a:avLst/>
          </a:prstGeom>
          <a:noFill/>
        </p:spPr>
        <p:txBody>
          <a:bodyPr wrap="none" lIns="0" rIns="0" tIns="0" bIns="0">
            <a:spAutoFit/>
          </a:bodyPr>
          <a:lstStyle/>
          <a:p>
            <a:r>
              <a:rPr sz="1150" b="0">
                <a:solidFill>
                  <a:srgbClr val="2E2E2E"/>
                </a:solidFill>
                <a:latin typeface="Calibri"/>
              </a:rPr>
              <a:t>agriculture and forestry vehicles segment is expected to create an incremental opportunity of</a:t>
            </a:r>
          </a:p>
        </p:txBody>
      </p:sp>
      <p:sp>
        <p:nvSpPr>
          <p:cNvPr id="29" name="TextBox 28"/>
          <p:cNvSpPr txBox="1"/>
          <p:nvPr/>
        </p:nvSpPr>
        <p:spPr>
          <a:xfrm>
            <a:off x="6305550" y="2877643"/>
            <a:ext cx="311249" cy="194310"/>
          </a:xfrm>
          <a:prstGeom prst="rect">
            <a:avLst/>
          </a:prstGeom>
          <a:noFill/>
        </p:spPr>
        <p:txBody>
          <a:bodyPr wrap="none" lIns="0" rIns="0" tIns="0" bIns="0">
            <a:spAutoFit/>
          </a:bodyPr>
          <a:lstStyle/>
          <a:p>
            <a:r>
              <a:rPr sz="1150" b="0">
                <a:solidFill>
                  <a:srgbClr val="2E2E2E"/>
                </a:solidFill>
                <a:latin typeface="Calibri"/>
              </a:rPr>
              <a:t>US$</a:t>
            </a:r>
          </a:p>
        </p:txBody>
      </p:sp>
      <p:pic>
        <p:nvPicPr>
          <p:cNvPr id="30" name="Picture 29" descr="lock.png"/>
          <p:cNvPicPr>
            <a:picLocks noChangeAspect="1"/>
          </p:cNvPicPr>
          <p:nvPr/>
        </p:nvPicPr>
        <p:blipFill>
          <a:blip r:embed="rId5"/>
          <a:stretch>
            <a:fillRect/>
          </a:stretch>
        </p:blipFill>
        <p:spPr>
          <a:xfrm>
            <a:off x="6565953" y="2867419"/>
            <a:ext cx="134549" cy="195707"/>
          </a:xfrm>
          <a:prstGeom prst="rect">
            <a:avLst/>
          </a:prstGeom>
        </p:spPr>
      </p:pic>
      <p:sp>
        <p:nvSpPr>
          <p:cNvPr id="31" name="TextBox 30"/>
          <p:cNvSpPr txBox="1"/>
          <p:nvPr/>
        </p:nvSpPr>
        <p:spPr>
          <a:xfrm>
            <a:off x="6741062" y="2877643"/>
            <a:ext cx="3979614" cy="194310"/>
          </a:xfrm>
          <a:prstGeom prst="rect">
            <a:avLst/>
          </a:prstGeom>
          <a:noFill/>
        </p:spPr>
        <p:txBody>
          <a:bodyPr wrap="none" lIns="0" rIns="0" tIns="0" bIns="0">
            <a:spAutoFit/>
          </a:bodyPr>
          <a:lstStyle/>
          <a:p>
            <a:r>
              <a:rPr sz="1150" b="0">
                <a:solidFill>
                  <a:srgbClr val="2E2E2E"/>
                </a:solidFill>
                <a:latin typeface="Calibri"/>
              </a:rPr>
              <a:t>Mn for the overall off-highway vehicle market from 2026 to 2036.</a:t>
            </a:r>
          </a:p>
        </p:txBody>
      </p:sp>
      <p:sp>
        <p:nvSpPr>
          <p:cNvPr id="32" name="lockshield_9"/>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Vehicle Type (US$ Mn)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Type, 2021–2036, highlighting the sub-segments driving growth</a:t>
            </a:r>
          </a:p>
        </p:txBody>
      </p:sp>
      <p:sp>
        <p:nvSpPr>
          <p:cNvPr id="7" name="Rounded Rectangle 6"/>
          <p:cNvSpPr/>
          <p:nvPr/>
        </p:nvSpPr>
        <p:spPr>
          <a:xfrm>
            <a:off x="142875" y="981075"/>
            <a:ext cx="11906250" cy="5638800"/>
          </a:xfrm>
          <a:prstGeom prst="roundRect">
            <a:avLst>
              <a:gd name="adj" fmla="val 13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Vehicle Type (US$ Mn)</a:t>
            </a:r>
          </a:p>
        </p:txBody>
      </p:sp>
      <p:graphicFrame>
        <p:nvGraphicFramePr>
          <p:cNvPr id="9" name="Table 8"/>
          <p:cNvGraphicFramePr>
            <a:graphicFrameLocks noGrp="1"/>
          </p:cNvGraphicFramePr>
          <p:nvPr/>
        </p:nvGraphicFramePr>
        <p:xfrm>
          <a:off x="152400" y="1238250"/>
          <a:ext cx="11887199" cy="5172066"/>
        </p:xfrm>
        <a:graphic>
          <a:graphicData uri="http://schemas.openxmlformats.org/drawingml/2006/table">
            <a:tbl>
              <a:tblPr>
                <a:tableStyleId>{5C22544A-7EE6-4342-B048-85BDC9FD1C3A}</a:tableStyleId>
              </a:tblPr>
              <a:tblGrid>
                <a:gridCol w="2629796"/>
                <a:gridCol w="497969"/>
                <a:gridCol w="497969"/>
                <a:gridCol w="497969"/>
                <a:gridCol w="497969"/>
                <a:gridCol w="497969"/>
                <a:gridCol w="497969"/>
                <a:gridCol w="572683"/>
                <a:gridCol w="572683"/>
                <a:gridCol w="572683"/>
                <a:gridCol w="572683"/>
                <a:gridCol w="572683"/>
                <a:gridCol w="572683"/>
                <a:gridCol w="572683"/>
                <a:gridCol w="572683"/>
                <a:gridCol w="572683"/>
                <a:gridCol w="572683"/>
                <a:gridCol w="542759"/>
              </a:tblGrid>
              <a:tr h="246126">
                <a:tc>
                  <a:txBody>
                    <a:bodyPr wrap="none"/>
                    <a:lstStyle/>
                    <a:p>
                      <a:pPr algn="l"/>
                      <a:r>
                        <a:rPr sz="1100" b="1">
                          <a:solidFill>
                            <a:srgbClr val="0E2A5C"/>
                          </a:solidFill>
                          <a:latin typeface="Calibri"/>
                        </a:rPr>
                        <a:t>Vehicle Type</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2021A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2022A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2023A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2024A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2025A</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2026E</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2027F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2028F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2029F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2030F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2031F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2032F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2033F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2034F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2035F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2036F</a:t>
                      </a:r>
                      <a:endParaRPr sz="1100"/>
                    </a:p>
                  </a:txBody>
                  <a:tcPr marL="38100" marR="28575" marT="19050" marB="19050" anchor="ctr">
                    <a:solidFill>
                      <a:srgbClr val="EBF2F9"/>
                    </a:solidFill>
                  </a:tcPr>
                </a:tc>
                <a:tc>
                  <a:txBody>
                    <a:bodyPr wrap="none"/>
                    <a:lstStyle/>
                    <a:p>
                      <a:pPr algn="ctr"/>
                      <a:r>
                        <a:rPr sz="1100" b="1">
                          <a:solidFill>
                            <a:srgbClr val="0E2A5C"/>
                          </a:solidFill>
                          <a:latin typeface="Calibri"/>
                        </a:rPr>
                        <a:t>F-CAGR</a:t>
                      </a:r>
                      <a:endParaRPr sz="1100"/>
                    </a:p>
                  </a:txBody>
                  <a:tcPr marL="38100" marR="28575" marT="19050" marB="19050" anchor="ctr">
                    <a:solidFill>
                      <a:srgbClr val="EBF2F9"/>
                    </a:solidFill>
                  </a:tcPr>
                </a:tc>
              </a:tr>
              <a:tr h="246297">
                <a:tc>
                  <a:txBody>
                    <a:bodyPr wrap="none"/>
                    <a:lstStyle/>
                    <a:p>
                      <a:pPr algn="l"/>
                      <a:r>
                        <a:rPr sz="1100" b="1">
                          <a:solidFill>
                            <a:srgbClr val="2E2E2E"/>
                          </a:solidFill>
                          <a:latin typeface="Calibri"/>
                        </a:rPr>
                        <a:t>Construction and Mining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 Excavators &amp; Wheel Loaders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Articulated &amp; Rigid Dump Trucks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 Backhoe Loaders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Bulldozers &amp; Crawler Loaders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 Cold Planers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Other Construction and Mining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Agriculture and Forestry Vehicles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Tractors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 Feller Bunchers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Combine and Forage Harvesters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 Forestry Harvesters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Other Agriculture and Forestry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Industrial and Port Vehicles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Rough-Terrain Forklifts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 Aisle Trucks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Automated Guided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 Burden Carriers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r h="246297">
                <a:tc>
                  <a:txBody>
                    <a:bodyPr wrap="none"/>
                    <a:lstStyle/>
                    <a:p>
                      <a:pPr algn="l"/>
                      <a:r>
                        <a:rPr sz="1100" b="1">
                          <a:solidFill>
                            <a:srgbClr val="2E2E2E"/>
                          </a:solidFill>
                          <a:latin typeface="Calibri"/>
                        </a:rPr>
                        <a:t>– Other Industrial and Port Vehicles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6297">
                <a:tc>
                  <a:txBody>
                    <a:bodyPr wrap="none"/>
                    <a:lstStyle/>
                    <a:p>
                      <a:pPr algn="l"/>
                      <a:r>
                        <a:rPr sz="1100" b="1">
                          <a:solidFill>
                            <a:srgbClr val="2E2E2E"/>
                          </a:solidFill>
                          <a:latin typeface="Calibri"/>
                        </a:rPr>
                        <a:t>Recreational and Powersports Vehicles</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c>
                  <a:txBody>
                    <a:bodyPr wrap="none"/>
                    <a:lstStyle/>
                    <a:p>
                      <a:pPr algn="ctr"/>
                      <a:r>
                        <a:rPr sz="1100"/>
                        <a:t> </a:t>
                      </a:r>
                      <a:endParaRPr sz="1100"/>
                    </a:p>
                  </a:txBody>
                  <a:tcPr marL="38100" marR="28575" marT="19050" marB="19050" anchor="ctr">
                    <a:solidFill>
                      <a:srgbClr val="F5F9FD"/>
                    </a:solidFill>
                  </a:tcPr>
                </a:tc>
              </a:tr>
            </a:tbl>
          </a:graphicData>
        </a:graphic>
      </p:graphicFrame>
      <p:sp>
        <p:nvSpPr>
          <p:cNvPr id="10" name="TextBox 9"/>
          <p:cNvSpPr txBox="1"/>
          <p:nvPr/>
        </p:nvSpPr>
        <p:spPr>
          <a:xfrm>
            <a:off x="219075" y="6419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224207" y="3680645"/>
            <a:ext cx="366712" cy="533400"/>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Vehicle Type (US$ Mn)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Type, 2021–2036, highlighting the sub-segments driving growth</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Vehicle Type (US$ Mn)</a:t>
            </a:r>
          </a:p>
        </p:txBody>
      </p:sp>
      <p:graphicFrame>
        <p:nvGraphicFramePr>
          <p:cNvPr id="9" name="Table 8"/>
          <p:cNvGraphicFramePr>
            <a:graphicFrameLocks noGrp="1"/>
          </p:cNvGraphicFramePr>
          <p:nvPr/>
        </p:nvGraphicFramePr>
        <p:xfrm>
          <a:off x="152400" y="1238250"/>
          <a:ext cx="11887192" cy="3200406"/>
        </p:xfrm>
        <a:graphic>
          <a:graphicData uri="http://schemas.openxmlformats.org/drawingml/2006/table">
            <a:tbl>
              <a:tblPr>
                <a:tableStyleId>{5C22544A-7EE6-4342-B048-85BDC9FD1C3A}</a:tableStyleId>
              </a:tblPr>
              <a:tblGrid>
                <a:gridCol w="1895646"/>
                <a:gridCol w="587738"/>
                <a:gridCol w="587738"/>
                <a:gridCol w="587738"/>
                <a:gridCol w="587738"/>
                <a:gridCol w="587738"/>
                <a:gridCol w="587738"/>
                <a:gridCol w="587738"/>
                <a:gridCol w="587738"/>
                <a:gridCol w="587738"/>
                <a:gridCol w="587738"/>
                <a:gridCol w="587738"/>
                <a:gridCol w="587738"/>
                <a:gridCol w="587738"/>
                <a:gridCol w="587738"/>
                <a:gridCol w="587738"/>
                <a:gridCol w="587738"/>
                <a:gridCol w="587738"/>
              </a:tblGrid>
              <a:tr h="246126">
                <a:tc>
                  <a:txBody>
                    <a:bodyPr wrap="none"/>
                    <a:lstStyle/>
                    <a:p>
                      <a:pPr algn="l"/>
                      <a:r>
                        <a:rPr sz="1100" b="1">
                          <a:solidFill>
                            <a:srgbClr val="0E2A5C"/>
                          </a:solidFill>
                          <a:latin typeface="Calibri"/>
                        </a:rPr>
                        <a:t>Vehicle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 All-Terrain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Utility Task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Buggies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Dirt Bikes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Other Recreational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Military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Tanks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Armored Combat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Artillery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Special-Purpose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Other Military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81550"/>
            <a:ext cx="11906250" cy="1847850"/>
          </a:xfrm>
          <a:prstGeom prst="roundRect">
            <a:avLst>
              <a:gd name="adj" fmla="val 412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Vehicle Type</a:t>
            </a:r>
          </a:p>
        </p:txBody>
      </p:sp>
      <p:sp>
        <p:nvSpPr>
          <p:cNvPr id="13" name="Rectangle 12"/>
          <p:cNvSpPr/>
          <p:nvPr/>
        </p:nvSpPr>
        <p:spPr>
          <a:xfrm>
            <a:off x="276225" y="5105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57129" y="2694815"/>
            <a:ext cx="366712" cy="533400"/>
          </a:xfrm>
          <a:prstGeom prst="rect">
            <a:avLst/>
          </a:prstGeom>
        </p:spPr>
      </p:pic>
      <p:sp>
        <p:nvSpPr>
          <p:cNvPr id="18" name="TextBox 17"/>
          <p:cNvSpPr txBox="1"/>
          <p:nvPr/>
        </p:nvSpPr>
        <p:spPr>
          <a:xfrm>
            <a:off x="276225" y="5200650"/>
            <a:ext cx="3968489" cy="194310"/>
          </a:xfrm>
          <a:prstGeom prst="rect">
            <a:avLst/>
          </a:prstGeom>
          <a:noFill/>
        </p:spPr>
        <p:txBody>
          <a:bodyPr wrap="none" lIns="0" rIns="0" tIns="0" bIns="0">
            <a:spAutoFit/>
          </a:bodyPr>
          <a:lstStyle/>
          <a:p>
            <a:r>
              <a:rPr sz="1150" b="0">
                <a:solidFill>
                  <a:srgbClr val="2E2E2E"/>
                </a:solidFill>
                <a:latin typeface="Calibri"/>
              </a:rPr>
              <a:t>Construction and mining vehicles segment is projected to register</a:t>
            </a:r>
          </a:p>
        </p:txBody>
      </p:sp>
      <p:pic>
        <p:nvPicPr>
          <p:cNvPr id="19" name="Picture 18" descr="lock.png"/>
          <p:cNvPicPr>
            <a:picLocks noChangeAspect="1"/>
          </p:cNvPicPr>
          <p:nvPr/>
        </p:nvPicPr>
        <p:blipFill>
          <a:blip r:embed="rId4"/>
          <a:stretch>
            <a:fillRect/>
          </a:stretch>
        </p:blipFill>
        <p:spPr>
          <a:xfrm>
            <a:off x="4193868" y="5190426"/>
            <a:ext cx="134549" cy="195707"/>
          </a:xfrm>
          <a:prstGeom prst="rect">
            <a:avLst/>
          </a:prstGeom>
        </p:spPr>
      </p:pic>
      <p:sp>
        <p:nvSpPr>
          <p:cNvPr id="20" name="TextBox 19"/>
          <p:cNvSpPr txBox="1"/>
          <p:nvPr/>
        </p:nvSpPr>
        <p:spPr>
          <a:xfrm>
            <a:off x="4368977" y="5200650"/>
            <a:ext cx="6831297" cy="194310"/>
          </a:xfrm>
          <a:prstGeom prst="rect">
            <a:avLst/>
          </a:prstGeom>
          <a:noFill/>
        </p:spPr>
        <p:txBody>
          <a:bodyPr wrap="none" lIns="0" rIns="0" tIns="0" bIns="0">
            <a:spAutoFit/>
          </a:bodyPr>
          <a:lstStyle/>
          <a:p>
            <a:r>
              <a:rPr sz="1150" b="0">
                <a:solidFill>
                  <a:srgbClr val="2E2E2E"/>
                </a:solidFill>
                <a:latin typeface="Calibri"/>
              </a:rPr>
              <a:t>X higher value than agriculture and forestry vehicles segment in 2036. Among off-highway vehicle by vehicle type,</a:t>
            </a:r>
          </a:p>
        </p:txBody>
      </p:sp>
      <p:sp>
        <p:nvSpPr>
          <p:cNvPr id="21" name="TextBox 20"/>
          <p:cNvSpPr txBox="1"/>
          <p:nvPr/>
        </p:nvSpPr>
        <p:spPr>
          <a:xfrm>
            <a:off x="276225" y="5375910"/>
            <a:ext cx="5456070" cy="194310"/>
          </a:xfrm>
          <a:prstGeom prst="rect">
            <a:avLst/>
          </a:prstGeom>
          <a:noFill/>
        </p:spPr>
        <p:txBody>
          <a:bodyPr wrap="none" lIns="0" rIns="0" tIns="0" bIns="0">
            <a:spAutoFit/>
          </a:bodyPr>
          <a:lstStyle/>
          <a:p>
            <a:r>
              <a:rPr sz="1150" b="0">
                <a:solidFill>
                  <a:srgbClr val="2E2E2E"/>
                </a:solidFill>
                <a:latin typeface="Calibri"/>
              </a:rPr>
              <a:t>recreational and powersports vehicles segment is expected to witness the highest CAGR of</a:t>
            </a:r>
          </a:p>
        </p:txBody>
      </p:sp>
      <p:pic>
        <p:nvPicPr>
          <p:cNvPr id="22" name="Picture 21" descr="lock.png"/>
          <p:cNvPicPr>
            <a:picLocks noChangeAspect="1"/>
          </p:cNvPicPr>
          <p:nvPr/>
        </p:nvPicPr>
        <p:blipFill>
          <a:blip r:embed="rId4"/>
          <a:stretch>
            <a:fillRect/>
          </a:stretch>
        </p:blipFill>
        <p:spPr>
          <a:xfrm>
            <a:off x="5681449" y="5365686"/>
            <a:ext cx="134549" cy="195707"/>
          </a:xfrm>
          <a:prstGeom prst="rect">
            <a:avLst/>
          </a:prstGeom>
        </p:spPr>
      </p:pic>
      <p:sp>
        <p:nvSpPr>
          <p:cNvPr id="23" name="TextBox 22"/>
          <p:cNvSpPr txBox="1"/>
          <p:nvPr/>
        </p:nvSpPr>
        <p:spPr>
          <a:xfrm>
            <a:off x="5856559" y="53759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5603747"/>
            <a:ext cx="7815994" cy="194310"/>
          </a:xfrm>
          <a:prstGeom prst="rect">
            <a:avLst/>
          </a:prstGeom>
          <a:noFill/>
        </p:spPr>
        <p:txBody>
          <a:bodyPr wrap="none" lIns="0" rIns="0" tIns="0" bIns="0">
            <a:spAutoFit/>
          </a:bodyPr>
          <a:lstStyle/>
          <a:p>
            <a:r>
              <a:rPr sz="1150" b="0">
                <a:solidFill>
                  <a:srgbClr val="2E2E2E"/>
                </a:solidFill>
                <a:latin typeface="Calibri"/>
              </a:rPr>
              <a:t>In terms of value share by vehicle type, the construction and mining vehicles segment is expected to dominate the market, gaining</a:t>
            </a:r>
          </a:p>
        </p:txBody>
      </p:sp>
      <p:pic>
        <p:nvPicPr>
          <p:cNvPr id="25" name="Picture 24" descr="lock.png"/>
          <p:cNvPicPr>
            <a:picLocks noChangeAspect="1"/>
          </p:cNvPicPr>
          <p:nvPr/>
        </p:nvPicPr>
        <p:blipFill>
          <a:blip r:embed="rId4"/>
          <a:stretch>
            <a:fillRect/>
          </a:stretch>
        </p:blipFill>
        <p:spPr>
          <a:xfrm>
            <a:off x="8041373" y="5593524"/>
            <a:ext cx="134549" cy="195707"/>
          </a:xfrm>
          <a:prstGeom prst="rect">
            <a:avLst/>
          </a:prstGeom>
        </p:spPr>
      </p:pic>
      <p:sp>
        <p:nvSpPr>
          <p:cNvPr id="26" name="TextBox 25"/>
          <p:cNvSpPr txBox="1"/>
          <p:nvPr/>
        </p:nvSpPr>
        <p:spPr>
          <a:xfrm>
            <a:off x="8216482" y="56037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611625" y="5593524"/>
            <a:ext cx="134549" cy="195707"/>
          </a:xfrm>
          <a:prstGeom prst="rect">
            <a:avLst/>
          </a:prstGeom>
        </p:spPr>
      </p:pic>
      <p:sp>
        <p:nvSpPr>
          <p:cNvPr id="28" name="TextBox 27"/>
          <p:cNvSpPr txBox="1"/>
          <p:nvPr/>
        </p:nvSpPr>
        <p:spPr>
          <a:xfrm>
            <a:off x="9786734" y="5603747"/>
            <a:ext cx="1687028" cy="194310"/>
          </a:xfrm>
          <a:prstGeom prst="rect">
            <a:avLst/>
          </a:prstGeom>
          <a:noFill/>
        </p:spPr>
        <p:txBody>
          <a:bodyPr wrap="none" lIns="0" rIns="0" tIns="0" bIns="0">
            <a:spAutoFit/>
          </a:bodyPr>
          <a:lstStyle/>
          <a:p>
            <a:r>
              <a:rPr sz="1150" b="0">
                <a:solidFill>
                  <a:srgbClr val="2E2E2E"/>
                </a:solidFill>
                <a:latin typeface="Calibri"/>
              </a:rPr>
              <a:t>share by 2036. The military</a:t>
            </a:r>
          </a:p>
        </p:txBody>
      </p:sp>
      <p:sp>
        <p:nvSpPr>
          <p:cNvPr id="29" name="TextBox 28"/>
          <p:cNvSpPr txBox="1"/>
          <p:nvPr/>
        </p:nvSpPr>
        <p:spPr>
          <a:xfrm>
            <a:off x="276225" y="5779007"/>
            <a:ext cx="2233004" cy="194310"/>
          </a:xfrm>
          <a:prstGeom prst="rect">
            <a:avLst/>
          </a:prstGeom>
          <a:noFill/>
        </p:spPr>
        <p:txBody>
          <a:bodyPr wrap="none" lIns="0" rIns="0" tIns="0" bIns="0">
            <a:spAutoFit/>
          </a:bodyPr>
          <a:lstStyle/>
          <a:p>
            <a:r>
              <a:rPr sz="1150" b="0">
                <a:solidFill>
                  <a:srgbClr val="2E2E2E"/>
                </a:solidFill>
                <a:latin typeface="Calibri"/>
              </a:rPr>
              <a:t>vehicles segment is expected to lose</a:t>
            </a:r>
          </a:p>
        </p:txBody>
      </p:sp>
      <p:pic>
        <p:nvPicPr>
          <p:cNvPr id="30" name="Picture 29" descr="lock.png"/>
          <p:cNvPicPr>
            <a:picLocks noChangeAspect="1"/>
          </p:cNvPicPr>
          <p:nvPr/>
        </p:nvPicPr>
        <p:blipFill>
          <a:blip r:embed="rId4"/>
          <a:stretch>
            <a:fillRect/>
          </a:stretch>
        </p:blipFill>
        <p:spPr>
          <a:xfrm>
            <a:off x="2458383" y="5768784"/>
            <a:ext cx="134549" cy="195707"/>
          </a:xfrm>
          <a:prstGeom prst="rect">
            <a:avLst/>
          </a:prstGeom>
        </p:spPr>
      </p:pic>
      <p:sp>
        <p:nvSpPr>
          <p:cNvPr id="31" name="TextBox 30"/>
          <p:cNvSpPr txBox="1"/>
          <p:nvPr/>
        </p:nvSpPr>
        <p:spPr>
          <a:xfrm>
            <a:off x="2633492" y="57790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220997" y="5768784"/>
            <a:ext cx="134549" cy="195707"/>
          </a:xfrm>
          <a:prstGeom prst="rect">
            <a:avLst/>
          </a:prstGeom>
        </p:spPr>
      </p:pic>
      <p:sp>
        <p:nvSpPr>
          <p:cNvPr id="33" name="TextBox 32"/>
          <p:cNvSpPr txBox="1"/>
          <p:nvPr/>
        </p:nvSpPr>
        <p:spPr>
          <a:xfrm>
            <a:off x="5396106" y="57790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Vehicle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Vehicle Type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Vehicle Type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976587"/>
            <a:ext cx="85725" cy="85725"/>
          </a:xfrm>
          <a:prstGeom prst="rect">
            <a:avLst/>
          </a:prstGeom>
          <a:solidFill>
            <a:srgbClr val="F47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97182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895625"/>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Industrial and Port Vehicles</a:t>
            </a:r>
          </a:p>
        </p:txBody>
      </p:sp>
      <p:sp>
        <p:nvSpPr>
          <p:cNvPr id="15" name="BPS Value 1"/>
          <p:cNvSpPr txBox="1"/>
          <p:nvPr/>
        </p:nvSpPr>
        <p:spPr>
          <a:xfrm>
            <a:off x="6896100" y="1957537"/>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68607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68130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60510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Recreational and Powersports Vehicles</a:t>
            </a:r>
          </a:p>
        </p:txBody>
      </p:sp>
      <p:sp>
        <p:nvSpPr>
          <p:cNvPr id="19" name="BPS Value 2"/>
          <p:cNvSpPr txBox="1"/>
          <p:nvPr/>
        </p:nvSpPr>
        <p:spPr>
          <a:xfrm>
            <a:off x="6896100" y="266702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3536221"/>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53145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45525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Military Vehicles</a:t>
            </a:r>
          </a:p>
        </p:txBody>
      </p:sp>
      <p:sp>
        <p:nvSpPr>
          <p:cNvPr id="23" name="BPS Value 3"/>
          <p:cNvSpPr txBox="1"/>
          <p:nvPr/>
        </p:nvSpPr>
        <p:spPr>
          <a:xfrm>
            <a:off x="6896100" y="351717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928997" y="4473139"/>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rot="10800000">
            <a:off x="5090922" y="446837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43921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Agriculture and Forestry Vehicles</a:t>
            </a:r>
          </a:p>
        </p:txBody>
      </p:sp>
      <p:sp>
        <p:nvSpPr>
          <p:cNvPr id="27" name="BPS Value 4"/>
          <p:cNvSpPr txBox="1"/>
          <p:nvPr/>
        </p:nvSpPr>
        <p:spPr>
          <a:xfrm>
            <a:off x="6896100" y="445408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8" name="TMR Legend Chip"/>
          <p:cNvSpPr/>
          <p:nvPr/>
        </p:nvSpPr>
        <p:spPr>
          <a:xfrm>
            <a:off x="4928997" y="5603849"/>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sosceles Triangle 28"/>
          <p:cNvSpPr/>
          <p:nvPr/>
        </p:nvSpPr>
        <p:spPr>
          <a:xfrm>
            <a:off x="5090922" y="559908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PS Name 5"/>
          <p:cNvSpPr txBox="1"/>
          <p:nvPr/>
        </p:nvSpPr>
        <p:spPr>
          <a:xfrm>
            <a:off x="5233797" y="552288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Construction and Mining Vehicles</a:t>
            </a:r>
          </a:p>
        </p:txBody>
      </p:sp>
      <p:sp>
        <p:nvSpPr>
          <p:cNvPr id="31" name="BPS Value 5"/>
          <p:cNvSpPr txBox="1"/>
          <p:nvPr/>
        </p:nvSpPr>
        <p:spPr>
          <a:xfrm>
            <a:off x="6896100" y="558479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2" name="Rounded Rectangle 31"/>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Vehicle Type</a:t>
            </a:r>
          </a:p>
        </p:txBody>
      </p:sp>
      <p:sp>
        <p:nvSpPr>
          <p:cNvPr id="34" name="Rectangle 33"/>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6" name="Rectangle 3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8" name="Picture 37" descr="lock.png"/>
          <p:cNvPicPr>
            <a:picLocks noChangeAspect="1"/>
          </p:cNvPicPr>
          <p:nvPr/>
        </p:nvPicPr>
        <p:blipFill>
          <a:blip r:embed="rId5"/>
          <a:stretch>
            <a:fillRect/>
          </a:stretch>
        </p:blipFill>
        <p:spPr>
          <a:xfrm>
            <a:off x="2557843" y="3833622"/>
            <a:ext cx="275034" cy="400050"/>
          </a:xfrm>
          <a:prstGeom prst="rect">
            <a:avLst/>
          </a:prstGeom>
        </p:spPr>
      </p:pic>
      <p:sp>
        <p:nvSpPr>
          <p:cNvPr id="39" name="TextBox 38"/>
          <p:cNvSpPr txBox="1"/>
          <p:nvPr/>
        </p:nvSpPr>
        <p:spPr>
          <a:xfrm>
            <a:off x="7829550" y="1400175"/>
            <a:ext cx="3660130" cy="194310"/>
          </a:xfrm>
          <a:prstGeom prst="rect">
            <a:avLst/>
          </a:prstGeom>
          <a:noFill/>
        </p:spPr>
        <p:txBody>
          <a:bodyPr wrap="none" lIns="0" rIns="0" tIns="0" bIns="0">
            <a:spAutoFit/>
          </a:bodyPr>
          <a:lstStyle/>
          <a:p>
            <a:r>
              <a:rPr sz="1150" b="0">
                <a:solidFill>
                  <a:srgbClr val="2E2E2E"/>
                </a:solidFill>
                <a:latin typeface="Calibri"/>
              </a:rPr>
              <a:t>Among off-highway vehicle by vehicle type, recreational and</a:t>
            </a:r>
          </a:p>
        </p:txBody>
      </p:sp>
      <p:sp>
        <p:nvSpPr>
          <p:cNvPr id="40" name="TextBox 39"/>
          <p:cNvSpPr txBox="1"/>
          <p:nvPr/>
        </p:nvSpPr>
        <p:spPr>
          <a:xfrm>
            <a:off x="7829550" y="1575435"/>
            <a:ext cx="3925701" cy="194310"/>
          </a:xfrm>
          <a:prstGeom prst="rect">
            <a:avLst/>
          </a:prstGeom>
          <a:noFill/>
        </p:spPr>
        <p:txBody>
          <a:bodyPr wrap="none" lIns="0" rIns="0" tIns="0" bIns="0">
            <a:spAutoFit/>
          </a:bodyPr>
          <a:lstStyle/>
          <a:p>
            <a:r>
              <a:rPr sz="1150" b="0">
                <a:solidFill>
                  <a:srgbClr val="2E2E2E"/>
                </a:solidFill>
                <a:latin typeface="Calibri"/>
              </a:rPr>
              <a:t>powersports vehicles segment is expected to witness the highest</a:t>
            </a:r>
          </a:p>
        </p:txBody>
      </p:sp>
      <p:sp>
        <p:nvSpPr>
          <p:cNvPr id="41" name="TextBox 40"/>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2" name="Picture 41" descr="lock.png"/>
          <p:cNvPicPr>
            <a:picLocks noChangeAspect="1"/>
          </p:cNvPicPr>
          <p:nvPr/>
        </p:nvPicPr>
        <p:blipFill>
          <a:blip r:embed="rId5"/>
          <a:stretch>
            <a:fillRect/>
          </a:stretch>
        </p:blipFill>
        <p:spPr>
          <a:xfrm>
            <a:off x="8343240" y="1740471"/>
            <a:ext cx="134549" cy="195707"/>
          </a:xfrm>
          <a:prstGeom prst="rect">
            <a:avLst/>
          </a:prstGeom>
        </p:spPr>
      </p:pic>
      <p:sp>
        <p:nvSpPr>
          <p:cNvPr id="43" name="TextBox 42"/>
          <p:cNvSpPr txBox="1"/>
          <p:nvPr/>
        </p:nvSpPr>
        <p:spPr>
          <a:xfrm>
            <a:off x="8518350" y="1750695"/>
            <a:ext cx="3118147"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a:t>
            </a:r>
          </a:p>
        </p:txBody>
      </p:sp>
      <p:sp>
        <p:nvSpPr>
          <p:cNvPr id="44" name="TextBox 43"/>
          <p:cNvSpPr txBox="1"/>
          <p:nvPr/>
        </p:nvSpPr>
        <p:spPr>
          <a:xfrm>
            <a:off x="7829550" y="1925955"/>
            <a:ext cx="3714328" cy="194310"/>
          </a:xfrm>
          <a:prstGeom prst="rect">
            <a:avLst/>
          </a:prstGeom>
          <a:noFill/>
        </p:spPr>
        <p:txBody>
          <a:bodyPr wrap="none" lIns="0" rIns="0" tIns="0" bIns="0">
            <a:spAutoFit/>
          </a:bodyPr>
          <a:lstStyle/>
          <a:p>
            <a:r>
              <a:rPr sz="1150" b="0">
                <a:solidFill>
                  <a:srgbClr val="2E2E2E"/>
                </a:solidFill>
                <a:latin typeface="Calibri"/>
              </a:rPr>
              <a:t>vehicle type, the construction and mining vehicles segment is</a:t>
            </a:r>
          </a:p>
        </p:txBody>
      </p:sp>
      <p:sp>
        <p:nvSpPr>
          <p:cNvPr id="45" name="TextBox 44"/>
          <p:cNvSpPr txBox="1"/>
          <p:nvPr/>
        </p:nvSpPr>
        <p:spPr>
          <a:xfrm>
            <a:off x="7829550" y="2101215"/>
            <a:ext cx="2575309" cy="194310"/>
          </a:xfrm>
          <a:prstGeom prst="rect">
            <a:avLst/>
          </a:prstGeom>
          <a:noFill/>
        </p:spPr>
        <p:txBody>
          <a:bodyPr wrap="none" lIns="0" rIns="0" tIns="0" bIns="0">
            <a:spAutoFit/>
          </a:bodyPr>
          <a:lstStyle/>
          <a:p>
            <a:r>
              <a:rPr sz="1150" b="0">
                <a:solidFill>
                  <a:srgbClr val="2E2E2E"/>
                </a:solidFill>
                <a:latin typeface="Calibri"/>
              </a:rPr>
              <a:t>expected to dominate the market, gaining</a:t>
            </a:r>
          </a:p>
        </p:txBody>
      </p:sp>
      <p:pic>
        <p:nvPicPr>
          <p:cNvPr id="46" name="Picture 45" descr="lock.png"/>
          <p:cNvPicPr>
            <a:picLocks noChangeAspect="1"/>
          </p:cNvPicPr>
          <p:nvPr/>
        </p:nvPicPr>
        <p:blipFill>
          <a:blip r:embed="rId5"/>
          <a:stretch>
            <a:fillRect/>
          </a:stretch>
        </p:blipFill>
        <p:spPr>
          <a:xfrm>
            <a:off x="10354013" y="2090991"/>
            <a:ext cx="134549" cy="195707"/>
          </a:xfrm>
          <a:prstGeom prst="rect">
            <a:avLst/>
          </a:prstGeom>
        </p:spPr>
      </p:pic>
      <p:sp>
        <p:nvSpPr>
          <p:cNvPr id="47" name="TextBox 46"/>
          <p:cNvSpPr txBox="1"/>
          <p:nvPr/>
        </p:nvSpPr>
        <p:spPr>
          <a:xfrm>
            <a:off x="10529122" y="2101215"/>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48" name="TextBox 47"/>
          <p:cNvSpPr txBox="1"/>
          <p:nvPr/>
        </p:nvSpPr>
        <p:spPr>
          <a:xfrm>
            <a:off x="7829550" y="2276475"/>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49" name="Picture 48" descr="lock.png"/>
          <p:cNvPicPr>
            <a:picLocks noChangeAspect="1"/>
          </p:cNvPicPr>
          <p:nvPr/>
        </p:nvPicPr>
        <p:blipFill>
          <a:blip r:embed="rId5"/>
          <a:stretch>
            <a:fillRect/>
          </a:stretch>
        </p:blipFill>
        <p:spPr>
          <a:xfrm>
            <a:off x="8027482" y="2266251"/>
            <a:ext cx="134549" cy="195707"/>
          </a:xfrm>
          <a:prstGeom prst="rect">
            <a:avLst/>
          </a:prstGeom>
        </p:spPr>
      </p:pic>
      <p:sp>
        <p:nvSpPr>
          <p:cNvPr id="50" name="TextBox 49"/>
          <p:cNvSpPr txBox="1"/>
          <p:nvPr/>
        </p:nvSpPr>
        <p:spPr>
          <a:xfrm>
            <a:off x="8202591"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TextBox 50"/>
          <p:cNvSpPr txBox="1"/>
          <p:nvPr/>
        </p:nvSpPr>
        <p:spPr>
          <a:xfrm>
            <a:off x="7829550" y="2504313"/>
            <a:ext cx="2973809" cy="194310"/>
          </a:xfrm>
          <a:prstGeom prst="rect">
            <a:avLst/>
          </a:prstGeom>
          <a:noFill/>
        </p:spPr>
        <p:txBody>
          <a:bodyPr wrap="none" lIns="0" rIns="0" tIns="0" bIns="0">
            <a:spAutoFit/>
          </a:bodyPr>
          <a:lstStyle/>
          <a:p>
            <a:r>
              <a:rPr sz="1150" b="0">
                <a:solidFill>
                  <a:srgbClr val="2E2E2E"/>
                </a:solidFill>
                <a:latin typeface="Calibri"/>
              </a:rPr>
              <a:t>The military vehicles segment is expected to lose</a:t>
            </a:r>
          </a:p>
        </p:txBody>
      </p:sp>
      <p:pic>
        <p:nvPicPr>
          <p:cNvPr id="52" name="Picture 51" descr="lock.png"/>
          <p:cNvPicPr>
            <a:picLocks noChangeAspect="1"/>
          </p:cNvPicPr>
          <p:nvPr/>
        </p:nvPicPr>
        <p:blipFill>
          <a:blip r:embed="rId5"/>
          <a:stretch>
            <a:fillRect/>
          </a:stretch>
        </p:blipFill>
        <p:spPr>
          <a:xfrm>
            <a:off x="10752513" y="2494089"/>
            <a:ext cx="134549" cy="195707"/>
          </a:xfrm>
          <a:prstGeom prst="rect">
            <a:avLst/>
          </a:prstGeom>
        </p:spPr>
      </p:pic>
      <p:sp>
        <p:nvSpPr>
          <p:cNvPr id="53" name="TextBox 52"/>
          <p:cNvSpPr txBox="1"/>
          <p:nvPr/>
        </p:nvSpPr>
        <p:spPr>
          <a:xfrm>
            <a:off x="10927622" y="2504313"/>
            <a:ext cx="829840" cy="194310"/>
          </a:xfrm>
          <a:prstGeom prst="rect">
            <a:avLst/>
          </a:prstGeom>
          <a:noFill/>
        </p:spPr>
        <p:txBody>
          <a:bodyPr wrap="none" lIns="0" rIns="0" tIns="0" bIns="0">
            <a:spAutoFit/>
          </a:bodyPr>
          <a:lstStyle/>
          <a:p>
            <a:r>
              <a:rPr sz="1150" b="0">
                <a:solidFill>
                  <a:srgbClr val="2E2E2E"/>
                </a:solidFill>
                <a:latin typeface="Calibri"/>
              </a:rPr>
              <a:t>BPS over the</a:t>
            </a:r>
          </a:p>
        </p:txBody>
      </p:sp>
      <p:sp>
        <p:nvSpPr>
          <p:cNvPr id="54" name="TextBox 53"/>
          <p:cNvSpPr txBox="1"/>
          <p:nvPr/>
        </p:nvSpPr>
        <p:spPr>
          <a:xfrm>
            <a:off x="7829550" y="2679573"/>
            <a:ext cx="1851620" cy="194310"/>
          </a:xfrm>
          <a:prstGeom prst="rect">
            <a:avLst/>
          </a:prstGeom>
          <a:noFill/>
        </p:spPr>
        <p:txBody>
          <a:bodyPr wrap="none" lIns="0" rIns="0" tIns="0" bIns="0">
            <a:spAutoFit/>
          </a:bodyPr>
          <a:lstStyle/>
          <a:p>
            <a:r>
              <a:rPr sz="1150" b="0">
                <a:solidFill>
                  <a:srgbClr val="2E2E2E"/>
                </a:solidFill>
                <a:latin typeface="Calibri"/>
              </a:rPr>
              <a:t>forecast period to account for</a:t>
            </a:r>
          </a:p>
        </p:txBody>
      </p:sp>
      <p:pic>
        <p:nvPicPr>
          <p:cNvPr id="55" name="Picture 54" descr="lock.png"/>
          <p:cNvPicPr>
            <a:picLocks noChangeAspect="1"/>
          </p:cNvPicPr>
          <p:nvPr/>
        </p:nvPicPr>
        <p:blipFill>
          <a:blip r:embed="rId5"/>
          <a:stretch>
            <a:fillRect/>
          </a:stretch>
        </p:blipFill>
        <p:spPr>
          <a:xfrm>
            <a:off x="9630324" y="2669349"/>
            <a:ext cx="134549" cy="195707"/>
          </a:xfrm>
          <a:prstGeom prst="rect">
            <a:avLst/>
          </a:prstGeom>
        </p:spPr>
      </p:pic>
      <p:sp>
        <p:nvSpPr>
          <p:cNvPr id="56" name="TextBox 55"/>
          <p:cNvSpPr txBox="1"/>
          <p:nvPr/>
        </p:nvSpPr>
        <p:spPr>
          <a:xfrm>
            <a:off x="9805433"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7"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Powertrain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Powertrain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Powertrain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Powertrain,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Powertrain segment categorizes the market by powertrain.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Battery Electric Vehicle</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Alternative Fuel ICE</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Hybrid Powertrain</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Internal Combustion Engine</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Powertrain split shows how demand is distributed across powertrain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124_360_605E5C.png"/>
          <p:cNvPicPr>
            <a:picLocks noChangeAspect="1"/>
          </p:cNvPicPr>
          <p:nvPr/>
        </p:nvPicPr>
        <p:blipFill>
          <a:blip r:embed="rId4"/>
          <a:stretch>
            <a:fillRect/>
          </a:stretch>
        </p:blipFill>
        <p:spPr>
          <a:xfrm>
            <a:off x="2259806" y="2286582"/>
            <a:ext cx="1628775" cy="361950"/>
          </a:xfrm>
          <a:prstGeom prst="rect">
            <a:avLst/>
          </a:prstGeom>
        </p:spPr>
      </p:pic>
      <p:pic>
        <p:nvPicPr>
          <p:cNvPr id="62" name="Picture 61" descr="225_089_605E5C.png"/>
          <p:cNvPicPr>
            <a:picLocks noChangeAspect="1"/>
          </p:cNvPicPr>
          <p:nvPr/>
        </p:nvPicPr>
        <p:blipFill>
          <a:blip r:embed="rId5"/>
          <a:stretch>
            <a:fillRect/>
          </a:stretch>
        </p:blipFill>
        <p:spPr>
          <a:xfrm>
            <a:off x="2259806" y="2779432"/>
            <a:ext cx="1628775" cy="361950"/>
          </a:xfrm>
          <a:prstGeom prst="rect">
            <a:avLst/>
          </a:prstGeom>
        </p:spPr>
      </p:pic>
      <p:pic>
        <p:nvPicPr>
          <p:cNvPr id="63" name="Picture 62" descr="6_1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114_123_605E5C.png"/>
          <p:cNvPicPr>
            <a:picLocks noChangeAspect="1"/>
          </p:cNvPicPr>
          <p:nvPr/>
        </p:nvPicPr>
        <p:blipFill>
          <a:blip r:embed="rId7"/>
          <a:stretch>
            <a:fillRect/>
          </a:stretch>
        </p:blipFill>
        <p:spPr>
          <a:xfrm>
            <a:off x="4788694" y="2286582"/>
            <a:ext cx="1628775" cy="361950"/>
          </a:xfrm>
          <a:prstGeom prst="rect">
            <a:avLst/>
          </a:prstGeom>
        </p:spPr>
      </p:pic>
      <p:pic>
        <p:nvPicPr>
          <p:cNvPr id="65" name="Picture 64" descr="169_341_605E5C.png"/>
          <p:cNvPicPr>
            <a:picLocks noChangeAspect="1"/>
          </p:cNvPicPr>
          <p:nvPr/>
        </p:nvPicPr>
        <p:blipFill>
          <a:blip r:embed="rId8"/>
          <a:stretch>
            <a:fillRect/>
          </a:stretch>
        </p:blipFill>
        <p:spPr>
          <a:xfrm>
            <a:off x="4788694" y="2779432"/>
            <a:ext cx="1628775" cy="361950"/>
          </a:xfrm>
          <a:prstGeom prst="rect">
            <a:avLst/>
          </a:prstGeom>
        </p:spPr>
      </p:pic>
      <p:pic>
        <p:nvPicPr>
          <p:cNvPr id="66" name="Picture 65" descr="4_0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78_254_605E5C.png"/>
          <p:cNvPicPr>
            <a:picLocks noChangeAspect="1"/>
          </p:cNvPicPr>
          <p:nvPr/>
        </p:nvPicPr>
        <p:blipFill>
          <a:blip r:embed="rId10"/>
          <a:stretch>
            <a:fillRect/>
          </a:stretch>
        </p:blipFill>
        <p:spPr>
          <a:xfrm>
            <a:off x="7427459" y="2286582"/>
            <a:ext cx="1409020" cy="361950"/>
          </a:xfrm>
          <a:prstGeom prst="rect">
            <a:avLst/>
          </a:prstGeom>
        </p:spPr>
      </p:pic>
      <p:pic>
        <p:nvPicPr>
          <p:cNvPr id="68" name="Picture 67" descr="82_332_605E5C.png"/>
          <p:cNvPicPr>
            <a:picLocks noChangeAspect="1"/>
          </p:cNvPicPr>
          <p:nvPr/>
        </p:nvPicPr>
        <p:blipFill>
          <a:blip r:embed="rId11"/>
          <a:stretch>
            <a:fillRect/>
          </a:stretch>
        </p:blipFill>
        <p:spPr>
          <a:xfrm>
            <a:off x="7427459" y="2779432"/>
            <a:ext cx="1409020" cy="361950"/>
          </a:xfrm>
          <a:prstGeom prst="rect">
            <a:avLst/>
          </a:prstGeom>
        </p:spPr>
      </p:pic>
      <p:pic>
        <p:nvPicPr>
          <p:cNvPr id="69" name="Picture 68" descr="0_5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63_154_605E5C.png"/>
          <p:cNvPicPr>
            <a:picLocks noChangeAspect="1"/>
          </p:cNvPicPr>
          <p:nvPr/>
        </p:nvPicPr>
        <p:blipFill>
          <a:blip r:embed="rId13"/>
          <a:stretch>
            <a:fillRect/>
          </a:stretch>
        </p:blipFill>
        <p:spPr>
          <a:xfrm>
            <a:off x="9956346" y="2286582"/>
            <a:ext cx="1409020" cy="361950"/>
          </a:xfrm>
          <a:prstGeom prst="rect">
            <a:avLst/>
          </a:prstGeom>
        </p:spPr>
      </p:pic>
      <p:pic>
        <p:nvPicPr>
          <p:cNvPr id="71" name="Picture 70" descr="86_794_605E5C.png"/>
          <p:cNvPicPr>
            <a:picLocks noChangeAspect="1"/>
          </p:cNvPicPr>
          <p:nvPr/>
        </p:nvPicPr>
        <p:blipFill>
          <a:blip r:embed="rId14"/>
          <a:stretch>
            <a:fillRect/>
          </a:stretch>
        </p:blipFill>
        <p:spPr>
          <a:xfrm>
            <a:off x="9956346" y="2779432"/>
            <a:ext cx="1409020" cy="361950"/>
          </a:xfrm>
          <a:prstGeom prst="rect">
            <a:avLst/>
          </a:prstGeom>
        </p:spPr>
      </p:pic>
      <p:pic>
        <p:nvPicPr>
          <p:cNvPr id="72" name="Picture 71" descr="3_2__605E5C.png"/>
          <p:cNvPicPr>
            <a:picLocks noChangeAspect="1"/>
          </p:cNvPicPr>
          <p:nvPr/>
        </p:nvPicPr>
        <p:blipFill>
          <a:blip r:embed="rId15"/>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6"/>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6"/>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6"/>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10567511" y="2827057"/>
            <a:ext cx="183356" cy="266700"/>
          </a:xfrm>
          <a:prstGeom prst="rect">
            <a:avLst/>
          </a:prstGeom>
        </p:spPr>
      </p:pic>
      <p:sp>
        <p:nvSpPr>
          <p:cNvPr id="77" name="TextBox 76"/>
          <p:cNvSpPr txBox="1"/>
          <p:nvPr/>
        </p:nvSpPr>
        <p:spPr>
          <a:xfrm>
            <a:off x="485775" y="4229437"/>
            <a:ext cx="2914650" cy="186689"/>
          </a:xfrm>
          <a:prstGeom prst="rect">
            <a:avLst/>
          </a:prstGeom>
          <a:noFill/>
        </p:spPr>
        <p:txBody>
          <a:bodyPr wrap="none" lIns="0" rIns="0" tIns="0" bIns="0">
            <a:spAutoFit/>
          </a:bodyPr>
          <a:lstStyle/>
          <a:p>
            <a:r>
              <a:rPr sz="1100" b="0">
                <a:solidFill>
                  <a:srgbClr val="2E2E2E"/>
                </a:solidFill>
                <a:latin typeface="Calibri"/>
              </a:rPr>
              <a:t>Among off-highway vehicle by powertrain, battery</a:t>
            </a:r>
          </a:p>
        </p:txBody>
      </p:sp>
      <p:sp>
        <p:nvSpPr>
          <p:cNvPr id="78" name="TextBox 77"/>
          <p:cNvSpPr txBox="1"/>
          <p:nvPr/>
        </p:nvSpPr>
        <p:spPr>
          <a:xfrm>
            <a:off x="485775" y="4397077"/>
            <a:ext cx="2612355" cy="186689"/>
          </a:xfrm>
          <a:prstGeom prst="rect">
            <a:avLst/>
          </a:prstGeom>
          <a:noFill/>
        </p:spPr>
        <p:txBody>
          <a:bodyPr wrap="none" lIns="0" rIns="0" tIns="0" bIns="0">
            <a:spAutoFit/>
          </a:bodyPr>
          <a:lstStyle/>
          <a:p>
            <a:r>
              <a:rPr sz="1100" b="0">
                <a:solidFill>
                  <a:srgbClr val="2E2E2E"/>
                </a:solidFill>
                <a:latin typeface="Calibri"/>
              </a:rPr>
              <a:t>electric vehicle (BEV) segment is expected to</a:t>
            </a:r>
          </a:p>
        </p:txBody>
      </p:sp>
      <p:sp>
        <p:nvSpPr>
          <p:cNvPr id="79" name="TextBox 78"/>
          <p:cNvSpPr txBox="1"/>
          <p:nvPr/>
        </p:nvSpPr>
        <p:spPr>
          <a:xfrm>
            <a:off x="485775" y="4564717"/>
            <a:ext cx="1675093" cy="186689"/>
          </a:xfrm>
          <a:prstGeom prst="rect">
            <a:avLst/>
          </a:prstGeom>
          <a:noFill/>
        </p:spPr>
        <p:txBody>
          <a:bodyPr wrap="none" lIns="0" rIns="0" tIns="0" bIns="0">
            <a:spAutoFit/>
          </a:bodyPr>
          <a:lstStyle/>
          <a:p>
            <a:r>
              <a:rPr sz="1100" b="0">
                <a:solidFill>
                  <a:srgbClr val="2E2E2E"/>
                </a:solidFill>
                <a:latin typeface="Calibri"/>
              </a:rPr>
              <a:t>witness the highest CAGR of</a:t>
            </a:r>
          </a:p>
        </p:txBody>
      </p:sp>
      <p:pic>
        <p:nvPicPr>
          <p:cNvPr id="80" name="Picture 79" descr="lock.png"/>
          <p:cNvPicPr>
            <a:picLocks noChangeAspect="1"/>
          </p:cNvPicPr>
          <p:nvPr/>
        </p:nvPicPr>
        <p:blipFill>
          <a:blip r:embed="rId16"/>
          <a:stretch>
            <a:fillRect/>
          </a:stretch>
        </p:blipFill>
        <p:spPr>
          <a:xfrm>
            <a:off x="2108919" y="4554938"/>
            <a:ext cx="128699" cy="187198"/>
          </a:xfrm>
          <a:prstGeom prst="rect">
            <a:avLst/>
          </a:prstGeom>
        </p:spPr>
      </p:pic>
      <p:sp>
        <p:nvSpPr>
          <p:cNvPr id="81" name="TextBox 80"/>
          <p:cNvSpPr txBox="1"/>
          <p:nvPr/>
        </p:nvSpPr>
        <p:spPr>
          <a:xfrm>
            <a:off x="2276415" y="4564717"/>
            <a:ext cx="1046733" cy="186689"/>
          </a:xfrm>
          <a:prstGeom prst="rect">
            <a:avLst/>
          </a:prstGeom>
          <a:noFill/>
        </p:spPr>
        <p:txBody>
          <a:bodyPr wrap="none" lIns="0" rIns="0" tIns="0" bIns="0">
            <a:spAutoFit/>
          </a:bodyPr>
          <a:lstStyle/>
          <a:p>
            <a:r>
              <a:rPr sz="1100" b="0">
                <a:solidFill>
                  <a:srgbClr val="2E2E2E"/>
                </a:solidFill>
                <a:latin typeface="Calibri"/>
              </a:rPr>
              <a:t>over the forecast</a:t>
            </a:r>
          </a:p>
        </p:txBody>
      </p:sp>
      <p:sp>
        <p:nvSpPr>
          <p:cNvPr id="82" name="TextBox 81"/>
          <p:cNvSpPr txBox="1"/>
          <p:nvPr/>
        </p:nvSpPr>
        <p:spPr>
          <a:xfrm>
            <a:off x="485775" y="4732357"/>
            <a:ext cx="2905397" cy="186689"/>
          </a:xfrm>
          <a:prstGeom prst="rect">
            <a:avLst/>
          </a:prstGeom>
          <a:noFill/>
        </p:spPr>
        <p:txBody>
          <a:bodyPr wrap="none" lIns="0" rIns="0" tIns="0" bIns="0">
            <a:spAutoFit/>
          </a:bodyPr>
          <a:lstStyle/>
          <a:p>
            <a:r>
              <a:rPr sz="1100" b="0">
                <a:solidFill>
                  <a:srgbClr val="2E2E2E"/>
                </a:solidFill>
                <a:latin typeface="Calibri"/>
              </a:rPr>
              <a:t>period. In terms of value share by powertrain, the</a:t>
            </a:r>
          </a:p>
        </p:txBody>
      </p:sp>
      <p:sp>
        <p:nvSpPr>
          <p:cNvPr id="83" name="TextBox 82"/>
          <p:cNvSpPr txBox="1"/>
          <p:nvPr/>
        </p:nvSpPr>
        <p:spPr>
          <a:xfrm>
            <a:off x="485775" y="4899997"/>
            <a:ext cx="2907580" cy="186689"/>
          </a:xfrm>
          <a:prstGeom prst="rect">
            <a:avLst/>
          </a:prstGeom>
          <a:noFill/>
        </p:spPr>
        <p:txBody>
          <a:bodyPr wrap="none" lIns="0" rIns="0" tIns="0" bIns="0">
            <a:spAutoFit/>
          </a:bodyPr>
          <a:lstStyle/>
          <a:p>
            <a:r>
              <a:rPr sz="1100" b="0">
                <a:solidFill>
                  <a:srgbClr val="2E2E2E"/>
                </a:solidFill>
                <a:latin typeface="Calibri"/>
              </a:rPr>
              <a:t>battery electric vehicle (BEV) segment is expected</a:t>
            </a:r>
          </a:p>
        </p:txBody>
      </p:sp>
      <p:sp>
        <p:nvSpPr>
          <p:cNvPr id="84" name="TextBox 83"/>
          <p:cNvSpPr txBox="1"/>
          <p:nvPr/>
        </p:nvSpPr>
        <p:spPr>
          <a:xfrm>
            <a:off x="485775" y="5067637"/>
            <a:ext cx="1912763" cy="186689"/>
          </a:xfrm>
          <a:prstGeom prst="rect">
            <a:avLst/>
          </a:prstGeom>
          <a:noFill/>
        </p:spPr>
        <p:txBody>
          <a:bodyPr wrap="none" lIns="0" rIns="0" tIns="0" bIns="0">
            <a:spAutoFit/>
          </a:bodyPr>
          <a:lstStyle/>
          <a:p>
            <a:r>
              <a:rPr sz="1100" b="0">
                <a:solidFill>
                  <a:srgbClr val="2E2E2E"/>
                </a:solidFill>
                <a:latin typeface="Calibri"/>
              </a:rPr>
              <a:t>to dominate the market, gaining</a:t>
            </a:r>
          </a:p>
        </p:txBody>
      </p:sp>
      <p:pic>
        <p:nvPicPr>
          <p:cNvPr id="85" name="Picture 84" descr="lock.png"/>
          <p:cNvPicPr>
            <a:picLocks noChangeAspect="1"/>
          </p:cNvPicPr>
          <p:nvPr/>
        </p:nvPicPr>
        <p:blipFill>
          <a:blip r:embed="rId16"/>
          <a:stretch>
            <a:fillRect/>
          </a:stretch>
        </p:blipFill>
        <p:spPr>
          <a:xfrm>
            <a:off x="2346590" y="5057858"/>
            <a:ext cx="128699" cy="187198"/>
          </a:xfrm>
          <a:prstGeom prst="rect">
            <a:avLst/>
          </a:prstGeom>
        </p:spPr>
      </p:pic>
      <p:sp>
        <p:nvSpPr>
          <p:cNvPr id="86" name="TextBox 85"/>
          <p:cNvSpPr txBox="1"/>
          <p:nvPr/>
        </p:nvSpPr>
        <p:spPr>
          <a:xfrm>
            <a:off x="2514086" y="5067637"/>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87" name="TextBox 86"/>
          <p:cNvSpPr txBox="1"/>
          <p:nvPr/>
        </p:nvSpPr>
        <p:spPr>
          <a:xfrm>
            <a:off x="485775" y="5235277"/>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88" name="Picture 87" descr="lock.png"/>
          <p:cNvPicPr>
            <a:picLocks noChangeAspect="1"/>
          </p:cNvPicPr>
          <p:nvPr/>
        </p:nvPicPr>
        <p:blipFill>
          <a:blip r:embed="rId16"/>
          <a:stretch>
            <a:fillRect/>
          </a:stretch>
        </p:blipFill>
        <p:spPr>
          <a:xfrm>
            <a:off x="1330764" y="5225498"/>
            <a:ext cx="128699" cy="187198"/>
          </a:xfrm>
          <a:prstGeom prst="rect">
            <a:avLst/>
          </a:prstGeom>
        </p:spPr>
      </p:pic>
      <p:sp>
        <p:nvSpPr>
          <p:cNvPr id="89" name="TextBox 88"/>
          <p:cNvSpPr txBox="1"/>
          <p:nvPr/>
        </p:nvSpPr>
        <p:spPr>
          <a:xfrm>
            <a:off x="1498259"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453209"/>
            <a:ext cx="2914650" cy="186689"/>
          </a:xfrm>
          <a:prstGeom prst="rect">
            <a:avLst/>
          </a:prstGeom>
          <a:noFill/>
        </p:spPr>
        <p:txBody>
          <a:bodyPr wrap="none" lIns="0" rIns="0" tIns="0" bIns="0">
            <a:spAutoFit/>
          </a:bodyPr>
          <a:lstStyle/>
          <a:p>
            <a:r>
              <a:rPr sz="1100" b="0">
                <a:solidFill>
                  <a:srgbClr val="2E2E2E"/>
                </a:solidFill>
                <a:latin typeface="Calibri"/>
              </a:rPr>
              <a:t>Battery electric vehicle (BEV) segment is projected</a:t>
            </a:r>
          </a:p>
        </p:txBody>
      </p:sp>
      <p:sp>
        <p:nvSpPr>
          <p:cNvPr id="91" name="TextBox 90"/>
          <p:cNvSpPr txBox="1"/>
          <p:nvPr/>
        </p:nvSpPr>
        <p:spPr>
          <a:xfrm>
            <a:off x="485775" y="562084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92" name="Picture 91" descr="lock.png"/>
          <p:cNvPicPr>
            <a:picLocks noChangeAspect="1"/>
          </p:cNvPicPr>
          <p:nvPr/>
        </p:nvPicPr>
        <p:blipFill>
          <a:blip r:embed="rId16"/>
          <a:stretch>
            <a:fillRect/>
          </a:stretch>
        </p:blipFill>
        <p:spPr>
          <a:xfrm>
            <a:off x="1098567" y="5611070"/>
            <a:ext cx="128699" cy="187198"/>
          </a:xfrm>
          <a:prstGeom prst="rect">
            <a:avLst/>
          </a:prstGeom>
        </p:spPr>
      </p:pic>
      <p:sp>
        <p:nvSpPr>
          <p:cNvPr id="93" name="TextBox 92"/>
          <p:cNvSpPr txBox="1"/>
          <p:nvPr/>
        </p:nvSpPr>
        <p:spPr>
          <a:xfrm>
            <a:off x="1266063" y="5620849"/>
            <a:ext cx="2069926" cy="186689"/>
          </a:xfrm>
          <a:prstGeom prst="rect">
            <a:avLst/>
          </a:prstGeom>
          <a:noFill/>
        </p:spPr>
        <p:txBody>
          <a:bodyPr wrap="none" lIns="0" rIns="0" tIns="0" bIns="0">
            <a:spAutoFit/>
          </a:bodyPr>
          <a:lstStyle/>
          <a:p>
            <a:r>
              <a:rPr sz="1100" b="0">
                <a:solidFill>
                  <a:srgbClr val="2E2E2E"/>
                </a:solidFill>
                <a:latin typeface="Calibri"/>
              </a:rPr>
              <a:t>X higher value than alternative fuel</a:t>
            </a:r>
          </a:p>
        </p:txBody>
      </p:sp>
      <p:sp>
        <p:nvSpPr>
          <p:cNvPr id="94" name="TextBox 93"/>
          <p:cNvSpPr txBox="1"/>
          <p:nvPr/>
        </p:nvSpPr>
        <p:spPr>
          <a:xfrm>
            <a:off x="485775" y="5788489"/>
            <a:ext cx="1265014" cy="186689"/>
          </a:xfrm>
          <a:prstGeom prst="rect">
            <a:avLst/>
          </a:prstGeom>
          <a:noFill/>
        </p:spPr>
        <p:txBody>
          <a:bodyPr wrap="none" lIns="0" rIns="0" tIns="0" bIns="0">
            <a:spAutoFit/>
          </a:bodyPr>
          <a:lstStyle/>
          <a:p>
            <a:r>
              <a:rPr sz="1100" b="0">
                <a:solidFill>
                  <a:srgbClr val="2E2E2E"/>
                </a:solidFill>
                <a:latin typeface="Calibri"/>
              </a:rPr>
              <a:t>ICE segment in 2036.</a:t>
            </a:r>
          </a:p>
        </p:txBody>
      </p:sp>
      <p:sp>
        <p:nvSpPr>
          <p:cNvPr id="95" name="TextBox 94"/>
          <p:cNvSpPr txBox="1"/>
          <p:nvPr/>
        </p:nvSpPr>
        <p:spPr>
          <a:xfrm>
            <a:off x="3838575" y="4229437"/>
            <a:ext cx="1883295" cy="186689"/>
          </a:xfrm>
          <a:prstGeom prst="rect">
            <a:avLst/>
          </a:prstGeom>
          <a:noFill/>
        </p:spPr>
        <p:txBody>
          <a:bodyPr wrap="none" lIns="0" rIns="0" tIns="0" bIns="0">
            <a:spAutoFit/>
          </a:bodyPr>
          <a:lstStyle/>
          <a:p>
            <a:r>
              <a:rPr sz="1100" b="0">
                <a:solidFill>
                  <a:srgbClr val="2E2E2E"/>
                </a:solidFill>
                <a:latin typeface="Calibri"/>
              </a:rPr>
              <a:t>● Battery Electric Vehicle (BEV):</a:t>
            </a:r>
          </a:p>
        </p:txBody>
      </p:sp>
      <p:pic>
        <p:nvPicPr>
          <p:cNvPr id="96" name="Picture 95" descr="lock.png"/>
          <p:cNvPicPr>
            <a:picLocks noChangeAspect="1"/>
          </p:cNvPicPr>
          <p:nvPr/>
        </p:nvPicPr>
        <p:blipFill>
          <a:blip r:embed="rId16"/>
          <a:stretch>
            <a:fillRect/>
          </a:stretch>
        </p:blipFill>
        <p:spPr>
          <a:xfrm>
            <a:off x="5669922" y="4219658"/>
            <a:ext cx="128699" cy="187198"/>
          </a:xfrm>
          <a:prstGeom prst="rect">
            <a:avLst/>
          </a:prstGeom>
        </p:spPr>
      </p:pic>
      <p:sp>
        <p:nvSpPr>
          <p:cNvPr id="97" name="TextBox 96"/>
          <p:cNvSpPr txBox="1"/>
          <p:nvPr/>
        </p:nvSpPr>
        <p:spPr>
          <a:xfrm>
            <a:off x="583741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6"/>
          <a:stretch>
            <a:fillRect/>
          </a:stretch>
        </p:blipFill>
        <p:spPr>
          <a:xfrm>
            <a:off x="6696868" y="4219658"/>
            <a:ext cx="128699" cy="187198"/>
          </a:xfrm>
          <a:prstGeom prst="rect">
            <a:avLst/>
          </a:prstGeom>
        </p:spPr>
      </p:pic>
      <p:sp>
        <p:nvSpPr>
          <p:cNvPr id="99" name="TextBox 98"/>
          <p:cNvSpPr txBox="1"/>
          <p:nvPr/>
        </p:nvSpPr>
        <p:spPr>
          <a:xfrm>
            <a:off x="6864364"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0" name="TextBox 9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1" name="TextBox 100"/>
          <p:cNvSpPr txBox="1"/>
          <p:nvPr/>
        </p:nvSpPr>
        <p:spPr>
          <a:xfrm>
            <a:off x="3838575" y="4615009"/>
            <a:ext cx="1340321" cy="186689"/>
          </a:xfrm>
          <a:prstGeom prst="rect">
            <a:avLst/>
          </a:prstGeom>
          <a:noFill/>
        </p:spPr>
        <p:txBody>
          <a:bodyPr wrap="none" lIns="0" rIns="0" tIns="0" bIns="0">
            <a:spAutoFit/>
          </a:bodyPr>
          <a:lstStyle/>
          <a:p>
            <a:r>
              <a:rPr sz="1100" b="0">
                <a:solidFill>
                  <a:srgbClr val="2E2E2E"/>
                </a:solidFill>
                <a:latin typeface="Calibri"/>
              </a:rPr>
              <a:t>● Alternative Fuel ICE:</a:t>
            </a:r>
          </a:p>
        </p:txBody>
      </p:sp>
      <p:pic>
        <p:nvPicPr>
          <p:cNvPr id="102" name="Picture 101" descr="lock.png"/>
          <p:cNvPicPr>
            <a:picLocks noChangeAspect="1"/>
          </p:cNvPicPr>
          <p:nvPr/>
        </p:nvPicPr>
        <p:blipFill>
          <a:blip r:embed="rId16"/>
          <a:stretch>
            <a:fillRect/>
          </a:stretch>
        </p:blipFill>
        <p:spPr>
          <a:xfrm>
            <a:off x="5126947" y="4605230"/>
            <a:ext cx="128699" cy="187198"/>
          </a:xfrm>
          <a:prstGeom prst="rect">
            <a:avLst/>
          </a:prstGeom>
        </p:spPr>
      </p:pic>
      <p:sp>
        <p:nvSpPr>
          <p:cNvPr id="103" name="TextBox 102"/>
          <p:cNvSpPr txBox="1"/>
          <p:nvPr/>
        </p:nvSpPr>
        <p:spPr>
          <a:xfrm>
            <a:off x="5294443"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6"/>
          <a:stretch>
            <a:fillRect/>
          </a:stretch>
        </p:blipFill>
        <p:spPr>
          <a:xfrm>
            <a:off x="6153893" y="4605230"/>
            <a:ext cx="128699" cy="187198"/>
          </a:xfrm>
          <a:prstGeom prst="rect">
            <a:avLst/>
          </a:prstGeom>
        </p:spPr>
      </p:pic>
      <p:sp>
        <p:nvSpPr>
          <p:cNvPr id="105" name="TextBox 104"/>
          <p:cNvSpPr txBox="1"/>
          <p:nvPr/>
        </p:nvSpPr>
        <p:spPr>
          <a:xfrm>
            <a:off x="6321389" y="461500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6" name="TextBox 105"/>
          <p:cNvSpPr txBox="1"/>
          <p:nvPr/>
        </p:nvSpPr>
        <p:spPr>
          <a:xfrm>
            <a:off x="3838575" y="4832941"/>
            <a:ext cx="1271835" cy="186689"/>
          </a:xfrm>
          <a:prstGeom prst="rect">
            <a:avLst/>
          </a:prstGeom>
          <a:noFill/>
        </p:spPr>
        <p:txBody>
          <a:bodyPr wrap="none" lIns="0" rIns="0" tIns="0" bIns="0">
            <a:spAutoFit/>
          </a:bodyPr>
          <a:lstStyle/>
          <a:p>
            <a:r>
              <a:rPr sz="1100" b="0">
                <a:solidFill>
                  <a:srgbClr val="2E2E2E"/>
                </a:solidFill>
                <a:latin typeface="Calibri"/>
              </a:rPr>
              <a:t>● Hybrid Powertrain:</a:t>
            </a:r>
          </a:p>
        </p:txBody>
      </p:sp>
      <p:pic>
        <p:nvPicPr>
          <p:cNvPr id="107" name="Picture 106" descr="lock.png"/>
          <p:cNvPicPr>
            <a:picLocks noChangeAspect="1"/>
          </p:cNvPicPr>
          <p:nvPr/>
        </p:nvPicPr>
        <p:blipFill>
          <a:blip r:embed="rId16"/>
          <a:stretch>
            <a:fillRect/>
          </a:stretch>
        </p:blipFill>
        <p:spPr>
          <a:xfrm>
            <a:off x="5058462" y="4823162"/>
            <a:ext cx="128699" cy="187198"/>
          </a:xfrm>
          <a:prstGeom prst="rect">
            <a:avLst/>
          </a:prstGeom>
        </p:spPr>
      </p:pic>
      <p:sp>
        <p:nvSpPr>
          <p:cNvPr id="108" name="TextBox 107"/>
          <p:cNvSpPr txBox="1"/>
          <p:nvPr/>
        </p:nvSpPr>
        <p:spPr>
          <a:xfrm>
            <a:off x="5225957" y="483294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9" name="Picture 108" descr="lock.png"/>
          <p:cNvPicPr>
            <a:picLocks noChangeAspect="1"/>
          </p:cNvPicPr>
          <p:nvPr/>
        </p:nvPicPr>
        <p:blipFill>
          <a:blip r:embed="rId16"/>
          <a:stretch>
            <a:fillRect/>
          </a:stretch>
        </p:blipFill>
        <p:spPr>
          <a:xfrm>
            <a:off x="6085408" y="4823162"/>
            <a:ext cx="128699" cy="187198"/>
          </a:xfrm>
          <a:prstGeom prst="rect">
            <a:avLst/>
          </a:prstGeom>
        </p:spPr>
      </p:pic>
      <p:sp>
        <p:nvSpPr>
          <p:cNvPr id="110" name="TextBox 109"/>
          <p:cNvSpPr txBox="1"/>
          <p:nvPr/>
        </p:nvSpPr>
        <p:spPr>
          <a:xfrm>
            <a:off x="6252904" y="4832941"/>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1" name="TextBox 110"/>
          <p:cNvSpPr txBox="1"/>
          <p:nvPr/>
        </p:nvSpPr>
        <p:spPr>
          <a:xfrm>
            <a:off x="3838575" y="5050872"/>
            <a:ext cx="2103214" cy="186689"/>
          </a:xfrm>
          <a:prstGeom prst="rect">
            <a:avLst/>
          </a:prstGeom>
          <a:noFill/>
        </p:spPr>
        <p:txBody>
          <a:bodyPr wrap="none" lIns="0" rIns="0" tIns="0" bIns="0">
            <a:spAutoFit/>
          </a:bodyPr>
          <a:lstStyle/>
          <a:p>
            <a:r>
              <a:rPr sz="1100" b="0">
                <a:solidFill>
                  <a:srgbClr val="2E2E2E"/>
                </a:solidFill>
                <a:latin typeface="Calibri"/>
              </a:rPr>
              <a:t>● Internal Combustion Engine (ICE):</a:t>
            </a:r>
          </a:p>
        </p:txBody>
      </p:sp>
      <p:pic>
        <p:nvPicPr>
          <p:cNvPr id="112" name="Picture 111" descr="lock.png"/>
          <p:cNvPicPr>
            <a:picLocks noChangeAspect="1"/>
          </p:cNvPicPr>
          <p:nvPr/>
        </p:nvPicPr>
        <p:blipFill>
          <a:blip r:embed="rId16"/>
          <a:stretch>
            <a:fillRect/>
          </a:stretch>
        </p:blipFill>
        <p:spPr>
          <a:xfrm>
            <a:off x="5889840" y="5041093"/>
            <a:ext cx="128699" cy="187198"/>
          </a:xfrm>
          <a:prstGeom prst="rect">
            <a:avLst/>
          </a:prstGeom>
        </p:spPr>
      </p:pic>
      <p:sp>
        <p:nvSpPr>
          <p:cNvPr id="113" name="TextBox 112"/>
          <p:cNvSpPr txBox="1"/>
          <p:nvPr/>
        </p:nvSpPr>
        <p:spPr>
          <a:xfrm>
            <a:off x="6057336" y="5050872"/>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4" name="Picture 113" descr="lock.png"/>
          <p:cNvPicPr>
            <a:picLocks noChangeAspect="1"/>
          </p:cNvPicPr>
          <p:nvPr/>
        </p:nvPicPr>
        <p:blipFill>
          <a:blip r:embed="rId16"/>
          <a:stretch>
            <a:fillRect/>
          </a:stretch>
        </p:blipFill>
        <p:spPr>
          <a:xfrm>
            <a:off x="6916786" y="5041093"/>
            <a:ext cx="128699" cy="187198"/>
          </a:xfrm>
          <a:prstGeom prst="rect">
            <a:avLst/>
          </a:prstGeom>
        </p:spPr>
      </p:pic>
      <p:sp>
        <p:nvSpPr>
          <p:cNvPr id="115" name="TextBox 114"/>
          <p:cNvSpPr txBox="1"/>
          <p:nvPr/>
        </p:nvSpPr>
        <p:spPr>
          <a:xfrm>
            <a:off x="7084282" y="5050872"/>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6" name="TextBox 115"/>
          <p:cNvSpPr txBox="1"/>
          <p:nvPr/>
        </p:nvSpPr>
        <p:spPr>
          <a:xfrm>
            <a:off x="3838575" y="5218513"/>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117" name="TextBox 116"/>
          <p:cNvSpPr txBox="1"/>
          <p:nvPr/>
        </p:nvSpPr>
        <p:spPr>
          <a:xfrm>
            <a:off x="8524875" y="5842641"/>
            <a:ext cx="3079067" cy="194310"/>
          </a:xfrm>
          <a:prstGeom prst="rect">
            <a:avLst/>
          </a:prstGeom>
          <a:noFill/>
        </p:spPr>
        <p:txBody>
          <a:bodyPr wrap="none" lIns="0" rIns="0" tIns="0" bIns="0">
            <a:spAutoFit/>
          </a:bodyPr>
          <a:lstStyle/>
          <a:p>
            <a:r>
              <a:rPr sz="1150" b="1">
                <a:solidFill>
                  <a:srgbClr val="0B2E4A"/>
                </a:solidFill>
                <a:latin typeface="Calibri"/>
              </a:rPr>
              <a:t>The Powertrain segment is projected to grow at a</a:t>
            </a:r>
          </a:p>
        </p:txBody>
      </p:sp>
      <p:sp>
        <p:nvSpPr>
          <p:cNvPr id="118" name="TextBox 117"/>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119" name="Picture 118" descr="lock.png"/>
          <p:cNvPicPr>
            <a:picLocks noChangeAspect="1"/>
          </p:cNvPicPr>
          <p:nvPr/>
        </p:nvPicPr>
        <p:blipFill>
          <a:blip r:embed="rId16"/>
          <a:stretch>
            <a:fillRect/>
          </a:stretch>
        </p:blipFill>
        <p:spPr>
          <a:xfrm>
            <a:off x="9048826" y="6007677"/>
            <a:ext cx="134549" cy="195707"/>
          </a:xfrm>
          <a:prstGeom prst="rect">
            <a:avLst/>
          </a:prstGeom>
        </p:spPr>
      </p:pic>
      <p:sp>
        <p:nvSpPr>
          <p:cNvPr id="120" name="TextBox 119"/>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Powertrain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Powertrain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Powertrain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Powertrain · Bubble size represents 2036 value</a:t>
            </a:r>
          </a:p>
        </p:txBody>
      </p:sp>
      <p:graphicFrame>
        <p:nvGraphicFramePr>
          <p:cNvPr id="12" name="Chart 11"/>
          <p:cNvGraphicFramePr>
            <a:graphicFrameLocks noGrp="1"/>
          </p:cNvGraphicFramePr>
          <p:nvPr/>
        </p:nvGraphicFramePr>
        <p:xfrm>
          <a:off x="6734175" y="1266825"/>
          <a:ext cx="5210175" cy="398145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526142" cy="186689"/>
          </a:xfrm>
          <a:prstGeom prst="rect">
            <a:avLst/>
          </a:prstGeom>
          <a:noFill/>
        </p:spPr>
        <p:txBody>
          <a:bodyPr wrap="none" lIns="0" rIns="0" tIns="0" bIns="0">
            <a:spAutoFit/>
          </a:bodyPr>
          <a:lstStyle/>
          <a:p>
            <a:r>
              <a:rPr sz="1100" b="0">
                <a:solidFill>
                  <a:srgbClr val="2E2E2E"/>
                </a:solidFill>
                <a:latin typeface="Calibri"/>
              </a:rPr>
              <a:t>Battery electric vehicle (BEV) followed by alternative fuel ICE are expected to be the two most attractive powertrain segments in the North America off-highway vehicle market in terms of value over the</a:t>
            </a:r>
          </a:p>
        </p:txBody>
      </p:sp>
      <p:sp>
        <p:nvSpPr>
          <p:cNvPr id="18" name="TextBox 17"/>
          <p:cNvSpPr txBox="1"/>
          <p:nvPr/>
        </p:nvSpPr>
        <p:spPr>
          <a:xfrm>
            <a:off x="257175" y="5861685"/>
            <a:ext cx="5356952" cy="186689"/>
          </a:xfrm>
          <a:prstGeom prst="rect">
            <a:avLst/>
          </a:prstGeom>
          <a:noFill/>
        </p:spPr>
        <p:txBody>
          <a:bodyPr wrap="none" lIns="0" rIns="0" tIns="0" bIns="0">
            <a:spAutoFit/>
          </a:bodyPr>
          <a:lstStyle/>
          <a:p>
            <a:r>
              <a:rPr sz="1100" b="0">
                <a:solidFill>
                  <a:srgbClr val="2E2E2E"/>
                </a:solidFill>
                <a:latin typeface="Calibri"/>
              </a:rPr>
              <a:t>forecast period. Battery electric vehicle (BEV) and alternative fuel ICE exhibit a CAGR index of</a:t>
            </a:r>
          </a:p>
        </p:txBody>
      </p:sp>
      <p:pic>
        <p:nvPicPr>
          <p:cNvPr id="19" name="Picture 18" descr="lock.png"/>
          <p:cNvPicPr>
            <a:picLocks noChangeAspect="1"/>
          </p:cNvPicPr>
          <p:nvPr/>
        </p:nvPicPr>
        <p:blipFill>
          <a:blip r:embed="rId6"/>
          <a:stretch>
            <a:fillRect/>
          </a:stretch>
        </p:blipFill>
        <p:spPr>
          <a:xfrm>
            <a:off x="5562178" y="5851905"/>
            <a:ext cx="128699" cy="187198"/>
          </a:xfrm>
          <a:prstGeom prst="rect">
            <a:avLst/>
          </a:prstGeom>
        </p:spPr>
      </p:pic>
      <p:sp>
        <p:nvSpPr>
          <p:cNvPr id="20" name="TextBox 19"/>
          <p:cNvSpPr txBox="1"/>
          <p:nvPr/>
        </p:nvSpPr>
        <p:spPr>
          <a:xfrm>
            <a:off x="572967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967568" y="5851905"/>
            <a:ext cx="128699" cy="187198"/>
          </a:xfrm>
          <a:prstGeom prst="rect">
            <a:avLst/>
          </a:prstGeom>
        </p:spPr>
      </p:pic>
      <p:sp>
        <p:nvSpPr>
          <p:cNvPr id="22" name="TextBox 21"/>
          <p:cNvSpPr txBox="1"/>
          <p:nvPr/>
        </p:nvSpPr>
        <p:spPr>
          <a:xfrm>
            <a:off x="6135064"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7744038" y="5851905"/>
            <a:ext cx="128699" cy="187198"/>
          </a:xfrm>
          <a:prstGeom prst="rect">
            <a:avLst/>
          </a:prstGeom>
        </p:spPr>
      </p:pic>
      <p:sp>
        <p:nvSpPr>
          <p:cNvPr id="24" name="TextBox 23"/>
          <p:cNvSpPr txBox="1"/>
          <p:nvPr/>
        </p:nvSpPr>
        <p:spPr>
          <a:xfrm>
            <a:off x="7911533"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8149428" y="5851905"/>
            <a:ext cx="128699" cy="187198"/>
          </a:xfrm>
          <a:prstGeom prst="rect">
            <a:avLst/>
          </a:prstGeom>
        </p:spPr>
      </p:pic>
      <p:sp>
        <p:nvSpPr>
          <p:cNvPr id="26" name="TextBox 25"/>
          <p:cNvSpPr txBox="1"/>
          <p:nvPr/>
        </p:nvSpPr>
        <p:spPr>
          <a:xfrm>
            <a:off x="8316924"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871328" y="5851905"/>
            <a:ext cx="128699" cy="187198"/>
          </a:xfrm>
          <a:prstGeom prst="rect">
            <a:avLst/>
          </a:prstGeom>
        </p:spPr>
      </p:pic>
      <p:sp>
        <p:nvSpPr>
          <p:cNvPr id="28" name="TextBox 27"/>
          <p:cNvSpPr txBox="1"/>
          <p:nvPr/>
        </p:nvSpPr>
        <p:spPr>
          <a:xfrm>
            <a:off x="11038824" y="5861685"/>
            <a:ext cx="354235" cy="186689"/>
          </a:xfrm>
          <a:prstGeom prst="rect">
            <a:avLst/>
          </a:prstGeom>
          <a:noFill/>
        </p:spPr>
        <p:txBody>
          <a:bodyPr wrap="none" lIns="0" rIns="0" tIns="0" bIns="0">
            <a:spAutoFit/>
          </a:bodyPr>
          <a:lstStyle/>
          <a:p>
            <a:r>
              <a:rPr sz="1100" b="0">
                <a:solidFill>
                  <a:srgbClr val="2E2E2E"/>
                </a:solidFill>
                <a:latin typeface="Calibri"/>
              </a:rPr>
              <a:t>. The</a:t>
            </a:r>
          </a:p>
        </p:txBody>
      </p:sp>
      <p:sp>
        <p:nvSpPr>
          <p:cNvPr id="29" name="TextBox 28"/>
          <p:cNvSpPr txBox="1"/>
          <p:nvPr/>
        </p:nvSpPr>
        <p:spPr>
          <a:xfrm>
            <a:off x="257175" y="6029325"/>
            <a:ext cx="11677650" cy="186689"/>
          </a:xfrm>
          <a:prstGeom prst="rect">
            <a:avLst/>
          </a:prstGeom>
          <a:noFill/>
        </p:spPr>
        <p:txBody>
          <a:bodyPr wrap="none" lIns="0" rIns="0" tIns="0" bIns="0">
            <a:spAutoFit/>
          </a:bodyPr>
          <a:lstStyle/>
          <a:p>
            <a:r>
              <a:rPr sz="1100" b="0">
                <a:solidFill>
                  <a:srgbClr val="2E2E2E"/>
                </a:solidFill>
                <a:latin typeface="Calibri"/>
              </a:rPr>
              <a:t>hybrid powertrain segment is expected to be less attractive as compared to other segments over the forecast period, owing to its lower CAGR and incremental opportunity. Bubbles right of the CAGR-Index</a:t>
            </a:r>
          </a:p>
        </p:txBody>
      </p:sp>
      <p:sp>
        <p:nvSpPr>
          <p:cNvPr id="30" name="TextBox 29"/>
          <p:cNvSpPr txBox="1"/>
          <p:nvPr/>
        </p:nvSpPr>
        <p:spPr>
          <a:xfrm>
            <a:off x="257175" y="6196965"/>
            <a:ext cx="2518494" cy="186689"/>
          </a:xfrm>
          <a:prstGeom prst="rect">
            <a:avLst/>
          </a:prstGeom>
          <a:noFill/>
        </p:spPr>
        <p:txBody>
          <a:bodyPr wrap="none" lIns="0" rIns="0" tIns="0" bIns="0">
            <a:spAutoFit/>
          </a:bodyPr>
          <a:lstStyle/>
          <a:p>
            <a:r>
              <a:rPr sz="1100" b="0">
                <a:solidFill>
                  <a:srgbClr val="2E2E2E"/>
                </a:solidFill>
                <a:latin typeface="Calibri"/>
              </a:rPr>
              <a:t>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266825"/>
            <a:ext cx="5210175" cy="39814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Powertrain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Powertrain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Internal Combustion Engine (ICE)</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Battery Electric Vehicle (BEV)</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Hybrid Powertrain</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Alternative Fuel ICE</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Powertrain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Powertrain, 2021–2036, highlighting the sub-segments driving growth</a:t>
            </a:r>
          </a:p>
        </p:txBody>
      </p:sp>
      <p:sp>
        <p:nvSpPr>
          <p:cNvPr id="7" name="Rounded Rectangle 6"/>
          <p:cNvSpPr/>
          <p:nvPr/>
        </p:nvSpPr>
        <p:spPr>
          <a:xfrm>
            <a:off x="142875" y="9810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Powertrain (US$ Mn)</a:t>
            </a:r>
          </a:p>
        </p:txBody>
      </p:sp>
      <p:graphicFrame>
        <p:nvGraphicFramePr>
          <p:cNvPr id="9" name="Table 8"/>
          <p:cNvGraphicFramePr>
            <a:graphicFrameLocks noGrp="1"/>
          </p:cNvGraphicFramePr>
          <p:nvPr/>
        </p:nvGraphicFramePr>
        <p:xfrm>
          <a:off x="152400" y="1238250"/>
          <a:ext cx="11887808" cy="1676401"/>
        </p:xfrm>
        <a:graphic>
          <a:graphicData uri="http://schemas.openxmlformats.org/drawingml/2006/table">
            <a:tbl>
              <a:tblPr>
                <a:tableStyleId>{5C22544A-7EE6-4342-B048-85BDC9FD1C3A}</a:tableStyleId>
              </a:tblPr>
              <a:tblGrid>
                <a:gridCol w="1817914"/>
                <a:gridCol w="592311"/>
                <a:gridCol w="592311"/>
                <a:gridCol w="592311"/>
                <a:gridCol w="592311"/>
                <a:gridCol w="592311"/>
                <a:gridCol w="592311"/>
                <a:gridCol w="592311"/>
                <a:gridCol w="592311"/>
                <a:gridCol w="592311"/>
                <a:gridCol w="592311"/>
                <a:gridCol w="592311"/>
                <a:gridCol w="592311"/>
                <a:gridCol w="592311"/>
                <a:gridCol w="592311"/>
                <a:gridCol w="592311"/>
                <a:gridCol w="592311"/>
                <a:gridCol w="592918"/>
              </a:tblGrid>
              <a:tr h="246126">
                <a:tc>
                  <a:txBody>
                    <a:bodyPr wrap="none"/>
                    <a:lstStyle/>
                    <a:p>
                      <a:pPr algn="l"/>
                      <a:r>
                        <a:rPr sz="1100" b="1">
                          <a:solidFill>
                            <a:srgbClr val="0E2A5C"/>
                          </a:solidFill>
                          <a:latin typeface="Calibri"/>
                        </a:rPr>
                        <a:t>Powertrain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86055">
                <a:tc>
                  <a:txBody>
                    <a:bodyPr wrap="none"/>
                    <a:lstStyle/>
                    <a:p>
                      <a:pPr algn="l"/>
                      <a:r>
                        <a:rPr sz="1100" b="1">
                          <a:solidFill>
                            <a:srgbClr val="2E2E2E"/>
                          </a:solidFill>
                          <a:latin typeface="Calibri"/>
                        </a:rPr>
                        <a:t>Internal Combustion Engine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E2E2E"/>
                          </a:solidFill>
                          <a:latin typeface="Calibri"/>
                        </a:rPr>
                        <a:t>Battery Electric Vehicle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6055">
                <a:tc>
                  <a:txBody>
                    <a:bodyPr wrap="none"/>
                    <a:lstStyle/>
                    <a:p>
                      <a:pPr algn="l"/>
                      <a:r>
                        <a:rPr sz="1100" b="1">
                          <a:solidFill>
                            <a:srgbClr val="2E2E2E"/>
                          </a:solidFill>
                          <a:latin typeface="Calibri"/>
                        </a:rPr>
                        <a:t>Hybrid Powertrain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E2E2E"/>
                          </a:solidFill>
                          <a:latin typeface="Calibri"/>
                        </a:rPr>
                        <a:t>Alternative Fuel ICE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6055">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257550"/>
            <a:ext cx="11906250" cy="3371850"/>
          </a:xfrm>
          <a:prstGeom prst="roundRect">
            <a:avLst>
              <a:gd name="adj" fmla="val 22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Powertrain</a:t>
            </a:r>
          </a:p>
        </p:txBody>
      </p:sp>
      <p:sp>
        <p:nvSpPr>
          <p:cNvPr id="13" name="Rectangle 12"/>
          <p:cNvSpPr/>
          <p:nvPr/>
        </p:nvSpPr>
        <p:spPr>
          <a:xfrm>
            <a:off x="276225" y="3581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13108" y="1932813"/>
            <a:ext cx="366712" cy="533400"/>
          </a:xfrm>
          <a:prstGeom prst="rect">
            <a:avLst/>
          </a:prstGeom>
        </p:spPr>
      </p:pic>
      <p:sp>
        <p:nvSpPr>
          <p:cNvPr id="18" name="TextBox 17"/>
          <p:cNvSpPr txBox="1"/>
          <p:nvPr/>
        </p:nvSpPr>
        <p:spPr>
          <a:xfrm>
            <a:off x="276225" y="3676650"/>
            <a:ext cx="3714613" cy="194310"/>
          </a:xfrm>
          <a:prstGeom prst="rect">
            <a:avLst/>
          </a:prstGeom>
          <a:noFill/>
        </p:spPr>
        <p:txBody>
          <a:bodyPr wrap="none" lIns="0" rIns="0" tIns="0" bIns="0">
            <a:spAutoFit/>
          </a:bodyPr>
          <a:lstStyle/>
          <a:p>
            <a:r>
              <a:rPr sz="1150" b="0">
                <a:solidFill>
                  <a:srgbClr val="2E2E2E"/>
                </a:solidFill>
                <a:latin typeface="Calibri"/>
              </a:rPr>
              <a:t>Battery electric vehicle (BEV) segment is projected to register</a:t>
            </a:r>
          </a:p>
        </p:txBody>
      </p:sp>
      <p:pic>
        <p:nvPicPr>
          <p:cNvPr id="19" name="Picture 18" descr="lock.png"/>
          <p:cNvPicPr>
            <a:picLocks noChangeAspect="1"/>
          </p:cNvPicPr>
          <p:nvPr/>
        </p:nvPicPr>
        <p:blipFill>
          <a:blip r:embed="rId4"/>
          <a:stretch>
            <a:fillRect/>
          </a:stretch>
        </p:blipFill>
        <p:spPr>
          <a:xfrm>
            <a:off x="3939992" y="3666426"/>
            <a:ext cx="134549" cy="195707"/>
          </a:xfrm>
          <a:prstGeom prst="rect">
            <a:avLst/>
          </a:prstGeom>
        </p:spPr>
      </p:pic>
      <p:sp>
        <p:nvSpPr>
          <p:cNvPr id="20" name="TextBox 19"/>
          <p:cNvSpPr txBox="1"/>
          <p:nvPr/>
        </p:nvSpPr>
        <p:spPr>
          <a:xfrm>
            <a:off x="4115101" y="3676650"/>
            <a:ext cx="7735267" cy="194310"/>
          </a:xfrm>
          <a:prstGeom prst="rect">
            <a:avLst/>
          </a:prstGeom>
          <a:noFill/>
        </p:spPr>
        <p:txBody>
          <a:bodyPr wrap="none" lIns="0" rIns="0" tIns="0" bIns="0">
            <a:spAutoFit/>
          </a:bodyPr>
          <a:lstStyle/>
          <a:p>
            <a:r>
              <a:rPr sz="1150" b="0">
                <a:solidFill>
                  <a:srgbClr val="2E2E2E"/>
                </a:solidFill>
                <a:latin typeface="Calibri"/>
              </a:rPr>
              <a:t>X higher value than alternative fuel ICE segment in 2036. Among off-highway vehicle by powertrain, battery electric vehicle (BEV)</a:t>
            </a:r>
          </a:p>
        </p:txBody>
      </p:sp>
      <p:sp>
        <p:nvSpPr>
          <p:cNvPr id="21" name="TextBox 20"/>
          <p:cNvSpPr txBox="1"/>
          <p:nvPr/>
        </p:nvSpPr>
        <p:spPr>
          <a:xfrm>
            <a:off x="276225" y="385191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3841686"/>
            <a:ext cx="134549" cy="195707"/>
          </a:xfrm>
          <a:prstGeom prst="rect">
            <a:avLst/>
          </a:prstGeom>
        </p:spPr>
      </p:pic>
      <p:sp>
        <p:nvSpPr>
          <p:cNvPr id="23" name="TextBox 22"/>
          <p:cNvSpPr txBox="1"/>
          <p:nvPr/>
        </p:nvSpPr>
        <p:spPr>
          <a:xfrm>
            <a:off x="3557127" y="38519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079747"/>
            <a:ext cx="7522467" cy="194310"/>
          </a:xfrm>
          <a:prstGeom prst="rect">
            <a:avLst/>
          </a:prstGeom>
          <a:noFill/>
        </p:spPr>
        <p:txBody>
          <a:bodyPr wrap="none" lIns="0" rIns="0" tIns="0" bIns="0">
            <a:spAutoFit/>
          </a:bodyPr>
          <a:lstStyle/>
          <a:p>
            <a:r>
              <a:rPr sz="1150" b="0">
                <a:solidFill>
                  <a:srgbClr val="2E2E2E"/>
                </a:solidFill>
                <a:latin typeface="Calibri"/>
              </a:rPr>
              <a:t>In terms of value share by powertrain, the battery electric vehicle (BEV) segment is expected to dominate the market, gaining</a:t>
            </a:r>
          </a:p>
        </p:txBody>
      </p:sp>
      <p:pic>
        <p:nvPicPr>
          <p:cNvPr id="25" name="Picture 24" descr="lock.png"/>
          <p:cNvPicPr>
            <a:picLocks noChangeAspect="1"/>
          </p:cNvPicPr>
          <p:nvPr/>
        </p:nvPicPr>
        <p:blipFill>
          <a:blip r:embed="rId4"/>
          <a:stretch>
            <a:fillRect/>
          </a:stretch>
        </p:blipFill>
        <p:spPr>
          <a:xfrm>
            <a:off x="7747846" y="4069524"/>
            <a:ext cx="134549" cy="195707"/>
          </a:xfrm>
          <a:prstGeom prst="rect">
            <a:avLst/>
          </a:prstGeom>
        </p:spPr>
      </p:pic>
      <p:sp>
        <p:nvSpPr>
          <p:cNvPr id="26" name="TextBox 25"/>
          <p:cNvSpPr txBox="1"/>
          <p:nvPr/>
        </p:nvSpPr>
        <p:spPr>
          <a:xfrm>
            <a:off x="7922956" y="40797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318099" y="4069524"/>
            <a:ext cx="134549" cy="195707"/>
          </a:xfrm>
          <a:prstGeom prst="rect">
            <a:avLst/>
          </a:prstGeom>
        </p:spPr>
      </p:pic>
      <p:sp>
        <p:nvSpPr>
          <p:cNvPr id="28" name="TextBox 27"/>
          <p:cNvSpPr txBox="1"/>
          <p:nvPr/>
        </p:nvSpPr>
        <p:spPr>
          <a:xfrm>
            <a:off x="9493208" y="4079747"/>
            <a:ext cx="1614289" cy="194310"/>
          </a:xfrm>
          <a:prstGeom prst="rect">
            <a:avLst/>
          </a:prstGeom>
          <a:noFill/>
        </p:spPr>
        <p:txBody>
          <a:bodyPr wrap="none" lIns="0" rIns="0" tIns="0" bIns="0">
            <a:spAutoFit/>
          </a:bodyPr>
          <a:lstStyle/>
          <a:p>
            <a:r>
              <a:rPr sz="1150" b="0">
                <a:solidFill>
                  <a:srgbClr val="2E2E2E"/>
                </a:solidFill>
                <a:latin typeface="Calibri"/>
              </a:rPr>
              <a:t>share by 2036. The hybrid</a:t>
            </a:r>
          </a:p>
        </p:txBody>
      </p:sp>
      <p:sp>
        <p:nvSpPr>
          <p:cNvPr id="29" name="TextBox 28"/>
          <p:cNvSpPr txBox="1"/>
          <p:nvPr/>
        </p:nvSpPr>
        <p:spPr>
          <a:xfrm>
            <a:off x="276225" y="4255007"/>
            <a:ext cx="2420987" cy="194310"/>
          </a:xfrm>
          <a:prstGeom prst="rect">
            <a:avLst/>
          </a:prstGeom>
          <a:noFill/>
        </p:spPr>
        <p:txBody>
          <a:bodyPr wrap="none" lIns="0" rIns="0" tIns="0" bIns="0">
            <a:spAutoFit/>
          </a:bodyPr>
          <a:lstStyle/>
          <a:p>
            <a:r>
              <a:rPr sz="1150" b="0">
                <a:solidFill>
                  <a:srgbClr val="2E2E2E"/>
                </a:solidFill>
                <a:latin typeface="Calibri"/>
              </a:rPr>
              <a:t>powertrain segment is expected to lose</a:t>
            </a:r>
          </a:p>
        </p:txBody>
      </p:sp>
      <p:pic>
        <p:nvPicPr>
          <p:cNvPr id="30" name="Picture 29" descr="lock.png"/>
          <p:cNvPicPr>
            <a:picLocks noChangeAspect="1"/>
          </p:cNvPicPr>
          <p:nvPr/>
        </p:nvPicPr>
        <p:blipFill>
          <a:blip r:embed="rId4"/>
          <a:stretch>
            <a:fillRect/>
          </a:stretch>
        </p:blipFill>
        <p:spPr>
          <a:xfrm>
            <a:off x="2646366" y="4244784"/>
            <a:ext cx="134549" cy="195707"/>
          </a:xfrm>
          <a:prstGeom prst="rect">
            <a:avLst/>
          </a:prstGeom>
        </p:spPr>
      </p:pic>
      <p:sp>
        <p:nvSpPr>
          <p:cNvPr id="31" name="TextBox 30"/>
          <p:cNvSpPr txBox="1"/>
          <p:nvPr/>
        </p:nvSpPr>
        <p:spPr>
          <a:xfrm>
            <a:off x="2821475" y="42550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408979" y="4244784"/>
            <a:ext cx="134549" cy="195707"/>
          </a:xfrm>
          <a:prstGeom prst="rect">
            <a:avLst/>
          </a:prstGeom>
        </p:spPr>
      </p:pic>
      <p:sp>
        <p:nvSpPr>
          <p:cNvPr id="33" name="TextBox 32"/>
          <p:cNvSpPr txBox="1"/>
          <p:nvPr/>
        </p:nvSpPr>
        <p:spPr>
          <a:xfrm>
            <a:off x="5584089" y="42550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Powertrain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Powertrain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Powertrain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005255"/>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200049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9242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Hybrid Powertrain</a:t>
            </a:r>
          </a:p>
        </p:txBody>
      </p:sp>
      <p:sp>
        <p:nvSpPr>
          <p:cNvPr id="15" name="BPS Value 1"/>
          <p:cNvSpPr txBox="1"/>
          <p:nvPr/>
        </p:nvSpPr>
        <p:spPr>
          <a:xfrm>
            <a:off x="6896100" y="198620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691353"/>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68659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61039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Internal Combustion Engine</a:t>
            </a:r>
          </a:p>
        </p:txBody>
      </p:sp>
      <p:sp>
        <p:nvSpPr>
          <p:cNvPr id="19" name="BPS Value 2"/>
          <p:cNvSpPr txBox="1"/>
          <p:nvPr/>
        </p:nvSpPr>
        <p:spPr>
          <a:xfrm>
            <a:off x="6896100" y="267230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3730422"/>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72566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64946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Alternative Fuel ICE</a:t>
            </a:r>
          </a:p>
        </p:txBody>
      </p:sp>
      <p:sp>
        <p:nvSpPr>
          <p:cNvPr id="23" name="BPS Value 3"/>
          <p:cNvSpPr txBox="1"/>
          <p:nvPr/>
        </p:nvSpPr>
        <p:spPr>
          <a:xfrm>
            <a:off x="6896100" y="371137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5330515"/>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32575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524955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Battery Electric Vehicle</a:t>
            </a:r>
          </a:p>
        </p:txBody>
      </p:sp>
      <p:sp>
        <p:nvSpPr>
          <p:cNvPr id="27" name="BPS Value 4"/>
          <p:cNvSpPr txBox="1"/>
          <p:nvPr/>
        </p:nvSpPr>
        <p:spPr>
          <a:xfrm>
            <a:off x="6896100" y="531146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Powertrain</a:t>
            </a:r>
          </a:p>
        </p:txBody>
      </p:sp>
      <p:sp>
        <p:nvSpPr>
          <p:cNvPr id="30" name="Rectangle 29"/>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3986460" cy="194310"/>
          </a:xfrm>
          <a:prstGeom prst="rect">
            <a:avLst/>
          </a:prstGeom>
          <a:noFill/>
        </p:spPr>
        <p:txBody>
          <a:bodyPr wrap="none" lIns="0" rIns="0" tIns="0" bIns="0">
            <a:spAutoFit/>
          </a:bodyPr>
          <a:lstStyle/>
          <a:p>
            <a:r>
              <a:rPr sz="1150" b="0">
                <a:solidFill>
                  <a:srgbClr val="2E2E2E"/>
                </a:solidFill>
                <a:latin typeface="Calibri"/>
              </a:rPr>
              <a:t>Among off-highway vehicle by powertrain, battery electric vehicle</a:t>
            </a:r>
          </a:p>
        </p:txBody>
      </p:sp>
      <p:sp>
        <p:nvSpPr>
          <p:cNvPr id="36" name="TextBox 35"/>
          <p:cNvSpPr txBox="1"/>
          <p:nvPr/>
        </p:nvSpPr>
        <p:spPr>
          <a:xfrm>
            <a:off x="7829550" y="1575435"/>
            <a:ext cx="3512065" cy="194310"/>
          </a:xfrm>
          <a:prstGeom prst="rect">
            <a:avLst/>
          </a:prstGeom>
          <a:noFill/>
        </p:spPr>
        <p:txBody>
          <a:bodyPr wrap="none" lIns="0" rIns="0" tIns="0" bIns="0">
            <a:spAutoFit/>
          </a:bodyPr>
          <a:lstStyle/>
          <a:p>
            <a:r>
              <a:rPr sz="1150" b="0">
                <a:solidFill>
                  <a:srgbClr val="2E2E2E"/>
                </a:solidFill>
                <a:latin typeface="Calibri"/>
              </a:rPr>
              <a:t>(BEV) segment is expected to witness the highest CAGR of</a:t>
            </a:r>
          </a:p>
        </p:txBody>
      </p:sp>
      <p:pic>
        <p:nvPicPr>
          <p:cNvPr id="37" name="Picture 36" descr="lock.png"/>
          <p:cNvPicPr>
            <a:picLocks noChangeAspect="1"/>
          </p:cNvPicPr>
          <p:nvPr/>
        </p:nvPicPr>
        <p:blipFill>
          <a:blip r:embed="rId5"/>
          <a:stretch>
            <a:fillRect/>
          </a:stretch>
        </p:blipFill>
        <p:spPr>
          <a:xfrm>
            <a:off x="11290769" y="1565211"/>
            <a:ext cx="134549" cy="195707"/>
          </a:xfrm>
          <a:prstGeom prst="rect">
            <a:avLst/>
          </a:prstGeom>
        </p:spPr>
      </p:pic>
      <p:sp>
        <p:nvSpPr>
          <p:cNvPr id="38" name="TextBox 37"/>
          <p:cNvSpPr txBox="1"/>
          <p:nvPr/>
        </p:nvSpPr>
        <p:spPr>
          <a:xfrm>
            <a:off x="11465878" y="157543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39" name="TextBox 38"/>
          <p:cNvSpPr txBox="1"/>
          <p:nvPr/>
        </p:nvSpPr>
        <p:spPr>
          <a:xfrm>
            <a:off x="7829550" y="1750695"/>
            <a:ext cx="3781933" cy="194310"/>
          </a:xfrm>
          <a:prstGeom prst="rect">
            <a:avLst/>
          </a:prstGeom>
          <a:noFill/>
        </p:spPr>
        <p:txBody>
          <a:bodyPr wrap="none" lIns="0" rIns="0" tIns="0" bIns="0">
            <a:spAutoFit/>
          </a:bodyPr>
          <a:lstStyle/>
          <a:p>
            <a:r>
              <a:rPr sz="1150" b="0">
                <a:solidFill>
                  <a:srgbClr val="2E2E2E"/>
                </a:solidFill>
                <a:latin typeface="Calibri"/>
              </a:rPr>
              <a:t>the forecast period. In terms of value share by powertrain, the</a:t>
            </a:r>
          </a:p>
        </p:txBody>
      </p:sp>
      <p:sp>
        <p:nvSpPr>
          <p:cNvPr id="40" name="TextBox 39"/>
          <p:cNvSpPr txBox="1"/>
          <p:nvPr/>
        </p:nvSpPr>
        <p:spPr>
          <a:xfrm>
            <a:off x="7829550" y="1925955"/>
            <a:ext cx="4032671" cy="194310"/>
          </a:xfrm>
          <a:prstGeom prst="rect">
            <a:avLst/>
          </a:prstGeom>
          <a:noFill/>
        </p:spPr>
        <p:txBody>
          <a:bodyPr wrap="none" lIns="0" rIns="0" tIns="0" bIns="0">
            <a:spAutoFit/>
          </a:bodyPr>
          <a:lstStyle/>
          <a:p>
            <a:r>
              <a:rPr sz="1150" b="0">
                <a:solidFill>
                  <a:srgbClr val="2E2E2E"/>
                </a:solidFill>
                <a:latin typeface="Calibri"/>
              </a:rPr>
              <a:t>battery electric vehicle (BEV) segment is expected to dominate the</a:t>
            </a:r>
          </a:p>
        </p:txBody>
      </p:sp>
      <p:sp>
        <p:nvSpPr>
          <p:cNvPr id="41" name="TextBox 40"/>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42" name="Picture 41" descr="lock.png"/>
          <p:cNvPicPr>
            <a:picLocks noChangeAspect="1"/>
          </p:cNvPicPr>
          <p:nvPr/>
        </p:nvPicPr>
        <p:blipFill>
          <a:blip r:embed="rId5"/>
          <a:stretch>
            <a:fillRect/>
          </a:stretch>
        </p:blipFill>
        <p:spPr>
          <a:xfrm>
            <a:off x="8778556" y="2090991"/>
            <a:ext cx="134549" cy="195707"/>
          </a:xfrm>
          <a:prstGeom prst="rect">
            <a:avLst/>
          </a:prstGeom>
        </p:spPr>
      </p:pic>
      <p:sp>
        <p:nvSpPr>
          <p:cNvPr id="43" name="TextBox 42"/>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4" name="Picture 43" descr="lock.png"/>
          <p:cNvPicPr>
            <a:picLocks noChangeAspect="1"/>
          </p:cNvPicPr>
          <p:nvPr/>
        </p:nvPicPr>
        <p:blipFill>
          <a:blip r:embed="rId5"/>
          <a:stretch>
            <a:fillRect/>
          </a:stretch>
        </p:blipFill>
        <p:spPr>
          <a:xfrm>
            <a:off x="10348808" y="2090991"/>
            <a:ext cx="134549" cy="195707"/>
          </a:xfrm>
          <a:prstGeom prst="rect">
            <a:avLst/>
          </a:prstGeom>
        </p:spPr>
      </p:pic>
      <p:sp>
        <p:nvSpPr>
          <p:cNvPr id="45" name="TextBox 44"/>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6" name="TextBox 45"/>
          <p:cNvSpPr txBox="1"/>
          <p:nvPr/>
        </p:nvSpPr>
        <p:spPr>
          <a:xfrm>
            <a:off x="7829550" y="2329053"/>
            <a:ext cx="3089051" cy="194310"/>
          </a:xfrm>
          <a:prstGeom prst="rect">
            <a:avLst/>
          </a:prstGeom>
          <a:noFill/>
        </p:spPr>
        <p:txBody>
          <a:bodyPr wrap="none" lIns="0" rIns="0" tIns="0" bIns="0">
            <a:spAutoFit/>
          </a:bodyPr>
          <a:lstStyle/>
          <a:p>
            <a:r>
              <a:rPr sz="1150" b="0">
                <a:solidFill>
                  <a:srgbClr val="2E2E2E"/>
                </a:solidFill>
                <a:latin typeface="Calibri"/>
              </a:rPr>
              <a:t>The hybrid powertrain segment is expected to lose</a:t>
            </a:r>
          </a:p>
        </p:txBody>
      </p:sp>
      <p:pic>
        <p:nvPicPr>
          <p:cNvPr id="47" name="Picture 46" descr="lock.png"/>
          <p:cNvPicPr>
            <a:picLocks noChangeAspect="1"/>
          </p:cNvPicPr>
          <p:nvPr/>
        </p:nvPicPr>
        <p:blipFill>
          <a:blip r:embed="rId5"/>
          <a:stretch>
            <a:fillRect/>
          </a:stretch>
        </p:blipFill>
        <p:spPr>
          <a:xfrm>
            <a:off x="10867755" y="2318829"/>
            <a:ext cx="134549" cy="195707"/>
          </a:xfrm>
          <a:prstGeom prst="rect">
            <a:avLst/>
          </a:prstGeom>
        </p:spPr>
      </p:pic>
      <p:sp>
        <p:nvSpPr>
          <p:cNvPr id="48" name="TextBox 47"/>
          <p:cNvSpPr txBox="1"/>
          <p:nvPr/>
        </p:nvSpPr>
        <p:spPr>
          <a:xfrm>
            <a:off x="11042864" y="2329053"/>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49" name="TextBox 48"/>
          <p:cNvSpPr txBox="1"/>
          <p:nvPr/>
        </p:nvSpPr>
        <p:spPr>
          <a:xfrm>
            <a:off x="7829550" y="2504313"/>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50" name="Picture 49" descr="lock.png"/>
          <p:cNvPicPr>
            <a:picLocks noChangeAspect="1"/>
          </p:cNvPicPr>
          <p:nvPr/>
        </p:nvPicPr>
        <p:blipFill>
          <a:blip r:embed="rId5"/>
          <a:stretch>
            <a:fillRect/>
          </a:stretch>
        </p:blipFill>
        <p:spPr>
          <a:xfrm>
            <a:off x="9861950" y="2494089"/>
            <a:ext cx="134549" cy="195707"/>
          </a:xfrm>
          <a:prstGeom prst="rect">
            <a:avLst/>
          </a:prstGeom>
        </p:spPr>
      </p:pic>
      <p:sp>
        <p:nvSpPr>
          <p:cNvPr id="51" name="TextBox 50"/>
          <p:cNvSpPr txBox="1"/>
          <p:nvPr/>
        </p:nvSpPr>
        <p:spPr>
          <a:xfrm>
            <a:off x="10037059"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2"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Vehicle Capacity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Vehicle Capacity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Vehicle Capacity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Vehicle Capacity,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Vehicle Capacity segment categorizes the market by vehicle capacity.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Heavy-Duty Vehicles</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Ultra-Heavy-Duty Vehicles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Compact / Light-Duty Vehicles</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Medium-Duty Vehicles</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Vehicle Capacity split shows how demand is distributed across vehicle capacity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153_698_605E5C.png"/>
          <p:cNvPicPr>
            <a:picLocks noChangeAspect="1"/>
          </p:cNvPicPr>
          <p:nvPr/>
        </p:nvPicPr>
        <p:blipFill>
          <a:blip r:embed="rId4"/>
          <a:stretch>
            <a:fillRect/>
          </a:stretch>
        </p:blipFill>
        <p:spPr>
          <a:xfrm>
            <a:off x="2259806" y="2286582"/>
            <a:ext cx="1628775" cy="361950"/>
          </a:xfrm>
          <a:prstGeom prst="rect">
            <a:avLst/>
          </a:prstGeom>
        </p:spPr>
      </p:pic>
      <p:pic>
        <p:nvPicPr>
          <p:cNvPr id="62" name="Picture 61" descr="241_373_605E5C.png"/>
          <p:cNvPicPr>
            <a:picLocks noChangeAspect="1"/>
          </p:cNvPicPr>
          <p:nvPr/>
        </p:nvPicPr>
        <p:blipFill>
          <a:blip r:embed="rId5"/>
          <a:stretch>
            <a:fillRect/>
          </a:stretch>
        </p:blipFill>
        <p:spPr>
          <a:xfrm>
            <a:off x="2259806" y="2779432"/>
            <a:ext cx="1628775" cy="361950"/>
          </a:xfrm>
          <a:prstGeom prst="rect">
            <a:avLst/>
          </a:prstGeom>
        </p:spPr>
      </p:pic>
      <p:pic>
        <p:nvPicPr>
          <p:cNvPr id="63" name="Picture 62" descr="4_6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90_240_605E5C.png"/>
          <p:cNvPicPr>
            <a:picLocks noChangeAspect="1"/>
          </p:cNvPicPr>
          <p:nvPr/>
        </p:nvPicPr>
        <p:blipFill>
          <a:blip r:embed="rId7"/>
          <a:stretch>
            <a:fillRect/>
          </a:stretch>
        </p:blipFill>
        <p:spPr>
          <a:xfrm>
            <a:off x="4898572" y="2286582"/>
            <a:ext cx="1409020" cy="361950"/>
          </a:xfrm>
          <a:prstGeom prst="rect">
            <a:avLst/>
          </a:prstGeom>
        </p:spPr>
      </p:pic>
      <p:pic>
        <p:nvPicPr>
          <p:cNvPr id="65" name="Picture 64" descr="93_804_605E5C.png"/>
          <p:cNvPicPr>
            <a:picLocks noChangeAspect="1"/>
          </p:cNvPicPr>
          <p:nvPr/>
        </p:nvPicPr>
        <p:blipFill>
          <a:blip r:embed="rId8"/>
          <a:stretch>
            <a:fillRect/>
          </a:stretch>
        </p:blipFill>
        <p:spPr>
          <a:xfrm>
            <a:off x="4898572" y="2779432"/>
            <a:ext cx="1409020" cy="361950"/>
          </a:xfrm>
          <a:prstGeom prst="rect">
            <a:avLst/>
          </a:prstGeom>
        </p:spPr>
      </p:pic>
      <p:pic>
        <p:nvPicPr>
          <p:cNvPr id="66" name="Picture 65" descr="0_4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83_595_605E5C.png"/>
          <p:cNvPicPr>
            <a:picLocks noChangeAspect="1"/>
          </p:cNvPicPr>
          <p:nvPr/>
        </p:nvPicPr>
        <p:blipFill>
          <a:blip r:embed="rId10"/>
          <a:stretch>
            <a:fillRect/>
          </a:stretch>
        </p:blipFill>
        <p:spPr>
          <a:xfrm>
            <a:off x="7427459" y="2286582"/>
            <a:ext cx="1409020" cy="361950"/>
          </a:xfrm>
          <a:prstGeom prst="rect">
            <a:avLst/>
          </a:prstGeom>
        </p:spPr>
      </p:pic>
      <p:pic>
        <p:nvPicPr>
          <p:cNvPr id="68" name="Picture 67" descr="146_658_605E5C.png"/>
          <p:cNvPicPr>
            <a:picLocks noChangeAspect="1"/>
          </p:cNvPicPr>
          <p:nvPr/>
        </p:nvPicPr>
        <p:blipFill>
          <a:blip r:embed="rId11"/>
          <a:stretch>
            <a:fillRect/>
          </a:stretch>
        </p:blipFill>
        <p:spPr>
          <a:xfrm>
            <a:off x="7317581" y="2779432"/>
            <a:ext cx="1628775" cy="361950"/>
          </a:xfrm>
          <a:prstGeom prst="rect">
            <a:avLst/>
          </a:prstGeom>
        </p:spPr>
      </p:pic>
      <p:pic>
        <p:nvPicPr>
          <p:cNvPr id="69" name="Picture 68" descr="5_8__605E5C.png"/>
          <p:cNvPicPr>
            <a:picLocks noChangeAspect="1"/>
          </p:cNvPicPr>
          <p:nvPr/>
        </p:nvPicPr>
        <p:blipFill>
          <a:blip r:embed="rId12"/>
          <a:stretch>
            <a:fillRect/>
          </a:stretch>
        </p:blipFill>
        <p:spPr>
          <a:xfrm>
            <a:off x="7640751" y="3272281"/>
            <a:ext cx="982436" cy="361950"/>
          </a:xfrm>
          <a:prstGeom prst="rect">
            <a:avLst/>
          </a:prstGeom>
        </p:spPr>
      </p:pic>
      <p:pic>
        <p:nvPicPr>
          <p:cNvPr id="70" name="Picture 69" descr="52_358_605E5C.png"/>
          <p:cNvPicPr>
            <a:picLocks noChangeAspect="1"/>
          </p:cNvPicPr>
          <p:nvPr/>
        </p:nvPicPr>
        <p:blipFill>
          <a:blip r:embed="rId13"/>
          <a:stretch>
            <a:fillRect/>
          </a:stretch>
        </p:blipFill>
        <p:spPr>
          <a:xfrm>
            <a:off x="9956346" y="2286582"/>
            <a:ext cx="1409020" cy="361950"/>
          </a:xfrm>
          <a:prstGeom prst="rect">
            <a:avLst/>
          </a:prstGeom>
        </p:spPr>
      </p:pic>
      <p:pic>
        <p:nvPicPr>
          <p:cNvPr id="71" name="Picture 70" descr="81_722_605E5C.png"/>
          <p:cNvPicPr>
            <a:picLocks noChangeAspect="1"/>
          </p:cNvPicPr>
          <p:nvPr/>
        </p:nvPicPr>
        <p:blipFill>
          <a:blip r:embed="rId14"/>
          <a:stretch>
            <a:fillRect/>
          </a:stretch>
        </p:blipFill>
        <p:spPr>
          <a:xfrm>
            <a:off x="9956346" y="2779432"/>
            <a:ext cx="1409020" cy="361950"/>
          </a:xfrm>
          <a:prstGeom prst="rect">
            <a:avLst/>
          </a:prstGeom>
        </p:spPr>
      </p:pic>
      <p:pic>
        <p:nvPicPr>
          <p:cNvPr id="72" name="Picture 71" descr="4_6__605E5C.png"/>
          <p:cNvPicPr>
            <a:picLocks noChangeAspect="1"/>
          </p:cNvPicPr>
          <p:nvPr/>
        </p:nvPicPr>
        <p:blipFill>
          <a:blip r:embed="rId6"/>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5"/>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5"/>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5"/>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5"/>
          <a:stretch>
            <a:fillRect/>
          </a:stretch>
        </p:blipFill>
        <p:spPr>
          <a:xfrm>
            <a:off x="10567511" y="2827057"/>
            <a:ext cx="183356" cy="266700"/>
          </a:xfrm>
          <a:prstGeom prst="rect">
            <a:avLst/>
          </a:prstGeom>
        </p:spPr>
      </p:pic>
      <p:sp>
        <p:nvSpPr>
          <p:cNvPr id="77" name="TextBox 76"/>
          <p:cNvSpPr txBox="1"/>
          <p:nvPr/>
        </p:nvSpPr>
        <p:spPr>
          <a:xfrm>
            <a:off x="485775" y="4229437"/>
            <a:ext cx="2753965" cy="186689"/>
          </a:xfrm>
          <a:prstGeom prst="rect">
            <a:avLst/>
          </a:prstGeom>
          <a:noFill/>
        </p:spPr>
        <p:txBody>
          <a:bodyPr wrap="none" lIns="0" rIns="0" tIns="0" bIns="0">
            <a:spAutoFit/>
          </a:bodyPr>
          <a:lstStyle/>
          <a:p>
            <a:r>
              <a:rPr sz="1100" b="0">
                <a:solidFill>
                  <a:srgbClr val="2E2E2E"/>
                </a:solidFill>
                <a:latin typeface="Calibri"/>
              </a:rPr>
              <a:t>Among off-highway vehicle by vehicle capacity,</a:t>
            </a:r>
          </a:p>
        </p:txBody>
      </p:sp>
      <p:sp>
        <p:nvSpPr>
          <p:cNvPr id="78" name="TextBox 77"/>
          <p:cNvSpPr txBox="1"/>
          <p:nvPr/>
        </p:nvSpPr>
        <p:spPr>
          <a:xfrm>
            <a:off x="485775" y="4397077"/>
            <a:ext cx="2914650" cy="186689"/>
          </a:xfrm>
          <a:prstGeom prst="rect">
            <a:avLst/>
          </a:prstGeom>
          <a:noFill/>
        </p:spPr>
        <p:txBody>
          <a:bodyPr wrap="none" lIns="0" rIns="0" tIns="0" bIns="0">
            <a:spAutoFit/>
          </a:bodyPr>
          <a:lstStyle/>
          <a:p>
            <a:r>
              <a:rPr sz="1100" b="0">
                <a:solidFill>
                  <a:srgbClr val="2E2E2E"/>
                </a:solidFill>
                <a:latin typeface="Calibri"/>
              </a:rPr>
              <a:t>compact / light-duty vehicles segment is expected</a:t>
            </a:r>
          </a:p>
        </p:txBody>
      </p:sp>
      <p:sp>
        <p:nvSpPr>
          <p:cNvPr id="79" name="TextBox 78"/>
          <p:cNvSpPr txBox="1"/>
          <p:nvPr/>
        </p:nvSpPr>
        <p:spPr>
          <a:xfrm>
            <a:off x="485775" y="4564717"/>
            <a:ext cx="1827344" cy="186689"/>
          </a:xfrm>
          <a:prstGeom prst="rect">
            <a:avLst/>
          </a:prstGeom>
          <a:noFill/>
        </p:spPr>
        <p:txBody>
          <a:bodyPr wrap="none" lIns="0" rIns="0" tIns="0" bIns="0">
            <a:spAutoFit/>
          </a:bodyPr>
          <a:lstStyle/>
          <a:p>
            <a:r>
              <a:rPr sz="1100" b="0">
                <a:solidFill>
                  <a:srgbClr val="2E2E2E"/>
                </a:solidFill>
                <a:latin typeface="Calibri"/>
              </a:rPr>
              <a:t>to witness the highest CAGR of</a:t>
            </a:r>
          </a:p>
        </p:txBody>
      </p:sp>
      <p:pic>
        <p:nvPicPr>
          <p:cNvPr id="80" name="Picture 79" descr="lock.png"/>
          <p:cNvPicPr>
            <a:picLocks noChangeAspect="1"/>
          </p:cNvPicPr>
          <p:nvPr/>
        </p:nvPicPr>
        <p:blipFill>
          <a:blip r:embed="rId15"/>
          <a:stretch>
            <a:fillRect/>
          </a:stretch>
        </p:blipFill>
        <p:spPr>
          <a:xfrm>
            <a:off x="2261170" y="4554938"/>
            <a:ext cx="128699" cy="187198"/>
          </a:xfrm>
          <a:prstGeom prst="rect">
            <a:avLst/>
          </a:prstGeom>
        </p:spPr>
      </p:pic>
      <p:sp>
        <p:nvSpPr>
          <p:cNvPr id="81" name="TextBox 80"/>
          <p:cNvSpPr txBox="1"/>
          <p:nvPr/>
        </p:nvSpPr>
        <p:spPr>
          <a:xfrm>
            <a:off x="2428666" y="4564717"/>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82" name="TextBox 81"/>
          <p:cNvSpPr txBox="1"/>
          <p:nvPr/>
        </p:nvSpPr>
        <p:spPr>
          <a:xfrm>
            <a:off x="485775" y="4732357"/>
            <a:ext cx="2908399" cy="186689"/>
          </a:xfrm>
          <a:prstGeom prst="rect">
            <a:avLst/>
          </a:prstGeom>
          <a:noFill/>
        </p:spPr>
        <p:txBody>
          <a:bodyPr wrap="none" lIns="0" rIns="0" tIns="0" bIns="0">
            <a:spAutoFit/>
          </a:bodyPr>
          <a:lstStyle/>
          <a:p>
            <a:r>
              <a:rPr sz="1100" b="0">
                <a:solidFill>
                  <a:srgbClr val="2E2E2E"/>
                </a:solidFill>
                <a:latin typeface="Calibri"/>
              </a:rPr>
              <a:t>forecast period. In terms of value share by vehicle</a:t>
            </a:r>
          </a:p>
        </p:txBody>
      </p:sp>
      <p:sp>
        <p:nvSpPr>
          <p:cNvPr id="83" name="TextBox 82"/>
          <p:cNvSpPr txBox="1"/>
          <p:nvPr/>
        </p:nvSpPr>
        <p:spPr>
          <a:xfrm>
            <a:off x="485775" y="4899997"/>
            <a:ext cx="2595165" cy="186689"/>
          </a:xfrm>
          <a:prstGeom prst="rect">
            <a:avLst/>
          </a:prstGeom>
          <a:noFill/>
        </p:spPr>
        <p:txBody>
          <a:bodyPr wrap="none" lIns="0" rIns="0" tIns="0" bIns="0">
            <a:spAutoFit/>
          </a:bodyPr>
          <a:lstStyle/>
          <a:p>
            <a:r>
              <a:rPr sz="1100" b="0">
                <a:solidFill>
                  <a:srgbClr val="2E2E2E"/>
                </a:solidFill>
                <a:latin typeface="Calibri"/>
              </a:rPr>
              <a:t>capacity, the heavy-duty vehicles segment is</a:t>
            </a:r>
          </a:p>
        </p:txBody>
      </p:sp>
      <p:sp>
        <p:nvSpPr>
          <p:cNvPr id="84" name="TextBox 83"/>
          <p:cNvSpPr txBox="1"/>
          <p:nvPr/>
        </p:nvSpPr>
        <p:spPr>
          <a:xfrm>
            <a:off x="485775" y="5067637"/>
            <a:ext cx="2466652" cy="186689"/>
          </a:xfrm>
          <a:prstGeom prst="rect">
            <a:avLst/>
          </a:prstGeom>
          <a:noFill/>
        </p:spPr>
        <p:txBody>
          <a:bodyPr wrap="none" lIns="0" rIns="0" tIns="0" bIns="0">
            <a:spAutoFit/>
          </a:bodyPr>
          <a:lstStyle/>
          <a:p>
            <a:r>
              <a:rPr sz="1100" b="0">
                <a:solidFill>
                  <a:srgbClr val="2E2E2E"/>
                </a:solidFill>
                <a:latin typeface="Calibri"/>
              </a:rPr>
              <a:t>expected to dominate the market, gaining</a:t>
            </a:r>
          </a:p>
        </p:txBody>
      </p:sp>
      <p:pic>
        <p:nvPicPr>
          <p:cNvPr id="85" name="Picture 84" descr="lock.png"/>
          <p:cNvPicPr>
            <a:picLocks noChangeAspect="1"/>
          </p:cNvPicPr>
          <p:nvPr/>
        </p:nvPicPr>
        <p:blipFill>
          <a:blip r:embed="rId15"/>
          <a:stretch>
            <a:fillRect/>
          </a:stretch>
        </p:blipFill>
        <p:spPr>
          <a:xfrm>
            <a:off x="2900479" y="5057858"/>
            <a:ext cx="128699" cy="187198"/>
          </a:xfrm>
          <a:prstGeom prst="rect">
            <a:avLst/>
          </a:prstGeom>
        </p:spPr>
      </p:pic>
      <p:sp>
        <p:nvSpPr>
          <p:cNvPr id="86" name="TextBox 85"/>
          <p:cNvSpPr txBox="1"/>
          <p:nvPr/>
        </p:nvSpPr>
        <p:spPr>
          <a:xfrm>
            <a:off x="3067974" y="5067637"/>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87" name="TextBox 86"/>
          <p:cNvSpPr txBox="1"/>
          <p:nvPr/>
        </p:nvSpPr>
        <p:spPr>
          <a:xfrm>
            <a:off x="485775" y="5235277"/>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88" name="Picture 87" descr="lock.png"/>
          <p:cNvPicPr>
            <a:picLocks noChangeAspect="1"/>
          </p:cNvPicPr>
          <p:nvPr/>
        </p:nvPicPr>
        <p:blipFill>
          <a:blip r:embed="rId15"/>
          <a:stretch>
            <a:fillRect/>
          </a:stretch>
        </p:blipFill>
        <p:spPr>
          <a:xfrm>
            <a:off x="1576057" y="5225498"/>
            <a:ext cx="128699" cy="187198"/>
          </a:xfrm>
          <a:prstGeom prst="rect">
            <a:avLst/>
          </a:prstGeom>
        </p:spPr>
      </p:pic>
      <p:sp>
        <p:nvSpPr>
          <p:cNvPr id="89" name="TextBox 88"/>
          <p:cNvSpPr txBox="1"/>
          <p:nvPr/>
        </p:nvSpPr>
        <p:spPr>
          <a:xfrm>
            <a:off x="1743553" y="523527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90" name="TextBox 89"/>
          <p:cNvSpPr txBox="1"/>
          <p:nvPr/>
        </p:nvSpPr>
        <p:spPr>
          <a:xfrm>
            <a:off x="485775" y="5453209"/>
            <a:ext cx="2584797" cy="186689"/>
          </a:xfrm>
          <a:prstGeom prst="rect">
            <a:avLst/>
          </a:prstGeom>
          <a:noFill/>
        </p:spPr>
        <p:txBody>
          <a:bodyPr wrap="none" lIns="0" rIns="0" tIns="0" bIns="0">
            <a:spAutoFit/>
          </a:bodyPr>
          <a:lstStyle/>
          <a:p>
            <a:r>
              <a:rPr sz="1100" b="0">
                <a:solidFill>
                  <a:srgbClr val="2E2E2E"/>
                </a:solidFill>
                <a:latin typeface="Calibri"/>
              </a:rPr>
              <a:t>Heavy-duty vehicles segment is projected to</a:t>
            </a:r>
          </a:p>
        </p:txBody>
      </p:sp>
      <p:sp>
        <p:nvSpPr>
          <p:cNvPr id="91" name="TextBox 90"/>
          <p:cNvSpPr txBox="1"/>
          <p:nvPr/>
        </p:nvSpPr>
        <p:spPr>
          <a:xfrm>
            <a:off x="485775" y="562084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92" name="Picture 91" descr="lock.png"/>
          <p:cNvPicPr>
            <a:picLocks noChangeAspect="1"/>
          </p:cNvPicPr>
          <p:nvPr/>
        </p:nvPicPr>
        <p:blipFill>
          <a:blip r:embed="rId15"/>
          <a:stretch>
            <a:fillRect/>
          </a:stretch>
        </p:blipFill>
        <p:spPr>
          <a:xfrm>
            <a:off x="946316" y="5611070"/>
            <a:ext cx="128699" cy="187198"/>
          </a:xfrm>
          <a:prstGeom prst="rect">
            <a:avLst/>
          </a:prstGeom>
        </p:spPr>
      </p:pic>
      <p:sp>
        <p:nvSpPr>
          <p:cNvPr id="93" name="TextBox 92"/>
          <p:cNvSpPr txBox="1"/>
          <p:nvPr/>
        </p:nvSpPr>
        <p:spPr>
          <a:xfrm>
            <a:off x="1113812" y="5620849"/>
            <a:ext cx="1780703" cy="186689"/>
          </a:xfrm>
          <a:prstGeom prst="rect">
            <a:avLst/>
          </a:prstGeom>
          <a:noFill/>
        </p:spPr>
        <p:txBody>
          <a:bodyPr wrap="none" lIns="0" rIns="0" tIns="0" bIns="0">
            <a:spAutoFit/>
          </a:bodyPr>
          <a:lstStyle/>
          <a:p>
            <a:r>
              <a:rPr sz="1100" b="0">
                <a:solidFill>
                  <a:srgbClr val="2E2E2E"/>
                </a:solidFill>
                <a:latin typeface="Calibri"/>
              </a:rPr>
              <a:t>X higher value than compact /</a:t>
            </a:r>
          </a:p>
        </p:txBody>
      </p:sp>
      <p:sp>
        <p:nvSpPr>
          <p:cNvPr id="94" name="TextBox 93"/>
          <p:cNvSpPr txBox="1"/>
          <p:nvPr/>
        </p:nvSpPr>
        <p:spPr>
          <a:xfrm>
            <a:off x="485775" y="5788489"/>
            <a:ext cx="2122859" cy="186689"/>
          </a:xfrm>
          <a:prstGeom prst="rect">
            <a:avLst/>
          </a:prstGeom>
          <a:noFill/>
        </p:spPr>
        <p:txBody>
          <a:bodyPr wrap="none" lIns="0" rIns="0" tIns="0" bIns="0">
            <a:spAutoFit/>
          </a:bodyPr>
          <a:lstStyle/>
          <a:p>
            <a:r>
              <a:rPr sz="1100" b="0">
                <a:solidFill>
                  <a:srgbClr val="2E2E2E"/>
                </a:solidFill>
                <a:latin typeface="Calibri"/>
              </a:rPr>
              <a:t>light-duty vehicles segment in 2036.</a:t>
            </a:r>
          </a:p>
        </p:txBody>
      </p:sp>
      <p:sp>
        <p:nvSpPr>
          <p:cNvPr id="95" name="TextBox 94"/>
          <p:cNvSpPr txBox="1"/>
          <p:nvPr/>
        </p:nvSpPr>
        <p:spPr>
          <a:xfrm>
            <a:off x="3838575" y="4229437"/>
            <a:ext cx="1393527" cy="186689"/>
          </a:xfrm>
          <a:prstGeom prst="rect">
            <a:avLst/>
          </a:prstGeom>
          <a:noFill/>
        </p:spPr>
        <p:txBody>
          <a:bodyPr wrap="none" lIns="0" rIns="0" tIns="0" bIns="0">
            <a:spAutoFit/>
          </a:bodyPr>
          <a:lstStyle/>
          <a:p>
            <a:r>
              <a:rPr sz="1100" b="0">
                <a:solidFill>
                  <a:srgbClr val="2E2E2E"/>
                </a:solidFill>
                <a:latin typeface="Calibri"/>
              </a:rPr>
              <a:t>● Heavy-Duty Vehicles:</a:t>
            </a:r>
          </a:p>
        </p:txBody>
      </p:sp>
      <p:pic>
        <p:nvPicPr>
          <p:cNvPr id="96" name="Picture 95" descr="lock.png"/>
          <p:cNvPicPr>
            <a:picLocks noChangeAspect="1"/>
          </p:cNvPicPr>
          <p:nvPr/>
        </p:nvPicPr>
        <p:blipFill>
          <a:blip r:embed="rId15"/>
          <a:stretch>
            <a:fillRect/>
          </a:stretch>
        </p:blipFill>
        <p:spPr>
          <a:xfrm>
            <a:off x="5180153" y="4219658"/>
            <a:ext cx="128699" cy="187198"/>
          </a:xfrm>
          <a:prstGeom prst="rect">
            <a:avLst/>
          </a:prstGeom>
        </p:spPr>
      </p:pic>
      <p:sp>
        <p:nvSpPr>
          <p:cNvPr id="97" name="TextBox 96"/>
          <p:cNvSpPr txBox="1"/>
          <p:nvPr/>
        </p:nvSpPr>
        <p:spPr>
          <a:xfrm>
            <a:off x="534764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5"/>
          <a:stretch>
            <a:fillRect/>
          </a:stretch>
        </p:blipFill>
        <p:spPr>
          <a:xfrm>
            <a:off x="6207099" y="4219658"/>
            <a:ext cx="128699" cy="187198"/>
          </a:xfrm>
          <a:prstGeom prst="rect">
            <a:avLst/>
          </a:prstGeom>
        </p:spPr>
      </p:pic>
      <p:sp>
        <p:nvSpPr>
          <p:cNvPr id="99" name="TextBox 98"/>
          <p:cNvSpPr txBox="1"/>
          <p:nvPr/>
        </p:nvSpPr>
        <p:spPr>
          <a:xfrm>
            <a:off x="6374595"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100" name="TextBox 99"/>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101" name="TextBox 100"/>
          <p:cNvSpPr txBox="1"/>
          <p:nvPr/>
        </p:nvSpPr>
        <p:spPr>
          <a:xfrm>
            <a:off x="3838575" y="4615009"/>
            <a:ext cx="1720949" cy="186689"/>
          </a:xfrm>
          <a:prstGeom prst="rect">
            <a:avLst/>
          </a:prstGeom>
          <a:noFill/>
        </p:spPr>
        <p:txBody>
          <a:bodyPr wrap="none" lIns="0" rIns="0" tIns="0" bIns="0">
            <a:spAutoFit/>
          </a:bodyPr>
          <a:lstStyle/>
          <a:p>
            <a:r>
              <a:rPr sz="1100" b="0">
                <a:solidFill>
                  <a:srgbClr val="2E2E2E"/>
                </a:solidFill>
                <a:latin typeface="Calibri"/>
              </a:rPr>
              <a:t>● Ultra-Heavy-Duty Vehicles:</a:t>
            </a:r>
          </a:p>
        </p:txBody>
      </p:sp>
      <p:pic>
        <p:nvPicPr>
          <p:cNvPr id="102" name="Picture 101" descr="lock.png"/>
          <p:cNvPicPr>
            <a:picLocks noChangeAspect="1"/>
          </p:cNvPicPr>
          <p:nvPr/>
        </p:nvPicPr>
        <p:blipFill>
          <a:blip r:embed="rId15"/>
          <a:stretch>
            <a:fillRect/>
          </a:stretch>
        </p:blipFill>
        <p:spPr>
          <a:xfrm>
            <a:off x="5507575" y="4605230"/>
            <a:ext cx="128699" cy="187198"/>
          </a:xfrm>
          <a:prstGeom prst="rect">
            <a:avLst/>
          </a:prstGeom>
        </p:spPr>
      </p:pic>
      <p:sp>
        <p:nvSpPr>
          <p:cNvPr id="103" name="TextBox 102"/>
          <p:cNvSpPr txBox="1"/>
          <p:nvPr/>
        </p:nvSpPr>
        <p:spPr>
          <a:xfrm>
            <a:off x="5675071"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4" name="Picture 103" descr="lock.png"/>
          <p:cNvPicPr>
            <a:picLocks noChangeAspect="1"/>
          </p:cNvPicPr>
          <p:nvPr/>
        </p:nvPicPr>
        <p:blipFill>
          <a:blip r:embed="rId15"/>
          <a:stretch>
            <a:fillRect/>
          </a:stretch>
        </p:blipFill>
        <p:spPr>
          <a:xfrm>
            <a:off x="6534521" y="4605230"/>
            <a:ext cx="128699" cy="187198"/>
          </a:xfrm>
          <a:prstGeom prst="rect">
            <a:avLst/>
          </a:prstGeom>
        </p:spPr>
      </p:pic>
      <p:sp>
        <p:nvSpPr>
          <p:cNvPr id="105" name="TextBox 104"/>
          <p:cNvSpPr txBox="1"/>
          <p:nvPr/>
        </p:nvSpPr>
        <p:spPr>
          <a:xfrm>
            <a:off x="6702017" y="4615009"/>
            <a:ext cx="885733" cy="186689"/>
          </a:xfrm>
          <a:prstGeom prst="rect">
            <a:avLst/>
          </a:prstGeom>
          <a:noFill/>
        </p:spPr>
        <p:txBody>
          <a:bodyPr wrap="none" lIns="0" rIns="0" tIns="0" bIns="0">
            <a:spAutoFit/>
          </a:bodyPr>
          <a:lstStyle/>
          <a:p>
            <a:r>
              <a:rPr sz="1100" b="0">
                <a:solidFill>
                  <a:srgbClr val="2E2E2E"/>
                </a:solidFill>
                <a:latin typeface="Calibri"/>
              </a:rPr>
              <a:t>CAGR serves a</a:t>
            </a:r>
          </a:p>
        </p:txBody>
      </p:sp>
      <p:sp>
        <p:nvSpPr>
          <p:cNvPr id="106" name="TextBox 105"/>
          <p:cNvSpPr txBox="1"/>
          <p:nvPr/>
        </p:nvSpPr>
        <p:spPr>
          <a:xfrm>
            <a:off x="3838575" y="4782649"/>
            <a:ext cx="419174" cy="186689"/>
          </a:xfrm>
          <a:prstGeom prst="rect">
            <a:avLst/>
          </a:prstGeom>
          <a:noFill/>
        </p:spPr>
        <p:txBody>
          <a:bodyPr wrap="none" lIns="0" rIns="0" tIns="0" bIns="0">
            <a:spAutoFit/>
          </a:bodyPr>
          <a:lstStyle/>
          <a:p>
            <a:r>
              <a:rPr sz="1100" b="0">
                <a:solidFill>
                  <a:srgbClr val="2E2E2E"/>
                </a:solidFill>
                <a:latin typeface="Calibri"/>
              </a:rPr>
              <a:t>niche.</a:t>
            </a:r>
          </a:p>
        </p:txBody>
      </p:sp>
      <p:sp>
        <p:nvSpPr>
          <p:cNvPr id="107" name="TextBox 106"/>
          <p:cNvSpPr txBox="1"/>
          <p:nvPr/>
        </p:nvSpPr>
        <p:spPr>
          <a:xfrm>
            <a:off x="3838575" y="5000581"/>
            <a:ext cx="1944141" cy="186689"/>
          </a:xfrm>
          <a:prstGeom prst="rect">
            <a:avLst/>
          </a:prstGeom>
          <a:noFill/>
        </p:spPr>
        <p:txBody>
          <a:bodyPr wrap="none" lIns="0" rIns="0" tIns="0" bIns="0">
            <a:spAutoFit/>
          </a:bodyPr>
          <a:lstStyle/>
          <a:p>
            <a:r>
              <a:rPr sz="1100" b="0">
                <a:solidFill>
                  <a:srgbClr val="2E2E2E"/>
                </a:solidFill>
                <a:latin typeface="Calibri"/>
              </a:rPr>
              <a:t>● Compact / Light-Duty Vehicles:</a:t>
            </a:r>
          </a:p>
        </p:txBody>
      </p:sp>
      <p:pic>
        <p:nvPicPr>
          <p:cNvPr id="108" name="Picture 107" descr="lock.png"/>
          <p:cNvPicPr>
            <a:picLocks noChangeAspect="1"/>
          </p:cNvPicPr>
          <p:nvPr/>
        </p:nvPicPr>
        <p:blipFill>
          <a:blip r:embed="rId15"/>
          <a:stretch>
            <a:fillRect/>
          </a:stretch>
        </p:blipFill>
        <p:spPr>
          <a:xfrm>
            <a:off x="5730768" y="4990801"/>
            <a:ext cx="128699" cy="187198"/>
          </a:xfrm>
          <a:prstGeom prst="rect">
            <a:avLst/>
          </a:prstGeom>
        </p:spPr>
      </p:pic>
      <p:sp>
        <p:nvSpPr>
          <p:cNvPr id="109" name="TextBox 108"/>
          <p:cNvSpPr txBox="1"/>
          <p:nvPr/>
        </p:nvSpPr>
        <p:spPr>
          <a:xfrm>
            <a:off x="5898264"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0" name="Picture 109" descr="lock.png"/>
          <p:cNvPicPr>
            <a:picLocks noChangeAspect="1"/>
          </p:cNvPicPr>
          <p:nvPr/>
        </p:nvPicPr>
        <p:blipFill>
          <a:blip r:embed="rId15"/>
          <a:stretch>
            <a:fillRect/>
          </a:stretch>
        </p:blipFill>
        <p:spPr>
          <a:xfrm>
            <a:off x="6757714" y="4990801"/>
            <a:ext cx="128699" cy="187198"/>
          </a:xfrm>
          <a:prstGeom prst="rect">
            <a:avLst/>
          </a:prstGeom>
        </p:spPr>
      </p:pic>
      <p:sp>
        <p:nvSpPr>
          <p:cNvPr id="111" name="TextBox 110"/>
          <p:cNvSpPr txBox="1"/>
          <p:nvPr/>
        </p:nvSpPr>
        <p:spPr>
          <a:xfrm>
            <a:off x="6925210" y="5000581"/>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112" name="TextBox 111"/>
          <p:cNvSpPr txBox="1"/>
          <p:nvPr/>
        </p:nvSpPr>
        <p:spPr>
          <a:xfrm>
            <a:off x="3838575" y="5168221"/>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113" name="TextBox 112"/>
          <p:cNvSpPr txBox="1"/>
          <p:nvPr/>
        </p:nvSpPr>
        <p:spPr>
          <a:xfrm>
            <a:off x="3838575" y="5386153"/>
            <a:ext cx="1523404" cy="186689"/>
          </a:xfrm>
          <a:prstGeom prst="rect">
            <a:avLst/>
          </a:prstGeom>
          <a:noFill/>
        </p:spPr>
        <p:txBody>
          <a:bodyPr wrap="none" lIns="0" rIns="0" tIns="0" bIns="0">
            <a:spAutoFit/>
          </a:bodyPr>
          <a:lstStyle/>
          <a:p>
            <a:r>
              <a:rPr sz="1100" b="0">
                <a:solidFill>
                  <a:srgbClr val="2E2E2E"/>
                </a:solidFill>
                <a:latin typeface="Calibri"/>
              </a:rPr>
              <a:t>● Medium-Duty Vehicles:</a:t>
            </a:r>
          </a:p>
        </p:txBody>
      </p:sp>
      <p:pic>
        <p:nvPicPr>
          <p:cNvPr id="114" name="Picture 113" descr="lock.png"/>
          <p:cNvPicPr>
            <a:picLocks noChangeAspect="1"/>
          </p:cNvPicPr>
          <p:nvPr/>
        </p:nvPicPr>
        <p:blipFill>
          <a:blip r:embed="rId15"/>
          <a:stretch>
            <a:fillRect/>
          </a:stretch>
        </p:blipFill>
        <p:spPr>
          <a:xfrm>
            <a:off x="5310031" y="5376373"/>
            <a:ext cx="128699" cy="187198"/>
          </a:xfrm>
          <a:prstGeom prst="rect">
            <a:avLst/>
          </a:prstGeom>
        </p:spPr>
      </p:pic>
      <p:sp>
        <p:nvSpPr>
          <p:cNvPr id="115" name="TextBox 114"/>
          <p:cNvSpPr txBox="1"/>
          <p:nvPr/>
        </p:nvSpPr>
        <p:spPr>
          <a:xfrm>
            <a:off x="5477527"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6" name="Picture 115" descr="lock.png"/>
          <p:cNvPicPr>
            <a:picLocks noChangeAspect="1"/>
          </p:cNvPicPr>
          <p:nvPr/>
        </p:nvPicPr>
        <p:blipFill>
          <a:blip r:embed="rId15"/>
          <a:stretch>
            <a:fillRect/>
          </a:stretch>
        </p:blipFill>
        <p:spPr>
          <a:xfrm>
            <a:off x="6336977" y="5376373"/>
            <a:ext cx="128699" cy="187198"/>
          </a:xfrm>
          <a:prstGeom prst="rect">
            <a:avLst/>
          </a:prstGeom>
        </p:spPr>
      </p:pic>
      <p:sp>
        <p:nvSpPr>
          <p:cNvPr id="117" name="TextBox 116"/>
          <p:cNvSpPr txBox="1"/>
          <p:nvPr/>
        </p:nvSpPr>
        <p:spPr>
          <a:xfrm>
            <a:off x="6504473" y="5386153"/>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18" name="TextBox 117"/>
          <p:cNvSpPr txBox="1"/>
          <p:nvPr/>
        </p:nvSpPr>
        <p:spPr>
          <a:xfrm>
            <a:off x="8524875" y="5842641"/>
            <a:ext cx="3132980" cy="194310"/>
          </a:xfrm>
          <a:prstGeom prst="rect">
            <a:avLst/>
          </a:prstGeom>
          <a:noFill/>
        </p:spPr>
        <p:txBody>
          <a:bodyPr wrap="none" lIns="0" rIns="0" tIns="0" bIns="0">
            <a:spAutoFit/>
          </a:bodyPr>
          <a:lstStyle/>
          <a:p>
            <a:r>
              <a:rPr sz="1150" b="1">
                <a:solidFill>
                  <a:srgbClr val="0B2E4A"/>
                </a:solidFill>
                <a:latin typeface="Calibri"/>
              </a:rPr>
              <a:t>The Vehicle Capacity segment is projected to grow</a:t>
            </a:r>
          </a:p>
        </p:txBody>
      </p:sp>
      <p:sp>
        <p:nvSpPr>
          <p:cNvPr id="119" name="TextBox 118"/>
          <p:cNvSpPr txBox="1"/>
          <p:nvPr/>
        </p:nvSpPr>
        <p:spPr>
          <a:xfrm>
            <a:off x="8524875" y="6017901"/>
            <a:ext cx="836089" cy="194310"/>
          </a:xfrm>
          <a:prstGeom prst="rect">
            <a:avLst/>
          </a:prstGeom>
          <a:noFill/>
        </p:spPr>
        <p:txBody>
          <a:bodyPr wrap="none" lIns="0" rIns="0" tIns="0" bIns="0">
            <a:spAutoFit/>
          </a:bodyPr>
          <a:lstStyle/>
          <a:p>
            <a:r>
              <a:rPr sz="1150" b="1">
                <a:solidFill>
                  <a:srgbClr val="0B2E4A"/>
                </a:solidFill>
                <a:latin typeface="Calibri"/>
              </a:rPr>
              <a:t>at a CAGR of</a:t>
            </a:r>
          </a:p>
        </p:txBody>
      </p:sp>
      <p:pic>
        <p:nvPicPr>
          <p:cNvPr id="120" name="Picture 119" descr="lock.png"/>
          <p:cNvPicPr>
            <a:picLocks noChangeAspect="1"/>
          </p:cNvPicPr>
          <p:nvPr/>
        </p:nvPicPr>
        <p:blipFill>
          <a:blip r:embed="rId15"/>
          <a:stretch>
            <a:fillRect/>
          </a:stretch>
        </p:blipFill>
        <p:spPr>
          <a:xfrm>
            <a:off x="9310118" y="6007677"/>
            <a:ext cx="134549" cy="195707"/>
          </a:xfrm>
          <a:prstGeom prst="rect">
            <a:avLst/>
          </a:prstGeom>
        </p:spPr>
      </p:pic>
      <p:sp>
        <p:nvSpPr>
          <p:cNvPr id="121" name="TextBox 120"/>
          <p:cNvSpPr txBox="1"/>
          <p:nvPr/>
        </p:nvSpPr>
        <p:spPr>
          <a:xfrm>
            <a:off x="9485227"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Vehicle Capacity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Vehicle Capacity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Capacity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Vehicle Capacity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634737" cy="186689"/>
          </a:xfrm>
          <a:prstGeom prst="rect">
            <a:avLst/>
          </a:prstGeom>
          <a:noFill/>
        </p:spPr>
        <p:txBody>
          <a:bodyPr wrap="none" lIns="0" rIns="0" tIns="0" bIns="0">
            <a:spAutoFit/>
          </a:bodyPr>
          <a:lstStyle/>
          <a:p>
            <a:r>
              <a:rPr sz="1100" b="0">
                <a:solidFill>
                  <a:srgbClr val="2E2E2E"/>
                </a:solidFill>
                <a:latin typeface="Calibri"/>
              </a:rPr>
              <a:t>Heavy-duty vehicles followed by compact / light-duty vehicles are expected to be the two most attractive vehicle capacity segments in the North America off-highway vehicle market in terms of value over</a:t>
            </a:r>
          </a:p>
        </p:txBody>
      </p:sp>
      <p:sp>
        <p:nvSpPr>
          <p:cNvPr id="18" name="TextBox 17"/>
          <p:cNvSpPr txBox="1"/>
          <p:nvPr/>
        </p:nvSpPr>
        <p:spPr>
          <a:xfrm>
            <a:off x="257175" y="5861685"/>
            <a:ext cx="5695015" cy="186689"/>
          </a:xfrm>
          <a:prstGeom prst="rect">
            <a:avLst/>
          </a:prstGeom>
          <a:noFill/>
        </p:spPr>
        <p:txBody>
          <a:bodyPr wrap="none" lIns="0" rIns="0" tIns="0" bIns="0">
            <a:spAutoFit/>
          </a:bodyPr>
          <a:lstStyle/>
          <a:p>
            <a:r>
              <a:rPr sz="1100" b="0">
                <a:solidFill>
                  <a:srgbClr val="2E2E2E"/>
                </a:solidFill>
                <a:latin typeface="Calibri"/>
              </a:rPr>
              <a:t>the forecast period. Heavy-Duty vehicles and compact / Light-Duty vehicles exhibit a CAGR index of</a:t>
            </a:r>
          </a:p>
        </p:txBody>
      </p:sp>
      <p:pic>
        <p:nvPicPr>
          <p:cNvPr id="19" name="Picture 18" descr="lock.png"/>
          <p:cNvPicPr>
            <a:picLocks noChangeAspect="1"/>
          </p:cNvPicPr>
          <p:nvPr/>
        </p:nvPicPr>
        <p:blipFill>
          <a:blip r:embed="rId6"/>
          <a:stretch>
            <a:fillRect/>
          </a:stretch>
        </p:blipFill>
        <p:spPr>
          <a:xfrm>
            <a:off x="5900241" y="5851905"/>
            <a:ext cx="128699" cy="187198"/>
          </a:xfrm>
          <a:prstGeom prst="rect">
            <a:avLst/>
          </a:prstGeom>
        </p:spPr>
      </p:pic>
      <p:sp>
        <p:nvSpPr>
          <p:cNvPr id="20" name="TextBox 19"/>
          <p:cNvSpPr txBox="1"/>
          <p:nvPr/>
        </p:nvSpPr>
        <p:spPr>
          <a:xfrm>
            <a:off x="606773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6305631" y="5851905"/>
            <a:ext cx="128699" cy="187198"/>
          </a:xfrm>
          <a:prstGeom prst="rect">
            <a:avLst/>
          </a:prstGeom>
        </p:spPr>
      </p:pic>
      <p:sp>
        <p:nvSpPr>
          <p:cNvPr id="22" name="TextBox 21"/>
          <p:cNvSpPr txBox="1"/>
          <p:nvPr/>
        </p:nvSpPr>
        <p:spPr>
          <a:xfrm>
            <a:off x="6473127"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8082101" y="5851905"/>
            <a:ext cx="128699" cy="187198"/>
          </a:xfrm>
          <a:prstGeom prst="rect">
            <a:avLst/>
          </a:prstGeom>
        </p:spPr>
      </p:pic>
      <p:sp>
        <p:nvSpPr>
          <p:cNvPr id="24" name="TextBox 23"/>
          <p:cNvSpPr txBox="1"/>
          <p:nvPr/>
        </p:nvSpPr>
        <p:spPr>
          <a:xfrm>
            <a:off x="8249597"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8487491" y="5851905"/>
            <a:ext cx="128699" cy="187198"/>
          </a:xfrm>
          <a:prstGeom prst="rect">
            <a:avLst/>
          </a:prstGeom>
        </p:spPr>
      </p:pic>
      <p:sp>
        <p:nvSpPr>
          <p:cNvPr id="26" name="TextBox 25"/>
          <p:cNvSpPr txBox="1"/>
          <p:nvPr/>
        </p:nvSpPr>
        <p:spPr>
          <a:xfrm>
            <a:off x="8654987"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1209391" y="5851905"/>
            <a:ext cx="128699" cy="187198"/>
          </a:xfrm>
          <a:prstGeom prst="rect">
            <a:avLst/>
          </a:prstGeom>
        </p:spPr>
      </p:pic>
      <p:sp>
        <p:nvSpPr>
          <p:cNvPr id="28" name="TextBox 27"/>
          <p:cNvSpPr txBox="1"/>
          <p:nvPr/>
        </p:nvSpPr>
        <p:spPr>
          <a:xfrm>
            <a:off x="11376887" y="586168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29" name="TextBox 28"/>
          <p:cNvSpPr txBox="1"/>
          <p:nvPr/>
        </p:nvSpPr>
        <p:spPr>
          <a:xfrm>
            <a:off x="257175" y="6029325"/>
            <a:ext cx="11630355" cy="186689"/>
          </a:xfrm>
          <a:prstGeom prst="rect">
            <a:avLst/>
          </a:prstGeom>
          <a:noFill/>
        </p:spPr>
        <p:txBody>
          <a:bodyPr wrap="none" lIns="0" rIns="0" tIns="0" bIns="0">
            <a:spAutoFit/>
          </a:bodyPr>
          <a:lstStyle/>
          <a:p>
            <a:r>
              <a:rPr sz="1100" b="0">
                <a:solidFill>
                  <a:srgbClr val="2E2E2E"/>
                </a:solidFill>
                <a:latin typeface="Calibri"/>
              </a:rPr>
              <a:t>The ultra-heavy-duty vehicles segment is expected to be less attractive as compared to other segments over the forecast period, owing to its lower CAGR and incremental opportunity. Bubbles right of the</a:t>
            </a:r>
          </a:p>
        </p:txBody>
      </p:sp>
      <p:sp>
        <p:nvSpPr>
          <p:cNvPr id="30" name="TextBox 29"/>
          <p:cNvSpPr txBox="1"/>
          <p:nvPr/>
        </p:nvSpPr>
        <p:spPr>
          <a:xfrm>
            <a:off x="257175" y="6196965"/>
            <a:ext cx="3224344" cy="186689"/>
          </a:xfrm>
          <a:prstGeom prst="rect">
            <a:avLst/>
          </a:prstGeom>
          <a:noFill/>
        </p:spPr>
        <p:txBody>
          <a:bodyPr wrap="none" lIns="0" rIns="0" tIns="0" bIns="0">
            <a:spAutoFit/>
          </a:bodyPr>
          <a:lstStyle/>
          <a:p>
            <a:r>
              <a:rPr sz="1100" b="0">
                <a:solidFill>
                  <a:srgbClr val="2E2E2E"/>
                </a:solidFill>
                <a:latin typeface="Calibri"/>
              </a:rPr>
              <a:t>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Vehicle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Vehicle Capacity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Compact / Light-Duty Vehicles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Medium-Duty Vehicles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Heavy-Duty Vehicles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Ultra-Heavy-Duty Vehicles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Vehicle Capacity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Vehicle Capacity, 2021–2036, highlighting the sub-segments driving growth</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Vehicle Capacity (US$ Mn)</a:t>
            </a:r>
          </a:p>
        </p:txBody>
      </p:sp>
      <p:graphicFrame>
        <p:nvGraphicFramePr>
          <p:cNvPr id="9" name="Table 8"/>
          <p:cNvGraphicFramePr>
            <a:graphicFrameLocks noGrp="1"/>
          </p:cNvGraphicFramePr>
          <p:nvPr/>
        </p:nvGraphicFramePr>
        <p:xfrm>
          <a:off x="152400" y="1238250"/>
          <a:ext cx="11887856" cy="1485896"/>
        </p:xfrm>
        <a:graphic>
          <a:graphicData uri="http://schemas.openxmlformats.org/drawingml/2006/table">
            <a:tbl>
              <a:tblPr>
                <a:tableStyleId>{5C22544A-7EE6-4342-B048-85BDC9FD1C3A}</a:tableStyleId>
              </a:tblPr>
              <a:tblGrid>
                <a:gridCol w="1937657"/>
                <a:gridCol w="585268"/>
                <a:gridCol w="585268"/>
                <a:gridCol w="585268"/>
                <a:gridCol w="585268"/>
                <a:gridCol w="585268"/>
                <a:gridCol w="585268"/>
                <a:gridCol w="585268"/>
                <a:gridCol w="585268"/>
                <a:gridCol w="585268"/>
                <a:gridCol w="585268"/>
                <a:gridCol w="585268"/>
                <a:gridCol w="585268"/>
                <a:gridCol w="585268"/>
                <a:gridCol w="585268"/>
                <a:gridCol w="585268"/>
                <a:gridCol w="585268"/>
                <a:gridCol w="585911"/>
              </a:tblGrid>
              <a:tr h="246126">
                <a:tc>
                  <a:txBody>
                    <a:bodyPr wrap="none"/>
                    <a:lstStyle/>
                    <a:p>
                      <a:pPr algn="l"/>
                      <a:r>
                        <a:rPr sz="1100" b="1">
                          <a:solidFill>
                            <a:srgbClr val="0E2A5C"/>
                          </a:solidFill>
                          <a:latin typeface="Calibri"/>
                        </a:rPr>
                        <a:t>Vehicle Capacity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Compact / Light-Duty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Medium-Duty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Heavy-Duty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Ultra-Heavy-Duty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067050"/>
            <a:ext cx="11906250" cy="3562350"/>
          </a:xfrm>
          <a:prstGeom prst="roundRect">
            <a:avLst>
              <a:gd name="adj" fmla="val 213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Vehicle Capacity</a:t>
            </a:r>
          </a:p>
        </p:txBody>
      </p:sp>
      <p:sp>
        <p:nvSpPr>
          <p:cNvPr id="13" name="Rectangle 12"/>
          <p:cNvSpPr/>
          <p:nvPr/>
        </p:nvSpPr>
        <p:spPr>
          <a:xfrm>
            <a:off x="276225" y="33909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872674" y="1837563"/>
            <a:ext cx="366712" cy="533400"/>
          </a:xfrm>
          <a:prstGeom prst="rect">
            <a:avLst/>
          </a:prstGeom>
        </p:spPr>
      </p:pic>
      <p:sp>
        <p:nvSpPr>
          <p:cNvPr id="18" name="TextBox 17"/>
          <p:cNvSpPr txBox="1"/>
          <p:nvPr/>
        </p:nvSpPr>
        <p:spPr>
          <a:xfrm>
            <a:off x="276225" y="3486150"/>
            <a:ext cx="3188034" cy="194310"/>
          </a:xfrm>
          <a:prstGeom prst="rect">
            <a:avLst/>
          </a:prstGeom>
          <a:noFill/>
        </p:spPr>
        <p:txBody>
          <a:bodyPr wrap="none" lIns="0" rIns="0" tIns="0" bIns="0">
            <a:spAutoFit/>
          </a:bodyPr>
          <a:lstStyle/>
          <a:p>
            <a:r>
              <a:rPr sz="1150" b="0">
                <a:solidFill>
                  <a:srgbClr val="2E2E2E"/>
                </a:solidFill>
                <a:latin typeface="Calibri"/>
              </a:rPr>
              <a:t>Heavy-duty vehicles segment is projected to register</a:t>
            </a:r>
          </a:p>
        </p:txBody>
      </p:sp>
      <p:pic>
        <p:nvPicPr>
          <p:cNvPr id="19" name="Picture 18" descr="lock.png"/>
          <p:cNvPicPr>
            <a:picLocks noChangeAspect="1"/>
          </p:cNvPicPr>
          <p:nvPr/>
        </p:nvPicPr>
        <p:blipFill>
          <a:blip r:embed="rId4"/>
          <a:stretch>
            <a:fillRect/>
          </a:stretch>
        </p:blipFill>
        <p:spPr>
          <a:xfrm>
            <a:off x="3413413" y="3475926"/>
            <a:ext cx="134549" cy="195707"/>
          </a:xfrm>
          <a:prstGeom prst="rect">
            <a:avLst/>
          </a:prstGeom>
        </p:spPr>
      </p:pic>
      <p:sp>
        <p:nvSpPr>
          <p:cNvPr id="20" name="TextBox 19"/>
          <p:cNvSpPr txBox="1"/>
          <p:nvPr/>
        </p:nvSpPr>
        <p:spPr>
          <a:xfrm>
            <a:off x="3588523" y="3486150"/>
            <a:ext cx="8107808" cy="194310"/>
          </a:xfrm>
          <a:prstGeom prst="rect">
            <a:avLst/>
          </a:prstGeom>
          <a:noFill/>
        </p:spPr>
        <p:txBody>
          <a:bodyPr wrap="none" lIns="0" rIns="0" tIns="0" bIns="0">
            <a:spAutoFit/>
          </a:bodyPr>
          <a:lstStyle/>
          <a:p>
            <a:r>
              <a:rPr sz="1150" b="0">
                <a:solidFill>
                  <a:srgbClr val="2E2E2E"/>
                </a:solidFill>
                <a:latin typeface="Calibri"/>
              </a:rPr>
              <a:t>X higher value than compact / light-duty vehicles segment in 2036. Among off-highway vehicle by vehicle capacity, compact / light-duty</a:t>
            </a:r>
          </a:p>
        </p:txBody>
      </p:sp>
      <p:sp>
        <p:nvSpPr>
          <p:cNvPr id="21" name="TextBox 20"/>
          <p:cNvSpPr txBox="1"/>
          <p:nvPr/>
        </p:nvSpPr>
        <p:spPr>
          <a:xfrm>
            <a:off x="276225" y="3661410"/>
            <a:ext cx="3664105" cy="194310"/>
          </a:xfrm>
          <a:prstGeom prst="rect">
            <a:avLst/>
          </a:prstGeom>
          <a:noFill/>
        </p:spPr>
        <p:txBody>
          <a:bodyPr wrap="none" lIns="0" rIns="0" tIns="0" bIns="0">
            <a:spAutoFit/>
          </a:bodyPr>
          <a:lstStyle/>
          <a:p>
            <a:r>
              <a:rPr sz="1150" b="0">
                <a:solidFill>
                  <a:srgbClr val="2E2E2E"/>
                </a:solidFill>
                <a:latin typeface="Calibri"/>
              </a:rPr>
              <a:t>vehicles segment is expected to witness the highest CAGR of</a:t>
            </a:r>
          </a:p>
        </p:txBody>
      </p:sp>
      <p:pic>
        <p:nvPicPr>
          <p:cNvPr id="22" name="Picture 21" descr="lock.png"/>
          <p:cNvPicPr>
            <a:picLocks noChangeAspect="1"/>
          </p:cNvPicPr>
          <p:nvPr/>
        </p:nvPicPr>
        <p:blipFill>
          <a:blip r:embed="rId4"/>
          <a:stretch>
            <a:fillRect/>
          </a:stretch>
        </p:blipFill>
        <p:spPr>
          <a:xfrm>
            <a:off x="3889484" y="3651186"/>
            <a:ext cx="134549" cy="195707"/>
          </a:xfrm>
          <a:prstGeom prst="rect">
            <a:avLst/>
          </a:prstGeom>
        </p:spPr>
      </p:pic>
      <p:sp>
        <p:nvSpPr>
          <p:cNvPr id="23" name="TextBox 22"/>
          <p:cNvSpPr txBox="1"/>
          <p:nvPr/>
        </p:nvSpPr>
        <p:spPr>
          <a:xfrm>
            <a:off x="4064594"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3889247"/>
            <a:ext cx="7261745" cy="194310"/>
          </a:xfrm>
          <a:prstGeom prst="rect">
            <a:avLst/>
          </a:prstGeom>
          <a:noFill/>
        </p:spPr>
        <p:txBody>
          <a:bodyPr wrap="none" lIns="0" rIns="0" tIns="0" bIns="0">
            <a:spAutoFit/>
          </a:bodyPr>
          <a:lstStyle/>
          <a:p>
            <a:r>
              <a:rPr sz="1150" b="0">
                <a:solidFill>
                  <a:srgbClr val="2E2E2E"/>
                </a:solidFill>
                <a:latin typeface="Calibri"/>
              </a:rPr>
              <a:t>In terms of value share by vehicle capacity, the heavy-duty vehicles segment is expected to dominate the market, gaining</a:t>
            </a:r>
          </a:p>
        </p:txBody>
      </p:sp>
      <p:pic>
        <p:nvPicPr>
          <p:cNvPr id="25" name="Picture 24" descr="lock.png"/>
          <p:cNvPicPr>
            <a:picLocks noChangeAspect="1"/>
          </p:cNvPicPr>
          <p:nvPr/>
        </p:nvPicPr>
        <p:blipFill>
          <a:blip r:embed="rId4"/>
          <a:stretch>
            <a:fillRect/>
          </a:stretch>
        </p:blipFill>
        <p:spPr>
          <a:xfrm>
            <a:off x="7487124" y="3879024"/>
            <a:ext cx="134549" cy="195707"/>
          </a:xfrm>
          <a:prstGeom prst="rect">
            <a:avLst/>
          </a:prstGeom>
        </p:spPr>
      </p:pic>
      <p:sp>
        <p:nvSpPr>
          <p:cNvPr id="26" name="TextBox 25"/>
          <p:cNvSpPr txBox="1"/>
          <p:nvPr/>
        </p:nvSpPr>
        <p:spPr>
          <a:xfrm>
            <a:off x="7662234"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057377" y="3879024"/>
            <a:ext cx="134549" cy="195707"/>
          </a:xfrm>
          <a:prstGeom prst="rect">
            <a:avLst/>
          </a:prstGeom>
        </p:spPr>
      </p:pic>
      <p:sp>
        <p:nvSpPr>
          <p:cNvPr id="28" name="TextBox 27"/>
          <p:cNvSpPr txBox="1"/>
          <p:nvPr/>
        </p:nvSpPr>
        <p:spPr>
          <a:xfrm>
            <a:off x="9232486" y="3889247"/>
            <a:ext cx="2223306" cy="194310"/>
          </a:xfrm>
          <a:prstGeom prst="rect">
            <a:avLst/>
          </a:prstGeom>
          <a:noFill/>
        </p:spPr>
        <p:txBody>
          <a:bodyPr wrap="none" lIns="0" rIns="0" tIns="0" bIns="0">
            <a:spAutoFit/>
          </a:bodyPr>
          <a:lstStyle/>
          <a:p>
            <a:r>
              <a:rPr sz="1150" b="0">
                <a:solidFill>
                  <a:srgbClr val="2E2E2E"/>
                </a:solidFill>
                <a:latin typeface="Calibri"/>
              </a:rPr>
              <a:t>share by 2036. The ultra-heavy-duty</a:t>
            </a:r>
          </a:p>
        </p:txBody>
      </p:sp>
      <p:sp>
        <p:nvSpPr>
          <p:cNvPr id="29" name="TextBox 28"/>
          <p:cNvSpPr txBox="1"/>
          <p:nvPr/>
        </p:nvSpPr>
        <p:spPr>
          <a:xfrm>
            <a:off x="276225" y="4064507"/>
            <a:ext cx="2233004" cy="194310"/>
          </a:xfrm>
          <a:prstGeom prst="rect">
            <a:avLst/>
          </a:prstGeom>
          <a:noFill/>
        </p:spPr>
        <p:txBody>
          <a:bodyPr wrap="none" lIns="0" rIns="0" tIns="0" bIns="0">
            <a:spAutoFit/>
          </a:bodyPr>
          <a:lstStyle/>
          <a:p>
            <a:r>
              <a:rPr sz="1150" b="0">
                <a:solidFill>
                  <a:srgbClr val="2E2E2E"/>
                </a:solidFill>
                <a:latin typeface="Calibri"/>
              </a:rPr>
              <a:t>vehicles segment is expected to lose</a:t>
            </a:r>
          </a:p>
        </p:txBody>
      </p:sp>
      <p:pic>
        <p:nvPicPr>
          <p:cNvPr id="30" name="Picture 29" descr="lock.png"/>
          <p:cNvPicPr>
            <a:picLocks noChangeAspect="1"/>
          </p:cNvPicPr>
          <p:nvPr/>
        </p:nvPicPr>
        <p:blipFill>
          <a:blip r:embed="rId4"/>
          <a:stretch>
            <a:fillRect/>
          </a:stretch>
        </p:blipFill>
        <p:spPr>
          <a:xfrm>
            <a:off x="2458383" y="4054284"/>
            <a:ext cx="134549" cy="195707"/>
          </a:xfrm>
          <a:prstGeom prst="rect">
            <a:avLst/>
          </a:prstGeom>
        </p:spPr>
      </p:pic>
      <p:sp>
        <p:nvSpPr>
          <p:cNvPr id="31" name="TextBox 30"/>
          <p:cNvSpPr txBox="1"/>
          <p:nvPr/>
        </p:nvSpPr>
        <p:spPr>
          <a:xfrm>
            <a:off x="2633492" y="40645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220997" y="4054284"/>
            <a:ext cx="134549" cy="195707"/>
          </a:xfrm>
          <a:prstGeom prst="rect">
            <a:avLst/>
          </a:prstGeom>
        </p:spPr>
      </p:pic>
      <p:sp>
        <p:nvSpPr>
          <p:cNvPr id="33" name="TextBox 32"/>
          <p:cNvSpPr txBox="1"/>
          <p:nvPr/>
        </p:nvSpPr>
        <p:spPr>
          <a:xfrm>
            <a:off x="5396106" y="40645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Vehicle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Vehicle Capacity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Vehicle Capacity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200278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a:off x="5090922" y="199801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92181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Medium-Duty Vehicles</a:t>
            </a:r>
          </a:p>
        </p:txBody>
      </p:sp>
      <p:sp>
        <p:nvSpPr>
          <p:cNvPr id="15" name="BPS Value 1"/>
          <p:cNvSpPr txBox="1"/>
          <p:nvPr/>
        </p:nvSpPr>
        <p:spPr>
          <a:xfrm>
            <a:off x="6896100" y="198373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6" name="TMR Legend Chip"/>
          <p:cNvSpPr/>
          <p:nvPr/>
        </p:nvSpPr>
        <p:spPr>
          <a:xfrm>
            <a:off x="4928997" y="2714839"/>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rot="10800000">
            <a:off x="5090922" y="271007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63387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Ultra-Heavy-Duty Vehicles</a:t>
            </a:r>
          </a:p>
        </p:txBody>
      </p:sp>
      <p:sp>
        <p:nvSpPr>
          <p:cNvPr id="19" name="BPS Value 2"/>
          <p:cNvSpPr txBox="1"/>
          <p:nvPr/>
        </p:nvSpPr>
        <p:spPr>
          <a:xfrm>
            <a:off x="6896100" y="269578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0" name="TMR Legend Chip"/>
          <p:cNvSpPr/>
          <p:nvPr/>
        </p:nvSpPr>
        <p:spPr>
          <a:xfrm>
            <a:off x="4928997" y="3690323"/>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a:off x="5090922" y="368556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60936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Compact / Light-Duty Vehicles</a:t>
            </a:r>
          </a:p>
        </p:txBody>
      </p:sp>
      <p:sp>
        <p:nvSpPr>
          <p:cNvPr id="23" name="BPS Value 3"/>
          <p:cNvSpPr txBox="1"/>
          <p:nvPr/>
        </p:nvSpPr>
        <p:spPr>
          <a:xfrm>
            <a:off x="6896100" y="367127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4" name="TMR Legend Chip"/>
          <p:cNvSpPr/>
          <p:nvPr/>
        </p:nvSpPr>
        <p:spPr>
          <a:xfrm>
            <a:off x="4928997" y="5264455"/>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525969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51834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Heavy-Duty Vehicles</a:t>
            </a:r>
          </a:p>
        </p:txBody>
      </p:sp>
      <p:sp>
        <p:nvSpPr>
          <p:cNvPr id="27" name="BPS Value 4"/>
          <p:cNvSpPr txBox="1"/>
          <p:nvPr/>
        </p:nvSpPr>
        <p:spPr>
          <a:xfrm>
            <a:off x="6896100" y="524540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E2A5C"/>
                </a:solidFill>
                <a:latin typeface="Calibri"/>
              </a:rPr>
              <a:t>North America Read-out, By Vehicle Capacity</a:t>
            </a:r>
          </a:p>
        </p:txBody>
      </p:sp>
      <p:sp>
        <p:nvSpPr>
          <p:cNvPr id="30" name="Rectangle 29"/>
          <p:cNvSpPr/>
          <p:nvPr/>
        </p:nvSpPr>
        <p:spPr>
          <a:xfrm>
            <a:off x="7829550" y="130492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off-highway vehicle by vehicle capacity, compact / light-duty</a:t>
            </a:r>
          </a:p>
        </p:txBody>
      </p:sp>
      <p:sp>
        <p:nvSpPr>
          <p:cNvPr id="36" name="TextBox 35"/>
          <p:cNvSpPr txBox="1"/>
          <p:nvPr/>
        </p:nvSpPr>
        <p:spPr>
          <a:xfrm>
            <a:off x="7829550" y="1575435"/>
            <a:ext cx="3664105" cy="194310"/>
          </a:xfrm>
          <a:prstGeom prst="rect">
            <a:avLst/>
          </a:prstGeom>
          <a:noFill/>
        </p:spPr>
        <p:txBody>
          <a:bodyPr wrap="none" lIns="0" rIns="0" tIns="0" bIns="0">
            <a:spAutoFit/>
          </a:bodyPr>
          <a:lstStyle/>
          <a:p>
            <a:r>
              <a:rPr sz="1150" b="0">
                <a:solidFill>
                  <a:srgbClr val="2E2E2E"/>
                </a:solidFill>
                <a:latin typeface="Calibri"/>
              </a:rPr>
              <a:t>vehicles segment is expected to witness the highest CAGR of</a:t>
            </a:r>
          </a:p>
        </p:txBody>
      </p:sp>
      <p:pic>
        <p:nvPicPr>
          <p:cNvPr id="37" name="Picture 36" descr="lock.png"/>
          <p:cNvPicPr>
            <a:picLocks noChangeAspect="1"/>
          </p:cNvPicPr>
          <p:nvPr/>
        </p:nvPicPr>
        <p:blipFill>
          <a:blip r:embed="rId5"/>
          <a:stretch>
            <a:fillRect/>
          </a:stretch>
        </p:blipFill>
        <p:spPr>
          <a:xfrm>
            <a:off x="11442809" y="1565211"/>
            <a:ext cx="134549" cy="195707"/>
          </a:xfrm>
          <a:prstGeom prst="rect">
            <a:avLst/>
          </a:prstGeom>
        </p:spPr>
      </p:pic>
      <p:sp>
        <p:nvSpPr>
          <p:cNvPr id="38" name="TextBox 37"/>
          <p:cNvSpPr txBox="1"/>
          <p:nvPr/>
        </p:nvSpPr>
        <p:spPr>
          <a:xfrm>
            <a:off x="7829550" y="1750695"/>
            <a:ext cx="4057650"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vehicle capacity,</a:t>
            </a:r>
          </a:p>
        </p:txBody>
      </p:sp>
      <p:sp>
        <p:nvSpPr>
          <p:cNvPr id="39" name="TextBox 38"/>
          <p:cNvSpPr txBox="1"/>
          <p:nvPr/>
        </p:nvSpPr>
        <p:spPr>
          <a:xfrm>
            <a:off x="7829550" y="1925955"/>
            <a:ext cx="3726308" cy="194310"/>
          </a:xfrm>
          <a:prstGeom prst="rect">
            <a:avLst/>
          </a:prstGeom>
          <a:noFill/>
        </p:spPr>
        <p:txBody>
          <a:bodyPr wrap="none" lIns="0" rIns="0" tIns="0" bIns="0">
            <a:spAutoFit/>
          </a:bodyPr>
          <a:lstStyle/>
          <a:p>
            <a:r>
              <a:rPr sz="1150" b="0">
                <a:solidFill>
                  <a:srgbClr val="2E2E2E"/>
                </a:solidFill>
                <a:latin typeface="Calibri"/>
              </a:rPr>
              <a:t>the heavy-duty vehicles segment is expected to dominate the</a:t>
            </a:r>
          </a:p>
        </p:txBody>
      </p:sp>
      <p:sp>
        <p:nvSpPr>
          <p:cNvPr id="40" name="TextBox 39"/>
          <p:cNvSpPr txBox="1"/>
          <p:nvPr/>
        </p:nvSpPr>
        <p:spPr>
          <a:xfrm>
            <a:off x="7829550" y="2101215"/>
            <a:ext cx="999852" cy="194310"/>
          </a:xfrm>
          <a:prstGeom prst="rect">
            <a:avLst/>
          </a:prstGeom>
          <a:noFill/>
        </p:spPr>
        <p:txBody>
          <a:bodyPr wrap="none" lIns="0" rIns="0" tIns="0" bIns="0">
            <a:spAutoFit/>
          </a:bodyPr>
          <a:lstStyle/>
          <a:p>
            <a:r>
              <a:rPr sz="1150" b="0">
                <a:solidFill>
                  <a:srgbClr val="2E2E2E"/>
                </a:solidFill>
                <a:latin typeface="Calibri"/>
              </a:rPr>
              <a:t>market, gaining</a:t>
            </a:r>
          </a:p>
        </p:txBody>
      </p:sp>
      <p:pic>
        <p:nvPicPr>
          <p:cNvPr id="41" name="Picture 40" descr="lock.png"/>
          <p:cNvPicPr>
            <a:picLocks noChangeAspect="1"/>
          </p:cNvPicPr>
          <p:nvPr/>
        </p:nvPicPr>
        <p:blipFill>
          <a:blip r:embed="rId5"/>
          <a:stretch>
            <a:fillRect/>
          </a:stretch>
        </p:blipFill>
        <p:spPr>
          <a:xfrm>
            <a:off x="8778556" y="2090991"/>
            <a:ext cx="134549" cy="195707"/>
          </a:xfrm>
          <a:prstGeom prst="rect">
            <a:avLst/>
          </a:prstGeom>
        </p:spPr>
      </p:pic>
      <p:sp>
        <p:nvSpPr>
          <p:cNvPr id="42" name="TextBox 41"/>
          <p:cNvSpPr txBox="1"/>
          <p:nvPr/>
        </p:nvSpPr>
        <p:spPr>
          <a:xfrm>
            <a:off x="8953665" y="210121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10348808" y="2090991"/>
            <a:ext cx="134549" cy="195707"/>
          </a:xfrm>
          <a:prstGeom prst="rect">
            <a:avLst/>
          </a:prstGeom>
        </p:spPr>
      </p:pic>
      <p:sp>
        <p:nvSpPr>
          <p:cNvPr id="44" name="TextBox 43"/>
          <p:cNvSpPr txBox="1"/>
          <p:nvPr/>
        </p:nvSpPr>
        <p:spPr>
          <a:xfrm>
            <a:off x="10523917" y="210121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329053"/>
            <a:ext cx="3510086" cy="194310"/>
          </a:xfrm>
          <a:prstGeom prst="rect">
            <a:avLst/>
          </a:prstGeom>
          <a:noFill/>
        </p:spPr>
        <p:txBody>
          <a:bodyPr wrap="none" lIns="0" rIns="0" tIns="0" bIns="0">
            <a:spAutoFit/>
          </a:bodyPr>
          <a:lstStyle/>
          <a:p>
            <a:r>
              <a:rPr sz="1150" b="0">
                <a:solidFill>
                  <a:srgbClr val="2E2E2E"/>
                </a:solidFill>
                <a:latin typeface="Calibri"/>
              </a:rPr>
              <a:t>The ultra-heavy-duty vehicles segment is expected to lose</a:t>
            </a:r>
          </a:p>
        </p:txBody>
      </p:sp>
      <p:pic>
        <p:nvPicPr>
          <p:cNvPr id="46" name="Picture 45" descr="lock.png"/>
          <p:cNvPicPr>
            <a:picLocks noChangeAspect="1"/>
          </p:cNvPicPr>
          <p:nvPr/>
        </p:nvPicPr>
        <p:blipFill>
          <a:blip r:embed="rId5"/>
          <a:stretch>
            <a:fillRect/>
          </a:stretch>
        </p:blipFill>
        <p:spPr>
          <a:xfrm>
            <a:off x="11288790" y="2318829"/>
            <a:ext cx="134549" cy="195707"/>
          </a:xfrm>
          <a:prstGeom prst="rect">
            <a:avLst/>
          </a:prstGeom>
        </p:spPr>
      </p:pic>
      <p:sp>
        <p:nvSpPr>
          <p:cNvPr id="47" name="TextBox 46"/>
          <p:cNvSpPr txBox="1"/>
          <p:nvPr/>
        </p:nvSpPr>
        <p:spPr>
          <a:xfrm>
            <a:off x="11463899" y="2329053"/>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48" name="TextBox 47"/>
          <p:cNvSpPr txBox="1"/>
          <p:nvPr/>
        </p:nvSpPr>
        <p:spPr>
          <a:xfrm>
            <a:off x="7829550" y="2504313"/>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49" name="Picture 48" descr="lock.png"/>
          <p:cNvPicPr>
            <a:picLocks noChangeAspect="1"/>
          </p:cNvPicPr>
          <p:nvPr/>
        </p:nvPicPr>
        <p:blipFill>
          <a:blip r:embed="rId5"/>
          <a:stretch>
            <a:fillRect/>
          </a:stretch>
        </p:blipFill>
        <p:spPr>
          <a:xfrm>
            <a:off x="10161752" y="2494089"/>
            <a:ext cx="134549" cy="195707"/>
          </a:xfrm>
          <a:prstGeom prst="rect">
            <a:avLst/>
          </a:prstGeom>
        </p:spPr>
      </p:pic>
      <p:sp>
        <p:nvSpPr>
          <p:cNvPr id="50" name="TextBox 49"/>
          <p:cNvSpPr txBox="1"/>
          <p:nvPr/>
        </p:nvSpPr>
        <p:spPr>
          <a:xfrm>
            <a:off x="10336861" y="250431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Propulsion Configuration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Propulsion Configuration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Propulsion Configuration Segment Outlook</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Propulsion Configuration, 2026–2036</a:t>
            </a:r>
          </a:p>
        </p:txBody>
      </p:sp>
      <p:sp>
        <p:nvSpPr>
          <p:cNvPr id="7" name="TextBox 6"/>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Propulsion Configuration segment categorizes the market by propulsion configuration. Each sub-category is evaluated on market size, growth outlook and adoption trends across the forecast period.</a:t>
            </a:r>
          </a:p>
        </p:txBody>
      </p:sp>
      <p:sp>
        <p:nvSpPr>
          <p:cNvPr id="8" name="Rectangle 7"/>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0" name="Rectangle 9"/>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2" name="Rectangle 11"/>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4" name="Rectangle 13"/>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6" name="Rounded Rectangle 15"/>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Wheeled Vehicles</a:t>
            </a:r>
          </a:p>
        </p:txBody>
      </p:sp>
      <p:sp>
        <p:nvSpPr>
          <p:cNvPr id="19" name="Rectangle 18"/>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0" name="Rectangle 19"/>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1" name="Rectangle 20"/>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2" name="Oval 21"/>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3" name="Rounded Rectangle 22"/>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Semi-Tracked Vehicles</a:t>
            </a:r>
          </a:p>
        </p:txBody>
      </p:sp>
      <p:sp>
        <p:nvSpPr>
          <p:cNvPr id="26" name="Rectangle 25"/>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7" name="Rectangle 26"/>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8" name="Rectangle 27"/>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29" name="Oval 28"/>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0" name="Rounded Rectangle 29"/>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Tracked Vehicles</a:t>
            </a:r>
          </a:p>
        </p:txBody>
      </p:sp>
      <p:sp>
        <p:nvSpPr>
          <p:cNvPr id="33" name="Rectangle 32"/>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4" name="Rectangle 33"/>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5" name="Rectangle 34"/>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6" name="Oval 35"/>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37" name="Rounded Rectangle 36"/>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Specialized Propulsion Conf…</a:t>
            </a:r>
          </a:p>
        </p:txBody>
      </p:sp>
      <p:sp>
        <p:nvSpPr>
          <p:cNvPr id="40" name="Rectangle 39"/>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1" name="Rectangle 40"/>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2" name="Rectangle 41"/>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3" name="Oval 42"/>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4" name="Rounded Rectangle 43"/>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6" name="Rectangle 45"/>
          <p:cNvSpPr/>
          <p:nvPr/>
        </p:nvSpPr>
        <p:spPr>
          <a:xfrm>
            <a:off x="457200" y="4146897"/>
            <a:ext cx="29718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48" name="Rounded Rectangle 47"/>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0" name="Rectangle 49"/>
          <p:cNvSpPr/>
          <p:nvPr/>
        </p:nvSpPr>
        <p:spPr>
          <a:xfrm>
            <a:off x="3810000" y="4146897"/>
            <a:ext cx="42100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2" name="Rounded Rectangle 51"/>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4" name="Rectangle 53"/>
          <p:cNvSpPr/>
          <p:nvPr/>
        </p:nvSpPr>
        <p:spPr>
          <a:xfrm>
            <a:off x="8401050" y="4146897"/>
            <a:ext cx="333375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The Propulsion Configuration split shows how demand is distributed across propulsion configuration types and where growth concentrates.</a:t>
            </a:r>
          </a:p>
          <a:p>
            <a:pPr algn="l">
              <a:lnSpc>
                <a:spcPct val="110000"/>
              </a:lnSpc>
              <a:spcBef>
                <a:spcPts val="0"/>
              </a:spcBef>
              <a:spcAft>
                <a:spcPts val="500"/>
              </a:spcAft>
            </a:pPr>
            <a:r>
              <a:rPr sz="1100" b="1">
                <a:solidFill>
                  <a:srgbClr val="00ACAC"/>
                </a:solidFill>
                <a:latin typeface="Calibri"/>
              </a:rPr>
              <a:t>✓  </a:t>
            </a:r>
            <a:r>
              <a:rPr sz="1100" b="0">
                <a:solidFill>
                  <a:srgbClr val="2E2E2E"/>
                </a:solidFill>
                <a:latin typeface="Calibri"/>
              </a:rPr>
              <a:t>Shifting preferences and product innovation are reshaping the mix through 2036.</a:t>
            </a:r>
          </a:p>
        </p:txBody>
      </p:sp>
      <p:sp>
        <p:nvSpPr>
          <p:cNvPr id="56" name="Rectangle 55"/>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58" name="TextBox 57"/>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TMR Analysis, 2026</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197_743_605E5C.png"/>
          <p:cNvPicPr>
            <a:picLocks noChangeAspect="1"/>
          </p:cNvPicPr>
          <p:nvPr/>
        </p:nvPicPr>
        <p:blipFill>
          <a:blip r:embed="rId4"/>
          <a:stretch>
            <a:fillRect/>
          </a:stretch>
        </p:blipFill>
        <p:spPr>
          <a:xfrm>
            <a:off x="2259806" y="2286582"/>
            <a:ext cx="1628775" cy="361950"/>
          </a:xfrm>
          <a:prstGeom prst="rect">
            <a:avLst/>
          </a:prstGeom>
        </p:spPr>
      </p:pic>
      <p:pic>
        <p:nvPicPr>
          <p:cNvPr id="62" name="Picture 61" descr="319_261_605E5C.png"/>
          <p:cNvPicPr>
            <a:picLocks noChangeAspect="1"/>
          </p:cNvPicPr>
          <p:nvPr/>
        </p:nvPicPr>
        <p:blipFill>
          <a:blip r:embed="rId5"/>
          <a:stretch>
            <a:fillRect/>
          </a:stretch>
        </p:blipFill>
        <p:spPr>
          <a:xfrm>
            <a:off x="2259806" y="2779432"/>
            <a:ext cx="1628775" cy="361950"/>
          </a:xfrm>
          <a:prstGeom prst="rect">
            <a:avLst/>
          </a:prstGeom>
        </p:spPr>
      </p:pic>
      <p:pic>
        <p:nvPicPr>
          <p:cNvPr id="63" name="Picture 62" descr="4_9__605E5C.png"/>
          <p:cNvPicPr>
            <a:picLocks noChangeAspect="1"/>
          </p:cNvPicPr>
          <p:nvPr/>
        </p:nvPicPr>
        <p:blipFill>
          <a:blip r:embed="rId6"/>
          <a:stretch>
            <a:fillRect/>
          </a:stretch>
        </p:blipFill>
        <p:spPr>
          <a:xfrm>
            <a:off x="2582976" y="3272281"/>
            <a:ext cx="982436" cy="361950"/>
          </a:xfrm>
          <a:prstGeom prst="rect">
            <a:avLst/>
          </a:prstGeom>
        </p:spPr>
      </p:pic>
      <p:pic>
        <p:nvPicPr>
          <p:cNvPr id="64" name="Picture 63" descr="100_853_605E5C.png"/>
          <p:cNvPicPr>
            <a:picLocks noChangeAspect="1"/>
          </p:cNvPicPr>
          <p:nvPr/>
        </p:nvPicPr>
        <p:blipFill>
          <a:blip r:embed="rId7"/>
          <a:stretch>
            <a:fillRect/>
          </a:stretch>
        </p:blipFill>
        <p:spPr>
          <a:xfrm>
            <a:off x="4788694" y="2286582"/>
            <a:ext cx="1628775" cy="361950"/>
          </a:xfrm>
          <a:prstGeom prst="rect">
            <a:avLst/>
          </a:prstGeom>
        </p:spPr>
      </p:pic>
      <p:pic>
        <p:nvPicPr>
          <p:cNvPr id="65" name="Picture 64" descr="121_414_605E5C.png"/>
          <p:cNvPicPr>
            <a:picLocks noChangeAspect="1"/>
          </p:cNvPicPr>
          <p:nvPr/>
        </p:nvPicPr>
        <p:blipFill>
          <a:blip r:embed="rId8"/>
          <a:stretch>
            <a:fillRect/>
          </a:stretch>
        </p:blipFill>
        <p:spPr>
          <a:xfrm>
            <a:off x="4788694" y="2779432"/>
            <a:ext cx="1628775" cy="361950"/>
          </a:xfrm>
          <a:prstGeom prst="rect">
            <a:avLst/>
          </a:prstGeom>
        </p:spPr>
      </p:pic>
      <p:pic>
        <p:nvPicPr>
          <p:cNvPr id="66" name="Picture 65" descr="1_9__605E5C.png"/>
          <p:cNvPicPr>
            <a:picLocks noChangeAspect="1"/>
          </p:cNvPicPr>
          <p:nvPr/>
        </p:nvPicPr>
        <p:blipFill>
          <a:blip r:embed="rId9"/>
          <a:stretch>
            <a:fillRect/>
          </a:stretch>
        </p:blipFill>
        <p:spPr>
          <a:xfrm>
            <a:off x="5111864" y="3272281"/>
            <a:ext cx="982436" cy="361950"/>
          </a:xfrm>
          <a:prstGeom prst="rect">
            <a:avLst/>
          </a:prstGeom>
        </p:spPr>
      </p:pic>
      <p:pic>
        <p:nvPicPr>
          <p:cNvPr id="67" name="Picture 66" descr="58_617_605E5C.png"/>
          <p:cNvPicPr>
            <a:picLocks noChangeAspect="1"/>
          </p:cNvPicPr>
          <p:nvPr/>
        </p:nvPicPr>
        <p:blipFill>
          <a:blip r:embed="rId10"/>
          <a:stretch>
            <a:fillRect/>
          </a:stretch>
        </p:blipFill>
        <p:spPr>
          <a:xfrm>
            <a:off x="7427459" y="2286582"/>
            <a:ext cx="1409020" cy="361950"/>
          </a:xfrm>
          <a:prstGeom prst="rect">
            <a:avLst/>
          </a:prstGeom>
        </p:spPr>
      </p:pic>
      <p:pic>
        <p:nvPicPr>
          <p:cNvPr id="68" name="Picture 67" descr="94_853_605E5C.png"/>
          <p:cNvPicPr>
            <a:picLocks noChangeAspect="1"/>
          </p:cNvPicPr>
          <p:nvPr/>
        </p:nvPicPr>
        <p:blipFill>
          <a:blip r:embed="rId11"/>
          <a:stretch>
            <a:fillRect/>
          </a:stretch>
        </p:blipFill>
        <p:spPr>
          <a:xfrm>
            <a:off x="7427459" y="2779432"/>
            <a:ext cx="1409020" cy="361950"/>
          </a:xfrm>
          <a:prstGeom prst="rect">
            <a:avLst/>
          </a:prstGeom>
        </p:spPr>
      </p:pic>
      <p:pic>
        <p:nvPicPr>
          <p:cNvPr id="69" name="Picture 68" descr="4_9__605E5C.png"/>
          <p:cNvPicPr>
            <a:picLocks noChangeAspect="1"/>
          </p:cNvPicPr>
          <p:nvPr/>
        </p:nvPicPr>
        <p:blipFill>
          <a:blip r:embed="rId6"/>
          <a:stretch>
            <a:fillRect/>
          </a:stretch>
        </p:blipFill>
        <p:spPr>
          <a:xfrm>
            <a:off x="7640751" y="3272281"/>
            <a:ext cx="982436" cy="361950"/>
          </a:xfrm>
          <a:prstGeom prst="rect">
            <a:avLst/>
          </a:prstGeom>
        </p:spPr>
      </p:pic>
      <p:pic>
        <p:nvPicPr>
          <p:cNvPr id="70" name="Picture 69" descr="22_679_605E5C.png"/>
          <p:cNvPicPr>
            <a:picLocks noChangeAspect="1"/>
          </p:cNvPicPr>
          <p:nvPr/>
        </p:nvPicPr>
        <p:blipFill>
          <a:blip r:embed="rId12"/>
          <a:stretch>
            <a:fillRect/>
          </a:stretch>
        </p:blipFill>
        <p:spPr>
          <a:xfrm>
            <a:off x="9956346" y="2286582"/>
            <a:ext cx="1409020" cy="361950"/>
          </a:xfrm>
          <a:prstGeom prst="rect">
            <a:avLst/>
          </a:prstGeom>
        </p:spPr>
      </p:pic>
      <p:pic>
        <p:nvPicPr>
          <p:cNvPr id="71" name="Picture 70" descr="28_029_605E5C.png"/>
          <p:cNvPicPr>
            <a:picLocks noChangeAspect="1"/>
          </p:cNvPicPr>
          <p:nvPr/>
        </p:nvPicPr>
        <p:blipFill>
          <a:blip r:embed="rId13"/>
          <a:stretch>
            <a:fillRect/>
          </a:stretch>
        </p:blipFill>
        <p:spPr>
          <a:xfrm>
            <a:off x="9956346" y="2779432"/>
            <a:ext cx="1409020" cy="361950"/>
          </a:xfrm>
          <a:prstGeom prst="rect">
            <a:avLst/>
          </a:prstGeom>
        </p:spPr>
      </p:pic>
      <p:pic>
        <p:nvPicPr>
          <p:cNvPr id="72" name="Picture 71" descr="2_1__605E5C.png"/>
          <p:cNvPicPr>
            <a:picLocks noChangeAspect="1"/>
          </p:cNvPicPr>
          <p:nvPr/>
        </p:nvPicPr>
        <p:blipFill>
          <a:blip r:embed="rId14"/>
          <a:stretch>
            <a:fillRect/>
          </a:stretch>
        </p:blipFill>
        <p:spPr>
          <a:xfrm>
            <a:off x="10169638" y="3272281"/>
            <a:ext cx="982436" cy="361950"/>
          </a:xfrm>
          <a:prstGeom prst="rect">
            <a:avLst/>
          </a:prstGeom>
        </p:spPr>
      </p:pic>
      <p:pic>
        <p:nvPicPr>
          <p:cNvPr id="73" name="Picture 72" descr="lock.png"/>
          <p:cNvPicPr>
            <a:picLocks noChangeAspect="1"/>
          </p:cNvPicPr>
          <p:nvPr/>
        </p:nvPicPr>
        <p:blipFill>
          <a:blip r:embed="rId15"/>
          <a:stretch>
            <a:fillRect/>
          </a:stretch>
        </p:blipFill>
        <p:spPr>
          <a:xfrm>
            <a:off x="2980848" y="2827057"/>
            <a:ext cx="183356" cy="266700"/>
          </a:xfrm>
          <a:prstGeom prst="rect">
            <a:avLst/>
          </a:prstGeom>
        </p:spPr>
      </p:pic>
      <p:pic>
        <p:nvPicPr>
          <p:cNvPr id="74" name="Picture 73" descr="lock.png"/>
          <p:cNvPicPr>
            <a:picLocks noChangeAspect="1"/>
          </p:cNvPicPr>
          <p:nvPr/>
        </p:nvPicPr>
        <p:blipFill>
          <a:blip r:embed="rId15"/>
          <a:stretch>
            <a:fillRect/>
          </a:stretch>
        </p:blipFill>
        <p:spPr>
          <a:xfrm>
            <a:off x="5509737" y="2827057"/>
            <a:ext cx="183356" cy="266700"/>
          </a:xfrm>
          <a:prstGeom prst="rect">
            <a:avLst/>
          </a:prstGeom>
        </p:spPr>
      </p:pic>
      <p:pic>
        <p:nvPicPr>
          <p:cNvPr id="75" name="Picture 74" descr="lock.png"/>
          <p:cNvPicPr>
            <a:picLocks noChangeAspect="1"/>
          </p:cNvPicPr>
          <p:nvPr/>
        </p:nvPicPr>
        <p:blipFill>
          <a:blip r:embed="rId15"/>
          <a:stretch>
            <a:fillRect/>
          </a:stretch>
        </p:blipFill>
        <p:spPr>
          <a:xfrm>
            <a:off x="8038624" y="2827057"/>
            <a:ext cx="183356" cy="266700"/>
          </a:xfrm>
          <a:prstGeom prst="rect">
            <a:avLst/>
          </a:prstGeom>
        </p:spPr>
      </p:pic>
      <p:pic>
        <p:nvPicPr>
          <p:cNvPr id="76" name="Picture 75" descr="lock.png"/>
          <p:cNvPicPr>
            <a:picLocks noChangeAspect="1"/>
          </p:cNvPicPr>
          <p:nvPr/>
        </p:nvPicPr>
        <p:blipFill>
          <a:blip r:embed="rId15"/>
          <a:stretch>
            <a:fillRect/>
          </a:stretch>
        </p:blipFill>
        <p:spPr>
          <a:xfrm>
            <a:off x="10567511" y="2827057"/>
            <a:ext cx="183356" cy="266700"/>
          </a:xfrm>
          <a:prstGeom prst="rect">
            <a:avLst/>
          </a:prstGeom>
        </p:spPr>
      </p:pic>
      <p:sp>
        <p:nvSpPr>
          <p:cNvPr id="77" name="TextBox 76"/>
          <p:cNvSpPr txBox="1"/>
          <p:nvPr/>
        </p:nvSpPr>
        <p:spPr>
          <a:xfrm>
            <a:off x="485775" y="4229437"/>
            <a:ext cx="2428999" cy="186689"/>
          </a:xfrm>
          <a:prstGeom prst="rect">
            <a:avLst/>
          </a:prstGeom>
          <a:noFill/>
        </p:spPr>
        <p:txBody>
          <a:bodyPr wrap="none" lIns="0" rIns="0" tIns="0" bIns="0">
            <a:spAutoFit/>
          </a:bodyPr>
          <a:lstStyle/>
          <a:p>
            <a:r>
              <a:rPr sz="1100" b="0">
                <a:solidFill>
                  <a:srgbClr val="2E2E2E"/>
                </a:solidFill>
                <a:latin typeface="Calibri"/>
              </a:rPr>
              <a:t>Among off-highway vehicle by propulsion</a:t>
            </a:r>
          </a:p>
        </p:txBody>
      </p:sp>
      <p:sp>
        <p:nvSpPr>
          <p:cNvPr id="78" name="TextBox 77"/>
          <p:cNvSpPr txBox="1"/>
          <p:nvPr/>
        </p:nvSpPr>
        <p:spPr>
          <a:xfrm>
            <a:off x="485775" y="4397077"/>
            <a:ext cx="2460104" cy="186689"/>
          </a:xfrm>
          <a:prstGeom prst="rect">
            <a:avLst/>
          </a:prstGeom>
          <a:noFill/>
        </p:spPr>
        <p:txBody>
          <a:bodyPr wrap="none" lIns="0" rIns="0" tIns="0" bIns="0">
            <a:spAutoFit/>
          </a:bodyPr>
          <a:lstStyle/>
          <a:p>
            <a:r>
              <a:rPr sz="1100" b="0">
                <a:solidFill>
                  <a:srgbClr val="2E2E2E"/>
                </a:solidFill>
                <a:latin typeface="Calibri"/>
              </a:rPr>
              <a:t>configuration, tracked vehicles segment is</a:t>
            </a:r>
          </a:p>
        </p:txBody>
      </p:sp>
      <p:sp>
        <p:nvSpPr>
          <p:cNvPr id="79" name="TextBox 7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80" name="Picture 79" descr="lock.png"/>
          <p:cNvPicPr>
            <a:picLocks noChangeAspect="1"/>
          </p:cNvPicPr>
          <p:nvPr/>
        </p:nvPicPr>
        <p:blipFill>
          <a:blip r:embed="rId15"/>
          <a:stretch>
            <a:fillRect/>
          </a:stretch>
        </p:blipFill>
        <p:spPr>
          <a:xfrm>
            <a:off x="2815059" y="4554938"/>
            <a:ext cx="128699" cy="187198"/>
          </a:xfrm>
          <a:prstGeom prst="rect">
            <a:avLst/>
          </a:prstGeom>
        </p:spPr>
      </p:pic>
      <p:sp>
        <p:nvSpPr>
          <p:cNvPr id="81" name="TextBox 8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2" name="TextBox 8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83" name="TextBox 82"/>
          <p:cNvSpPr txBox="1"/>
          <p:nvPr/>
        </p:nvSpPr>
        <p:spPr>
          <a:xfrm>
            <a:off x="485775" y="4899997"/>
            <a:ext cx="2739776" cy="186689"/>
          </a:xfrm>
          <a:prstGeom prst="rect">
            <a:avLst/>
          </a:prstGeom>
          <a:noFill/>
        </p:spPr>
        <p:txBody>
          <a:bodyPr wrap="none" lIns="0" rIns="0" tIns="0" bIns="0">
            <a:spAutoFit/>
          </a:bodyPr>
          <a:lstStyle/>
          <a:p>
            <a:r>
              <a:rPr sz="1100" b="0">
                <a:solidFill>
                  <a:srgbClr val="2E2E2E"/>
                </a:solidFill>
                <a:latin typeface="Calibri"/>
              </a:rPr>
              <a:t>propulsion configuration, the wheeled vehicles</a:t>
            </a:r>
          </a:p>
        </p:txBody>
      </p:sp>
      <p:sp>
        <p:nvSpPr>
          <p:cNvPr id="84" name="TextBox 83"/>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85" name="TextBox 84"/>
          <p:cNvSpPr txBox="1"/>
          <p:nvPr/>
        </p:nvSpPr>
        <p:spPr>
          <a:xfrm>
            <a:off x="485775" y="5235277"/>
            <a:ext cx="485750" cy="186689"/>
          </a:xfrm>
          <a:prstGeom prst="rect">
            <a:avLst/>
          </a:prstGeom>
          <a:noFill/>
        </p:spPr>
        <p:txBody>
          <a:bodyPr wrap="none" lIns="0" rIns="0" tIns="0" bIns="0">
            <a:spAutoFit/>
          </a:bodyPr>
          <a:lstStyle/>
          <a:p>
            <a:r>
              <a:rPr sz="1100" b="0">
                <a:solidFill>
                  <a:srgbClr val="2E2E2E"/>
                </a:solidFill>
                <a:latin typeface="Calibri"/>
              </a:rPr>
              <a:t>gaining</a:t>
            </a:r>
          </a:p>
        </p:txBody>
      </p:sp>
      <p:pic>
        <p:nvPicPr>
          <p:cNvPr id="86" name="Picture 85" descr="lock.png"/>
          <p:cNvPicPr>
            <a:picLocks noChangeAspect="1"/>
          </p:cNvPicPr>
          <p:nvPr/>
        </p:nvPicPr>
        <p:blipFill>
          <a:blip r:embed="rId15"/>
          <a:stretch>
            <a:fillRect/>
          </a:stretch>
        </p:blipFill>
        <p:spPr>
          <a:xfrm>
            <a:off x="919576" y="5225498"/>
            <a:ext cx="128699" cy="187198"/>
          </a:xfrm>
          <a:prstGeom prst="rect">
            <a:avLst/>
          </a:prstGeom>
        </p:spPr>
      </p:pic>
      <p:sp>
        <p:nvSpPr>
          <p:cNvPr id="87" name="TextBox 86"/>
          <p:cNvSpPr txBox="1"/>
          <p:nvPr/>
        </p:nvSpPr>
        <p:spPr>
          <a:xfrm>
            <a:off x="1087072"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88" name="Picture 87" descr="lock.png"/>
          <p:cNvPicPr>
            <a:picLocks noChangeAspect="1"/>
          </p:cNvPicPr>
          <p:nvPr/>
        </p:nvPicPr>
        <p:blipFill>
          <a:blip r:embed="rId15"/>
          <a:stretch>
            <a:fillRect/>
          </a:stretch>
        </p:blipFill>
        <p:spPr>
          <a:xfrm>
            <a:off x="2421557" y="5225498"/>
            <a:ext cx="128699" cy="187198"/>
          </a:xfrm>
          <a:prstGeom prst="rect">
            <a:avLst/>
          </a:prstGeom>
        </p:spPr>
      </p:pic>
      <p:sp>
        <p:nvSpPr>
          <p:cNvPr id="89" name="TextBox 88"/>
          <p:cNvSpPr txBox="1"/>
          <p:nvPr/>
        </p:nvSpPr>
        <p:spPr>
          <a:xfrm>
            <a:off x="2589053"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90" name="TextBox 89"/>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91" name="TextBox 90"/>
          <p:cNvSpPr txBox="1"/>
          <p:nvPr/>
        </p:nvSpPr>
        <p:spPr>
          <a:xfrm>
            <a:off x="485775" y="5620849"/>
            <a:ext cx="2914650" cy="186689"/>
          </a:xfrm>
          <a:prstGeom prst="rect">
            <a:avLst/>
          </a:prstGeom>
          <a:noFill/>
        </p:spPr>
        <p:txBody>
          <a:bodyPr wrap="none" lIns="0" rIns="0" tIns="0" bIns="0">
            <a:spAutoFit/>
          </a:bodyPr>
          <a:lstStyle/>
          <a:p>
            <a:r>
              <a:rPr sz="1100" b="0">
                <a:solidFill>
                  <a:srgbClr val="2E2E2E"/>
                </a:solidFill>
                <a:latin typeface="Calibri"/>
              </a:rPr>
              <a:t>Wheeled vehicles segment is projected to register</a:t>
            </a:r>
          </a:p>
        </p:txBody>
      </p:sp>
      <p:pic>
        <p:nvPicPr>
          <p:cNvPr id="92" name="Picture 91" descr="lock.png"/>
          <p:cNvPicPr>
            <a:picLocks noChangeAspect="1"/>
          </p:cNvPicPr>
          <p:nvPr/>
        </p:nvPicPr>
        <p:blipFill>
          <a:blip r:embed="rId15"/>
          <a:stretch>
            <a:fillRect/>
          </a:stretch>
        </p:blipFill>
        <p:spPr>
          <a:xfrm>
            <a:off x="472307" y="5778710"/>
            <a:ext cx="128699" cy="187198"/>
          </a:xfrm>
          <a:prstGeom prst="rect">
            <a:avLst/>
          </a:prstGeom>
        </p:spPr>
      </p:pic>
      <p:sp>
        <p:nvSpPr>
          <p:cNvPr id="93" name="TextBox 92"/>
          <p:cNvSpPr txBox="1"/>
          <p:nvPr/>
        </p:nvSpPr>
        <p:spPr>
          <a:xfrm>
            <a:off x="639803" y="5788489"/>
            <a:ext cx="2428726" cy="186689"/>
          </a:xfrm>
          <a:prstGeom prst="rect">
            <a:avLst/>
          </a:prstGeom>
          <a:noFill/>
        </p:spPr>
        <p:txBody>
          <a:bodyPr wrap="none" lIns="0" rIns="0" tIns="0" bIns="0">
            <a:spAutoFit/>
          </a:bodyPr>
          <a:lstStyle/>
          <a:p>
            <a:r>
              <a:rPr sz="1100" b="0">
                <a:solidFill>
                  <a:srgbClr val="2E2E2E"/>
                </a:solidFill>
                <a:latin typeface="Calibri"/>
              </a:rPr>
              <a:t>X higher value than semi-tracked vehicles</a:t>
            </a:r>
          </a:p>
        </p:txBody>
      </p:sp>
      <p:sp>
        <p:nvSpPr>
          <p:cNvPr id="94" name="TextBox 93"/>
          <p:cNvSpPr txBox="1"/>
          <p:nvPr/>
        </p:nvSpPr>
        <p:spPr>
          <a:xfrm>
            <a:off x="485775" y="5956129"/>
            <a:ext cx="1055464" cy="186689"/>
          </a:xfrm>
          <a:prstGeom prst="rect">
            <a:avLst/>
          </a:prstGeom>
          <a:noFill/>
        </p:spPr>
        <p:txBody>
          <a:bodyPr wrap="none" lIns="0" rIns="0" tIns="0" bIns="0">
            <a:spAutoFit/>
          </a:bodyPr>
          <a:lstStyle/>
          <a:p>
            <a:r>
              <a:rPr sz="1100" b="0">
                <a:solidFill>
                  <a:srgbClr val="2E2E2E"/>
                </a:solidFill>
                <a:latin typeface="Calibri"/>
              </a:rPr>
              <a:t>segment in 2036.</a:t>
            </a:r>
          </a:p>
        </p:txBody>
      </p:sp>
      <p:sp>
        <p:nvSpPr>
          <p:cNvPr id="95" name="TextBox 94"/>
          <p:cNvSpPr txBox="1"/>
          <p:nvPr/>
        </p:nvSpPr>
        <p:spPr>
          <a:xfrm>
            <a:off x="3838575" y="4229437"/>
            <a:ext cx="1243458" cy="186689"/>
          </a:xfrm>
          <a:prstGeom prst="rect">
            <a:avLst/>
          </a:prstGeom>
          <a:noFill/>
        </p:spPr>
        <p:txBody>
          <a:bodyPr wrap="none" lIns="0" rIns="0" tIns="0" bIns="0">
            <a:spAutoFit/>
          </a:bodyPr>
          <a:lstStyle/>
          <a:p>
            <a:r>
              <a:rPr sz="1100" b="0">
                <a:solidFill>
                  <a:srgbClr val="2E2E2E"/>
                </a:solidFill>
                <a:latin typeface="Calibri"/>
              </a:rPr>
              <a:t>● Wheeled Vehicles:</a:t>
            </a:r>
          </a:p>
        </p:txBody>
      </p:sp>
      <p:pic>
        <p:nvPicPr>
          <p:cNvPr id="96" name="Picture 95" descr="lock.png"/>
          <p:cNvPicPr>
            <a:picLocks noChangeAspect="1"/>
          </p:cNvPicPr>
          <p:nvPr/>
        </p:nvPicPr>
        <p:blipFill>
          <a:blip r:embed="rId15"/>
          <a:stretch>
            <a:fillRect/>
          </a:stretch>
        </p:blipFill>
        <p:spPr>
          <a:xfrm>
            <a:off x="5030085" y="4219658"/>
            <a:ext cx="128699" cy="187198"/>
          </a:xfrm>
          <a:prstGeom prst="rect">
            <a:avLst/>
          </a:prstGeom>
        </p:spPr>
      </p:pic>
      <p:sp>
        <p:nvSpPr>
          <p:cNvPr id="97" name="TextBox 96"/>
          <p:cNvSpPr txBox="1"/>
          <p:nvPr/>
        </p:nvSpPr>
        <p:spPr>
          <a:xfrm>
            <a:off x="5197581"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98" name="Picture 97" descr="lock.png"/>
          <p:cNvPicPr>
            <a:picLocks noChangeAspect="1"/>
          </p:cNvPicPr>
          <p:nvPr/>
        </p:nvPicPr>
        <p:blipFill>
          <a:blip r:embed="rId15"/>
          <a:stretch>
            <a:fillRect/>
          </a:stretch>
        </p:blipFill>
        <p:spPr>
          <a:xfrm>
            <a:off x="6057031" y="4219658"/>
            <a:ext cx="128699" cy="187198"/>
          </a:xfrm>
          <a:prstGeom prst="rect">
            <a:avLst/>
          </a:prstGeom>
        </p:spPr>
      </p:pic>
      <p:sp>
        <p:nvSpPr>
          <p:cNvPr id="99" name="TextBox 98"/>
          <p:cNvSpPr txBox="1"/>
          <p:nvPr/>
        </p:nvSpPr>
        <p:spPr>
          <a:xfrm>
            <a:off x="6224527"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100" name="TextBox 99"/>
          <p:cNvSpPr txBox="1"/>
          <p:nvPr/>
        </p:nvSpPr>
        <p:spPr>
          <a:xfrm>
            <a:off x="3838575" y="4447369"/>
            <a:ext cx="1501303" cy="186689"/>
          </a:xfrm>
          <a:prstGeom prst="rect">
            <a:avLst/>
          </a:prstGeom>
          <a:noFill/>
        </p:spPr>
        <p:txBody>
          <a:bodyPr wrap="none" lIns="0" rIns="0" tIns="0" bIns="0">
            <a:spAutoFit/>
          </a:bodyPr>
          <a:lstStyle/>
          <a:p>
            <a:r>
              <a:rPr sz="1100" b="0">
                <a:solidFill>
                  <a:srgbClr val="2E2E2E"/>
                </a:solidFill>
                <a:latin typeface="Calibri"/>
              </a:rPr>
              <a:t>● Semi-Tracked Vehicles:</a:t>
            </a:r>
          </a:p>
        </p:txBody>
      </p:sp>
      <p:pic>
        <p:nvPicPr>
          <p:cNvPr id="101" name="Picture 100" descr="lock.png"/>
          <p:cNvPicPr>
            <a:picLocks noChangeAspect="1"/>
          </p:cNvPicPr>
          <p:nvPr/>
        </p:nvPicPr>
        <p:blipFill>
          <a:blip r:embed="rId15"/>
          <a:stretch>
            <a:fillRect/>
          </a:stretch>
        </p:blipFill>
        <p:spPr>
          <a:xfrm>
            <a:off x="5287930" y="4437590"/>
            <a:ext cx="128699" cy="187198"/>
          </a:xfrm>
          <a:prstGeom prst="rect">
            <a:avLst/>
          </a:prstGeom>
        </p:spPr>
      </p:pic>
      <p:sp>
        <p:nvSpPr>
          <p:cNvPr id="102" name="TextBox 101"/>
          <p:cNvSpPr txBox="1"/>
          <p:nvPr/>
        </p:nvSpPr>
        <p:spPr>
          <a:xfrm>
            <a:off x="5455426"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3" name="Picture 102" descr="lock.png"/>
          <p:cNvPicPr>
            <a:picLocks noChangeAspect="1"/>
          </p:cNvPicPr>
          <p:nvPr/>
        </p:nvPicPr>
        <p:blipFill>
          <a:blip r:embed="rId15"/>
          <a:stretch>
            <a:fillRect/>
          </a:stretch>
        </p:blipFill>
        <p:spPr>
          <a:xfrm>
            <a:off x="6314876" y="4437590"/>
            <a:ext cx="128699" cy="187198"/>
          </a:xfrm>
          <a:prstGeom prst="rect">
            <a:avLst/>
          </a:prstGeom>
        </p:spPr>
      </p:pic>
      <p:sp>
        <p:nvSpPr>
          <p:cNvPr id="104" name="TextBox 103"/>
          <p:cNvSpPr txBox="1"/>
          <p:nvPr/>
        </p:nvSpPr>
        <p:spPr>
          <a:xfrm>
            <a:off x="6482372" y="4447369"/>
            <a:ext cx="1260358" cy="186689"/>
          </a:xfrm>
          <a:prstGeom prst="rect">
            <a:avLst/>
          </a:prstGeom>
          <a:noFill/>
        </p:spPr>
        <p:txBody>
          <a:bodyPr wrap="none" lIns="0" rIns="0" tIns="0" bIns="0">
            <a:spAutoFit/>
          </a:bodyPr>
          <a:lstStyle/>
          <a:p>
            <a:r>
              <a:rPr sz="1100" b="0">
                <a:solidFill>
                  <a:srgbClr val="2E2E2E"/>
                </a:solidFill>
                <a:latin typeface="Calibri"/>
              </a:rPr>
              <a:t>CAGR serves a niche.</a:t>
            </a:r>
          </a:p>
        </p:txBody>
      </p:sp>
      <p:sp>
        <p:nvSpPr>
          <p:cNvPr id="105" name="TextBox 104"/>
          <p:cNvSpPr txBox="1"/>
          <p:nvPr/>
        </p:nvSpPr>
        <p:spPr>
          <a:xfrm>
            <a:off x="3838575" y="4665301"/>
            <a:ext cx="1180975" cy="186689"/>
          </a:xfrm>
          <a:prstGeom prst="rect">
            <a:avLst/>
          </a:prstGeom>
          <a:noFill/>
        </p:spPr>
        <p:txBody>
          <a:bodyPr wrap="none" lIns="0" rIns="0" tIns="0" bIns="0">
            <a:spAutoFit/>
          </a:bodyPr>
          <a:lstStyle/>
          <a:p>
            <a:r>
              <a:rPr sz="1100" b="0">
                <a:solidFill>
                  <a:srgbClr val="2E2E2E"/>
                </a:solidFill>
                <a:latin typeface="Calibri"/>
              </a:rPr>
              <a:t>● Tracked Vehicles:</a:t>
            </a:r>
          </a:p>
        </p:txBody>
      </p:sp>
      <p:pic>
        <p:nvPicPr>
          <p:cNvPr id="106" name="Picture 105" descr="lock.png"/>
          <p:cNvPicPr>
            <a:picLocks noChangeAspect="1"/>
          </p:cNvPicPr>
          <p:nvPr/>
        </p:nvPicPr>
        <p:blipFill>
          <a:blip r:embed="rId15"/>
          <a:stretch>
            <a:fillRect/>
          </a:stretch>
        </p:blipFill>
        <p:spPr>
          <a:xfrm>
            <a:off x="4967602" y="4655522"/>
            <a:ext cx="128699" cy="187198"/>
          </a:xfrm>
          <a:prstGeom prst="rect">
            <a:avLst/>
          </a:prstGeom>
        </p:spPr>
      </p:pic>
      <p:sp>
        <p:nvSpPr>
          <p:cNvPr id="107" name="TextBox 106"/>
          <p:cNvSpPr txBox="1"/>
          <p:nvPr/>
        </p:nvSpPr>
        <p:spPr>
          <a:xfrm>
            <a:off x="5135098"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8" name="Picture 107" descr="lock.png"/>
          <p:cNvPicPr>
            <a:picLocks noChangeAspect="1"/>
          </p:cNvPicPr>
          <p:nvPr/>
        </p:nvPicPr>
        <p:blipFill>
          <a:blip r:embed="rId15"/>
          <a:stretch>
            <a:fillRect/>
          </a:stretch>
        </p:blipFill>
        <p:spPr>
          <a:xfrm>
            <a:off x="5994548" y="4655522"/>
            <a:ext cx="128699" cy="187198"/>
          </a:xfrm>
          <a:prstGeom prst="rect">
            <a:avLst/>
          </a:prstGeom>
        </p:spPr>
      </p:pic>
      <p:sp>
        <p:nvSpPr>
          <p:cNvPr id="109" name="TextBox 108"/>
          <p:cNvSpPr txBox="1"/>
          <p:nvPr/>
        </p:nvSpPr>
        <p:spPr>
          <a:xfrm>
            <a:off x="6162044" y="4665301"/>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10" name="TextBox 109"/>
          <p:cNvSpPr txBox="1"/>
          <p:nvPr/>
        </p:nvSpPr>
        <p:spPr>
          <a:xfrm>
            <a:off x="3838575" y="4883233"/>
            <a:ext cx="2781796" cy="186689"/>
          </a:xfrm>
          <a:prstGeom prst="rect">
            <a:avLst/>
          </a:prstGeom>
          <a:noFill/>
        </p:spPr>
        <p:txBody>
          <a:bodyPr wrap="none" lIns="0" rIns="0" tIns="0" bIns="0">
            <a:spAutoFit/>
          </a:bodyPr>
          <a:lstStyle/>
          <a:p>
            <a:r>
              <a:rPr sz="1100" b="1">
                <a:solidFill>
                  <a:srgbClr val="6F3CC2"/>
                </a:solidFill>
                <a:latin typeface="Calibri"/>
              </a:rPr>
              <a:t>● Other Specialized Propulsion Configurations:</a:t>
            </a:r>
          </a:p>
        </p:txBody>
      </p:sp>
      <p:pic>
        <p:nvPicPr>
          <p:cNvPr id="111" name="Picture 110" descr="lock.png"/>
          <p:cNvPicPr>
            <a:picLocks noChangeAspect="1"/>
          </p:cNvPicPr>
          <p:nvPr/>
        </p:nvPicPr>
        <p:blipFill>
          <a:blip r:embed="rId15"/>
          <a:stretch>
            <a:fillRect/>
          </a:stretch>
        </p:blipFill>
        <p:spPr>
          <a:xfrm>
            <a:off x="6568422" y="4873454"/>
            <a:ext cx="128699" cy="187198"/>
          </a:xfrm>
          <a:prstGeom prst="rect">
            <a:avLst/>
          </a:prstGeom>
        </p:spPr>
      </p:pic>
      <p:sp>
        <p:nvSpPr>
          <p:cNvPr id="112" name="TextBox 111"/>
          <p:cNvSpPr txBox="1"/>
          <p:nvPr/>
        </p:nvSpPr>
        <p:spPr>
          <a:xfrm>
            <a:off x="6735918" y="4883233"/>
            <a:ext cx="926405" cy="186689"/>
          </a:xfrm>
          <a:prstGeom prst="rect">
            <a:avLst/>
          </a:prstGeom>
          <a:noFill/>
        </p:spPr>
        <p:txBody>
          <a:bodyPr wrap="none" lIns="0" rIns="0" tIns="0" bIns="0">
            <a:spAutoFit/>
          </a:bodyPr>
          <a:lstStyle/>
          <a:p>
            <a:r>
              <a:rPr sz="1100" b="1">
                <a:solidFill>
                  <a:srgbClr val="6F3CC2"/>
                </a:solidFill>
                <a:latin typeface="Calibri"/>
              </a:rPr>
              <a:t>of 2026 value ·</a:t>
            </a:r>
          </a:p>
        </p:txBody>
      </p:sp>
      <p:pic>
        <p:nvPicPr>
          <p:cNvPr id="113" name="Picture 112" descr="lock.png"/>
          <p:cNvPicPr>
            <a:picLocks noChangeAspect="1"/>
          </p:cNvPicPr>
          <p:nvPr/>
        </p:nvPicPr>
        <p:blipFill>
          <a:blip r:embed="rId15"/>
          <a:stretch>
            <a:fillRect/>
          </a:stretch>
        </p:blipFill>
        <p:spPr>
          <a:xfrm>
            <a:off x="7610375" y="4873454"/>
            <a:ext cx="128699" cy="187198"/>
          </a:xfrm>
          <a:prstGeom prst="rect">
            <a:avLst/>
          </a:prstGeom>
        </p:spPr>
      </p:pic>
      <p:sp>
        <p:nvSpPr>
          <p:cNvPr id="114" name="TextBox 113"/>
          <p:cNvSpPr txBox="1"/>
          <p:nvPr/>
        </p:nvSpPr>
        <p:spPr>
          <a:xfrm>
            <a:off x="3838575" y="5050873"/>
            <a:ext cx="1284633" cy="186689"/>
          </a:xfrm>
          <a:prstGeom prst="rect">
            <a:avLst/>
          </a:prstGeom>
          <a:noFill/>
        </p:spPr>
        <p:txBody>
          <a:bodyPr wrap="none" lIns="0" rIns="0" tIns="0" bIns="0">
            <a:spAutoFit/>
          </a:bodyPr>
          <a:lstStyle/>
          <a:p>
            <a:r>
              <a:rPr sz="1100" b="1">
                <a:solidFill>
                  <a:srgbClr val="6F3CC2"/>
                </a:solidFill>
                <a:latin typeface="Calibri"/>
              </a:rPr>
              <a:t>CAGR serves a niche.</a:t>
            </a:r>
          </a:p>
        </p:txBody>
      </p:sp>
      <p:sp>
        <p:nvSpPr>
          <p:cNvPr id="115" name="TextBox 114"/>
          <p:cNvSpPr txBox="1"/>
          <p:nvPr/>
        </p:nvSpPr>
        <p:spPr>
          <a:xfrm>
            <a:off x="8524875" y="5842641"/>
            <a:ext cx="3150666" cy="194310"/>
          </a:xfrm>
          <a:prstGeom prst="rect">
            <a:avLst/>
          </a:prstGeom>
          <a:noFill/>
        </p:spPr>
        <p:txBody>
          <a:bodyPr wrap="none" lIns="0" rIns="0" tIns="0" bIns="0">
            <a:spAutoFit/>
          </a:bodyPr>
          <a:lstStyle/>
          <a:p>
            <a:r>
              <a:rPr sz="1150" b="1">
                <a:solidFill>
                  <a:srgbClr val="0B2E4A"/>
                </a:solidFill>
                <a:latin typeface="Calibri"/>
              </a:rPr>
              <a:t>The Propulsion Configuration segment is projected</a:t>
            </a:r>
          </a:p>
        </p:txBody>
      </p:sp>
      <p:sp>
        <p:nvSpPr>
          <p:cNvPr id="116" name="TextBox 115"/>
          <p:cNvSpPr txBox="1"/>
          <p:nvPr/>
        </p:nvSpPr>
        <p:spPr>
          <a:xfrm>
            <a:off x="8524875" y="6017901"/>
            <a:ext cx="1340133" cy="194310"/>
          </a:xfrm>
          <a:prstGeom prst="rect">
            <a:avLst/>
          </a:prstGeom>
          <a:noFill/>
        </p:spPr>
        <p:txBody>
          <a:bodyPr wrap="none" lIns="0" rIns="0" tIns="0" bIns="0">
            <a:spAutoFit/>
          </a:bodyPr>
          <a:lstStyle/>
          <a:p>
            <a:r>
              <a:rPr sz="1150" b="1">
                <a:solidFill>
                  <a:srgbClr val="0B2E4A"/>
                </a:solidFill>
                <a:latin typeface="Calibri"/>
              </a:rPr>
              <a:t>to grow at a CAGR of</a:t>
            </a:r>
          </a:p>
        </p:txBody>
      </p:sp>
      <p:pic>
        <p:nvPicPr>
          <p:cNvPr id="117" name="Picture 116" descr="lock.png"/>
          <p:cNvPicPr>
            <a:picLocks noChangeAspect="1"/>
          </p:cNvPicPr>
          <p:nvPr/>
        </p:nvPicPr>
        <p:blipFill>
          <a:blip r:embed="rId15"/>
          <a:stretch>
            <a:fillRect/>
          </a:stretch>
        </p:blipFill>
        <p:spPr>
          <a:xfrm>
            <a:off x="9814162" y="6007677"/>
            <a:ext cx="134549" cy="195707"/>
          </a:xfrm>
          <a:prstGeom prst="rect">
            <a:avLst/>
          </a:prstGeom>
        </p:spPr>
      </p:pic>
      <p:sp>
        <p:nvSpPr>
          <p:cNvPr id="118" name="TextBox 117"/>
          <p:cNvSpPr txBox="1"/>
          <p:nvPr/>
        </p:nvSpPr>
        <p:spPr>
          <a:xfrm>
            <a:off x="9989271"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Propulsion Configuration (Value)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Propulsion Configuration mix within each country and the attractiveness of each sub-segment on growth and size</a:t>
            </a:r>
          </a:p>
        </p:txBody>
      </p:sp>
      <p:sp>
        <p:nvSpPr>
          <p:cNvPr id="7" name="Rounded Rectangle 6"/>
          <p:cNvSpPr/>
          <p:nvPr/>
        </p:nvSpPr>
        <p:spPr>
          <a:xfrm>
            <a:off x="142875" y="981075"/>
            <a:ext cx="6343650"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Propulsion Configuration mix within each country (share of 2036 value) · row label = country size (US$ Mn), largest first</a:t>
            </a:r>
          </a:p>
        </p:txBody>
      </p:sp>
      <p:graphicFrame>
        <p:nvGraphicFramePr>
          <p:cNvPr id="9" name="Chart 8"/>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0" name="Rounded Rectangle 9"/>
          <p:cNvSpPr/>
          <p:nvPr/>
        </p:nvSpPr>
        <p:spPr>
          <a:xfrm>
            <a:off x="6638925" y="981075"/>
            <a:ext cx="5400675" cy="4324350"/>
          </a:xfrm>
          <a:prstGeom prst="roundRect">
            <a:avLst>
              <a:gd name="adj" fmla="val 176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Propulsion Configuration · Bubble size represents 2036 value</a:t>
            </a:r>
          </a:p>
        </p:txBody>
      </p:sp>
      <p:graphicFrame>
        <p:nvGraphicFramePr>
          <p:cNvPr id="12" name="Chart 11"/>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5438775"/>
            <a:ext cx="11906250" cy="1181100"/>
          </a:xfrm>
          <a:prstGeom prst="roundRect">
            <a:avLst>
              <a:gd name="adj" fmla="val 64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4" name="Rectangle 1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6" name="Picture 15" descr="lock.png"/>
          <p:cNvPicPr>
            <a:picLocks noChangeAspect="1"/>
          </p:cNvPicPr>
          <p:nvPr/>
        </p:nvPicPr>
        <p:blipFill>
          <a:blip r:embed="rId6"/>
          <a:stretch>
            <a:fillRect/>
          </a:stretch>
        </p:blipFill>
        <p:spPr>
          <a:xfrm>
            <a:off x="3484684" y="3024134"/>
            <a:ext cx="320946" cy="466830"/>
          </a:xfrm>
          <a:prstGeom prst="rect">
            <a:avLst/>
          </a:prstGeom>
        </p:spPr>
      </p:pic>
      <p:sp>
        <p:nvSpPr>
          <p:cNvPr id="17" name="TextBox 16"/>
          <p:cNvSpPr txBox="1"/>
          <p:nvPr/>
        </p:nvSpPr>
        <p:spPr>
          <a:xfrm>
            <a:off x="257175" y="5694045"/>
            <a:ext cx="11492309" cy="186689"/>
          </a:xfrm>
          <a:prstGeom prst="rect">
            <a:avLst/>
          </a:prstGeom>
          <a:noFill/>
        </p:spPr>
        <p:txBody>
          <a:bodyPr wrap="none" lIns="0" rIns="0" tIns="0" bIns="0">
            <a:spAutoFit/>
          </a:bodyPr>
          <a:lstStyle/>
          <a:p>
            <a:r>
              <a:rPr sz="1100" b="0">
                <a:solidFill>
                  <a:srgbClr val="2E2E2E"/>
                </a:solidFill>
                <a:latin typeface="Calibri"/>
              </a:rPr>
              <a:t>Wheeled vehicles followed by tracked vehicles are expected to be the two most attractive propulsion configuration segments in the North America off-highway vehicle market in terms of value over the</a:t>
            </a:r>
          </a:p>
        </p:txBody>
      </p:sp>
      <p:sp>
        <p:nvSpPr>
          <p:cNvPr id="18" name="TextBox 17"/>
          <p:cNvSpPr txBox="1"/>
          <p:nvPr/>
        </p:nvSpPr>
        <p:spPr>
          <a:xfrm>
            <a:off x="257175" y="5861685"/>
            <a:ext cx="4554222" cy="186689"/>
          </a:xfrm>
          <a:prstGeom prst="rect">
            <a:avLst/>
          </a:prstGeom>
          <a:noFill/>
        </p:spPr>
        <p:txBody>
          <a:bodyPr wrap="none" lIns="0" rIns="0" tIns="0" bIns="0">
            <a:spAutoFit/>
          </a:bodyPr>
          <a:lstStyle/>
          <a:p>
            <a:r>
              <a:rPr sz="1100" b="0">
                <a:solidFill>
                  <a:srgbClr val="2E2E2E"/>
                </a:solidFill>
                <a:latin typeface="Calibri"/>
              </a:rPr>
              <a:t>forecast period. Wheeled vehicles and tracked vehicles exhibit a CAGR index of</a:t>
            </a:r>
          </a:p>
        </p:txBody>
      </p:sp>
      <p:pic>
        <p:nvPicPr>
          <p:cNvPr id="19" name="Picture 18" descr="lock.png"/>
          <p:cNvPicPr>
            <a:picLocks noChangeAspect="1"/>
          </p:cNvPicPr>
          <p:nvPr/>
        </p:nvPicPr>
        <p:blipFill>
          <a:blip r:embed="rId6"/>
          <a:stretch>
            <a:fillRect/>
          </a:stretch>
        </p:blipFill>
        <p:spPr>
          <a:xfrm>
            <a:off x="4759449" y="5851905"/>
            <a:ext cx="128699" cy="187198"/>
          </a:xfrm>
          <a:prstGeom prst="rect">
            <a:avLst/>
          </a:prstGeom>
        </p:spPr>
      </p:pic>
      <p:sp>
        <p:nvSpPr>
          <p:cNvPr id="20" name="TextBox 19"/>
          <p:cNvSpPr txBox="1"/>
          <p:nvPr/>
        </p:nvSpPr>
        <p:spPr>
          <a:xfrm>
            <a:off x="4926945"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1" name="Picture 20" descr="lock.png"/>
          <p:cNvPicPr>
            <a:picLocks noChangeAspect="1"/>
          </p:cNvPicPr>
          <p:nvPr/>
        </p:nvPicPr>
        <p:blipFill>
          <a:blip r:embed="rId6"/>
          <a:stretch>
            <a:fillRect/>
          </a:stretch>
        </p:blipFill>
        <p:spPr>
          <a:xfrm>
            <a:off x="5164839" y="5851905"/>
            <a:ext cx="128699" cy="187198"/>
          </a:xfrm>
          <a:prstGeom prst="rect">
            <a:avLst/>
          </a:prstGeom>
        </p:spPr>
      </p:pic>
      <p:sp>
        <p:nvSpPr>
          <p:cNvPr id="22" name="TextBox 21"/>
          <p:cNvSpPr txBox="1"/>
          <p:nvPr/>
        </p:nvSpPr>
        <p:spPr>
          <a:xfrm>
            <a:off x="5332335" y="586168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3" name="Picture 22" descr="lock.png"/>
          <p:cNvPicPr>
            <a:picLocks noChangeAspect="1"/>
          </p:cNvPicPr>
          <p:nvPr/>
        </p:nvPicPr>
        <p:blipFill>
          <a:blip r:embed="rId6"/>
          <a:stretch>
            <a:fillRect/>
          </a:stretch>
        </p:blipFill>
        <p:spPr>
          <a:xfrm>
            <a:off x="6941308" y="5851905"/>
            <a:ext cx="128699" cy="187198"/>
          </a:xfrm>
          <a:prstGeom prst="rect">
            <a:avLst/>
          </a:prstGeom>
        </p:spPr>
      </p:pic>
      <p:sp>
        <p:nvSpPr>
          <p:cNvPr id="24" name="TextBox 23"/>
          <p:cNvSpPr txBox="1"/>
          <p:nvPr/>
        </p:nvSpPr>
        <p:spPr>
          <a:xfrm>
            <a:off x="7108804"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5" name="Picture 24" descr="lock.png"/>
          <p:cNvPicPr>
            <a:picLocks noChangeAspect="1"/>
          </p:cNvPicPr>
          <p:nvPr/>
        </p:nvPicPr>
        <p:blipFill>
          <a:blip r:embed="rId6"/>
          <a:stretch>
            <a:fillRect/>
          </a:stretch>
        </p:blipFill>
        <p:spPr>
          <a:xfrm>
            <a:off x="7346699" y="5851905"/>
            <a:ext cx="128699" cy="187198"/>
          </a:xfrm>
          <a:prstGeom prst="rect">
            <a:avLst/>
          </a:prstGeom>
        </p:spPr>
      </p:pic>
      <p:sp>
        <p:nvSpPr>
          <p:cNvPr id="26" name="TextBox 25"/>
          <p:cNvSpPr txBox="1"/>
          <p:nvPr/>
        </p:nvSpPr>
        <p:spPr>
          <a:xfrm>
            <a:off x="7514194" y="586168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7" name="Picture 26" descr="lock.png"/>
          <p:cNvPicPr>
            <a:picLocks noChangeAspect="1"/>
          </p:cNvPicPr>
          <p:nvPr/>
        </p:nvPicPr>
        <p:blipFill>
          <a:blip r:embed="rId6"/>
          <a:stretch>
            <a:fillRect/>
          </a:stretch>
        </p:blipFill>
        <p:spPr>
          <a:xfrm>
            <a:off x="10068599" y="5851905"/>
            <a:ext cx="128699" cy="187198"/>
          </a:xfrm>
          <a:prstGeom prst="rect">
            <a:avLst/>
          </a:prstGeom>
        </p:spPr>
      </p:pic>
      <p:sp>
        <p:nvSpPr>
          <p:cNvPr id="28" name="TextBox 27"/>
          <p:cNvSpPr txBox="1"/>
          <p:nvPr/>
        </p:nvSpPr>
        <p:spPr>
          <a:xfrm>
            <a:off x="10236094" y="5861685"/>
            <a:ext cx="698301" cy="186689"/>
          </a:xfrm>
          <a:prstGeom prst="rect">
            <a:avLst/>
          </a:prstGeom>
          <a:noFill/>
        </p:spPr>
        <p:txBody>
          <a:bodyPr wrap="none" lIns="0" rIns="0" tIns="0" bIns="0">
            <a:spAutoFit/>
          </a:bodyPr>
          <a:lstStyle/>
          <a:p>
            <a:r>
              <a:rPr sz="1100" b="0">
                <a:solidFill>
                  <a:srgbClr val="2E2E2E"/>
                </a:solidFill>
                <a:latin typeface="Calibri"/>
              </a:rPr>
              <a:t>. The other</a:t>
            </a:r>
          </a:p>
        </p:txBody>
      </p:sp>
      <p:sp>
        <p:nvSpPr>
          <p:cNvPr id="29" name="TextBox 28"/>
          <p:cNvSpPr txBox="1"/>
          <p:nvPr/>
        </p:nvSpPr>
        <p:spPr>
          <a:xfrm>
            <a:off x="257175" y="6029325"/>
            <a:ext cx="11677650" cy="186689"/>
          </a:xfrm>
          <a:prstGeom prst="rect">
            <a:avLst/>
          </a:prstGeom>
          <a:noFill/>
        </p:spPr>
        <p:txBody>
          <a:bodyPr wrap="none" lIns="0" rIns="0" tIns="0" bIns="0">
            <a:spAutoFit/>
          </a:bodyPr>
          <a:lstStyle/>
          <a:p>
            <a:r>
              <a:rPr sz="1100" b="0">
                <a:solidFill>
                  <a:srgbClr val="2E2E2E"/>
                </a:solidFill>
                <a:latin typeface="Calibri"/>
              </a:rPr>
              <a:t>specialized propulsion configurations segment is expected to be less attractive as compared to other segments over the forecast period, owing to its lower CAGR and incremental opportunity. Bubbles right</a:t>
            </a:r>
          </a:p>
        </p:txBody>
      </p:sp>
      <p:sp>
        <p:nvSpPr>
          <p:cNvPr id="30" name="TextBox 29"/>
          <p:cNvSpPr txBox="1"/>
          <p:nvPr/>
        </p:nvSpPr>
        <p:spPr>
          <a:xfrm>
            <a:off x="257175" y="6196965"/>
            <a:ext cx="3593785" cy="186689"/>
          </a:xfrm>
          <a:prstGeom prst="rect">
            <a:avLst/>
          </a:prstGeom>
          <a:noFill/>
        </p:spPr>
        <p:txBody>
          <a:bodyPr wrap="none" lIns="0" rIns="0" tIns="0" bIns="0">
            <a:spAutoFit/>
          </a:bodyPr>
          <a:lstStyle/>
          <a:p>
            <a:r>
              <a:rPr sz="1100" b="0">
                <a:solidFill>
                  <a:srgbClr val="2E2E2E"/>
                </a:solidFill>
                <a:latin typeface="Calibri"/>
              </a:rPr>
              <a:t>of the CAGR-Index line grow faster than the segment average.</a:t>
            </a:r>
          </a:p>
        </p:txBody>
      </p:sp>
      <p:sp>
        <p:nvSpPr>
          <p:cNvPr id="31" name="lockshield_9"/>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2"/>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Propulsion Configuration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Propulsion Configuration and the absolute $ opportunity each sub-segment adds, 2026–2036</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Wheeled Vehicles</a:t>
            </a:r>
          </a:p>
        </p:txBody>
      </p:sp>
      <p:graphicFrame>
        <p:nvGraphicFramePr>
          <p:cNvPr id="9" name="Chart 8"/>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Tracked Vehicles</a:t>
            </a:r>
          </a:p>
        </p:txBody>
      </p:sp>
      <p:graphicFrame>
        <p:nvGraphicFramePr>
          <p:cNvPr id="12" name="Chart 11"/>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3" name="Rounded Rectangle 12"/>
          <p:cNvSpPr/>
          <p:nvPr/>
        </p:nvSpPr>
        <p:spPr>
          <a:xfrm>
            <a:off x="142875"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Semi-Tracked Vehicles</a:t>
            </a:r>
          </a:p>
        </p:txBody>
      </p:sp>
      <p:graphicFrame>
        <p:nvGraphicFramePr>
          <p:cNvPr id="15" name="Chart 14"/>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6" name="Rounded Rectangle 15"/>
          <p:cNvSpPr/>
          <p:nvPr/>
        </p:nvSpPr>
        <p:spPr>
          <a:xfrm>
            <a:off x="6172200" y="3867150"/>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Specialized Propulsion Configurations</a:t>
            </a:r>
          </a:p>
        </p:txBody>
      </p:sp>
      <p:graphicFrame>
        <p:nvGraphicFramePr>
          <p:cNvPr id="18" name="Chart 17"/>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19" name="Rectangle 1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1" name="Picture 20" descr="lock.png"/>
          <p:cNvPicPr>
            <a:picLocks noChangeAspect="1"/>
          </p:cNvPicPr>
          <p:nvPr/>
        </p:nvPicPr>
        <p:blipFill>
          <a:blip r:embed="rId8"/>
          <a:stretch>
            <a:fillRect/>
          </a:stretch>
        </p:blipFill>
        <p:spPr>
          <a:xfrm>
            <a:off x="3100230" y="2330679"/>
            <a:ext cx="252890" cy="367840"/>
          </a:xfrm>
          <a:prstGeom prst="rect">
            <a:avLst/>
          </a:prstGeom>
        </p:spPr>
      </p:pic>
      <p:pic>
        <p:nvPicPr>
          <p:cNvPr id="22" name="Picture 21" descr="lock.png"/>
          <p:cNvPicPr>
            <a:picLocks noChangeAspect="1"/>
          </p:cNvPicPr>
          <p:nvPr/>
        </p:nvPicPr>
        <p:blipFill>
          <a:blip r:embed="rId8"/>
          <a:stretch>
            <a:fillRect/>
          </a:stretch>
        </p:blipFill>
        <p:spPr>
          <a:xfrm>
            <a:off x="9129555" y="2330679"/>
            <a:ext cx="252890" cy="367840"/>
          </a:xfrm>
          <a:prstGeom prst="rect">
            <a:avLst/>
          </a:prstGeom>
        </p:spPr>
      </p:pic>
      <p:pic>
        <p:nvPicPr>
          <p:cNvPr id="23" name="Picture 22" descr="lock.png"/>
          <p:cNvPicPr>
            <a:picLocks noChangeAspect="1"/>
          </p:cNvPicPr>
          <p:nvPr/>
        </p:nvPicPr>
        <p:blipFill>
          <a:blip r:embed="rId8"/>
          <a:stretch>
            <a:fillRect/>
          </a:stretch>
        </p:blipFill>
        <p:spPr>
          <a:xfrm>
            <a:off x="3100230" y="5216754"/>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5216754"/>
            <a:ext cx="252890" cy="367840"/>
          </a:xfrm>
          <a:prstGeom prst="rect">
            <a:avLst/>
          </a:prstGeom>
        </p:spPr>
      </p:pic>
      <p:sp>
        <p:nvSpPr>
          <p:cNvPr id="25" name="lockshield_9"/>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2"/>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ockshield_15"/>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8"/>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Propulsion Configuration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Propulsion Configuration, 2021–2036, highlighting the sub-segments driving growth</a:t>
            </a:r>
          </a:p>
        </p:txBody>
      </p:sp>
      <p:sp>
        <p:nvSpPr>
          <p:cNvPr id="7" name="Rounded Rectangle 6"/>
          <p:cNvSpPr/>
          <p:nvPr/>
        </p:nvSpPr>
        <p:spPr>
          <a:xfrm>
            <a:off x="142875" y="9810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Propulsion Configuration (US$ Mn)</a:t>
            </a:r>
          </a:p>
        </p:txBody>
      </p:sp>
      <p:graphicFrame>
        <p:nvGraphicFramePr>
          <p:cNvPr id="9" name="Table 8"/>
          <p:cNvGraphicFramePr>
            <a:graphicFrameLocks noGrp="1"/>
          </p:cNvGraphicFramePr>
          <p:nvPr/>
        </p:nvGraphicFramePr>
        <p:xfrm>
          <a:off x="152400" y="1238250"/>
          <a:ext cx="11889584" cy="1676402"/>
        </p:xfrm>
        <a:graphic>
          <a:graphicData uri="http://schemas.openxmlformats.org/drawingml/2006/table">
            <a:tbl>
              <a:tblPr>
                <a:tableStyleId>{5C22544A-7EE6-4342-B048-85BDC9FD1C3A}</a:tableStyleId>
              </a:tblPr>
              <a:tblGrid>
                <a:gridCol w="2755900"/>
                <a:gridCol w="542118"/>
                <a:gridCol w="542118"/>
                <a:gridCol w="542118"/>
                <a:gridCol w="542118"/>
                <a:gridCol w="542118"/>
                <a:gridCol w="542118"/>
                <a:gridCol w="542118"/>
                <a:gridCol w="542118"/>
                <a:gridCol w="542118"/>
                <a:gridCol w="542118"/>
                <a:gridCol w="542118"/>
                <a:gridCol w="542118"/>
                <a:gridCol w="542118"/>
                <a:gridCol w="542118"/>
                <a:gridCol w="542118"/>
                <a:gridCol w="542118"/>
                <a:gridCol w="459796"/>
              </a:tblGrid>
              <a:tr h="438912">
                <a:tc>
                  <a:txBody>
                    <a:bodyPr wrap="none"/>
                    <a:lstStyle/>
                    <a:p>
                      <a:pPr algn="l"/>
                      <a:r>
                        <a:rPr sz="1100" b="1">
                          <a:solidFill>
                            <a:srgbClr val="0E2A5C"/>
                          </a:solidFill>
                          <a:latin typeface="Calibri"/>
                        </a:rPr>
                        <a:t>Propulsion Configuration</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2021A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2022A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2023A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2024A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2025A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2027F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2028F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2029F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2030F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2031F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2032F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2033F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2034F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2035F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square"/>
                    <a:lstStyle/>
                    <a:p>
                      <a:pPr algn="ctr"/>
                      <a:r>
                        <a:rPr sz="1100" b="1">
                          <a:solidFill>
                            <a:srgbClr val="0E2A5C"/>
                          </a:solidFill>
                          <a:latin typeface="Calibri"/>
                        </a:rPr>
                        <a:t>F-CAGR</a:t>
                      </a:r>
                      <a:endParaRPr sz="1100"/>
                    </a:p>
                  </a:txBody>
                  <a:tcPr marL="28575" marR="19050" marT="19050" marB="19050" anchor="ctr">
                    <a:solidFill>
                      <a:srgbClr val="EBF2F9"/>
                    </a:solidFill>
                  </a:tcPr>
                </a:tc>
              </a:tr>
              <a:tr h="247498">
                <a:tc>
                  <a:txBody>
                    <a:bodyPr wrap="none"/>
                    <a:lstStyle/>
                    <a:p>
                      <a:pPr algn="l"/>
                      <a:r>
                        <a:rPr sz="1100" b="1">
                          <a:solidFill>
                            <a:srgbClr val="2E2E2E"/>
                          </a:solidFill>
                          <a:latin typeface="Calibri"/>
                        </a:rPr>
                        <a:t>Wheeled Vehicles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7498">
                <a:tc>
                  <a:txBody>
                    <a:bodyPr wrap="none"/>
                    <a:lstStyle/>
                    <a:p>
                      <a:pPr algn="l"/>
                      <a:r>
                        <a:rPr sz="1100" b="1">
                          <a:solidFill>
                            <a:srgbClr val="2E2E2E"/>
                          </a:solidFill>
                          <a:latin typeface="Calibri"/>
                        </a:rPr>
                        <a:t>Tracked Vehicles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247498">
                <a:tc>
                  <a:txBody>
                    <a:bodyPr wrap="none"/>
                    <a:lstStyle/>
                    <a:p>
                      <a:pPr algn="l"/>
                      <a:r>
                        <a:rPr sz="1100" b="1">
                          <a:solidFill>
                            <a:srgbClr val="2E2E2E"/>
                          </a:solidFill>
                          <a:latin typeface="Calibri"/>
                        </a:rPr>
                        <a:t>Semi-Tracked Vehicles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7498">
                <a:tc>
                  <a:txBody>
                    <a:bodyPr wrap="none"/>
                    <a:lstStyle/>
                    <a:p>
                      <a:pPr algn="l"/>
                      <a:r>
                        <a:rPr sz="1100" b="1">
                          <a:solidFill>
                            <a:srgbClr val="2E2E2E"/>
                          </a:solidFill>
                          <a:latin typeface="Calibri"/>
                        </a:rPr>
                        <a:t>Other Specialized Propulsion Configurations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247498">
                <a:tc>
                  <a:txBody>
                    <a:bodyPr wrap="none"/>
                    <a:lstStyle/>
                    <a:p>
                      <a:pPr algn="l"/>
                      <a:r>
                        <a:rPr sz="1100" b="1">
                          <a:solidFill>
                            <a:srgbClr val="2E2E2E"/>
                          </a:solidFill>
                          <a:latin typeface="Calibri"/>
                        </a:rPr>
                        <a:t>Total</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r>
            </a:tbl>
          </a:graphicData>
        </a:graphic>
      </p:graphicFrame>
      <p:sp>
        <p:nvSpPr>
          <p:cNvPr id="10" name="TextBox 9"/>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3257550"/>
            <a:ext cx="11906250" cy="3371850"/>
          </a:xfrm>
          <a:prstGeom prst="roundRect">
            <a:avLst>
              <a:gd name="adj" fmla="val 22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E2A5C"/>
                </a:solidFill>
                <a:latin typeface="Calibri"/>
              </a:rPr>
              <a:t>North America Value Analysis, By Propulsion Configuration</a:t>
            </a:r>
          </a:p>
        </p:txBody>
      </p:sp>
      <p:sp>
        <p:nvSpPr>
          <p:cNvPr id="13" name="Rectangle 12"/>
          <p:cNvSpPr/>
          <p:nvPr/>
        </p:nvSpPr>
        <p:spPr>
          <a:xfrm>
            <a:off x="276225" y="3581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7263419" y="2029206"/>
            <a:ext cx="366712" cy="533400"/>
          </a:xfrm>
          <a:prstGeom prst="rect">
            <a:avLst/>
          </a:prstGeom>
        </p:spPr>
      </p:pic>
      <p:sp>
        <p:nvSpPr>
          <p:cNvPr id="18" name="TextBox 17"/>
          <p:cNvSpPr txBox="1"/>
          <p:nvPr/>
        </p:nvSpPr>
        <p:spPr>
          <a:xfrm>
            <a:off x="276225" y="3676650"/>
            <a:ext cx="3044266" cy="194310"/>
          </a:xfrm>
          <a:prstGeom prst="rect">
            <a:avLst/>
          </a:prstGeom>
          <a:noFill/>
        </p:spPr>
        <p:txBody>
          <a:bodyPr wrap="none" lIns="0" rIns="0" tIns="0" bIns="0">
            <a:spAutoFit/>
          </a:bodyPr>
          <a:lstStyle/>
          <a:p>
            <a:r>
              <a:rPr sz="1150" b="0">
                <a:solidFill>
                  <a:srgbClr val="2E2E2E"/>
                </a:solidFill>
                <a:latin typeface="Calibri"/>
              </a:rPr>
              <a:t>Wheeled vehicles segment is projected to register</a:t>
            </a:r>
          </a:p>
        </p:txBody>
      </p:sp>
      <p:pic>
        <p:nvPicPr>
          <p:cNvPr id="19" name="Picture 18" descr="lock.png"/>
          <p:cNvPicPr>
            <a:picLocks noChangeAspect="1"/>
          </p:cNvPicPr>
          <p:nvPr/>
        </p:nvPicPr>
        <p:blipFill>
          <a:blip r:embed="rId4"/>
          <a:stretch>
            <a:fillRect/>
          </a:stretch>
        </p:blipFill>
        <p:spPr>
          <a:xfrm>
            <a:off x="3269645" y="3666426"/>
            <a:ext cx="134549" cy="195707"/>
          </a:xfrm>
          <a:prstGeom prst="rect">
            <a:avLst/>
          </a:prstGeom>
        </p:spPr>
      </p:pic>
      <p:sp>
        <p:nvSpPr>
          <p:cNvPr id="20" name="TextBox 19"/>
          <p:cNvSpPr txBox="1"/>
          <p:nvPr/>
        </p:nvSpPr>
        <p:spPr>
          <a:xfrm>
            <a:off x="3444755" y="3676650"/>
            <a:ext cx="7940079" cy="194310"/>
          </a:xfrm>
          <a:prstGeom prst="rect">
            <a:avLst/>
          </a:prstGeom>
          <a:noFill/>
        </p:spPr>
        <p:txBody>
          <a:bodyPr wrap="none" lIns="0" rIns="0" tIns="0" bIns="0">
            <a:spAutoFit/>
          </a:bodyPr>
          <a:lstStyle/>
          <a:p>
            <a:r>
              <a:rPr sz="1150" b="0">
                <a:solidFill>
                  <a:srgbClr val="2E2E2E"/>
                </a:solidFill>
                <a:latin typeface="Calibri"/>
              </a:rPr>
              <a:t>X higher value than semi-tracked vehicles segment in 2036. Among off-highway vehicle by propulsion configuration, tracked vehicles</a:t>
            </a:r>
          </a:p>
        </p:txBody>
      </p:sp>
      <p:sp>
        <p:nvSpPr>
          <p:cNvPr id="21" name="TextBox 20"/>
          <p:cNvSpPr txBox="1"/>
          <p:nvPr/>
        </p:nvSpPr>
        <p:spPr>
          <a:xfrm>
            <a:off x="276225" y="3851910"/>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22" name="Picture 21" descr="lock.png"/>
          <p:cNvPicPr>
            <a:picLocks noChangeAspect="1"/>
          </p:cNvPicPr>
          <p:nvPr/>
        </p:nvPicPr>
        <p:blipFill>
          <a:blip r:embed="rId4"/>
          <a:stretch>
            <a:fillRect/>
          </a:stretch>
        </p:blipFill>
        <p:spPr>
          <a:xfrm>
            <a:off x="3382018" y="3841686"/>
            <a:ext cx="134549" cy="195707"/>
          </a:xfrm>
          <a:prstGeom prst="rect">
            <a:avLst/>
          </a:prstGeom>
        </p:spPr>
      </p:pic>
      <p:sp>
        <p:nvSpPr>
          <p:cNvPr id="23" name="TextBox 22"/>
          <p:cNvSpPr txBox="1"/>
          <p:nvPr/>
        </p:nvSpPr>
        <p:spPr>
          <a:xfrm>
            <a:off x="3557127" y="38519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4" name="TextBox 23"/>
          <p:cNvSpPr txBox="1"/>
          <p:nvPr/>
        </p:nvSpPr>
        <p:spPr>
          <a:xfrm>
            <a:off x="276225" y="4079747"/>
            <a:ext cx="7633146" cy="194310"/>
          </a:xfrm>
          <a:prstGeom prst="rect">
            <a:avLst/>
          </a:prstGeom>
          <a:noFill/>
        </p:spPr>
        <p:txBody>
          <a:bodyPr wrap="none" lIns="0" rIns="0" tIns="0" bIns="0">
            <a:spAutoFit/>
          </a:bodyPr>
          <a:lstStyle/>
          <a:p>
            <a:r>
              <a:rPr sz="1150" b="0">
                <a:solidFill>
                  <a:srgbClr val="2E2E2E"/>
                </a:solidFill>
                <a:latin typeface="Calibri"/>
              </a:rPr>
              <a:t>In terms of value share by propulsion configuration, the wheeled vehicles segment is expected to dominate the market, gaining</a:t>
            </a:r>
          </a:p>
        </p:txBody>
      </p:sp>
      <p:pic>
        <p:nvPicPr>
          <p:cNvPr id="25" name="Picture 24" descr="lock.png"/>
          <p:cNvPicPr>
            <a:picLocks noChangeAspect="1"/>
          </p:cNvPicPr>
          <p:nvPr/>
        </p:nvPicPr>
        <p:blipFill>
          <a:blip r:embed="rId4"/>
          <a:stretch>
            <a:fillRect/>
          </a:stretch>
        </p:blipFill>
        <p:spPr>
          <a:xfrm>
            <a:off x="7858525" y="4069524"/>
            <a:ext cx="134549" cy="195707"/>
          </a:xfrm>
          <a:prstGeom prst="rect">
            <a:avLst/>
          </a:prstGeom>
        </p:spPr>
      </p:pic>
      <p:sp>
        <p:nvSpPr>
          <p:cNvPr id="26" name="TextBox 25"/>
          <p:cNvSpPr txBox="1"/>
          <p:nvPr/>
        </p:nvSpPr>
        <p:spPr>
          <a:xfrm>
            <a:off x="8033634" y="40797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7" name="Picture 26" descr="lock.png"/>
          <p:cNvPicPr>
            <a:picLocks noChangeAspect="1"/>
          </p:cNvPicPr>
          <p:nvPr/>
        </p:nvPicPr>
        <p:blipFill>
          <a:blip r:embed="rId4"/>
          <a:stretch>
            <a:fillRect/>
          </a:stretch>
        </p:blipFill>
        <p:spPr>
          <a:xfrm>
            <a:off x="9428777" y="4069524"/>
            <a:ext cx="134549" cy="195707"/>
          </a:xfrm>
          <a:prstGeom prst="rect">
            <a:avLst/>
          </a:prstGeom>
        </p:spPr>
      </p:pic>
      <p:sp>
        <p:nvSpPr>
          <p:cNvPr id="28" name="TextBox 27"/>
          <p:cNvSpPr txBox="1"/>
          <p:nvPr/>
        </p:nvSpPr>
        <p:spPr>
          <a:xfrm>
            <a:off x="9603887" y="4079747"/>
            <a:ext cx="2005942" cy="194310"/>
          </a:xfrm>
          <a:prstGeom prst="rect">
            <a:avLst/>
          </a:prstGeom>
          <a:noFill/>
        </p:spPr>
        <p:txBody>
          <a:bodyPr wrap="none" lIns="0" rIns="0" tIns="0" bIns="0">
            <a:spAutoFit/>
          </a:bodyPr>
          <a:lstStyle/>
          <a:p>
            <a:r>
              <a:rPr sz="1150" b="0">
                <a:solidFill>
                  <a:srgbClr val="2E2E2E"/>
                </a:solidFill>
                <a:latin typeface="Calibri"/>
              </a:rPr>
              <a:t>share by 2036. The semi-tracked</a:t>
            </a:r>
          </a:p>
        </p:txBody>
      </p:sp>
      <p:sp>
        <p:nvSpPr>
          <p:cNvPr id="29" name="TextBox 28"/>
          <p:cNvSpPr txBox="1"/>
          <p:nvPr/>
        </p:nvSpPr>
        <p:spPr>
          <a:xfrm>
            <a:off x="276225" y="4255007"/>
            <a:ext cx="2233004" cy="194310"/>
          </a:xfrm>
          <a:prstGeom prst="rect">
            <a:avLst/>
          </a:prstGeom>
          <a:noFill/>
        </p:spPr>
        <p:txBody>
          <a:bodyPr wrap="none" lIns="0" rIns="0" tIns="0" bIns="0">
            <a:spAutoFit/>
          </a:bodyPr>
          <a:lstStyle/>
          <a:p>
            <a:r>
              <a:rPr sz="1150" b="0">
                <a:solidFill>
                  <a:srgbClr val="2E2E2E"/>
                </a:solidFill>
                <a:latin typeface="Calibri"/>
              </a:rPr>
              <a:t>vehicles segment is expected to lose</a:t>
            </a:r>
          </a:p>
        </p:txBody>
      </p:sp>
      <p:pic>
        <p:nvPicPr>
          <p:cNvPr id="30" name="Picture 29" descr="lock.png"/>
          <p:cNvPicPr>
            <a:picLocks noChangeAspect="1"/>
          </p:cNvPicPr>
          <p:nvPr/>
        </p:nvPicPr>
        <p:blipFill>
          <a:blip r:embed="rId4"/>
          <a:stretch>
            <a:fillRect/>
          </a:stretch>
        </p:blipFill>
        <p:spPr>
          <a:xfrm>
            <a:off x="2458383" y="4244784"/>
            <a:ext cx="134549" cy="195707"/>
          </a:xfrm>
          <a:prstGeom prst="rect">
            <a:avLst/>
          </a:prstGeom>
        </p:spPr>
      </p:pic>
      <p:sp>
        <p:nvSpPr>
          <p:cNvPr id="31" name="TextBox 30"/>
          <p:cNvSpPr txBox="1"/>
          <p:nvPr/>
        </p:nvSpPr>
        <p:spPr>
          <a:xfrm>
            <a:off x="2633492" y="4255007"/>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2" name="Picture 31" descr="lock.png"/>
          <p:cNvPicPr>
            <a:picLocks noChangeAspect="1"/>
          </p:cNvPicPr>
          <p:nvPr/>
        </p:nvPicPr>
        <p:blipFill>
          <a:blip r:embed="rId4"/>
          <a:stretch>
            <a:fillRect/>
          </a:stretch>
        </p:blipFill>
        <p:spPr>
          <a:xfrm>
            <a:off x="5220997" y="4244784"/>
            <a:ext cx="134549" cy="195707"/>
          </a:xfrm>
          <a:prstGeom prst="rect">
            <a:avLst/>
          </a:prstGeom>
        </p:spPr>
      </p:pic>
      <p:sp>
        <p:nvSpPr>
          <p:cNvPr id="33" name="TextBox 32"/>
          <p:cNvSpPr txBox="1"/>
          <p:nvPr/>
        </p:nvSpPr>
        <p:spPr>
          <a:xfrm>
            <a:off x="5396106" y="42550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Propulsion Configuration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Propulsion Configuration in 2021, 2026 and 2036, highlighting share shifts in basis points</a:t>
            </a:r>
          </a:p>
        </p:txBody>
      </p:sp>
      <p:sp>
        <p:nvSpPr>
          <p:cNvPr id="7" name="Rounded Rectangle 6"/>
          <p:cNvSpPr/>
          <p:nvPr/>
        </p:nvSpPr>
        <p:spPr>
          <a:xfrm>
            <a:off x="142875" y="981075"/>
            <a:ext cx="7400925" cy="5648325"/>
          </a:xfrm>
          <a:prstGeom prst="roundRect">
            <a:avLst>
              <a:gd name="adj" fmla="val 13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Propulsion Configuration ·  2021 / 2026 / 2036 (US$ Mn)  ·  right axis = BPS share shift</a:t>
            </a:r>
          </a:p>
        </p:txBody>
      </p:sp>
      <p:graphicFrame>
        <p:nvGraphicFramePr>
          <p:cNvPr id="9" name="Chart 8"/>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0" name="TextBox 9"/>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2A5F8F"/>
                </a:solidFill>
                <a:latin typeface="Calibri"/>
              </a:rPr>
              <a:t>BPS Δ  (2021→2036)</a:t>
            </a:r>
          </a:p>
        </p:txBody>
      </p:sp>
      <p:sp>
        <p:nvSpPr>
          <p:cNvPr id="11" name="TMR Lock Anchor"/>
          <p:cNvSpPr txBox="1"/>
          <p:nvPr/>
        </p:nvSpPr>
        <p:spPr>
          <a:xfrm>
            <a:off x="2678811" y="4014597"/>
            <a:ext cx="38100" cy="38100"/>
          </a:xfrm>
          <a:prstGeom prst="rect">
            <a:avLst/>
          </a:prstGeom>
          <a:noFill/>
        </p:spPr>
        <p:txBody>
          <a:bodyPr wrap="none">
            <a:spAutoFit/>
          </a:bodyPr>
          <a:lstStyle/>
          <a:p/>
        </p:txBody>
      </p:sp>
      <p:sp>
        <p:nvSpPr>
          <p:cNvPr id="12" name="TMR Legend Chip"/>
          <p:cNvSpPr/>
          <p:nvPr/>
        </p:nvSpPr>
        <p:spPr>
          <a:xfrm>
            <a:off x="4928997" y="1784961"/>
            <a:ext cx="85725" cy="85725"/>
          </a:xfrm>
          <a:prstGeom prst="rect">
            <a:avLst/>
          </a:prstGeom>
          <a:solidFill>
            <a:srgbClr val="00AC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sosceles Triangle 12"/>
          <p:cNvSpPr/>
          <p:nvPr/>
        </p:nvSpPr>
        <p:spPr>
          <a:xfrm rot="10800000">
            <a:off x="5090922" y="1780199"/>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PS Name 1"/>
          <p:cNvSpPr txBox="1"/>
          <p:nvPr/>
        </p:nvSpPr>
        <p:spPr>
          <a:xfrm>
            <a:off x="5233797" y="170399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Specialized Propulsion Configurations</a:t>
            </a:r>
          </a:p>
        </p:txBody>
      </p:sp>
      <p:sp>
        <p:nvSpPr>
          <p:cNvPr id="15" name="BPS Value 1"/>
          <p:cNvSpPr txBox="1"/>
          <p:nvPr/>
        </p:nvSpPr>
        <p:spPr>
          <a:xfrm>
            <a:off x="6896100" y="176591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6" name="TMR Legend Chip"/>
          <p:cNvSpPr/>
          <p:nvPr/>
        </p:nvSpPr>
        <p:spPr>
          <a:xfrm>
            <a:off x="4928997" y="2283459"/>
            <a:ext cx="85725" cy="85725"/>
          </a:xfrm>
          <a:prstGeom prst="rect">
            <a:avLst/>
          </a:prstGeom>
          <a:solidFill>
            <a:srgbClr val="0E2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5090922" y="227869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PS Name 2"/>
          <p:cNvSpPr txBox="1"/>
          <p:nvPr/>
        </p:nvSpPr>
        <p:spPr>
          <a:xfrm>
            <a:off x="5233797" y="22024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Tracked Vehicles</a:t>
            </a:r>
          </a:p>
        </p:txBody>
      </p:sp>
      <p:sp>
        <p:nvSpPr>
          <p:cNvPr id="19" name="BPS Value 2"/>
          <p:cNvSpPr txBox="1"/>
          <p:nvPr/>
        </p:nvSpPr>
        <p:spPr>
          <a:xfrm>
            <a:off x="6896100" y="2264409"/>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0" name="TMR Legend Chip"/>
          <p:cNvSpPr/>
          <p:nvPr/>
        </p:nvSpPr>
        <p:spPr>
          <a:xfrm>
            <a:off x="4928997" y="3160796"/>
            <a:ext cx="85725" cy="85725"/>
          </a:xfrm>
          <a:prstGeom prst="rect">
            <a:avLst/>
          </a:prstGeom>
          <a:solidFill>
            <a:srgbClr val="008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sosceles Triangle 20"/>
          <p:cNvSpPr/>
          <p:nvPr/>
        </p:nvSpPr>
        <p:spPr>
          <a:xfrm rot="10800000">
            <a:off x="5090922" y="3156033"/>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PS Name 3"/>
          <p:cNvSpPr txBox="1"/>
          <p:nvPr/>
        </p:nvSpPr>
        <p:spPr>
          <a:xfrm>
            <a:off x="5233797" y="3079833"/>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Semi-Tracked Vehicles</a:t>
            </a:r>
          </a:p>
        </p:txBody>
      </p:sp>
      <p:sp>
        <p:nvSpPr>
          <p:cNvPr id="23" name="BPS Value 3"/>
          <p:cNvSpPr txBox="1"/>
          <p:nvPr/>
        </p:nvSpPr>
        <p:spPr>
          <a:xfrm>
            <a:off x="6896100" y="314174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4" name="TMR Legend Chip"/>
          <p:cNvSpPr/>
          <p:nvPr/>
        </p:nvSpPr>
        <p:spPr>
          <a:xfrm>
            <a:off x="4928997" y="4948488"/>
            <a:ext cx="85725" cy="85725"/>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5090922" y="494372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PS Name 4"/>
          <p:cNvSpPr txBox="1"/>
          <p:nvPr/>
        </p:nvSpPr>
        <p:spPr>
          <a:xfrm>
            <a:off x="5233797" y="486752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Wheeled Vehicles</a:t>
            </a:r>
          </a:p>
        </p:txBody>
      </p:sp>
      <p:sp>
        <p:nvSpPr>
          <p:cNvPr id="27" name="BPS Value 4"/>
          <p:cNvSpPr txBox="1"/>
          <p:nvPr/>
        </p:nvSpPr>
        <p:spPr>
          <a:xfrm>
            <a:off x="6896100" y="492943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8" name="Rounded Rectangle 27"/>
          <p:cNvSpPr/>
          <p:nvPr/>
        </p:nvSpPr>
        <p:spPr>
          <a:xfrm>
            <a:off x="7696200" y="981075"/>
            <a:ext cx="4343400" cy="5648325"/>
          </a:xfrm>
          <a:prstGeom prst="roundRect">
            <a:avLst>
              <a:gd name="adj" fmla="val 17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E2A5C"/>
                </a:solidFill>
                <a:latin typeface="Calibri"/>
              </a:rPr>
              <a:t>North America Read-out, By Propulsion Configuration</a:t>
            </a:r>
          </a:p>
        </p:txBody>
      </p:sp>
      <p:sp>
        <p:nvSpPr>
          <p:cNvPr id="30" name="Rectangle 29"/>
          <p:cNvSpPr/>
          <p:nvPr/>
        </p:nvSpPr>
        <p:spPr>
          <a:xfrm>
            <a:off x="7829550" y="1502995"/>
            <a:ext cx="40767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Rectangle 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4" name="Picture 33" descr="lock.png"/>
          <p:cNvPicPr>
            <a:picLocks noChangeAspect="1"/>
          </p:cNvPicPr>
          <p:nvPr/>
        </p:nvPicPr>
        <p:blipFill>
          <a:blip r:embed="rId5"/>
          <a:stretch>
            <a:fillRect/>
          </a:stretch>
        </p:blipFill>
        <p:spPr>
          <a:xfrm>
            <a:off x="2557843" y="3833622"/>
            <a:ext cx="275034" cy="400050"/>
          </a:xfrm>
          <a:prstGeom prst="rect">
            <a:avLst/>
          </a:prstGeom>
        </p:spPr>
      </p:pic>
      <p:sp>
        <p:nvSpPr>
          <p:cNvPr id="35" name="TextBox 34"/>
          <p:cNvSpPr txBox="1"/>
          <p:nvPr/>
        </p:nvSpPr>
        <p:spPr>
          <a:xfrm>
            <a:off x="7829550" y="1598245"/>
            <a:ext cx="3883198" cy="194310"/>
          </a:xfrm>
          <a:prstGeom prst="rect">
            <a:avLst/>
          </a:prstGeom>
          <a:noFill/>
        </p:spPr>
        <p:txBody>
          <a:bodyPr wrap="none" lIns="0" rIns="0" tIns="0" bIns="0">
            <a:spAutoFit/>
          </a:bodyPr>
          <a:lstStyle/>
          <a:p>
            <a:r>
              <a:rPr sz="1150" b="0">
                <a:solidFill>
                  <a:srgbClr val="2E2E2E"/>
                </a:solidFill>
                <a:latin typeface="Calibri"/>
              </a:rPr>
              <a:t>Among off-highway vehicle by propulsion configuration, tracked</a:t>
            </a:r>
          </a:p>
        </p:txBody>
      </p:sp>
      <p:sp>
        <p:nvSpPr>
          <p:cNvPr id="36" name="TextBox 35"/>
          <p:cNvSpPr txBox="1"/>
          <p:nvPr/>
        </p:nvSpPr>
        <p:spPr>
          <a:xfrm>
            <a:off x="7829550" y="1773505"/>
            <a:ext cx="3664105" cy="194310"/>
          </a:xfrm>
          <a:prstGeom prst="rect">
            <a:avLst/>
          </a:prstGeom>
          <a:noFill/>
        </p:spPr>
        <p:txBody>
          <a:bodyPr wrap="none" lIns="0" rIns="0" tIns="0" bIns="0">
            <a:spAutoFit/>
          </a:bodyPr>
          <a:lstStyle/>
          <a:p>
            <a:r>
              <a:rPr sz="1150" b="0">
                <a:solidFill>
                  <a:srgbClr val="2E2E2E"/>
                </a:solidFill>
                <a:latin typeface="Calibri"/>
              </a:rPr>
              <a:t>vehicles segment is expected to witness the highest CAGR of</a:t>
            </a:r>
          </a:p>
        </p:txBody>
      </p:sp>
      <p:pic>
        <p:nvPicPr>
          <p:cNvPr id="37" name="Picture 36" descr="lock.png"/>
          <p:cNvPicPr>
            <a:picLocks noChangeAspect="1"/>
          </p:cNvPicPr>
          <p:nvPr/>
        </p:nvPicPr>
        <p:blipFill>
          <a:blip r:embed="rId5"/>
          <a:stretch>
            <a:fillRect/>
          </a:stretch>
        </p:blipFill>
        <p:spPr>
          <a:xfrm>
            <a:off x="11442809" y="1763281"/>
            <a:ext cx="134549" cy="195707"/>
          </a:xfrm>
          <a:prstGeom prst="rect">
            <a:avLst/>
          </a:prstGeom>
        </p:spPr>
      </p:pic>
      <p:sp>
        <p:nvSpPr>
          <p:cNvPr id="38" name="TextBox 37"/>
          <p:cNvSpPr txBox="1"/>
          <p:nvPr/>
        </p:nvSpPr>
        <p:spPr>
          <a:xfrm>
            <a:off x="7829550" y="1948765"/>
            <a:ext cx="3787638" cy="194310"/>
          </a:xfrm>
          <a:prstGeom prst="rect">
            <a:avLst/>
          </a:prstGeom>
          <a:noFill/>
        </p:spPr>
        <p:txBody>
          <a:bodyPr wrap="none" lIns="0" rIns="0" tIns="0" bIns="0">
            <a:spAutoFit/>
          </a:bodyPr>
          <a:lstStyle/>
          <a:p>
            <a:r>
              <a:rPr sz="1150" b="0">
                <a:solidFill>
                  <a:srgbClr val="2E2E2E"/>
                </a:solidFill>
                <a:latin typeface="Calibri"/>
              </a:rPr>
              <a:t>over the forecast period. In terms of value share by propulsion</a:t>
            </a:r>
          </a:p>
        </p:txBody>
      </p:sp>
      <p:sp>
        <p:nvSpPr>
          <p:cNvPr id="39" name="TextBox 38"/>
          <p:cNvSpPr txBox="1"/>
          <p:nvPr/>
        </p:nvSpPr>
        <p:spPr>
          <a:xfrm>
            <a:off x="7829550" y="2124025"/>
            <a:ext cx="3600226" cy="194310"/>
          </a:xfrm>
          <a:prstGeom prst="rect">
            <a:avLst/>
          </a:prstGeom>
          <a:noFill/>
        </p:spPr>
        <p:txBody>
          <a:bodyPr wrap="none" lIns="0" rIns="0" tIns="0" bIns="0">
            <a:spAutoFit/>
          </a:bodyPr>
          <a:lstStyle/>
          <a:p>
            <a:r>
              <a:rPr sz="1150" b="0">
                <a:solidFill>
                  <a:srgbClr val="2E2E2E"/>
                </a:solidFill>
                <a:latin typeface="Calibri"/>
              </a:rPr>
              <a:t>configuration, the wheeled vehicles segment is expected to</a:t>
            </a:r>
          </a:p>
        </p:txBody>
      </p:sp>
      <p:sp>
        <p:nvSpPr>
          <p:cNvPr id="40" name="TextBox 39"/>
          <p:cNvSpPr txBox="1"/>
          <p:nvPr/>
        </p:nvSpPr>
        <p:spPr>
          <a:xfrm>
            <a:off x="7829550" y="2299285"/>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41" name="Picture 40" descr="lock.png"/>
          <p:cNvPicPr>
            <a:picLocks noChangeAspect="1"/>
          </p:cNvPicPr>
          <p:nvPr/>
        </p:nvPicPr>
        <p:blipFill>
          <a:blip r:embed="rId5"/>
          <a:stretch>
            <a:fillRect/>
          </a:stretch>
        </p:blipFill>
        <p:spPr>
          <a:xfrm>
            <a:off x="9615776" y="2289061"/>
            <a:ext cx="134549" cy="195707"/>
          </a:xfrm>
          <a:prstGeom prst="rect">
            <a:avLst/>
          </a:prstGeom>
        </p:spPr>
      </p:pic>
      <p:sp>
        <p:nvSpPr>
          <p:cNvPr id="42" name="TextBox 41"/>
          <p:cNvSpPr txBox="1"/>
          <p:nvPr/>
        </p:nvSpPr>
        <p:spPr>
          <a:xfrm>
            <a:off x="9790885" y="229928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3" name="Picture 42" descr="lock.png"/>
          <p:cNvPicPr>
            <a:picLocks noChangeAspect="1"/>
          </p:cNvPicPr>
          <p:nvPr/>
        </p:nvPicPr>
        <p:blipFill>
          <a:blip r:embed="rId5"/>
          <a:stretch>
            <a:fillRect/>
          </a:stretch>
        </p:blipFill>
        <p:spPr>
          <a:xfrm>
            <a:off x="11186028" y="2289061"/>
            <a:ext cx="134549" cy="195707"/>
          </a:xfrm>
          <a:prstGeom prst="rect">
            <a:avLst/>
          </a:prstGeom>
        </p:spPr>
      </p:pic>
      <p:sp>
        <p:nvSpPr>
          <p:cNvPr id="44" name="TextBox 43"/>
          <p:cNvSpPr txBox="1"/>
          <p:nvPr/>
        </p:nvSpPr>
        <p:spPr>
          <a:xfrm>
            <a:off x="7829550" y="247454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5" name="TextBox 44"/>
          <p:cNvSpPr txBox="1"/>
          <p:nvPr/>
        </p:nvSpPr>
        <p:spPr>
          <a:xfrm>
            <a:off x="7829550" y="2702382"/>
            <a:ext cx="3292723" cy="194310"/>
          </a:xfrm>
          <a:prstGeom prst="rect">
            <a:avLst/>
          </a:prstGeom>
          <a:noFill/>
        </p:spPr>
        <p:txBody>
          <a:bodyPr wrap="none" lIns="0" rIns="0" tIns="0" bIns="0">
            <a:spAutoFit/>
          </a:bodyPr>
          <a:lstStyle/>
          <a:p>
            <a:r>
              <a:rPr sz="1150" b="0">
                <a:solidFill>
                  <a:srgbClr val="2E2E2E"/>
                </a:solidFill>
                <a:latin typeface="Calibri"/>
              </a:rPr>
              <a:t>The semi-tracked vehicles segment is expected to lose</a:t>
            </a:r>
          </a:p>
        </p:txBody>
      </p:sp>
      <p:pic>
        <p:nvPicPr>
          <p:cNvPr id="46" name="Picture 45" descr="lock.png"/>
          <p:cNvPicPr>
            <a:picLocks noChangeAspect="1"/>
          </p:cNvPicPr>
          <p:nvPr/>
        </p:nvPicPr>
        <p:blipFill>
          <a:blip r:embed="rId5"/>
          <a:stretch>
            <a:fillRect/>
          </a:stretch>
        </p:blipFill>
        <p:spPr>
          <a:xfrm>
            <a:off x="11071426" y="2692159"/>
            <a:ext cx="134549" cy="195707"/>
          </a:xfrm>
          <a:prstGeom prst="rect">
            <a:avLst/>
          </a:prstGeom>
        </p:spPr>
      </p:pic>
      <p:sp>
        <p:nvSpPr>
          <p:cNvPr id="47" name="TextBox 46"/>
          <p:cNvSpPr txBox="1"/>
          <p:nvPr/>
        </p:nvSpPr>
        <p:spPr>
          <a:xfrm>
            <a:off x="11246536" y="2702382"/>
            <a:ext cx="598214" cy="194310"/>
          </a:xfrm>
          <a:prstGeom prst="rect">
            <a:avLst/>
          </a:prstGeom>
          <a:noFill/>
        </p:spPr>
        <p:txBody>
          <a:bodyPr wrap="none" lIns="0" rIns="0" tIns="0" bIns="0">
            <a:spAutoFit/>
          </a:bodyPr>
          <a:lstStyle/>
          <a:p>
            <a:r>
              <a:rPr sz="1150" b="0">
                <a:solidFill>
                  <a:srgbClr val="2E2E2E"/>
                </a:solidFill>
                <a:latin typeface="Calibri"/>
              </a:rPr>
              <a:t>BPS over</a:t>
            </a:r>
          </a:p>
        </p:txBody>
      </p:sp>
      <p:sp>
        <p:nvSpPr>
          <p:cNvPr id="48" name="TextBox 47"/>
          <p:cNvSpPr txBox="1"/>
          <p:nvPr/>
        </p:nvSpPr>
        <p:spPr>
          <a:xfrm>
            <a:off x="7829550" y="2877642"/>
            <a:ext cx="2083246" cy="194310"/>
          </a:xfrm>
          <a:prstGeom prst="rect">
            <a:avLst/>
          </a:prstGeom>
          <a:noFill/>
        </p:spPr>
        <p:txBody>
          <a:bodyPr wrap="none" lIns="0" rIns="0" tIns="0" bIns="0">
            <a:spAutoFit/>
          </a:bodyPr>
          <a:lstStyle/>
          <a:p>
            <a:r>
              <a:rPr sz="1150" b="0">
                <a:solidFill>
                  <a:srgbClr val="2E2E2E"/>
                </a:solidFill>
                <a:latin typeface="Calibri"/>
              </a:rPr>
              <a:t>the forecast period to account for</a:t>
            </a:r>
          </a:p>
        </p:txBody>
      </p:sp>
      <p:pic>
        <p:nvPicPr>
          <p:cNvPr id="49" name="Picture 48" descr="lock.png"/>
          <p:cNvPicPr>
            <a:picLocks noChangeAspect="1"/>
          </p:cNvPicPr>
          <p:nvPr/>
        </p:nvPicPr>
        <p:blipFill>
          <a:blip r:embed="rId5"/>
          <a:stretch>
            <a:fillRect/>
          </a:stretch>
        </p:blipFill>
        <p:spPr>
          <a:xfrm>
            <a:off x="9861950" y="2867419"/>
            <a:ext cx="134549" cy="195707"/>
          </a:xfrm>
          <a:prstGeom prst="rect">
            <a:avLst/>
          </a:prstGeom>
        </p:spPr>
      </p:pic>
      <p:sp>
        <p:nvSpPr>
          <p:cNvPr id="50" name="TextBox 49"/>
          <p:cNvSpPr txBox="1"/>
          <p:nvPr/>
        </p:nvSpPr>
        <p:spPr>
          <a:xfrm>
            <a:off x="10037059" y="287764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51" name="lockshield_9"/>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264604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295084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655695"/>
            <a:ext cx="7124700" cy="198501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Vehicle Type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Powertrain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Vehicle Capacity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Propulsion Configuration</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Volume Overview (Units)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(UNITS)</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(Units),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(Units)</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612628" cy="186689"/>
          </a:xfrm>
          <a:prstGeom prst="rect">
            <a:avLst/>
          </a:prstGeom>
          <a:noFill/>
        </p:spPr>
        <p:txBody>
          <a:bodyPr wrap="none" lIns="0" rIns="0" tIns="0" bIns="0">
            <a:spAutoFit/>
          </a:bodyPr>
          <a:lstStyle/>
          <a:p>
            <a:r>
              <a:rPr sz="1100" b="0">
                <a:solidFill>
                  <a:srgbClr val="2E2E2E"/>
                </a:solidFill>
                <a:latin typeface="Calibri"/>
              </a:rPr>
              <a:t>U.S.'s off-highway vehicle market expands at</a:t>
            </a:r>
          </a:p>
        </p:txBody>
      </p:sp>
      <p:pic>
        <p:nvPicPr>
          <p:cNvPr id="39" name="Picture 38" descr="lock.png"/>
          <p:cNvPicPr>
            <a:picLocks noChangeAspect="1"/>
          </p:cNvPicPr>
          <p:nvPr/>
        </p:nvPicPr>
        <p:blipFill>
          <a:blip r:embed="rId8"/>
          <a:stretch>
            <a:fillRect/>
          </a:stretch>
        </p:blipFill>
        <p:spPr>
          <a:xfrm>
            <a:off x="10632164" y="2866771"/>
            <a:ext cx="128699" cy="187198"/>
          </a:xfrm>
          <a:prstGeom prst="rect">
            <a:avLst/>
          </a:prstGeom>
        </p:spPr>
      </p:pic>
      <p:sp>
        <p:nvSpPr>
          <p:cNvPr id="40" name="TextBox 39"/>
          <p:cNvSpPr txBox="1"/>
          <p:nvPr/>
        </p:nvSpPr>
        <p:spPr>
          <a:xfrm>
            <a:off x="10799660"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1" name="TextBox 40"/>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2" name="Picture 41" descr="lock.png"/>
          <p:cNvPicPr>
            <a:picLocks noChangeAspect="1"/>
          </p:cNvPicPr>
          <p:nvPr/>
        </p:nvPicPr>
        <p:blipFill>
          <a:blip r:embed="rId8"/>
          <a:stretch>
            <a:fillRect/>
          </a:stretch>
        </p:blipFill>
        <p:spPr>
          <a:xfrm>
            <a:off x="10750855" y="3034411"/>
            <a:ext cx="128699" cy="187198"/>
          </a:xfrm>
          <a:prstGeom prst="rect">
            <a:avLst/>
          </a:prstGeom>
        </p:spPr>
      </p:pic>
      <p:sp>
        <p:nvSpPr>
          <p:cNvPr id="43" name="TextBox 42"/>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11079301" y="3034411"/>
            <a:ext cx="128699" cy="187198"/>
          </a:xfrm>
          <a:prstGeom prst="rect">
            <a:avLst/>
          </a:prstGeom>
        </p:spPr>
      </p:pic>
      <p:sp>
        <p:nvSpPr>
          <p:cNvPr id="45" name="TextBox 44"/>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515766" cy="186689"/>
          </a:xfrm>
          <a:prstGeom prst="rect">
            <a:avLst/>
          </a:prstGeom>
          <a:noFill/>
        </p:spPr>
        <p:txBody>
          <a:bodyPr wrap="none" lIns="0" rIns="0" tIns="0" bIns="0">
            <a:spAutoFit/>
          </a:bodyPr>
          <a:lstStyle/>
          <a:p>
            <a:r>
              <a:rPr sz="1100" b="0">
                <a:solidFill>
                  <a:srgbClr val="2E2E2E"/>
                </a:solidFill>
                <a:latin typeface="Calibri"/>
              </a:rPr>
              <a:t>of the North America off-highway vehicle market in 2026; by</a:t>
            </a:r>
          </a:p>
        </p:txBody>
      </p:sp>
      <p:sp>
        <p:nvSpPr>
          <p:cNvPr id="51" name="TextBox 50"/>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2" name="Picture 51" descr="lock.png"/>
          <p:cNvPicPr>
            <a:picLocks noChangeAspect="1"/>
          </p:cNvPicPr>
          <p:nvPr/>
        </p:nvPicPr>
        <p:blipFill>
          <a:blip r:embed="rId8"/>
          <a:stretch>
            <a:fillRect/>
          </a:stretch>
        </p:blipFill>
        <p:spPr>
          <a:xfrm>
            <a:off x="1816216" y="6124320"/>
            <a:ext cx="128699" cy="187198"/>
          </a:xfrm>
          <a:prstGeom prst="rect">
            <a:avLst/>
          </a:prstGeom>
        </p:spPr>
      </p:pic>
      <p:sp>
        <p:nvSpPr>
          <p:cNvPr id="53" name="TextBox 52"/>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221606" y="6124320"/>
            <a:ext cx="128699" cy="187198"/>
          </a:xfrm>
          <a:prstGeom prst="rect">
            <a:avLst/>
          </a:prstGeom>
        </p:spPr>
      </p:pic>
      <p:sp>
        <p:nvSpPr>
          <p:cNvPr id="55" name="TextBox 54"/>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7" name="Picture 56" descr="lock.png"/>
          <p:cNvPicPr>
            <a:picLocks noChangeAspect="1"/>
          </p:cNvPicPr>
          <p:nvPr/>
        </p:nvPicPr>
        <p:blipFill>
          <a:blip r:embed="rId8"/>
          <a:stretch>
            <a:fillRect/>
          </a:stretch>
        </p:blipFill>
        <p:spPr>
          <a:xfrm>
            <a:off x="7821530" y="5956680"/>
            <a:ext cx="128699" cy="187198"/>
          </a:xfrm>
          <a:prstGeom prst="rect">
            <a:avLst/>
          </a:prstGeom>
        </p:spPr>
      </p:pic>
      <p:sp>
        <p:nvSpPr>
          <p:cNvPr id="58" name="TextBox 57"/>
          <p:cNvSpPr txBox="1"/>
          <p:nvPr/>
        </p:nvSpPr>
        <p:spPr>
          <a:xfrm>
            <a:off x="7989026" y="5966460"/>
            <a:ext cx="3226271" cy="186689"/>
          </a:xfrm>
          <a:prstGeom prst="rect">
            <a:avLst/>
          </a:prstGeom>
          <a:noFill/>
        </p:spPr>
        <p:txBody>
          <a:bodyPr wrap="none" lIns="0" rIns="0" tIns="0" bIns="0">
            <a:spAutoFit/>
          </a:bodyPr>
          <a:lstStyle/>
          <a:p>
            <a:r>
              <a:rPr sz="1100" b="0">
                <a:solidFill>
                  <a:srgbClr val="2E2E2E"/>
                </a:solidFill>
                <a:latin typeface="Calibri"/>
              </a:rPr>
              <a:t>Units between 2026 and 2036 the U.S. market grows to</a:t>
            </a:r>
          </a:p>
        </p:txBody>
      </p:sp>
      <p:pic>
        <p:nvPicPr>
          <p:cNvPr id="59" name="Picture 58" descr="lock.png"/>
          <p:cNvPicPr>
            <a:picLocks noChangeAspect="1"/>
          </p:cNvPicPr>
          <p:nvPr/>
        </p:nvPicPr>
        <p:blipFill>
          <a:blip r:embed="rId8"/>
          <a:stretch>
            <a:fillRect/>
          </a:stretch>
        </p:blipFill>
        <p:spPr>
          <a:xfrm>
            <a:off x="11163349" y="5956680"/>
            <a:ext cx="128699" cy="187198"/>
          </a:xfrm>
          <a:prstGeom prst="rect">
            <a:avLst/>
          </a:prstGeom>
        </p:spPr>
      </p:pic>
      <p:sp>
        <p:nvSpPr>
          <p:cNvPr id="60" name="TextBox 59"/>
          <p:cNvSpPr txBox="1"/>
          <p:nvPr/>
        </p:nvSpPr>
        <p:spPr>
          <a:xfrm>
            <a:off x="11330845"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1" name="TextBox 60"/>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2"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Value Overview (US$ Mn)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7" name="Rounded Rectangle 6"/>
          <p:cNvSpPr/>
          <p:nvPr/>
        </p:nvSpPr>
        <p:spPr>
          <a:xfrm>
            <a:off x="1428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estimate year</a:t>
            </a:r>
          </a:p>
        </p:txBody>
      </p:sp>
      <p:sp>
        <p:nvSpPr>
          <p:cNvPr id="8" name="Rounded Rectangle 7"/>
          <p:cNvSpPr/>
          <p:nvPr/>
        </p:nvSpPr>
        <p:spPr>
          <a:xfrm>
            <a:off x="31527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forecast horizon</a:t>
            </a:r>
          </a:p>
        </p:txBody>
      </p:sp>
      <p:sp>
        <p:nvSpPr>
          <p:cNvPr id="9" name="Rounded Rectangle 8"/>
          <p:cNvSpPr/>
          <p:nvPr/>
        </p:nvSpPr>
        <p:spPr>
          <a:xfrm>
            <a:off x="61626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2A5F8F"/>
                </a:solidFill>
                <a:latin typeface="Calibri"/>
              </a:rPr>
              <a:t> </a:t>
            </a:r>
          </a:p>
        </p:txBody>
      </p:sp>
      <p:sp>
        <p:nvSpPr>
          <p:cNvPr id="10" name="Rounded Rectangle 9"/>
          <p:cNvSpPr/>
          <p:nvPr/>
        </p:nvSpPr>
        <p:spPr>
          <a:xfrm>
            <a:off x="9172575" y="981075"/>
            <a:ext cx="2857500" cy="704850"/>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2A5F8F"/>
                </a:solidFill>
                <a:latin typeface="Calibri"/>
              </a:rPr>
              <a:t> </a:t>
            </a:r>
          </a:p>
        </p:txBody>
      </p:sp>
      <p:sp>
        <p:nvSpPr>
          <p:cNvPr id="11" name="Rounded Rectangle 10"/>
          <p:cNvSpPr/>
          <p:nvPr/>
        </p:nvSpPr>
        <p:spPr>
          <a:xfrm>
            <a:off x="142875" y="1819275"/>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3" name="Chart 12"/>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4" name="Rounded Rectangle 13"/>
          <p:cNvSpPr/>
          <p:nvPr/>
        </p:nvSpPr>
        <p:spPr>
          <a:xfrm>
            <a:off x="4991100" y="1819275"/>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6" name="Chart 15"/>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7" name="TextBox 16"/>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F47620"/>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18" name="TextBox 17"/>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19" name="Rounded Rectangle 18"/>
          <p:cNvSpPr/>
          <p:nvPr/>
        </p:nvSpPr>
        <p:spPr>
          <a:xfrm>
            <a:off x="142875" y="3733800"/>
            <a:ext cx="4695825"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1" name="Chart 20"/>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2" name="Rounded Rectangle 21"/>
          <p:cNvSpPr/>
          <p:nvPr/>
        </p:nvSpPr>
        <p:spPr>
          <a:xfrm>
            <a:off x="4991100" y="3733800"/>
            <a:ext cx="7048500" cy="1781175"/>
          </a:xfrm>
          <a:prstGeom prst="roundRect">
            <a:avLst>
              <a:gd name="adj" fmla="val 427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4" name="Chart 23"/>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5" name="Rounded Rectangle 24"/>
          <p:cNvSpPr/>
          <p:nvPr/>
        </p:nvSpPr>
        <p:spPr>
          <a:xfrm>
            <a:off x="142875"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6" name="Rounded Rectangle 25"/>
          <p:cNvSpPr/>
          <p:nvPr/>
        </p:nvSpPr>
        <p:spPr>
          <a:xfrm>
            <a:off x="6172200" y="5648325"/>
            <a:ext cx="5876925" cy="971550"/>
          </a:xfrm>
          <a:prstGeom prst="roundRect">
            <a:avLst>
              <a:gd name="adj" fmla="val 7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Rectangle 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9" name="Picture 28" descr="lock.png"/>
          <p:cNvPicPr>
            <a:picLocks noChangeAspect="1"/>
          </p:cNvPicPr>
          <p:nvPr/>
        </p:nvPicPr>
        <p:blipFill>
          <a:blip r:embed="rId8"/>
          <a:stretch>
            <a:fillRect/>
          </a:stretch>
        </p:blipFill>
        <p:spPr>
          <a:xfrm>
            <a:off x="1493044" y="1219200"/>
            <a:ext cx="157162" cy="228600"/>
          </a:xfrm>
          <a:prstGeom prst="rect">
            <a:avLst/>
          </a:prstGeom>
        </p:spPr>
      </p:pic>
      <p:pic>
        <p:nvPicPr>
          <p:cNvPr id="30" name="Picture 29" descr="lock.png"/>
          <p:cNvPicPr>
            <a:picLocks noChangeAspect="1"/>
          </p:cNvPicPr>
          <p:nvPr/>
        </p:nvPicPr>
        <p:blipFill>
          <a:blip r:embed="rId8"/>
          <a:stretch>
            <a:fillRect/>
          </a:stretch>
        </p:blipFill>
        <p:spPr>
          <a:xfrm>
            <a:off x="4502944" y="1219200"/>
            <a:ext cx="157162" cy="228600"/>
          </a:xfrm>
          <a:prstGeom prst="rect">
            <a:avLst/>
          </a:prstGeom>
        </p:spPr>
      </p:pic>
      <p:pic>
        <p:nvPicPr>
          <p:cNvPr id="31" name="Picture 30" descr="lock.png"/>
          <p:cNvPicPr>
            <a:picLocks noChangeAspect="1"/>
          </p:cNvPicPr>
          <p:nvPr/>
        </p:nvPicPr>
        <p:blipFill>
          <a:blip r:embed="rId8"/>
          <a:stretch>
            <a:fillRect/>
          </a:stretch>
        </p:blipFill>
        <p:spPr>
          <a:xfrm>
            <a:off x="7512844" y="1303020"/>
            <a:ext cx="157162" cy="228600"/>
          </a:xfrm>
          <a:prstGeom prst="rect">
            <a:avLst/>
          </a:prstGeom>
        </p:spPr>
      </p:pic>
      <p:pic>
        <p:nvPicPr>
          <p:cNvPr id="32" name="Picture 31" descr="lock.png"/>
          <p:cNvPicPr>
            <a:picLocks noChangeAspect="1"/>
          </p:cNvPicPr>
          <p:nvPr/>
        </p:nvPicPr>
        <p:blipFill>
          <a:blip r:embed="rId8"/>
          <a:stretch>
            <a:fillRect/>
          </a:stretch>
        </p:blipFill>
        <p:spPr>
          <a:xfrm>
            <a:off x="10522744" y="1303020"/>
            <a:ext cx="157162" cy="228600"/>
          </a:xfrm>
          <a:prstGeom prst="rect">
            <a:avLst/>
          </a:prstGeom>
        </p:spPr>
      </p:pic>
      <p:pic>
        <p:nvPicPr>
          <p:cNvPr id="33" name="Picture 32" descr="lock.png"/>
          <p:cNvPicPr>
            <a:picLocks noChangeAspect="1"/>
          </p:cNvPicPr>
          <p:nvPr/>
        </p:nvPicPr>
        <p:blipFill>
          <a:blip r:embed="rId8"/>
          <a:stretch>
            <a:fillRect/>
          </a:stretch>
        </p:blipFill>
        <p:spPr>
          <a:xfrm>
            <a:off x="2554414" y="2661285"/>
            <a:ext cx="165021" cy="240030"/>
          </a:xfrm>
          <a:prstGeom prst="rect">
            <a:avLst/>
          </a:prstGeom>
        </p:spPr>
      </p:pic>
      <p:pic>
        <p:nvPicPr>
          <p:cNvPr id="34" name="Picture 33" descr="lock.png"/>
          <p:cNvPicPr>
            <a:picLocks noChangeAspect="1"/>
          </p:cNvPicPr>
          <p:nvPr/>
        </p:nvPicPr>
        <p:blipFill>
          <a:blip r:embed="rId8"/>
          <a:stretch>
            <a:fillRect/>
          </a:stretch>
        </p:blipFill>
        <p:spPr>
          <a:xfrm>
            <a:off x="6762365" y="2599095"/>
            <a:ext cx="191595" cy="278683"/>
          </a:xfrm>
          <a:prstGeom prst="rect">
            <a:avLst/>
          </a:prstGeom>
        </p:spPr>
      </p:pic>
      <p:pic>
        <p:nvPicPr>
          <p:cNvPr id="35" name="Picture 34" descr="lock.png"/>
          <p:cNvPicPr>
            <a:picLocks noChangeAspect="1"/>
          </p:cNvPicPr>
          <p:nvPr/>
        </p:nvPicPr>
        <p:blipFill>
          <a:blip r:embed="rId8"/>
          <a:stretch>
            <a:fillRect/>
          </a:stretch>
        </p:blipFill>
        <p:spPr>
          <a:xfrm>
            <a:off x="9878378" y="2141220"/>
            <a:ext cx="230504" cy="335279"/>
          </a:xfrm>
          <a:prstGeom prst="rect">
            <a:avLst/>
          </a:prstGeom>
        </p:spPr>
      </p:pic>
      <p:pic>
        <p:nvPicPr>
          <p:cNvPr id="36" name="Picture 35" descr="lock.png"/>
          <p:cNvPicPr>
            <a:picLocks noChangeAspect="1"/>
          </p:cNvPicPr>
          <p:nvPr/>
        </p:nvPicPr>
        <p:blipFill>
          <a:blip r:embed="rId8"/>
          <a:stretch>
            <a:fillRect/>
          </a:stretch>
        </p:blipFill>
        <p:spPr>
          <a:xfrm>
            <a:off x="2554414" y="4575810"/>
            <a:ext cx="165021" cy="240030"/>
          </a:xfrm>
          <a:prstGeom prst="rect">
            <a:avLst/>
          </a:prstGeom>
        </p:spPr>
      </p:pic>
      <p:pic>
        <p:nvPicPr>
          <p:cNvPr id="37" name="Picture 36" descr="lock.png"/>
          <p:cNvPicPr>
            <a:picLocks noChangeAspect="1"/>
          </p:cNvPicPr>
          <p:nvPr/>
        </p:nvPicPr>
        <p:blipFill>
          <a:blip r:embed="rId8"/>
          <a:stretch>
            <a:fillRect/>
          </a:stretch>
        </p:blipFill>
        <p:spPr>
          <a:xfrm>
            <a:off x="8715708" y="4462938"/>
            <a:ext cx="261282" cy="380047"/>
          </a:xfrm>
          <a:prstGeom prst="rect">
            <a:avLst/>
          </a:prstGeom>
        </p:spPr>
      </p:pic>
      <p:sp>
        <p:nvSpPr>
          <p:cNvPr id="38" name="TextBox 37"/>
          <p:cNvSpPr txBox="1"/>
          <p:nvPr/>
        </p:nvSpPr>
        <p:spPr>
          <a:xfrm>
            <a:off x="8071485" y="2876550"/>
            <a:ext cx="2612628" cy="186689"/>
          </a:xfrm>
          <a:prstGeom prst="rect">
            <a:avLst/>
          </a:prstGeom>
          <a:noFill/>
        </p:spPr>
        <p:txBody>
          <a:bodyPr wrap="none" lIns="0" rIns="0" tIns="0" bIns="0">
            <a:spAutoFit/>
          </a:bodyPr>
          <a:lstStyle/>
          <a:p>
            <a:r>
              <a:rPr sz="1100" b="0">
                <a:solidFill>
                  <a:srgbClr val="2E2E2E"/>
                </a:solidFill>
                <a:latin typeface="Calibri"/>
              </a:rPr>
              <a:t>U.S.'s off-highway vehicle market expands at</a:t>
            </a:r>
          </a:p>
        </p:txBody>
      </p:sp>
      <p:pic>
        <p:nvPicPr>
          <p:cNvPr id="39" name="Picture 38" descr="lock.png"/>
          <p:cNvPicPr>
            <a:picLocks noChangeAspect="1"/>
          </p:cNvPicPr>
          <p:nvPr/>
        </p:nvPicPr>
        <p:blipFill>
          <a:blip r:embed="rId8"/>
          <a:stretch>
            <a:fillRect/>
          </a:stretch>
        </p:blipFill>
        <p:spPr>
          <a:xfrm>
            <a:off x="10632164" y="2866771"/>
            <a:ext cx="128699" cy="187198"/>
          </a:xfrm>
          <a:prstGeom prst="rect">
            <a:avLst/>
          </a:prstGeom>
        </p:spPr>
      </p:pic>
      <p:sp>
        <p:nvSpPr>
          <p:cNvPr id="40" name="TextBox 39"/>
          <p:cNvSpPr txBox="1"/>
          <p:nvPr/>
        </p:nvSpPr>
        <p:spPr>
          <a:xfrm>
            <a:off x="10799660" y="2876550"/>
            <a:ext cx="882459" cy="186689"/>
          </a:xfrm>
          <a:prstGeom prst="rect">
            <a:avLst/>
          </a:prstGeom>
          <a:noFill/>
        </p:spPr>
        <p:txBody>
          <a:bodyPr wrap="none" lIns="0" rIns="0" tIns="0" bIns="0">
            <a:spAutoFit/>
          </a:bodyPr>
          <a:lstStyle/>
          <a:p>
            <a:r>
              <a:rPr sz="1100" b="0">
                <a:solidFill>
                  <a:srgbClr val="2E2E2E"/>
                </a:solidFill>
                <a:latin typeface="Calibri"/>
              </a:rPr>
              <a:t>CAGR through</a:t>
            </a:r>
          </a:p>
        </p:txBody>
      </p:sp>
      <p:sp>
        <p:nvSpPr>
          <p:cNvPr id="41" name="TextBox 40"/>
          <p:cNvSpPr txBox="1"/>
          <p:nvPr/>
        </p:nvSpPr>
        <p:spPr>
          <a:xfrm>
            <a:off x="8071485" y="3044190"/>
            <a:ext cx="2731318" cy="186689"/>
          </a:xfrm>
          <a:prstGeom prst="rect">
            <a:avLst/>
          </a:prstGeom>
          <a:noFill/>
        </p:spPr>
        <p:txBody>
          <a:bodyPr wrap="none" lIns="0" rIns="0" tIns="0" bIns="0">
            <a:spAutoFit/>
          </a:bodyPr>
          <a:lstStyle/>
          <a:p>
            <a:r>
              <a:rPr sz="1100" b="0">
                <a:solidFill>
                  <a:srgbClr val="2E2E2E"/>
                </a:solidFill>
                <a:latin typeface="Calibri"/>
              </a:rPr>
              <a:t>2036, trailing the North America benchmark of</a:t>
            </a:r>
          </a:p>
        </p:txBody>
      </p:sp>
      <p:pic>
        <p:nvPicPr>
          <p:cNvPr id="42" name="Picture 41" descr="lock.png"/>
          <p:cNvPicPr>
            <a:picLocks noChangeAspect="1"/>
          </p:cNvPicPr>
          <p:nvPr/>
        </p:nvPicPr>
        <p:blipFill>
          <a:blip r:embed="rId8"/>
          <a:stretch>
            <a:fillRect/>
          </a:stretch>
        </p:blipFill>
        <p:spPr>
          <a:xfrm>
            <a:off x="10750855" y="3034411"/>
            <a:ext cx="128699" cy="187198"/>
          </a:xfrm>
          <a:prstGeom prst="rect">
            <a:avLst/>
          </a:prstGeom>
        </p:spPr>
      </p:pic>
      <p:sp>
        <p:nvSpPr>
          <p:cNvPr id="43" name="TextBox 42"/>
          <p:cNvSpPr txBox="1"/>
          <p:nvPr/>
        </p:nvSpPr>
        <p:spPr>
          <a:xfrm>
            <a:off x="10918350"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4" name="Picture 43" descr="lock.png"/>
          <p:cNvPicPr>
            <a:picLocks noChangeAspect="1"/>
          </p:cNvPicPr>
          <p:nvPr/>
        </p:nvPicPr>
        <p:blipFill>
          <a:blip r:embed="rId8"/>
          <a:stretch>
            <a:fillRect/>
          </a:stretch>
        </p:blipFill>
        <p:spPr>
          <a:xfrm>
            <a:off x="11079301" y="3034411"/>
            <a:ext cx="128699" cy="187198"/>
          </a:xfrm>
          <a:prstGeom prst="rect">
            <a:avLst/>
          </a:prstGeom>
        </p:spPr>
      </p:pic>
      <p:sp>
        <p:nvSpPr>
          <p:cNvPr id="45" name="TextBox 44"/>
          <p:cNvSpPr txBox="1"/>
          <p:nvPr/>
        </p:nvSpPr>
        <p:spPr>
          <a:xfrm>
            <a:off x="11246797" y="304419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6" name="TextBox 45"/>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7" name="Picture 46" descr="lock.png"/>
          <p:cNvPicPr>
            <a:picLocks noChangeAspect="1"/>
          </p:cNvPicPr>
          <p:nvPr/>
        </p:nvPicPr>
        <p:blipFill>
          <a:blip r:embed="rId8"/>
          <a:stretch>
            <a:fillRect/>
          </a:stretch>
        </p:blipFill>
        <p:spPr>
          <a:xfrm>
            <a:off x="844592" y="5956680"/>
            <a:ext cx="128699" cy="187198"/>
          </a:xfrm>
          <a:prstGeom prst="rect">
            <a:avLst/>
          </a:prstGeom>
        </p:spPr>
      </p:pic>
      <p:sp>
        <p:nvSpPr>
          <p:cNvPr id="48" name="TextBox 47"/>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49" name="Picture 48" descr="lock.png"/>
          <p:cNvPicPr>
            <a:picLocks noChangeAspect="1"/>
          </p:cNvPicPr>
          <p:nvPr/>
        </p:nvPicPr>
        <p:blipFill>
          <a:blip r:embed="rId8"/>
          <a:stretch>
            <a:fillRect/>
          </a:stretch>
        </p:blipFill>
        <p:spPr>
          <a:xfrm>
            <a:off x="1995140" y="5956680"/>
            <a:ext cx="128699" cy="187198"/>
          </a:xfrm>
          <a:prstGeom prst="rect">
            <a:avLst/>
          </a:prstGeom>
        </p:spPr>
      </p:pic>
      <p:sp>
        <p:nvSpPr>
          <p:cNvPr id="50" name="TextBox 49"/>
          <p:cNvSpPr txBox="1"/>
          <p:nvPr/>
        </p:nvSpPr>
        <p:spPr>
          <a:xfrm>
            <a:off x="2162635" y="5966460"/>
            <a:ext cx="3515766" cy="186689"/>
          </a:xfrm>
          <a:prstGeom prst="rect">
            <a:avLst/>
          </a:prstGeom>
          <a:noFill/>
        </p:spPr>
        <p:txBody>
          <a:bodyPr wrap="none" lIns="0" rIns="0" tIns="0" bIns="0">
            <a:spAutoFit/>
          </a:bodyPr>
          <a:lstStyle/>
          <a:p>
            <a:r>
              <a:rPr sz="1100" b="0">
                <a:solidFill>
                  <a:srgbClr val="2E2E2E"/>
                </a:solidFill>
                <a:latin typeface="Calibri"/>
              </a:rPr>
              <a:t>of the North America off-highway vehicle market in 2026; by</a:t>
            </a:r>
          </a:p>
        </p:txBody>
      </p:sp>
      <p:sp>
        <p:nvSpPr>
          <p:cNvPr id="51" name="TextBox 50"/>
          <p:cNvSpPr txBox="1"/>
          <p:nvPr/>
        </p:nvSpPr>
        <p:spPr>
          <a:xfrm>
            <a:off x="257175" y="6134100"/>
            <a:ext cx="1610990" cy="186689"/>
          </a:xfrm>
          <a:prstGeom prst="rect">
            <a:avLst/>
          </a:prstGeom>
          <a:noFill/>
        </p:spPr>
        <p:txBody>
          <a:bodyPr wrap="none" lIns="0" rIns="0" tIns="0" bIns="0">
            <a:spAutoFit/>
          </a:bodyPr>
          <a:lstStyle/>
          <a:p>
            <a:r>
              <a:rPr sz="1100" b="0">
                <a:solidFill>
                  <a:srgbClr val="2E2E2E"/>
                </a:solidFill>
                <a:latin typeface="Calibri"/>
              </a:rPr>
              <a:t>2036 those shares move to</a:t>
            </a:r>
          </a:p>
        </p:txBody>
      </p:sp>
      <p:pic>
        <p:nvPicPr>
          <p:cNvPr id="52" name="Picture 51" descr="lock.png"/>
          <p:cNvPicPr>
            <a:picLocks noChangeAspect="1"/>
          </p:cNvPicPr>
          <p:nvPr/>
        </p:nvPicPr>
        <p:blipFill>
          <a:blip r:embed="rId8"/>
          <a:stretch>
            <a:fillRect/>
          </a:stretch>
        </p:blipFill>
        <p:spPr>
          <a:xfrm>
            <a:off x="1816216" y="6124320"/>
            <a:ext cx="128699" cy="187198"/>
          </a:xfrm>
          <a:prstGeom prst="rect">
            <a:avLst/>
          </a:prstGeom>
        </p:spPr>
      </p:pic>
      <p:sp>
        <p:nvSpPr>
          <p:cNvPr id="53" name="TextBox 52"/>
          <p:cNvSpPr txBox="1"/>
          <p:nvPr/>
        </p:nvSpPr>
        <p:spPr>
          <a:xfrm>
            <a:off x="1983712"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4" name="Picture 53" descr="lock.png"/>
          <p:cNvPicPr>
            <a:picLocks noChangeAspect="1"/>
          </p:cNvPicPr>
          <p:nvPr/>
        </p:nvPicPr>
        <p:blipFill>
          <a:blip r:embed="rId8"/>
          <a:stretch>
            <a:fillRect/>
          </a:stretch>
        </p:blipFill>
        <p:spPr>
          <a:xfrm>
            <a:off x="2221606" y="6124320"/>
            <a:ext cx="128699" cy="187198"/>
          </a:xfrm>
          <a:prstGeom prst="rect">
            <a:avLst/>
          </a:prstGeom>
        </p:spPr>
      </p:pic>
      <p:sp>
        <p:nvSpPr>
          <p:cNvPr id="55" name="TextBox 54"/>
          <p:cNvSpPr txBox="1"/>
          <p:nvPr/>
        </p:nvSpPr>
        <p:spPr>
          <a:xfrm>
            <a:off x="238910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6" name="TextBox 55"/>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7" name="Picture 56" descr="lock.png"/>
          <p:cNvPicPr>
            <a:picLocks noChangeAspect="1"/>
          </p:cNvPicPr>
          <p:nvPr/>
        </p:nvPicPr>
        <p:blipFill>
          <a:blip r:embed="rId8"/>
          <a:stretch>
            <a:fillRect/>
          </a:stretch>
        </p:blipFill>
        <p:spPr>
          <a:xfrm>
            <a:off x="9337766" y="5872860"/>
            <a:ext cx="128699" cy="187198"/>
          </a:xfrm>
          <a:prstGeom prst="rect">
            <a:avLst/>
          </a:prstGeom>
        </p:spPr>
      </p:pic>
      <p:sp>
        <p:nvSpPr>
          <p:cNvPr id="58" name="TextBox 57"/>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59" name="Picture 58" descr="lock.png"/>
          <p:cNvPicPr>
            <a:picLocks noChangeAspect="1"/>
          </p:cNvPicPr>
          <p:nvPr/>
        </p:nvPicPr>
        <p:blipFill>
          <a:blip r:embed="rId8"/>
          <a:stretch>
            <a:fillRect/>
          </a:stretch>
        </p:blipFill>
        <p:spPr>
          <a:xfrm>
            <a:off x="10948871" y="5872860"/>
            <a:ext cx="128699" cy="187198"/>
          </a:xfrm>
          <a:prstGeom prst="rect">
            <a:avLst/>
          </a:prstGeom>
        </p:spPr>
      </p:pic>
      <p:sp>
        <p:nvSpPr>
          <p:cNvPr id="60" name="TextBox 59"/>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1" name="TextBox 60"/>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2" name="Picture 61" descr="lock.png"/>
          <p:cNvPicPr>
            <a:picLocks noChangeAspect="1"/>
          </p:cNvPicPr>
          <p:nvPr/>
        </p:nvPicPr>
        <p:blipFill>
          <a:blip r:embed="rId8"/>
          <a:stretch>
            <a:fillRect/>
          </a:stretch>
        </p:blipFill>
        <p:spPr>
          <a:xfrm>
            <a:off x="10929309" y="6040501"/>
            <a:ext cx="128699" cy="187198"/>
          </a:xfrm>
          <a:prstGeom prst="rect">
            <a:avLst/>
          </a:prstGeom>
        </p:spPr>
      </p:pic>
      <p:sp>
        <p:nvSpPr>
          <p:cNvPr id="63" name="TextBox 62"/>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4" name="TextBox 63"/>
          <p:cNvSpPr txBox="1"/>
          <p:nvPr/>
        </p:nvSpPr>
        <p:spPr>
          <a:xfrm>
            <a:off x="6286500" y="6217920"/>
            <a:ext cx="3167062" cy="186689"/>
          </a:xfrm>
          <a:prstGeom prst="rect">
            <a:avLst/>
          </a:prstGeom>
          <a:noFill/>
        </p:spPr>
        <p:txBody>
          <a:bodyPr wrap="none" lIns="0" rIns="0" tIns="0" bIns="0">
            <a:spAutoFit/>
          </a:bodyPr>
          <a:lstStyle/>
          <a:p>
            <a:r>
              <a:rPr sz="1100" b="0">
                <a:solidFill>
                  <a:srgbClr val="2E2E2E"/>
                </a:solidFill>
                <a:latin typeface="Calibri"/>
              </a:rPr>
              <a:t>overall off-highway vehicle market from 2025 to 2036.</a:t>
            </a:r>
          </a:p>
        </p:txBody>
      </p:sp>
      <p:sp>
        <p:nvSpPr>
          <p:cNvPr id="65" name="lockshield_13"/>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6"/>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1"/>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24"/>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Key Segments Overview, By Value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7" name="Rounded Rectangle 6"/>
          <p:cNvSpPr/>
          <p:nvPr/>
        </p:nvSpPr>
        <p:spPr>
          <a:xfrm>
            <a:off x="142875" y="981075"/>
            <a:ext cx="2857500" cy="3790950"/>
          </a:xfrm>
          <a:prstGeom prst="roundRect">
            <a:avLst>
              <a:gd name="adj" fmla="val 26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Type  (US$ Mn)</a:t>
            </a:r>
          </a:p>
        </p:txBody>
      </p:sp>
      <p:graphicFrame>
        <p:nvGraphicFramePr>
          <p:cNvPr id="9" name="Chart 8"/>
          <p:cNvGraphicFramePr>
            <a:graphicFrameLocks noGrp="1"/>
          </p:cNvGraphicFramePr>
          <p:nvPr/>
        </p:nvGraphicFramePr>
        <p:xfrm>
          <a:off x="238125" y="1266825"/>
          <a:ext cx="2667000" cy="3448050"/>
        </p:xfrm>
        <a:graphic>
          <a:graphicData uri="http://schemas.openxmlformats.org/drawingml/2006/chart">
            <c:chart xmlns:c="http://schemas.openxmlformats.org/drawingml/2006/chart" r:id="rId3"/>
          </a:graphicData>
        </a:graphic>
      </p:graphicFrame>
      <p:sp>
        <p:nvSpPr>
          <p:cNvPr id="10" name="Rounded Rectangle 9"/>
          <p:cNvSpPr/>
          <p:nvPr/>
        </p:nvSpPr>
        <p:spPr>
          <a:xfrm>
            <a:off x="3152775" y="981075"/>
            <a:ext cx="2857500" cy="3790950"/>
          </a:xfrm>
          <a:prstGeom prst="roundRect">
            <a:avLst>
              <a:gd name="adj" fmla="val 26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Powertrain  (US$ Mn)</a:t>
            </a:r>
          </a:p>
        </p:txBody>
      </p:sp>
      <p:graphicFrame>
        <p:nvGraphicFramePr>
          <p:cNvPr id="12" name="Chart 11"/>
          <p:cNvGraphicFramePr>
            <a:graphicFrameLocks noGrp="1"/>
          </p:cNvGraphicFramePr>
          <p:nvPr/>
        </p:nvGraphicFramePr>
        <p:xfrm>
          <a:off x="3248025" y="1266825"/>
          <a:ext cx="2667000" cy="3448050"/>
        </p:xfrm>
        <a:graphic>
          <a:graphicData uri="http://schemas.openxmlformats.org/drawingml/2006/chart">
            <c:chart xmlns:c="http://schemas.openxmlformats.org/drawingml/2006/chart" r:id="rId4"/>
          </a:graphicData>
        </a:graphic>
      </p:graphicFrame>
      <p:sp>
        <p:nvSpPr>
          <p:cNvPr id="13" name="Rounded Rectangle 12"/>
          <p:cNvSpPr/>
          <p:nvPr/>
        </p:nvSpPr>
        <p:spPr>
          <a:xfrm>
            <a:off x="6162675" y="981075"/>
            <a:ext cx="2857500" cy="3790950"/>
          </a:xfrm>
          <a:prstGeom prst="roundRect">
            <a:avLst>
              <a:gd name="adj" fmla="val 26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Vehicle Capacity  (US$ Mn)</a:t>
            </a:r>
          </a:p>
        </p:txBody>
      </p:sp>
      <p:graphicFrame>
        <p:nvGraphicFramePr>
          <p:cNvPr id="15" name="Chart 14"/>
          <p:cNvGraphicFramePr>
            <a:graphicFrameLocks noGrp="1"/>
          </p:cNvGraphicFramePr>
          <p:nvPr/>
        </p:nvGraphicFramePr>
        <p:xfrm>
          <a:off x="6257925" y="1266825"/>
          <a:ext cx="2667000" cy="3448050"/>
        </p:xfrm>
        <a:graphic>
          <a:graphicData uri="http://schemas.openxmlformats.org/drawingml/2006/chart">
            <c:chart xmlns:c="http://schemas.openxmlformats.org/drawingml/2006/chart" r:id="rId5"/>
          </a:graphicData>
        </a:graphic>
      </p:graphicFrame>
      <p:sp>
        <p:nvSpPr>
          <p:cNvPr id="16" name="Rounded Rectangle 15"/>
          <p:cNvSpPr/>
          <p:nvPr/>
        </p:nvSpPr>
        <p:spPr>
          <a:xfrm>
            <a:off x="9172575" y="981075"/>
            <a:ext cx="2857500" cy="3790950"/>
          </a:xfrm>
          <a:prstGeom prst="roundRect">
            <a:avLst>
              <a:gd name="adj" fmla="val 26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7825" y="1038225"/>
            <a:ext cx="266700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Propulsion Configuration  (US$ Mn)</a:t>
            </a:r>
          </a:p>
        </p:txBody>
      </p:sp>
      <p:graphicFrame>
        <p:nvGraphicFramePr>
          <p:cNvPr id="18" name="Chart 17"/>
          <p:cNvGraphicFramePr>
            <a:graphicFrameLocks noGrp="1"/>
          </p:cNvGraphicFramePr>
          <p:nvPr/>
        </p:nvGraphicFramePr>
        <p:xfrm>
          <a:off x="9267825" y="1438275"/>
          <a:ext cx="2667000" cy="3276600"/>
        </p:xfrm>
        <a:graphic>
          <a:graphicData uri="http://schemas.openxmlformats.org/drawingml/2006/chart">
            <c:chart xmlns:c="http://schemas.openxmlformats.org/drawingml/2006/chart" r:id="rId6"/>
          </a:graphicData>
        </a:graphic>
      </p:graphicFrame>
      <p:sp>
        <p:nvSpPr>
          <p:cNvPr id="19" name="Rounded Rectangle 18"/>
          <p:cNvSpPr/>
          <p:nvPr/>
        </p:nvSpPr>
        <p:spPr>
          <a:xfrm>
            <a:off x="142875" y="4905375"/>
            <a:ext cx="11906250" cy="1714500"/>
          </a:xfrm>
          <a:prstGeom prst="roundRect">
            <a:avLst>
              <a:gd name="adj" fmla="val 444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991100"/>
            <a:ext cx="11639550" cy="209550"/>
          </a:xfrm>
          <a:prstGeom prst="rect">
            <a:avLst/>
          </a:prstGeom>
          <a:noFill/>
        </p:spPr>
        <p:txBody>
          <a:bodyPr wrap="square" lIns="0" rIns="19050" tIns="9525" bIns="9525">
            <a:spAutoFit/>
          </a:bodyPr>
          <a:lstStyle/>
          <a:p>
            <a:pPr algn="l"/>
            <a:r>
              <a:rPr sz="1300" b="1">
                <a:solidFill>
                  <a:srgbClr val="0E2A5C"/>
                </a:solidFill>
                <a:latin typeface="Calibri"/>
              </a:rPr>
              <a:t/>
            </a:r>
          </a:p>
        </p:txBody>
      </p:sp>
      <p:sp>
        <p:nvSpPr>
          <p:cNvPr id="21" name="Rectangle 20"/>
          <p:cNvSpPr/>
          <p:nvPr/>
        </p:nvSpPr>
        <p:spPr>
          <a:xfrm>
            <a:off x="276225" y="52292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5314950"/>
            <a:ext cx="11639550" cy="12287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23" name="Rectangle 2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5" name="Picture 24" descr="lock.png"/>
          <p:cNvPicPr>
            <a:picLocks noChangeAspect="1"/>
          </p:cNvPicPr>
          <p:nvPr/>
        </p:nvPicPr>
        <p:blipFill>
          <a:blip r:embed="rId8"/>
          <a:stretch>
            <a:fillRect/>
          </a:stretch>
        </p:blipFill>
        <p:spPr>
          <a:xfrm>
            <a:off x="1811655" y="2771775"/>
            <a:ext cx="183356" cy="266700"/>
          </a:xfrm>
          <a:prstGeom prst="rect">
            <a:avLst/>
          </a:prstGeom>
        </p:spPr>
      </p:pic>
      <p:pic>
        <p:nvPicPr>
          <p:cNvPr id="26" name="Picture 25" descr="lock.png"/>
          <p:cNvPicPr>
            <a:picLocks noChangeAspect="1"/>
          </p:cNvPicPr>
          <p:nvPr/>
        </p:nvPicPr>
        <p:blipFill>
          <a:blip r:embed="rId8"/>
          <a:stretch>
            <a:fillRect/>
          </a:stretch>
        </p:blipFill>
        <p:spPr>
          <a:xfrm>
            <a:off x="4821555" y="2771775"/>
            <a:ext cx="183356" cy="266700"/>
          </a:xfrm>
          <a:prstGeom prst="rect">
            <a:avLst/>
          </a:prstGeom>
        </p:spPr>
      </p:pic>
      <p:pic>
        <p:nvPicPr>
          <p:cNvPr id="27" name="Picture 26" descr="lock.png"/>
          <p:cNvPicPr>
            <a:picLocks noChangeAspect="1"/>
          </p:cNvPicPr>
          <p:nvPr/>
        </p:nvPicPr>
        <p:blipFill>
          <a:blip r:embed="rId8"/>
          <a:stretch>
            <a:fillRect/>
          </a:stretch>
        </p:blipFill>
        <p:spPr>
          <a:xfrm>
            <a:off x="7831455" y="2771775"/>
            <a:ext cx="183356" cy="266700"/>
          </a:xfrm>
          <a:prstGeom prst="rect">
            <a:avLst/>
          </a:prstGeom>
        </p:spPr>
      </p:pic>
      <p:pic>
        <p:nvPicPr>
          <p:cNvPr id="28" name="Picture 27" descr="lock.png"/>
          <p:cNvPicPr>
            <a:picLocks noChangeAspect="1"/>
          </p:cNvPicPr>
          <p:nvPr/>
        </p:nvPicPr>
        <p:blipFill>
          <a:blip r:embed="rId8"/>
          <a:stretch>
            <a:fillRect/>
          </a:stretch>
        </p:blipFill>
        <p:spPr>
          <a:xfrm>
            <a:off x="10841355" y="2857500"/>
            <a:ext cx="183356" cy="266700"/>
          </a:xfrm>
          <a:prstGeom prst="rect">
            <a:avLst/>
          </a:prstGeom>
        </p:spPr>
      </p:pic>
      <p:sp>
        <p:nvSpPr>
          <p:cNvPr id="29" name="TextBox 28"/>
          <p:cNvSpPr txBox="1"/>
          <p:nvPr/>
        </p:nvSpPr>
        <p:spPr>
          <a:xfrm>
            <a:off x="276225" y="5000625"/>
            <a:ext cx="1468037" cy="161696"/>
          </a:xfrm>
          <a:prstGeom prst="rect">
            <a:avLst/>
          </a:prstGeom>
          <a:noFill/>
        </p:spPr>
        <p:txBody>
          <a:bodyPr wrap="none" lIns="0" rIns="0" tIns="0" bIns="0">
            <a:spAutoFit/>
          </a:bodyPr>
          <a:lstStyle/>
          <a:p>
            <a:r>
              <a:rPr sz="935" b="1">
                <a:solidFill>
                  <a:srgbClr val="0E2A5C"/>
                </a:solidFill>
                <a:latin typeface="Calibri"/>
              </a:rPr>
              <a:t>Key Takeaways · 2026 Total:</a:t>
            </a:r>
          </a:p>
        </p:txBody>
      </p:sp>
      <p:pic>
        <p:nvPicPr>
          <p:cNvPr id="30" name="Picture 29" descr="lock.png"/>
          <p:cNvPicPr>
            <a:picLocks noChangeAspect="1"/>
          </p:cNvPicPr>
          <p:nvPr/>
        </p:nvPicPr>
        <p:blipFill>
          <a:blip r:embed="rId8"/>
          <a:stretch>
            <a:fillRect/>
          </a:stretch>
        </p:blipFill>
        <p:spPr>
          <a:xfrm>
            <a:off x="1688698" y="4992303"/>
            <a:ext cx="109510" cy="159288"/>
          </a:xfrm>
          <a:prstGeom prst="rect">
            <a:avLst/>
          </a:prstGeom>
        </p:spPr>
      </p:pic>
      <p:sp>
        <p:nvSpPr>
          <p:cNvPr id="31" name="TextBox 30"/>
          <p:cNvSpPr txBox="1"/>
          <p:nvPr/>
        </p:nvSpPr>
        <p:spPr>
          <a:xfrm>
            <a:off x="1831222" y="5000625"/>
            <a:ext cx="465087" cy="161696"/>
          </a:xfrm>
          <a:prstGeom prst="rect">
            <a:avLst/>
          </a:prstGeom>
          <a:noFill/>
        </p:spPr>
        <p:txBody>
          <a:bodyPr wrap="none" lIns="0" rIns="0" tIns="0" bIns="0">
            <a:spAutoFit/>
          </a:bodyPr>
          <a:lstStyle/>
          <a:p>
            <a:r>
              <a:rPr sz="935" b="1">
                <a:solidFill>
                  <a:srgbClr val="0E2A5C"/>
                </a:solidFill>
                <a:latin typeface="Calibri"/>
              </a:rPr>
              <a:t>US$ Mn</a:t>
            </a:r>
          </a:p>
        </p:txBody>
      </p:sp>
      <p:sp>
        <p:nvSpPr>
          <p:cNvPr id="32" name="TextBox 31"/>
          <p:cNvSpPr txBox="1"/>
          <p:nvPr/>
        </p:nvSpPr>
        <p:spPr>
          <a:xfrm>
            <a:off x="276225" y="5324475"/>
            <a:ext cx="3557764" cy="186689"/>
          </a:xfrm>
          <a:prstGeom prst="rect">
            <a:avLst/>
          </a:prstGeom>
          <a:noFill/>
        </p:spPr>
        <p:txBody>
          <a:bodyPr wrap="none" lIns="0" rIns="0" tIns="0" bIns="0">
            <a:spAutoFit/>
          </a:bodyPr>
          <a:lstStyle/>
          <a:p>
            <a:r>
              <a:rPr sz="1100" b="0">
                <a:solidFill>
                  <a:srgbClr val="2E2E2E"/>
                </a:solidFill>
                <a:latin typeface="Calibri"/>
              </a:rPr>
              <a:t>▪ By Vehicle Type, 'Construction and Mining Vehicles' leads at</a:t>
            </a:r>
          </a:p>
        </p:txBody>
      </p:sp>
      <p:pic>
        <p:nvPicPr>
          <p:cNvPr id="33" name="Picture 32" descr="lock.png"/>
          <p:cNvPicPr>
            <a:picLocks noChangeAspect="1"/>
          </p:cNvPicPr>
          <p:nvPr/>
        </p:nvPicPr>
        <p:blipFill>
          <a:blip r:embed="rId8"/>
          <a:stretch>
            <a:fillRect/>
          </a:stretch>
        </p:blipFill>
        <p:spPr>
          <a:xfrm>
            <a:off x="3782041" y="5314695"/>
            <a:ext cx="128699" cy="187198"/>
          </a:xfrm>
          <a:prstGeom prst="rect">
            <a:avLst/>
          </a:prstGeom>
        </p:spPr>
      </p:pic>
      <p:sp>
        <p:nvSpPr>
          <p:cNvPr id="34" name="TextBox 33"/>
          <p:cNvSpPr txBox="1"/>
          <p:nvPr/>
        </p:nvSpPr>
        <p:spPr>
          <a:xfrm>
            <a:off x="3949537" y="5324475"/>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35" name="Picture 34" descr="lock.png"/>
          <p:cNvPicPr>
            <a:picLocks noChangeAspect="1"/>
          </p:cNvPicPr>
          <p:nvPr/>
        </p:nvPicPr>
        <p:blipFill>
          <a:blip r:embed="rId8"/>
          <a:stretch>
            <a:fillRect/>
          </a:stretch>
        </p:blipFill>
        <p:spPr>
          <a:xfrm>
            <a:off x="4497117" y="5314695"/>
            <a:ext cx="128699" cy="187198"/>
          </a:xfrm>
          <a:prstGeom prst="rect">
            <a:avLst/>
          </a:prstGeom>
        </p:spPr>
      </p:pic>
      <p:sp>
        <p:nvSpPr>
          <p:cNvPr id="36" name="TextBox 35"/>
          <p:cNvSpPr txBox="1"/>
          <p:nvPr/>
        </p:nvSpPr>
        <p:spPr>
          <a:xfrm>
            <a:off x="4664613" y="5324475"/>
            <a:ext cx="3043158" cy="186689"/>
          </a:xfrm>
          <a:prstGeom prst="rect">
            <a:avLst/>
          </a:prstGeom>
          <a:noFill/>
        </p:spPr>
        <p:txBody>
          <a:bodyPr wrap="none" lIns="0" rIns="0" tIns="0" bIns="0">
            <a:spAutoFit/>
          </a:bodyPr>
          <a:lstStyle/>
          <a:p>
            <a:r>
              <a:rPr sz="1100" b="0">
                <a:solidFill>
                  <a:srgbClr val="2E2E2E"/>
                </a:solidFill>
                <a:latin typeface="Calibri"/>
              </a:rPr>
              <a:t>share), ahead of 'Agriculture and Forestry Vehicles' (</a:t>
            </a:r>
          </a:p>
        </p:txBody>
      </p:sp>
      <p:pic>
        <p:nvPicPr>
          <p:cNvPr id="37" name="Picture 36" descr="lock.png"/>
          <p:cNvPicPr>
            <a:picLocks noChangeAspect="1"/>
          </p:cNvPicPr>
          <p:nvPr/>
        </p:nvPicPr>
        <p:blipFill>
          <a:blip r:embed="rId8"/>
          <a:stretch>
            <a:fillRect/>
          </a:stretch>
        </p:blipFill>
        <p:spPr>
          <a:xfrm>
            <a:off x="7655823" y="5314695"/>
            <a:ext cx="128699" cy="187198"/>
          </a:xfrm>
          <a:prstGeom prst="rect">
            <a:avLst/>
          </a:prstGeom>
        </p:spPr>
      </p:pic>
      <p:sp>
        <p:nvSpPr>
          <p:cNvPr id="38" name="TextBox 37"/>
          <p:cNvSpPr txBox="1"/>
          <p:nvPr/>
        </p:nvSpPr>
        <p:spPr>
          <a:xfrm>
            <a:off x="7823319" y="5324475"/>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9" name="TextBox 38"/>
          <p:cNvSpPr txBox="1"/>
          <p:nvPr/>
        </p:nvSpPr>
        <p:spPr>
          <a:xfrm>
            <a:off x="276225" y="5542407"/>
            <a:ext cx="2673452" cy="186689"/>
          </a:xfrm>
          <a:prstGeom prst="rect">
            <a:avLst/>
          </a:prstGeom>
          <a:noFill/>
        </p:spPr>
        <p:txBody>
          <a:bodyPr wrap="none" lIns="0" rIns="0" tIns="0" bIns="0">
            <a:spAutoFit/>
          </a:bodyPr>
          <a:lstStyle/>
          <a:p>
            <a:r>
              <a:rPr sz="1100" b="0">
                <a:solidFill>
                  <a:srgbClr val="2E2E2E"/>
                </a:solidFill>
                <a:latin typeface="Calibri"/>
              </a:rPr>
              <a:t>▪ By Powertrain, 'Alternative Fuel ICE' leads at</a:t>
            </a:r>
          </a:p>
        </p:txBody>
      </p:sp>
      <p:pic>
        <p:nvPicPr>
          <p:cNvPr id="40" name="Picture 39" descr="lock.png"/>
          <p:cNvPicPr>
            <a:picLocks noChangeAspect="1"/>
          </p:cNvPicPr>
          <p:nvPr/>
        </p:nvPicPr>
        <p:blipFill>
          <a:blip r:embed="rId8"/>
          <a:stretch>
            <a:fillRect/>
          </a:stretch>
        </p:blipFill>
        <p:spPr>
          <a:xfrm>
            <a:off x="2897729" y="5532627"/>
            <a:ext cx="128699" cy="187198"/>
          </a:xfrm>
          <a:prstGeom prst="rect">
            <a:avLst/>
          </a:prstGeom>
        </p:spPr>
      </p:pic>
      <p:sp>
        <p:nvSpPr>
          <p:cNvPr id="41" name="TextBox 40"/>
          <p:cNvSpPr txBox="1"/>
          <p:nvPr/>
        </p:nvSpPr>
        <p:spPr>
          <a:xfrm>
            <a:off x="3065225" y="5542407"/>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2" name="Picture 41" descr="lock.png"/>
          <p:cNvPicPr>
            <a:picLocks noChangeAspect="1"/>
          </p:cNvPicPr>
          <p:nvPr/>
        </p:nvPicPr>
        <p:blipFill>
          <a:blip r:embed="rId8"/>
          <a:stretch>
            <a:fillRect/>
          </a:stretch>
        </p:blipFill>
        <p:spPr>
          <a:xfrm>
            <a:off x="3612806" y="5532627"/>
            <a:ext cx="128699" cy="187198"/>
          </a:xfrm>
          <a:prstGeom prst="rect">
            <a:avLst/>
          </a:prstGeom>
        </p:spPr>
      </p:pic>
      <p:sp>
        <p:nvSpPr>
          <p:cNvPr id="43" name="TextBox 42"/>
          <p:cNvSpPr txBox="1"/>
          <p:nvPr/>
        </p:nvSpPr>
        <p:spPr>
          <a:xfrm>
            <a:off x="3780301" y="5542407"/>
            <a:ext cx="2817266" cy="186689"/>
          </a:xfrm>
          <a:prstGeom prst="rect">
            <a:avLst/>
          </a:prstGeom>
          <a:noFill/>
        </p:spPr>
        <p:txBody>
          <a:bodyPr wrap="none" lIns="0" rIns="0" tIns="0" bIns="0">
            <a:spAutoFit/>
          </a:bodyPr>
          <a:lstStyle/>
          <a:p>
            <a:r>
              <a:rPr sz="1100" b="0">
                <a:solidFill>
                  <a:srgbClr val="2E2E2E"/>
                </a:solidFill>
                <a:latin typeface="Calibri"/>
              </a:rPr>
              <a:t>share), ahead of 'Battery Electric Vehicle (BEV)' (</a:t>
            </a:r>
          </a:p>
        </p:txBody>
      </p:sp>
      <p:pic>
        <p:nvPicPr>
          <p:cNvPr id="44" name="Picture 43" descr="lock.png"/>
          <p:cNvPicPr>
            <a:picLocks noChangeAspect="1"/>
          </p:cNvPicPr>
          <p:nvPr/>
        </p:nvPicPr>
        <p:blipFill>
          <a:blip r:embed="rId8"/>
          <a:stretch>
            <a:fillRect/>
          </a:stretch>
        </p:blipFill>
        <p:spPr>
          <a:xfrm>
            <a:off x="6545620" y="5532627"/>
            <a:ext cx="128699" cy="187198"/>
          </a:xfrm>
          <a:prstGeom prst="rect">
            <a:avLst/>
          </a:prstGeom>
        </p:spPr>
      </p:pic>
      <p:sp>
        <p:nvSpPr>
          <p:cNvPr id="45" name="TextBox 44"/>
          <p:cNvSpPr txBox="1"/>
          <p:nvPr/>
        </p:nvSpPr>
        <p:spPr>
          <a:xfrm>
            <a:off x="6713116" y="5542407"/>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6" name="TextBox 45"/>
          <p:cNvSpPr txBox="1"/>
          <p:nvPr/>
        </p:nvSpPr>
        <p:spPr>
          <a:xfrm>
            <a:off x="276225" y="5760339"/>
            <a:ext cx="3024612" cy="186689"/>
          </a:xfrm>
          <a:prstGeom prst="rect">
            <a:avLst/>
          </a:prstGeom>
          <a:noFill/>
        </p:spPr>
        <p:txBody>
          <a:bodyPr wrap="none" lIns="0" rIns="0" tIns="0" bIns="0">
            <a:spAutoFit/>
          </a:bodyPr>
          <a:lstStyle/>
          <a:p>
            <a:r>
              <a:rPr sz="1100" b="0">
                <a:solidFill>
                  <a:srgbClr val="2E2E2E"/>
                </a:solidFill>
                <a:latin typeface="Calibri"/>
              </a:rPr>
              <a:t>▪ By Vehicle Capacity, 'Heavy-Duty Vehicles' leads at</a:t>
            </a:r>
          </a:p>
        </p:txBody>
      </p:sp>
      <p:pic>
        <p:nvPicPr>
          <p:cNvPr id="47" name="Picture 46" descr="lock.png"/>
          <p:cNvPicPr>
            <a:picLocks noChangeAspect="1"/>
          </p:cNvPicPr>
          <p:nvPr/>
        </p:nvPicPr>
        <p:blipFill>
          <a:blip r:embed="rId8"/>
          <a:stretch>
            <a:fillRect/>
          </a:stretch>
        </p:blipFill>
        <p:spPr>
          <a:xfrm>
            <a:off x="3248889" y="5750559"/>
            <a:ext cx="128699" cy="187198"/>
          </a:xfrm>
          <a:prstGeom prst="rect">
            <a:avLst/>
          </a:prstGeom>
        </p:spPr>
      </p:pic>
      <p:sp>
        <p:nvSpPr>
          <p:cNvPr id="48" name="TextBox 47"/>
          <p:cNvSpPr txBox="1"/>
          <p:nvPr/>
        </p:nvSpPr>
        <p:spPr>
          <a:xfrm>
            <a:off x="3416385" y="5760339"/>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49" name="Picture 48" descr="lock.png"/>
          <p:cNvPicPr>
            <a:picLocks noChangeAspect="1"/>
          </p:cNvPicPr>
          <p:nvPr/>
        </p:nvPicPr>
        <p:blipFill>
          <a:blip r:embed="rId8"/>
          <a:stretch>
            <a:fillRect/>
          </a:stretch>
        </p:blipFill>
        <p:spPr>
          <a:xfrm>
            <a:off x="3963965" y="5750559"/>
            <a:ext cx="128699" cy="187198"/>
          </a:xfrm>
          <a:prstGeom prst="rect">
            <a:avLst/>
          </a:prstGeom>
        </p:spPr>
      </p:pic>
      <p:sp>
        <p:nvSpPr>
          <p:cNvPr id="50" name="TextBox 49"/>
          <p:cNvSpPr txBox="1"/>
          <p:nvPr/>
        </p:nvSpPr>
        <p:spPr>
          <a:xfrm>
            <a:off x="4131461" y="5760339"/>
            <a:ext cx="2654920" cy="186689"/>
          </a:xfrm>
          <a:prstGeom prst="rect">
            <a:avLst/>
          </a:prstGeom>
          <a:noFill/>
        </p:spPr>
        <p:txBody>
          <a:bodyPr wrap="none" lIns="0" rIns="0" tIns="0" bIns="0">
            <a:spAutoFit/>
          </a:bodyPr>
          <a:lstStyle/>
          <a:p>
            <a:r>
              <a:rPr sz="1100" b="0">
                <a:solidFill>
                  <a:srgbClr val="2E2E2E"/>
                </a:solidFill>
                <a:latin typeface="Calibri"/>
              </a:rPr>
              <a:t>share), ahead of 'Ultra-Heavy-Duty Vehicles' (</a:t>
            </a:r>
          </a:p>
        </p:txBody>
      </p:sp>
      <p:pic>
        <p:nvPicPr>
          <p:cNvPr id="51" name="Picture 50" descr="lock.png"/>
          <p:cNvPicPr>
            <a:picLocks noChangeAspect="1"/>
          </p:cNvPicPr>
          <p:nvPr/>
        </p:nvPicPr>
        <p:blipFill>
          <a:blip r:embed="rId8"/>
          <a:stretch>
            <a:fillRect/>
          </a:stretch>
        </p:blipFill>
        <p:spPr>
          <a:xfrm>
            <a:off x="6734433" y="5750559"/>
            <a:ext cx="128699" cy="187198"/>
          </a:xfrm>
          <a:prstGeom prst="rect">
            <a:avLst/>
          </a:prstGeom>
        </p:spPr>
      </p:pic>
      <p:sp>
        <p:nvSpPr>
          <p:cNvPr id="52" name="TextBox 51"/>
          <p:cNvSpPr txBox="1"/>
          <p:nvPr/>
        </p:nvSpPr>
        <p:spPr>
          <a:xfrm>
            <a:off x="6901929" y="5760339"/>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53" name="TextBox 52"/>
          <p:cNvSpPr txBox="1"/>
          <p:nvPr/>
        </p:nvSpPr>
        <p:spPr>
          <a:xfrm>
            <a:off x="276225" y="5978271"/>
            <a:ext cx="3360765" cy="186689"/>
          </a:xfrm>
          <a:prstGeom prst="rect">
            <a:avLst/>
          </a:prstGeom>
          <a:noFill/>
        </p:spPr>
        <p:txBody>
          <a:bodyPr wrap="none" lIns="0" rIns="0" tIns="0" bIns="0">
            <a:spAutoFit/>
          </a:bodyPr>
          <a:lstStyle/>
          <a:p>
            <a:r>
              <a:rPr sz="1100" b="0">
                <a:solidFill>
                  <a:srgbClr val="2E2E2E"/>
                </a:solidFill>
                <a:latin typeface="Calibri"/>
              </a:rPr>
              <a:t>▪ By Propulsion Configuration, 'Wheeled Vehicles' leads at</a:t>
            </a:r>
          </a:p>
        </p:txBody>
      </p:sp>
      <p:pic>
        <p:nvPicPr>
          <p:cNvPr id="54" name="Picture 53" descr="lock.png"/>
          <p:cNvPicPr>
            <a:picLocks noChangeAspect="1"/>
          </p:cNvPicPr>
          <p:nvPr/>
        </p:nvPicPr>
        <p:blipFill>
          <a:blip r:embed="rId8"/>
          <a:stretch>
            <a:fillRect/>
          </a:stretch>
        </p:blipFill>
        <p:spPr>
          <a:xfrm>
            <a:off x="3585042" y="5968491"/>
            <a:ext cx="128699" cy="187198"/>
          </a:xfrm>
          <a:prstGeom prst="rect">
            <a:avLst/>
          </a:prstGeom>
        </p:spPr>
      </p:pic>
      <p:sp>
        <p:nvSpPr>
          <p:cNvPr id="55" name="TextBox 54"/>
          <p:cNvSpPr txBox="1"/>
          <p:nvPr/>
        </p:nvSpPr>
        <p:spPr>
          <a:xfrm>
            <a:off x="3752538" y="5978271"/>
            <a:ext cx="599529" cy="186689"/>
          </a:xfrm>
          <a:prstGeom prst="rect">
            <a:avLst/>
          </a:prstGeom>
          <a:noFill/>
        </p:spPr>
        <p:txBody>
          <a:bodyPr wrap="none" lIns="0" rIns="0" tIns="0" bIns="0">
            <a:spAutoFit/>
          </a:bodyPr>
          <a:lstStyle/>
          <a:p>
            <a:r>
              <a:rPr sz="1100" b="0">
                <a:solidFill>
                  <a:srgbClr val="2E2E2E"/>
                </a:solidFill>
                <a:latin typeface="Calibri"/>
              </a:rPr>
              <a:t>US$ Mn (</a:t>
            </a:r>
          </a:p>
        </p:txBody>
      </p:sp>
      <p:pic>
        <p:nvPicPr>
          <p:cNvPr id="56" name="Picture 55" descr="lock.png"/>
          <p:cNvPicPr>
            <a:picLocks noChangeAspect="1"/>
          </p:cNvPicPr>
          <p:nvPr/>
        </p:nvPicPr>
        <p:blipFill>
          <a:blip r:embed="rId8"/>
          <a:stretch>
            <a:fillRect/>
          </a:stretch>
        </p:blipFill>
        <p:spPr>
          <a:xfrm>
            <a:off x="4300119" y="5968491"/>
            <a:ext cx="128699" cy="187198"/>
          </a:xfrm>
          <a:prstGeom prst="rect">
            <a:avLst/>
          </a:prstGeom>
        </p:spPr>
      </p:pic>
      <p:sp>
        <p:nvSpPr>
          <p:cNvPr id="57" name="TextBox 56"/>
          <p:cNvSpPr txBox="1"/>
          <p:nvPr/>
        </p:nvSpPr>
        <p:spPr>
          <a:xfrm>
            <a:off x="4467614" y="5978271"/>
            <a:ext cx="2435274" cy="186689"/>
          </a:xfrm>
          <a:prstGeom prst="rect">
            <a:avLst/>
          </a:prstGeom>
          <a:noFill/>
        </p:spPr>
        <p:txBody>
          <a:bodyPr wrap="none" lIns="0" rIns="0" tIns="0" bIns="0">
            <a:spAutoFit/>
          </a:bodyPr>
          <a:lstStyle/>
          <a:p>
            <a:r>
              <a:rPr sz="1100" b="0">
                <a:solidFill>
                  <a:srgbClr val="2E2E2E"/>
                </a:solidFill>
                <a:latin typeface="Calibri"/>
              </a:rPr>
              <a:t>share), ahead of 'Semi-Tracked Vehicles' (</a:t>
            </a:r>
          </a:p>
        </p:txBody>
      </p:sp>
      <p:pic>
        <p:nvPicPr>
          <p:cNvPr id="58" name="Picture 57" descr="lock.png"/>
          <p:cNvPicPr>
            <a:picLocks noChangeAspect="1"/>
          </p:cNvPicPr>
          <p:nvPr/>
        </p:nvPicPr>
        <p:blipFill>
          <a:blip r:embed="rId8"/>
          <a:stretch>
            <a:fillRect/>
          </a:stretch>
        </p:blipFill>
        <p:spPr>
          <a:xfrm>
            <a:off x="6850941" y="5968491"/>
            <a:ext cx="128699" cy="187198"/>
          </a:xfrm>
          <a:prstGeom prst="rect">
            <a:avLst/>
          </a:prstGeom>
        </p:spPr>
      </p:pic>
      <p:sp>
        <p:nvSpPr>
          <p:cNvPr id="59" name="TextBox 58"/>
          <p:cNvSpPr txBox="1"/>
          <p:nvPr/>
        </p:nvSpPr>
        <p:spPr>
          <a:xfrm>
            <a:off x="7018436" y="5978271"/>
            <a:ext cx="60307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60" name="TextBox 59"/>
          <p:cNvSpPr txBox="1"/>
          <p:nvPr/>
        </p:nvSpPr>
        <p:spPr>
          <a:xfrm>
            <a:off x="276225" y="6196203"/>
            <a:ext cx="6677843" cy="186689"/>
          </a:xfrm>
          <a:prstGeom prst="rect">
            <a:avLst/>
          </a:prstGeom>
          <a:noFill/>
        </p:spPr>
        <p:txBody>
          <a:bodyPr wrap="none" lIns="0" rIns="0" tIns="0" bIns="0">
            <a:spAutoFit/>
          </a:bodyPr>
          <a:lstStyle/>
          <a:p>
            <a:r>
              <a:rPr sz="1100" b="0">
                <a:solidFill>
                  <a:srgbClr val="2E2E2E"/>
                </a:solidFill>
                <a:latin typeface="Calibri"/>
              </a:rPr>
              <a:t>▪ Use the Country slicer in the top band to switch country the selection stays synced across every page of the report.</a:t>
            </a:r>
          </a:p>
        </p:txBody>
      </p:sp>
      <p:sp>
        <p:nvSpPr>
          <p:cNvPr id="61" name="lockshield_9"/>
          <p:cNvSpPr/>
          <p:nvPr/>
        </p:nvSpPr>
        <p:spPr>
          <a:xfrm>
            <a:off x="2381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lockshield_12"/>
          <p:cNvSpPr/>
          <p:nvPr/>
        </p:nvSpPr>
        <p:spPr>
          <a:xfrm>
            <a:off x="32480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15"/>
          <p:cNvSpPr/>
          <p:nvPr/>
        </p:nvSpPr>
        <p:spPr>
          <a:xfrm>
            <a:off x="6257925" y="1266825"/>
            <a:ext cx="2667000" cy="34480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lockshield_18"/>
          <p:cNvSpPr/>
          <p:nvPr/>
        </p:nvSpPr>
        <p:spPr>
          <a:xfrm>
            <a:off x="9267825" y="1438275"/>
            <a:ext cx="2667000" cy="32766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898775"/>
            <a:ext cx="8572500" cy="514350"/>
          </a:xfrm>
          <a:prstGeom prst="rect">
            <a:avLst/>
          </a:prstGeom>
          <a:noFill/>
        </p:spPr>
        <p:txBody>
          <a:bodyPr wrap="square" lIns="0" rIns="0" tIns="0">
            <a:spAutoFit/>
          </a:bodyPr>
          <a:lstStyle/>
          <a:p>
            <a:r>
              <a:rPr sz="3000" b="1">
                <a:solidFill>
                  <a:srgbClr val="0E2A5C"/>
                </a:solidFill>
                <a:latin typeface="Calibri"/>
              </a:rPr>
              <a:t>Segment Overview (Volume &amp; Value)</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Vehicle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Powertrain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Vehicle Capacity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Propulsion Configuration</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Vehicle Type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Segmental Analysis Vehicle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Vehicle Type: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Vehicle Type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Vehicle Type</a:t>
            </a:r>
          </a:p>
        </p:txBody>
      </p:sp>
      <p:graphicFrame>
        <p:nvGraphicFramePr>
          <p:cNvPr id="12" name="Table 11"/>
          <p:cNvGraphicFramePr>
            <a:graphicFrameLocks noGrp="1"/>
          </p:cNvGraphicFramePr>
          <p:nvPr/>
        </p:nvGraphicFramePr>
        <p:xfrm>
          <a:off x="6181725" y="1238250"/>
          <a:ext cx="5857873" cy="2286001"/>
        </p:xfrm>
        <a:graphic>
          <a:graphicData uri="http://schemas.openxmlformats.org/drawingml/2006/table">
            <a:tbl>
              <a:tblPr>
                <a:tableStyleId>{5C22544A-7EE6-4342-B048-85BDC9FD1C3A}</a:tableStyleId>
              </a:tblPr>
              <a:tblGrid>
                <a:gridCol w="2594885"/>
                <a:gridCol w="820304"/>
                <a:gridCol w="820304"/>
                <a:gridCol w="1035956"/>
                <a:gridCol w="586424"/>
              </a:tblGrid>
              <a:tr h="246126">
                <a:tc>
                  <a:txBody>
                    <a:bodyPr wrap="none"/>
                    <a:lstStyle/>
                    <a:p>
                      <a:pPr algn="l"/>
                      <a:r>
                        <a:rPr sz="1100" b="1">
                          <a:solidFill>
                            <a:srgbClr val="0E2A5C"/>
                          </a:solidFill>
                          <a:latin typeface="Calibri"/>
                        </a:rPr>
                        <a:t>Vehicle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407975">
                <a:tc>
                  <a:txBody>
                    <a:bodyPr wrap="none"/>
                    <a:lstStyle/>
                    <a:p>
                      <a:pPr algn="l"/>
                      <a:r>
                        <a:rPr sz="1100" b="1">
                          <a:solidFill>
                            <a:srgbClr val="2E2E2E"/>
                          </a:solidFill>
                          <a:latin typeface="Calibri"/>
                        </a:rPr>
                        <a:t>Construction and Mining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Agriculture and Forestry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07975">
                <a:tc>
                  <a:txBody>
                    <a:bodyPr wrap="none"/>
                    <a:lstStyle/>
                    <a:p>
                      <a:pPr algn="l"/>
                      <a:r>
                        <a:rPr sz="1100" b="1">
                          <a:solidFill>
                            <a:srgbClr val="2E2E2E"/>
                          </a:solidFill>
                          <a:latin typeface="Calibri"/>
                        </a:rPr>
                        <a:t>Industrial and Port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07975">
                <a:tc>
                  <a:txBody>
                    <a:bodyPr wrap="none"/>
                    <a:lstStyle/>
                    <a:p>
                      <a:pPr algn="l"/>
                      <a:r>
                        <a:rPr sz="1100" b="1">
                          <a:solidFill>
                            <a:srgbClr val="2E2E2E"/>
                          </a:solidFill>
                          <a:latin typeface="Calibri"/>
                        </a:rPr>
                        <a:t>Recreational and Powersports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07975">
                <a:tc>
                  <a:txBody>
                    <a:bodyPr wrap="none"/>
                    <a:lstStyle/>
                    <a:p>
                      <a:pPr algn="l"/>
                      <a:r>
                        <a:rPr sz="1100" b="1">
                          <a:solidFill>
                            <a:srgbClr val="2E2E2E"/>
                          </a:solidFill>
                          <a:latin typeface="Calibri"/>
                        </a:rPr>
                        <a:t>Military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Vehicle Type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221414" y="2237613"/>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Type (1/7)</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Vehicle Type, 2021–2036</a:t>
            </a:r>
          </a:p>
        </p:txBody>
      </p:sp>
      <p:sp>
        <p:nvSpPr>
          <p:cNvPr id="7" name="Rounded Rectangle 6"/>
          <p:cNvSpPr/>
          <p:nvPr/>
        </p:nvSpPr>
        <p:spPr>
          <a:xfrm>
            <a:off x="142875" y="981075"/>
            <a:ext cx="11906250" cy="5467350"/>
          </a:xfrm>
          <a:prstGeom prst="roundRect">
            <a:avLst>
              <a:gd name="adj" fmla="val 13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By Vehicle Type (Units)</a:t>
            </a:r>
          </a:p>
        </p:txBody>
      </p:sp>
      <p:graphicFrame>
        <p:nvGraphicFramePr>
          <p:cNvPr id="9" name="Table 8"/>
          <p:cNvGraphicFramePr>
            <a:graphicFrameLocks noGrp="1"/>
          </p:cNvGraphicFramePr>
          <p:nvPr/>
        </p:nvGraphicFramePr>
        <p:xfrm>
          <a:off x="152400" y="1238250"/>
          <a:ext cx="12066762" cy="6861423"/>
        </p:xfrm>
        <a:graphic>
          <a:graphicData uri="http://schemas.openxmlformats.org/drawingml/2006/table">
            <a:tbl>
              <a:tblPr>
                <a:tableStyleId>{5C22544A-7EE6-4342-B048-85BDC9FD1C3A}</a:tableStyleId>
              </a:tblPr>
              <a:tblGrid>
                <a:gridCol w="5734052"/>
                <a:gridCol w="346510"/>
                <a:gridCol w="346510"/>
                <a:gridCol w="346510"/>
                <a:gridCol w="346510"/>
                <a:gridCol w="346510"/>
                <a:gridCol w="346510"/>
                <a:gridCol w="386283"/>
                <a:gridCol w="386283"/>
                <a:gridCol w="386283"/>
                <a:gridCol w="386283"/>
                <a:gridCol w="386283"/>
                <a:gridCol w="386283"/>
                <a:gridCol w="386283"/>
                <a:gridCol w="386283"/>
                <a:gridCol w="386283"/>
                <a:gridCol w="386283"/>
                <a:gridCol w="390820"/>
              </a:tblGrid>
              <a:tr h="429386">
                <a:tc>
                  <a:txBody>
                    <a:bodyPr wrap="none"/>
                    <a:lstStyle/>
                    <a:p>
                      <a:pPr algn="l"/>
                      <a:r>
                        <a:rPr sz="1100" b="1">
                          <a:solidFill>
                            <a:srgbClr val="0E2A5C"/>
                          </a:solidFill>
                          <a:latin typeface="Calibri"/>
                        </a:rPr>
                        <a:t>Vehicle</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1200530">
                <a:tc>
                  <a:txBody>
                    <a:bodyPr wrap="none"/>
                    <a:lstStyle/>
                    <a:p>
                      <a:pPr algn="l"/>
                      <a:r>
                        <a:rPr sz="1100" b="1">
                          <a:solidFill>
                            <a:srgbClr val="2E2E2E"/>
                          </a:solidFill>
                          <a:latin typeface="Calibri"/>
                        </a:rPr>
                        <a:t>Constr</a:t>
                      </a:r>
                      <a:endParaRPr sz="1100"/>
                    </a:p>
                    <a:p>
                      <a:pPr algn="l"/>
                      <a:r>
                        <a:rPr sz="1100" b="1">
                          <a:solidFill>
                            <a:srgbClr val="2E2E2E"/>
                          </a:solidFill>
                          <a:latin typeface="Calibri"/>
                        </a:rPr>
                        <a:t>uction</a:t>
                      </a:r>
                      <a:endParaRPr sz="1100"/>
                    </a:p>
                    <a:p>
                      <a:pPr algn="l"/>
                      <a:r>
                        <a:rPr sz="1100" b="1">
                          <a:solidFill>
                            <a:srgbClr val="2E2E2E"/>
                          </a:solidFill>
                          <a:latin typeface="Calibri"/>
                        </a:rPr>
                        <a:t>and</a:t>
                      </a:r>
                      <a:endParaRPr sz="1100"/>
                    </a:p>
                    <a:p>
                      <a:pPr algn="l"/>
                      <a:r>
                        <a:rPr sz="1100" b="1">
                          <a:solidFill>
                            <a:srgbClr val="2E2E2E"/>
                          </a:solidFill>
                          <a:latin typeface="Calibri"/>
                        </a:rPr>
                        <a:t>Mining</a:t>
                      </a:r>
                      <a:endParaRPr sz="1100"/>
                    </a:p>
                    <a:p>
                      <a:pPr algn="l"/>
                      <a:r>
                        <a:rPr sz="1100" b="1">
                          <a:solidFill>
                            <a:srgbClr val="2E2E2E"/>
                          </a:solidFill>
                          <a:latin typeface="Calibri"/>
                        </a:rPr>
                        <a:t>Vehicle</a:t>
                      </a:r>
                      <a:endParaRPr sz="1100"/>
                    </a:p>
                    <a:p>
                      <a:pPr algn="l"/>
                      <a:r>
                        <a:rPr sz="1100" b="1">
                          <a:solidFill>
                            <a:srgbClr val="2E2E2E"/>
                          </a:solidFill>
                          <a:latin typeface="Calibri"/>
                        </a:rPr>
                        <a:t>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1200530">
                <a:tc>
                  <a:txBody>
                    <a:bodyPr wrap="none"/>
                    <a:lstStyle/>
                    <a:p>
                      <a:pPr algn="l"/>
                      <a:r>
                        <a:rPr sz="1100" b="1">
                          <a:solidFill>
                            <a:srgbClr val="2E2E2E"/>
                          </a:solidFill>
                          <a:latin typeface="Calibri"/>
                        </a:rPr>
                        <a:t>–</a:t>
                      </a:r>
                      <a:endParaRPr sz="1100"/>
                    </a:p>
                    <a:p>
                      <a:pPr algn="l"/>
                      <a:r>
                        <a:rPr sz="1100" b="1">
                          <a:solidFill>
                            <a:srgbClr val="2E2E2E"/>
                          </a:solidFill>
                          <a:latin typeface="Calibri"/>
                        </a:rPr>
                        <a:t>Excava</a:t>
                      </a:r>
                      <a:endParaRPr sz="1100"/>
                    </a:p>
                    <a:p>
                      <a:pPr algn="l"/>
                      <a:r>
                        <a:rPr sz="1100" b="1">
                          <a:solidFill>
                            <a:srgbClr val="2E2E2E"/>
                          </a:solidFill>
                          <a:latin typeface="Calibri"/>
                        </a:rPr>
                        <a:t>tors &amp;</a:t>
                      </a:r>
                      <a:endParaRPr sz="1100"/>
                    </a:p>
                    <a:p>
                      <a:pPr algn="l"/>
                      <a:r>
                        <a:rPr sz="1100" b="1">
                          <a:solidFill>
                            <a:srgbClr val="2E2E2E"/>
                          </a:solidFill>
                          <a:latin typeface="Calibri"/>
                        </a:rPr>
                        <a:t>Wheel</a:t>
                      </a:r>
                      <a:endParaRPr sz="1100"/>
                    </a:p>
                    <a:p>
                      <a:pPr algn="l"/>
                      <a:r>
                        <a:rPr sz="1100" b="1">
                          <a:solidFill>
                            <a:srgbClr val="2E2E2E"/>
                          </a:solidFill>
                          <a:latin typeface="Calibri"/>
                        </a:rPr>
                        <a:t>Loader</a:t>
                      </a:r>
                      <a:endParaRPr sz="1100"/>
                    </a:p>
                    <a:p>
                      <a:pPr algn="l"/>
                      <a:r>
                        <a:rPr sz="1100" b="1">
                          <a:solidFill>
                            <a:srgbClr val="2E2E2E"/>
                          </a:solidFill>
                          <a:latin typeface="Calibri"/>
                        </a:rPr>
                        <a:t>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1200530">
                <a:tc>
                  <a:txBody>
                    <a:bodyPr wrap="none"/>
                    <a:lstStyle/>
                    <a:p>
                      <a:pPr algn="l"/>
                      <a:r>
                        <a:rPr sz="1100" b="1">
                          <a:solidFill>
                            <a:srgbClr val="2E2E2E"/>
                          </a:solidFill>
                          <a:latin typeface="Calibri"/>
                        </a:rPr>
                        <a:t>–</a:t>
                      </a:r>
                      <a:endParaRPr sz="1100"/>
                    </a:p>
                    <a:p>
                      <a:pPr algn="l"/>
                      <a:r>
                        <a:rPr sz="1100" b="1">
                          <a:solidFill>
                            <a:srgbClr val="2E2E2E"/>
                          </a:solidFill>
                          <a:latin typeface="Calibri"/>
                        </a:rPr>
                        <a:t>Articul</a:t>
                      </a:r>
                      <a:endParaRPr sz="1100"/>
                    </a:p>
                    <a:p>
                      <a:pPr algn="l"/>
                      <a:r>
                        <a:rPr sz="1100" b="1">
                          <a:solidFill>
                            <a:srgbClr val="2E2E2E"/>
                          </a:solidFill>
                          <a:latin typeface="Calibri"/>
                        </a:rPr>
                        <a:t>ated &amp;</a:t>
                      </a:r>
                      <a:endParaRPr sz="1100"/>
                    </a:p>
                    <a:p>
                      <a:pPr algn="l"/>
                      <a:r>
                        <a:rPr sz="1100" b="1">
                          <a:solidFill>
                            <a:srgbClr val="2E2E2E"/>
                          </a:solidFill>
                          <a:latin typeface="Calibri"/>
                        </a:rPr>
                        <a:t>Rigid</a:t>
                      </a:r>
                      <a:endParaRPr sz="1100"/>
                    </a:p>
                    <a:p>
                      <a:pPr algn="l"/>
                      <a:r>
                        <a:rPr sz="1100" b="1">
                          <a:solidFill>
                            <a:srgbClr val="2E2E2E"/>
                          </a:solidFill>
                          <a:latin typeface="Calibri"/>
                        </a:rPr>
                        <a:t>Dump</a:t>
                      </a:r>
                      <a:endParaRPr sz="1100"/>
                    </a:p>
                    <a:p>
                      <a:pPr algn="l"/>
                      <a:r>
                        <a:rPr sz="1100" b="1">
                          <a:solidFill>
                            <a:srgbClr val="2E2E2E"/>
                          </a:solidFill>
                          <a:latin typeface="Calibri"/>
                        </a:rPr>
                        <a:t>Trucks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1007745">
                <a:tc>
                  <a:txBody>
                    <a:bodyPr wrap="none"/>
                    <a:lstStyle/>
                    <a:p>
                      <a:pPr algn="l"/>
                      <a:r>
                        <a:rPr sz="1100" b="1">
                          <a:solidFill>
                            <a:srgbClr val="2E2E2E"/>
                          </a:solidFill>
                          <a:latin typeface="Calibri"/>
                        </a:rPr>
                        <a:t>–</a:t>
                      </a:r>
                      <a:endParaRPr sz="1100"/>
                    </a:p>
                    <a:p>
                      <a:pPr algn="l"/>
                      <a:r>
                        <a:rPr sz="1100" b="1">
                          <a:solidFill>
                            <a:srgbClr val="2E2E2E"/>
                          </a:solidFill>
                          <a:latin typeface="Calibri"/>
                        </a:rPr>
                        <a:t>Backho</a:t>
                      </a:r>
                      <a:endParaRPr sz="1100"/>
                    </a:p>
                    <a:p>
                      <a:pPr algn="l"/>
                      <a:r>
                        <a:rPr sz="1100" b="1">
                          <a:solidFill>
                            <a:srgbClr val="2E2E2E"/>
                          </a:solidFill>
                          <a:latin typeface="Calibri"/>
                        </a:rPr>
                        <a:t>e</a:t>
                      </a:r>
                      <a:endParaRPr sz="1100"/>
                    </a:p>
                    <a:p>
                      <a:pPr algn="l"/>
                      <a:r>
                        <a:rPr sz="1100" b="1">
                          <a:solidFill>
                            <a:srgbClr val="2E2E2E"/>
                          </a:solidFill>
                          <a:latin typeface="Calibri"/>
                        </a:rPr>
                        <a:t>Loader</a:t>
                      </a:r>
                      <a:endParaRPr sz="1100"/>
                    </a:p>
                    <a:p>
                      <a:pPr algn="l"/>
                      <a:r>
                        <a:rPr sz="1100" b="1">
                          <a:solidFill>
                            <a:srgbClr val="2E2E2E"/>
                          </a:solidFill>
                          <a:latin typeface="Calibri"/>
                        </a:rPr>
                        <a:t>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1393316">
                <a:tc>
                  <a:txBody>
                    <a:bodyPr wrap="none"/>
                    <a:lstStyle/>
                    <a:p>
                      <a:pPr algn="l"/>
                      <a:r>
                        <a:rPr sz="1100" b="1">
                          <a:solidFill>
                            <a:srgbClr val="2E2E2E"/>
                          </a:solidFill>
                          <a:latin typeface="Calibri"/>
                        </a:rPr>
                        <a:t>–</a:t>
                      </a:r>
                      <a:endParaRPr sz="1100"/>
                    </a:p>
                    <a:p>
                      <a:pPr algn="l"/>
                      <a:r>
                        <a:rPr sz="1100" b="1">
                          <a:solidFill>
                            <a:srgbClr val="2E2E2E"/>
                          </a:solidFill>
                          <a:latin typeface="Calibri"/>
                        </a:rPr>
                        <a:t>Bulldoz</a:t>
                      </a:r>
                      <a:endParaRPr sz="1100"/>
                    </a:p>
                    <a:p>
                      <a:pPr algn="l"/>
                      <a:r>
                        <a:rPr sz="1100" b="1">
                          <a:solidFill>
                            <a:srgbClr val="2E2E2E"/>
                          </a:solidFill>
                          <a:latin typeface="Calibri"/>
                        </a:rPr>
                        <a:t>ers &amp;</a:t>
                      </a:r>
                      <a:endParaRPr sz="1100"/>
                    </a:p>
                    <a:p>
                      <a:pPr algn="l"/>
                      <a:r>
                        <a:rPr sz="1100" b="1">
                          <a:solidFill>
                            <a:srgbClr val="2E2E2E"/>
                          </a:solidFill>
                          <a:latin typeface="Calibri"/>
                        </a:rPr>
                        <a:t>Crawle</a:t>
                      </a:r>
                      <a:endParaRPr sz="1100"/>
                    </a:p>
                    <a:p>
                      <a:pPr algn="l"/>
                      <a:r>
                        <a:rPr sz="1100" b="1">
                          <a:solidFill>
                            <a:srgbClr val="2E2E2E"/>
                          </a:solidFill>
                          <a:latin typeface="Calibri"/>
                        </a:rPr>
                        <a:t>r</a:t>
                      </a:r>
                      <a:endParaRPr sz="1100"/>
                    </a:p>
                    <a:p>
                      <a:pPr algn="l"/>
                      <a:r>
                        <a:rPr sz="1100" b="1">
                          <a:solidFill>
                            <a:srgbClr val="2E2E2E"/>
                          </a:solidFill>
                          <a:latin typeface="Calibri"/>
                        </a:rPr>
                        <a:t>Loader</a:t>
                      </a:r>
                      <a:endParaRPr sz="1100"/>
                    </a:p>
                    <a:p>
                      <a:pPr algn="l"/>
                      <a:r>
                        <a:rPr sz="1100" b="1">
                          <a:solidFill>
                            <a:srgbClr val="2E2E2E"/>
                          </a:solidFill>
                          <a:latin typeface="Calibri"/>
                        </a:rPr>
                        <a:t>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29386">
                <a:tc>
                  <a:txBody>
                    <a:bodyPr wrap="none"/>
                    <a:lstStyle/>
                    <a:p>
                      <a:pPr algn="l"/>
                      <a:r>
                        <a:rPr sz="1100" b="1">
                          <a:solidFill>
                            <a:srgbClr val="2E2E2E"/>
                          </a:solidFill>
                          <a:latin typeface="Calibri"/>
                        </a:rPr>
                        <a:t>– Cold</a:t>
                      </a:r>
                      <a:endParaRPr sz="1100"/>
                    </a:p>
                    <a:p>
                      <a:pPr algn="l"/>
                      <a:r>
                        <a:rPr sz="1100" b="1">
                          <a:solidFill>
                            <a:srgbClr val="2E2E2E"/>
                          </a:solidFill>
                          <a:latin typeface="Calibri"/>
                        </a:rPr>
                        <a:t>Planers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6248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61338" y="4616957"/>
            <a:ext cx="366712" cy="533400"/>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Type (2/7)</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Vehicle Type, 2021–2036</a:t>
            </a:r>
          </a:p>
        </p:txBody>
      </p:sp>
      <p:sp>
        <p:nvSpPr>
          <p:cNvPr id="7" name="Rounded Rectangle 6"/>
          <p:cNvSpPr/>
          <p:nvPr/>
        </p:nvSpPr>
        <p:spPr>
          <a:xfrm>
            <a:off x="142875" y="981075"/>
            <a:ext cx="11906250" cy="4695825"/>
          </a:xfrm>
          <a:prstGeom prst="roundRect">
            <a:avLst>
              <a:gd name="adj" fmla="val 162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By Vehicle Type (Units)</a:t>
            </a:r>
          </a:p>
        </p:txBody>
      </p:sp>
      <p:graphicFrame>
        <p:nvGraphicFramePr>
          <p:cNvPr id="9" name="Table 8"/>
          <p:cNvGraphicFramePr>
            <a:graphicFrameLocks noGrp="1"/>
          </p:cNvGraphicFramePr>
          <p:nvPr/>
        </p:nvGraphicFramePr>
        <p:xfrm>
          <a:off x="152400" y="1238250"/>
          <a:ext cx="12052174" cy="4229100"/>
        </p:xfrm>
        <a:graphic>
          <a:graphicData uri="http://schemas.openxmlformats.org/drawingml/2006/table">
            <a:tbl>
              <a:tblPr>
                <a:tableStyleId>{5C22544A-7EE6-4342-B048-85BDC9FD1C3A}</a:tableStyleId>
              </a:tblPr>
              <a:tblGrid>
                <a:gridCol w="5734058"/>
                <a:gridCol w="370456"/>
                <a:gridCol w="370456"/>
                <a:gridCol w="370456"/>
                <a:gridCol w="370456"/>
                <a:gridCol w="370456"/>
                <a:gridCol w="370456"/>
                <a:gridCol w="370456"/>
                <a:gridCol w="370456"/>
                <a:gridCol w="370456"/>
                <a:gridCol w="370456"/>
                <a:gridCol w="370456"/>
                <a:gridCol w="370456"/>
                <a:gridCol w="370456"/>
                <a:gridCol w="370456"/>
                <a:gridCol w="370456"/>
                <a:gridCol w="370456"/>
                <a:gridCol w="390820"/>
              </a:tblGrid>
              <a:tr h="438912">
                <a:tc>
                  <a:txBody>
                    <a:bodyPr wrap="none"/>
                    <a:lstStyle/>
                    <a:p>
                      <a:pPr algn="l"/>
                      <a:r>
                        <a:rPr sz="1100" b="1">
                          <a:solidFill>
                            <a:srgbClr val="0E2A5C"/>
                          </a:solidFill>
                          <a:latin typeface="Calibri"/>
                        </a:rPr>
                        <a:t>Vehicle Type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856615">
                <a:tc>
                  <a:txBody>
                    <a:bodyPr wrap="none"/>
                    <a:lstStyle/>
                    <a:p>
                      <a:pPr algn="l"/>
                      <a:r>
                        <a:rPr sz="1100" b="1">
                          <a:solidFill>
                            <a:srgbClr val="2E2E2E"/>
                          </a:solidFill>
                          <a:latin typeface="Calibri"/>
                        </a:rPr>
                        <a:t>– Other</a:t>
                      </a:r>
                      <a:endParaRPr sz="1100"/>
                    </a:p>
                    <a:p>
                      <a:pPr algn="l"/>
                      <a:r>
                        <a:rPr sz="1100" b="1">
                          <a:solidFill>
                            <a:srgbClr val="2E2E2E"/>
                          </a:solidFill>
                          <a:latin typeface="Calibri"/>
                        </a:rPr>
                        <a:t>Construction and</a:t>
                      </a:r>
                      <a:endParaRPr sz="1100"/>
                    </a:p>
                    <a:p>
                      <a:pPr algn="l"/>
                      <a:r>
                        <a:rPr sz="1100" b="1">
                          <a:solidFill>
                            <a:srgbClr val="2E2E2E"/>
                          </a:solidFill>
                          <a:latin typeface="Calibri"/>
                        </a:rPr>
                        <a:t>Mining 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63829">
                <a:tc>
                  <a:txBody>
                    <a:bodyPr wrap="none"/>
                    <a:lstStyle/>
                    <a:p>
                      <a:pPr algn="l"/>
                      <a:r>
                        <a:rPr sz="1100" b="1">
                          <a:solidFill>
                            <a:srgbClr val="2E2E2E"/>
                          </a:solidFill>
                          <a:latin typeface="Calibri"/>
                        </a:rPr>
                        <a:t>Agriculture and</a:t>
                      </a:r>
                      <a:endParaRPr sz="1100"/>
                    </a:p>
                    <a:p>
                      <a:pPr algn="l"/>
                      <a:r>
                        <a:rPr sz="1100" b="1">
                          <a:solidFill>
                            <a:srgbClr val="2E2E2E"/>
                          </a:solidFill>
                          <a:latin typeface="Calibri"/>
                        </a:rPr>
                        <a:t>Forestry 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71043">
                <a:tc>
                  <a:txBody>
                    <a:bodyPr wrap="none"/>
                    <a:lstStyle/>
                    <a:p>
                      <a:pPr algn="l"/>
                      <a:r>
                        <a:rPr sz="1100" b="1">
                          <a:solidFill>
                            <a:srgbClr val="2E2E2E"/>
                          </a:solidFill>
                          <a:latin typeface="Calibri"/>
                        </a:rPr>
                        <a:t>– Tractors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71043">
                <a:tc>
                  <a:txBody>
                    <a:bodyPr wrap="none"/>
                    <a:lstStyle/>
                    <a:p>
                      <a:pPr algn="l"/>
                      <a:r>
                        <a:rPr sz="1100" b="1">
                          <a:solidFill>
                            <a:srgbClr val="2E2E2E"/>
                          </a:solidFill>
                          <a:latin typeface="Calibri"/>
                        </a:rPr>
                        <a:t>– Feller Bunchers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663829">
                <a:tc>
                  <a:txBody>
                    <a:bodyPr wrap="none"/>
                    <a:lstStyle/>
                    <a:p>
                      <a:pPr algn="l"/>
                      <a:r>
                        <a:rPr sz="1100" b="1">
                          <a:solidFill>
                            <a:srgbClr val="2E2E2E"/>
                          </a:solidFill>
                          <a:latin typeface="Calibri"/>
                        </a:rPr>
                        <a:t>– Combine and</a:t>
                      </a:r>
                      <a:endParaRPr sz="1100"/>
                    </a:p>
                    <a:p>
                      <a:pPr algn="l"/>
                      <a:r>
                        <a:rPr sz="1100" b="1">
                          <a:solidFill>
                            <a:srgbClr val="2E2E2E"/>
                          </a:solidFill>
                          <a:latin typeface="Calibri"/>
                        </a:rPr>
                        <a:t>Forage Harvesters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63829">
                <a:tc>
                  <a:txBody>
                    <a:bodyPr wrap="none"/>
                    <a:lstStyle/>
                    <a:p>
                      <a:pPr algn="l"/>
                      <a:r>
                        <a:rPr sz="1100" b="1">
                          <a:solidFill>
                            <a:srgbClr val="2E2E2E"/>
                          </a:solidFill>
                          <a:latin typeface="Calibri"/>
                        </a:rPr>
                        <a:t>– Forestry</a:t>
                      </a:r>
                      <a:endParaRPr sz="1100"/>
                    </a:p>
                    <a:p>
                      <a:pPr algn="l"/>
                      <a:r>
                        <a:rPr sz="1100" b="1">
                          <a:solidFill>
                            <a:srgbClr val="2E2E2E"/>
                          </a:solidFill>
                          <a:latin typeface="Calibri"/>
                        </a:rPr>
                        <a:t>Harvesters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54768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529244" y="3305555"/>
            <a:ext cx="366712" cy="533400"/>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Type (3/7)</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Vehicle Type, 2021–2036</a:t>
            </a:r>
          </a:p>
        </p:txBody>
      </p:sp>
      <p:sp>
        <p:nvSpPr>
          <p:cNvPr id="7" name="Rounded Rectangle 6"/>
          <p:cNvSpPr/>
          <p:nvPr/>
        </p:nvSpPr>
        <p:spPr>
          <a:xfrm>
            <a:off x="142875" y="981075"/>
            <a:ext cx="11906250" cy="5086350"/>
          </a:xfrm>
          <a:prstGeom prst="roundRect">
            <a:avLst>
              <a:gd name="adj" fmla="val 149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By Vehicle Type (Units)</a:t>
            </a:r>
          </a:p>
        </p:txBody>
      </p:sp>
      <p:graphicFrame>
        <p:nvGraphicFramePr>
          <p:cNvPr id="9" name="Table 8"/>
          <p:cNvGraphicFramePr>
            <a:graphicFrameLocks noGrp="1"/>
          </p:cNvGraphicFramePr>
          <p:nvPr/>
        </p:nvGraphicFramePr>
        <p:xfrm>
          <a:off x="152400" y="1238250"/>
          <a:ext cx="12052174" cy="4619624"/>
        </p:xfrm>
        <a:graphic>
          <a:graphicData uri="http://schemas.openxmlformats.org/drawingml/2006/table">
            <a:tbl>
              <a:tblPr>
                <a:tableStyleId>{5C22544A-7EE6-4342-B048-85BDC9FD1C3A}</a:tableStyleId>
              </a:tblPr>
              <a:tblGrid>
                <a:gridCol w="5734058"/>
                <a:gridCol w="370456"/>
                <a:gridCol w="370456"/>
                <a:gridCol w="370456"/>
                <a:gridCol w="370456"/>
                <a:gridCol w="370456"/>
                <a:gridCol w="370456"/>
                <a:gridCol w="370456"/>
                <a:gridCol w="370456"/>
                <a:gridCol w="370456"/>
                <a:gridCol w="370456"/>
                <a:gridCol w="370456"/>
                <a:gridCol w="370456"/>
                <a:gridCol w="370456"/>
                <a:gridCol w="370456"/>
                <a:gridCol w="370456"/>
                <a:gridCol w="370456"/>
                <a:gridCol w="390820"/>
              </a:tblGrid>
              <a:tr h="438912">
                <a:tc>
                  <a:txBody>
                    <a:bodyPr wrap="none"/>
                    <a:lstStyle/>
                    <a:p>
                      <a:pPr algn="l"/>
                      <a:r>
                        <a:rPr sz="1100" b="1">
                          <a:solidFill>
                            <a:srgbClr val="0E2A5C"/>
                          </a:solidFill>
                          <a:latin typeface="Calibri"/>
                        </a:rPr>
                        <a:t>Vehicle Type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921702">
                <a:tc>
                  <a:txBody>
                    <a:bodyPr wrap="none"/>
                    <a:lstStyle/>
                    <a:p>
                      <a:pPr algn="l"/>
                      <a:r>
                        <a:rPr sz="1100" b="1">
                          <a:solidFill>
                            <a:srgbClr val="2E2E2E"/>
                          </a:solidFill>
                          <a:latin typeface="Calibri"/>
                        </a:rPr>
                        <a:t>– Other Agriculture</a:t>
                      </a:r>
                      <a:endParaRPr sz="1100"/>
                    </a:p>
                    <a:p>
                      <a:pPr algn="l"/>
                      <a:r>
                        <a:rPr sz="1100" b="1">
                          <a:solidFill>
                            <a:srgbClr val="2E2E2E"/>
                          </a:solidFill>
                          <a:latin typeface="Calibri"/>
                        </a:rPr>
                        <a:t>and Forestry</a:t>
                      </a:r>
                      <a:endParaRPr sz="1100"/>
                    </a:p>
                    <a:p>
                      <a:pPr algn="l"/>
                      <a:r>
                        <a:rPr sz="1100" b="1">
                          <a:solidFill>
                            <a:srgbClr val="2E2E2E"/>
                          </a:solidFill>
                          <a:latin typeface="Calibri"/>
                        </a:rPr>
                        <a:t>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728916">
                <a:tc>
                  <a:txBody>
                    <a:bodyPr wrap="none"/>
                    <a:lstStyle/>
                    <a:p>
                      <a:pPr algn="l"/>
                      <a:r>
                        <a:rPr sz="1100" b="1">
                          <a:solidFill>
                            <a:srgbClr val="2E2E2E"/>
                          </a:solidFill>
                          <a:latin typeface="Calibri"/>
                        </a:rPr>
                        <a:t>Industrial and Port</a:t>
                      </a:r>
                      <a:endParaRPr sz="1100"/>
                    </a:p>
                    <a:p>
                      <a:pPr algn="l"/>
                      <a:r>
                        <a:rPr sz="1100" b="1">
                          <a:solidFill>
                            <a:srgbClr val="2E2E2E"/>
                          </a:solidFill>
                          <a:latin typeface="Calibri"/>
                        </a:rPr>
                        <a:t>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728916">
                <a:tc>
                  <a:txBody>
                    <a:bodyPr wrap="none"/>
                    <a:lstStyle/>
                    <a:p>
                      <a:pPr algn="l"/>
                      <a:r>
                        <a:rPr sz="1100" b="1">
                          <a:solidFill>
                            <a:srgbClr val="2E2E2E"/>
                          </a:solidFill>
                          <a:latin typeface="Calibri"/>
                        </a:rPr>
                        <a:t>– Rough-Terrain</a:t>
                      </a:r>
                      <a:endParaRPr sz="1100"/>
                    </a:p>
                    <a:p>
                      <a:pPr algn="l"/>
                      <a:r>
                        <a:rPr sz="1100" b="1">
                          <a:solidFill>
                            <a:srgbClr val="2E2E2E"/>
                          </a:solidFill>
                          <a:latin typeface="Calibri"/>
                        </a:rPr>
                        <a:t>Forklifts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536131">
                <a:tc>
                  <a:txBody>
                    <a:bodyPr wrap="none"/>
                    <a:lstStyle/>
                    <a:p>
                      <a:pPr algn="l"/>
                      <a:r>
                        <a:rPr sz="1100" b="1">
                          <a:solidFill>
                            <a:srgbClr val="2E2E2E"/>
                          </a:solidFill>
                          <a:latin typeface="Calibri"/>
                        </a:rPr>
                        <a:t>– Aisle Trucks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728916">
                <a:tc>
                  <a:txBody>
                    <a:bodyPr wrap="none"/>
                    <a:lstStyle/>
                    <a:p>
                      <a:pPr algn="l"/>
                      <a:r>
                        <a:rPr sz="1100" b="1">
                          <a:solidFill>
                            <a:srgbClr val="2E2E2E"/>
                          </a:solidFill>
                          <a:latin typeface="Calibri"/>
                        </a:rPr>
                        <a:t>– Automated</a:t>
                      </a:r>
                      <a:endParaRPr sz="1100"/>
                    </a:p>
                    <a:p>
                      <a:pPr algn="l"/>
                      <a:r>
                        <a:rPr sz="1100" b="1">
                          <a:solidFill>
                            <a:srgbClr val="2E2E2E"/>
                          </a:solidFill>
                          <a:latin typeface="Calibri"/>
                        </a:rPr>
                        <a:t>Guided 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536131">
                <a:tc>
                  <a:txBody>
                    <a:bodyPr wrap="none"/>
                    <a:lstStyle/>
                    <a:p>
                      <a:pPr algn="l"/>
                      <a:r>
                        <a:rPr sz="1100" b="1">
                          <a:solidFill>
                            <a:srgbClr val="2E2E2E"/>
                          </a:solidFill>
                          <a:latin typeface="Calibri"/>
                        </a:rPr>
                        <a:t>– Burden Carriers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bl>
          </a:graphicData>
        </a:graphic>
      </p:graphicFrame>
      <p:sp>
        <p:nvSpPr>
          <p:cNvPr id="10" name="TextBox 9"/>
          <p:cNvSpPr txBox="1"/>
          <p:nvPr/>
        </p:nvSpPr>
        <p:spPr>
          <a:xfrm>
            <a:off x="219075" y="5867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529244" y="3500818"/>
            <a:ext cx="366712" cy="533400"/>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Type (4/7)</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Vehicle Type, 2021–2036</a:t>
            </a:r>
          </a:p>
        </p:txBody>
      </p:sp>
      <p:sp>
        <p:nvSpPr>
          <p:cNvPr id="7" name="Rounded Rectangle 6"/>
          <p:cNvSpPr/>
          <p:nvPr/>
        </p:nvSpPr>
        <p:spPr>
          <a:xfrm>
            <a:off x="142875" y="981075"/>
            <a:ext cx="11906250" cy="5334000"/>
          </a:xfrm>
          <a:prstGeom prst="roundRect">
            <a:avLst>
              <a:gd name="adj" fmla="val 142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By Vehicle Type (Units)</a:t>
            </a:r>
          </a:p>
        </p:txBody>
      </p:sp>
      <p:graphicFrame>
        <p:nvGraphicFramePr>
          <p:cNvPr id="9" name="Table 8"/>
          <p:cNvGraphicFramePr>
            <a:graphicFrameLocks noGrp="1"/>
          </p:cNvGraphicFramePr>
          <p:nvPr/>
        </p:nvGraphicFramePr>
        <p:xfrm>
          <a:off x="152400" y="1238250"/>
          <a:ext cx="12052174" cy="4867273"/>
        </p:xfrm>
        <a:graphic>
          <a:graphicData uri="http://schemas.openxmlformats.org/drawingml/2006/table">
            <a:tbl>
              <a:tblPr>
                <a:tableStyleId>{5C22544A-7EE6-4342-B048-85BDC9FD1C3A}</a:tableStyleId>
              </a:tblPr>
              <a:tblGrid>
                <a:gridCol w="5734058"/>
                <a:gridCol w="370456"/>
                <a:gridCol w="370456"/>
                <a:gridCol w="370456"/>
                <a:gridCol w="370456"/>
                <a:gridCol w="370456"/>
                <a:gridCol w="370456"/>
                <a:gridCol w="370456"/>
                <a:gridCol w="370456"/>
                <a:gridCol w="370456"/>
                <a:gridCol w="370456"/>
                <a:gridCol w="370456"/>
                <a:gridCol w="370456"/>
                <a:gridCol w="370456"/>
                <a:gridCol w="370456"/>
                <a:gridCol w="370456"/>
                <a:gridCol w="370456"/>
                <a:gridCol w="390820"/>
              </a:tblGrid>
              <a:tr h="438912">
                <a:tc>
                  <a:txBody>
                    <a:bodyPr wrap="none"/>
                    <a:lstStyle/>
                    <a:p>
                      <a:pPr algn="l"/>
                      <a:r>
                        <a:rPr sz="1100" b="1">
                          <a:solidFill>
                            <a:srgbClr val="0E2A5C"/>
                          </a:solidFill>
                          <a:latin typeface="Calibri"/>
                        </a:rPr>
                        <a:t>Vehicle Type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632623">
                <a:tc>
                  <a:txBody>
                    <a:bodyPr wrap="none"/>
                    <a:lstStyle/>
                    <a:p>
                      <a:pPr algn="l"/>
                      <a:r>
                        <a:rPr sz="1100" b="1">
                          <a:solidFill>
                            <a:srgbClr val="2E2E2E"/>
                          </a:solidFill>
                          <a:latin typeface="Calibri"/>
                        </a:rPr>
                        <a:t>– Other Industrial</a:t>
                      </a:r>
                      <a:endParaRPr sz="1100"/>
                    </a:p>
                    <a:p>
                      <a:pPr algn="l"/>
                      <a:r>
                        <a:rPr sz="1100" b="1">
                          <a:solidFill>
                            <a:srgbClr val="2E2E2E"/>
                          </a:solidFill>
                          <a:latin typeface="Calibri"/>
                        </a:rPr>
                        <a:t>and Port 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825409">
                <a:tc>
                  <a:txBody>
                    <a:bodyPr wrap="none"/>
                    <a:lstStyle/>
                    <a:p>
                      <a:pPr algn="l"/>
                      <a:r>
                        <a:rPr sz="1100" b="1">
                          <a:solidFill>
                            <a:srgbClr val="2E2E2E"/>
                          </a:solidFill>
                          <a:latin typeface="Calibri"/>
                        </a:rPr>
                        <a:t>Recreational and</a:t>
                      </a:r>
                      <a:endParaRPr sz="1100"/>
                    </a:p>
                    <a:p>
                      <a:pPr algn="l"/>
                      <a:r>
                        <a:rPr sz="1100" b="1">
                          <a:solidFill>
                            <a:srgbClr val="2E2E2E"/>
                          </a:solidFill>
                          <a:latin typeface="Calibri"/>
                        </a:rPr>
                        <a:t>Powersports</a:t>
                      </a:r>
                      <a:endParaRPr sz="1100"/>
                    </a:p>
                    <a:p>
                      <a:pPr algn="l"/>
                      <a:r>
                        <a:rPr sz="1100" b="1">
                          <a:solidFill>
                            <a:srgbClr val="2E2E2E"/>
                          </a:solidFill>
                          <a:latin typeface="Calibri"/>
                        </a:rPr>
                        <a:t>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632623">
                <a:tc>
                  <a:txBody>
                    <a:bodyPr wrap="none"/>
                    <a:lstStyle/>
                    <a:p>
                      <a:pPr algn="l"/>
                      <a:r>
                        <a:rPr sz="1100" b="1">
                          <a:solidFill>
                            <a:srgbClr val="2E2E2E"/>
                          </a:solidFill>
                          <a:latin typeface="Calibri"/>
                        </a:rPr>
                        <a:t>– All-Terrain</a:t>
                      </a:r>
                      <a:endParaRPr sz="1100"/>
                    </a:p>
                    <a:p>
                      <a:pPr algn="l"/>
                      <a:r>
                        <a:rPr sz="1100" b="1">
                          <a:solidFill>
                            <a:srgbClr val="2E2E2E"/>
                          </a:solidFill>
                          <a:latin typeface="Calibri"/>
                        </a:rPr>
                        <a:t>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623">
                <a:tc>
                  <a:txBody>
                    <a:bodyPr wrap="none"/>
                    <a:lstStyle/>
                    <a:p>
                      <a:pPr algn="l"/>
                      <a:r>
                        <a:rPr sz="1100" b="1">
                          <a:solidFill>
                            <a:srgbClr val="2E2E2E"/>
                          </a:solidFill>
                          <a:latin typeface="Calibri"/>
                        </a:rPr>
                        <a:t>– Utility Task</a:t>
                      </a:r>
                      <a:endParaRPr sz="1100"/>
                    </a:p>
                    <a:p>
                      <a:pPr algn="l"/>
                      <a:r>
                        <a:rPr sz="1100" b="1">
                          <a:solidFill>
                            <a:srgbClr val="2E2E2E"/>
                          </a:solidFill>
                          <a:latin typeface="Calibri"/>
                        </a:rPr>
                        <a:t>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439837">
                <a:tc>
                  <a:txBody>
                    <a:bodyPr wrap="none"/>
                    <a:lstStyle/>
                    <a:p>
                      <a:pPr algn="l"/>
                      <a:r>
                        <a:rPr sz="1100" b="1">
                          <a:solidFill>
                            <a:srgbClr val="2E2E2E"/>
                          </a:solidFill>
                          <a:latin typeface="Calibri"/>
                        </a:rPr>
                        <a:t>– Buggies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837">
                <a:tc>
                  <a:txBody>
                    <a:bodyPr wrap="none"/>
                    <a:lstStyle/>
                    <a:p>
                      <a:pPr algn="l"/>
                      <a:r>
                        <a:rPr sz="1100" b="1">
                          <a:solidFill>
                            <a:srgbClr val="2E2E2E"/>
                          </a:solidFill>
                          <a:latin typeface="Calibri"/>
                        </a:rPr>
                        <a:t>– Dirt Bikes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825409">
                <a:tc>
                  <a:txBody>
                    <a:bodyPr wrap="none"/>
                    <a:lstStyle/>
                    <a:p>
                      <a:pPr algn="l"/>
                      <a:r>
                        <a:rPr sz="1100" b="1">
                          <a:solidFill>
                            <a:srgbClr val="2E2E2E"/>
                          </a:solidFill>
                          <a:latin typeface="Calibri"/>
                        </a:rPr>
                        <a:t>– Other</a:t>
                      </a:r>
                      <a:endParaRPr sz="1100"/>
                    </a:p>
                    <a:p>
                      <a:pPr algn="l"/>
                      <a:r>
                        <a:rPr sz="1100" b="1">
                          <a:solidFill>
                            <a:srgbClr val="2E2E2E"/>
                          </a:solidFill>
                          <a:latin typeface="Calibri"/>
                        </a:rPr>
                        <a:t>Recreational</a:t>
                      </a:r>
                      <a:endParaRPr sz="1100"/>
                    </a:p>
                    <a:p>
                      <a:pPr algn="l"/>
                      <a:r>
                        <a:rPr sz="1100" b="1">
                          <a:solidFill>
                            <a:srgbClr val="2E2E2E"/>
                          </a:solidFill>
                          <a:latin typeface="Calibri"/>
                        </a:rPr>
                        <a:t>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bl>
          </a:graphicData>
        </a:graphic>
      </p:graphicFrame>
      <p:sp>
        <p:nvSpPr>
          <p:cNvPr id="10" name="TextBox 9"/>
          <p:cNvSpPr txBox="1"/>
          <p:nvPr/>
        </p:nvSpPr>
        <p:spPr>
          <a:xfrm>
            <a:off x="219075" y="6115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529244" y="3624642"/>
            <a:ext cx="366712" cy="53340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Type (5/7)</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Vehicle Type, 2021–2036</a:t>
            </a:r>
          </a:p>
        </p:txBody>
      </p:sp>
      <p:sp>
        <p:nvSpPr>
          <p:cNvPr id="7" name="Rounded Rectangle 6"/>
          <p:cNvSpPr/>
          <p:nvPr/>
        </p:nvSpPr>
        <p:spPr>
          <a:xfrm>
            <a:off x="142875" y="981075"/>
            <a:ext cx="11906250" cy="5143500"/>
          </a:xfrm>
          <a:prstGeom prst="roundRect">
            <a:avLst>
              <a:gd name="adj" fmla="val 148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By Vehicle Type (Units)</a:t>
            </a:r>
          </a:p>
        </p:txBody>
      </p:sp>
      <p:graphicFrame>
        <p:nvGraphicFramePr>
          <p:cNvPr id="9" name="Table 8"/>
          <p:cNvGraphicFramePr>
            <a:graphicFrameLocks noGrp="1"/>
          </p:cNvGraphicFramePr>
          <p:nvPr/>
        </p:nvGraphicFramePr>
        <p:xfrm>
          <a:off x="152400" y="1238250"/>
          <a:ext cx="12057982" cy="4676776"/>
        </p:xfrm>
        <a:graphic>
          <a:graphicData uri="http://schemas.openxmlformats.org/drawingml/2006/table">
            <a:tbl>
              <a:tblPr>
                <a:tableStyleId>{5C22544A-7EE6-4342-B048-85BDC9FD1C3A}</a:tableStyleId>
              </a:tblPr>
              <a:tblGrid>
                <a:gridCol w="5734049"/>
                <a:gridCol w="371861"/>
                <a:gridCol w="371861"/>
                <a:gridCol w="371861"/>
                <a:gridCol w="371861"/>
                <a:gridCol w="371861"/>
                <a:gridCol w="371861"/>
                <a:gridCol w="371861"/>
                <a:gridCol w="371861"/>
                <a:gridCol w="371861"/>
                <a:gridCol w="371861"/>
                <a:gridCol w="371861"/>
                <a:gridCol w="371861"/>
                <a:gridCol w="371861"/>
                <a:gridCol w="371861"/>
                <a:gridCol w="371861"/>
                <a:gridCol w="371861"/>
                <a:gridCol w="374157"/>
              </a:tblGrid>
              <a:tr h="438912">
                <a:tc>
                  <a:txBody>
                    <a:bodyPr wrap="none"/>
                    <a:lstStyle/>
                    <a:p>
                      <a:pPr algn="l"/>
                      <a:r>
                        <a:rPr sz="1100" b="1">
                          <a:solidFill>
                            <a:srgbClr val="0E2A5C"/>
                          </a:solidFill>
                          <a:latin typeface="Calibri"/>
                        </a:rPr>
                        <a:t>Vehicle</a:t>
                      </a:r>
                      <a:endParaRPr sz="1100"/>
                    </a:p>
                    <a:p>
                      <a:pPr algn="l"/>
                      <a:r>
                        <a:rPr sz="1100" b="1">
                          <a:solidFill>
                            <a:srgbClr val="0E2A5C"/>
                          </a:solidFill>
                          <a:latin typeface="Calibri"/>
                        </a:rPr>
                        <a:t>Type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2021A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2022A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2023A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2024A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2025A</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2026E</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2027F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2028F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2029F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2030F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2031F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2032F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2033F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2034F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2035F</a:t>
                      </a:r>
                      <a:endParaRPr sz="1100"/>
                    </a:p>
                  </a:txBody>
                  <a:tcPr marL="19050" marR="14288" marT="19050" marB="19050" anchor="ctr">
                    <a:solidFill>
                      <a:srgbClr val="EBF2F9"/>
                    </a:solidFill>
                  </a:tcPr>
                </a:tc>
                <a:tc>
                  <a:txBody>
                    <a:bodyPr wrap="none"/>
                    <a:lstStyle/>
                    <a:p>
                      <a:pPr algn="ctr"/>
                      <a:r>
                        <a:rPr sz="1100" b="1">
                          <a:solidFill>
                            <a:srgbClr val="0E2A5C"/>
                          </a:solidFill>
                          <a:latin typeface="Calibri"/>
                        </a:rPr>
                        <a:t>2036F</a:t>
                      </a:r>
                      <a:endParaRPr sz="1100"/>
                    </a:p>
                  </a:txBody>
                  <a:tcPr marL="19050" marR="14288" marT="19050" marB="19050" anchor="ctr">
                    <a:solidFill>
                      <a:srgbClr val="EBF2F9"/>
                    </a:solidFill>
                  </a:tcPr>
                </a:tc>
                <a:tc>
                  <a:txBody>
                    <a:bodyPr wrap="square"/>
                    <a:lstStyle/>
                    <a:p>
                      <a:pPr algn="ctr"/>
                      <a:r>
                        <a:rPr sz="1100" b="1">
                          <a:solidFill>
                            <a:srgbClr val="0E2A5C"/>
                          </a:solidFill>
                          <a:latin typeface="Calibri"/>
                        </a:rPr>
                        <a:t>F-CAGR</a:t>
                      </a:r>
                      <a:endParaRPr sz="1100"/>
                    </a:p>
                  </a:txBody>
                  <a:tcPr marL="19050" marR="14288" marT="19050" marB="19050" anchor="ctr">
                    <a:solidFill>
                      <a:srgbClr val="EBF2F9"/>
                    </a:solidFill>
                  </a:tcPr>
                </a:tc>
              </a:tr>
              <a:tr h="440164">
                <a:tc>
                  <a:txBody>
                    <a:bodyPr wrap="none"/>
                    <a:lstStyle/>
                    <a:p>
                      <a:pPr algn="l"/>
                      <a:r>
                        <a:rPr sz="1100" b="1">
                          <a:solidFill>
                            <a:srgbClr val="2E2E2E"/>
                          </a:solidFill>
                          <a:latin typeface="Calibri"/>
                        </a:rPr>
                        <a:t>Military</a:t>
                      </a:r>
                      <a:endParaRPr sz="1100"/>
                    </a:p>
                    <a:p>
                      <a:pPr algn="l"/>
                      <a:r>
                        <a:rPr sz="1100" b="1">
                          <a:solidFill>
                            <a:srgbClr val="2E2E2E"/>
                          </a:solidFill>
                          <a:latin typeface="Calibri"/>
                        </a:rPr>
                        <a:t>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7378">
                <a:tc>
                  <a:txBody>
                    <a:bodyPr wrap="none"/>
                    <a:lstStyle/>
                    <a:p>
                      <a:pPr algn="l"/>
                      <a:r>
                        <a:rPr sz="1100" b="1">
                          <a:solidFill>
                            <a:srgbClr val="2E2E2E"/>
                          </a:solidFill>
                          <a:latin typeface="Calibri"/>
                        </a:rPr>
                        <a:t>– Tanks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1018522">
                <a:tc>
                  <a:txBody>
                    <a:bodyPr wrap="none"/>
                    <a:lstStyle/>
                    <a:p>
                      <a:pPr algn="l"/>
                      <a:r>
                        <a:rPr sz="1100" b="1">
                          <a:solidFill>
                            <a:srgbClr val="2E2E2E"/>
                          </a:solidFill>
                          <a:latin typeface="Calibri"/>
                        </a:rPr>
                        <a:t>–</a:t>
                      </a:r>
                      <a:endParaRPr sz="1100"/>
                    </a:p>
                    <a:p>
                      <a:pPr algn="l"/>
                      <a:r>
                        <a:rPr sz="1100" b="1">
                          <a:solidFill>
                            <a:srgbClr val="2E2E2E"/>
                          </a:solidFill>
                          <a:latin typeface="Calibri"/>
                        </a:rPr>
                        <a:t>Armore</a:t>
                      </a:r>
                      <a:endParaRPr sz="1100"/>
                    </a:p>
                    <a:p>
                      <a:pPr algn="l"/>
                      <a:r>
                        <a:rPr sz="1100" b="1">
                          <a:solidFill>
                            <a:srgbClr val="2E2E2E"/>
                          </a:solidFill>
                          <a:latin typeface="Calibri"/>
                        </a:rPr>
                        <a:t>d</a:t>
                      </a:r>
                      <a:endParaRPr sz="1100"/>
                    </a:p>
                    <a:p>
                      <a:pPr algn="l"/>
                      <a:r>
                        <a:rPr sz="1100" b="1">
                          <a:solidFill>
                            <a:srgbClr val="2E2E2E"/>
                          </a:solidFill>
                          <a:latin typeface="Calibri"/>
                        </a:rPr>
                        <a:t>Combat</a:t>
                      </a:r>
                      <a:endParaRPr sz="1100"/>
                    </a:p>
                    <a:p>
                      <a:pPr algn="l"/>
                      <a:r>
                        <a:rPr sz="1100" b="1">
                          <a:solidFill>
                            <a:srgbClr val="2E2E2E"/>
                          </a:solidFill>
                          <a:latin typeface="Calibri"/>
                        </a:rPr>
                        <a:t>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632950">
                <a:tc>
                  <a:txBody>
                    <a:bodyPr wrap="none"/>
                    <a:lstStyle/>
                    <a:p>
                      <a:pPr algn="l"/>
                      <a:r>
                        <a:rPr sz="1100" b="1">
                          <a:solidFill>
                            <a:srgbClr val="2E2E2E"/>
                          </a:solidFill>
                          <a:latin typeface="Calibri"/>
                        </a:rPr>
                        <a:t>–</a:t>
                      </a:r>
                      <a:endParaRPr sz="1100"/>
                    </a:p>
                    <a:p>
                      <a:pPr algn="l"/>
                      <a:r>
                        <a:rPr sz="1100" b="1">
                          <a:solidFill>
                            <a:srgbClr val="2E2E2E"/>
                          </a:solidFill>
                          <a:latin typeface="Calibri"/>
                        </a:rPr>
                        <a:t>Artillery</a:t>
                      </a:r>
                      <a:endParaRPr sz="1100"/>
                    </a:p>
                    <a:p>
                      <a:pPr algn="l"/>
                      <a:r>
                        <a:rPr sz="1100" b="1">
                          <a:solidFill>
                            <a:srgbClr val="2E2E2E"/>
                          </a:solidFill>
                          <a:latin typeface="Calibri"/>
                        </a:rPr>
                        <a:t>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r>
              <a:tr h="825736">
                <a:tc>
                  <a:txBody>
                    <a:bodyPr wrap="none"/>
                    <a:lstStyle/>
                    <a:p>
                      <a:pPr algn="l"/>
                      <a:r>
                        <a:rPr sz="1100" b="1">
                          <a:solidFill>
                            <a:srgbClr val="2E2E2E"/>
                          </a:solidFill>
                          <a:latin typeface="Calibri"/>
                        </a:rPr>
                        <a:t>–</a:t>
                      </a:r>
                      <a:endParaRPr sz="1100"/>
                    </a:p>
                    <a:p>
                      <a:pPr algn="l"/>
                      <a:r>
                        <a:rPr sz="1100" b="1">
                          <a:solidFill>
                            <a:srgbClr val="2E2E2E"/>
                          </a:solidFill>
                          <a:latin typeface="Calibri"/>
                        </a:rPr>
                        <a:t>Special-</a:t>
                      </a:r>
                      <a:endParaRPr sz="1100"/>
                    </a:p>
                    <a:p>
                      <a:pPr algn="l"/>
                      <a:r>
                        <a:rPr sz="1100" b="1">
                          <a:solidFill>
                            <a:srgbClr val="2E2E2E"/>
                          </a:solidFill>
                          <a:latin typeface="Calibri"/>
                        </a:rPr>
                        <a:t>Purpose</a:t>
                      </a:r>
                      <a:endParaRPr sz="1100"/>
                    </a:p>
                    <a:p>
                      <a:pPr algn="l"/>
                      <a:r>
                        <a:rPr sz="1100" b="1">
                          <a:solidFill>
                            <a:srgbClr val="2E2E2E"/>
                          </a:solidFill>
                          <a:latin typeface="Calibri"/>
                        </a:rPr>
                        <a:t>Vehicles</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square"/>
                    <a:lstStyle/>
                    <a:p>
                      <a:pPr algn="ctr"/>
                      <a:r>
                        <a:rPr sz="1100"/>
                        <a:t> </a:t>
                      </a:r>
                      <a:endParaRPr sz="1100"/>
                    </a:p>
                  </a:txBody>
                  <a:tcPr marL="19050" marR="14288" marT="19050" marB="19050" anchor="ctr">
                    <a:solidFill>
                      <a:srgbClr val="FFFFFF"/>
                    </a:solidFill>
                  </a:tcPr>
                </a:tc>
              </a:tr>
              <a:tr h="632950">
                <a:tc>
                  <a:txBody>
                    <a:bodyPr wrap="none"/>
                    <a:lstStyle/>
                    <a:p>
                      <a:pPr algn="l"/>
                      <a:r>
                        <a:rPr sz="1100" b="1">
                          <a:solidFill>
                            <a:srgbClr val="2E2E2E"/>
                          </a:solidFill>
                          <a:latin typeface="Calibri"/>
                        </a:rPr>
                        <a:t>– Other</a:t>
                      </a:r>
                      <a:endParaRPr sz="1100"/>
                    </a:p>
                    <a:p>
                      <a:pPr algn="l"/>
                      <a:r>
                        <a:rPr sz="1100" b="1">
                          <a:solidFill>
                            <a:srgbClr val="2E2E2E"/>
                          </a:solidFill>
                          <a:latin typeface="Calibri"/>
                        </a:rPr>
                        <a:t>Military</a:t>
                      </a:r>
                      <a:endParaRPr sz="1100"/>
                    </a:p>
                    <a:p>
                      <a:pPr algn="l"/>
                      <a:r>
                        <a:rPr sz="1100" b="1">
                          <a:solidFill>
                            <a:srgbClr val="2E2E2E"/>
                          </a:solidFill>
                          <a:latin typeface="Calibri"/>
                        </a:rPr>
                        <a:t>Vehicles</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none"/>
                    <a:lstStyle/>
                    <a:p>
                      <a:pPr algn="ctr"/>
                      <a:r>
                        <a:rPr sz="1100"/>
                        <a:t> </a:t>
                      </a:r>
                      <a:endParaRPr sz="1100"/>
                    </a:p>
                  </a:txBody>
                  <a:tcPr marL="19050" marR="14288" marT="19050" marB="19050" anchor="ctr">
                    <a:solidFill>
                      <a:srgbClr val="F5F9FD"/>
                    </a:solidFill>
                  </a:tcPr>
                </a:tc>
                <a:tc>
                  <a:txBody>
                    <a:bodyPr wrap="square"/>
                    <a:lstStyle/>
                    <a:p>
                      <a:pPr algn="ctr"/>
                      <a:r>
                        <a:rPr sz="1100"/>
                        <a:t> </a:t>
                      </a:r>
                      <a:endParaRPr sz="1100"/>
                    </a:p>
                  </a:txBody>
                  <a:tcPr marL="19050" marR="14288" marT="19050" marB="19050" anchor="ctr">
                    <a:solidFill>
                      <a:srgbClr val="F5F9FD"/>
                    </a:solidFill>
                  </a:tcPr>
                </a:tc>
              </a:tr>
              <a:tr h="440164">
                <a:tc>
                  <a:txBody>
                    <a:bodyPr wrap="none"/>
                    <a:lstStyle/>
                    <a:p>
                      <a:pPr algn="l"/>
                      <a:r>
                        <a:rPr sz="1100" b="1">
                          <a:solidFill>
                            <a:srgbClr val="2E2E2E"/>
                          </a:solidFill>
                          <a:latin typeface="Calibri"/>
                        </a:rPr>
                        <a:t>Total</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square"/>
                    <a:lstStyle/>
                    <a:p>
                      <a:pPr algn="ctr"/>
                      <a:r>
                        <a:rPr sz="1100"/>
                        <a:t> </a:t>
                      </a:r>
                      <a:endParaRPr sz="1100"/>
                    </a:p>
                  </a:txBody>
                  <a:tcPr marL="19050" marR="14288" marT="19050" marB="19050" anchor="ctr">
                    <a:solidFill>
                      <a:srgbClr val="EBF2F9"/>
                    </a:solidFill>
                  </a:tcPr>
                </a:tc>
                <a:tc>
                  <a:txBody>
                    <a:bodyPr wrap="none"/>
                    <a:lstStyle/>
                    <a:p>
                      <a:pPr algn="ctr"/>
                      <a:r>
                        <a:rPr sz="1100"/>
                        <a:t> </a:t>
                      </a:r>
                      <a:endParaRPr sz="1100"/>
                    </a:p>
                  </a:txBody>
                  <a:tcPr marL="19050" marR="14288" marT="19050" marB="19050" anchor="ctr">
                    <a:solidFill>
                      <a:srgbClr val="EBF2F9"/>
                    </a:solidFill>
                  </a:tcPr>
                </a:tc>
              </a:tr>
            </a:tbl>
          </a:graphicData>
        </a:graphic>
      </p:graphicFrame>
      <p:sp>
        <p:nvSpPr>
          <p:cNvPr id="10" name="TextBox 9"/>
          <p:cNvSpPr txBox="1"/>
          <p:nvPr/>
        </p:nvSpPr>
        <p:spPr>
          <a:xfrm>
            <a:off x="219075" y="59245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192678" y="3529394"/>
            <a:ext cx="366712" cy="533400"/>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Type (6/7)</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Vehicle Type, 2021–2036</a:t>
            </a:r>
          </a:p>
        </p:txBody>
      </p:sp>
      <p:sp>
        <p:nvSpPr>
          <p:cNvPr id="7" name="Rounded Rectangle 6"/>
          <p:cNvSpPr/>
          <p:nvPr/>
        </p:nvSpPr>
        <p:spPr>
          <a:xfrm>
            <a:off x="142875" y="981075"/>
            <a:ext cx="11906250" cy="5638800"/>
          </a:xfrm>
          <a:prstGeom prst="roundRect">
            <a:avLst>
              <a:gd name="adj" fmla="val 135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Vehicle Type (US$ Mn)</a:t>
            </a:r>
          </a:p>
        </p:txBody>
      </p:sp>
      <p:graphicFrame>
        <p:nvGraphicFramePr>
          <p:cNvPr id="9" name="Table 8"/>
          <p:cNvGraphicFramePr>
            <a:graphicFrameLocks noGrp="1"/>
          </p:cNvGraphicFramePr>
          <p:nvPr/>
        </p:nvGraphicFramePr>
        <p:xfrm>
          <a:off x="152400" y="1238250"/>
          <a:ext cx="11887207" cy="5172066"/>
        </p:xfrm>
        <a:graphic>
          <a:graphicData uri="http://schemas.openxmlformats.org/drawingml/2006/table">
            <a:tbl>
              <a:tblPr>
                <a:tableStyleId>{5C22544A-7EE6-4342-B048-85BDC9FD1C3A}</a:tableStyleId>
              </a:tblPr>
              <a:tblGrid>
                <a:gridCol w="2741137"/>
                <a:gridCol w="535278"/>
                <a:gridCol w="535278"/>
                <a:gridCol w="535278"/>
                <a:gridCol w="535278"/>
                <a:gridCol w="535278"/>
                <a:gridCol w="535278"/>
                <a:gridCol w="535278"/>
                <a:gridCol w="535278"/>
                <a:gridCol w="535278"/>
                <a:gridCol w="535278"/>
                <a:gridCol w="535278"/>
                <a:gridCol w="535278"/>
                <a:gridCol w="535278"/>
                <a:gridCol w="535278"/>
                <a:gridCol w="535278"/>
                <a:gridCol w="535278"/>
                <a:gridCol w="581622"/>
              </a:tblGrid>
              <a:tr h="246126">
                <a:tc>
                  <a:txBody>
                    <a:bodyPr wrap="none"/>
                    <a:lstStyle/>
                    <a:p>
                      <a:pPr algn="l"/>
                      <a:r>
                        <a:rPr sz="1100" b="1">
                          <a:solidFill>
                            <a:srgbClr val="0E2A5C"/>
                          </a:solidFill>
                          <a:latin typeface="Calibri"/>
                        </a:rPr>
                        <a:t>Vehicle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297">
                <a:tc>
                  <a:txBody>
                    <a:bodyPr wrap="none"/>
                    <a:lstStyle/>
                    <a:p>
                      <a:pPr algn="l"/>
                      <a:r>
                        <a:rPr sz="1100" b="1">
                          <a:solidFill>
                            <a:srgbClr val="2E2E2E"/>
                          </a:solidFill>
                          <a:latin typeface="Calibri"/>
                        </a:rPr>
                        <a:t>Construction and Mining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Excavators &amp; Wheel Loaders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Articulated &amp; Rigid Dump Trucks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Backhoe Loaders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Bulldozers &amp; Crawler Loaders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Cold Planers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Other Construction and Mining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Agriculture and Forestry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Tractors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Feller Bunchers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Combine and Forage Harvesters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Forestry Harvesters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Other Agriculture and Forestry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Industrial and Port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Rough-Terrain Forklifts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Aisle Trucks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Automated Guided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 Burden Carriers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297">
                <a:tc>
                  <a:txBody>
                    <a:bodyPr wrap="none"/>
                    <a:lstStyle/>
                    <a:p>
                      <a:pPr algn="l"/>
                      <a:r>
                        <a:rPr sz="1100" b="1">
                          <a:solidFill>
                            <a:srgbClr val="2E2E2E"/>
                          </a:solidFill>
                          <a:latin typeface="Calibri"/>
                        </a:rPr>
                        <a:t>– Other Industrial and Port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297">
                <a:tc>
                  <a:txBody>
                    <a:bodyPr wrap="none"/>
                    <a:lstStyle/>
                    <a:p>
                      <a:pPr algn="l"/>
                      <a:r>
                        <a:rPr sz="1100" b="1">
                          <a:solidFill>
                            <a:srgbClr val="2E2E2E"/>
                          </a:solidFill>
                          <a:latin typeface="Calibri"/>
                        </a:rPr>
                        <a:t>Recreational and Powersports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64198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279881" y="3680645"/>
            <a:ext cx="366712" cy="533400"/>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Type (7/7)</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value of the U.S. market by Vehicle Type, 2021–2036</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Vehicle Type (US$ Mn)</a:t>
            </a:r>
          </a:p>
        </p:txBody>
      </p:sp>
      <p:graphicFrame>
        <p:nvGraphicFramePr>
          <p:cNvPr id="9" name="Table 8"/>
          <p:cNvGraphicFramePr>
            <a:graphicFrameLocks noGrp="1"/>
          </p:cNvGraphicFramePr>
          <p:nvPr/>
        </p:nvGraphicFramePr>
        <p:xfrm>
          <a:off x="152400" y="1238250"/>
          <a:ext cx="11887192" cy="3200406"/>
        </p:xfrm>
        <a:graphic>
          <a:graphicData uri="http://schemas.openxmlformats.org/drawingml/2006/table">
            <a:tbl>
              <a:tblPr>
                <a:tableStyleId>{5C22544A-7EE6-4342-B048-85BDC9FD1C3A}</a:tableStyleId>
              </a:tblPr>
              <a:tblGrid>
                <a:gridCol w="1895646"/>
                <a:gridCol w="587738"/>
                <a:gridCol w="587738"/>
                <a:gridCol w="587738"/>
                <a:gridCol w="587738"/>
                <a:gridCol w="587738"/>
                <a:gridCol w="587738"/>
                <a:gridCol w="587738"/>
                <a:gridCol w="587738"/>
                <a:gridCol w="587738"/>
                <a:gridCol w="587738"/>
                <a:gridCol w="587738"/>
                <a:gridCol w="587738"/>
                <a:gridCol w="587738"/>
                <a:gridCol w="587738"/>
                <a:gridCol w="587738"/>
                <a:gridCol w="587738"/>
                <a:gridCol w="587738"/>
              </a:tblGrid>
              <a:tr h="246126">
                <a:tc>
                  <a:txBody>
                    <a:bodyPr wrap="none"/>
                    <a:lstStyle/>
                    <a:p>
                      <a:pPr algn="l"/>
                      <a:r>
                        <a:rPr sz="1100" b="1">
                          <a:solidFill>
                            <a:srgbClr val="0E2A5C"/>
                          </a:solidFill>
                          <a:latin typeface="Calibri"/>
                        </a:rPr>
                        <a:t>Vehicle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 All-Terrain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Utility Task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Buggies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Dirt Bikes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Other Recreational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Military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Tanks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Armored Combat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Artillery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 Special-Purpose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 Other Military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190">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857129" y="2694815"/>
            <a:ext cx="366712" cy="533400"/>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Powertrain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Segmental Analysis Powertrain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Powertrain: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Powertrain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Powertrain</a:t>
            </a:r>
          </a:p>
        </p:txBody>
      </p:sp>
      <p:graphicFrame>
        <p:nvGraphicFramePr>
          <p:cNvPr id="12" name="Table 11"/>
          <p:cNvGraphicFramePr>
            <a:graphicFrameLocks noGrp="1"/>
          </p:cNvGraphicFramePr>
          <p:nvPr/>
        </p:nvGraphicFramePr>
        <p:xfrm>
          <a:off x="6181725" y="1238250"/>
          <a:ext cx="5857877" cy="2285998"/>
        </p:xfrm>
        <a:graphic>
          <a:graphicData uri="http://schemas.openxmlformats.org/drawingml/2006/table">
            <a:tbl>
              <a:tblPr>
                <a:tableStyleId>{5C22544A-7EE6-4342-B048-85BDC9FD1C3A}</a:tableStyleId>
              </a:tblPr>
              <a:tblGrid>
                <a:gridCol w="1830197"/>
                <a:gridCol w="1006920"/>
                <a:gridCol w="1006920"/>
                <a:gridCol w="1006920"/>
                <a:gridCol w="1006920"/>
              </a:tblGrid>
              <a:tr h="246126">
                <a:tc>
                  <a:txBody>
                    <a:bodyPr wrap="none"/>
                    <a:lstStyle/>
                    <a:p>
                      <a:pPr algn="l"/>
                      <a:r>
                        <a:rPr sz="1100" b="1">
                          <a:solidFill>
                            <a:srgbClr val="0E2A5C"/>
                          </a:solidFill>
                          <a:latin typeface="Calibri"/>
                        </a:rPr>
                        <a:t>Powertrain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509968">
                <a:tc>
                  <a:txBody>
                    <a:bodyPr wrap="none"/>
                    <a:lstStyle/>
                    <a:p>
                      <a:pPr algn="l"/>
                      <a:r>
                        <a:rPr sz="1100" b="1">
                          <a:solidFill>
                            <a:srgbClr val="2E2E2E"/>
                          </a:solidFill>
                          <a:latin typeface="Calibri"/>
                        </a:rPr>
                        <a:t>Internal Combustion Engine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Battery Electric Vehicle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509968">
                <a:tc>
                  <a:txBody>
                    <a:bodyPr wrap="none"/>
                    <a:lstStyle/>
                    <a:p>
                      <a:pPr algn="l"/>
                      <a:r>
                        <a:rPr sz="1100" b="1">
                          <a:solidFill>
                            <a:srgbClr val="2E2E2E"/>
                          </a:solidFill>
                          <a:latin typeface="Calibri"/>
                        </a:rPr>
                        <a:t>Hybrid Powertrain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Alternative Fuel ICE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Powertrain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839072" y="2237612"/>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Powertrain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Powertrain, 2021–2036</a:t>
            </a:r>
          </a:p>
        </p:txBody>
      </p:sp>
      <p:sp>
        <p:nvSpPr>
          <p:cNvPr id="7" name="Rounded Rectangle 6"/>
          <p:cNvSpPr/>
          <p:nvPr/>
        </p:nvSpPr>
        <p:spPr>
          <a:xfrm>
            <a:off x="142875" y="9810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Powertrain (US$ Mn)</a:t>
            </a:r>
          </a:p>
        </p:txBody>
      </p:sp>
      <p:graphicFrame>
        <p:nvGraphicFramePr>
          <p:cNvPr id="9" name="Table 8"/>
          <p:cNvGraphicFramePr>
            <a:graphicFrameLocks noGrp="1"/>
          </p:cNvGraphicFramePr>
          <p:nvPr/>
        </p:nvGraphicFramePr>
        <p:xfrm>
          <a:off x="152400" y="1238250"/>
          <a:ext cx="11887808" cy="1676401"/>
        </p:xfrm>
        <a:graphic>
          <a:graphicData uri="http://schemas.openxmlformats.org/drawingml/2006/table">
            <a:tbl>
              <a:tblPr>
                <a:tableStyleId>{5C22544A-7EE6-4342-B048-85BDC9FD1C3A}</a:tableStyleId>
              </a:tblPr>
              <a:tblGrid>
                <a:gridCol w="1817914"/>
                <a:gridCol w="592311"/>
                <a:gridCol w="592311"/>
                <a:gridCol w="592311"/>
                <a:gridCol w="592311"/>
                <a:gridCol w="592311"/>
                <a:gridCol w="592311"/>
                <a:gridCol w="592311"/>
                <a:gridCol w="592311"/>
                <a:gridCol w="592311"/>
                <a:gridCol w="592311"/>
                <a:gridCol w="592311"/>
                <a:gridCol w="592311"/>
                <a:gridCol w="592311"/>
                <a:gridCol w="592311"/>
                <a:gridCol w="592311"/>
                <a:gridCol w="592311"/>
                <a:gridCol w="592918"/>
              </a:tblGrid>
              <a:tr h="246126">
                <a:tc>
                  <a:txBody>
                    <a:bodyPr wrap="none"/>
                    <a:lstStyle/>
                    <a:p>
                      <a:pPr algn="l"/>
                      <a:r>
                        <a:rPr sz="1100" b="1">
                          <a:solidFill>
                            <a:srgbClr val="0E2A5C"/>
                          </a:solidFill>
                          <a:latin typeface="Calibri"/>
                        </a:rPr>
                        <a:t>Powertrain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86055">
                <a:tc>
                  <a:txBody>
                    <a:bodyPr wrap="none"/>
                    <a:lstStyle/>
                    <a:p>
                      <a:pPr algn="l"/>
                      <a:r>
                        <a:rPr sz="1100" b="1">
                          <a:solidFill>
                            <a:srgbClr val="2E2E2E"/>
                          </a:solidFill>
                          <a:latin typeface="Calibri"/>
                        </a:rPr>
                        <a:t>Internal Combustion Engine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E2E2E"/>
                          </a:solidFill>
                          <a:latin typeface="Calibri"/>
                        </a:rPr>
                        <a:t>Battery Electric Vehicle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6055">
                <a:tc>
                  <a:txBody>
                    <a:bodyPr wrap="none"/>
                    <a:lstStyle/>
                    <a:p>
                      <a:pPr algn="l"/>
                      <a:r>
                        <a:rPr sz="1100" b="1">
                          <a:solidFill>
                            <a:srgbClr val="2E2E2E"/>
                          </a:solidFill>
                          <a:latin typeface="Calibri"/>
                        </a:rPr>
                        <a:t>Hybrid Powertrain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6055">
                <a:tc>
                  <a:txBody>
                    <a:bodyPr wrap="none"/>
                    <a:lstStyle/>
                    <a:p>
                      <a:pPr algn="l"/>
                      <a:r>
                        <a:rPr sz="1100" b="1">
                          <a:solidFill>
                            <a:srgbClr val="2E2E2E"/>
                          </a:solidFill>
                          <a:latin typeface="Calibri"/>
                        </a:rPr>
                        <a:t>Alternative Fuel ICE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6055">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813108" y="1932813"/>
            <a:ext cx="366712" cy="533400"/>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Vehicle Capacity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Segmental Analysis Vehicle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Vehicle Capacity: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Vehicle Capacity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Vehicle Capacity</a:t>
            </a:r>
          </a:p>
        </p:txBody>
      </p:sp>
      <p:graphicFrame>
        <p:nvGraphicFramePr>
          <p:cNvPr id="12" name="Table 11"/>
          <p:cNvGraphicFramePr>
            <a:graphicFrameLocks noGrp="1"/>
          </p:cNvGraphicFramePr>
          <p:nvPr/>
        </p:nvGraphicFramePr>
        <p:xfrm>
          <a:off x="6181725" y="1238250"/>
          <a:ext cx="5860592" cy="2285998"/>
        </p:xfrm>
        <a:graphic>
          <a:graphicData uri="http://schemas.openxmlformats.org/drawingml/2006/table">
            <a:tbl>
              <a:tblPr>
                <a:tableStyleId>{5C22544A-7EE6-4342-B048-85BDC9FD1C3A}</a:tableStyleId>
              </a:tblPr>
              <a:tblGrid>
                <a:gridCol w="1937657"/>
                <a:gridCol w="980055"/>
                <a:gridCol w="980055"/>
                <a:gridCol w="980055"/>
                <a:gridCol w="982770"/>
              </a:tblGrid>
              <a:tr h="246126">
                <a:tc>
                  <a:txBody>
                    <a:bodyPr wrap="none"/>
                    <a:lstStyle/>
                    <a:p>
                      <a:pPr algn="l"/>
                      <a:r>
                        <a:rPr sz="1100" b="1">
                          <a:solidFill>
                            <a:srgbClr val="0E2A5C"/>
                          </a:solidFill>
                          <a:latin typeface="Calibri"/>
                        </a:rPr>
                        <a:t>Vehicle Capacity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509968">
                <a:tc>
                  <a:txBody>
                    <a:bodyPr wrap="none"/>
                    <a:lstStyle/>
                    <a:p>
                      <a:pPr algn="l"/>
                      <a:r>
                        <a:rPr sz="1100" b="1">
                          <a:solidFill>
                            <a:srgbClr val="2E2E2E"/>
                          </a:solidFill>
                          <a:latin typeface="Calibri"/>
                        </a:rPr>
                        <a:t>Compact / Light-Duty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Medium-Duty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509968">
                <a:tc>
                  <a:txBody>
                    <a:bodyPr wrap="none"/>
                    <a:lstStyle/>
                    <a:p>
                      <a:pPr algn="l"/>
                      <a:r>
                        <a:rPr sz="1100" b="1">
                          <a:solidFill>
                            <a:srgbClr val="2E2E2E"/>
                          </a:solidFill>
                          <a:latin typeface="Calibri"/>
                        </a:rPr>
                        <a:t>Heavy-Duty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Ultra-Heavy-Duty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Vehicle Capacity (US$ Mn), between 2026–2036</a:t>
            </a:r>
          </a:p>
        </p:txBody>
      </p:sp>
      <p:graphicFrame>
        <p:nvGraphicFramePr>
          <p:cNvPr id="16" name="Chart 15"/>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9887371" y="2237612"/>
            <a:ext cx="366712" cy="533400"/>
          </a:xfrm>
          <a:prstGeom prst="rect">
            <a:avLst/>
          </a:prstGeom>
        </p:spPr>
      </p:pic>
      <p:pic>
        <p:nvPicPr>
          <p:cNvPr id="25" name="Picture 24" descr="lock.png"/>
          <p:cNvPicPr>
            <a:picLocks noChangeAspect="1"/>
          </p:cNvPicPr>
          <p:nvPr/>
        </p:nvPicPr>
        <p:blipFill>
          <a:blip r:embed="rId6"/>
          <a:stretch>
            <a:fillRect/>
          </a:stretch>
        </p:blipFill>
        <p:spPr>
          <a:xfrm>
            <a:off x="5964247" y="5123309"/>
            <a:ext cx="263506" cy="383281"/>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Vehicle Capacity</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Vehicle Capacity, 2021–2036</a:t>
            </a:r>
          </a:p>
        </p:txBody>
      </p:sp>
      <p:sp>
        <p:nvSpPr>
          <p:cNvPr id="7" name="Rounded Rectangle 6"/>
          <p:cNvSpPr/>
          <p:nvPr/>
        </p:nvSpPr>
        <p:spPr>
          <a:xfrm>
            <a:off x="142875" y="981075"/>
            <a:ext cx="11906250" cy="1952625"/>
          </a:xfrm>
          <a:prstGeom prst="roundRect">
            <a:avLst>
              <a:gd name="adj" fmla="val 390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Vehicle Capacity (US$ Mn)</a:t>
            </a:r>
          </a:p>
        </p:txBody>
      </p:sp>
      <p:graphicFrame>
        <p:nvGraphicFramePr>
          <p:cNvPr id="9" name="Table 8"/>
          <p:cNvGraphicFramePr>
            <a:graphicFrameLocks noGrp="1"/>
          </p:cNvGraphicFramePr>
          <p:nvPr/>
        </p:nvGraphicFramePr>
        <p:xfrm>
          <a:off x="152400" y="1238250"/>
          <a:ext cx="11887856" cy="1485896"/>
        </p:xfrm>
        <a:graphic>
          <a:graphicData uri="http://schemas.openxmlformats.org/drawingml/2006/table">
            <a:tbl>
              <a:tblPr>
                <a:tableStyleId>{5C22544A-7EE6-4342-B048-85BDC9FD1C3A}</a:tableStyleId>
              </a:tblPr>
              <a:tblGrid>
                <a:gridCol w="1937657"/>
                <a:gridCol w="585268"/>
                <a:gridCol w="585268"/>
                <a:gridCol w="585268"/>
                <a:gridCol w="585268"/>
                <a:gridCol w="585268"/>
                <a:gridCol w="585268"/>
                <a:gridCol w="585268"/>
                <a:gridCol w="585268"/>
                <a:gridCol w="585268"/>
                <a:gridCol w="585268"/>
                <a:gridCol w="585268"/>
                <a:gridCol w="585268"/>
                <a:gridCol w="585268"/>
                <a:gridCol w="585268"/>
                <a:gridCol w="585268"/>
                <a:gridCol w="585268"/>
                <a:gridCol w="585911"/>
              </a:tblGrid>
              <a:tr h="246126">
                <a:tc>
                  <a:txBody>
                    <a:bodyPr wrap="none"/>
                    <a:lstStyle/>
                    <a:p>
                      <a:pPr algn="l"/>
                      <a:r>
                        <a:rPr sz="1100" b="1">
                          <a:solidFill>
                            <a:srgbClr val="0E2A5C"/>
                          </a:solidFill>
                          <a:latin typeface="Calibri"/>
                        </a:rPr>
                        <a:t>Vehicle Capacity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2025A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2027F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2031F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2033F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2035F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247954">
                <a:tc>
                  <a:txBody>
                    <a:bodyPr wrap="none"/>
                    <a:lstStyle/>
                    <a:p>
                      <a:pPr algn="l"/>
                      <a:r>
                        <a:rPr sz="1100" b="1">
                          <a:solidFill>
                            <a:srgbClr val="2E2E2E"/>
                          </a:solidFill>
                          <a:latin typeface="Calibri"/>
                        </a:rPr>
                        <a:t>Compact / Light-Duty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Medium-Duty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Heavy-Duty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Ultra-Heavy-Duty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47954">
                <a:tc>
                  <a:txBody>
                    <a:bodyPr wrap="none"/>
                    <a:lstStyle/>
                    <a:p>
                      <a:pPr algn="l"/>
                      <a:r>
                        <a:rPr sz="1100" b="1">
                          <a:solidFill>
                            <a:srgbClr val="2E2E2E"/>
                          </a:solidFill>
                          <a:latin typeface="Calibri"/>
                        </a:rPr>
                        <a:t>Total</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c>
                  <a:txBody>
                    <a:bodyPr wrap="none"/>
                    <a:lstStyle/>
                    <a:p>
                      <a:pPr algn="ctr"/>
                      <a:r>
                        <a:rPr sz="1100"/>
                        <a:t> </a:t>
                      </a:r>
                      <a:endParaRPr sz="1100"/>
                    </a:p>
                  </a:txBody>
                  <a:tcPr marL="47625" marR="38100" marT="19050" marB="19050" anchor="ctr">
                    <a:solidFill>
                      <a:srgbClr val="EBF2F9"/>
                    </a:solidFill>
                  </a:tcPr>
                </a:tc>
              </a:tr>
            </a:tbl>
          </a:graphicData>
        </a:graphic>
      </p:graphicFrame>
      <p:sp>
        <p:nvSpPr>
          <p:cNvPr id="10" name="TextBox 9"/>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6872674" y="1837563"/>
            <a:ext cx="366712" cy="533400"/>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Propulsion Configuration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Segmental Analysis Propulsion Configuration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Propulsion Configuration: growth contribution, share variance and absolute $ opportunity</a:t>
            </a:r>
          </a:p>
        </p:txBody>
      </p:sp>
      <p:sp>
        <p:nvSpPr>
          <p:cNvPr id="7" name="Rounded Rectangle 6"/>
          <p:cNvSpPr/>
          <p:nvPr/>
        </p:nvSpPr>
        <p:spPr>
          <a:xfrm>
            <a:off x="142875"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Propulsion Configuration (US$ Mn)</a:t>
            </a:r>
          </a:p>
        </p:txBody>
      </p:sp>
      <p:graphicFrame>
        <p:nvGraphicFramePr>
          <p:cNvPr id="9" name="Chart 8"/>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0" name="Rounded Rectangle 9"/>
          <p:cNvSpPr/>
          <p:nvPr/>
        </p:nvSpPr>
        <p:spPr>
          <a:xfrm>
            <a:off x="6172200" y="981075"/>
            <a:ext cx="5876925"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Propulsion Configuration</a:t>
            </a:r>
          </a:p>
        </p:txBody>
      </p:sp>
      <p:graphicFrame>
        <p:nvGraphicFramePr>
          <p:cNvPr id="12" name="Table 11"/>
          <p:cNvGraphicFramePr>
            <a:graphicFrameLocks noGrp="1"/>
          </p:cNvGraphicFramePr>
          <p:nvPr/>
        </p:nvGraphicFramePr>
        <p:xfrm>
          <a:off x="6181725" y="1238250"/>
          <a:ext cx="5857875" cy="2285998"/>
        </p:xfrm>
        <a:graphic>
          <a:graphicData uri="http://schemas.openxmlformats.org/drawingml/2006/table">
            <a:tbl>
              <a:tblPr>
                <a:tableStyleId>{5C22544A-7EE6-4342-B048-85BDC9FD1C3A}</a:tableStyleId>
              </a:tblPr>
              <a:tblGrid>
                <a:gridCol w="2761086"/>
                <a:gridCol w="778522"/>
                <a:gridCol w="778522"/>
                <a:gridCol w="983190"/>
                <a:gridCol w="556555"/>
              </a:tblGrid>
              <a:tr h="246126">
                <a:tc>
                  <a:txBody>
                    <a:bodyPr wrap="none"/>
                    <a:lstStyle/>
                    <a:p>
                      <a:pPr algn="l"/>
                      <a:r>
                        <a:rPr sz="1100" b="1">
                          <a:solidFill>
                            <a:srgbClr val="0E2A5C"/>
                          </a:solidFill>
                          <a:latin typeface="Calibri"/>
                        </a:rPr>
                        <a:t>Propulsion Configuration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2026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Share 2036</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Variance (BPS)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F-CAGR</a:t>
                      </a:r>
                      <a:endParaRPr sz="1100"/>
                    </a:p>
                  </a:txBody>
                  <a:tcPr marL="47625" marR="38100" marT="19050" marB="19050" anchor="ctr">
                    <a:solidFill>
                      <a:srgbClr val="EBF2F9"/>
                    </a:solidFill>
                  </a:tcPr>
                </a:tc>
              </a:tr>
              <a:tr h="509968">
                <a:tc>
                  <a:txBody>
                    <a:bodyPr wrap="none"/>
                    <a:lstStyle/>
                    <a:p>
                      <a:pPr algn="l"/>
                      <a:r>
                        <a:rPr sz="1100" b="1">
                          <a:solidFill>
                            <a:srgbClr val="2E2E2E"/>
                          </a:solidFill>
                          <a:latin typeface="Calibri"/>
                        </a:rPr>
                        <a:t>Wheeled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Tracked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509968">
                <a:tc>
                  <a:txBody>
                    <a:bodyPr wrap="none"/>
                    <a:lstStyle/>
                    <a:p>
                      <a:pPr algn="l"/>
                      <a:r>
                        <a:rPr sz="1100" b="1">
                          <a:solidFill>
                            <a:srgbClr val="2E2E2E"/>
                          </a:solidFill>
                          <a:latin typeface="Calibri"/>
                        </a:rPr>
                        <a:t>Semi-Tracked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509968">
                <a:tc>
                  <a:txBody>
                    <a:bodyPr wrap="none"/>
                    <a:lstStyle/>
                    <a:p>
                      <a:pPr algn="l"/>
                      <a:r>
                        <a:rPr sz="1100" b="1">
                          <a:solidFill>
                            <a:srgbClr val="2E2E2E"/>
                          </a:solidFill>
                          <a:latin typeface="Calibri"/>
                        </a:rPr>
                        <a:t>Other Specialized Propulsion Configurations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3" name="TextBox 12"/>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4" name="Rounded Rectangle 13"/>
          <p:cNvSpPr/>
          <p:nvPr/>
        </p:nvSpPr>
        <p:spPr>
          <a:xfrm>
            <a:off x="142875" y="3867150"/>
            <a:ext cx="11906250" cy="2752725"/>
          </a:xfrm>
          <a:prstGeom prst="roundRect">
            <a:avLst>
              <a:gd name="adj" fmla="val 276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Propulsion Configuration (US$ Mn), between 2026–2036</a:t>
            </a:r>
          </a:p>
        </p:txBody>
      </p:sp>
      <p:graphicFrame>
        <p:nvGraphicFramePr>
          <p:cNvPr id="16" name="Chart 15"/>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6"/>
          <a:stretch>
            <a:fillRect/>
          </a:stretch>
        </p:blipFill>
        <p:spPr>
          <a:xfrm>
            <a:off x="3094826" y="2237234"/>
            <a:ext cx="263506" cy="383281"/>
          </a:xfrm>
          <a:prstGeom prst="rect">
            <a:avLst/>
          </a:prstGeom>
        </p:spPr>
      </p:pic>
      <p:pic>
        <p:nvPicPr>
          <p:cNvPr id="24" name="Picture 23" descr="lock.png"/>
          <p:cNvPicPr>
            <a:picLocks noChangeAspect="1"/>
          </p:cNvPicPr>
          <p:nvPr/>
        </p:nvPicPr>
        <p:blipFill>
          <a:blip r:embed="rId6"/>
          <a:stretch>
            <a:fillRect/>
          </a:stretch>
        </p:blipFill>
        <p:spPr>
          <a:xfrm>
            <a:off x="10309111" y="2244177"/>
            <a:ext cx="357684" cy="520268"/>
          </a:xfrm>
          <a:prstGeom prst="rect">
            <a:avLst/>
          </a:prstGeom>
        </p:spPr>
      </p:pic>
      <p:pic>
        <p:nvPicPr>
          <p:cNvPr id="25" name="Picture 24" descr="lock.png"/>
          <p:cNvPicPr>
            <a:picLocks noChangeAspect="1"/>
          </p:cNvPicPr>
          <p:nvPr/>
        </p:nvPicPr>
        <p:blipFill>
          <a:blip r:embed="rId6"/>
          <a:stretch>
            <a:fillRect/>
          </a:stretch>
        </p:blipFill>
        <p:spPr>
          <a:xfrm>
            <a:off x="5969555" y="5216754"/>
            <a:ext cx="252890" cy="367840"/>
          </a:xfrm>
          <a:prstGeom prst="rect">
            <a:avLst/>
          </a:prstGeom>
        </p:spPr>
      </p:pic>
      <p:sp>
        <p:nvSpPr>
          <p:cNvPr id="27" name="lockshield_9"/>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6"/>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Off-Highway Vehicle Market Tables Propulsion Configuration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Propulsion Configuration, 2021–2036</a:t>
            </a:r>
          </a:p>
        </p:txBody>
      </p:sp>
      <p:sp>
        <p:nvSpPr>
          <p:cNvPr id="7" name="Rounded Rectangle 6"/>
          <p:cNvSpPr/>
          <p:nvPr/>
        </p:nvSpPr>
        <p:spPr>
          <a:xfrm>
            <a:off x="142875" y="9810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Propulsion Configuration (US$ Mn)</a:t>
            </a:r>
          </a:p>
        </p:txBody>
      </p:sp>
      <p:graphicFrame>
        <p:nvGraphicFramePr>
          <p:cNvPr id="9" name="Table 8"/>
          <p:cNvGraphicFramePr>
            <a:graphicFrameLocks noGrp="1"/>
          </p:cNvGraphicFramePr>
          <p:nvPr/>
        </p:nvGraphicFramePr>
        <p:xfrm>
          <a:off x="152400" y="1238250"/>
          <a:ext cx="11889584" cy="1676402"/>
        </p:xfrm>
        <a:graphic>
          <a:graphicData uri="http://schemas.openxmlformats.org/drawingml/2006/table">
            <a:tbl>
              <a:tblPr>
                <a:tableStyleId>{5C22544A-7EE6-4342-B048-85BDC9FD1C3A}</a:tableStyleId>
              </a:tblPr>
              <a:tblGrid>
                <a:gridCol w="2755900"/>
                <a:gridCol w="542118"/>
                <a:gridCol w="542118"/>
                <a:gridCol w="542118"/>
                <a:gridCol w="542118"/>
                <a:gridCol w="542118"/>
                <a:gridCol w="542118"/>
                <a:gridCol w="542118"/>
                <a:gridCol w="542118"/>
                <a:gridCol w="542118"/>
                <a:gridCol w="542118"/>
                <a:gridCol w="542118"/>
                <a:gridCol w="542118"/>
                <a:gridCol w="542118"/>
                <a:gridCol w="542118"/>
                <a:gridCol w="542118"/>
                <a:gridCol w="542118"/>
                <a:gridCol w="459796"/>
              </a:tblGrid>
              <a:tr h="438912">
                <a:tc>
                  <a:txBody>
                    <a:bodyPr wrap="none"/>
                    <a:lstStyle/>
                    <a:p>
                      <a:pPr algn="l"/>
                      <a:r>
                        <a:rPr sz="1100" b="1">
                          <a:solidFill>
                            <a:srgbClr val="0E2A5C"/>
                          </a:solidFill>
                          <a:latin typeface="Calibri"/>
                        </a:rPr>
                        <a:t>Propulsion Configuration</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2021A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2022A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2023A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2024A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2025A</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2026E</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2027F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2028F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2029F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2030F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2031F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2032F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2033F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2034F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2035F</a:t>
                      </a:r>
                      <a:endParaRPr sz="1100"/>
                    </a:p>
                  </a:txBody>
                  <a:tcPr marL="28575" marR="19050" marT="19050" marB="19050" anchor="ctr">
                    <a:solidFill>
                      <a:srgbClr val="EBF2F9"/>
                    </a:solidFill>
                  </a:tcPr>
                </a:tc>
                <a:tc>
                  <a:txBody>
                    <a:bodyPr wrap="none"/>
                    <a:lstStyle/>
                    <a:p>
                      <a:pPr algn="ctr"/>
                      <a:r>
                        <a:rPr sz="1100" b="1">
                          <a:solidFill>
                            <a:srgbClr val="0E2A5C"/>
                          </a:solidFill>
                          <a:latin typeface="Calibri"/>
                        </a:rPr>
                        <a:t>2036F</a:t>
                      </a:r>
                      <a:endParaRPr sz="1100"/>
                    </a:p>
                  </a:txBody>
                  <a:tcPr marL="28575" marR="19050" marT="19050" marB="19050" anchor="ctr">
                    <a:solidFill>
                      <a:srgbClr val="EBF2F9"/>
                    </a:solidFill>
                  </a:tcPr>
                </a:tc>
                <a:tc>
                  <a:txBody>
                    <a:bodyPr wrap="square"/>
                    <a:lstStyle/>
                    <a:p>
                      <a:pPr algn="ctr"/>
                      <a:r>
                        <a:rPr sz="1100" b="1">
                          <a:solidFill>
                            <a:srgbClr val="0E2A5C"/>
                          </a:solidFill>
                          <a:latin typeface="Calibri"/>
                        </a:rPr>
                        <a:t>F-CAGR</a:t>
                      </a:r>
                      <a:endParaRPr sz="1100"/>
                    </a:p>
                  </a:txBody>
                  <a:tcPr marL="28575" marR="19050" marT="19050" marB="19050" anchor="ctr">
                    <a:solidFill>
                      <a:srgbClr val="EBF2F9"/>
                    </a:solidFill>
                  </a:tcPr>
                </a:tc>
              </a:tr>
              <a:tr h="247498">
                <a:tc>
                  <a:txBody>
                    <a:bodyPr wrap="none"/>
                    <a:lstStyle/>
                    <a:p>
                      <a:pPr algn="l"/>
                      <a:r>
                        <a:rPr sz="1100" b="1">
                          <a:solidFill>
                            <a:srgbClr val="2E2E2E"/>
                          </a:solidFill>
                          <a:latin typeface="Calibri"/>
                        </a:rPr>
                        <a:t>Wheeled Vehicles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7498">
                <a:tc>
                  <a:txBody>
                    <a:bodyPr wrap="none"/>
                    <a:lstStyle/>
                    <a:p>
                      <a:pPr algn="l"/>
                      <a:r>
                        <a:rPr sz="1100" b="1">
                          <a:solidFill>
                            <a:srgbClr val="2E2E2E"/>
                          </a:solidFill>
                          <a:latin typeface="Calibri"/>
                        </a:rPr>
                        <a:t>Tracked Vehicles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247498">
                <a:tc>
                  <a:txBody>
                    <a:bodyPr wrap="none"/>
                    <a:lstStyle/>
                    <a:p>
                      <a:pPr algn="l"/>
                      <a:r>
                        <a:rPr sz="1100" b="1">
                          <a:solidFill>
                            <a:srgbClr val="2E2E2E"/>
                          </a:solidFill>
                          <a:latin typeface="Calibri"/>
                        </a:rPr>
                        <a:t>Semi-Tracked Vehicles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7498">
                <a:tc>
                  <a:txBody>
                    <a:bodyPr wrap="none"/>
                    <a:lstStyle/>
                    <a:p>
                      <a:pPr algn="l"/>
                      <a:r>
                        <a:rPr sz="1100" b="1">
                          <a:solidFill>
                            <a:srgbClr val="2E2E2E"/>
                          </a:solidFill>
                          <a:latin typeface="Calibri"/>
                        </a:rPr>
                        <a:t>Other Specialized Propulsion Configurations</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c>
                  <a:txBody>
                    <a:bodyPr wrap="none"/>
                    <a:lstStyle/>
                    <a:p>
                      <a:pPr algn="ctr"/>
                      <a:r>
                        <a:rPr sz="1100"/>
                        <a:t> </a:t>
                      </a:r>
                      <a:endParaRPr sz="1100"/>
                    </a:p>
                  </a:txBody>
                  <a:tcPr marL="28575" marR="19050" marT="19050" marB="19050" anchor="ctr">
                    <a:solidFill>
                      <a:srgbClr val="F5F9FD"/>
                    </a:solidFill>
                  </a:tcPr>
                </a:tc>
              </a:tr>
              <a:tr h="247498">
                <a:tc>
                  <a:txBody>
                    <a:bodyPr wrap="none"/>
                    <a:lstStyle/>
                    <a:p>
                      <a:pPr algn="l"/>
                      <a:r>
                        <a:rPr sz="1100" b="1">
                          <a:solidFill>
                            <a:srgbClr val="2E2E2E"/>
                          </a:solidFill>
                          <a:latin typeface="Calibri"/>
                        </a:rPr>
                        <a:t>Total</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c>
                  <a:txBody>
                    <a:bodyPr wrap="none"/>
                    <a:lstStyle/>
                    <a:p>
                      <a:pPr algn="ctr"/>
                      <a:r>
                        <a:rPr sz="1100"/>
                        <a:t> </a:t>
                      </a:r>
                      <a:endParaRPr sz="1100"/>
                    </a:p>
                  </a:txBody>
                  <a:tcPr marL="28575" marR="19050" marT="19050" marB="19050" anchor="ctr">
                    <a:solidFill>
                      <a:srgbClr val="EBF2F9"/>
                    </a:solidFill>
                  </a:tcPr>
                </a:tc>
              </a:tr>
            </a:tbl>
          </a:graphicData>
        </a:graphic>
      </p:graphicFrame>
      <p:sp>
        <p:nvSpPr>
          <p:cNvPr id="10" name="TextBox 9"/>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3" name="Picture 12" descr="lock.png"/>
          <p:cNvPicPr>
            <a:picLocks noChangeAspect="1"/>
          </p:cNvPicPr>
          <p:nvPr/>
        </p:nvPicPr>
        <p:blipFill>
          <a:blip r:embed="rId4"/>
          <a:stretch>
            <a:fillRect/>
          </a:stretch>
        </p:blipFill>
        <p:spPr>
          <a:xfrm>
            <a:off x="7263419" y="2029206"/>
            <a:ext cx="366712" cy="533400"/>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Product Pricing &amp; Regional Price Index Trends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8" name="Rounded Rectangle 7"/>
          <p:cNvSpPr/>
          <p:nvPr/>
        </p:nvSpPr>
        <p:spPr>
          <a:xfrm>
            <a:off x="142875" y="1317574"/>
            <a:ext cx="7696200"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0" name="TextBox 9"/>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2969.4</a:t>
            </a:r>
          </a:p>
        </p:txBody>
      </p:sp>
      <p:sp>
        <p:nvSpPr>
          <p:cNvPr id="11" name="TextBox 10"/>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3930.0</a:t>
            </a:r>
          </a:p>
        </p:txBody>
      </p:sp>
      <p:sp>
        <p:nvSpPr>
          <p:cNvPr id="12" name="TextBox 11"/>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4890.6</a:t>
            </a:r>
          </a:p>
        </p:txBody>
      </p:sp>
      <p:cxnSp>
        <p:nvCxnSpPr>
          <p:cNvPr id="13" name="Connector 12"/>
          <p:cNvCxnSpPr/>
          <p:nvPr/>
        </p:nvCxnSpPr>
        <p:spPr>
          <a:xfrm>
            <a:off x="1358265" y="2237756"/>
            <a:ext cx="0" cy="33015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139190" y="2237756"/>
            <a:ext cx="438150" cy="330155"/>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7225" y="208535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16" name="TextBox 15"/>
          <p:cNvSpPr txBox="1"/>
          <p:nvPr/>
        </p:nvSpPr>
        <p:spPr>
          <a:xfrm>
            <a:off x="65722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Construction and Mini…</a:t>
            </a:r>
          </a:p>
        </p:txBody>
      </p:sp>
      <p:cxnSp>
        <p:nvCxnSpPr>
          <p:cNvPr id="17" name="Connector 16"/>
          <p:cNvCxnSpPr/>
          <p:nvPr/>
        </p:nvCxnSpPr>
        <p:spPr>
          <a:xfrm>
            <a:off x="2760345" y="1998120"/>
            <a:ext cx="0" cy="377914"/>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541270" y="1998120"/>
            <a:ext cx="438150" cy="37791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59305" y="1845720"/>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0" name="TextBox 19"/>
          <p:cNvSpPr txBox="1"/>
          <p:nvPr/>
        </p:nvSpPr>
        <p:spPr>
          <a:xfrm>
            <a:off x="205930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Agriculture and Fores…</a:t>
            </a:r>
          </a:p>
        </p:txBody>
      </p:sp>
      <p:cxnSp>
        <p:nvCxnSpPr>
          <p:cNvPr id="21" name="Connector 20"/>
          <p:cNvCxnSpPr/>
          <p:nvPr/>
        </p:nvCxnSpPr>
        <p:spPr>
          <a:xfrm>
            <a:off x="4162425" y="1927636"/>
            <a:ext cx="0" cy="355471"/>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943350" y="1927636"/>
            <a:ext cx="438150" cy="35547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61385" y="1775236"/>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4" name="TextBox 23"/>
          <p:cNvSpPr txBox="1"/>
          <p:nvPr/>
        </p:nvSpPr>
        <p:spPr>
          <a:xfrm>
            <a:off x="346138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Industrial and Port V…</a:t>
            </a:r>
          </a:p>
        </p:txBody>
      </p:sp>
      <p:cxnSp>
        <p:nvCxnSpPr>
          <p:cNvPr id="25" name="Connector 24"/>
          <p:cNvCxnSpPr/>
          <p:nvPr/>
        </p:nvCxnSpPr>
        <p:spPr>
          <a:xfrm>
            <a:off x="5564505" y="3033372"/>
            <a:ext cx="0" cy="29434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345430" y="3033372"/>
            <a:ext cx="438150" cy="294343"/>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63465" y="2880972"/>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28" name="TextBox 27"/>
          <p:cNvSpPr txBox="1"/>
          <p:nvPr/>
        </p:nvSpPr>
        <p:spPr>
          <a:xfrm>
            <a:off x="486346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Recreational and Powe…</a:t>
            </a:r>
          </a:p>
        </p:txBody>
      </p:sp>
      <p:cxnSp>
        <p:nvCxnSpPr>
          <p:cNvPr id="29" name="Connector 28"/>
          <p:cNvCxnSpPr/>
          <p:nvPr/>
        </p:nvCxnSpPr>
        <p:spPr>
          <a:xfrm>
            <a:off x="6966585" y="2109292"/>
            <a:ext cx="0" cy="17649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747510" y="2109292"/>
            <a:ext cx="438150" cy="17649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5545" y="1956892"/>
            <a:ext cx="1402080" cy="133350"/>
          </a:xfrm>
          <a:prstGeom prst="rect">
            <a:avLst/>
          </a:prstGeom>
          <a:noFill/>
        </p:spPr>
        <p:txBody>
          <a:bodyPr wrap="square" lIns="28575" rIns="28575" tIns="9525" bIns="9525">
            <a:spAutoFit/>
          </a:bodyPr>
          <a:lstStyle/>
          <a:p>
            <a:pPr algn="ctr"/>
            <a:r>
              <a:rPr sz="1100" b="1">
                <a:solidFill>
                  <a:srgbClr val="0E2A5C"/>
                </a:solidFill>
                <a:latin typeface="Calibri"/>
              </a:rPr>
              <a:t> </a:t>
            </a:r>
          </a:p>
        </p:txBody>
      </p:sp>
      <p:sp>
        <p:nvSpPr>
          <p:cNvPr id="32" name="TextBox 31"/>
          <p:cNvSpPr txBox="1"/>
          <p:nvPr/>
        </p:nvSpPr>
        <p:spPr>
          <a:xfrm>
            <a:off x="6265545" y="3566301"/>
            <a:ext cx="1402080" cy="285750"/>
          </a:xfrm>
          <a:prstGeom prst="rect">
            <a:avLst/>
          </a:prstGeom>
          <a:noFill/>
        </p:spPr>
        <p:txBody>
          <a:bodyPr wrap="square" lIns="28575" rIns="28575" tIns="9525" bIns="9525">
            <a:spAutoFit/>
          </a:bodyPr>
          <a:lstStyle/>
          <a:p>
            <a:pPr algn="ctr"/>
            <a:r>
              <a:rPr sz="1100" b="0">
                <a:solidFill>
                  <a:srgbClr val="2E2E2E"/>
                </a:solidFill>
                <a:latin typeface="Calibri"/>
              </a:rPr>
              <a:t>Military Vehicles</a:t>
            </a:r>
          </a:p>
        </p:txBody>
      </p:sp>
      <p:sp>
        <p:nvSpPr>
          <p:cNvPr id="33" name="Rounded Rectangle 32"/>
          <p:cNvSpPr/>
          <p:nvPr/>
        </p:nvSpPr>
        <p:spPr>
          <a:xfrm>
            <a:off x="142875" y="3991741"/>
            <a:ext cx="7696200" cy="2564645"/>
          </a:xfrm>
          <a:prstGeom prst="roundRect">
            <a:avLst>
              <a:gd name="adj" fmla="val 29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35" name="Connector 34"/>
          <p:cNvCxnSpPr/>
          <p:nvPr/>
        </p:nvCxnSpPr>
        <p:spPr>
          <a:xfrm>
            <a:off x="619125" y="451848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9125" y="488389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9125" y="561470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19125" y="598011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9125" y="4518482"/>
            <a:ext cx="0" cy="146163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90550" y="4518482"/>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0550" y="488389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90550" y="561470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90550" y="5980114"/>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46" name="TMR Scale tick"/>
          <p:cNvSpPr txBox="1"/>
          <p:nvPr/>
        </p:nvSpPr>
        <p:spPr>
          <a:xfrm>
            <a:off x="219075" y="4451807"/>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sp>
        <p:nvSpPr>
          <p:cNvPr id="47" name="TMR Scale tick"/>
          <p:cNvSpPr txBox="1"/>
          <p:nvPr/>
        </p:nvSpPr>
        <p:spPr>
          <a:xfrm>
            <a:off x="219075" y="4817215"/>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48" name="TMR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9" name="TMR Scale tick"/>
          <p:cNvSpPr txBox="1"/>
          <p:nvPr/>
        </p:nvSpPr>
        <p:spPr>
          <a:xfrm>
            <a:off x="219075" y="5548031"/>
            <a:ext cx="361950" cy="133350"/>
          </a:xfrm>
          <a:prstGeom prst="rect">
            <a:avLst/>
          </a:prstGeom>
          <a:noFill/>
        </p:spPr>
        <p:txBody>
          <a:bodyPr wrap="none" lIns="0" rIns="0" tIns="0" bIns="0" anchor="ctr">
            <a:spAutoFit/>
          </a:bodyPr>
          <a:lstStyle/>
          <a:p>
            <a:pPr algn="r"/>
            <a:r>
              <a:rPr sz="1100" b="0">
                <a:solidFill>
                  <a:srgbClr val="6C7A89"/>
                </a:solidFill>
                <a:latin typeface="Calibri"/>
              </a:rPr>
              <a:t>-6%</a:t>
            </a:r>
          </a:p>
        </p:txBody>
      </p:sp>
      <p:sp>
        <p:nvSpPr>
          <p:cNvPr id="50" name="TMR Scale tick"/>
          <p:cNvSpPr txBox="1"/>
          <p:nvPr/>
        </p:nvSpPr>
        <p:spPr>
          <a:xfrm>
            <a:off x="219075" y="5913439"/>
            <a:ext cx="361950" cy="133350"/>
          </a:xfrm>
          <a:prstGeom prst="rect">
            <a:avLst/>
          </a:prstGeom>
          <a:noFill/>
        </p:spPr>
        <p:txBody>
          <a:bodyPr wrap="none" lIns="0" rIns="0" tIns="0" bIns="0" anchor="ctr">
            <a:spAutoFit/>
          </a:bodyPr>
          <a:lstStyle/>
          <a:p>
            <a:pPr algn="r"/>
            <a:r>
              <a:rPr sz="1100" b="0">
                <a:solidFill>
                  <a:srgbClr val="6C7A89"/>
                </a:solidFill>
                <a:latin typeface="Calibri"/>
              </a:rPr>
              <a:t>-13%</a:t>
            </a:r>
          </a:p>
        </p:txBody>
      </p:sp>
      <p:cxnSp>
        <p:nvCxnSpPr>
          <p:cNvPr id="51" name="Connector 50"/>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93989"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MR Data Label"/>
          <p:cNvSpPr txBox="1"/>
          <p:nvPr/>
        </p:nvSpPr>
        <p:spPr>
          <a:xfrm>
            <a:off x="619125" y="4471232"/>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4" name="Rectangle 53"/>
          <p:cNvSpPr/>
          <p:nvPr/>
        </p:nvSpPr>
        <p:spPr>
          <a:xfrm>
            <a:off x="1900918" y="5105128"/>
            <a:ext cx="457200" cy="14417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MR Data Label"/>
          <p:cNvSpPr txBox="1"/>
          <p:nvPr/>
        </p:nvSpPr>
        <p:spPr>
          <a:xfrm>
            <a:off x="1626054" y="496225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6" name="Rectangle 55"/>
          <p:cNvSpPr/>
          <p:nvPr/>
        </p:nvSpPr>
        <p:spPr>
          <a:xfrm>
            <a:off x="2907846" y="4710861"/>
            <a:ext cx="457200" cy="53843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MR Data Label"/>
          <p:cNvSpPr txBox="1"/>
          <p:nvPr/>
        </p:nvSpPr>
        <p:spPr>
          <a:xfrm>
            <a:off x="2632982" y="4567986"/>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8" name="Rectangle 57"/>
          <p:cNvSpPr/>
          <p:nvPr/>
        </p:nvSpPr>
        <p:spPr>
          <a:xfrm>
            <a:off x="3914775" y="4816968"/>
            <a:ext cx="457200" cy="43233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MR Data Label"/>
          <p:cNvSpPr txBox="1"/>
          <p:nvPr/>
        </p:nvSpPr>
        <p:spPr>
          <a:xfrm>
            <a:off x="3639911" y="4674093"/>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0" name="Rectangle 59"/>
          <p:cNvSpPr/>
          <p:nvPr/>
        </p:nvSpPr>
        <p:spPr>
          <a:xfrm>
            <a:off x="4921704" y="5249298"/>
            <a:ext cx="457200" cy="24356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MR Data Label"/>
          <p:cNvSpPr txBox="1"/>
          <p:nvPr/>
        </p:nvSpPr>
        <p:spPr>
          <a:xfrm>
            <a:off x="4646839" y="5502386"/>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2" name="Rectangle 61"/>
          <p:cNvSpPr/>
          <p:nvPr/>
        </p:nvSpPr>
        <p:spPr>
          <a:xfrm>
            <a:off x="5928632" y="5249298"/>
            <a:ext cx="457200" cy="30700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MR Data Label"/>
          <p:cNvSpPr txBox="1"/>
          <p:nvPr/>
        </p:nvSpPr>
        <p:spPr>
          <a:xfrm>
            <a:off x="5653768" y="5565831"/>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4" name="TMR Data Label"/>
          <p:cNvSpPr txBox="1"/>
          <p:nvPr/>
        </p:nvSpPr>
        <p:spPr>
          <a:xfrm>
            <a:off x="6660696" y="5097809"/>
            <a:ext cx="1006929"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TextBox 64"/>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66" name="TextBox 65"/>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67" name="TextBox 66"/>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Western Europe</a:t>
            </a:r>
          </a:p>
        </p:txBody>
      </p:sp>
      <p:sp>
        <p:nvSpPr>
          <p:cNvPr id="68" name="TextBox 67"/>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Eastern Europe</a:t>
            </a:r>
          </a:p>
        </p:txBody>
      </p:sp>
      <p:sp>
        <p:nvSpPr>
          <p:cNvPr id="69" name="TextBox 68"/>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0" name="TextBox 69"/>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71" name="TextBox 70"/>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72" name="Rounded Rectangle 71"/>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74" name="Rectangle 73"/>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76" name="Rectangle 7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8" name="Picture 77" descr="lock.png"/>
          <p:cNvPicPr>
            <a:picLocks noChangeAspect="1"/>
          </p:cNvPicPr>
          <p:nvPr/>
        </p:nvPicPr>
        <p:blipFill>
          <a:blip r:embed="rId4"/>
          <a:stretch>
            <a:fillRect/>
          </a:stretch>
        </p:blipFill>
        <p:spPr>
          <a:xfrm>
            <a:off x="1293915" y="2058432"/>
            <a:ext cx="128699" cy="187198"/>
          </a:xfrm>
          <a:prstGeom prst="rect">
            <a:avLst/>
          </a:prstGeom>
        </p:spPr>
      </p:pic>
      <p:pic>
        <p:nvPicPr>
          <p:cNvPr id="79" name="Picture 78" descr="lock.png"/>
          <p:cNvPicPr>
            <a:picLocks noChangeAspect="1"/>
          </p:cNvPicPr>
          <p:nvPr/>
        </p:nvPicPr>
        <p:blipFill>
          <a:blip r:embed="rId4"/>
          <a:stretch>
            <a:fillRect/>
          </a:stretch>
        </p:blipFill>
        <p:spPr>
          <a:xfrm>
            <a:off x="2695995" y="1818796"/>
            <a:ext cx="128699" cy="187198"/>
          </a:xfrm>
          <a:prstGeom prst="rect">
            <a:avLst/>
          </a:prstGeom>
        </p:spPr>
      </p:pic>
      <p:pic>
        <p:nvPicPr>
          <p:cNvPr id="80" name="Picture 79" descr="lock.png"/>
          <p:cNvPicPr>
            <a:picLocks noChangeAspect="1"/>
          </p:cNvPicPr>
          <p:nvPr/>
        </p:nvPicPr>
        <p:blipFill>
          <a:blip r:embed="rId4"/>
          <a:stretch>
            <a:fillRect/>
          </a:stretch>
        </p:blipFill>
        <p:spPr>
          <a:xfrm>
            <a:off x="4098075" y="1748312"/>
            <a:ext cx="128699" cy="187198"/>
          </a:xfrm>
          <a:prstGeom prst="rect">
            <a:avLst/>
          </a:prstGeom>
        </p:spPr>
      </p:pic>
      <p:pic>
        <p:nvPicPr>
          <p:cNvPr id="81" name="Picture 80" descr="lock.png"/>
          <p:cNvPicPr>
            <a:picLocks noChangeAspect="1"/>
          </p:cNvPicPr>
          <p:nvPr/>
        </p:nvPicPr>
        <p:blipFill>
          <a:blip r:embed="rId4"/>
          <a:stretch>
            <a:fillRect/>
          </a:stretch>
        </p:blipFill>
        <p:spPr>
          <a:xfrm>
            <a:off x="5500155" y="2854048"/>
            <a:ext cx="128699" cy="187198"/>
          </a:xfrm>
          <a:prstGeom prst="rect">
            <a:avLst/>
          </a:prstGeom>
        </p:spPr>
      </p:pic>
      <p:pic>
        <p:nvPicPr>
          <p:cNvPr id="82" name="Picture 81" descr="lock.png"/>
          <p:cNvPicPr>
            <a:picLocks noChangeAspect="1"/>
          </p:cNvPicPr>
          <p:nvPr/>
        </p:nvPicPr>
        <p:blipFill>
          <a:blip r:embed="rId4"/>
          <a:stretch>
            <a:fillRect/>
          </a:stretch>
        </p:blipFill>
        <p:spPr>
          <a:xfrm>
            <a:off x="6902235" y="1929968"/>
            <a:ext cx="128699" cy="187198"/>
          </a:xfrm>
          <a:prstGeom prst="rect">
            <a:avLst/>
          </a:prstGeom>
        </p:spPr>
      </p:pic>
      <p:pic>
        <p:nvPicPr>
          <p:cNvPr id="83" name="Picture 82" descr="lock.png"/>
          <p:cNvPicPr>
            <a:picLocks noChangeAspect="1"/>
          </p:cNvPicPr>
          <p:nvPr/>
        </p:nvPicPr>
        <p:blipFill>
          <a:blip r:embed="rId4"/>
          <a:stretch>
            <a:fillRect/>
          </a:stretch>
        </p:blipFill>
        <p:spPr>
          <a:xfrm>
            <a:off x="1058240" y="4444308"/>
            <a:ext cx="128699" cy="187198"/>
          </a:xfrm>
          <a:prstGeom prst="rect">
            <a:avLst/>
          </a:prstGeom>
        </p:spPr>
      </p:pic>
      <p:pic>
        <p:nvPicPr>
          <p:cNvPr id="84" name="Picture 83" descr="lock.png"/>
          <p:cNvPicPr>
            <a:picLocks noChangeAspect="1"/>
          </p:cNvPicPr>
          <p:nvPr/>
        </p:nvPicPr>
        <p:blipFill>
          <a:blip r:embed="rId4"/>
          <a:stretch>
            <a:fillRect/>
          </a:stretch>
        </p:blipFill>
        <p:spPr>
          <a:xfrm>
            <a:off x="2065168" y="4935328"/>
            <a:ext cx="128699" cy="187198"/>
          </a:xfrm>
          <a:prstGeom prst="rect">
            <a:avLst/>
          </a:prstGeom>
        </p:spPr>
      </p:pic>
      <p:pic>
        <p:nvPicPr>
          <p:cNvPr id="85" name="Picture 84" descr="lock.png"/>
          <p:cNvPicPr>
            <a:picLocks noChangeAspect="1"/>
          </p:cNvPicPr>
          <p:nvPr/>
        </p:nvPicPr>
        <p:blipFill>
          <a:blip r:embed="rId4"/>
          <a:stretch>
            <a:fillRect/>
          </a:stretch>
        </p:blipFill>
        <p:spPr>
          <a:xfrm>
            <a:off x="3072097" y="4541062"/>
            <a:ext cx="128699" cy="187198"/>
          </a:xfrm>
          <a:prstGeom prst="rect">
            <a:avLst/>
          </a:prstGeom>
        </p:spPr>
      </p:pic>
      <p:pic>
        <p:nvPicPr>
          <p:cNvPr id="86" name="Picture 85" descr="lock.png"/>
          <p:cNvPicPr>
            <a:picLocks noChangeAspect="1"/>
          </p:cNvPicPr>
          <p:nvPr/>
        </p:nvPicPr>
        <p:blipFill>
          <a:blip r:embed="rId4"/>
          <a:stretch>
            <a:fillRect/>
          </a:stretch>
        </p:blipFill>
        <p:spPr>
          <a:xfrm>
            <a:off x="4079026" y="4647169"/>
            <a:ext cx="128699" cy="187198"/>
          </a:xfrm>
          <a:prstGeom prst="rect">
            <a:avLst/>
          </a:prstGeom>
        </p:spPr>
      </p:pic>
      <p:pic>
        <p:nvPicPr>
          <p:cNvPr id="87" name="Picture 86" descr="lock.png"/>
          <p:cNvPicPr>
            <a:picLocks noChangeAspect="1"/>
          </p:cNvPicPr>
          <p:nvPr/>
        </p:nvPicPr>
        <p:blipFill>
          <a:blip r:embed="rId4"/>
          <a:stretch>
            <a:fillRect/>
          </a:stretch>
        </p:blipFill>
        <p:spPr>
          <a:xfrm>
            <a:off x="5085954" y="5475462"/>
            <a:ext cx="128699" cy="187198"/>
          </a:xfrm>
          <a:prstGeom prst="rect">
            <a:avLst/>
          </a:prstGeom>
        </p:spPr>
      </p:pic>
      <p:pic>
        <p:nvPicPr>
          <p:cNvPr id="88" name="Picture 87" descr="lock.png"/>
          <p:cNvPicPr>
            <a:picLocks noChangeAspect="1"/>
          </p:cNvPicPr>
          <p:nvPr/>
        </p:nvPicPr>
        <p:blipFill>
          <a:blip r:embed="rId4"/>
          <a:stretch>
            <a:fillRect/>
          </a:stretch>
        </p:blipFill>
        <p:spPr>
          <a:xfrm>
            <a:off x="6092883" y="5538907"/>
            <a:ext cx="128699" cy="187198"/>
          </a:xfrm>
          <a:prstGeom prst="rect">
            <a:avLst/>
          </a:prstGeom>
        </p:spPr>
      </p:pic>
      <p:pic>
        <p:nvPicPr>
          <p:cNvPr id="89" name="Picture 88" descr="lock.png"/>
          <p:cNvPicPr>
            <a:picLocks noChangeAspect="1"/>
          </p:cNvPicPr>
          <p:nvPr/>
        </p:nvPicPr>
        <p:blipFill>
          <a:blip r:embed="rId4"/>
          <a:stretch>
            <a:fillRect/>
          </a:stretch>
        </p:blipFill>
        <p:spPr>
          <a:xfrm>
            <a:off x="7099811" y="5070885"/>
            <a:ext cx="128699" cy="187198"/>
          </a:xfrm>
          <a:prstGeom prst="rect">
            <a:avLst/>
          </a:prstGeom>
        </p:spPr>
      </p:pic>
      <p:sp>
        <p:nvSpPr>
          <p:cNvPr id="90" name="TextBox 89"/>
          <p:cNvSpPr txBox="1"/>
          <p:nvPr/>
        </p:nvSpPr>
        <p:spPr>
          <a:xfrm>
            <a:off x="8048625" y="1736673"/>
            <a:ext cx="3602508"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vehicle type</a:t>
            </a:r>
          </a:p>
        </p:txBody>
      </p:sp>
      <p:sp>
        <p:nvSpPr>
          <p:cNvPr id="91" name="TextBox 90"/>
          <p:cNvSpPr txBox="1"/>
          <p:nvPr/>
        </p:nvSpPr>
        <p:spPr>
          <a:xfrm>
            <a:off x="8048625" y="1911934"/>
            <a:ext cx="3848100" cy="194310"/>
          </a:xfrm>
          <a:prstGeom prst="rect">
            <a:avLst/>
          </a:prstGeom>
          <a:noFill/>
        </p:spPr>
        <p:txBody>
          <a:bodyPr wrap="none" lIns="0" rIns="0" tIns="0" bIns="0">
            <a:spAutoFit/>
          </a:bodyPr>
          <a:lstStyle/>
          <a:p>
            <a:r>
              <a:rPr sz="1150" b="0">
                <a:solidFill>
                  <a:srgbClr val="2E2E2E"/>
                </a:solidFill>
                <a:latin typeface="Calibri"/>
              </a:rPr>
              <a:t>types in USD, harmonised across regions. Each candlestick spans</a:t>
            </a:r>
          </a:p>
        </p:txBody>
      </p:sp>
      <p:sp>
        <p:nvSpPr>
          <p:cNvPr id="92" name="TextBox 91"/>
          <p:cNvSpPr txBox="1"/>
          <p:nvPr/>
        </p:nvSpPr>
        <p:spPr>
          <a:xfrm>
            <a:off x="8048625" y="2087194"/>
            <a:ext cx="3848100" cy="194310"/>
          </a:xfrm>
          <a:prstGeom prst="rect">
            <a:avLst/>
          </a:prstGeom>
          <a:noFill/>
        </p:spPr>
        <p:txBody>
          <a:bodyPr wrap="none" lIns="0" rIns="0" tIns="0" bIns="0">
            <a:spAutoFit/>
          </a:bodyPr>
          <a:lstStyle/>
          <a:p>
            <a:r>
              <a:rPr sz="1150" b="0">
                <a:solidFill>
                  <a:srgbClr val="2E2E2E"/>
                </a:solidFill>
                <a:latin typeface="Calibri"/>
              </a:rPr>
              <a:t>the minimum-to-maximum observed price within the base year,</a:t>
            </a:r>
          </a:p>
        </p:txBody>
      </p:sp>
      <p:sp>
        <p:nvSpPr>
          <p:cNvPr id="93" name="TextBox 92"/>
          <p:cNvSpPr txBox="1"/>
          <p:nvPr/>
        </p:nvSpPr>
        <p:spPr>
          <a:xfrm>
            <a:off x="8048625" y="2262454"/>
            <a:ext cx="3406254" cy="194310"/>
          </a:xfrm>
          <a:prstGeom prst="rect">
            <a:avLst/>
          </a:prstGeom>
          <a:noFill/>
        </p:spPr>
        <p:txBody>
          <a:bodyPr wrap="none" lIns="0" rIns="0" tIns="0" bIns="0">
            <a:spAutoFit/>
          </a:bodyPr>
          <a:lstStyle/>
          <a:p>
            <a:r>
              <a:rPr sz="1150" b="0">
                <a:solidFill>
                  <a:srgbClr val="2E2E2E"/>
                </a:solidFill>
                <a:latin typeface="Calibri"/>
              </a:rPr>
              <a:t>giving a clear read of price range and market dispersion.</a:t>
            </a:r>
          </a:p>
        </p:txBody>
      </p:sp>
      <p:sp>
        <p:nvSpPr>
          <p:cNvPr id="94" name="TextBox 93"/>
          <p:cNvSpPr txBox="1"/>
          <p:nvPr/>
        </p:nvSpPr>
        <p:spPr>
          <a:xfrm>
            <a:off x="8048625" y="2490292"/>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95" name="TextBox 94"/>
          <p:cNvSpPr txBox="1"/>
          <p:nvPr/>
        </p:nvSpPr>
        <p:spPr>
          <a:xfrm>
            <a:off x="8048625" y="2665551"/>
            <a:ext cx="3786212" cy="194310"/>
          </a:xfrm>
          <a:prstGeom prst="rect">
            <a:avLst/>
          </a:prstGeom>
          <a:noFill/>
        </p:spPr>
        <p:txBody>
          <a:bodyPr wrap="none" lIns="0" rIns="0" tIns="0" bIns="0">
            <a:spAutoFit/>
          </a:bodyPr>
          <a:lstStyle/>
          <a:p>
            <a:r>
              <a:rPr sz="1150" b="0">
                <a:solidFill>
                  <a:srgbClr val="2E2E2E"/>
                </a:solidFill>
                <a:latin typeface="Calibri"/>
              </a:rPr>
              <a:t>price levels 'Recreational and Powersports Vehicles' shows the</a:t>
            </a:r>
          </a:p>
        </p:txBody>
      </p:sp>
      <p:sp>
        <p:nvSpPr>
          <p:cNvPr id="96" name="TextBox 95"/>
          <p:cNvSpPr txBox="1"/>
          <p:nvPr/>
        </p:nvSpPr>
        <p:spPr>
          <a:xfrm>
            <a:off x="8048625" y="2840811"/>
            <a:ext cx="1206661" cy="194310"/>
          </a:xfrm>
          <a:prstGeom prst="rect">
            <a:avLst/>
          </a:prstGeom>
          <a:noFill/>
        </p:spPr>
        <p:txBody>
          <a:bodyPr wrap="none" lIns="0" rIns="0" tIns="0" bIns="0">
            <a:spAutoFit/>
          </a:bodyPr>
          <a:lstStyle/>
          <a:p>
            <a:r>
              <a:rPr sz="1150" b="0">
                <a:solidFill>
                  <a:srgbClr val="2E2E2E"/>
                </a:solidFill>
                <a:latin typeface="Calibri"/>
              </a:rPr>
              <a:t>most movement (+</a:t>
            </a:r>
          </a:p>
        </p:txBody>
      </p:sp>
      <p:pic>
        <p:nvPicPr>
          <p:cNvPr id="97" name="Picture 96" descr="lock.png"/>
          <p:cNvPicPr>
            <a:picLocks noChangeAspect="1"/>
          </p:cNvPicPr>
          <p:nvPr/>
        </p:nvPicPr>
        <p:blipFill>
          <a:blip r:embed="rId4"/>
          <a:stretch>
            <a:fillRect/>
          </a:stretch>
        </p:blipFill>
        <p:spPr>
          <a:xfrm>
            <a:off x="9204440" y="2830588"/>
            <a:ext cx="134549" cy="195707"/>
          </a:xfrm>
          <a:prstGeom prst="rect">
            <a:avLst/>
          </a:prstGeom>
        </p:spPr>
      </p:pic>
      <p:sp>
        <p:nvSpPr>
          <p:cNvPr id="98" name="TextBox 97"/>
          <p:cNvSpPr txBox="1"/>
          <p:nvPr/>
        </p:nvSpPr>
        <p:spPr>
          <a:xfrm>
            <a:off x="9379549" y="2840811"/>
            <a:ext cx="2158268" cy="194310"/>
          </a:xfrm>
          <a:prstGeom prst="rect">
            <a:avLst/>
          </a:prstGeom>
          <a:noFill/>
        </p:spPr>
        <p:txBody>
          <a:bodyPr wrap="none" lIns="0" rIns="0" tIns="0" bIns="0">
            <a:spAutoFit/>
          </a:bodyPr>
          <a:lstStyle/>
          <a:p>
            <a:r>
              <a:rPr sz="1150" b="0">
                <a:solidFill>
                  <a:srgbClr val="2E2E2E"/>
                </a:solidFill>
                <a:latin typeface="Calibri"/>
              </a:rPr>
              <a:t>) and 'Military Vehicles' the least (+</a:t>
            </a:r>
          </a:p>
        </p:txBody>
      </p:sp>
      <p:pic>
        <p:nvPicPr>
          <p:cNvPr id="99" name="Picture 98" descr="lock.png"/>
          <p:cNvPicPr>
            <a:picLocks noChangeAspect="1"/>
          </p:cNvPicPr>
          <p:nvPr/>
        </p:nvPicPr>
        <p:blipFill>
          <a:blip r:embed="rId4"/>
          <a:stretch>
            <a:fillRect/>
          </a:stretch>
        </p:blipFill>
        <p:spPr>
          <a:xfrm>
            <a:off x="11486971" y="2830588"/>
            <a:ext cx="134549" cy="195707"/>
          </a:xfrm>
          <a:prstGeom prst="rect">
            <a:avLst/>
          </a:prstGeom>
        </p:spPr>
      </p:pic>
      <p:sp>
        <p:nvSpPr>
          <p:cNvPr id="100" name="TextBox 99"/>
          <p:cNvSpPr txBox="1"/>
          <p:nvPr/>
        </p:nvSpPr>
        <p:spPr>
          <a:xfrm>
            <a:off x="11662080" y="2840811"/>
            <a:ext cx="120414" cy="194310"/>
          </a:xfrm>
          <a:prstGeom prst="rect">
            <a:avLst/>
          </a:prstGeom>
          <a:noFill/>
        </p:spPr>
        <p:txBody>
          <a:bodyPr wrap="none" lIns="0" rIns="0" tIns="0" bIns="0">
            <a:spAutoFit/>
          </a:bodyPr>
          <a:lstStyle/>
          <a:p>
            <a:r>
              <a:rPr sz="1150" b="0">
                <a:solidFill>
                  <a:srgbClr val="2E2E2E"/>
                </a:solidFill>
                <a:latin typeface="Calibri"/>
              </a:rPr>
              <a:t>)</a:t>
            </a:r>
          </a:p>
        </p:txBody>
      </p:sp>
      <p:sp>
        <p:nvSpPr>
          <p:cNvPr id="101" name="TextBox 100"/>
          <p:cNvSpPr txBox="1"/>
          <p:nvPr/>
        </p:nvSpPr>
        <p:spPr>
          <a:xfrm>
            <a:off x="8048625" y="3016071"/>
            <a:ext cx="3307841" cy="194310"/>
          </a:xfrm>
          <a:prstGeom prst="rect">
            <a:avLst/>
          </a:prstGeom>
          <a:noFill/>
        </p:spPr>
        <p:txBody>
          <a:bodyPr wrap="none" lIns="0" rIns="0" tIns="0" bIns="0">
            <a:spAutoFit/>
          </a:bodyPr>
          <a:lstStyle/>
          <a:p>
            <a:r>
              <a:rPr sz="1150" b="0">
                <a:solidFill>
                  <a:srgbClr val="2E2E2E"/>
                </a:solidFill>
                <a:latin typeface="Calibri"/>
              </a:rPr>
              <a:t>variability stakeholders should monitor when planning</a:t>
            </a:r>
          </a:p>
        </p:txBody>
      </p:sp>
      <p:sp>
        <p:nvSpPr>
          <p:cNvPr id="102" name="TextBox 101"/>
          <p:cNvSpPr txBox="1"/>
          <p:nvPr/>
        </p:nvSpPr>
        <p:spPr>
          <a:xfrm>
            <a:off x="8048625" y="3191331"/>
            <a:ext cx="1492200" cy="194310"/>
          </a:xfrm>
          <a:prstGeom prst="rect">
            <a:avLst/>
          </a:prstGeom>
          <a:noFill/>
        </p:spPr>
        <p:txBody>
          <a:bodyPr wrap="none" lIns="0" rIns="0" tIns="0" bIns="0">
            <a:spAutoFit/>
          </a:bodyPr>
          <a:lstStyle/>
          <a:p>
            <a:r>
              <a:rPr sz="1150" b="0">
                <a:solidFill>
                  <a:srgbClr val="2E2E2E"/>
                </a:solidFill>
                <a:latin typeface="Calibri"/>
              </a:rPr>
              <a:t>procurement or pricing.</a:t>
            </a:r>
          </a:p>
        </p:txBody>
      </p:sp>
      <p:sp>
        <p:nvSpPr>
          <p:cNvPr id="103" name="TextBox 102"/>
          <p:cNvSpPr txBox="1"/>
          <p:nvPr/>
        </p:nvSpPr>
        <p:spPr>
          <a:xfrm>
            <a:off x="8048625" y="341916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104" name="TextBox 103"/>
          <p:cNvSpPr txBox="1"/>
          <p:nvPr/>
        </p:nvSpPr>
        <p:spPr>
          <a:xfrm>
            <a:off x="8048625" y="359442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105" name="TextBox 104"/>
          <p:cNvSpPr txBox="1"/>
          <p:nvPr/>
        </p:nvSpPr>
        <p:spPr>
          <a:xfrm>
            <a:off x="8048625" y="376968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106" name="TextBox 105"/>
          <p:cNvSpPr txBox="1"/>
          <p:nvPr/>
        </p:nvSpPr>
        <p:spPr>
          <a:xfrm>
            <a:off x="8048625" y="394494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107" name="TextBox 106"/>
          <p:cNvSpPr txBox="1"/>
          <p:nvPr/>
        </p:nvSpPr>
        <p:spPr>
          <a:xfrm>
            <a:off x="8048625" y="417278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108" name="Picture 107" descr="lock.png"/>
          <p:cNvPicPr>
            <a:picLocks noChangeAspect="1"/>
          </p:cNvPicPr>
          <p:nvPr/>
        </p:nvPicPr>
        <p:blipFill>
          <a:blip r:embed="rId4"/>
          <a:stretch>
            <a:fillRect/>
          </a:stretch>
        </p:blipFill>
        <p:spPr>
          <a:xfrm>
            <a:off x="10338039" y="4162564"/>
            <a:ext cx="134549" cy="195707"/>
          </a:xfrm>
          <a:prstGeom prst="rect">
            <a:avLst/>
          </a:prstGeom>
        </p:spPr>
      </p:pic>
      <p:sp>
        <p:nvSpPr>
          <p:cNvPr id="109" name="TextBox 108"/>
          <p:cNvSpPr txBox="1"/>
          <p:nvPr/>
        </p:nvSpPr>
        <p:spPr>
          <a:xfrm>
            <a:off x="10513148" y="417278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110" name="TextBox 109"/>
          <p:cNvSpPr txBox="1"/>
          <p:nvPr/>
        </p:nvSpPr>
        <p:spPr>
          <a:xfrm>
            <a:off x="8048625" y="434804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111" name="TextBox 110"/>
          <p:cNvSpPr txBox="1"/>
          <p:nvPr/>
        </p:nvSpPr>
        <p:spPr>
          <a:xfrm>
            <a:off x="8048625" y="452330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112" name="TextBox 111"/>
          <p:cNvSpPr txBox="1"/>
          <p:nvPr/>
        </p:nvSpPr>
        <p:spPr>
          <a:xfrm>
            <a:off x="8048625" y="469856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Pricing Assessment: By Vehicle Type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vehicle type, 2021 to 2036, with 2026 price index and growth outlook</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Vehicle Type, 2021 to 2036 (US$/Units)</a:t>
            </a:r>
          </a:p>
        </p:txBody>
      </p:sp>
      <p:graphicFrame>
        <p:nvGraphicFramePr>
          <p:cNvPr id="10" name="TMR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1" name="TextBox 10"/>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2" name="Rectangle 11"/>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4" name="TMR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5" name="Table 14"/>
          <p:cNvGraphicFramePr>
            <a:graphicFrameLocks noGrp="1"/>
          </p:cNvGraphicFramePr>
          <p:nvPr/>
        </p:nvGraphicFramePr>
        <p:xfrm>
          <a:off x="6858000" y="3203067"/>
          <a:ext cx="5056632" cy="1847090"/>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263870">
                <a:tc>
                  <a:txBody>
                    <a:bodyPr wrap="square"/>
                    <a:lstStyle/>
                    <a:p>
                      <a:pPr algn="l"/>
                      <a:r>
                        <a:rPr sz="850" b="1">
                          <a:solidFill>
                            <a:srgbClr val="FFFFFF"/>
                          </a:solidFill>
                          <a:latin typeface="Calibri"/>
                        </a:rPr>
                        <a:t>Vehicle Type</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263870">
                <a:tc>
                  <a:txBody>
                    <a:bodyPr wrap="square"/>
                    <a:lstStyle/>
                    <a:p>
                      <a:pPr algn="l"/>
                      <a:r>
                        <a:rPr sz="850" b="1">
                          <a:solidFill>
                            <a:srgbClr val="1F1F1F"/>
                          </a:solidFill>
                          <a:latin typeface="Calibri"/>
                        </a:rPr>
                        <a:t>Industrial and Port Vehicles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63870">
                <a:tc>
                  <a:txBody>
                    <a:bodyPr wrap="square"/>
                    <a:lstStyle/>
                    <a:p>
                      <a:pPr algn="l"/>
                      <a:r>
                        <a:rPr sz="850" b="1">
                          <a:solidFill>
                            <a:srgbClr val="1F1F1F"/>
                          </a:solidFill>
                          <a:latin typeface="Calibri"/>
                        </a:rPr>
                        <a:t>Military Vehicles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4B183"/>
                    </a:solidFill>
                  </a:tcPr>
                </a:tc>
              </a:tr>
              <a:tr h="263870">
                <a:tc>
                  <a:txBody>
                    <a:bodyPr wrap="square"/>
                    <a:lstStyle/>
                    <a:p>
                      <a:pPr algn="l"/>
                      <a:r>
                        <a:rPr sz="850" b="1">
                          <a:solidFill>
                            <a:srgbClr val="1F1F1F"/>
                          </a:solidFill>
                          <a:latin typeface="Calibri"/>
                        </a:rPr>
                        <a:t>Agriculture and Forestry Vehicles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263870">
                <a:tc>
                  <a:txBody>
                    <a:bodyPr wrap="square"/>
                    <a:lstStyle/>
                    <a:p>
                      <a:pPr algn="l"/>
                      <a:r>
                        <a:rPr sz="850" b="1">
                          <a:solidFill>
                            <a:srgbClr val="1F1F1F"/>
                          </a:solidFill>
                          <a:latin typeface="Calibri"/>
                        </a:rPr>
                        <a:t>Construction and Mining Vehicles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7F7F7"/>
                    </a:solidFill>
                  </a:tcPr>
                </a:tc>
              </a:tr>
              <a:tr h="263870">
                <a:tc>
                  <a:txBody>
                    <a:bodyPr wrap="square"/>
                    <a:lstStyle/>
                    <a:p>
                      <a:pPr algn="l"/>
                      <a:r>
                        <a:rPr sz="850" b="1">
                          <a:solidFill>
                            <a:srgbClr val="1F1F1F"/>
                          </a:solidFill>
                          <a:latin typeface="Calibri"/>
                        </a:rPr>
                        <a:t>Recreational and Powersports Vehicles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9DC0E0"/>
                    </a:solidFill>
                  </a:tcPr>
                </a:tc>
              </a:tr>
              <a:tr h="263870">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6" name="Rectangle 15"/>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7" name="Oval 16"/>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8" name="TextBox 17"/>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19" name="TextBox 18"/>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0" name="Rectangle 19"/>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1" name="Oval 20"/>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2" name="TextBox 21"/>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3" name="TextBox 22"/>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4" name="Rectangle 23"/>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5" name="Oval 24"/>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6" name="TextBox 25"/>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27" name="TextBox 26"/>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8" name="TextBox 27"/>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Average price = market value (US$) / market volume (Units). 2021 to 2025 historical, 2026 to 2036 forecast.</a:t>
            </a:r>
          </a:p>
        </p:txBody>
      </p:sp>
      <p:sp>
        <p:nvSpPr>
          <p:cNvPr id="29" name="Rectangle 2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1" name="Picture 30" descr="lock.png"/>
          <p:cNvPicPr>
            <a:picLocks noChangeAspect="1"/>
          </p:cNvPicPr>
          <p:nvPr/>
        </p:nvPicPr>
        <p:blipFill>
          <a:blip r:embed="rId6"/>
          <a:stretch>
            <a:fillRect/>
          </a:stretch>
        </p:blipFill>
        <p:spPr>
          <a:xfrm>
            <a:off x="10283571" y="4018516"/>
            <a:ext cx="330041" cy="480060"/>
          </a:xfrm>
          <a:prstGeom prst="rect">
            <a:avLst/>
          </a:prstGeom>
        </p:spPr>
      </p:pic>
      <p:sp>
        <p:nvSpPr>
          <p:cNvPr id="32" name="TextBox 31"/>
          <p:cNvSpPr txBox="1"/>
          <p:nvPr/>
        </p:nvSpPr>
        <p:spPr>
          <a:xfrm>
            <a:off x="411480" y="1110615"/>
            <a:ext cx="5128840" cy="217169"/>
          </a:xfrm>
          <a:prstGeom prst="rect">
            <a:avLst/>
          </a:prstGeom>
          <a:noFill/>
        </p:spPr>
        <p:txBody>
          <a:bodyPr wrap="none" lIns="0" rIns="0" tIns="0" bIns="0">
            <a:spAutoFit/>
          </a:bodyPr>
          <a:lstStyle/>
          <a:p>
            <a:r>
              <a:rPr sz="1300" b="1">
                <a:solidFill>
                  <a:srgbClr val="FFFFFF"/>
                </a:solidFill>
                <a:latin typeface="Calibri"/>
              </a:rPr>
              <a:t>Industrial and Port Vehicles command the highest 2026 price point at US$</a:t>
            </a:r>
          </a:p>
        </p:txBody>
      </p:sp>
      <p:pic>
        <p:nvPicPr>
          <p:cNvPr id="33" name="Picture 32" descr="lock.png"/>
          <p:cNvPicPr>
            <a:picLocks noChangeAspect="1"/>
          </p:cNvPicPr>
          <p:nvPr/>
        </p:nvPicPr>
        <p:blipFill>
          <a:blip r:embed="rId6"/>
          <a:stretch>
            <a:fillRect/>
          </a:stretch>
        </p:blipFill>
        <p:spPr>
          <a:xfrm>
            <a:off x="5492781" y="1099058"/>
            <a:ext cx="152098" cy="221234"/>
          </a:xfrm>
          <a:prstGeom prst="rect">
            <a:avLst/>
          </a:prstGeom>
        </p:spPr>
      </p:pic>
      <p:sp>
        <p:nvSpPr>
          <p:cNvPr id="34" name="TextBox 33"/>
          <p:cNvSpPr txBox="1"/>
          <p:nvPr/>
        </p:nvSpPr>
        <p:spPr>
          <a:xfrm>
            <a:off x="5690731" y="1110615"/>
            <a:ext cx="668883" cy="217169"/>
          </a:xfrm>
          <a:prstGeom prst="rect">
            <a:avLst/>
          </a:prstGeom>
          <a:noFill/>
        </p:spPr>
        <p:txBody>
          <a:bodyPr wrap="none" lIns="0" rIns="0" tIns="0" bIns="0">
            <a:spAutoFit/>
          </a:bodyPr>
          <a:lstStyle/>
          <a:p>
            <a:r>
              <a:rPr sz="1300" b="1">
                <a:solidFill>
                  <a:srgbClr val="FFFFFF"/>
                </a:solidFill>
                <a:latin typeface="Calibri"/>
              </a:rPr>
              <a:t>/Units, a</a:t>
            </a:r>
          </a:p>
        </p:txBody>
      </p:sp>
      <p:pic>
        <p:nvPicPr>
          <p:cNvPr id="35" name="Picture 34" descr="lock.png"/>
          <p:cNvPicPr>
            <a:picLocks noChangeAspect="1"/>
          </p:cNvPicPr>
          <p:nvPr/>
        </p:nvPicPr>
        <p:blipFill>
          <a:blip r:embed="rId6"/>
          <a:stretch>
            <a:fillRect/>
          </a:stretch>
        </p:blipFill>
        <p:spPr>
          <a:xfrm>
            <a:off x="6312075" y="1099058"/>
            <a:ext cx="152098" cy="221234"/>
          </a:xfrm>
          <a:prstGeom prst="rect">
            <a:avLst/>
          </a:prstGeom>
        </p:spPr>
      </p:pic>
      <p:sp>
        <p:nvSpPr>
          <p:cNvPr id="36" name="TextBox 35"/>
          <p:cNvSpPr txBox="1"/>
          <p:nvPr/>
        </p:nvSpPr>
        <p:spPr>
          <a:xfrm>
            <a:off x="6510024" y="1110615"/>
            <a:ext cx="3805460" cy="217169"/>
          </a:xfrm>
          <a:prstGeom prst="rect">
            <a:avLst/>
          </a:prstGeom>
          <a:noFill/>
        </p:spPr>
        <p:txBody>
          <a:bodyPr wrap="none" lIns="0" rIns="0" tIns="0" bIns="0">
            <a:spAutoFit/>
          </a:bodyPr>
          <a:lstStyle/>
          <a:p>
            <a:r>
              <a:rPr sz="1300" b="1">
                <a:solidFill>
                  <a:srgbClr val="FFFFFF"/>
                </a:solidFill>
                <a:latin typeface="Calibri"/>
              </a:rPr>
              <a:t>premium over Recreational and Powersports Vehicles.</a:t>
            </a:r>
          </a:p>
        </p:txBody>
      </p:sp>
      <p:sp>
        <p:nvSpPr>
          <p:cNvPr id="37" name="TextBox 36"/>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38" name="Picture 37" descr="lock.png"/>
          <p:cNvPicPr>
            <a:picLocks noChangeAspect="1"/>
          </p:cNvPicPr>
          <p:nvPr/>
        </p:nvPicPr>
        <p:blipFill>
          <a:blip r:embed="rId6"/>
          <a:stretch>
            <a:fillRect/>
          </a:stretch>
        </p:blipFill>
        <p:spPr>
          <a:xfrm>
            <a:off x="9106620" y="1593461"/>
            <a:ext cx="123784" cy="180050"/>
          </a:xfrm>
          <a:prstGeom prst="rect">
            <a:avLst/>
          </a:prstGeom>
        </p:spPr>
      </p:pic>
      <p:sp>
        <p:nvSpPr>
          <p:cNvPr id="39" name="TextBox 38"/>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0" name="TextBox 39"/>
          <p:cNvSpPr txBox="1"/>
          <p:nvPr/>
        </p:nvSpPr>
        <p:spPr>
          <a:xfrm>
            <a:off x="806576" y="5530976"/>
            <a:ext cx="2940099" cy="179069"/>
          </a:xfrm>
          <a:prstGeom prst="rect">
            <a:avLst/>
          </a:prstGeom>
          <a:noFill/>
        </p:spPr>
        <p:txBody>
          <a:bodyPr wrap="none" lIns="0" rIns="0" tIns="0" bIns="0">
            <a:spAutoFit/>
          </a:bodyPr>
          <a:lstStyle/>
          <a:p>
            <a:r>
              <a:rPr sz="1050" b="0">
                <a:solidFill>
                  <a:srgbClr val="1F1F1F"/>
                </a:solidFill>
                <a:latin typeface="Calibri"/>
              </a:rPr>
              <a:t>Industrial and Port Vehicles sit at the top of the 2026</a:t>
            </a:r>
          </a:p>
        </p:txBody>
      </p:sp>
      <p:sp>
        <p:nvSpPr>
          <p:cNvPr id="41" name="TextBox 40"/>
          <p:cNvSpPr txBox="1"/>
          <p:nvPr/>
        </p:nvSpPr>
        <p:spPr>
          <a:xfrm>
            <a:off x="806576" y="5690996"/>
            <a:ext cx="1493825" cy="179069"/>
          </a:xfrm>
          <a:prstGeom prst="rect">
            <a:avLst/>
          </a:prstGeom>
          <a:noFill/>
        </p:spPr>
        <p:txBody>
          <a:bodyPr wrap="none" lIns="0" rIns="0" tIns="0" bIns="0">
            <a:spAutoFit/>
          </a:bodyPr>
          <a:lstStyle/>
          <a:p>
            <a:r>
              <a:rPr sz="1050" b="0">
                <a:solidFill>
                  <a:srgbClr val="1F1F1F"/>
                </a:solidFill>
                <a:latin typeface="Calibri"/>
              </a:rPr>
              <a:t>price ladder at an index of</a:t>
            </a:r>
          </a:p>
        </p:txBody>
      </p:sp>
      <p:pic>
        <p:nvPicPr>
          <p:cNvPr id="42" name="Picture 41" descr="lock.png"/>
          <p:cNvPicPr>
            <a:picLocks noChangeAspect="1"/>
          </p:cNvPicPr>
          <p:nvPr/>
        </p:nvPicPr>
        <p:blipFill>
          <a:blip r:embed="rId6"/>
          <a:stretch>
            <a:fillRect/>
          </a:stretch>
        </p:blipFill>
        <p:spPr>
          <a:xfrm>
            <a:off x="2247351" y="5681662"/>
            <a:ext cx="122849" cy="178689"/>
          </a:xfrm>
          <a:prstGeom prst="rect">
            <a:avLst/>
          </a:prstGeom>
        </p:spPr>
      </p:pic>
      <p:sp>
        <p:nvSpPr>
          <p:cNvPr id="43" name="TextBox 42"/>
          <p:cNvSpPr txBox="1"/>
          <p:nvPr/>
        </p:nvSpPr>
        <p:spPr>
          <a:xfrm>
            <a:off x="2407233" y="5690996"/>
            <a:ext cx="1380008" cy="179069"/>
          </a:xfrm>
          <a:prstGeom prst="rect">
            <a:avLst/>
          </a:prstGeom>
          <a:noFill/>
        </p:spPr>
        <p:txBody>
          <a:bodyPr wrap="none" lIns="0" rIns="0" tIns="0" bIns="0">
            <a:spAutoFit/>
          </a:bodyPr>
          <a:lstStyle/>
          <a:p>
            <a:r>
              <a:rPr sz="1050" b="0">
                <a:solidFill>
                  <a:srgbClr val="1F1F1F"/>
                </a:solidFill>
                <a:latin typeface="Calibri"/>
              </a:rPr>
              <a:t>, while Recreational and</a:t>
            </a:r>
          </a:p>
        </p:txBody>
      </p:sp>
      <p:sp>
        <p:nvSpPr>
          <p:cNvPr id="44" name="TextBox 43"/>
          <p:cNvSpPr txBox="1"/>
          <p:nvPr/>
        </p:nvSpPr>
        <p:spPr>
          <a:xfrm>
            <a:off x="806576" y="5851016"/>
            <a:ext cx="1699579" cy="179069"/>
          </a:xfrm>
          <a:prstGeom prst="rect">
            <a:avLst/>
          </a:prstGeom>
          <a:noFill/>
        </p:spPr>
        <p:txBody>
          <a:bodyPr wrap="none" lIns="0" rIns="0" tIns="0" bIns="0">
            <a:spAutoFit/>
          </a:bodyPr>
          <a:lstStyle/>
          <a:p>
            <a:r>
              <a:rPr sz="1050" b="0">
                <a:solidFill>
                  <a:srgbClr val="1F1F1F"/>
                </a:solidFill>
                <a:latin typeface="Calibri"/>
              </a:rPr>
              <a:t>Powersports Vehicles trade at</a:t>
            </a:r>
          </a:p>
        </p:txBody>
      </p:sp>
      <p:pic>
        <p:nvPicPr>
          <p:cNvPr id="45" name="Picture 44" descr="lock.png"/>
          <p:cNvPicPr>
            <a:picLocks noChangeAspect="1"/>
          </p:cNvPicPr>
          <p:nvPr/>
        </p:nvPicPr>
        <p:blipFill>
          <a:blip r:embed="rId6"/>
          <a:stretch>
            <a:fillRect/>
          </a:stretch>
        </p:blipFill>
        <p:spPr>
          <a:xfrm>
            <a:off x="2453106" y="5841682"/>
            <a:ext cx="122849" cy="178689"/>
          </a:xfrm>
          <a:prstGeom prst="rect">
            <a:avLst/>
          </a:prstGeom>
        </p:spPr>
      </p:pic>
      <p:sp>
        <p:nvSpPr>
          <p:cNvPr id="46" name="TextBox 45"/>
          <p:cNvSpPr txBox="1"/>
          <p:nvPr/>
        </p:nvSpPr>
        <p:spPr>
          <a:xfrm>
            <a:off x="2612988" y="5851016"/>
            <a:ext cx="1222176" cy="179069"/>
          </a:xfrm>
          <a:prstGeom prst="rect">
            <a:avLst/>
          </a:prstGeom>
          <a:noFill/>
        </p:spPr>
        <p:txBody>
          <a:bodyPr wrap="none" lIns="0" rIns="0" tIns="0" bIns="0">
            <a:spAutoFit/>
          </a:bodyPr>
          <a:lstStyle/>
          <a:p>
            <a:r>
              <a:rPr sz="1050" b="0">
                <a:solidFill>
                  <a:srgbClr val="1F1F1F"/>
                </a:solidFill>
                <a:latin typeface="Calibri"/>
              </a:rPr>
              <a:t>, which keeps the full</a:t>
            </a:r>
          </a:p>
        </p:txBody>
      </p:sp>
      <p:sp>
        <p:nvSpPr>
          <p:cNvPr id="47" name="TextBox 46"/>
          <p:cNvSpPr txBox="1"/>
          <p:nvPr/>
        </p:nvSpPr>
        <p:spPr>
          <a:xfrm>
            <a:off x="806576" y="6011036"/>
            <a:ext cx="1500336" cy="179069"/>
          </a:xfrm>
          <a:prstGeom prst="rect">
            <a:avLst/>
          </a:prstGeom>
          <a:noFill/>
        </p:spPr>
        <p:txBody>
          <a:bodyPr wrap="none" lIns="0" rIns="0" tIns="0" bIns="0">
            <a:spAutoFit/>
          </a:bodyPr>
          <a:lstStyle/>
          <a:p>
            <a:r>
              <a:rPr sz="1050" b="0">
                <a:solidFill>
                  <a:srgbClr val="1F1F1F"/>
                </a:solidFill>
                <a:latin typeface="Calibri"/>
              </a:rPr>
              <a:t>vehicle type spread within</a:t>
            </a:r>
          </a:p>
        </p:txBody>
      </p:sp>
      <p:pic>
        <p:nvPicPr>
          <p:cNvPr id="48" name="Picture 47" descr="lock.png"/>
          <p:cNvPicPr>
            <a:picLocks noChangeAspect="1"/>
          </p:cNvPicPr>
          <p:nvPr/>
        </p:nvPicPr>
        <p:blipFill>
          <a:blip r:embed="rId6"/>
          <a:stretch>
            <a:fillRect/>
          </a:stretch>
        </p:blipFill>
        <p:spPr>
          <a:xfrm>
            <a:off x="2253862" y="6001702"/>
            <a:ext cx="122849" cy="178689"/>
          </a:xfrm>
          <a:prstGeom prst="rect">
            <a:avLst/>
          </a:prstGeom>
        </p:spPr>
      </p:pic>
      <p:sp>
        <p:nvSpPr>
          <p:cNvPr id="49" name="TextBox 48"/>
          <p:cNvSpPr txBox="1"/>
          <p:nvPr/>
        </p:nvSpPr>
        <p:spPr>
          <a:xfrm>
            <a:off x="2413744"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0" name="TextBox 49"/>
          <p:cNvSpPr txBox="1"/>
          <p:nvPr/>
        </p:nvSpPr>
        <p:spPr>
          <a:xfrm>
            <a:off x="4732401" y="5530976"/>
            <a:ext cx="3059645" cy="179069"/>
          </a:xfrm>
          <a:prstGeom prst="rect">
            <a:avLst/>
          </a:prstGeom>
          <a:noFill/>
        </p:spPr>
        <p:txBody>
          <a:bodyPr wrap="none" lIns="0" rIns="0" tIns="0" bIns="0">
            <a:spAutoFit/>
          </a:bodyPr>
          <a:lstStyle/>
          <a:p>
            <a:r>
              <a:rPr sz="1050" b="0">
                <a:solidFill>
                  <a:srgbClr val="1F1F1F"/>
                </a:solidFill>
                <a:latin typeface="Calibri"/>
              </a:rPr>
              <a:t>Recreational and Powersports Vehicles post the fastest</a:t>
            </a:r>
          </a:p>
        </p:txBody>
      </p:sp>
      <p:sp>
        <p:nvSpPr>
          <p:cNvPr id="51" name="TextBox 50"/>
          <p:cNvSpPr txBox="1"/>
          <p:nvPr/>
        </p:nvSpPr>
        <p:spPr>
          <a:xfrm>
            <a:off x="4732401" y="5690996"/>
            <a:ext cx="999492" cy="179069"/>
          </a:xfrm>
          <a:prstGeom prst="rect">
            <a:avLst/>
          </a:prstGeom>
          <a:noFill/>
        </p:spPr>
        <p:txBody>
          <a:bodyPr wrap="none" lIns="0" rIns="0" tIns="0" bIns="0">
            <a:spAutoFit/>
          </a:bodyPr>
          <a:lstStyle/>
          <a:p>
            <a:r>
              <a:rPr sz="1050" b="0">
                <a:solidFill>
                  <a:srgbClr val="1F1F1F"/>
                </a:solidFill>
                <a:latin typeface="Calibri"/>
              </a:rPr>
              <a:t>price growth at a</a:t>
            </a:r>
          </a:p>
        </p:txBody>
      </p:sp>
      <p:pic>
        <p:nvPicPr>
          <p:cNvPr id="52" name="Picture 51" descr="lock.png"/>
          <p:cNvPicPr>
            <a:picLocks noChangeAspect="1"/>
          </p:cNvPicPr>
          <p:nvPr/>
        </p:nvPicPr>
        <p:blipFill>
          <a:blip r:embed="rId6"/>
          <a:stretch>
            <a:fillRect/>
          </a:stretch>
        </p:blipFill>
        <p:spPr>
          <a:xfrm>
            <a:off x="5678842" y="5681662"/>
            <a:ext cx="122849" cy="178689"/>
          </a:xfrm>
          <a:prstGeom prst="rect">
            <a:avLst/>
          </a:prstGeom>
        </p:spPr>
      </p:pic>
      <p:sp>
        <p:nvSpPr>
          <p:cNvPr id="53" name="TextBox 52"/>
          <p:cNvSpPr txBox="1"/>
          <p:nvPr/>
        </p:nvSpPr>
        <p:spPr>
          <a:xfrm>
            <a:off x="5838725" y="5690996"/>
            <a:ext cx="1760248" cy="179069"/>
          </a:xfrm>
          <a:prstGeom prst="rect">
            <a:avLst/>
          </a:prstGeom>
          <a:noFill/>
        </p:spPr>
        <p:txBody>
          <a:bodyPr wrap="none" lIns="0" rIns="0" tIns="0" bIns="0">
            <a:spAutoFit/>
          </a:bodyPr>
          <a:lstStyle/>
          <a:p>
            <a:r>
              <a:rPr sz="1050" b="0">
                <a:solidFill>
                  <a:srgbClr val="1F1F1F"/>
                </a:solidFill>
                <a:latin typeface="Calibri"/>
              </a:rPr>
              <a:t>CAGR between 2026 and 2036,</a:t>
            </a:r>
          </a:p>
        </p:txBody>
      </p:sp>
      <p:sp>
        <p:nvSpPr>
          <p:cNvPr id="54" name="TextBox 53"/>
          <p:cNvSpPr txBox="1"/>
          <p:nvPr/>
        </p:nvSpPr>
        <p:spPr>
          <a:xfrm>
            <a:off x="4732401" y="5851016"/>
            <a:ext cx="897656" cy="179069"/>
          </a:xfrm>
          <a:prstGeom prst="rect">
            <a:avLst/>
          </a:prstGeom>
          <a:noFill/>
        </p:spPr>
        <p:txBody>
          <a:bodyPr wrap="none" lIns="0" rIns="0" tIns="0" bIns="0">
            <a:spAutoFit/>
          </a:bodyPr>
          <a:lstStyle/>
          <a:p>
            <a:r>
              <a:rPr sz="1050" b="0">
                <a:solidFill>
                  <a:srgbClr val="1F1F1F"/>
                </a:solidFill>
                <a:latin typeface="Calibri"/>
              </a:rPr>
              <a:t>compared with</a:t>
            </a:r>
          </a:p>
        </p:txBody>
      </p:sp>
      <p:pic>
        <p:nvPicPr>
          <p:cNvPr id="55" name="Picture 54" descr="lock.png"/>
          <p:cNvPicPr>
            <a:picLocks noChangeAspect="1"/>
          </p:cNvPicPr>
          <p:nvPr/>
        </p:nvPicPr>
        <p:blipFill>
          <a:blip r:embed="rId6"/>
          <a:stretch>
            <a:fillRect/>
          </a:stretch>
        </p:blipFill>
        <p:spPr>
          <a:xfrm>
            <a:off x="5577007" y="5841682"/>
            <a:ext cx="122849" cy="178689"/>
          </a:xfrm>
          <a:prstGeom prst="rect">
            <a:avLst/>
          </a:prstGeom>
        </p:spPr>
      </p:pic>
      <p:sp>
        <p:nvSpPr>
          <p:cNvPr id="56" name="TextBox 55"/>
          <p:cNvSpPr txBox="1"/>
          <p:nvPr/>
        </p:nvSpPr>
        <p:spPr>
          <a:xfrm>
            <a:off x="5736889" y="5851016"/>
            <a:ext cx="1198475" cy="179069"/>
          </a:xfrm>
          <a:prstGeom prst="rect">
            <a:avLst/>
          </a:prstGeom>
          <a:noFill/>
        </p:spPr>
        <p:txBody>
          <a:bodyPr wrap="none" lIns="0" rIns="0" tIns="0" bIns="0">
            <a:spAutoFit/>
          </a:bodyPr>
          <a:lstStyle/>
          <a:p>
            <a:r>
              <a:rPr sz="1050" b="0">
                <a:solidFill>
                  <a:srgbClr val="1F1F1F"/>
                </a:solidFill>
                <a:latin typeface="Calibri"/>
              </a:rPr>
              <a:t>for Military Vehicles.</a:t>
            </a:r>
          </a:p>
        </p:txBody>
      </p:sp>
      <p:sp>
        <p:nvSpPr>
          <p:cNvPr id="57" name="TextBox 56"/>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8" name="Picture 57" descr="lock.png"/>
          <p:cNvPicPr>
            <a:picLocks noChangeAspect="1"/>
          </p:cNvPicPr>
          <p:nvPr/>
        </p:nvPicPr>
        <p:blipFill>
          <a:blip r:embed="rId6"/>
          <a:stretch>
            <a:fillRect/>
          </a:stretch>
        </p:blipFill>
        <p:spPr>
          <a:xfrm>
            <a:off x="10841019" y="5521642"/>
            <a:ext cx="122849" cy="178689"/>
          </a:xfrm>
          <a:prstGeom prst="rect">
            <a:avLst/>
          </a:prstGeom>
        </p:spPr>
      </p:pic>
      <p:sp>
        <p:nvSpPr>
          <p:cNvPr id="59" name="TextBox 58"/>
          <p:cNvSpPr txBox="1"/>
          <p:nvPr/>
        </p:nvSpPr>
        <p:spPr>
          <a:xfrm>
            <a:off x="11000901" y="5530976"/>
            <a:ext cx="542143" cy="179069"/>
          </a:xfrm>
          <a:prstGeom prst="rect">
            <a:avLst/>
          </a:prstGeom>
          <a:noFill/>
        </p:spPr>
        <p:txBody>
          <a:bodyPr wrap="none" lIns="0" rIns="0" tIns="0" bIns="0">
            <a:spAutoFit/>
          </a:bodyPr>
          <a:lstStyle/>
          <a:p>
            <a:r>
              <a:rPr sz="1050" b="0">
                <a:solidFill>
                  <a:srgbClr val="1F1F1F"/>
                </a:solidFill>
                <a:latin typeface="Calibri"/>
              </a:rPr>
              <a:t>/Units in</a:t>
            </a:r>
          </a:p>
        </p:txBody>
      </p:sp>
      <p:sp>
        <p:nvSpPr>
          <p:cNvPr id="60" name="TextBox 59"/>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61" name="Picture 60" descr="lock.png"/>
          <p:cNvPicPr>
            <a:picLocks noChangeAspect="1"/>
          </p:cNvPicPr>
          <p:nvPr/>
        </p:nvPicPr>
        <p:blipFill>
          <a:blip r:embed="rId6"/>
          <a:stretch>
            <a:fillRect/>
          </a:stretch>
        </p:blipFill>
        <p:spPr>
          <a:xfrm>
            <a:off x="9342394" y="5681662"/>
            <a:ext cx="122849" cy="178689"/>
          </a:xfrm>
          <a:prstGeom prst="rect">
            <a:avLst/>
          </a:prstGeom>
        </p:spPr>
      </p:pic>
      <p:sp>
        <p:nvSpPr>
          <p:cNvPr id="62" name="TextBox 61"/>
          <p:cNvSpPr txBox="1"/>
          <p:nvPr/>
        </p:nvSpPr>
        <p:spPr>
          <a:xfrm>
            <a:off x="9502276" y="5690996"/>
            <a:ext cx="2270224" cy="179069"/>
          </a:xfrm>
          <a:prstGeom prst="rect">
            <a:avLst/>
          </a:prstGeom>
          <a:noFill/>
        </p:spPr>
        <p:txBody>
          <a:bodyPr wrap="none" lIns="0" rIns="0" tIns="0" bIns="0">
            <a:spAutoFit/>
          </a:bodyPr>
          <a:lstStyle/>
          <a:p>
            <a:r>
              <a:rPr sz="1050" b="0">
                <a:solidFill>
                  <a:srgbClr val="1F1F1F"/>
                </a:solidFill>
                <a:latin typeface="Calibri"/>
              </a:rPr>
              <a:t>/Units in 2036, and the gap between the</a:t>
            </a:r>
          </a:p>
        </p:txBody>
      </p:sp>
      <p:sp>
        <p:nvSpPr>
          <p:cNvPr id="63" name="TextBox 62"/>
          <p:cNvSpPr txBox="1"/>
          <p:nvPr/>
        </p:nvSpPr>
        <p:spPr>
          <a:xfrm>
            <a:off x="8658225" y="5851016"/>
            <a:ext cx="2830971" cy="179069"/>
          </a:xfrm>
          <a:prstGeom prst="rect">
            <a:avLst/>
          </a:prstGeom>
          <a:noFill/>
        </p:spPr>
        <p:txBody>
          <a:bodyPr wrap="none" lIns="0" rIns="0" tIns="0" bIns="0">
            <a:spAutoFit/>
          </a:bodyPr>
          <a:lstStyle/>
          <a:p>
            <a:r>
              <a:rPr sz="1050" b="0">
                <a:solidFill>
                  <a:srgbClr val="1F1F1F"/>
                </a:solidFill>
                <a:latin typeface="Calibri"/>
              </a:rPr>
              <a:t>highest and lowest priced vehicle type moves from</a:t>
            </a:r>
          </a:p>
        </p:txBody>
      </p:sp>
      <p:pic>
        <p:nvPicPr>
          <p:cNvPr id="64" name="Picture 63" descr="lock.png"/>
          <p:cNvPicPr>
            <a:picLocks noChangeAspect="1"/>
          </p:cNvPicPr>
          <p:nvPr/>
        </p:nvPicPr>
        <p:blipFill>
          <a:blip r:embed="rId6"/>
          <a:stretch>
            <a:fillRect/>
          </a:stretch>
        </p:blipFill>
        <p:spPr>
          <a:xfrm>
            <a:off x="11436145" y="5841682"/>
            <a:ext cx="122849" cy="178689"/>
          </a:xfrm>
          <a:prstGeom prst="rect">
            <a:avLst/>
          </a:prstGeom>
        </p:spPr>
      </p:pic>
      <p:sp>
        <p:nvSpPr>
          <p:cNvPr id="65" name="TextBox 64"/>
          <p:cNvSpPr txBox="1"/>
          <p:nvPr/>
        </p:nvSpPr>
        <p:spPr>
          <a:xfrm>
            <a:off x="8658225"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6" name="Picture 65" descr="lock.png"/>
          <p:cNvPicPr>
            <a:picLocks noChangeAspect="1"/>
          </p:cNvPicPr>
          <p:nvPr/>
        </p:nvPicPr>
        <p:blipFill>
          <a:blip r:embed="rId6"/>
          <a:stretch>
            <a:fillRect/>
          </a:stretch>
        </p:blipFill>
        <p:spPr>
          <a:xfrm>
            <a:off x="9228578" y="6001702"/>
            <a:ext cx="122849" cy="178689"/>
          </a:xfrm>
          <a:prstGeom prst="rect">
            <a:avLst/>
          </a:prstGeom>
        </p:spPr>
      </p:pic>
      <p:sp>
        <p:nvSpPr>
          <p:cNvPr id="67" name="TextBox 66"/>
          <p:cNvSpPr txBox="1"/>
          <p:nvPr/>
        </p:nvSpPr>
        <p:spPr>
          <a:xfrm>
            <a:off x="9388460"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8" name="Picture 67" descr="lock.png"/>
          <p:cNvPicPr>
            <a:picLocks noChangeAspect="1"/>
          </p:cNvPicPr>
          <p:nvPr/>
        </p:nvPicPr>
        <p:blipFill>
          <a:blip r:embed="rId6"/>
          <a:stretch>
            <a:fillRect/>
          </a:stretch>
        </p:blipFill>
        <p:spPr>
          <a:xfrm>
            <a:off x="3418190" y="3048804"/>
            <a:ext cx="454926" cy="661711"/>
          </a:xfrm>
          <a:prstGeom prst="rect">
            <a:avLst/>
          </a:prstGeom>
        </p:spPr>
      </p:pic>
      <p:pic>
        <p:nvPicPr>
          <p:cNvPr id="69" name="Picture 68" descr="lock.png"/>
          <p:cNvPicPr>
            <a:picLocks noChangeAspect="1"/>
          </p:cNvPicPr>
          <p:nvPr/>
        </p:nvPicPr>
        <p:blipFill>
          <a:blip r:embed="rId6"/>
          <a:stretch>
            <a:fillRect/>
          </a:stretch>
        </p:blipFill>
        <p:spPr>
          <a:xfrm>
            <a:off x="9403270" y="2219134"/>
            <a:ext cx="256698" cy="373379"/>
          </a:xfrm>
          <a:prstGeom prst="rect">
            <a:avLst/>
          </a:prstGeom>
        </p:spPr>
      </p:pic>
      <p:sp>
        <p:nvSpPr>
          <p:cNvPr id="70" name="lockshield_10"/>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ockshield_14"/>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Pricing Assessment: Region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vehicle types, 2026 (US$/Units)</a:t>
            </a:r>
          </a:p>
        </p:txBody>
      </p:sp>
      <p:sp>
        <p:nvSpPr>
          <p:cNvPr id="7" name="Rectangle 6"/>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8" name="Rectangle 7"/>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9" name="TextBox 8"/>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Vehicle Types by Region (US$/Units), Ranked by Average</a:t>
            </a:r>
          </a:p>
        </p:txBody>
      </p:sp>
      <p:graphicFrame>
        <p:nvGraphicFramePr>
          <p:cNvPr id="10" name="TMR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1" name="TextBox 10"/>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2" name="Rectangle 11"/>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3" name="TextBox 12"/>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4" name="Table 13"/>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Western 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Eastern Europe</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5" name="Rectangle 14"/>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6" name="Oval 15"/>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17" name="TextBox 16"/>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18" name="TextBox 17"/>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19" name="Rectangle 18"/>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1" name="TextBox 20"/>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2" name="TextBox 21"/>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5" name="TextBox 24"/>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6" name="TextBox 25"/>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TextBox 26"/>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TMR analysis. Range = lowest to highest vehicle type price in each region; ranked by average price. Other geographies grouped as 'Other' are excluded from the ranking.</a:t>
            </a:r>
          </a:p>
        </p:txBody>
      </p:sp>
      <p:sp>
        <p:nvSpPr>
          <p:cNvPr id="28" name="Rectangle 2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0" name="Picture 29" descr="lock.png"/>
          <p:cNvPicPr>
            <a:picLocks noChangeAspect="1"/>
          </p:cNvPicPr>
          <p:nvPr/>
        </p:nvPicPr>
        <p:blipFill>
          <a:blip r:embed="rId5"/>
          <a:stretch>
            <a:fillRect/>
          </a:stretch>
        </p:blipFill>
        <p:spPr>
          <a:xfrm>
            <a:off x="10462494" y="3375398"/>
            <a:ext cx="355774" cy="517489"/>
          </a:xfrm>
          <a:prstGeom prst="rect">
            <a:avLst/>
          </a:prstGeom>
        </p:spPr>
      </p:pic>
      <p:sp>
        <p:nvSpPr>
          <p:cNvPr id="31" name="TextBox 30"/>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2" name="Picture 31" descr="lock.png"/>
          <p:cNvPicPr>
            <a:picLocks noChangeAspect="1"/>
          </p:cNvPicPr>
          <p:nvPr/>
        </p:nvPicPr>
        <p:blipFill>
          <a:blip r:embed="rId5"/>
          <a:stretch>
            <a:fillRect/>
          </a:stretch>
        </p:blipFill>
        <p:spPr>
          <a:xfrm>
            <a:off x="4349334" y="1099058"/>
            <a:ext cx="152098" cy="221234"/>
          </a:xfrm>
          <a:prstGeom prst="rect">
            <a:avLst/>
          </a:prstGeom>
        </p:spPr>
      </p:pic>
      <p:sp>
        <p:nvSpPr>
          <p:cNvPr id="33" name="TextBox 32"/>
          <p:cNvSpPr txBox="1"/>
          <p:nvPr/>
        </p:nvSpPr>
        <p:spPr>
          <a:xfrm>
            <a:off x="4547284" y="1110615"/>
            <a:ext cx="1209005" cy="217169"/>
          </a:xfrm>
          <a:prstGeom prst="rect">
            <a:avLst/>
          </a:prstGeom>
          <a:noFill/>
        </p:spPr>
        <p:txBody>
          <a:bodyPr wrap="none" lIns="0" rIns="0" tIns="0" bIns="0">
            <a:spAutoFit/>
          </a:bodyPr>
          <a:lstStyle/>
          <a:p>
            <a:r>
              <a:rPr sz="1300" b="1">
                <a:solidFill>
                  <a:srgbClr val="FFFFFF"/>
                </a:solidFill>
                <a:latin typeface="Calibri"/>
              </a:rPr>
              <a:t>/Units in 2026, +</a:t>
            </a:r>
          </a:p>
        </p:txBody>
      </p:sp>
      <p:pic>
        <p:nvPicPr>
          <p:cNvPr id="34" name="Picture 33" descr="lock.png"/>
          <p:cNvPicPr>
            <a:picLocks noChangeAspect="1"/>
          </p:cNvPicPr>
          <p:nvPr/>
        </p:nvPicPr>
        <p:blipFill>
          <a:blip r:embed="rId5"/>
          <a:stretch>
            <a:fillRect/>
          </a:stretch>
        </p:blipFill>
        <p:spPr>
          <a:xfrm>
            <a:off x="5708750" y="1099058"/>
            <a:ext cx="152098" cy="221234"/>
          </a:xfrm>
          <a:prstGeom prst="rect">
            <a:avLst/>
          </a:prstGeom>
        </p:spPr>
      </p:pic>
      <p:sp>
        <p:nvSpPr>
          <p:cNvPr id="35" name="TextBox 34"/>
          <p:cNvSpPr txBox="1"/>
          <p:nvPr/>
        </p:nvSpPr>
        <p:spPr>
          <a:xfrm>
            <a:off x="5906700"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6" name="TextBox 35"/>
          <p:cNvSpPr txBox="1"/>
          <p:nvPr/>
        </p:nvSpPr>
        <p:spPr>
          <a:xfrm>
            <a:off x="411480" y="1831467"/>
            <a:ext cx="4936901" cy="148589"/>
          </a:xfrm>
          <a:prstGeom prst="rect">
            <a:avLst/>
          </a:prstGeom>
          <a:noFill/>
        </p:spPr>
        <p:txBody>
          <a:bodyPr wrap="none" lIns="0" rIns="0" tIns="0" bIns="0">
            <a:spAutoFit/>
          </a:bodyPr>
          <a:lstStyle/>
          <a:p>
            <a:r>
              <a:rPr sz="850" b="0">
                <a:solidFill>
                  <a:srgbClr val="59636E"/>
                </a:solidFill>
                <a:latin typeface="Calibri"/>
              </a:rPr>
              <a:t>Bar spans the lowest to highest vehicle type price in each region, read on the price index axis (Global average =</a:t>
            </a:r>
          </a:p>
        </p:txBody>
      </p:sp>
      <p:pic>
        <p:nvPicPr>
          <p:cNvPr id="37" name="Picture 36" descr="lock.png"/>
          <p:cNvPicPr>
            <a:picLocks noChangeAspect="1"/>
          </p:cNvPicPr>
          <p:nvPr/>
        </p:nvPicPr>
        <p:blipFill>
          <a:blip r:embed="rId5"/>
          <a:stretch>
            <a:fillRect/>
          </a:stretch>
        </p:blipFill>
        <p:spPr>
          <a:xfrm>
            <a:off x="5290921" y="1823910"/>
            <a:ext cx="99449" cy="144653"/>
          </a:xfrm>
          <a:prstGeom prst="rect">
            <a:avLst/>
          </a:prstGeom>
        </p:spPr>
      </p:pic>
      <p:sp>
        <p:nvSpPr>
          <p:cNvPr id="38" name="TextBox 37"/>
          <p:cNvSpPr txBox="1"/>
          <p:nvPr/>
        </p:nvSpPr>
        <p:spPr>
          <a:xfrm>
            <a:off x="5420350" y="1831467"/>
            <a:ext cx="2037010" cy="148589"/>
          </a:xfrm>
          <a:prstGeom prst="rect">
            <a:avLst/>
          </a:prstGeom>
          <a:noFill/>
        </p:spPr>
        <p:txBody>
          <a:bodyPr wrap="none" lIns="0" rIns="0" tIns="0" bIns="0">
            <a:spAutoFit/>
          </a:bodyPr>
          <a:lstStyle/>
          <a:p>
            <a:r>
              <a:rPr sz="850" b="0">
                <a:solidFill>
                  <a:srgbClr val="59636E"/>
                </a:solidFill>
                <a:latin typeface="Calibri"/>
              </a:rPr>
              <a:t>). Teal = above Global average, blue = below.</a:t>
            </a:r>
          </a:p>
        </p:txBody>
      </p:sp>
      <p:sp>
        <p:nvSpPr>
          <p:cNvPr id="39" name="TextBox 38"/>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0" name="Picture 39" descr="lock.png"/>
          <p:cNvPicPr>
            <a:picLocks noChangeAspect="1"/>
          </p:cNvPicPr>
          <p:nvPr/>
        </p:nvPicPr>
        <p:blipFill>
          <a:blip r:embed="rId5"/>
          <a:stretch>
            <a:fillRect/>
          </a:stretch>
        </p:blipFill>
        <p:spPr>
          <a:xfrm>
            <a:off x="3531850" y="5521642"/>
            <a:ext cx="122849" cy="178689"/>
          </a:xfrm>
          <a:prstGeom prst="rect">
            <a:avLst/>
          </a:prstGeom>
        </p:spPr>
      </p:pic>
      <p:sp>
        <p:nvSpPr>
          <p:cNvPr id="41" name="TextBox 40"/>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2" name="TextBox 41"/>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3" name="Picture 42" descr="lock.png"/>
          <p:cNvPicPr>
            <a:picLocks noChangeAspect="1"/>
          </p:cNvPicPr>
          <p:nvPr/>
        </p:nvPicPr>
        <p:blipFill>
          <a:blip r:embed="rId5"/>
          <a:stretch>
            <a:fillRect/>
          </a:stretch>
        </p:blipFill>
        <p:spPr>
          <a:xfrm>
            <a:off x="1673060" y="5681662"/>
            <a:ext cx="122849" cy="178689"/>
          </a:xfrm>
          <a:prstGeom prst="rect">
            <a:avLst/>
          </a:prstGeom>
        </p:spPr>
      </p:pic>
      <p:sp>
        <p:nvSpPr>
          <p:cNvPr id="44" name="TextBox 43"/>
          <p:cNvSpPr txBox="1"/>
          <p:nvPr/>
        </p:nvSpPr>
        <p:spPr>
          <a:xfrm>
            <a:off x="1832943" y="5690996"/>
            <a:ext cx="2032173" cy="179069"/>
          </a:xfrm>
          <a:prstGeom prst="rect">
            <a:avLst/>
          </a:prstGeom>
          <a:noFill/>
        </p:spPr>
        <p:txBody>
          <a:bodyPr wrap="none" lIns="0" rIns="0" tIns="0" bIns="0">
            <a:spAutoFit/>
          </a:bodyPr>
          <a:lstStyle/>
          <a:p>
            <a:r>
              <a:rPr sz="1050" b="0">
                <a:solidFill>
                  <a:srgbClr val="1F1F1F"/>
                </a:solidFill>
                <a:latin typeface="Calibri"/>
              </a:rPr>
              <a:t>/Units in South Asia &amp; Pacific to US$</a:t>
            </a:r>
          </a:p>
        </p:txBody>
      </p:sp>
      <p:pic>
        <p:nvPicPr>
          <p:cNvPr id="45" name="Picture 44" descr="lock.png"/>
          <p:cNvPicPr>
            <a:picLocks noChangeAspect="1"/>
          </p:cNvPicPr>
          <p:nvPr/>
        </p:nvPicPr>
        <p:blipFill>
          <a:blip r:embed="rId5"/>
          <a:stretch>
            <a:fillRect/>
          </a:stretch>
        </p:blipFill>
        <p:spPr>
          <a:xfrm>
            <a:off x="793721" y="5841682"/>
            <a:ext cx="122849" cy="178689"/>
          </a:xfrm>
          <a:prstGeom prst="rect">
            <a:avLst/>
          </a:prstGeom>
        </p:spPr>
      </p:pic>
      <p:sp>
        <p:nvSpPr>
          <p:cNvPr id="46" name="TextBox 45"/>
          <p:cNvSpPr txBox="1"/>
          <p:nvPr/>
        </p:nvSpPr>
        <p:spPr>
          <a:xfrm>
            <a:off x="953604" y="5851016"/>
            <a:ext cx="1401886" cy="179069"/>
          </a:xfrm>
          <a:prstGeom prst="rect">
            <a:avLst/>
          </a:prstGeom>
          <a:noFill/>
        </p:spPr>
        <p:txBody>
          <a:bodyPr wrap="none" lIns="0" rIns="0" tIns="0" bIns="0">
            <a:spAutoFit/>
          </a:bodyPr>
          <a:lstStyle/>
          <a:p>
            <a:r>
              <a:rPr sz="1050" b="0">
                <a:solidFill>
                  <a:srgbClr val="1F1F1F"/>
                </a:solidFill>
                <a:latin typeface="Calibri"/>
              </a:rPr>
              <a:t>/Units in North America.</a:t>
            </a:r>
          </a:p>
        </p:txBody>
      </p:sp>
      <p:sp>
        <p:nvSpPr>
          <p:cNvPr id="47" name="TextBox 46"/>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48" name="TextBox 47"/>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49" name="Picture 48" descr="lock.png"/>
          <p:cNvPicPr>
            <a:picLocks noChangeAspect="1"/>
          </p:cNvPicPr>
          <p:nvPr/>
        </p:nvPicPr>
        <p:blipFill>
          <a:blip r:embed="rId5"/>
          <a:stretch>
            <a:fillRect/>
          </a:stretch>
        </p:blipFill>
        <p:spPr>
          <a:xfrm>
            <a:off x="4958179" y="5681662"/>
            <a:ext cx="122849" cy="178689"/>
          </a:xfrm>
          <a:prstGeom prst="rect">
            <a:avLst/>
          </a:prstGeom>
        </p:spPr>
      </p:pic>
      <p:sp>
        <p:nvSpPr>
          <p:cNvPr id="50" name="TextBox 49"/>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1" name="Picture 50" descr="lock.png"/>
          <p:cNvPicPr>
            <a:picLocks noChangeAspect="1"/>
          </p:cNvPicPr>
          <p:nvPr/>
        </p:nvPicPr>
        <p:blipFill>
          <a:blip r:embed="rId5"/>
          <a:stretch>
            <a:fillRect/>
          </a:stretch>
        </p:blipFill>
        <p:spPr>
          <a:xfrm>
            <a:off x="7243541" y="5681662"/>
            <a:ext cx="122849" cy="178689"/>
          </a:xfrm>
          <a:prstGeom prst="rect">
            <a:avLst/>
          </a:prstGeom>
        </p:spPr>
      </p:pic>
      <p:sp>
        <p:nvSpPr>
          <p:cNvPr id="52" name="TextBox 51"/>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3" name="TextBox 52"/>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4" name="TextBox 53"/>
          <p:cNvSpPr txBox="1"/>
          <p:nvPr/>
        </p:nvSpPr>
        <p:spPr>
          <a:xfrm>
            <a:off x="8658225" y="5530976"/>
            <a:ext cx="3143250" cy="179069"/>
          </a:xfrm>
          <a:prstGeom prst="rect">
            <a:avLst/>
          </a:prstGeom>
          <a:noFill/>
        </p:spPr>
        <p:txBody>
          <a:bodyPr wrap="none" lIns="0" rIns="0" tIns="0" bIns="0">
            <a:spAutoFit/>
          </a:bodyPr>
          <a:lstStyle/>
          <a:p>
            <a:r>
              <a:rPr sz="1050" b="0">
                <a:solidFill>
                  <a:srgbClr val="1F1F1F"/>
                </a:solidFill>
                <a:latin typeface="Calibri"/>
              </a:rPr>
              <a:t>Latin America shows the widest gap between its cheapest</a:t>
            </a:r>
          </a:p>
        </p:txBody>
      </p:sp>
      <p:sp>
        <p:nvSpPr>
          <p:cNvPr id="55" name="TextBox 54"/>
          <p:cNvSpPr txBox="1"/>
          <p:nvPr/>
        </p:nvSpPr>
        <p:spPr>
          <a:xfrm>
            <a:off x="8658225" y="5690996"/>
            <a:ext cx="1976437" cy="179069"/>
          </a:xfrm>
          <a:prstGeom prst="rect">
            <a:avLst/>
          </a:prstGeom>
          <a:noFill/>
        </p:spPr>
        <p:txBody>
          <a:bodyPr wrap="none" lIns="0" rIns="0" tIns="0" bIns="0">
            <a:spAutoFit/>
          </a:bodyPr>
          <a:lstStyle/>
          <a:p>
            <a:r>
              <a:rPr sz="1050" b="0">
                <a:solidFill>
                  <a:srgbClr val="1F1F1F"/>
                </a:solidFill>
                <a:latin typeface="Calibri"/>
              </a:rPr>
              <a:t>and most expensive vehicle type at</a:t>
            </a:r>
          </a:p>
        </p:txBody>
      </p:sp>
      <p:pic>
        <p:nvPicPr>
          <p:cNvPr id="56" name="Picture 55" descr="lock.png"/>
          <p:cNvPicPr>
            <a:picLocks noChangeAspect="1"/>
          </p:cNvPicPr>
          <p:nvPr/>
        </p:nvPicPr>
        <p:blipFill>
          <a:blip r:embed="rId5"/>
          <a:stretch>
            <a:fillRect/>
          </a:stretch>
        </p:blipFill>
        <p:spPr>
          <a:xfrm>
            <a:off x="10581611" y="5681662"/>
            <a:ext cx="122849" cy="178689"/>
          </a:xfrm>
          <a:prstGeom prst="rect">
            <a:avLst/>
          </a:prstGeom>
        </p:spPr>
      </p:pic>
      <p:sp>
        <p:nvSpPr>
          <p:cNvPr id="57" name="TextBox 56"/>
          <p:cNvSpPr txBox="1"/>
          <p:nvPr/>
        </p:nvSpPr>
        <p:spPr>
          <a:xfrm>
            <a:off x="10741494" y="5690996"/>
            <a:ext cx="946100" cy="179069"/>
          </a:xfrm>
          <a:prstGeom prst="rect">
            <a:avLst/>
          </a:prstGeom>
          <a:noFill/>
        </p:spPr>
        <p:txBody>
          <a:bodyPr wrap="none" lIns="0" rIns="0" tIns="0" bIns="0">
            <a:spAutoFit/>
          </a:bodyPr>
          <a:lstStyle/>
          <a:p>
            <a:r>
              <a:rPr sz="1050" b="0">
                <a:solidFill>
                  <a:srgbClr val="1F1F1F"/>
                </a:solidFill>
                <a:latin typeface="Calibri"/>
              </a:rPr>
              <a:t>, so product mix</a:t>
            </a:r>
          </a:p>
        </p:txBody>
      </p:sp>
      <p:sp>
        <p:nvSpPr>
          <p:cNvPr id="58" name="TextBox 57"/>
          <p:cNvSpPr txBox="1"/>
          <p:nvPr/>
        </p:nvSpPr>
        <p:spPr>
          <a:xfrm>
            <a:off x="8658225" y="5851016"/>
            <a:ext cx="2167867" cy="179069"/>
          </a:xfrm>
          <a:prstGeom prst="rect">
            <a:avLst/>
          </a:prstGeom>
          <a:noFill/>
        </p:spPr>
        <p:txBody>
          <a:bodyPr wrap="none" lIns="0" rIns="0" tIns="0" bIns="0">
            <a:spAutoFit/>
          </a:bodyPr>
          <a:lstStyle/>
          <a:p>
            <a:r>
              <a:rPr sz="1050" b="0">
                <a:solidFill>
                  <a:srgbClr val="1F1F1F"/>
                </a:solidFill>
                <a:latin typeface="Calibri"/>
              </a:rPr>
              <a:t>shifts move its average price the most.</a:t>
            </a:r>
          </a:p>
        </p:txBody>
      </p:sp>
      <p:pic>
        <p:nvPicPr>
          <p:cNvPr id="59" name="Picture 58" descr="lock.png"/>
          <p:cNvPicPr>
            <a:picLocks noChangeAspect="1"/>
          </p:cNvPicPr>
          <p:nvPr/>
        </p:nvPicPr>
        <p:blipFill>
          <a:blip r:embed="rId5"/>
          <a:stretch>
            <a:fillRect/>
          </a:stretch>
        </p:blipFill>
        <p:spPr>
          <a:xfrm>
            <a:off x="3952821" y="3129375"/>
            <a:ext cx="482444" cy="701737"/>
          </a:xfrm>
          <a:prstGeom prst="rect">
            <a:avLst/>
          </a:prstGeom>
        </p:spPr>
      </p:pic>
      <p:sp>
        <p:nvSpPr>
          <p:cNvPr id="60" name="lockshield_10"/>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Price Positioning &amp; Key Findings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TMR's key findings on where premiums and discounts sit</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8" name="Rounded Rectangle 7"/>
          <p:cNvSpPr/>
          <p:nvPr/>
        </p:nvSpPr>
        <p:spPr>
          <a:xfrm>
            <a:off x="142875" y="1317574"/>
            <a:ext cx="769620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0" name="Connector 9"/>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1,600</a:t>
            </a:r>
          </a:p>
        </p:txBody>
      </p:sp>
      <p:cxnSp>
        <p:nvCxnSpPr>
          <p:cNvPr id="12" name="Connector 11"/>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2,636</a:t>
            </a:r>
          </a:p>
        </p:txBody>
      </p:sp>
      <p:cxnSp>
        <p:nvCxnSpPr>
          <p:cNvPr id="14" name="Connector 13"/>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3,672</a:t>
            </a:r>
          </a:p>
        </p:txBody>
      </p:sp>
      <p:cxnSp>
        <p:nvCxnSpPr>
          <p:cNvPr id="16" name="Connector 15"/>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4,708</a:t>
            </a:r>
          </a:p>
        </p:txBody>
      </p:sp>
      <p:cxnSp>
        <p:nvCxnSpPr>
          <p:cNvPr id="18" name="Connector 17"/>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5,743</a:t>
            </a:r>
          </a:p>
        </p:txBody>
      </p:sp>
      <p:cxnSp>
        <p:nvCxnSpPr>
          <p:cNvPr id="20" name="Connector 19"/>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6,779</a:t>
            </a:r>
          </a:p>
        </p:txBody>
      </p:sp>
      <p:sp>
        <p:nvSpPr>
          <p:cNvPr id="22" name="TextBox 21"/>
          <p:cNvSpPr txBox="1"/>
          <p:nvPr/>
        </p:nvSpPr>
        <p:spPr>
          <a:xfrm>
            <a:off x="238125" y="2151696"/>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North America</a:t>
            </a:r>
          </a:p>
        </p:txBody>
      </p:sp>
      <p:sp>
        <p:nvSpPr>
          <p:cNvPr id="23" name="Rectangle 22"/>
          <p:cNvSpPr/>
          <p:nvPr/>
        </p:nvSpPr>
        <p:spPr>
          <a:xfrm>
            <a:off x="5027325" y="2076093"/>
            <a:ext cx="1899731"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76411" y="2175509"/>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2772191"/>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Latin America</a:t>
            </a:r>
          </a:p>
        </p:txBody>
      </p:sp>
      <p:sp>
        <p:nvSpPr>
          <p:cNvPr id="26" name="Rectangle 25"/>
          <p:cNvSpPr/>
          <p:nvPr/>
        </p:nvSpPr>
        <p:spPr>
          <a:xfrm>
            <a:off x="3443114" y="2696587"/>
            <a:ext cx="1420428"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85681" y="2796003"/>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392685"/>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Western Europe</a:t>
            </a:r>
          </a:p>
        </p:txBody>
      </p:sp>
      <p:sp>
        <p:nvSpPr>
          <p:cNvPr id="29" name="Rectangle 28"/>
          <p:cNvSpPr/>
          <p:nvPr/>
        </p:nvSpPr>
        <p:spPr>
          <a:xfrm>
            <a:off x="4651808" y="3317082"/>
            <a:ext cx="1796018"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898435" y="341649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4013180"/>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Eastern Europe</a:t>
            </a:r>
          </a:p>
        </p:txBody>
      </p:sp>
      <p:sp>
        <p:nvSpPr>
          <p:cNvPr id="32" name="Rectangle 31"/>
          <p:cNvSpPr/>
          <p:nvPr/>
        </p:nvSpPr>
        <p:spPr>
          <a:xfrm>
            <a:off x="3757225" y="3937576"/>
            <a:ext cx="1480941"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779434" y="403699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633674"/>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East Asia</a:t>
            </a:r>
          </a:p>
        </p:txBody>
      </p:sp>
      <p:sp>
        <p:nvSpPr>
          <p:cNvPr id="35" name="Rectangle 34"/>
          <p:cNvSpPr/>
          <p:nvPr/>
        </p:nvSpPr>
        <p:spPr>
          <a:xfrm>
            <a:off x="2347059" y="4558070"/>
            <a:ext cx="1019051"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007375" y="465748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254169"/>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South Asia &amp; Pacific</a:t>
            </a:r>
          </a:p>
        </p:txBody>
      </p:sp>
      <p:sp>
        <p:nvSpPr>
          <p:cNvPr id="38" name="Rectangle 37"/>
          <p:cNvSpPr/>
          <p:nvPr/>
        </p:nvSpPr>
        <p:spPr>
          <a:xfrm>
            <a:off x="2045494" y="5178565"/>
            <a:ext cx="901770"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624872" y="5277981"/>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74663"/>
            <a:ext cx="1066800" cy="171450"/>
          </a:xfrm>
          <a:prstGeom prst="rect">
            <a:avLst/>
          </a:prstGeom>
          <a:noFill/>
        </p:spPr>
        <p:txBody>
          <a:bodyPr wrap="square" lIns="28575" rIns="28575" tIns="9525" bIns="9525" anchor="ctr">
            <a:spAutoFit/>
          </a:bodyPr>
          <a:lstStyle/>
          <a:p>
            <a:pPr algn="l"/>
            <a:r>
              <a:rPr sz="1100" b="1">
                <a:solidFill>
                  <a:srgbClr val="0E2A5C"/>
                </a:solidFill>
                <a:latin typeface="Calibri"/>
              </a:rPr>
              <a:t>Middle East &amp; Africa</a:t>
            </a:r>
          </a:p>
        </p:txBody>
      </p:sp>
      <p:sp>
        <p:nvSpPr>
          <p:cNvPr id="41" name="Rectangle 40"/>
          <p:cNvSpPr/>
          <p:nvPr/>
        </p:nvSpPr>
        <p:spPr>
          <a:xfrm>
            <a:off x="3230120" y="5799059"/>
            <a:ext cx="1325654" cy="322657"/>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121227" y="5898475"/>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Key Findings</a:t>
            </a:r>
          </a:p>
        </p:txBody>
      </p:sp>
      <p:sp>
        <p:nvSpPr>
          <p:cNvPr id="49" name="Rectangle 48"/>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Rectangle 5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4" name="TextBox 53"/>
          <p:cNvSpPr txBox="1"/>
          <p:nvPr/>
        </p:nvSpPr>
        <p:spPr>
          <a:xfrm>
            <a:off x="8048625" y="1736673"/>
            <a:ext cx="3726023" cy="194310"/>
          </a:xfrm>
          <a:prstGeom prst="rect">
            <a:avLst/>
          </a:prstGeom>
          <a:noFill/>
        </p:spPr>
        <p:txBody>
          <a:bodyPr wrap="none" lIns="0" rIns="0" tIns="0" bIns="0">
            <a:spAutoFit/>
          </a:bodyPr>
          <a:lstStyle/>
          <a:p>
            <a:r>
              <a:rPr sz="1150" b="0">
                <a:solidFill>
                  <a:srgbClr val="2E2E2E"/>
                </a:solidFill>
                <a:latin typeface="Calibri"/>
              </a:rPr>
              <a:t>Industrial and port vehicles segment is expected to command</a:t>
            </a:r>
          </a:p>
        </p:txBody>
      </p:sp>
      <p:sp>
        <p:nvSpPr>
          <p:cNvPr id="55" name="TextBox 54"/>
          <p:cNvSpPr txBox="1"/>
          <p:nvPr/>
        </p:nvSpPr>
        <p:spPr>
          <a:xfrm>
            <a:off x="8048625" y="1911934"/>
            <a:ext cx="1998526" cy="194310"/>
          </a:xfrm>
          <a:prstGeom prst="rect">
            <a:avLst/>
          </a:prstGeom>
          <a:noFill/>
        </p:spPr>
        <p:txBody>
          <a:bodyPr wrap="none" lIns="0" rIns="0" tIns="0" bIns="0">
            <a:spAutoFit/>
          </a:bodyPr>
          <a:lstStyle/>
          <a:p>
            <a:r>
              <a:rPr sz="1150" b="0">
                <a:solidFill>
                  <a:srgbClr val="2E2E2E"/>
                </a:solidFill>
                <a:latin typeface="Calibri"/>
              </a:rPr>
              <a:t>the highest average price of US$</a:t>
            </a:r>
          </a:p>
        </p:txBody>
      </p:sp>
      <p:pic>
        <p:nvPicPr>
          <p:cNvPr id="56" name="Picture 55" descr="lock.png"/>
          <p:cNvPicPr>
            <a:picLocks noChangeAspect="1"/>
          </p:cNvPicPr>
          <p:nvPr/>
        </p:nvPicPr>
        <p:blipFill>
          <a:blip r:embed="rId4"/>
          <a:stretch>
            <a:fillRect/>
          </a:stretch>
        </p:blipFill>
        <p:spPr>
          <a:xfrm>
            <a:off x="9996305" y="1901710"/>
            <a:ext cx="134549" cy="195707"/>
          </a:xfrm>
          <a:prstGeom prst="rect">
            <a:avLst/>
          </a:prstGeom>
        </p:spPr>
      </p:pic>
      <p:sp>
        <p:nvSpPr>
          <p:cNvPr id="57" name="TextBox 56"/>
          <p:cNvSpPr txBox="1"/>
          <p:nvPr/>
        </p:nvSpPr>
        <p:spPr>
          <a:xfrm>
            <a:off x="10171414" y="1911934"/>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58" name="TextBox 57"/>
          <p:cNvSpPr txBox="1"/>
          <p:nvPr/>
        </p:nvSpPr>
        <p:spPr>
          <a:xfrm>
            <a:off x="8048625" y="2087194"/>
            <a:ext cx="3335511" cy="194310"/>
          </a:xfrm>
          <a:prstGeom prst="rect">
            <a:avLst/>
          </a:prstGeom>
          <a:noFill/>
        </p:spPr>
        <p:txBody>
          <a:bodyPr wrap="none" lIns="0" rIns="0" tIns="0" bIns="0">
            <a:spAutoFit/>
          </a:bodyPr>
          <a:lstStyle/>
          <a:p>
            <a:r>
              <a:rPr sz="1150" b="0">
                <a:solidFill>
                  <a:srgbClr val="2E2E2E"/>
                </a:solidFill>
                <a:latin typeface="Calibri"/>
              </a:rPr>
              <a:t>selling price of Off-Highway vehicle is estimated at US$</a:t>
            </a:r>
          </a:p>
        </p:txBody>
      </p:sp>
      <p:pic>
        <p:nvPicPr>
          <p:cNvPr id="59" name="Picture 58" descr="lock.png"/>
          <p:cNvPicPr>
            <a:picLocks noChangeAspect="1"/>
          </p:cNvPicPr>
          <p:nvPr/>
        </p:nvPicPr>
        <p:blipFill>
          <a:blip r:embed="rId4"/>
          <a:stretch>
            <a:fillRect/>
          </a:stretch>
        </p:blipFill>
        <p:spPr>
          <a:xfrm>
            <a:off x="11333290" y="2076970"/>
            <a:ext cx="134549" cy="195707"/>
          </a:xfrm>
          <a:prstGeom prst="rect">
            <a:avLst/>
          </a:prstGeom>
        </p:spPr>
      </p:pic>
      <p:sp>
        <p:nvSpPr>
          <p:cNvPr id="60" name="TextBox 59"/>
          <p:cNvSpPr txBox="1"/>
          <p:nvPr/>
        </p:nvSpPr>
        <p:spPr>
          <a:xfrm>
            <a:off x="11508399" y="2087194"/>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61" name="TextBox 60"/>
          <p:cNvSpPr txBox="1"/>
          <p:nvPr/>
        </p:nvSpPr>
        <p:spPr>
          <a:xfrm>
            <a:off x="8048625" y="2262454"/>
            <a:ext cx="3698924" cy="194310"/>
          </a:xfrm>
          <a:prstGeom prst="rect">
            <a:avLst/>
          </a:prstGeom>
          <a:noFill/>
        </p:spPr>
        <p:txBody>
          <a:bodyPr wrap="none" lIns="0" rIns="0" tIns="0" bIns="0">
            <a:spAutoFit/>
          </a:bodyPr>
          <a:lstStyle/>
          <a:p>
            <a:r>
              <a:rPr sz="1150" b="0">
                <a:solidFill>
                  <a:srgbClr val="2E2E2E"/>
                </a:solidFill>
                <a:latin typeface="Calibri"/>
              </a:rPr>
              <a:t>Unit in 2025 and is projected to remain broadly stable at US$</a:t>
            </a:r>
          </a:p>
        </p:txBody>
      </p:sp>
      <p:pic>
        <p:nvPicPr>
          <p:cNvPr id="62" name="Picture 61" descr="lock.png"/>
          <p:cNvPicPr>
            <a:picLocks noChangeAspect="1"/>
          </p:cNvPicPr>
          <p:nvPr/>
        </p:nvPicPr>
        <p:blipFill>
          <a:blip r:embed="rId4"/>
          <a:stretch>
            <a:fillRect/>
          </a:stretch>
        </p:blipFill>
        <p:spPr>
          <a:xfrm>
            <a:off x="8034545" y="2427490"/>
            <a:ext cx="134549" cy="195707"/>
          </a:xfrm>
          <a:prstGeom prst="rect">
            <a:avLst/>
          </a:prstGeom>
        </p:spPr>
      </p:pic>
      <p:sp>
        <p:nvSpPr>
          <p:cNvPr id="63" name="TextBox 62"/>
          <p:cNvSpPr txBox="1"/>
          <p:nvPr/>
        </p:nvSpPr>
        <p:spPr>
          <a:xfrm>
            <a:off x="8209654" y="2437714"/>
            <a:ext cx="1105681" cy="194310"/>
          </a:xfrm>
          <a:prstGeom prst="rect">
            <a:avLst/>
          </a:prstGeom>
          <a:noFill/>
        </p:spPr>
        <p:txBody>
          <a:bodyPr wrap="none" lIns="0" rIns="0" tIns="0" bIns="0">
            <a:spAutoFit/>
          </a:bodyPr>
          <a:lstStyle/>
          <a:p>
            <a:r>
              <a:rPr sz="1150" b="0">
                <a:solidFill>
                  <a:srgbClr val="2E2E2E"/>
                </a:solidFill>
                <a:latin typeface="Calibri"/>
              </a:rPr>
              <a:t>per Unit by 2036.</a:t>
            </a:r>
          </a:p>
        </p:txBody>
      </p:sp>
      <p:sp>
        <p:nvSpPr>
          <p:cNvPr id="64" name="TextBox 63"/>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5" name="TextBox 64"/>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6" name="TextBox 65"/>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7" name="TextBox 66"/>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8" name="TextBox 67"/>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9" name="TextBox 68"/>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70" name="TextBox 69"/>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Off-Highway Vehicle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8" name="Rounded Rectangle 7"/>
          <p:cNvSpPr/>
          <p:nvPr/>
        </p:nvSpPr>
        <p:spPr>
          <a:xfrm>
            <a:off x="142875" y="1354081"/>
            <a:ext cx="702945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0" name="Freeform 9"/>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37" name="TextBox 36"/>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38" name="TextBox 37"/>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39" name="TextBox 38"/>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0" name="TextBox 39"/>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1" name="TextBox 40"/>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2" name="TextBox 41"/>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3" name="TextBox 42"/>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4" name="TextBox 43"/>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Rounded Rectangle 50"/>
          <p:cNvSpPr/>
          <p:nvPr/>
        </p:nvSpPr>
        <p:spPr>
          <a:xfrm>
            <a:off x="7248525" y="1354081"/>
            <a:ext cx="4800600" cy="3479443"/>
          </a:xfrm>
          <a:prstGeom prst="roundRect">
            <a:avLst>
              <a:gd name="adj" fmla="val 219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53" name="Rectangle 52"/>
          <p:cNvSpPr/>
          <p:nvPr/>
        </p:nvSpPr>
        <p:spPr>
          <a:xfrm>
            <a:off x="7381875" y="1677931"/>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Pricing across the Off-Highway Vehicle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Demand strength, competitive intensity and supply-chain reliability together define the ceiling on pricing power across the Off-Highway Vehicle Market.</a:t>
            </a:r>
          </a:p>
          <a:p>
            <a:pPr algn="l">
              <a:lnSpc>
                <a:spcPct val="100000"/>
              </a:lnSpc>
              <a:spcBef>
                <a:spcPts val="0"/>
              </a:spcBef>
              <a:spcAft>
                <a:spcPts val="300"/>
              </a:spcAft>
            </a:pPr>
            <a:r>
              <a:rPr sz="1100" b="0">
                <a:solidFill>
                  <a:srgbClr val="2A5F8F"/>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5" name="Rounded Rectangle 54"/>
          <p:cNvSpPr/>
          <p:nvPr/>
        </p:nvSpPr>
        <p:spPr>
          <a:xfrm>
            <a:off x="7248525" y="4943046"/>
            <a:ext cx="4800600" cy="1686354"/>
          </a:xfrm>
          <a:prstGeom prst="roundRect">
            <a:avLst>
              <a:gd name="adj" fmla="val 45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E2A5C"/>
                </a:solidFill>
                <a:latin typeface="Calibri"/>
              </a:rPr>
              <a:t>Highest-Impact Drivers</a:t>
            </a:r>
          </a:p>
        </p:txBody>
      </p:sp>
      <p:sp>
        <p:nvSpPr>
          <p:cNvPr id="57" name="Rectangle 56"/>
          <p:cNvSpPr/>
          <p:nvPr/>
        </p:nvSpPr>
        <p:spPr>
          <a:xfrm>
            <a:off x="7381875" y="5266896"/>
            <a:ext cx="45339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2" name="Picture 61" descr="lock.png"/>
          <p:cNvPicPr>
            <a:picLocks noChangeAspect="1"/>
          </p:cNvPicPr>
          <p:nvPr/>
        </p:nvPicPr>
        <p:blipFill>
          <a:blip r:embed="rId4"/>
          <a:stretch>
            <a:fillRect/>
          </a:stretch>
        </p:blipFill>
        <p:spPr>
          <a:xfrm>
            <a:off x="3896652" y="1889132"/>
            <a:ext cx="128699" cy="187198"/>
          </a:xfrm>
          <a:prstGeom prst="rect">
            <a:avLst/>
          </a:prstGeom>
        </p:spPr>
      </p:pic>
      <p:sp>
        <p:nvSpPr>
          <p:cNvPr id="63" name="TextBox 62"/>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4" name="Picture 63" descr="lock.png"/>
          <p:cNvPicPr>
            <a:picLocks noChangeAspect="1"/>
          </p:cNvPicPr>
          <p:nvPr/>
        </p:nvPicPr>
        <p:blipFill>
          <a:blip r:embed="rId4"/>
          <a:stretch>
            <a:fillRect/>
          </a:stretch>
        </p:blipFill>
        <p:spPr>
          <a:xfrm>
            <a:off x="5370988" y="2315626"/>
            <a:ext cx="92663" cy="134782"/>
          </a:xfrm>
          <a:prstGeom prst="rect">
            <a:avLst/>
          </a:prstGeom>
        </p:spPr>
      </p:pic>
      <p:sp>
        <p:nvSpPr>
          <p:cNvPr id="65" name="TextBox 64"/>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6" name="Picture 65" descr="lock.png"/>
          <p:cNvPicPr>
            <a:picLocks noChangeAspect="1"/>
          </p:cNvPicPr>
          <p:nvPr/>
        </p:nvPicPr>
        <p:blipFill>
          <a:blip r:embed="rId4"/>
          <a:stretch>
            <a:fillRect/>
          </a:stretch>
        </p:blipFill>
        <p:spPr>
          <a:xfrm>
            <a:off x="6125111" y="3363591"/>
            <a:ext cx="92663" cy="134782"/>
          </a:xfrm>
          <a:prstGeom prst="rect">
            <a:avLst/>
          </a:prstGeom>
        </p:spPr>
      </p:pic>
      <p:sp>
        <p:nvSpPr>
          <p:cNvPr id="67" name="TextBox 66"/>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68" name="Picture 67" descr="lock.png"/>
          <p:cNvPicPr>
            <a:picLocks noChangeAspect="1"/>
          </p:cNvPicPr>
          <p:nvPr/>
        </p:nvPicPr>
        <p:blipFill>
          <a:blip r:embed="rId4"/>
          <a:stretch>
            <a:fillRect/>
          </a:stretch>
        </p:blipFill>
        <p:spPr>
          <a:xfrm>
            <a:off x="6130716" y="4655202"/>
            <a:ext cx="97811" cy="142270"/>
          </a:xfrm>
          <a:prstGeom prst="rect">
            <a:avLst/>
          </a:prstGeom>
        </p:spPr>
      </p:pic>
      <p:sp>
        <p:nvSpPr>
          <p:cNvPr id="69" name="TextBox 68"/>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0" name="Picture 69" descr="lock.png"/>
          <p:cNvPicPr>
            <a:picLocks noChangeAspect="1"/>
          </p:cNvPicPr>
          <p:nvPr/>
        </p:nvPicPr>
        <p:blipFill>
          <a:blip r:embed="rId4"/>
          <a:stretch>
            <a:fillRect/>
          </a:stretch>
        </p:blipFill>
        <p:spPr>
          <a:xfrm>
            <a:off x="4837988" y="5767261"/>
            <a:ext cx="92663" cy="134782"/>
          </a:xfrm>
          <a:prstGeom prst="rect">
            <a:avLst/>
          </a:prstGeom>
        </p:spPr>
      </p:pic>
      <p:sp>
        <p:nvSpPr>
          <p:cNvPr id="71" name="TextBox 70"/>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2" name="Picture 71" descr="lock.png"/>
          <p:cNvPicPr>
            <a:picLocks noChangeAspect="1"/>
          </p:cNvPicPr>
          <p:nvPr/>
        </p:nvPicPr>
        <p:blipFill>
          <a:blip r:embed="rId4"/>
          <a:stretch>
            <a:fillRect/>
          </a:stretch>
        </p:blipFill>
        <p:spPr>
          <a:xfrm>
            <a:off x="4119536" y="6103453"/>
            <a:ext cx="97811" cy="142270"/>
          </a:xfrm>
          <a:prstGeom prst="rect">
            <a:avLst/>
          </a:prstGeom>
        </p:spPr>
      </p:pic>
      <p:sp>
        <p:nvSpPr>
          <p:cNvPr id="73" name="TextBox 72"/>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4" name="TextBox 73"/>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5" name="Picture 74" descr="lock.png"/>
          <p:cNvPicPr>
            <a:picLocks noChangeAspect="1"/>
          </p:cNvPicPr>
          <p:nvPr/>
        </p:nvPicPr>
        <p:blipFill>
          <a:blip r:embed="rId4"/>
          <a:stretch>
            <a:fillRect/>
          </a:stretch>
        </p:blipFill>
        <p:spPr>
          <a:xfrm>
            <a:off x="2497177" y="5767261"/>
            <a:ext cx="92663" cy="134782"/>
          </a:xfrm>
          <a:prstGeom prst="rect">
            <a:avLst/>
          </a:prstGeom>
        </p:spPr>
      </p:pic>
      <p:sp>
        <p:nvSpPr>
          <p:cNvPr id="76" name="TextBox 75"/>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7" name="Picture 76" descr="lock.png"/>
          <p:cNvPicPr>
            <a:picLocks noChangeAspect="1"/>
          </p:cNvPicPr>
          <p:nvPr/>
        </p:nvPicPr>
        <p:blipFill>
          <a:blip r:embed="rId4"/>
          <a:stretch>
            <a:fillRect/>
          </a:stretch>
        </p:blipFill>
        <p:spPr>
          <a:xfrm>
            <a:off x="1612685" y="4719297"/>
            <a:ext cx="92663" cy="134782"/>
          </a:xfrm>
          <a:prstGeom prst="rect">
            <a:avLst/>
          </a:prstGeom>
        </p:spPr>
      </p:pic>
      <p:sp>
        <p:nvSpPr>
          <p:cNvPr id="78" name="TextBox 77"/>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79" name="Picture 78" descr="lock.png"/>
          <p:cNvPicPr>
            <a:picLocks noChangeAspect="1"/>
          </p:cNvPicPr>
          <p:nvPr/>
        </p:nvPicPr>
        <p:blipFill>
          <a:blip r:embed="rId4"/>
          <a:stretch>
            <a:fillRect/>
          </a:stretch>
        </p:blipFill>
        <p:spPr>
          <a:xfrm>
            <a:off x="2155213" y="3363591"/>
            <a:ext cx="92663" cy="134782"/>
          </a:xfrm>
          <a:prstGeom prst="rect">
            <a:avLst/>
          </a:prstGeom>
        </p:spPr>
      </p:pic>
      <p:sp>
        <p:nvSpPr>
          <p:cNvPr id="80" name="TextBox 79"/>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1" name="Picture 80" descr="lock.png"/>
          <p:cNvPicPr>
            <a:picLocks noChangeAspect="1"/>
          </p:cNvPicPr>
          <p:nvPr/>
        </p:nvPicPr>
        <p:blipFill>
          <a:blip r:embed="rId4"/>
          <a:stretch>
            <a:fillRect/>
          </a:stretch>
        </p:blipFill>
        <p:spPr>
          <a:xfrm>
            <a:off x="2374076" y="2375977"/>
            <a:ext cx="92663" cy="134782"/>
          </a:xfrm>
          <a:prstGeom prst="rect">
            <a:avLst/>
          </a:prstGeom>
        </p:spPr>
      </p:pic>
      <p:sp>
        <p:nvSpPr>
          <p:cNvPr id="82" name="TextBox 81"/>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3" name="Picture 82" descr="lock.png"/>
          <p:cNvPicPr>
            <a:picLocks noChangeAspect="1"/>
          </p:cNvPicPr>
          <p:nvPr/>
        </p:nvPicPr>
        <p:blipFill>
          <a:blip r:embed="rId4"/>
          <a:stretch>
            <a:fillRect/>
          </a:stretch>
        </p:blipFill>
        <p:spPr>
          <a:xfrm>
            <a:off x="8070793" y="5352366"/>
            <a:ext cx="128699" cy="187198"/>
          </a:xfrm>
          <a:prstGeom prst="rect">
            <a:avLst/>
          </a:prstGeom>
        </p:spPr>
      </p:pic>
      <p:sp>
        <p:nvSpPr>
          <p:cNvPr id="84" name="TextBox 83"/>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5" name="TextBox 84"/>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6" name="Picture 85" descr="lock.png"/>
          <p:cNvPicPr>
            <a:picLocks noChangeAspect="1"/>
          </p:cNvPicPr>
          <p:nvPr/>
        </p:nvPicPr>
        <p:blipFill>
          <a:blip r:embed="rId4"/>
          <a:stretch>
            <a:fillRect/>
          </a:stretch>
        </p:blipFill>
        <p:spPr>
          <a:xfrm>
            <a:off x="9181298" y="5570298"/>
            <a:ext cx="128699" cy="187198"/>
          </a:xfrm>
          <a:prstGeom prst="rect">
            <a:avLst/>
          </a:prstGeom>
        </p:spPr>
      </p:pic>
      <p:sp>
        <p:nvSpPr>
          <p:cNvPr id="87" name="TextBox 86"/>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88" name="TextBox 87"/>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89" name="Picture 88" descr="lock.png"/>
          <p:cNvPicPr>
            <a:picLocks noChangeAspect="1"/>
          </p:cNvPicPr>
          <p:nvPr/>
        </p:nvPicPr>
        <p:blipFill>
          <a:blip r:embed="rId4"/>
          <a:stretch>
            <a:fillRect/>
          </a:stretch>
        </p:blipFill>
        <p:spPr>
          <a:xfrm>
            <a:off x="8808310" y="5788230"/>
            <a:ext cx="128699" cy="187198"/>
          </a:xfrm>
          <a:prstGeom prst="rect">
            <a:avLst/>
          </a:prstGeom>
        </p:spPr>
      </p:pic>
      <p:sp>
        <p:nvSpPr>
          <p:cNvPr id="90" name="TextBox 89"/>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1" name="TextBox 90"/>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2" name="Picture 91" descr="lock.png"/>
          <p:cNvPicPr>
            <a:picLocks noChangeAspect="1"/>
          </p:cNvPicPr>
          <p:nvPr/>
        </p:nvPicPr>
        <p:blipFill>
          <a:blip r:embed="rId4"/>
          <a:stretch>
            <a:fillRect/>
          </a:stretch>
        </p:blipFill>
        <p:spPr>
          <a:xfrm>
            <a:off x="8855241" y="6006162"/>
            <a:ext cx="128699" cy="187198"/>
          </a:xfrm>
          <a:prstGeom prst="rect">
            <a:avLst/>
          </a:prstGeom>
        </p:spPr>
      </p:pic>
      <p:sp>
        <p:nvSpPr>
          <p:cNvPr id="93" name="TextBox 92"/>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4" name="TextBox 93"/>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5" name="Picture 94" descr="lock.png"/>
          <p:cNvPicPr>
            <a:picLocks noChangeAspect="1"/>
          </p:cNvPicPr>
          <p:nvPr/>
        </p:nvPicPr>
        <p:blipFill>
          <a:blip r:embed="rId4"/>
          <a:stretch>
            <a:fillRect/>
          </a:stretch>
        </p:blipFill>
        <p:spPr>
          <a:xfrm>
            <a:off x="8930002" y="6224094"/>
            <a:ext cx="128699" cy="187198"/>
          </a:xfrm>
          <a:prstGeom prst="rect">
            <a:avLst/>
          </a:prstGeom>
        </p:spPr>
      </p:pic>
      <p:sp>
        <p:nvSpPr>
          <p:cNvPr id="96" name="TextBox 95"/>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Factors Impacting Pricing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8" name="Rounded Rectangle 7"/>
          <p:cNvSpPr/>
          <p:nvPr/>
        </p:nvSpPr>
        <p:spPr>
          <a:xfrm>
            <a:off x="142875" y="1314450"/>
            <a:ext cx="11906250" cy="3286125"/>
          </a:xfrm>
          <a:prstGeom prst="roundRect">
            <a:avLst>
              <a:gd name="adj" fmla="val 2318"/>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E2A5C"/>
                          </a:solidFill>
                          <a:latin typeface="Calibri"/>
                        </a:rPr>
                        <a:t>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Category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Impact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Score (0–10)</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How It Shapes Price</a:t>
                      </a:r>
                      <a:endParaRPr sz="1100"/>
                    </a:p>
                  </a:txBody>
                  <a:tcPr marL="47625" marR="38100" marT="19050" marB="19050" anchor="ctr">
                    <a:solidFill>
                      <a:srgbClr val="EBF2F9"/>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9FD"/>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52975"/>
            <a:ext cx="11906250" cy="1790700"/>
          </a:xfrm>
          <a:prstGeom prst="roundRect">
            <a:avLst>
              <a:gd name="adj" fmla="val 42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the Factors Imply</a:t>
            </a:r>
          </a:p>
        </p:txBody>
      </p:sp>
      <p:sp>
        <p:nvSpPr>
          <p:cNvPr id="13" name="Rectangle 12"/>
          <p:cNvSpPr/>
          <p:nvPr/>
        </p:nvSpPr>
        <p:spPr>
          <a:xfrm>
            <a:off x="276225" y="50768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8102155" y="2764346"/>
            <a:ext cx="330041" cy="480060"/>
          </a:xfrm>
          <a:prstGeom prst="rect">
            <a:avLst/>
          </a:prstGeom>
        </p:spPr>
      </p:pic>
      <p:sp>
        <p:nvSpPr>
          <p:cNvPr id="18" name="TextBox 17"/>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19" name="Picture 18" descr="lock.png"/>
          <p:cNvPicPr>
            <a:picLocks noChangeAspect="1"/>
          </p:cNvPicPr>
          <p:nvPr/>
        </p:nvPicPr>
        <p:blipFill>
          <a:blip r:embed="rId4"/>
          <a:stretch>
            <a:fillRect/>
          </a:stretch>
        </p:blipFill>
        <p:spPr>
          <a:xfrm>
            <a:off x="5650945" y="5161851"/>
            <a:ext cx="134549" cy="195707"/>
          </a:xfrm>
          <a:prstGeom prst="rect">
            <a:avLst/>
          </a:prstGeom>
        </p:spPr>
      </p:pic>
      <p:sp>
        <p:nvSpPr>
          <p:cNvPr id="20" name="TextBox 19"/>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1" name="Picture 20" descr="lock.png"/>
          <p:cNvPicPr>
            <a:picLocks noChangeAspect="1"/>
          </p:cNvPicPr>
          <p:nvPr/>
        </p:nvPicPr>
        <p:blipFill>
          <a:blip r:embed="rId4"/>
          <a:stretch>
            <a:fillRect/>
          </a:stretch>
        </p:blipFill>
        <p:spPr>
          <a:xfrm>
            <a:off x="6074762" y="5161851"/>
            <a:ext cx="134549" cy="195707"/>
          </a:xfrm>
          <a:prstGeom prst="rect">
            <a:avLst/>
          </a:prstGeom>
        </p:spPr>
      </p:pic>
      <p:sp>
        <p:nvSpPr>
          <p:cNvPr id="22" name="TextBox 21"/>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3" name="TextBox 22"/>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4" name="TextBox 23"/>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5" name="TextBox 24"/>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Regional Price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8" name="Rounded Rectangle 7"/>
          <p:cNvSpPr/>
          <p:nvPr/>
        </p:nvSpPr>
        <p:spPr>
          <a:xfrm>
            <a:off x="142875" y="1317574"/>
            <a:ext cx="590550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0" name="Table 9"/>
          <p:cNvGraphicFramePr>
            <a:graphicFrameLocks noGrp="1"/>
          </p:cNvGraphicFramePr>
          <p:nvPr/>
        </p:nvGraphicFramePr>
        <p:xfrm>
          <a:off x="152400" y="1574749"/>
          <a:ext cx="5886452" cy="2271331"/>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Manufacturer</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Distribution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Retail</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Total Margin (%)</a:t>
                      </a:r>
                      <a:endParaRPr sz="1100"/>
                    </a:p>
                  </a:txBody>
                  <a:tcPr marL="47625" marR="38100" marT="19050" marB="19050" anchor="ctr">
                    <a:solidFill>
                      <a:srgbClr val="EBF2F9"/>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6200775" y="1317574"/>
            <a:ext cx="5848350" cy="2738055"/>
          </a:xfrm>
          <a:prstGeom prst="roundRect">
            <a:avLst>
              <a:gd name="adj" fmla="val 278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4" name="Table 13"/>
          <p:cNvGraphicFramePr>
            <a:graphicFrameLocks noGrp="1"/>
          </p:cNvGraphicFramePr>
          <p:nvPr/>
        </p:nvGraphicFramePr>
        <p:xfrm>
          <a:off x="6210300" y="1574749"/>
          <a:ext cx="5829299" cy="2271331"/>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E2A5C"/>
                          </a:solidFill>
                          <a:latin typeface="Calibri"/>
                        </a:rPr>
                        <a:t>Geography</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2029F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28931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Eastern Europe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8931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8931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142875" y="4201658"/>
            <a:ext cx="11906250" cy="2354727"/>
          </a:xfrm>
          <a:prstGeom prst="roundRect">
            <a:avLst>
              <a:gd name="adj" fmla="val 323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E2A5C"/>
                </a:solidFill>
                <a:latin typeface="Calibri"/>
              </a:rPr>
              <a:t>What This Section Covers</a:t>
            </a:r>
          </a:p>
        </p:txBody>
      </p:sp>
      <p:sp>
        <p:nvSpPr>
          <p:cNvPr id="18" name="Rectangle 17"/>
          <p:cNvSpPr/>
          <p:nvPr/>
        </p:nvSpPr>
        <p:spPr>
          <a:xfrm>
            <a:off x="276225" y="4525508"/>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3594387" y="2566777"/>
            <a:ext cx="366712" cy="533400"/>
          </a:xfrm>
          <a:prstGeom prst="rect">
            <a:avLst/>
          </a:prstGeom>
        </p:spPr>
      </p:pic>
      <p:pic>
        <p:nvPicPr>
          <p:cNvPr id="23" name="Picture 22"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Global Pricing Benchmarking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vehicle type type and region (US$/Units).</a:t>
            </a:r>
          </a:p>
        </p:txBody>
      </p:sp>
      <p:sp>
        <p:nvSpPr>
          <p:cNvPr id="8" name="Rounded Rectangle 7"/>
          <p:cNvSpPr/>
          <p:nvPr/>
        </p:nvSpPr>
        <p:spPr>
          <a:xfrm>
            <a:off x="142875" y="1314450"/>
            <a:ext cx="11906250" cy="3095625"/>
          </a:xfrm>
          <a:prstGeom prst="roundRect">
            <a:avLst>
              <a:gd name="adj" fmla="val 246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Vehicle Type (US$/Units)</a:t>
            </a:r>
          </a:p>
        </p:txBody>
      </p:sp>
      <p:graphicFrame>
        <p:nvGraphicFramePr>
          <p:cNvPr id="10" name="Table 9"/>
          <p:cNvGraphicFramePr>
            <a:graphicFrameLocks noGrp="1"/>
          </p:cNvGraphicFramePr>
          <p:nvPr/>
        </p:nvGraphicFramePr>
        <p:xfrm>
          <a:off x="152400" y="1571625"/>
          <a:ext cx="11888579" cy="2628897"/>
        </p:xfrm>
        <a:graphic>
          <a:graphicData uri="http://schemas.openxmlformats.org/drawingml/2006/table">
            <a:tbl>
              <a:tblPr>
                <a:tableStyleId>{5C22544A-7EE6-4342-B048-85BDC9FD1C3A}</a:tableStyleId>
              </a:tblPr>
              <a:tblGrid>
                <a:gridCol w="1348921"/>
                <a:gridCol w="2113618"/>
                <a:gridCol w="2086835"/>
                <a:gridCol w="1751339"/>
                <a:gridCol w="2436994"/>
                <a:gridCol w="1204273"/>
                <a:gridCol w="946599"/>
              </a:tblGrid>
              <a:tr h="438912">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Construction and Mining Vehicles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Agriculture and Forestry Vehicles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Industrial and Port Vehicles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Recreational and Powersports Vehicles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Military Vehicles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Weighted Avg</a:t>
                      </a:r>
                      <a:endParaRPr sz="1100"/>
                    </a:p>
                  </a:txBody>
                  <a:tcPr marL="47625" marR="38100" marT="19050" marB="19050" anchor="ctr">
                    <a:solidFill>
                      <a:srgbClr val="EBF2F9"/>
                    </a:solidFill>
                  </a:tcPr>
                </a:tc>
              </a:tr>
              <a:tr h="312855">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2855">
                <a:tc>
                  <a:txBody>
                    <a:bodyPr wrap="none"/>
                    <a:lstStyle/>
                    <a:p>
                      <a:pPr algn="l"/>
                      <a:r>
                        <a:rPr sz="1100" b="1">
                          <a:solidFill>
                            <a:srgbClr val="2E2E2E"/>
                          </a:solidFill>
                          <a:latin typeface="Calibri"/>
                        </a:rPr>
                        <a:t>Latin America</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12855">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2855">
                <a:tc>
                  <a:txBody>
                    <a:bodyPr wrap="none"/>
                    <a:lstStyle/>
                    <a:p>
                      <a:pPr algn="l"/>
                      <a:r>
                        <a:rPr sz="1100" b="1">
                          <a:solidFill>
                            <a:srgbClr val="2E2E2E"/>
                          </a:solidFill>
                          <a:latin typeface="Calibri"/>
                        </a:rPr>
                        <a:t>Eastern Europe</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12855">
                <a:tc>
                  <a:txBody>
                    <a:bodyPr wrap="none"/>
                    <a:lstStyle/>
                    <a:p>
                      <a:pPr algn="l"/>
                      <a:r>
                        <a:rPr sz="1100" b="1">
                          <a:solidFill>
                            <a:srgbClr val="2E2E2E"/>
                          </a:solidFill>
                          <a:latin typeface="Calibri"/>
                        </a:rPr>
                        <a:t>East Asia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12855">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12855">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42100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4552950"/>
            <a:ext cx="11906250" cy="1990725"/>
          </a:xfrm>
          <a:prstGeom prst="roundRect">
            <a:avLst>
              <a:gd name="adj" fmla="val 382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E2A5C"/>
                </a:solidFill>
                <a:latin typeface="Calibri"/>
              </a:rPr>
              <a:t>Benchmarking Insights</a:t>
            </a:r>
          </a:p>
        </p:txBody>
      </p:sp>
      <p:sp>
        <p:nvSpPr>
          <p:cNvPr id="14" name="Rectangle 13"/>
          <p:cNvSpPr/>
          <p:nvPr/>
        </p:nvSpPr>
        <p:spPr>
          <a:xfrm>
            <a:off x="276225" y="48768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962525"/>
            <a:ext cx="11639550" cy="15049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6576075" y="2838829"/>
            <a:ext cx="366712" cy="533400"/>
          </a:xfrm>
          <a:prstGeom prst="rect">
            <a:avLst/>
          </a:prstGeom>
        </p:spPr>
      </p:pic>
      <p:sp>
        <p:nvSpPr>
          <p:cNvPr id="19" name="TextBox 18"/>
          <p:cNvSpPr txBox="1"/>
          <p:nvPr/>
        </p:nvSpPr>
        <p:spPr>
          <a:xfrm>
            <a:off x="276225" y="4972050"/>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0" name="Picture 19" descr="lock.png"/>
          <p:cNvPicPr>
            <a:picLocks noChangeAspect="1"/>
          </p:cNvPicPr>
          <p:nvPr/>
        </p:nvPicPr>
        <p:blipFill>
          <a:blip r:embed="rId4"/>
          <a:stretch>
            <a:fillRect/>
          </a:stretch>
        </p:blipFill>
        <p:spPr>
          <a:xfrm>
            <a:off x="4867067" y="4961826"/>
            <a:ext cx="134549" cy="195707"/>
          </a:xfrm>
          <a:prstGeom prst="rect">
            <a:avLst/>
          </a:prstGeom>
        </p:spPr>
      </p:pic>
      <p:sp>
        <p:nvSpPr>
          <p:cNvPr id="21" name="TextBox 20"/>
          <p:cNvSpPr txBox="1"/>
          <p:nvPr/>
        </p:nvSpPr>
        <p:spPr>
          <a:xfrm>
            <a:off x="5042176" y="4972050"/>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2" name="Picture 21" descr="lock.png"/>
          <p:cNvPicPr>
            <a:picLocks noChangeAspect="1"/>
          </p:cNvPicPr>
          <p:nvPr/>
        </p:nvPicPr>
        <p:blipFill>
          <a:blip r:embed="rId4"/>
          <a:stretch>
            <a:fillRect/>
          </a:stretch>
        </p:blipFill>
        <p:spPr>
          <a:xfrm>
            <a:off x="8695960" y="4961826"/>
            <a:ext cx="134549" cy="195707"/>
          </a:xfrm>
          <a:prstGeom prst="rect">
            <a:avLst/>
          </a:prstGeom>
        </p:spPr>
      </p:pic>
      <p:sp>
        <p:nvSpPr>
          <p:cNvPr id="23" name="TextBox 22"/>
          <p:cNvSpPr txBox="1"/>
          <p:nvPr/>
        </p:nvSpPr>
        <p:spPr>
          <a:xfrm>
            <a:off x="8871069" y="4972050"/>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4" name="TextBox 23"/>
          <p:cNvSpPr txBox="1"/>
          <p:nvPr/>
        </p:nvSpPr>
        <p:spPr>
          <a:xfrm>
            <a:off x="276225" y="5199888"/>
            <a:ext cx="5877693" cy="194310"/>
          </a:xfrm>
          <a:prstGeom prst="rect">
            <a:avLst/>
          </a:prstGeom>
          <a:noFill/>
        </p:spPr>
        <p:txBody>
          <a:bodyPr wrap="none" lIns="0" rIns="0" tIns="0" bIns="0">
            <a:spAutoFit/>
          </a:bodyPr>
          <a:lstStyle/>
          <a:p>
            <a:r>
              <a:rPr sz="1150" b="0">
                <a:solidFill>
                  <a:srgbClr val="2E2E2E"/>
                </a:solidFill>
                <a:latin typeface="Calibri"/>
              </a:rPr>
              <a:t>▪ Price ranges are benchmarked per vehicle type type at 2026, derived as Value ÷ Volume with a ±</a:t>
            </a:r>
          </a:p>
        </p:txBody>
      </p:sp>
      <p:pic>
        <p:nvPicPr>
          <p:cNvPr id="25" name="Picture 24" descr="lock.png"/>
          <p:cNvPicPr>
            <a:picLocks noChangeAspect="1"/>
          </p:cNvPicPr>
          <p:nvPr/>
        </p:nvPicPr>
        <p:blipFill>
          <a:blip r:embed="rId4"/>
          <a:stretch>
            <a:fillRect/>
          </a:stretch>
        </p:blipFill>
        <p:spPr>
          <a:xfrm>
            <a:off x="6103072" y="5189664"/>
            <a:ext cx="134549" cy="195707"/>
          </a:xfrm>
          <a:prstGeom prst="rect">
            <a:avLst/>
          </a:prstGeom>
        </p:spPr>
      </p:pic>
      <p:sp>
        <p:nvSpPr>
          <p:cNvPr id="26" name="TextBox 25"/>
          <p:cNvSpPr txBox="1"/>
          <p:nvPr/>
        </p:nvSpPr>
        <p:spPr>
          <a:xfrm>
            <a:off x="6278182" y="5199888"/>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7" name="TextBox 26"/>
          <p:cNvSpPr txBox="1"/>
          <p:nvPr/>
        </p:nvSpPr>
        <p:spPr>
          <a:xfrm>
            <a:off x="276225" y="5427725"/>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28" name="Picture 27" descr="lock.png"/>
          <p:cNvPicPr>
            <a:picLocks noChangeAspect="1"/>
          </p:cNvPicPr>
          <p:nvPr/>
        </p:nvPicPr>
        <p:blipFill>
          <a:blip r:embed="rId4"/>
          <a:stretch>
            <a:fillRect/>
          </a:stretch>
        </p:blipFill>
        <p:spPr>
          <a:xfrm>
            <a:off x="2366246" y="5417502"/>
            <a:ext cx="134549" cy="195707"/>
          </a:xfrm>
          <a:prstGeom prst="rect">
            <a:avLst/>
          </a:prstGeom>
        </p:spPr>
      </p:pic>
      <p:sp>
        <p:nvSpPr>
          <p:cNvPr id="29" name="TextBox 28"/>
          <p:cNvSpPr txBox="1"/>
          <p:nvPr/>
        </p:nvSpPr>
        <p:spPr>
          <a:xfrm>
            <a:off x="2541355" y="5427725"/>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0" name="TextBox 29"/>
          <p:cNvSpPr txBox="1"/>
          <p:nvPr/>
        </p:nvSpPr>
        <p:spPr>
          <a:xfrm>
            <a:off x="276225" y="5655563"/>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Price Forecast &amp; Dynamics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vehicle type type and the structural factors shaping it (US$/Units).</a:t>
            </a:r>
          </a:p>
        </p:txBody>
      </p:sp>
      <p:sp>
        <p:nvSpPr>
          <p:cNvPr id="8" name="Rounded Rectangle 7"/>
          <p:cNvSpPr/>
          <p:nvPr/>
        </p:nvSpPr>
        <p:spPr>
          <a:xfrm>
            <a:off x="142875" y="1317574"/>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Vehicle Type (US$/Units)</a:t>
            </a:r>
          </a:p>
        </p:txBody>
      </p:sp>
      <p:graphicFrame>
        <p:nvGraphicFramePr>
          <p:cNvPr id="10" name="Table 9"/>
          <p:cNvGraphicFramePr>
            <a:graphicFrameLocks noGrp="1"/>
          </p:cNvGraphicFramePr>
          <p:nvPr/>
        </p:nvGraphicFramePr>
        <p:xfrm>
          <a:off x="152400" y="1574749"/>
          <a:ext cx="11887198" cy="1504676"/>
        </p:xfrm>
        <a:graphic>
          <a:graphicData uri="http://schemas.openxmlformats.org/drawingml/2006/table">
            <a:tbl>
              <a:tblPr>
                <a:tableStyleId>{5C22544A-7EE6-4342-B048-85BDC9FD1C3A}</a:tableStyleId>
              </a:tblPr>
              <a:tblGrid>
                <a:gridCol w="4236748"/>
                <a:gridCol w="1275075"/>
                <a:gridCol w="1275075"/>
                <a:gridCol w="1275075"/>
                <a:gridCol w="1275075"/>
                <a:gridCol w="1275075"/>
                <a:gridCol w="1275075"/>
              </a:tblGrid>
              <a:tr h="246126">
                <a:tc>
                  <a:txBody>
                    <a:bodyPr wrap="none"/>
                    <a:lstStyle/>
                    <a:p>
                      <a:pPr algn="l"/>
                      <a:r>
                        <a:rPr sz="1100" b="1">
                          <a:solidFill>
                            <a:srgbClr val="0E2A5C"/>
                          </a:solidFill>
                          <a:latin typeface="Calibri"/>
                        </a:rPr>
                        <a:t>Vehicle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2026E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2028F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2030F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2032F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2034F</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2036F</a:t>
                      </a:r>
                      <a:endParaRPr sz="1100"/>
                    </a:p>
                  </a:txBody>
                  <a:tcPr marL="47625" marR="38100" marT="19050" marB="19050" anchor="ctr">
                    <a:solidFill>
                      <a:srgbClr val="EBF2F9"/>
                    </a:solidFill>
                  </a:tcPr>
                </a:tc>
              </a:tr>
              <a:tr h="251710">
                <a:tc>
                  <a:txBody>
                    <a:bodyPr wrap="none"/>
                    <a:lstStyle/>
                    <a:p>
                      <a:pPr algn="l"/>
                      <a:r>
                        <a:rPr sz="1100" b="1">
                          <a:solidFill>
                            <a:srgbClr val="2E2E2E"/>
                          </a:solidFill>
                          <a:latin typeface="Calibri"/>
                        </a:rPr>
                        <a:t>Construction and Mining Vehic…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1710">
                <a:tc>
                  <a:txBody>
                    <a:bodyPr wrap="none"/>
                    <a:lstStyle/>
                    <a:p>
                      <a:pPr algn="l"/>
                      <a:r>
                        <a:rPr sz="1100" b="1">
                          <a:solidFill>
                            <a:srgbClr val="2E2E2E"/>
                          </a:solidFill>
                          <a:latin typeface="Calibri"/>
                        </a:rPr>
                        <a:t>Agriculture and Forestry Vehi…</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51710">
                <a:tc>
                  <a:txBody>
                    <a:bodyPr wrap="none"/>
                    <a:lstStyle/>
                    <a:p>
                      <a:pPr algn="l"/>
                      <a:r>
                        <a:rPr sz="1100" b="1">
                          <a:solidFill>
                            <a:srgbClr val="2E2E2E"/>
                          </a:solidFill>
                          <a:latin typeface="Calibri"/>
                        </a:rPr>
                        <a:t>Industrial and Port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51710">
                <a:tc>
                  <a:txBody>
                    <a:bodyPr wrap="none"/>
                    <a:lstStyle/>
                    <a:p>
                      <a:pPr algn="l"/>
                      <a:r>
                        <a:rPr sz="1100" b="1">
                          <a:solidFill>
                            <a:srgbClr val="2E2E2E"/>
                          </a:solidFill>
                          <a:latin typeface="Calibri"/>
                        </a:rPr>
                        <a:t>Recreational and Powersports…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251710">
                <a:tc>
                  <a:txBody>
                    <a:bodyPr wrap="none"/>
                    <a:lstStyle/>
                    <a:p>
                      <a:pPr algn="l"/>
                      <a:r>
                        <a:rPr sz="1100" b="1">
                          <a:solidFill>
                            <a:srgbClr val="2E2E2E"/>
                          </a:solidFill>
                          <a:latin typeface="Calibri"/>
                        </a:rPr>
                        <a:t>Military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1" name="TextBox 10"/>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81350"/>
          </a:xfrm>
          <a:prstGeom prst="roundRect">
            <a:avLst>
              <a:gd name="adj" fmla="val 239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4" name="Table 13"/>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E2A5C"/>
                          </a:solidFill>
                          <a:latin typeface="Calibri"/>
                        </a:rPr>
                        <a:t>Pricing Factor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Direction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Impact (H/M/L)</a:t>
                      </a:r>
                      <a:endParaRPr sz="1100"/>
                    </a:p>
                  </a:txBody>
                  <a:tcPr marL="47625" marR="38100" marT="19050" marB="19050" anchor="ctr">
                    <a:solidFill>
                      <a:srgbClr val="EBF2F9"/>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9FD"/>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9FD"/>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9FD"/>
                    </a:solidFill>
                  </a:tcPr>
                </a:tc>
              </a:tr>
            </a:tbl>
          </a:graphicData>
        </a:graphic>
      </p:graphicFrame>
      <p:sp>
        <p:nvSpPr>
          <p:cNvPr id="15" name="TextBox 14"/>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3398495"/>
            <a:ext cx="5848350" cy="3157890"/>
          </a:xfrm>
          <a:prstGeom prst="roundRect">
            <a:avLst>
              <a:gd name="adj" fmla="val 241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E2A5C"/>
                </a:solidFill>
                <a:latin typeface="Calibri"/>
              </a:rPr>
              <a:t>Pricing Dynamics &amp; Outlook</a:t>
            </a:r>
          </a:p>
        </p:txBody>
      </p:sp>
      <p:sp>
        <p:nvSpPr>
          <p:cNvPr id="18" name="Rectangle 17"/>
          <p:cNvSpPr/>
          <p:nvPr/>
        </p:nvSpPr>
        <p:spPr>
          <a:xfrm>
            <a:off x="6334125" y="3722345"/>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8027682" y="2183449"/>
            <a:ext cx="366712" cy="533400"/>
          </a:xfrm>
          <a:prstGeom prst="rect">
            <a:avLst/>
          </a:prstGeom>
        </p:spPr>
      </p:pic>
      <p:sp>
        <p:nvSpPr>
          <p:cNvPr id="23" name="TextBox 22"/>
          <p:cNvSpPr txBox="1"/>
          <p:nvPr/>
        </p:nvSpPr>
        <p:spPr>
          <a:xfrm>
            <a:off x="6334125" y="3817595"/>
            <a:ext cx="3288689" cy="194310"/>
          </a:xfrm>
          <a:prstGeom prst="rect">
            <a:avLst/>
          </a:prstGeom>
          <a:noFill/>
        </p:spPr>
        <p:txBody>
          <a:bodyPr wrap="none" lIns="0" rIns="0" tIns="0" bIns="0">
            <a:spAutoFit/>
          </a:bodyPr>
          <a:lstStyle/>
          <a:p>
            <a:r>
              <a:rPr sz="1150" b="0">
                <a:solidFill>
                  <a:srgbClr val="2E2E2E"/>
                </a:solidFill>
                <a:latin typeface="Calibri"/>
              </a:rPr>
              <a:t>▪ Average vehicle type price is projected to rise from ~</a:t>
            </a:r>
          </a:p>
        </p:txBody>
      </p:sp>
      <p:pic>
        <p:nvPicPr>
          <p:cNvPr id="24" name="Picture 23" descr="lock.png"/>
          <p:cNvPicPr>
            <a:picLocks noChangeAspect="1"/>
          </p:cNvPicPr>
          <p:nvPr/>
        </p:nvPicPr>
        <p:blipFill>
          <a:blip r:embed="rId4"/>
          <a:stretch>
            <a:fillRect/>
          </a:stretch>
        </p:blipFill>
        <p:spPr>
          <a:xfrm>
            <a:off x="9571968" y="3807371"/>
            <a:ext cx="134549" cy="195707"/>
          </a:xfrm>
          <a:prstGeom prst="rect">
            <a:avLst/>
          </a:prstGeom>
        </p:spPr>
      </p:pic>
      <p:sp>
        <p:nvSpPr>
          <p:cNvPr id="25" name="TextBox 24"/>
          <p:cNvSpPr txBox="1"/>
          <p:nvPr/>
        </p:nvSpPr>
        <p:spPr>
          <a:xfrm>
            <a:off x="9747077"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6" name="Picture 25" descr="lock.png"/>
          <p:cNvPicPr>
            <a:picLocks noChangeAspect="1"/>
          </p:cNvPicPr>
          <p:nvPr/>
        </p:nvPicPr>
        <p:blipFill>
          <a:blip r:embed="rId4"/>
          <a:stretch>
            <a:fillRect/>
          </a:stretch>
        </p:blipFill>
        <p:spPr>
          <a:xfrm>
            <a:off x="10004342" y="3807371"/>
            <a:ext cx="134549" cy="195707"/>
          </a:xfrm>
          <a:prstGeom prst="rect">
            <a:avLst/>
          </a:prstGeom>
        </p:spPr>
      </p:pic>
      <p:sp>
        <p:nvSpPr>
          <p:cNvPr id="27" name="TextBox 26"/>
          <p:cNvSpPr txBox="1"/>
          <p:nvPr/>
        </p:nvSpPr>
        <p:spPr>
          <a:xfrm>
            <a:off x="10179452" y="3817595"/>
            <a:ext cx="1286817" cy="194310"/>
          </a:xfrm>
          <a:prstGeom prst="rect">
            <a:avLst/>
          </a:prstGeom>
          <a:noFill/>
        </p:spPr>
        <p:txBody>
          <a:bodyPr wrap="none" lIns="0" rIns="0" tIns="0" bIns="0">
            <a:spAutoFit/>
          </a:bodyPr>
          <a:lstStyle/>
          <a:p>
            <a:r>
              <a:rPr sz="1150" b="0">
                <a:solidFill>
                  <a:srgbClr val="2E2E2E"/>
                </a:solidFill>
                <a:latin typeface="Calibri"/>
              </a:rPr>
              <a:t>US$/Units by 2036 a</a:t>
            </a:r>
          </a:p>
        </p:txBody>
      </p:sp>
      <p:sp>
        <p:nvSpPr>
          <p:cNvPr id="28" name="TextBox 27"/>
          <p:cNvSpPr txBox="1"/>
          <p:nvPr/>
        </p:nvSpPr>
        <p:spPr>
          <a:xfrm>
            <a:off x="6334125" y="3992855"/>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29" name="Picture 28" descr="lock.png"/>
          <p:cNvPicPr>
            <a:picLocks noChangeAspect="1"/>
          </p:cNvPicPr>
          <p:nvPr/>
        </p:nvPicPr>
        <p:blipFill>
          <a:blip r:embed="rId4"/>
          <a:stretch>
            <a:fillRect/>
          </a:stretch>
        </p:blipFill>
        <p:spPr>
          <a:xfrm>
            <a:off x="6432218" y="3982631"/>
            <a:ext cx="134549" cy="195707"/>
          </a:xfrm>
          <a:prstGeom prst="rect">
            <a:avLst/>
          </a:prstGeom>
        </p:spPr>
      </p:pic>
      <p:sp>
        <p:nvSpPr>
          <p:cNvPr id="30" name="TextBox 29"/>
          <p:cNvSpPr txBox="1"/>
          <p:nvPr/>
        </p:nvSpPr>
        <p:spPr>
          <a:xfrm>
            <a:off x="6607327"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1" name="TextBox 30"/>
          <p:cNvSpPr txBox="1"/>
          <p:nvPr/>
        </p:nvSpPr>
        <p:spPr>
          <a:xfrm>
            <a:off x="6334125" y="4220692"/>
            <a:ext cx="5118633" cy="194310"/>
          </a:xfrm>
          <a:prstGeom prst="rect">
            <a:avLst/>
          </a:prstGeom>
          <a:noFill/>
        </p:spPr>
        <p:txBody>
          <a:bodyPr wrap="none" lIns="0" rIns="0" tIns="0" bIns="0">
            <a:spAutoFit/>
          </a:bodyPr>
          <a:lstStyle/>
          <a:p>
            <a:r>
              <a:rPr sz="1150" b="0">
                <a:solidFill>
                  <a:srgbClr val="2E2E2E"/>
                </a:solidFill>
                <a:latin typeface="Calibri"/>
              </a:rPr>
              <a:t>▪ 'Recreational and Powersports…' shows the strongest forecast price appreciation (+</a:t>
            </a:r>
          </a:p>
        </p:txBody>
      </p:sp>
      <p:pic>
        <p:nvPicPr>
          <p:cNvPr id="32" name="Picture 31" descr="lock.png"/>
          <p:cNvPicPr>
            <a:picLocks noChangeAspect="1"/>
          </p:cNvPicPr>
          <p:nvPr/>
        </p:nvPicPr>
        <p:blipFill>
          <a:blip r:embed="rId4"/>
          <a:stretch>
            <a:fillRect/>
          </a:stretch>
        </p:blipFill>
        <p:spPr>
          <a:xfrm>
            <a:off x="11401912" y="4210469"/>
            <a:ext cx="134549" cy="195707"/>
          </a:xfrm>
          <a:prstGeom prst="rect">
            <a:avLst/>
          </a:prstGeom>
        </p:spPr>
      </p:pic>
      <p:sp>
        <p:nvSpPr>
          <p:cNvPr id="33" name="TextBox 32"/>
          <p:cNvSpPr txBox="1"/>
          <p:nvPr/>
        </p:nvSpPr>
        <p:spPr>
          <a:xfrm>
            <a:off x="11577021" y="4220692"/>
            <a:ext cx="120414" cy="194310"/>
          </a:xfrm>
          <a:prstGeom prst="rect">
            <a:avLst/>
          </a:prstGeom>
          <a:noFill/>
        </p:spPr>
        <p:txBody>
          <a:bodyPr wrap="none" lIns="0" rIns="0" tIns="0" bIns="0">
            <a:spAutoFit/>
          </a:bodyPr>
          <a:lstStyle/>
          <a:p>
            <a:r>
              <a:rPr sz="1150" b="0">
                <a:solidFill>
                  <a:srgbClr val="2E2E2E"/>
                </a:solidFill>
                <a:latin typeface="Calibri"/>
              </a:rPr>
              <a:t>)</a:t>
            </a:r>
          </a:p>
        </p:txBody>
      </p:sp>
      <p:sp>
        <p:nvSpPr>
          <p:cNvPr id="34" name="TextBox 33"/>
          <p:cNvSpPr txBox="1"/>
          <p:nvPr/>
        </p:nvSpPr>
        <p:spPr>
          <a:xfrm>
            <a:off x="6334125" y="4395952"/>
            <a:ext cx="1094271" cy="194310"/>
          </a:xfrm>
          <a:prstGeom prst="rect">
            <a:avLst/>
          </a:prstGeom>
          <a:noFill/>
        </p:spPr>
        <p:txBody>
          <a:bodyPr wrap="none" lIns="0" rIns="0" tIns="0" bIns="0">
            <a:spAutoFit/>
          </a:bodyPr>
          <a:lstStyle/>
          <a:p>
            <a:r>
              <a:rPr sz="1150" b="0">
                <a:solidFill>
                  <a:srgbClr val="2E2E2E"/>
                </a:solidFill>
                <a:latin typeface="Calibri"/>
              </a:rPr>
              <a:t>over the horizon.</a:t>
            </a:r>
          </a:p>
        </p:txBody>
      </p:sp>
      <p:sp>
        <p:nvSpPr>
          <p:cNvPr id="35" name="TextBox 34"/>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6" name="TextBox 35"/>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7" name="TextBox 36"/>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38" name="TextBox 37"/>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Competitor Pricing Strategies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7" name="Rounded Rectangle 6"/>
          <p:cNvSpPr/>
          <p:nvPr/>
        </p:nvSpPr>
        <p:spPr>
          <a:xfrm>
            <a:off x="142875" y="1007261"/>
            <a:ext cx="769620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8" name="Rounded Rectangle 7"/>
          <p:cNvSpPr/>
          <p:nvPr/>
        </p:nvSpPr>
        <p:spPr>
          <a:xfrm>
            <a:off x="142875" y="1317574"/>
            <a:ext cx="7696200" cy="3924545"/>
          </a:xfrm>
          <a:prstGeom prst="roundRect">
            <a:avLst>
              <a:gd name="adj" fmla="val 194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393774"/>
          <a:ext cx="7677149" cy="3619746"/>
        </p:xfrm>
        <a:graphic>
          <a:graphicData uri="http://schemas.openxmlformats.org/drawingml/2006/table">
            <a:tbl>
              <a:tblPr>
                <a:tableStyleId>{5C22544A-7EE6-4342-B048-85BDC9FD1C3A}</a:tableStyleId>
              </a:tblPr>
              <a:tblGrid>
                <a:gridCol w="2429852"/>
                <a:gridCol w="531062"/>
                <a:gridCol w="1116448"/>
                <a:gridCol w="1045132"/>
                <a:gridCol w="2554655"/>
              </a:tblGrid>
              <a:tr h="246126">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Tier</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Price Position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ASP vs Peers</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Strategy Focus</a:t>
                      </a:r>
                      <a:endParaRPr sz="1100"/>
                    </a:p>
                  </a:txBody>
                  <a:tcPr marL="47625" marR="38100" marT="19050" marB="19050" anchor="ctr">
                    <a:solidFill>
                      <a:srgbClr val="EBF2F9"/>
                    </a:solidFill>
                  </a:tcPr>
                </a:tc>
              </a:tr>
              <a:tr h="562270">
                <a:tc>
                  <a:txBody>
                    <a:bodyPr wrap="none"/>
                    <a:lstStyle/>
                    <a:p>
                      <a:pPr algn="l"/>
                      <a:r>
                        <a:rPr sz="1100" b="1">
                          <a:solidFill>
                            <a:srgbClr val="2E2E2E"/>
                          </a:solidFill>
                          <a:latin typeface="Calibri"/>
                        </a:rPr>
                        <a:t>Caterpillar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Komatsu</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Volvo Construction Equipment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Liebherr Group</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9FD"/>
                    </a:solidFill>
                  </a:tcPr>
                </a:tc>
              </a:tr>
              <a:tr h="562270">
                <a:tc>
                  <a:txBody>
                    <a:bodyPr wrap="none"/>
                    <a:lstStyle/>
                    <a:p>
                      <a:pPr algn="l"/>
                      <a:r>
                        <a:rPr sz="1100" b="1">
                          <a:solidFill>
                            <a:srgbClr val="2E2E2E"/>
                          </a:solidFill>
                          <a:latin typeface="Calibri"/>
                        </a:rPr>
                        <a:t>Hitachi Construction Machinery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XCMG Group</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5351641"/>
            <a:ext cx="7696200" cy="365074"/>
          </a:xfrm>
          <a:prstGeom prst="roundRect">
            <a:avLst>
              <a:gd name="adj" fmla="val 2087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2" name="Rounded Rectangle 11"/>
          <p:cNvSpPr/>
          <p:nvPr/>
        </p:nvSpPr>
        <p:spPr>
          <a:xfrm>
            <a:off x="7915275" y="1317574"/>
            <a:ext cx="4133850" cy="5238811"/>
          </a:xfrm>
          <a:prstGeom prst="roundRect">
            <a:avLst>
              <a:gd name="adj" fmla="val 184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E2A5C"/>
                </a:solidFill>
                <a:latin typeface="Calibri"/>
              </a:rPr>
              <a:t>Competitive Pricing Themes</a:t>
            </a:r>
          </a:p>
        </p:txBody>
      </p:sp>
      <p:sp>
        <p:nvSpPr>
          <p:cNvPr id="14" name="Rectangle 13"/>
          <p:cNvSpPr/>
          <p:nvPr/>
        </p:nvSpPr>
        <p:spPr>
          <a:xfrm>
            <a:off x="8048625" y="1641424"/>
            <a:ext cx="38671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4"/>
          <a:stretch>
            <a:fillRect/>
          </a:stretch>
        </p:blipFill>
        <p:spPr>
          <a:xfrm>
            <a:off x="4584307" y="3086680"/>
            <a:ext cx="330041" cy="480060"/>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Value Chain &amp; Stakeholder Mapping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7" name="TextBox 6"/>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8" name="Right Arrow 7"/>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3" name="Oval 12"/>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19" name="Rounded Rectangle 18"/>
          <p:cNvSpPr/>
          <p:nvPr/>
        </p:nvSpPr>
        <p:spPr>
          <a:xfrm>
            <a:off x="457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2" name="TextBox 21"/>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3" name="TextBox 22"/>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4" name="TextBox 23"/>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5" name="Oval 24"/>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2" name="Rounded Rectangle 31"/>
          <p:cNvSpPr/>
          <p:nvPr/>
        </p:nvSpPr>
        <p:spPr>
          <a:xfrm>
            <a:off x="2743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5" name="TextBox 34"/>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6" name="TextBox 35"/>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37" name="TextBox 36"/>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38" name="Oval 37"/>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5" name="Rounded Rectangle 44"/>
          <p:cNvSpPr/>
          <p:nvPr/>
        </p:nvSpPr>
        <p:spPr>
          <a:xfrm>
            <a:off x="5029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48" name="TextBox 47"/>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49" name="TextBox 48"/>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0" name="TextBox 49"/>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1" name="Oval 50"/>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sosceles Triangle 52"/>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57" name="Rounded Rectangle 56"/>
          <p:cNvSpPr/>
          <p:nvPr/>
        </p:nvSpPr>
        <p:spPr>
          <a:xfrm>
            <a:off x="7315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0" name="TextBox 59"/>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1" name="TextBox 60"/>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2" name="TextBox 61"/>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3" name="Oval 62"/>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8" name="Rounded Rectangle 67"/>
          <p:cNvSpPr/>
          <p:nvPr/>
        </p:nvSpPr>
        <p:spPr>
          <a:xfrm>
            <a:off x="9601200" y="2905646"/>
            <a:ext cx="2133600" cy="2281712"/>
          </a:xfrm>
          <a:prstGeom prst="roundRect">
            <a:avLst>
              <a:gd name="adj" fmla="val 35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1" name="TextBox 70"/>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2" name="TextBox 71"/>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3" name="Rounded Rectangle 72"/>
          <p:cNvSpPr/>
          <p:nvPr/>
        </p:nvSpPr>
        <p:spPr>
          <a:xfrm>
            <a:off x="381000" y="5315134"/>
            <a:ext cx="11430000" cy="1204744"/>
          </a:xfrm>
          <a:prstGeom prst="roundRect">
            <a:avLst>
              <a:gd name="adj" fmla="val 606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E2A5C"/>
                </a:solidFill>
                <a:latin typeface="Calibri"/>
              </a:rPr>
              <a:t>Value-Added Read-out</a:t>
            </a:r>
          </a:p>
        </p:txBody>
      </p:sp>
      <p:sp>
        <p:nvSpPr>
          <p:cNvPr id="75" name="Rectangle 74"/>
          <p:cNvSpPr/>
          <p:nvPr/>
        </p:nvSpPr>
        <p:spPr>
          <a:xfrm>
            <a:off x="514350" y="5625447"/>
            <a:ext cx="11163300" cy="18254"/>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2A5F8F"/>
                </a:solidFill>
                <a:latin typeface="Calibri"/>
              </a:rPr>
              <a:t/>
            </a:r>
            <a:r>
              <a:rPr sz="1100" b="0">
                <a:solidFill>
                  <a:srgbClr val="2E2E2E"/>
                </a:solidFill>
                <a:latin typeface="Calibri"/>
              </a:rPr>
              <a:t/>
            </a:r>
          </a:p>
        </p:txBody>
      </p:sp>
      <p:sp>
        <p:nvSpPr>
          <p:cNvPr id="77" name="Rectangle 7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79" name="Picture 78" descr="lock.png"/>
          <p:cNvPicPr>
            <a:picLocks noChangeAspect="1"/>
          </p:cNvPicPr>
          <p:nvPr/>
        </p:nvPicPr>
        <p:blipFill>
          <a:blip r:embed="rId4"/>
          <a:stretch>
            <a:fillRect/>
          </a:stretch>
        </p:blipFill>
        <p:spPr>
          <a:xfrm>
            <a:off x="1459650" y="2611256"/>
            <a:ext cx="128699" cy="187198"/>
          </a:xfrm>
          <a:prstGeom prst="rect">
            <a:avLst/>
          </a:prstGeom>
        </p:spPr>
      </p:pic>
      <p:pic>
        <p:nvPicPr>
          <p:cNvPr id="80" name="Picture 79" descr="lock.png"/>
          <p:cNvPicPr>
            <a:picLocks noChangeAspect="1"/>
          </p:cNvPicPr>
          <p:nvPr/>
        </p:nvPicPr>
        <p:blipFill>
          <a:blip r:embed="rId4"/>
          <a:stretch>
            <a:fillRect/>
          </a:stretch>
        </p:blipFill>
        <p:spPr>
          <a:xfrm>
            <a:off x="3745650" y="2611256"/>
            <a:ext cx="128699" cy="187198"/>
          </a:xfrm>
          <a:prstGeom prst="rect">
            <a:avLst/>
          </a:prstGeom>
        </p:spPr>
      </p:pic>
      <p:pic>
        <p:nvPicPr>
          <p:cNvPr id="81" name="Picture 80" descr="lock.png"/>
          <p:cNvPicPr>
            <a:picLocks noChangeAspect="1"/>
          </p:cNvPicPr>
          <p:nvPr/>
        </p:nvPicPr>
        <p:blipFill>
          <a:blip r:embed="rId4"/>
          <a:stretch>
            <a:fillRect/>
          </a:stretch>
        </p:blipFill>
        <p:spPr>
          <a:xfrm>
            <a:off x="6031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8317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10603650" y="2611256"/>
            <a:ext cx="128699" cy="187198"/>
          </a:xfrm>
          <a:prstGeom prst="rect">
            <a:avLst/>
          </a:prstGeom>
        </p:spPr>
      </p:pic>
      <p:sp>
        <p:nvSpPr>
          <p:cNvPr id="84" name="TextBox 83"/>
          <p:cNvSpPr txBox="1"/>
          <p:nvPr/>
        </p:nvSpPr>
        <p:spPr>
          <a:xfrm>
            <a:off x="514350" y="5717113"/>
            <a:ext cx="6551513" cy="153161"/>
          </a:xfrm>
          <a:prstGeom prst="rect">
            <a:avLst/>
          </a:prstGeom>
          <a:noFill/>
        </p:spPr>
        <p:txBody>
          <a:bodyPr wrap="none" lIns="0" rIns="0" tIns="0" bIns="0">
            <a:spAutoFit/>
          </a:bodyPr>
          <a:lstStyle/>
          <a:p>
            <a:r>
              <a:rPr sz="879" b="0">
                <a:solidFill>
                  <a:srgbClr val="2E2E2E"/>
                </a:solidFill>
                <a:latin typeface="Calibri"/>
              </a:rPr>
              <a:t>▪ The Off-Highway Vehicle Market value chain runs from raw-material suppliers through manufacturers, distributors and retailers to end users.</a:t>
            </a:r>
          </a:p>
        </p:txBody>
      </p:sp>
      <p:sp>
        <p:nvSpPr>
          <p:cNvPr id="85" name="TextBox 84"/>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6" name="Picture 85" descr="lock.png"/>
          <p:cNvPicPr>
            <a:picLocks noChangeAspect="1"/>
          </p:cNvPicPr>
          <p:nvPr/>
        </p:nvPicPr>
        <p:blipFill>
          <a:blip r:embed="rId4"/>
          <a:stretch>
            <a:fillRect/>
          </a:stretch>
        </p:blipFill>
        <p:spPr>
          <a:xfrm>
            <a:off x="3566114" y="5883635"/>
            <a:ext cx="102959" cy="149758"/>
          </a:xfrm>
          <a:prstGeom prst="rect">
            <a:avLst/>
          </a:prstGeom>
        </p:spPr>
      </p:pic>
      <p:sp>
        <p:nvSpPr>
          <p:cNvPr id="87" name="TextBox 86"/>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88" name="TextBox 87"/>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89" name="TextBox 88"/>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Industry-Wide Operating Margin Analysis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7" name="Rounded Rectangle 6"/>
          <p:cNvSpPr/>
          <p:nvPr/>
        </p:nvSpPr>
        <p:spPr>
          <a:xfrm>
            <a:off x="142875" y="981075"/>
            <a:ext cx="11906250" cy="3667125"/>
          </a:xfrm>
          <a:prstGeom prst="roundRect">
            <a:avLst>
              <a:gd name="adj" fmla="val 207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Off-Highway Vehicle Market Operating Margin by Region &amp; Node</a:t>
            </a:r>
          </a:p>
        </p:txBody>
      </p:sp>
      <p:graphicFrame>
        <p:nvGraphicFramePr>
          <p:cNvPr id="9" name="Table 8"/>
          <p:cNvGraphicFramePr>
            <a:graphicFrameLocks noGrp="1"/>
          </p:cNvGraphicFramePr>
          <p:nvPr/>
        </p:nvGraphicFramePr>
        <p:xfrm>
          <a:off x="152400" y="1238250"/>
          <a:ext cx="11887201" cy="3200406"/>
        </p:xfrm>
        <a:graphic>
          <a:graphicData uri="http://schemas.openxmlformats.org/drawingml/2006/table">
            <a:tbl>
              <a:tblPr>
                <a:tableStyleId>{5C22544A-7EE6-4342-B048-85BDC9FD1C3A}</a:tableStyleId>
              </a:tblPr>
              <a:tblGrid>
                <a:gridCol w="1312505"/>
                <a:gridCol w="2643674"/>
                <a:gridCol w="2643674"/>
                <a:gridCol w="2643674"/>
                <a:gridCol w="2643674"/>
              </a:tblGrid>
              <a:tr h="246126">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Node of Supply Chain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Operating Margin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Comparison to Parent Market</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Notes</a:t>
                      </a:r>
                      <a:endParaRPr sz="1100"/>
                    </a:p>
                  </a:txBody>
                  <a:tcPr marL="47625" marR="38100" marT="19050" marB="19050" anchor="ctr">
                    <a:solidFill>
                      <a:srgbClr val="EBF2F9"/>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r h="246190">
                <a:tc>
                  <a:txBody>
                    <a:bodyPr wrap="none"/>
                    <a:lstStyle/>
                    <a:p>
                      <a:pPr algn="l"/>
                      <a:r>
                        <a:rPr sz="1100" b="1">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9FD"/>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781550"/>
            <a:ext cx="11906250" cy="1847850"/>
          </a:xfrm>
          <a:prstGeom prst="roundRect">
            <a:avLst>
              <a:gd name="adj" fmla="val 412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E2A5C"/>
                </a:solidFill>
                <a:latin typeface="Calibri"/>
              </a:rPr>
              <a:t>How to Read This</a:t>
            </a:r>
          </a:p>
        </p:txBody>
      </p:sp>
      <p:sp>
        <p:nvSpPr>
          <p:cNvPr id="13" name="Rectangle 12"/>
          <p:cNvSpPr/>
          <p:nvPr/>
        </p:nvSpPr>
        <p:spPr>
          <a:xfrm>
            <a:off x="276225" y="510540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6565563" y="2694815"/>
            <a:ext cx="366712" cy="53340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Buyers Assessment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7" name="Rounded Rectangle 6"/>
          <p:cNvSpPr/>
          <p:nvPr/>
        </p:nvSpPr>
        <p:spPr>
          <a:xfrm>
            <a:off x="142875" y="981075"/>
            <a:ext cx="11906250" cy="3371850"/>
          </a:xfrm>
          <a:prstGeom prst="roundRect">
            <a:avLst>
              <a:gd name="adj" fmla="val 22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Off-Highway Vehicle Market Buyers / End-User Assessment</a:t>
            </a:r>
          </a:p>
        </p:txBody>
      </p:sp>
      <p:graphicFrame>
        <p:nvGraphicFramePr>
          <p:cNvPr id="9" name="Table 8"/>
          <p:cNvGraphicFramePr>
            <a:graphicFrameLocks noGrp="1"/>
          </p:cNvGraphicFramePr>
          <p:nvPr/>
        </p:nvGraphicFramePr>
        <p:xfrm>
          <a:off x="152400" y="1238250"/>
          <a:ext cx="11893223" cy="2905122"/>
        </p:xfrm>
        <a:graphic>
          <a:graphicData uri="http://schemas.openxmlformats.org/drawingml/2006/table">
            <a:tbl>
              <a:tblPr>
                <a:tableStyleId>{5C22544A-7EE6-4342-B048-85BDC9FD1C3A}</a:tableStyleId>
              </a:tblPr>
              <a:tblGrid>
                <a:gridCol w="2356757"/>
                <a:gridCol w="1344793"/>
                <a:gridCol w="1056650"/>
                <a:gridCol w="981744"/>
                <a:gridCol w="1341441"/>
                <a:gridCol w="1137430"/>
                <a:gridCol w="1162399"/>
                <a:gridCol w="1144100"/>
                <a:gridCol w="1367909"/>
              </a:tblGrid>
              <a:tr h="438912">
                <a:tc>
                  <a:txBody>
                    <a:bodyPr wrap="none"/>
                    <a:lstStyle/>
                    <a:p>
                      <a:pPr algn="l"/>
                      <a:r>
                        <a:rPr sz="1100" b="1">
                          <a:solidFill>
                            <a:srgbClr val="0E2A5C"/>
                          </a:solidFill>
                          <a:latin typeface="Calibri"/>
                        </a:rPr>
                        <a:t>Company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Country</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Region</a:t>
                      </a:r>
                      <a:endParaRPr sz="1100"/>
                    </a:p>
                  </a:txBody>
                  <a:tcPr marL="47625" marR="38100" marT="19050" marB="19050" anchor="ctr">
                    <a:solidFill>
                      <a:srgbClr val="EBF2F9"/>
                    </a:solidFill>
                  </a:tcPr>
                </a:tc>
                <a:tc>
                  <a:txBody>
                    <a:bodyPr wrap="square"/>
                    <a:lstStyle/>
                    <a:p>
                      <a:pPr algn="l"/>
                      <a:r>
                        <a:rPr sz="1100" b="1">
                          <a:solidFill>
                            <a:srgbClr val="0E2A5C"/>
                          </a:solidFill>
                          <a:latin typeface="Calibri"/>
                        </a:rPr>
                        <a:t>Buyer Category</a:t>
                      </a:r>
                      <a:endParaRPr sz="1100"/>
                    </a:p>
                  </a:txBody>
                  <a:tcPr marL="47625" marR="38100" marT="19050" marB="19050" anchor="ctr">
                    <a:solidFill>
                      <a:srgbClr val="EBF2F9"/>
                    </a:solidFill>
                  </a:tcPr>
                </a:tc>
                <a:tc>
                  <a:txBody>
                    <a:bodyPr wrap="square"/>
                    <a:lstStyle/>
                    <a:p>
                      <a:pPr algn="l"/>
                      <a:r>
                        <a:rPr sz="1100" b="1">
                          <a:solidFill>
                            <a:srgbClr val="0E2A5C"/>
                          </a:solidFill>
                          <a:latin typeface="Calibri"/>
                        </a:rPr>
                        <a:t>Buyer / End-User Type</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Procurement Vol.</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Avg Price (US$/Units)</a:t>
                      </a:r>
                      <a:endParaRPr sz="1100"/>
                    </a:p>
                  </a:txBody>
                  <a:tcPr marL="47625" marR="38100" marT="19050" marB="19050" anchor="ctr">
                    <a:solidFill>
                      <a:srgbClr val="EBF2F9"/>
                    </a:solidFill>
                  </a:tcPr>
                </a:tc>
                <a:tc>
                  <a:txBody>
                    <a:bodyPr wrap="square"/>
                    <a:lstStyle/>
                    <a:p>
                      <a:pPr algn="ctr"/>
                      <a:r>
                        <a:rPr sz="1100" b="1">
                          <a:solidFill>
                            <a:srgbClr val="0E2A5C"/>
                          </a:solidFill>
                          <a:latin typeface="Calibri"/>
                        </a:rPr>
                        <a:t>Revenue (US$ Mn)</a:t>
                      </a:r>
                      <a:endParaRPr sz="1100"/>
                    </a:p>
                  </a:txBody>
                  <a:tcPr marL="47625" marR="38100" marT="19050" marB="19050" anchor="ctr">
                    <a:solidFill>
                      <a:srgbClr val="EBF2F9"/>
                    </a:solidFill>
                  </a:tcPr>
                </a:tc>
                <a:tc>
                  <a:txBody>
                    <a:bodyPr wrap="none"/>
                    <a:lstStyle/>
                    <a:p>
                      <a:pPr algn="l"/>
                      <a:r>
                        <a:rPr sz="1100" b="1">
                          <a:solidFill>
                            <a:srgbClr val="0E2A5C"/>
                          </a:solidFill>
                          <a:latin typeface="Calibri"/>
                        </a:rPr>
                        <a:t>Key Selection Factor</a:t>
                      </a:r>
                      <a:endParaRPr sz="1100"/>
                    </a:p>
                  </a:txBody>
                  <a:tcPr marL="47625" marR="38100" marT="19050" marB="19050" anchor="ctr">
                    <a:solidFill>
                      <a:srgbClr val="EBF2F9"/>
                    </a:solidFill>
                  </a:tcPr>
                </a:tc>
              </a:tr>
              <a:tr h="246621">
                <a:tc>
                  <a:txBody>
                    <a:bodyPr wrap="none"/>
                    <a:lstStyle/>
                    <a:p>
                      <a:pPr algn="l"/>
                      <a:r>
                        <a:rPr sz="1100" b="1">
                          <a:solidFill>
                            <a:srgbClr val="2E2E2E"/>
                          </a:solidFill>
                          <a:latin typeface="Calibri"/>
                        </a:rPr>
                        <a:t>Caterpillar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Komatsu</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Volvo Construction Equipment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Liebherr Group</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Hitachi Construction Machinery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Chile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XCMG Group</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SANY Group</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JCB</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Western Europe</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9FD"/>
                    </a:solidFill>
                  </a:tcPr>
                </a:tc>
              </a:tr>
              <a:tr h="246621">
                <a:tc>
                  <a:txBody>
                    <a:bodyPr wrap="none"/>
                    <a:lstStyle/>
                    <a:p>
                      <a:pPr algn="l"/>
                      <a:r>
                        <a:rPr sz="1100" b="1">
                          <a:solidFill>
                            <a:srgbClr val="2E2E2E"/>
                          </a:solidFill>
                          <a:latin typeface="Calibri"/>
                        </a:rPr>
                        <a:t>HD Hyundai Construction Equipment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Western 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LiuGong</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Western Europe</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9FD"/>
                    </a:solidFill>
                  </a:tcPr>
                </a:tc>
              </a:tr>
            </a:tbl>
          </a:graphicData>
        </a:graphic>
      </p:graphicFrame>
      <p:sp>
        <p:nvSpPr>
          <p:cNvPr id="10" name="TextBox 9"/>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1" name="Rounded Rectangle 10"/>
          <p:cNvSpPr/>
          <p:nvPr/>
        </p:nvSpPr>
        <p:spPr>
          <a:xfrm>
            <a:off x="142875" y="4486275"/>
            <a:ext cx="11906250" cy="2143125"/>
          </a:xfrm>
          <a:prstGeom prst="roundRect">
            <a:avLst>
              <a:gd name="adj" fmla="val 355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E2A5C"/>
                </a:solidFill>
                <a:latin typeface="Calibri"/>
              </a:rPr>
              <a:t>Notes</a:t>
            </a:r>
          </a:p>
        </p:txBody>
      </p:sp>
      <p:sp>
        <p:nvSpPr>
          <p:cNvPr id="13" name="Rectangle 12"/>
          <p:cNvSpPr/>
          <p:nvPr/>
        </p:nvSpPr>
        <p:spPr>
          <a:xfrm>
            <a:off x="276225" y="481012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5" name="Rectangle 1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 name="Picture 16" descr="lock.png"/>
          <p:cNvPicPr>
            <a:picLocks noChangeAspect="1"/>
          </p:cNvPicPr>
          <p:nvPr/>
        </p:nvPicPr>
        <p:blipFill>
          <a:blip r:embed="rId4"/>
          <a:stretch>
            <a:fillRect/>
          </a:stretch>
        </p:blipFill>
        <p:spPr>
          <a:xfrm>
            <a:off x="8755421" y="2643566"/>
            <a:ext cx="366712" cy="533400"/>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Dynamics by Region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7" name="TextBox 6"/>
          <p:cNvSpPr txBox="1"/>
          <p:nvPr/>
        </p:nvSpPr>
        <p:spPr>
          <a:xfrm>
            <a:off x="180975" y="876300"/>
            <a:ext cx="8572500" cy="228600"/>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8" name="Rectangle 7"/>
          <p:cNvSpPr/>
          <p:nvPr/>
        </p:nvSpPr>
        <p:spPr>
          <a:xfrm>
            <a:off x="142875" y="1123950"/>
            <a:ext cx="11906250" cy="266700"/>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 y="1123950"/>
            <a:ext cx="1428750" cy="266700"/>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0" name="TextBox 9"/>
          <p:cNvSpPr txBox="1"/>
          <p:nvPr/>
        </p:nvSpPr>
        <p:spPr>
          <a:xfrm>
            <a:off x="1724025" y="1123950"/>
            <a:ext cx="3714750" cy="266700"/>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1" name="TextBox 10"/>
          <p:cNvSpPr txBox="1"/>
          <p:nvPr/>
        </p:nvSpPr>
        <p:spPr>
          <a:xfrm>
            <a:off x="5534025" y="1123950"/>
            <a:ext cx="2762250" cy="266700"/>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2" name="TextBox 11"/>
          <p:cNvSpPr txBox="1"/>
          <p:nvPr/>
        </p:nvSpPr>
        <p:spPr>
          <a:xfrm>
            <a:off x="8391525" y="1123950"/>
            <a:ext cx="3619500" cy="266700"/>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3" name="Rectangle 12"/>
          <p:cNvSpPr/>
          <p:nvPr/>
        </p:nvSpPr>
        <p:spPr>
          <a:xfrm>
            <a:off x="142875" y="1390650"/>
            <a:ext cx="11906250" cy="7334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025" y="1390650"/>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5" name="TextBox 14"/>
          <p:cNvSpPr txBox="1"/>
          <p:nvPr/>
        </p:nvSpPr>
        <p:spPr>
          <a:xfrm>
            <a:off x="1724025" y="1419225"/>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5534025" y="1419225"/>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TextBox 16"/>
          <p:cNvSpPr txBox="1"/>
          <p:nvPr/>
        </p:nvSpPr>
        <p:spPr>
          <a:xfrm>
            <a:off x="8391525" y="1419225"/>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2124075"/>
            <a:ext cx="11906250" cy="733425"/>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0025" y="2124075"/>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0" name="TextBox 19"/>
          <p:cNvSpPr txBox="1"/>
          <p:nvPr/>
        </p:nvSpPr>
        <p:spPr>
          <a:xfrm>
            <a:off x="1724025" y="2152650"/>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5534025" y="2152650"/>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22" name="TextBox 21"/>
          <p:cNvSpPr txBox="1"/>
          <p:nvPr/>
        </p:nvSpPr>
        <p:spPr>
          <a:xfrm>
            <a:off x="8391525" y="2152650"/>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3" name="Rectangle 22"/>
          <p:cNvSpPr/>
          <p:nvPr/>
        </p:nvSpPr>
        <p:spPr>
          <a:xfrm>
            <a:off x="142875" y="2857500"/>
            <a:ext cx="11906250" cy="7334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0025" y="2857500"/>
            <a:ext cx="1428750" cy="733425"/>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25" name="TextBox 24"/>
          <p:cNvSpPr txBox="1"/>
          <p:nvPr/>
        </p:nvSpPr>
        <p:spPr>
          <a:xfrm>
            <a:off x="1724025" y="2886075"/>
            <a:ext cx="36766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TextBox 25"/>
          <p:cNvSpPr txBox="1"/>
          <p:nvPr/>
        </p:nvSpPr>
        <p:spPr>
          <a:xfrm>
            <a:off x="5534025" y="2886075"/>
            <a:ext cx="272415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7" name="TextBox 26"/>
          <p:cNvSpPr txBox="1"/>
          <p:nvPr/>
        </p:nvSpPr>
        <p:spPr>
          <a:xfrm>
            <a:off x="8391525" y="2886075"/>
            <a:ext cx="3581400" cy="67627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8" name="Rectangle 27"/>
          <p:cNvSpPr/>
          <p:nvPr/>
        </p:nvSpPr>
        <p:spPr>
          <a:xfrm>
            <a:off x="142875" y="3590925"/>
            <a:ext cx="11906250" cy="533400"/>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0025" y="35909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0" name="TextBox 29"/>
          <p:cNvSpPr txBox="1"/>
          <p:nvPr/>
        </p:nvSpPr>
        <p:spPr>
          <a:xfrm>
            <a:off x="1724025" y="36195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TextBox 30"/>
          <p:cNvSpPr txBox="1"/>
          <p:nvPr/>
        </p:nvSpPr>
        <p:spPr>
          <a:xfrm>
            <a:off x="5534025" y="36195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8391525" y="36195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Rectangle 32"/>
          <p:cNvSpPr/>
          <p:nvPr/>
        </p:nvSpPr>
        <p:spPr>
          <a:xfrm>
            <a:off x="142875" y="4124325"/>
            <a:ext cx="1190625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0025" y="41243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35" name="TextBox 34"/>
          <p:cNvSpPr txBox="1"/>
          <p:nvPr/>
        </p:nvSpPr>
        <p:spPr>
          <a:xfrm>
            <a:off x="1724025" y="41529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534025" y="41529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91525" y="41529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Rectangle 37"/>
          <p:cNvSpPr/>
          <p:nvPr/>
        </p:nvSpPr>
        <p:spPr>
          <a:xfrm>
            <a:off x="142875" y="4657725"/>
            <a:ext cx="11906250" cy="533400"/>
          </a:xfrm>
          <a:prstGeom prst="rect">
            <a:avLst/>
          </a:prstGeom>
          <a:solidFill>
            <a:srgbClr val="F5F9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0025" y="46577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Eastern Europe</a:t>
            </a:r>
          </a:p>
        </p:txBody>
      </p:sp>
      <p:sp>
        <p:nvSpPr>
          <p:cNvPr id="40" name="TextBox 39"/>
          <p:cNvSpPr txBox="1"/>
          <p:nvPr/>
        </p:nvSpPr>
        <p:spPr>
          <a:xfrm>
            <a:off x="1724025" y="46863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5534025" y="46863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TextBox 41"/>
          <p:cNvSpPr txBox="1"/>
          <p:nvPr/>
        </p:nvSpPr>
        <p:spPr>
          <a:xfrm>
            <a:off x="8391525" y="46863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Rectangle 42"/>
          <p:cNvSpPr/>
          <p:nvPr/>
        </p:nvSpPr>
        <p:spPr>
          <a:xfrm>
            <a:off x="142875" y="5191125"/>
            <a:ext cx="1190625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0025" y="5191125"/>
            <a:ext cx="1428750" cy="533400"/>
          </a:xfrm>
          <a:prstGeom prst="rect">
            <a:avLst/>
          </a:prstGeom>
          <a:noFill/>
        </p:spPr>
        <p:txBody>
          <a:bodyPr wrap="square" lIns="28575" rIns="28575" tIns="9525" bIns="9525" anchor="ctr">
            <a:spAutoFit/>
          </a:bodyPr>
          <a:lstStyle/>
          <a:p>
            <a:pPr algn="l"/>
            <a:r>
              <a:rPr sz="1100" b="1">
                <a:solidFill>
                  <a:srgbClr val="2E2E2E"/>
                </a:solidFill>
                <a:latin typeface="Calibri"/>
              </a:rPr>
              <a:t>Western Europe</a:t>
            </a:r>
          </a:p>
        </p:txBody>
      </p:sp>
      <p:sp>
        <p:nvSpPr>
          <p:cNvPr id="45" name="TextBox 44"/>
          <p:cNvSpPr txBox="1"/>
          <p:nvPr/>
        </p:nvSpPr>
        <p:spPr>
          <a:xfrm>
            <a:off x="1724025" y="5219700"/>
            <a:ext cx="36766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5534025" y="5219700"/>
            <a:ext cx="272415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7" name="TextBox 46"/>
          <p:cNvSpPr txBox="1"/>
          <p:nvPr/>
        </p:nvSpPr>
        <p:spPr>
          <a:xfrm>
            <a:off x="8391525" y="5219700"/>
            <a:ext cx="3581400" cy="476250"/>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8" name="Connector 47"/>
          <p:cNvCxnSpPr/>
          <p:nvPr/>
        </p:nvCxnSpPr>
        <p:spPr>
          <a:xfrm>
            <a:off x="142875" y="5724525"/>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00025" y="5743575"/>
            <a:ext cx="3810000" cy="190500"/>
          </a:xfrm>
          <a:prstGeom prst="rect">
            <a:avLst/>
          </a:prstGeom>
          <a:noFill/>
        </p:spPr>
        <p:txBody>
          <a:bodyPr wrap="square" lIns="28575" rIns="28575" tIns="9525" bIns="9525" anchor="ctr">
            <a:spAutoFit/>
          </a:bodyPr>
          <a:lstStyle/>
          <a:p>
            <a:pPr algn="l"/>
            <a:r>
              <a:rPr sz="1100" b="0">
                <a:solidFill>
                  <a:srgbClr val="6C7A89"/>
                </a:solidFill>
                <a:latin typeface="Calibri"/>
              </a:rPr>
              <a:t>Source: TMR Analysis, 2026</a:t>
            </a:r>
          </a:p>
        </p:txBody>
      </p:sp>
      <p:sp>
        <p:nvSpPr>
          <p:cNvPr id="50" name="Rectangle 4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2" name="TextBox 51"/>
          <p:cNvSpPr txBox="1"/>
          <p:nvPr/>
        </p:nvSpPr>
        <p:spPr>
          <a:xfrm>
            <a:off x="1752600" y="1505902"/>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3" name="Picture 52" descr="lock.png"/>
          <p:cNvPicPr>
            <a:picLocks noChangeAspect="1"/>
          </p:cNvPicPr>
          <p:nvPr/>
        </p:nvPicPr>
        <p:blipFill>
          <a:blip r:embed="rId4"/>
          <a:stretch>
            <a:fillRect/>
          </a:stretch>
        </p:blipFill>
        <p:spPr>
          <a:xfrm>
            <a:off x="2438789" y="1496123"/>
            <a:ext cx="128699" cy="187198"/>
          </a:xfrm>
          <a:prstGeom prst="rect">
            <a:avLst/>
          </a:prstGeom>
        </p:spPr>
      </p:pic>
      <p:sp>
        <p:nvSpPr>
          <p:cNvPr id="54" name="TextBox 53"/>
          <p:cNvSpPr txBox="1"/>
          <p:nvPr/>
        </p:nvSpPr>
        <p:spPr>
          <a:xfrm>
            <a:off x="2606285" y="1505902"/>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5" name="Picture 54" descr="lock.png"/>
          <p:cNvPicPr>
            <a:picLocks noChangeAspect="1"/>
          </p:cNvPicPr>
          <p:nvPr/>
        </p:nvPicPr>
        <p:blipFill>
          <a:blip r:embed="rId4"/>
          <a:stretch>
            <a:fillRect/>
          </a:stretch>
        </p:blipFill>
        <p:spPr>
          <a:xfrm>
            <a:off x="4110756" y="1496123"/>
            <a:ext cx="128699" cy="187198"/>
          </a:xfrm>
          <a:prstGeom prst="rect">
            <a:avLst/>
          </a:prstGeom>
        </p:spPr>
      </p:pic>
      <p:sp>
        <p:nvSpPr>
          <p:cNvPr id="56" name="TextBox 55"/>
          <p:cNvSpPr txBox="1"/>
          <p:nvPr/>
        </p:nvSpPr>
        <p:spPr>
          <a:xfrm>
            <a:off x="4278252" y="1505902"/>
            <a:ext cx="472636"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57" name="TextBox 56"/>
          <p:cNvSpPr txBox="1"/>
          <p:nvPr/>
        </p:nvSpPr>
        <p:spPr>
          <a:xfrm>
            <a:off x="1752600" y="1673542"/>
            <a:ext cx="3402260" cy="186689"/>
          </a:xfrm>
          <a:prstGeom prst="rect">
            <a:avLst/>
          </a:prstGeom>
          <a:noFill/>
        </p:spPr>
        <p:txBody>
          <a:bodyPr wrap="none" lIns="0" rIns="0" tIns="0" bIns="0">
            <a:spAutoFit/>
          </a:bodyPr>
          <a:lstStyle/>
          <a:p>
            <a:r>
              <a:rPr sz="1100" b="0">
                <a:solidFill>
                  <a:srgbClr val="2E2E2E"/>
                </a:solidFill>
                <a:latin typeface="Calibri"/>
              </a:rPr>
              <a:t>Construction and Mining Vehicles demand, Accelerating vs</a:t>
            </a:r>
          </a:p>
        </p:txBody>
      </p:sp>
      <p:sp>
        <p:nvSpPr>
          <p:cNvPr id="58" name="TextBox 57"/>
          <p:cNvSpPr txBox="1"/>
          <p:nvPr/>
        </p:nvSpPr>
        <p:spPr>
          <a:xfrm>
            <a:off x="1752600" y="1841182"/>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59" name="TextBox 58"/>
          <p:cNvSpPr txBox="1"/>
          <p:nvPr/>
        </p:nvSpPr>
        <p:spPr>
          <a:xfrm>
            <a:off x="5562600" y="1589722"/>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0" name="Picture 59" descr="lock.png"/>
          <p:cNvPicPr>
            <a:picLocks noChangeAspect="1"/>
          </p:cNvPicPr>
          <p:nvPr/>
        </p:nvPicPr>
        <p:blipFill>
          <a:blip r:embed="rId4"/>
          <a:stretch>
            <a:fillRect/>
          </a:stretch>
        </p:blipFill>
        <p:spPr>
          <a:xfrm>
            <a:off x="6797766" y="1579943"/>
            <a:ext cx="128699" cy="187198"/>
          </a:xfrm>
          <a:prstGeom prst="rect">
            <a:avLst/>
          </a:prstGeom>
        </p:spPr>
      </p:pic>
      <p:sp>
        <p:nvSpPr>
          <p:cNvPr id="61" name="TextBox 60"/>
          <p:cNvSpPr txBox="1"/>
          <p:nvPr/>
        </p:nvSpPr>
        <p:spPr>
          <a:xfrm>
            <a:off x="6965262" y="1589722"/>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2" name="TextBox 61"/>
          <p:cNvSpPr txBox="1"/>
          <p:nvPr/>
        </p:nvSpPr>
        <p:spPr>
          <a:xfrm>
            <a:off x="5562600" y="1757362"/>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3" name="Picture 62" descr="lock.png"/>
          <p:cNvPicPr>
            <a:picLocks noChangeAspect="1"/>
          </p:cNvPicPr>
          <p:nvPr/>
        </p:nvPicPr>
        <p:blipFill>
          <a:blip r:embed="rId4"/>
          <a:stretch>
            <a:fillRect/>
          </a:stretch>
        </p:blipFill>
        <p:spPr>
          <a:xfrm>
            <a:off x="6258066" y="1747583"/>
            <a:ext cx="128699" cy="187198"/>
          </a:xfrm>
          <a:prstGeom prst="rect">
            <a:avLst/>
          </a:prstGeom>
        </p:spPr>
      </p:pic>
      <p:sp>
        <p:nvSpPr>
          <p:cNvPr id="64" name="TextBox 63"/>
          <p:cNvSpPr txBox="1"/>
          <p:nvPr/>
        </p:nvSpPr>
        <p:spPr>
          <a:xfrm>
            <a:off x="6425562" y="1757362"/>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5" name="TextBox 64"/>
          <p:cNvSpPr txBox="1"/>
          <p:nvPr/>
        </p:nvSpPr>
        <p:spPr>
          <a:xfrm>
            <a:off x="8420100" y="1589722"/>
            <a:ext cx="2683842" cy="186689"/>
          </a:xfrm>
          <a:prstGeom prst="rect">
            <a:avLst/>
          </a:prstGeom>
          <a:noFill/>
        </p:spPr>
        <p:txBody>
          <a:bodyPr wrap="none" lIns="0" rIns="0" tIns="0" bIns="0">
            <a:spAutoFit/>
          </a:bodyPr>
          <a:lstStyle/>
          <a:p>
            <a:r>
              <a:rPr sz="1100" b="0">
                <a:solidFill>
                  <a:srgbClr val="2E2E2E"/>
                </a:solidFill>
                <a:latin typeface="Calibri"/>
              </a:rPr>
              <a:t>Scale Recreational and Powersports Vehicles (</a:t>
            </a:r>
          </a:p>
        </p:txBody>
      </p:sp>
      <p:pic>
        <p:nvPicPr>
          <p:cNvPr id="66" name="Picture 65" descr="lock.png"/>
          <p:cNvPicPr>
            <a:picLocks noChangeAspect="1"/>
          </p:cNvPicPr>
          <p:nvPr/>
        </p:nvPicPr>
        <p:blipFill>
          <a:blip r:embed="rId4"/>
          <a:stretch>
            <a:fillRect/>
          </a:stretch>
        </p:blipFill>
        <p:spPr>
          <a:xfrm>
            <a:off x="11051993" y="1579943"/>
            <a:ext cx="128699" cy="187198"/>
          </a:xfrm>
          <a:prstGeom prst="rect">
            <a:avLst/>
          </a:prstGeom>
        </p:spPr>
      </p:pic>
      <p:sp>
        <p:nvSpPr>
          <p:cNvPr id="67" name="TextBox 66"/>
          <p:cNvSpPr txBox="1"/>
          <p:nvPr/>
        </p:nvSpPr>
        <p:spPr>
          <a:xfrm>
            <a:off x="11219489" y="1589722"/>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8" name="Picture 67" descr="lock.png"/>
          <p:cNvPicPr>
            <a:picLocks noChangeAspect="1"/>
          </p:cNvPicPr>
          <p:nvPr/>
        </p:nvPicPr>
        <p:blipFill>
          <a:blip r:embed="rId4"/>
          <a:stretch>
            <a:fillRect/>
          </a:stretch>
        </p:blipFill>
        <p:spPr>
          <a:xfrm>
            <a:off x="11320958" y="1579943"/>
            <a:ext cx="128699" cy="187198"/>
          </a:xfrm>
          <a:prstGeom prst="rect">
            <a:avLst/>
          </a:prstGeom>
        </p:spPr>
      </p:pic>
      <p:sp>
        <p:nvSpPr>
          <p:cNvPr id="69" name="TextBox 68"/>
          <p:cNvSpPr txBox="1"/>
          <p:nvPr/>
        </p:nvSpPr>
        <p:spPr>
          <a:xfrm>
            <a:off x="11488454" y="1589722"/>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70" name="TextBox 69"/>
          <p:cNvSpPr txBox="1"/>
          <p:nvPr/>
        </p:nvSpPr>
        <p:spPr>
          <a:xfrm>
            <a:off x="8420100" y="1757362"/>
            <a:ext cx="926951" cy="186689"/>
          </a:xfrm>
          <a:prstGeom prst="rect">
            <a:avLst/>
          </a:prstGeom>
          <a:noFill/>
        </p:spPr>
        <p:txBody>
          <a:bodyPr wrap="none" lIns="0" rIns="0" tIns="0" bIns="0">
            <a:spAutoFit/>
          </a:bodyPr>
          <a:lstStyle/>
          <a:p>
            <a:r>
              <a:rPr sz="1100" b="0">
                <a:solidFill>
                  <a:srgbClr val="2E2E2E"/>
                </a:solidFill>
                <a:latin typeface="Calibri"/>
              </a:rPr>
              <a:t>Mn headroom.</a:t>
            </a:r>
          </a:p>
        </p:txBody>
      </p:sp>
      <p:sp>
        <p:nvSpPr>
          <p:cNvPr id="71" name="TextBox 70"/>
          <p:cNvSpPr txBox="1"/>
          <p:nvPr/>
        </p:nvSpPr>
        <p:spPr>
          <a:xfrm>
            <a:off x="1752600" y="232314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2" name="Picture 71" descr="lock.png"/>
          <p:cNvPicPr>
            <a:picLocks noChangeAspect="1"/>
          </p:cNvPicPr>
          <p:nvPr/>
        </p:nvPicPr>
        <p:blipFill>
          <a:blip r:embed="rId4"/>
          <a:stretch>
            <a:fillRect/>
          </a:stretch>
        </p:blipFill>
        <p:spPr>
          <a:xfrm>
            <a:off x="2438789" y="2313368"/>
            <a:ext cx="128699" cy="187198"/>
          </a:xfrm>
          <a:prstGeom prst="rect">
            <a:avLst/>
          </a:prstGeom>
        </p:spPr>
      </p:pic>
      <p:sp>
        <p:nvSpPr>
          <p:cNvPr id="73" name="TextBox 72"/>
          <p:cNvSpPr txBox="1"/>
          <p:nvPr/>
        </p:nvSpPr>
        <p:spPr>
          <a:xfrm>
            <a:off x="2606285" y="2323147"/>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4" name="Picture 73" descr="lock.png"/>
          <p:cNvPicPr>
            <a:picLocks noChangeAspect="1"/>
          </p:cNvPicPr>
          <p:nvPr/>
        </p:nvPicPr>
        <p:blipFill>
          <a:blip r:embed="rId4"/>
          <a:stretch>
            <a:fillRect/>
          </a:stretch>
        </p:blipFill>
        <p:spPr>
          <a:xfrm>
            <a:off x="4237905" y="2313368"/>
            <a:ext cx="128699" cy="187198"/>
          </a:xfrm>
          <a:prstGeom prst="rect">
            <a:avLst/>
          </a:prstGeom>
        </p:spPr>
      </p:pic>
      <p:sp>
        <p:nvSpPr>
          <p:cNvPr id="75" name="TextBox 74"/>
          <p:cNvSpPr txBox="1"/>
          <p:nvPr/>
        </p:nvSpPr>
        <p:spPr>
          <a:xfrm>
            <a:off x="4405401" y="2323147"/>
            <a:ext cx="915764" cy="186689"/>
          </a:xfrm>
          <a:prstGeom prst="rect">
            <a:avLst/>
          </a:prstGeom>
          <a:noFill/>
        </p:spPr>
        <p:txBody>
          <a:bodyPr wrap="none" lIns="0" rIns="0" tIns="0" bIns="0">
            <a:spAutoFit/>
          </a:bodyPr>
          <a:lstStyle/>
          <a:p>
            <a:r>
              <a:rPr sz="1100" b="0">
                <a:solidFill>
                  <a:srgbClr val="2E2E2E"/>
                </a:solidFill>
                <a:latin typeface="Calibri"/>
              </a:rPr>
              <a:t>), Construction</a:t>
            </a:r>
          </a:p>
        </p:txBody>
      </p:sp>
      <p:sp>
        <p:nvSpPr>
          <p:cNvPr id="76" name="TextBox 75"/>
          <p:cNvSpPr txBox="1"/>
          <p:nvPr/>
        </p:nvSpPr>
        <p:spPr>
          <a:xfrm>
            <a:off x="1752600" y="2490787"/>
            <a:ext cx="3099668" cy="186689"/>
          </a:xfrm>
          <a:prstGeom prst="rect">
            <a:avLst/>
          </a:prstGeom>
          <a:noFill/>
        </p:spPr>
        <p:txBody>
          <a:bodyPr wrap="none" lIns="0" rIns="0" tIns="0" bIns="0">
            <a:spAutoFit/>
          </a:bodyPr>
          <a:lstStyle/>
          <a:p>
            <a:r>
              <a:rPr sz="1100" b="0">
                <a:solidFill>
                  <a:srgbClr val="2E2E2E"/>
                </a:solidFill>
                <a:latin typeface="Calibri"/>
              </a:rPr>
              <a:t>and Mining Vehicles demand, Accelerating vs history.</a:t>
            </a:r>
          </a:p>
        </p:txBody>
      </p:sp>
      <p:sp>
        <p:nvSpPr>
          <p:cNvPr id="77" name="TextBox 76"/>
          <p:cNvSpPr txBox="1"/>
          <p:nvPr/>
        </p:nvSpPr>
        <p:spPr>
          <a:xfrm>
            <a:off x="8420100" y="2323147"/>
            <a:ext cx="2683842" cy="186689"/>
          </a:xfrm>
          <a:prstGeom prst="rect">
            <a:avLst/>
          </a:prstGeom>
          <a:noFill/>
        </p:spPr>
        <p:txBody>
          <a:bodyPr wrap="none" lIns="0" rIns="0" tIns="0" bIns="0">
            <a:spAutoFit/>
          </a:bodyPr>
          <a:lstStyle/>
          <a:p>
            <a:r>
              <a:rPr sz="1100" b="0">
                <a:solidFill>
                  <a:srgbClr val="2E2E2E"/>
                </a:solidFill>
                <a:latin typeface="Calibri"/>
              </a:rPr>
              <a:t>Scale Recreational and Powersports Vehicles (</a:t>
            </a:r>
          </a:p>
        </p:txBody>
      </p:sp>
      <p:pic>
        <p:nvPicPr>
          <p:cNvPr id="78" name="Picture 77" descr="lock.png"/>
          <p:cNvPicPr>
            <a:picLocks noChangeAspect="1"/>
          </p:cNvPicPr>
          <p:nvPr/>
        </p:nvPicPr>
        <p:blipFill>
          <a:blip r:embed="rId4"/>
          <a:stretch>
            <a:fillRect/>
          </a:stretch>
        </p:blipFill>
        <p:spPr>
          <a:xfrm>
            <a:off x="11051993" y="2313368"/>
            <a:ext cx="128699" cy="187198"/>
          </a:xfrm>
          <a:prstGeom prst="rect">
            <a:avLst/>
          </a:prstGeom>
        </p:spPr>
      </p:pic>
      <p:sp>
        <p:nvSpPr>
          <p:cNvPr id="79" name="TextBox 78"/>
          <p:cNvSpPr txBox="1"/>
          <p:nvPr/>
        </p:nvSpPr>
        <p:spPr>
          <a:xfrm>
            <a:off x="11219489" y="232314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0" name="Picture 79" descr="lock.png"/>
          <p:cNvPicPr>
            <a:picLocks noChangeAspect="1"/>
          </p:cNvPicPr>
          <p:nvPr/>
        </p:nvPicPr>
        <p:blipFill>
          <a:blip r:embed="rId4"/>
          <a:stretch>
            <a:fillRect/>
          </a:stretch>
        </p:blipFill>
        <p:spPr>
          <a:xfrm>
            <a:off x="11320958" y="2313368"/>
            <a:ext cx="128699" cy="187198"/>
          </a:xfrm>
          <a:prstGeom prst="rect">
            <a:avLst/>
          </a:prstGeom>
        </p:spPr>
      </p:pic>
      <p:sp>
        <p:nvSpPr>
          <p:cNvPr id="81" name="TextBox 80"/>
          <p:cNvSpPr txBox="1"/>
          <p:nvPr/>
        </p:nvSpPr>
        <p:spPr>
          <a:xfrm>
            <a:off x="11488454" y="2323147"/>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82" name="TextBox 81"/>
          <p:cNvSpPr txBox="1"/>
          <p:nvPr/>
        </p:nvSpPr>
        <p:spPr>
          <a:xfrm>
            <a:off x="8420100" y="2490787"/>
            <a:ext cx="926951" cy="186689"/>
          </a:xfrm>
          <a:prstGeom prst="rect">
            <a:avLst/>
          </a:prstGeom>
          <a:noFill/>
        </p:spPr>
        <p:txBody>
          <a:bodyPr wrap="none" lIns="0" rIns="0" tIns="0" bIns="0">
            <a:spAutoFit/>
          </a:bodyPr>
          <a:lstStyle/>
          <a:p>
            <a:r>
              <a:rPr sz="1100" b="0">
                <a:solidFill>
                  <a:srgbClr val="2E2E2E"/>
                </a:solidFill>
                <a:latin typeface="Calibri"/>
              </a:rPr>
              <a:t>Mn headroom.</a:t>
            </a:r>
          </a:p>
        </p:txBody>
      </p:sp>
      <p:sp>
        <p:nvSpPr>
          <p:cNvPr id="83" name="TextBox 82"/>
          <p:cNvSpPr txBox="1"/>
          <p:nvPr/>
        </p:nvSpPr>
        <p:spPr>
          <a:xfrm>
            <a:off x="1752600" y="2972752"/>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4" name="Picture 83" descr="lock.png"/>
          <p:cNvPicPr>
            <a:picLocks noChangeAspect="1"/>
          </p:cNvPicPr>
          <p:nvPr/>
        </p:nvPicPr>
        <p:blipFill>
          <a:blip r:embed="rId4"/>
          <a:stretch>
            <a:fillRect/>
          </a:stretch>
        </p:blipFill>
        <p:spPr>
          <a:xfrm>
            <a:off x="2438789" y="2962973"/>
            <a:ext cx="128699" cy="187198"/>
          </a:xfrm>
          <a:prstGeom prst="rect">
            <a:avLst/>
          </a:prstGeom>
        </p:spPr>
      </p:pic>
      <p:sp>
        <p:nvSpPr>
          <p:cNvPr id="85" name="TextBox 84"/>
          <p:cNvSpPr txBox="1"/>
          <p:nvPr/>
        </p:nvSpPr>
        <p:spPr>
          <a:xfrm>
            <a:off x="2606285" y="2972752"/>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86" name="Picture 85" descr="lock.png"/>
          <p:cNvPicPr>
            <a:picLocks noChangeAspect="1"/>
          </p:cNvPicPr>
          <p:nvPr/>
        </p:nvPicPr>
        <p:blipFill>
          <a:blip r:embed="rId4"/>
          <a:stretch>
            <a:fillRect/>
          </a:stretch>
        </p:blipFill>
        <p:spPr>
          <a:xfrm>
            <a:off x="4110756" y="2962973"/>
            <a:ext cx="128699" cy="187198"/>
          </a:xfrm>
          <a:prstGeom prst="rect">
            <a:avLst/>
          </a:prstGeom>
        </p:spPr>
      </p:pic>
      <p:sp>
        <p:nvSpPr>
          <p:cNvPr id="87" name="TextBox 86"/>
          <p:cNvSpPr txBox="1"/>
          <p:nvPr/>
        </p:nvSpPr>
        <p:spPr>
          <a:xfrm>
            <a:off x="4278252" y="2972752"/>
            <a:ext cx="472636"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8" name="TextBox 87"/>
          <p:cNvSpPr txBox="1"/>
          <p:nvPr/>
        </p:nvSpPr>
        <p:spPr>
          <a:xfrm>
            <a:off x="1752600" y="3140392"/>
            <a:ext cx="3402260" cy="186689"/>
          </a:xfrm>
          <a:prstGeom prst="rect">
            <a:avLst/>
          </a:prstGeom>
          <a:noFill/>
        </p:spPr>
        <p:txBody>
          <a:bodyPr wrap="none" lIns="0" rIns="0" tIns="0" bIns="0">
            <a:spAutoFit/>
          </a:bodyPr>
          <a:lstStyle/>
          <a:p>
            <a:r>
              <a:rPr sz="1100" b="0">
                <a:solidFill>
                  <a:srgbClr val="2E2E2E"/>
                </a:solidFill>
                <a:latin typeface="Calibri"/>
              </a:rPr>
              <a:t>Construction and Mining Vehicles demand, Accelerating vs</a:t>
            </a:r>
          </a:p>
        </p:txBody>
      </p:sp>
      <p:sp>
        <p:nvSpPr>
          <p:cNvPr id="89" name="TextBox 88"/>
          <p:cNvSpPr txBox="1"/>
          <p:nvPr/>
        </p:nvSpPr>
        <p:spPr>
          <a:xfrm>
            <a:off x="1752600" y="3308032"/>
            <a:ext cx="504304" cy="186689"/>
          </a:xfrm>
          <a:prstGeom prst="rect">
            <a:avLst/>
          </a:prstGeom>
          <a:noFill/>
        </p:spPr>
        <p:txBody>
          <a:bodyPr wrap="none" lIns="0" rIns="0" tIns="0" bIns="0">
            <a:spAutoFit/>
          </a:bodyPr>
          <a:lstStyle/>
          <a:p>
            <a:r>
              <a:rPr sz="1100" b="0">
                <a:solidFill>
                  <a:srgbClr val="2E2E2E"/>
                </a:solidFill>
                <a:latin typeface="Calibri"/>
              </a:rPr>
              <a:t>history.</a:t>
            </a:r>
          </a:p>
        </p:txBody>
      </p:sp>
      <p:sp>
        <p:nvSpPr>
          <p:cNvPr id="90" name="TextBox 89"/>
          <p:cNvSpPr txBox="1"/>
          <p:nvPr/>
        </p:nvSpPr>
        <p:spPr>
          <a:xfrm>
            <a:off x="5562600" y="3140392"/>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91" name="Picture 90" descr="lock.png"/>
          <p:cNvPicPr>
            <a:picLocks noChangeAspect="1"/>
          </p:cNvPicPr>
          <p:nvPr/>
        </p:nvPicPr>
        <p:blipFill>
          <a:blip r:embed="rId4"/>
          <a:stretch>
            <a:fillRect/>
          </a:stretch>
        </p:blipFill>
        <p:spPr>
          <a:xfrm>
            <a:off x="6797766" y="3130613"/>
            <a:ext cx="128699" cy="187198"/>
          </a:xfrm>
          <a:prstGeom prst="rect">
            <a:avLst/>
          </a:prstGeom>
        </p:spPr>
      </p:pic>
      <p:sp>
        <p:nvSpPr>
          <p:cNvPr id="92" name="TextBox 91"/>
          <p:cNvSpPr txBox="1"/>
          <p:nvPr/>
        </p:nvSpPr>
        <p:spPr>
          <a:xfrm>
            <a:off x="6965262" y="3140392"/>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93" name="TextBox 92"/>
          <p:cNvSpPr txBox="1"/>
          <p:nvPr/>
        </p:nvSpPr>
        <p:spPr>
          <a:xfrm>
            <a:off x="8420100" y="3056572"/>
            <a:ext cx="2683842" cy="186689"/>
          </a:xfrm>
          <a:prstGeom prst="rect">
            <a:avLst/>
          </a:prstGeom>
          <a:noFill/>
        </p:spPr>
        <p:txBody>
          <a:bodyPr wrap="none" lIns="0" rIns="0" tIns="0" bIns="0">
            <a:spAutoFit/>
          </a:bodyPr>
          <a:lstStyle/>
          <a:p>
            <a:r>
              <a:rPr sz="1100" b="0">
                <a:solidFill>
                  <a:srgbClr val="2E2E2E"/>
                </a:solidFill>
                <a:latin typeface="Calibri"/>
              </a:rPr>
              <a:t>Scale Recreational and Powersports Vehicles (</a:t>
            </a:r>
          </a:p>
        </p:txBody>
      </p:sp>
      <p:pic>
        <p:nvPicPr>
          <p:cNvPr id="94" name="Picture 93" descr="lock.png"/>
          <p:cNvPicPr>
            <a:picLocks noChangeAspect="1"/>
          </p:cNvPicPr>
          <p:nvPr/>
        </p:nvPicPr>
        <p:blipFill>
          <a:blip r:embed="rId4"/>
          <a:stretch>
            <a:fillRect/>
          </a:stretch>
        </p:blipFill>
        <p:spPr>
          <a:xfrm>
            <a:off x="11051993" y="3046793"/>
            <a:ext cx="128699" cy="187198"/>
          </a:xfrm>
          <a:prstGeom prst="rect">
            <a:avLst/>
          </a:prstGeom>
        </p:spPr>
      </p:pic>
      <p:sp>
        <p:nvSpPr>
          <p:cNvPr id="95" name="TextBox 94"/>
          <p:cNvSpPr txBox="1"/>
          <p:nvPr/>
        </p:nvSpPr>
        <p:spPr>
          <a:xfrm>
            <a:off x="11219489" y="3056572"/>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6" name="Picture 95" descr="lock.png"/>
          <p:cNvPicPr>
            <a:picLocks noChangeAspect="1"/>
          </p:cNvPicPr>
          <p:nvPr/>
        </p:nvPicPr>
        <p:blipFill>
          <a:blip r:embed="rId4"/>
          <a:stretch>
            <a:fillRect/>
          </a:stretch>
        </p:blipFill>
        <p:spPr>
          <a:xfrm>
            <a:off x="11320958" y="3046793"/>
            <a:ext cx="128699" cy="187198"/>
          </a:xfrm>
          <a:prstGeom prst="rect">
            <a:avLst/>
          </a:prstGeom>
        </p:spPr>
      </p:pic>
      <p:sp>
        <p:nvSpPr>
          <p:cNvPr id="97" name="TextBox 96"/>
          <p:cNvSpPr txBox="1"/>
          <p:nvPr/>
        </p:nvSpPr>
        <p:spPr>
          <a:xfrm>
            <a:off x="11488454" y="3056572"/>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98" name="TextBox 97"/>
          <p:cNvSpPr txBox="1"/>
          <p:nvPr/>
        </p:nvSpPr>
        <p:spPr>
          <a:xfrm>
            <a:off x="8420100" y="3224212"/>
            <a:ext cx="926951" cy="186689"/>
          </a:xfrm>
          <a:prstGeom prst="rect">
            <a:avLst/>
          </a:prstGeom>
          <a:noFill/>
        </p:spPr>
        <p:txBody>
          <a:bodyPr wrap="none" lIns="0" rIns="0" tIns="0" bIns="0">
            <a:spAutoFit/>
          </a:bodyPr>
          <a:lstStyle/>
          <a:p>
            <a:r>
              <a:rPr sz="1100" b="0">
                <a:solidFill>
                  <a:srgbClr val="2E2E2E"/>
                </a:solidFill>
                <a:latin typeface="Calibri"/>
              </a:rPr>
              <a:t>Mn headroom.</a:t>
            </a:r>
          </a:p>
        </p:txBody>
      </p:sp>
      <p:sp>
        <p:nvSpPr>
          <p:cNvPr id="99" name="TextBox 98"/>
          <p:cNvSpPr txBox="1"/>
          <p:nvPr/>
        </p:nvSpPr>
        <p:spPr>
          <a:xfrm>
            <a:off x="1752600" y="3689985"/>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00" name="Picture 99" descr="lock.png"/>
          <p:cNvPicPr>
            <a:picLocks noChangeAspect="1"/>
          </p:cNvPicPr>
          <p:nvPr/>
        </p:nvPicPr>
        <p:blipFill>
          <a:blip r:embed="rId4"/>
          <a:stretch>
            <a:fillRect/>
          </a:stretch>
        </p:blipFill>
        <p:spPr>
          <a:xfrm>
            <a:off x="2962118" y="3680206"/>
            <a:ext cx="128699" cy="187198"/>
          </a:xfrm>
          <a:prstGeom prst="rect">
            <a:avLst/>
          </a:prstGeom>
        </p:spPr>
      </p:pic>
      <p:sp>
        <p:nvSpPr>
          <p:cNvPr id="101" name="TextBox 100"/>
          <p:cNvSpPr txBox="1"/>
          <p:nvPr/>
        </p:nvSpPr>
        <p:spPr>
          <a:xfrm>
            <a:off x="3129614" y="3689985"/>
            <a:ext cx="2090935" cy="186689"/>
          </a:xfrm>
          <a:prstGeom prst="rect">
            <a:avLst/>
          </a:prstGeom>
          <a:noFill/>
        </p:spPr>
        <p:txBody>
          <a:bodyPr wrap="none" lIns="0" rIns="0" tIns="0" bIns="0">
            <a:spAutoFit/>
          </a:bodyPr>
          <a:lstStyle/>
          <a:p>
            <a:r>
              <a:rPr sz="1100" b="0">
                <a:solidFill>
                  <a:srgbClr val="2E2E2E"/>
                </a:solidFill>
                <a:latin typeface="Calibri"/>
              </a:rPr>
              <a:t>), Construction and Mining Vehicles</a:t>
            </a:r>
          </a:p>
        </p:txBody>
      </p:sp>
      <p:sp>
        <p:nvSpPr>
          <p:cNvPr id="102" name="TextBox 101"/>
          <p:cNvSpPr txBox="1"/>
          <p:nvPr/>
        </p:nvSpPr>
        <p:spPr>
          <a:xfrm>
            <a:off x="1752600" y="38576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03" name="TextBox 102"/>
          <p:cNvSpPr txBox="1"/>
          <p:nvPr/>
        </p:nvSpPr>
        <p:spPr>
          <a:xfrm>
            <a:off x="5562600" y="3773805"/>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04" name="Picture 103" descr="lock.png"/>
          <p:cNvPicPr>
            <a:picLocks noChangeAspect="1"/>
          </p:cNvPicPr>
          <p:nvPr/>
        </p:nvPicPr>
        <p:blipFill>
          <a:blip r:embed="rId4"/>
          <a:stretch>
            <a:fillRect/>
          </a:stretch>
        </p:blipFill>
        <p:spPr>
          <a:xfrm>
            <a:off x="6623687" y="3764026"/>
            <a:ext cx="128699" cy="187198"/>
          </a:xfrm>
          <a:prstGeom prst="rect">
            <a:avLst/>
          </a:prstGeom>
        </p:spPr>
      </p:pic>
      <p:sp>
        <p:nvSpPr>
          <p:cNvPr id="105" name="TextBox 104"/>
          <p:cNvSpPr txBox="1"/>
          <p:nvPr/>
        </p:nvSpPr>
        <p:spPr>
          <a:xfrm>
            <a:off x="6791183" y="377380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6" name="TextBox 105"/>
          <p:cNvSpPr txBox="1"/>
          <p:nvPr/>
        </p:nvSpPr>
        <p:spPr>
          <a:xfrm>
            <a:off x="8420100" y="3689985"/>
            <a:ext cx="2683842" cy="186689"/>
          </a:xfrm>
          <a:prstGeom prst="rect">
            <a:avLst/>
          </a:prstGeom>
          <a:noFill/>
        </p:spPr>
        <p:txBody>
          <a:bodyPr wrap="none" lIns="0" rIns="0" tIns="0" bIns="0">
            <a:spAutoFit/>
          </a:bodyPr>
          <a:lstStyle/>
          <a:p>
            <a:r>
              <a:rPr sz="1100" b="0">
                <a:solidFill>
                  <a:srgbClr val="2E2E2E"/>
                </a:solidFill>
                <a:latin typeface="Calibri"/>
              </a:rPr>
              <a:t>Scale Recreational and Powersports Vehicles (</a:t>
            </a:r>
          </a:p>
        </p:txBody>
      </p:sp>
      <p:pic>
        <p:nvPicPr>
          <p:cNvPr id="107" name="Picture 106" descr="lock.png"/>
          <p:cNvPicPr>
            <a:picLocks noChangeAspect="1"/>
          </p:cNvPicPr>
          <p:nvPr/>
        </p:nvPicPr>
        <p:blipFill>
          <a:blip r:embed="rId4"/>
          <a:stretch>
            <a:fillRect/>
          </a:stretch>
        </p:blipFill>
        <p:spPr>
          <a:xfrm>
            <a:off x="11051993" y="3680206"/>
            <a:ext cx="128699" cy="187198"/>
          </a:xfrm>
          <a:prstGeom prst="rect">
            <a:avLst/>
          </a:prstGeom>
        </p:spPr>
      </p:pic>
      <p:sp>
        <p:nvSpPr>
          <p:cNvPr id="108" name="TextBox 107"/>
          <p:cNvSpPr txBox="1"/>
          <p:nvPr/>
        </p:nvSpPr>
        <p:spPr>
          <a:xfrm>
            <a:off x="11219489" y="36899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9" name="Picture 108" descr="lock.png"/>
          <p:cNvPicPr>
            <a:picLocks noChangeAspect="1"/>
          </p:cNvPicPr>
          <p:nvPr/>
        </p:nvPicPr>
        <p:blipFill>
          <a:blip r:embed="rId4"/>
          <a:stretch>
            <a:fillRect/>
          </a:stretch>
        </p:blipFill>
        <p:spPr>
          <a:xfrm>
            <a:off x="11320958" y="3680206"/>
            <a:ext cx="128699" cy="187198"/>
          </a:xfrm>
          <a:prstGeom prst="rect">
            <a:avLst/>
          </a:prstGeom>
        </p:spPr>
      </p:pic>
      <p:sp>
        <p:nvSpPr>
          <p:cNvPr id="110" name="TextBox 109"/>
          <p:cNvSpPr txBox="1"/>
          <p:nvPr/>
        </p:nvSpPr>
        <p:spPr>
          <a:xfrm>
            <a:off x="11488454" y="3689985"/>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111" name="TextBox 110"/>
          <p:cNvSpPr txBox="1"/>
          <p:nvPr/>
        </p:nvSpPr>
        <p:spPr>
          <a:xfrm>
            <a:off x="8420100" y="3857625"/>
            <a:ext cx="926951" cy="186689"/>
          </a:xfrm>
          <a:prstGeom prst="rect">
            <a:avLst/>
          </a:prstGeom>
          <a:noFill/>
        </p:spPr>
        <p:txBody>
          <a:bodyPr wrap="none" lIns="0" rIns="0" tIns="0" bIns="0">
            <a:spAutoFit/>
          </a:bodyPr>
          <a:lstStyle/>
          <a:p>
            <a:r>
              <a:rPr sz="1100" b="0">
                <a:solidFill>
                  <a:srgbClr val="2E2E2E"/>
                </a:solidFill>
                <a:latin typeface="Calibri"/>
              </a:rPr>
              <a:t>Mn headroom.</a:t>
            </a:r>
          </a:p>
        </p:txBody>
      </p:sp>
      <p:sp>
        <p:nvSpPr>
          <p:cNvPr id="112" name="TextBox 111"/>
          <p:cNvSpPr txBox="1"/>
          <p:nvPr/>
        </p:nvSpPr>
        <p:spPr>
          <a:xfrm>
            <a:off x="1752600" y="4223385"/>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13" name="Picture 112" descr="lock.png"/>
          <p:cNvPicPr>
            <a:picLocks noChangeAspect="1"/>
          </p:cNvPicPr>
          <p:nvPr/>
        </p:nvPicPr>
        <p:blipFill>
          <a:blip r:embed="rId4"/>
          <a:stretch>
            <a:fillRect/>
          </a:stretch>
        </p:blipFill>
        <p:spPr>
          <a:xfrm>
            <a:off x="2834969" y="4213606"/>
            <a:ext cx="128699" cy="187198"/>
          </a:xfrm>
          <a:prstGeom prst="rect">
            <a:avLst/>
          </a:prstGeom>
        </p:spPr>
      </p:pic>
      <p:sp>
        <p:nvSpPr>
          <p:cNvPr id="114" name="TextBox 113"/>
          <p:cNvSpPr txBox="1"/>
          <p:nvPr/>
        </p:nvSpPr>
        <p:spPr>
          <a:xfrm>
            <a:off x="3002465" y="4223385"/>
            <a:ext cx="1908381" cy="186689"/>
          </a:xfrm>
          <a:prstGeom prst="rect">
            <a:avLst/>
          </a:prstGeom>
          <a:noFill/>
        </p:spPr>
        <p:txBody>
          <a:bodyPr wrap="none" lIns="0" rIns="0" tIns="0" bIns="0">
            <a:spAutoFit/>
          </a:bodyPr>
          <a:lstStyle/>
          <a:p>
            <a:r>
              <a:rPr sz="1100" b="0">
                <a:solidFill>
                  <a:srgbClr val="2E2E2E"/>
                </a:solidFill>
                <a:latin typeface="Calibri"/>
              </a:rPr>
              <a:t>CAGR), Construction and Mining</a:t>
            </a:r>
          </a:p>
        </p:txBody>
      </p:sp>
      <p:sp>
        <p:nvSpPr>
          <p:cNvPr id="115" name="TextBox 114"/>
          <p:cNvSpPr txBox="1"/>
          <p:nvPr/>
        </p:nvSpPr>
        <p:spPr>
          <a:xfrm>
            <a:off x="1752600" y="4391025"/>
            <a:ext cx="2426270" cy="186689"/>
          </a:xfrm>
          <a:prstGeom prst="rect">
            <a:avLst/>
          </a:prstGeom>
          <a:noFill/>
        </p:spPr>
        <p:txBody>
          <a:bodyPr wrap="none" lIns="0" rIns="0" tIns="0" bIns="0">
            <a:spAutoFit/>
          </a:bodyPr>
          <a:lstStyle/>
          <a:p>
            <a:r>
              <a:rPr sz="1100" b="0">
                <a:solidFill>
                  <a:srgbClr val="2E2E2E"/>
                </a:solidFill>
                <a:latin typeface="Calibri"/>
              </a:rPr>
              <a:t>Vehicles demand, Accelerating vs history.</a:t>
            </a:r>
          </a:p>
        </p:txBody>
      </p:sp>
      <p:sp>
        <p:nvSpPr>
          <p:cNvPr id="116" name="TextBox 115"/>
          <p:cNvSpPr txBox="1"/>
          <p:nvPr/>
        </p:nvSpPr>
        <p:spPr>
          <a:xfrm>
            <a:off x="5562600" y="4307205"/>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17" name="Picture 116" descr="lock.png"/>
          <p:cNvPicPr>
            <a:picLocks noChangeAspect="1"/>
          </p:cNvPicPr>
          <p:nvPr/>
        </p:nvPicPr>
        <p:blipFill>
          <a:blip r:embed="rId4"/>
          <a:stretch>
            <a:fillRect/>
          </a:stretch>
        </p:blipFill>
        <p:spPr>
          <a:xfrm>
            <a:off x="6797766" y="4297426"/>
            <a:ext cx="128699" cy="187198"/>
          </a:xfrm>
          <a:prstGeom prst="rect">
            <a:avLst/>
          </a:prstGeom>
        </p:spPr>
      </p:pic>
      <p:sp>
        <p:nvSpPr>
          <p:cNvPr id="118" name="TextBox 117"/>
          <p:cNvSpPr txBox="1"/>
          <p:nvPr/>
        </p:nvSpPr>
        <p:spPr>
          <a:xfrm>
            <a:off x="6965262" y="4307205"/>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9" name="TextBox 118"/>
          <p:cNvSpPr txBox="1"/>
          <p:nvPr/>
        </p:nvSpPr>
        <p:spPr>
          <a:xfrm>
            <a:off x="8420100" y="4223385"/>
            <a:ext cx="2683842" cy="186689"/>
          </a:xfrm>
          <a:prstGeom prst="rect">
            <a:avLst/>
          </a:prstGeom>
          <a:noFill/>
        </p:spPr>
        <p:txBody>
          <a:bodyPr wrap="none" lIns="0" rIns="0" tIns="0" bIns="0">
            <a:spAutoFit/>
          </a:bodyPr>
          <a:lstStyle/>
          <a:p>
            <a:r>
              <a:rPr sz="1100" b="0">
                <a:solidFill>
                  <a:srgbClr val="2E2E2E"/>
                </a:solidFill>
                <a:latin typeface="Calibri"/>
              </a:rPr>
              <a:t>Scale Recreational and Powersports Vehicles (</a:t>
            </a:r>
          </a:p>
        </p:txBody>
      </p:sp>
      <p:pic>
        <p:nvPicPr>
          <p:cNvPr id="120" name="Picture 119" descr="lock.png"/>
          <p:cNvPicPr>
            <a:picLocks noChangeAspect="1"/>
          </p:cNvPicPr>
          <p:nvPr/>
        </p:nvPicPr>
        <p:blipFill>
          <a:blip r:embed="rId4"/>
          <a:stretch>
            <a:fillRect/>
          </a:stretch>
        </p:blipFill>
        <p:spPr>
          <a:xfrm>
            <a:off x="11051993" y="4213606"/>
            <a:ext cx="128699" cy="187198"/>
          </a:xfrm>
          <a:prstGeom prst="rect">
            <a:avLst/>
          </a:prstGeom>
        </p:spPr>
      </p:pic>
      <p:sp>
        <p:nvSpPr>
          <p:cNvPr id="121" name="TextBox 120"/>
          <p:cNvSpPr txBox="1"/>
          <p:nvPr/>
        </p:nvSpPr>
        <p:spPr>
          <a:xfrm>
            <a:off x="11219489" y="42233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22" name="Picture 121" descr="lock.png"/>
          <p:cNvPicPr>
            <a:picLocks noChangeAspect="1"/>
          </p:cNvPicPr>
          <p:nvPr/>
        </p:nvPicPr>
        <p:blipFill>
          <a:blip r:embed="rId4"/>
          <a:stretch>
            <a:fillRect/>
          </a:stretch>
        </p:blipFill>
        <p:spPr>
          <a:xfrm>
            <a:off x="11320958" y="4213606"/>
            <a:ext cx="128699" cy="187198"/>
          </a:xfrm>
          <a:prstGeom prst="rect">
            <a:avLst/>
          </a:prstGeom>
        </p:spPr>
      </p:pic>
      <p:sp>
        <p:nvSpPr>
          <p:cNvPr id="123" name="TextBox 122"/>
          <p:cNvSpPr txBox="1"/>
          <p:nvPr/>
        </p:nvSpPr>
        <p:spPr>
          <a:xfrm>
            <a:off x="11488454" y="4223385"/>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124" name="TextBox 123"/>
          <p:cNvSpPr txBox="1"/>
          <p:nvPr/>
        </p:nvSpPr>
        <p:spPr>
          <a:xfrm>
            <a:off x="8420100" y="4391025"/>
            <a:ext cx="926951" cy="186689"/>
          </a:xfrm>
          <a:prstGeom prst="rect">
            <a:avLst/>
          </a:prstGeom>
          <a:noFill/>
        </p:spPr>
        <p:txBody>
          <a:bodyPr wrap="none" lIns="0" rIns="0" tIns="0" bIns="0">
            <a:spAutoFit/>
          </a:bodyPr>
          <a:lstStyle/>
          <a:p>
            <a:r>
              <a:rPr sz="1100" b="0">
                <a:solidFill>
                  <a:srgbClr val="2E2E2E"/>
                </a:solidFill>
                <a:latin typeface="Calibri"/>
              </a:rPr>
              <a:t>Mn headroom.</a:t>
            </a:r>
          </a:p>
        </p:txBody>
      </p:sp>
      <p:sp>
        <p:nvSpPr>
          <p:cNvPr id="125" name="TextBox 124"/>
          <p:cNvSpPr txBox="1"/>
          <p:nvPr/>
        </p:nvSpPr>
        <p:spPr>
          <a:xfrm>
            <a:off x="1752600" y="4756785"/>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26" name="Picture 125" descr="lock.png"/>
          <p:cNvPicPr>
            <a:picLocks noChangeAspect="1"/>
          </p:cNvPicPr>
          <p:nvPr/>
        </p:nvPicPr>
        <p:blipFill>
          <a:blip r:embed="rId4"/>
          <a:stretch>
            <a:fillRect/>
          </a:stretch>
        </p:blipFill>
        <p:spPr>
          <a:xfrm>
            <a:off x="2962118" y="4747006"/>
            <a:ext cx="128699" cy="187198"/>
          </a:xfrm>
          <a:prstGeom prst="rect">
            <a:avLst/>
          </a:prstGeom>
        </p:spPr>
      </p:pic>
      <p:sp>
        <p:nvSpPr>
          <p:cNvPr id="127" name="TextBox 126"/>
          <p:cNvSpPr txBox="1"/>
          <p:nvPr/>
        </p:nvSpPr>
        <p:spPr>
          <a:xfrm>
            <a:off x="3129614" y="4756785"/>
            <a:ext cx="2090935" cy="186689"/>
          </a:xfrm>
          <a:prstGeom prst="rect">
            <a:avLst/>
          </a:prstGeom>
          <a:noFill/>
        </p:spPr>
        <p:txBody>
          <a:bodyPr wrap="none" lIns="0" rIns="0" tIns="0" bIns="0">
            <a:spAutoFit/>
          </a:bodyPr>
          <a:lstStyle/>
          <a:p>
            <a:r>
              <a:rPr sz="1100" b="0">
                <a:solidFill>
                  <a:srgbClr val="2E2E2E"/>
                </a:solidFill>
                <a:latin typeface="Calibri"/>
              </a:rPr>
              <a:t>), Construction and Mining Vehicles</a:t>
            </a:r>
          </a:p>
        </p:txBody>
      </p:sp>
      <p:sp>
        <p:nvSpPr>
          <p:cNvPr id="128" name="TextBox 127"/>
          <p:cNvSpPr txBox="1"/>
          <p:nvPr/>
        </p:nvSpPr>
        <p:spPr>
          <a:xfrm>
            <a:off x="1752600" y="49244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29" name="TextBox 128"/>
          <p:cNvSpPr txBox="1"/>
          <p:nvPr/>
        </p:nvSpPr>
        <p:spPr>
          <a:xfrm>
            <a:off x="5562600" y="4840605"/>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30" name="Picture 129" descr="lock.png"/>
          <p:cNvPicPr>
            <a:picLocks noChangeAspect="1"/>
          </p:cNvPicPr>
          <p:nvPr/>
        </p:nvPicPr>
        <p:blipFill>
          <a:blip r:embed="rId4"/>
          <a:stretch>
            <a:fillRect/>
          </a:stretch>
        </p:blipFill>
        <p:spPr>
          <a:xfrm>
            <a:off x="6623687" y="4830826"/>
            <a:ext cx="128699" cy="187198"/>
          </a:xfrm>
          <a:prstGeom prst="rect">
            <a:avLst/>
          </a:prstGeom>
        </p:spPr>
      </p:pic>
      <p:sp>
        <p:nvSpPr>
          <p:cNvPr id="131" name="TextBox 130"/>
          <p:cNvSpPr txBox="1"/>
          <p:nvPr/>
        </p:nvSpPr>
        <p:spPr>
          <a:xfrm>
            <a:off x="6791183" y="484060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32" name="TextBox 131"/>
          <p:cNvSpPr txBox="1"/>
          <p:nvPr/>
        </p:nvSpPr>
        <p:spPr>
          <a:xfrm>
            <a:off x="8420100" y="4756785"/>
            <a:ext cx="2683842" cy="186689"/>
          </a:xfrm>
          <a:prstGeom prst="rect">
            <a:avLst/>
          </a:prstGeom>
          <a:noFill/>
        </p:spPr>
        <p:txBody>
          <a:bodyPr wrap="none" lIns="0" rIns="0" tIns="0" bIns="0">
            <a:spAutoFit/>
          </a:bodyPr>
          <a:lstStyle/>
          <a:p>
            <a:r>
              <a:rPr sz="1100" b="0">
                <a:solidFill>
                  <a:srgbClr val="2E2E2E"/>
                </a:solidFill>
                <a:latin typeface="Calibri"/>
              </a:rPr>
              <a:t>Scale Recreational and Powersports Vehicles (</a:t>
            </a:r>
          </a:p>
        </p:txBody>
      </p:sp>
      <p:pic>
        <p:nvPicPr>
          <p:cNvPr id="133" name="Picture 132" descr="lock.png"/>
          <p:cNvPicPr>
            <a:picLocks noChangeAspect="1"/>
          </p:cNvPicPr>
          <p:nvPr/>
        </p:nvPicPr>
        <p:blipFill>
          <a:blip r:embed="rId4"/>
          <a:stretch>
            <a:fillRect/>
          </a:stretch>
        </p:blipFill>
        <p:spPr>
          <a:xfrm>
            <a:off x="11051993" y="4747006"/>
            <a:ext cx="128699" cy="187198"/>
          </a:xfrm>
          <a:prstGeom prst="rect">
            <a:avLst/>
          </a:prstGeom>
        </p:spPr>
      </p:pic>
      <p:sp>
        <p:nvSpPr>
          <p:cNvPr id="134" name="TextBox 133"/>
          <p:cNvSpPr txBox="1"/>
          <p:nvPr/>
        </p:nvSpPr>
        <p:spPr>
          <a:xfrm>
            <a:off x="11219489" y="47567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5" name="Picture 134" descr="lock.png"/>
          <p:cNvPicPr>
            <a:picLocks noChangeAspect="1"/>
          </p:cNvPicPr>
          <p:nvPr/>
        </p:nvPicPr>
        <p:blipFill>
          <a:blip r:embed="rId4"/>
          <a:stretch>
            <a:fillRect/>
          </a:stretch>
        </p:blipFill>
        <p:spPr>
          <a:xfrm>
            <a:off x="11320958" y="4747006"/>
            <a:ext cx="128699" cy="187198"/>
          </a:xfrm>
          <a:prstGeom prst="rect">
            <a:avLst/>
          </a:prstGeom>
        </p:spPr>
      </p:pic>
      <p:sp>
        <p:nvSpPr>
          <p:cNvPr id="136" name="TextBox 135"/>
          <p:cNvSpPr txBox="1"/>
          <p:nvPr/>
        </p:nvSpPr>
        <p:spPr>
          <a:xfrm>
            <a:off x="11488454" y="4756785"/>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137" name="TextBox 136"/>
          <p:cNvSpPr txBox="1"/>
          <p:nvPr/>
        </p:nvSpPr>
        <p:spPr>
          <a:xfrm>
            <a:off x="8420100" y="4924425"/>
            <a:ext cx="926951" cy="186689"/>
          </a:xfrm>
          <a:prstGeom prst="rect">
            <a:avLst/>
          </a:prstGeom>
          <a:noFill/>
        </p:spPr>
        <p:txBody>
          <a:bodyPr wrap="none" lIns="0" rIns="0" tIns="0" bIns="0">
            <a:spAutoFit/>
          </a:bodyPr>
          <a:lstStyle/>
          <a:p>
            <a:r>
              <a:rPr sz="1100" b="0">
                <a:solidFill>
                  <a:srgbClr val="2E2E2E"/>
                </a:solidFill>
                <a:latin typeface="Calibri"/>
              </a:rPr>
              <a:t>Mn headroom.</a:t>
            </a:r>
          </a:p>
        </p:txBody>
      </p:sp>
      <p:sp>
        <p:nvSpPr>
          <p:cNvPr id="138" name="TextBox 137"/>
          <p:cNvSpPr txBox="1"/>
          <p:nvPr/>
        </p:nvSpPr>
        <p:spPr>
          <a:xfrm>
            <a:off x="1752600" y="5290185"/>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39" name="Picture 138" descr="lock.png"/>
          <p:cNvPicPr>
            <a:picLocks noChangeAspect="1"/>
          </p:cNvPicPr>
          <p:nvPr/>
        </p:nvPicPr>
        <p:blipFill>
          <a:blip r:embed="rId4"/>
          <a:stretch>
            <a:fillRect/>
          </a:stretch>
        </p:blipFill>
        <p:spPr>
          <a:xfrm>
            <a:off x="2962118" y="5280405"/>
            <a:ext cx="128699" cy="187198"/>
          </a:xfrm>
          <a:prstGeom prst="rect">
            <a:avLst/>
          </a:prstGeom>
        </p:spPr>
      </p:pic>
      <p:sp>
        <p:nvSpPr>
          <p:cNvPr id="140" name="TextBox 139"/>
          <p:cNvSpPr txBox="1"/>
          <p:nvPr/>
        </p:nvSpPr>
        <p:spPr>
          <a:xfrm>
            <a:off x="3129614" y="5290185"/>
            <a:ext cx="2090935" cy="186689"/>
          </a:xfrm>
          <a:prstGeom prst="rect">
            <a:avLst/>
          </a:prstGeom>
          <a:noFill/>
        </p:spPr>
        <p:txBody>
          <a:bodyPr wrap="none" lIns="0" rIns="0" tIns="0" bIns="0">
            <a:spAutoFit/>
          </a:bodyPr>
          <a:lstStyle/>
          <a:p>
            <a:r>
              <a:rPr sz="1100" b="0">
                <a:solidFill>
                  <a:srgbClr val="2E2E2E"/>
                </a:solidFill>
                <a:latin typeface="Calibri"/>
              </a:rPr>
              <a:t>), Construction and Mining Vehicles</a:t>
            </a:r>
          </a:p>
        </p:txBody>
      </p:sp>
      <p:sp>
        <p:nvSpPr>
          <p:cNvPr id="141" name="TextBox 140"/>
          <p:cNvSpPr txBox="1"/>
          <p:nvPr/>
        </p:nvSpPr>
        <p:spPr>
          <a:xfrm>
            <a:off x="1752600" y="5457825"/>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42" name="TextBox 141"/>
          <p:cNvSpPr txBox="1"/>
          <p:nvPr/>
        </p:nvSpPr>
        <p:spPr>
          <a:xfrm>
            <a:off x="5562600" y="5374005"/>
            <a:ext cx="2011808" cy="186689"/>
          </a:xfrm>
          <a:prstGeom prst="rect">
            <a:avLst/>
          </a:prstGeom>
          <a:noFill/>
        </p:spPr>
        <p:txBody>
          <a:bodyPr wrap="none" lIns="0" rIns="0" tIns="0" bIns="0">
            <a:spAutoFit/>
          </a:bodyPr>
          <a:lstStyle/>
          <a:p>
            <a:r>
              <a:rPr sz="1100" b="0">
                <a:solidFill>
                  <a:srgbClr val="2E2E2E"/>
                </a:solidFill>
                <a:latin typeface="Calibri"/>
              </a:rPr>
              <a:t>Sub-scale base, Rising realisation (</a:t>
            </a:r>
          </a:p>
        </p:txBody>
      </p:sp>
      <p:pic>
        <p:nvPicPr>
          <p:cNvPr id="143" name="Picture 142" descr="lock.png"/>
          <p:cNvPicPr>
            <a:picLocks noChangeAspect="1"/>
          </p:cNvPicPr>
          <p:nvPr/>
        </p:nvPicPr>
        <p:blipFill>
          <a:blip r:embed="rId4"/>
          <a:stretch>
            <a:fillRect/>
          </a:stretch>
        </p:blipFill>
        <p:spPr>
          <a:xfrm>
            <a:off x="7522460" y="5364226"/>
            <a:ext cx="128699" cy="187198"/>
          </a:xfrm>
          <a:prstGeom prst="rect">
            <a:avLst/>
          </a:prstGeom>
        </p:spPr>
      </p:pic>
      <p:sp>
        <p:nvSpPr>
          <p:cNvPr id="144" name="TextBox 143"/>
          <p:cNvSpPr txBox="1"/>
          <p:nvPr/>
        </p:nvSpPr>
        <p:spPr>
          <a:xfrm>
            <a:off x="7689956" y="5374005"/>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45" name="TextBox 144"/>
          <p:cNvSpPr txBox="1"/>
          <p:nvPr/>
        </p:nvSpPr>
        <p:spPr>
          <a:xfrm>
            <a:off x="8420100" y="5290185"/>
            <a:ext cx="2683842" cy="186689"/>
          </a:xfrm>
          <a:prstGeom prst="rect">
            <a:avLst/>
          </a:prstGeom>
          <a:noFill/>
        </p:spPr>
        <p:txBody>
          <a:bodyPr wrap="none" lIns="0" rIns="0" tIns="0" bIns="0">
            <a:spAutoFit/>
          </a:bodyPr>
          <a:lstStyle/>
          <a:p>
            <a:r>
              <a:rPr sz="1100" b="0">
                <a:solidFill>
                  <a:srgbClr val="2E2E2E"/>
                </a:solidFill>
                <a:latin typeface="Calibri"/>
              </a:rPr>
              <a:t>Scale Recreational and Powersports Vehicles (</a:t>
            </a:r>
          </a:p>
        </p:txBody>
      </p:sp>
      <p:pic>
        <p:nvPicPr>
          <p:cNvPr id="146" name="Picture 145" descr="lock.png"/>
          <p:cNvPicPr>
            <a:picLocks noChangeAspect="1"/>
          </p:cNvPicPr>
          <p:nvPr/>
        </p:nvPicPr>
        <p:blipFill>
          <a:blip r:embed="rId4"/>
          <a:stretch>
            <a:fillRect/>
          </a:stretch>
        </p:blipFill>
        <p:spPr>
          <a:xfrm>
            <a:off x="11051993" y="5280405"/>
            <a:ext cx="128699" cy="187198"/>
          </a:xfrm>
          <a:prstGeom prst="rect">
            <a:avLst/>
          </a:prstGeom>
        </p:spPr>
      </p:pic>
      <p:sp>
        <p:nvSpPr>
          <p:cNvPr id="147" name="TextBox 146"/>
          <p:cNvSpPr txBox="1"/>
          <p:nvPr/>
        </p:nvSpPr>
        <p:spPr>
          <a:xfrm>
            <a:off x="11219489" y="52901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48" name="Picture 147" descr="lock.png"/>
          <p:cNvPicPr>
            <a:picLocks noChangeAspect="1"/>
          </p:cNvPicPr>
          <p:nvPr/>
        </p:nvPicPr>
        <p:blipFill>
          <a:blip r:embed="rId4"/>
          <a:stretch>
            <a:fillRect/>
          </a:stretch>
        </p:blipFill>
        <p:spPr>
          <a:xfrm>
            <a:off x="11320958" y="5280405"/>
            <a:ext cx="128699" cy="187198"/>
          </a:xfrm>
          <a:prstGeom prst="rect">
            <a:avLst/>
          </a:prstGeom>
        </p:spPr>
      </p:pic>
      <p:sp>
        <p:nvSpPr>
          <p:cNvPr id="149" name="TextBox 148"/>
          <p:cNvSpPr txBox="1"/>
          <p:nvPr/>
        </p:nvSpPr>
        <p:spPr>
          <a:xfrm>
            <a:off x="11488454" y="5290185"/>
            <a:ext cx="301029" cy="186689"/>
          </a:xfrm>
          <a:prstGeom prst="rect">
            <a:avLst/>
          </a:prstGeom>
          <a:noFill/>
        </p:spPr>
        <p:txBody>
          <a:bodyPr wrap="none" lIns="0" rIns="0" tIns="0" bIns="0">
            <a:spAutoFit/>
          </a:bodyPr>
          <a:lstStyle/>
          <a:p>
            <a:r>
              <a:rPr sz="1100" b="0">
                <a:solidFill>
                  <a:srgbClr val="2E2E2E"/>
                </a:solidFill>
                <a:latin typeface="Calibri"/>
              </a:rPr>
              <a:t>US$</a:t>
            </a:r>
          </a:p>
        </p:txBody>
      </p:sp>
      <p:sp>
        <p:nvSpPr>
          <p:cNvPr id="150" name="TextBox 149"/>
          <p:cNvSpPr txBox="1"/>
          <p:nvPr/>
        </p:nvSpPr>
        <p:spPr>
          <a:xfrm>
            <a:off x="8420100" y="5457825"/>
            <a:ext cx="926951" cy="186689"/>
          </a:xfrm>
          <a:prstGeom prst="rect">
            <a:avLst/>
          </a:prstGeom>
          <a:noFill/>
        </p:spPr>
        <p:txBody>
          <a:bodyPr wrap="none" lIns="0" rIns="0" tIns="0" bIns="0">
            <a:spAutoFit/>
          </a:bodyPr>
          <a:lstStyle/>
          <a:p>
            <a:r>
              <a:rPr sz="1100" b="0">
                <a:solidFill>
                  <a:srgbClr val="2E2E2E"/>
                </a:solidFill>
                <a:latin typeface="Calibri"/>
              </a:rPr>
              <a:t>Mn headroom.</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Dynamics by Region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7" name="Rounded Rectangle 6"/>
          <p:cNvSpPr/>
          <p:nvPr/>
        </p:nvSpPr>
        <p:spPr>
          <a:xfrm>
            <a:off x="142875" y="876300"/>
            <a:ext cx="11906250" cy="1038225"/>
          </a:xfrm>
          <a:prstGeom prst="roundRect">
            <a:avLst>
              <a:gd name="adj" fmla="val 479"/>
            </a:avLst>
          </a:prstGeom>
          <a:solidFill>
            <a:srgbClr val="FFFFFF"/>
          </a:solidFill>
          <a:ln w="12700">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6225" y="914400"/>
            <a:ext cx="3810000" cy="228600"/>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9" name="Connector 8"/>
          <p:cNvCxnSpPr/>
          <p:nvPr/>
        </p:nvCxnSpPr>
        <p:spPr>
          <a:xfrm>
            <a:off x="276225" y="1162050"/>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6225" y="1219200"/>
            <a:ext cx="11525250" cy="61912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1" name="Rectangle 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3" name="TextBox 12"/>
          <p:cNvSpPr txBox="1"/>
          <p:nvPr/>
        </p:nvSpPr>
        <p:spPr>
          <a:xfrm>
            <a:off x="304800" y="1277302"/>
            <a:ext cx="4469076" cy="186689"/>
          </a:xfrm>
          <a:prstGeom prst="rect">
            <a:avLst/>
          </a:prstGeom>
          <a:noFill/>
        </p:spPr>
        <p:txBody>
          <a:bodyPr wrap="none" lIns="0" rIns="0" tIns="0" bIns="0">
            <a:spAutoFit/>
          </a:bodyPr>
          <a:lstStyle/>
          <a:p>
            <a:r>
              <a:rPr sz="1100" b="0">
                <a:solidFill>
                  <a:srgbClr val="2E2E2E"/>
                </a:solidFill>
                <a:latin typeface="Calibri"/>
              </a:rPr>
              <a:t>▪ North America, South Asia &amp; Pacific, East Asia anchor scale with a combined</a:t>
            </a:r>
          </a:p>
        </p:txBody>
      </p:sp>
      <p:pic>
        <p:nvPicPr>
          <p:cNvPr id="14" name="Picture 13" descr="lock.png"/>
          <p:cNvPicPr>
            <a:picLocks noChangeAspect="1"/>
          </p:cNvPicPr>
          <p:nvPr/>
        </p:nvPicPr>
        <p:blipFill>
          <a:blip r:embed="rId4"/>
          <a:stretch>
            <a:fillRect/>
          </a:stretch>
        </p:blipFill>
        <p:spPr>
          <a:xfrm>
            <a:off x="4721927" y="1267523"/>
            <a:ext cx="128699" cy="187198"/>
          </a:xfrm>
          <a:prstGeom prst="rect">
            <a:avLst/>
          </a:prstGeom>
        </p:spPr>
      </p:pic>
      <p:sp>
        <p:nvSpPr>
          <p:cNvPr id="15" name="TextBox 14"/>
          <p:cNvSpPr txBox="1"/>
          <p:nvPr/>
        </p:nvSpPr>
        <p:spPr>
          <a:xfrm>
            <a:off x="4889423" y="1277302"/>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6" name="Picture 15" descr="lock.png"/>
          <p:cNvPicPr>
            <a:picLocks noChangeAspect="1"/>
          </p:cNvPicPr>
          <p:nvPr/>
        </p:nvPicPr>
        <p:blipFill>
          <a:blip r:embed="rId4"/>
          <a:stretch>
            <a:fillRect/>
          </a:stretch>
        </p:blipFill>
        <p:spPr>
          <a:xfrm>
            <a:off x="9460473" y="1267523"/>
            <a:ext cx="128699" cy="187198"/>
          </a:xfrm>
          <a:prstGeom prst="rect">
            <a:avLst/>
          </a:prstGeom>
        </p:spPr>
      </p:pic>
      <p:sp>
        <p:nvSpPr>
          <p:cNvPr id="17" name="TextBox 16"/>
          <p:cNvSpPr txBox="1"/>
          <p:nvPr/>
        </p:nvSpPr>
        <p:spPr>
          <a:xfrm>
            <a:off x="9627969" y="1277302"/>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8" name="Picture 17" descr="lock.png"/>
          <p:cNvPicPr>
            <a:picLocks noChangeAspect="1"/>
          </p:cNvPicPr>
          <p:nvPr/>
        </p:nvPicPr>
        <p:blipFill>
          <a:blip r:embed="rId4"/>
          <a:stretch>
            <a:fillRect/>
          </a:stretch>
        </p:blipFill>
        <p:spPr>
          <a:xfrm>
            <a:off x="291332" y="1435163"/>
            <a:ext cx="128699" cy="187198"/>
          </a:xfrm>
          <a:prstGeom prst="rect">
            <a:avLst/>
          </a:prstGeom>
        </p:spPr>
      </p:pic>
      <p:sp>
        <p:nvSpPr>
          <p:cNvPr id="19" name="TextBox 18"/>
          <p:cNvSpPr txBox="1"/>
          <p:nvPr/>
        </p:nvSpPr>
        <p:spPr>
          <a:xfrm>
            <a:off x="458828" y="1444942"/>
            <a:ext cx="11008816" cy="186689"/>
          </a:xfrm>
          <a:prstGeom prst="rect">
            <a:avLst/>
          </a:prstGeom>
          <a:noFill/>
        </p:spPr>
        <p:txBody>
          <a:bodyPr wrap="none" lIns="0" rIns="0" tIns="0" bIns="0">
            <a:spAutoFit/>
          </a:bodyPr>
          <a:lstStyle/>
          <a:p>
            <a:r>
              <a:rPr sz="1100" b="0">
                <a:solidFill>
                  <a:srgbClr val="2E2E2E"/>
                </a:solidFill>
                <a:latin typeface="Calibri"/>
              </a:rPr>
              <a:t>. 4 of 7 regions grow at or above that pace, so entry logic has to differ by region scale defence in the leaders, mix and premiumisation in the mid-tier, and availability-led expansion in the fastest</a:t>
            </a:r>
          </a:p>
        </p:txBody>
      </p:sp>
      <p:sp>
        <p:nvSpPr>
          <p:cNvPr id="20" name="TextBox 19"/>
          <p:cNvSpPr txBox="1"/>
          <p:nvPr/>
        </p:nvSpPr>
        <p:spPr>
          <a:xfrm>
            <a:off x="304800" y="1612582"/>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Global Driving Factors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7" name="Oval 6"/>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2438400" y="2650094"/>
            <a:ext cx="2324100" cy="2464249"/>
          </a:xfrm>
          <a:custGeom>
            <a:avLst/>
            <a:gdLst/>
            <a:ahLst/>
            <a:cxnLst/>
            <a:rect l="l" t="t" r="r" b="b"/>
            <a:pathLst>
              <a:path w="244" h="270">
                <a:moveTo>
                  <a:pt x="244" y="0"/>
                </a:moveTo>
                <a:lnTo>
                  <a:pt x="182" y="8"/>
                </a:lnTo>
                <a:lnTo>
                  <a:pt x="114" y="33"/>
                </a:lnTo>
                <a:lnTo>
                  <a:pt x="65" y="95"/>
                </a:lnTo>
                <a:lnTo>
                  <a:pt x="0" y="192"/>
                </a:lnTo>
                <a:lnTo>
                  <a:pt x="76" y="270"/>
                </a:lnTo>
                <a:lnTo>
                  <a:pt x="203" y="220"/>
                </a:lnTo>
                <a:lnTo>
                  <a:pt x="244" y="225"/>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28" name="Oval 27"/>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0" name="Oval 29"/>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2" name="Oval 31"/>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4" name="Oval 33"/>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6" name="Oval 35"/>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8" name="Oval 37"/>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0" name="Oval 39"/>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2" name="Rectangle 41"/>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MR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4" name="TMR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5" name="TMR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6" name="TMR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47" name="TMR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48" name="TMR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49" name="TMR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0" name="TMR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1" name="TMR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2" name="TMR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3" name="TMR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4" name="Connector 53"/>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6" name="Connector 55"/>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5 vehicle type lines and 4 powertrain routes, giving producers wide reformulation and channel latitude.</a:t>
            </a:r>
          </a:p>
        </p:txBody>
      </p:sp>
      <p:sp>
        <p:nvSpPr>
          <p:cNvPr id="61" name="TextBox 60"/>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6" name="Picture 65" descr="lock.png"/>
          <p:cNvPicPr>
            <a:picLocks noChangeAspect="1"/>
          </p:cNvPicPr>
          <p:nvPr/>
        </p:nvPicPr>
        <p:blipFill>
          <a:blip r:embed="rId4"/>
          <a:stretch>
            <a:fillRect/>
          </a:stretch>
        </p:blipFill>
        <p:spPr>
          <a:xfrm>
            <a:off x="4538330" y="1313604"/>
            <a:ext cx="118403" cy="172222"/>
          </a:xfrm>
          <a:prstGeom prst="rect">
            <a:avLst/>
          </a:prstGeom>
        </p:spPr>
      </p:pic>
      <p:sp>
        <p:nvSpPr>
          <p:cNvPr id="67" name="TextBox 66"/>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68" name="Picture 67" descr="lock.png"/>
          <p:cNvPicPr>
            <a:picLocks noChangeAspect="1"/>
          </p:cNvPicPr>
          <p:nvPr/>
        </p:nvPicPr>
        <p:blipFill>
          <a:blip r:embed="rId4"/>
          <a:stretch>
            <a:fillRect/>
          </a:stretch>
        </p:blipFill>
        <p:spPr>
          <a:xfrm>
            <a:off x="3523486" y="1552218"/>
            <a:ext cx="118403" cy="172222"/>
          </a:xfrm>
          <a:prstGeom prst="rect">
            <a:avLst/>
          </a:prstGeom>
        </p:spPr>
      </p:pic>
      <p:sp>
        <p:nvSpPr>
          <p:cNvPr id="69" name="TextBox 68"/>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0" name="Picture 69" descr="lock.png"/>
          <p:cNvPicPr>
            <a:picLocks noChangeAspect="1"/>
          </p:cNvPicPr>
          <p:nvPr/>
        </p:nvPicPr>
        <p:blipFill>
          <a:blip r:embed="rId4"/>
          <a:stretch>
            <a:fillRect/>
          </a:stretch>
        </p:blipFill>
        <p:spPr>
          <a:xfrm>
            <a:off x="2648537" y="2302942"/>
            <a:ext cx="118403" cy="172222"/>
          </a:xfrm>
          <a:prstGeom prst="rect">
            <a:avLst/>
          </a:prstGeom>
        </p:spPr>
      </p:pic>
      <p:sp>
        <p:nvSpPr>
          <p:cNvPr id="71" name="TextBox 70"/>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2" name="Picture 71" descr="lock.png"/>
          <p:cNvPicPr>
            <a:picLocks noChangeAspect="1"/>
          </p:cNvPicPr>
          <p:nvPr/>
        </p:nvPicPr>
        <p:blipFill>
          <a:blip r:embed="rId4"/>
          <a:stretch>
            <a:fillRect/>
          </a:stretch>
        </p:blipFill>
        <p:spPr>
          <a:xfrm>
            <a:off x="2162976" y="3269072"/>
            <a:ext cx="118403" cy="172222"/>
          </a:xfrm>
          <a:prstGeom prst="rect">
            <a:avLst/>
          </a:prstGeom>
        </p:spPr>
      </p:pic>
      <p:sp>
        <p:nvSpPr>
          <p:cNvPr id="73" name="TextBox 72"/>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4" name="Picture 73" descr="lock.png"/>
          <p:cNvPicPr>
            <a:picLocks noChangeAspect="1"/>
          </p:cNvPicPr>
          <p:nvPr/>
        </p:nvPicPr>
        <p:blipFill>
          <a:blip r:embed="rId4"/>
          <a:stretch>
            <a:fillRect/>
          </a:stretch>
        </p:blipFill>
        <p:spPr>
          <a:xfrm>
            <a:off x="2162976" y="4341395"/>
            <a:ext cx="118403" cy="172222"/>
          </a:xfrm>
          <a:prstGeom prst="rect">
            <a:avLst/>
          </a:prstGeom>
        </p:spPr>
      </p:pic>
      <p:sp>
        <p:nvSpPr>
          <p:cNvPr id="75" name="TextBox 74"/>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6" name="Picture 75" descr="lock.png"/>
          <p:cNvPicPr>
            <a:picLocks noChangeAspect="1"/>
          </p:cNvPicPr>
          <p:nvPr/>
        </p:nvPicPr>
        <p:blipFill>
          <a:blip r:embed="rId4"/>
          <a:stretch>
            <a:fillRect/>
          </a:stretch>
        </p:blipFill>
        <p:spPr>
          <a:xfrm>
            <a:off x="2648537" y="5307524"/>
            <a:ext cx="118403" cy="172222"/>
          </a:xfrm>
          <a:prstGeom prst="rect">
            <a:avLst/>
          </a:prstGeom>
        </p:spPr>
      </p:pic>
      <p:sp>
        <p:nvSpPr>
          <p:cNvPr id="77" name="TextBox 76"/>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78" name="Picture 77" descr="lock.png"/>
          <p:cNvPicPr>
            <a:picLocks noChangeAspect="1"/>
          </p:cNvPicPr>
          <p:nvPr/>
        </p:nvPicPr>
        <p:blipFill>
          <a:blip r:embed="rId4"/>
          <a:stretch>
            <a:fillRect/>
          </a:stretch>
        </p:blipFill>
        <p:spPr>
          <a:xfrm>
            <a:off x="3523486" y="6058248"/>
            <a:ext cx="118403" cy="172222"/>
          </a:xfrm>
          <a:prstGeom prst="rect">
            <a:avLst/>
          </a:prstGeom>
        </p:spPr>
      </p:pic>
      <p:sp>
        <p:nvSpPr>
          <p:cNvPr id="79" name="TextBox 78"/>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0" name="Picture 79" descr="lock.png"/>
          <p:cNvPicPr>
            <a:picLocks noChangeAspect="1"/>
          </p:cNvPicPr>
          <p:nvPr/>
        </p:nvPicPr>
        <p:blipFill>
          <a:blip r:embed="rId4"/>
          <a:stretch>
            <a:fillRect/>
          </a:stretch>
        </p:blipFill>
        <p:spPr>
          <a:xfrm>
            <a:off x="4538330" y="6296863"/>
            <a:ext cx="118403" cy="172222"/>
          </a:xfrm>
          <a:prstGeom prst="rect">
            <a:avLst/>
          </a:prstGeom>
        </p:spPr>
      </p:pic>
      <p:sp>
        <p:nvSpPr>
          <p:cNvPr id="81" name="TextBox 80"/>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2" name="Picture 81" descr="lock.png"/>
          <p:cNvPicPr>
            <a:picLocks noChangeAspect="1"/>
          </p:cNvPicPr>
          <p:nvPr/>
        </p:nvPicPr>
        <p:blipFill>
          <a:blip r:embed="rId4"/>
          <a:stretch>
            <a:fillRect/>
          </a:stretch>
        </p:blipFill>
        <p:spPr>
          <a:xfrm>
            <a:off x="8159122" y="1486975"/>
            <a:ext cx="128699" cy="187198"/>
          </a:xfrm>
          <a:prstGeom prst="rect">
            <a:avLst/>
          </a:prstGeom>
        </p:spPr>
      </p:pic>
      <p:sp>
        <p:nvSpPr>
          <p:cNvPr id="83" name="TextBox 82"/>
          <p:cNvSpPr txBox="1"/>
          <p:nvPr/>
        </p:nvSpPr>
        <p:spPr>
          <a:xfrm>
            <a:off x="8326618" y="1496754"/>
            <a:ext cx="1437729" cy="186689"/>
          </a:xfrm>
          <a:prstGeom prst="rect">
            <a:avLst/>
          </a:prstGeom>
          <a:noFill/>
        </p:spPr>
        <p:txBody>
          <a:bodyPr wrap="none" lIns="0" rIns="0" tIns="0" bIns="0">
            <a:spAutoFit/>
          </a:bodyPr>
          <a:lstStyle/>
          <a:p>
            <a:r>
              <a:rPr sz="1100" b="0">
                <a:solidFill>
                  <a:srgbClr val="2E2E2E"/>
                </a:solidFill>
                <a:latin typeface="Calibri"/>
              </a:rPr>
              <a:t>/10), Portfolio Breadth (</a:t>
            </a:r>
          </a:p>
        </p:txBody>
      </p:sp>
      <p:pic>
        <p:nvPicPr>
          <p:cNvPr id="84" name="Picture 83" descr="lock.png"/>
          <p:cNvPicPr>
            <a:picLocks noChangeAspect="1"/>
          </p:cNvPicPr>
          <p:nvPr/>
        </p:nvPicPr>
        <p:blipFill>
          <a:blip r:embed="rId4"/>
          <a:stretch>
            <a:fillRect/>
          </a:stretch>
        </p:blipFill>
        <p:spPr>
          <a:xfrm>
            <a:off x="9712399" y="1486975"/>
            <a:ext cx="128699" cy="187198"/>
          </a:xfrm>
          <a:prstGeom prst="rect">
            <a:avLst/>
          </a:prstGeom>
        </p:spPr>
      </p:pic>
      <p:sp>
        <p:nvSpPr>
          <p:cNvPr id="85" name="TextBox 84"/>
          <p:cNvSpPr txBox="1"/>
          <p:nvPr/>
        </p:nvSpPr>
        <p:spPr>
          <a:xfrm>
            <a:off x="9879895" y="1496754"/>
            <a:ext cx="1604987" cy="186689"/>
          </a:xfrm>
          <a:prstGeom prst="rect">
            <a:avLst/>
          </a:prstGeom>
          <a:noFill/>
        </p:spPr>
        <p:txBody>
          <a:bodyPr wrap="none" lIns="0" rIns="0" tIns="0" bIns="0">
            <a:spAutoFit/>
          </a:bodyPr>
          <a:lstStyle/>
          <a:p>
            <a:r>
              <a:rPr sz="1100" b="0">
                <a:solidFill>
                  <a:srgbClr val="2E2E2E"/>
                </a:solidFill>
                <a:latin typeface="Calibri"/>
              </a:rPr>
              <a:t>/10), Supply Concentration</a:t>
            </a:r>
          </a:p>
        </p:txBody>
      </p:sp>
      <p:sp>
        <p:nvSpPr>
          <p:cNvPr id="86" name="TextBox 85"/>
          <p:cNvSpPr txBox="1"/>
          <p:nvPr/>
        </p:nvSpPr>
        <p:spPr>
          <a:xfrm>
            <a:off x="5000625" y="1664394"/>
            <a:ext cx="118491"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7" name="Picture 86" descr="lock.png"/>
          <p:cNvPicPr>
            <a:picLocks noChangeAspect="1"/>
          </p:cNvPicPr>
          <p:nvPr/>
        </p:nvPicPr>
        <p:blipFill>
          <a:blip r:embed="rId4"/>
          <a:stretch>
            <a:fillRect/>
          </a:stretch>
        </p:blipFill>
        <p:spPr>
          <a:xfrm>
            <a:off x="5067168" y="1654615"/>
            <a:ext cx="128699" cy="187198"/>
          </a:xfrm>
          <a:prstGeom prst="rect">
            <a:avLst/>
          </a:prstGeom>
        </p:spPr>
      </p:pic>
      <p:sp>
        <p:nvSpPr>
          <p:cNvPr id="88" name="TextBox 87"/>
          <p:cNvSpPr txBox="1"/>
          <p:nvPr/>
        </p:nvSpPr>
        <p:spPr>
          <a:xfrm>
            <a:off x="5234664" y="1664394"/>
            <a:ext cx="3311128" cy="186689"/>
          </a:xfrm>
          <a:prstGeom prst="rect">
            <a:avLst/>
          </a:prstGeom>
          <a:noFill/>
        </p:spPr>
        <p:txBody>
          <a:bodyPr wrap="none" lIns="0" rIns="0" tIns="0" bIns="0">
            <a:spAutoFit/>
          </a:bodyPr>
          <a:lstStyle/>
          <a:p>
            <a:r>
              <a:rPr sz="1100" b="0">
                <a:solidFill>
                  <a:srgbClr val="2E2E2E"/>
                </a:solidFill>
                <a:latin typeface="Calibri"/>
              </a:rPr>
              <a:t>/10) on a 0-10 scale scored from the global dataset itself.</a:t>
            </a:r>
          </a:p>
        </p:txBody>
      </p:sp>
      <p:sp>
        <p:nvSpPr>
          <p:cNvPr id="89" name="TextBox 88"/>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0" name="Picture 89" descr="lock.png"/>
          <p:cNvPicPr>
            <a:picLocks noChangeAspect="1"/>
          </p:cNvPicPr>
          <p:nvPr/>
        </p:nvPicPr>
        <p:blipFill>
          <a:blip r:embed="rId4"/>
          <a:stretch>
            <a:fillRect/>
          </a:stretch>
        </p:blipFill>
        <p:spPr>
          <a:xfrm>
            <a:off x="6194591" y="1943318"/>
            <a:ext cx="128699" cy="187198"/>
          </a:xfrm>
          <a:prstGeom prst="rect">
            <a:avLst/>
          </a:prstGeom>
        </p:spPr>
      </p:pic>
      <p:sp>
        <p:nvSpPr>
          <p:cNvPr id="91" name="TextBox 90"/>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2" name="Picture 91" descr="lock.png"/>
          <p:cNvPicPr>
            <a:picLocks noChangeAspect="1"/>
          </p:cNvPicPr>
          <p:nvPr/>
        </p:nvPicPr>
        <p:blipFill>
          <a:blip r:embed="rId4"/>
          <a:stretch>
            <a:fillRect/>
          </a:stretch>
        </p:blipFill>
        <p:spPr>
          <a:xfrm>
            <a:off x="9312927" y="1943318"/>
            <a:ext cx="128699" cy="187198"/>
          </a:xfrm>
          <a:prstGeom prst="rect">
            <a:avLst/>
          </a:prstGeom>
        </p:spPr>
      </p:pic>
      <p:sp>
        <p:nvSpPr>
          <p:cNvPr id="93" name="TextBox 92"/>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4" name="TextBox 93"/>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5" name="TextBox 94"/>
          <p:cNvSpPr txBox="1"/>
          <p:nvPr/>
        </p:nvSpPr>
        <p:spPr>
          <a:xfrm>
            <a:off x="5000625" y="2401990"/>
            <a:ext cx="2751509" cy="186689"/>
          </a:xfrm>
          <a:prstGeom prst="rect">
            <a:avLst/>
          </a:prstGeom>
          <a:noFill/>
        </p:spPr>
        <p:txBody>
          <a:bodyPr wrap="none" lIns="0" rIns="0" tIns="0" bIns="0">
            <a:spAutoFit/>
          </a:bodyPr>
          <a:lstStyle/>
          <a:p>
            <a:r>
              <a:rPr sz="1100" b="0">
                <a:solidFill>
                  <a:srgbClr val="2E2E2E"/>
                </a:solidFill>
                <a:latin typeface="Calibri"/>
              </a:rPr>
              <a:t>▪ Supply is concentrated: 'North America' holds</a:t>
            </a:r>
          </a:p>
        </p:txBody>
      </p:sp>
      <p:pic>
        <p:nvPicPr>
          <p:cNvPr id="96" name="Picture 95" descr="lock.png"/>
          <p:cNvPicPr>
            <a:picLocks noChangeAspect="1"/>
          </p:cNvPicPr>
          <p:nvPr/>
        </p:nvPicPr>
        <p:blipFill>
          <a:blip r:embed="rId4"/>
          <a:stretch>
            <a:fillRect/>
          </a:stretch>
        </p:blipFill>
        <p:spPr>
          <a:xfrm>
            <a:off x="7700186" y="2392211"/>
            <a:ext cx="128699" cy="187198"/>
          </a:xfrm>
          <a:prstGeom prst="rect">
            <a:avLst/>
          </a:prstGeom>
        </p:spPr>
      </p:pic>
      <p:sp>
        <p:nvSpPr>
          <p:cNvPr id="97" name="TextBox 96"/>
          <p:cNvSpPr txBox="1"/>
          <p:nvPr/>
        </p:nvSpPr>
        <p:spPr>
          <a:xfrm>
            <a:off x="7867681"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7 regions.</a:t>
            </a:r>
          </a:p>
        </p:txBody>
      </p:sp>
      <p:sp>
        <p:nvSpPr>
          <p:cNvPr id="98" name="TextBox 97"/>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99" name="Picture 98" descr="lock.png"/>
          <p:cNvPicPr>
            <a:picLocks noChangeAspect="1"/>
          </p:cNvPicPr>
          <p:nvPr/>
        </p:nvPicPr>
        <p:blipFill>
          <a:blip r:embed="rId4"/>
          <a:stretch>
            <a:fillRect/>
          </a:stretch>
        </p:blipFill>
        <p:spPr>
          <a:xfrm>
            <a:off x="7880268" y="3122359"/>
            <a:ext cx="128699" cy="187198"/>
          </a:xfrm>
          <a:prstGeom prst="rect">
            <a:avLst/>
          </a:prstGeom>
        </p:spPr>
      </p:pic>
      <p:sp>
        <p:nvSpPr>
          <p:cNvPr id="100" name="TextBox 99"/>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1" name="Picture 100" descr="lock.png"/>
          <p:cNvPicPr>
            <a:picLocks noChangeAspect="1"/>
          </p:cNvPicPr>
          <p:nvPr/>
        </p:nvPicPr>
        <p:blipFill>
          <a:blip r:embed="rId4"/>
          <a:stretch>
            <a:fillRect/>
          </a:stretch>
        </p:blipFill>
        <p:spPr>
          <a:xfrm>
            <a:off x="8654826" y="3122359"/>
            <a:ext cx="128699" cy="187198"/>
          </a:xfrm>
          <a:prstGeom prst="rect">
            <a:avLst/>
          </a:prstGeom>
        </p:spPr>
      </p:pic>
      <p:sp>
        <p:nvSpPr>
          <p:cNvPr id="102" name="TextBox 101"/>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Global Driving Factors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7" name="Oval 6"/>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7429500" y="2713982"/>
            <a:ext cx="1447800" cy="2938845"/>
          </a:xfrm>
          <a:custGeom>
            <a:avLst/>
            <a:gdLst/>
            <a:ahLst/>
            <a:cxnLst/>
            <a:rect l="l" t="t" r="r" b="b"/>
            <a:pathLst>
              <a:path w="152" h="322">
                <a:moveTo>
                  <a:pt x="0" y="9"/>
                </a:moveTo>
                <a:lnTo>
                  <a:pt x="62" y="0"/>
                </a:lnTo>
                <a:lnTo>
                  <a:pt x="73" y="71"/>
                </a:lnTo>
                <a:lnTo>
                  <a:pt x="103" y="105"/>
                </a:lnTo>
                <a:lnTo>
                  <a:pt x="152" y="164"/>
                </a:lnTo>
                <a:lnTo>
                  <a:pt x="101" y="209"/>
                </a:lnTo>
                <a:lnTo>
                  <a:pt x="43" y="218"/>
                </a:lnTo>
                <a:lnTo>
                  <a:pt x="0" y="322"/>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28" name="Oval 27"/>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0" name="Oval 29"/>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2" name="Oval 31"/>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4" name="Oval 33"/>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6" name="Oval 35"/>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8" name="Oval 37"/>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0" name="Oval 39"/>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2" name="Rectangle 41"/>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MR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4" name="TMR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5" name="TMR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6" name="TMR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47" name="TMR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48" name="TMR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49" name="TMR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0" name="TMR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1" name="TMR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2" name="TMR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3" name="TMR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4" name="Connector 53"/>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6" name="Connector 55"/>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8" name="TextBox 57"/>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9" name="TextBox 58"/>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0" name="TextBox 59"/>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3" name="Rectangle 6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5" name="TextBox 64"/>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6" name="Picture 65" descr="lock.png"/>
          <p:cNvPicPr>
            <a:picLocks noChangeAspect="1"/>
          </p:cNvPicPr>
          <p:nvPr/>
        </p:nvPicPr>
        <p:blipFill>
          <a:blip r:embed="rId4"/>
          <a:stretch>
            <a:fillRect/>
          </a:stretch>
        </p:blipFill>
        <p:spPr>
          <a:xfrm>
            <a:off x="8424374" y="1313604"/>
            <a:ext cx="118403" cy="172222"/>
          </a:xfrm>
          <a:prstGeom prst="rect">
            <a:avLst/>
          </a:prstGeom>
        </p:spPr>
      </p:pic>
      <p:sp>
        <p:nvSpPr>
          <p:cNvPr id="67" name="TextBox 66"/>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68" name="Picture 67" descr="lock.png"/>
          <p:cNvPicPr>
            <a:picLocks noChangeAspect="1"/>
          </p:cNvPicPr>
          <p:nvPr/>
        </p:nvPicPr>
        <p:blipFill>
          <a:blip r:embed="rId4"/>
          <a:stretch>
            <a:fillRect/>
          </a:stretch>
        </p:blipFill>
        <p:spPr>
          <a:xfrm>
            <a:off x="9398803" y="1552218"/>
            <a:ext cx="118403" cy="172222"/>
          </a:xfrm>
          <a:prstGeom prst="rect">
            <a:avLst/>
          </a:prstGeom>
        </p:spPr>
      </p:pic>
      <p:sp>
        <p:nvSpPr>
          <p:cNvPr id="69" name="TextBox 68"/>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0" name="Picture 69" descr="lock.png"/>
          <p:cNvPicPr>
            <a:picLocks noChangeAspect="1"/>
          </p:cNvPicPr>
          <p:nvPr/>
        </p:nvPicPr>
        <p:blipFill>
          <a:blip r:embed="rId4"/>
          <a:stretch>
            <a:fillRect/>
          </a:stretch>
        </p:blipFill>
        <p:spPr>
          <a:xfrm>
            <a:off x="10135940" y="2302942"/>
            <a:ext cx="118403" cy="172222"/>
          </a:xfrm>
          <a:prstGeom prst="rect">
            <a:avLst/>
          </a:prstGeom>
        </p:spPr>
      </p:pic>
      <p:sp>
        <p:nvSpPr>
          <p:cNvPr id="71" name="TextBox 70"/>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2" name="Picture 71" descr="lock.png"/>
          <p:cNvPicPr>
            <a:picLocks noChangeAspect="1"/>
          </p:cNvPicPr>
          <p:nvPr/>
        </p:nvPicPr>
        <p:blipFill>
          <a:blip r:embed="rId4"/>
          <a:stretch>
            <a:fillRect/>
          </a:stretch>
        </p:blipFill>
        <p:spPr>
          <a:xfrm>
            <a:off x="10646855" y="3269072"/>
            <a:ext cx="118403" cy="172222"/>
          </a:xfrm>
          <a:prstGeom prst="rect">
            <a:avLst/>
          </a:prstGeom>
        </p:spPr>
      </p:pic>
      <p:sp>
        <p:nvSpPr>
          <p:cNvPr id="73" name="TextBox 72"/>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4" name="Picture 73" descr="lock.png"/>
          <p:cNvPicPr>
            <a:picLocks noChangeAspect="1"/>
          </p:cNvPicPr>
          <p:nvPr/>
        </p:nvPicPr>
        <p:blipFill>
          <a:blip r:embed="rId4"/>
          <a:stretch>
            <a:fillRect/>
          </a:stretch>
        </p:blipFill>
        <p:spPr>
          <a:xfrm>
            <a:off x="10991008" y="4341395"/>
            <a:ext cx="118403" cy="172222"/>
          </a:xfrm>
          <a:prstGeom prst="rect">
            <a:avLst/>
          </a:prstGeom>
        </p:spPr>
      </p:pic>
      <p:sp>
        <p:nvSpPr>
          <p:cNvPr id="75" name="TextBox 74"/>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6" name="Picture 75" descr="lock.png"/>
          <p:cNvPicPr>
            <a:picLocks noChangeAspect="1"/>
          </p:cNvPicPr>
          <p:nvPr/>
        </p:nvPicPr>
        <p:blipFill>
          <a:blip r:embed="rId4"/>
          <a:stretch>
            <a:fillRect/>
          </a:stretch>
        </p:blipFill>
        <p:spPr>
          <a:xfrm>
            <a:off x="10402276" y="5307524"/>
            <a:ext cx="118403" cy="172222"/>
          </a:xfrm>
          <a:prstGeom prst="rect">
            <a:avLst/>
          </a:prstGeom>
        </p:spPr>
      </p:pic>
      <p:sp>
        <p:nvSpPr>
          <p:cNvPr id="77" name="TextBox 76"/>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78" name="Picture 77" descr="lock.png"/>
          <p:cNvPicPr>
            <a:picLocks noChangeAspect="1"/>
          </p:cNvPicPr>
          <p:nvPr/>
        </p:nvPicPr>
        <p:blipFill>
          <a:blip r:embed="rId4"/>
          <a:stretch>
            <a:fillRect/>
          </a:stretch>
        </p:blipFill>
        <p:spPr>
          <a:xfrm>
            <a:off x="9407087" y="6058248"/>
            <a:ext cx="118403" cy="172222"/>
          </a:xfrm>
          <a:prstGeom prst="rect">
            <a:avLst/>
          </a:prstGeom>
        </p:spPr>
      </p:pic>
      <p:sp>
        <p:nvSpPr>
          <p:cNvPr id="79" name="TextBox 78"/>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0" name="Picture 79" descr="lock.png"/>
          <p:cNvPicPr>
            <a:picLocks noChangeAspect="1"/>
          </p:cNvPicPr>
          <p:nvPr/>
        </p:nvPicPr>
        <p:blipFill>
          <a:blip r:embed="rId4"/>
          <a:stretch>
            <a:fillRect/>
          </a:stretch>
        </p:blipFill>
        <p:spPr>
          <a:xfrm>
            <a:off x="8436172" y="6296863"/>
            <a:ext cx="118403" cy="172222"/>
          </a:xfrm>
          <a:prstGeom prst="rect">
            <a:avLst/>
          </a:prstGeom>
        </p:spPr>
      </p:pic>
      <p:sp>
        <p:nvSpPr>
          <p:cNvPr id="81" name="TextBox 80"/>
          <p:cNvSpPr txBox="1"/>
          <p:nvPr/>
        </p:nvSpPr>
        <p:spPr>
          <a:xfrm>
            <a:off x="209550" y="1496754"/>
            <a:ext cx="3188617" cy="186689"/>
          </a:xfrm>
          <a:prstGeom prst="rect">
            <a:avLst/>
          </a:prstGeom>
          <a:noFill/>
        </p:spPr>
        <p:txBody>
          <a:bodyPr wrap="none" lIns="0" rIns="0" tIns="0" bIns="0">
            <a:spAutoFit/>
          </a:bodyPr>
          <a:lstStyle/>
          <a:p>
            <a:r>
              <a:rPr sz="1100" b="0">
                <a:solidFill>
                  <a:srgbClr val="2E2E2E"/>
                </a:solidFill>
                <a:latin typeface="Calibri"/>
              </a:rPr>
              <a:t>▪ Demand-side conditions are led by Consumer Reach (</a:t>
            </a:r>
          </a:p>
        </p:txBody>
      </p:sp>
      <p:pic>
        <p:nvPicPr>
          <p:cNvPr id="82" name="Picture 81" descr="lock.png"/>
          <p:cNvPicPr>
            <a:picLocks noChangeAspect="1"/>
          </p:cNvPicPr>
          <p:nvPr/>
        </p:nvPicPr>
        <p:blipFill>
          <a:blip r:embed="rId4"/>
          <a:stretch>
            <a:fillRect/>
          </a:stretch>
        </p:blipFill>
        <p:spPr>
          <a:xfrm>
            <a:off x="3346219" y="1486975"/>
            <a:ext cx="128699" cy="187198"/>
          </a:xfrm>
          <a:prstGeom prst="rect">
            <a:avLst/>
          </a:prstGeom>
        </p:spPr>
      </p:pic>
      <p:sp>
        <p:nvSpPr>
          <p:cNvPr id="83" name="TextBox 82"/>
          <p:cNvSpPr txBox="1"/>
          <p:nvPr/>
        </p:nvSpPr>
        <p:spPr>
          <a:xfrm>
            <a:off x="3513715" y="1496754"/>
            <a:ext cx="1606078" cy="186689"/>
          </a:xfrm>
          <a:prstGeom prst="rect">
            <a:avLst/>
          </a:prstGeom>
          <a:noFill/>
        </p:spPr>
        <p:txBody>
          <a:bodyPr wrap="none" lIns="0" rIns="0" tIns="0" bIns="0">
            <a:spAutoFit/>
          </a:bodyPr>
          <a:lstStyle/>
          <a:p>
            <a:r>
              <a:rPr sz="1100" b="0">
                <a:solidFill>
                  <a:srgbClr val="2E2E2E"/>
                </a:solidFill>
                <a:latin typeface="Calibri"/>
              </a:rPr>
              <a:t>/10), Volume Momentum (</a:t>
            </a:r>
          </a:p>
        </p:txBody>
      </p:sp>
      <p:pic>
        <p:nvPicPr>
          <p:cNvPr id="84" name="Picture 83" descr="lock.png"/>
          <p:cNvPicPr>
            <a:picLocks noChangeAspect="1"/>
          </p:cNvPicPr>
          <p:nvPr/>
        </p:nvPicPr>
        <p:blipFill>
          <a:blip r:embed="rId4"/>
          <a:stretch>
            <a:fillRect/>
          </a:stretch>
        </p:blipFill>
        <p:spPr>
          <a:xfrm>
            <a:off x="5067845" y="1486975"/>
            <a:ext cx="128699" cy="187198"/>
          </a:xfrm>
          <a:prstGeom prst="rect">
            <a:avLst/>
          </a:prstGeom>
        </p:spPr>
      </p:pic>
      <p:sp>
        <p:nvSpPr>
          <p:cNvPr id="85" name="TextBox 84"/>
          <p:cNvSpPr txBox="1"/>
          <p:nvPr/>
        </p:nvSpPr>
        <p:spPr>
          <a:xfrm>
            <a:off x="5235341" y="1496754"/>
            <a:ext cx="1354236" cy="186689"/>
          </a:xfrm>
          <a:prstGeom prst="rect">
            <a:avLst/>
          </a:prstGeom>
          <a:noFill/>
        </p:spPr>
        <p:txBody>
          <a:bodyPr wrap="none" lIns="0" rIns="0" tIns="0" bIns="0">
            <a:spAutoFit/>
          </a:bodyPr>
          <a:lstStyle/>
          <a:p>
            <a:r>
              <a:rPr sz="1100" b="0">
                <a:solidFill>
                  <a:srgbClr val="2E2E2E"/>
                </a:solidFill>
                <a:latin typeface="Calibri"/>
              </a:rPr>
              <a:t>/10), Premiumisation (</a:t>
            </a:r>
          </a:p>
        </p:txBody>
      </p:sp>
      <p:pic>
        <p:nvPicPr>
          <p:cNvPr id="86" name="Picture 85" descr="lock.png"/>
          <p:cNvPicPr>
            <a:picLocks noChangeAspect="1"/>
          </p:cNvPicPr>
          <p:nvPr/>
        </p:nvPicPr>
        <p:blipFill>
          <a:blip r:embed="rId4"/>
          <a:stretch>
            <a:fillRect/>
          </a:stretch>
        </p:blipFill>
        <p:spPr>
          <a:xfrm>
            <a:off x="6537629" y="1486975"/>
            <a:ext cx="128699" cy="187198"/>
          </a:xfrm>
          <a:prstGeom prst="rect">
            <a:avLst/>
          </a:prstGeom>
        </p:spPr>
      </p:pic>
      <p:sp>
        <p:nvSpPr>
          <p:cNvPr id="87" name="TextBox 86"/>
          <p:cNvSpPr txBox="1"/>
          <p:nvPr/>
        </p:nvSpPr>
        <p:spPr>
          <a:xfrm>
            <a:off x="6705125" y="1496754"/>
            <a:ext cx="314399" cy="186689"/>
          </a:xfrm>
          <a:prstGeom prst="rect">
            <a:avLst/>
          </a:prstGeom>
          <a:noFill/>
        </p:spPr>
        <p:txBody>
          <a:bodyPr wrap="none" lIns="0" rIns="0" tIns="0" bIns="0">
            <a:spAutoFit/>
          </a:bodyPr>
          <a:lstStyle/>
          <a:p>
            <a:r>
              <a:rPr sz="1100" b="0">
                <a:solidFill>
                  <a:srgbClr val="2E2E2E"/>
                </a:solidFill>
                <a:latin typeface="Calibri"/>
              </a:rPr>
              <a:t>/10)</a:t>
            </a:r>
          </a:p>
        </p:txBody>
      </p:sp>
      <p:sp>
        <p:nvSpPr>
          <p:cNvPr id="88" name="TextBox 87"/>
          <p:cNvSpPr txBox="1"/>
          <p:nvPr/>
        </p:nvSpPr>
        <p:spPr>
          <a:xfrm>
            <a:off x="209550" y="1664394"/>
            <a:ext cx="3041277" cy="186689"/>
          </a:xfrm>
          <a:prstGeom prst="rect">
            <a:avLst/>
          </a:prstGeom>
          <a:noFill/>
        </p:spPr>
        <p:txBody>
          <a:bodyPr wrap="none" lIns="0" rIns="0" tIns="0" bIns="0">
            <a:spAutoFit/>
          </a:bodyPr>
          <a:lstStyle/>
          <a:p>
            <a:r>
              <a:rPr sz="1100" b="0">
                <a:solidFill>
                  <a:srgbClr val="2E2E2E"/>
                </a:solidFill>
                <a:latin typeface="Calibri"/>
              </a:rPr>
              <a:t>on a 0-10 scale scored from the global dataset itself.</a:t>
            </a:r>
          </a:p>
        </p:txBody>
      </p:sp>
      <p:sp>
        <p:nvSpPr>
          <p:cNvPr id="89" name="TextBox 88"/>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0" name="Picture 89" descr="lock.png"/>
          <p:cNvPicPr>
            <a:picLocks noChangeAspect="1"/>
          </p:cNvPicPr>
          <p:nvPr/>
        </p:nvPicPr>
        <p:blipFill>
          <a:blip r:embed="rId4"/>
          <a:stretch>
            <a:fillRect/>
          </a:stretch>
        </p:blipFill>
        <p:spPr>
          <a:xfrm>
            <a:off x="1156039" y="1935869"/>
            <a:ext cx="128699" cy="187198"/>
          </a:xfrm>
          <a:prstGeom prst="rect">
            <a:avLst/>
          </a:prstGeom>
        </p:spPr>
      </p:pic>
      <p:sp>
        <p:nvSpPr>
          <p:cNvPr id="91" name="TextBox 90"/>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2" name="Picture 91" descr="lock.png"/>
          <p:cNvPicPr>
            <a:picLocks noChangeAspect="1"/>
          </p:cNvPicPr>
          <p:nvPr/>
        </p:nvPicPr>
        <p:blipFill>
          <a:blip r:embed="rId4"/>
          <a:stretch>
            <a:fillRect/>
          </a:stretch>
        </p:blipFill>
        <p:spPr>
          <a:xfrm>
            <a:off x="2354882" y="1935869"/>
            <a:ext cx="128699" cy="187198"/>
          </a:xfrm>
          <a:prstGeom prst="rect">
            <a:avLst/>
          </a:prstGeom>
        </p:spPr>
      </p:pic>
      <p:sp>
        <p:nvSpPr>
          <p:cNvPr id="93" name="TextBox 92"/>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4" name="TextBox 93"/>
          <p:cNvSpPr txBox="1"/>
          <p:nvPr/>
        </p:nvSpPr>
        <p:spPr>
          <a:xfrm>
            <a:off x="209550" y="2226902"/>
            <a:ext cx="2536502" cy="186689"/>
          </a:xfrm>
          <a:prstGeom prst="rect">
            <a:avLst/>
          </a:prstGeom>
          <a:noFill/>
        </p:spPr>
        <p:txBody>
          <a:bodyPr wrap="none" lIns="0" rIns="0" tIns="0" bIns="0">
            <a:spAutoFit/>
          </a:bodyPr>
          <a:lstStyle/>
          <a:p>
            <a:r>
              <a:rPr sz="1100" b="0">
                <a:solidFill>
                  <a:srgbClr val="2E2E2E"/>
                </a:solidFill>
                <a:latin typeface="Calibri"/>
              </a:rPr>
              <a:t>▪ 'Construction and Mining Vehicles' carries</a:t>
            </a:r>
          </a:p>
        </p:txBody>
      </p:sp>
      <p:pic>
        <p:nvPicPr>
          <p:cNvPr id="95" name="Picture 94" descr="lock.png"/>
          <p:cNvPicPr>
            <a:picLocks noChangeAspect="1"/>
          </p:cNvPicPr>
          <p:nvPr/>
        </p:nvPicPr>
        <p:blipFill>
          <a:blip r:embed="rId4"/>
          <a:stretch>
            <a:fillRect/>
          </a:stretch>
        </p:blipFill>
        <p:spPr>
          <a:xfrm>
            <a:off x="2694104" y="2217123"/>
            <a:ext cx="128699" cy="187198"/>
          </a:xfrm>
          <a:prstGeom prst="rect">
            <a:avLst/>
          </a:prstGeom>
        </p:spPr>
      </p:pic>
      <p:sp>
        <p:nvSpPr>
          <p:cNvPr id="96" name="TextBox 95"/>
          <p:cNvSpPr txBox="1"/>
          <p:nvPr/>
        </p:nvSpPr>
        <p:spPr>
          <a:xfrm>
            <a:off x="2861599" y="2226902"/>
            <a:ext cx="4050283" cy="186689"/>
          </a:xfrm>
          <a:prstGeom prst="rect">
            <a:avLst/>
          </a:prstGeom>
          <a:noFill/>
        </p:spPr>
        <p:txBody>
          <a:bodyPr wrap="none" lIns="0" rIns="0" tIns="0" bIns="0">
            <a:spAutoFit/>
          </a:bodyPr>
          <a:lstStyle/>
          <a:p>
            <a:r>
              <a:rPr sz="1100" b="0">
                <a:solidFill>
                  <a:srgbClr val="2E2E2E"/>
                </a:solidFill>
                <a:latin typeface="Calibri"/>
              </a:rPr>
              <a:t>of vehicle type demand while 'Recreational and Powersports Vehicles'</a:t>
            </a:r>
          </a:p>
        </p:txBody>
      </p:sp>
      <p:sp>
        <p:nvSpPr>
          <p:cNvPr id="97" name="TextBox 96"/>
          <p:cNvSpPr txBox="1"/>
          <p:nvPr/>
        </p:nvSpPr>
        <p:spPr>
          <a:xfrm>
            <a:off x="209550" y="2394542"/>
            <a:ext cx="1301576" cy="186689"/>
          </a:xfrm>
          <a:prstGeom prst="rect">
            <a:avLst/>
          </a:prstGeom>
          <a:noFill/>
        </p:spPr>
        <p:txBody>
          <a:bodyPr wrap="none" lIns="0" rIns="0" tIns="0" bIns="0">
            <a:spAutoFit/>
          </a:bodyPr>
          <a:lstStyle/>
          <a:p>
            <a:r>
              <a:rPr sz="1100" b="0">
                <a:solidFill>
                  <a:srgbClr val="2E2E2E"/>
                </a:solidFill>
                <a:latin typeface="Calibri"/>
              </a:rPr>
              <a:t>compounds fastest at</a:t>
            </a:r>
          </a:p>
        </p:txBody>
      </p:sp>
      <p:pic>
        <p:nvPicPr>
          <p:cNvPr id="98" name="Picture 97" descr="lock.png"/>
          <p:cNvPicPr>
            <a:picLocks noChangeAspect="1"/>
          </p:cNvPicPr>
          <p:nvPr/>
        </p:nvPicPr>
        <p:blipFill>
          <a:blip r:embed="rId4"/>
          <a:stretch>
            <a:fillRect/>
          </a:stretch>
        </p:blipFill>
        <p:spPr>
          <a:xfrm>
            <a:off x="1459177" y="2384763"/>
            <a:ext cx="128699" cy="187198"/>
          </a:xfrm>
          <a:prstGeom prst="rect">
            <a:avLst/>
          </a:prstGeom>
        </p:spPr>
      </p:pic>
      <p:sp>
        <p:nvSpPr>
          <p:cNvPr id="99" name="TextBox 98"/>
          <p:cNvSpPr txBox="1"/>
          <p:nvPr/>
        </p:nvSpPr>
        <p:spPr>
          <a:xfrm>
            <a:off x="1626673" y="239454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0" name="TextBox 99"/>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1" name="Picture 100" descr="lock.png"/>
          <p:cNvPicPr>
            <a:picLocks noChangeAspect="1"/>
          </p:cNvPicPr>
          <p:nvPr/>
        </p:nvPicPr>
        <p:blipFill>
          <a:blip r:embed="rId4"/>
          <a:stretch>
            <a:fillRect/>
          </a:stretch>
        </p:blipFill>
        <p:spPr>
          <a:xfrm>
            <a:off x="2634349" y="2757285"/>
            <a:ext cx="128699" cy="187198"/>
          </a:xfrm>
          <a:prstGeom prst="rect">
            <a:avLst/>
          </a:prstGeom>
        </p:spPr>
      </p:pic>
      <p:sp>
        <p:nvSpPr>
          <p:cNvPr id="102" name="TextBox 101"/>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3" name="Picture 102" descr="lock.png"/>
          <p:cNvPicPr>
            <a:picLocks noChangeAspect="1"/>
          </p:cNvPicPr>
          <p:nvPr/>
        </p:nvPicPr>
        <p:blipFill>
          <a:blip r:embed="rId4"/>
          <a:stretch>
            <a:fillRect/>
          </a:stretch>
        </p:blipFill>
        <p:spPr>
          <a:xfrm>
            <a:off x="3281469" y="2757285"/>
            <a:ext cx="128699" cy="187198"/>
          </a:xfrm>
          <a:prstGeom prst="rect">
            <a:avLst/>
          </a:prstGeom>
        </p:spPr>
      </p:pic>
      <p:sp>
        <p:nvSpPr>
          <p:cNvPr id="104" name="TextBox 103"/>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4 of 7 regions at or above pace.</a:t>
            </a:r>
          </a:p>
        </p:txBody>
      </p:sp>
      <p:sp>
        <p:nvSpPr>
          <p:cNvPr id="105" name="TextBox 104"/>
          <p:cNvSpPr txBox="1"/>
          <p:nvPr/>
        </p:nvSpPr>
        <p:spPr>
          <a:xfrm>
            <a:off x="209550" y="3139587"/>
            <a:ext cx="4740051" cy="186689"/>
          </a:xfrm>
          <a:prstGeom prst="rect">
            <a:avLst/>
          </a:prstGeom>
          <a:noFill/>
        </p:spPr>
        <p:txBody>
          <a:bodyPr wrap="none" lIns="0" rIns="0" tIns="0" bIns="0">
            <a:spAutoFit/>
          </a:bodyPr>
          <a:lstStyle/>
          <a:p>
            <a:r>
              <a:rPr sz="1100" b="0">
                <a:solidFill>
                  <a:srgbClr val="2E2E2E"/>
                </a:solidFill>
                <a:latin typeface="Calibri"/>
              </a:rPr>
              <a:t>▪ Reach runs through 4 powertrain routes, led by 'Battery Electric Vehicle (BEV)' at</a:t>
            </a:r>
          </a:p>
        </p:txBody>
      </p:sp>
      <p:pic>
        <p:nvPicPr>
          <p:cNvPr id="106" name="Picture 105" descr="lock.png"/>
          <p:cNvPicPr>
            <a:picLocks noChangeAspect="1"/>
          </p:cNvPicPr>
          <p:nvPr/>
        </p:nvPicPr>
        <p:blipFill>
          <a:blip r:embed="rId4"/>
          <a:stretch>
            <a:fillRect/>
          </a:stretch>
        </p:blipFill>
        <p:spPr>
          <a:xfrm>
            <a:off x="4897653" y="3129808"/>
            <a:ext cx="128699" cy="187198"/>
          </a:xfrm>
          <a:prstGeom prst="rect">
            <a:avLst/>
          </a:prstGeom>
        </p:spPr>
      </p:pic>
      <p:sp>
        <p:nvSpPr>
          <p:cNvPr id="107" name="TextBox 106"/>
          <p:cNvSpPr txBox="1"/>
          <p:nvPr/>
        </p:nvSpPr>
        <p:spPr>
          <a:xfrm>
            <a:off x="5065149" y="3139587"/>
            <a:ext cx="1950144" cy="186689"/>
          </a:xfrm>
          <a:prstGeom prst="rect">
            <a:avLst/>
          </a:prstGeom>
          <a:noFill/>
        </p:spPr>
        <p:txBody>
          <a:bodyPr wrap="none" lIns="0" rIns="0" tIns="0" bIns="0">
            <a:spAutoFit/>
          </a:bodyPr>
          <a:lstStyle/>
          <a:p>
            <a:r>
              <a:rPr sz="1100" b="0">
                <a:solidFill>
                  <a:srgbClr val="2E2E2E"/>
                </a:solidFill>
                <a:latin typeface="Calibri"/>
              </a:rPr>
              <a:t>and with 'Battery Electric Vehicle</a:t>
            </a:r>
          </a:p>
        </p:txBody>
      </p:sp>
      <p:sp>
        <p:nvSpPr>
          <p:cNvPr id="108" name="TextBox 107"/>
          <p:cNvSpPr txBox="1"/>
          <p:nvPr/>
        </p:nvSpPr>
        <p:spPr>
          <a:xfrm>
            <a:off x="209550" y="3307227"/>
            <a:ext cx="1465560" cy="186689"/>
          </a:xfrm>
          <a:prstGeom prst="rect">
            <a:avLst/>
          </a:prstGeom>
          <a:noFill/>
        </p:spPr>
        <p:txBody>
          <a:bodyPr wrap="none" lIns="0" rIns="0" tIns="0" bIns="0">
            <a:spAutoFit/>
          </a:bodyPr>
          <a:lstStyle/>
          <a:p>
            <a:r>
              <a:rPr sz="1100" b="0">
                <a:solidFill>
                  <a:srgbClr val="2E2E2E"/>
                </a:solidFill>
                <a:latin typeface="Calibri"/>
              </a:rPr>
              <a:t>(BEV)' growing fastest at</a:t>
            </a:r>
          </a:p>
        </p:txBody>
      </p:sp>
      <p:pic>
        <p:nvPicPr>
          <p:cNvPr id="109" name="Picture 108" descr="lock.png"/>
          <p:cNvPicPr>
            <a:picLocks noChangeAspect="1"/>
          </p:cNvPicPr>
          <p:nvPr/>
        </p:nvPicPr>
        <p:blipFill>
          <a:blip r:embed="rId4"/>
          <a:stretch>
            <a:fillRect/>
          </a:stretch>
        </p:blipFill>
        <p:spPr>
          <a:xfrm>
            <a:off x="1623161" y="3297448"/>
            <a:ext cx="128699" cy="187198"/>
          </a:xfrm>
          <a:prstGeom prst="rect">
            <a:avLst/>
          </a:prstGeom>
        </p:spPr>
      </p:pic>
      <p:sp>
        <p:nvSpPr>
          <p:cNvPr id="110" name="TextBox 109"/>
          <p:cNvSpPr txBox="1"/>
          <p:nvPr/>
        </p:nvSpPr>
        <p:spPr>
          <a:xfrm>
            <a:off x="1790657" y="330722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Restraints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9" name="Rectangle 8"/>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Industrial and Port Vehicles Lags the Category and Dilutes Blended Growth</a:t>
            </a:r>
          </a:p>
        </p:txBody>
      </p:sp>
      <p:sp>
        <p:nvSpPr>
          <p:cNvPr id="11" name="TextBox 10"/>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837332"/>
            <a:ext cx="2489299" cy="186689"/>
          </a:xfrm>
          <a:prstGeom prst="rect">
            <a:avLst/>
          </a:prstGeom>
          <a:noFill/>
        </p:spPr>
        <p:txBody>
          <a:bodyPr wrap="none" lIns="0" rIns="0" tIns="0" bIns="0">
            <a:spAutoFit/>
          </a:bodyPr>
          <a:lstStyle/>
          <a:p>
            <a:r>
              <a:rPr sz="1100" b="0">
                <a:solidFill>
                  <a:srgbClr val="2E2E2E"/>
                </a:solidFill>
                <a:latin typeface="Calibri"/>
              </a:rPr>
              <a:t>'Industrial and Port Vehicles' grows at only</a:t>
            </a:r>
          </a:p>
        </p:txBody>
      </p:sp>
      <p:pic>
        <p:nvPicPr>
          <p:cNvPr id="62" name="Picture 61" descr="lock.png"/>
          <p:cNvPicPr>
            <a:picLocks noChangeAspect="1"/>
          </p:cNvPicPr>
          <p:nvPr/>
        </p:nvPicPr>
        <p:blipFill>
          <a:blip r:embed="rId4"/>
          <a:stretch>
            <a:fillRect/>
          </a:stretch>
        </p:blipFill>
        <p:spPr>
          <a:xfrm>
            <a:off x="2627850" y="1827554"/>
            <a:ext cx="128699" cy="187198"/>
          </a:xfrm>
          <a:prstGeom prst="rect">
            <a:avLst/>
          </a:prstGeom>
        </p:spPr>
      </p:pic>
      <p:sp>
        <p:nvSpPr>
          <p:cNvPr id="63" name="TextBox 62"/>
          <p:cNvSpPr txBox="1"/>
          <p:nvPr/>
        </p:nvSpPr>
        <p:spPr>
          <a:xfrm>
            <a:off x="2795346" y="1837332"/>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4" name="Picture 63" descr="lock.png"/>
          <p:cNvPicPr>
            <a:picLocks noChangeAspect="1"/>
          </p:cNvPicPr>
          <p:nvPr/>
        </p:nvPicPr>
        <p:blipFill>
          <a:blip r:embed="rId4"/>
          <a:stretch>
            <a:fillRect/>
          </a:stretch>
        </p:blipFill>
        <p:spPr>
          <a:xfrm>
            <a:off x="4322993" y="1827554"/>
            <a:ext cx="128699" cy="187198"/>
          </a:xfrm>
          <a:prstGeom prst="rect">
            <a:avLst/>
          </a:prstGeom>
        </p:spPr>
      </p:pic>
      <p:sp>
        <p:nvSpPr>
          <p:cNvPr id="65" name="TextBox 64"/>
          <p:cNvSpPr txBox="1"/>
          <p:nvPr/>
        </p:nvSpPr>
        <p:spPr>
          <a:xfrm>
            <a:off x="4490489" y="1837332"/>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6" name="Picture 65" descr="lock.png"/>
          <p:cNvPicPr>
            <a:picLocks noChangeAspect="1"/>
          </p:cNvPicPr>
          <p:nvPr/>
        </p:nvPicPr>
        <p:blipFill>
          <a:blip r:embed="rId4"/>
          <a:stretch>
            <a:fillRect/>
          </a:stretch>
        </p:blipFill>
        <p:spPr>
          <a:xfrm>
            <a:off x="4722653" y="1827554"/>
            <a:ext cx="128699" cy="187198"/>
          </a:xfrm>
          <a:prstGeom prst="rect">
            <a:avLst/>
          </a:prstGeom>
        </p:spPr>
      </p:pic>
      <p:sp>
        <p:nvSpPr>
          <p:cNvPr id="67" name="TextBox 66"/>
          <p:cNvSpPr txBox="1"/>
          <p:nvPr/>
        </p:nvSpPr>
        <p:spPr>
          <a:xfrm>
            <a:off x="4890149" y="1837332"/>
            <a:ext cx="2490390" cy="186689"/>
          </a:xfrm>
          <a:prstGeom prst="rect">
            <a:avLst/>
          </a:prstGeom>
          <a:noFill/>
        </p:spPr>
        <p:txBody>
          <a:bodyPr wrap="none" lIns="0" rIns="0" tIns="0" bIns="0">
            <a:spAutoFit/>
          </a:bodyPr>
          <a:lstStyle/>
          <a:p>
            <a:r>
              <a:rPr sz="1100" b="0">
                <a:solidFill>
                  <a:srgbClr val="2E2E2E"/>
                </a:solidFill>
                <a:latin typeface="Calibri"/>
              </a:rPr>
              <a:t>BPS gap, and 'Military Vehicles' surrenders</a:t>
            </a:r>
          </a:p>
        </p:txBody>
      </p:sp>
      <p:pic>
        <p:nvPicPr>
          <p:cNvPr id="68" name="Picture 67" descr="lock.png"/>
          <p:cNvPicPr>
            <a:picLocks noChangeAspect="1"/>
          </p:cNvPicPr>
          <p:nvPr/>
        </p:nvPicPr>
        <p:blipFill>
          <a:blip r:embed="rId4"/>
          <a:stretch>
            <a:fillRect/>
          </a:stretch>
        </p:blipFill>
        <p:spPr>
          <a:xfrm>
            <a:off x="7328591" y="1827554"/>
            <a:ext cx="128699" cy="187198"/>
          </a:xfrm>
          <a:prstGeom prst="rect">
            <a:avLst/>
          </a:prstGeom>
        </p:spPr>
      </p:pic>
      <p:sp>
        <p:nvSpPr>
          <p:cNvPr id="69" name="TextBox 68"/>
          <p:cNvSpPr txBox="1"/>
          <p:nvPr/>
        </p:nvSpPr>
        <p:spPr>
          <a:xfrm>
            <a:off x="7496087" y="1837332"/>
            <a:ext cx="1497210" cy="186689"/>
          </a:xfrm>
          <a:prstGeom prst="rect">
            <a:avLst/>
          </a:prstGeom>
          <a:noFill/>
        </p:spPr>
        <p:txBody>
          <a:bodyPr wrap="none" lIns="0" rIns="0" tIns="0" bIns="0">
            <a:spAutoFit/>
          </a:bodyPr>
          <a:lstStyle/>
          <a:p>
            <a:r>
              <a:rPr sz="1100" b="0">
                <a:solidFill>
                  <a:srgbClr val="2E2E2E"/>
                </a:solidFill>
                <a:latin typeface="Calibri"/>
              </a:rPr>
              <a:t>BPS of vehicle type share</a:t>
            </a:r>
          </a:p>
        </p:txBody>
      </p:sp>
      <p:sp>
        <p:nvSpPr>
          <p:cNvPr id="70" name="TextBox 69"/>
          <p:cNvSpPr txBox="1"/>
          <p:nvPr/>
        </p:nvSpPr>
        <p:spPr>
          <a:xfrm>
            <a:off x="190500" y="2004972"/>
            <a:ext cx="9382125" cy="186689"/>
          </a:xfrm>
          <a:prstGeom prst="rect">
            <a:avLst/>
          </a:prstGeom>
          <a:noFill/>
        </p:spPr>
        <p:txBody>
          <a:bodyPr wrap="none" lIns="0" rIns="0" tIns="0" bIns="0">
            <a:spAutoFit/>
          </a:bodyPr>
          <a:lstStyle/>
          <a:p>
            <a:r>
              <a:rPr sz="1100" b="0">
                <a:solidFill>
                  <a:srgbClr val="2E2E2E"/>
                </a:solidFill>
                <a:latin typeface="Calibri"/>
              </a:rPr>
              <a:t>between 2026 and 2036. Because these lines still carry meaningful volume, the drag is absorbed by the whole category: blended growth sits below what the leading</a:t>
            </a:r>
          </a:p>
        </p:txBody>
      </p:sp>
      <p:sp>
        <p:nvSpPr>
          <p:cNvPr id="71" name="TextBox 70"/>
          <p:cNvSpPr txBox="1"/>
          <p:nvPr/>
        </p:nvSpPr>
        <p:spPr>
          <a:xfrm>
            <a:off x="190500" y="2172613"/>
            <a:ext cx="8853016" cy="186689"/>
          </a:xfrm>
          <a:prstGeom prst="rect">
            <a:avLst/>
          </a:prstGeom>
          <a:noFill/>
        </p:spPr>
        <p:txBody>
          <a:bodyPr wrap="none" lIns="0" rIns="0" tIns="0" bIns="0">
            <a:spAutoFit/>
          </a:bodyPr>
          <a:lstStyle/>
          <a:p>
            <a:r>
              <a:rPr sz="1100" b="0">
                <a:solidFill>
                  <a:srgbClr val="2E2E2E"/>
                </a:solidFill>
                <a:latin typeface="Calibri"/>
              </a:rPr>
              <a:t>lines achieve on their own. Rationalising or repositioning the lagging end of a 5-line portfolio is therefore a precondition for realising the headline forecast.</a:t>
            </a:r>
          </a:p>
        </p:txBody>
      </p:sp>
      <p:sp>
        <p:nvSpPr>
          <p:cNvPr id="72" name="TextBox 71"/>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3" name="Picture 72" descr="lock.png"/>
          <p:cNvPicPr>
            <a:picLocks noChangeAspect="1"/>
          </p:cNvPicPr>
          <p:nvPr/>
        </p:nvPicPr>
        <p:blipFill>
          <a:blip r:embed="rId4"/>
          <a:stretch>
            <a:fillRect/>
          </a:stretch>
        </p:blipFill>
        <p:spPr>
          <a:xfrm>
            <a:off x="1870142" y="3488640"/>
            <a:ext cx="128699" cy="187198"/>
          </a:xfrm>
          <a:prstGeom prst="rect">
            <a:avLst/>
          </a:prstGeom>
        </p:spPr>
      </p:pic>
      <p:sp>
        <p:nvSpPr>
          <p:cNvPr id="74" name="TextBox 73"/>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5" name="Picture 74" descr="lock.png"/>
          <p:cNvPicPr>
            <a:picLocks noChangeAspect="1"/>
          </p:cNvPicPr>
          <p:nvPr/>
        </p:nvPicPr>
        <p:blipFill>
          <a:blip r:embed="rId4"/>
          <a:stretch>
            <a:fillRect/>
          </a:stretch>
        </p:blipFill>
        <p:spPr>
          <a:xfrm>
            <a:off x="2455597" y="3488640"/>
            <a:ext cx="128699" cy="187198"/>
          </a:xfrm>
          <a:prstGeom prst="rect">
            <a:avLst/>
          </a:prstGeom>
        </p:spPr>
      </p:pic>
      <p:sp>
        <p:nvSpPr>
          <p:cNvPr id="76" name="TextBox 75"/>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7 regions sit below the market pace altogether. Demand is therefore not uniformly</a:t>
            </a:r>
          </a:p>
        </p:txBody>
      </p:sp>
      <p:sp>
        <p:nvSpPr>
          <p:cNvPr id="77" name="TextBox 76"/>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78" name="Picture 77" descr="lock.png"/>
          <p:cNvPicPr>
            <a:picLocks noChangeAspect="1"/>
          </p:cNvPicPr>
          <p:nvPr/>
        </p:nvPicPr>
        <p:blipFill>
          <a:blip r:embed="rId4"/>
          <a:stretch>
            <a:fillRect/>
          </a:stretch>
        </p:blipFill>
        <p:spPr>
          <a:xfrm>
            <a:off x="8756642" y="3656280"/>
            <a:ext cx="128699" cy="187198"/>
          </a:xfrm>
          <a:prstGeom prst="rect">
            <a:avLst/>
          </a:prstGeom>
        </p:spPr>
      </p:pic>
      <p:sp>
        <p:nvSpPr>
          <p:cNvPr id="79" name="TextBox 78"/>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0" name="TextBox 79"/>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1" name="TextBox 80"/>
          <p:cNvSpPr txBox="1"/>
          <p:nvPr/>
        </p:nvSpPr>
        <p:spPr>
          <a:xfrm>
            <a:off x="190500" y="5250774"/>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2" name="Picture 81" descr="lock.png"/>
          <p:cNvPicPr>
            <a:picLocks noChangeAspect="1"/>
          </p:cNvPicPr>
          <p:nvPr/>
        </p:nvPicPr>
        <p:blipFill>
          <a:blip r:embed="rId4"/>
          <a:stretch>
            <a:fillRect/>
          </a:stretch>
        </p:blipFill>
        <p:spPr>
          <a:xfrm>
            <a:off x="3476146" y="5240995"/>
            <a:ext cx="128699" cy="187198"/>
          </a:xfrm>
          <a:prstGeom prst="rect">
            <a:avLst/>
          </a:prstGeom>
        </p:spPr>
      </p:pic>
      <p:sp>
        <p:nvSpPr>
          <p:cNvPr id="83" name="TextBox 82"/>
          <p:cNvSpPr txBox="1"/>
          <p:nvPr/>
        </p:nvSpPr>
        <p:spPr>
          <a:xfrm>
            <a:off x="3643642" y="5250774"/>
            <a:ext cx="2907853" cy="186689"/>
          </a:xfrm>
          <a:prstGeom prst="rect">
            <a:avLst/>
          </a:prstGeom>
          <a:noFill/>
        </p:spPr>
        <p:txBody>
          <a:bodyPr wrap="none" lIns="0" rIns="0" tIns="0" bIns="0">
            <a:spAutoFit/>
          </a:bodyPr>
          <a:lstStyle/>
          <a:p>
            <a:r>
              <a:rPr sz="1100" b="0">
                <a:solidFill>
                  <a:srgbClr val="2E2E2E"/>
                </a:solidFill>
                <a:latin typeface="Calibri"/>
              </a:rPr>
              <a:t>of 2036 value and the leading vehicle type line for</a:t>
            </a:r>
          </a:p>
        </p:txBody>
      </p:sp>
      <p:pic>
        <p:nvPicPr>
          <p:cNvPr id="84" name="Picture 83" descr="lock.png"/>
          <p:cNvPicPr>
            <a:picLocks noChangeAspect="1"/>
          </p:cNvPicPr>
          <p:nvPr/>
        </p:nvPicPr>
        <p:blipFill>
          <a:blip r:embed="rId4"/>
          <a:stretch>
            <a:fillRect/>
          </a:stretch>
        </p:blipFill>
        <p:spPr>
          <a:xfrm>
            <a:off x="6499547" y="5240995"/>
            <a:ext cx="128699" cy="187198"/>
          </a:xfrm>
          <a:prstGeom prst="rect">
            <a:avLst/>
          </a:prstGeom>
        </p:spPr>
      </p:pic>
      <p:sp>
        <p:nvSpPr>
          <p:cNvPr id="85" name="TextBox 84"/>
          <p:cNvSpPr txBox="1"/>
          <p:nvPr/>
        </p:nvSpPr>
        <p:spPr>
          <a:xfrm>
            <a:off x="6667043" y="5250774"/>
            <a:ext cx="2445058" cy="186689"/>
          </a:xfrm>
          <a:prstGeom prst="rect">
            <a:avLst/>
          </a:prstGeom>
          <a:noFill/>
        </p:spPr>
        <p:txBody>
          <a:bodyPr wrap="none" lIns="0" rIns="0" tIns="0" bIns="0">
            <a:spAutoFit/>
          </a:bodyPr>
          <a:lstStyle/>
          <a:p>
            <a:r>
              <a:rPr sz="1100" b="0">
                <a:solidFill>
                  <a:srgbClr val="2E2E2E"/>
                </a:solidFill>
                <a:latin typeface="Calibri"/>
              </a:rPr>
              <a:t>of its segment. Average realisation moves</a:t>
            </a:r>
          </a:p>
        </p:txBody>
      </p:sp>
      <p:pic>
        <p:nvPicPr>
          <p:cNvPr id="86" name="Picture 85" descr="lock.png"/>
          <p:cNvPicPr>
            <a:picLocks noChangeAspect="1"/>
          </p:cNvPicPr>
          <p:nvPr/>
        </p:nvPicPr>
        <p:blipFill>
          <a:blip r:embed="rId4"/>
          <a:stretch>
            <a:fillRect/>
          </a:stretch>
        </p:blipFill>
        <p:spPr>
          <a:xfrm>
            <a:off x="9060153" y="5240995"/>
            <a:ext cx="128699" cy="187198"/>
          </a:xfrm>
          <a:prstGeom prst="rect">
            <a:avLst/>
          </a:prstGeom>
        </p:spPr>
      </p:pic>
      <p:sp>
        <p:nvSpPr>
          <p:cNvPr id="87" name="TextBox 86"/>
          <p:cNvSpPr txBox="1"/>
          <p:nvPr/>
        </p:nvSpPr>
        <p:spPr>
          <a:xfrm>
            <a:off x="190500" y="5418414"/>
            <a:ext cx="9376345"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7 regions. The practical constraint is the same in either case commercial terms set for the market as a</a:t>
            </a:r>
          </a:p>
        </p:txBody>
      </p:sp>
      <p:sp>
        <p:nvSpPr>
          <p:cNvPr id="88" name="TextBox 87"/>
          <p:cNvSpPr txBox="1"/>
          <p:nvPr/>
        </p:nvSpPr>
        <p:spPr>
          <a:xfrm>
            <a:off x="190500" y="5586054"/>
            <a:ext cx="5940325" cy="186689"/>
          </a:xfrm>
          <a:prstGeom prst="rect">
            <a:avLst/>
          </a:prstGeom>
          <a:noFill/>
        </p:spPr>
        <p:txBody>
          <a:bodyPr wrap="none" lIns="0" rIns="0" tIns="0" bIns="0">
            <a:spAutoFit/>
          </a:bodyPr>
          <a:lstStyle/>
          <a:p>
            <a:r>
              <a:rPr sz="1100" b="0">
                <a:solidFill>
                  <a:srgbClr val="2E2E2E"/>
                </a:solidFill>
                <a:latin typeface="Calibri"/>
              </a:rPr>
              <a:t>whole underserve part of it, and margin is lost in the mismatch rather than in the headline growth rate.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Opportunities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7" name="Rounded Rectangle 6"/>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9" name="Rectangle 8"/>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1" name="TextBox 10"/>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3" name="TextBox 12"/>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4" name="Rectangle 13"/>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6" name="TextBox 15"/>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17" name="Rectangle 16"/>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0" name="Rectangle 19"/>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3" name="Rectangle 22"/>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5" name="Connector 24"/>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France Offers Under-penetrated, Above-pace Headroom</a:t>
            </a:r>
          </a:p>
        </p:txBody>
      </p:sp>
      <p:sp>
        <p:nvSpPr>
          <p:cNvPr id="28" name="TextBox 27"/>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0" name="TextBox 29"/>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1" name="Rectangle 30"/>
          <p:cNvSpPr/>
          <p:nvPr/>
        </p:nvSpPr>
        <p:spPr>
          <a:xfrm>
            <a:off x="9810750" y="369055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3" name="TextBox 32"/>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4" name="Rectangle 33"/>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37" name="Rectangle 36"/>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0" name="Rectangle 39"/>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2" name="Connector 41"/>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Battery Electric Vehicle (BEV) Opens the Fastest Route to Market</a:t>
            </a:r>
          </a:p>
        </p:txBody>
      </p:sp>
      <p:sp>
        <p:nvSpPr>
          <p:cNvPr id="45" name="TextBox 44"/>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TextBox 45"/>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47" name="TextBox 46"/>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48" name="Rectangle 47"/>
          <p:cNvSpPr/>
          <p:nvPr/>
        </p:nvSpPr>
        <p:spPr>
          <a:xfrm>
            <a:off x="9810750" y="544291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0" name="TextBox 49"/>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1" name="Rectangle 50"/>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4" name="Rectangle 53"/>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57" name="Rectangle 56"/>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2" name="Picture 61" descr="lock.png"/>
          <p:cNvPicPr>
            <a:picLocks noChangeAspect="1"/>
          </p:cNvPicPr>
          <p:nvPr/>
        </p:nvPicPr>
        <p:blipFill>
          <a:blip r:embed="rId4"/>
          <a:stretch>
            <a:fillRect/>
          </a:stretch>
        </p:blipFill>
        <p:spPr>
          <a:xfrm>
            <a:off x="800563" y="1736285"/>
            <a:ext cx="128699" cy="187198"/>
          </a:xfrm>
          <a:prstGeom prst="rect">
            <a:avLst/>
          </a:prstGeom>
        </p:spPr>
      </p:pic>
      <p:sp>
        <p:nvSpPr>
          <p:cNvPr id="63" name="TextBox 62"/>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4" name="TextBox 63"/>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5" name="Picture 64" descr="lock.png"/>
          <p:cNvPicPr>
            <a:picLocks noChangeAspect="1"/>
          </p:cNvPicPr>
          <p:nvPr/>
        </p:nvPicPr>
        <p:blipFill>
          <a:blip r:embed="rId4"/>
          <a:stretch>
            <a:fillRect/>
          </a:stretch>
        </p:blipFill>
        <p:spPr>
          <a:xfrm>
            <a:off x="3907797" y="1903925"/>
            <a:ext cx="128699" cy="187198"/>
          </a:xfrm>
          <a:prstGeom prst="rect">
            <a:avLst/>
          </a:prstGeom>
        </p:spPr>
      </p:pic>
      <p:sp>
        <p:nvSpPr>
          <p:cNvPr id="66" name="TextBox 65"/>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7" name="TextBox 66"/>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68" name="Picture 67" descr="lock.png"/>
          <p:cNvPicPr>
            <a:picLocks noChangeAspect="1"/>
          </p:cNvPicPr>
          <p:nvPr/>
        </p:nvPicPr>
        <p:blipFill>
          <a:blip r:embed="rId4"/>
          <a:stretch>
            <a:fillRect/>
          </a:stretch>
        </p:blipFill>
        <p:spPr>
          <a:xfrm>
            <a:off x="1313797" y="2071565"/>
            <a:ext cx="128699" cy="187198"/>
          </a:xfrm>
          <a:prstGeom prst="rect">
            <a:avLst/>
          </a:prstGeom>
        </p:spPr>
      </p:pic>
      <p:sp>
        <p:nvSpPr>
          <p:cNvPr id="69" name="TextBox 68"/>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0" name="TextBox 69"/>
          <p:cNvSpPr txBox="1"/>
          <p:nvPr/>
        </p:nvSpPr>
        <p:spPr>
          <a:xfrm>
            <a:off x="190500" y="3498419"/>
            <a:ext cx="1363240" cy="186689"/>
          </a:xfrm>
          <a:prstGeom prst="rect">
            <a:avLst/>
          </a:prstGeom>
          <a:noFill/>
        </p:spPr>
        <p:txBody>
          <a:bodyPr wrap="none" lIns="0" rIns="0" tIns="0" bIns="0">
            <a:spAutoFit/>
          </a:bodyPr>
          <a:lstStyle/>
          <a:p>
            <a:r>
              <a:rPr sz="1100" b="0">
                <a:solidFill>
                  <a:srgbClr val="2E2E2E"/>
                </a:solidFill>
                <a:latin typeface="Calibri"/>
              </a:rPr>
              <a:t>'France' compounds at</a:t>
            </a:r>
          </a:p>
        </p:txBody>
      </p:sp>
      <p:pic>
        <p:nvPicPr>
          <p:cNvPr id="71" name="Picture 70" descr="lock.png"/>
          <p:cNvPicPr>
            <a:picLocks noChangeAspect="1"/>
          </p:cNvPicPr>
          <p:nvPr/>
        </p:nvPicPr>
        <p:blipFill>
          <a:blip r:embed="rId4"/>
          <a:stretch>
            <a:fillRect/>
          </a:stretch>
        </p:blipFill>
        <p:spPr>
          <a:xfrm>
            <a:off x="1501792" y="3488640"/>
            <a:ext cx="128699" cy="187198"/>
          </a:xfrm>
          <a:prstGeom prst="rect">
            <a:avLst/>
          </a:prstGeom>
        </p:spPr>
      </p:pic>
      <p:sp>
        <p:nvSpPr>
          <p:cNvPr id="72" name="TextBox 71"/>
          <p:cNvSpPr txBox="1"/>
          <p:nvPr/>
        </p:nvSpPr>
        <p:spPr>
          <a:xfrm>
            <a:off x="1669288" y="3498419"/>
            <a:ext cx="7602247" cy="186689"/>
          </a:xfrm>
          <a:prstGeom prst="rect">
            <a:avLst/>
          </a:prstGeom>
          <a:noFill/>
        </p:spPr>
        <p:txBody>
          <a:bodyPr wrap="none" lIns="0" rIns="0" tIns="0" bIns="0">
            <a:spAutoFit/>
          </a:bodyPr>
          <a:lstStyle/>
          <a:p>
            <a:r>
              <a:rPr sz="1100" b="0">
                <a:solidFill>
                  <a:srgbClr val="2E2E2E"/>
                </a:solidFill>
                <a:latin typeface="Calibri"/>
              </a:rPr>
              <a:t>CAGR from a below-median base one of 6 geographies in the dataset combining above-median growth with below-median size. That</a:t>
            </a:r>
          </a:p>
        </p:txBody>
      </p:sp>
      <p:sp>
        <p:nvSpPr>
          <p:cNvPr id="73" name="TextBox 72"/>
          <p:cNvSpPr txBox="1"/>
          <p:nvPr/>
        </p:nvSpPr>
        <p:spPr>
          <a:xfrm>
            <a:off x="190500" y="3666059"/>
            <a:ext cx="4759151" cy="186689"/>
          </a:xfrm>
          <a:prstGeom prst="rect">
            <a:avLst/>
          </a:prstGeom>
          <a:noFill/>
        </p:spPr>
        <p:txBody>
          <a:bodyPr wrap="none" lIns="0" rIns="0" tIns="0" bIns="0">
            <a:spAutoFit/>
          </a:bodyPr>
          <a:lstStyle/>
          <a:p>
            <a:r>
              <a:rPr sz="1100" b="0">
                <a:solidFill>
                  <a:srgbClr val="2E2E2E"/>
                </a:solidFill>
                <a:latin typeface="Calibri"/>
              </a:rPr>
              <a:t>profile is where share is cheapest to buy: competitive intensity is lower than in the</a:t>
            </a:r>
          </a:p>
        </p:txBody>
      </p:sp>
      <p:pic>
        <p:nvPicPr>
          <p:cNvPr id="74" name="Picture 73" descr="lock.png"/>
          <p:cNvPicPr>
            <a:picLocks noChangeAspect="1"/>
          </p:cNvPicPr>
          <p:nvPr/>
        </p:nvPicPr>
        <p:blipFill>
          <a:blip r:embed="rId4"/>
          <a:stretch>
            <a:fillRect/>
          </a:stretch>
        </p:blipFill>
        <p:spPr>
          <a:xfrm>
            <a:off x="4897702" y="3656280"/>
            <a:ext cx="128699" cy="187198"/>
          </a:xfrm>
          <a:prstGeom prst="rect">
            <a:avLst/>
          </a:prstGeom>
        </p:spPr>
      </p:pic>
      <p:sp>
        <p:nvSpPr>
          <p:cNvPr id="75" name="TextBox 74"/>
          <p:cNvSpPr txBox="1"/>
          <p:nvPr/>
        </p:nvSpPr>
        <p:spPr>
          <a:xfrm>
            <a:off x="506519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6" name="Picture 75" descr="lock.png"/>
          <p:cNvPicPr>
            <a:picLocks noChangeAspect="1"/>
          </p:cNvPicPr>
          <p:nvPr/>
        </p:nvPicPr>
        <p:blipFill>
          <a:blip r:embed="rId4"/>
          <a:stretch>
            <a:fillRect/>
          </a:stretch>
        </p:blipFill>
        <p:spPr>
          <a:xfrm>
            <a:off x="7089179" y="3656280"/>
            <a:ext cx="128699" cy="187198"/>
          </a:xfrm>
          <a:prstGeom prst="rect">
            <a:avLst/>
          </a:prstGeom>
        </p:spPr>
      </p:pic>
      <p:sp>
        <p:nvSpPr>
          <p:cNvPr id="77" name="TextBox 76"/>
          <p:cNvSpPr txBox="1"/>
          <p:nvPr/>
        </p:nvSpPr>
        <p:spPr>
          <a:xfrm>
            <a:off x="725667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78" name="TextBox 77"/>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79" name="TextBox 78"/>
          <p:cNvSpPr txBox="1"/>
          <p:nvPr/>
        </p:nvSpPr>
        <p:spPr>
          <a:xfrm>
            <a:off x="190500" y="5250774"/>
            <a:ext cx="2311400" cy="186689"/>
          </a:xfrm>
          <a:prstGeom prst="rect">
            <a:avLst/>
          </a:prstGeom>
          <a:noFill/>
        </p:spPr>
        <p:txBody>
          <a:bodyPr wrap="none" lIns="0" rIns="0" tIns="0" bIns="0">
            <a:spAutoFit/>
          </a:bodyPr>
          <a:lstStyle/>
          <a:p>
            <a:r>
              <a:rPr sz="1100" b="0">
                <a:solidFill>
                  <a:srgbClr val="2E2E2E"/>
                </a:solidFill>
                <a:latin typeface="Calibri"/>
              </a:rPr>
              <a:t>'Battery Electric Vehicle (BEV)' grows at</a:t>
            </a:r>
          </a:p>
        </p:txBody>
      </p:sp>
      <p:pic>
        <p:nvPicPr>
          <p:cNvPr id="80" name="Picture 79" descr="lock.png"/>
          <p:cNvPicPr>
            <a:picLocks noChangeAspect="1"/>
          </p:cNvPicPr>
          <p:nvPr/>
        </p:nvPicPr>
        <p:blipFill>
          <a:blip r:embed="rId4"/>
          <a:stretch>
            <a:fillRect/>
          </a:stretch>
        </p:blipFill>
        <p:spPr>
          <a:xfrm>
            <a:off x="2449951" y="5240995"/>
            <a:ext cx="128699" cy="187198"/>
          </a:xfrm>
          <a:prstGeom prst="rect">
            <a:avLst/>
          </a:prstGeom>
        </p:spPr>
      </p:pic>
      <p:sp>
        <p:nvSpPr>
          <p:cNvPr id="81" name="TextBox 80"/>
          <p:cNvSpPr txBox="1"/>
          <p:nvPr/>
        </p:nvSpPr>
        <p:spPr>
          <a:xfrm>
            <a:off x="2617447" y="5250774"/>
            <a:ext cx="2959951" cy="186689"/>
          </a:xfrm>
          <a:prstGeom prst="rect">
            <a:avLst/>
          </a:prstGeom>
          <a:noFill/>
        </p:spPr>
        <p:txBody>
          <a:bodyPr wrap="none" lIns="0" rIns="0" tIns="0" bIns="0">
            <a:spAutoFit/>
          </a:bodyPr>
          <a:lstStyle/>
          <a:p>
            <a:r>
              <a:rPr sz="1100" b="0">
                <a:solidFill>
                  <a:srgbClr val="2E2E2E"/>
                </a:solidFill>
                <a:latin typeface="Calibri"/>
              </a:rPr>
              <a:t>CAGR, the fastest of 4 powertrain routes, and adds</a:t>
            </a:r>
          </a:p>
        </p:txBody>
      </p:sp>
      <p:pic>
        <p:nvPicPr>
          <p:cNvPr id="82" name="Picture 81" descr="lock.png"/>
          <p:cNvPicPr>
            <a:picLocks noChangeAspect="1"/>
          </p:cNvPicPr>
          <p:nvPr/>
        </p:nvPicPr>
        <p:blipFill>
          <a:blip r:embed="rId4"/>
          <a:stretch>
            <a:fillRect/>
          </a:stretch>
        </p:blipFill>
        <p:spPr>
          <a:xfrm>
            <a:off x="5525450" y="5240995"/>
            <a:ext cx="128699" cy="187198"/>
          </a:xfrm>
          <a:prstGeom prst="rect">
            <a:avLst/>
          </a:prstGeom>
        </p:spPr>
      </p:pic>
      <p:sp>
        <p:nvSpPr>
          <p:cNvPr id="83" name="TextBox 82"/>
          <p:cNvSpPr txBox="1"/>
          <p:nvPr/>
        </p:nvSpPr>
        <p:spPr>
          <a:xfrm>
            <a:off x="5692945" y="5250774"/>
            <a:ext cx="3645644" cy="186689"/>
          </a:xfrm>
          <a:prstGeom prst="rect">
            <a:avLst/>
          </a:prstGeom>
          <a:noFill/>
        </p:spPr>
        <p:txBody>
          <a:bodyPr wrap="none" lIns="0" rIns="0" tIns="0" bIns="0">
            <a:spAutoFit/>
          </a:bodyPr>
          <a:lstStyle/>
          <a:p>
            <a:r>
              <a:rPr sz="1100" b="0">
                <a:solidFill>
                  <a:srgbClr val="2E2E2E"/>
                </a:solidFill>
                <a:latin typeface="Calibri"/>
              </a:rPr>
              <a:t>US$ Mn over the forecast period while 'Battery Electric Vehicle</a:t>
            </a:r>
          </a:p>
        </p:txBody>
      </p:sp>
      <p:sp>
        <p:nvSpPr>
          <p:cNvPr id="84" name="TextBox 83"/>
          <p:cNvSpPr txBox="1"/>
          <p:nvPr/>
        </p:nvSpPr>
        <p:spPr>
          <a:xfrm>
            <a:off x="190500" y="5418414"/>
            <a:ext cx="1056828" cy="186689"/>
          </a:xfrm>
          <a:prstGeom prst="rect">
            <a:avLst/>
          </a:prstGeom>
          <a:noFill/>
        </p:spPr>
        <p:txBody>
          <a:bodyPr wrap="none" lIns="0" rIns="0" tIns="0" bIns="0">
            <a:spAutoFit/>
          </a:bodyPr>
          <a:lstStyle/>
          <a:p>
            <a:r>
              <a:rPr sz="1100" b="0">
                <a:solidFill>
                  <a:srgbClr val="2E2E2E"/>
                </a:solidFill>
                <a:latin typeface="Calibri"/>
              </a:rPr>
              <a:t>(BEV)' still carries</a:t>
            </a:r>
          </a:p>
        </p:txBody>
      </p:sp>
      <p:pic>
        <p:nvPicPr>
          <p:cNvPr id="85" name="Picture 84" descr="lock.png"/>
          <p:cNvPicPr>
            <a:picLocks noChangeAspect="1"/>
          </p:cNvPicPr>
          <p:nvPr/>
        </p:nvPicPr>
        <p:blipFill>
          <a:blip r:embed="rId4"/>
          <a:stretch>
            <a:fillRect/>
          </a:stretch>
        </p:blipFill>
        <p:spPr>
          <a:xfrm>
            <a:off x="1195380" y="5408635"/>
            <a:ext cx="128699" cy="187198"/>
          </a:xfrm>
          <a:prstGeom prst="rect">
            <a:avLst/>
          </a:prstGeom>
        </p:spPr>
      </p:pic>
      <p:sp>
        <p:nvSpPr>
          <p:cNvPr id="86" name="TextBox 85"/>
          <p:cNvSpPr txBox="1"/>
          <p:nvPr/>
        </p:nvSpPr>
        <p:spPr>
          <a:xfrm>
            <a:off x="1362875" y="5418414"/>
            <a:ext cx="8013997" cy="186689"/>
          </a:xfrm>
          <a:prstGeom prst="rect">
            <a:avLst/>
          </a:prstGeom>
          <a:noFill/>
        </p:spPr>
        <p:txBody>
          <a:bodyPr wrap="none" lIns="0" rIns="0" tIns="0" bIns="0">
            <a:spAutoFit/>
          </a:bodyPr>
          <a:lstStyle/>
          <a:p>
            <a:r>
              <a:rPr sz="1100" b="0">
                <a:solidFill>
                  <a:srgbClr val="2E2E2E"/>
                </a:solidFill>
                <a:latin typeface="Calibri"/>
              </a:rPr>
              <a:t>of demand today. Pairing the incumbent route for volume with the fastest route for growth and leading with 'Recreational and Powersports</a:t>
            </a:r>
          </a:p>
        </p:txBody>
      </p:sp>
      <p:sp>
        <p:nvSpPr>
          <p:cNvPr id="87" name="TextBox 86"/>
          <p:cNvSpPr txBox="1"/>
          <p:nvPr/>
        </p:nvSpPr>
        <p:spPr>
          <a:xfrm>
            <a:off x="190500" y="5586054"/>
            <a:ext cx="722585" cy="186689"/>
          </a:xfrm>
          <a:prstGeom prst="rect">
            <a:avLst/>
          </a:prstGeom>
          <a:noFill/>
        </p:spPr>
        <p:txBody>
          <a:bodyPr wrap="none" lIns="0" rIns="0" tIns="0" bIns="0">
            <a:spAutoFit/>
          </a:bodyPr>
          <a:lstStyle/>
          <a:p>
            <a:r>
              <a:rPr sz="1100" b="0">
                <a:solidFill>
                  <a:srgbClr val="2E2E2E"/>
                </a:solidFill>
                <a:latin typeface="Calibri"/>
              </a:rPr>
              <a:t>Vehicles' at</a:t>
            </a:r>
          </a:p>
        </p:txBody>
      </p:sp>
      <p:pic>
        <p:nvPicPr>
          <p:cNvPr id="88" name="Picture 87" descr="lock.png"/>
          <p:cNvPicPr>
            <a:picLocks noChangeAspect="1"/>
          </p:cNvPicPr>
          <p:nvPr/>
        </p:nvPicPr>
        <p:blipFill>
          <a:blip r:embed="rId4"/>
          <a:stretch>
            <a:fillRect/>
          </a:stretch>
        </p:blipFill>
        <p:spPr>
          <a:xfrm>
            <a:off x="861136" y="5576275"/>
            <a:ext cx="128699" cy="187198"/>
          </a:xfrm>
          <a:prstGeom prst="rect">
            <a:avLst/>
          </a:prstGeom>
        </p:spPr>
      </p:pic>
      <p:sp>
        <p:nvSpPr>
          <p:cNvPr id="89" name="TextBox 88"/>
          <p:cNvSpPr txBox="1"/>
          <p:nvPr/>
        </p:nvSpPr>
        <p:spPr>
          <a:xfrm>
            <a:off x="1028632" y="5586054"/>
            <a:ext cx="3137594" cy="186689"/>
          </a:xfrm>
          <a:prstGeom prst="rect">
            <a:avLst/>
          </a:prstGeom>
          <a:noFill/>
        </p:spPr>
        <p:txBody>
          <a:bodyPr wrap="none" lIns="0" rIns="0" tIns="0" bIns="0">
            <a:spAutoFit/>
          </a:bodyPr>
          <a:lstStyle/>
          <a:p>
            <a:r>
              <a:rPr sz="1100" b="0">
                <a:solidFill>
                  <a:srgbClr val="2E2E2E"/>
                </a:solidFill>
                <a:latin typeface="Calibri"/>
              </a:rPr>
              <a:t>is the highest-yield combination the dataset supports.</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Off-Highway Vehicle Market Recent Developments &amp; Milestones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7" name="Rectangle 6"/>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9" name="TextBox 8"/>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0" name="Rectangle 9"/>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2" name="Connector 11"/>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4" name="Rectangle 13"/>
          <p:cNvSpPr/>
          <p:nvPr/>
        </p:nvSpPr>
        <p:spPr>
          <a:xfrm>
            <a:off x="142875" y="2613586"/>
            <a:ext cx="11906250" cy="985700"/>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6" name="Connector 15"/>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8" name="Rectangle 17"/>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0" name="Connector 19"/>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Rectangle 21"/>
          <p:cNvSpPr/>
          <p:nvPr/>
        </p:nvSpPr>
        <p:spPr>
          <a:xfrm>
            <a:off x="142875" y="4584986"/>
            <a:ext cx="11906250" cy="985700"/>
          </a:xfrm>
          <a:prstGeom prst="rect">
            <a:avLst/>
          </a:prstGeom>
          <a:solidFill>
            <a:srgbClr val="F5F9FD"/>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4" name="Connector 23"/>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28" name="Connector 27"/>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Rectangle 2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32" name="TextBox 31"/>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3" name="Picture 32" descr="lock.png"/>
          <p:cNvPicPr>
            <a:picLocks noChangeAspect="1"/>
          </p:cNvPicPr>
          <p:nvPr/>
        </p:nvPicPr>
        <p:blipFill>
          <a:blip r:embed="rId4"/>
          <a:stretch>
            <a:fillRect/>
          </a:stretch>
        </p:blipFill>
        <p:spPr>
          <a:xfrm>
            <a:off x="5207711" y="1788160"/>
            <a:ext cx="128699" cy="187198"/>
          </a:xfrm>
          <a:prstGeom prst="rect">
            <a:avLst/>
          </a:prstGeom>
        </p:spPr>
      </p:pic>
      <p:sp>
        <p:nvSpPr>
          <p:cNvPr id="34" name="TextBox 33"/>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5" name="Picture 34" descr="lock.png"/>
          <p:cNvPicPr>
            <a:picLocks noChangeAspect="1"/>
          </p:cNvPicPr>
          <p:nvPr/>
        </p:nvPicPr>
        <p:blipFill>
          <a:blip r:embed="rId4"/>
          <a:stretch>
            <a:fillRect/>
          </a:stretch>
        </p:blipFill>
        <p:spPr>
          <a:xfrm>
            <a:off x="6259214" y="1788160"/>
            <a:ext cx="128699" cy="187198"/>
          </a:xfrm>
          <a:prstGeom prst="rect">
            <a:avLst/>
          </a:prstGeom>
        </p:spPr>
      </p:pic>
      <p:sp>
        <p:nvSpPr>
          <p:cNvPr id="36" name="TextBox 35"/>
          <p:cNvSpPr txBox="1"/>
          <p:nvPr/>
        </p:nvSpPr>
        <p:spPr>
          <a:xfrm>
            <a:off x="6426710" y="1797939"/>
            <a:ext cx="5277569"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'Construction</a:t>
            </a:r>
          </a:p>
        </p:txBody>
      </p:sp>
      <p:sp>
        <p:nvSpPr>
          <p:cNvPr id="37" name="TextBox 36"/>
          <p:cNvSpPr txBox="1"/>
          <p:nvPr/>
        </p:nvSpPr>
        <p:spPr>
          <a:xfrm>
            <a:off x="1743075" y="1965579"/>
            <a:ext cx="1250553" cy="186689"/>
          </a:xfrm>
          <a:prstGeom prst="rect">
            <a:avLst/>
          </a:prstGeom>
          <a:noFill/>
        </p:spPr>
        <p:txBody>
          <a:bodyPr wrap="none" lIns="0" rIns="0" tIns="0" bIns="0">
            <a:spAutoFit/>
          </a:bodyPr>
          <a:lstStyle/>
          <a:p>
            <a:r>
              <a:rPr sz="1100" b="0">
                <a:solidFill>
                  <a:srgbClr val="2E2E2E"/>
                </a:solidFill>
                <a:latin typeface="Calibri"/>
              </a:rPr>
              <a:t>and Mining Vehicles'</a:t>
            </a:r>
          </a:p>
        </p:txBody>
      </p:sp>
      <p:pic>
        <p:nvPicPr>
          <p:cNvPr id="38" name="Picture 37" descr="lock.png"/>
          <p:cNvPicPr>
            <a:picLocks noChangeAspect="1"/>
          </p:cNvPicPr>
          <p:nvPr/>
        </p:nvPicPr>
        <p:blipFill>
          <a:blip r:embed="rId4"/>
          <a:stretch>
            <a:fillRect/>
          </a:stretch>
        </p:blipFill>
        <p:spPr>
          <a:xfrm>
            <a:off x="2941679" y="1955800"/>
            <a:ext cx="128699" cy="187198"/>
          </a:xfrm>
          <a:prstGeom prst="rect">
            <a:avLst/>
          </a:prstGeom>
        </p:spPr>
      </p:pic>
      <p:sp>
        <p:nvSpPr>
          <p:cNvPr id="39" name="TextBox 38"/>
          <p:cNvSpPr txBox="1"/>
          <p:nvPr/>
        </p:nvSpPr>
        <p:spPr>
          <a:xfrm>
            <a:off x="3109175" y="1965579"/>
            <a:ext cx="6947420" cy="186689"/>
          </a:xfrm>
          <a:prstGeom prst="rect">
            <a:avLst/>
          </a:prstGeom>
          <a:noFill/>
        </p:spPr>
        <p:txBody>
          <a:bodyPr wrap="none" lIns="0" rIns="0" tIns="0" bIns="0">
            <a:spAutoFit/>
          </a:bodyPr>
          <a:lstStyle/>
          <a:p>
            <a:r>
              <a:rPr sz="1100" b="0">
                <a:solidFill>
                  <a:srgbClr val="2E2E2E"/>
                </a:solidFill>
                <a:latin typeface="Calibri"/>
              </a:rPr>
              <a:t>of vehicle type value by 2036 set the pace, and the 4 powertrain routes tracked here all carried volume through the year.</a:t>
            </a:r>
          </a:p>
        </p:txBody>
      </p:sp>
      <p:sp>
        <p:nvSpPr>
          <p:cNvPr id="40" name="TextBox 39"/>
          <p:cNvSpPr txBox="1"/>
          <p:nvPr/>
        </p:nvSpPr>
        <p:spPr>
          <a:xfrm>
            <a:off x="1743075" y="2945502"/>
            <a:ext cx="55928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 959,300 US$ Mn, having compounded at</a:t>
            </a:r>
          </a:p>
        </p:txBody>
      </p:sp>
      <p:pic>
        <p:nvPicPr>
          <p:cNvPr id="41" name="Picture 40" descr="lock.png"/>
          <p:cNvPicPr>
            <a:picLocks noChangeAspect="1"/>
          </p:cNvPicPr>
          <p:nvPr/>
        </p:nvPicPr>
        <p:blipFill>
          <a:blip r:embed="rId4"/>
          <a:stretch>
            <a:fillRect/>
          </a:stretch>
        </p:blipFill>
        <p:spPr>
          <a:xfrm>
            <a:off x="7283022" y="2936114"/>
            <a:ext cx="123551" cy="179710"/>
          </a:xfrm>
          <a:prstGeom prst="rect">
            <a:avLst/>
          </a:prstGeom>
        </p:spPr>
      </p:pic>
      <p:sp>
        <p:nvSpPr>
          <p:cNvPr id="42" name="TextBox 41"/>
          <p:cNvSpPr txBox="1"/>
          <p:nvPr/>
        </p:nvSpPr>
        <p:spPr>
          <a:xfrm>
            <a:off x="7443818"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3" name="Picture 42" descr="lock.png"/>
          <p:cNvPicPr>
            <a:picLocks noChangeAspect="1"/>
          </p:cNvPicPr>
          <p:nvPr/>
        </p:nvPicPr>
        <p:blipFill>
          <a:blip r:embed="rId4"/>
          <a:stretch>
            <a:fillRect/>
          </a:stretch>
        </p:blipFill>
        <p:spPr>
          <a:xfrm>
            <a:off x="9701688" y="2936114"/>
            <a:ext cx="123551" cy="179710"/>
          </a:xfrm>
          <a:prstGeom prst="rect">
            <a:avLst/>
          </a:prstGeom>
        </p:spPr>
      </p:pic>
      <p:sp>
        <p:nvSpPr>
          <p:cNvPr id="44" name="TextBox 43"/>
          <p:cNvSpPr txBox="1"/>
          <p:nvPr/>
        </p:nvSpPr>
        <p:spPr>
          <a:xfrm>
            <a:off x="9862484" y="2945502"/>
            <a:ext cx="1896665" cy="179984"/>
          </a:xfrm>
          <a:prstGeom prst="rect">
            <a:avLst/>
          </a:prstGeom>
          <a:noFill/>
        </p:spPr>
        <p:txBody>
          <a:bodyPr wrap="none" lIns="0" rIns="0" tIns="0" bIns="0">
            <a:spAutoFit/>
          </a:bodyPr>
          <a:lstStyle/>
          <a:p>
            <a:r>
              <a:rPr sz="1055" b="0">
                <a:solidFill>
                  <a:srgbClr val="2E2E2E"/>
                </a:solidFill>
                <a:latin typeface="Calibri"/>
              </a:rPr>
              <a:t>of value across 7 regions, and the</a:t>
            </a:r>
          </a:p>
        </p:txBody>
      </p:sp>
      <p:sp>
        <p:nvSpPr>
          <p:cNvPr id="45" name="TextBox 44"/>
          <p:cNvSpPr txBox="1"/>
          <p:nvPr/>
        </p:nvSpPr>
        <p:spPr>
          <a:xfrm>
            <a:off x="1743075" y="3106436"/>
            <a:ext cx="4105846" cy="179984"/>
          </a:xfrm>
          <a:prstGeom prst="rect">
            <a:avLst/>
          </a:prstGeom>
          <a:noFill/>
        </p:spPr>
        <p:txBody>
          <a:bodyPr wrap="none" lIns="0" rIns="0" tIns="0" bIns="0">
            <a:spAutoFit/>
          </a:bodyPr>
          <a:lstStyle/>
          <a:p>
            <a:r>
              <a:rPr sz="1055" b="0">
                <a:solidFill>
                  <a:srgbClr val="2E2E2E"/>
                </a:solidFill>
                <a:latin typeface="Calibri"/>
              </a:rPr>
              <a:t>forecast is built from 4 segment breakdowns covering 5 vehicle type lines.</a:t>
            </a:r>
          </a:p>
        </p:txBody>
      </p:sp>
      <p:sp>
        <p:nvSpPr>
          <p:cNvPr id="46" name="TextBox 45"/>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47" name="Picture 46" descr="lock.png"/>
          <p:cNvPicPr>
            <a:picLocks noChangeAspect="1"/>
          </p:cNvPicPr>
          <p:nvPr/>
        </p:nvPicPr>
        <p:blipFill>
          <a:blip r:embed="rId4"/>
          <a:stretch>
            <a:fillRect/>
          </a:stretch>
        </p:blipFill>
        <p:spPr>
          <a:xfrm>
            <a:off x="2779530" y="3921813"/>
            <a:ext cx="123551" cy="179710"/>
          </a:xfrm>
          <a:prstGeom prst="rect">
            <a:avLst/>
          </a:prstGeom>
        </p:spPr>
      </p:pic>
      <p:sp>
        <p:nvSpPr>
          <p:cNvPr id="48" name="TextBox 47"/>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49" name="Picture 48" descr="lock.png"/>
          <p:cNvPicPr>
            <a:picLocks noChangeAspect="1"/>
          </p:cNvPicPr>
          <p:nvPr/>
        </p:nvPicPr>
        <p:blipFill>
          <a:blip r:embed="rId4"/>
          <a:stretch>
            <a:fillRect/>
          </a:stretch>
        </p:blipFill>
        <p:spPr>
          <a:xfrm>
            <a:off x="5832609" y="3921813"/>
            <a:ext cx="123551" cy="179710"/>
          </a:xfrm>
          <a:prstGeom prst="rect">
            <a:avLst/>
          </a:prstGeom>
        </p:spPr>
      </p:pic>
      <p:sp>
        <p:nvSpPr>
          <p:cNvPr id="50" name="TextBox 49"/>
          <p:cNvSpPr txBox="1"/>
          <p:nvPr/>
        </p:nvSpPr>
        <p:spPr>
          <a:xfrm>
            <a:off x="5993405" y="3931201"/>
            <a:ext cx="4518921" cy="179984"/>
          </a:xfrm>
          <a:prstGeom prst="rect">
            <a:avLst/>
          </a:prstGeom>
          <a:noFill/>
        </p:spPr>
        <p:txBody>
          <a:bodyPr wrap="none" lIns="0" rIns="0" tIns="0" bIns="0">
            <a:spAutoFit/>
          </a:bodyPr>
          <a:lstStyle/>
          <a:p>
            <a:r>
              <a:rPr sz="1055" b="0">
                <a:solidFill>
                  <a:srgbClr val="2E2E2E"/>
                </a:solidFill>
                <a:latin typeface="Calibri"/>
              </a:rPr>
              <a:t>US$ Mn. Growth by this point is led by 'Recreational and Powersports Vehicles' at</a:t>
            </a:r>
          </a:p>
        </p:txBody>
      </p:sp>
      <p:pic>
        <p:nvPicPr>
          <p:cNvPr id="51" name="Picture 50" descr="lock.png"/>
          <p:cNvPicPr>
            <a:picLocks noChangeAspect="1"/>
          </p:cNvPicPr>
          <p:nvPr/>
        </p:nvPicPr>
        <p:blipFill>
          <a:blip r:embed="rId4"/>
          <a:stretch>
            <a:fillRect/>
          </a:stretch>
        </p:blipFill>
        <p:spPr>
          <a:xfrm>
            <a:off x="10459409" y="3921813"/>
            <a:ext cx="123551" cy="179710"/>
          </a:xfrm>
          <a:prstGeom prst="rect">
            <a:avLst/>
          </a:prstGeom>
        </p:spPr>
      </p:pic>
      <p:sp>
        <p:nvSpPr>
          <p:cNvPr id="52" name="TextBox 51"/>
          <p:cNvSpPr txBox="1"/>
          <p:nvPr/>
        </p:nvSpPr>
        <p:spPr>
          <a:xfrm>
            <a:off x="10620205" y="3931201"/>
            <a:ext cx="779747" cy="179984"/>
          </a:xfrm>
          <a:prstGeom prst="rect">
            <a:avLst/>
          </a:prstGeom>
          <a:noFill/>
        </p:spPr>
        <p:txBody>
          <a:bodyPr wrap="none" lIns="0" rIns="0" tIns="0" bIns="0">
            <a:spAutoFit/>
          </a:bodyPr>
          <a:lstStyle/>
          <a:p>
            <a:r>
              <a:rPr sz="1055" b="0">
                <a:solidFill>
                  <a:srgbClr val="2E2E2E"/>
                </a:solidFill>
                <a:latin typeface="Calibri"/>
              </a:rPr>
              <a:t>CAGR and by</a:t>
            </a:r>
          </a:p>
        </p:txBody>
      </p:sp>
      <p:sp>
        <p:nvSpPr>
          <p:cNvPr id="53" name="TextBox 52"/>
          <p:cNvSpPr txBox="1"/>
          <p:nvPr/>
        </p:nvSpPr>
        <p:spPr>
          <a:xfrm>
            <a:off x="1743075" y="4092135"/>
            <a:ext cx="2188463" cy="179984"/>
          </a:xfrm>
          <a:prstGeom prst="rect">
            <a:avLst/>
          </a:prstGeom>
          <a:noFill/>
        </p:spPr>
        <p:txBody>
          <a:bodyPr wrap="none" lIns="0" rIns="0" tIns="0" bIns="0">
            <a:spAutoFit/>
          </a:bodyPr>
          <a:lstStyle/>
          <a:p>
            <a:r>
              <a:rPr sz="1055" b="0">
                <a:solidFill>
                  <a:srgbClr val="2E2E2E"/>
                </a:solidFill>
                <a:latin typeface="Calibri"/>
              </a:rPr>
              <a:t>'South Asia &amp; Pacific' among regions at</a:t>
            </a:r>
          </a:p>
        </p:txBody>
      </p:sp>
      <p:pic>
        <p:nvPicPr>
          <p:cNvPr id="54" name="Picture 53" descr="lock.png"/>
          <p:cNvPicPr>
            <a:picLocks noChangeAspect="1"/>
          </p:cNvPicPr>
          <p:nvPr/>
        </p:nvPicPr>
        <p:blipFill>
          <a:blip r:embed="rId4"/>
          <a:stretch>
            <a:fillRect/>
          </a:stretch>
        </p:blipFill>
        <p:spPr>
          <a:xfrm>
            <a:off x="3878620" y="4082747"/>
            <a:ext cx="123551" cy="179710"/>
          </a:xfrm>
          <a:prstGeom prst="rect">
            <a:avLst/>
          </a:prstGeom>
        </p:spPr>
      </p:pic>
      <p:sp>
        <p:nvSpPr>
          <p:cNvPr id="55" name="TextBox 54"/>
          <p:cNvSpPr txBox="1"/>
          <p:nvPr/>
        </p:nvSpPr>
        <p:spPr>
          <a:xfrm>
            <a:off x="4039416" y="4092135"/>
            <a:ext cx="3178063" cy="179984"/>
          </a:xfrm>
          <a:prstGeom prst="rect">
            <a:avLst/>
          </a:prstGeom>
          <a:noFill/>
        </p:spPr>
        <p:txBody>
          <a:bodyPr wrap="none" lIns="0" rIns="0" tIns="0" bIns="0">
            <a:spAutoFit/>
          </a:bodyPr>
          <a:lstStyle/>
          <a:p>
            <a:r>
              <a:rPr sz="1055" b="0">
                <a:solidFill>
                  <a:srgbClr val="2E2E2E"/>
                </a:solidFill>
                <a:latin typeface="Calibri"/>
              </a:rPr>
              <a:t>, with 4 of 7 regions running at or above the market rate.</a:t>
            </a:r>
          </a:p>
        </p:txBody>
      </p:sp>
      <p:sp>
        <p:nvSpPr>
          <p:cNvPr id="56" name="TextBox 55"/>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57" name="Picture 56" descr="lock.png"/>
          <p:cNvPicPr>
            <a:picLocks noChangeAspect="1"/>
          </p:cNvPicPr>
          <p:nvPr/>
        </p:nvPicPr>
        <p:blipFill>
          <a:blip r:embed="rId4"/>
          <a:stretch>
            <a:fillRect/>
          </a:stretch>
        </p:blipFill>
        <p:spPr>
          <a:xfrm>
            <a:off x="3880454" y="4907513"/>
            <a:ext cx="123551" cy="179710"/>
          </a:xfrm>
          <a:prstGeom prst="rect">
            <a:avLst/>
          </a:prstGeom>
        </p:spPr>
      </p:pic>
      <p:sp>
        <p:nvSpPr>
          <p:cNvPr id="58" name="TextBox 57"/>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59" name="Picture 58" descr="lock.png"/>
          <p:cNvPicPr>
            <a:picLocks noChangeAspect="1"/>
          </p:cNvPicPr>
          <p:nvPr/>
        </p:nvPicPr>
        <p:blipFill>
          <a:blip r:embed="rId4"/>
          <a:stretch>
            <a:fillRect/>
          </a:stretch>
        </p:blipFill>
        <p:spPr>
          <a:xfrm>
            <a:off x="4529470" y="4907513"/>
            <a:ext cx="123551" cy="179710"/>
          </a:xfrm>
          <a:prstGeom prst="rect">
            <a:avLst/>
          </a:prstGeom>
        </p:spPr>
      </p:pic>
      <p:sp>
        <p:nvSpPr>
          <p:cNvPr id="60" name="TextBox 59"/>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1" name="Picture 60" descr="lock.png"/>
          <p:cNvPicPr>
            <a:picLocks noChangeAspect="1"/>
          </p:cNvPicPr>
          <p:nvPr/>
        </p:nvPicPr>
        <p:blipFill>
          <a:blip r:embed="rId4"/>
          <a:stretch>
            <a:fillRect/>
          </a:stretch>
        </p:blipFill>
        <p:spPr>
          <a:xfrm>
            <a:off x="7218681" y="4907513"/>
            <a:ext cx="123551" cy="179710"/>
          </a:xfrm>
          <a:prstGeom prst="rect">
            <a:avLst/>
          </a:prstGeom>
        </p:spPr>
      </p:pic>
      <p:sp>
        <p:nvSpPr>
          <p:cNvPr id="62" name="TextBox 61"/>
          <p:cNvSpPr txBox="1"/>
          <p:nvPr/>
        </p:nvSpPr>
        <p:spPr>
          <a:xfrm>
            <a:off x="7379477" y="4916901"/>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3" name="Picture 62" descr="lock.png"/>
          <p:cNvPicPr>
            <a:picLocks noChangeAspect="1"/>
          </p:cNvPicPr>
          <p:nvPr/>
        </p:nvPicPr>
        <p:blipFill>
          <a:blip r:embed="rId4"/>
          <a:stretch>
            <a:fillRect/>
          </a:stretch>
        </p:blipFill>
        <p:spPr>
          <a:xfrm>
            <a:off x="9171623" y="4907513"/>
            <a:ext cx="123551" cy="179710"/>
          </a:xfrm>
          <a:prstGeom prst="rect">
            <a:avLst/>
          </a:prstGeom>
        </p:spPr>
      </p:pic>
      <p:sp>
        <p:nvSpPr>
          <p:cNvPr id="64" name="TextBox 63"/>
          <p:cNvSpPr txBox="1"/>
          <p:nvPr/>
        </p:nvSpPr>
        <p:spPr>
          <a:xfrm>
            <a:off x="9332419" y="4916901"/>
            <a:ext cx="1685805" cy="179984"/>
          </a:xfrm>
          <a:prstGeom prst="rect">
            <a:avLst/>
          </a:prstGeom>
          <a:noFill/>
        </p:spPr>
        <p:txBody>
          <a:bodyPr wrap="none" lIns="0" rIns="0" tIns="0" bIns="0">
            <a:spAutoFit/>
          </a:bodyPr>
          <a:lstStyle/>
          <a:p>
            <a:r>
              <a:rPr sz="1055" b="0">
                <a:solidFill>
                  <a:srgbClr val="2E2E2E"/>
                </a:solidFill>
                <a:latin typeface="Calibri"/>
              </a:rPr>
              <a:t>BPS toward 'Recreational and</a:t>
            </a:r>
          </a:p>
        </p:txBody>
      </p:sp>
      <p:sp>
        <p:nvSpPr>
          <p:cNvPr id="65" name="TextBox 64"/>
          <p:cNvSpPr txBox="1"/>
          <p:nvPr/>
        </p:nvSpPr>
        <p:spPr>
          <a:xfrm>
            <a:off x="1743075" y="5077835"/>
            <a:ext cx="3071455" cy="179984"/>
          </a:xfrm>
          <a:prstGeom prst="rect">
            <a:avLst/>
          </a:prstGeom>
          <a:noFill/>
        </p:spPr>
        <p:txBody>
          <a:bodyPr wrap="none" lIns="0" rIns="0" tIns="0" bIns="0">
            <a:spAutoFit/>
          </a:bodyPr>
          <a:lstStyle/>
          <a:p>
            <a:r>
              <a:rPr sz="1055" b="0">
                <a:solidFill>
                  <a:srgbClr val="2E2E2E"/>
                </a:solidFill>
                <a:latin typeface="Calibri"/>
              </a:rPr>
              <a:t>Powersports Vehicles' while 'Military Vehicles' gives up</a:t>
            </a:r>
          </a:p>
        </p:txBody>
      </p:sp>
      <p:pic>
        <p:nvPicPr>
          <p:cNvPr id="66" name="Picture 65" descr="lock.png"/>
          <p:cNvPicPr>
            <a:picLocks noChangeAspect="1"/>
          </p:cNvPicPr>
          <p:nvPr/>
        </p:nvPicPr>
        <p:blipFill>
          <a:blip r:embed="rId4"/>
          <a:stretch>
            <a:fillRect/>
          </a:stretch>
        </p:blipFill>
        <p:spPr>
          <a:xfrm>
            <a:off x="4761611" y="5068447"/>
            <a:ext cx="123551" cy="179710"/>
          </a:xfrm>
          <a:prstGeom prst="rect">
            <a:avLst/>
          </a:prstGeom>
        </p:spPr>
      </p:pic>
      <p:sp>
        <p:nvSpPr>
          <p:cNvPr id="67" name="TextBox 66"/>
          <p:cNvSpPr txBox="1"/>
          <p:nvPr/>
        </p:nvSpPr>
        <p:spPr>
          <a:xfrm>
            <a:off x="4922407"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68" name="TextBox 67"/>
          <p:cNvSpPr txBox="1"/>
          <p:nvPr/>
        </p:nvSpPr>
        <p:spPr>
          <a:xfrm>
            <a:off x="1743075" y="5902601"/>
            <a:ext cx="3708196" cy="179984"/>
          </a:xfrm>
          <a:prstGeom prst="rect">
            <a:avLst/>
          </a:prstGeom>
          <a:noFill/>
        </p:spPr>
        <p:txBody>
          <a:bodyPr wrap="none" lIns="0" rIns="0" tIns="0" bIns="0">
            <a:spAutoFit/>
          </a:bodyPr>
          <a:lstStyle/>
          <a:p>
            <a:r>
              <a:rPr sz="1055" b="0">
                <a:solidFill>
                  <a:srgbClr val="2E2E2E"/>
                </a:solidFill>
                <a:latin typeface="Calibri"/>
              </a:rPr>
              <a:t>Forecast outcome: the global market reaches 1,531,700 US$ Mn, a</a:t>
            </a:r>
          </a:p>
        </p:txBody>
      </p:sp>
      <p:pic>
        <p:nvPicPr>
          <p:cNvPr id="69" name="Picture 68" descr="lock.png"/>
          <p:cNvPicPr>
            <a:picLocks noChangeAspect="1"/>
          </p:cNvPicPr>
          <p:nvPr/>
        </p:nvPicPr>
        <p:blipFill>
          <a:blip r:embed="rId4"/>
          <a:stretch>
            <a:fillRect/>
          </a:stretch>
        </p:blipFill>
        <p:spPr>
          <a:xfrm>
            <a:off x="5398353" y="5893213"/>
            <a:ext cx="123551" cy="179710"/>
          </a:xfrm>
          <a:prstGeom prst="rect">
            <a:avLst/>
          </a:prstGeom>
        </p:spPr>
      </p:pic>
      <p:sp>
        <p:nvSpPr>
          <p:cNvPr id="70" name="TextBox 69"/>
          <p:cNvSpPr txBox="1"/>
          <p:nvPr/>
        </p:nvSpPr>
        <p:spPr>
          <a:xfrm>
            <a:off x="5559149"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1" name="Picture 70" descr="lock.png"/>
          <p:cNvPicPr>
            <a:picLocks noChangeAspect="1"/>
          </p:cNvPicPr>
          <p:nvPr/>
        </p:nvPicPr>
        <p:blipFill>
          <a:blip r:embed="rId4"/>
          <a:stretch>
            <a:fillRect/>
          </a:stretch>
        </p:blipFill>
        <p:spPr>
          <a:xfrm>
            <a:off x="6943981" y="5893213"/>
            <a:ext cx="123551" cy="179710"/>
          </a:xfrm>
          <a:prstGeom prst="rect">
            <a:avLst/>
          </a:prstGeom>
        </p:spPr>
      </p:pic>
      <p:sp>
        <p:nvSpPr>
          <p:cNvPr id="72" name="TextBox 71"/>
          <p:cNvSpPr txBox="1"/>
          <p:nvPr/>
        </p:nvSpPr>
        <p:spPr>
          <a:xfrm>
            <a:off x="7104777" y="5902601"/>
            <a:ext cx="3728378" cy="179984"/>
          </a:xfrm>
          <a:prstGeom prst="rect">
            <a:avLst/>
          </a:prstGeom>
          <a:noFill/>
        </p:spPr>
        <p:txBody>
          <a:bodyPr wrap="none" lIns="0" rIns="0" tIns="0" bIns="0">
            <a:spAutoFit/>
          </a:bodyPr>
          <a:lstStyle/>
          <a:p>
            <a:r>
              <a:rPr sz="1055" b="0">
                <a:solidFill>
                  <a:srgbClr val="2E2E2E"/>
                </a:solidFill>
                <a:latin typeface="Calibri"/>
              </a:rPr>
              <a:t>US$ Mn of incremental value at 4.8% CAGR. Volume compounds at</a:t>
            </a:r>
          </a:p>
        </p:txBody>
      </p:sp>
      <p:pic>
        <p:nvPicPr>
          <p:cNvPr id="73" name="Picture 72" descr="lock.png"/>
          <p:cNvPicPr>
            <a:picLocks noChangeAspect="1"/>
          </p:cNvPicPr>
          <p:nvPr/>
        </p:nvPicPr>
        <p:blipFill>
          <a:blip r:embed="rId4"/>
          <a:stretch>
            <a:fillRect/>
          </a:stretch>
        </p:blipFill>
        <p:spPr>
          <a:xfrm>
            <a:off x="10780237" y="5893213"/>
            <a:ext cx="123551" cy="179710"/>
          </a:xfrm>
          <a:prstGeom prst="rect">
            <a:avLst/>
          </a:prstGeom>
        </p:spPr>
      </p:pic>
      <p:sp>
        <p:nvSpPr>
          <p:cNvPr id="74" name="TextBox 73"/>
          <p:cNvSpPr txBox="1"/>
          <p:nvPr/>
        </p:nvSpPr>
        <p:spPr>
          <a:xfrm>
            <a:off x="10941033" y="5902601"/>
            <a:ext cx="533804" cy="179984"/>
          </a:xfrm>
          <a:prstGeom prst="rect">
            <a:avLst/>
          </a:prstGeom>
          <a:noFill/>
        </p:spPr>
        <p:txBody>
          <a:bodyPr wrap="none" lIns="0" rIns="0" tIns="0" bIns="0">
            <a:spAutoFit/>
          </a:bodyPr>
          <a:lstStyle/>
          <a:p>
            <a:r>
              <a:rPr sz="1055" b="0">
                <a:solidFill>
                  <a:srgbClr val="2E2E2E"/>
                </a:solidFill>
                <a:latin typeface="Calibri"/>
              </a:rPr>
              <a:t>over the</a:t>
            </a:r>
          </a:p>
        </p:txBody>
      </p:sp>
      <p:sp>
        <p:nvSpPr>
          <p:cNvPr id="75" name="TextBox 74"/>
          <p:cNvSpPr txBox="1"/>
          <p:nvPr/>
        </p:nvSpPr>
        <p:spPr>
          <a:xfrm>
            <a:off x="1743075" y="6063535"/>
            <a:ext cx="1885926" cy="179984"/>
          </a:xfrm>
          <a:prstGeom prst="rect">
            <a:avLst/>
          </a:prstGeom>
          <a:noFill/>
        </p:spPr>
        <p:txBody>
          <a:bodyPr wrap="none" lIns="0" rIns="0" tIns="0" bIns="0">
            <a:spAutoFit/>
          </a:bodyPr>
          <a:lstStyle/>
          <a:p>
            <a:r>
              <a:rPr sz="1055" b="0">
                <a:solidFill>
                  <a:srgbClr val="2E2E2E"/>
                </a:solidFill>
                <a:latin typeface="Calibri"/>
              </a:rPr>
              <a:t>same window, leaving realisation</a:t>
            </a:r>
          </a:p>
        </p:txBody>
      </p:sp>
      <p:pic>
        <p:nvPicPr>
          <p:cNvPr id="76" name="Picture 75" descr="lock.png"/>
          <p:cNvPicPr>
            <a:picLocks noChangeAspect="1"/>
          </p:cNvPicPr>
          <p:nvPr/>
        </p:nvPicPr>
        <p:blipFill>
          <a:blip r:embed="rId4"/>
          <a:stretch>
            <a:fillRect/>
          </a:stretch>
        </p:blipFill>
        <p:spPr>
          <a:xfrm>
            <a:off x="3576082" y="6054147"/>
            <a:ext cx="123551" cy="179710"/>
          </a:xfrm>
          <a:prstGeom prst="rect">
            <a:avLst/>
          </a:prstGeom>
        </p:spPr>
      </p:pic>
      <p:sp>
        <p:nvSpPr>
          <p:cNvPr id="77" name="TextBox 76"/>
          <p:cNvSpPr txBox="1"/>
          <p:nvPr/>
        </p:nvSpPr>
        <p:spPr>
          <a:xfrm>
            <a:off x="3736878"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Off-Highway Vehicle Market</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7" name="TextBox 6"/>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Supplier power, buyer power, competitive intensity, substitution and entry barriers scored from the global dataset 5 vehicle type lines, 4 powertrain routes and 7 regions at 4.8% CAGR.</a:t>
            </a:r>
          </a:p>
        </p:txBody>
      </p:sp>
      <p:sp>
        <p:nvSpPr>
          <p:cNvPr id="8" name="Oval 7"/>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0" name="TextBox 9"/>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1" name="TextBox 10"/>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2" name="TextBox 11"/>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3" name="TextBox 12"/>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5 vehicle type lines, which caps supplier leverage in commodity grades.</a:t>
            </a:r>
          </a:p>
        </p:txBody>
      </p:sp>
      <p:sp>
        <p:nvSpPr>
          <p:cNvPr id="14" name="Oval 13"/>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0" name="TextBox 19"/>
          <p:cNvSpPr txBox="1"/>
          <p:nvPr/>
        </p:nvSpPr>
        <p:spPr>
          <a:xfrm>
            <a:off x="2628900" y="2796123"/>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TextBox 20"/>
          <p:cNvSpPr txBox="1"/>
          <p:nvPr/>
        </p:nvSpPr>
        <p:spPr>
          <a:xfrm>
            <a:off x="2628900" y="3854838"/>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2" name="TextBox 21"/>
          <p:cNvSpPr txBox="1"/>
          <p:nvPr/>
        </p:nvSpPr>
        <p:spPr>
          <a:xfrm>
            <a:off x="262890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5 comparable vehicle type lines compete for the same demand.</a:t>
            </a:r>
          </a:p>
        </p:txBody>
      </p:sp>
      <p:sp>
        <p:nvSpPr>
          <p:cNvPr id="23" name="Oval 22"/>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1" name="TextBox 30"/>
          <p:cNvSpPr txBox="1"/>
          <p:nvPr/>
        </p:nvSpPr>
        <p:spPr>
          <a:xfrm>
            <a:off x="5010150" y="2796123"/>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5010150" y="3480637"/>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5010150" y="4539352"/>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Oval 33"/>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39" name="TextBox 38"/>
          <p:cNvSpPr txBox="1"/>
          <p:nvPr/>
        </p:nvSpPr>
        <p:spPr>
          <a:xfrm>
            <a:off x="73914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7391400" y="4037375"/>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TextBox 40"/>
          <p:cNvSpPr txBox="1"/>
          <p:nvPr/>
        </p:nvSpPr>
        <p:spPr>
          <a:xfrm>
            <a:off x="739140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2" name="Oval 41"/>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0" name="TextBox 49"/>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1" name="TextBox 50"/>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9772650" y="4347688"/>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3" name="Rectangle 52"/>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55" name="TextBox 54"/>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56" name="TextBox 55"/>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57" name="Picture 56" descr="lock.png"/>
          <p:cNvPicPr>
            <a:picLocks noChangeAspect="1"/>
          </p:cNvPicPr>
          <p:nvPr/>
        </p:nvPicPr>
        <p:blipFill>
          <a:blip r:embed="rId4"/>
          <a:stretch>
            <a:fillRect/>
          </a:stretch>
        </p:blipFill>
        <p:spPr>
          <a:xfrm>
            <a:off x="1295293" y="3006595"/>
            <a:ext cx="128699" cy="187198"/>
          </a:xfrm>
          <a:prstGeom prst="rect">
            <a:avLst/>
          </a:prstGeom>
        </p:spPr>
      </p:pic>
      <p:sp>
        <p:nvSpPr>
          <p:cNvPr id="58" name="TextBox 57"/>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59" name="TextBox 58"/>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7 regions, concentrating</a:t>
            </a:r>
          </a:p>
        </p:txBody>
      </p:sp>
      <p:sp>
        <p:nvSpPr>
          <p:cNvPr id="60" name="TextBox 59"/>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1" name="TextBox 60"/>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2" name="Picture 61" descr="lock.png"/>
          <p:cNvPicPr>
            <a:picLocks noChangeAspect="1"/>
          </p:cNvPicPr>
          <p:nvPr/>
        </p:nvPicPr>
        <p:blipFill>
          <a:blip r:embed="rId4"/>
          <a:stretch>
            <a:fillRect/>
          </a:stretch>
        </p:blipFill>
        <p:spPr>
          <a:xfrm>
            <a:off x="1900439" y="3789826"/>
            <a:ext cx="128699" cy="187198"/>
          </a:xfrm>
          <a:prstGeom prst="rect">
            <a:avLst/>
          </a:prstGeom>
        </p:spPr>
      </p:pic>
      <p:sp>
        <p:nvSpPr>
          <p:cNvPr id="63" name="TextBox 62"/>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4" name="TextBox 63"/>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65" name="TextBox 64"/>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66" name="TextBox 65"/>
          <p:cNvSpPr txBox="1"/>
          <p:nvPr/>
        </p:nvSpPr>
        <p:spPr>
          <a:xfrm>
            <a:off x="2657475" y="2860746"/>
            <a:ext cx="1746324" cy="186689"/>
          </a:xfrm>
          <a:prstGeom prst="rect">
            <a:avLst/>
          </a:prstGeom>
          <a:noFill/>
        </p:spPr>
        <p:txBody>
          <a:bodyPr wrap="none" lIns="0" rIns="0" tIns="0" bIns="0">
            <a:spAutoFit/>
          </a:bodyPr>
          <a:lstStyle/>
          <a:p>
            <a:r>
              <a:rPr sz="1100" b="0">
                <a:solidFill>
                  <a:srgbClr val="2E2E2E"/>
                </a:solidFill>
                <a:latin typeface="Calibri"/>
              </a:rPr>
              <a:t>▸ Assessed moderate to high.</a:t>
            </a:r>
          </a:p>
        </p:txBody>
      </p:sp>
      <p:sp>
        <p:nvSpPr>
          <p:cNvPr id="67" name="TextBox 66"/>
          <p:cNvSpPr txBox="1"/>
          <p:nvPr/>
        </p:nvSpPr>
        <p:spPr>
          <a:xfrm>
            <a:off x="2657475" y="3028386"/>
            <a:ext cx="1545232" cy="186689"/>
          </a:xfrm>
          <a:prstGeom prst="rect">
            <a:avLst/>
          </a:prstGeom>
          <a:noFill/>
        </p:spPr>
        <p:txBody>
          <a:bodyPr wrap="none" lIns="0" rIns="0" tIns="0" bIns="0">
            <a:spAutoFit/>
          </a:bodyPr>
          <a:lstStyle/>
          <a:p>
            <a:r>
              <a:rPr sz="1100" b="0">
                <a:solidFill>
                  <a:srgbClr val="2E2E2E"/>
                </a:solidFill>
                <a:latin typeface="Calibri"/>
              </a:rPr>
              <a:t>Demand routes through 4</a:t>
            </a:r>
          </a:p>
        </p:txBody>
      </p:sp>
      <p:sp>
        <p:nvSpPr>
          <p:cNvPr id="68" name="TextBox 67"/>
          <p:cNvSpPr txBox="1"/>
          <p:nvPr/>
        </p:nvSpPr>
        <p:spPr>
          <a:xfrm>
            <a:off x="2657475" y="3196026"/>
            <a:ext cx="2100212" cy="186689"/>
          </a:xfrm>
          <a:prstGeom prst="rect">
            <a:avLst/>
          </a:prstGeom>
          <a:noFill/>
        </p:spPr>
        <p:txBody>
          <a:bodyPr wrap="none" lIns="0" rIns="0" tIns="0" bIns="0">
            <a:spAutoFit/>
          </a:bodyPr>
          <a:lstStyle/>
          <a:p>
            <a:r>
              <a:rPr sz="1100" b="0">
                <a:solidFill>
                  <a:srgbClr val="2E2E2E"/>
                </a:solidFill>
                <a:latin typeface="Calibri"/>
              </a:rPr>
              <a:t>powertrain channels led by 'Battery</a:t>
            </a:r>
          </a:p>
        </p:txBody>
      </p:sp>
      <p:sp>
        <p:nvSpPr>
          <p:cNvPr id="69" name="TextBox 68"/>
          <p:cNvSpPr txBox="1"/>
          <p:nvPr/>
        </p:nvSpPr>
        <p:spPr>
          <a:xfrm>
            <a:off x="2657475" y="3363666"/>
            <a:ext cx="1456010" cy="186689"/>
          </a:xfrm>
          <a:prstGeom prst="rect">
            <a:avLst/>
          </a:prstGeom>
          <a:noFill/>
        </p:spPr>
        <p:txBody>
          <a:bodyPr wrap="none" lIns="0" rIns="0" tIns="0" bIns="0">
            <a:spAutoFit/>
          </a:bodyPr>
          <a:lstStyle/>
          <a:p>
            <a:r>
              <a:rPr sz="1100" b="0">
                <a:solidFill>
                  <a:srgbClr val="2E2E2E"/>
                </a:solidFill>
                <a:latin typeface="Calibri"/>
              </a:rPr>
              <a:t>Electric Vehicle (BEV)' at</a:t>
            </a:r>
          </a:p>
        </p:txBody>
      </p:sp>
      <p:pic>
        <p:nvPicPr>
          <p:cNvPr id="70" name="Picture 69" descr="lock.png"/>
          <p:cNvPicPr>
            <a:picLocks noChangeAspect="1"/>
          </p:cNvPicPr>
          <p:nvPr/>
        </p:nvPicPr>
        <p:blipFill>
          <a:blip r:embed="rId4"/>
          <a:stretch>
            <a:fillRect/>
          </a:stretch>
        </p:blipFill>
        <p:spPr>
          <a:xfrm>
            <a:off x="4061536" y="3353887"/>
            <a:ext cx="128699" cy="187198"/>
          </a:xfrm>
          <a:prstGeom prst="rect">
            <a:avLst/>
          </a:prstGeom>
        </p:spPr>
      </p:pic>
      <p:sp>
        <p:nvSpPr>
          <p:cNvPr id="71" name="TextBox 70"/>
          <p:cNvSpPr txBox="1"/>
          <p:nvPr/>
        </p:nvSpPr>
        <p:spPr>
          <a:xfrm>
            <a:off x="4229032" y="3363666"/>
            <a:ext cx="475108" cy="186689"/>
          </a:xfrm>
          <a:prstGeom prst="rect">
            <a:avLst/>
          </a:prstGeom>
          <a:noFill/>
        </p:spPr>
        <p:txBody>
          <a:bodyPr wrap="none" lIns="0" rIns="0" tIns="0" bIns="0">
            <a:spAutoFit/>
          </a:bodyPr>
          <a:lstStyle/>
          <a:p>
            <a:r>
              <a:rPr sz="1100" b="0">
                <a:solidFill>
                  <a:srgbClr val="2E2E2E"/>
                </a:solidFill>
                <a:latin typeface="Calibri"/>
              </a:rPr>
              <a:t>, giving</a:t>
            </a:r>
          </a:p>
        </p:txBody>
      </p:sp>
      <p:sp>
        <p:nvSpPr>
          <p:cNvPr id="72" name="TextBox 71"/>
          <p:cNvSpPr txBox="1"/>
          <p:nvPr/>
        </p:nvSpPr>
        <p:spPr>
          <a:xfrm>
            <a:off x="2657475" y="3531306"/>
            <a:ext cx="1123404" cy="186689"/>
          </a:xfrm>
          <a:prstGeom prst="rect">
            <a:avLst/>
          </a:prstGeom>
          <a:noFill/>
        </p:spPr>
        <p:txBody>
          <a:bodyPr wrap="none" lIns="0" rIns="0" tIns="0" bIns="0">
            <a:spAutoFit/>
          </a:bodyPr>
          <a:lstStyle/>
          <a:p>
            <a:r>
              <a:rPr sz="1100" b="0">
                <a:solidFill>
                  <a:srgbClr val="2E2E2E"/>
                </a:solidFill>
                <a:latin typeface="Calibri"/>
              </a:rPr>
              <a:t>large buyers scale.</a:t>
            </a:r>
          </a:p>
        </p:txBody>
      </p:sp>
      <p:sp>
        <p:nvSpPr>
          <p:cNvPr id="73" name="TextBox 72"/>
          <p:cNvSpPr txBox="1"/>
          <p:nvPr/>
        </p:nvSpPr>
        <p:spPr>
          <a:xfrm>
            <a:off x="2657475" y="3900000"/>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4" name="TextBox 73"/>
          <p:cNvSpPr txBox="1"/>
          <p:nvPr/>
        </p:nvSpPr>
        <p:spPr>
          <a:xfrm>
            <a:off x="2657475" y="4067640"/>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5" name="Picture 74" descr="lock.png"/>
          <p:cNvPicPr>
            <a:picLocks noChangeAspect="1"/>
          </p:cNvPicPr>
          <p:nvPr/>
        </p:nvPicPr>
        <p:blipFill>
          <a:blip r:embed="rId4"/>
          <a:stretch>
            <a:fillRect/>
          </a:stretch>
        </p:blipFill>
        <p:spPr>
          <a:xfrm>
            <a:off x="3101372" y="4057861"/>
            <a:ext cx="128699" cy="187198"/>
          </a:xfrm>
          <a:prstGeom prst="rect">
            <a:avLst/>
          </a:prstGeom>
        </p:spPr>
      </p:pic>
      <p:sp>
        <p:nvSpPr>
          <p:cNvPr id="76" name="TextBox 75"/>
          <p:cNvSpPr txBox="1"/>
          <p:nvPr/>
        </p:nvSpPr>
        <p:spPr>
          <a:xfrm>
            <a:off x="3268868" y="4067640"/>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77" name="TextBox 76"/>
          <p:cNvSpPr txBox="1"/>
          <p:nvPr/>
        </p:nvSpPr>
        <p:spPr>
          <a:xfrm>
            <a:off x="2657475" y="4235280"/>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78" name="Picture 77" descr="lock.png"/>
          <p:cNvPicPr>
            <a:picLocks noChangeAspect="1"/>
          </p:cNvPicPr>
          <p:nvPr/>
        </p:nvPicPr>
        <p:blipFill>
          <a:blip r:embed="rId4"/>
          <a:stretch>
            <a:fillRect/>
          </a:stretch>
        </p:blipFill>
        <p:spPr>
          <a:xfrm>
            <a:off x="3238070" y="4225501"/>
            <a:ext cx="128699" cy="187198"/>
          </a:xfrm>
          <a:prstGeom prst="rect">
            <a:avLst/>
          </a:prstGeom>
        </p:spPr>
      </p:pic>
      <p:sp>
        <p:nvSpPr>
          <p:cNvPr id="79" name="TextBox 78"/>
          <p:cNvSpPr txBox="1"/>
          <p:nvPr/>
        </p:nvSpPr>
        <p:spPr>
          <a:xfrm>
            <a:off x="3405566" y="423528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0" name="TextBox 79"/>
          <p:cNvSpPr txBox="1"/>
          <p:nvPr/>
        </p:nvSpPr>
        <p:spPr>
          <a:xfrm>
            <a:off x="5038725" y="2841285"/>
            <a:ext cx="2113855" cy="186689"/>
          </a:xfrm>
          <a:prstGeom prst="rect">
            <a:avLst/>
          </a:prstGeom>
          <a:noFill/>
        </p:spPr>
        <p:txBody>
          <a:bodyPr wrap="none" lIns="0" rIns="0" tIns="0" bIns="0">
            <a:spAutoFit/>
          </a:bodyPr>
          <a:lstStyle/>
          <a:p>
            <a:r>
              <a:rPr sz="1100" b="0">
                <a:solidFill>
                  <a:srgbClr val="2E2E2E"/>
                </a:solidFill>
                <a:latin typeface="Calibri"/>
              </a:rPr>
              <a:t>▸ Assessed high. 5 vehicle type lines</a:t>
            </a:r>
          </a:p>
        </p:txBody>
      </p:sp>
      <p:sp>
        <p:nvSpPr>
          <p:cNvPr id="81" name="TextBox 80"/>
          <p:cNvSpPr txBox="1"/>
          <p:nvPr/>
        </p:nvSpPr>
        <p:spPr>
          <a:xfrm>
            <a:off x="5038725" y="3008925"/>
            <a:ext cx="1950690" cy="186689"/>
          </a:xfrm>
          <a:prstGeom prst="rect">
            <a:avLst/>
          </a:prstGeom>
          <a:noFill/>
        </p:spPr>
        <p:txBody>
          <a:bodyPr wrap="none" lIns="0" rIns="0" tIns="0" bIns="0">
            <a:spAutoFit/>
          </a:bodyPr>
          <a:lstStyle/>
          <a:p>
            <a:r>
              <a:rPr sz="1100" b="0">
                <a:solidFill>
                  <a:srgbClr val="2E2E2E"/>
                </a:solidFill>
                <a:latin typeface="Calibri"/>
              </a:rPr>
              <a:t>compete inside the segment; the</a:t>
            </a:r>
          </a:p>
        </p:txBody>
      </p:sp>
      <p:sp>
        <p:nvSpPr>
          <p:cNvPr id="82" name="TextBox 81"/>
          <p:cNvSpPr txBox="1"/>
          <p:nvPr/>
        </p:nvSpPr>
        <p:spPr>
          <a:xfrm>
            <a:off x="5038725" y="3176565"/>
            <a:ext cx="775518" cy="186689"/>
          </a:xfrm>
          <a:prstGeom prst="rect">
            <a:avLst/>
          </a:prstGeom>
          <a:noFill/>
        </p:spPr>
        <p:txBody>
          <a:bodyPr wrap="none" lIns="0" rIns="0" tIns="0" bIns="0">
            <a:spAutoFit/>
          </a:bodyPr>
          <a:lstStyle/>
          <a:p>
            <a:r>
              <a:rPr sz="1100" b="0">
                <a:solidFill>
                  <a:srgbClr val="2E2E2E"/>
                </a:solidFill>
                <a:latin typeface="Calibri"/>
              </a:rPr>
              <a:t>leader holds</a:t>
            </a:r>
          </a:p>
        </p:txBody>
      </p:sp>
      <p:pic>
        <p:nvPicPr>
          <p:cNvPr id="83" name="Picture 82" descr="lock.png"/>
          <p:cNvPicPr>
            <a:picLocks noChangeAspect="1"/>
          </p:cNvPicPr>
          <p:nvPr/>
        </p:nvPicPr>
        <p:blipFill>
          <a:blip r:embed="rId4"/>
          <a:stretch>
            <a:fillRect/>
          </a:stretch>
        </p:blipFill>
        <p:spPr>
          <a:xfrm>
            <a:off x="5762295" y="3166786"/>
            <a:ext cx="128699" cy="187198"/>
          </a:xfrm>
          <a:prstGeom prst="rect">
            <a:avLst/>
          </a:prstGeom>
        </p:spPr>
      </p:pic>
      <p:sp>
        <p:nvSpPr>
          <p:cNvPr id="84" name="TextBox 83"/>
          <p:cNvSpPr txBox="1"/>
          <p:nvPr/>
        </p:nvSpPr>
        <p:spPr>
          <a:xfrm>
            <a:off x="5929790" y="317656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5" name="TextBox 84"/>
          <p:cNvSpPr txBox="1"/>
          <p:nvPr/>
        </p:nvSpPr>
        <p:spPr>
          <a:xfrm>
            <a:off x="5038725" y="3629080"/>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86" name="TextBox 85"/>
          <p:cNvSpPr txBox="1"/>
          <p:nvPr/>
        </p:nvSpPr>
        <p:spPr>
          <a:xfrm>
            <a:off x="5038725" y="3796720"/>
            <a:ext cx="1815355" cy="186689"/>
          </a:xfrm>
          <a:prstGeom prst="rect">
            <a:avLst/>
          </a:prstGeom>
          <a:noFill/>
        </p:spPr>
        <p:txBody>
          <a:bodyPr wrap="none" lIns="0" rIns="0" tIns="0" bIns="0">
            <a:spAutoFit/>
          </a:bodyPr>
          <a:lstStyle/>
          <a:p>
            <a:r>
              <a:rPr sz="1100" b="0">
                <a:solidFill>
                  <a:srgbClr val="2E2E2E"/>
                </a:solidFill>
                <a:latin typeface="Calibri"/>
              </a:rPr>
              <a:t>'Recreational and Powersports</a:t>
            </a:r>
          </a:p>
        </p:txBody>
      </p:sp>
      <p:sp>
        <p:nvSpPr>
          <p:cNvPr id="87" name="TextBox 86"/>
          <p:cNvSpPr txBox="1"/>
          <p:nvPr/>
        </p:nvSpPr>
        <p:spPr>
          <a:xfrm>
            <a:off x="5038725" y="3964360"/>
            <a:ext cx="722585" cy="186689"/>
          </a:xfrm>
          <a:prstGeom prst="rect">
            <a:avLst/>
          </a:prstGeom>
          <a:noFill/>
        </p:spPr>
        <p:txBody>
          <a:bodyPr wrap="none" lIns="0" rIns="0" tIns="0" bIns="0">
            <a:spAutoFit/>
          </a:bodyPr>
          <a:lstStyle/>
          <a:p>
            <a:r>
              <a:rPr sz="1100" b="0">
                <a:solidFill>
                  <a:srgbClr val="2E2E2E"/>
                </a:solidFill>
                <a:latin typeface="Calibri"/>
              </a:rPr>
              <a:t>Vehicles' at</a:t>
            </a:r>
          </a:p>
        </p:txBody>
      </p:sp>
      <p:pic>
        <p:nvPicPr>
          <p:cNvPr id="88" name="Picture 87" descr="lock.png"/>
          <p:cNvPicPr>
            <a:picLocks noChangeAspect="1"/>
          </p:cNvPicPr>
          <p:nvPr/>
        </p:nvPicPr>
        <p:blipFill>
          <a:blip r:embed="rId4"/>
          <a:stretch>
            <a:fillRect/>
          </a:stretch>
        </p:blipFill>
        <p:spPr>
          <a:xfrm>
            <a:off x="5709361" y="3954581"/>
            <a:ext cx="128699" cy="187198"/>
          </a:xfrm>
          <a:prstGeom prst="rect">
            <a:avLst/>
          </a:prstGeom>
        </p:spPr>
      </p:pic>
      <p:sp>
        <p:nvSpPr>
          <p:cNvPr id="89" name="TextBox 88"/>
          <p:cNvSpPr txBox="1"/>
          <p:nvPr/>
        </p:nvSpPr>
        <p:spPr>
          <a:xfrm>
            <a:off x="5876857" y="3964360"/>
            <a:ext cx="1082203" cy="186689"/>
          </a:xfrm>
          <a:prstGeom prst="rect">
            <a:avLst/>
          </a:prstGeom>
          <a:noFill/>
        </p:spPr>
        <p:txBody>
          <a:bodyPr wrap="none" lIns="0" rIns="0" tIns="0" bIns="0">
            <a:spAutoFit/>
          </a:bodyPr>
          <a:lstStyle/>
          <a:p>
            <a:r>
              <a:rPr sz="1100" b="0">
                <a:solidFill>
                  <a:srgbClr val="2E2E2E"/>
                </a:solidFill>
                <a:latin typeface="Calibri"/>
              </a:rPr>
              <a:t>against 'Industrial</a:t>
            </a:r>
          </a:p>
        </p:txBody>
      </p:sp>
      <p:sp>
        <p:nvSpPr>
          <p:cNvPr id="90" name="TextBox 89"/>
          <p:cNvSpPr txBox="1"/>
          <p:nvPr/>
        </p:nvSpPr>
        <p:spPr>
          <a:xfrm>
            <a:off x="5038725" y="4132000"/>
            <a:ext cx="1241276" cy="186689"/>
          </a:xfrm>
          <a:prstGeom prst="rect">
            <a:avLst/>
          </a:prstGeom>
          <a:noFill/>
        </p:spPr>
        <p:txBody>
          <a:bodyPr wrap="none" lIns="0" rIns="0" tIns="0" bIns="0">
            <a:spAutoFit/>
          </a:bodyPr>
          <a:lstStyle/>
          <a:p>
            <a:r>
              <a:rPr sz="1100" b="0">
                <a:solidFill>
                  <a:srgbClr val="2E2E2E"/>
                </a:solidFill>
                <a:latin typeface="Calibri"/>
              </a:rPr>
              <a:t>and Port Vehicles' at</a:t>
            </a:r>
          </a:p>
        </p:txBody>
      </p:sp>
      <p:pic>
        <p:nvPicPr>
          <p:cNvPr id="91" name="Picture 90" descr="lock.png"/>
          <p:cNvPicPr>
            <a:picLocks noChangeAspect="1"/>
          </p:cNvPicPr>
          <p:nvPr/>
        </p:nvPicPr>
        <p:blipFill>
          <a:blip r:embed="rId4"/>
          <a:stretch>
            <a:fillRect/>
          </a:stretch>
        </p:blipFill>
        <p:spPr>
          <a:xfrm>
            <a:off x="6228052" y="4122221"/>
            <a:ext cx="128699" cy="187198"/>
          </a:xfrm>
          <a:prstGeom prst="rect">
            <a:avLst/>
          </a:prstGeom>
        </p:spPr>
      </p:pic>
      <p:sp>
        <p:nvSpPr>
          <p:cNvPr id="92" name="TextBox 91"/>
          <p:cNvSpPr txBox="1"/>
          <p:nvPr/>
        </p:nvSpPr>
        <p:spPr>
          <a:xfrm>
            <a:off x="6395548" y="413200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3" name="TextBox 92"/>
          <p:cNvSpPr txBox="1"/>
          <p:nvPr/>
        </p:nvSpPr>
        <p:spPr>
          <a:xfrm>
            <a:off x="5038725" y="4584514"/>
            <a:ext cx="2114550" cy="186689"/>
          </a:xfrm>
          <a:prstGeom prst="rect">
            <a:avLst/>
          </a:prstGeom>
          <a:noFill/>
        </p:spPr>
        <p:txBody>
          <a:bodyPr wrap="none" lIns="0" rIns="0" tIns="0" bIns="0">
            <a:spAutoFit/>
          </a:bodyPr>
          <a:lstStyle/>
          <a:p>
            <a:r>
              <a:rPr sz="1100" b="0">
                <a:solidFill>
                  <a:srgbClr val="2E2E2E"/>
                </a:solidFill>
                <a:latin typeface="Calibri"/>
              </a:rPr>
              <a:t>▸ 4 of 7 regions grow at or above the</a:t>
            </a:r>
          </a:p>
        </p:txBody>
      </p:sp>
      <p:pic>
        <p:nvPicPr>
          <p:cNvPr id="94" name="Picture 93" descr="lock.png"/>
          <p:cNvPicPr>
            <a:picLocks noChangeAspect="1"/>
          </p:cNvPicPr>
          <p:nvPr/>
        </p:nvPicPr>
        <p:blipFill>
          <a:blip r:embed="rId4"/>
          <a:stretch>
            <a:fillRect/>
          </a:stretch>
        </p:blipFill>
        <p:spPr>
          <a:xfrm>
            <a:off x="5025257" y="4742375"/>
            <a:ext cx="128699" cy="187198"/>
          </a:xfrm>
          <a:prstGeom prst="rect">
            <a:avLst/>
          </a:prstGeom>
        </p:spPr>
      </p:pic>
      <p:sp>
        <p:nvSpPr>
          <p:cNvPr id="95" name="TextBox 94"/>
          <p:cNvSpPr txBox="1"/>
          <p:nvPr/>
        </p:nvSpPr>
        <p:spPr>
          <a:xfrm>
            <a:off x="5192753" y="4752154"/>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6" name="TextBox 95"/>
          <p:cNvSpPr txBox="1"/>
          <p:nvPr/>
        </p:nvSpPr>
        <p:spPr>
          <a:xfrm>
            <a:off x="5038725" y="4919794"/>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97" name="TextBox 96"/>
          <p:cNvSpPr txBox="1"/>
          <p:nvPr/>
        </p:nvSpPr>
        <p:spPr>
          <a:xfrm>
            <a:off x="7419975" y="2952014"/>
            <a:ext cx="1822177" cy="186689"/>
          </a:xfrm>
          <a:prstGeom prst="rect">
            <a:avLst/>
          </a:prstGeom>
          <a:noFill/>
        </p:spPr>
        <p:txBody>
          <a:bodyPr wrap="none" lIns="0" rIns="0" tIns="0" bIns="0">
            <a:spAutoFit/>
          </a:bodyPr>
          <a:lstStyle/>
          <a:p>
            <a:r>
              <a:rPr sz="1100" b="0">
                <a:solidFill>
                  <a:srgbClr val="2E2E2E"/>
                </a:solidFill>
                <a:latin typeface="Calibri"/>
              </a:rPr>
              <a:t>▸ Assessed moderate. 'Military</a:t>
            </a:r>
          </a:p>
        </p:txBody>
      </p:sp>
      <p:sp>
        <p:nvSpPr>
          <p:cNvPr id="98" name="TextBox 97"/>
          <p:cNvSpPr txBox="1"/>
          <p:nvPr/>
        </p:nvSpPr>
        <p:spPr>
          <a:xfrm>
            <a:off x="7419975" y="3119654"/>
            <a:ext cx="893390" cy="186689"/>
          </a:xfrm>
          <a:prstGeom prst="rect">
            <a:avLst/>
          </a:prstGeom>
          <a:noFill/>
        </p:spPr>
        <p:txBody>
          <a:bodyPr wrap="none" lIns="0" rIns="0" tIns="0" bIns="0">
            <a:spAutoFit/>
          </a:bodyPr>
          <a:lstStyle/>
          <a:p>
            <a:r>
              <a:rPr sz="1100" b="0">
                <a:solidFill>
                  <a:srgbClr val="2E2E2E"/>
                </a:solidFill>
                <a:latin typeface="Calibri"/>
              </a:rPr>
              <a:t>Vehicles' loses</a:t>
            </a:r>
          </a:p>
        </p:txBody>
      </p:sp>
      <p:pic>
        <p:nvPicPr>
          <p:cNvPr id="99" name="Picture 98" descr="lock.png"/>
          <p:cNvPicPr>
            <a:picLocks noChangeAspect="1"/>
          </p:cNvPicPr>
          <p:nvPr/>
        </p:nvPicPr>
        <p:blipFill>
          <a:blip r:embed="rId4"/>
          <a:stretch>
            <a:fillRect/>
          </a:stretch>
        </p:blipFill>
        <p:spPr>
          <a:xfrm>
            <a:off x="8261417" y="3109875"/>
            <a:ext cx="128699" cy="187198"/>
          </a:xfrm>
          <a:prstGeom prst="rect">
            <a:avLst/>
          </a:prstGeom>
        </p:spPr>
      </p:pic>
      <p:sp>
        <p:nvSpPr>
          <p:cNvPr id="100" name="TextBox 99"/>
          <p:cNvSpPr txBox="1"/>
          <p:nvPr/>
        </p:nvSpPr>
        <p:spPr>
          <a:xfrm>
            <a:off x="8428912" y="3119654"/>
            <a:ext cx="933772" cy="186689"/>
          </a:xfrm>
          <a:prstGeom prst="rect">
            <a:avLst/>
          </a:prstGeom>
          <a:noFill/>
        </p:spPr>
        <p:txBody>
          <a:bodyPr wrap="none" lIns="0" rIns="0" tIns="0" bIns="0">
            <a:spAutoFit/>
          </a:bodyPr>
          <a:lstStyle/>
          <a:p>
            <a:r>
              <a:rPr sz="1100" b="0">
                <a:solidFill>
                  <a:srgbClr val="2E2E2E"/>
                </a:solidFill>
                <a:latin typeface="Calibri"/>
              </a:rPr>
              <a:t>BPS of share to</a:t>
            </a:r>
          </a:p>
        </p:txBody>
      </p:sp>
      <p:sp>
        <p:nvSpPr>
          <p:cNvPr id="101" name="TextBox 100"/>
          <p:cNvSpPr txBox="1"/>
          <p:nvPr/>
        </p:nvSpPr>
        <p:spPr>
          <a:xfrm>
            <a:off x="7419975" y="3287294"/>
            <a:ext cx="1815355" cy="186689"/>
          </a:xfrm>
          <a:prstGeom prst="rect">
            <a:avLst/>
          </a:prstGeom>
          <a:noFill/>
        </p:spPr>
        <p:txBody>
          <a:bodyPr wrap="none" lIns="0" rIns="0" tIns="0" bIns="0">
            <a:spAutoFit/>
          </a:bodyPr>
          <a:lstStyle/>
          <a:p>
            <a:r>
              <a:rPr sz="1100" b="0">
                <a:solidFill>
                  <a:srgbClr val="2E2E2E"/>
                </a:solidFill>
                <a:latin typeface="Calibri"/>
              </a:rPr>
              <a:t>'Recreational and Powersports</a:t>
            </a:r>
          </a:p>
        </p:txBody>
      </p:sp>
      <p:sp>
        <p:nvSpPr>
          <p:cNvPr id="102" name="TextBox 101"/>
          <p:cNvSpPr txBox="1"/>
          <p:nvPr/>
        </p:nvSpPr>
        <p:spPr>
          <a:xfrm>
            <a:off x="7419975" y="3454934"/>
            <a:ext cx="720675" cy="186689"/>
          </a:xfrm>
          <a:prstGeom prst="rect">
            <a:avLst/>
          </a:prstGeom>
          <a:noFill/>
        </p:spPr>
        <p:txBody>
          <a:bodyPr wrap="none" lIns="0" rIns="0" tIns="0" bIns="0">
            <a:spAutoFit/>
          </a:bodyPr>
          <a:lstStyle/>
          <a:p>
            <a:r>
              <a:rPr sz="1100" b="0">
                <a:solidFill>
                  <a:srgbClr val="2E2E2E"/>
                </a:solidFill>
                <a:latin typeface="Calibri"/>
              </a:rPr>
              <a:t>Vehicles' (+</a:t>
            </a:r>
          </a:p>
        </p:txBody>
      </p:sp>
      <p:pic>
        <p:nvPicPr>
          <p:cNvPr id="103" name="Picture 102" descr="lock.png"/>
          <p:cNvPicPr>
            <a:picLocks noChangeAspect="1"/>
          </p:cNvPicPr>
          <p:nvPr/>
        </p:nvPicPr>
        <p:blipFill>
          <a:blip r:embed="rId4"/>
          <a:stretch>
            <a:fillRect/>
          </a:stretch>
        </p:blipFill>
        <p:spPr>
          <a:xfrm>
            <a:off x="8088701" y="3445155"/>
            <a:ext cx="128699" cy="187198"/>
          </a:xfrm>
          <a:prstGeom prst="rect">
            <a:avLst/>
          </a:prstGeom>
        </p:spPr>
      </p:pic>
      <p:sp>
        <p:nvSpPr>
          <p:cNvPr id="104" name="TextBox 103"/>
          <p:cNvSpPr txBox="1"/>
          <p:nvPr/>
        </p:nvSpPr>
        <p:spPr>
          <a:xfrm>
            <a:off x="8256197" y="3454934"/>
            <a:ext cx="814809" cy="186689"/>
          </a:xfrm>
          <a:prstGeom prst="rect">
            <a:avLst/>
          </a:prstGeom>
          <a:noFill/>
        </p:spPr>
        <p:txBody>
          <a:bodyPr wrap="none" lIns="0" rIns="0" tIns="0" bIns="0">
            <a:spAutoFit/>
          </a:bodyPr>
          <a:lstStyle/>
          <a:p>
            <a:r>
              <a:rPr sz="1100" b="0">
                <a:solidFill>
                  <a:srgbClr val="2E2E2E"/>
                </a:solidFill>
                <a:latin typeface="Calibri"/>
              </a:rPr>
              <a:t>BPS) by 2036</a:t>
            </a:r>
          </a:p>
        </p:txBody>
      </p:sp>
      <p:sp>
        <p:nvSpPr>
          <p:cNvPr id="105" name="TextBox 104"/>
          <p:cNvSpPr txBox="1"/>
          <p:nvPr/>
        </p:nvSpPr>
        <p:spPr>
          <a:xfrm>
            <a:off x="7419975" y="3622574"/>
            <a:ext cx="2114550" cy="186689"/>
          </a:xfrm>
          <a:prstGeom prst="rect">
            <a:avLst/>
          </a:prstGeom>
          <a:noFill/>
        </p:spPr>
        <p:txBody>
          <a:bodyPr wrap="none" lIns="0" rIns="0" tIns="0" bIns="0">
            <a:spAutoFit/>
          </a:bodyPr>
          <a:lstStyle/>
          <a:p>
            <a:r>
              <a:rPr sz="1100" b="0">
                <a:solidFill>
                  <a:srgbClr val="2E2E2E"/>
                </a:solidFill>
                <a:latin typeface="Calibri"/>
              </a:rPr>
              <a:t>substitution is visible inside the mix.</a:t>
            </a:r>
          </a:p>
        </p:txBody>
      </p:sp>
      <p:sp>
        <p:nvSpPr>
          <p:cNvPr id="106" name="TextBox 105"/>
          <p:cNvSpPr txBox="1"/>
          <p:nvPr/>
        </p:nvSpPr>
        <p:spPr>
          <a:xfrm>
            <a:off x="7419975" y="4077231"/>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07" name="Picture 106" descr="lock.png"/>
          <p:cNvPicPr>
            <a:picLocks noChangeAspect="1"/>
          </p:cNvPicPr>
          <p:nvPr/>
        </p:nvPicPr>
        <p:blipFill>
          <a:blip r:embed="rId4"/>
          <a:stretch>
            <a:fillRect/>
          </a:stretch>
        </p:blipFill>
        <p:spPr>
          <a:xfrm>
            <a:off x="8917440" y="4067843"/>
            <a:ext cx="123551" cy="179710"/>
          </a:xfrm>
          <a:prstGeom prst="rect">
            <a:avLst/>
          </a:prstGeom>
        </p:spPr>
      </p:pic>
      <p:sp>
        <p:nvSpPr>
          <p:cNvPr id="108" name="TextBox 107"/>
          <p:cNvSpPr txBox="1"/>
          <p:nvPr/>
        </p:nvSpPr>
        <p:spPr>
          <a:xfrm>
            <a:off x="9078236" y="4077231"/>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09" name="Picture 108" descr="lock.png"/>
          <p:cNvPicPr>
            <a:picLocks noChangeAspect="1"/>
          </p:cNvPicPr>
          <p:nvPr/>
        </p:nvPicPr>
        <p:blipFill>
          <a:blip r:embed="rId4"/>
          <a:stretch>
            <a:fillRect/>
          </a:stretch>
        </p:blipFill>
        <p:spPr>
          <a:xfrm>
            <a:off x="9206555" y="4067843"/>
            <a:ext cx="123551" cy="179710"/>
          </a:xfrm>
          <a:prstGeom prst="rect">
            <a:avLst/>
          </a:prstGeom>
        </p:spPr>
      </p:pic>
      <p:sp>
        <p:nvSpPr>
          <p:cNvPr id="110" name="TextBox 109"/>
          <p:cNvSpPr txBox="1"/>
          <p:nvPr/>
        </p:nvSpPr>
        <p:spPr>
          <a:xfrm>
            <a:off x="7419975" y="4238165"/>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1" name="TextBox 110"/>
          <p:cNvSpPr txBox="1"/>
          <p:nvPr/>
        </p:nvSpPr>
        <p:spPr>
          <a:xfrm>
            <a:off x="7419975" y="4575387"/>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2" name="Picture 111" descr="lock.png"/>
          <p:cNvPicPr>
            <a:picLocks noChangeAspect="1"/>
          </p:cNvPicPr>
          <p:nvPr/>
        </p:nvPicPr>
        <p:blipFill>
          <a:blip r:embed="rId4"/>
          <a:stretch>
            <a:fillRect/>
          </a:stretch>
        </p:blipFill>
        <p:spPr>
          <a:xfrm>
            <a:off x="8622399" y="4565608"/>
            <a:ext cx="128699" cy="187198"/>
          </a:xfrm>
          <a:prstGeom prst="rect">
            <a:avLst/>
          </a:prstGeom>
        </p:spPr>
      </p:pic>
      <p:sp>
        <p:nvSpPr>
          <p:cNvPr id="113" name="TextBox 112"/>
          <p:cNvSpPr txBox="1"/>
          <p:nvPr/>
        </p:nvSpPr>
        <p:spPr>
          <a:xfrm>
            <a:off x="8789895" y="4575387"/>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4" name="TextBox 113"/>
          <p:cNvSpPr txBox="1"/>
          <p:nvPr/>
        </p:nvSpPr>
        <p:spPr>
          <a:xfrm>
            <a:off x="7419975" y="4743027"/>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5" name="TextBox 114"/>
          <p:cNvSpPr txBox="1"/>
          <p:nvPr/>
        </p:nvSpPr>
        <p:spPr>
          <a:xfrm>
            <a:off x="7419975" y="4910667"/>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6" name="TextBox 115"/>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17" name="TextBox 116"/>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18" name="Picture 117" descr="lock.png"/>
          <p:cNvPicPr>
            <a:picLocks noChangeAspect="1"/>
          </p:cNvPicPr>
          <p:nvPr/>
        </p:nvPicPr>
        <p:blipFill>
          <a:blip r:embed="rId4"/>
          <a:stretch>
            <a:fillRect/>
          </a:stretch>
        </p:blipFill>
        <p:spPr>
          <a:xfrm>
            <a:off x="10752626" y="3006595"/>
            <a:ext cx="128699" cy="187198"/>
          </a:xfrm>
          <a:prstGeom prst="rect">
            <a:avLst/>
          </a:prstGeom>
        </p:spPr>
      </p:pic>
      <p:sp>
        <p:nvSpPr>
          <p:cNvPr id="119" name="TextBox 118"/>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0" name="Picture 119" descr="lock.png"/>
          <p:cNvPicPr>
            <a:picLocks noChangeAspect="1"/>
          </p:cNvPicPr>
          <p:nvPr/>
        </p:nvPicPr>
        <p:blipFill>
          <a:blip r:embed="rId4"/>
          <a:stretch>
            <a:fillRect/>
          </a:stretch>
        </p:blipFill>
        <p:spPr>
          <a:xfrm>
            <a:off x="9787757" y="3174235"/>
            <a:ext cx="128699" cy="187198"/>
          </a:xfrm>
          <a:prstGeom prst="rect">
            <a:avLst/>
          </a:prstGeom>
        </p:spPr>
      </p:pic>
      <p:sp>
        <p:nvSpPr>
          <p:cNvPr id="121" name="TextBox 120"/>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2" name="TextBox 121"/>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3" name="TextBox 122"/>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7 regions</a:t>
            </a:r>
          </a:p>
        </p:txBody>
      </p:sp>
      <p:sp>
        <p:nvSpPr>
          <p:cNvPr id="124" name="TextBox 123"/>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5" name="Picture 124" descr="lock.png"/>
          <p:cNvPicPr>
            <a:picLocks noChangeAspect="1"/>
          </p:cNvPicPr>
          <p:nvPr/>
        </p:nvPicPr>
        <p:blipFill>
          <a:blip r:embed="rId4"/>
          <a:stretch>
            <a:fillRect/>
          </a:stretch>
        </p:blipFill>
        <p:spPr>
          <a:xfrm>
            <a:off x="11242394" y="3866197"/>
            <a:ext cx="128699" cy="187198"/>
          </a:xfrm>
          <a:prstGeom prst="rect">
            <a:avLst/>
          </a:prstGeom>
        </p:spPr>
      </p:pic>
      <p:sp>
        <p:nvSpPr>
          <p:cNvPr id="126" name="TextBox 125"/>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27" name="TextBox 126"/>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28" name="TextBox 127"/>
          <p:cNvSpPr txBox="1"/>
          <p:nvPr/>
        </p:nvSpPr>
        <p:spPr>
          <a:xfrm>
            <a:off x="9801225" y="4496131"/>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29" name="TextBox 128"/>
          <p:cNvSpPr txBox="1"/>
          <p:nvPr/>
        </p:nvSpPr>
        <p:spPr>
          <a:xfrm>
            <a:off x="9801225" y="4663771"/>
            <a:ext cx="1756419" cy="186689"/>
          </a:xfrm>
          <a:prstGeom prst="rect">
            <a:avLst/>
          </a:prstGeom>
          <a:noFill/>
        </p:spPr>
        <p:txBody>
          <a:bodyPr wrap="none" lIns="0" rIns="0" tIns="0" bIns="0">
            <a:spAutoFit/>
          </a:bodyPr>
          <a:lstStyle/>
          <a:p>
            <a:r>
              <a:rPr sz="1100" b="0">
                <a:solidFill>
                  <a:srgbClr val="2E2E2E"/>
                </a:solidFill>
                <a:latin typeface="Calibri"/>
              </a:rPr>
              <a:t>and 'Construction and Mining</a:t>
            </a:r>
          </a:p>
        </p:txBody>
      </p:sp>
      <p:sp>
        <p:nvSpPr>
          <p:cNvPr id="130" name="TextBox 129"/>
          <p:cNvSpPr txBox="1"/>
          <p:nvPr/>
        </p:nvSpPr>
        <p:spPr>
          <a:xfrm>
            <a:off x="9801225" y="4831411"/>
            <a:ext cx="651098" cy="186689"/>
          </a:xfrm>
          <a:prstGeom prst="rect">
            <a:avLst/>
          </a:prstGeom>
          <a:noFill/>
        </p:spPr>
        <p:txBody>
          <a:bodyPr wrap="none" lIns="0" rIns="0" tIns="0" bIns="0">
            <a:spAutoFit/>
          </a:bodyPr>
          <a:lstStyle/>
          <a:p>
            <a:r>
              <a:rPr sz="1100" b="0">
                <a:solidFill>
                  <a:srgbClr val="2E2E2E"/>
                </a:solidFill>
                <a:latin typeface="Calibri"/>
              </a:rPr>
              <a:t>Vehicles' (</a:t>
            </a:r>
          </a:p>
        </p:txBody>
      </p:sp>
      <p:pic>
        <p:nvPicPr>
          <p:cNvPr id="131" name="Picture 130" descr="lock.png"/>
          <p:cNvPicPr>
            <a:picLocks noChangeAspect="1"/>
          </p:cNvPicPr>
          <p:nvPr/>
        </p:nvPicPr>
        <p:blipFill>
          <a:blip r:embed="rId4"/>
          <a:stretch>
            <a:fillRect/>
          </a:stretch>
        </p:blipFill>
        <p:spPr>
          <a:xfrm>
            <a:off x="10400374" y="4821632"/>
            <a:ext cx="128699" cy="187198"/>
          </a:xfrm>
          <a:prstGeom prst="rect">
            <a:avLst/>
          </a:prstGeom>
        </p:spPr>
      </p:pic>
      <p:sp>
        <p:nvSpPr>
          <p:cNvPr id="132" name="TextBox 131"/>
          <p:cNvSpPr txBox="1"/>
          <p:nvPr/>
        </p:nvSpPr>
        <p:spPr>
          <a:xfrm>
            <a:off x="10567870" y="4831411"/>
            <a:ext cx="1246460" cy="186689"/>
          </a:xfrm>
          <a:prstGeom prst="rect">
            <a:avLst/>
          </a:prstGeom>
          <a:noFill/>
        </p:spPr>
        <p:txBody>
          <a:bodyPr wrap="none" lIns="0" rIns="0" tIns="0" bIns="0">
            <a:spAutoFit/>
          </a:bodyPr>
          <a:lstStyle/>
          <a:p>
            <a:r>
              <a:rPr sz="1100" b="0">
                <a:solidFill>
                  <a:srgbClr val="2E2E2E"/>
                </a:solidFill>
                <a:latin typeface="Calibri"/>
              </a:rPr>
              <a:t>of segment) remains</a:t>
            </a:r>
          </a:p>
        </p:txBody>
      </p:sp>
      <p:sp>
        <p:nvSpPr>
          <p:cNvPr id="133" name="TextBox 132"/>
          <p:cNvSpPr txBox="1"/>
          <p:nvPr/>
        </p:nvSpPr>
        <p:spPr>
          <a:xfrm>
            <a:off x="9801225" y="4999051"/>
            <a:ext cx="1244823" cy="186689"/>
          </a:xfrm>
          <a:prstGeom prst="rect">
            <a:avLst/>
          </a:prstGeom>
          <a:noFill/>
        </p:spPr>
        <p:txBody>
          <a:bodyPr wrap="none" lIns="0" rIns="0" tIns="0" bIns="0">
            <a:spAutoFit/>
          </a:bodyPr>
          <a:lstStyle/>
          <a:p>
            <a:r>
              <a:rPr sz="1100" b="0">
                <a:solidFill>
                  <a:srgbClr val="2E2E2E"/>
                </a:solidFill>
                <a:latin typeface="Calibri"/>
              </a:rPr>
              <a:t>the principal barrier.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TMR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35280" y="198120"/>
            <a:ext cx="1459992" cy="112790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411480" y="274320"/>
            <a:ext cx="1307592" cy="975505"/>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Off-Highway Vehicle Market</a:t>
            </a:r>
          </a:p>
        </p:txBody>
      </p:sp>
      <p:sp>
        <p:nvSpPr>
          <p:cNvPr id="6" name="TMR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Transparency Market Research, All Rights Reserved</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Advice for Market Vendors / Suppliers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Off-Highway Vehicle Market.</a:t>
            </a:r>
          </a:p>
        </p:txBody>
      </p:sp>
      <p:sp>
        <p:nvSpPr>
          <p:cNvPr id="8" name="Rounded Rectangle 7"/>
          <p:cNvSpPr/>
          <p:nvPr/>
        </p:nvSpPr>
        <p:spPr>
          <a:xfrm>
            <a:off x="142875"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Pricing &amp; Margin Strategy</a:t>
            </a:r>
          </a:p>
        </p:txBody>
      </p:sp>
      <p:sp>
        <p:nvSpPr>
          <p:cNvPr id="10" name="Rectangle 9"/>
          <p:cNvSpPr/>
          <p:nvPr/>
        </p:nvSpPr>
        <p:spPr>
          <a:xfrm>
            <a:off x="276225"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2" name="Rounded Rectangle 11"/>
          <p:cNvSpPr/>
          <p:nvPr/>
        </p:nvSpPr>
        <p:spPr>
          <a:xfrm>
            <a:off x="6191250" y="1354081"/>
            <a:ext cx="5857875" cy="2601152"/>
          </a:xfrm>
          <a:prstGeom prst="roundRect">
            <a:avLst>
              <a:gd name="adj" fmla="val 29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E2A5C"/>
                </a:solidFill>
                <a:latin typeface="Calibri"/>
              </a:rPr>
              <a:t>Product &amp; Innovation</a:t>
            </a:r>
          </a:p>
        </p:txBody>
      </p:sp>
      <p:sp>
        <p:nvSpPr>
          <p:cNvPr id="14" name="Rectangle 13"/>
          <p:cNvSpPr/>
          <p:nvPr/>
        </p:nvSpPr>
        <p:spPr>
          <a:xfrm>
            <a:off x="6324600" y="1677931"/>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6" name="Rounded Rectangle 15"/>
          <p:cNvSpPr/>
          <p:nvPr/>
        </p:nvSpPr>
        <p:spPr>
          <a:xfrm>
            <a:off x="142875"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Geographic &amp; Channel Expansion</a:t>
            </a:r>
          </a:p>
        </p:txBody>
      </p:sp>
      <p:sp>
        <p:nvSpPr>
          <p:cNvPr id="18" name="Rectangle 17"/>
          <p:cNvSpPr/>
          <p:nvPr/>
        </p:nvSpPr>
        <p:spPr>
          <a:xfrm>
            <a:off x="276225"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2A5F8F"/>
                </a:solidFill>
                <a:latin typeface="Calibri"/>
              </a:rPr>
              <a:t>▪  </a:t>
            </a:r>
            <a:r>
              <a:rPr sz="1150" b="0">
                <a:solidFill>
                  <a:srgbClr val="2E2E2E"/>
                </a:solidFill>
                <a:latin typeface="Calibri"/>
              </a:rPr>
              <a:t>Build reliable distribution and logistics partnerships to convert demand into fulfilled volume.</a:t>
            </a:r>
          </a:p>
        </p:txBody>
      </p:sp>
      <p:sp>
        <p:nvSpPr>
          <p:cNvPr id="20" name="Rounded Rectangle 19"/>
          <p:cNvSpPr/>
          <p:nvPr/>
        </p:nvSpPr>
        <p:spPr>
          <a:xfrm>
            <a:off x="6191250" y="4046502"/>
            <a:ext cx="5857875" cy="2509883"/>
          </a:xfrm>
          <a:prstGeom prst="roundRect">
            <a:avLst>
              <a:gd name="adj" fmla="val 303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E2A5C"/>
                </a:solidFill>
                <a:latin typeface="Calibri"/>
              </a:rPr>
              <a:t>Competitive &amp; Risk Positioning</a:t>
            </a:r>
          </a:p>
        </p:txBody>
      </p:sp>
      <p:sp>
        <p:nvSpPr>
          <p:cNvPr id="22" name="Rectangle 21"/>
          <p:cNvSpPr/>
          <p:nvPr/>
        </p:nvSpPr>
        <p:spPr>
          <a:xfrm>
            <a:off x="6324600" y="4370352"/>
            <a:ext cx="5591175"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4" name="Rectangle 23"/>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6" name="TextBox 25"/>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7" name="Picture 26" descr="lock.png"/>
          <p:cNvPicPr>
            <a:picLocks noChangeAspect="1"/>
          </p:cNvPicPr>
          <p:nvPr/>
        </p:nvPicPr>
        <p:blipFill>
          <a:blip r:embed="rId4"/>
          <a:stretch>
            <a:fillRect/>
          </a:stretch>
        </p:blipFill>
        <p:spPr>
          <a:xfrm>
            <a:off x="3460765" y="1762957"/>
            <a:ext cx="134549" cy="195707"/>
          </a:xfrm>
          <a:prstGeom prst="rect">
            <a:avLst/>
          </a:prstGeom>
        </p:spPr>
      </p:pic>
      <p:sp>
        <p:nvSpPr>
          <p:cNvPr id="28" name="TextBox 27"/>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29" name="TextBox 28"/>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0" name="TextBox 29"/>
          <p:cNvSpPr txBox="1"/>
          <p:nvPr/>
        </p:nvSpPr>
        <p:spPr>
          <a:xfrm>
            <a:off x="276225" y="2176279"/>
            <a:ext cx="5487181"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'Construction and Mining Vehicles') to</a:t>
            </a:r>
          </a:p>
        </p:txBody>
      </p:sp>
      <p:sp>
        <p:nvSpPr>
          <p:cNvPr id="31" name="TextBox 30"/>
          <p:cNvSpPr txBox="1"/>
          <p:nvPr/>
        </p:nvSpPr>
        <p:spPr>
          <a:xfrm>
            <a:off x="276225" y="2351539"/>
            <a:ext cx="3419375" cy="194310"/>
          </a:xfrm>
          <a:prstGeom prst="rect">
            <a:avLst/>
          </a:prstGeom>
          <a:noFill/>
        </p:spPr>
        <p:txBody>
          <a:bodyPr wrap="none" lIns="0" rIns="0" tIns="0" bIns="0">
            <a:spAutoFit/>
          </a:bodyPr>
          <a:lstStyle/>
          <a:p>
            <a:r>
              <a:rPr sz="1150" b="0">
                <a:solidFill>
                  <a:srgbClr val="2E2E2E"/>
                </a:solidFill>
                <a:latin typeface="Calibri"/>
              </a:rPr>
              <a:t>lift blended ASP and defend margin as input costs move.</a:t>
            </a:r>
          </a:p>
        </p:txBody>
      </p:sp>
      <p:sp>
        <p:nvSpPr>
          <p:cNvPr id="32" name="TextBox 31"/>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3" name="TextBox 32"/>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4" name="TextBox 33"/>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5" name="Picture 34" descr="lock.png"/>
          <p:cNvPicPr>
            <a:picLocks noChangeAspect="1"/>
          </p:cNvPicPr>
          <p:nvPr/>
        </p:nvPicPr>
        <p:blipFill>
          <a:blip r:embed="rId4"/>
          <a:stretch>
            <a:fillRect/>
          </a:stretch>
        </p:blipFill>
        <p:spPr>
          <a:xfrm>
            <a:off x="7934254" y="1938217"/>
            <a:ext cx="134549" cy="195707"/>
          </a:xfrm>
          <a:prstGeom prst="rect">
            <a:avLst/>
          </a:prstGeom>
        </p:spPr>
      </p:pic>
      <p:sp>
        <p:nvSpPr>
          <p:cNvPr id="36" name="TextBox 35"/>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7" name="TextBox 36"/>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38" name="TextBox 37"/>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39" name="TextBox 38"/>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0" name="TextBox 39"/>
          <p:cNvSpPr txBox="1"/>
          <p:nvPr/>
        </p:nvSpPr>
        <p:spPr>
          <a:xfrm>
            <a:off x="6324600" y="4465602"/>
            <a:ext cx="2867124" cy="194310"/>
          </a:xfrm>
          <a:prstGeom prst="rect">
            <a:avLst/>
          </a:prstGeom>
          <a:noFill/>
        </p:spPr>
        <p:txBody>
          <a:bodyPr wrap="none" lIns="0" rIns="0" tIns="0" bIns="0">
            <a:spAutoFit/>
          </a:bodyPr>
          <a:lstStyle/>
          <a:p>
            <a:r>
              <a:rPr sz="1150" b="0">
                <a:solidFill>
                  <a:srgbClr val="2E2E2E"/>
                </a:solidFill>
                <a:latin typeface="Calibri"/>
              </a:rPr>
              <a:t>▪ Benchmark relentlessly against 'Caterpillar' (~</a:t>
            </a:r>
          </a:p>
        </p:txBody>
      </p:sp>
      <p:pic>
        <p:nvPicPr>
          <p:cNvPr id="41" name="Picture 40" descr="lock.png"/>
          <p:cNvPicPr>
            <a:picLocks noChangeAspect="1"/>
          </p:cNvPicPr>
          <p:nvPr/>
        </p:nvPicPr>
        <p:blipFill>
          <a:blip r:embed="rId4"/>
          <a:stretch>
            <a:fillRect/>
          </a:stretch>
        </p:blipFill>
        <p:spPr>
          <a:xfrm>
            <a:off x="9140878" y="4455378"/>
            <a:ext cx="134549" cy="195707"/>
          </a:xfrm>
          <a:prstGeom prst="rect">
            <a:avLst/>
          </a:prstGeom>
        </p:spPr>
      </p:pic>
      <p:sp>
        <p:nvSpPr>
          <p:cNvPr id="42" name="TextBox 41"/>
          <p:cNvSpPr txBox="1"/>
          <p:nvPr/>
        </p:nvSpPr>
        <p:spPr>
          <a:xfrm>
            <a:off x="9315987"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3" name="TextBox 42"/>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4" name="TextBox 43"/>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5" name="TextBox 44"/>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6" name="TextBox 45"/>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7" name="TextBox 46"/>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Company Value Share (Global)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8" name="Rounded Rectangle 7"/>
          <p:cNvSpPr/>
          <p:nvPr/>
        </p:nvSpPr>
        <p:spPr>
          <a:xfrm>
            <a:off x="142875" y="1354081"/>
            <a:ext cx="7543800" cy="5220558"/>
          </a:xfrm>
          <a:prstGeom prst="roundRect">
            <a:avLst>
              <a:gd name="adj" fmla="val 145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0" name="Chart 9"/>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1" name="TextBox 10"/>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100% =</a:t>
            </a:r>
          </a:p>
          <a:p>
            <a:pPr algn="ctr"/>
            <a:r>
              <a:rPr sz="1300" b="1">
                <a:solidFill>
                  <a:srgbClr val="2E2E2E"/>
                </a:solidFill>
                <a:latin typeface="Calibri"/>
              </a:rPr>
              <a:t>959,300 US$ Mn</a:t>
            </a:r>
          </a:p>
        </p:txBody>
      </p:sp>
      <p:sp>
        <p:nvSpPr>
          <p:cNvPr id="12" name="Rounded Rectangle 11"/>
          <p:cNvSpPr/>
          <p:nvPr/>
        </p:nvSpPr>
        <p:spPr>
          <a:xfrm>
            <a:off x="7800975" y="1354081"/>
            <a:ext cx="4248150" cy="5220558"/>
          </a:xfrm>
          <a:prstGeom prst="roundRect">
            <a:avLst>
              <a:gd name="adj" fmla="val 179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14" name="Rectangle 13"/>
          <p:cNvSpPr/>
          <p:nvPr/>
        </p:nvSpPr>
        <p:spPr>
          <a:xfrm>
            <a:off x="7934325" y="1677931"/>
            <a:ext cx="39814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6" name="Rectangle 1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8" name="Picture 17" descr="lock.png"/>
          <p:cNvPicPr>
            <a:picLocks noChangeAspect="1"/>
          </p:cNvPicPr>
          <p:nvPr/>
        </p:nvPicPr>
        <p:blipFill>
          <a:blip r:embed="rId5"/>
          <a:stretch>
            <a:fillRect/>
          </a:stretch>
        </p:blipFill>
        <p:spPr>
          <a:xfrm>
            <a:off x="2533173" y="3678610"/>
            <a:ext cx="523875" cy="762000"/>
          </a:xfrm>
          <a:prstGeom prst="rect">
            <a:avLst/>
          </a:prstGeom>
        </p:spPr>
      </p:pic>
      <p:sp>
        <p:nvSpPr>
          <p:cNvPr id="19" name="TextBox 18"/>
          <p:cNvSpPr txBox="1"/>
          <p:nvPr/>
        </p:nvSpPr>
        <p:spPr>
          <a:xfrm>
            <a:off x="7934325" y="1773181"/>
            <a:ext cx="3363466" cy="194310"/>
          </a:xfrm>
          <a:prstGeom prst="rect">
            <a:avLst/>
          </a:prstGeom>
          <a:noFill/>
        </p:spPr>
        <p:txBody>
          <a:bodyPr wrap="none" lIns="0" rIns="0" tIns="0" bIns="0">
            <a:spAutoFit/>
          </a:bodyPr>
          <a:lstStyle/>
          <a:p>
            <a:r>
              <a:rPr sz="1150" b="0">
                <a:solidFill>
                  <a:srgbClr val="2E2E2E"/>
                </a:solidFill>
                <a:latin typeface="Calibri"/>
              </a:rPr>
              <a:t>Caterpillar accounted for the largest share of the global</a:t>
            </a:r>
          </a:p>
        </p:txBody>
      </p:sp>
      <p:sp>
        <p:nvSpPr>
          <p:cNvPr id="20" name="TextBox 19"/>
          <p:cNvSpPr txBox="1"/>
          <p:nvPr/>
        </p:nvSpPr>
        <p:spPr>
          <a:xfrm>
            <a:off x="7934325" y="1948441"/>
            <a:ext cx="3589672" cy="194310"/>
          </a:xfrm>
          <a:prstGeom prst="rect">
            <a:avLst/>
          </a:prstGeom>
          <a:noFill/>
        </p:spPr>
        <p:txBody>
          <a:bodyPr wrap="none" lIns="0" rIns="0" tIns="0" bIns="0">
            <a:spAutoFit/>
          </a:bodyPr>
          <a:lstStyle/>
          <a:p>
            <a:r>
              <a:rPr sz="1150" b="0">
                <a:solidFill>
                  <a:srgbClr val="2E2E2E"/>
                </a:solidFill>
                <a:latin typeface="Calibri"/>
              </a:rPr>
              <a:t>off-highway vehicle market in 2026. The global off-highway</a:t>
            </a:r>
          </a:p>
        </p:txBody>
      </p:sp>
      <p:sp>
        <p:nvSpPr>
          <p:cNvPr id="21" name="TextBox 20"/>
          <p:cNvSpPr txBox="1"/>
          <p:nvPr/>
        </p:nvSpPr>
        <p:spPr>
          <a:xfrm>
            <a:off x="7934325" y="2123701"/>
            <a:ext cx="3425080" cy="194310"/>
          </a:xfrm>
          <a:prstGeom prst="rect">
            <a:avLst/>
          </a:prstGeom>
          <a:noFill/>
        </p:spPr>
        <p:txBody>
          <a:bodyPr wrap="none" lIns="0" rIns="0" tIns="0" bIns="0">
            <a:spAutoFit/>
          </a:bodyPr>
          <a:lstStyle/>
          <a:p>
            <a:r>
              <a:rPr sz="1150" b="0">
                <a:solidFill>
                  <a:srgbClr val="2E2E2E"/>
                </a:solidFill>
                <a:latin typeface="Calibri"/>
              </a:rPr>
              <a:t>vehicle market is fragmented, with the top three players</a:t>
            </a:r>
          </a:p>
        </p:txBody>
      </p:sp>
      <p:sp>
        <p:nvSpPr>
          <p:cNvPr id="22" name="TextBox 21"/>
          <p:cNvSpPr txBox="1"/>
          <p:nvPr/>
        </p:nvSpPr>
        <p:spPr>
          <a:xfrm>
            <a:off x="7934325" y="2298961"/>
            <a:ext cx="1744650" cy="194310"/>
          </a:xfrm>
          <a:prstGeom prst="rect">
            <a:avLst/>
          </a:prstGeom>
          <a:noFill/>
        </p:spPr>
        <p:txBody>
          <a:bodyPr wrap="none" lIns="0" rIns="0" tIns="0" bIns="0">
            <a:spAutoFit/>
          </a:bodyPr>
          <a:lstStyle/>
          <a:p>
            <a:r>
              <a:rPr sz="1150" b="0">
                <a:solidFill>
                  <a:srgbClr val="2E2E2E"/>
                </a:solidFill>
                <a:latin typeface="Calibri"/>
              </a:rPr>
              <a:t>accounting for an estimated</a:t>
            </a:r>
          </a:p>
        </p:txBody>
      </p:sp>
      <p:pic>
        <p:nvPicPr>
          <p:cNvPr id="23" name="Picture 22" descr="lock.png"/>
          <p:cNvPicPr>
            <a:picLocks noChangeAspect="1"/>
          </p:cNvPicPr>
          <p:nvPr/>
        </p:nvPicPr>
        <p:blipFill>
          <a:blip r:embed="rId5"/>
          <a:stretch>
            <a:fillRect/>
          </a:stretch>
        </p:blipFill>
        <p:spPr>
          <a:xfrm>
            <a:off x="9628129" y="2288737"/>
            <a:ext cx="134549" cy="195707"/>
          </a:xfrm>
          <a:prstGeom prst="rect">
            <a:avLst/>
          </a:prstGeom>
        </p:spPr>
      </p:pic>
      <p:sp>
        <p:nvSpPr>
          <p:cNvPr id="24" name="TextBox 23"/>
          <p:cNvSpPr txBox="1"/>
          <p:nvPr/>
        </p:nvSpPr>
        <p:spPr>
          <a:xfrm>
            <a:off x="9803238"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25" name="TextBox 24"/>
          <p:cNvSpPr txBox="1"/>
          <p:nvPr/>
        </p:nvSpPr>
        <p:spPr>
          <a:xfrm>
            <a:off x="7934325" y="2526799"/>
            <a:ext cx="2367359" cy="194310"/>
          </a:xfrm>
          <a:prstGeom prst="rect">
            <a:avLst/>
          </a:prstGeom>
          <a:noFill/>
        </p:spPr>
        <p:txBody>
          <a:bodyPr wrap="none" lIns="0" rIns="0" tIns="0" bIns="0">
            <a:spAutoFit/>
          </a:bodyPr>
          <a:lstStyle/>
          <a:p>
            <a:r>
              <a:rPr sz="1150" b="0">
                <a:solidFill>
                  <a:srgbClr val="2E2E2E"/>
                </a:solidFill>
                <a:latin typeface="Calibri"/>
              </a:rPr>
              <a:t>Caterpillar accounted for an estimated</a:t>
            </a:r>
          </a:p>
        </p:txBody>
      </p:sp>
      <p:pic>
        <p:nvPicPr>
          <p:cNvPr id="26" name="Picture 25" descr="lock.png"/>
          <p:cNvPicPr>
            <a:picLocks noChangeAspect="1"/>
          </p:cNvPicPr>
          <p:nvPr/>
        </p:nvPicPr>
        <p:blipFill>
          <a:blip r:embed="rId5"/>
          <a:stretch>
            <a:fillRect/>
          </a:stretch>
        </p:blipFill>
        <p:spPr>
          <a:xfrm>
            <a:off x="10250838" y="2516575"/>
            <a:ext cx="134549" cy="195707"/>
          </a:xfrm>
          <a:prstGeom prst="rect">
            <a:avLst/>
          </a:prstGeom>
        </p:spPr>
      </p:pic>
      <p:sp>
        <p:nvSpPr>
          <p:cNvPr id="27" name="TextBox 26"/>
          <p:cNvSpPr txBox="1"/>
          <p:nvPr/>
        </p:nvSpPr>
        <p:spPr>
          <a:xfrm>
            <a:off x="10425947" y="2526799"/>
            <a:ext cx="1285391" cy="194310"/>
          </a:xfrm>
          <a:prstGeom prst="rect">
            <a:avLst/>
          </a:prstGeom>
          <a:noFill/>
        </p:spPr>
        <p:txBody>
          <a:bodyPr wrap="none" lIns="0" rIns="0" tIns="0" bIns="0">
            <a:spAutoFit/>
          </a:bodyPr>
          <a:lstStyle/>
          <a:p>
            <a:r>
              <a:rPr sz="1150" b="0">
                <a:solidFill>
                  <a:srgbClr val="2E2E2E"/>
                </a:solidFill>
                <a:latin typeface="Calibri"/>
              </a:rPr>
              <a:t>share of the market,</a:t>
            </a:r>
          </a:p>
        </p:txBody>
      </p:sp>
      <p:sp>
        <p:nvSpPr>
          <p:cNvPr id="28" name="TextBox 27"/>
          <p:cNvSpPr txBox="1"/>
          <p:nvPr/>
        </p:nvSpPr>
        <p:spPr>
          <a:xfrm>
            <a:off x="7934325" y="2702058"/>
            <a:ext cx="1624232" cy="194310"/>
          </a:xfrm>
          <a:prstGeom prst="rect">
            <a:avLst/>
          </a:prstGeom>
          <a:noFill/>
        </p:spPr>
        <p:txBody>
          <a:bodyPr wrap="none" lIns="0" rIns="0" tIns="0" bIns="0">
            <a:spAutoFit/>
          </a:bodyPr>
          <a:lstStyle/>
          <a:p>
            <a:r>
              <a:rPr sz="1150" b="0">
                <a:solidFill>
                  <a:srgbClr val="2E2E2E"/>
                </a:solidFill>
                <a:latin typeface="Calibri"/>
              </a:rPr>
              <a:t>followed by Komatsu with</a:t>
            </a:r>
          </a:p>
        </p:txBody>
      </p:sp>
      <p:pic>
        <p:nvPicPr>
          <p:cNvPr id="29" name="Picture 28" descr="lock.png"/>
          <p:cNvPicPr>
            <a:picLocks noChangeAspect="1"/>
          </p:cNvPicPr>
          <p:nvPr/>
        </p:nvPicPr>
        <p:blipFill>
          <a:blip r:embed="rId5"/>
          <a:stretch>
            <a:fillRect/>
          </a:stretch>
        </p:blipFill>
        <p:spPr>
          <a:xfrm>
            <a:off x="9507711" y="2691835"/>
            <a:ext cx="134549" cy="195707"/>
          </a:xfrm>
          <a:prstGeom prst="rect">
            <a:avLst/>
          </a:prstGeom>
        </p:spPr>
      </p:pic>
      <p:sp>
        <p:nvSpPr>
          <p:cNvPr id="30" name="TextBox 29"/>
          <p:cNvSpPr txBox="1"/>
          <p:nvPr/>
        </p:nvSpPr>
        <p:spPr>
          <a:xfrm>
            <a:off x="9682821" y="2702058"/>
            <a:ext cx="1764292" cy="194310"/>
          </a:xfrm>
          <a:prstGeom prst="rect">
            <a:avLst/>
          </a:prstGeom>
          <a:noFill/>
        </p:spPr>
        <p:txBody>
          <a:bodyPr wrap="none" lIns="0" rIns="0" tIns="0" bIns="0">
            <a:spAutoFit/>
          </a:bodyPr>
          <a:lstStyle/>
          <a:p>
            <a:r>
              <a:rPr sz="1150" b="0">
                <a:solidFill>
                  <a:srgbClr val="2E2E2E"/>
                </a:solidFill>
                <a:latin typeface="Calibri"/>
              </a:rPr>
              <a:t>. Key players are focusing on</a:t>
            </a:r>
          </a:p>
        </p:txBody>
      </p:sp>
      <p:sp>
        <p:nvSpPr>
          <p:cNvPr id="31" name="TextBox 30"/>
          <p:cNvSpPr txBox="1"/>
          <p:nvPr/>
        </p:nvSpPr>
        <p:spPr>
          <a:xfrm>
            <a:off x="7934325" y="2877318"/>
            <a:ext cx="3381437" cy="194310"/>
          </a:xfrm>
          <a:prstGeom prst="rect">
            <a:avLst/>
          </a:prstGeom>
          <a:noFill/>
        </p:spPr>
        <p:txBody>
          <a:bodyPr wrap="none" lIns="0" rIns="0" tIns="0" bIns="0">
            <a:spAutoFit/>
          </a:bodyPr>
          <a:lstStyle/>
          <a:p>
            <a:r>
              <a:rPr sz="1150" b="0">
                <a:solidFill>
                  <a:srgbClr val="2E2E2E"/>
                </a:solidFill>
                <a:latin typeface="Calibri"/>
              </a:rPr>
              <a:t>product innovation, geographic expansion and strategic</a:t>
            </a:r>
          </a:p>
        </p:txBody>
      </p:sp>
      <p:sp>
        <p:nvSpPr>
          <p:cNvPr id="32" name="TextBox 31"/>
          <p:cNvSpPr txBox="1"/>
          <p:nvPr/>
        </p:nvSpPr>
        <p:spPr>
          <a:xfrm>
            <a:off x="7934325" y="3052578"/>
            <a:ext cx="2993776" cy="194310"/>
          </a:xfrm>
          <a:prstGeom prst="rect">
            <a:avLst/>
          </a:prstGeom>
          <a:noFill/>
        </p:spPr>
        <p:txBody>
          <a:bodyPr wrap="none" lIns="0" rIns="0" tIns="0" bIns="0">
            <a:spAutoFit/>
          </a:bodyPr>
          <a:lstStyle/>
          <a:p>
            <a:r>
              <a:rPr sz="1150" b="0">
                <a:solidFill>
                  <a:srgbClr val="2E2E2E"/>
                </a:solidFill>
                <a:latin typeface="Calibri"/>
              </a:rPr>
              <a:t>partnerships to strengthen their market position.</a:t>
            </a:r>
          </a:p>
        </p:txBody>
      </p:sp>
      <p:sp>
        <p:nvSpPr>
          <p:cNvPr id="33" name="TextBox 32"/>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4" name="TextBox 33"/>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35" name="lockshield_10"/>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Company Share by Product Type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vehicle type, highlighting where leadership differs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Construction and Mining Vehicles</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Agriculture and Forestry Vehicles</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Military Vehicles</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3510371" cy="194310"/>
          </a:xfrm>
          <a:prstGeom prst="rect">
            <a:avLst/>
          </a:prstGeom>
          <a:noFill/>
        </p:spPr>
        <p:txBody>
          <a:bodyPr wrap="none" lIns="0" rIns="0" tIns="0" bIns="0">
            <a:spAutoFit/>
          </a:bodyPr>
          <a:lstStyle/>
          <a:p>
            <a:r>
              <a:rPr sz="1150" b="0">
                <a:solidFill>
                  <a:srgbClr val="2E2E2E"/>
                </a:solidFill>
                <a:latin typeface="Calibri"/>
              </a:rPr>
              <a:t>▪ Construction and Mining Vehicles: 'Caterpillar' leads at ~</a:t>
            </a:r>
          </a:p>
        </p:txBody>
      </p:sp>
      <p:pic>
        <p:nvPicPr>
          <p:cNvPr id="27" name="Picture 26" descr="lock.png"/>
          <p:cNvPicPr>
            <a:picLocks noChangeAspect="1"/>
          </p:cNvPicPr>
          <p:nvPr/>
        </p:nvPicPr>
        <p:blipFill>
          <a:blip r:embed="rId7"/>
          <a:stretch>
            <a:fillRect/>
          </a:stretch>
        </p:blipFill>
        <p:spPr>
          <a:xfrm>
            <a:off x="3735750" y="5012116"/>
            <a:ext cx="134549" cy="195707"/>
          </a:xfrm>
          <a:prstGeom prst="rect">
            <a:avLst/>
          </a:prstGeom>
        </p:spPr>
      </p:pic>
      <p:sp>
        <p:nvSpPr>
          <p:cNvPr id="28" name="TextBox 27"/>
          <p:cNvSpPr txBox="1"/>
          <p:nvPr/>
        </p:nvSpPr>
        <p:spPr>
          <a:xfrm>
            <a:off x="3910859" y="5022340"/>
            <a:ext cx="1816819" cy="194310"/>
          </a:xfrm>
          <a:prstGeom prst="rect">
            <a:avLst/>
          </a:prstGeom>
          <a:noFill/>
        </p:spPr>
        <p:txBody>
          <a:bodyPr wrap="none" lIns="0" rIns="0" tIns="0" bIns="0">
            <a:spAutoFit/>
          </a:bodyPr>
          <a:lstStyle/>
          <a:p>
            <a:r>
              <a:rPr sz="1150" b="0">
                <a:solidFill>
                  <a:srgbClr val="2E2E2E"/>
                </a:solidFill>
                <a:latin typeface="Calibri"/>
              </a:rPr>
              <a:t>, ahead of 'Liebherr Group' (~</a:t>
            </a:r>
          </a:p>
        </p:txBody>
      </p:sp>
      <p:pic>
        <p:nvPicPr>
          <p:cNvPr id="29" name="Picture 28" descr="lock.png"/>
          <p:cNvPicPr>
            <a:picLocks noChangeAspect="1"/>
          </p:cNvPicPr>
          <p:nvPr/>
        </p:nvPicPr>
        <p:blipFill>
          <a:blip r:embed="rId7"/>
          <a:stretch>
            <a:fillRect/>
          </a:stretch>
        </p:blipFill>
        <p:spPr>
          <a:xfrm>
            <a:off x="5676833" y="5012116"/>
            <a:ext cx="134549" cy="195707"/>
          </a:xfrm>
          <a:prstGeom prst="rect">
            <a:avLst/>
          </a:prstGeom>
        </p:spPr>
      </p:pic>
      <p:sp>
        <p:nvSpPr>
          <p:cNvPr id="30" name="TextBox 29"/>
          <p:cNvSpPr txBox="1"/>
          <p:nvPr/>
        </p:nvSpPr>
        <p:spPr>
          <a:xfrm>
            <a:off x="5851942"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7186611" y="5012116"/>
            <a:ext cx="134549" cy="195707"/>
          </a:xfrm>
          <a:prstGeom prst="rect">
            <a:avLst/>
          </a:prstGeom>
        </p:spPr>
      </p:pic>
      <p:sp>
        <p:nvSpPr>
          <p:cNvPr id="32" name="TextBox 31"/>
          <p:cNvSpPr txBox="1"/>
          <p:nvPr/>
        </p:nvSpPr>
        <p:spPr>
          <a:xfrm>
            <a:off x="7361721"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8917177" y="5012116"/>
            <a:ext cx="134549" cy="195707"/>
          </a:xfrm>
          <a:prstGeom prst="rect">
            <a:avLst/>
          </a:prstGeom>
        </p:spPr>
      </p:pic>
      <p:sp>
        <p:nvSpPr>
          <p:cNvPr id="34" name="TextBox 33"/>
          <p:cNvSpPr txBox="1"/>
          <p:nvPr/>
        </p:nvSpPr>
        <p:spPr>
          <a:xfrm>
            <a:off x="9092286"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5250177"/>
            <a:ext cx="4680706" cy="194310"/>
          </a:xfrm>
          <a:prstGeom prst="rect">
            <a:avLst/>
          </a:prstGeom>
          <a:noFill/>
        </p:spPr>
        <p:txBody>
          <a:bodyPr wrap="none" lIns="0" rIns="0" tIns="0" bIns="0">
            <a:spAutoFit/>
          </a:bodyPr>
          <a:lstStyle/>
          <a:p>
            <a:r>
              <a:rPr sz="1150" b="0">
                <a:solidFill>
                  <a:srgbClr val="2E2E2E"/>
                </a:solidFill>
                <a:latin typeface="Calibri"/>
              </a:rPr>
              <a:t>▪ Agriculture and Forestry Vehicles: 'Volvo Construction Equipment' leads at ~</a:t>
            </a:r>
          </a:p>
        </p:txBody>
      </p:sp>
      <p:pic>
        <p:nvPicPr>
          <p:cNvPr id="36" name="Picture 35" descr="lock.png"/>
          <p:cNvPicPr>
            <a:picLocks noChangeAspect="1"/>
          </p:cNvPicPr>
          <p:nvPr/>
        </p:nvPicPr>
        <p:blipFill>
          <a:blip r:embed="rId7"/>
          <a:stretch>
            <a:fillRect/>
          </a:stretch>
        </p:blipFill>
        <p:spPr>
          <a:xfrm>
            <a:off x="4906085" y="5239954"/>
            <a:ext cx="134549" cy="195707"/>
          </a:xfrm>
          <a:prstGeom prst="rect">
            <a:avLst/>
          </a:prstGeom>
        </p:spPr>
      </p:pic>
      <p:sp>
        <p:nvSpPr>
          <p:cNvPr id="37" name="TextBox 36"/>
          <p:cNvSpPr txBox="1"/>
          <p:nvPr/>
        </p:nvSpPr>
        <p:spPr>
          <a:xfrm>
            <a:off x="5081194" y="5250177"/>
            <a:ext cx="1436250" cy="194310"/>
          </a:xfrm>
          <a:prstGeom prst="rect">
            <a:avLst/>
          </a:prstGeom>
          <a:noFill/>
        </p:spPr>
        <p:txBody>
          <a:bodyPr wrap="none" lIns="0" rIns="0" tIns="0" bIns="0">
            <a:spAutoFit/>
          </a:bodyPr>
          <a:lstStyle/>
          <a:p>
            <a:r>
              <a:rPr sz="1150" b="0">
                <a:solidFill>
                  <a:srgbClr val="2E2E2E"/>
                </a:solidFill>
                <a:latin typeface="Calibri"/>
              </a:rPr>
              <a:t>, ahead of 'Komatsu' (~</a:t>
            </a:r>
          </a:p>
        </p:txBody>
      </p:sp>
      <p:pic>
        <p:nvPicPr>
          <p:cNvPr id="38" name="Picture 37" descr="lock.png"/>
          <p:cNvPicPr>
            <a:picLocks noChangeAspect="1"/>
          </p:cNvPicPr>
          <p:nvPr/>
        </p:nvPicPr>
        <p:blipFill>
          <a:blip r:embed="rId7"/>
          <a:stretch>
            <a:fillRect/>
          </a:stretch>
        </p:blipFill>
        <p:spPr>
          <a:xfrm>
            <a:off x="6466598" y="5239954"/>
            <a:ext cx="134549" cy="195707"/>
          </a:xfrm>
          <a:prstGeom prst="rect">
            <a:avLst/>
          </a:prstGeom>
        </p:spPr>
      </p:pic>
      <p:sp>
        <p:nvSpPr>
          <p:cNvPr id="39" name="TextBox 38"/>
          <p:cNvSpPr txBox="1"/>
          <p:nvPr/>
        </p:nvSpPr>
        <p:spPr>
          <a:xfrm>
            <a:off x="6641708"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7976377" y="5239954"/>
            <a:ext cx="134549" cy="195707"/>
          </a:xfrm>
          <a:prstGeom prst="rect">
            <a:avLst/>
          </a:prstGeom>
        </p:spPr>
      </p:pic>
      <p:sp>
        <p:nvSpPr>
          <p:cNvPr id="41" name="TextBox 40"/>
          <p:cNvSpPr txBox="1"/>
          <p:nvPr/>
        </p:nvSpPr>
        <p:spPr>
          <a:xfrm>
            <a:off x="8151486"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9706942" y="5239954"/>
            <a:ext cx="134549" cy="195707"/>
          </a:xfrm>
          <a:prstGeom prst="rect">
            <a:avLst/>
          </a:prstGeom>
        </p:spPr>
      </p:pic>
      <p:sp>
        <p:nvSpPr>
          <p:cNvPr id="43" name="TextBox 42"/>
          <p:cNvSpPr txBox="1"/>
          <p:nvPr/>
        </p:nvSpPr>
        <p:spPr>
          <a:xfrm>
            <a:off x="9882051"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478015"/>
            <a:ext cx="2504566" cy="194310"/>
          </a:xfrm>
          <a:prstGeom prst="rect">
            <a:avLst/>
          </a:prstGeom>
          <a:noFill/>
        </p:spPr>
        <p:txBody>
          <a:bodyPr wrap="none" lIns="0" rIns="0" tIns="0" bIns="0">
            <a:spAutoFit/>
          </a:bodyPr>
          <a:lstStyle/>
          <a:p>
            <a:r>
              <a:rPr sz="1150" b="0">
                <a:solidFill>
                  <a:srgbClr val="2E2E2E"/>
                </a:solidFill>
                <a:latin typeface="Calibri"/>
              </a:rPr>
              <a:t>▪ Military Vehicles: 'Caterpillar' leads at ~</a:t>
            </a:r>
          </a:p>
        </p:txBody>
      </p:sp>
      <p:pic>
        <p:nvPicPr>
          <p:cNvPr id="45" name="Picture 44" descr="lock.png"/>
          <p:cNvPicPr>
            <a:picLocks noChangeAspect="1"/>
          </p:cNvPicPr>
          <p:nvPr/>
        </p:nvPicPr>
        <p:blipFill>
          <a:blip r:embed="rId7"/>
          <a:stretch>
            <a:fillRect/>
          </a:stretch>
        </p:blipFill>
        <p:spPr>
          <a:xfrm>
            <a:off x="2729945" y="5467792"/>
            <a:ext cx="134549" cy="195707"/>
          </a:xfrm>
          <a:prstGeom prst="rect">
            <a:avLst/>
          </a:prstGeom>
        </p:spPr>
      </p:pic>
      <p:sp>
        <p:nvSpPr>
          <p:cNvPr id="46" name="TextBox 45"/>
          <p:cNvSpPr txBox="1"/>
          <p:nvPr/>
        </p:nvSpPr>
        <p:spPr>
          <a:xfrm>
            <a:off x="2905054" y="5478015"/>
            <a:ext cx="1436250" cy="194310"/>
          </a:xfrm>
          <a:prstGeom prst="rect">
            <a:avLst/>
          </a:prstGeom>
          <a:noFill/>
        </p:spPr>
        <p:txBody>
          <a:bodyPr wrap="none" lIns="0" rIns="0" tIns="0" bIns="0">
            <a:spAutoFit/>
          </a:bodyPr>
          <a:lstStyle/>
          <a:p>
            <a:r>
              <a:rPr sz="1150" b="0">
                <a:solidFill>
                  <a:srgbClr val="2E2E2E"/>
                </a:solidFill>
                <a:latin typeface="Calibri"/>
              </a:rPr>
              <a:t>, ahead of 'Komatsu' (~</a:t>
            </a:r>
          </a:p>
        </p:txBody>
      </p:sp>
      <p:pic>
        <p:nvPicPr>
          <p:cNvPr id="47" name="Picture 46" descr="lock.png"/>
          <p:cNvPicPr>
            <a:picLocks noChangeAspect="1"/>
          </p:cNvPicPr>
          <p:nvPr/>
        </p:nvPicPr>
        <p:blipFill>
          <a:blip r:embed="rId7"/>
          <a:stretch>
            <a:fillRect/>
          </a:stretch>
        </p:blipFill>
        <p:spPr>
          <a:xfrm>
            <a:off x="4290459" y="5467792"/>
            <a:ext cx="134549" cy="195707"/>
          </a:xfrm>
          <a:prstGeom prst="rect">
            <a:avLst/>
          </a:prstGeom>
        </p:spPr>
      </p:pic>
      <p:sp>
        <p:nvSpPr>
          <p:cNvPr id="48" name="TextBox 47"/>
          <p:cNvSpPr txBox="1"/>
          <p:nvPr/>
        </p:nvSpPr>
        <p:spPr>
          <a:xfrm>
            <a:off x="4465568"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5800237" y="5467792"/>
            <a:ext cx="134549" cy="195707"/>
          </a:xfrm>
          <a:prstGeom prst="rect">
            <a:avLst/>
          </a:prstGeom>
        </p:spPr>
      </p:pic>
      <p:sp>
        <p:nvSpPr>
          <p:cNvPr id="50" name="TextBox 49"/>
          <p:cNvSpPr txBox="1"/>
          <p:nvPr/>
        </p:nvSpPr>
        <p:spPr>
          <a:xfrm>
            <a:off x="5975347"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7530802" y="5467792"/>
            <a:ext cx="134549" cy="195707"/>
          </a:xfrm>
          <a:prstGeom prst="rect">
            <a:avLst/>
          </a:prstGeom>
        </p:spPr>
      </p:pic>
      <p:sp>
        <p:nvSpPr>
          <p:cNvPr id="52" name="TextBox 51"/>
          <p:cNvSpPr txBox="1"/>
          <p:nvPr/>
        </p:nvSpPr>
        <p:spPr>
          <a:xfrm>
            <a:off x="7705912"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3" name="TextBox 52"/>
          <p:cNvSpPr txBox="1"/>
          <p:nvPr/>
        </p:nvSpPr>
        <p:spPr>
          <a:xfrm>
            <a:off x="276225" y="5705853"/>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54" name="TextBox 53"/>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Company Share by Region (Top 3)</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8" name="Rounded Rectangle 7"/>
          <p:cNvSpPr/>
          <p:nvPr/>
        </p:nvSpPr>
        <p:spPr>
          <a:xfrm>
            <a:off x="14287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0" name="Chart 9"/>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1" name="Rounded Rectangle 10"/>
          <p:cNvSpPr/>
          <p:nvPr/>
        </p:nvSpPr>
        <p:spPr>
          <a:xfrm>
            <a:off x="4124325" y="1299320"/>
            <a:ext cx="38290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3" name="Chart 12"/>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4" name="Rounded Rectangle 13"/>
          <p:cNvSpPr/>
          <p:nvPr/>
        </p:nvSpPr>
        <p:spPr>
          <a:xfrm>
            <a:off x="8105775" y="1299320"/>
            <a:ext cx="3943350" cy="3212651"/>
          </a:xfrm>
          <a:prstGeom prst="roundRect">
            <a:avLst>
              <a:gd name="adj" fmla="val 237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East Asia</a:t>
            </a:r>
          </a:p>
        </p:txBody>
      </p:sp>
      <p:graphicFrame>
        <p:nvGraphicFramePr>
          <p:cNvPr id="16" name="Chart 15"/>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E2A5C"/>
                </a:solidFill>
                <a:latin typeface="Calibri"/>
              </a:rPr>
              <a:t>Company Share Key Takeaways</a:t>
            </a:r>
          </a:p>
        </p:txBody>
      </p:sp>
      <p:sp>
        <p:nvSpPr>
          <p:cNvPr id="19" name="Rectangle 18"/>
          <p:cNvSpPr/>
          <p:nvPr/>
        </p:nvSpPr>
        <p:spPr>
          <a:xfrm>
            <a:off x="276225" y="4927090"/>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7"/>
          <a:stretch>
            <a:fillRect/>
          </a:stretch>
        </p:blipFill>
        <p:spPr>
          <a:xfrm>
            <a:off x="1233011" y="2619895"/>
            <a:ext cx="523875" cy="762000"/>
          </a:xfrm>
          <a:prstGeom prst="rect">
            <a:avLst/>
          </a:prstGeom>
        </p:spPr>
      </p:pic>
      <p:pic>
        <p:nvPicPr>
          <p:cNvPr id="24" name="Picture 23" descr="lock.png"/>
          <p:cNvPicPr>
            <a:picLocks noChangeAspect="1"/>
          </p:cNvPicPr>
          <p:nvPr/>
        </p:nvPicPr>
        <p:blipFill>
          <a:blip r:embed="rId7"/>
          <a:stretch>
            <a:fillRect/>
          </a:stretch>
        </p:blipFill>
        <p:spPr>
          <a:xfrm>
            <a:off x="5214461" y="2619895"/>
            <a:ext cx="523875" cy="762000"/>
          </a:xfrm>
          <a:prstGeom prst="rect">
            <a:avLst/>
          </a:prstGeom>
        </p:spPr>
      </p:pic>
      <p:pic>
        <p:nvPicPr>
          <p:cNvPr id="25" name="Picture 24" descr="lock.png"/>
          <p:cNvPicPr>
            <a:picLocks noChangeAspect="1"/>
          </p:cNvPicPr>
          <p:nvPr/>
        </p:nvPicPr>
        <p:blipFill>
          <a:blip r:embed="rId7"/>
          <a:stretch>
            <a:fillRect/>
          </a:stretch>
        </p:blipFill>
        <p:spPr>
          <a:xfrm>
            <a:off x="9235916" y="2619895"/>
            <a:ext cx="523875" cy="762000"/>
          </a:xfrm>
          <a:prstGeom prst="rect">
            <a:avLst/>
          </a:prstGeom>
        </p:spPr>
      </p:pic>
      <p:sp>
        <p:nvSpPr>
          <p:cNvPr id="26" name="TextBox 25"/>
          <p:cNvSpPr txBox="1"/>
          <p:nvPr/>
        </p:nvSpPr>
        <p:spPr>
          <a:xfrm>
            <a:off x="276225" y="5022340"/>
            <a:ext cx="2389609" cy="194310"/>
          </a:xfrm>
          <a:prstGeom prst="rect">
            <a:avLst/>
          </a:prstGeom>
          <a:noFill/>
        </p:spPr>
        <p:txBody>
          <a:bodyPr wrap="none" lIns="0" rIns="0" tIns="0" bIns="0">
            <a:spAutoFit/>
          </a:bodyPr>
          <a:lstStyle/>
          <a:p>
            <a:r>
              <a:rPr sz="1150" b="0">
                <a:solidFill>
                  <a:srgbClr val="2E2E2E"/>
                </a:solidFill>
                <a:latin typeface="Calibri"/>
              </a:rPr>
              <a:t>▪ North America: 'Caterpillar' leads at ~</a:t>
            </a:r>
          </a:p>
        </p:txBody>
      </p:sp>
      <p:pic>
        <p:nvPicPr>
          <p:cNvPr id="27" name="Picture 26" descr="lock.png"/>
          <p:cNvPicPr>
            <a:picLocks noChangeAspect="1"/>
          </p:cNvPicPr>
          <p:nvPr/>
        </p:nvPicPr>
        <p:blipFill>
          <a:blip r:embed="rId7"/>
          <a:stretch>
            <a:fillRect/>
          </a:stretch>
        </p:blipFill>
        <p:spPr>
          <a:xfrm>
            <a:off x="2614988" y="5012116"/>
            <a:ext cx="134549" cy="195707"/>
          </a:xfrm>
          <a:prstGeom prst="rect">
            <a:avLst/>
          </a:prstGeom>
        </p:spPr>
      </p:pic>
      <p:sp>
        <p:nvSpPr>
          <p:cNvPr id="28" name="TextBox 27"/>
          <p:cNvSpPr txBox="1"/>
          <p:nvPr/>
        </p:nvSpPr>
        <p:spPr>
          <a:xfrm>
            <a:off x="2790097" y="5022340"/>
            <a:ext cx="1436250" cy="194310"/>
          </a:xfrm>
          <a:prstGeom prst="rect">
            <a:avLst/>
          </a:prstGeom>
          <a:noFill/>
        </p:spPr>
        <p:txBody>
          <a:bodyPr wrap="none" lIns="0" rIns="0" tIns="0" bIns="0">
            <a:spAutoFit/>
          </a:bodyPr>
          <a:lstStyle/>
          <a:p>
            <a:r>
              <a:rPr sz="1150" b="0">
                <a:solidFill>
                  <a:srgbClr val="2E2E2E"/>
                </a:solidFill>
                <a:latin typeface="Calibri"/>
              </a:rPr>
              <a:t>, ahead of 'Komatsu' (~</a:t>
            </a:r>
          </a:p>
        </p:txBody>
      </p:sp>
      <p:pic>
        <p:nvPicPr>
          <p:cNvPr id="29" name="Picture 28" descr="lock.png"/>
          <p:cNvPicPr>
            <a:picLocks noChangeAspect="1"/>
          </p:cNvPicPr>
          <p:nvPr/>
        </p:nvPicPr>
        <p:blipFill>
          <a:blip r:embed="rId7"/>
          <a:stretch>
            <a:fillRect/>
          </a:stretch>
        </p:blipFill>
        <p:spPr>
          <a:xfrm>
            <a:off x="4175501" y="5012116"/>
            <a:ext cx="134549" cy="195707"/>
          </a:xfrm>
          <a:prstGeom prst="rect">
            <a:avLst/>
          </a:prstGeom>
        </p:spPr>
      </p:pic>
      <p:sp>
        <p:nvSpPr>
          <p:cNvPr id="30" name="TextBox 29"/>
          <p:cNvSpPr txBox="1"/>
          <p:nvPr/>
        </p:nvSpPr>
        <p:spPr>
          <a:xfrm>
            <a:off x="4350611"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1" name="Picture 30" descr="lock.png"/>
          <p:cNvPicPr>
            <a:picLocks noChangeAspect="1"/>
          </p:cNvPicPr>
          <p:nvPr/>
        </p:nvPicPr>
        <p:blipFill>
          <a:blip r:embed="rId7"/>
          <a:stretch>
            <a:fillRect/>
          </a:stretch>
        </p:blipFill>
        <p:spPr>
          <a:xfrm>
            <a:off x="5685280" y="5012116"/>
            <a:ext cx="134549" cy="195707"/>
          </a:xfrm>
          <a:prstGeom prst="rect">
            <a:avLst/>
          </a:prstGeom>
        </p:spPr>
      </p:pic>
      <p:sp>
        <p:nvSpPr>
          <p:cNvPr id="32" name="TextBox 31"/>
          <p:cNvSpPr txBox="1"/>
          <p:nvPr/>
        </p:nvSpPr>
        <p:spPr>
          <a:xfrm>
            <a:off x="5860389"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3" name="Picture 32" descr="lock.png"/>
          <p:cNvPicPr>
            <a:picLocks noChangeAspect="1"/>
          </p:cNvPicPr>
          <p:nvPr/>
        </p:nvPicPr>
        <p:blipFill>
          <a:blip r:embed="rId7"/>
          <a:stretch>
            <a:fillRect/>
          </a:stretch>
        </p:blipFill>
        <p:spPr>
          <a:xfrm>
            <a:off x="7415845" y="5012116"/>
            <a:ext cx="134549" cy="195707"/>
          </a:xfrm>
          <a:prstGeom prst="rect">
            <a:avLst/>
          </a:prstGeom>
        </p:spPr>
      </p:pic>
      <p:sp>
        <p:nvSpPr>
          <p:cNvPr id="34" name="TextBox 33"/>
          <p:cNvSpPr txBox="1"/>
          <p:nvPr/>
        </p:nvSpPr>
        <p:spPr>
          <a:xfrm>
            <a:off x="7590954"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5" name="TextBox 34"/>
          <p:cNvSpPr txBox="1"/>
          <p:nvPr/>
        </p:nvSpPr>
        <p:spPr>
          <a:xfrm>
            <a:off x="276225" y="5250177"/>
            <a:ext cx="2592384" cy="194310"/>
          </a:xfrm>
          <a:prstGeom prst="rect">
            <a:avLst/>
          </a:prstGeom>
          <a:noFill/>
        </p:spPr>
        <p:txBody>
          <a:bodyPr wrap="none" lIns="0" rIns="0" tIns="0" bIns="0">
            <a:spAutoFit/>
          </a:bodyPr>
          <a:lstStyle/>
          <a:p>
            <a:r>
              <a:rPr sz="1150" b="0">
                <a:solidFill>
                  <a:srgbClr val="2E2E2E"/>
                </a:solidFill>
                <a:latin typeface="Calibri"/>
              </a:rPr>
              <a:t>▪ South Asia &amp; Pacific: 'Komatsu' leads at ~</a:t>
            </a:r>
          </a:p>
        </p:txBody>
      </p:sp>
      <p:pic>
        <p:nvPicPr>
          <p:cNvPr id="36" name="Picture 35" descr="lock.png"/>
          <p:cNvPicPr>
            <a:picLocks noChangeAspect="1"/>
          </p:cNvPicPr>
          <p:nvPr/>
        </p:nvPicPr>
        <p:blipFill>
          <a:blip r:embed="rId7"/>
          <a:stretch>
            <a:fillRect/>
          </a:stretch>
        </p:blipFill>
        <p:spPr>
          <a:xfrm>
            <a:off x="2817763" y="5239954"/>
            <a:ext cx="134549" cy="195707"/>
          </a:xfrm>
          <a:prstGeom prst="rect">
            <a:avLst/>
          </a:prstGeom>
        </p:spPr>
      </p:pic>
      <p:sp>
        <p:nvSpPr>
          <p:cNvPr id="37" name="TextBox 36"/>
          <p:cNvSpPr txBox="1"/>
          <p:nvPr/>
        </p:nvSpPr>
        <p:spPr>
          <a:xfrm>
            <a:off x="2992872" y="5250177"/>
            <a:ext cx="2731026" cy="194310"/>
          </a:xfrm>
          <a:prstGeom prst="rect">
            <a:avLst/>
          </a:prstGeom>
          <a:noFill/>
        </p:spPr>
        <p:txBody>
          <a:bodyPr wrap="none" lIns="0" rIns="0" tIns="0" bIns="0">
            <a:spAutoFit/>
          </a:bodyPr>
          <a:lstStyle/>
          <a:p>
            <a:r>
              <a:rPr sz="1150" b="0">
                <a:solidFill>
                  <a:srgbClr val="2E2E2E"/>
                </a:solidFill>
                <a:latin typeface="Calibri"/>
              </a:rPr>
              <a:t>, ahead of 'Volvo Construction Equipment' (~</a:t>
            </a:r>
          </a:p>
        </p:txBody>
      </p:sp>
      <p:pic>
        <p:nvPicPr>
          <p:cNvPr id="38" name="Picture 37" descr="lock.png"/>
          <p:cNvPicPr>
            <a:picLocks noChangeAspect="1"/>
          </p:cNvPicPr>
          <p:nvPr/>
        </p:nvPicPr>
        <p:blipFill>
          <a:blip r:embed="rId7"/>
          <a:stretch>
            <a:fillRect/>
          </a:stretch>
        </p:blipFill>
        <p:spPr>
          <a:xfrm>
            <a:off x="5673053" y="5239954"/>
            <a:ext cx="134549" cy="195707"/>
          </a:xfrm>
          <a:prstGeom prst="rect">
            <a:avLst/>
          </a:prstGeom>
        </p:spPr>
      </p:pic>
      <p:sp>
        <p:nvSpPr>
          <p:cNvPr id="39" name="TextBox 38"/>
          <p:cNvSpPr txBox="1"/>
          <p:nvPr/>
        </p:nvSpPr>
        <p:spPr>
          <a:xfrm>
            <a:off x="5848162"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0" name="Picture 39" descr="lock.png"/>
          <p:cNvPicPr>
            <a:picLocks noChangeAspect="1"/>
          </p:cNvPicPr>
          <p:nvPr/>
        </p:nvPicPr>
        <p:blipFill>
          <a:blip r:embed="rId7"/>
          <a:stretch>
            <a:fillRect/>
          </a:stretch>
        </p:blipFill>
        <p:spPr>
          <a:xfrm>
            <a:off x="7182832" y="5239954"/>
            <a:ext cx="134549" cy="195707"/>
          </a:xfrm>
          <a:prstGeom prst="rect">
            <a:avLst/>
          </a:prstGeom>
        </p:spPr>
      </p:pic>
      <p:sp>
        <p:nvSpPr>
          <p:cNvPr id="41" name="TextBox 40"/>
          <p:cNvSpPr txBox="1"/>
          <p:nvPr/>
        </p:nvSpPr>
        <p:spPr>
          <a:xfrm>
            <a:off x="7357941"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2" name="Picture 41" descr="lock.png"/>
          <p:cNvPicPr>
            <a:picLocks noChangeAspect="1"/>
          </p:cNvPicPr>
          <p:nvPr/>
        </p:nvPicPr>
        <p:blipFill>
          <a:blip r:embed="rId7"/>
          <a:stretch>
            <a:fillRect/>
          </a:stretch>
        </p:blipFill>
        <p:spPr>
          <a:xfrm>
            <a:off x="8913397" y="5239954"/>
            <a:ext cx="134549" cy="195707"/>
          </a:xfrm>
          <a:prstGeom prst="rect">
            <a:avLst/>
          </a:prstGeom>
        </p:spPr>
      </p:pic>
      <p:sp>
        <p:nvSpPr>
          <p:cNvPr id="43" name="TextBox 42"/>
          <p:cNvSpPr txBox="1"/>
          <p:nvPr/>
        </p:nvSpPr>
        <p:spPr>
          <a:xfrm>
            <a:off x="9088506"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478015"/>
            <a:ext cx="3241025" cy="194310"/>
          </a:xfrm>
          <a:prstGeom prst="rect">
            <a:avLst/>
          </a:prstGeom>
          <a:noFill/>
        </p:spPr>
        <p:txBody>
          <a:bodyPr wrap="none" lIns="0" rIns="0" tIns="0" bIns="0">
            <a:spAutoFit/>
          </a:bodyPr>
          <a:lstStyle/>
          <a:p>
            <a:r>
              <a:rPr sz="1150" b="0">
                <a:solidFill>
                  <a:srgbClr val="2E2E2E"/>
                </a:solidFill>
                <a:latin typeface="Calibri"/>
              </a:rPr>
              <a:t>▪ East Asia: 'Volvo Construction Equipment' leads at ~</a:t>
            </a:r>
          </a:p>
        </p:txBody>
      </p:sp>
      <p:pic>
        <p:nvPicPr>
          <p:cNvPr id="45" name="Picture 44" descr="lock.png"/>
          <p:cNvPicPr>
            <a:picLocks noChangeAspect="1"/>
          </p:cNvPicPr>
          <p:nvPr/>
        </p:nvPicPr>
        <p:blipFill>
          <a:blip r:embed="rId7"/>
          <a:stretch>
            <a:fillRect/>
          </a:stretch>
        </p:blipFill>
        <p:spPr>
          <a:xfrm>
            <a:off x="3466404" y="5467792"/>
            <a:ext cx="134549" cy="195707"/>
          </a:xfrm>
          <a:prstGeom prst="rect">
            <a:avLst/>
          </a:prstGeom>
        </p:spPr>
      </p:pic>
      <p:sp>
        <p:nvSpPr>
          <p:cNvPr id="46" name="TextBox 45"/>
          <p:cNvSpPr txBox="1"/>
          <p:nvPr/>
        </p:nvSpPr>
        <p:spPr>
          <a:xfrm>
            <a:off x="3641513" y="5478015"/>
            <a:ext cx="1436250" cy="194310"/>
          </a:xfrm>
          <a:prstGeom prst="rect">
            <a:avLst/>
          </a:prstGeom>
          <a:noFill/>
        </p:spPr>
        <p:txBody>
          <a:bodyPr wrap="none" lIns="0" rIns="0" tIns="0" bIns="0">
            <a:spAutoFit/>
          </a:bodyPr>
          <a:lstStyle/>
          <a:p>
            <a:r>
              <a:rPr sz="1150" b="0">
                <a:solidFill>
                  <a:srgbClr val="2E2E2E"/>
                </a:solidFill>
                <a:latin typeface="Calibri"/>
              </a:rPr>
              <a:t>, ahead of 'Komatsu' (~</a:t>
            </a:r>
          </a:p>
        </p:txBody>
      </p:sp>
      <p:pic>
        <p:nvPicPr>
          <p:cNvPr id="47" name="Picture 46" descr="lock.png"/>
          <p:cNvPicPr>
            <a:picLocks noChangeAspect="1"/>
          </p:cNvPicPr>
          <p:nvPr/>
        </p:nvPicPr>
        <p:blipFill>
          <a:blip r:embed="rId7"/>
          <a:stretch>
            <a:fillRect/>
          </a:stretch>
        </p:blipFill>
        <p:spPr>
          <a:xfrm>
            <a:off x="5026917" y="5467792"/>
            <a:ext cx="134549" cy="195707"/>
          </a:xfrm>
          <a:prstGeom prst="rect">
            <a:avLst/>
          </a:prstGeom>
        </p:spPr>
      </p:pic>
      <p:sp>
        <p:nvSpPr>
          <p:cNvPr id="48" name="TextBox 47"/>
          <p:cNvSpPr txBox="1"/>
          <p:nvPr/>
        </p:nvSpPr>
        <p:spPr>
          <a:xfrm>
            <a:off x="5202027"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9" name="Picture 48" descr="lock.png"/>
          <p:cNvPicPr>
            <a:picLocks noChangeAspect="1"/>
          </p:cNvPicPr>
          <p:nvPr/>
        </p:nvPicPr>
        <p:blipFill>
          <a:blip r:embed="rId7"/>
          <a:stretch>
            <a:fillRect/>
          </a:stretch>
        </p:blipFill>
        <p:spPr>
          <a:xfrm>
            <a:off x="6536696" y="5467792"/>
            <a:ext cx="134549" cy="195707"/>
          </a:xfrm>
          <a:prstGeom prst="rect">
            <a:avLst/>
          </a:prstGeom>
        </p:spPr>
      </p:pic>
      <p:sp>
        <p:nvSpPr>
          <p:cNvPr id="50" name="TextBox 49"/>
          <p:cNvSpPr txBox="1"/>
          <p:nvPr/>
        </p:nvSpPr>
        <p:spPr>
          <a:xfrm>
            <a:off x="6711805"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1" name="Picture 50" descr="lock.png"/>
          <p:cNvPicPr>
            <a:picLocks noChangeAspect="1"/>
          </p:cNvPicPr>
          <p:nvPr/>
        </p:nvPicPr>
        <p:blipFill>
          <a:blip r:embed="rId7"/>
          <a:stretch>
            <a:fillRect/>
          </a:stretch>
        </p:blipFill>
        <p:spPr>
          <a:xfrm>
            <a:off x="8267261" y="5467792"/>
            <a:ext cx="134549" cy="195707"/>
          </a:xfrm>
          <a:prstGeom prst="rect">
            <a:avLst/>
          </a:prstGeom>
        </p:spPr>
      </p:pic>
      <p:sp>
        <p:nvSpPr>
          <p:cNvPr id="52" name="TextBox 51"/>
          <p:cNvSpPr txBox="1"/>
          <p:nvPr/>
        </p:nvSpPr>
        <p:spPr>
          <a:xfrm>
            <a:off x="8442370"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3" name="TextBox 52"/>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4" name="TextBox 53"/>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5" name="lockshield_10"/>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3"/>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6"/>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Who Shaped Growth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7" name="TextBox 6"/>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Off-Highway Vehicle Market growth, ranked by growth-shaping impact.</a:t>
            </a:r>
          </a:p>
        </p:txBody>
      </p:sp>
      <p:sp>
        <p:nvSpPr>
          <p:cNvPr id="8" name="Rounded Rectangle 7"/>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0" name="TextBox 9"/>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1" name="Connector 10"/>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4" name="Freeform 13"/>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7" name="Rounded Rectangle 16"/>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1" name="TextBox 20"/>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Caterpillar</a:t>
            </a:r>
          </a:p>
        </p:txBody>
      </p:sp>
      <p:sp>
        <p:nvSpPr>
          <p:cNvPr id="22" name="TextBox 21"/>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4" name="Connector 23"/>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27" name="TextBox 26"/>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28" name="Connector 27"/>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0" name="TextBox 29"/>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1" name="TextBox 30"/>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2" name="Connector 31"/>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4" name="TextBox 33"/>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5" name="TextBox 34"/>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6" name="Oval 35"/>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Rounded Rectangle 37"/>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2" name="TextBox 41"/>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Komatsu</a:t>
            </a:r>
          </a:p>
        </p:txBody>
      </p:sp>
      <p:sp>
        <p:nvSpPr>
          <p:cNvPr id="43" name="TextBox 42"/>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4" name="TextBox 43"/>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5" name="Connector 44"/>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48" name="TextBox 47"/>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49" name="Connector 48"/>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1" name="TextBox 50"/>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2" name="TextBox 51"/>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3" name="Connector 52"/>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6" name="TextBox 55"/>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57" name="Oval 56"/>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59" name="Rounded Rectangle 58"/>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3" name="TextBox 62"/>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Volvo Construction Equipment</a:t>
            </a:r>
          </a:p>
        </p:txBody>
      </p:sp>
      <p:sp>
        <p:nvSpPr>
          <p:cNvPr id="64" name="TextBox 63"/>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5" name="TextBox 64"/>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6" name="Connector 65"/>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69" name="TextBox 68"/>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0" name="Connector 69"/>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2" name="TextBox 71"/>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3" name="TextBox 72"/>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4" name="Connector 73"/>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6" name="TextBox 75"/>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77" name="TextBox 76"/>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78" name="Oval 77"/>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0" name="Rounded Rectangle 79"/>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4" name="TextBox 83"/>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Liebherr Group</a:t>
            </a:r>
          </a:p>
        </p:txBody>
      </p:sp>
      <p:sp>
        <p:nvSpPr>
          <p:cNvPr id="85" name="TextBox 84"/>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6" name="TextBox 85"/>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87" name="Connector 86"/>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0" name="TextBox 89"/>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1" name="Connector 90"/>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3" name="TextBox 92"/>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4" name="TextBox 93"/>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5" name="Connector 94"/>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98" name="TextBox 97"/>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99" name="Oval 98"/>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1" name="Rounded Rectangle 100"/>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5" name="TextBox 104"/>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Hitachi Construction Machinery</a:t>
            </a:r>
          </a:p>
        </p:txBody>
      </p:sp>
      <p:sp>
        <p:nvSpPr>
          <p:cNvPr id="106" name="TextBox 105"/>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7" name="TextBox 106"/>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08" name="Connector 107"/>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1" name="TextBox 110"/>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2" name="Connector 111"/>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4" name="TextBox 113"/>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5" name="TextBox 114"/>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6" name="Connector 115"/>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8" name="TextBox 117"/>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19" name="TextBox 118"/>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0" name="Rounded Rectangle 119"/>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2" name="Oval 121"/>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4" name="TextBox 123"/>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5" name="TextBox 124"/>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6" name="Rounded Rectangle 125"/>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28" name="TextBox 127"/>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29" name="Oval 128"/>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1" name="TextBox 130"/>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2" name="TextBox 131"/>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3" name="Rounded Rectangle 132"/>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5" name="TextBox 134"/>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6" name="Oval 135"/>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8" name="TextBox 137"/>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39" name="TextBox 138"/>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0" name="Rounded Rectangle 139"/>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2" name="TextBox 141"/>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3" name="Oval 142"/>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5" name="TextBox 144"/>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6" name="TextBox 145"/>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47" name="Rounded Rectangle 146"/>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49" name="TextBox 148"/>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0" name="Oval 149"/>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2" name="TextBox 151"/>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3" name="TextBox 152"/>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4" name="Rounded Rectangle 153"/>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6" name="Rounded Rectangle 155"/>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58" name="Connector 157"/>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59" name="Oval 158"/>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1" name="TextBox 160"/>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2" name="Oval 161"/>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5" name="Oval 164"/>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68" name="Rectangle 167"/>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0" name="Picture 169" descr="lock.png"/>
          <p:cNvPicPr>
            <a:picLocks noChangeAspect="1"/>
          </p:cNvPicPr>
          <p:nvPr/>
        </p:nvPicPr>
        <p:blipFill>
          <a:blip r:embed="rId4"/>
          <a:stretch>
            <a:fillRect/>
          </a:stretch>
        </p:blipFill>
        <p:spPr>
          <a:xfrm>
            <a:off x="951015" y="6052078"/>
            <a:ext cx="128699" cy="187198"/>
          </a:xfrm>
          <a:prstGeom prst="rect">
            <a:avLst/>
          </a:prstGeom>
        </p:spPr>
      </p:pic>
      <p:pic>
        <p:nvPicPr>
          <p:cNvPr id="171" name="Picture 170" descr="lock.png"/>
          <p:cNvPicPr>
            <a:picLocks noChangeAspect="1"/>
          </p:cNvPicPr>
          <p:nvPr/>
        </p:nvPicPr>
        <p:blipFill>
          <a:blip r:embed="rId4"/>
          <a:stretch>
            <a:fillRect/>
          </a:stretch>
        </p:blipFill>
        <p:spPr>
          <a:xfrm>
            <a:off x="2486445" y="6052078"/>
            <a:ext cx="128699" cy="187198"/>
          </a:xfrm>
          <a:prstGeom prst="rect">
            <a:avLst/>
          </a:prstGeom>
        </p:spPr>
      </p:pic>
      <p:pic>
        <p:nvPicPr>
          <p:cNvPr id="172" name="Picture 171" descr="lock.png"/>
          <p:cNvPicPr>
            <a:picLocks noChangeAspect="1"/>
          </p:cNvPicPr>
          <p:nvPr/>
        </p:nvPicPr>
        <p:blipFill>
          <a:blip r:embed="rId4"/>
          <a:stretch>
            <a:fillRect/>
          </a:stretch>
        </p:blipFill>
        <p:spPr>
          <a:xfrm>
            <a:off x="402187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555730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7092735" y="6052078"/>
            <a:ext cx="128699" cy="187198"/>
          </a:xfrm>
          <a:prstGeom prst="rect">
            <a:avLst/>
          </a:prstGeom>
        </p:spPr>
      </p:pic>
      <p:sp>
        <p:nvSpPr>
          <p:cNvPr id="175" name="TextBox 174"/>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6" name="Picture 175" descr="lock.png"/>
          <p:cNvPicPr>
            <a:picLocks noChangeAspect="1"/>
          </p:cNvPicPr>
          <p:nvPr/>
        </p:nvPicPr>
        <p:blipFill>
          <a:blip r:embed="rId4"/>
          <a:stretch>
            <a:fillRect/>
          </a:stretch>
        </p:blipFill>
        <p:spPr>
          <a:xfrm>
            <a:off x="994083" y="2391038"/>
            <a:ext cx="92663" cy="134782"/>
          </a:xfrm>
          <a:prstGeom prst="rect">
            <a:avLst/>
          </a:prstGeom>
        </p:spPr>
      </p:pic>
      <p:sp>
        <p:nvSpPr>
          <p:cNvPr id="177" name="TextBox 176"/>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3394383" y="2391038"/>
            <a:ext cx="92663" cy="134782"/>
          </a:xfrm>
          <a:prstGeom prst="rect">
            <a:avLst/>
          </a:prstGeom>
        </p:spPr>
      </p:pic>
      <p:sp>
        <p:nvSpPr>
          <p:cNvPr id="179" name="TextBox 178"/>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5794683" y="2391038"/>
            <a:ext cx="92663" cy="134782"/>
          </a:xfrm>
          <a:prstGeom prst="rect">
            <a:avLst/>
          </a:prstGeom>
        </p:spPr>
      </p:pic>
      <p:sp>
        <p:nvSpPr>
          <p:cNvPr id="181" name="TextBox 180"/>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8194983" y="2391038"/>
            <a:ext cx="92663" cy="134782"/>
          </a:xfrm>
          <a:prstGeom prst="rect">
            <a:avLst/>
          </a:prstGeom>
        </p:spPr>
      </p:pic>
      <p:sp>
        <p:nvSpPr>
          <p:cNvPr id="183" name="TextBox 182"/>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2701925"/>
            <a:ext cx="8572500" cy="514350"/>
          </a:xfrm>
          <a:prstGeom prst="rect">
            <a:avLst/>
          </a:prstGeom>
          <a:noFill/>
        </p:spPr>
        <p:txBody>
          <a:bodyPr wrap="square" lIns="0" rIns="0" tIns="0">
            <a:spAutoFit/>
          </a:bodyPr>
          <a:lstStyle/>
          <a:p>
            <a:r>
              <a:rPr sz="3000" b="1">
                <a:solidFill>
                  <a:srgbClr val="0E2A5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Caterpillar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Caterpillar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Caterpillar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Caterpillar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Caterpillar Strategy Analysis</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Caterpillar Executive Market Snapshot (1/5)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Caterpillar: market, addressable opportunity and SOM splits by end-market, region and product.</a:t>
            </a:r>
          </a:p>
        </p:txBody>
      </p:sp>
      <p:sp>
        <p:nvSpPr>
          <p:cNvPr id="8" name="Rounded Rectangle 7"/>
          <p:cNvSpPr/>
          <p:nvPr/>
        </p:nvSpPr>
        <p:spPr>
          <a:xfrm>
            <a:off x="1428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2A5F8F"/>
                </a:solidFill>
                <a:latin typeface="Calibri"/>
              </a:rPr>
              <a:t>1,531,700</a:t>
            </a:r>
          </a:p>
          <a:p>
            <a:pPr algn="ctr">
              <a:lnSpc>
                <a:spcPct val="95000"/>
              </a:lnSpc>
            </a:pPr>
            <a:r>
              <a:rPr sz="1100" b="0">
                <a:solidFill>
                  <a:srgbClr val="6C7A89"/>
                </a:solidFill>
                <a:latin typeface="Calibri"/>
              </a:rPr>
              <a:t>Total market</a:t>
            </a:r>
          </a:p>
        </p:txBody>
      </p:sp>
      <p:sp>
        <p:nvSpPr>
          <p:cNvPr id="9" name="Rounded Rectangle 8"/>
          <p:cNvSpPr/>
          <p:nvPr/>
        </p:nvSpPr>
        <p:spPr>
          <a:xfrm>
            <a:off x="254317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Addressable</a:t>
            </a:r>
          </a:p>
        </p:txBody>
      </p:sp>
      <p:sp>
        <p:nvSpPr>
          <p:cNvPr id="10" name="Rounded Rectangle 9"/>
          <p:cNvSpPr/>
          <p:nvPr/>
        </p:nvSpPr>
        <p:spPr>
          <a:xfrm>
            <a:off x="49530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2A5F8F"/>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7353300"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35828"/>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5" name="Chart 14"/>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6" name="Rounded Rectangle 15"/>
          <p:cNvSpPr/>
          <p:nvPr/>
        </p:nvSpPr>
        <p:spPr>
          <a:xfrm>
            <a:off x="4124325" y="2065976"/>
            <a:ext cx="38290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18" name="Chart 17"/>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19" name="Rounded Rectangle 18"/>
          <p:cNvSpPr/>
          <p:nvPr/>
        </p:nvSpPr>
        <p:spPr>
          <a:xfrm>
            <a:off x="8105775" y="2065976"/>
            <a:ext cx="3943350" cy="2610279"/>
          </a:xfrm>
          <a:prstGeom prst="roundRect">
            <a:avLst>
              <a:gd name="adj" fmla="val 291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1" name="Chart 20"/>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2" name="Rounded Rectangle 21"/>
          <p:cNvSpPr/>
          <p:nvPr/>
        </p:nvSpPr>
        <p:spPr>
          <a:xfrm>
            <a:off x="142875" y="4785777"/>
            <a:ext cx="11906250" cy="1807116"/>
          </a:xfrm>
          <a:prstGeom prst="roundRect">
            <a:avLst>
              <a:gd name="adj" fmla="val 421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24" name="Rectangle 23"/>
          <p:cNvSpPr/>
          <p:nvPr/>
        </p:nvSpPr>
        <p:spPr>
          <a:xfrm>
            <a:off x="276225" y="5109627"/>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6" name="Rectangle 2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8" name="Picture 27" descr="lock.png"/>
          <p:cNvPicPr>
            <a:picLocks noChangeAspect="1"/>
          </p:cNvPicPr>
          <p:nvPr/>
        </p:nvPicPr>
        <p:blipFill>
          <a:blip r:embed="rId7"/>
          <a:stretch>
            <a:fillRect/>
          </a:stretch>
        </p:blipFill>
        <p:spPr>
          <a:xfrm>
            <a:off x="3602831" y="1522714"/>
            <a:ext cx="157162" cy="228600"/>
          </a:xfrm>
          <a:prstGeom prst="rect">
            <a:avLst/>
          </a:prstGeom>
        </p:spPr>
      </p:pic>
      <p:pic>
        <p:nvPicPr>
          <p:cNvPr id="29" name="Picture 28" descr="lock.png"/>
          <p:cNvPicPr>
            <a:picLocks noChangeAspect="1"/>
          </p:cNvPicPr>
          <p:nvPr/>
        </p:nvPicPr>
        <p:blipFill>
          <a:blip r:embed="rId7"/>
          <a:stretch>
            <a:fillRect/>
          </a:stretch>
        </p:blipFill>
        <p:spPr>
          <a:xfrm>
            <a:off x="8412956" y="1522714"/>
            <a:ext cx="157162" cy="228600"/>
          </a:xfrm>
          <a:prstGeom prst="rect">
            <a:avLst/>
          </a:prstGeom>
        </p:spPr>
      </p:pic>
      <p:pic>
        <p:nvPicPr>
          <p:cNvPr id="30" name="Picture 29" descr="lock.png"/>
          <p:cNvPicPr>
            <a:picLocks noChangeAspect="1"/>
          </p:cNvPicPr>
          <p:nvPr/>
        </p:nvPicPr>
        <p:blipFill>
          <a:blip r:embed="rId7"/>
          <a:stretch>
            <a:fillRect/>
          </a:stretch>
        </p:blipFill>
        <p:spPr>
          <a:xfrm>
            <a:off x="1082278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2104623" y="3299104"/>
            <a:ext cx="197242" cy="286897"/>
          </a:xfrm>
          <a:prstGeom prst="rect">
            <a:avLst/>
          </a:prstGeom>
        </p:spPr>
      </p:pic>
      <p:pic>
        <p:nvPicPr>
          <p:cNvPr id="32" name="Picture 31" descr="lock.png"/>
          <p:cNvPicPr>
            <a:picLocks noChangeAspect="1"/>
          </p:cNvPicPr>
          <p:nvPr/>
        </p:nvPicPr>
        <p:blipFill>
          <a:blip r:embed="rId7"/>
          <a:stretch>
            <a:fillRect/>
          </a:stretch>
        </p:blipFill>
        <p:spPr>
          <a:xfrm>
            <a:off x="6086073" y="3299104"/>
            <a:ext cx="197242" cy="286897"/>
          </a:xfrm>
          <a:prstGeom prst="rect">
            <a:avLst/>
          </a:prstGeom>
        </p:spPr>
      </p:pic>
      <p:pic>
        <p:nvPicPr>
          <p:cNvPr id="33" name="Picture 32" descr="lock.png"/>
          <p:cNvPicPr>
            <a:picLocks noChangeAspect="1"/>
          </p:cNvPicPr>
          <p:nvPr/>
        </p:nvPicPr>
        <p:blipFill>
          <a:blip r:embed="rId7"/>
          <a:stretch>
            <a:fillRect/>
          </a:stretch>
        </p:blipFill>
        <p:spPr>
          <a:xfrm>
            <a:off x="9278088" y="3145920"/>
            <a:ext cx="444576" cy="646656"/>
          </a:xfrm>
          <a:prstGeom prst="rect">
            <a:avLst/>
          </a:prstGeom>
        </p:spPr>
      </p:pic>
      <p:sp>
        <p:nvSpPr>
          <p:cNvPr id="34" name="TextBox 33"/>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5" name="Picture 34" descr="lock.png"/>
          <p:cNvPicPr>
            <a:picLocks noChangeAspect="1"/>
          </p:cNvPicPr>
          <p:nvPr/>
        </p:nvPicPr>
        <p:blipFill>
          <a:blip r:embed="rId7"/>
          <a:stretch>
            <a:fillRect/>
          </a:stretch>
        </p:blipFill>
        <p:spPr>
          <a:xfrm>
            <a:off x="6017010" y="1533061"/>
            <a:ext cx="133378" cy="194005"/>
          </a:xfrm>
          <a:prstGeom prst="rect">
            <a:avLst/>
          </a:prstGeom>
        </p:spPr>
      </p:pic>
      <p:pic>
        <p:nvPicPr>
          <p:cNvPr id="36" name="Picture 35" descr="lock.png"/>
          <p:cNvPicPr>
            <a:picLocks noChangeAspect="1"/>
          </p:cNvPicPr>
          <p:nvPr/>
        </p:nvPicPr>
        <p:blipFill>
          <a:blip r:embed="rId7"/>
          <a:stretch>
            <a:fillRect/>
          </a:stretch>
        </p:blipFill>
        <p:spPr>
          <a:xfrm>
            <a:off x="5865805" y="1761621"/>
            <a:ext cx="97811" cy="142270"/>
          </a:xfrm>
          <a:prstGeom prst="rect">
            <a:avLst/>
          </a:prstGeom>
        </p:spPr>
      </p:pic>
      <p:sp>
        <p:nvSpPr>
          <p:cNvPr id="37" name="TextBox 36"/>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38" name="TextBox 37"/>
          <p:cNvSpPr txBox="1"/>
          <p:nvPr/>
        </p:nvSpPr>
        <p:spPr>
          <a:xfrm>
            <a:off x="276225" y="5204877"/>
            <a:ext cx="2453506" cy="194310"/>
          </a:xfrm>
          <a:prstGeom prst="rect">
            <a:avLst/>
          </a:prstGeom>
          <a:noFill/>
        </p:spPr>
        <p:txBody>
          <a:bodyPr wrap="none" lIns="0" rIns="0" tIns="0" bIns="0">
            <a:spAutoFit/>
          </a:bodyPr>
          <a:lstStyle/>
          <a:p>
            <a:r>
              <a:rPr sz="1150" b="0">
                <a:solidFill>
                  <a:srgbClr val="2E2E2E"/>
                </a:solidFill>
                <a:latin typeface="Calibri"/>
              </a:rPr>
              <a:t>▪ Market Position: Caterpillar captures ~</a:t>
            </a:r>
          </a:p>
        </p:txBody>
      </p:sp>
      <p:pic>
        <p:nvPicPr>
          <p:cNvPr id="39" name="Picture 38" descr="lock.png"/>
          <p:cNvPicPr>
            <a:picLocks noChangeAspect="1"/>
          </p:cNvPicPr>
          <p:nvPr/>
        </p:nvPicPr>
        <p:blipFill>
          <a:blip r:embed="rId7"/>
          <a:stretch>
            <a:fillRect/>
          </a:stretch>
        </p:blipFill>
        <p:spPr>
          <a:xfrm>
            <a:off x="2678884" y="5194653"/>
            <a:ext cx="134549" cy="195707"/>
          </a:xfrm>
          <a:prstGeom prst="rect">
            <a:avLst/>
          </a:prstGeom>
        </p:spPr>
      </p:pic>
      <p:sp>
        <p:nvSpPr>
          <p:cNvPr id="40" name="TextBox 39"/>
          <p:cNvSpPr txBox="1"/>
          <p:nvPr/>
        </p:nvSpPr>
        <p:spPr>
          <a:xfrm>
            <a:off x="2853994" y="5204877"/>
            <a:ext cx="5825777"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'Other Specialized Propulsion Configurations'.</a:t>
            </a:r>
          </a:p>
        </p:txBody>
      </p:sp>
      <p:sp>
        <p:nvSpPr>
          <p:cNvPr id="41" name="TextBox 40"/>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2" name="Picture 41" descr="lock.png"/>
          <p:cNvPicPr>
            <a:picLocks noChangeAspect="1"/>
          </p:cNvPicPr>
          <p:nvPr/>
        </p:nvPicPr>
        <p:blipFill>
          <a:blip r:embed="rId7"/>
          <a:stretch>
            <a:fillRect/>
          </a:stretch>
        </p:blipFill>
        <p:spPr>
          <a:xfrm>
            <a:off x="7583825" y="5422491"/>
            <a:ext cx="134549" cy="195707"/>
          </a:xfrm>
          <a:prstGeom prst="rect">
            <a:avLst/>
          </a:prstGeom>
        </p:spPr>
      </p:pic>
      <p:sp>
        <p:nvSpPr>
          <p:cNvPr id="43" name="TextBox 42"/>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4" name="TextBox 43"/>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5" name="Picture 44" descr="lock.png"/>
          <p:cNvPicPr>
            <a:picLocks noChangeAspect="1"/>
          </p:cNvPicPr>
          <p:nvPr/>
        </p:nvPicPr>
        <p:blipFill>
          <a:blip r:embed="rId7"/>
          <a:stretch>
            <a:fillRect/>
          </a:stretch>
        </p:blipFill>
        <p:spPr>
          <a:xfrm>
            <a:off x="1617169" y="5650329"/>
            <a:ext cx="134549" cy="195707"/>
          </a:xfrm>
          <a:prstGeom prst="rect">
            <a:avLst/>
          </a:prstGeom>
        </p:spPr>
      </p:pic>
      <p:sp>
        <p:nvSpPr>
          <p:cNvPr id="46" name="TextBox 45"/>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7" name="Picture 46" descr="lock.png"/>
          <p:cNvPicPr>
            <a:picLocks noChangeAspect="1"/>
          </p:cNvPicPr>
          <p:nvPr/>
        </p:nvPicPr>
        <p:blipFill>
          <a:blip r:embed="rId7"/>
          <a:stretch>
            <a:fillRect/>
          </a:stretch>
        </p:blipFill>
        <p:spPr>
          <a:xfrm>
            <a:off x="2870505" y="5650329"/>
            <a:ext cx="134549" cy="195707"/>
          </a:xfrm>
          <a:prstGeom prst="rect">
            <a:avLst/>
          </a:prstGeom>
        </p:spPr>
      </p:pic>
      <p:sp>
        <p:nvSpPr>
          <p:cNvPr id="48" name="TextBox 47"/>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49" name="TextBox 48"/>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0" name="Picture 49" descr="lock.png"/>
          <p:cNvPicPr>
            <a:picLocks noChangeAspect="1"/>
          </p:cNvPicPr>
          <p:nvPr/>
        </p:nvPicPr>
        <p:blipFill>
          <a:blip r:embed="rId7"/>
          <a:stretch>
            <a:fillRect/>
          </a:stretch>
        </p:blipFill>
        <p:spPr>
          <a:xfrm>
            <a:off x="1578914" y="5878167"/>
            <a:ext cx="134549" cy="195707"/>
          </a:xfrm>
          <a:prstGeom prst="rect">
            <a:avLst/>
          </a:prstGeom>
        </p:spPr>
      </p:pic>
      <p:sp>
        <p:nvSpPr>
          <p:cNvPr id="51" name="TextBox 50"/>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2" name="Picture 51" descr="lock.png"/>
          <p:cNvPicPr>
            <a:picLocks noChangeAspect="1"/>
          </p:cNvPicPr>
          <p:nvPr/>
        </p:nvPicPr>
        <p:blipFill>
          <a:blip r:embed="rId7"/>
          <a:stretch>
            <a:fillRect/>
          </a:stretch>
        </p:blipFill>
        <p:spPr>
          <a:xfrm>
            <a:off x="2775769" y="5878167"/>
            <a:ext cx="134549" cy="195707"/>
          </a:xfrm>
          <a:prstGeom prst="rect">
            <a:avLst/>
          </a:prstGeom>
        </p:spPr>
      </p:pic>
      <p:sp>
        <p:nvSpPr>
          <p:cNvPr id="53" name="TextBox 52"/>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4" name="Picture 53" descr="lock.png"/>
          <p:cNvPicPr>
            <a:picLocks noChangeAspect="1"/>
          </p:cNvPicPr>
          <p:nvPr/>
        </p:nvPicPr>
        <p:blipFill>
          <a:blip r:embed="rId7"/>
          <a:stretch>
            <a:fillRect/>
          </a:stretch>
        </p:blipFill>
        <p:spPr>
          <a:xfrm>
            <a:off x="4037092" y="5878167"/>
            <a:ext cx="134549" cy="195707"/>
          </a:xfrm>
          <a:prstGeom prst="rect">
            <a:avLst/>
          </a:prstGeom>
        </p:spPr>
      </p:pic>
      <p:sp>
        <p:nvSpPr>
          <p:cNvPr id="55" name="TextBox 54"/>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6" name="lockshield_15"/>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8"/>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21"/>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Caterpillar Regional Penetration &amp; Win Position (2/5)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7" name="Rounded Rectangle 6"/>
          <p:cNvSpPr/>
          <p:nvPr/>
        </p:nvSpPr>
        <p:spPr>
          <a:xfrm>
            <a:off x="142875" y="1007261"/>
            <a:ext cx="11906250" cy="255552"/>
          </a:xfrm>
          <a:prstGeom prst="roundRect">
            <a:avLst>
              <a:gd name="adj" fmla="val 2981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Caterpillar: SOM vs SAM by region, win position, TAM/SAM/SOM and go-to-market benchmarks.</a:t>
            </a:r>
          </a:p>
        </p:txBody>
      </p:sp>
      <p:sp>
        <p:nvSpPr>
          <p:cNvPr id="8" name="Rounded Rectangle 7"/>
          <p:cNvSpPr/>
          <p:nvPr/>
        </p:nvSpPr>
        <p:spPr>
          <a:xfrm>
            <a:off x="142875" y="1299320"/>
            <a:ext cx="590550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0" name="Chart 9"/>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1" name="Rounded Rectangle 10"/>
          <p:cNvSpPr/>
          <p:nvPr/>
        </p:nvSpPr>
        <p:spPr>
          <a:xfrm>
            <a:off x="6162675" y="1299320"/>
            <a:ext cx="5886450" cy="2263459"/>
          </a:xfrm>
          <a:prstGeom prst="roundRect">
            <a:avLst>
              <a:gd name="adj" fmla="val 336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3" name="Connector 12"/>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6" name="TextBox 15"/>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17" name="TextBox 16"/>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18" name="TextBox 17"/>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19" name="TextBox 18"/>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0" name="TextBox 19"/>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1" name="Oval 20"/>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Caterpillar</a:t>
            </a:r>
          </a:p>
        </p:txBody>
      </p:sp>
      <p:sp>
        <p:nvSpPr>
          <p:cNvPr id="23" name="Oval 22"/>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5" name="Oval 24"/>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27" name="Rounded Rectangle 26"/>
          <p:cNvSpPr/>
          <p:nvPr/>
        </p:nvSpPr>
        <p:spPr>
          <a:xfrm>
            <a:off x="142875" y="3635794"/>
            <a:ext cx="590550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29" name="Rectangle 28"/>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1,531,700 US$ Mn</a:t>
            </a:r>
          </a:p>
        </p:txBody>
      </p:sp>
      <p:sp>
        <p:nvSpPr>
          <p:cNvPr id="30" name="Rectangle 29"/>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1" name="Rectangle 30"/>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2" name="Rounded Rectangle 31"/>
          <p:cNvSpPr/>
          <p:nvPr/>
        </p:nvSpPr>
        <p:spPr>
          <a:xfrm>
            <a:off x="6162675" y="3635794"/>
            <a:ext cx="5886450" cy="1661086"/>
          </a:xfrm>
          <a:prstGeom prst="roundRect">
            <a:avLst>
              <a:gd name="adj" fmla="val 4587"/>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4" name="Rectangle 33"/>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6" name="Rectangle 35"/>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38" name="TextBox 37"/>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39" name="Rectangle 38"/>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2" name="Rectangle 41"/>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5" name="Rectangle 44"/>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42875" y="5369895"/>
            <a:ext cx="11906250" cy="1259505"/>
          </a:xfrm>
          <a:prstGeom prst="roundRect">
            <a:avLst>
              <a:gd name="adj" fmla="val 604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E2A5C"/>
                </a:solidFill>
                <a:latin typeface="Calibri"/>
              </a:rPr>
              <a:t>Key Takeaways</a:t>
            </a:r>
          </a:p>
        </p:txBody>
      </p:sp>
      <p:sp>
        <p:nvSpPr>
          <p:cNvPr id="49" name="Rectangle 48"/>
          <p:cNvSpPr/>
          <p:nvPr/>
        </p:nvSpPr>
        <p:spPr>
          <a:xfrm>
            <a:off x="276225" y="5693745"/>
            <a:ext cx="116395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00" b="0">
                <a:solidFill>
                  <a:srgbClr val="2E2E2E"/>
                </a:solidFill>
                <a:latin typeface="Calibri"/>
              </a:rPr>
              <a:t/>
            </a:r>
          </a:p>
        </p:txBody>
      </p:sp>
      <p:sp>
        <p:nvSpPr>
          <p:cNvPr id="51" name="Rectangle 5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53" name="Picture 52" descr="lock.png"/>
          <p:cNvPicPr>
            <a:picLocks noChangeAspect="1"/>
          </p:cNvPicPr>
          <p:nvPr/>
        </p:nvPicPr>
        <p:blipFill>
          <a:blip r:embed="rId5"/>
          <a:stretch>
            <a:fillRect/>
          </a:stretch>
        </p:blipFill>
        <p:spPr>
          <a:xfrm>
            <a:off x="3327425" y="2314517"/>
            <a:ext cx="199521" cy="290213"/>
          </a:xfrm>
          <a:prstGeom prst="rect">
            <a:avLst/>
          </a:prstGeom>
        </p:spPr>
      </p:pic>
      <p:sp>
        <p:nvSpPr>
          <p:cNvPr id="54" name="TextBox 53"/>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55" name="Picture 54" descr="lock.png"/>
          <p:cNvPicPr>
            <a:picLocks noChangeAspect="1"/>
          </p:cNvPicPr>
          <p:nvPr/>
        </p:nvPicPr>
        <p:blipFill>
          <a:blip r:embed="rId5"/>
          <a:stretch>
            <a:fillRect/>
          </a:stretch>
        </p:blipFill>
        <p:spPr>
          <a:xfrm>
            <a:off x="735202" y="4482783"/>
            <a:ext cx="134549" cy="195707"/>
          </a:xfrm>
          <a:prstGeom prst="rect">
            <a:avLst/>
          </a:prstGeom>
        </p:spPr>
      </p:pic>
      <p:sp>
        <p:nvSpPr>
          <p:cNvPr id="56" name="TextBox 55"/>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57" name="Picture 56" descr="lock.png"/>
          <p:cNvPicPr>
            <a:picLocks noChangeAspect="1"/>
          </p:cNvPicPr>
          <p:nvPr/>
        </p:nvPicPr>
        <p:blipFill>
          <a:blip r:embed="rId5"/>
          <a:stretch>
            <a:fillRect/>
          </a:stretch>
        </p:blipFill>
        <p:spPr>
          <a:xfrm>
            <a:off x="1454256" y="4482783"/>
            <a:ext cx="134549" cy="195707"/>
          </a:xfrm>
          <a:prstGeom prst="rect">
            <a:avLst/>
          </a:prstGeom>
        </p:spPr>
      </p:pic>
      <p:sp>
        <p:nvSpPr>
          <p:cNvPr id="58" name="TextBox 57"/>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0" name="Picture 59" descr="lock.png"/>
          <p:cNvPicPr>
            <a:picLocks noChangeAspect="1"/>
          </p:cNvPicPr>
          <p:nvPr/>
        </p:nvPicPr>
        <p:blipFill>
          <a:blip r:embed="rId5"/>
          <a:stretch>
            <a:fillRect/>
          </a:stretch>
        </p:blipFill>
        <p:spPr>
          <a:xfrm>
            <a:off x="745471" y="4960279"/>
            <a:ext cx="134549" cy="195707"/>
          </a:xfrm>
          <a:prstGeom prst="rect">
            <a:avLst/>
          </a:prstGeom>
        </p:spPr>
      </p:pic>
      <p:sp>
        <p:nvSpPr>
          <p:cNvPr id="61" name="TextBox 60"/>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2" name="Picture 61" descr="lock.png"/>
          <p:cNvPicPr>
            <a:picLocks noChangeAspect="1"/>
          </p:cNvPicPr>
          <p:nvPr/>
        </p:nvPicPr>
        <p:blipFill>
          <a:blip r:embed="rId5"/>
          <a:stretch>
            <a:fillRect/>
          </a:stretch>
        </p:blipFill>
        <p:spPr>
          <a:xfrm>
            <a:off x="1461102" y="4960279"/>
            <a:ext cx="134549" cy="195707"/>
          </a:xfrm>
          <a:prstGeom prst="rect">
            <a:avLst/>
          </a:prstGeom>
        </p:spPr>
      </p:pic>
      <p:sp>
        <p:nvSpPr>
          <p:cNvPr id="63" name="TextBox 62"/>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65" name="TextBox 64"/>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66" name="Picture 65" descr="lock.png"/>
          <p:cNvPicPr>
            <a:picLocks noChangeAspect="1"/>
          </p:cNvPicPr>
          <p:nvPr/>
        </p:nvPicPr>
        <p:blipFill>
          <a:blip r:embed="rId5"/>
          <a:stretch>
            <a:fillRect/>
          </a:stretch>
        </p:blipFill>
        <p:spPr>
          <a:xfrm>
            <a:off x="1522276" y="5997147"/>
            <a:ext cx="128699" cy="187198"/>
          </a:xfrm>
          <a:prstGeom prst="rect">
            <a:avLst/>
          </a:prstGeom>
        </p:spPr>
      </p:pic>
      <p:sp>
        <p:nvSpPr>
          <p:cNvPr id="67" name="TextBox 66"/>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8" name="Picture 67" descr="lock.png"/>
          <p:cNvPicPr>
            <a:picLocks noChangeAspect="1"/>
          </p:cNvPicPr>
          <p:nvPr/>
        </p:nvPicPr>
        <p:blipFill>
          <a:blip r:embed="rId5"/>
          <a:stretch>
            <a:fillRect/>
          </a:stretch>
        </p:blipFill>
        <p:spPr>
          <a:xfrm>
            <a:off x="2667093" y="5997147"/>
            <a:ext cx="128699" cy="187198"/>
          </a:xfrm>
          <a:prstGeom prst="rect">
            <a:avLst/>
          </a:prstGeom>
        </p:spPr>
      </p:pic>
      <p:sp>
        <p:nvSpPr>
          <p:cNvPr id="69" name="TextBox 68"/>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0" name="Picture 69" descr="lock.png"/>
          <p:cNvPicPr>
            <a:picLocks noChangeAspect="1"/>
          </p:cNvPicPr>
          <p:nvPr/>
        </p:nvPicPr>
        <p:blipFill>
          <a:blip r:embed="rId5"/>
          <a:stretch>
            <a:fillRect/>
          </a:stretch>
        </p:blipFill>
        <p:spPr>
          <a:xfrm>
            <a:off x="5094041" y="5997147"/>
            <a:ext cx="128699" cy="187198"/>
          </a:xfrm>
          <a:prstGeom prst="rect">
            <a:avLst/>
          </a:prstGeom>
        </p:spPr>
      </p:pic>
      <p:sp>
        <p:nvSpPr>
          <p:cNvPr id="71" name="TextBox 70"/>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2" name="TextBox 71"/>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3" name="Picture 72" descr="lock.png"/>
          <p:cNvPicPr>
            <a:picLocks noChangeAspect="1"/>
          </p:cNvPicPr>
          <p:nvPr/>
        </p:nvPicPr>
        <p:blipFill>
          <a:blip r:embed="rId5"/>
          <a:stretch>
            <a:fillRect/>
          </a:stretch>
        </p:blipFill>
        <p:spPr>
          <a:xfrm>
            <a:off x="2839292" y="6215079"/>
            <a:ext cx="128699" cy="187198"/>
          </a:xfrm>
          <a:prstGeom prst="rect">
            <a:avLst/>
          </a:prstGeom>
        </p:spPr>
      </p:pic>
      <p:sp>
        <p:nvSpPr>
          <p:cNvPr id="74" name="TextBox 73"/>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75" name="lockshield_10"/>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Caterpillar SWOT Analysis (3/5)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Caterpillar: strengths, weaknesses, opportunities and threats shaping its competitive position</a:t>
            </a:r>
          </a:p>
        </p:txBody>
      </p:sp>
      <p:sp>
        <p:nvSpPr>
          <p:cNvPr id="7" name="TextBox 6"/>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Caterpillar: strengths, weaknesses, opportunities and threats (indicative).</a:t>
            </a:r>
          </a:p>
        </p:txBody>
      </p:sp>
      <p:cxnSp>
        <p:nvCxnSpPr>
          <p:cNvPr id="8" name="Connector 7"/>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3" name="TextBox 22"/>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4" name="TextBox 23"/>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5" name="TextBox 24"/>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6" name="TextBox 25"/>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27" name="Rectangle 26"/>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0" name="Oval 29"/>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2" name="Oval 31"/>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5" name="Rectangle 34"/>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8" name="Oval 37"/>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0" name="Oval 39"/>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2" name="TextBox 41"/>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3" name="Rectangle 42"/>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6" name="Oval 45"/>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48" name="Oval 47"/>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0" name="TextBox 49"/>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1" name="Rectangle 50"/>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'Construction and Mining Vehicles' and adjacent high-value lines.</a:t>
            </a:r>
          </a:p>
        </p:txBody>
      </p:sp>
      <p:sp>
        <p:nvSpPr>
          <p:cNvPr id="54" name="Oval 53"/>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6" name="Oval 55"/>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58" name="TextBox 57"/>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61" name="TextBox 60"/>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2" name="Picture 61" descr="lock.png"/>
          <p:cNvPicPr>
            <a:picLocks noChangeAspect="1"/>
          </p:cNvPicPr>
          <p:nvPr/>
        </p:nvPicPr>
        <p:blipFill>
          <a:blip r:embed="rId4"/>
          <a:stretch>
            <a:fillRect/>
          </a:stretch>
        </p:blipFill>
        <p:spPr>
          <a:xfrm>
            <a:off x="455778" y="1633005"/>
            <a:ext cx="128699" cy="187198"/>
          </a:xfrm>
          <a:prstGeom prst="rect">
            <a:avLst/>
          </a:prstGeom>
        </p:spPr>
      </p:pic>
      <p:sp>
        <p:nvSpPr>
          <p:cNvPr id="63" name="TextBox 62"/>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4" name="Picture 63" descr="lock.png"/>
          <p:cNvPicPr>
            <a:picLocks noChangeAspect="1"/>
          </p:cNvPicPr>
          <p:nvPr/>
        </p:nvPicPr>
        <p:blipFill>
          <a:blip r:embed="rId4"/>
          <a:stretch>
            <a:fillRect/>
          </a:stretch>
        </p:blipFill>
        <p:spPr>
          <a:xfrm>
            <a:off x="1600596" y="1633005"/>
            <a:ext cx="128699" cy="187198"/>
          </a:xfrm>
          <a:prstGeom prst="rect">
            <a:avLst/>
          </a:prstGeom>
        </p:spPr>
      </p:pic>
      <p:sp>
        <p:nvSpPr>
          <p:cNvPr id="65" name="TextBox 64"/>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6" name="TextBox 65"/>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7" name="Picture 66" descr="lock.png"/>
          <p:cNvPicPr>
            <a:picLocks noChangeAspect="1"/>
          </p:cNvPicPr>
          <p:nvPr/>
        </p:nvPicPr>
        <p:blipFill>
          <a:blip r:embed="rId4"/>
          <a:stretch>
            <a:fillRect/>
          </a:stretch>
        </p:blipFill>
        <p:spPr>
          <a:xfrm>
            <a:off x="348482" y="2655212"/>
            <a:ext cx="128699" cy="187198"/>
          </a:xfrm>
          <a:prstGeom prst="rect">
            <a:avLst/>
          </a:prstGeom>
        </p:spPr>
      </p:pic>
      <p:sp>
        <p:nvSpPr>
          <p:cNvPr id="68" name="TextBox 67"/>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69" name="Picture 68" descr="lock.png"/>
          <p:cNvPicPr>
            <a:picLocks noChangeAspect="1"/>
          </p:cNvPicPr>
          <p:nvPr/>
        </p:nvPicPr>
        <p:blipFill>
          <a:blip r:embed="rId4"/>
          <a:stretch>
            <a:fillRect/>
          </a:stretch>
        </p:blipFill>
        <p:spPr>
          <a:xfrm>
            <a:off x="1547325" y="2655212"/>
            <a:ext cx="128699" cy="187198"/>
          </a:xfrm>
          <a:prstGeom prst="rect">
            <a:avLst/>
          </a:prstGeom>
        </p:spPr>
      </p:pic>
      <p:sp>
        <p:nvSpPr>
          <p:cNvPr id="70" name="TextBox 69"/>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1" name="TextBox 70"/>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2" name="TextBox 71"/>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3" name="Picture 72" descr="lock.png"/>
          <p:cNvPicPr>
            <a:picLocks noChangeAspect="1"/>
          </p:cNvPicPr>
          <p:nvPr/>
        </p:nvPicPr>
        <p:blipFill>
          <a:blip r:embed="rId4"/>
          <a:stretch>
            <a:fillRect/>
          </a:stretch>
        </p:blipFill>
        <p:spPr>
          <a:xfrm>
            <a:off x="8599653" y="1716825"/>
            <a:ext cx="128699" cy="187198"/>
          </a:xfrm>
          <a:prstGeom prst="rect">
            <a:avLst/>
          </a:prstGeom>
        </p:spPr>
      </p:pic>
      <p:sp>
        <p:nvSpPr>
          <p:cNvPr id="74" name="TextBox 73"/>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5" name="TextBox 74"/>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6" name="Picture 75" descr="lock.png"/>
          <p:cNvPicPr>
            <a:picLocks noChangeAspect="1"/>
          </p:cNvPicPr>
          <p:nvPr/>
        </p:nvPicPr>
        <p:blipFill>
          <a:blip r:embed="rId4"/>
          <a:stretch>
            <a:fillRect/>
          </a:stretch>
        </p:blipFill>
        <p:spPr>
          <a:xfrm>
            <a:off x="1634497" y="4473133"/>
            <a:ext cx="128699" cy="187198"/>
          </a:xfrm>
          <a:prstGeom prst="rect">
            <a:avLst/>
          </a:prstGeom>
        </p:spPr>
      </p:pic>
      <p:sp>
        <p:nvSpPr>
          <p:cNvPr id="77" name="TextBox 76"/>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Caterpillar Key Financials (4/5)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Caterpillar's financial performance, key ratios and pricing, highlighting margin and momentum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Caterpillar (all figures indicative, USD Mn unless noted).</a:t>
            </a:r>
          </a:p>
        </p:txBody>
      </p:sp>
      <p:sp>
        <p:nvSpPr>
          <p:cNvPr id="8" name="Rounded Rectangle 7"/>
          <p:cNvSpPr/>
          <p:nvPr/>
        </p:nvSpPr>
        <p:spPr>
          <a:xfrm>
            <a:off x="142875" y="1354081"/>
            <a:ext cx="5905500" cy="1916638"/>
          </a:xfrm>
          <a:prstGeom prst="roundRect">
            <a:avLst>
              <a:gd name="adj" fmla="val 397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Caterpillar Financial Performance</a:t>
            </a:r>
          </a:p>
        </p:txBody>
      </p:sp>
      <p:graphicFrame>
        <p:nvGraphicFramePr>
          <p:cNvPr id="10" name="Table 9"/>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194924"/>
                <a:gridCol w="738305"/>
                <a:gridCol w="738305"/>
                <a:gridCol w="738305"/>
                <a:gridCol w="738305"/>
                <a:gridCol w="738305"/>
              </a:tblGrid>
              <a:tr h="246126">
                <a:tc>
                  <a:txBody>
                    <a:bodyPr wrap="none"/>
                    <a:lstStyle/>
                    <a:p>
                      <a:pPr algn="l"/>
                      <a:r>
                        <a:rPr sz="1100" b="1">
                          <a:solidFill>
                            <a:srgbClr val="0E2A5C"/>
                          </a:solidFill>
                          <a:latin typeface="Calibri"/>
                        </a:rPr>
                        <a:t>USD Mn</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1" name="TextBox 10"/>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2" name="Rounded Rectangle 11"/>
          <p:cNvSpPr/>
          <p:nvPr/>
        </p:nvSpPr>
        <p:spPr>
          <a:xfrm>
            <a:off x="142875" y="3398495"/>
            <a:ext cx="5905500" cy="3194397"/>
          </a:xfrm>
          <a:prstGeom prst="roundRect">
            <a:avLst>
              <a:gd name="adj" fmla="val 2385"/>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Caterpillar Key Ratios</a:t>
            </a:r>
          </a:p>
        </p:txBody>
      </p:sp>
      <p:graphicFrame>
        <p:nvGraphicFramePr>
          <p:cNvPr id="14" name="Table 13"/>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E2A5C"/>
                          </a:solidFill>
                          <a:latin typeface="Calibri"/>
                        </a:rPr>
                        <a:t>Key Ratios</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2021A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2022A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2023A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16" name="Rounded Rectangle 15"/>
          <p:cNvSpPr/>
          <p:nvPr/>
        </p:nvSpPr>
        <p:spPr>
          <a:xfrm>
            <a:off x="6200775" y="1354081"/>
            <a:ext cx="5848350" cy="5238811"/>
          </a:xfrm>
          <a:prstGeom prst="roundRect">
            <a:avLst>
              <a:gd name="adj" fmla="val 1454"/>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Caterpillar Pricing Analysis (US$/Units)</a:t>
            </a:r>
          </a:p>
        </p:txBody>
      </p:sp>
      <p:graphicFrame>
        <p:nvGraphicFramePr>
          <p:cNvPr id="18" name="Table 17"/>
          <p:cNvGraphicFramePr>
            <a:graphicFrameLocks noGrp="1"/>
          </p:cNvGraphicFramePr>
          <p:nvPr/>
        </p:nvGraphicFramePr>
        <p:xfrm>
          <a:off x="6210300" y="1611256"/>
          <a:ext cx="5829301" cy="4772086"/>
        </p:xfrm>
        <a:graphic>
          <a:graphicData uri="http://schemas.openxmlformats.org/drawingml/2006/table">
            <a:tbl>
              <a:tblPr>
                <a:tableStyleId>{5C22544A-7EE6-4342-B048-85BDC9FD1C3A}</a:tableStyleId>
              </a:tblPr>
              <a:tblGrid>
                <a:gridCol w="4169901"/>
                <a:gridCol w="829700"/>
                <a:gridCol w="829700"/>
              </a:tblGrid>
              <a:tr h="246126">
                <a:tc>
                  <a:txBody>
                    <a:bodyPr wrap="none"/>
                    <a:lstStyle/>
                    <a:p>
                      <a:pPr algn="l"/>
                      <a:r>
                        <a:rPr sz="1100" b="1">
                          <a:solidFill>
                            <a:srgbClr val="0E2A5C"/>
                          </a:solidFill>
                          <a:latin typeface="Calibri"/>
                        </a:rPr>
                        <a:t>Product Type</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2020A</a:t>
                      </a:r>
                      <a:endParaRPr sz="1100"/>
                    </a:p>
                  </a:txBody>
                  <a:tcPr marL="47625" marR="38100" marT="19050" marB="19050" anchor="ctr">
                    <a:solidFill>
                      <a:srgbClr val="EBF2F9"/>
                    </a:solidFill>
                  </a:tcPr>
                </a:tc>
                <a:tc>
                  <a:txBody>
                    <a:bodyPr wrap="none"/>
                    <a:lstStyle/>
                    <a:p>
                      <a:pPr algn="ctr"/>
                      <a:r>
                        <a:rPr sz="1100" b="1">
                          <a:solidFill>
                            <a:srgbClr val="0E2A5C"/>
                          </a:solidFill>
                          <a:latin typeface="Calibri"/>
                        </a:rPr>
                        <a:t>2024A</a:t>
                      </a:r>
                      <a:endParaRPr sz="1100"/>
                    </a:p>
                  </a:txBody>
                  <a:tcPr marL="47625" marR="38100" marT="19050" marB="19050" anchor="ctr">
                    <a:solidFill>
                      <a:srgbClr val="EBF2F9"/>
                    </a:solidFill>
                  </a:tcPr>
                </a:tc>
              </a:tr>
              <a:tr h="1131490">
                <a:tc>
                  <a:txBody>
                    <a:bodyPr wrap="none"/>
                    <a:lstStyle/>
                    <a:p>
                      <a:pPr algn="l"/>
                      <a:r>
                        <a:rPr sz="1100" b="1">
                          <a:solidFill>
                            <a:srgbClr val="2E2E2E"/>
                          </a:solidFill>
                          <a:latin typeface="Calibri"/>
                        </a:rPr>
                        <a:t>Construction and Mining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Agriculture and Forestry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r h="1131490">
                <a:tc>
                  <a:txBody>
                    <a:bodyPr wrap="none"/>
                    <a:lstStyle/>
                    <a:p>
                      <a:pPr algn="l"/>
                      <a:r>
                        <a:rPr sz="1100" b="1">
                          <a:solidFill>
                            <a:srgbClr val="2E2E2E"/>
                          </a:solidFill>
                          <a:latin typeface="Calibri"/>
                        </a:rPr>
                        <a:t>Military Vehicles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131490">
                <a:tc>
                  <a:txBody>
                    <a:bodyPr wrap="none"/>
                    <a:lstStyle/>
                    <a:p>
                      <a:pPr algn="l"/>
                      <a:r>
                        <a:rPr sz="1100" b="1">
                          <a:solidFill>
                            <a:srgbClr val="2E2E2E"/>
                          </a:solidFill>
                          <a:latin typeface="Calibri"/>
                        </a:rPr>
                        <a:t>Recreational and Powersports Vehicles</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c>
                  <a:txBody>
                    <a:bodyPr wrap="none"/>
                    <a:lstStyle/>
                    <a:p>
                      <a:pPr algn="ctr"/>
                      <a:r>
                        <a:rPr sz="1100"/>
                        <a:t> </a:t>
                      </a:r>
                      <a:endParaRPr sz="1100"/>
                    </a:p>
                  </a:txBody>
                  <a:tcPr marL="47625" marR="38100" marT="19050" marB="19050" anchor="ctr">
                    <a:solidFill>
                      <a:srgbClr val="F5F9FD"/>
                    </a:solidFill>
                  </a:tcPr>
                </a:tc>
              </a:tr>
            </a:tbl>
          </a:graphicData>
        </a:graphic>
      </p:graphicFrame>
      <p:sp>
        <p:nvSpPr>
          <p:cNvPr id="19" name="TextBox 18"/>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TMR Analysis, 2026</a:t>
            </a:r>
          </a:p>
        </p:txBody>
      </p:sp>
      <p:sp>
        <p:nvSpPr>
          <p:cNvPr id="20" name="Rectangle 1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2" name="Picture 21" descr="lock.png"/>
          <p:cNvPicPr>
            <a:picLocks noChangeAspect="1"/>
          </p:cNvPicPr>
          <p:nvPr/>
        </p:nvPicPr>
        <p:blipFill>
          <a:blip r:embed="rId4"/>
          <a:stretch>
            <a:fillRect/>
          </a:stretch>
        </p:blipFill>
        <p:spPr>
          <a:xfrm>
            <a:off x="4025065" y="2219245"/>
            <a:ext cx="330041" cy="480060"/>
          </a:xfrm>
          <a:prstGeom prst="rect">
            <a:avLst/>
          </a:prstGeom>
        </p:spPr>
      </p:pic>
      <p:pic>
        <p:nvPicPr>
          <p:cNvPr id="23" name="Picture 22" descr="lock.png"/>
          <p:cNvPicPr>
            <a:picLocks noChangeAspect="1"/>
          </p:cNvPicPr>
          <p:nvPr/>
        </p:nvPicPr>
        <p:blipFill>
          <a:blip r:embed="rId4"/>
          <a:stretch>
            <a:fillRect/>
          </a:stretch>
        </p:blipFill>
        <p:spPr>
          <a:xfrm>
            <a:off x="3838564" y="4875868"/>
            <a:ext cx="366712" cy="533400"/>
          </a:xfrm>
          <a:prstGeom prst="rect">
            <a:avLst/>
          </a:prstGeom>
        </p:spPr>
      </p:pic>
      <p:pic>
        <p:nvPicPr>
          <p:cNvPr id="24" name="Picture 23" descr="lock.png"/>
          <p:cNvPicPr>
            <a:picLocks noChangeAspect="1"/>
          </p:cNvPicPr>
          <p:nvPr/>
        </p:nvPicPr>
        <p:blipFill>
          <a:blip r:embed="rId4"/>
          <a:stretch>
            <a:fillRect/>
          </a:stretch>
        </p:blipFill>
        <p:spPr>
          <a:xfrm>
            <a:off x="11023211" y="3853662"/>
            <a:ext cx="366712" cy="533400"/>
          </a:xfrm>
          <a:prstGeom prst="rect">
            <a:avLst/>
          </a:prstGeom>
        </p:spPr>
      </p:pic>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Caterpillar Strategy Analysis (5/5)</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Caterpillar's strategic priorities and the competitive moves that support them</a:t>
            </a:r>
          </a:p>
        </p:txBody>
      </p:sp>
      <p:sp>
        <p:nvSpPr>
          <p:cNvPr id="7" name="Rounded Rectangle 6"/>
          <p:cNvSpPr/>
          <p:nvPr/>
        </p:nvSpPr>
        <p:spPr>
          <a:xfrm>
            <a:off x="142875" y="1007261"/>
            <a:ext cx="11906250" cy="273805"/>
          </a:xfrm>
          <a:prstGeom prst="roundRect">
            <a:avLst>
              <a:gd name="adj" fmla="val 27829"/>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Caterpillar: strategic priorities and the competitive moves that support them (indicative).</a:t>
            </a:r>
          </a:p>
        </p:txBody>
      </p:sp>
      <p:sp>
        <p:nvSpPr>
          <p:cNvPr id="8" name="Rounded Rectangle 7"/>
          <p:cNvSpPr/>
          <p:nvPr/>
        </p:nvSpPr>
        <p:spPr>
          <a:xfrm>
            <a:off x="1428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of global value</a:t>
            </a:r>
          </a:p>
        </p:txBody>
      </p:sp>
      <p:sp>
        <p:nvSpPr>
          <p:cNvPr id="9" name="Rounded Rectangle 8"/>
          <p:cNvSpPr/>
          <p:nvPr/>
        </p:nvSpPr>
        <p:spPr>
          <a:xfrm>
            <a:off x="254317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deals won</a:t>
            </a:r>
          </a:p>
        </p:txBody>
      </p:sp>
      <p:sp>
        <p:nvSpPr>
          <p:cNvPr id="10" name="Rounded Rectangle 9"/>
          <p:cNvSpPr/>
          <p:nvPr/>
        </p:nvSpPr>
        <p:spPr>
          <a:xfrm>
            <a:off x="49530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vs peers</a:t>
            </a:r>
          </a:p>
        </p:txBody>
      </p:sp>
      <p:sp>
        <p:nvSpPr>
          <p:cNvPr id="11" name="Rounded Rectangle 10"/>
          <p:cNvSpPr/>
          <p:nvPr/>
        </p:nvSpPr>
        <p:spPr>
          <a:xfrm>
            <a:off x="7353300"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order momentum</a:t>
            </a:r>
          </a:p>
        </p:txBody>
      </p:sp>
      <p:sp>
        <p:nvSpPr>
          <p:cNvPr id="12" name="Rounded Rectangle 11"/>
          <p:cNvSpPr/>
          <p:nvPr/>
        </p:nvSpPr>
        <p:spPr>
          <a:xfrm>
            <a:off x="9763125" y="1354081"/>
            <a:ext cx="2276475" cy="602372"/>
          </a:xfrm>
          <a:prstGeom prst="roundRect">
            <a:avLst>
              <a:gd name="adj" fmla="val 8000"/>
            </a:avLst>
          </a:prstGeom>
          <a:solidFill>
            <a:srgbClr val="EBF2F9"/>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2A5F8F"/>
                </a:solidFill>
                <a:latin typeface="Calibri"/>
              </a:rPr>
              <a:t> </a:t>
            </a:r>
          </a:p>
          <a:p>
            <a:pPr algn="ctr">
              <a:lnSpc>
                <a:spcPct val="95000"/>
              </a:lnSpc>
            </a:pPr>
            <a:r>
              <a:rPr sz="1100" b="0">
                <a:solidFill>
                  <a:srgbClr val="6C7A89"/>
                </a:solidFill>
                <a:latin typeface="Calibri"/>
              </a:rPr>
              <a:t>profitability</a:t>
            </a:r>
          </a:p>
        </p:txBody>
      </p:sp>
      <p:sp>
        <p:nvSpPr>
          <p:cNvPr id="13" name="Rounded Rectangle 12"/>
          <p:cNvSpPr/>
          <p:nvPr/>
        </p:nvSpPr>
        <p:spPr>
          <a:xfrm>
            <a:off x="142875" y="2084229"/>
            <a:ext cx="590550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E2A5C"/>
                </a:solidFill>
                <a:latin typeface="Calibri"/>
              </a:rPr>
              <a:t>Strategic Priorities</a:t>
            </a:r>
          </a:p>
        </p:txBody>
      </p:sp>
      <p:sp>
        <p:nvSpPr>
          <p:cNvPr id="15" name="Rectangle 14"/>
          <p:cNvSpPr/>
          <p:nvPr/>
        </p:nvSpPr>
        <p:spPr>
          <a:xfrm>
            <a:off x="276225" y="2408079"/>
            <a:ext cx="563880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17" name="Rounded Rectangle 16"/>
          <p:cNvSpPr/>
          <p:nvPr/>
        </p:nvSpPr>
        <p:spPr>
          <a:xfrm>
            <a:off x="6200775" y="2084229"/>
            <a:ext cx="5848350" cy="4490410"/>
          </a:xfrm>
          <a:prstGeom prst="roundRect">
            <a:avLst>
              <a:gd name="adj" fmla="val 1696"/>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E2A5C"/>
                </a:solidFill>
                <a:latin typeface="Calibri"/>
              </a:rPr>
              <a:t>Competitive Moves</a:t>
            </a:r>
          </a:p>
        </p:txBody>
      </p:sp>
      <p:sp>
        <p:nvSpPr>
          <p:cNvPr id="19" name="Rectangle 18"/>
          <p:cNvSpPr/>
          <p:nvPr/>
        </p:nvSpPr>
        <p:spPr>
          <a:xfrm>
            <a:off x="6334125" y="2408079"/>
            <a:ext cx="5581650" cy="19050"/>
          </a:xfrm>
          <a:prstGeom prst="rect">
            <a:avLst/>
          </a:prstGeom>
          <a:solidFill>
            <a:srgbClr val="2A5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2A5F8F"/>
                </a:solidFill>
                <a:latin typeface="Calibri"/>
              </a:rPr>
              <a:t/>
            </a:r>
            <a:r>
              <a:rPr sz="1150" b="0">
                <a:solidFill>
                  <a:srgbClr val="2E2E2E"/>
                </a:solidFill>
                <a:latin typeface="Calibri"/>
              </a:rPr>
              <a:t/>
            </a:r>
          </a:p>
        </p:txBody>
      </p:sp>
      <p:sp>
        <p:nvSpPr>
          <p:cNvPr id="21" name="Rectangle 2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 name="Picture 22" descr="lock.png"/>
          <p:cNvPicPr>
            <a:picLocks noChangeAspect="1"/>
          </p:cNvPicPr>
          <p:nvPr/>
        </p:nvPicPr>
        <p:blipFill>
          <a:blip r:embed="rId4"/>
          <a:stretch>
            <a:fillRect/>
          </a:stretch>
        </p:blipFill>
        <p:spPr>
          <a:xfrm>
            <a:off x="1202531" y="1540967"/>
            <a:ext cx="157162" cy="228600"/>
          </a:xfrm>
          <a:prstGeom prst="rect">
            <a:avLst/>
          </a:prstGeom>
        </p:spPr>
      </p:pic>
      <p:pic>
        <p:nvPicPr>
          <p:cNvPr id="24" name="Picture 23" descr="lock.png"/>
          <p:cNvPicPr>
            <a:picLocks noChangeAspect="1"/>
          </p:cNvPicPr>
          <p:nvPr/>
        </p:nvPicPr>
        <p:blipFill>
          <a:blip r:embed="rId4"/>
          <a:stretch>
            <a:fillRect/>
          </a:stretch>
        </p:blipFill>
        <p:spPr>
          <a:xfrm>
            <a:off x="3602831" y="1540967"/>
            <a:ext cx="157162" cy="228600"/>
          </a:xfrm>
          <a:prstGeom prst="rect">
            <a:avLst/>
          </a:prstGeom>
        </p:spPr>
      </p:pic>
      <p:pic>
        <p:nvPicPr>
          <p:cNvPr id="25" name="Picture 24" descr="lock.png"/>
          <p:cNvPicPr>
            <a:picLocks noChangeAspect="1"/>
          </p:cNvPicPr>
          <p:nvPr/>
        </p:nvPicPr>
        <p:blipFill>
          <a:blip r:embed="rId4"/>
          <a:stretch>
            <a:fillRect/>
          </a:stretch>
        </p:blipFill>
        <p:spPr>
          <a:xfrm>
            <a:off x="6012656"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8412956"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10822781" y="1540967"/>
            <a:ext cx="157162" cy="228600"/>
          </a:xfrm>
          <a:prstGeom prst="rect">
            <a:avLst/>
          </a:prstGeom>
        </p:spPr>
      </p:pic>
      <p:sp>
        <p:nvSpPr>
          <p:cNvPr id="28" name="TextBox 27"/>
          <p:cNvSpPr txBox="1"/>
          <p:nvPr/>
        </p:nvSpPr>
        <p:spPr>
          <a:xfrm>
            <a:off x="276225" y="2503329"/>
            <a:ext cx="5538812" cy="194310"/>
          </a:xfrm>
          <a:prstGeom prst="rect">
            <a:avLst/>
          </a:prstGeom>
          <a:noFill/>
        </p:spPr>
        <p:txBody>
          <a:bodyPr wrap="none" lIns="0" rIns="0" tIns="0" bIns="0">
            <a:spAutoFit/>
          </a:bodyPr>
          <a:lstStyle/>
          <a:p>
            <a:r>
              <a:rPr sz="1150" b="0">
                <a:solidFill>
                  <a:srgbClr val="2E2E2E"/>
                </a:solidFill>
                <a:latin typeface="Calibri"/>
              </a:rPr>
              <a:t>▪ Defend and extend leadership in 'Other Specialized Propulsion Configurations' Caterpillar's</a:t>
            </a:r>
          </a:p>
        </p:txBody>
      </p:sp>
      <p:sp>
        <p:nvSpPr>
          <p:cNvPr id="29" name="TextBox 28"/>
          <p:cNvSpPr txBox="1"/>
          <p:nvPr/>
        </p:nvSpPr>
        <p:spPr>
          <a:xfrm>
            <a:off x="276225" y="2678589"/>
            <a:ext cx="3766529" cy="194310"/>
          </a:xfrm>
          <a:prstGeom prst="rect">
            <a:avLst/>
          </a:prstGeom>
          <a:noFill/>
        </p:spPr>
        <p:txBody>
          <a:bodyPr wrap="none" lIns="0" rIns="0" tIns="0" bIns="0">
            <a:spAutoFit/>
          </a:bodyPr>
          <a:lstStyle/>
          <a:p>
            <a:r>
              <a:rPr sz="1150" b="0">
                <a:solidFill>
                  <a:srgbClr val="2E2E2E"/>
                </a:solidFill>
                <a:latin typeface="Calibri"/>
              </a:rPr>
              <a:t>strongest end-market while scaling the next-best applications.</a:t>
            </a:r>
          </a:p>
        </p:txBody>
      </p:sp>
      <p:sp>
        <p:nvSpPr>
          <p:cNvPr id="30" name="TextBox 29"/>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1" name="Picture 30" descr="lock.png"/>
          <p:cNvPicPr>
            <a:picLocks noChangeAspect="1"/>
          </p:cNvPicPr>
          <p:nvPr/>
        </p:nvPicPr>
        <p:blipFill>
          <a:blip r:embed="rId4"/>
          <a:stretch>
            <a:fillRect/>
          </a:stretch>
        </p:blipFill>
        <p:spPr>
          <a:xfrm>
            <a:off x="1135376" y="2896203"/>
            <a:ext cx="134549" cy="195707"/>
          </a:xfrm>
          <a:prstGeom prst="rect">
            <a:avLst/>
          </a:prstGeom>
        </p:spPr>
      </p:pic>
      <p:sp>
        <p:nvSpPr>
          <p:cNvPr id="32" name="TextBox 31"/>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3" name="Picture 32" descr="lock.png"/>
          <p:cNvPicPr>
            <a:picLocks noChangeAspect="1"/>
          </p:cNvPicPr>
          <p:nvPr/>
        </p:nvPicPr>
        <p:blipFill>
          <a:blip r:embed="rId4"/>
          <a:stretch>
            <a:fillRect/>
          </a:stretch>
        </p:blipFill>
        <p:spPr>
          <a:xfrm>
            <a:off x="2188748" y="2896203"/>
            <a:ext cx="134549" cy="195707"/>
          </a:xfrm>
          <a:prstGeom prst="rect">
            <a:avLst/>
          </a:prstGeom>
        </p:spPr>
      </p:pic>
      <p:sp>
        <p:nvSpPr>
          <p:cNvPr id="34" name="TextBox 33"/>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5" name="TextBox 34"/>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6" name="TextBox 35"/>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7" name="Picture 36" descr="lock.png"/>
          <p:cNvPicPr>
            <a:picLocks noChangeAspect="1"/>
          </p:cNvPicPr>
          <p:nvPr/>
        </p:nvPicPr>
        <p:blipFill>
          <a:blip r:embed="rId4"/>
          <a:stretch>
            <a:fillRect/>
          </a:stretch>
        </p:blipFill>
        <p:spPr>
          <a:xfrm>
            <a:off x="3519813" y="3299301"/>
            <a:ext cx="134549" cy="195707"/>
          </a:xfrm>
          <a:prstGeom prst="rect">
            <a:avLst/>
          </a:prstGeom>
        </p:spPr>
      </p:pic>
      <p:sp>
        <p:nvSpPr>
          <p:cNvPr id="38" name="TextBox 37"/>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39" name="TextBox 38"/>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0" name="Picture 39" descr="lock.png"/>
          <p:cNvPicPr>
            <a:picLocks noChangeAspect="1"/>
          </p:cNvPicPr>
          <p:nvPr/>
        </p:nvPicPr>
        <p:blipFill>
          <a:blip r:embed="rId4"/>
          <a:stretch>
            <a:fillRect/>
          </a:stretch>
        </p:blipFill>
        <p:spPr>
          <a:xfrm>
            <a:off x="919438" y="3527139"/>
            <a:ext cx="134549" cy="195707"/>
          </a:xfrm>
          <a:prstGeom prst="rect">
            <a:avLst/>
          </a:prstGeom>
        </p:spPr>
      </p:pic>
      <p:sp>
        <p:nvSpPr>
          <p:cNvPr id="41" name="TextBox 40"/>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2" name="TextBox 41"/>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3" name="TextBox 42"/>
          <p:cNvSpPr txBox="1"/>
          <p:nvPr/>
        </p:nvSpPr>
        <p:spPr>
          <a:xfrm>
            <a:off x="6334125" y="2503329"/>
            <a:ext cx="5004816" cy="194310"/>
          </a:xfrm>
          <a:prstGeom prst="rect">
            <a:avLst/>
          </a:prstGeom>
          <a:noFill/>
        </p:spPr>
        <p:txBody>
          <a:bodyPr wrap="none" lIns="0" rIns="0" tIns="0" bIns="0">
            <a:spAutoFit/>
          </a:bodyPr>
          <a:lstStyle/>
          <a:p>
            <a:r>
              <a:rPr sz="1150" b="0">
                <a:solidFill>
                  <a:srgbClr val="2E2E2E"/>
                </a:solidFill>
                <a:latin typeface="Calibri"/>
              </a:rPr>
              <a:t>▪ Premiumise the portfolio around 'Construction and Mining Vehicles' and adjacent</a:t>
            </a:r>
          </a:p>
        </p:txBody>
      </p:sp>
      <p:sp>
        <p:nvSpPr>
          <p:cNvPr id="44" name="TextBox 43"/>
          <p:cNvSpPr txBox="1"/>
          <p:nvPr/>
        </p:nvSpPr>
        <p:spPr>
          <a:xfrm>
            <a:off x="6334125" y="2678589"/>
            <a:ext cx="2347391" cy="194310"/>
          </a:xfrm>
          <a:prstGeom prst="rect">
            <a:avLst/>
          </a:prstGeom>
          <a:noFill/>
        </p:spPr>
        <p:txBody>
          <a:bodyPr wrap="none" lIns="0" rIns="0" tIns="0" bIns="0">
            <a:spAutoFit/>
          </a:bodyPr>
          <a:lstStyle/>
          <a:p>
            <a:r>
              <a:rPr sz="1150" b="0">
                <a:solidFill>
                  <a:srgbClr val="2E2E2E"/>
                </a:solidFill>
                <a:latin typeface="Calibri"/>
              </a:rPr>
              <a:t>high-value lines to lift blended pricing.</a:t>
            </a:r>
          </a:p>
        </p:txBody>
      </p:sp>
      <p:sp>
        <p:nvSpPr>
          <p:cNvPr id="45" name="TextBox 44"/>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6" name="TextBox 45"/>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7" name="TextBox 46"/>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48" name="TextBox 47"/>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49" name="TextBox 48"/>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0" name="TextBox 49"/>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1" name="TextBox 50"/>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2" name="Picture 51" descr="lock.png"/>
          <p:cNvPicPr>
            <a:picLocks noChangeAspect="1"/>
          </p:cNvPicPr>
          <p:nvPr/>
        </p:nvPicPr>
        <p:blipFill>
          <a:blip r:embed="rId4"/>
          <a:stretch>
            <a:fillRect/>
          </a:stretch>
        </p:blipFill>
        <p:spPr>
          <a:xfrm>
            <a:off x="9385452" y="4105497"/>
            <a:ext cx="134549" cy="195707"/>
          </a:xfrm>
          <a:prstGeom prst="rect">
            <a:avLst/>
          </a:prstGeom>
        </p:spPr>
      </p:pic>
      <p:sp>
        <p:nvSpPr>
          <p:cNvPr id="53" name="TextBox 52"/>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3F8FD"/>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3F8FD"/>
              </a:gs>
              <a:gs pos="100000">
                <a:srgbClr val="DCE9F6"/>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FE0F0">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9C8E6">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B7D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A5F8F"/>
              </a:gs>
              <a:gs pos="100000">
                <a:srgbClr val="6FA6D8"/>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MR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tmr_logo.png"/>
          <p:cNvPicPr>
            <a:picLocks noChangeAspect="1"/>
          </p:cNvPicPr>
          <p:nvPr/>
        </p:nvPicPr>
        <p:blipFill>
          <a:blip r:embed="rId2"/>
          <a:stretch>
            <a:fillRect/>
          </a:stretch>
        </p:blipFill>
        <p:spPr>
          <a:xfrm>
            <a:off x="411480" y="274320"/>
            <a:ext cx="1307592" cy="975505"/>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2A5F8F"/>
                </a:solidFill>
                <a:latin typeface="Calibri"/>
              </a:rPr>
              <a:t>Off-Highway Vehicle Market</a:t>
            </a:r>
          </a:p>
        </p:txBody>
      </p:sp>
      <p:sp>
        <p:nvSpPr>
          <p:cNvPr id="10" name="TMR Section Title"/>
          <p:cNvSpPr txBox="1"/>
          <p:nvPr/>
        </p:nvSpPr>
        <p:spPr>
          <a:xfrm>
            <a:off x="914400" y="3095625"/>
            <a:ext cx="8572500" cy="514350"/>
          </a:xfrm>
          <a:prstGeom prst="rect">
            <a:avLst/>
          </a:prstGeom>
          <a:noFill/>
        </p:spPr>
        <p:txBody>
          <a:bodyPr wrap="square" lIns="0" rIns="0" tIns="0">
            <a:spAutoFit/>
          </a:bodyPr>
          <a:lstStyle/>
          <a:p>
            <a:r>
              <a:rPr sz="3000" b="1">
                <a:solidFill>
                  <a:srgbClr val="0E2A5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Rectangle 1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Competitive Landscape at a Glance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7" name="Connector 6"/>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9" name="TextBox 8"/>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0" name="Connector 9"/>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2" name="TextBox 11"/>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3" name="Connector 12"/>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5" name="TextBox 14"/>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18" name="TextBox 17"/>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19" name="Connector 18"/>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1" name="TextBox 20"/>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2" name="Connector 21"/>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4" name="TextBox 23"/>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5" name="Connector 24"/>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27" name="TextBox 26"/>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Caterpillar</a:t>
            </a:r>
          </a:p>
        </p:txBody>
      </p:sp>
      <p:cxnSp>
        <p:nvCxnSpPr>
          <p:cNvPr id="28" name="Connector 27"/>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0" name="TextBox 29"/>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1" name="Connector 30"/>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4" name="TextBox 33"/>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5" name="TextBox 34"/>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6" name="Rectangle 35"/>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8" name="TextBox 37"/>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39" name="TextBox 38"/>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0" name="Rectangle 39"/>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2" name="TextBox 41"/>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3" name="TextBox 42"/>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4" name="Rectangle 43"/>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6" name="TextBox 45"/>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47" name="TextBox 46"/>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48" name="Rectangle 47"/>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0" name="TextBox 49"/>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1" name="TextBox 50"/>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2" name="Rectangle 51"/>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4" name="TextBox 53"/>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5" name="TextBox 54"/>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Komatsu, Caterpillar, Volvo Construction Equipment.</a:t>
            </a:r>
          </a:p>
        </p:txBody>
      </p:sp>
      <p:cxnSp>
        <p:nvCxnSpPr>
          <p:cNvPr id="56" name="Connector 55"/>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58" name="TextBox 57"/>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59" name="Rectangle 58"/>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61" name="Picture 60" descr="lock.png"/>
          <p:cNvPicPr>
            <a:picLocks noChangeAspect="1"/>
          </p:cNvPicPr>
          <p:nvPr/>
        </p:nvPicPr>
        <p:blipFill>
          <a:blip r:embed="rId4"/>
          <a:stretch>
            <a:fillRect/>
          </a:stretch>
        </p:blipFill>
        <p:spPr>
          <a:xfrm>
            <a:off x="873863" y="1401826"/>
            <a:ext cx="128699" cy="187198"/>
          </a:xfrm>
          <a:prstGeom prst="rect">
            <a:avLst/>
          </a:prstGeom>
        </p:spPr>
      </p:pic>
      <p:pic>
        <p:nvPicPr>
          <p:cNvPr id="62" name="Picture 61" descr="lock.png"/>
          <p:cNvPicPr>
            <a:picLocks noChangeAspect="1"/>
          </p:cNvPicPr>
          <p:nvPr/>
        </p:nvPicPr>
        <p:blipFill>
          <a:blip r:embed="rId4"/>
          <a:stretch>
            <a:fillRect/>
          </a:stretch>
        </p:blipFill>
        <p:spPr>
          <a:xfrm>
            <a:off x="2350238" y="1401826"/>
            <a:ext cx="128699" cy="187198"/>
          </a:xfrm>
          <a:prstGeom prst="rect">
            <a:avLst/>
          </a:prstGeom>
        </p:spPr>
      </p:pic>
      <p:pic>
        <p:nvPicPr>
          <p:cNvPr id="63" name="Picture 62" descr="lock.png"/>
          <p:cNvPicPr>
            <a:picLocks noChangeAspect="1"/>
          </p:cNvPicPr>
          <p:nvPr/>
        </p:nvPicPr>
        <p:blipFill>
          <a:blip r:embed="rId4"/>
          <a:stretch>
            <a:fillRect/>
          </a:stretch>
        </p:blipFill>
        <p:spPr>
          <a:xfrm>
            <a:off x="382661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11208488" y="1401826"/>
            <a:ext cx="128699" cy="187198"/>
          </a:xfrm>
          <a:prstGeom prst="rect">
            <a:avLst/>
          </a:prstGeom>
        </p:spPr>
      </p:pic>
      <p:sp>
        <p:nvSpPr>
          <p:cNvPr id="65" name="TextBox 64"/>
          <p:cNvSpPr txBox="1"/>
          <p:nvPr/>
        </p:nvSpPr>
        <p:spPr>
          <a:xfrm>
            <a:off x="4705350" y="1304925"/>
            <a:ext cx="1104566" cy="179984"/>
          </a:xfrm>
          <a:prstGeom prst="rect">
            <a:avLst/>
          </a:prstGeom>
          <a:noFill/>
        </p:spPr>
        <p:txBody>
          <a:bodyPr wrap="none" lIns="0" rIns="0" tIns="0" bIns="0">
            <a:spAutoFit/>
          </a:bodyPr>
          <a:lstStyle/>
          <a:p>
            <a:r>
              <a:rPr sz="1055" b="1">
                <a:solidFill>
                  <a:srgbClr val="0F2D52"/>
                </a:solidFill>
                <a:latin typeface="Calibri"/>
              </a:rPr>
              <a:t>Wheeled Vehicles,</a:t>
            </a:r>
          </a:p>
        </p:txBody>
      </p:sp>
      <p:pic>
        <p:nvPicPr>
          <p:cNvPr id="66" name="Picture 65" descr="lock.png"/>
          <p:cNvPicPr>
            <a:picLocks noChangeAspect="1"/>
          </p:cNvPicPr>
          <p:nvPr/>
        </p:nvPicPr>
        <p:blipFill>
          <a:blip r:embed="rId4"/>
          <a:stretch>
            <a:fillRect/>
          </a:stretch>
        </p:blipFill>
        <p:spPr>
          <a:xfrm>
            <a:off x="5756998" y="1295537"/>
            <a:ext cx="123551" cy="179710"/>
          </a:xfrm>
          <a:prstGeom prst="rect">
            <a:avLst/>
          </a:prstGeom>
        </p:spPr>
      </p:pic>
      <p:sp>
        <p:nvSpPr>
          <p:cNvPr id="67" name="TextBox 66"/>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68" name="Picture 67" descr="lock.png"/>
          <p:cNvPicPr>
            <a:picLocks noChangeAspect="1"/>
          </p:cNvPicPr>
          <p:nvPr/>
        </p:nvPicPr>
        <p:blipFill>
          <a:blip r:embed="rId4"/>
          <a:stretch>
            <a:fillRect/>
          </a:stretch>
        </p:blipFill>
        <p:spPr>
          <a:xfrm>
            <a:off x="1609246" y="2114296"/>
            <a:ext cx="128699" cy="187198"/>
          </a:xfrm>
          <a:prstGeom prst="rect">
            <a:avLst/>
          </a:prstGeom>
        </p:spPr>
      </p:pic>
      <p:sp>
        <p:nvSpPr>
          <p:cNvPr id="69" name="TextBox 68"/>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3 companies lead the 8 sub-segments tracked; no</a:t>
            </a:r>
          </a:p>
        </p:txBody>
      </p:sp>
      <p:sp>
        <p:nvSpPr>
          <p:cNvPr id="70" name="TextBox 69"/>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5.</a:t>
            </a:r>
          </a:p>
        </p:txBody>
      </p:sp>
      <p:sp>
        <p:nvSpPr>
          <p:cNvPr id="71" name="TextBox 70"/>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2" name="Picture 71" descr="lock.png"/>
          <p:cNvPicPr>
            <a:picLocks noChangeAspect="1"/>
          </p:cNvPicPr>
          <p:nvPr/>
        </p:nvPicPr>
        <p:blipFill>
          <a:blip r:embed="rId4"/>
          <a:stretch>
            <a:fillRect/>
          </a:stretch>
        </p:blipFill>
        <p:spPr>
          <a:xfrm>
            <a:off x="1835985" y="3219196"/>
            <a:ext cx="128699" cy="187198"/>
          </a:xfrm>
          <a:prstGeom prst="rect">
            <a:avLst/>
          </a:prstGeom>
        </p:spPr>
      </p:pic>
      <p:sp>
        <p:nvSpPr>
          <p:cNvPr id="73" name="TextBox 72"/>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4" name="Picture 73" descr="lock.png"/>
          <p:cNvPicPr>
            <a:picLocks noChangeAspect="1"/>
          </p:cNvPicPr>
          <p:nvPr/>
        </p:nvPicPr>
        <p:blipFill>
          <a:blip r:embed="rId4"/>
          <a:stretch>
            <a:fillRect/>
          </a:stretch>
        </p:blipFill>
        <p:spPr>
          <a:xfrm>
            <a:off x="3827189" y="3219196"/>
            <a:ext cx="128699" cy="187198"/>
          </a:xfrm>
          <a:prstGeom prst="rect">
            <a:avLst/>
          </a:prstGeom>
        </p:spPr>
      </p:pic>
      <p:sp>
        <p:nvSpPr>
          <p:cNvPr id="75" name="TextBox 74"/>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6" name="TextBox 75"/>
          <p:cNvSpPr txBox="1"/>
          <p:nvPr/>
        </p:nvSpPr>
        <p:spPr>
          <a:xfrm>
            <a:off x="523875" y="4333875"/>
            <a:ext cx="5353050" cy="186689"/>
          </a:xfrm>
          <a:prstGeom prst="rect">
            <a:avLst/>
          </a:prstGeom>
          <a:noFill/>
        </p:spPr>
        <p:txBody>
          <a:bodyPr wrap="none" lIns="0" rIns="0" tIns="0" bIns="0">
            <a:spAutoFit/>
          </a:bodyPr>
          <a:lstStyle/>
          <a:p>
            <a:r>
              <a:rPr sz="1100" b="0">
                <a:solidFill>
                  <a:srgbClr val="1F2933"/>
                </a:solidFill>
                <a:latin typeface="Calibri"/>
              </a:rPr>
              <a:t>'Construction and Mining Vehicles' is the largest line; 'Recreational and Powersports Vehicles'</a:t>
            </a:r>
          </a:p>
        </p:txBody>
      </p:sp>
      <p:sp>
        <p:nvSpPr>
          <p:cNvPr id="77" name="TextBox 76"/>
          <p:cNvSpPr txBox="1"/>
          <p:nvPr/>
        </p:nvSpPr>
        <p:spPr>
          <a:xfrm>
            <a:off x="523875" y="4501515"/>
            <a:ext cx="1301576" cy="186689"/>
          </a:xfrm>
          <a:prstGeom prst="rect">
            <a:avLst/>
          </a:prstGeom>
          <a:noFill/>
        </p:spPr>
        <p:txBody>
          <a:bodyPr wrap="none" lIns="0" rIns="0" tIns="0" bIns="0">
            <a:spAutoFit/>
          </a:bodyPr>
          <a:lstStyle/>
          <a:p>
            <a:r>
              <a:rPr sz="1100" b="0">
                <a:solidFill>
                  <a:srgbClr val="1F2933"/>
                </a:solidFill>
                <a:latin typeface="Calibri"/>
              </a:rPr>
              <a:t>compounds fastest at</a:t>
            </a:r>
          </a:p>
        </p:txBody>
      </p:sp>
      <p:pic>
        <p:nvPicPr>
          <p:cNvPr id="78" name="Picture 77" descr="lock.png"/>
          <p:cNvPicPr>
            <a:picLocks noChangeAspect="1"/>
          </p:cNvPicPr>
          <p:nvPr/>
        </p:nvPicPr>
        <p:blipFill>
          <a:blip r:embed="rId4"/>
          <a:stretch>
            <a:fillRect/>
          </a:stretch>
        </p:blipFill>
        <p:spPr>
          <a:xfrm>
            <a:off x="1773502" y="4491736"/>
            <a:ext cx="128699" cy="187198"/>
          </a:xfrm>
          <a:prstGeom prst="rect">
            <a:avLst/>
          </a:prstGeom>
        </p:spPr>
      </p:pic>
      <p:sp>
        <p:nvSpPr>
          <p:cNvPr id="79" name="TextBox 78"/>
          <p:cNvSpPr txBox="1"/>
          <p:nvPr/>
        </p:nvSpPr>
        <p:spPr>
          <a:xfrm>
            <a:off x="1940998"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Segment Leadership Map</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7" name="TextBox 6"/>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8" name="Rectangle 7"/>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0" name="Rectangle 9"/>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2" name="Rectangle 11"/>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4" name="Rectangle 13"/>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6" name="Rectangle 15"/>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Caterpillar, Komatsu, Volvo Construction Equipment</a:t>
            </a:r>
          </a:p>
        </p:txBody>
      </p:sp>
      <p:sp>
        <p:nvSpPr>
          <p:cNvPr id="18" name="Rectangle 17"/>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Liebherr Group, Hitachi Construction Machinery</a:t>
            </a:r>
          </a:p>
        </p:txBody>
      </p:sp>
      <p:sp>
        <p:nvSpPr>
          <p:cNvPr id="20" name="Rectangle 19"/>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XCMG Group, SANY Group, JCB, HD Hyundai Construction Equipment, LiuGong</a:t>
            </a:r>
          </a:p>
        </p:txBody>
      </p:sp>
      <p:sp>
        <p:nvSpPr>
          <p:cNvPr id="22" name="Rectangle 21"/>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4" name="Connector 23"/>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6" name="TextBox 25"/>
          <p:cNvSpPr txBox="1"/>
          <p:nvPr/>
        </p:nvSpPr>
        <p:spPr>
          <a:xfrm>
            <a:off x="2880774"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Construction and Mining Vehicles</a:t>
            </a:r>
          </a:p>
        </p:txBody>
      </p:sp>
      <p:sp>
        <p:nvSpPr>
          <p:cNvPr id="27" name="TextBox 26"/>
          <p:cNvSpPr txBox="1"/>
          <p:nvPr/>
        </p:nvSpPr>
        <p:spPr>
          <a:xfrm>
            <a:off x="4023246"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Agriculture and Forestry Vehicles</a:t>
            </a:r>
          </a:p>
        </p:txBody>
      </p:sp>
      <p:sp>
        <p:nvSpPr>
          <p:cNvPr id="28" name="TextBox 27"/>
          <p:cNvSpPr txBox="1"/>
          <p:nvPr/>
        </p:nvSpPr>
        <p:spPr>
          <a:xfrm>
            <a:off x="5165718"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Military Vehicles</a:t>
            </a:r>
          </a:p>
        </p:txBody>
      </p:sp>
      <p:sp>
        <p:nvSpPr>
          <p:cNvPr id="29" name="TextBox 28"/>
          <p:cNvSpPr txBox="1"/>
          <p:nvPr/>
        </p:nvSpPr>
        <p:spPr>
          <a:xfrm>
            <a:off x="6308190"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Recreational and Powersports Vehicles</a:t>
            </a:r>
          </a:p>
        </p:txBody>
      </p:sp>
      <p:sp>
        <p:nvSpPr>
          <p:cNvPr id="30" name="TextBox 29"/>
          <p:cNvSpPr txBox="1"/>
          <p:nvPr/>
        </p:nvSpPr>
        <p:spPr>
          <a:xfrm>
            <a:off x="7450662"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Wheeled Vehicles</a:t>
            </a:r>
          </a:p>
        </p:txBody>
      </p:sp>
      <p:sp>
        <p:nvSpPr>
          <p:cNvPr id="31" name="TextBox 30"/>
          <p:cNvSpPr txBox="1"/>
          <p:nvPr/>
        </p:nvSpPr>
        <p:spPr>
          <a:xfrm>
            <a:off x="8593134"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Semi-Tracked Vehicles</a:t>
            </a:r>
          </a:p>
        </p:txBody>
      </p:sp>
      <p:sp>
        <p:nvSpPr>
          <p:cNvPr id="32" name="TextBox 31"/>
          <p:cNvSpPr txBox="1"/>
          <p:nvPr/>
        </p:nvSpPr>
        <p:spPr>
          <a:xfrm>
            <a:off x="9735606"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Tracked Vehicles</a:t>
            </a:r>
          </a:p>
        </p:txBody>
      </p:sp>
      <p:sp>
        <p:nvSpPr>
          <p:cNvPr id="33" name="TextBox 32"/>
          <p:cNvSpPr txBox="1"/>
          <p:nvPr/>
        </p:nvSpPr>
        <p:spPr>
          <a:xfrm>
            <a:off x="10878078" y="2114550"/>
            <a:ext cx="1104372"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Other Specialized Propulsion Configurations</a:t>
            </a:r>
          </a:p>
        </p:txBody>
      </p:sp>
      <p:cxnSp>
        <p:nvCxnSpPr>
          <p:cNvPr id="34" name="Connector 33"/>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6289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Caterpillar</a:t>
            </a:r>
          </a:p>
        </p:txBody>
      </p:sp>
      <p:sp>
        <p:nvSpPr>
          <p:cNvPr id="37" name="TextBox 36"/>
          <p:cNvSpPr txBox="1"/>
          <p:nvPr/>
        </p:nvSpPr>
        <p:spPr>
          <a:xfrm>
            <a:off x="285750" y="27908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Oval 37"/>
          <p:cNvSpPr/>
          <p:nvPr/>
        </p:nvSpPr>
        <p:spPr>
          <a:xfrm>
            <a:off x="3356760"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3429000" y="27051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99232"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641704"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78417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926648"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800100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069120"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9144000" y="2705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211592"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1354064"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718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Komatsu</a:t>
            </a:r>
          </a:p>
        </p:txBody>
      </p:sp>
      <p:sp>
        <p:nvSpPr>
          <p:cNvPr id="52" name="TextBox 51"/>
          <p:cNvSpPr txBox="1"/>
          <p:nvPr/>
        </p:nvSpPr>
        <p:spPr>
          <a:xfrm>
            <a:off x="285750" y="31337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Oval 52"/>
          <p:cNvSpPr/>
          <p:nvPr/>
        </p:nvSpPr>
        <p:spPr>
          <a:xfrm>
            <a:off x="3356760"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3429000" y="30480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499232"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4572000" y="30480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64170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78417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685800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926648"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8001000" y="3048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069120" y="3048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211592"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1028700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1354064"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143000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3147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Volvo Construction Equipment</a:t>
            </a:r>
          </a:p>
        </p:txBody>
      </p:sp>
      <p:sp>
        <p:nvSpPr>
          <p:cNvPr id="70" name="TextBox 69"/>
          <p:cNvSpPr txBox="1"/>
          <p:nvPr/>
        </p:nvSpPr>
        <p:spPr>
          <a:xfrm>
            <a:off x="285750" y="34766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1" name="Oval 70"/>
          <p:cNvSpPr/>
          <p:nvPr/>
        </p:nvSpPr>
        <p:spPr>
          <a:xfrm>
            <a:off x="3356760"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499232"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641704"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571500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78417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926648"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069120"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9144000" y="3390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211592"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10287000"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1354064"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1430000" y="3390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36576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Liebherr Group</a:t>
            </a:r>
          </a:p>
        </p:txBody>
      </p:sp>
      <p:sp>
        <p:nvSpPr>
          <p:cNvPr id="86" name="TextBox 85"/>
          <p:cNvSpPr txBox="1"/>
          <p:nvPr/>
        </p:nvSpPr>
        <p:spPr>
          <a:xfrm>
            <a:off x="285750" y="38195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87" name="Oval 86"/>
          <p:cNvSpPr/>
          <p:nvPr/>
        </p:nvSpPr>
        <p:spPr>
          <a:xfrm>
            <a:off x="335676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499232"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4572000" y="37338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64170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571500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78417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685800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926648"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800100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06912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Freeform 96"/>
          <p:cNvSpPr/>
          <p:nvPr/>
        </p:nvSpPr>
        <p:spPr>
          <a:xfrm>
            <a:off x="9144000" y="3733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211592"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1354064"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0" name="Connector 99"/>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5750" y="40005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Hitachi Construction Machinery</a:t>
            </a:r>
          </a:p>
        </p:txBody>
      </p:sp>
      <p:sp>
        <p:nvSpPr>
          <p:cNvPr id="103" name="TextBox 102"/>
          <p:cNvSpPr txBox="1"/>
          <p:nvPr/>
        </p:nvSpPr>
        <p:spPr>
          <a:xfrm>
            <a:off x="285750" y="41624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4" name="Oval 103"/>
          <p:cNvSpPr/>
          <p:nvPr/>
        </p:nvSpPr>
        <p:spPr>
          <a:xfrm>
            <a:off x="335676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3429000" y="4076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499232"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4572000" y="40767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64170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571500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678417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7926648"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8001000" y="4076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06912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211592"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028700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1354064"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7" name="Connector 116"/>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85750" y="43434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XCMG Group</a:t>
            </a:r>
          </a:p>
        </p:txBody>
      </p:sp>
      <p:sp>
        <p:nvSpPr>
          <p:cNvPr id="120" name="TextBox 119"/>
          <p:cNvSpPr txBox="1"/>
          <p:nvPr/>
        </p:nvSpPr>
        <p:spPr>
          <a:xfrm>
            <a:off x="285750" y="45053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21" name="Oval 120"/>
          <p:cNvSpPr/>
          <p:nvPr/>
        </p:nvSpPr>
        <p:spPr>
          <a:xfrm>
            <a:off x="335676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Freeform 121"/>
          <p:cNvSpPr/>
          <p:nvPr/>
        </p:nvSpPr>
        <p:spPr>
          <a:xfrm>
            <a:off x="3429000" y="4419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4499232"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4572000" y="44196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564170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678417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7926648"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906912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9144000" y="4419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211592"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10287000"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1354064"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Connector 132"/>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4" name="Rectangle 133"/>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85750" y="46863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SANY Group</a:t>
            </a:r>
          </a:p>
        </p:txBody>
      </p:sp>
      <p:sp>
        <p:nvSpPr>
          <p:cNvPr id="136" name="TextBox 135"/>
          <p:cNvSpPr txBox="1"/>
          <p:nvPr/>
        </p:nvSpPr>
        <p:spPr>
          <a:xfrm>
            <a:off x="285750" y="48482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7" name="Oval 136"/>
          <p:cNvSpPr/>
          <p:nvPr/>
        </p:nvSpPr>
        <p:spPr>
          <a:xfrm>
            <a:off x="335676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3429000" y="4762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499232"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564170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571500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678417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7926648"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800100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06912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Freeform 145"/>
          <p:cNvSpPr/>
          <p:nvPr/>
        </p:nvSpPr>
        <p:spPr>
          <a:xfrm>
            <a:off x="9144000" y="4762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0211592"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1354064"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9" name="Connector 148"/>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0" name="Rectangle 149"/>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285750" y="50292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JCB</a:t>
            </a:r>
          </a:p>
        </p:txBody>
      </p:sp>
      <p:sp>
        <p:nvSpPr>
          <p:cNvPr id="152" name="TextBox 151"/>
          <p:cNvSpPr txBox="1"/>
          <p:nvPr/>
        </p:nvSpPr>
        <p:spPr>
          <a:xfrm>
            <a:off x="285750" y="51911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3" name="Oval 152"/>
          <p:cNvSpPr/>
          <p:nvPr/>
        </p:nvSpPr>
        <p:spPr>
          <a:xfrm>
            <a:off x="335676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499232"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4572000" y="51054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564170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5715000"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678417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7926648"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Freeform 159"/>
          <p:cNvSpPr/>
          <p:nvPr/>
        </p:nvSpPr>
        <p:spPr>
          <a:xfrm>
            <a:off x="8001000" y="5105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906912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10211592"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10287000"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11354064"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5" name="Connector 164"/>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6" name="Rectangle 165"/>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285750" y="53721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HD Hyundai Construction Equipment</a:t>
            </a:r>
          </a:p>
        </p:txBody>
      </p:sp>
      <p:sp>
        <p:nvSpPr>
          <p:cNvPr id="168" name="TextBox 167"/>
          <p:cNvSpPr txBox="1"/>
          <p:nvPr/>
        </p:nvSpPr>
        <p:spPr>
          <a:xfrm>
            <a:off x="285750" y="55340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9" name="Oval 168"/>
          <p:cNvSpPr/>
          <p:nvPr/>
        </p:nvSpPr>
        <p:spPr>
          <a:xfrm>
            <a:off x="3356760"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Freeform 169"/>
          <p:cNvSpPr/>
          <p:nvPr/>
        </p:nvSpPr>
        <p:spPr>
          <a:xfrm>
            <a:off x="3429000" y="5448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499232"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Freeform 171"/>
          <p:cNvSpPr/>
          <p:nvPr/>
        </p:nvSpPr>
        <p:spPr>
          <a:xfrm>
            <a:off x="4572000" y="54483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564170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Freeform 173"/>
          <p:cNvSpPr/>
          <p:nvPr/>
        </p:nvSpPr>
        <p:spPr>
          <a:xfrm>
            <a:off x="571500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678417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7926648"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9069120"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Freeform 177"/>
          <p:cNvSpPr/>
          <p:nvPr/>
        </p:nvSpPr>
        <p:spPr>
          <a:xfrm>
            <a:off x="9144000" y="54483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10211592"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Freeform 179"/>
          <p:cNvSpPr/>
          <p:nvPr/>
        </p:nvSpPr>
        <p:spPr>
          <a:xfrm>
            <a:off x="10287000"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11354064"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2" name="Connector 181"/>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83" name="Rectangle 182"/>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285750" y="57150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LiuGong</a:t>
            </a:r>
          </a:p>
        </p:txBody>
      </p:sp>
      <p:sp>
        <p:nvSpPr>
          <p:cNvPr id="185" name="TextBox 184"/>
          <p:cNvSpPr txBox="1"/>
          <p:nvPr/>
        </p:nvSpPr>
        <p:spPr>
          <a:xfrm>
            <a:off x="285750" y="58769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86" name="Oval 185"/>
          <p:cNvSpPr/>
          <p:nvPr/>
        </p:nvSpPr>
        <p:spPr>
          <a:xfrm>
            <a:off x="3356760"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Freeform 186"/>
          <p:cNvSpPr/>
          <p:nvPr/>
        </p:nvSpPr>
        <p:spPr>
          <a:xfrm>
            <a:off x="3429000" y="5791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499232"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Freeform 188"/>
          <p:cNvSpPr/>
          <p:nvPr/>
        </p:nvSpPr>
        <p:spPr>
          <a:xfrm>
            <a:off x="4572000" y="5791200"/>
            <a:ext cx="76200" cy="152400"/>
          </a:xfrm>
          <a:custGeom>
            <a:avLst/>
            <a:gdLst/>
            <a:ahLst/>
            <a:cxnLst/>
            <a:rect l="l" t="t" r="r" b="b"/>
            <a:pathLst>
              <a:path w="8" h="16">
                <a:moveTo>
                  <a:pt x="0" y="8"/>
                </a:moveTo>
                <a:lnTo>
                  <a:pt x="0" y="0"/>
                </a:lnTo>
                <a:lnTo>
                  <a:pt x="2" y="0"/>
                </a:lnTo>
                <a:lnTo>
                  <a:pt x="3" y="0"/>
                </a:lnTo>
                <a:lnTo>
                  <a:pt x="4" y="1"/>
                </a:lnTo>
                <a:lnTo>
                  <a:pt x="6" y="2"/>
                </a:lnTo>
                <a:lnTo>
                  <a:pt x="6" y="3"/>
                </a:lnTo>
                <a:lnTo>
                  <a:pt x="7" y="4"/>
                </a:lnTo>
                <a:lnTo>
                  <a:pt x="8" y="5"/>
                </a:lnTo>
                <a:lnTo>
                  <a:pt x="8" y="7"/>
                </a:lnTo>
                <a:lnTo>
                  <a:pt x="8" y="8"/>
                </a:lnTo>
                <a:lnTo>
                  <a:pt x="8" y="9"/>
                </a:lnTo>
                <a:lnTo>
                  <a:pt x="8" y="11"/>
                </a:lnTo>
                <a:lnTo>
                  <a:pt x="7" y="12"/>
                </a:lnTo>
                <a:lnTo>
                  <a:pt x="6"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564170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678417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7926648"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Freeform 192"/>
          <p:cNvSpPr/>
          <p:nvPr/>
        </p:nvSpPr>
        <p:spPr>
          <a:xfrm>
            <a:off x="800100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9069120"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Freeform 194"/>
          <p:cNvSpPr/>
          <p:nvPr/>
        </p:nvSpPr>
        <p:spPr>
          <a:xfrm>
            <a:off x="9144000" y="5791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10211592"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11354064"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8" name="Connector 197"/>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99" name="Rectangle 198"/>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201" name="Rectangle 200"/>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203" name="Rectangle 202"/>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205" name="TextBox 204"/>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206" name="TextBox 205"/>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'Construction and Mining Vehicles' is the most contested column (8 players active); 'Recreational and Powersports Vehicles' is the most open (3).</a:t>
            </a:r>
          </a:p>
        </p:txBody>
      </p:sp>
      <p:sp>
        <p:nvSpPr>
          <p:cNvPr id="207" name="Rectangle 20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209" name="TextBox 208"/>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210" name="Picture 209" descr="lock.png"/>
          <p:cNvPicPr>
            <a:picLocks noChangeAspect="1"/>
          </p:cNvPicPr>
          <p:nvPr/>
        </p:nvPicPr>
        <p:blipFill>
          <a:blip r:embed="rId4"/>
          <a:stretch>
            <a:fillRect/>
          </a:stretch>
        </p:blipFill>
        <p:spPr>
          <a:xfrm>
            <a:off x="622441" y="1297051"/>
            <a:ext cx="128699" cy="187198"/>
          </a:xfrm>
          <a:prstGeom prst="rect">
            <a:avLst/>
          </a:prstGeom>
        </p:spPr>
      </p:pic>
      <p:sp>
        <p:nvSpPr>
          <p:cNvPr id="211" name="TextBox 210"/>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212" name="Picture 211" descr="lock.png"/>
          <p:cNvPicPr>
            <a:picLocks noChangeAspect="1"/>
          </p:cNvPicPr>
          <p:nvPr/>
        </p:nvPicPr>
        <p:blipFill>
          <a:blip r:embed="rId4"/>
          <a:stretch>
            <a:fillRect/>
          </a:stretch>
        </p:blipFill>
        <p:spPr>
          <a:xfrm>
            <a:off x="5547332" y="1297051"/>
            <a:ext cx="128699" cy="187198"/>
          </a:xfrm>
          <a:prstGeom prst="rect">
            <a:avLst/>
          </a:prstGeom>
        </p:spPr>
      </p:pic>
      <p:sp>
        <p:nvSpPr>
          <p:cNvPr id="213" name="TextBox 212"/>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214" name="Picture 213" descr="lock.png"/>
          <p:cNvPicPr>
            <a:picLocks noChangeAspect="1"/>
          </p:cNvPicPr>
          <p:nvPr/>
        </p:nvPicPr>
        <p:blipFill>
          <a:blip r:embed="rId4"/>
          <a:stretch>
            <a:fillRect/>
          </a:stretch>
        </p:blipFill>
        <p:spPr>
          <a:xfrm>
            <a:off x="6890588" y="1297051"/>
            <a:ext cx="128699" cy="187198"/>
          </a:xfrm>
          <a:prstGeom prst="rect">
            <a:avLst/>
          </a:prstGeom>
        </p:spPr>
      </p:pic>
      <p:sp>
        <p:nvSpPr>
          <p:cNvPr id="215" name="TextBox 214"/>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216" name="Picture 215"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Value Chain Positioning of Leading Players</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7" name="TextBox 6"/>
          <p:cNvSpPr txBox="1"/>
          <p:nvPr/>
        </p:nvSpPr>
        <p:spPr>
          <a:xfrm>
            <a:off x="2476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8" name="TextBox 7"/>
          <p:cNvSpPr txBox="1"/>
          <p:nvPr/>
        </p:nvSpPr>
        <p:spPr>
          <a:xfrm>
            <a:off x="247650" y="1238250"/>
            <a:ext cx="226695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9" name="Connector 8"/>
          <p:cNvCxnSpPr/>
          <p:nvPr/>
        </p:nvCxnSpPr>
        <p:spPr>
          <a:xfrm>
            <a:off x="25527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6098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1" name="TextBox 10"/>
          <p:cNvSpPr txBox="1"/>
          <p:nvPr/>
        </p:nvSpPr>
        <p:spPr>
          <a:xfrm>
            <a:off x="26098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2" name="Connector 11"/>
          <p:cNvCxnSpPr/>
          <p:nvPr/>
        </p:nvCxnSpPr>
        <p:spPr>
          <a:xfrm>
            <a:off x="49149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720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Construction and Mining Vehicles, share</a:t>
            </a:r>
          </a:p>
        </p:txBody>
      </p:sp>
      <p:sp>
        <p:nvSpPr>
          <p:cNvPr id="14" name="TextBox 13"/>
          <p:cNvSpPr txBox="1"/>
          <p:nvPr/>
        </p:nvSpPr>
        <p:spPr>
          <a:xfrm>
            <a:off x="49720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72771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342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Agriculture and Forestry Vehicles, share</a:t>
            </a:r>
          </a:p>
        </p:txBody>
      </p:sp>
      <p:sp>
        <p:nvSpPr>
          <p:cNvPr id="17" name="TextBox 16"/>
          <p:cNvSpPr txBox="1"/>
          <p:nvPr/>
        </p:nvSpPr>
        <p:spPr>
          <a:xfrm>
            <a:off x="73342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96393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96450" y="1047750"/>
            <a:ext cx="2266950" cy="171450"/>
          </a:xfrm>
          <a:prstGeom prst="rect">
            <a:avLst/>
          </a:prstGeom>
          <a:noFill/>
        </p:spPr>
        <p:txBody>
          <a:bodyPr wrap="square" lIns="28575" rIns="28575" tIns="9525" bIns="9525" anchor="t">
            <a:spAutoFit/>
          </a:bodyPr>
          <a:lstStyle/>
          <a:p>
            <a:pPr algn="l"/>
            <a:r>
              <a:rPr sz="1100" b="0">
                <a:solidFill>
                  <a:srgbClr val="5F6B7A"/>
                </a:solidFill>
                <a:latin typeface="Calibri"/>
              </a:rPr>
              <a:t>Military Vehicles, share</a:t>
            </a:r>
          </a:p>
        </p:txBody>
      </p:sp>
      <p:sp>
        <p:nvSpPr>
          <p:cNvPr id="20" name="TextBox 19"/>
          <p:cNvSpPr txBox="1"/>
          <p:nvPr/>
        </p:nvSpPr>
        <p:spPr>
          <a:xfrm>
            <a:off x="9696450" y="1238250"/>
            <a:ext cx="226695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Construction and Mining Vehicles</a:t>
            </a:r>
          </a:p>
        </p:txBody>
      </p:sp>
      <p:sp>
        <p:nvSpPr>
          <p:cNvPr id="25" name="TextBox 24"/>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6" name="TextBox 25"/>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27" name="TextBox 26"/>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28" name="TextBox 27"/>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29" name="Connector 28"/>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1" name="TextBox 30"/>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Volvo Construction Equipment</a:t>
            </a:r>
          </a:p>
        </p:txBody>
      </p:sp>
      <p:sp>
        <p:nvSpPr>
          <p:cNvPr id="32" name="TextBox 31"/>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3" name="TextBox 32"/>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Caterpillar</a:t>
            </a:r>
          </a:p>
        </p:txBody>
      </p:sp>
      <p:sp>
        <p:nvSpPr>
          <p:cNvPr id="34" name="TextBox 33"/>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Komatsu</a:t>
            </a:r>
          </a:p>
        </p:txBody>
      </p:sp>
      <p:sp>
        <p:nvSpPr>
          <p:cNvPr id="35" name="TextBox 34"/>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Hitachi Construction Machinery</a:t>
            </a:r>
          </a:p>
        </p:txBody>
      </p:sp>
      <p:sp>
        <p:nvSpPr>
          <p:cNvPr id="36" name="TextBox 35"/>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XCMG Group</a:t>
            </a:r>
          </a:p>
        </p:txBody>
      </p:sp>
      <p:cxnSp>
        <p:nvCxnSpPr>
          <p:cNvPr id="37" name="Connector 36"/>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39" name="TextBox 38"/>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0" name="Connector 39"/>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Agriculture and Forestry Vehicles</a:t>
            </a:r>
          </a:p>
        </p:txBody>
      </p:sp>
      <p:sp>
        <p:nvSpPr>
          <p:cNvPr id="45" name="TextBox 44"/>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6" name="TextBox 45"/>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47" name="TextBox 46"/>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48" name="TextBox 47"/>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49" name="Connector 48"/>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1" name="TextBox 50"/>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Caterpillar</a:t>
            </a:r>
          </a:p>
        </p:txBody>
      </p:sp>
      <p:sp>
        <p:nvSpPr>
          <p:cNvPr id="52" name="TextBox 51"/>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3" name="TextBox 52"/>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Komatsu</a:t>
            </a:r>
          </a:p>
        </p:txBody>
      </p:sp>
      <p:sp>
        <p:nvSpPr>
          <p:cNvPr id="54" name="TextBox 53"/>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Liebherr Group</a:t>
            </a:r>
          </a:p>
        </p:txBody>
      </p:sp>
      <p:sp>
        <p:nvSpPr>
          <p:cNvPr id="55" name="TextBox 54"/>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Hitachi Construction Machinery</a:t>
            </a:r>
          </a:p>
        </p:txBody>
      </p:sp>
      <p:sp>
        <p:nvSpPr>
          <p:cNvPr id="56" name="TextBox 55"/>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XCMG Group</a:t>
            </a:r>
          </a:p>
        </p:txBody>
      </p:sp>
      <p:cxnSp>
        <p:nvCxnSpPr>
          <p:cNvPr id="57" name="Connector 56"/>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59" name="TextBox 58"/>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0" name="Connector 59"/>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9825"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219825"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15075"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3. Military Vehicles</a:t>
            </a:r>
          </a:p>
        </p:txBody>
      </p:sp>
      <p:sp>
        <p:nvSpPr>
          <p:cNvPr id="65" name="TextBox 64"/>
          <p:cNvSpPr txBox="1"/>
          <p:nvPr/>
        </p:nvSpPr>
        <p:spPr>
          <a:xfrm>
            <a:off x="6315075"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66" name="TextBox 65"/>
          <p:cNvSpPr txBox="1"/>
          <p:nvPr/>
        </p:nvSpPr>
        <p:spPr>
          <a:xfrm>
            <a:off x="7000875"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67" name="TextBox 66"/>
          <p:cNvSpPr txBox="1"/>
          <p:nvPr/>
        </p:nvSpPr>
        <p:spPr>
          <a:xfrm>
            <a:off x="6315075"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68" name="TextBox 67"/>
          <p:cNvSpPr txBox="1"/>
          <p:nvPr/>
        </p:nvSpPr>
        <p:spPr>
          <a:xfrm>
            <a:off x="7000875"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69" name="Connector 68"/>
          <p:cNvCxnSpPr/>
          <p:nvPr/>
        </p:nvCxnSpPr>
        <p:spPr>
          <a:xfrm>
            <a:off x="6315075"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315075"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71" name="TextBox 70"/>
          <p:cNvSpPr txBox="1"/>
          <p:nvPr/>
        </p:nvSpPr>
        <p:spPr>
          <a:xfrm>
            <a:off x="6315075"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Caterpillar</a:t>
            </a:r>
          </a:p>
        </p:txBody>
      </p:sp>
      <p:sp>
        <p:nvSpPr>
          <p:cNvPr id="72" name="TextBox 71"/>
          <p:cNvSpPr txBox="1"/>
          <p:nvPr/>
        </p:nvSpPr>
        <p:spPr>
          <a:xfrm>
            <a:off x="6315075"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73" name="TextBox 72"/>
          <p:cNvSpPr txBox="1"/>
          <p:nvPr/>
        </p:nvSpPr>
        <p:spPr>
          <a:xfrm>
            <a:off x="6315075"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Volvo Construction Equipment</a:t>
            </a:r>
          </a:p>
        </p:txBody>
      </p:sp>
      <p:sp>
        <p:nvSpPr>
          <p:cNvPr id="74" name="TextBox 73"/>
          <p:cNvSpPr txBox="1"/>
          <p:nvPr/>
        </p:nvSpPr>
        <p:spPr>
          <a:xfrm>
            <a:off x="6315075"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Liebherr Group</a:t>
            </a:r>
          </a:p>
        </p:txBody>
      </p:sp>
      <p:sp>
        <p:nvSpPr>
          <p:cNvPr id="75" name="TextBox 74"/>
          <p:cNvSpPr txBox="1"/>
          <p:nvPr/>
        </p:nvSpPr>
        <p:spPr>
          <a:xfrm>
            <a:off x="6315075"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Hitachi Construction Machinery</a:t>
            </a:r>
          </a:p>
        </p:txBody>
      </p:sp>
      <p:sp>
        <p:nvSpPr>
          <p:cNvPr id="76" name="TextBox 75"/>
          <p:cNvSpPr txBox="1"/>
          <p:nvPr/>
        </p:nvSpPr>
        <p:spPr>
          <a:xfrm>
            <a:off x="6315075"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SANY Group</a:t>
            </a:r>
          </a:p>
        </p:txBody>
      </p:sp>
      <p:cxnSp>
        <p:nvCxnSpPr>
          <p:cNvPr id="77" name="Connector 76"/>
          <p:cNvCxnSpPr/>
          <p:nvPr/>
        </p:nvCxnSpPr>
        <p:spPr>
          <a:xfrm>
            <a:off x="6315075"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6315075"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79" name="TextBox 78"/>
          <p:cNvSpPr txBox="1"/>
          <p:nvPr/>
        </p:nvSpPr>
        <p:spPr>
          <a:xfrm>
            <a:off x="6315075"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80" name="Connector 79"/>
          <p:cNvCxnSpPr/>
          <p:nvPr/>
        </p:nvCxnSpPr>
        <p:spPr>
          <a:xfrm>
            <a:off x="9024938"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81" name="Freeform 80"/>
          <p:cNvSpPr/>
          <p:nvPr/>
        </p:nvSpPr>
        <p:spPr>
          <a:xfrm>
            <a:off x="9124950" y="3448050"/>
            <a:ext cx="76200" cy="95250"/>
          </a:xfrm>
          <a:custGeom>
            <a:avLst/>
            <a:gdLst/>
            <a:ahLst/>
            <a:cxnLst/>
            <a:rect l="l" t="t" r="r" b="b"/>
            <a:pathLst>
              <a:path w="8" h="10">
                <a:moveTo>
                  <a:pt x="8"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Propulsion Configuration</a:t>
            </a:r>
          </a:p>
        </p:txBody>
      </p:sp>
      <p:sp>
        <p:nvSpPr>
          <p:cNvPr id="85" name="TextBox 84"/>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86" name="TextBox 85"/>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87" name="Connector 86"/>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a:t>
            </a:r>
          </a:p>
        </p:txBody>
      </p:sp>
      <p:sp>
        <p:nvSpPr>
          <p:cNvPr id="89" name="Rectangle 88"/>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1" name="TextBox 90"/>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Semi-Tracked Vehicles</a:t>
            </a:r>
          </a:p>
        </p:txBody>
      </p:sp>
      <p:sp>
        <p:nvSpPr>
          <p:cNvPr id="92" name="Rectangle 91"/>
          <p:cNvSpPr/>
          <p:nvPr/>
        </p:nvSpPr>
        <p:spPr>
          <a:xfrm>
            <a:off x="10682288" y="2847975"/>
            <a:ext cx="409206"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129593"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4" name="TextBox 93"/>
          <p:cNvSpPr txBox="1"/>
          <p:nvPr/>
        </p:nvSpPr>
        <p:spPr>
          <a:xfrm>
            <a:off x="9329738" y="30670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Tracked Vehicles</a:t>
            </a:r>
          </a:p>
        </p:txBody>
      </p:sp>
      <p:sp>
        <p:nvSpPr>
          <p:cNvPr id="95" name="Rectangle 94"/>
          <p:cNvSpPr/>
          <p:nvPr/>
        </p:nvSpPr>
        <p:spPr>
          <a:xfrm>
            <a:off x="10682288" y="3171825"/>
            <a:ext cx="224854"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945241" y="31337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97" name="TextBox 96"/>
          <p:cNvSpPr txBox="1"/>
          <p:nvPr/>
        </p:nvSpPr>
        <p:spPr>
          <a:xfrm>
            <a:off x="9329738" y="33909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Other Specialized Propulsion Configurations</a:t>
            </a:r>
          </a:p>
        </p:txBody>
      </p:sp>
      <p:sp>
        <p:nvSpPr>
          <p:cNvPr id="98" name="Rectangle 97"/>
          <p:cNvSpPr/>
          <p:nvPr/>
        </p:nvSpPr>
        <p:spPr>
          <a:xfrm>
            <a:off x="10682288" y="3495675"/>
            <a:ext cx="9543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815819" y="34575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0" name="Connector 99"/>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102" name="TextBox 101"/>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103" name="Rectangle 102"/>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106" name="TextBox 105"/>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Recreational and Powersports Vehicles Compounds Fastest Across the Vehicle Type Mix  |  South Asia &amp; Pacific Emerges as the Growth Engine Among Regions  |  Premiumisation Lifts Average Realisation</a:t>
            </a:r>
          </a:p>
        </p:txBody>
      </p:sp>
      <p:sp>
        <p:nvSpPr>
          <p:cNvPr id="107" name="Rectangle 106"/>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110" name="TextBox 109"/>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Industrial and Port Vehicles Lags the Category and Dilutes Blended Growth  |  Uneven Region Performance Caps the Blended Rate  |  Concentration Risk Limits Pricing and Sourcing Flexibility</a:t>
            </a:r>
          </a:p>
        </p:txBody>
      </p:sp>
      <p:sp>
        <p:nvSpPr>
          <p:cNvPr id="111" name="Rectangle 11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13" name="Picture 112" descr="lock.png"/>
          <p:cNvPicPr>
            <a:picLocks noChangeAspect="1"/>
          </p:cNvPicPr>
          <p:nvPr/>
        </p:nvPicPr>
        <p:blipFill>
          <a:blip r:embed="rId4"/>
          <a:stretch>
            <a:fillRect/>
          </a:stretch>
        </p:blipFill>
        <p:spPr>
          <a:xfrm>
            <a:off x="1316775" y="1258951"/>
            <a:ext cx="128699" cy="187198"/>
          </a:xfrm>
          <a:prstGeom prst="rect">
            <a:avLst/>
          </a:prstGeom>
        </p:spPr>
      </p:pic>
      <p:pic>
        <p:nvPicPr>
          <p:cNvPr id="114" name="Picture 113" descr="lock.png"/>
          <p:cNvPicPr>
            <a:picLocks noChangeAspect="1"/>
          </p:cNvPicPr>
          <p:nvPr/>
        </p:nvPicPr>
        <p:blipFill>
          <a:blip r:embed="rId4"/>
          <a:stretch>
            <a:fillRect/>
          </a:stretch>
        </p:blipFill>
        <p:spPr>
          <a:xfrm>
            <a:off x="3678975" y="1258951"/>
            <a:ext cx="128699" cy="187198"/>
          </a:xfrm>
          <a:prstGeom prst="rect">
            <a:avLst/>
          </a:prstGeom>
        </p:spPr>
      </p:pic>
      <p:pic>
        <p:nvPicPr>
          <p:cNvPr id="115" name="Picture 114" descr="lock.png"/>
          <p:cNvPicPr>
            <a:picLocks noChangeAspect="1"/>
          </p:cNvPicPr>
          <p:nvPr/>
        </p:nvPicPr>
        <p:blipFill>
          <a:blip r:embed="rId4"/>
          <a:stretch>
            <a:fillRect/>
          </a:stretch>
        </p:blipFill>
        <p:spPr>
          <a:xfrm>
            <a:off x="6041175" y="1258951"/>
            <a:ext cx="128699" cy="187198"/>
          </a:xfrm>
          <a:prstGeom prst="rect">
            <a:avLst/>
          </a:prstGeom>
        </p:spPr>
      </p:pic>
      <p:pic>
        <p:nvPicPr>
          <p:cNvPr id="116" name="Picture 115" descr="lock.png"/>
          <p:cNvPicPr>
            <a:picLocks noChangeAspect="1"/>
          </p:cNvPicPr>
          <p:nvPr/>
        </p:nvPicPr>
        <p:blipFill>
          <a:blip r:embed="rId4"/>
          <a:stretch>
            <a:fillRect/>
          </a:stretch>
        </p:blipFill>
        <p:spPr>
          <a:xfrm>
            <a:off x="8403375" y="1258951"/>
            <a:ext cx="128699" cy="187198"/>
          </a:xfrm>
          <a:prstGeom prst="rect">
            <a:avLst/>
          </a:prstGeom>
        </p:spPr>
      </p:pic>
      <p:pic>
        <p:nvPicPr>
          <p:cNvPr id="117" name="Picture 116" descr="lock.png"/>
          <p:cNvPicPr>
            <a:picLocks noChangeAspect="1"/>
          </p:cNvPicPr>
          <p:nvPr/>
        </p:nvPicPr>
        <p:blipFill>
          <a:blip r:embed="rId4"/>
          <a:stretch>
            <a:fillRect/>
          </a:stretch>
        </p:blipFill>
        <p:spPr>
          <a:xfrm>
            <a:off x="10765575" y="1258951"/>
            <a:ext cx="128699" cy="187198"/>
          </a:xfrm>
          <a:prstGeom prst="rect">
            <a:avLst/>
          </a:prstGeom>
        </p:spPr>
      </p:pic>
      <p:pic>
        <p:nvPicPr>
          <p:cNvPr id="118" name="Picture 117" descr="lock.png"/>
          <p:cNvPicPr>
            <a:picLocks noChangeAspect="1"/>
          </p:cNvPicPr>
          <p:nvPr/>
        </p:nvPicPr>
        <p:blipFill>
          <a:blip r:embed="rId4"/>
          <a:stretch>
            <a:fillRect/>
          </a:stretch>
        </p:blipFill>
        <p:spPr>
          <a:xfrm>
            <a:off x="554775" y="1925701"/>
            <a:ext cx="128699" cy="187198"/>
          </a:xfrm>
          <a:prstGeom prst="rect">
            <a:avLst/>
          </a:prstGeom>
        </p:spPr>
      </p:pic>
      <p:pic>
        <p:nvPicPr>
          <p:cNvPr id="119" name="Picture 118" descr="lock.png"/>
          <p:cNvPicPr>
            <a:picLocks noChangeAspect="1"/>
          </p:cNvPicPr>
          <p:nvPr/>
        </p:nvPicPr>
        <p:blipFill>
          <a:blip r:embed="rId4"/>
          <a:stretch>
            <a:fillRect/>
          </a:stretch>
        </p:blipFill>
        <p:spPr>
          <a:xfrm>
            <a:off x="554775" y="2135251"/>
            <a:ext cx="128699" cy="187198"/>
          </a:xfrm>
          <a:prstGeom prst="rect">
            <a:avLst/>
          </a:prstGeom>
        </p:spPr>
      </p:pic>
      <p:pic>
        <p:nvPicPr>
          <p:cNvPr id="120" name="Picture 119" descr="lock.png"/>
          <p:cNvPicPr>
            <a:picLocks noChangeAspect="1"/>
          </p:cNvPicPr>
          <p:nvPr/>
        </p:nvPicPr>
        <p:blipFill>
          <a:blip r:embed="rId4"/>
          <a:stretch>
            <a:fillRect/>
          </a:stretch>
        </p:blipFill>
        <p:spPr>
          <a:xfrm>
            <a:off x="3569437" y="1925701"/>
            <a:ext cx="128699" cy="187198"/>
          </a:xfrm>
          <a:prstGeom prst="rect">
            <a:avLst/>
          </a:prstGeom>
        </p:spPr>
      </p:pic>
      <p:pic>
        <p:nvPicPr>
          <p:cNvPr id="121" name="Picture 120" descr="lock.png"/>
          <p:cNvPicPr>
            <a:picLocks noChangeAspect="1"/>
          </p:cNvPicPr>
          <p:nvPr/>
        </p:nvPicPr>
        <p:blipFill>
          <a:blip r:embed="rId4"/>
          <a:stretch>
            <a:fillRect/>
          </a:stretch>
        </p:blipFill>
        <p:spPr>
          <a:xfrm>
            <a:off x="3569437" y="2135251"/>
            <a:ext cx="128699" cy="187198"/>
          </a:xfrm>
          <a:prstGeom prst="rect">
            <a:avLst/>
          </a:prstGeom>
        </p:spPr>
      </p:pic>
      <p:pic>
        <p:nvPicPr>
          <p:cNvPr id="122" name="Picture 121" descr="lock.png"/>
          <p:cNvPicPr>
            <a:picLocks noChangeAspect="1"/>
          </p:cNvPicPr>
          <p:nvPr/>
        </p:nvPicPr>
        <p:blipFill>
          <a:blip r:embed="rId4"/>
          <a:stretch>
            <a:fillRect/>
          </a:stretch>
        </p:blipFill>
        <p:spPr>
          <a:xfrm>
            <a:off x="6584100" y="1925701"/>
            <a:ext cx="128699" cy="187198"/>
          </a:xfrm>
          <a:prstGeom prst="rect">
            <a:avLst/>
          </a:prstGeom>
        </p:spPr>
      </p:pic>
      <p:pic>
        <p:nvPicPr>
          <p:cNvPr id="123" name="Picture 122" descr="lock.png"/>
          <p:cNvPicPr>
            <a:picLocks noChangeAspect="1"/>
          </p:cNvPicPr>
          <p:nvPr/>
        </p:nvPicPr>
        <p:blipFill>
          <a:blip r:embed="rId4"/>
          <a:stretch>
            <a:fillRect/>
          </a:stretch>
        </p:blipFill>
        <p:spPr>
          <a:xfrm>
            <a:off x="6584100" y="2135251"/>
            <a:ext cx="128699" cy="187198"/>
          </a:xfrm>
          <a:prstGeom prst="rect">
            <a:avLst/>
          </a:prstGeom>
        </p:spPr>
      </p:pic>
      <p:pic>
        <p:nvPicPr>
          <p:cNvPr id="124" name="Picture 123" descr="lock.png"/>
          <p:cNvPicPr>
            <a:picLocks noChangeAspect="1"/>
          </p:cNvPicPr>
          <p:nvPr/>
        </p:nvPicPr>
        <p:blipFill>
          <a:blip r:embed="rId4"/>
          <a:stretch>
            <a:fillRect/>
          </a:stretch>
        </p:blipFill>
        <p:spPr>
          <a:xfrm>
            <a:off x="11660925" y="2487676"/>
            <a:ext cx="128699" cy="187198"/>
          </a:xfrm>
          <a:prstGeom prst="rect">
            <a:avLst/>
          </a:prstGeom>
        </p:spPr>
      </p:pic>
      <p:pic>
        <p:nvPicPr>
          <p:cNvPr id="125" name="Picture 124" descr="lock.png"/>
          <p:cNvPicPr>
            <a:picLocks noChangeAspect="1"/>
          </p:cNvPicPr>
          <p:nvPr/>
        </p:nvPicPr>
        <p:blipFill>
          <a:blip r:embed="rId4"/>
          <a:stretch>
            <a:fillRect/>
          </a:stretch>
        </p:blipFill>
        <p:spPr>
          <a:xfrm>
            <a:off x="11303368" y="2811526"/>
            <a:ext cx="128699" cy="187198"/>
          </a:xfrm>
          <a:prstGeom prst="rect">
            <a:avLst/>
          </a:prstGeom>
        </p:spPr>
      </p:pic>
      <p:pic>
        <p:nvPicPr>
          <p:cNvPr id="126" name="Picture 125" descr="lock.png"/>
          <p:cNvPicPr>
            <a:picLocks noChangeAspect="1"/>
          </p:cNvPicPr>
          <p:nvPr/>
        </p:nvPicPr>
        <p:blipFill>
          <a:blip r:embed="rId4"/>
          <a:stretch>
            <a:fillRect/>
          </a:stretch>
        </p:blipFill>
        <p:spPr>
          <a:xfrm>
            <a:off x="11119016" y="3135376"/>
            <a:ext cx="128699" cy="187198"/>
          </a:xfrm>
          <a:prstGeom prst="rect">
            <a:avLst/>
          </a:prstGeom>
        </p:spPr>
      </p:pic>
      <p:pic>
        <p:nvPicPr>
          <p:cNvPr id="127" name="Picture 126" descr="lock.png"/>
          <p:cNvPicPr>
            <a:picLocks noChangeAspect="1"/>
          </p:cNvPicPr>
          <p:nvPr/>
        </p:nvPicPr>
        <p:blipFill>
          <a:blip r:embed="rId4"/>
          <a:stretch>
            <a:fillRect/>
          </a:stretch>
        </p:blipFill>
        <p:spPr>
          <a:xfrm>
            <a:off x="10989594" y="3459226"/>
            <a:ext cx="128699" cy="187198"/>
          </a:xfrm>
          <a:prstGeom prst="rect">
            <a:avLst/>
          </a:prstGeom>
        </p:spPr>
      </p:pic>
      <p:sp>
        <p:nvSpPr>
          <p:cNvPr id="128" name="TextBox 127"/>
          <p:cNvSpPr txBox="1"/>
          <p:nvPr/>
        </p:nvSpPr>
        <p:spPr>
          <a:xfrm>
            <a:off x="314325" y="4676775"/>
            <a:ext cx="1880021" cy="186689"/>
          </a:xfrm>
          <a:prstGeom prst="rect">
            <a:avLst/>
          </a:prstGeom>
          <a:noFill/>
        </p:spPr>
        <p:txBody>
          <a:bodyPr wrap="none" lIns="0" rIns="0" tIns="0" bIns="0">
            <a:spAutoFit/>
          </a:bodyPr>
          <a:lstStyle/>
          <a:p>
            <a:r>
              <a:rPr sz="1100" b="0">
                <a:solidFill>
                  <a:srgbClr val="1F2933"/>
                </a:solidFill>
                <a:latin typeface="Calibri"/>
              </a:rPr>
              <a:t>5 named players compete here;</a:t>
            </a:r>
          </a:p>
        </p:txBody>
      </p:sp>
      <p:sp>
        <p:nvSpPr>
          <p:cNvPr id="129" name="TextBox 128"/>
          <p:cNvSpPr txBox="1"/>
          <p:nvPr/>
        </p:nvSpPr>
        <p:spPr>
          <a:xfrm>
            <a:off x="314325" y="4844415"/>
            <a:ext cx="2343596" cy="186689"/>
          </a:xfrm>
          <a:prstGeom prst="rect">
            <a:avLst/>
          </a:prstGeom>
          <a:noFill/>
        </p:spPr>
        <p:txBody>
          <a:bodyPr wrap="none" lIns="0" rIns="0" tIns="0" bIns="0">
            <a:spAutoFit/>
          </a:bodyPr>
          <a:lstStyle/>
          <a:p>
            <a:r>
              <a:rPr sz="1100" b="0">
                <a:solidFill>
                  <a:srgbClr val="1F2933"/>
                </a:solidFill>
                <a:latin typeface="Calibri"/>
              </a:rPr>
              <a:t>'Construction and Mining Vehicles' adds</a:t>
            </a:r>
          </a:p>
        </p:txBody>
      </p:sp>
      <p:pic>
        <p:nvPicPr>
          <p:cNvPr id="130" name="Picture 129" descr="lock.png"/>
          <p:cNvPicPr>
            <a:picLocks noChangeAspect="1"/>
          </p:cNvPicPr>
          <p:nvPr/>
        </p:nvPicPr>
        <p:blipFill>
          <a:blip r:embed="rId4"/>
          <a:stretch>
            <a:fillRect/>
          </a:stretch>
        </p:blipFill>
        <p:spPr>
          <a:xfrm>
            <a:off x="300857" y="5002276"/>
            <a:ext cx="128699" cy="187198"/>
          </a:xfrm>
          <a:prstGeom prst="rect">
            <a:avLst/>
          </a:prstGeom>
        </p:spPr>
      </p:pic>
      <p:sp>
        <p:nvSpPr>
          <p:cNvPr id="131" name="TextBox 130"/>
          <p:cNvSpPr txBox="1"/>
          <p:nvPr/>
        </p:nvSpPr>
        <p:spPr>
          <a:xfrm>
            <a:off x="468353" y="501205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32" name="TextBox 131"/>
          <p:cNvSpPr txBox="1"/>
          <p:nvPr/>
        </p:nvSpPr>
        <p:spPr>
          <a:xfrm>
            <a:off x="3328987"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'Agriculture</a:t>
            </a:r>
          </a:p>
        </p:txBody>
      </p:sp>
      <p:sp>
        <p:nvSpPr>
          <p:cNvPr id="133" name="TextBox 132"/>
          <p:cNvSpPr txBox="1"/>
          <p:nvPr/>
        </p:nvSpPr>
        <p:spPr>
          <a:xfrm>
            <a:off x="3328987" y="4844415"/>
            <a:ext cx="1623784" cy="186689"/>
          </a:xfrm>
          <a:prstGeom prst="rect">
            <a:avLst/>
          </a:prstGeom>
          <a:noFill/>
        </p:spPr>
        <p:txBody>
          <a:bodyPr wrap="none" lIns="0" rIns="0" tIns="0" bIns="0">
            <a:spAutoFit/>
          </a:bodyPr>
          <a:lstStyle/>
          <a:p>
            <a:r>
              <a:rPr sz="1100" b="0">
                <a:solidFill>
                  <a:srgbClr val="1F2933"/>
                </a:solidFill>
                <a:latin typeface="Calibri"/>
              </a:rPr>
              <a:t>and Forestry Vehicles' adds</a:t>
            </a:r>
          </a:p>
        </p:txBody>
      </p:sp>
      <p:pic>
        <p:nvPicPr>
          <p:cNvPr id="134" name="Picture 133" descr="lock.png"/>
          <p:cNvPicPr>
            <a:picLocks noChangeAspect="1"/>
          </p:cNvPicPr>
          <p:nvPr/>
        </p:nvPicPr>
        <p:blipFill>
          <a:blip r:embed="rId4"/>
          <a:stretch>
            <a:fillRect/>
          </a:stretch>
        </p:blipFill>
        <p:spPr>
          <a:xfrm>
            <a:off x="4900822" y="4834636"/>
            <a:ext cx="128699" cy="187198"/>
          </a:xfrm>
          <a:prstGeom prst="rect">
            <a:avLst/>
          </a:prstGeom>
        </p:spPr>
      </p:pic>
      <p:sp>
        <p:nvSpPr>
          <p:cNvPr id="135" name="TextBox 134"/>
          <p:cNvSpPr txBox="1"/>
          <p:nvPr/>
        </p:nvSpPr>
        <p:spPr>
          <a:xfrm>
            <a:off x="5068318" y="4844415"/>
            <a:ext cx="693935" cy="186689"/>
          </a:xfrm>
          <a:prstGeom prst="rect">
            <a:avLst/>
          </a:prstGeom>
          <a:noFill/>
        </p:spPr>
        <p:txBody>
          <a:bodyPr wrap="none" lIns="0" rIns="0" tIns="0" bIns="0">
            <a:spAutoFit/>
          </a:bodyPr>
          <a:lstStyle/>
          <a:p>
            <a:r>
              <a:rPr sz="1100" b="0">
                <a:solidFill>
                  <a:srgbClr val="1F2933"/>
                </a:solidFill>
                <a:latin typeface="Calibri"/>
              </a:rPr>
              <a:t>US$ Mn by</a:t>
            </a:r>
          </a:p>
        </p:txBody>
      </p:sp>
      <p:sp>
        <p:nvSpPr>
          <p:cNvPr id="136" name="TextBox 135"/>
          <p:cNvSpPr txBox="1"/>
          <p:nvPr/>
        </p:nvSpPr>
        <p:spPr>
          <a:xfrm>
            <a:off x="3328987" y="5012055"/>
            <a:ext cx="395163" cy="186689"/>
          </a:xfrm>
          <a:prstGeom prst="rect">
            <a:avLst/>
          </a:prstGeom>
          <a:noFill/>
        </p:spPr>
        <p:txBody>
          <a:bodyPr wrap="none" lIns="0" rIns="0" tIns="0" bIns="0">
            <a:spAutoFit/>
          </a:bodyPr>
          <a:lstStyle/>
          <a:p>
            <a:r>
              <a:rPr sz="1100" b="0">
                <a:solidFill>
                  <a:srgbClr val="1F2933"/>
                </a:solidFill>
                <a:latin typeface="Calibri"/>
              </a:rPr>
              <a:t>2036.</a:t>
            </a:r>
          </a:p>
        </p:txBody>
      </p:sp>
      <p:sp>
        <p:nvSpPr>
          <p:cNvPr id="137" name="TextBox 136"/>
          <p:cNvSpPr txBox="1"/>
          <p:nvPr/>
        </p:nvSpPr>
        <p:spPr>
          <a:xfrm>
            <a:off x="6343650" y="4676775"/>
            <a:ext cx="2384524" cy="186689"/>
          </a:xfrm>
          <a:prstGeom prst="rect">
            <a:avLst/>
          </a:prstGeom>
          <a:noFill/>
        </p:spPr>
        <p:txBody>
          <a:bodyPr wrap="none" lIns="0" rIns="0" tIns="0" bIns="0">
            <a:spAutoFit/>
          </a:bodyPr>
          <a:lstStyle/>
          <a:p>
            <a:r>
              <a:rPr sz="1100" b="0">
                <a:solidFill>
                  <a:srgbClr val="1F2933"/>
                </a:solidFill>
                <a:latin typeface="Calibri"/>
              </a:rPr>
              <a:t>5 named players compete here; 'Military</a:t>
            </a:r>
          </a:p>
        </p:txBody>
      </p:sp>
      <p:sp>
        <p:nvSpPr>
          <p:cNvPr id="138" name="TextBox 137"/>
          <p:cNvSpPr txBox="1"/>
          <p:nvPr/>
        </p:nvSpPr>
        <p:spPr>
          <a:xfrm>
            <a:off x="6343650" y="4844415"/>
            <a:ext cx="877019" cy="186689"/>
          </a:xfrm>
          <a:prstGeom prst="rect">
            <a:avLst/>
          </a:prstGeom>
          <a:noFill/>
        </p:spPr>
        <p:txBody>
          <a:bodyPr wrap="none" lIns="0" rIns="0" tIns="0" bIns="0">
            <a:spAutoFit/>
          </a:bodyPr>
          <a:lstStyle/>
          <a:p>
            <a:r>
              <a:rPr sz="1100" b="0">
                <a:solidFill>
                  <a:srgbClr val="1F2933"/>
                </a:solidFill>
                <a:latin typeface="Calibri"/>
              </a:rPr>
              <a:t>Vehicles' adds</a:t>
            </a:r>
          </a:p>
        </p:txBody>
      </p:sp>
      <p:pic>
        <p:nvPicPr>
          <p:cNvPr id="139" name="Picture 138" descr="lock.png"/>
          <p:cNvPicPr>
            <a:picLocks noChangeAspect="1"/>
          </p:cNvPicPr>
          <p:nvPr/>
        </p:nvPicPr>
        <p:blipFill>
          <a:blip r:embed="rId4"/>
          <a:stretch>
            <a:fillRect/>
          </a:stretch>
        </p:blipFill>
        <p:spPr>
          <a:xfrm>
            <a:off x="7168720" y="4834636"/>
            <a:ext cx="128699" cy="187198"/>
          </a:xfrm>
          <a:prstGeom prst="rect">
            <a:avLst/>
          </a:prstGeom>
        </p:spPr>
      </p:pic>
      <p:sp>
        <p:nvSpPr>
          <p:cNvPr id="140" name="TextBox 139"/>
          <p:cNvSpPr txBox="1"/>
          <p:nvPr/>
        </p:nvSpPr>
        <p:spPr>
          <a:xfrm>
            <a:off x="7336216"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
        <p:nvSpPr>
          <p:cNvPr id="141" name="TextBox 140"/>
          <p:cNvSpPr txBox="1"/>
          <p:nvPr/>
        </p:nvSpPr>
        <p:spPr>
          <a:xfrm>
            <a:off x="9358313" y="4676775"/>
            <a:ext cx="1728861" cy="186689"/>
          </a:xfrm>
          <a:prstGeom prst="rect">
            <a:avLst/>
          </a:prstGeom>
          <a:noFill/>
        </p:spPr>
        <p:txBody>
          <a:bodyPr wrap="none" lIns="0" rIns="0" tIns="0" bIns="0">
            <a:spAutoFit/>
          </a:bodyPr>
          <a:lstStyle/>
          <a:p>
            <a:r>
              <a:rPr sz="1100" b="0">
                <a:solidFill>
                  <a:srgbClr val="1F2933"/>
                </a:solidFill>
                <a:latin typeface="Calibri"/>
              </a:rPr>
              <a:t>The top two end uses pay for</a:t>
            </a:r>
          </a:p>
        </p:txBody>
      </p:sp>
      <p:pic>
        <p:nvPicPr>
          <p:cNvPr id="142" name="Picture 141" descr="lock.png"/>
          <p:cNvPicPr>
            <a:picLocks noChangeAspect="1"/>
          </p:cNvPicPr>
          <p:nvPr/>
        </p:nvPicPr>
        <p:blipFill>
          <a:blip r:embed="rId4"/>
          <a:stretch>
            <a:fillRect/>
          </a:stretch>
        </p:blipFill>
        <p:spPr>
          <a:xfrm>
            <a:off x="11035226" y="4666996"/>
            <a:ext cx="128699" cy="187198"/>
          </a:xfrm>
          <a:prstGeom prst="rect">
            <a:avLst/>
          </a:prstGeom>
        </p:spPr>
      </p:pic>
      <p:sp>
        <p:nvSpPr>
          <p:cNvPr id="143" name="TextBox 142"/>
          <p:cNvSpPr txBox="1"/>
          <p:nvPr/>
        </p:nvSpPr>
        <p:spPr>
          <a:xfrm>
            <a:off x="11202722" y="4676775"/>
            <a:ext cx="413990" cy="186689"/>
          </a:xfrm>
          <a:prstGeom prst="rect">
            <a:avLst/>
          </a:prstGeom>
          <a:noFill/>
        </p:spPr>
        <p:txBody>
          <a:bodyPr wrap="none" lIns="0" rIns="0" tIns="0" bIns="0">
            <a:spAutoFit/>
          </a:bodyPr>
          <a:lstStyle/>
          <a:p>
            <a:r>
              <a:rPr sz="1100" b="0">
                <a:solidFill>
                  <a:srgbClr val="1F2933"/>
                </a:solidFill>
                <a:latin typeface="Calibri"/>
              </a:rPr>
              <a:t>of the</a:t>
            </a:r>
          </a:p>
        </p:txBody>
      </p:sp>
      <p:sp>
        <p:nvSpPr>
          <p:cNvPr id="144" name="TextBox 143"/>
          <p:cNvSpPr txBox="1"/>
          <p:nvPr/>
        </p:nvSpPr>
        <p:spPr>
          <a:xfrm>
            <a:off x="9358313" y="4844415"/>
            <a:ext cx="2519361" cy="186689"/>
          </a:xfrm>
          <a:prstGeom prst="rect">
            <a:avLst/>
          </a:prstGeom>
          <a:noFill/>
        </p:spPr>
        <p:txBody>
          <a:bodyPr wrap="none" lIns="0" rIns="0" tIns="0" bIns="0">
            <a:spAutoFit/>
          </a:bodyPr>
          <a:lstStyle/>
          <a:p>
            <a:r>
              <a:rPr sz="1100" b="0">
                <a:solidFill>
                  <a:srgbClr val="1F2933"/>
                </a:solidFill>
                <a:latin typeface="Calibri"/>
              </a:rPr>
              <a:t>market; vendors package for one vertical at</a:t>
            </a:r>
          </a:p>
        </p:txBody>
      </p:sp>
      <p:sp>
        <p:nvSpPr>
          <p:cNvPr id="145" name="TextBox 144"/>
          <p:cNvSpPr txBox="1"/>
          <p:nvPr/>
        </p:nvSpPr>
        <p:spPr>
          <a:xfrm>
            <a:off x="9358313" y="5012055"/>
            <a:ext cx="470197" cy="186689"/>
          </a:xfrm>
          <a:prstGeom prst="rect">
            <a:avLst/>
          </a:prstGeom>
          <a:noFill/>
        </p:spPr>
        <p:txBody>
          <a:bodyPr wrap="none" lIns="0" rIns="0" tIns="0" bIns="0">
            <a:spAutoFit/>
          </a:bodyPr>
          <a:lstStyle/>
          <a:p>
            <a:r>
              <a:rPr sz="1100" b="0">
                <a:solidFill>
                  <a:srgbClr val="1F2933"/>
                </a:solidFill>
                <a:latin typeface="Calibri"/>
              </a:rPr>
              <a:t>a time.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Player Landscape by Business Type and Reach</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7" name="Rectangle 6"/>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9" name="Rectangle 8"/>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1" name="Rectangle 10"/>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3" name="TextBox 12"/>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4" name="TextBox 13"/>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5" name="Connector 14"/>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18" name="TextBox 17"/>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Caterpillar</a:t>
            </a:r>
          </a:p>
        </p:txBody>
      </p:sp>
      <p:sp>
        <p:nvSpPr>
          <p:cNvPr id="19" name="Rectangle 18"/>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Komatsu</a:t>
            </a:r>
          </a:p>
        </p:txBody>
      </p:sp>
      <p:sp>
        <p:nvSpPr>
          <p:cNvPr id="22" name="Rectangle 21"/>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Volvo Construction Equipment</a:t>
            </a:r>
          </a:p>
        </p:txBody>
      </p:sp>
      <p:sp>
        <p:nvSpPr>
          <p:cNvPr id="25" name="Rectangle 24"/>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Liebherr Group</a:t>
            </a:r>
          </a:p>
        </p:txBody>
      </p:sp>
      <p:cxnSp>
        <p:nvCxnSpPr>
          <p:cNvPr id="28" name="Connector 27"/>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1" name="TextBox 30"/>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2" name="Connector 31"/>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37" name="TextBox 36"/>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Hitachi Construction Machinery</a:t>
            </a:r>
          </a:p>
        </p:txBody>
      </p:sp>
      <p:sp>
        <p:nvSpPr>
          <p:cNvPr id="38" name="Rectangle 37"/>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XCMG Group</a:t>
            </a:r>
          </a:p>
        </p:txBody>
      </p:sp>
      <p:cxnSp>
        <p:nvCxnSpPr>
          <p:cNvPr id="41" name="Connector 40"/>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3" name="TextBox 42"/>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4" name="Connector 43"/>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0" name="TextBox 49"/>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SANY Group</a:t>
            </a:r>
          </a:p>
        </p:txBody>
      </p:sp>
      <p:sp>
        <p:nvSpPr>
          <p:cNvPr id="51" name="Rectangle 50"/>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JCB</a:t>
            </a:r>
          </a:p>
        </p:txBody>
      </p:sp>
      <p:sp>
        <p:nvSpPr>
          <p:cNvPr id="54" name="Rectangle 53"/>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HD Hyundai Construction Equipment</a:t>
            </a:r>
          </a:p>
        </p:txBody>
      </p:sp>
      <p:sp>
        <p:nvSpPr>
          <p:cNvPr id="57" name="Rectangle 56"/>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LiuGong</a:t>
            </a:r>
          </a:p>
        </p:txBody>
      </p:sp>
      <p:sp>
        <p:nvSpPr>
          <p:cNvPr id="60" name="Rectangle 59"/>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2" name="TextBox 61"/>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3" name="TextBox 62"/>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4" name="Rectangle 63"/>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6" name="TextBox 65"/>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7" name="TextBox 66"/>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8" name="Rectangle 67"/>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0" name="TextBox 69"/>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1" name="TextBox 70"/>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2" name="TextBox 71"/>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3" name="Rectangle 72"/>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5" name="TextBox 74"/>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6" name="TextBox 75"/>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77" name="TextBox 76"/>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78" name="TextBox 77"/>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79" name="Rectangle 78"/>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1" name="TextBox 80"/>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2" name="TextBox 81"/>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3" name="TextBox 82"/>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4" name="TextBox 83"/>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5" name="Rectangle 84"/>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87" name="TextBox 86"/>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8" name="TextBox 87"/>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89" name="TextBox 88"/>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0" name="TextBox 89"/>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1" name="Rectangle 90"/>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93" name="Picture 92" descr="lock.png"/>
          <p:cNvPicPr>
            <a:picLocks noChangeAspect="1"/>
          </p:cNvPicPr>
          <p:nvPr/>
        </p:nvPicPr>
        <p:blipFill>
          <a:blip r:embed="rId4"/>
          <a:stretch>
            <a:fillRect/>
          </a:stretch>
        </p:blipFill>
        <p:spPr>
          <a:xfrm>
            <a:off x="1059600" y="4487926"/>
            <a:ext cx="128699" cy="187198"/>
          </a:xfrm>
          <a:prstGeom prst="rect">
            <a:avLst/>
          </a:prstGeom>
        </p:spPr>
      </p:pic>
      <p:pic>
        <p:nvPicPr>
          <p:cNvPr id="94" name="Picture 93" descr="lock.png"/>
          <p:cNvPicPr>
            <a:picLocks noChangeAspect="1"/>
          </p:cNvPicPr>
          <p:nvPr/>
        </p:nvPicPr>
        <p:blipFill>
          <a:blip r:embed="rId4"/>
          <a:stretch>
            <a:fillRect/>
          </a:stretch>
        </p:blipFill>
        <p:spPr>
          <a:xfrm>
            <a:off x="3821850" y="4487926"/>
            <a:ext cx="128699" cy="187198"/>
          </a:xfrm>
          <a:prstGeom prst="rect">
            <a:avLst/>
          </a:prstGeom>
        </p:spPr>
      </p:pic>
      <p:pic>
        <p:nvPicPr>
          <p:cNvPr id="95" name="Picture 94" descr="lock.png"/>
          <p:cNvPicPr>
            <a:picLocks noChangeAspect="1"/>
          </p:cNvPicPr>
          <p:nvPr/>
        </p:nvPicPr>
        <p:blipFill>
          <a:blip r:embed="rId4"/>
          <a:stretch>
            <a:fillRect/>
          </a:stretch>
        </p:blipFill>
        <p:spPr>
          <a:xfrm>
            <a:off x="6584100" y="4487926"/>
            <a:ext cx="128699" cy="187198"/>
          </a:xfrm>
          <a:prstGeom prst="rect">
            <a:avLst/>
          </a:prstGeom>
        </p:spPr>
      </p:pic>
      <p:sp>
        <p:nvSpPr>
          <p:cNvPr id="96" name="TextBox 95"/>
          <p:cNvSpPr txBox="1"/>
          <p:nvPr/>
        </p:nvSpPr>
        <p:spPr>
          <a:xfrm>
            <a:off x="21907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97" name="Picture 96" descr="lock.png"/>
          <p:cNvPicPr>
            <a:picLocks noChangeAspect="1"/>
          </p:cNvPicPr>
          <p:nvPr/>
        </p:nvPicPr>
        <p:blipFill>
          <a:blip r:embed="rId4"/>
          <a:stretch>
            <a:fillRect/>
          </a:stretch>
        </p:blipFill>
        <p:spPr>
          <a:xfrm>
            <a:off x="1343736" y="5867145"/>
            <a:ext cx="128699" cy="187198"/>
          </a:xfrm>
          <a:prstGeom prst="rect">
            <a:avLst/>
          </a:prstGeom>
        </p:spPr>
      </p:pic>
      <p:sp>
        <p:nvSpPr>
          <p:cNvPr id="98" name="TextBox 97"/>
          <p:cNvSpPr txBox="1"/>
          <p:nvPr/>
        </p:nvSpPr>
        <p:spPr>
          <a:xfrm>
            <a:off x="151123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99" name="TextBox 98"/>
          <p:cNvSpPr txBox="1"/>
          <p:nvPr/>
        </p:nvSpPr>
        <p:spPr>
          <a:xfrm>
            <a:off x="3219450"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0" name="Picture 99" descr="lock.png"/>
          <p:cNvPicPr>
            <a:picLocks noChangeAspect="1"/>
          </p:cNvPicPr>
          <p:nvPr/>
        </p:nvPicPr>
        <p:blipFill>
          <a:blip r:embed="rId4"/>
          <a:stretch>
            <a:fillRect/>
          </a:stretch>
        </p:blipFill>
        <p:spPr>
          <a:xfrm>
            <a:off x="4344111" y="5867145"/>
            <a:ext cx="128699" cy="187198"/>
          </a:xfrm>
          <a:prstGeom prst="rect">
            <a:avLst/>
          </a:prstGeom>
        </p:spPr>
      </p:pic>
      <p:sp>
        <p:nvSpPr>
          <p:cNvPr id="101" name="TextBox 100"/>
          <p:cNvSpPr txBox="1"/>
          <p:nvPr/>
        </p:nvSpPr>
        <p:spPr>
          <a:xfrm>
            <a:off x="4511607"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2" name="TextBox 101"/>
          <p:cNvSpPr txBox="1"/>
          <p:nvPr/>
        </p:nvSpPr>
        <p:spPr>
          <a:xfrm>
            <a:off x="6219825" y="5876925"/>
            <a:ext cx="1176610" cy="186689"/>
          </a:xfrm>
          <a:prstGeom prst="rect">
            <a:avLst/>
          </a:prstGeom>
          <a:noFill/>
        </p:spPr>
        <p:txBody>
          <a:bodyPr wrap="none" lIns="0" rIns="0" tIns="0" bIns="0">
            <a:spAutoFit/>
          </a:bodyPr>
          <a:lstStyle/>
          <a:p>
            <a:r>
              <a:rPr sz="1100" b="0">
                <a:solidFill>
                  <a:srgbClr val="1F2933"/>
                </a:solidFill>
                <a:latin typeface="Calibri"/>
              </a:rPr>
              <a:t>Launch-led growth;</a:t>
            </a:r>
          </a:p>
        </p:txBody>
      </p:sp>
      <p:pic>
        <p:nvPicPr>
          <p:cNvPr id="103" name="Picture 102" descr="lock.png"/>
          <p:cNvPicPr>
            <a:picLocks noChangeAspect="1"/>
          </p:cNvPicPr>
          <p:nvPr/>
        </p:nvPicPr>
        <p:blipFill>
          <a:blip r:embed="rId4"/>
          <a:stretch>
            <a:fillRect/>
          </a:stretch>
        </p:blipFill>
        <p:spPr>
          <a:xfrm>
            <a:off x="7344486" y="5867145"/>
            <a:ext cx="128699" cy="187198"/>
          </a:xfrm>
          <a:prstGeom prst="rect">
            <a:avLst/>
          </a:prstGeom>
        </p:spPr>
      </p:pic>
      <p:sp>
        <p:nvSpPr>
          <p:cNvPr id="104" name="TextBox 103"/>
          <p:cNvSpPr txBox="1"/>
          <p:nvPr/>
        </p:nvSpPr>
        <p:spPr>
          <a:xfrm>
            <a:off x="7511982"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Corporate Scorecard: Who They Are</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9" name="TextBox 8"/>
          <p:cNvSpPr txBox="1"/>
          <p:nvPr/>
        </p:nvSpPr>
        <p:spPr>
          <a:xfrm>
            <a:off x="2899824" y="1295400"/>
            <a:ext cx="209993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0" name="TextBox 9"/>
          <p:cNvSpPr txBox="1"/>
          <p:nvPr/>
        </p:nvSpPr>
        <p:spPr>
          <a:xfrm>
            <a:off x="2899824" y="1657350"/>
            <a:ext cx="209993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1" name="TextBox 10"/>
          <p:cNvSpPr txBox="1"/>
          <p:nvPr/>
        </p:nvSpPr>
        <p:spPr>
          <a:xfrm>
            <a:off x="5075961" y="1295400"/>
            <a:ext cx="1084407"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2" name="TextBox 11"/>
          <p:cNvSpPr txBox="1"/>
          <p:nvPr/>
        </p:nvSpPr>
        <p:spPr>
          <a:xfrm>
            <a:off x="5075961" y="1657350"/>
            <a:ext cx="1084407"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3" name="TextBox 12"/>
          <p:cNvSpPr txBox="1"/>
          <p:nvPr/>
        </p:nvSpPr>
        <p:spPr>
          <a:xfrm>
            <a:off x="6236567" y="1295400"/>
            <a:ext cx="8909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4" name="TextBox 13"/>
          <p:cNvSpPr txBox="1"/>
          <p:nvPr/>
        </p:nvSpPr>
        <p:spPr>
          <a:xfrm>
            <a:off x="6236567" y="1657350"/>
            <a:ext cx="8909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5" name="TextBox 14"/>
          <p:cNvSpPr txBox="1"/>
          <p:nvPr/>
        </p:nvSpPr>
        <p:spPr>
          <a:xfrm>
            <a:off x="7203739" y="1295400"/>
            <a:ext cx="8909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6" name="TextBox 15"/>
          <p:cNvSpPr txBox="1"/>
          <p:nvPr/>
        </p:nvSpPr>
        <p:spPr>
          <a:xfrm>
            <a:off x="7203739" y="1657350"/>
            <a:ext cx="8909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17" name="TextBox 16"/>
          <p:cNvSpPr txBox="1"/>
          <p:nvPr/>
        </p:nvSpPr>
        <p:spPr>
          <a:xfrm>
            <a:off x="8170912" y="1295400"/>
            <a:ext cx="8909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18" name="TextBox 17"/>
          <p:cNvSpPr txBox="1"/>
          <p:nvPr/>
        </p:nvSpPr>
        <p:spPr>
          <a:xfrm>
            <a:off x="8170912" y="1657350"/>
            <a:ext cx="8909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19" name="TextBox 18"/>
          <p:cNvSpPr txBox="1"/>
          <p:nvPr/>
        </p:nvSpPr>
        <p:spPr>
          <a:xfrm>
            <a:off x="9138084" y="1295400"/>
            <a:ext cx="8909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0" name="TextBox 19"/>
          <p:cNvSpPr txBox="1"/>
          <p:nvPr/>
        </p:nvSpPr>
        <p:spPr>
          <a:xfrm>
            <a:off x="9138084" y="1657350"/>
            <a:ext cx="8909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1" name="TextBox 20"/>
          <p:cNvSpPr txBox="1"/>
          <p:nvPr/>
        </p:nvSpPr>
        <p:spPr>
          <a:xfrm>
            <a:off x="10105256" y="1295400"/>
            <a:ext cx="8909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2" name="TextBox 21"/>
          <p:cNvSpPr txBox="1"/>
          <p:nvPr/>
        </p:nvSpPr>
        <p:spPr>
          <a:xfrm>
            <a:off x="10105256" y="1657350"/>
            <a:ext cx="8909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3" name="TextBox 22"/>
          <p:cNvSpPr txBox="1"/>
          <p:nvPr/>
        </p:nvSpPr>
        <p:spPr>
          <a:xfrm>
            <a:off x="11072428" y="1295400"/>
            <a:ext cx="89097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4" name="TextBox 23"/>
          <p:cNvSpPr txBox="1"/>
          <p:nvPr/>
        </p:nvSpPr>
        <p:spPr>
          <a:xfrm>
            <a:off x="11072428" y="1657350"/>
            <a:ext cx="89097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5" name="Connector 24"/>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22479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Caterpillar</a:t>
            </a:r>
          </a:p>
        </p:txBody>
      </p:sp>
      <p:sp>
        <p:nvSpPr>
          <p:cNvPr id="28" name="TextBox 27"/>
          <p:cNvSpPr txBox="1"/>
          <p:nvPr/>
        </p:nvSpPr>
        <p:spPr>
          <a:xfrm>
            <a:off x="285750" y="24098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9" name="TextBox 28"/>
          <p:cNvSpPr txBox="1"/>
          <p:nvPr/>
        </p:nvSpPr>
        <p:spPr>
          <a:xfrm>
            <a:off x="2861724" y="22288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TextBox 29"/>
          <p:cNvSpPr txBox="1"/>
          <p:nvPr/>
        </p:nvSpPr>
        <p:spPr>
          <a:xfrm>
            <a:off x="5075961" y="22288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1" name="Oval 30"/>
          <p:cNvSpPr/>
          <p:nvPr/>
        </p:nvSpPr>
        <p:spPr>
          <a:xfrm>
            <a:off x="6605853"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73025"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54019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50737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67156" y="22288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6" name="TextBox 35"/>
          <p:cNvSpPr txBox="1"/>
          <p:nvPr/>
        </p:nvSpPr>
        <p:spPr>
          <a:xfrm>
            <a:off x="11034328" y="22288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7" name="Connector 36"/>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5750" y="25908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Komatsu</a:t>
            </a:r>
          </a:p>
        </p:txBody>
      </p:sp>
      <p:sp>
        <p:nvSpPr>
          <p:cNvPr id="40" name="TextBox 39"/>
          <p:cNvSpPr txBox="1"/>
          <p:nvPr/>
        </p:nvSpPr>
        <p:spPr>
          <a:xfrm>
            <a:off x="285750" y="27527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1" name="TextBox 40"/>
          <p:cNvSpPr txBox="1"/>
          <p:nvPr/>
        </p:nvSpPr>
        <p:spPr>
          <a:xfrm>
            <a:off x="2861724" y="25717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5075961" y="25717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3" name="Oval 42"/>
          <p:cNvSpPr/>
          <p:nvPr/>
        </p:nvSpPr>
        <p:spPr>
          <a:xfrm>
            <a:off x="6605853"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573025"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54019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507370"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67156" y="25717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8" name="TextBox 47"/>
          <p:cNvSpPr txBox="1"/>
          <p:nvPr/>
        </p:nvSpPr>
        <p:spPr>
          <a:xfrm>
            <a:off x="11034328" y="25717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9" name="Connector 48"/>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5750" y="29337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Volvo Construction Equipment</a:t>
            </a:r>
          </a:p>
        </p:txBody>
      </p:sp>
      <p:sp>
        <p:nvSpPr>
          <p:cNvPr id="52" name="TextBox 51"/>
          <p:cNvSpPr txBox="1"/>
          <p:nvPr/>
        </p:nvSpPr>
        <p:spPr>
          <a:xfrm>
            <a:off x="285750" y="30956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3" name="TextBox 52"/>
          <p:cNvSpPr txBox="1"/>
          <p:nvPr/>
        </p:nvSpPr>
        <p:spPr>
          <a:xfrm>
            <a:off x="2861724" y="29146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4" name="TextBox 53"/>
          <p:cNvSpPr txBox="1"/>
          <p:nvPr/>
        </p:nvSpPr>
        <p:spPr>
          <a:xfrm>
            <a:off x="5075961" y="29146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55" name="Oval 54"/>
          <p:cNvSpPr/>
          <p:nvPr/>
        </p:nvSpPr>
        <p:spPr>
          <a:xfrm>
            <a:off x="6605853"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573025"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54019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507370"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9582150"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67156" y="29146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1" name="TextBox 60"/>
          <p:cNvSpPr txBox="1"/>
          <p:nvPr/>
        </p:nvSpPr>
        <p:spPr>
          <a:xfrm>
            <a:off x="11034328" y="29146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2" name="Connector 61"/>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2766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Liebherr Group</a:t>
            </a:r>
          </a:p>
        </p:txBody>
      </p:sp>
      <p:sp>
        <p:nvSpPr>
          <p:cNvPr id="65" name="TextBox 64"/>
          <p:cNvSpPr txBox="1"/>
          <p:nvPr/>
        </p:nvSpPr>
        <p:spPr>
          <a:xfrm>
            <a:off x="285750" y="34385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6" name="TextBox 65"/>
          <p:cNvSpPr txBox="1"/>
          <p:nvPr/>
        </p:nvSpPr>
        <p:spPr>
          <a:xfrm>
            <a:off x="2861724" y="32575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TextBox 66"/>
          <p:cNvSpPr txBox="1"/>
          <p:nvPr/>
        </p:nvSpPr>
        <p:spPr>
          <a:xfrm>
            <a:off x="5075961" y="32575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68" name="Oval 67"/>
          <p:cNvSpPr/>
          <p:nvPr/>
        </p:nvSpPr>
        <p:spPr>
          <a:xfrm>
            <a:off x="6605853"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6686550" y="3352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573025"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54019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9507370"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9582150"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067156" y="32575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5" name="TextBox 74"/>
          <p:cNvSpPr txBox="1"/>
          <p:nvPr/>
        </p:nvSpPr>
        <p:spPr>
          <a:xfrm>
            <a:off x="11034328" y="32575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6" name="Connector 75"/>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85750" y="36195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Hitachi Construction Machinery</a:t>
            </a:r>
          </a:p>
        </p:txBody>
      </p:sp>
      <p:sp>
        <p:nvSpPr>
          <p:cNvPr id="79" name="TextBox 78"/>
          <p:cNvSpPr txBox="1"/>
          <p:nvPr/>
        </p:nvSpPr>
        <p:spPr>
          <a:xfrm>
            <a:off x="285750" y="37814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0" name="TextBox 79"/>
          <p:cNvSpPr txBox="1"/>
          <p:nvPr/>
        </p:nvSpPr>
        <p:spPr>
          <a:xfrm>
            <a:off x="2861724" y="36004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TextBox 80"/>
          <p:cNvSpPr txBox="1"/>
          <p:nvPr/>
        </p:nvSpPr>
        <p:spPr>
          <a:xfrm>
            <a:off x="5075961" y="36004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2" name="Oval 81"/>
          <p:cNvSpPr/>
          <p:nvPr/>
        </p:nvSpPr>
        <p:spPr>
          <a:xfrm>
            <a:off x="6605853"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6686550"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573025"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764857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54019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8620125" y="3695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9507370"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9582150"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0067156" y="36004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1" name="TextBox 90"/>
          <p:cNvSpPr txBox="1"/>
          <p:nvPr/>
        </p:nvSpPr>
        <p:spPr>
          <a:xfrm>
            <a:off x="11034328" y="36004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2" name="Connector 9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5750" y="39624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XCMG Group</a:t>
            </a:r>
          </a:p>
        </p:txBody>
      </p:sp>
      <p:sp>
        <p:nvSpPr>
          <p:cNvPr id="95" name="TextBox 94"/>
          <p:cNvSpPr txBox="1"/>
          <p:nvPr/>
        </p:nvSpPr>
        <p:spPr>
          <a:xfrm>
            <a:off x="285750" y="41243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96" name="TextBox 95"/>
          <p:cNvSpPr txBox="1"/>
          <p:nvPr/>
        </p:nvSpPr>
        <p:spPr>
          <a:xfrm>
            <a:off x="2861724" y="39433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7" name="TextBox 96"/>
          <p:cNvSpPr txBox="1"/>
          <p:nvPr/>
        </p:nvSpPr>
        <p:spPr>
          <a:xfrm>
            <a:off x="5075961" y="39433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98" name="Oval 97"/>
          <p:cNvSpPr/>
          <p:nvPr/>
        </p:nvSpPr>
        <p:spPr>
          <a:xfrm>
            <a:off x="6605853"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6686550"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573025"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76485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54019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8620125" y="4038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7" y="7"/>
                </a:lnTo>
                <a:lnTo>
                  <a:pt x="8" y="8"/>
                </a:lnTo>
                <a:lnTo>
                  <a:pt x="7"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50737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9582150"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0067156" y="39433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7" name="TextBox 106"/>
          <p:cNvSpPr txBox="1"/>
          <p:nvPr/>
        </p:nvSpPr>
        <p:spPr>
          <a:xfrm>
            <a:off x="11034328" y="39433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8" name="Connector 107"/>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3053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SANY Group</a:t>
            </a:r>
          </a:p>
        </p:txBody>
      </p:sp>
      <p:sp>
        <p:nvSpPr>
          <p:cNvPr id="111" name="TextBox 110"/>
          <p:cNvSpPr txBox="1"/>
          <p:nvPr/>
        </p:nvSpPr>
        <p:spPr>
          <a:xfrm>
            <a:off x="285750" y="44672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861724" y="42862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5075961" y="42862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14" name="Oval 113"/>
          <p:cNvSpPr/>
          <p:nvPr/>
        </p:nvSpPr>
        <p:spPr>
          <a:xfrm>
            <a:off x="6605853"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6686550" y="4381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573025"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7648575" y="43815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54019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8620125" y="43815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950737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9582150"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0067156" y="42862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3" name="TextBox 122"/>
          <p:cNvSpPr txBox="1"/>
          <p:nvPr/>
        </p:nvSpPr>
        <p:spPr>
          <a:xfrm>
            <a:off x="11034328" y="42862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4" name="Connector 123"/>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5" name="Rectangle 124"/>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85750" y="46482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JCB</a:t>
            </a:r>
          </a:p>
        </p:txBody>
      </p:sp>
      <p:sp>
        <p:nvSpPr>
          <p:cNvPr id="127" name="TextBox 126"/>
          <p:cNvSpPr txBox="1"/>
          <p:nvPr/>
        </p:nvSpPr>
        <p:spPr>
          <a:xfrm>
            <a:off x="285750" y="48101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8" name="TextBox 127"/>
          <p:cNvSpPr txBox="1"/>
          <p:nvPr/>
        </p:nvSpPr>
        <p:spPr>
          <a:xfrm>
            <a:off x="2861724" y="46291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9" name="TextBox 128"/>
          <p:cNvSpPr txBox="1"/>
          <p:nvPr/>
        </p:nvSpPr>
        <p:spPr>
          <a:xfrm>
            <a:off x="5075961" y="46291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0" name="Oval 129"/>
          <p:cNvSpPr/>
          <p:nvPr/>
        </p:nvSpPr>
        <p:spPr>
          <a:xfrm>
            <a:off x="6605853"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6686550" y="4724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7573025"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Freeform 132"/>
          <p:cNvSpPr/>
          <p:nvPr/>
        </p:nvSpPr>
        <p:spPr>
          <a:xfrm>
            <a:off x="7648575"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854019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Freeform 134"/>
          <p:cNvSpPr/>
          <p:nvPr/>
        </p:nvSpPr>
        <p:spPr>
          <a:xfrm>
            <a:off x="8620125" y="47244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50737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9582150"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0067156" y="46291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9" name="TextBox 138"/>
          <p:cNvSpPr txBox="1"/>
          <p:nvPr/>
        </p:nvSpPr>
        <p:spPr>
          <a:xfrm>
            <a:off x="11034328" y="46291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0" name="Connector 139"/>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1" name="Rectangle 140"/>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85750" y="49911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HD Hyundai Construction Equipment</a:t>
            </a:r>
          </a:p>
        </p:txBody>
      </p:sp>
      <p:sp>
        <p:nvSpPr>
          <p:cNvPr id="143" name="TextBox 142"/>
          <p:cNvSpPr txBox="1"/>
          <p:nvPr/>
        </p:nvSpPr>
        <p:spPr>
          <a:xfrm>
            <a:off x="285750" y="51530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44" name="TextBox 143"/>
          <p:cNvSpPr txBox="1"/>
          <p:nvPr/>
        </p:nvSpPr>
        <p:spPr>
          <a:xfrm>
            <a:off x="2861724" y="49720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5" name="TextBox 144"/>
          <p:cNvSpPr txBox="1"/>
          <p:nvPr/>
        </p:nvSpPr>
        <p:spPr>
          <a:xfrm>
            <a:off x="5075961" y="49720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46" name="Oval 145"/>
          <p:cNvSpPr/>
          <p:nvPr/>
        </p:nvSpPr>
        <p:spPr>
          <a:xfrm>
            <a:off x="6605853"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Freeform 146"/>
          <p:cNvSpPr/>
          <p:nvPr/>
        </p:nvSpPr>
        <p:spPr>
          <a:xfrm>
            <a:off x="6686550" y="5067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7573025"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7648575"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54019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Freeform 150"/>
          <p:cNvSpPr/>
          <p:nvPr/>
        </p:nvSpPr>
        <p:spPr>
          <a:xfrm>
            <a:off x="8620125" y="50673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9507370"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reeform 152"/>
          <p:cNvSpPr/>
          <p:nvPr/>
        </p:nvSpPr>
        <p:spPr>
          <a:xfrm>
            <a:off x="9582150"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0067156" y="49720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5" name="TextBox 154"/>
          <p:cNvSpPr txBox="1"/>
          <p:nvPr/>
        </p:nvSpPr>
        <p:spPr>
          <a:xfrm>
            <a:off x="11034328" y="49720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56" name="Connector 155"/>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7" name="Rectangle 156"/>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85750" y="53340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LiuGong</a:t>
            </a:r>
          </a:p>
        </p:txBody>
      </p:sp>
      <p:sp>
        <p:nvSpPr>
          <p:cNvPr id="159" name="TextBox 158"/>
          <p:cNvSpPr txBox="1"/>
          <p:nvPr/>
        </p:nvSpPr>
        <p:spPr>
          <a:xfrm>
            <a:off x="285750" y="54959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0" name="TextBox 159"/>
          <p:cNvSpPr txBox="1"/>
          <p:nvPr/>
        </p:nvSpPr>
        <p:spPr>
          <a:xfrm>
            <a:off x="2861724" y="5314950"/>
            <a:ext cx="2176137"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1" name="TextBox 160"/>
          <p:cNvSpPr txBox="1"/>
          <p:nvPr/>
        </p:nvSpPr>
        <p:spPr>
          <a:xfrm>
            <a:off x="5075961" y="5314950"/>
            <a:ext cx="1084407"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2" name="Oval 161"/>
          <p:cNvSpPr/>
          <p:nvPr/>
        </p:nvSpPr>
        <p:spPr>
          <a:xfrm>
            <a:off x="6605853"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Freeform 162"/>
          <p:cNvSpPr/>
          <p:nvPr/>
        </p:nvSpPr>
        <p:spPr>
          <a:xfrm>
            <a:off x="6686550" y="5410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7573025"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Freeform 164"/>
          <p:cNvSpPr/>
          <p:nvPr/>
        </p:nvSpPr>
        <p:spPr>
          <a:xfrm>
            <a:off x="7648575"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854019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Freeform 166"/>
          <p:cNvSpPr/>
          <p:nvPr/>
        </p:nvSpPr>
        <p:spPr>
          <a:xfrm>
            <a:off x="8620125" y="5410200"/>
            <a:ext cx="76200" cy="76200"/>
          </a:xfrm>
          <a:custGeom>
            <a:avLst/>
            <a:gdLst/>
            <a:ahLst/>
            <a:cxnLst/>
            <a:rect l="l" t="t" r="r" b="b"/>
            <a:pathLst>
              <a:path w="8" h="8">
                <a:moveTo>
                  <a:pt x="0" y="8"/>
                </a:moveTo>
                <a:lnTo>
                  <a:pt x="0" y="0"/>
                </a:lnTo>
                <a:lnTo>
                  <a:pt x="1" y="0"/>
                </a:lnTo>
                <a:lnTo>
                  <a:pt x="2" y="0"/>
                </a:lnTo>
                <a:lnTo>
                  <a:pt x="4" y="1"/>
                </a:lnTo>
                <a:lnTo>
                  <a:pt x="5" y="2"/>
                </a:lnTo>
                <a:lnTo>
                  <a:pt x="6" y="3"/>
                </a:lnTo>
                <a:lnTo>
                  <a:pt x="7" y="4"/>
                </a:lnTo>
                <a:lnTo>
                  <a:pt x="7" y="5"/>
                </a:lnTo>
                <a:lnTo>
                  <a:pt x="7"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950737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9582150"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0067156" y="53149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1" name="TextBox 170"/>
          <p:cNvSpPr txBox="1"/>
          <p:nvPr/>
        </p:nvSpPr>
        <p:spPr>
          <a:xfrm>
            <a:off x="11034328" y="5314950"/>
            <a:ext cx="96717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2" name="Connector 171"/>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3" name="Oval 172"/>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75" name="Oval 174"/>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Freeform 175"/>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78" name="Oval 177"/>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Freeform 178"/>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1" name="Oval 180"/>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3" name="TextBox 182"/>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84" name="TextBox 183"/>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85" name="Rectangle 18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
        <p:nvSpPr>
          <p:cNvPr id="187" name="TextBox 186"/>
          <p:cNvSpPr txBox="1"/>
          <p:nvPr/>
        </p:nvSpPr>
        <p:spPr>
          <a:xfrm>
            <a:off x="9166659" y="1666875"/>
            <a:ext cx="373160" cy="173278"/>
          </a:xfrm>
          <a:prstGeom prst="rect">
            <a:avLst/>
          </a:prstGeom>
          <a:noFill/>
        </p:spPr>
        <p:txBody>
          <a:bodyPr wrap="none" lIns="0" rIns="0" tIns="0" bIns="0">
            <a:spAutoFit/>
          </a:bodyPr>
          <a:lstStyle/>
          <a:p>
            <a:r>
              <a:rPr sz="1011" b="0">
                <a:solidFill>
                  <a:srgbClr val="5F6B7A"/>
                </a:solidFill>
                <a:latin typeface="Calibri"/>
              </a:rPr>
              <a:t>Share</a:t>
            </a:r>
          </a:p>
        </p:txBody>
      </p:sp>
      <p:pic>
        <p:nvPicPr>
          <p:cNvPr id="188" name="Picture 187" descr="lock.png"/>
          <p:cNvPicPr>
            <a:picLocks noChangeAspect="1"/>
          </p:cNvPicPr>
          <p:nvPr/>
        </p:nvPicPr>
        <p:blipFill>
          <a:blip r:embed="rId4"/>
          <a:stretch>
            <a:fillRect/>
          </a:stretch>
        </p:blipFill>
        <p:spPr>
          <a:xfrm>
            <a:off x="9485931" y="1657878"/>
            <a:ext cx="118403" cy="172222"/>
          </a:xfrm>
          <a:prstGeom prst="rect">
            <a:avLst/>
          </a:prstGeom>
        </p:spPr>
      </p:pic>
      <p:sp>
        <p:nvSpPr>
          <p:cNvPr id="189" name="TextBox 188"/>
          <p:cNvSpPr txBox="1"/>
          <p:nvPr/>
        </p:nvSpPr>
        <p:spPr>
          <a:xfrm>
            <a:off x="9640027" y="1666875"/>
            <a:ext cx="359856" cy="173278"/>
          </a:xfrm>
          <a:prstGeom prst="rect">
            <a:avLst/>
          </a:prstGeom>
          <a:noFill/>
        </p:spPr>
        <p:txBody>
          <a:bodyPr wrap="none" lIns="0" rIns="0" tIns="0" bIns="0">
            <a:spAutoFit/>
          </a:bodyPr>
          <a:lstStyle/>
          <a:p>
            <a:r>
              <a:rPr sz="1011" b="0">
                <a:solidFill>
                  <a:srgbClr val="5F6B7A"/>
                </a:solidFill>
                <a:latin typeface="Calibri"/>
              </a:rPr>
              <a:t>+ = 3,</a:t>
            </a:r>
          </a:p>
        </p:txBody>
      </p:sp>
      <p:pic>
        <p:nvPicPr>
          <p:cNvPr id="190" name="Picture 189" descr="lock.png"/>
          <p:cNvPicPr>
            <a:picLocks noChangeAspect="1"/>
          </p:cNvPicPr>
          <p:nvPr/>
        </p:nvPicPr>
        <p:blipFill>
          <a:blip r:embed="rId4"/>
          <a:stretch>
            <a:fillRect/>
          </a:stretch>
        </p:blipFill>
        <p:spPr>
          <a:xfrm>
            <a:off x="9154268" y="1812107"/>
            <a:ext cx="118403" cy="172222"/>
          </a:xfrm>
          <a:prstGeom prst="rect">
            <a:avLst/>
          </a:prstGeom>
        </p:spPr>
      </p:pic>
      <p:sp>
        <p:nvSpPr>
          <p:cNvPr id="191" name="TextBox 190"/>
          <p:cNvSpPr txBox="1"/>
          <p:nvPr/>
        </p:nvSpPr>
        <p:spPr>
          <a:xfrm>
            <a:off x="9308365" y="1821103"/>
            <a:ext cx="598077" cy="173278"/>
          </a:xfrm>
          <a:prstGeom prst="rect">
            <a:avLst/>
          </a:prstGeom>
          <a:noFill/>
        </p:spPr>
        <p:txBody>
          <a:bodyPr wrap="none" lIns="0" rIns="0" tIns="0" bIns="0">
            <a:spAutoFit/>
          </a:bodyPr>
          <a:lstStyle/>
          <a:p>
            <a:r>
              <a:rPr sz="1011" b="0">
                <a:solidFill>
                  <a:srgbClr val="5F6B7A"/>
                </a:solidFill>
                <a:latin typeface="Calibri"/>
              </a:rPr>
              <a:t>= 2, else 1</a:t>
            </a:r>
          </a:p>
        </p:txBody>
      </p:sp>
      <p:pic>
        <p:nvPicPr>
          <p:cNvPr id="192" name="Picture 191" descr="lock.png"/>
          <p:cNvPicPr>
            <a:picLocks noChangeAspect="1"/>
          </p:cNvPicPr>
          <p:nvPr/>
        </p:nvPicPr>
        <p:blipFill>
          <a:blip r:embed="rId4"/>
          <a:stretch>
            <a:fillRect/>
          </a:stretch>
        </p:blipFill>
        <p:spPr>
          <a:xfrm>
            <a:off x="3885443" y="2306701"/>
            <a:ext cx="128699" cy="187198"/>
          </a:xfrm>
          <a:prstGeom prst="rect">
            <a:avLst/>
          </a:prstGeom>
        </p:spPr>
      </p:pic>
      <p:pic>
        <p:nvPicPr>
          <p:cNvPr id="193" name="Picture 192" descr="lock.png"/>
          <p:cNvPicPr>
            <a:picLocks noChangeAspect="1"/>
          </p:cNvPicPr>
          <p:nvPr/>
        </p:nvPicPr>
        <p:blipFill>
          <a:blip r:embed="rId4"/>
          <a:stretch>
            <a:fillRect/>
          </a:stretch>
        </p:blipFill>
        <p:spPr>
          <a:xfrm>
            <a:off x="10486392" y="2306701"/>
            <a:ext cx="128699" cy="187198"/>
          </a:xfrm>
          <a:prstGeom prst="rect">
            <a:avLst/>
          </a:prstGeom>
        </p:spPr>
      </p:pic>
      <p:pic>
        <p:nvPicPr>
          <p:cNvPr id="194" name="Picture 193" descr="lock.png"/>
          <p:cNvPicPr>
            <a:picLocks noChangeAspect="1"/>
          </p:cNvPicPr>
          <p:nvPr/>
        </p:nvPicPr>
        <p:blipFill>
          <a:blip r:embed="rId4"/>
          <a:stretch>
            <a:fillRect/>
          </a:stretch>
        </p:blipFill>
        <p:spPr>
          <a:xfrm>
            <a:off x="11453564" y="2306701"/>
            <a:ext cx="128699" cy="187198"/>
          </a:xfrm>
          <a:prstGeom prst="rect">
            <a:avLst/>
          </a:prstGeom>
        </p:spPr>
      </p:pic>
      <p:pic>
        <p:nvPicPr>
          <p:cNvPr id="195" name="Picture 194" descr="lock.png"/>
          <p:cNvPicPr>
            <a:picLocks noChangeAspect="1"/>
          </p:cNvPicPr>
          <p:nvPr/>
        </p:nvPicPr>
        <p:blipFill>
          <a:blip r:embed="rId4"/>
          <a:stretch>
            <a:fillRect/>
          </a:stretch>
        </p:blipFill>
        <p:spPr>
          <a:xfrm>
            <a:off x="3885443" y="2649601"/>
            <a:ext cx="128699" cy="187198"/>
          </a:xfrm>
          <a:prstGeom prst="rect">
            <a:avLst/>
          </a:prstGeom>
        </p:spPr>
      </p:pic>
      <p:pic>
        <p:nvPicPr>
          <p:cNvPr id="196" name="Picture 195" descr="lock.png"/>
          <p:cNvPicPr>
            <a:picLocks noChangeAspect="1"/>
          </p:cNvPicPr>
          <p:nvPr/>
        </p:nvPicPr>
        <p:blipFill>
          <a:blip r:embed="rId4"/>
          <a:stretch>
            <a:fillRect/>
          </a:stretch>
        </p:blipFill>
        <p:spPr>
          <a:xfrm>
            <a:off x="10486392" y="2649601"/>
            <a:ext cx="128699" cy="187198"/>
          </a:xfrm>
          <a:prstGeom prst="rect">
            <a:avLst/>
          </a:prstGeom>
        </p:spPr>
      </p:pic>
      <p:pic>
        <p:nvPicPr>
          <p:cNvPr id="197" name="Picture 196" descr="lock.png"/>
          <p:cNvPicPr>
            <a:picLocks noChangeAspect="1"/>
          </p:cNvPicPr>
          <p:nvPr/>
        </p:nvPicPr>
        <p:blipFill>
          <a:blip r:embed="rId4"/>
          <a:stretch>
            <a:fillRect/>
          </a:stretch>
        </p:blipFill>
        <p:spPr>
          <a:xfrm>
            <a:off x="11453564" y="2649601"/>
            <a:ext cx="128699" cy="187198"/>
          </a:xfrm>
          <a:prstGeom prst="rect">
            <a:avLst/>
          </a:prstGeom>
        </p:spPr>
      </p:pic>
      <p:pic>
        <p:nvPicPr>
          <p:cNvPr id="198" name="Picture 197" descr="lock.png"/>
          <p:cNvPicPr>
            <a:picLocks noChangeAspect="1"/>
          </p:cNvPicPr>
          <p:nvPr/>
        </p:nvPicPr>
        <p:blipFill>
          <a:blip r:embed="rId4"/>
          <a:stretch>
            <a:fillRect/>
          </a:stretch>
        </p:blipFill>
        <p:spPr>
          <a:xfrm>
            <a:off x="3885443" y="29925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0486392" y="2992501"/>
            <a:ext cx="128699" cy="187198"/>
          </a:xfrm>
          <a:prstGeom prst="rect">
            <a:avLst/>
          </a:prstGeom>
        </p:spPr>
      </p:pic>
      <p:pic>
        <p:nvPicPr>
          <p:cNvPr id="200" name="Picture 199" descr="lock.png"/>
          <p:cNvPicPr>
            <a:picLocks noChangeAspect="1"/>
          </p:cNvPicPr>
          <p:nvPr/>
        </p:nvPicPr>
        <p:blipFill>
          <a:blip r:embed="rId4"/>
          <a:stretch>
            <a:fillRect/>
          </a:stretch>
        </p:blipFill>
        <p:spPr>
          <a:xfrm>
            <a:off x="11453564" y="2992501"/>
            <a:ext cx="128699" cy="187198"/>
          </a:xfrm>
          <a:prstGeom prst="rect">
            <a:avLst/>
          </a:prstGeom>
        </p:spPr>
      </p:pic>
      <p:pic>
        <p:nvPicPr>
          <p:cNvPr id="201" name="Picture 200" descr="lock.png"/>
          <p:cNvPicPr>
            <a:picLocks noChangeAspect="1"/>
          </p:cNvPicPr>
          <p:nvPr/>
        </p:nvPicPr>
        <p:blipFill>
          <a:blip r:embed="rId4"/>
          <a:stretch>
            <a:fillRect/>
          </a:stretch>
        </p:blipFill>
        <p:spPr>
          <a:xfrm>
            <a:off x="3885443" y="33354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0486392" y="3335401"/>
            <a:ext cx="128699" cy="187198"/>
          </a:xfrm>
          <a:prstGeom prst="rect">
            <a:avLst/>
          </a:prstGeom>
        </p:spPr>
      </p:pic>
      <p:pic>
        <p:nvPicPr>
          <p:cNvPr id="203" name="Picture 202" descr="lock.png"/>
          <p:cNvPicPr>
            <a:picLocks noChangeAspect="1"/>
          </p:cNvPicPr>
          <p:nvPr/>
        </p:nvPicPr>
        <p:blipFill>
          <a:blip r:embed="rId4"/>
          <a:stretch>
            <a:fillRect/>
          </a:stretch>
        </p:blipFill>
        <p:spPr>
          <a:xfrm>
            <a:off x="11453564" y="3335401"/>
            <a:ext cx="128699" cy="187198"/>
          </a:xfrm>
          <a:prstGeom prst="rect">
            <a:avLst/>
          </a:prstGeom>
        </p:spPr>
      </p:pic>
      <p:pic>
        <p:nvPicPr>
          <p:cNvPr id="204" name="Picture 203" descr="lock.png"/>
          <p:cNvPicPr>
            <a:picLocks noChangeAspect="1"/>
          </p:cNvPicPr>
          <p:nvPr/>
        </p:nvPicPr>
        <p:blipFill>
          <a:blip r:embed="rId4"/>
          <a:stretch>
            <a:fillRect/>
          </a:stretch>
        </p:blipFill>
        <p:spPr>
          <a:xfrm>
            <a:off x="3885443" y="36783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0486392" y="3678301"/>
            <a:ext cx="128699" cy="187198"/>
          </a:xfrm>
          <a:prstGeom prst="rect">
            <a:avLst/>
          </a:prstGeom>
        </p:spPr>
      </p:pic>
      <p:pic>
        <p:nvPicPr>
          <p:cNvPr id="206" name="Picture 205" descr="lock.png"/>
          <p:cNvPicPr>
            <a:picLocks noChangeAspect="1"/>
          </p:cNvPicPr>
          <p:nvPr/>
        </p:nvPicPr>
        <p:blipFill>
          <a:blip r:embed="rId4"/>
          <a:stretch>
            <a:fillRect/>
          </a:stretch>
        </p:blipFill>
        <p:spPr>
          <a:xfrm>
            <a:off x="11453564" y="3678301"/>
            <a:ext cx="128699" cy="187198"/>
          </a:xfrm>
          <a:prstGeom prst="rect">
            <a:avLst/>
          </a:prstGeom>
        </p:spPr>
      </p:pic>
      <p:pic>
        <p:nvPicPr>
          <p:cNvPr id="207" name="Picture 206" descr="lock.png"/>
          <p:cNvPicPr>
            <a:picLocks noChangeAspect="1"/>
          </p:cNvPicPr>
          <p:nvPr/>
        </p:nvPicPr>
        <p:blipFill>
          <a:blip r:embed="rId4"/>
          <a:stretch>
            <a:fillRect/>
          </a:stretch>
        </p:blipFill>
        <p:spPr>
          <a:xfrm>
            <a:off x="3885443" y="40212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0486392" y="4021201"/>
            <a:ext cx="128699" cy="187198"/>
          </a:xfrm>
          <a:prstGeom prst="rect">
            <a:avLst/>
          </a:prstGeom>
        </p:spPr>
      </p:pic>
      <p:pic>
        <p:nvPicPr>
          <p:cNvPr id="209" name="Picture 208" descr="lock.png"/>
          <p:cNvPicPr>
            <a:picLocks noChangeAspect="1"/>
          </p:cNvPicPr>
          <p:nvPr/>
        </p:nvPicPr>
        <p:blipFill>
          <a:blip r:embed="rId4"/>
          <a:stretch>
            <a:fillRect/>
          </a:stretch>
        </p:blipFill>
        <p:spPr>
          <a:xfrm>
            <a:off x="11453564" y="4021201"/>
            <a:ext cx="128699" cy="187198"/>
          </a:xfrm>
          <a:prstGeom prst="rect">
            <a:avLst/>
          </a:prstGeom>
        </p:spPr>
      </p:pic>
      <p:pic>
        <p:nvPicPr>
          <p:cNvPr id="210" name="Picture 209" descr="lock.png"/>
          <p:cNvPicPr>
            <a:picLocks noChangeAspect="1"/>
          </p:cNvPicPr>
          <p:nvPr/>
        </p:nvPicPr>
        <p:blipFill>
          <a:blip r:embed="rId4"/>
          <a:stretch>
            <a:fillRect/>
          </a:stretch>
        </p:blipFill>
        <p:spPr>
          <a:xfrm>
            <a:off x="3885443" y="43641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0486392" y="4364101"/>
            <a:ext cx="128699" cy="187198"/>
          </a:xfrm>
          <a:prstGeom prst="rect">
            <a:avLst/>
          </a:prstGeom>
        </p:spPr>
      </p:pic>
      <p:pic>
        <p:nvPicPr>
          <p:cNvPr id="212" name="Picture 211" descr="lock.png"/>
          <p:cNvPicPr>
            <a:picLocks noChangeAspect="1"/>
          </p:cNvPicPr>
          <p:nvPr/>
        </p:nvPicPr>
        <p:blipFill>
          <a:blip r:embed="rId4"/>
          <a:stretch>
            <a:fillRect/>
          </a:stretch>
        </p:blipFill>
        <p:spPr>
          <a:xfrm>
            <a:off x="11453564" y="4364101"/>
            <a:ext cx="128699" cy="187198"/>
          </a:xfrm>
          <a:prstGeom prst="rect">
            <a:avLst/>
          </a:prstGeom>
        </p:spPr>
      </p:pic>
      <p:pic>
        <p:nvPicPr>
          <p:cNvPr id="213" name="Picture 212" descr="lock.png"/>
          <p:cNvPicPr>
            <a:picLocks noChangeAspect="1"/>
          </p:cNvPicPr>
          <p:nvPr/>
        </p:nvPicPr>
        <p:blipFill>
          <a:blip r:embed="rId4"/>
          <a:stretch>
            <a:fillRect/>
          </a:stretch>
        </p:blipFill>
        <p:spPr>
          <a:xfrm>
            <a:off x="3885443" y="47070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0486392" y="4707001"/>
            <a:ext cx="128699" cy="187198"/>
          </a:xfrm>
          <a:prstGeom prst="rect">
            <a:avLst/>
          </a:prstGeom>
        </p:spPr>
      </p:pic>
      <p:pic>
        <p:nvPicPr>
          <p:cNvPr id="215" name="Picture 214" descr="lock.png"/>
          <p:cNvPicPr>
            <a:picLocks noChangeAspect="1"/>
          </p:cNvPicPr>
          <p:nvPr/>
        </p:nvPicPr>
        <p:blipFill>
          <a:blip r:embed="rId4"/>
          <a:stretch>
            <a:fillRect/>
          </a:stretch>
        </p:blipFill>
        <p:spPr>
          <a:xfrm>
            <a:off x="11453564" y="4707001"/>
            <a:ext cx="128699" cy="187198"/>
          </a:xfrm>
          <a:prstGeom prst="rect">
            <a:avLst/>
          </a:prstGeom>
        </p:spPr>
      </p:pic>
      <p:pic>
        <p:nvPicPr>
          <p:cNvPr id="216" name="Picture 215" descr="lock.png"/>
          <p:cNvPicPr>
            <a:picLocks noChangeAspect="1"/>
          </p:cNvPicPr>
          <p:nvPr/>
        </p:nvPicPr>
        <p:blipFill>
          <a:blip r:embed="rId4"/>
          <a:stretch>
            <a:fillRect/>
          </a:stretch>
        </p:blipFill>
        <p:spPr>
          <a:xfrm>
            <a:off x="3885443" y="50499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0486392" y="5049901"/>
            <a:ext cx="128699" cy="187198"/>
          </a:xfrm>
          <a:prstGeom prst="rect">
            <a:avLst/>
          </a:prstGeom>
        </p:spPr>
      </p:pic>
      <p:pic>
        <p:nvPicPr>
          <p:cNvPr id="218" name="Picture 217" descr="lock.png"/>
          <p:cNvPicPr>
            <a:picLocks noChangeAspect="1"/>
          </p:cNvPicPr>
          <p:nvPr/>
        </p:nvPicPr>
        <p:blipFill>
          <a:blip r:embed="rId4"/>
          <a:stretch>
            <a:fillRect/>
          </a:stretch>
        </p:blipFill>
        <p:spPr>
          <a:xfrm>
            <a:off x="11453564" y="5049901"/>
            <a:ext cx="128699" cy="187198"/>
          </a:xfrm>
          <a:prstGeom prst="rect">
            <a:avLst/>
          </a:prstGeom>
        </p:spPr>
      </p:pic>
      <p:pic>
        <p:nvPicPr>
          <p:cNvPr id="219" name="Picture 218" descr="lock.png"/>
          <p:cNvPicPr>
            <a:picLocks noChangeAspect="1"/>
          </p:cNvPicPr>
          <p:nvPr/>
        </p:nvPicPr>
        <p:blipFill>
          <a:blip r:embed="rId4"/>
          <a:stretch>
            <a:fillRect/>
          </a:stretch>
        </p:blipFill>
        <p:spPr>
          <a:xfrm>
            <a:off x="3885443" y="53928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0486392" y="5392801"/>
            <a:ext cx="128699" cy="187198"/>
          </a:xfrm>
          <a:prstGeom prst="rect">
            <a:avLst/>
          </a:prstGeom>
        </p:spPr>
      </p:pic>
      <p:pic>
        <p:nvPicPr>
          <p:cNvPr id="221" name="Picture 220" descr="lock.png"/>
          <p:cNvPicPr>
            <a:picLocks noChangeAspect="1"/>
          </p:cNvPicPr>
          <p:nvPr/>
        </p:nvPicPr>
        <p:blipFill>
          <a:blip r:embed="rId4"/>
          <a:stretch>
            <a:fillRect/>
          </a:stretch>
        </p:blipFill>
        <p:spPr>
          <a:xfrm>
            <a:off x="11453564" y="5392801"/>
            <a:ext cx="128699" cy="187198"/>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Offering Scorecard: What They Sell</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9" name="TextBox 8"/>
          <p:cNvSpPr txBox="1"/>
          <p:nvPr/>
        </p:nvSpPr>
        <p:spPr>
          <a:xfrm>
            <a:off x="2899824" y="1295400"/>
            <a:ext cx="12678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0" name="TextBox 9"/>
          <p:cNvSpPr txBox="1"/>
          <p:nvPr/>
        </p:nvSpPr>
        <p:spPr>
          <a:xfrm>
            <a:off x="2899824" y="1657350"/>
            <a:ext cx="12678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1" name="TextBox 10"/>
          <p:cNvSpPr txBox="1"/>
          <p:nvPr/>
        </p:nvSpPr>
        <p:spPr>
          <a:xfrm>
            <a:off x="4243908" y="1295400"/>
            <a:ext cx="12678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2" name="TextBox 11"/>
          <p:cNvSpPr txBox="1"/>
          <p:nvPr/>
        </p:nvSpPr>
        <p:spPr>
          <a:xfrm>
            <a:off x="4243908" y="1657350"/>
            <a:ext cx="12678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3" name="TextBox 12"/>
          <p:cNvSpPr txBox="1"/>
          <p:nvPr/>
        </p:nvSpPr>
        <p:spPr>
          <a:xfrm>
            <a:off x="5587993"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4" name="TextBox 13"/>
          <p:cNvSpPr txBox="1"/>
          <p:nvPr/>
        </p:nvSpPr>
        <p:spPr>
          <a:xfrm>
            <a:off x="5587993"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5" name="TextBox 14"/>
          <p:cNvSpPr txBox="1"/>
          <p:nvPr/>
        </p:nvSpPr>
        <p:spPr>
          <a:xfrm>
            <a:off x="7200895"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6" name="TextBox 15"/>
          <p:cNvSpPr txBox="1"/>
          <p:nvPr/>
        </p:nvSpPr>
        <p:spPr>
          <a:xfrm>
            <a:off x="7200895"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17" name="TextBox 16"/>
          <p:cNvSpPr txBox="1"/>
          <p:nvPr/>
        </p:nvSpPr>
        <p:spPr>
          <a:xfrm>
            <a:off x="8813797"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18" name="TextBox 17"/>
          <p:cNvSpPr txBox="1"/>
          <p:nvPr/>
        </p:nvSpPr>
        <p:spPr>
          <a:xfrm>
            <a:off x="8813797"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19" name="TextBox 18"/>
          <p:cNvSpPr txBox="1"/>
          <p:nvPr/>
        </p:nvSpPr>
        <p:spPr>
          <a:xfrm>
            <a:off x="10426698"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0" name="TextBox 19"/>
          <p:cNvSpPr txBox="1"/>
          <p:nvPr/>
        </p:nvSpPr>
        <p:spPr>
          <a:xfrm>
            <a:off x="10426698"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Caterpillar</a:t>
            </a:r>
          </a:p>
        </p:txBody>
      </p:sp>
      <p:sp>
        <p:nvSpPr>
          <p:cNvPr id="24" name="TextBox 23"/>
          <p:cNvSpPr txBox="1"/>
          <p:nvPr/>
        </p:nvSpPr>
        <p:spPr>
          <a:xfrm>
            <a:off x="285750" y="24098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Oval 24"/>
          <p:cNvSpPr/>
          <p:nvPr/>
        </p:nvSpPr>
        <p:spPr>
          <a:xfrm>
            <a:off x="345756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801651"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4876800" y="2324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87993" y="22288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29" name="TextBox 28"/>
          <p:cNvSpPr txBox="1"/>
          <p:nvPr/>
        </p:nvSpPr>
        <p:spPr>
          <a:xfrm>
            <a:off x="7200895" y="22288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 Semi-Tracked Vehicles</a:t>
            </a:r>
          </a:p>
        </p:txBody>
      </p:sp>
      <p:sp>
        <p:nvSpPr>
          <p:cNvPr id="30" name="TextBox 29"/>
          <p:cNvSpPr txBox="1"/>
          <p:nvPr/>
        </p:nvSpPr>
        <p:spPr>
          <a:xfrm>
            <a:off x="8775697" y="22288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1" name="TextBox 30"/>
          <p:cNvSpPr txBox="1"/>
          <p:nvPr/>
        </p:nvSpPr>
        <p:spPr>
          <a:xfrm>
            <a:off x="10388598" y="22288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32" name="Connector 31"/>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750" y="25908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Komatsu</a:t>
            </a:r>
          </a:p>
        </p:txBody>
      </p:sp>
      <p:sp>
        <p:nvSpPr>
          <p:cNvPr id="35" name="TextBox 34"/>
          <p:cNvSpPr txBox="1"/>
          <p:nvPr/>
        </p:nvSpPr>
        <p:spPr>
          <a:xfrm>
            <a:off x="285750" y="27527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6" name="Oval 35"/>
          <p:cNvSpPr/>
          <p:nvPr/>
        </p:nvSpPr>
        <p:spPr>
          <a:xfrm>
            <a:off x="3457566"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3533775" y="2667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801651"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87993" y="25717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0" name="TextBox 39"/>
          <p:cNvSpPr txBox="1"/>
          <p:nvPr/>
        </p:nvSpPr>
        <p:spPr>
          <a:xfrm>
            <a:off x="7200895" y="25717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 Tracked Vehicles</a:t>
            </a:r>
          </a:p>
        </p:txBody>
      </p:sp>
      <p:sp>
        <p:nvSpPr>
          <p:cNvPr id="41" name="TextBox 40"/>
          <p:cNvSpPr txBox="1"/>
          <p:nvPr/>
        </p:nvSpPr>
        <p:spPr>
          <a:xfrm>
            <a:off x="8775697" y="25717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2" name="TextBox 41"/>
          <p:cNvSpPr txBox="1"/>
          <p:nvPr/>
        </p:nvSpPr>
        <p:spPr>
          <a:xfrm>
            <a:off x="10388598" y="25717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3" name="Connector 42"/>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5750" y="29337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Volvo Construction Equipment</a:t>
            </a:r>
          </a:p>
        </p:txBody>
      </p:sp>
      <p:sp>
        <p:nvSpPr>
          <p:cNvPr id="46" name="TextBox 45"/>
          <p:cNvSpPr txBox="1"/>
          <p:nvPr/>
        </p:nvSpPr>
        <p:spPr>
          <a:xfrm>
            <a:off x="285750" y="30956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7" name="Oval 46"/>
          <p:cNvSpPr/>
          <p:nvPr/>
        </p:nvSpPr>
        <p:spPr>
          <a:xfrm>
            <a:off x="3457566"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353377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801651"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4876800"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587993" y="29146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2" name="TextBox 51"/>
          <p:cNvSpPr txBox="1"/>
          <p:nvPr/>
        </p:nvSpPr>
        <p:spPr>
          <a:xfrm>
            <a:off x="7200895" y="29146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Semi-Tracked Vehicles, Tracked Vehicles</a:t>
            </a:r>
          </a:p>
        </p:txBody>
      </p:sp>
      <p:sp>
        <p:nvSpPr>
          <p:cNvPr id="53" name="TextBox 52"/>
          <p:cNvSpPr txBox="1"/>
          <p:nvPr/>
        </p:nvSpPr>
        <p:spPr>
          <a:xfrm>
            <a:off x="8775697" y="29146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4" name="TextBox 53"/>
          <p:cNvSpPr txBox="1"/>
          <p:nvPr/>
        </p:nvSpPr>
        <p:spPr>
          <a:xfrm>
            <a:off x="10388598" y="29146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5" name="Connector 54"/>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5750" y="32766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Liebherr Group</a:t>
            </a:r>
          </a:p>
        </p:txBody>
      </p:sp>
      <p:sp>
        <p:nvSpPr>
          <p:cNvPr id="58" name="TextBox 57"/>
          <p:cNvSpPr txBox="1"/>
          <p:nvPr/>
        </p:nvSpPr>
        <p:spPr>
          <a:xfrm>
            <a:off x="285750" y="34385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9" name="Oval 58"/>
          <p:cNvSpPr/>
          <p:nvPr/>
        </p:nvSpPr>
        <p:spPr>
          <a:xfrm>
            <a:off x="3457566"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353377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801651"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87993" y="32575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3" name="TextBox 62"/>
          <p:cNvSpPr txBox="1"/>
          <p:nvPr/>
        </p:nvSpPr>
        <p:spPr>
          <a:xfrm>
            <a:off x="7200895" y="32575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 Semi-Tracked Vehicles</a:t>
            </a:r>
          </a:p>
        </p:txBody>
      </p:sp>
      <p:sp>
        <p:nvSpPr>
          <p:cNvPr id="64" name="TextBox 63"/>
          <p:cNvSpPr txBox="1"/>
          <p:nvPr/>
        </p:nvSpPr>
        <p:spPr>
          <a:xfrm>
            <a:off x="8775697" y="32575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5" name="TextBox 64"/>
          <p:cNvSpPr txBox="1"/>
          <p:nvPr/>
        </p:nvSpPr>
        <p:spPr>
          <a:xfrm>
            <a:off x="10388598" y="32575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6" name="Connector 65"/>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85750" y="36195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Hitachi Construction Machinery</a:t>
            </a:r>
          </a:p>
        </p:txBody>
      </p:sp>
      <p:sp>
        <p:nvSpPr>
          <p:cNvPr id="69" name="TextBox 68"/>
          <p:cNvSpPr txBox="1"/>
          <p:nvPr/>
        </p:nvSpPr>
        <p:spPr>
          <a:xfrm>
            <a:off x="285750" y="37814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0" name="Oval 69"/>
          <p:cNvSpPr/>
          <p:nvPr/>
        </p:nvSpPr>
        <p:spPr>
          <a:xfrm>
            <a:off x="345756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801651"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4876800"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587993" y="36004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4" name="TextBox 73"/>
          <p:cNvSpPr txBox="1"/>
          <p:nvPr/>
        </p:nvSpPr>
        <p:spPr>
          <a:xfrm>
            <a:off x="7200895" y="36004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 Tracked Vehicles</a:t>
            </a:r>
          </a:p>
        </p:txBody>
      </p:sp>
      <p:sp>
        <p:nvSpPr>
          <p:cNvPr id="75" name="TextBox 74"/>
          <p:cNvSpPr txBox="1"/>
          <p:nvPr/>
        </p:nvSpPr>
        <p:spPr>
          <a:xfrm>
            <a:off x="8775697" y="36004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6" name="TextBox 75"/>
          <p:cNvSpPr txBox="1"/>
          <p:nvPr/>
        </p:nvSpPr>
        <p:spPr>
          <a:xfrm>
            <a:off x="10388598" y="36004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77" name="Connector 7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5750" y="39624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XCMG Group</a:t>
            </a:r>
          </a:p>
        </p:txBody>
      </p:sp>
      <p:sp>
        <p:nvSpPr>
          <p:cNvPr id="80" name="TextBox 79"/>
          <p:cNvSpPr txBox="1"/>
          <p:nvPr/>
        </p:nvSpPr>
        <p:spPr>
          <a:xfrm>
            <a:off x="285750" y="41243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1" name="Oval 80"/>
          <p:cNvSpPr/>
          <p:nvPr/>
        </p:nvSpPr>
        <p:spPr>
          <a:xfrm>
            <a:off x="3457566"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353377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801651"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587993" y="39433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5" name="TextBox 84"/>
          <p:cNvSpPr txBox="1"/>
          <p:nvPr/>
        </p:nvSpPr>
        <p:spPr>
          <a:xfrm>
            <a:off x="7200895" y="39433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Semi-Tracked Vehicles, Tracked Vehicles</a:t>
            </a:r>
          </a:p>
        </p:txBody>
      </p:sp>
      <p:sp>
        <p:nvSpPr>
          <p:cNvPr id="86" name="TextBox 85"/>
          <p:cNvSpPr txBox="1"/>
          <p:nvPr/>
        </p:nvSpPr>
        <p:spPr>
          <a:xfrm>
            <a:off x="8775697" y="39433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7" name="TextBox 86"/>
          <p:cNvSpPr txBox="1"/>
          <p:nvPr/>
        </p:nvSpPr>
        <p:spPr>
          <a:xfrm>
            <a:off x="10388598" y="39433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8" name="Connector 87"/>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85750" y="43053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SANY Group</a:t>
            </a:r>
          </a:p>
        </p:txBody>
      </p:sp>
      <p:sp>
        <p:nvSpPr>
          <p:cNvPr id="91" name="TextBox 90"/>
          <p:cNvSpPr txBox="1"/>
          <p:nvPr/>
        </p:nvSpPr>
        <p:spPr>
          <a:xfrm>
            <a:off x="285750" y="44672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2" name="Oval 91"/>
          <p:cNvSpPr/>
          <p:nvPr/>
        </p:nvSpPr>
        <p:spPr>
          <a:xfrm>
            <a:off x="3457566"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353377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80165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4876800"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5587993" y="42862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97" name="TextBox 96"/>
          <p:cNvSpPr txBox="1"/>
          <p:nvPr/>
        </p:nvSpPr>
        <p:spPr>
          <a:xfrm>
            <a:off x="7200895" y="42862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 Semi-Tracked Vehicles</a:t>
            </a:r>
          </a:p>
        </p:txBody>
      </p:sp>
      <p:sp>
        <p:nvSpPr>
          <p:cNvPr id="98" name="TextBox 97"/>
          <p:cNvSpPr txBox="1"/>
          <p:nvPr/>
        </p:nvSpPr>
        <p:spPr>
          <a:xfrm>
            <a:off x="8775697" y="42862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9" name="TextBox 98"/>
          <p:cNvSpPr txBox="1"/>
          <p:nvPr/>
        </p:nvSpPr>
        <p:spPr>
          <a:xfrm>
            <a:off x="10388598" y="42862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00" name="Connector 99"/>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85750" y="46482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JCB</a:t>
            </a:r>
          </a:p>
        </p:txBody>
      </p:sp>
      <p:sp>
        <p:nvSpPr>
          <p:cNvPr id="103" name="TextBox 102"/>
          <p:cNvSpPr txBox="1"/>
          <p:nvPr/>
        </p:nvSpPr>
        <p:spPr>
          <a:xfrm>
            <a:off x="285750" y="48101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4" name="Oval 103"/>
          <p:cNvSpPr/>
          <p:nvPr/>
        </p:nvSpPr>
        <p:spPr>
          <a:xfrm>
            <a:off x="3457566"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3533775" y="4724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801651"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587993" y="46291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8" name="TextBox 107"/>
          <p:cNvSpPr txBox="1"/>
          <p:nvPr/>
        </p:nvSpPr>
        <p:spPr>
          <a:xfrm>
            <a:off x="7200895" y="46291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 Tracked Vehicles</a:t>
            </a:r>
          </a:p>
        </p:txBody>
      </p:sp>
      <p:sp>
        <p:nvSpPr>
          <p:cNvPr id="109" name="TextBox 108"/>
          <p:cNvSpPr txBox="1"/>
          <p:nvPr/>
        </p:nvSpPr>
        <p:spPr>
          <a:xfrm>
            <a:off x="8775697" y="46291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0" name="TextBox 109"/>
          <p:cNvSpPr txBox="1"/>
          <p:nvPr/>
        </p:nvSpPr>
        <p:spPr>
          <a:xfrm>
            <a:off x="10388598" y="46291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1" name="Connector 110"/>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2" name="Rectangle 111"/>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85750" y="49911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HD Hyundai Construction Equipment</a:t>
            </a:r>
          </a:p>
        </p:txBody>
      </p:sp>
      <p:sp>
        <p:nvSpPr>
          <p:cNvPr id="114" name="TextBox 113"/>
          <p:cNvSpPr txBox="1"/>
          <p:nvPr/>
        </p:nvSpPr>
        <p:spPr>
          <a:xfrm>
            <a:off x="285750" y="51530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5" name="Oval 114"/>
          <p:cNvSpPr/>
          <p:nvPr/>
        </p:nvSpPr>
        <p:spPr>
          <a:xfrm>
            <a:off x="345756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801651"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4876800"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587993" y="49720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9" name="TextBox 118"/>
          <p:cNvSpPr txBox="1"/>
          <p:nvPr/>
        </p:nvSpPr>
        <p:spPr>
          <a:xfrm>
            <a:off x="7200895" y="49720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Semi-Tracked Vehicles, Tracked Vehicles</a:t>
            </a:r>
          </a:p>
        </p:txBody>
      </p:sp>
      <p:sp>
        <p:nvSpPr>
          <p:cNvPr id="120" name="TextBox 119"/>
          <p:cNvSpPr txBox="1"/>
          <p:nvPr/>
        </p:nvSpPr>
        <p:spPr>
          <a:xfrm>
            <a:off x="8775697" y="49720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1" name="TextBox 120"/>
          <p:cNvSpPr txBox="1"/>
          <p:nvPr/>
        </p:nvSpPr>
        <p:spPr>
          <a:xfrm>
            <a:off x="10388598" y="49720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22" name="Connector 121"/>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3" name="Rectangle 122"/>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85750" y="53340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LiuGong</a:t>
            </a:r>
          </a:p>
        </p:txBody>
      </p:sp>
      <p:sp>
        <p:nvSpPr>
          <p:cNvPr id="125" name="TextBox 124"/>
          <p:cNvSpPr txBox="1"/>
          <p:nvPr/>
        </p:nvSpPr>
        <p:spPr>
          <a:xfrm>
            <a:off x="285750" y="54959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6" name="Oval 125"/>
          <p:cNvSpPr/>
          <p:nvPr/>
        </p:nvSpPr>
        <p:spPr>
          <a:xfrm>
            <a:off x="3457566"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3533775" y="5410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801651"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587993" y="53149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0" name="TextBox 129"/>
          <p:cNvSpPr txBox="1"/>
          <p:nvPr/>
        </p:nvSpPr>
        <p:spPr>
          <a:xfrm>
            <a:off x="7200895" y="53149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Wheeled Vehicles, Semi-Tracked Vehicles</a:t>
            </a:r>
          </a:p>
        </p:txBody>
      </p:sp>
      <p:sp>
        <p:nvSpPr>
          <p:cNvPr id="131" name="TextBox 130"/>
          <p:cNvSpPr txBox="1"/>
          <p:nvPr/>
        </p:nvSpPr>
        <p:spPr>
          <a:xfrm>
            <a:off x="8775697" y="53149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2" name="TextBox 131"/>
          <p:cNvSpPr txBox="1"/>
          <p:nvPr/>
        </p:nvSpPr>
        <p:spPr>
          <a:xfrm>
            <a:off x="10388598" y="53149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3" name="Connector 132"/>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4" name="Oval 133"/>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6" name="Oval 135"/>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9" name="Oval 138"/>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2" name="Oval 141"/>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4" name="TextBox 143"/>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5" name="TextBox 144"/>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6" name="Rectangle 145"/>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8" name="Picture 147" descr="lock.png"/>
          <p:cNvPicPr>
            <a:picLocks noChangeAspect="1"/>
          </p:cNvPicPr>
          <p:nvPr/>
        </p:nvPicPr>
        <p:blipFill>
          <a:blip r:embed="rId4"/>
          <a:stretch>
            <a:fillRect/>
          </a:stretch>
        </p:blipFill>
        <p:spPr>
          <a:xfrm>
            <a:off x="9517798" y="2306701"/>
            <a:ext cx="128699" cy="187198"/>
          </a:xfrm>
          <a:prstGeom prst="rect">
            <a:avLst/>
          </a:prstGeom>
        </p:spPr>
      </p:pic>
      <p:pic>
        <p:nvPicPr>
          <p:cNvPr id="149" name="Picture 148" descr="lock.png"/>
          <p:cNvPicPr>
            <a:picLocks noChangeAspect="1"/>
          </p:cNvPicPr>
          <p:nvPr/>
        </p:nvPicPr>
        <p:blipFill>
          <a:blip r:embed="rId4"/>
          <a:stretch>
            <a:fillRect/>
          </a:stretch>
        </p:blipFill>
        <p:spPr>
          <a:xfrm>
            <a:off x="11130699" y="2306701"/>
            <a:ext cx="128699" cy="187198"/>
          </a:xfrm>
          <a:prstGeom prst="rect">
            <a:avLst/>
          </a:prstGeom>
        </p:spPr>
      </p:pic>
      <p:pic>
        <p:nvPicPr>
          <p:cNvPr id="150" name="Picture 149" descr="lock.png"/>
          <p:cNvPicPr>
            <a:picLocks noChangeAspect="1"/>
          </p:cNvPicPr>
          <p:nvPr/>
        </p:nvPicPr>
        <p:blipFill>
          <a:blip r:embed="rId4"/>
          <a:stretch>
            <a:fillRect/>
          </a:stretch>
        </p:blipFill>
        <p:spPr>
          <a:xfrm>
            <a:off x="9517798" y="2649601"/>
            <a:ext cx="128699" cy="187198"/>
          </a:xfrm>
          <a:prstGeom prst="rect">
            <a:avLst/>
          </a:prstGeom>
        </p:spPr>
      </p:pic>
      <p:pic>
        <p:nvPicPr>
          <p:cNvPr id="151" name="Picture 150" descr="lock.png"/>
          <p:cNvPicPr>
            <a:picLocks noChangeAspect="1"/>
          </p:cNvPicPr>
          <p:nvPr/>
        </p:nvPicPr>
        <p:blipFill>
          <a:blip r:embed="rId4"/>
          <a:stretch>
            <a:fillRect/>
          </a:stretch>
        </p:blipFill>
        <p:spPr>
          <a:xfrm>
            <a:off x="11130699"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517798"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11130699" y="29925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517798" y="3335401"/>
            <a:ext cx="128699" cy="187198"/>
          </a:xfrm>
          <a:prstGeom prst="rect">
            <a:avLst/>
          </a:prstGeom>
        </p:spPr>
      </p:pic>
      <p:pic>
        <p:nvPicPr>
          <p:cNvPr id="155" name="Picture 154" descr="lock.png"/>
          <p:cNvPicPr>
            <a:picLocks noChangeAspect="1"/>
          </p:cNvPicPr>
          <p:nvPr/>
        </p:nvPicPr>
        <p:blipFill>
          <a:blip r:embed="rId4"/>
          <a:stretch>
            <a:fillRect/>
          </a:stretch>
        </p:blipFill>
        <p:spPr>
          <a:xfrm>
            <a:off x="11130699" y="3335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17798"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11130699" y="36783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17798"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11130699" y="4021201"/>
            <a:ext cx="128699" cy="187198"/>
          </a:xfrm>
          <a:prstGeom prst="rect">
            <a:avLst/>
          </a:prstGeom>
        </p:spPr>
      </p:pic>
      <p:pic>
        <p:nvPicPr>
          <p:cNvPr id="160" name="Picture 159" descr="lock.png"/>
          <p:cNvPicPr>
            <a:picLocks noChangeAspect="1"/>
          </p:cNvPicPr>
          <p:nvPr/>
        </p:nvPicPr>
        <p:blipFill>
          <a:blip r:embed="rId4"/>
          <a:stretch>
            <a:fillRect/>
          </a:stretch>
        </p:blipFill>
        <p:spPr>
          <a:xfrm>
            <a:off x="9517798"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11130699"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9517798"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11130699"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517798"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11130699"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517798" y="5392801"/>
            <a:ext cx="128699" cy="187198"/>
          </a:xfrm>
          <a:prstGeom prst="rect">
            <a:avLst/>
          </a:prstGeom>
        </p:spPr>
      </p:pic>
      <p:pic>
        <p:nvPicPr>
          <p:cNvPr id="167" name="Picture 166" descr="lock.png"/>
          <p:cNvPicPr>
            <a:picLocks noChangeAspect="1"/>
          </p:cNvPicPr>
          <p:nvPr/>
        </p:nvPicPr>
        <p:blipFill>
          <a:blip r:embed="rId4"/>
          <a:stretch>
            <a:fillRect/>
          </a:stretch>
        </p:blipFill>
        <p:spPr>
          <a:xfrm>
            <a:off x="11130699" y="5392801"/>
            <a:ext cx="128699" cy="187198"/>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Execution Scorecard: How They Win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7" name="Rectangle 6"/>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9" name="TextBox 8"/>
          <p:cNvSpPr txBox="1"/>
          <p:nvPr/>
        </p:nvSpPr>
        <p:spPr>
          <a:xfrm>
            <a:off x="2899824"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0" name="TextBox 9"/>
          <p:cNvSpPr txBox="1"/>
          <p:nvPr/>
        </p:nvSpPr>
        <p:spPr>
          <a:xfrm>
            <a:off x="2899824"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1" name="TextBox 10"/>
          <p:cNvSpPr txBox="1"/>
          <p:nvPr/>
        </p:nvSpPr>
        <p:spPr>
          <a:xfrm>
            <a:off x="4512725"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2" name="TextBox 11"/>
          <p:cNvSpPr txBox="1"/>
          <p:nvPr/>
        </p:nvSpPr>
        <p:spPr>
          <a:xfrm>
            <a:off x="4512725"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3" name="TextBox 12"/>
          <p:cNvSpPr txBox="1"/>
          <p:nvPr/>
        </p:nvSpPr>
        <p:spPr>
          <a:xfrm>
            <a:off x="6125627" y="1295400"/>
            <a:ext cx="12678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4" name="TextBox 13"/>
          <p:cNvSpPr txBox="1"/>
          <p:nvPr/>
        </p:nvSpPr>
        <p:spPr>
          <a:xfrm>
            <a:off x="6125627" y="1657350"/>
            <a:ext cx="12678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5" name="TextBox 14"/>
          <p:cNvSpPr txBox="1"/>
          <p:nvPr/>
        </p:nvSpPr>
        <p:spPr>
          <a:xfrm>
            <a:off x="7469712"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6" name="TextBox 15"/>
          <p:cNvSpPr txBox="1"/>
          <p:nvPr/>
        </p:nvSpPr>
        <p:spPr>
          <a:xfrm>
            <a:off x="7469712"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17" name="TextBox 16"/>
          <p:cNvSpPr txBox="1"/>
          <p:nvPr/>
        </p:nvSpPr>
        <p:spPr>
          <a:xfrm>
            <a:off x="9082613" y="1295400"/>
            <a:ext cx="15367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18" name="TextBox 17"/>
          <p:cNvSpPr txBox="1"/>
          <p:nvPr/>
        </p:nvSpPr>
        <p:spPr>
          <a:xfrm>
            <a:off x="9082613" y="1657350"/>
            <a:ext cx="15367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19" name="TextBox 18"/>
          <p:cNvSpPr txBox="1"/>
          <p:nvPr/>
        </p:nvSpPr>
        <p:spPr>
          <a:xfrm>
            <a:off x="10695515" y="1295400"/>
            <a:ext cx="1267885"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0" name="TextBox 19"/>
          <p:cNvSpPr txBox="1"/>
          <p:nvPr/>
        </p:nvSpPr>
        <p:spPr>
          <a:xfrm>
            <a:off x="10695515" y="1657350"/>
            <a:ext cx="1267885"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1" name="Connector 20"/>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22479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Caterpillar</a:t>
            </a:r>
          </a:p>
        </p:txBody>
      </p:sp>
      <p:sp>
        <p:nvSpPr>
          <p:cNvPr id="24" name="TextBox 23"/>
          <p:cNvSpPr txBox="1"/>
          <p:nvPr/>
        </p:nvSpPr>
        <p:spPr>
          <a:xfrm>
            <a:off x="285750" y="24098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5" name="TextBox 24"/>
          <p:cNvSpPr txBox="1"/>
          <p:nvPr/>
        </p:nvSpPr>
        <p:spPr>
          <a:xfrm>
            <a:off x="2899824" y="22288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6" name="TextBox 25"/>
          <p:cNvSpPr txBox="1"/>
          <p:nvPr/>
        </p:nvSpPr>
        <p:spPr>
          <a:xfrm>
            <a:off x="4474625" y="22288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7" name="Oval 26"/>
          <p:cNvSpPr/>
          <p:nvPr/>
        </p:nvSpPr>
        <p:spPr>
          <a:xfrm>
            <a:off x="668336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31612" y="22288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29" name="TextBox 28"/>
          <p:cNvSpPr txBox="1"/>
          <p:nvPr/>
        </p:nvSpPr>
        <p:spPr>
          <a:xfrm>
            <a:off x="9044513" y="22288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11253258"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5750" y="25908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Komatsu</a:t>
            </a:r>
          </a:p>
        </p:txBody>
      </p:sp>
      <p:sp>
        <p:nvSpPr>
          <p:cNvPr id="34" name="TextBox 33"/>
          <p:cNvSpPr txBox="1"/>
          <p:nvPr/>
        </p:nvSpPr>
        <p:spPr>
          <a:xfrm>
            <a:off x="285750" y="27527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5" name="TextBox 34"/>
          <p:cNvSpPr txBox="1"/>
          <p:nvPr/>
        </p:nvSpPr>
        <p:spPr>
          <a:xfrm>
            <a:off x="2899824" y="25717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6" name="TextBox 35"/>
          <p:cNvSpPr txBox="1"/>
          <p:nvPr/>
        </p:nvSpPr>
        <p:spPr>
          <a:xfrm>
            <a:off x="4474625" y="25717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7" name="Oval 36"/>
          <p:cNvSpPr/>
          <p:nvPr/>
        </p:nvSpPr>
        <p:spPr>
          <a:xfrm>
            <a:off x="668336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69712" y="25717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39" name="TextBox 38"/>
          <p:cNvSpPr txBox="1"/>
          <p:nvPr/>
        </p:nvSpPr>
        <p:spPr>
          <a:xfrm>
            <a:off x="9044513" y="25717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11253258"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5750" y="29337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Volvo Construction Equipment</a:t>
            </a:r>
          </a:p>
        </p:txBody>
      </p:sp>
      <p:sp>
        <p:nvSpPr>
          <p:cNvPr id="44" name="TextBox 43"/>
          <p:cNvSpPr txBox="1"/>
          <p:nvPr/>
        </p:nvSpPr>
        <p:spPr>
          <a:xfrm>
            <a:off x="285750" y="30956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5" name="TextBox 44"/>
          <p:cNvSpPr txBox="1"/>
          <p:nvPr/>
        </p:nvSpPr>
        <p:spPr>
          <a:xfrm>
            <a:off x="2899824" y="29146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6" name="TextBox 45"/>
          <p:cNvSpPr txBox="1"/>
          <p:nvPr/>
        </p:nvSpPr>
        <p:spPr>
          <a:xfrm>
            <a:off x="4474625" y="29146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7" name="Oval 46"/>
          <p:cNvSpPr/>
          <p:nvPr/>
        </p:nvSpPr>
        <p:spPr>
          <a:xfrm>
            <a:off x="668336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31612" y="29146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9" name="TextBox 48"/>
          <p:cNvSpPr txBox="1"/>
          <p:nvPr/>
        </p:nvSpPr>
        <p:spPr>
          <a:xfrm>
            <a:off x="9044513" y="29146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11253258"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85750" y="32766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Liebherr Group</a:t>
            </a:r>
          </a:p>
        </p:txBody>
      </p:sp>
      <p:sp>
        <p:nvSpPr>
          <p:cNvPr id="54" name="TextBox 53"/>
          <p:cNvSpPr txBox="1"/>
          <p:nvPr/>
        </p:nvSpPr>
        <p:spPr>
          <a:xfrm>
            <a:off x="285750" y="34385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5" name="TextBox 54"/>
          <p:cNvSpPr txBox="1"/>
          <p:nvPr/>
        </p:nvSpPr>
        <p:spPr>
          <a:xfrm>
            <a:off x="2899824" y="32575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6" name="TextBox 55"/>
          <p:cNvSpPr txBox="1"/>
          <p:nvPr/>
        </p:nvSpPr>
        <p:spPr>
          <a:xfrm>
            <a:off x="4474625" y="32575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Oval 56"/>
          <p:cNvSpPr/>
          <p:nvPr/>
        </p:nvSpPr>
        <p:spPr>
          <a:xfrm>
            <a:off x="668336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69712" y="32575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59" name="TextBox 58"/>
          <p:cNvSpPr txBox="1"/>
          <p:nvPr/>
        </p:nvSpPr>
        <p:spPr>
          <a:xfrm>
            <a:off x="9044513" y="32575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11253258"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5750" y="36195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Hitachi Construction Machinery</a:t>
            </a:r>
          </a:p>
        </p:txBody>
      </p:sp>
      <p:sp>
        <p:nvSpPr>
          <p:cNvPr id="64" name="TextBox 63"/>
          <p:cNvSpPr txBox="1"/>
          <p:nvPr/>
        </p:nvSpPr>
        <p:spPr>
          <a:xfrm>
            <a:off x="285750" y="37814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5" name="TextBox 64"/>
          <p:cNvSpPr txBox="1"/>
          <p:nvPr/>
        </p:nvSpPr>
        <p:spPr>
          <a:xfrm>
            <a:off x="2899824" y="36004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6" name="TextBox 65"/>
          <p:cNvSpPr txBox="1"/>
          <p:nvPr/>
        </p:nvSpPr>
        <p:spPr>
          <a:xfrm>
            <a:off x="4474625" y="36004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Oval 66"/>
          <p:cNvSpPr/>
          <p:nvPr/>
        </p:nvSpPr>
        <p:spPr>
          <a:xfrm>
            <a:off x="6683369"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431612" y="36004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9" name="TextBox 68"/>
          <p:cNvSpPr txBox="1"/>
          <p:nvPr/>
        </p:nvSpPr>
        <p:spPr>
          <a:xfrm>
            <a:off x="9044513" y="36004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11253258"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11325225" y="36957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85750" y="39624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XCMG Group</a:t>
            </a:r>
          </a:p>
        </p:txBody>
      </p:sp>
      <p:sp>
        <p:nvSpPr>
          <p:cNvPr id="75" name="TextBox 74"/>
          <p:cNvSpPr txBox="1"/>
          <p:nvPr/>
        </p:nvSpPr>
        <p:spPr>
          <a:xfrm>
            <a:off x="285750" y="41243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6" name="TextBox 75"/>
          <p:cNvSpPr txBox="1"/>
          <p:nvPr/>
        </p:nvSpPr>
        <p:spPr>
          <a:xfrm>
            <a:off x="2899824" y="39433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77" name="TextBox 76"/>
          <p:cNvSpPr txBox="1"/>
          <p:nvPr/>
        </p:nvSpPr>
        <p:spPr>
          <a:xfrm>
            <a:off x="4474625" y="39433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8" name="Oval 77"/>
          <p:cNvSpPr/>
          <p:nvPr/>
        </p:nvSpPr>
        <p:spPr>
          <a:xfrm>
            <a:off x="6683369"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469712" y="39433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0" name="TextBox 79"/>
          <p:cNvSpPr txBox="1"/>
          <p:nvPr/>
        </p:nvSpPr>
        <p:spPr>
          <a:xfrm>
            <a:off x="9044513" y="39433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11253258"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1325225" y="40386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85750" y="43053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SANY Group</a:t>
            </a:r>
          </a:p>
        </p:txBody>
      </p:sp>
      <p:sp>
        <p:nvSpPr>
          <p:cNvPr id="86" name="TextBox 85"/>
          <p:cNvSpPr txBox="1"/>
          <p:nvPr/>
        </p:nvSpPr>
        <p:spPr>
          <a:xfrm>
            <a:off x="285750" y="44672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87" name="TextBox 86"/>
          <p:cNvSpPr txBox="1"/>
          <p:nvPr/>
        </p:nvSpPr>
        <p:spPr>
          <a:xfrm>
            <a:off x="2899824" y="42862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88" name="TextBox 87"/>
          <p:cNvSpPr txBox="1"/>
          <p:nvPr/>
        </p:nvSpPr>
        <p:spPr>
          <a:xfrm>
            <a:off x="4474625" y="42862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9" name="Oval 88"/>
          <p:cNvSpPr/>
          <p:nvPr/>
        </p:nvSpPr>
        <p:spPr>
          <a:xfrm>
            <a:off x="6683369"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431612" y="42862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1" name="TextBox 90"/>
          <p:cNvSpPr txBox="1"/>
          <p:nvPr/>
        </p:nvSpPr>
        <p:spPr>
          <a:xfrm>
            <a:off x="9044513" y="42862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11253258"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11325225" y="43815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5750" y="46482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JCB</a:t>
            </a:r>
          </a:p>
        </p:txBody>
      </p:sp>
      <p:sp>
        <p:nvSpPr>
          <p:cNvPr id="97" name="TextBox 96"/>
          <p:cNvSpPr txBox="1"/>
          <p:nvPr/>
        </p:nvSpPr>
        <p:spPr>
          <a:xfrm>
            <a:off x="285750" y="48101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8" name="TextBox 97"/>
          <p:cNvSpPr txBox="1"/>
          <p:nvPr/>
        </p:nvSpPr>
        <p:spPr>
          <a:xfrm>
            <a:off x="2899824" y="46291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9" name="TextBox 98"/>
          <p:cNvSpPr txBox="1"/>
          <p:nvPr/>
        </p:nvSpPr>
        <p:spPr>
          <a:xfrm>
            <a:off x="4474625" y="46291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0" name="Oval 99"/>
          <p:cNvSpPr/>
          <p:nvPr/>
        </p:nvSpPr>
        <p:spPr>
          <a:xfrm>
            <a:off x="6683369"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469712" y="46291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2" name="TextBox 101"/>
          <p:cNvSpPr txBox="1"/>
          <p:nvPr/>
        </p:nvSpPr>
        <p:spPr>
          <a:xfrm>
            <a:off x="9044513" y="46291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11253258"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Freeform 103"/>
          <p:cNvSpPr/>
          <p:nvPr/>
        </p:nvSpPr>
        <p:spPr>
          <a:xfrm>
            <a:off x="11325225" y="47244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6" name="Rectangle 105"/>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85750" y="49911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HD Hyundai Construction Equipment</a:t>
            </a:r>
          </a:p>
        </p:txBody>
      </p:sp>
      <p:sp>
        <p:nvSpPr>
          <p:cNvPr id="108" name="TextBox 107"/>
          <p:cNvSpPr txBox="1"/>
          <p:nvPr/>
        </p:nvSpPr>
        <p:spPr>
          <a:xfrm>
            <a:off x="285750" y="51530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9" name="TextBox 108"/>
          <p:cNvSpPr txBox="1"/>
          <p:nvPr/>
        </p:nvSpPr>
        <p:spPr>
          <a:xfrm>
            <a:off x="2899824" y="49720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0" name="TextBox 109"/>
          <p:cNvSpPr txBox="1"/>
          <p:nvPr/>
        </p:nvSpPr>
        <p:spPr>
          <a:xfrm>
            <a:off x="4474625" y="49720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1" name="Oval 110"/>
          <p:cNvSpPr/>
          <p:nvPr/>
        </p:nvSpPr>
        <p:spPr>
          <a:xfrm>
            <a:off x="6683369"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431612" y="49720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9044513" y="49720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11253258"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11325225" y="50673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85750" y="5334000"/>
            <a:ext cx="2556924" cy="171450"/>
          </a:xfrm>
          <a:prstGeom prst="rect">
            <a:avLst/>
          </a:prstGeom>
          <a:noFill/>
        </p:spPr>
        <p:txBody>
          <a:bodyPr wrap="square" lIns="28575" rIns="28575" tIns="9525" bIns="9525" anchor="t">
            <a:spAutoFit/>
          </a:bodyPr>
          <a:lstStyle/>
          <a:p>
            <a:pPr algn="l"/>
            <a:r>
              <a:rPr sz="1100" b="1">
                <a:solidFill>
                  <a:srgbClr val="1F2933"/>
                </a:solidFill>
                <a:latin typeface="Calibri"/>
              </a:rPr>
              <a:t>LiuGong</a:t>
            </a:r>
          </a:p>
        </p:txBody>
      </p:sp>
      <p:sp>
        <p:nvSpPr>
          <p:cNvPr id="119" name="TextBox 118"/>
          <p:cNvSpPr txBox="1"/>
          <p:nvPr/>
        </p:nvSpPr>
        <p:spPr>
          <a:xfrm>
            <a:off x="285750" y="5495925"/>
            <a:ext cx="2556924"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0" name="TextBox 119"/>
          <p:cNvSpPr txBox="1"/>
          <p:nvPr/>
        </p:nvSpPr>
        <p:spPr>
          <a:xfrm>
            <a:off x="2899824" y="53149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1" name="TextBox 120"/>
          <p:cNvSpPr txBox="1"/>
          <p:nvPr/>
        </p:nvSpPr>
        <p:spPr>
          <a:xfrm>
            <a:off x="4474625" y="53149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2" name="Oval 121"/>
          <p:cNvSpPr/>
          <p:nvPr/>
        </p:nvSpPr>
        <p:spPr>
          <a:xfrm>
            <a:off x="6683369"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469712" y="5314950"/>
            <a:ext cx="1536702"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4" name="TextBox 123"/>
          <p:cNvSpPr txBox="1"/>
          <p:nvPr/>
        </p:nvSpPr>
        <p:spPr>
          <a:xfrm>
            <a:off x="9044513" y="5314950"/>
            <a:ext cx="16129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11253258"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11325225" y="5410200"/>
            <a:ext cx="76200" cy="152400"/>
          </a:xfrm>
          <a:custGeom>
            <a:avLst/>
            <a:gdLst/>
            <a:ahLst/>
            <a:cxnLst/>
            <a:rect l="l" t="t" r="r" b="b"/>
            <a:pathLst>
              <a:path w="8" h="16">
                <a:moveTo>
                  <a:pt x="0" y="8"/>
                </a:moveTo>
                <a:lnTo>
                  <a:pt x="0" y="0"/>
                </a:lnTo>
                <a:lnTo>
                  <a:pt x="2" y="0"/>
                </a:lnTo>
                <a:lnTo>
                  <a:pt x="3" y="0"/>
                </a:lnTo>
                <a:lnTo>
                  <a:pt x="4" y="1"/>
                </a:lnTo>
                <a:lnTo>
                  <a:pt x="6" y="2"/>
                </a:lnTo>
                <a:lnTo>
                  <a:pt x="7" y="3"/>
                </a:lnTo>
                <a:lnTo>
                  <a:pt x="7" y="4"/>
                </a:lnTo>
                <a:lnTo>
                  <a:pt x="8" y="5"/>
                </a:lnTo>
                <a:lnTo>
                  <a:pt x="8" y="7"/>
                </a:lnTo>
                <a:lnTo>
                  <a:pt x="8" y="8"/>
                </a:lnTo>
                <a:lnTo>
                  <a:pt x="8" y="9"/>
                </a:lnTo>
                <a:lnTo>
                  <a:pt x="8" y="11"/>
                </a:lnTo>
                <a:lnTo>
                  <a:pt x="7" y="12"/>
                </a:lnTo>
                <a:lnTo>
                  <a:pt x="7" y="13"/>
                </a:lnTo>
                <a:lnTo>
                  <a:pt x="6"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0" name="Oval 129"/>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Freeform 130"/>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3" name="Oval 132"/>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6" name="Oval 135"/>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38" name="TextBox 137"/>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39" name="TextBox 138"/>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0" name="Rectangle 139"/>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2" name="Picture 141" descr="lock.png"/>
          <p:cNvPicPr>
            <a:picLocks noChangeAspect="1"/>
          </p:cNvPicPr>
          <p:nvPr/>
        </p:nvPicPr>
        <p:blipFill>
          <a:blip r:embed="rId4"/>
          <a:stretch>
            <a:fillRect/>
          </a:stretch>
        </p:blipFill>
        <p:spPr>
          <a:xfrm>
            <a:off x="5216726" y="2306701"/>
            <a:ext cx="128699" cy="187198"/>
          </a:xfrm>
          <a:prstGeom prst="rect">
            <a:avLst/>
          </a:prstGeom>
        </p:spPr>
      </p:pic>
      <p:pic>
        <p:nvPicPr>
          <p:cNvPr id="143" name="Picture 142" descr="lock.png"/>
          <p:cNvPicPr>
            <a:picLocks noChangeAspect="1"/>
          </p:cNvPicPr>
          <p:nvPr/>
        </p:nvPicPr>
        <p:blipFill>
          <a:blip r:embed="rId4"/>
          <a:stretch>
            <a:fillRect/>
          </a:stretch>
        </p:blipFill>
        <p:spPr>
          <a:xfrm>
            <a:off x="8173713" y="2306701"/>
            <a:ext cx="128699" cy="187198"/>
          </a:xfrm>
          <a:prstGeom prst="rect">
            <a:avLst/>
          </a:prstGeom>
        </p:spPr>
      </p:pic>
      <p:pic>
        <p:nvPicPr>
          <p:cNvPr id="144" name="Picture 143" descr="lock.png"/>
          <p:cNvPicPr>
            <a:picLocks noChangeAspect="1"/>
          </p:cNvPicPr>
          <p:nvPr/>
        </p:nvPicPr>
        <p:blipFill>
          <a:blip r:embed="rId4"/>
          <a:stretch>
            <a:fillRect/>
          </a:stretch>
        </p:blipFill>
        <p:spPr>
          <a:xfrm>
            <a:off x="9786614"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5216726" y="26496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786614" y="2649601"/>
            <a:ext cx="128699" cy="187198"/>
          </a:xfrm>
          <a:prstGeom prst="rect">
            <a:avLst/>
          </a:prstGeom>
        </p:spPr>
      </p:pic>
      <p:pic>
        <p:nvPicPr>
          <p:cNvPr id="147" name="Picture 146" descr="lock.png"/>
          <p:cNvPicPr>
            <a:picLocks noChangeAspect="1"/>
          </p:cNvPicPr>
          <p:nvPr/>
        </p:nvPicPr>
        <p:blipFill>
          <a:blip r:embed="rId4"/>
          <a:stretch>
            <a:fillRect/>
          </a:stretch>
        </p:blipFill>
        <p:spPr>
          <a:xfrm>
            <a:off x="5216726" y="2992501"/>
            <a:ext cx="128699" cy="187198"/>
          </a:xfrm>
          <a:prstGeom prst="rect">
            <a:avLst/>
          </a:prstGeom>
        </p:spPr>
      </p:pic>
      <p:pic>
        <p:nvPicPr>
          <p:cNvPr id="148" name="Picture 147" descr="lock.png"/>
          <p:cNvPicPr>
            <a:picLocks noChangeAspect="1"/>
          </p:cNvPicPr>
          <p:nvPr/>
        </p:nvPicPr>
        <p:blipFill>
          <a:blip r:embed="rId4"/>
          <a:stretch>
            <a:fillRect/>
          </a:stretch>
        </p:blipFill>
        <p:spPr>
          <a:xfrm>
            <a:off x="8173713" y="2992501"/>
            <a:ext cx="128699" cy="187198"/>
          </a:xfrm>
          <a:prstGeom prst="rect">
            <a:avLst/>
          </a:prstGeom>
        </p:spPr>
      </p:pic>
      <p:pic>
        <p:nvPicPr>
          <p:cNvPr id="149" name="Picture 148" descr="lock.png"/>
          <p:cNvPicPr>
            <a:picLocks noChangeAspect="1"/>
          </p:cNvPicPr>
          <p:nvPr/>
        </p:nvPicPr>
        <p:blipFill>
          <a:blip r:embed="rId4"/>
          <a:stretch>
            <a:fillRect/>
          </a:stretch>
        </p:blipFill>
        <p:spPr>
          <a:xfrm>
            <a:off x="9786614"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5216726" y="33354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786614" y="3335401"/>
            <a:ext cx="128699" cy="187198"/>
          </a:xfrm>
          <a:prstGeom prst="rect">
            <a:avLst/>
          </a:prstGeom>
        </p:spPr>
      </p:pic>
      <p:pic>
        <p:nvPicPr>
          <p:cNvPr id="152" name="Picture 151" descr="lock.png"/>
          <p:cNvPicPr>
            <a:picLocks noChangeAspect="1"/>
          </p:cNvPicPr>
          <p:nvPr/>
        </p:nvPicPr>
        <p:blipFill>
          <a:blip r:embed="rId4"/>
          <a:stretch>
            <a:fillRect/>
          </a:stretch>
        </p:blipFill>
        <p:spPr>
          <a:xfrm>
            <a:off x="5216726" y="3678301"/>
            <a:ext cx="128699" cy="187198"/>
          </a:xfrm>
          <a:prstGeom prst="rect">
            <a:avLst/>
          </a:prstGeom>
        </p:spPr>
      </p:pic>
      <p:pic>
        <p:nvPicPr>
          <p:cNvPr id="153" name="Picture 152" descr="lock.png"/>
          <p:cNvPicPr>
            <a:picLocks noChangeAspect="1"/>
          </p:cNvPicPr>
          <p:nvPr/>
        </p:nvPicPr>
        <p:blipFill>
          <a:blip r:embed="rId4"/>
          <a:stretch>
            <a:fillRect/>
          </a:stretch>
        </p:blipFill>
        <p:spPr>
          <a:xfrm>
            <a:off x="8173713" y="36783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786614"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5216726"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786614" y="4021201"/>
            <a:ext cx="128699" cy="187198"/>
          </a:xfrm>
          <a:prstGeom prst="rect">
            <a:avLst/>
          </a:prstGeom>
        </p:spPr>
      </p:pic>
      <p:pic>
        <p:nvPicPr>
          <p:cNvPr id="157" name="Picture 156" descr="lock.png"/>
          <p:cNvPicPr>
            <a:picLocks noChangeAspect="1"/>
          </p:cNvPicPr>
          <p:nvPr/>
        </p:nvPicPr>
        <p:blipFill>
          <a:blip r:embed="rId4"/>
          <a:stretch>
            <a:fillRect/>
          </a:stretch>
        </p:blipFill>
        <p:spPr>
          <a:xfrm>
            <a:off x="5216726" y="4364101"/>
            <a:ext cx="128699" cy="187198"/>
          </a:xfrm>
          <a:prstGeom prst="rect">
            <a:avLst/>
          </a:prstGeom>
        </p:spPr>
      </p:pic>
      <p:pic>
        <p:nvPicPr>
          <p:cNvPr id="158" name="Picture 157" descr="lock.png"/>
          <p:cNvPicPr>
            <a:picLocks noChangeAspect="1"/>
          </p:cNvPicPr>
          <p:nvPr/>
        </p:nvPicPr>
        <p:blipFill>
          <a:blip r:embed="rId4"/>
          <a:stretch>
            <a:fillRect/>
          </a:stretch>
        </p:blipFill>
        <p:spPr>
          <a:xfrm>
            <a:off x="8173713" y="43641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786614"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5216726" y="47070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786614" y="4707001"/>
            <a:ext cx="128699" cy="187198"/>
          </a:xfrm>
          <a:prstGeom prst="rect">
            <a:avLst/>
          </a:prstGeom>
        </p:spPr>
      </p:pic>
      <p:pic>
        <p:nvPicPr>
          <p:cNvPr id="162" name="Picture 161" descr="lock.png"/>
          <p:cNvPicPr>
            <a:picLocks noChangeAspect="1"/>
          </p:cNvPicPr>
          <p:nvPr/>
        </p:nvPicPr>
        <p:blipFill>
          <a:blip r:embed="rId4"/>
          <a:stretch>
            <a:fillRect/>
          </a:stretch>
        </p:blipFill>
        <p:spPr>
          <a:xfrm>
            <a:off x="5216726" y="5049901"/>
            <a:ext cx="128699" cy="187198"/>
          </a:xfrm>
          <a:prstGeom prst="rect">
            <a:avLst/>
          </a:prstGeom>
        </p:spPr>
      </p:pic>
      <p:pic>
        <p:nvPicPr>
          <p:cNvPr id="163" name="Picture 162" descr="lock.png"/>
          <p:cNvPicPr>
            <a:picLocks noChangeAspect="1"/>
          </p:cNvPicPr>
          <p:nvPr/>
        </p:nvPicPr>
        <p:blipFill>
          <a:blip r:embed="rId4"/>
          <a:stretch>
            <a:fillRect/>
          </a:stretch>
        </p:blipFill>
        <p:spPr>
          <a:xfrm>
            <a:off x="8173713" y="5049901"/>
            <a:ext cx="128699" cy="187198"/>
          </a:xfrm>
          <a:prstGeom prst="rect">
            <a:avLst/>
          </a:prstGeom>
        </p:spPr>
      </p:pic>
      <p:pic>
        <p:nvPicPr>
          <p:cNvPr id="164" name="Picture 163" descr="lock.png"/>
          <p:cNvPicPr>
            <a:picLocks noChangeAspect="1"/>
          </p:cNvPicPr>
          <p:nvPr/>
        </p:nvPicPr>
        <p:blipFill>
          <a:blip r:embed="rId4"/>
          <a:stretch>
            <a:fillRect/>
          </a:stretch>
        </p:blipFill>
        <p:spPr>
          <a:xfrm>
            <a:off x="9786614"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5216726" y="53928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786614" y="5392801"/>
            <a:ext cx="128699" cy="187198"/>
          </a:xfrm>
          <a:prstGeom prst="rect">
            <a:avLst/>
          </a:prstGeom>
        </p:spPr>
      </p:pic>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Success Factors and Composite Ranking</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7" name="TextBox 6"/>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8" name="TextBox 7"/>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9" name="TextBox 8"/>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0" name="TextBox 9"/>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1" name="TextBox 10"/>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3" name="TextBox 12"/>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4" name="TextBox 13"/>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6" name="TextBox 15"/>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17" name="TextBox 16"/>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19" name="TextBox 18"/>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0" name="TextBox 19"/>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2" name="TextBox 21"/>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3" name="TextBox 22"/>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4" name="Connector 23"/>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Komatsu</a:t>
            </a:r>
          </a:p>
        </p:txBody>
      </p:sp>
      <p:sp>
        <p:nvSpPr>
          <p:cNvPr id="27" name="Oval 26"/>
          <p:cNvSpPr/>
          <p:nvPr/>
        </p:nvSpPr>
        <p:spPr>
          <a:xfrm>
            <a:off x="28479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8200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420350" y="1895475"/>
            <a:ext cx="1143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60145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4" name="Connector 33"/>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Caterpillar</a:t>
            </a:r>
          </a:p>
        </p:txBody>
      </p:sp>
      <p:sp>
        <p:nvSpPr>
          <p:cNvPr id="37" name="Oval 36"/>
          <p:cNvSpPr/>
          <p:nvPr/>
        </p:nvSpPr>
        <p:spPr>
          <a:xfrm>
            <a:off x="28479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2002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7896225" y="2190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20350" y="22002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54430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45" name="Connector 44"/>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Volvo Construction Equipment</a:t>
            </a:r>
          </a:p>
        </p:txBody>
      </p:sp>
      <p:sp>
        <p:nvSpPr>
          <p:cNvPr id="48" name="Oval 47"/>
          <p:cNvSpPr/>
          <p:nvPr/>
        </p:nvSpPr>
        <p:spPr>
          <a:xfrm>
            <a:off x="28479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2002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7896225" y="2495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20350" y="2505075"/>
            <a:ext cx="1085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54430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6" name="Connector 55"/>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Liebherr Group</a:t>
            </a:r>
          </a:p>
        </p:txBody>
      </p:sp>
      <p:sp>
        <p:nvSpPr>
          <p:cNvPr id="59" name="Oval 58"/>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92417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8200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420350" y="2809875"/>
            <a:ext cx="10287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148715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7" name="Connector 66"/>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XCMG Group</a:t>
            </a:r>
          </a:p>
        </p:txBody>
      </p:sp>
      <p:sp>
        <p:nvSpPr>
          <p:cNvPr id="70" name="Oval 69"/>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9241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420350" y="3114675"/>
            <a:ext cx="8763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3347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0" name="Connector 79"/>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3718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Hitachi Construction Machinery</a:t>
            </a:r>
          </a:p>
        </p:txBody>
      </p:sp>
      <p:sp>
        <p:nvSpPr>
          <p:cNvPr id="83" name="Oval 82"/>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45815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62388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8200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89622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420350" y="3419475"/>
            <a:ext cx="8191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27760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4" name="Connector 93"/>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90500" y="36766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JCB</a:t>
            </a:r>
          </a:p>
        </p:txBody>
      </p:sp>
      <p:sp>
        <p:nvSpPr>
          <p:cNvPr id="97" name="Oval 96"/>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29241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458152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Freeform 101"/>
          <p:cNvSpPr/>
          <p:nvPr/>
        </p:nvSpPr>
        <p:spPr>
          <a:xfrm>
            <a:off x="62388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82002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420350" y="37242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18235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07" name="Connector 106"/>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8" name="Rectangle 107"/>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LiuGong</a:t>
            </a:r>
          </a:p>
        </p:txBody>
      </p:sp>
      <p:sp>
        <p:nvSpPr>
          <p:cNvPr id="110" name="Oval 109"/>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2924175" y="40195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Freeform 112"/>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Freeform 114"/>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0420350" y="40290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1823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0" name="Connector 119"/>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SANY Group</a:t>
            </a:r>
          </a:p>
        </p:txBody>
      </p:sp>
      <p:sp>
        <p:nvSpPr>
          <p:cNvPr id="123" name="Oval 122"/>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Freeform 123"/>
          <p:cNvSpPr/>
          <p:nvPr/>
        </p:nvSpPr>
        <p:spPr>
          <a:xfrm>
            <a:off x="292417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Freeform 127"/>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420350" y="43338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252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34" name="Connector 133"/>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5" name="Rectangle 134"/>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HD Hyundai Construction Equipment</a:t>
            </a:r>
          </a:p>
        </p:txBody>
      </p:sp>
      <p:sp>
        <p:nvSpPr>
          <p:cNvPr id="137" name="Oval 136"/>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292417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Freeform 141"/>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0420350" y="4638675"/>
            <a:ext cx="6667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11252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48" name="Connector 147"/>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9" name="Oval 148"/>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1" name="Oval 150"/>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Freeform 151"/>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54" name="Oval 153"/>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57" name="Oval 156"/>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59" name="TextBox 158"/>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0" name="Rectangle 159"/>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2" name="TextBox 161"/>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Komatsu, Caterpillar, Volvo Construction Equipment, Liebherr Group</a:t>
            </a:r>
          </a:p>
        </p:txBody>
      </p:sp>
      <p:sp>
        <p:nvSpPr>
          <p:cNvPr id="163" name="TextBox 162"/>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innovation pipeline.</a:t>
            </a:r>
          </a:p>
        </p:txBody>
      </p:sp>
      <p:sp>
        <p:nvSpPr>
          <p:cNvPr id="164" name="Rectangle 163"/>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66" name="TextBox 165"/>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XCMG Group, Hitachi Construction Machinery</a:t>
            </a:r>
          </a:p>
        </p:txBody>
      </p:sp>
      <p:sp>
        <p:nvSpPr>
          <p:cNvPr id="167" name="TextBox 166"/>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68" name="Rectangle 167"/>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0" name="TextBox 169"/>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JCB, LiuGong, SANY Group, HD Hyundai Construction Equipment</a:t>
            </a:r>
          </a:p>
        </p:txBody>
      </p:sp>
      <p:sp>
        <p:nvSpPr>
          <p:cNvPr id="171" name="TextBox 170"/>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2" name="Rectangle 17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74" name="Picture 173" descr="lock.png"/>
          <p:cNvPicPr>
            <a:picLocks noChangeAspect="1"/>
          </p:cNvPicPr>
          <p:nvPr/>
        </p:nvPicPr>
        <p:blipFill>
          <a:blip r:embed="rId4"/>
          <a:stretch>
            <a:fillRect/>
          </a:stretch>
        </p:blipFill>
        <p:spPr>
          <a:xfrm>
            <a:off x="11746650" y="1868551"/>
            <a:ext cx="128699" cy="187198"/>
          </a:xfrm>
          <a:prstGeom prst="rect">
            <a:avLst/>
          </a:prstGeom>
        </p:spPr>
      </p:pic>
      <p:pic>
        <p:nvPicPr>
          <p:cNvPr id="175" name="Picture 174" descr="lock.png"/>
          <p:cNvPicPr>
            <a:picLocks noChangeAspect="1"/>
          </p:cNvPicPr>
          <p:nvPr/>
        </p:nvPicPr>
        <p:blipFill>
          <a:blip r:embed="rId4"/>
          <a:stretch>
            <a:fillRect/>
          </a:stretch>
        </p:blipFill>
        <p:spPr>
          <a:xfrm>
            <a:off x="11689500" y="2173351"/>
            <a:ext cx="128699" cy="187198"/>
          </a:xfrm>
          <a:prstGeom prst="rect">
            <a:avLst/>
          </a:prstGeom>
        </p:spPr>
      </p:pic>
      <p:pic>
        <p:nvPicPr>
          <p:cNvPr id="176" name="Picture 175" descr="lock.png"/>
          <p:cNvPicPr>
            <a:picLocks noChangeAspect="1"/>
          </p:cNvPicPr>
          <p:nvPr/>
        </p:nvPicPr>
        <p:blipFill>
          <a:blip r:embed="rId4"/>
          <a:stretch>
            <a:fillRect/>
          </a:stretch>
        </p:blipFill>
        <p:spPr>
          <a:xfrm>
            <a:off x="11689500" y="2478151"/>
            <a:ext cx="128699" cy="187198"/>
          </a:xfrm>
          <a:prstGeom prst="rect">
            <a:avLst/>
          </a:prstGeom>
        </p:spPr>
      </p:pic>
      <p:pic>
        <p:nvPicPr>
          <p:cNvPr id="177" name="Picture 176" descr="lock.png"/>
          <p:cNvPicPr>
            <a:picLocks noChangeAspect="1"/>
          </p:cNvPicPr>
          <p:nvPr/>
        </p:nvPicPr>
        <p:blipFill>
          <a:blip r:embed="rId4"/>
          <a:stretch>
            <a:fillRect/>
          </a:stretch>
        </p:blipFill>
        <p:spPr>
          <a:xfrm>
            <a:off x="11632350" y="2782951"/>
            <a:ext cx="128699" cy="187198"/>
          </a:xfrm>
          <a:prstGeom prst="rect">
            <a:avLst/>
          </a:prstGeom>
        </p:spPr>
      </p:pic>
      <p:pic>
        <p:nvPicPr>
          <p:cNvPr id="178" name="Picture 177" descr="lock.png"/>
          <p:cNvPicPr>
            <a:picLocks noChangeAspect="1"/>
          </p:cNvPicPr>
          <p:nvPr/>
        </p:nvPicPr>
        <p:blipFill>
          <a:blip r:embed="rId4"/>
          <a:stretch>
            <a:fillRect/>
          </a:stretch>
        </p:blipFill>
        <p:spPr>
          <a:xfrm>
            <a:off x="11479950" y="3087751"/>
            <a:ext cx="128699" cy="187198"/>
          </a:xfrm>
          <a:prstGeom prst="rect">
            <a:avLst/>
          </a:prstGeom>
        </p:spPr>
      </p:pic>
      <p:pic>
        <p:nvPicPr>
          <p:cNvPr id="179" name="Picture 178" descr="lock.png"/>
          <p:cNvPicPr>
            <a:picLocks noChangeAspect="1"/>
          </p:cNvPicPr>
          <p:nvPr/>
        </p:nvPicPr>
        <p:blipFill>
          <a:blip r:embed="rId4"/>
          <a:stretch>
            <a:fillRect/>
          </a:stretch>
        </p:blipFill>
        <p:spPr>
          <a:xfrm>
            <a:off x="11422800" y="33925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327550" y="36973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327550" y="40021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270400" y="43069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270400" y="4611751"/>
            <a:ext cx="128699" cy="187198"/>
          </a:xfrm>
          <a:prstGeom prst="rect">
            <a:avLst/>
          </a:prstGeom>
        </p:spPr>
      </p:pic>
      <p:sp>
        <p:nvSpPr>
          <p:cNvPr id="184" name="TextBox 183"/>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5" name="Picture 184" descr="lock.png"/>
          <p:cNvPicPr>
            <a:picLocks noChangeAspect="1"/>
          </p:cNvPicPr>
          <p:nvPr/>
        </p:nvPicPr>
        <p:blipFill>
          <a:blip r:embed="rId4"/>
          <a:stretch>
            <a:fillRect/>
          </a:stretch>
        </p:blipFill>
        <p:spPr>
          <a:xfrm>
            <a:off x="2482959" y="1212159"/>
            <a:ext cx="92663" cy="134782"/>
          </a:xfrm>
          <a:prstGeom prst="rect">
            <a:avLst/>
          </a:prstGeom>
        </p:spPr>
      </p:pic>
      <p:sp>
        <p:nvSpPr>
          <p:cNvPr id="186" name="TextBox 185"/>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7" name="Picture 186" descr="lock.png"/>
          <p:cNvPicPr>
            <a:picLocks noChangeAspect="1"/>
          </p:cNvPicPr>
          <p:nvPr/>
        </p:nvPicPr>
        <p:blipFill>
          <a:blip r:embed="rId4"/>
          <a:stretch>
            <a:fillRect/>
          </a:stretch>
        </p:blipFill>
        <p:spPr>
          <a:xfrm>
            <a:off x="4140309" y="1212159"/>
            <a:ext cx="92663" cy="134782"/>
          </a:xfrm>
          <a:prstGeom prst="rect">
            <a:avLst/>
          </a:prstGeom>
        </p:spPr>
      </p:pic>
      <p:sp>
        <p:nvSpPr>
          <p:cNvPr id="188" name="TextBox 187"/>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89" name="Picture 188" descr="lock.png"/>
          <p:cNvPicPr>
            <a:picLocks noChangeAspect="1"/>
          </p:cNvPicPr>
          <p:nvPr/>
        </p:nvPicPr>
        <p:blipFill>
          <a:blip r:embed="rId4"/>
          <a:stretch>
            <a:fillRect/>
          </a:stretch>
        </p:blipFill>
        <p:spPr>
          <a:xfrm>
            <a:off x="5797659" y="1212159"/>
            <a:ext cx="92663" cy="134782"/>
          </a:xfrm>
          <a:prstGeom prst="rect">
            <a:avLst/>
          </a:prstGeom>
        </p:spPr>
      </p:pic>
      <p:sp>
        <p:nvSpPr>
          <p:cNvPr id="190" name="TextBox 189"/>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1" name="Picture 190" descr="lock.png"/>
          <p:cNvPicPr>
            <a:picLocks noChangeAspect="1"/>
          </p:cNvPicPr>
          <p:nvPr/>
        </p:nvPicPr>
        <p:blipFill>
          <a:blip r:embed="rId4"/>
          <a:stretch>
            <a:fillRect/>
          </a:stretch>
        </p:blipFill>
        <p:spPr>
          <a:xfrm>
            <a:off x="7455009" y="1212159"/>
            <a:ext cx="92663" cy="134782"/>
          </a:xfrm>
          <a:prstGeom prst="rect">
            <a:avLst/>
          </a:prstGeom>
        </p:spPr>
      </p:pic>
      <p:sp>
        <p:nvSpPr>
          <p:cNvPr id="192" name="TextBox 191"/>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3" name="Picture 192"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Strategic Activity Tracker</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7" name="TextBox 6"/>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8" name="TextBox 7"/>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9" name="TextBox 8"/>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0" name="TextBox 9"/>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1" name="TextBox 10"/>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2" name="TextBox 11"/>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3" name="TextBox 12"/>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4" name="TextBox 13"/>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5" name="Connector 14"/>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Caterpillar</a:t>
            </a:r>
          </a:p>
        </p:txBody>
      </p:sp>
      <p:sp>
        <p:nvSpPr>
          <p:cNvPr id="18" name="TextBox 17"/>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19" name="TextBox 18"/>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0" name="Rectangle 19"/>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2" name="TextBox 21"/>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3" name="TextBox 22"/>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24" name="TextBox 23"/>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5" name="TextBox 24"/>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6" name="Connector 25"/>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Komatsu</a:t>
            </a:r>
          </a:p>
        </p:txBody>
      </p:sp>
      <p:sp>
        <p:nvSpPr>
          <p:cNvPr id="29" name="TextBox 28"/>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Construction and Mining Vehicles</a:t>
            </a:r>
          </a:p>
        </p:txBody>
      </p:sp>
      <p:sp>
        <p:nvSpPr>
          <p:cNvPr id="30" name="TextBox 29"/>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1" name="Rectangle 30"/>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3" name="TextBox 32"/>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4" name="TextBox 33"/>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35" name="TextBox 34"/>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6" name="TextBox 35"/>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37" name="Connector 36"/>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Volvo Construction Equipment</a:t>
            </a:r>
          </a:p>
        </p:txBody>
      </p:sp>
      <p:sp>
        <p:nvSpPr>
          <p:cNvPr id="40" name="TextBox 39"/>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East Asia</a:t>
            </a:r>
          </a:p>
        </p:txBody>
      </p:sp>
      <p:sp>
        <p:nvSpPr>
          <p:cNvPr id="41" name="TextBox 40"/>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2" name="Rectangle 41"/>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4" name="TextBox 43"/>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5" name="TextBox 44"/>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46" name="TextBox 45"/>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47" name="TextBox 46"/>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48" name="Connector 47"/>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Liebherr Group</a:t>
            </a:r>
          </a:p>
        </p:txBody>
      </p:sp>
      <p:sp>
        <p:nvSpPr>
          <p:cNvPr id="51" name="TextBox 50"/>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Agriculture and Forestry Vehicles</a:t>
            </a:r>
          </a:p>
        </p:txBody>
      </p:sp>
      <p:sp>
        <p:nvSpPr>
          <p:cNvPr id="52" name="TextBox 51"/>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3" name="Rectangle 52"/>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5" name="TextBox 54"/>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6" name="TextBox 55"/>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57" name="TextBox 56"/>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58" name="TextBox 57"/>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59" name="Connector 58"/>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Hitachi Construction Machinery</a:t>
            </a:r>
          </a:p>
        </p:txBody>
      </p:sp>
      <p:sp>
        <p:nvSpPr>
          <p:cNvPr id="62" name="TextBox 61"/>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Middle East &amp; Africa</a:t>
            </a:r>
          </a:p>
        </p:txBody>
      </p:sp>
      <p:sp>
        <p:nvSpPr>
          <p:cNvPr id="63" name="TextBox 62"/>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4" name="Rectangle 63"/>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6" name="TextBox 65"/>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67" name="TextBox 66"/>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68" name="TextBox 67"/>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69" name="TextBox 68"/>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0" name="Connector 69"/>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XCMG Group</a:t>
            </a:r>
          </a:p>
        </p:txBody>
      </p:sp>
      <p:sp>
        <p:nvSpPr>
          <p:cNvPr id="73" name="TextBox 72"/>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Construction and Mining Vehicles</a:t>
            </a:r>
          </a:p>
        </p:txBody>
      </p:sp>
      <p:sp>
        <p:nvSpPr>
          <p:cNvPr id="74" name="TextBox 73"/>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5" name="Rectangle 74"/>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77" name="TextBox 76"/>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78" name="TextBox 77"/>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79" name="TextBox 78"/>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0" name="TextBox 79"/>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1" name="Connector 80"/>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SANY Group</a:t>
            </a:r>
          </a:p>
        </p:txBody>
      </p:sp>
      <p:sp>
        <p:nvSpPr>
          <p:cNvPr id="84" name="TextBox 83"/>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Western Europe</a:t>
            </a:r>
          </a:p>
        </p:txBody>
      </p:sp>
      <p:sp>
        <p:nvSpPr>
          <p:cNvPr id="85" name="TextBox 84"/>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6" name="Rectangle 85"/>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88" name="TextBox 87"/>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89" name="TextBox 88"/>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90" name="TextBox 89"/>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1" name="TextBox 90"/>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2" name="Connector 91"/>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JCB</a:t>
            </a:r>
          </a:p>
        </p:txBody>
      </p:sp>
      <p:sp>
        <p:nvSpPr>
          <p:cNvPr id="95" name="TextBox 94"/>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Agriculture and Forestry Vehicles</a:t>
            </a:r>
          </a:p>
        </p:txBody>
      </p:sp>
      <p:sp>
        <p:nvSpPr>
          <p:cNvPr id="96" name="TextBox 95"/>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97" name="Rectangle 96"/>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99" name="TextBox 98"/>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0" name="TextBox 99"/>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01" name="TextBox 100"/>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2" name="TextBox 101"/>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3" name="Connector 102"/>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HD Hyundai Construction Equipment</a:t>
            </a:r>
          </a:p>
        </p:txBody>
      </p:sp>
      <p:sp>
        <p:nvSpPr>
          <p:cNvPr id="106" name="TextBox 105"/>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07" name="TextBox 106"/>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8" name="Rectangle 107"/>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0" name="TextBox 109"/>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1" name="TextBox 110"/>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12" name="TextBox 111"/>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3" name="TextBox 112"/>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4" name="Connector 113"/>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LiuGong</a:t>
            </a:r>
          </a:p>
        </p:txBody>
      </p:sp>
      <p:sp>
        <p:nvSpPr>
          <p:cNvPr id="117" name="TextBox 116"/>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Construction and Mining Vehicles</a:t>
            </a:r>
          </a:p>
        </p:txBody>
      </p:sp>
      <p:sp>
        <p:nvSpPr>
          <p:cNvPr id="118" name="TextBox 117"/>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9" name="Rectangle 118"/>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1" name="TextBox 120"/>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2" name="TextBox 121"/>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TMR company profiling</a:t>
            </a:r>
          </a:p>
        </p:txBody>
      </p:sp>
      <p:sp>
        <p:nvSpPr>
          <p:cNvPr id="123" name="TextBox 122"/>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4" name="TextBox 123"/>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5" name="Connector 124"/>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28" name="TextBox 127"/>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29" name="Rectangle 128"/>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1" name="TextBox 130"/>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2" name="Rectangle 131"/>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4" name="TextBox 133"/>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5" name="Rectangle 134"/>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37" name="TextBox 136"/>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38" name="Rectangle 137"/>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0" name="TextBox 139"/>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1" name="Rectangle 140"/>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3" name="TextBox 142"/>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4" name="TextBox 143"/>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5" name="Rectangle 14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47" name="Picture 146" descr="lock.png"/>
          <p:cNvPicPr>
            <a:picLocks noChangeAspect="1"/>
          </p:cNvPicPr>
          <p:nvPr/>
        </p:nvPicPr>
        <p:blipFill>
          <a:blip r:embed="rId4"/>
          <a:stretch>
            <a:fillRect/>
          </a:stretch>
        </p:blipFill>
        <p:spPr>
          <a:xfrm>
            <a:off x="4126650" y="1278001"/>
            <a:ext cx="128699" cy="187198"/>
          </a:xfrm>
          <a:prstGeom prst="rect">
            <a:avLst/>
          </a:prstGeom>
        </p:spPr>
      </p:pic>
      <p:pic>
        <p:nvPicPr>
          <p:cNvPr id="148" name="Picture 147" descr="lock.png"/>
          <p:cNvPicPr>
            <a:picLocks noChangeAspect="1"/>
          </p:cNvPicPr>
          <p:nvPr/>
        </p:nvPicPr>
        <p:blipFill>
          <a:blip r:embed="rId4"/>
          <a:stretch>
            <a:fillRect/>
          </a:stretch>
        </p:blipFill>
        <p:spPr>
          <a:xfrm>
            <a:off x="4126650" y="1773301"/>
            <a:ext cx="128699" cy="187198"/>
          </a:xfrm>
          <a:prstGeom prst="rect">
            <a:avLst/>
          </a:prstGeom>
        </p:spPr>
      </p:pic>
      <p:pic>
        <p:nvPicPr>
          <p:cNvPr id="149" name="Picture 148" descr="lock.png"/>
          <p:cNvPicPr>
            <a:picLocks noChangeAspect="1"/>
          </p:cNvPicPr>
          <p:nvPr/>
        </p:nvPicPr>
        <p:blipFill>
          <a:blip r:embed="rId4"/>
          <a:stretch>
            <a:fillRect/>
          </a:stretch>
        </p:blipFill>
        <p:spPr>
          <a:xfrm>
            <a:off x="4126650" y="22686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27639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32592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3754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42498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47451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52404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Strategic Activity by Function</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7" name="Rectangle 6"/>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Caterpillar</a:t>
            </a:r>
          </a:p>
        </p:txBody>
      </p:sp>
      <p:sp>
        <p:nvSpPr>
          <p:cNvPr id="9" name="Rectangle 8"/>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Komatsu</a:t>
            </a:r>
          </a:p>
        </p:txBody>
      </p:sp>
      <p:sp>
        <p:nvSpPr>
          <p:cNvPr id="11" name="Rectangle 10"/>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Volvo Construction Equipment</a:t>
            </a:r>
          </a:p>
        </p:txBody>
      </p:sp>
      <p:sp>
        <p:nvSpPr>
          <p:cNvPr id="13" name="Rectangle 12"/>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Liebherr Group</a:t>
            </a:r>
          </a:p>
        </p:txBody>
      </p:sp>
      <p:sp>
        <p:nvSpPr>
          <p:cNvPr id="15" name="Rectangle 14"/>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Hitachi Construction Machinery</a:t>
            </a:r>
          </a:p>
        </p:txBody>
      </p:sp>
      <p:sp>
        <p:nvSpPr>
          <p:cNvPr id="17" name="Rectangle 16"/>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XCMG Group</a:t>
            </a:r>
          </a:p>
        </p:txBody>
      </p:sp>
      <p:sp>
        <p:nvSpPr>
          <p:cNvPr id="19" name="Rectangle 18"/>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SANY Group</a:t>
            </a:r>
          </a:p>
        </p:txBody>
      </p:sp>
      <p:sp>
        <p:nvSpPr>
          <p:cNvPr id="21" name="Rectangle 20"/>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JCB</a:t>
            </a:r>
          </a:p>
        </p:txBody>
      </p:sp>
      <p:sp>
        <p:nvSpPr>
          <p:cNvPr id="23" name="Rectangle 22"/>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HD Hyundai Construction Equipment</a:t>
            </a:r>
          </a:p>
        </p:txBody>
      </p:sp>
      <p:sp>
        <p:nvSpPr>
          <p:cNvPr id="25" name="Rectangle 24"/>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LiuGong</a:t>
            </a:r>
          </a:p>
        </p:txBody>
      </p:sp>
      <p:sp>
        <p:nvSpPr>
          <p:cNvPr id="27" name="TextBox 26"/>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28" name="TextBox 27"/>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29" name="TextBox 28"/>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0" name="TextBox 29"/>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1" name="TextBox 30"/>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2" name="TextBox 31"/>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3" name="TextBox 32"/>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4" name="Rectangle 33"/>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6" name="Rectangle 35"/>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1" name="Rectangle 40"/>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3" name="Rectangle 42"/>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5" name="Rectangle 44"/>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48" name="Rectangle 47"/>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0" name="Rectangle 49"/>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2" name="Rectangle 51"/>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7" name="Rectangle 56"/>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2" name="Rectangle 61"/>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4" name="Rectangle 63"/>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6" name="Rectangle 65"/>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69" name="Rectangle 68"/>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1" name="Rectangle 70"/>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3" name="Rectangle 72"/>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8" name="Rectangle 77"/>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3" name="Rectangle 82"/>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5" name="Rectangle 84"/>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7" name="Rectangle 86"/>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0" name="Rectangle 89"/>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2" name="Rectangle 91"/>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4" name="Rectangle 93"/>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9" name="Rectangle 98"/>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4" name="Rectangle 103"/>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6" name="Rectangle 105"/>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8" name="Rectangle 107"/>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1" name="Rectangle 110"/>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3" name="Rectangle 112"/>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5" name="Rectangle 114"/>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0" name="Rectangle 119"/>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5" name="Rectangle 124"/>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7" name="Rectangle 126"/>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9" name="Rectangle 128"/>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2" name="Rectangle 131"/>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4" name="Rectangle 133"/>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6" name="Rectangle 135"/>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TextBox 138"/>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0" name="TextBox 139"/>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1" name="TextBox 140"/>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2" name="TextBox 141"/>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3" name="TextBox 142"/>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4" name="Rectangle 143"/>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6" name="Rectangle 145"/>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8" name="Rectangle 147"/>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0" name="Rectangle 149"/>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2" name="Rectangle 151"/>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4" name="Rectangle 153"/>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7" name="Rectangle 156"/>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2" name="Rectangle 161"/>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4" name="Rectangle 163"/>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6" name="Rectangle 165"/>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68" name="Rectangle 167"/>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1" name="Rectangle 170"/>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6" name="Rectangle 175"/>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8" name="Rectangle 177"/>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0" name="Rectangle 179"/>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2" name="Rectangle 181"/>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5" name="Rectangle 184"/>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0" name="Rectangle 189"/>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2" name="Rectangle 191"/>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4" name="Rectangle 193"/>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6" name="Rectangle 195"/>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9" name="Rectangle 198"/>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4" name="Rectangle 203"/>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6" name="Rectangle 205"/>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8" name="Rectangle 207"/>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0" name="Rectangle 209"/>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3" name="Rectangle 212"/>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5" name="TextBox 214"/>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6" name="TextBox 215"/>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17" name="TextBox 216"/>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18" name="TextBox 217"/>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19" name="TextBox 218"/>
          <p:cNvSpPr txBox="1"/>
          <p:nvPr/>
        </p:nvSpPr>
        <p:spPr>
          <a:xfrm>
            <a:off x="10900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0" name="TextBox 219"/>
          <p:cNvSpPr txBox="1"/>
          <p:nvPr/>
        </p:nvSpPr>
        <p:spPr>
          <a:xfrm>
            <a:off x="11451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Europe</a:t>
            </a:r>
          </a:p>
        </p:txBody>
      </p:sp>
      <p:sp>
        <p:nvSpPr>
          <p:cNvPr id="221" name="Rectangle 220"/>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3" name="Rectangle 222"/>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5" name="Rectangle 224"/>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7" name="Rectangle 226"/>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3" name="Rectangle 232"/>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5" name="Rectangle 234"/>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7" name="Rectangle 236"/>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3" name="Rectangle 242"/>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5" name="Rectangle 244"/>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7" name="Rectangle 246"/>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3" name="Rectangle 252"/>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5" name="Rectangle 254"/>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7" name="Rectangle 256"/>
          <p:cNvSpPr/>
          <p:nvPr/>
        </p:nvSpPr>
        <p:spPr>
          <a:xfrm>
            <a:off x="8709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3" name="Rectangle 262"/>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5" name="Rectangle 264"/>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7" name="Rectangle 266"/>
          <p:cNvSpPr/>
          <p:nvPr/>
        </p:nvSpPr>
        <p:spPr>
          <a:xfrm>
            <a:off x="9259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3" name="Rectangle 272"/>
          <p:cNvSpPr/>
          <p:nvPr/>
        </p:nvSpPr>
        <p:spPr>
          <a:xfrm>
            <a:off x="8709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5" name="Rectangle 274"/>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7" name="Rectangle 276"/>
          <p:cNvSpPr/>
          <p:nvPr/>
        </p:nvSpPr>
        <p:spPr>
          <a:xfrm>
            <a:off x="9809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8709025"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8699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3" name="Rectangle 282"/>
          <p:cNvSpPr/>
          <p:nvPr/>
        </p:nvSpPr>
        <p:spPr>
          <a:xfrm>
            <a:off x="9259358"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5" name="Rectangle 284"/>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7" name="Rectangle 286"/>
          <p:cNvSpPr/>
          <p:nvPr/>
        </p:nvSpPr>
        <p:spPr>
          <a:xfrm>
            <a:off x="10360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9259358"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9249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3" name="Rectangle 292"/>
          <p:cNvSpPr/>
          <p:nvPr/>
        </p:nvSpPr>
        <p:spPr>
          <a:xfrm>
            <a:off x="9809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5" name="Rectangle 294"/>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7" name="Rectangle 296"/>
          <p:cNvSpPr/>
          <p:nvPr/>
        </p:nvSpPr>
        <p:spPr>
          <a:xfrm>
            <a:off x="10910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9809692"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9800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3" name="Rectangle 302"/>
          <p:cNvSpPr/>
          <p:nvPr/>
        </p:nvSpPr>
        <p:spPr>
          <a:xfrm>
            <a:off x="10360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5" name="Rectangle 304"/>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TextBox 305"/>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7" name="Rectangle 306"/>
          <p:cNvSpPr/>
          <p:nvPr/>
        </p:nvSpPr>
        <p:spPr>
          <a:xfrm>
            <a:off x="11460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0" name="Rectangle 309"/>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2" name="Rectangle 311"/>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14" name="TextBox 313"/>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15" name="Connector 314"/>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16" name="TextBox 315"/>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17" name="Rectangle 316"/>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19" name="TextBox 318"/>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0" name="Rectangle 319"/>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2" name="TextBox 321"/>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3" name="Rectangle 322"/>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25" name="TextBox 324"/>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26" name="Rectangle 325"/>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28" name="TextBox 327"/>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29" name="Rectangle 328"/>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1" name="TextBox 330"/>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2" name="Rectangle 331"/>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34" name="TextBox 333"/>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35" name="Rectangle 334"/>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Off-Highway Vehicle Market, Global 2026 (1/2)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5810250" cy="400050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9" name="TextBox 8"/>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0" name="TextBox 9"/>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1" name="TextBox 10"/>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2" name="Rectangle 11"/>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4" name="TextBox 13"/>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5" name="TextBox 14"/>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Caterpillar · Komatsu · Volvo Construction Equipment · Liebherr Group</a:t>
            </a:r>
          </a:p>
        </p:txBody>
      </p:sp>
      <p:sp>
        <p:nvSpPr>
          <p:cNvPr id="16" name="TextBox 15"/>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17" name="TextBox 16"/>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18" name="Rectangle 17"/>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0" name="TextBox 19"/>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1" name="TextBox 20"/>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Hitachi Construction Machinery · XCMG Group</a:t>
            </a:r>
          </a:p>
        </p:txBody>
      </p:sp>
      <p:sp>
        <p:nvSpPr>
          <p:cNvPr id="22" name="TextBox 21"/>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3" name="TextBox 22"/>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4" name="Rectangle 23"/>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6" name="TextBox 25"/>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7" name="TextBox 26"/>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SANY Group · JCB · HD Hyundai Construction Equipment · LiuGong</a:t>
            </a:r>
          </a:p>
        </p:txBody>
      </p:sp>
      <p:sp>
        <p:nvSpPr>
          <p:cNvPr id="28" name="TextBox 27"/>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29" name="TextBox 28"/>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0" name="Rectangle 29"/>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2" name="TextBox 31"/>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3" name="TextBox 32"/>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4" name="Rounded Rectangle 33"/>
          <p:cNvSpPr/>
          <p:nvPr/>
        </p:nvSpPr>
        <p:spPr>
          <a:xfrm>
            <a:off x="142875" y="5162550"/>
            <a:ext cx="5810250" cy="1466850"/>
          </a:xfrm>
          <a:prstGeom prst="roundRect">
            <a:avLst>
              <a:gd name="adj" fmla="val 1311"/>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6" name="Rectangle 35"/>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38" name="Rectangle 37"/>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0" name="Rectangle 39"/>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2" name="TextBox 41"/>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3" name="TextBox 42"/>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4" name="Rounded Rectangle 43"/>
          <p:cNvSpPr/>
          <p:nvPr/>
        </p:nvSpPr>
        <p:spPr>
          <a:xfrm>
            <a:off x="6096000" y="1047750"/>
            <a:ext cx="5953125" cy="400050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6" name="TextBox 45"/>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47" name="Rectangle 46"/>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49" name="Rectangle 48"/>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1" name="Rectangle 50"/>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3" name="Rectangle 52"/>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5" name="Rectangle 54"/>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57" name="Rectangle 56"/>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59" name="Rectangle 58"/>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1" name="Rectangle 60"/>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3" name="Rectangle 62"/>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5" name="Rectangle 64"/>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7" name="Rectangle 66"/>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69" name="Rectangle 68"/>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1" name="Rectangle 70"/>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3" name="Rectangle 72"/>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5" name="Rectangle 74"/>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7" name="Rectangle 76"/>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9" name="Rectangle 78"/>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1" name="Rectangle 80"/>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959,300</a:t>
            </a:r>
          </a:p>
        </p:txBody>
      </p:sp>
      <p:sp>
        <p:nvSpPr>
          <p:cNvPr id="83" name="Rectangle 82"/>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5" name="Rectangle 84"/>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87" name="TextBox 86"/>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88" name="Rectangle 87"/>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99" name="Rectangle 98"/>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1" name="Rectangle 100"/>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3" name="TextBox 102"/>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4" name="Rectangle 103"/>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5" name="Rectangle 114"/>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17" name="Rectangle 116"/>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19" name="TextBox 118"/>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0" name="Rectangle 119"/>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1" name="Rectangle 130"/>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3" name="Rectangle 132"/>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5" name="TextBox 134"/>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6" name="Rectangle 135"/>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47" name="TextBox 146"/>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48" name="Rectangle 147"/>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0" name="Rectangle 149"/>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2" name="Rectangle 151"/>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4" name="Rectangle 153"/>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6" name="Rectangle 155"/>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58" name="Rectangle 157"/>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0" name="Rectangle 159"/>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2" name="Rectangle 161"/>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4" name="TextBox 163"/>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5" name="Rectangle 164"/>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6" name="Rectangle 175"/>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78" name="Rectangle 177"/>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0" name="Rectangle 179"/>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2" name="Rectangle 181"/>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4" name="Rectangle 183"/>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6" name="Rectangle 185"/>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88" name="Rectangle 187"/>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0" name="Rectangle 189"/>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2" name="Rectangle 191"/>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4" name="Rectangle 193"/>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6" name="Rectangle 195"/>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198" name="Rectangle 197"/>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0" name="Rectangle 199"/>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2" name="Rectangle 201"/>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4" name="Rectangle 203"/>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6" name="Rectangle 205"/>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08" name="Rectangle 207"/>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0" name="Rectangle 209"/>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2" name="Rectangle 211"/>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4" name="Rectangle 213"/>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6" name="Rectangle 215"/>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18" name="Rectangle 217"/>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0" name="Rectangle 219"/>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2" name="Rectangle 221"/>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4" name="Rounded Rectangle 223"/>
          <p:cNvSpPr/>
          <p:nvPr/>
        </p:nvSpPr>
        <p:spPr>
          <a:xfrm>
            <a:off x="6096000" y="5162550"/>
            <a:ext cx="5953125" cy="1466850"/>
          </a:xfrm>
          <a:prstGeom prst="roundRect">
            <a:avLst>
              <a:gd name="adj" fmla="val 128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6" name="TextBox 225"/>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7" name="TextBox 226"/>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28" name="TextBox 227"/>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29" name="TextBox 228"/>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0" name="TextBox 229"/>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231" name="TextBox 230"/>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2" name="Rectangle 23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234" name="Picture 233" descr="lock.png"/>
          <p:cNvPicPr>
            <a:picLocks noChangeAspect="1"/>
          </p:cNvPicPr>
          <p:nvPr/>
        </p:nvPicPr>
        <p:blipFill>
          <a:blip r:embed="rId4"/>
          <a:stretch>
            <a:fillRect/>
          </a:stretch>
        </p:blipFill>
        <p:spPr>
          <a:xfrm>
            <a:off x="1631100" y="1620901"/>
            <a:ext cx="128699" cy="187198"/>
          </a:xfrm>
          <a:prstGeom prst="rect">
            <a:avLst/>
          </a:prstGeom>
        </p:spPr>
      </p:pic>
      <p:pic>
        <p:nvPicPr>
          <p:cNvPr id="235" name="Picture 234" descr="lock.png"/>
          <p:cNvPicPr>
            <a:picLocks noChangeAspect="1"/>
          </p:cNvPicPr>
          <p:nvPr/>
        </p:nvPicPr>
        <p:blipFill>
          <a:blip r:embed="rId4"/>
          <a:stretch>
            <a:fillRect/>
          </a:stretch>
        </p:blipFill>
        <p:spPr>
          <a:xfrm>
            <a:off x="1631100" y="2478151"/>
            <a:ext cx="128699" cy="187198"/>
          </a:xfrm>
          <a:prstGeom prst="rect">
            <a:avLst/>
          </a:prstGeom>
        </p:spPr>
      </p:pic>
      <p:pic>
        <p:nvPicPr>
          <p:cNvPr id="236" name="Picture 235" descr="lock.png"/>
          <p:cNvPicPr>
            <a:picLocks noChangeAspect="1"/>
          </p:cNvPicPr>
          <p:nvPr/>
        </p:nvPicPr>
        <p:blipFill>
          <a:blip r:embed="rId4"/>
          <a:stretch>
            <a:fillRect/>
          </a:stretch>
        </p:blipFill>
        <p:spPr>
          <a:xfrm>
            <a:off x="1631100" y="33354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41926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1475188" y="1830451"/>
            <a:ext cx="128699" cy="187198"/>
          </a:xfrm>
          <a:prstGeom prst="rect">
            <a:avLst/>
          </a:prstGeom>
        </p:spPr>
      </p:pic>
      <p:pic>
        <p:nvPicPr>
          <p:cNvPr id="239" name="Picture 238" descr="lock.png"/>
          <p:cNvPicPr>
            <a:picLocks noChangeAspect="1"/>
          </p:cNvPicPr>
          <p:nvPr/>
        </p:nvPicPr>
        <p:blipFill>
          <a:blip r:embed="rId4"/>
          <a:stretch>
            <a:fillRect/>
          </a:stretch>
        </p:blipFill>
        <p:spPr>
          <a:xfrm>
            <a:off x="8160488" y="2059051"/>
            <a:ext cx="128699" cy="187198"/>
          </a:xfrm>
          <a:prstGeom prst="rect">
            <a:avLst/>
          </a:prstGeom>
        </p:spPr>
      </p:pic>
      <p:pic>
        <p:nvPicPr>
          <p:cNvPr id="240" name="Picture 239" descr="lock.png"/>
          <p:cNvPicPr>
            <a:picLocks noChangeAspect="1"/>
          </p:cNvPicPr>
          <p:nvPr/>
        </p:nvPicPr>
        <p:blipFill>
          <a:blip r:embed="rId4"/>
          <a:stretch>
            <a:fillRect/>
          </a:stretch>
        </p:blipFill>
        <p:spPr>
          <a:xfrm>
            <a:off x="8989163" y="2059051"/>
            <a:ext cx="128699" cy="187198"/>
          </a:xfrm>
          <a:prstGeom prst="rect">
            <a:avLst/>
          </a:prstGeom>
        </p:spPr>
      </p:pic>
      <p:pic>
        <p:nvPicPr>
          <p:cNvPr id="241" name="Picture 240" descr="lock.png"/>
          <p:cNvPicPr>
            <a:picLocks noChangeAspect="1"/>
          </p:cNvPicPr>
          <p:nvPr/>
        </p:nvPicPr>
        <p:blipFill>
          <a:blip r:embed="rId4"/>
          <a:stretch>
            <a:fillRect/>
          </a:stretch>
        </p:blipFill>
        <p:spPr>
          <a:xfrm>
            <a:off x="981783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1064651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8160488" y="2287651"/>
            <a:ext cx="128699" cy="187198"/>
          </a:xfrm>
          <a:prstGeom prst="rect">
            <a:avLst/>
          </a:prstGeom>
        </p:spPr>
      </p:pic>
      <p:pic>
        <p:nvPicPr>
          <p:cNvPr id="244" name="Picture 243" descr="lock.png"/>
          <p:cNvPicPr>
            <a:picLocks noChangeAspect="1"/>
          </p:cNvPicPr>
          <p:nvPr/>
        </p:nvPicPr>
        <p:blipFill>
          <a:blip r:embed="rId4"/>
          <a:stretch>
            <a:fillRect/>
          </a:stretch>
        </p:blipFill>
        <p:spPr>
          <a:xfrm>
            <a:off x="8989162" y="2287651"/>
            <a:ext cx="128699" cy="187198"/>
          </a:xfrm>
          <a:prstGeom prst="rect">
            <a:avLst/>
          </a:prstGeom>
        </p:spPr>
      </p:pic>
      <p:pic>
        <p:nvPicPr>
          <p:cNvPr id="245" name="Picture 244" descr="lock.png"/>
          <p:cNvPicPr>
            <a:picLocks noChangeAspect="1"/>
          </p:cNvPicPr>
          <p:nvPr/>
        </p:nvPicPr>
        <p:blipFill>
          <a:blip r:embed="rId4"/>
          <a:stretch>
            <a:fillRect/>
          </a:stretch>
        </p:blipFill>
        <p:spPr>
          <a:xfrm>
            <a:off x="9817838" y="2287651"/>
            <a:ext cx="128699" cy="187198"/>
          </a:xfrm>
          <a:prstGeom prst="rect">
            <a:avLst/>
          </a:prstGeom>
        </p:spPr>
      </p:pic>
      <p:pic>
        <p:nvPicPr>
          <p:cNvPr id="246" name="Picture 245" descr="lock.png"/>
          <p:cNvPicPr>
            <a:picLocks noChangeAspect="1"/>
          </p:cNvPicPr>
          <p:nvPr/>
        </p:nvPicPr>
        <p:blipFill>
          <a:blip r:embed="rId4"/>
          <a:stretch>
            <a:fillRect/>
          </a:stretch>
        </p:blipFill>
        <p:spPr>
          <a:xfrm>
            <a:off x="10646512"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160488" y="2516251"/>
            <a:ext cx="128699" cy="187198"/>
          </a:xfrm>
          <a:prstGeom prst="rect">
            <a:avLst/>
          </a:prstGeom>
        </p:spPr>
      </p:pic>
      <p:pic>
        <p:nvPicPr>
          <p:cNvPr id="248" name="Picture 247" descr="lock.png"/>
          <p:cNvPicPr>
            <a:picLocks noChangeAspect="1"/>
          </p:cNvPicPr>
          <p:nvPr/>
        </p:nvPicPr>
        <p:blipFill>
          <a:blip r:embed="rId4"/>
          <a:stretch>
            <a:fillRect/>
          </a:stretch>
        </p:blipFill>
        <p:spPr>
          <a:xfrm>
            <a:off x="8989162" y="2516251"/>
            <a:ext cx="128699" cy="187198"/>
          </a:xfrm>
          <a:prstGeom prst="rect">
            <a:avLst/>
          </a:prstGeom>
        </p:spPr>
      </p:pic>
      <p:pic>
        <p:nvPicPr>
          <p:cNvPr id="249" name="Picture 248" descr="lock.png"/>
          <p:cNvPicPr>
            <a:picLocks noChangeAspect="1"/>
          </p:cNvPicPr>
          <p:nvPr/>
        </p:nvPicPr>
        <p:blipFill>
          <a:blip r:embed="rId4"/>
          <a:stretch>
            <a:fillRect/>
          </a:stretch>
        </p:blipFill>
        <p:spPr>
          <a:xfrm>
            <a:off x="9817838" y="2516251"/>
            <a:ext cx="128699" cy="187198"/>
          </a:xfrm>
          <a:prstGeom prst="rect">
            <a:avLst/>
          </a:prstGeom>
        </p:spPr>
      </p:pic>
      <p:pic>
        <p:nvPicPr>
          <p:cNvPr id="250" name="Picture 249" descr="lock.png"/>
          <p:cNvPicPr>
            <a:picLocks noChangeAspect="1"/>
          </p:cNvPicPr>
          <p:nvPr/>
        </p:nvPicPr>
        <p:blipFill>
          <a:blip r:embed="rId4"/>
          <a:stretch>
            <a:fillRect/>
          </a:stretch>
        </p:blipFill>
        <p:spPr>
          <a:xfrm>
            <a:off x="10646512"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160487" y="2744851"/>
            <a:ext cx="128699" cy="187198"/>
          </a:xfrm>
          <a:prstGeom prst="rect">
            <a:avLst/>
          </a:prstGeom>
        </p:spPr>
      </p:pic>
      <p:pic>
        <p:nvPicPr>
          <p:cNvPr id="252" name="Picture 251" descr="lock.png"/>
          <p:cNvPicPr>
            <a:picLocks noChangeAspect="1"/>
          </p:cNvPicPr>
          <p:nvPr/>
        </p:nvPicPr>
        <p:blipFill>
          <a:blip r:embed="rId4"/>
          <a:stretch>
            <a:fillRect/>
          </a:stretch>
        </p:blipFill>
        <p:spPr>
          <a:xfrm>
            <a:off x="8989163" y="2744851"/>
            <a:ext cx="128699" cy="187198"/>
          </a:xfrm>
          <a:prstGeom prst="rect">
            <a:avLst/>
          </a:prstGeom>
        </p:spPr>
      </p:pic>
      <p:pic>
        <p:nvPicPr>
          <p:cNvPr id="253" name="Picture 252" descr="lock.png"/>
          <p:cNvPicPr>
            <a:picLocks noChangeAspect="1"/>
          </p:cNvPicPr>
          <p:nvPr/>
        </p:nvPicPr>
        <p:blipFill>
          <a:blip r:embed="rId4"/>
          <a:stretch>
            <a:fillRect/>
          </a:stretch>
        </p:blipFill>
        <p:spPr>
          <a:xfrm>
            <a:off x="9817837" y="2744851"/>
            <a:ext cx="128699" cy="187198"/>
          </a:xfrm>
          <a:prstGeom prst="rect">
            <a:avLst/>
          </a:prstGeom>
        </p:spPr>
      </p:pic>
      <p:pic>
        <p:nvPicPr>
          <p:cNvPr id="254" name="Picture 253" descr="lock.png"/>
          <p:cNvPicPr>
            <a:picLocks noChangeAspect="1"/>
          </p:cNvPicPr>
          <p:nvPr/>
        </p:nvPicPr>
        <p:blipFill>
          <a:blip r:embed="rId4"/>
          <a:stretch>
            <a:fillRect/>
          </a:stretch>
        </p:blipFill>
        <p:spPr>
          <a:xfrm>
            <a:off x="10646513"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160487" y="2973451"/>
            <a:ext cx="128699" cy="187198"/>
          </a:xfrm>
          <a:prstGeom prst="rect">
            <a:avLst/>
          </a:prstGeom>
        </p:spPr>
      </p:pic>
      <p:pic>
        <p:nvPicPr>
          <p:cNvPr id="256" name="Picture 255" descr="lock.png"/>
          <p:cNvPicPr>
            <a:picLocks noChangeAspect="1"/>
          </p:cNvPicPr>
          <p:nvPr/>
        </p:nvPicPr>
        <p:blipFill>
          <a:blip r:embed="rId4"/>
          <a:stretch>
            <a:fillRect/>
          </a:stretch>
        </p:blipFill>
        <p:spPr>
          <a:xfrm>
            <a:off x="8989163" y="2973451"/>
            <a:ext cx="128699" cy="187198"/>
          </a:xfrm>
          <a:prstGeom prst="rect">
            <a:avLst/>
          </a:prstGeom>
        </p:spPr>
      </p:pic>
      <p:pic>
        <p:nvPicPr>
          <p:cNvPr id="257" name="Picture 256" descr="lock.png"/>
          <p:cNvPicPr>
            <a:picLocks noChangeAspect="1"/>
          </p:cNvPicPr>
          <p:nvPr/>
        </p:nvPicPr>
        <p:blipFill>
          <a:blip r:embed="rId4"/>
          <a:stretch>
            <a:fillRect/>
          </a:stretch>
        </p:blipFill>
        <p:spPr>
          <a:xfrm>
            <a:off x="9817837" y="2973451"/>
            <a:ext cx="128699" cy="187198"/>
          </a:xfrm>
          <a:prstGeom prst="rect">
            <a:avLst/>
          </a:prstGeom>
        </p:spPr>
      </p:pic>
      <p:pic>
        <p:nvPicPr>
          <p:cNvPr id="258" name="Picture 257" descr="lock.png"/>
          <p:cNvPicPr>
            <a:picLocks noChangeAspect="1"/>
          </p:cNvPicPr>
          <p:nvPr/>
        </p:nvPicPr>
        <p:blipFill>
          <a:blip r:embed="rId4"/>
          <a:stretch>
            <a:fillRect/>
          </a:stretch>
        </p:blipFill>
        <p:spPr>
          <a:xfrm>
            <a:off x="10646513"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11475187"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8160488" y="3202051"/>
            <a:ext cx="128699" cy="187198"/>
          </a:xfrm>
          <a:prstGeom prst="rect">
            <a:avLst/>
          </a:prstGeom>
        </p:spPr>
      </p:pic>
      <p:pic>
        <p:nvPicPr>
          <p:cNvPr id="261" name="Picture 260" descr="lock.png"/>
          <p:cNvPicPr>
            <a:picLocks noChangeAspect="1"/>
          </p:cNvPicPr>
          <p:nvPr/>
        </p:nvPicPr>
        <p:blipFill>
          <a:blip r:embed="rId4"/>
          <a:stretch>
            <a:fillRect/>
          </a:stretch>
        </p:blipFill>
        <p:spPr>
          <a:xfrm>
            <a:off x="8989163" y="3202051"/>
            <a:ext cx="128699" cy="187198"/>
          </a:xfrm>
          <a:prstGeom prst="rect">
            <a:avLst/>
          </a:prstGeom>
        </p:spPr>
      </p:pic>
      <p:pic>
        <p:nvPicPr>
          <p:cNvPr id="262" name="Picture 261" descr="lock.png"/>
          <p:cNvPicPr>
            <a:picLocks noChangeAspect="1"/>
          </p:cNvPicPr>
          <p:nvPr/>
        </p:nvPicPr>
        <p:blipFill>
          <a:blip r:embed="rId4"/>
          <a:stretch>
            <a:fillRect/>
          </a:stretch>
        </p:blipFill>
        <p:spPr>
          <a:xfrm>
            <a:off x="9817838" y="32020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478276"/>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2" y="3478276"/>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478276"/>
            <a:ext cx="128699" cy="187198"/>
          </a:xfrm>
          <a:prstGeom prst="rect">
            <a:avLst/>
          </a:prstGeom>
        </p:spPr>
      </p:pic>
      <p:pic>
        <p:nvPicPr>
          <p:cNvPr id="266" name="Picture 265" descr="lock.png"/>
          <p:cNvPicPr>
            <a:picLocks noChangeAspect="1"/>
          </p:cNvPicPr>
          <p:nvPr/>
        </p:nvPicPr>
        <p:blipFill>
          <a:blip r:embed="rId4"/>
          <a:stretch>
            <a:fillRect/>
          </a:stretch>
        </p:blipFill>
        <p:spPr>
          <a:xfrm>
            <a:off x="10646512" y="3478276"/>
            <a:ext cx="128699" cy="187198"/>
          </a:xfrm>
          <a:prstGeom prst="rect">
            <a:avLst/>
          </a:prstGeom>
        </p:spPr>
      </p:pic>
      <p:sp>
        <p:nvSpPr>
          <p:cNvPr id="267" name="TextBox 266"/>
          <p:cNvSpPr txBox="1"/>
          <p:nvPr/>
        </p:nvSpPr>
        <p:spPr>
          <a:xfrm>
            <a:off x="266700" y="1344930"/>
            <a:ext cx="2229544" cy="186689"/>
          </a:xfrm>
          <a:prstGeom prst="rect">
            <a:avLst/>
          </a:prstGeom>
          <a:noFill/>
        </p:spPr>
        <p:txBody>
          <a:bodyPr wrap="none" lIns="0" rIns="0" tIns="0" bIns="0">
            <a:spAutoFit/>
          </a:bodyPr>
          <a:lstStyle/>
          <a:p>
            <a:r>
              <a:rPr sz="1100" b="0">
                <a:solidFill>
                  <a:srgbClr val="6B7280"/>
                </a:solidFill>
                <a:latin typeface="Calibri"/>
              </a:rPr>
              <a:t>Market 959,300 US$ Mn · Tier 1 share</a:t>
            </a:r>
          </a:p>
        </p:txBody>
      </p:sp>
      <p:pic>
        <p:nvPicPr>
          <p:cNvPr id="268" name="Picture 267" descr="lock.png"/>
          <p:cNvPicPr>
            <a:picLocks noChangeAspect="1"/>
          </p:cNvPicPr>
          <p:nvPr/>
        </p:nvPicPr>
        <p:blipFill>
          <a:blip r:embed="rId4"/>
          <a:stretch>
            <a:fillRect/>
          </a:stretch>
        </p:blipFill>
        <p:spPr>
          <a:xfrm>
            <a:off x="2444296" y="1335151"/>
            <a:ext cx="128699" cy="187198"/>
          </a:xfrm>
          <a:prstGeom prst="rect">
            <a:avLst/>
          </a:prstGeom>
        </p:spPr>
      </p:pic>
      <p:sp>
        <p:nvSpPr>
          <p:cNvPr id="269" name="TextBox 268"/>
          <p:cNvSpPr txBox="1"/>
          <p:nvPr/>
        </p:nvSpPr>
        <p:spPr>
          <a:xfrm>
            <a:off x="2611791"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0" name="Picture 269" descr="lock.png"/>
          <p:cNvPicPr>
            <a:picLocks noChangeAspect="1"/>
          </p:cNvPicPr>
          <p:nvPr/>
        </p:nvPicPr>
        <p:blipFill>
          <a:blip r:embed="rId4"/>
          <a:stretch>
            <a:fillRect/>
          </a:stretch>
        </p:blipFill>
        <p:spPr>
          <a:xfrm>
            <a:off x="2762646" y="1335151"/>
            <a:ext cx="128699" cy="187198"/>
          </a:xfrm>
          <a:prstGeom prst="rect">
            <a:avLst/>
          </a:prstGeom>
        </p:spPr>
      </p:pic>
      <p:sp>
        <p:nvSpPr>
          <p:cNvPr id="271" name="TextBox 270"/>
          <p:cNvSpPr txBox="1"/>
          <p:nvPr/>
        </p:nvSpPr>
        <p:spPr>
          <a:xfrm>
            <a:off x="2930142"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2" name="Picture 271" descr="lock.png"/>
          <p:cNvPicPr>
            <a:picLocks noChangeAspect="1"/>
          </p:cNvPicPr>
          <p:nvPr/>
        </p:nvPicPr>
        <p:blipFill>
          <a:blip r:embed="rId4"/>
          <a:stretch>
            <a:fillRect/>
          </a:stretch>
        </p:blipFill>
        <p:spPr>
          <a:xfrm>
            <a:off x="1377182" y="1839976"/>
            <a:ext cx="128699" cy="187198"/>
          </a:xfrm>
          <a:prstGeom prst="rect">
            <a:avLst/>
          </a:prstGeom>
        </p:spPr>
      </p:pic>
      <p:sp>
        <p:nvSpPr>
          <p:cNvPr id="273" name="TextBox 272"/>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4" name="Picture 273" descr="lock.png"/>
          <p:cNvPicPr>
            <a:picLocks noChangeAspect="1"/>
          </p:cNvPicPr>
          <p:nvPr/>
        </p:nvPicPr>
        <p:blipFill>
          <a:blip r:embed="rId4"/>
          <a:stretch>
            <a:fillRect/>
          </a:stretch>
        </p:blipFill>
        <p:spPr>
          <a:xfrm>
            <a:off x="2922273" y="1839976"/>
            <a:ext cx="128699" cy="187198"/>
          </a:xfrm>
          <a:prstGeom prst="rect">
            <a:avLst/>
          </a:prstGeom>
        </p:spPr>
      </p:pic>
      <p:sp>
        <p:nvSpPr>
          <p:cNvPr id="275" name="TextBox 274"/>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76" name="Picture 275" descr="lock.png"/>
          <p:cNvPicPr>
            <a:picLocks noChangeAspect="1"/>
          </p:cNvPicPr>
          <p:nvPr/>
        </p:nvPicPr>
        <p:blipFill>
          <a:blip r:embed="rId4"/>
          <a:stretch>
            <a:fillRect/>
          </a:stretch>
        </p:blipFill>
        <p:spPr>
          <a:xfrm>
            <a:off x="1377182" y="2697226"/>
            <a:ext cx="128699" cy="187198"/>
          </a:xfrm>
          <a:prstGeom prst="rect">
            <a:avLst/>
          </a:prstGeom>
        </p:spPr>
      </p:pic>
      <p:sp>
        <p:nvSpPr>
          <p:cNvPr id="277" name="TextBox 276"/>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78" name="Picture 277" descr="lock.png"/>
          <p:cNvPicPr>
            <a:picLocks noChangeAspect="1"/>
          </p:cNvPicPr>
          <p:nvPr/>
        </p:nvPicPr>
        <p:blipFill>
          <a:blip r:embed="rId4"/>
          <a:stretch>
            <a:fillRect/>
          </a:stretch>
        </p:blipFill>
        <p:spPr>
          <a:xfrm>
            <a:off x="2922273" y="2697226"/>
            <a:ext cx="128699" cy="187198"/>
          </a:xfrm>
          <a:prstGeom prst="rect">
            <a:avLst/>
          </a:prstGeom>
        </p:spPr>
      </p:pic>
      <p:sp>
        <p:nvSpPr>
          <p:cNvPr id="279" name="TextBox 278"/>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0" name="Picture 279" descr="lock.png"/>
          <p:cNvPicPr>
            <a:picLocks noChangeAspect="1"/>
          </p:cNvPicPr>
          <p:nvPr/>
        </p:nvPicPr>
        <p:blipFill>
          <a:blip r:embed="rId4"/>
          <a:stretch>
            <a:fillRect/>
          </a:stretch>
        </p:blipFill>
        <p:spPr>
          <a:xfrm>
            <a:off x="1377182" y="3554476"/>
            <a:ext cx="128699" cy="187198"/>
          </a:xfrm>
          <a:prstGeom prst="rect">
            <a:avLst/>
          </a:prstGeom>
        </p:spPr>
      </p:pic>
      <p:sp>
        <p:nvSpPr>
          <p:cNvPr id="281" name="TextBox 280"/>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2" name="Picture 281" descr="lock.png"/>
          <p:cNvPicPr>
            <a:picLocks noChangeAspect="1"/>
          </p:cNvPicPr>
          <p:nvPr/>
        </p:nvPicPr>
        <p:blipFill>
          <a:blip r:embed="rId4"/>
          <a:stretch>
            <a:fillRect/>
          </a:stretch>
        </p:blipFill>
        <p:spPr>
          <a:xfrm>
            <a:off x="2922273" y="3554476"/>
            <a:ext cx="128699" cy="187198"/>
          </a:xfrm>
          <a:prstGeom prst="rect">
            <a:avLst/>
          </a:prstGeom>
        </p:spPr>
      </p:pic>
      <p:sp>
        <p:nvSpPr>
          <p:cNvPr id="283" name="TextBox 282"/>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4" name="Picture 283" descr="lock.png"/>
          <p:cNvPicPr>
            <a:picLocks noChangeAspect="1"/>
          </p:cNvPicPr>
          <p:nvPr/>
        </p:nvPicPr>
        <p:blipFill>
          <a:blip r:embed="rId4"/>
          <a:stretch>
            <a:fillRect/>
          </a:stretch>
        </p:blipFill>
        <p:spPr>
          <a:xfrm>
            <a:off x="1377182" y="4411726"/>
            <a:ext cx="128699" cy="187198"/>
          </a:xfrm>
          <a:prstGeom prst="rect">
            <a:avLst/>
          </a:prstGeom>
        </p:spPr>
      </p:pic>
      <p:sp>
        <p:nvSpPr>
          <p:cNvPr id="285" name="TextBox 284"/>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86" name="TextBox 285"/>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87" name="Picture 286" descr="lock.png"/>
          <p:cNvPicPr>
            <a:picLocks noChangeAspect="1"/>
          </p:cNvPicPr>
          <p:nvPr/>
        </p:nvPicPr>
        <p:blipFill>
          <a:blip r:embed="rId4"/>
          <a:stretch>
            <a:fillRect/>
          </a:stretch>
        </p:blipFill>
        <p:spPr>
          <a:xfrm>
            <a:off x="1682883" y="5792851"/>
            <a:ext cx="128699" cy="187198"/>
          </a:xfrm>
          <a:prstGeom prst="rect">
            <a:avLst/>
          </a:prstGeom>
        </p:spPr>
      </p:pic>
      <p:sp>
        <p:nvSpPr>
          <p:cNvPr id="288" name="TextBox 287"/>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89" name="Picture 288" descr="lock.png"/>
          <p:cNvPicPr>
            <a:picLocks noChangeAspect="1"/>
          </p:cNvPicPr>
          <p:nvPr/>
        </p:nvPicPr>
        <p:blipFill>
          <a:blip r:embed="rId4"/>
          <a:stretch>
            <a:fillRect/>
          </a:stretch>
        </p:blipFill>
        <p:spPr>
          <a:xfrm>
            <a:off x="1225147" y="6097651"/>
            <a:ext cx="128699" cy="187198"/>
          </a:xfrm>
          <a:prstGeom prst="rect">
            <a:avLst/>
          </a:prstGeom>
        </p:spPr>
      </p:pic>
      <p:sp>
        <p:nvSpPr>
          <p:cNvPr id="290" name="TextBox 289"/>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1" name="Picture 290" descr="lock.png"/>
          <p:cNvPicPr>
            <a:picLocks noChangeAspect="1"/>
          </p:cNvPicPr>
          <p:nvPr/>
        </p:nvPicPr>
        <p:blipFill>
          <a:blip r:embed="rId4"/>
          <a:stretch>
            <a:fillRect/>
          </a:stretch>
        </p:blipFill>
        <p:spPr>
          <a:xfrm>
            <a:off x="2408983" y="6097651"/>
            <a:ext cx="128699" cy="187198"/>
          </a:xfrm>
          <a:prstGeom prst="rect">
            <a:avLst/>
          </a:prstGeom>
        </p:spPr>
      </p:pic>
      <p:sp>
        <p:nvSpPr>
          <p:cNvPr id="292" name="TextBox 291"/>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3" name="Picture 292" descr="lock.png"/>
          <p:cNvPicPr>
            <a:picLocks noChangeAspect="1"/>
          </p:cNvPicPr>
          <p:nvPr/>
        </p:nvPicPr>
        <p:blipFill>
          <a:blip r:embed="rId4"/>
          <a:stretch>
            <a:fillRect/>
          </a:stretch>
        </p:blipFill>
        <p:spPr>
          <a:xfrm>
            <a:off x="3922150" y="6097651"/>
            <a:ext cx="128699" cy="187198"/>
          </a:xfrm>
          <a:prstGeom prst="rect">
            <a:avLst/>
          </a:prstGeom>
        </p:spPr>
      </p:pic>
      <p:sp>
        <p:nvSpPr>
          <p:cNvPr id="294" name="TextBox 293"/>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295" name="TextBox 294"/>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296" name="Picture 295" descr="lock.png"/>
          <p:cNvPicPr>
            <a:picLocks noChangeAspect="1"/>
          </p:cNvPicPr>
          <p:nvPr/>
        </p:nvPicPr>
        <p:blipFill>
          <a:blip r:embed="rId4"/>
          <a:stretch>
            <a:fillRect/>
          </a:stretch>
        </p:blipFill>
        <p:spPr>
          <a:xfrm>
            <a:off x="6791838" y="5467095"/>
            <a:ext cx="128699" cy="187198"/>
          </a:xfrm>
          <a:prstGeom prst="rect">
            <a:avLst/>
          </a:prstGeom>
        </p:spPr>
      </p:pic>
      <p:sp>
        <p:nvSpPr>
          <p:cNvPr id="297" name="TextBox 296"/>
          <p:cNvSpPr txBox="1"/>
          <p:nvPr/>
        </p:nvSpPr>
        <p:spPr>
          <a:xfrm>
            <a:off x="6959334" y="5476875"/>
            <a:ext cx="4257650"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 959,300 US$ Mn base; CR4 of</a:t>
            </a:r>
          </a:p>
        </p:txBody>
      </p:sp>
      <p:pic>
        <p:nvPicPr>
          <p:cNvPr id="298" name="Picture 297" descr="lock.png"/>
          <p:cNvPicPr>
            <a:picLocks noChangeAspect="1"/>
          </p:cNvPicPr>
          <p:nvPr/>
        </p:nvPicPr>
        <p:blipFill>
          <a:blip r:embed="rId4"/>
          <a:stretch>
            <a:fillRect/>
          </a:stretch>
        </p:blipFill>
        <p:spPr>
          <a:xfrm>
            <a:off x="11165036" y="5467095"/>
            <a:ext cx="128699" cy="187198"/>
          </a:xfrm>
          <a:prstGeom prst="rect">
            <a:avLst/>
          </a:prstGeom>
        </p:spPr>
      </p:pic>
      <p:sp>
        <p:nvSpPr>
          <p:cNvPr id="299" name="TextBox 298"/>
          <p:cNvSpPr txBox="1"/>
          <p:nvPr/>
        </p:nvSpPr>
        <p:spPr>
          <a:xfrm>
            <a:off x="11332531" y="5476875"/>
            <a:ext cx="289842" cy="186689"/>
          </a:xfrm>
          <a:prstGeom prst="rect">
            <a:avLst/>
          </a:prstGeom>
          <a:noFill/>
        </p:spPr>
        <p:txBody>
          <a:bodyPr wrap="none" lIns="0" rIns="0" tIns="0" bIns="0">
            <a:spAutoFit/>
          </a:bodyPr>
          <a:lstStyle/>
          <a:p>
            <a:r>
              <a:rPr sz="1100" b="0">
                <a:solidFill>
                  <a:srgbClr val="14213D"/>
                </a:solidFill>
                <a:latin typeface="Calibri"/>
              </a:rPr>
              <a:t>and</a:t>
            </a:r>
          </a:p>
        </p:txBody>
      </p:sp>
      <p:sp>
        <p:nvSpPr>
          <p:cNvPr id="300" name="TextBox 299"/>
          <p:cNvSpPr txBox="1"/>
          <p:nvPr/>
        </p:nvSpPr>
        <p:spPr>
          <a:xfrm>
            <a:off x="6372225" y="5644515"/>
            <a:ext cx="433362" cy="186689"/>
          </a:xfrm>
          <a:prstGeom prst="rect">
            <a:avLst/>
          </a:prstGeom>
          <a:noFill/>
        </p:spPr>
        <p:txBody>
          <a:bodyPr wrap="none" lIns="0" rIns="0" tIns="0" bIns="0">
            <a:spAutoFit/>
          </a:bodyPr>
          <a:lstStyle/>
          <a:p>
            <a:r>
              <a:rPr sz="1100" b="0">
                <a:solidFill>
                  <a:srgbClr val="14213D"/>
                </a:solidFill>
                <a:latin typeface="Calibri"/>
              </a:rPr>
              <a:t>HHI of</a:t>
            </a:r>
          </a:p>
        </p:txBody>
      </p:sp>
      <p:pic>
        <p:nvPicPr>
          <p:cNvPr id="301" name="Picture 300" descr="lock.png"/>
          <p:cNvPicPr>
            <a:picLocks noChangeAspect="1"/>
          </p:cNvPicPr>
          <p:nvPr/>
        </p:nvPicPr>
        <p:blipFill>
          <a:blip r:embed="rId4"/>
          <a:stretch>
            <a:fillRect/>
          </a:stretch>
        </p:blipFill>
        <p:spPr>
          <a:xfrm>
            <a:off x="6753639" y="5634735"/>
            <a:ext cx="128699" cy="187198"/>
          </a:xfrm>
          <a:prstGeom prst="rect">
            <a:avLst/>
          </a:prstGeom>
        </p:spPr>
      </p:pic>
      <p:sp>
        <p:nvSpPr>
          <p:cNvPr id="302" name="TextBox 301"/>
          <p:cNvSpPr txBox="1"/>
          <p:nvPr/>
        </p:nvSpPr>
        <p:spPr>
          <a:xfrm>
            <a:off x="6921135"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3" name="TextBox 302"/>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04" name="Picture 303" descr="lock.png"/>
          <p:cNvPicPr>
            <a:picLocks noChangeAspect="1"/>
          </p:cNvPicPr>
          <p:nvPr/>
        </p:nvPicPr>
        <p:blipFill>
          <a:blip r:embed="rId4"/>
          <a:stretch>
            <a:fillRect/>
          </a:stretch>
        </p:blipFill>
        <p:spPr>
          <a:xfrm>
            <a:off x="7651320" y="5848095"/>
            <a:ext cx="128699" cy="187198"/>
          </a:xfrm>
          <a:prstGeom prst="rect">
            <a:avLst/>
          </a:prstGeom>
        </p:spPr>
      </p:pic>
      <p:sp>
        <p:nvSpPr>
          <p:cNvPr id="305" name="TextBox 304"/>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06" name="Picture 305" descr="lock.png"/>
          <p:cNvPicPr>
            <a:picLocks noChangeAspect="1"/>
          </p:cNvPicPr>
          <p:nvPr/>
        </p:nvPicPr>
        <p:blipFill>
          <a:blip r:embed="rId4"/>
          <a:stretch>
            <a:fillRect/>
          </a:stretch>
        </p:blipFill>
        <p:spPr>
          <a:xfrm>
            <a:off x="8749737" y="5848095"/>
            <a:ext cx="128699" cy="187198"/>
          </a:xfrm>
          <a:prstGeom prst="rect">
            <a:avLst/>
          </a:prstGeom>
        </p:spPr>
      </p:pic>
      <p:sp>
        <p:nvSpPr>
          <p:cNvPr id="307" name="TextBox 306"/>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08" name="TextBox 307"/>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09" name="Picture 308" descr="lock.png"/>
          <p:cNvPicPr>
            <a:picLocks noChangeAspect="1"/>
          </p:cNvPicPr>
          <p:nvPr/>
        </p:nvPicPr>
        <p:blipFill>
          <a:blip r:embed="rId4"/>
          <a:stretch>
            <a:fillRect/>
          </a:stretch>
        </p:blipFill>
        <p:spPr>
          <a:xfrm>
            <a:off x="8481881" y="6067170"/>
            <a:ext cx="128699" cy="187198"/>
          </a:xfrm>
          <a:prstGeom prst="rect">
            <a:avLst/>
          </a:prstGeom>
        </p:spPr>
      </p:pic>
      <p:sp>
        <p:nvSpPr>
          <p:cNvPr id="310" name="TextBox 309"/>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1" name="Picture 310" descr="lock.png"/>
          <p:cNvPicPr>
            <a:picLocks noChangeAspect="1"/>
          </p:cNvPicPr>
          <p:nvPr/>
        </p:nvPicPr>
        <p:blipFill>
          <a:blip r:embed="rId4"/>
          <a:stretch>
            <a:fillRect/>
          </a:stretch>
        </p:blipFill>
        <p:spPr>
          <a:xfrm>
            <a:off x="10724926" y="6067170"/>
            <a:ext cx="128699" cy="187198"/>
          </a:xfrm>
          <a:prstGeom prst="rect">
            <a:avLst/>
          </a:prstGeom>
        </p:spPr>
      </p:pic>
      <p:sp>
        <p:nvSpPr>
          <p:cNvPr id="312" name="TextBox 311"/>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3" name="TextBox 312"/>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Off-Highway Vehicle Market, Global 2026 (2/2)</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7" name="Rounded Rectangle 6"/>
          <p:cNvSpPr/>
          <p:nvPr/>
        </p:nvSpPr>
        <p:spPr>
          <a:xfrm>
            <a:off x="142875" y="1047750"/>
            <a:ext cx="11906250" cy="2381250"/>
          </a:xfrm>
          <a:prstGeom prst="roundRect">
            <a:avLst>
              <a:gd name="adj" fmla="val 64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9" name="Rounded Rectangle 8"/>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1" name="TextBox 10"/>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2" name="TextBox 11"/>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3" name="TextBox 12"/>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4" name="Connector 13"/>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5" name="Freeform 14"/>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19" name="Rounded Rectangle 18"/>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1" name="TextBox 20"/>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2" name="TextBox 21"/>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3" name="TextBox 22"/>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4" name="Connector 23"/>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9" name="Rounded Rectangle 28"/>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1" name="TextBox 30"/>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2" name="TextBox 31"/>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3" name="TextBox 32"/>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4" name="Connector 33"/>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7" name="Freeform 36"/>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39" name="Rounded Rectangle 38"/>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1" name="TextBox 40"/>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2" name="TextBox 41"/>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3" name="Rounded Rectangle 42"/>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MR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5" name="TextBox 44"/>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6" name="TextBox 45"/>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47" name="Rounded Rectangle 46"/>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MR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9" name="TextBox 48"/>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0" name="TextBox 49"/>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1" name="Rounded Rectangle 50"/>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MR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3" name="TextBox 52"/>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4" name="TextBox 53"/>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5" name="Rounded Rectangle 54"/>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MR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7" name="TextBox 56"/>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58" name="TextBox 57"/>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59" name="Rounded Rectangle 58"/>
          <p:cNvSpPr/>
          <p:nvPr/>
        </p:nvSpPr>
        <p:spPr>
          <a:xfrm>
            <a:off x="142875" y="3543300"/>
            <a:ext cx="7096125" cy="3086100"/>
          </a:xfrm>
          <a:prstGeom prst="roundRect">
            <a:avLst>
              <a:gd name="adj" fmla="val 1073"/>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1" name="Rectangle 60"/>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3" name="Rectangle 62"/>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5" name="Rectangle 64"/>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67" name="Rectangle 66"/>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69" name="Rectangle 68"/>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1" name="Rectangle 70"/>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3" name="Rectangle 72"/>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2 / 5</a:t>
            </a:r>
          </a:p>
        </p:txBody>
      </p:sp>
      <p:sp>
        <p:nvSpPr>
          <p:cNvPr id="75" name="Rectangle 74"/>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77" name="Rectangle 76"/>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79" name="Rectangle 78"/>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1" name="Rectangle 80"/>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83" name="Rectangle 82"/>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5" name="Rectangle 84"/>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87" name="Rectangle 86"/>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89" name="Rectangle 88"/>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2 / 5</a:t>
            </a:r>
          </a:p>
        </p:txBody>
      </p:sp>
      <p:sp>
        <p:nvSpPr>
          <p:cNvPr id="91" name="Rectangle 90"/>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3" name="Rectangle 92"/>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5" name="Rectangle 94"/>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97" name="Rectangle 96"/>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 / 5</a:t>
            </a:r>
          </a:p>
        </p:txBody>
      </p:sp>
      <p:sp>
        <p:nvSpPr>
          <p:cNvPr id="99" name="Rectangle 98"/>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1" name="Rectangle 100"/>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3" name="Rectangle 102"/>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5" name="Rectangle 104"/>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4 / 5</a:t>
            </a:r>
          </a:p>
        </p:txBody>
      </p:sp>
      <p:sp>
        <p:nvSpPr>
          <p:cNvPr id="107" name="Rectangle 106"/>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09" name="Rectangle 108"/>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1" name="Rectangle 110"/>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3" name="Rectangle 112"/>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3.0 / 5</a:t>
            </a:r>
          </a:p>
        </p:txBody>
      </p:sp>
      <p:sp>
        <p:nvSpPr>
          <p:cNvPr id="115" name="Rectangle 114"/>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Consolidation towards Tier 1–2</a:t>
            </a:r>
          </a:p>
        </p:txBody>
      </p:sp>
      <p:sp>
        <p:nvSpPr>
          <p:cNvPr id="117" name="Rounded Rectangle 116"/>
          <p:cNvSpPr/>
          <p:nvPr/>
        </p:nvSpPr>
        <p:spPr>
          <a:xfrm>
            <a:off x="7381875" y="3543300"/>
            <a:ext cx="4667250" cy="3086100"/>
          </a:xfrm>
          <a:prstGeom prst="roundRect">
            <a:avLst>
              <a:gd name="adj" fmla="val 1632"/>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19" name="TextBox 118"/>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0" name="TextBox 119"/>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1" name="TextBox 120"/>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2" name="TextBox 121"/>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3" name="TextBox 122"/>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4" name="TextBox 123"/>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5" name="TextBox 124"/>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2A5F8F"/>
                </a:solidFill>
                <a:latin typeface="Calibri"/>
              </a:rPr>
              <a:t>•</a:t>
            </a:r>
          </a:p>
        </p:txBody>
      </p:sp>
      <p:sp>
        <p:nvSpPr>
          <p:cNvPr id="126" name="TextBox 125"/>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Buyer power (4 / 5) and supplier power (4 / 5) are the dominant forces shaping the tier structure.</a:t>
            </a:r>
          </a:p>
        </p:txBody>
      </p:sp>
      <p:sp>
        <p:nvSpPr>
          <p:cNvPr id="127" name="Rectangle 126"/>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129" name="Picture 128" descr="lock.png"/>
          <p:cNvPicPr>
            <a:picLocks noChangeAspect="1"/>
          </p:cNvPicPr>
          <p:nvPr/>
        </p:nvPicPr>
        <p:blipFill>
          <a:blip r:embed="rId4"/>
          <a:stretch>
            <a:fillRect/>
          </a:stretch>
        </p:blipFill>
        <p:spPr>
          <a:xfrm>
            <a:off x="604726" y="2545080"/>
            <a:ext cx="257397" cy="374396"/>
          </a:xfrm>
          <a:prstGeom prst="rect">
            <a:avLst/>
          </a:prstGeom>
        </p:spPr>
      </p:pic>
      <p:pic>
        <p:nvPicPr>
          <p:cNvPr id="130" name="Picture 129" descr="lock.png"/>
          <p:cNvPicPr>
            <a:picLocks noChangeAspect="1"/>
          </p:cNvPicPr>
          <p:nvPr/>
        </p:nvPicPr>
        <p:blipFill>
          <a:blip r:embed="rId4"/>
          <a:stretch>
            <a:fillRect/>
          </a:stretch>
        </p:blipFill>
        <p:spPr>
          <a:xfrm>
            <a:off x="3557476" y="2545080"/>
            <a:ext cx="257397" cy="374396"/>
          </a:xfrm>
          <a:prstGeom prst="rect">
            <a:avLst/>
          </a:prstGeom>
        </p:spPr>
      </p:pic>
      <p:pic>
        <p:nvPicPr>
          <p:cNvPr id="131" name="Picture 130" descr="lock.png"/>
          <p:cNvPicPr>
            <a:picLocks noChangeAspect="1"/>
          </p:cNvPicPr>
          <p:nvPr/>
        </p:nvPicPr>
        <p:blipFill>
          <a:blip r:embed="rId4"/>
          <a:stretch>
            <a:fillRect/>
          </a:stretch>
        </p:blipFill>
        <p:spPr>
          <a:xfrm>
            <a:off x="65102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9462976" y="2545080"/>
            <a:ext cx="257397" cy="374396"/>
          </a:xfrm>
          <a:prstGeom prst="rect">
            <a:avLst/>
          </a:prstGeom>
        </p:spPr>
      </p:pic>
      <p:sp>
        <p:nvSpPr>
          <p:cNvPr id="133" name="TextBox 132"/>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34" name="Picture 133" descr="lock.png"/>
          <p:cNvPicPr>
            <a:picLocks noChangeAspect="1"/>
          </p:cNvPicPr>
          <p:nvPr/>
        </p:nvPicPr>
        <p:blipFill>
          <a:blip r:embed="rId4"/>
          <a:stretch>
            <a:fillRect/>
          </a:stretch>
        </p:blipFill>
        <p:spPr>
          <a:xfrm>
            <a:off x="1424204" y="1860931"/>
            <a:ext cx="128699" cy="187198"/>
          </a:xfrm>
          <a:prstGeom prst="rect">
            <a:avLst/>
          </a:prstGeom>
        </p:spPr>
      </p:pic>
      <p:sp>
        <p:nvSpPr>
          <p:cNvPr id="135" name="TextBox 134"/>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36" name="Picture 135" descr="lock.png"/>
          <p:cNvPicPr>
            <a:picLocks noChangeAspect="1"/>
          </p:cNvPicPr>
          <p:nvPr/>
        </p:nvPicPr>
        <p:blipFill>
          <a:blip r:embed="rId4"/>
          <a:stretch>
            <a:fillRect/>
          </a:stretch>
        </p:blipFill>
        <p:spPr>
          <a:xfrm>
            <a:off x="1742554" y="1860931"/>
            <a:ext cx="128699" cy="187198"/>
          </a:xfrm>
          <a:prstGeom prst="rect">
            <a:avLst/>
          </a:prstGeom>
        </p:spPr>
      </p:pic>
      <p:sp>
        <p:nvSpPr>
          <p:cNvPr id="137" name="TextBox 136"/>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38" name="TextBox 137"/>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39" name="Picture 138" descr="lock.png"/>
          <p:cNvPicPr>
            <a:picLocks noChangeAspect="1"/>
          </p:cNvPicPr>
          <p:nvPr/>
        </p:nvPicPr>
        <p:blipFill>
          <a:blip r:embed="rId4"/>
          <a:stretch>
            <a:fillRect/>
          </a:stretch>
        </p:blipFill>
        <p:spPr>
          <a:xfrm>
            <a:off x="4681754" y="1860931"/>
            <a:ext cx="128699" cy="187198"/>
          </a:xfrm>
          <a:prstGeom prst="rect">
            <a:avLst/>
          </a:prstGeom>
        </p:spPr>
      </p:pic>
      <p:sp>
        <p:nvSpPr>
          <p:cNvPr id="140" name="TextBox 139"/>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1" name="Picture 140" descr="lock.png"/>
          <p:cNvPicPr>
            <a:picLocks noChangeAspect="1"/>
          </p:cNvPicPr>
          <p:nvPr/>
        </p:nvPicPr>
        <p:blipFill>
          <a:blip r:embed="rId4"/>
          <a:stretch>
            <a:fillRect/>
          </a:stretch>
        </p:blipFill>
        <p:spPr>
          <a:xfrm>
            <a:off x="5000104" y="1860931"/>
            <a:ext cx="128699" cy="187198"/>
          </a:xfrm>
          <a:prstGeom prst="rect">
            <a:avLst/>
          </a:prstGeom>
        </p:spPr>
      </p:pic>
      <p:sp>
        <p:nvSpPr>
          <p:cNvPr id="142" name="TextBox 141"/>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3" name="TextBox 142"/>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44" name="Picture 143" descr="lock.png"/>
          <p:cNvPicPr>
            <a:picLocks noChangeAspect="1"/>
          </p:cNvPicPr>
          <p:nvPr/>
        </p:nvPicPr>
        <p:blipFill>
          <a:blip r:embed="rId4"/>
          <a:stretch>
            <a:fillRect/>
          </a:stretch>
        </p:blipFill>
        <p:spPr>
          <a:xfrm>
            <a:off x="7939304" y="1860931"/>
            <a:ext cx="128699" cy="187198"/>
          </a:xfrm>
          <a:prstGeom prst="rect">
            <a:avLst/>
          </a:prstGeom>
        </p:spPr>
      </p:pic>
      <p:sp>
        <p:nvSpPr>
          <p:cNvPr id="145" name="TextBox 144"/>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6" name="Picture 145" descr="lock.png"/>
          <p:cNvPicPr>
            <a:picLocks noChangeAspect="1"/>
          </p:cNvPicPr>
          <p:nvPr/>
        </p:nvPicPr>
        <p:blipFill>
          <a:blip r:embed="rId4"/>
          <a:stretch>
            <a:fillRect/>
          </a:stretch>
        </p:blipFill>
        <p:spPr>
          <a:xfrm>
            <a:off x="8257654" y="1860931"/>
            <a:ext cx="128699" cy="187198"/>
          </a:xfrm>
          <a:prstGeom prst="rect">
            <a:avLst/>
          </a:prstGeom>
        </p:spPr>
      </p:pic>
      <p:sp>
        <p:nvSpPr>
          <p:cNvPr id="147" name="TextBox 146"/>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8" name="TextBox 147"/>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49" name="Picture 148" descr="lock.png"/>
          <p:cNvPicPr>
            <a:picLocks noChangeAspect="1"/>
          </p:cNvPicPr>
          <p:nvPr/>
        </p:nvPicPr>
        <p:blipFill>
          <a:blip r:embed="rId4"/>
          <a:stretch>
            <a:fillRect/>
          </a:stretch>
        </p:blipFill>
        <p:spPr>
          <a:xfrm>
            <a:off x="10872946" y="1944751"/>
            <a:ext cx="128699" cy="187198"/>
          </a:xfrm>
          <a:prstGeom prst="rect">
            <a:avLst/>
          </a:prstGeom>
        </p:spPr>
      </p:pic>
      <p:sp>
        <p:nvSpPr>
          <p:cNvPr id="150" name="TextBox 149"/>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1" name="Picture 150" descr="lock.png"/>
          <p:cNvPicPr>
            <a:picLocks noChangeAspect="1"/>
          </p:cNvPicPr>
          <p:nvPr/>
        </p:nvPicPr>
        <p:blipFill>
          <a:blip r:embed="rId4"/>
          <a:stretch>
            <a:fillRect/>
          </a:stretch>
        </p:blipFill>
        <p:spPr>
          <a:xfrm>
            <a:off x="11191297" y="1944751"/>
            <a:ext cx="128699" cy="187198"/>
          </a:xfrm>
          <a:prstGeom prst="rect">
            <a:avLst/>
          </a:prstGeom>
        </p:spPr>
      </p:pic>
      <p:sp>
        <p:nvSpPr>
          <p:cNvPr id="152" name="TextBox 151"/>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53" name="TextBox 152"/>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54" name="Picture 153" descr="lock.png"/>
          <p:cNvPicPr>
            <a:picLocks noChangeAspect="1"/>
          </p:cNvPicPr>
          <p:nvPr/>
        </p:nvPicPr>
        <p:blipFill>
          <a:blip r:embed="rId4"/>
          <a:stretch>
            <a:fillRect/>
          </a:stretch>
        </p:blipFill>
        <p:spPr>
          <a:xfrm>
            <a:off x="9434331" y="3847846"/>
            <a:ext cx="128699" cy="187198"/>
          </a:xfrm>
          <a:prstGeom prst="rect">
            <a:avLst/>
          </a:prstGeom>
        </p:spPr>
      </p:pic>
      <p:sp>
        <p:nvSpPr>
          <p:cNvPr id="155" name="TextBox 154"/>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56" name="TextBox 155"/>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57" name="Picture 156" descr="lock.png"/>
          <p:cNvPicPr>
            <a:picLocks noChangeAspect="1"/>
          </p:cNvPicPr>
          <p:nvPr/>
        </p:nvPicPr>
        <p:blipFill>
          <a:blip r:embed="rId4"/>
          <a:stretch>
            <a:fillRect/>
          </a:stretch>
        </p:blipFill>
        <p:spPr>
          <a:xfrm>
            <a:off x="9730921" y="4015486"/>
            <a:ext cx="128699" cy="187198"/>
          </a:xfrm>
          <a:prstGeom prst="rect">
            <a:avLst/>
          </a:prstGeom>
        </p:spPr>
      </p:pic>
      <p:sp>
        <p:nvSpPr>
          <p:cNvPr id="158" name="TextBox 157"/>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59" name="TextBox 158"/>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0" name="Picture 159" descr="lock.png"/>
          <p:cNvPicPr>
            <a:picLocks noChangeAspect="1"/>
          </p:cNvPicPr>
          <p:nvPr/>
        </p:nvPicPr>
        <p:blipFill>
          <a:blip r:embed="rId4"/>
          <a:stretch>
            <a:fillRect/>
          </a:stretch>
        </p:blipFill>
        <p:spPr>
          <a:xfrm>
            <a:off x="11077170" y="5009895"/>
            <a:ext cx="128699" cy="187198"/>
          </a:xfrm>
          <a:prstGeom prst="rect">
            <a:avLst/>
          </a:prstGeom>
        </p:spPr>
      </p:pic>
      <p:sp>
        <p:nvSpPr>
          <p:cNvPr id="161" name="TextBox 160"/>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62" name="TextBox 161"/>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r_logo.png"/>
          <p:cNvPicPr>
            <a:picLocks noChangeAspect="1"/>
          </p:cNvPicPr>
          <p:nvPr/>
        </p:nvPicPr>
        <p:blipFill>
          <a:blip r:embed="rId2"/>
          <a:stretch>
            <a:fillRect/>
          </a:stretch>
        </p:blipFill>
        <p:spPr>
          <a:xfrm>
            <a:off x="11139386" y="114300"/>
            <a:ext cx="919264" cy="685800"/>
          </a:xfrm>
          <a:prstGeom prst="rect">
            <a:avLst/>
          </a:prstGeom>
        </p:spPr>
      </p:pic>
      <p:sp>
        <p:nvSpPr>
          <p:cNvPr id="5" name="TextBox 4"/>
          <p:cNvSpPr txBox="1"/>
          <p:nvPr/>
        </p:nvSpPr>
        <p:spPr>
          <a:xfrm>
            <a:off x="152400" y="19050"/>
            <a:ext cx="10896600"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Off-Highway Vehicle Market Competitive Dashboard View (2026)</a:t>
            </a:r>
          </a:p>
        </p:txBody>
      </p:sp>
      <p:sp>
        <p:nvSpPr>
          <p:cNvPr id="6" name="TextBox 5"/>
          <p:cNvSpPr txBox="1"/>
          <p:nvPr/>
        </p:nvSpPr>
        <p:spPr>
          <a:xfrm>
            <a:off x="152400" y="647700"/>
            <a:ext cx="10896600"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7" name="TextBox 6"/>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8" name="Rounded Rectangle 7"/>
          <p:cNvSpPr/>
          <p:nvPr/>
        </p:nvSpPr>
        <p:spPr>
          <a:xfrm>
            <a:off x="133350" y="1153291"/>
            <a:ext cx="11925300" cy="4563424"/>
          </a:xfrm>
          <a:prstGeom prst="roundRect">
            <a:avLst>
              <a:gd name="adj" fmla="val 1600"/>
            </a:avLst>
          </a:prstGeom>
          <a:solidFill>
            <a:srgbClr val="FFFFFF"/>
          </a:solidFill>
          <a:ln w="9525">
            <a:solidFill>
              <a:srgbClr val="C9D6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Company / Brand</a:t>
            </a:r>
          </a:p>
        </p:txBody>
      </p:sp>
      <p:sp>
        <p:nvSpPr>
          <p:cNvPr id="33" name="TextBox 32"/>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Product Portfolio</a:t>
            </a:r>
          </a:p>
        </p:txBody>
      </p:sp>
      <p:sp>
        <p:nvSpPr>
          <p:cNvPr id="34" name="TextBox 33"/>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Overall Rev (US$ Mn)</a:t>
            </a:r>
          </a:p>
        </p:txBody>
      </p:sp>
      <p:sp>
        <p:nvSpPr>
          <p:cNvPr id="35" name="TextBox 34"/>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Target Rev (US$ Mn)</a:t>
            </a:r>
          </a:p>
        </p:txBody>
      </p:sp>
      <p:sp>
        <p:nvSpPr>
          <p:cNvPr id="36" name="TextBox 35"/>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Market Share (%)</a:t>
            </a:r>
          </a:p>
        </p:txBody>
      </p:sp>
      <p:sp>
        <p:nvSpPr>
          <p:cNvPr id="37" name="TextBox 36"/>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Regional Presence</a:t>
            </a:r>
          </a:p>
        </p:txBody>
      </p:sp>
      <p:sp>
        <p:nvSpPr>
          <p:cNvPr id="38" name="TextBox 37"/>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E2A5C"/>
                </a:solidFill>
                <a:latin typeface="Calibri"/>
              </a:rPr>
              <a:t>Strategies</a:t>
            </a:r>
          </a:p>
        </p:txBody>
      </p:sp>
      <p:sp>
        <p:nvSpPr>
          <p:cNvPr id="39" name="TextBox 38"/>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Caterpillar</a:t>
            </a:r>
          </a:p>
        </p:txBody>
      </p:sp>
      <p:cxnSp>
        <p:nvCxnSpPr>
          <p:cNvPr id="40" name="Connector 39"/>
          <p:cNvCxnSpPr/>
          <p:nvPr/>
        </p:nvCxnSpPr>
        <p:spPr>
          <a:xfrm>
            <a:off x="16049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2" name="TextBox 41"/>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3" name="TextBox 42"/>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4" name="Rectangle 43"/>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8" name="TextBox 47"/>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49" name="Oval 48"/>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53" name="TextBox 52"/>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54" name="Oval 53"/>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6" name="Oval 55"/>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58" name="Oval 57"/>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0" name="Oval 59"/>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2" name="Oval 61"/>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4" name="Oval 63"/>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6" name="Oval 65"/>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68" name="TextBox 67"/>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Komatsu</a:t>
            </a:r>
          </a:p>
        </p:txBody>
      </p:sp>
      <p:cxnSp>
        <p:nvCxnSpPr>
          <p:cNvPr id="69" name="Connector 68"/>
          <p:cNvCxnSpPr/>
          <p:nvPr/>
        </p:nvCxnSpPr>
        <p:spPr>
          <a:xfrm>
            <a:off x="26812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1" name="TextBox 70"/>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2" name="TextBox 71"/>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3" name="Rectangle 72"/>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7" name="TextBox 76"/>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78" name="Oval 77"/>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E2A5C"/>
                </a:solidFill>
                <a:latin typeface="Calibri"/>
              </a:rPr>
              <a:t> </a:t>
            </a:r>
          </a:p>
        </p:txBody>
      </p:sp>
      <p:sp>
        <p:nvSpPr>
          <p:cNvPr id="82" name="TextBox 81"/>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83" name="Oval 82"/>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5" name="Oval 84"/>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87" name="Oval 86"/>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89" name="Oval 88"/>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1" name="Oval 90"/>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3" name="Oval 92"/>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5" name="Oval 94"/>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97" name="TextBox 96"/>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Volvo Construction Equipment</a:t>
            </a:r>
          </a:p>
        </p:txBody>
      </p:sp>
      <p:cxnSp>
        <p:nvCxnSpPr>
          <p:cNvPr id="98" name="Connector 97"/>
          <p:cNvCxnSpPr/>
          <p:nvPr/>
        </p:nvCxnSpPr>
        <p:spPr>
          <a:xfrm>
            <a:off x="37576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0" name="TextBox 99"/>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1" name="TextBox 100"/>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2" name="Rectangle 101"/>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6" name="TextBox 105"/>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7" name="Oval 106"/>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11" name="TextBox 110"/>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12" name="Oval 111"/>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4" name="Oval 113"/>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6" name="Oval 115"/>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18" name="Oval 117"/>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0" name="Oval 119"/>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2" name="Oval 121"/>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4" name="Oval 123"/>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6" name="TextBox 125"/>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Liebherr Group</a:t>
            </a:r>
          </a:p>
        </p:txBody>
      </p:sp>
      <p:cxnSp>
        <p:nvCxnSpPr>
          <p:cNvPr id="127" name="Connector 126"/>
          <p:cNvCxnSpPr/>
          <p:nvPr/>
        </p:nvCxnSpPr>
        <p:spPr>
          <a:xfrm>
            <a:off x="48339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29" name="TextBox 128"/>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0" name="TextBox 129"/>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1" name="Rectangle 130"/>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5" name="TextBox 134"/>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6" name="Oval 135"/>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40" name="TextBox 139"/>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9AA3A8"/>
                </a:solidFill>
                <a:latin typeface="Calibri"/>
              </a:rPr>
              <a:t>▲</a:t>
            </a:r>
          </a:p>
        </p:txBody>
      </p:sp>
      <p:sp>
        <p:nvSpPr>
          <p:cNvPr id="141" name="Oval 140"/>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3" name="Oval 142"/>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5" name="Oval 144"/>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47" name="Oval 146"/>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49" name="Oval 148"/>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1" name="Oval 150"/>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3" name="Oval 152"/>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5" name="TextBox 154"/>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Hitachi Construction Machinery</a:t>
            </a:r>
          </a:p>
        </p:txBody>
      </p:sp>
      <p:cxnSp>
        <p:nvCxnSpPr>
          <p:cNvPr id="156" name="Connector 155"/>
          <p:cNvCxnSpPr/>
          <p:nvPr/>
        </p:nvCxnSpPr>
        <p:spPr>
          <a:xfrm>
            <a:off x="59102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58" name="TextBox 157"/>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59" name="TextBox 158"/>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0" name="Rectangle 159"/>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4" name="TextBox 163"/>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5" name="Oval 164"/>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Freeform 165"/>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69" name="TextBox 168"/>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9AA3A8"/>
                </a:solidFill>
                <a:latin typeface="Calibri"/>
              </a:rPr>
              <a:t>▲</a:t>
            </a:r>
          </a:p>
        </p:txBody>
      </p:sp>
      <p:sp>
        <p:nvSpPr>
          <p:cNvPr id="170" name="Oval 169"/>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2" name="Oval 171"/>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4" name="Oval 173"/>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6" name="Oval 175"/>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78" name="Oval 177"/>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0" name="Oval 179"/>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2" name="Oval 181"/>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4" name="TextBox 183"/>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XCMG Group</a:t>
            </a:r>
          </a:p>
        </p:txBody>
      </p:sp>
      <p:cxnSp>
        <p:nvCxnSpPr>
          <p:cNvPr id="185" name="Connector 184"/>
          <p:cNvCxnSpPr/>
          <p:nvPr/>
        </p:nvCxnSpPr>
        <p:spPr>
          <a:xfrm>
            <a:off x="69865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186" name="TextBox 185"/>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87" name="TextBox 186"/>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88" name="TextBox 187"/>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89" name="Rectangle 188"/>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3" name="TextBox 192"/>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4" name="Oval 193"/>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Freeform 194"/>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198" name="TextBox 197"/>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Western 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99" name="Oval 198"/>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1" name="Oval 200"/>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3" name="Oval 202"/>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5" name="Oval 204"/>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07" name="Oval 206"/>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09" name="Oval 208"/>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1" name="Oval 210"/>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3" name="TextBox 212"/>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SANY Group</a:t>
            </a:r>
          </a:p>
        </p:txBody>
      </p:sp>
      <p:cxnSp>
        <p:nvCxnSpPr>
          <p:cNvPr id="214" name="Connector 213"/>
          <p:cNvCxnSpPr/>
          <p:nvPr/>
        </p:nvCxnSpPr>
        <p:spPr>
          <a:xfrm>
            <a:off x="806291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15" name="TextBox 214"/>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6" name="TextBox 215"/>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7" name="TextBox 216"/>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18" name="Rectangle 217"/>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2" name="TextBox 221"/>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3" name="Oval 222"/>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Freeform 223"/>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27" name="TextBox 226"/>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Western 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28" name="Oval 227"/>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0" name="Oval 229"/>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2" name="Oval 231"/>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4" name="Oval 233"/>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6" name="Oval 235"/>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38" name="Oval 237"/>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0" name="Oval 239"/>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2" name="TextBox 241"/>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JCB</a:t>
            </a:r>
          </a:p>
        </p:txBody>
      </p:sp>
      <p:cxnSp>
        <p:nvCxnSpPr>
          <p:cNvPr id="243" name="Connector 242"/>
          <p:cNvCxnSpPr/>
          <p:nvPr/>
        </p:nvCxnSpPr>
        <p:spPr>
          <a:xfrm>
            <a:off x="913923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44" name="TextBox 243"/>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5" name="TextBox 244"/>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6" name="TextBox 245"/>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47" name="Rectangle 246"/>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1" name="TextBox 250"/>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2" name="Oval 251"/>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Freeform 252"/>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56" name="TextBox 255"/>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57" name="Oval 256"/>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59" name="Oval 258"/>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1" name="Oval 260"/>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3" name="Oval 262"/>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5" name="Oval 264"/>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67" name="Oval 266"/>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69" name="Oval 268"/>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1" name="TextBox 270"/>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HD Hyundai Construction Equipment</a:t>
            </a:r>
          </a:p>
        </p:txBody>
      </p:sp>
      <p:cxnSp>
        <p:nvCxnSpPr>
          <p:cNvPr id="272" name="Connector 271"/>
          <p:cNvCxnSpPr/>
          <p:nvPr/>
        </p:nvCxnSpPr>
        <p:spPr>
          <a:xfrm>
            <a:off x="10215562"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273" name="TextBox 272"/>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4" name="TextBox 273"/>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5" name="TextBox 274"/>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6" name="Rectangle 275"/>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0" name="TextBox 279"/>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1" name="Oval 280"/>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Freeform 281"/>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285" name="TextBox 284"/>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6" name="Oval 285"/>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88" name="Oval 287"/>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0" name="Oval 289"/>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2" name="Oval 291"/>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4" name="Oval 293"/>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TextBox 294"/>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6" name="Oval 295"/>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98" name="Oval 297"/>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0" name="TextBox 299"/>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LiuGong</a:t>
            </a:r>
          </a:p>
        </p:txBody>
      </p:sp>
      <p:cxnSp>
        <p:nvCxnSpPr>
          <p:cNvPr id="301" name="Connector 300"/>
          <p:cNvCxnSpPr/>
          <p:nvPr/>
        </p:nvCxnSpPr>
        <p:spPr>
          <a:xfrm>
            <a:off x="11291888" y="1509238"/>
            <a:ext cx="457200" cy="0"/>
          </a:xfrm>
          <a:prstGeom prst="line">
            <a:avLst/>
          </a:prstGeom>
          <a:ln w="19050">
            <a:solidFill>
              <a:srgbClr val="2A5F8F"/>
            </a:solidFill>
          </a:ln>
          <a:effectLst/>
        </p:spPr>
        <p:style>
          <a:lnRef idx="2">
            <a:schemeClr val="accent1"/>
          </a:lnRef>
          <a:fillRef idx="0">
            <a:schemeClr val="accent1"/>
          </a:fillRef>
          <a:effectRef idx="1">
            <a:schemeClr val="accent1"/>
          </a:effectRef>
          <a:fontRef idx="minor">
            <a:schemeClr val="tx1"/>
          </a:fontRef>
        </p:style>
      </p:cxnSp>
      <p:sp>
        <p:nvSpPr>
          <p:cNvPr id="302" name="TextBox 301"/>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3" name="TextBox 302"/>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4" name="TextBox 303"/>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5" name="Rectangle 304"/>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09" name="TextBox 308"/>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0" name="Oval 309"/>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Freeform 310"/>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E2A5C"/>
                </a:solidFill>
                <a:latin typeface="Calibri"/>
              </a:rPr>
              <a:t> </a:t>
            </a:r>
          </a:p>
        </p:txBody>
      </p:sp>
      <p:sp>
        <p:nvSpPr>
          <p:cNvPr id="314" name="TextBox 313"/>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5" name="Oval 314"/>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17" name="Oval 316"/>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TextBox 317"/>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19" name="Oval 318"/>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1" name="Oval 320"/>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TextBox 321"/>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3" name="Oval 322"/>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5" name="Oval 324"/>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TextBox 325"/>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27" name="Oval 326"/>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29" name="TextBox 328"/>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0" name="Rectangle 329"/>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535906" y="5716715"/>
            <a:ext cx="1990725" cy="164283"/>
          </a:xfrm>
          <a:prstGeom prst="rect">
            <a:avLst/>
          </a:prstGeom>
          <a:noFill/>
        </p:spPr>
        <p:txBody>
          <a:bodyPr wrap="square" lIns="0" rIns="0" tIns="0" bIns="0" anchor="ctr">
            <a:spAutoFit/>
          </a:bodyPr>
          <a:lstStyle/>
          <a:p>
            <a:pPr algn="l"/>
            <a:r>
              <a:rPr sz="1100" b="0">
                <a:solidFill>
                  <a:srgbClr val="2E2E2E"/>
                </a:solidFill>
                <a:latin typeface="Calibri"/>
              </a:rPr>
              <a:t>Construction and Mining Vehicles</a:t>
            </a:r>
          </a:p>
        </p:txBody>
      </p:sp>
      <p:sp>
        <p:nvSpPr>
          <p:cNvPr id="332" name="Rectangle 331"/>
          <p:cNvSpPr/>
          <p:nvPr/>
        </p:nvSpPr>
        <p:spPr>
          <a:xfrm>
            <a:off x="3583781"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3736181" y="5716715"/>
            <a:ext cx="1966875" cy="164283"/>
          </a:xfrm>
          <a:prstGeom prst="rect">
            <a:avLst/>
          </a:prstGeom>
          <a:noFill/>
        </p:spPr>
        <p:txBody>
          <a:bodyPr wrap="square" lIns="0" rIns="0" tIns="0" bIns="0" anchor="ctr">
            <a:spAutoFit/>
          </a:bodyPr>
          <a:lstStyle/>
          <a:p>
            <a:pPr algn="l"/>
            <a:r>
              <a:rPr sz="1100" b="0">
                <a:solidFill>
                  <a:srgbClr val="2E2E2E"/>
                </a:solidFill>
                <a:latin typeface="Calibri"/>
              </a:rPr>
              <a:t>Agriculture and Forestry Vehicles</a:t>
            </a:r>
          </a:p>
        </p:txBody>
      </p:sp>
      <p:sp>
        <p:nvSpPr>
          <p:cNvPr id="334" name="Rectangle 333"/>
          <p:cNvSpPr/>
          <p:nvPr/>
        </p:nvSpPr>
        <p:spPr>
          <a:xfrm>
            <a:off x="5760207" y="5744096"/>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TextBox 334"/>
          <p:cNvSpPr txBox="1"/>
          <p:nvPr/>
        </p:nvSpPr>
        <p:spPr>
          <a:xfrm>
            <a:off x="5912607" y="5716715"/>
            <a:ext cx="1026319" cy="164283"/>
          </a:xfrm>
          <a:prstGeom prst="rect">
            <a:avLst/>
          </a:prstGeom>
          <a:noFill/>
        </p:spPr>
        <p:txBody>
          <a:bodyPr wrap="square" lIns="0" rIns="0" tIns="0" bIns="0" anchor="ctr">
            <a:spAutoFit/>
          </a:bodyPr>
          <a:lstStyle/>
          <a:p>
            <a:pPr algn="l"/>
            <a:r>
              <a:rPr sz="1100" b="0">
                <a:solidFill>
                  <a:srgbClr val="2E2E2E"/>
                </a:solidFill>
                <a:latin typeface="Calibri"/>
              </a:rPr>
              <a:t>Military Vehicles</a:t>
            </a:r>
          </a:p>
        </p:txBody>
      </p:sp>
      <p:sp>
        <p:nvSpPr>
          <p:cNvPr id="336" name="Rectangle 335"/>
          <p:cNvSpPr/>
          <p:nvPr/>
        </p:nvSpPr>
        <p:spPr>
          <a:xfrm>
            <a:off x="6996075"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TextBox 336"/>
          <p:cNvSpPr txBox="1"/>
          <p:nvPr/>
        </p:nvSpPr>
        <p:spPr>
          <a:xfrm>
            <a:off x="7148475"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38" name="TextBox 337"/>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39" name="TextBox 338"/>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0" name="TextBox 339"/>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1" name="TextBox 340"/>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2" name="TextBox 341"/>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3" name="TextBox 342"/>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4" name="TextBox 343"/>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5" name="TextBox 344"/>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6" name="TextBox 345"/>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47" name="TextBox 346"/>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48" name="TextBox 347"/>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49" name="Oval 348"/>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349"/>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1" name="TextBox 350"/>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2" name="Oval 351"/>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TextBox 352"/>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4" name="TextBox 353"/>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5" name="Oval 354"/>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57" name="TextBox 356"/>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58" name="Oval 357"/>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TextBox 358"/>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0" name="TextBox 359"/>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1" name="Oval 360"/>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TextBox 361"/>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3" name="TextBox 362"/>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4" name="Oval 363"/>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6" name="TextBox 365"/>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67" name="Oval 366"/>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TextBox 367"/>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69" name="TextBox 368"/>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0" name="TextBox 369"/>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1" name="TextBox 370"/>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2" name="Rectangle 371"/>
          <p:cNvSpPr/>
          <p:nvPr/>
        </p:nvSpPr>
        <p:spPr>
          <a:xfrm>
            <a:off x="152400" y="6667500"/>
            <a:ext cx="11887200" cy="190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TextBox 3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000000"/>
                </a:solidFill>
                <a:latin typeface="Calibri"/>
              </a:rPr>
              <a:t>©2026 Transparency Market Research, All Rights Reserved</a:t>
            </a:r>
          </a:p>
        </p:txBody>
      </p:sp>
      <p:pic>
        <p:nvPicPr>
          <p:cNvPr id="374" name="Picture 373" descr="lock.png"/>
          <p:cNvPicPr>
            <a:picLocks noChangeAspect="1"/>
          </p:cNvPicPr>
          <p:nvPr/>
        </p:nvPicPr>
        <p:blipFill>
          <a:blip r:embed="rId4"/>
          <a:stretch>
            <a:fillRect/>
          </a:stretch>
        </p:blipFill>
        <p:spPr>
          <a:xfrm>
            <a:off x="1769213" y="2702524"/>
            <a:ext cx="128699" cy="187198"/>
          </a:xfrm>
          <a:prstGeom prst="rect">
            <a:avLst/>
          </a:prstGeom>
        </p:spPr>
      </p:pic>
      <p:pic>
        <p:nvPicPr>
          <p:cNvPr id="375" name="Picture 374" descr="lock.png"/>
          <p:cNvPicPr>
            <a:picLocks noChangeAspect="1"/>
          </p:cNvPicPr>
          <p:nvPr/>
        </p:nvPicPr>
        <p:blipFill>
          <a:blip r:embed="rId4"/>
          <a:stretch>
            <a:fillRect/>
          </a:stretch>
        </p:blipFill>
        <p:spPr>
          <a:xfrm>
            <a:off x="1769213" y="3031091"/>
            <a:ext cx="128699" cy="187198"/>
          </a:xfrm>
          <a:prstGeom prst="rect">
            <a:avLst/>
          </a:prstGeom>
        </p:spPr>
      </p:pic>
      <p:pic>
        <p:nvPicPr>
          <p:cNvPr id="376" name="Picture 375" descr="lock.png"/>
          <p:cNvPicPr>
            <a:picLocks noChangeAspect="1"/>
          </p:cNvPicPr>
          <p:nvPr/>
        </p:nvPicPr>
        <p:blipFill>
          <a:blip r:embed="rId4"/>
          <a:stretch>
            <a:fillRect/>
          </a:stretch>
        </p:blipFill>
        <p:spPr>
          <a:xfrm>
            <a:off x="1769212" y="3560448"/>
            <a:ext cx="128699" cy="187198"/>
          </a:xfrm>
          <a:prstGeom prst="rect">
            <a:avLst/>
          </a:prstGeom>
        </p:spPr>
      </p:pic>
      <p:pic>
        <p:nvPicPr>
          <p:cNvPr id="377" name="Picture 376" descr="lock.png"/>
          <p:cNvPicPr>
            <a:picLocks noChangeAspect="1"/>
          </p:cNvPicPr>
          <p:nvPr/>
        </p:nvPicPr>
        <p:blipFill>
          <a:blip r:embed="rId4"/>
          <a:stretch>
            <a:fillRect/>
          </a:stretch>
        </p:blipFill>
        <p:spPr>
          <a:xfrm>
            <a:off x="2845538" y="2702524"/>
            <a:ext cx="128699" cy="187198"/>
          </a:xfrm>
          <a:prstGeom prst="rect">
            <a:avLst/>
          </a:prstGeom>
        </p:spPr>
      </p:pic>
      <p:pic>
        <p:nvPicPr>
          <p:cNvPr id="378" name="Picture 377" descr="lock.png"/>
          <p:cNvPicPr>
            <a:picLocks noChangeAspect="1"/>
          </p:cNvPicPr>
          <p:nvPr/>
        </p:nvPicPr>
        <p:blipFill>
          <a:blip r:embed="rId4"/>
          <a:stretch>
            <a:fillRect/>
          </a:stretch>
        </p:blipFill>
        <p:spPr>
          <a:xfrm>
            <a:off x="2845538" y="3031091"/>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3560448"/>
            <a:ext cx="128699" cy="187198"/>
          </a:xfrm>
          <a:prstGeom prst="rect">
            <a:avLst/>
          </a:prstGeom>
        </p:spPr>
      </p:pic>
      <p:pic>
        <p:nvPicPr>
          <p:cNvPr id="380" name="Picture 379" descr="lock.png"/>
          <p:cNvPicPr>
            <a:picLocks noChangeAspect="1"/>
          </p:cNvPicPr>
          <p:nvPr/>
        </p:nvPicPr>
        <p:blipFill>
          <a:blip r:embed="rId4"/>
          <a:stretch>
            <a:fillRect/>
          </a:stretch>
        </p:blipFill>
        <p:spPr>
          <a:xfrm>
            <a:off x="3921863" y="2702524"/>
            <a:ext cx="128699" cy="187198"/>
          </a:xfrm>
          <a:prstGeom prst="rect">
            <a:avLst/>
          </a:prstGeom>
        </p:spPr>
      </p:pic>
      <p:pic>
        <p:nvPicPr>
          <p:cNvPr id="381" name="Picture 380" descr="lock.png"/>
          <p:cNvPicPr>
            <a:picLocks noChangeAspect="1"/>
          </p:cNvPicPr>
          <p:nvPr/>
        </p:nvPicPr>
        <p:blipFill>
          <a:blip r:embed="rId4"/>
          <a:stretch>
            <a:fillRect/>
          </a:stretch>
        </p:blipFill>
        <p:spPr>
          <a:xfrm>
            <a:off x="3921863" y="3031091"/>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2" y="3560448"/>
            <a:ext cx="128699" cy="187198"/>
          </a:xfrm>
          <a:prstGeom prst="rect">
            <a:avLst/>
          </a:prstGeom>
        </p:spPr>
      </p:pic>
      <p:pic>
        <p:nvPicPr>
          <p:cNvPr id="383" name="Picture 382" descr="lock.png"/>
          <p:cNvPicPr>
            <a:picLocks noChangeAspect="1"/>
          </p:cNvPicPr>
          <p:nvPr/>
        </p:nvPicPr>
        <p:blipFill>
          <a:blip r:embed="rId4"/>
          <a:stretch>
            <a:fillRect/>
          </a:stretch>
        </p:blipFill>
        <p:spPr>
          <a:xfrm>
            <a:off x="4998188" y="2702524"/>
            <a:ext cx="128699" cy="187198"/>
          </a:xfrm>
          <a:prstGeom prst="rect">
            <a:avLst/>
          </a:prstGeom>
        </p:spPr>
      </p:pic>
      <p:pic>
        <p:nvPicPr>
          <p:cNvPr id="384" name="Picture 383" descr="lock.png"/>
          <p:cNvPicPr>
            <a:picLocks noChangeAspect="1"/>
          </p:cNvPicPr>
          <p:nvPr/>
        </p:nvPicPr>
        <p:blipFill>
          <a:blip r:embed="rId4"/>
          <a:stretch>
            <a:fillRect/>
          </a:stretch>
        </p:blipFill>
        <p:spPr>
          <a:xfrm>
            <a:off x="4998188" y="3031091"/>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3560448"/>
            <a:ext cx="128699" cy="187198"/>
          </a:xfrm>
          <a:prstGeom prst="rect">
            <a:avLst/>
          </a:prstGeom>
        </p:spPr>
      </p:pic>
      <p:pic>
        <p:nvPicPr>
          <p:cNvPr id="386" name="Picture 385" descr="lock.png"/>
          <p:cNvPicPr>
            <a:picLocks noChangeAspect="1"/>
          </p:cNvPicPr>
          <p:nvPr/>
        </p:nvPicPr>
        <p:blipFill>
          <a:blip r:embed="rId4"/>
          <a:stretch>
            <a:fillRect/>
          </a:stretch>
        </p:blipFill>
        <p:spPr>
          <a:xfrm>
            <a:off x="6074513" y="2702524"/>
            <a:ext cx="128699" cy="187198"/>
          </a:xfrm>
          <a:prstGeom prst="rect">
            <a:avLst/>
          </a:prstGeom>
        </p:spPr>
      </p:pic>
      <p:pic>
        <p:nvPicPr>
          <p:cNvPr id="387" name="Picture 386" descr="lock.png"/>
          <p:cNvPicPr>
            <a:picLocks noChangeAspect="1"/>
          </p:cNvPicPr>
          <p:nvPr/>
        </p:nvPicPr>
        <p:blipFill>
          <a:blip r:embed="rId4"/>
          <a:stretch>
            <a:fillRect/>
          </a:stretch>
        </p:blipFill>
        <p:spPr>
          <a:xfrm>
            <a:off x="6074513" y="3031091"/>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2" y="3560448"/>
            <a:ext cx="128699" cy="187198"/>
          </a:xfrm>
          <a:prstGeom prst="rect">
            <a:avLst/>
          </a:prstGeom>
        </p:spPr>
      </p:pic>
      <p:pic>
        <p:nvPicPr>
          <p:cNvPr id="389" name="Picture 388" descr="lock.png"/>
          <p:cNvPicPr>
            <a:picLocks noChangeAspect="1"/>
          </p:cNvPicPr>
          <p:nvPr/>
        </p:nvPicPr>
        <p:blipFill>
          <a:blip r:embed="rId4"/>
          <a:stretch>
            <a:fillRect/>
          </a:stretch>
        </p:blipFill>
        <p:spPr>
          <a:xfrm>
            <a:off x="7150838" y="2702524"/>
            <a:ext cx="128699" cy="187198"/>
          </a:xfrm>
          <a:prstGeom prst="rect">
            <a:avLst/>
          </a:prstGeom>
        </p:spPr>
      </p:pic>
      <p:pic>
        <p:nvPicPr>
          <p:cNvPr id="390" name="Picture 389" descr="lock.png"/>
          <p:cNvPicPr>
            <a:picLocks noChangeAspect="1"/>
          </p:cNvPicPr>
          <p:nvPr/>
        </p:nvPicPr>
        <p:blipFill>
          <a:blip r:embed="rId4"/>
          <a:stretch>
            <a:fillRect/>
          </a:stretch>
        </p:blipFill>
        <p:spPr>
          <a:xfrm>
            <a:off x="7150838" y="3031091"/>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3560448"/>
            <a:ext cx="128699" cy="187198"/>
          </a:xfrm>
          <a:prstGeom prst="rect">
            <a:avLst/>
          </a:prstGeom>
        </p:spPr>
      </p:pic>
      <p:pic>
        <p:nvPicPr>
          <p:cNvPr id="392" name="Picture 391" descr="lock.png"/>
          <p:cNvPicPr>
            <a:picLocks noChangeAspect="1"/>
          </p:cNvPicPr>
          <p:nvPr/>
        </p:nvPicPr>
        <p:blipFill>
          <a:blip r:embed="rId4"/>
          <a:stretch>
            <a:fillRect/>
          </a:stretch>
        </p:blipFill>
        <p:spPr>
          <a:xfrm>
            <a:off x="8227163" y="2702524"/>
            <a:ext cx="128699" cy="187198"/>
          </a:xfrm>
          <a:prstGeom prst="rect">
            <a:avLst/>
          </a:prstGeom>
        </p:spPr>
      </p:pic>
      <p:pic>
        <p:nvPicPr>
          <p:cNvPr id="393" name="Picture 392" descr="lock.png"/>
          <p:cNvPicPr>
            <a:picLocks noChangeAspect="1"/>
          </p:cNvPicPr>
          <p:nvPr/>
        </p:nvPicPr>
        <p:blipFill>
          <a:blip r:embed="rId4"/>
          <a:stretch>
            <a:fillRect/>
          </a:stretch>
        </p:blipFill>
        <p:spPr>
          <a:xfrm>
            <a:off x="8227163" y="3031091"/>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2" y="3560448"/>
            <a:ext cx="128699" cy="187198"/>
          </a:xfrm>
          <a:prstGeom prst="rect">
            <a:avLst/>
          </a:prstGeom>
        </p:spPr>
      </p:pic>
      <p:pic>
        <p:nvPicPr>
          <p:cNvPr id="395" name="Picture 394" descr="lock.png"/>
          <p:cNvPicPr>
            <a:picLocks noChangeAspect="1"/>
          </p:cNvPicPr>
          <p:nvPr/>
        </p:nvPicPr>
        <p:blipFill>
          <a:blip r:embed="rId4"/>
          <a:stretch>
            <a:fillRect/>
          </a:stretch>
        </p:blipFill>
        <p:spPr>
          <a:xfrm>
            <a:off x="9303488" y="2702524"/>
            <a:ext cx="128699" cy="187198"/>
          </a:xfrm>
          <a:prstGeom prst="rect">
            <a:avLst/>
          </a:prstGeom>
        </p:spPr>
      </p:pic>
      <p:pic>
        <p:nvPicPr>
          <p:cNvPr id="396" name="Picture 395" descr="lock.png"/>
          <p:cNvPicPr>
            <a:picLocks noChangeAspect="1"/>
          </p:cNvPicPr>
          <p:nvPr/>
        </p:nvPicPr>
        <p:blipFill>
          <a:blip r:embed="rId4"/>
          <a:stretch>
            <a:fillRect/>
          </a:stretch>
        </p:blipFill>
        <p:spPr>
          <a:xfrm>
            <a:off x="9303488" y="3031091"/>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3560448"/>
            <a:ext cx="128699" cy="187198"/>
          </a:xfrm>
          <a:prstGeom prst="rect">
            <a:avLst/>
          </a:prstGeom>
        </p:spPr>
      </p:pic>
      <p:pic>
        <p:nvPicPr>
          <p:cNvPr id="398" name="Picture 397" descr="lock.png"/>
          <p:cNvPicPr>
            <a:picLocks noChangeAspect="1"/>
          </p:cNvPicPr>
          <p:nvPr/>
        </p:nvPicPr>
        <p:blipFill>
          <a:blip r:embed="rId4"/>
          <a:stretch>
            <a:fillRect/>
          </a:stretch>
        </p:blipFill>
        <p:spPr>
          <a:xfrm>
            <a:off x="10379813" y="2702524"/>
            <a:ext cx="128699" cy="187198"/>
          </a:xfrm>
          <a:prstGeom prst="rect">
            <a:avLst/>
          </a:prstGeom>
        </p:spPr>
      </p:pic>
      <p:pic>
        <p:nvPicPr>
          <p:cNvPr id="399" name="Picture 398" descr="lock.png"/>
          <p:cNvPicPr>
            <a:picLocks noChangeAspect="1"/>
          </p:cNvPicPr>
          <p:nvPr/>
        </p:nvPicPr>
        <p:blipFill>
          <a:blip r:embed="rId4"/>
          <a:stretch>
            <a:fillRect/>
          </a:stretch>
        </p:blipFill>
        <p:spPr>
          <a:xfrm>
            <a:off x="10379813" y="3031091"/>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2" y="3560448"/>
            <a:ext cx="128699" cy="187198"/>
          </a:xfrm>
          <a:prstGeom prst="rect">
            <a:avLst/>
          </a:prstGeom>
        </p:spPr>
      </p:pic>
      <p:pic>
        <p:nvPicPr>
          <p:cNvPr id="401" name="Picture 400" descr="lock.png"/>
          <p:cNvPicPr>
            <a:picLocks noChangeAspect="1"/>
          </p:cNvPicPr>
          <p:nvPr/>
        </p:nvPicPr>
        <p:blipFill>
          <a:blip r:embed="rId4"/>
          <a:stretch>
            <a:fillRect/>
          </a:stretch>
        </p:blipFill>
        <p:spPr>
          <a:xfrm>
            <a:off x="11456138" y="2702524"/>
            <a:ext cx="128699" cy="187198"/>
          </a:xfrm>
          <a:prstGeom prst="rect">
            <a:avLst/>
          </a:prstGeom>
        </p:spPr>
      </p:pic>
      <p:pic>
        <p:nvPicPr>
          <p:cNvPr id="402" name="Picture 401" descr="lock.png"/>
          <p:cNvPicPr>
            <a:picLocks noChangeAspect="1"/>
          </p:cNvPicPr>
          <p:nvPr/>
        </p:nvPicPr>
        <p:blipFill>
          <a:blip r:embed="rId4"/>
          <a:stretch>
            <a:fillRect/>
          </a:stretch>
        </p:blipFill>
        <p:spPr>
          <a:xfrm>
            <a:off x="11456138" y="3031091"/>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pic>
        <p:nvPicPr>
          <p:cNvPr id="3"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88824" cy="6858001"/>
          </a:xfrm>
          <a:prstGeom prst="rect">
            <a:avLst/>
          </a:prstGeom>
        </p:spPr>
      </p:pic>
      <p:grpSp>
        <p:nvGrpSpPr>
          <p:cNvPr id="4" name="Group 54"/>
          <p:cNvGrpSpPr/>
          <p:nvPr/>
        </p:nvGrpSpPr>
        <p:grpSpPr>
          <a:xfrm>
            <a:off x="3791331" y="4349877"/>
            <a:ext cx="7897432" cy="1533454"/>
            <a:chOff x="3791331" y="4349877"/>
            <a:chExt cx="7897432" cy="1533454"/>
          </a:xfrm>
        </p:grpSpPr>
        <p:sp>
          <p:nvSpPr>
            <p:cNvPr id="5" name="TextBox 55"/>
            <p:cNvSpPr txBox="1"/>
            <p:nvPr/>
          </p:nvSpPr>
          <p:spPr>
            <a:xfrm>
              <a:off x="3791331" y="4349877"/>
              <a:ext cx="3739101" cy="307777"/>
            </a:xfrm>
            <a:prstGeom prst="rect">
              <a:avLst/>
            </a:prstGeom>
            <a:noFill/>
          </p:spPr>
          <p:txBody>
            <a:bodyPr wrap="none" rtlCol="0">
              <a:spAutoFit/>
            </a:bodyPr>
            <a:lstStyle/>
            <a:p>
              <a:r>
                <a:rPr lang="en-IN" sz="1400" dirty="0"/>
                <a:t>To know more about us, please visit our website:</a:t>
              </a:r>
            </a:p>
          </p:txBody>
        </p:sp>
        <p:sp>
          <p:nvSpPr>
            <p:cNvPr id="6" name="TextBox 56"/>
            <p:cNvSpPr txBox="1"/>
            <p:nvPr/>
          </p:nvSpPr>
          <p:spPr>
            <a:xfrm>
              <a:off x="3791331" y="4660773"/>
              <a:ext cx="3121496" cy="307777"/>
            </a:xfrm>
            <a:prstGeom prst="rect">
              <a:avLst/>
            </a:prstGeom>
            <a:noFill/>
          </p:spPr>
          <p:txBody>
            <a:bodyPr wrap="none" rtlCol="0">
              <a:spAutoFit/>
            </a:bodyPr>
            <a:lstStyle/>
            <a:p>
              <a:r>
                <a:rPr lang="en-IN" sz="1400" b="1" dirty="0"/>
                <a:t>www.transparencymarketresearch.com</a:t>
              </a:r>
            </a:p>
          </p:txBody>
        </p:sp>
        <p:sp>
          <p:nvSpPr>
            <p:cNvPr id="7" name="TextBox 57"/>
            <p:cNvSpPr txBox="1"/>
            <p:nvPr/>
          </p:nvSpPr>
          <p:spPr>
            <a:xfrm>
              <a:off x="3791331" y="5264658"/>
              <a:ext cx="3364767" cy="307777"/>
            </a:xfrm>
            <a:prstGeom prst="rect">
              <a:avLst/>
            </a:prstGeom>
            <a:noFill/>
          </p:spPr>
          <p:txBody>
            <a:bodyPr wrap="none" rtlCol="0">
              <a:spAutoFit/>
            </a:bodyPr>
            <a:lstStyle/>
            <a:p>
              <a:r>
                <a:rPr lang="en-IN" sz="1400" dirty="0"/>
                <a:t>For Sales queries or new topics email us on:</a:t>
              </a:r>
            </a:p>
          </p:txBody>
        </p:sp>
        <p:sp>
          <p:nvSpPr>
            <p:cNvPr id="8" name="TextBox 59"/>
            <p:cNvSpPr txBox="1"/>
            <p:nvPr/>
          </p:nvSpPr>
          <p:spPr>
            <a:xfrm>
              <a:off x="3791331" y="5575554"/>
              <a:ext cx="3097836" cy="307777"/>
            </a:xfrm>
            <a:prstGeom prst="rect">
              <a:avLst/>
            </a:prstGeom>
            <a:noFill/>
          </p:spPr>
          <p:txBody>
            <a:bodyPr wrap="none" rtlCol="0">
              <a:spAutoFit/>
            </a:bodyPr>
            <a:lstStyle/>
            <a:p>
              <a:r>
                <a:rPr lang="en-IN" sz="1400" b="1" dirty="0"/>
                <a:t>sales.transparencymarketresearch.com</a:t>
              </a:r>
            </a:p>
          </p:txBody>
        </p:sp>
        <p:sp>
          <p:nvSpPr>
            <p:cNvPr id="9" name="TextBox 60"/>
            <p:cNvSpPr txBox="1"/>
            <p:nvPr/>
          </p:nvSpPr>
          <p:spPr>
            <a:xfrm>
              <a:off x="9562732" y="4349877"/>
              <a:ext cx="2126031" cy="1384995"/>
            </a:xfrm>
            <a:prstGeom prst="rect">
              <a:avLst/>
            </a:prstGeom>
            <a:noFill/>
          </p:spPr>
          <p:txBody>
            <a:bodyPr wrap="none" rtlCol="0">
              <a:spAutoFit/>
            </a:bodyPr>
            <a:lstStyle/>
            <a:p>
              <a:pPr algn="r">
                <a:lnSpc>
                  <a:spcPct val="150000"/>
                </a:lnSpc>
              </a:pPr>
              <a:r>
                <a:rPr lang="en-IN" sz="1400" dirty="0"/>
                <a:t>For other Queries Contact:</a:t>
              </a:r>
            </a:p>
            <a:p>
              <a:pPr algn="r">
                <a:lnSpc>
                  <a:spcPct val="150000"/>
                </a:lnSpc>
              </a:pPr>
              <a:r>
                <a:rPr lang="en-IN" sz="1400" dirty="0"/>
                <a:t>90 State Street, Albany</a:t>
              </a:r>
            </a:p>
            <a:p>
              <a:pPr algn="r">
                <a:lnSpc>
                  <a:spcPct val="150000"/>
                </a:lnSpc>
              </a:pPr>
              <a:r>
                <a:rPr lang="en-IN" sz="1400" dirty="0"/>
                <a:t>NY – 12207, United States</a:t>
              </a:r>
            </a:p>
            <a:p>
              <a:pPr algn="r">
                <a:lnSpc>
                  <a:spcPct val="150000"/>
                </a:lnSpc>
              </a:pPr>
              <a:r>
                <a:rPr lang="en-IN" sz="1400" dirty="0"/>
                <a:t>Tel: +1-518-618-1030</a:t>
              </a:r>
            </a:p>
          </p:txBody>
        </p:sp>
      </p:grpSp>
      <p:pic>
        <p:nvPicPr>
          <p:cNvPr id="10" name="Picture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750" y="123825"/>
            <a:ext cx="1492575" cy="1152525"/>
          </a:xfrm>
          <a:prstGeom prst="rect">
            <a:avLst/>
          </a:prstGeom>
        </p:spPr>
      </p:pic>
      <p:sp>
        <p:nvSpPr>
          <p:cNvPr id="11" name="TextBox 71"/>
          <p:cNvSpPr txBox="1"/>
          <p:nvPr/>
        </p:nvSpPr>
        <p:spPr>
          <a:xfrm>
            <a:off x="1431419" y="2409825"/>
            <a:ext cx="4964822" cy="1107996"/>
          </a:xfrm>
          <a:prstGeom prst="rect">
            <a:avLst/>
          </a:prstGeom>
          <a:noFill/>
        </p:spPr>
        <p:txBody>
          <a:bodyPr wrap="none" rtlCol="0">
            <a:spAutoFit/>
          </a:bodyPr>
          <a:lstStyle/>
          <a:p>
            <a:pPr algn="ctr"/>
            <a:r>
              <a:rPr lang="en-IN" sz="6600" dirty="0">
                <a:solidFill>
                  <a:srgbClr val="0070C0"/>
                </a:solidFill>
                <a:latin typeface="Aclonica" panose="02060503000000020004" pitchFamily="18" charset="0"/>
              </a:rPr>
              <a:t>Thank You</a:t>
            </a:r>
          </a:p>
        </p:txBody>
      </p:sp>
      <p:sp>
        <p:nvSpPr>
          <p:cNvPr id="12" name="Freeform 68"/>
          <p:cNvSpPr/>
          <p:nvPr userDrawn="1"/>
        </p:nvSpPr>
        <p:spPr bwMode="gray">
          <a:xfrm>
            <a:off x="152400" y="6386257"/>
            <a:ext cx="11887200" cy="0"/>
          </a:xfrm>
          <a:custGeom>
            <a:avLst/>
            <a:gdLst>
              <a:gd name="connsiteX0" fmla="*/ 12039600 w 12039600"/>
              <a:gd name="connsiteY0" fmla="*/ 0 h 0"/>
              <a:gd name="connsiteX1" fmla="*/ 0 w 12039600"/>
              <a:gd name="connsiteY1" fmla="*/ 0 h 0"/>
            </a:gdLst>
            <a:ahLst/>
            <a:cxnLst>
              <a:cxn ang="0">
                <a:pos x="connsiteX0" y="connsiteY0"/>
              </a:cxn>
              <a:cxn ang="0">
                <a:pos x="connsiteX1" y="connsiteY1"/>
              </a:cxn>
            </a:cxnLst>
            <a:rect l="l" t="t" r="r" b="b"/>
            <a:pathLst>
              <a:path w="12039600">
                <a:moveTo>
                  <a:pt x="12039600" y="0"/>
                </a:moveTo>
                <a:lnTo>
                  <a:pt x="0" y="0"/>
                </a:lnTo>
              </a:path>
            </a:pathLst>
          </a:custGeom>
          <a:noFill/>
          <a:ln w="28575">
            <a:solidFill>
              <a:srgbClr val="0070C0"/>
            </a:solidFill>
          </a:ln>
        </p:spPr>
        <p:style>
          <a:lnRef idx="2">
            <a:srgbClr val="2A5F8F">
              <a:shade val="50000"/>
            </a:srgbClr>
          </a:lnRef>
          <a:fillRef idx="1">
            <a:srgbClr val="2A5F8F"/>
          </a:fillRef>
          <a:effectRef idx="0">
            <a:srgbClr val="2A5F8F"/>
          </a:effectRef>
          <a:fontRef idx="minor">
            <a:srgbClr val="FFFFFF"/>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013"/>
          </a:p>
        </p:txBody>
      </p:sp>
      <p:sp>
        <p:nvSpPr>
          <p:cNvPr id="13" name="Rectangle 73"/>
          <p:cNvSpPr/>
          <p:nvPr/>
        </p:nvSpPr>
        <p:spPr bwMode="gray">
          <a:xfrm>
            <a:off x="4409641" y="6503175"/>
            <a:ext cx="3372718" cy="169277"/>
          </a:xfrm>
          <a:prstGeom prst="rect">
            <a:avLst/>
          </a:prstGeom>
        </p:spPr>
        <p:txBody>
          <a:bodyPr wrap="none" lIns="0" tIns="0" rIns="0" bIns="0">
            <a:spAutoFit/>
          </a:bodyPr>
          <a:lstStyle/>
          <a:p>
            <a:pPr algn="ctr">
              <a:spcBef>
                <a:spcPts val="200"/>
              </a:spcBef>
              <a:spcAft>
                <a:spcPts val="200"/>
              </a:spcAft>
              <a:tabLst>
                <a:tab pos="931344" algn="l"/>
              </a:tabLst>
              <a:defRPr/>
            </a:pPr>
            <a:r>
              <a:rPr lang="en-US" sz="1100" dirty="0">
                <a:solidFill>
                  <a:srgbClr val="000000"/>
                </a:solidFill>
                <a:ea typeface="ＭＳ Ｐゴシック" charset="0"/>
              </a:rPr>
              <a:t>©2026 Transparency Market Research, All Rights Reserved</a:t>
            </a:r>
            <a:endParaRPr lang="en-GB" sz="1100" dirty="0">
              <a:solidFill>
                <a:srgbClr val="000000"/>
              </a:solidFill>
              <a:ea typeface="ＭＳ Ｐゴシック" charset="0"/>
            </a:endParaRPr>
          </a:p>
        </p:txBody>
      </p:sp>
    </p:spTree>
  </p:cSld>
  <p:clrMapOvr>
    <a:masterClrMapping/>
  </p:clrMapOvr>
</p:sld>
</file>

<file path=ppt/theme/theme1.xml><?xml version="1.0" encoding="utf-8"?>
<a:theme xmlns:a="http://schemas.openxmlformats.org/drawingml/2006/main" name="Office Theme">
  <a:themeElements>
    <a:clrScheme name="Custom 63">
      <a:dk1>
        <a:sysClr val="windowText" lastClr="000000"/>
      </a:dk1>
      <a:lt1>
        <a:sysClr val="window" lastClr="FFFFFF"/>
      </a:lt1>
      <a:dk2>
        <a:srgbClr val="000000"/>
      </a:dk2>
      <a:lt2>
        <a:srgbClr val="F8F8F8"/>
      </a:lt2>
      <a:accent1>
        <a:srgbClr val="2A5F8F"/>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