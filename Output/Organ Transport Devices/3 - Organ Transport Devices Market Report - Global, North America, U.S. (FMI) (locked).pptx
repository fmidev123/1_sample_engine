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00.xml" ContentType="application/vnd.openxmlformats-officedocument.drawingml.chart+xml"/>
  <Override PartName="/ppt/charts/chart101.xml" ContentType="application/vnd.openxmlformats-officedocument.drawingml.chart+xml"/>
  <Override PartName="/ppt/charts/chart102.xml" ContentType="application/vnd.openxmlformats-officedocument.drawingml.chart+xml"/>
  <Override PartName="/ppt/charts/chart103.xml" ContentType="application/vnd.openxmlformats-officedocument.drawingml.chart+xml"/>
  <Override PartName="/ppt/charts/chart104.xml" ContentType="application/vnd.openxmlformats-officedocument.drawingml.chart+xml"/>
  <Override PartName="/ppt/charts/chart105.xml" ContentType="application/vnd.openxmlformats-officedocument.drawingml.chart+xml"/>
  <Override PartName="/ppt/charts/chart106.xml" ContentType="application/vnd.openxmlformats-officedocument.drawingml.chart+xml"/>
  <Override PartName="/ppt/charts/chart107.xml" ContentType="application/vnd.openxmlformats-officedocument.drawingml.chart+xml"/>
  <Override PartName="/ppt/charts/chart108.xml" ContentType="application/vnd.openxmlformats-officedocument.drawingml.chart+xml"/>
  <Override PartName="/ppt/charts/chart109.xml" ContentType="application/vnd.openxmlformats-officedocument.drawingml.chart+xml"/>
  <Override PartName="/ppt/charts/chart11.xml" ContentType="application/vnd.openxmlformats-officedocument.drawingml.chart+xml"/>
  <Override PartName="/ppt/charts/chart110.xml" ContentType="application/vnd.openxmlformats-officedocument.drawingml.chart+xml"/>
  <Override PartName="/ppt/charts/chart111.xml" ContentType="application/vnd.openxmlformats-officedocument.drawingml.chart+xml"/>
  <Override PartName="/ppt/charts/chart112.xml" ContentType="application/vnd.openxmlformats-officedocument.drawingml.chart+xml"/>
  <Override PartName="/ppt/charts/chart113.xml" ContentType="application/vnd.openxmlformats-officedocument.drawingml.chart+xml"/>
  <Override PartName="/ppt/charts/chart114.xml" ContentType="application/vnd.openxmlformats-officedocument.drawingml.chart+xml"/>
  <Override PartName="/ppt/charts/chart115.xml" ContentType="application/vnd.openxmlformats-officedocument.drawingml.chart+xml"/>
  <Override PartName="/ppt/charts/chart116.xml" ContentType="application/vnd.openxmlformats-officedocument.drawingml.chart+xml"/>
  <Override PartName="/ppt/charts/chart117.xml" ContentType="application/vnd.openxmlformats-officedocument.drawingml.chart+xml"/>
  <Override PartName="/ppt/charts/chart118.xml" ContentType="application/vnd.openxmlformats-officedocument.drawingml.chart+xml"/>
  <Override PartName="/ppt/charts/chart119.xml" ContentType="application/vnd.openxmlformats-officedocument.drawingml.chart+xml"/>
  <Override PartName="/ppt/charts/chart12.xml" ContentType="application/vnd.openxmlformats-officedocument.drawingml.chart+xml"/>
  <Override PartName="/ppt/charts/chart120.xml" ContentType="application/vnd.openxmlformats-officedocument.drawingml.chart+xml"/>
  <Override PartName="/ppt/charts/chart121.xml" ContentType="application/vnd.openxmlformats-officedocument.drawingml.chart+xml"/>
  <Override PartName="/ppt/charts/chart122.xml" ContentType="application/vnd.openxmlformats-officedocument.drawingml.chart+xml"/>
  <Override PartName="/ppt/charts/chart123.xml" ContentType="application/vnd.openxmlformats-officedocument.drawingml.chart+xml"/>
  <Override PartName="/ppt/charts/chart124.xml" ContentType="application/vnd.openxmlformats-officedocument.drawingml.chart+xml"/>
  <Override PartName="/ppt/charts/chart125.xml" ContentType="application/vnd.openxmlformats-officedocument.drawingml.chart+xml"/>
  <Override PartName="/ppt/charts/chart126.xml" ContentType="application/vnd.openxmlformats-officedocument.drawingml.chart+xml"/>
  <Override PartName="/ppt/charts/chart127.xml" ContentType="application/vnd.openxmlformats-officedocument.drawingml.chart+xml"/>
  <Override PartName="/ppt/charts/chart128.xml" ContentType="application/vnd.openxmlformats-officedocument.drawingml.chart+xml"/>
  <Override PartName="/ppt/charts/chart129.xml" ContentType="application/vnd.openxmlformats-officedocument.drawingml.chart+xml"/>
  <Override PartName="/ppt/charts/chart13.xml" ContentType="application/vnd.openxmlformats-officedocument.drawingml.chart+xml"/>
  <Override PartName="/ppt/charts/chart130.xml" ContentType="application/vnd.openxmlformats-officedocument.drawingml.chart+xml"/>
  <Override PartName="/ppt/charts/chart131.xml" ContentType="application/vnd.openxmlformats-officedocument.drawingml.chart+xml"/>
  <Override PartName="/ppt/charts/chart132.xml" ContentType="application/vnd.openxmlformats-officedocument.drawingml.chart+xml"/>
  <Override PartName="/ppt/charts/chart133.xml" ContentType="application/vnd.openxmlformats-officedocument.drawingml.chart+xml"/>
  <Override PartName="/ppt/charts/chart134.xml" ContentType="application/vnd.openxmlformats-officedocument.drawingml.chart+xml"/>
  <Override PartName="/ppt/charts/chart135.xml" ContentType="application/vnd.openxmlformats-officedocument.drawingml.chart+xml"/>
  <Override PartName="/ppt/charts/chart136.xml" ContentType="application/vnd.openxmlformats-officedocument.drawingml.chart+xml"/>
  <Override PartName="/ppt/charts/chart137.xml" ContentType="application/vnd.openxmlformats-officedocument.drawingml.chart+xml"/>
  <Override PartName="/ppt/charts/chart138.xml" ContentType="application/vnd.openxmlformats-officedocument.drawingml.chart+xml"/>
  <Override PartName="/ppt/charts/chart139.xml" ContentType="application/vnd.openxmlformats-officedocument.drawingml.chart+xml"/>
  <Override PartName="/ppt/charts/chart14.xml" ContentType="application/vnd.openxmlformats-officedocument.drawingml.chart+xml"/>
  <Override PartName="/ppt/charts/chart140.xml" ContentType="application/vnd.openxmlformats-officedocument.drawingml.chart+xml"/>
  <Override PartName="/ppt/charts/chart141.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charts/chart97.xml" ContentType="application/vnd.openxmlformats-officedocument.drawingml.chart+xml"/>
  <Override PartName="/ppt/charts/chart98.xml" ContentType="application/vnd.openxmlformats-officedocument.drawingml.chart+xml"/>
  <Override PartName="/ppt/charts/chart9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7.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2.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5.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565" r:id="rId317"/>
    <p:sldId id="558" r:id="rId310"/>
    <p:sldId id="559" r:id="rId311"/>
    <p:sldId id="560" r:id="rId312"/>
    <p:sldId id="561" r:id="rId313"/>
    <p:sldId id="562" r:id="rId314"/>
    <p:sldId id="563" r:id="rId315"/>
    <p:sldId id="564" r:id="rId316"/>
    <p:sldId id="574" r:id="rId326"/>
    <p:sldId id="566" r:id="rId318"/>
    <p:sldId id="567" r:id="rId319"/>
    <p:sldId id="568" r:id="rId320"/>
    <p:sldId id="569" r:id="rId321"/>
    <p:sldId id="570" r:id="rId322"/>
    <p:sldId id="571" r:id="rId323"/>
    <p:sldId id="572" r:id="rId324"/>
    <p:sldId id="573" r:id="rId32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2" r:id="rId44"/>
    <p:sldId id="293" r:id="rId45"/>
    <p:sldId id="296" r:id="rId48"/>
    <p:sldId id="297" r:id="rId49"/>
    <p:sldId id="298" r:id="rId50"/>
    <p:sldId id="299" r:id="rId51"/>
    <p:sldId id="301" r:id="rId53"/>
    <p:sldId id="302" r:id="rId54"/>
    <p:sldId id="305" r:id="rId57"/>
    <p:sldId id="306" r:id="rId58"/>
    <p:sldId id="307" r:id="rId59"/>
    <p:sldId id="308" r:id="rId60"/>
    <p:sldId id="310" r:id="rId62"/>
    <p:sldId id="311" r:id="rId63"/>
    <p:sldId id="314" r:id="rId66"/>
    <p:sldId id="315" r:id="rId67"/>
    <p:sldId id="316" r:id="rId68"/>
    <p:sldId id="317" r:id="rId69"/>
    <p:sldId id="320" r:id="rId72"/>
    <p:sldId id="321" r:id="rId73"/>
    <p:sldId id="324" r:id="rId76"/>
    <p:sldId id="325" r:id="rId77"/>
    <p:sldId id="326" r:id="rId78"/>
    <p:sldId id="327" r:id="rId79"/>
    <p:sldId id="329" r:id="rId81"/>
    <p:sldId id="330" r:id="rId82"/>
    <p:sldId id="333" r:id="rId85"/>
    <p:sldId id="334" r:id="rId86"/>
    <p:sldId id="335" r:id="rId87"/>
    <p:sldId id="336" r:id="rId88"/>
    <p:sldId id="338" r:id="rId90"/>
    <p:sldId id="339" r:id="rId91"/>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2" r:id="rId134"/>
    <p:sldId id="383" r:id="rId135"/>
    <p:sldId id="386" r:id="rId138"/>
    <p:sldId id="387" r:id="rId139"/>
    <p:sldId id="388" r:id="rId140"/>
    <p:sldId id="389" r:id="rId141"/>
    <p:sldId id="391" r:id="rId143"/>
    <p:sldId id="392" r:id="rId144"/>
    <p:sldId id="395" r:id="rId147"/>
    <p:sldId id="396" r:id="rId148"/>
    <p:sldId id="397" r:id="rId149"/>
    <p:sldId id="398" r:id="rId150"/>
    <p:sldId id="400" r:id="rId152"/>
    <p:sldId id="401" r:id="rId153"/>
    <p:sldId id="404" r:id="rId156"/>
    <p:sldId id="405" r:id="rId157"/>
    <p:sldId id="406" r:id="rId158"/>
    <p:sldId id="407" r:id="rId159"/>
    <p:sldId id="409" r:id="rId161"/>
    <p:sldId id="410" r:id="rId162"/>
    <p:sldId id="413" r:id="rId165"/>
    <p:sldId id="414" r:id="rId166"/>
    <p:sldId id="415" r:id="rId167"/>
    <p:sldId id="416" r:id="rId168"/>
    <p:sldId id="418" r:id="rId170"/>
    <p:sldId id="419" r:id="rId171"/>
    <p:sldId id="422" r:id="rId174"/>
    <p:sldId id="423" r:id="rId175"/>
    <p:sldId id="424" r:id="rId176"/>
    <p:sldId id="425" r:id="rId177"/>
    <p:sldId id="427" r:id="rId179"/>
    <p:sldId id="428" r:id="rId180"/>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5" r:id="rId207"/>
    <p:sldId id="458" r:id="rId210"/>
    <p:sldId id="459" r:id="rId211"/>
    <p:sldId id="461" r:id="rId213"/>
    <p:sldId id="463" r:id="rId215"/>
    <p:sldId id="464" r:id="rId216"/>
    <p:sldId id="465" r:id="rId217"/>
    <p:sldId id="467" r:id="rId219"/>
    <p:sldId id="468" r:id="rId220"/>
    <p:sldId id="469" r:id="rId221"/>
    <p:sldId id="471" r:id="rId223"/>
    <p:sldId id="472" r:id="rId224"/>
    <p:sldId id="473" r:id="rId225"/>
    <p:sldId id="475" r:id="rId227"/>
    <p:sldId id="476" r:id="rId228"/>
    <p:sldId id="477" r:id="rId229"/>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75" r:id="rId2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27.xml"/><Relationship Id="rId18" Type="http://schemas.openxmlformats.org/officeDocument/2006/relationships/slide" Target="slides/slide28.xml"/><Relationship Id="rId19" Type="http://schemas.openxmlformats.org/officeDocument/2006/relationships/slide" Target="slides/slide29.xml"/><Relationship Id="rId20" Type="http://schemas.openxmlformats.org/officeDocument/2006/relationships/slide" Target="slides/slide30.xml"/><Relationship Id="rId21" Type="http://schemas.openxmlformats.org/officeDocument/2006/relationships/slide" Target="slides/slide31.xml"/><Relationship Id="rId22" Type="http://schemas.openxmlformats.org/officeDocument/2006/relationships/slide" Target="slides/slide32.xml"/><Relationship Id="rId23" Type="http://schemas.openxmlformats.org/officeDocument/2006/relationships/slide" Target="slides/slide33.xml"/><Relationship Id="rId24" Type="http://schemas.openxmlformats.org/officeDocument/2006/relationships/slide" Target="slides/slide34.xml"/><Relationship Id="rId25" Type="http://schemas.openxmlformats.org/officeDocument/2006/relationships/slide" Target="slides/slide35.xml"/><Relationship Id="rId26" Type="http://schemas.openxmlformats.org/officeDocument/2006/relationships/slide" Target="slides/slide36.xml"/><Relationship Id="rId27" Type="http://schemas.openxmlformats.org/officeDocument/2006/relationships/slide" Target="slides/slide37.xml"/><Relationship Id="rId28" Type="http://schemas.openxmlformats.org/officeDocument/2006/relationships/slide" Target="slides/slide38.xml"/><Relationship Id="rId29" Type="http://schemas.openxmlformats.org/officeDocument/2006/relationships/slide" Target="slides/slide39.xml"/><Relationship Id="rId30" Type="http://schemas.openxmlformats.org/officeDocument/2006/relationships/slide" Target="slides/slide40.xml"/><Relationship Id="rId31" Type="http://schemas.openxmlformats.org/officeDocument/2006/relationships/slide" Target="slides/slide41.xml"/><Relationship Id="rId32" Type="http://schemas.openxmlformats.org/officeDocument/2006/relationships/slide" Target="slides/slide42.xml"/><Relationship Id="rId33" Type="http://schemas.openxmlformats.org/officeDocument/2006/relationships/slide" Target="slides/slide43.xml"/><Relationship Id="rId34" Type="http://schemas.openxmlformats.org/officeDocument/2006/relationships/slide" Target="slides/slide44.xml"/><Relationship Id="rId35" Type="http://schemas.openxmlformats.org/officeDocument/2006/relationships/slide" Target="slides/slide45.xml"/><Relationship Id="rId36" Type="http://schemas.openxmlformats.org/officeDocument/2006/relationships/slide" Target="slides/slide46.xml"/><Relationship Id="rId37" Type="http://schemas.openxmlformats.org/officeDocument/2006/relationships/slide" Target="slides/slide47.xml"/><Relationship Id="rId38" Type="http://schemas.openxmlformats.org/officeDocument/2006/relationships/slide" Target="slides/slide48.xml"/><Relationship Id="rId39" Type="http://schemas.openxmlformats.org/officeDocument/2006/relationships/slide" Target="slides/slide49.xml"/><Relationship Id="rId40" Type="http://schemas.openxmlformats.org/officeDocument/2006/relationships/slide" Target="slides/slide50.xml"/><Relationship Id="rId41" Type="http://schemas.openxmlformats.org/officeDocument/2006/relationships/slide" Target="slides/slide51.xml"/><Relationship Id="rId44" Type="http://schemas.openxmlformats.org/officeDocument/2006/relationships/slide" Target="slides/slide52.xml"/><Relationship Id="rId45" Type="http://schemas.openxmlformats.org/officeDocument/2006/relationships/slide" Target="slides/slide53.xml"/><Relationship Id="rId48" Type="http://schemas.openxmlformats.org/officeDocument/2006/relationships/slide" Target="slides/slide54.xml"/><Relationship Id="rId49" Type="http://schemas.openxmlformats.org/officeDocument/2006/relationships/slide" Target="slides/slide55.xml"/><Relationship Id="rId50" Type="http://schemas.openxmlformats.org/officeDocument/2006/relationships/slide" Target="slides/slide56.xml"/><Relationship Id="rId51" Type="http://schemas.openxmlformats.org/officeDocument/2006/relationships/slide" Target="slides/slide57.xml"/><Relationship Id="rId53" Type="http://schemas.openxmlformats.org/officeDocument/2006/relationships/slide" Target="slides/slide58.xml"/><Relationship Id="rId54" Type="http://schemas.openxmlformats.org/officeDocument/2006/relationships/slide" Target="slides/slide59.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2" Type="http://schemas.openxmlformats.org/officeDocument/2006/relationships/slide" Target="slides/slide64.xml"/><Relationship Id="rId63"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 Id="rId121" Type="http://schemas.openxmlformats.org/officeDocument/2006/relationships/slide" Target="slides/slide111.xml"/><Relationship Id="rId122" Type="http://schemas.openxmlformats.org/officeDocument/2006/relationships/slide" Target="slides/slide112.xml"/><Relationship Id="rId123" Type="http://schemas.openxmlformats.org/officeDocument/2006/relationships/slide" Target="slides/slide113.xml"/><Relationship Id="rId124" Type="http://schemas.openxmlformats.org/officeDocument/2006/relationships/slide" Target="slides/slide114.xml"/><Relationship Id="rId125" Type="http://schemas.openxmlformats.org/officeDocument/2006/relationships/slide" Target="slides/slide115.xml"/><Relationship Id="rId126" Type="http://schemas.openxmlformats.org/officeDocument/2006/relationships/slide" Target="slides/slide116.xml"/><Relationship Id="rId127" Type="http://schemas.openxmlformats.org/officeDocument/2006/relationships/slide" Target="slides/slide117.xml"/><Relationship Id="rId128" Type="http://schemas.openxmlformats.org/officeDocument/2006/relationships/slide" Target="slides/slide118.xml"/><Relationship Id="rId129" Type="http://schemas.openxmlformats.org/officeDocument/2006/relationships/slide" Target="slides/slide119.xml"/><Relationship Id="rId130" Type="http://schemas.openxmlformats.org/officeDocument/2006/relationships/slide" Target="slides/slide120.xml"/><Relationship Id="rId131" Type="http://schemas.openxmlformats.org/officeDocument/2006/relationships/slide" Target="slides/slide121.xml"/><Relationship Id="rId132"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3" Type="http://schemas.openxmlformats.org/officeDocument/2006/relationships/slide" Target="slides/slide129.xml"/><Relationship Id="rId144" Type="http://schemas.openxmlformats.org/officeDocument/2006/relationships/slide" Target="slides/slide130.xml"/><Relationship Id="rId147" Type="http://schemas.openxmlformats.org/officeDocument/2006/relationships/slide" Target="slides/slide131.xml"/><Relationship Id="rId148" Type="http://schemas.openxmlformats.org/officeDocument/2006/relationships/slide" Target="slides/slide132.xml"/><Relationship Id="rId149" Type="http://schemas.openxmlformats.org/officeDocument/2006/relationships/slide" Target="slides/slide133.xml"/><Relationship Id="rId150" Type="http://schemas.openxmlformats.org/officeDocument/2006/relationships/slide" Target="slides/slide134.xml"/><Relationship Id="rId152" Type="http://schemas.openxmlformats.org/officeDocument/2006/relationships/slide" Target="slides/slide135.xml"/><Relationship Id="rId153" Type="http://schemas.openxmlformats.org/officeDocument/2006/relationships/slide" Target="slides/slide136.xml"/><Relationship Id="rId156" Type="http://schemas.openxmlformats.org/officeDocument/2006/relationships/slide" Target="slides/slide137.xml"/><Relationship Id="rId157" Type="http://schemas.openxmlformats.org/officeDocument/2006/relationships/slide" Target="slides/slide138.xml"/><Relationship Id="rId158" Type="http://schemas.openxmlformats.org/officeDocument/2006/relationships/slide" Target="slides/slide139.xml"/><Relationship Id="rId159" Type="http://schemas.openxmlformats.org/officeDocument/2006/relationships/slide" Target="slides/slide140.xml"/><Relationship Id="rId161" Type="http://schemas.openxmlformats.org/officeDocument/2006/relationships/slide" Target="slides/slide141.xml"/><Relationship Id="rId162" Type="http://schemas.openxmlformats.org/officeDocument/2006/relationships/slide" Target="slides/slide142.xml"/><Relationship Id="rId165" Type="http://schemas.openxmlformats.org/officeDocument/2006/relationships/slide" Target="slides/slide143.xml"/><Relationship Id="rId166" Type="http://schemas.openxmlformats.org/officeDocument/2006/relationships/slide" Target="slides/slide144.xml"/><Relationship Id="rId167" Type="http://schemas.openxmlformats.org/officeDocument/2006/relationships/slide" Target="slides/slide145.xml"/><Relationship Id="rId168" Type="http://schemas.openxmlformats.org/officeDocument/2006/relationships/slide" Target="slides/slide146.xml"/><Relationship Id="rId170" Type="http://schemas.openxmlformats.org/officeDocument/2006/relationships/slide" Target="slides/slide147.xml"/><Relationship Id="rId171" Type="http://schemas.openxmlformats.org/officeDocument/2006/relationships/slide" Target="slides/slide148.xml"/><Relationship Id="rId174" Type="http://schemas.openxmlformats.org/officeDocument/2006/relationships/slide" Target="slides/slide149.xml"/><Relationship Id="rId175" Type="http://schemas.openxmlformats.org/officeDocument/2006/relationships/slide" Target="slides/slide150.xml"/><Relationship Id="rId176" Type="http://schemas.openxmlformats.org/officeDocument/2006/relationships/slide" Target="slides/slide151.xml"/><Relationship Id="rId177" Type="http://schemas.openxmlformats.org/officeDocument/2006/relationships/slide" Target="slides/slide152.xml"/><Relationship Id="rId179" Type="http://schemas.openxmlformats.org/officeDocument/2006/relationships/slide" Target="slides/slide153.xml"/><Relationship Id="rId180" Type="http://schemas.openxmlformats.org/officeDocument/2006/relationships/slide" Target="slides/slide154.xml"/><Relationship Id="rId183" Type="http://schemas.openxmlformats.org/officeDocument/2006/relationships/slide" Target="slides/slide155.xml"/><Relationship Id="rId184" Type="http://schemas.openxmlformats.org/officeDocument/2006/relationships/slide" Target="slides/slide156.xml"/><Relationship Id="rId185" Type="http://schemas.openxmlformats.org/officeDocument/2006/relationships/slide" Target="slides/slide157.xml"/><Relationship Id="rId186" Type="http://schemas.openxmlformats.org/officeDocument/2006/relationships/slide" Target="slides/slide158.xml"/><Relationship Id="rId187" Type="http://schemas.openxmlformats.org/officeDocument/2006/relationships/slide" Target="slides/slide159.xml"/><Relationship Id="rId188" Type="http://schemas.openxmlformats.org/officeDocument/2006/relationships/slide" Target="slides/slide160.xml"/><Relationship Id="rId189" Type="http://schemas.openxmlformats.org/officeDocument/2006/relationships/slide" Target="slides/slide161.xml"/><Relationship Id="rId190" Type="http://schemas.openxmlformats.org/officeDocument/2006/relationships/slide" Target="slides/slide162.xml"/><Relationship Id="rId191" Type="http://schemas.openxmlformats.org/officeDocument/2006/relationships/slide" Target="slides/slide163.xml"/><Relationship Id="rId192" Type="http://schemas.openxmlformats.org/officeDocument/2006/relationships/slide" Target="slides/slide164.xml"/><Relationship Id="rId193" Type="http://schemas.openxmlformats.org/officeDocument/2006/relationships/slide" Target="slides/slide165.xml"/><Relationship Id="rId194" Type="http://schemas.openxmlformats.org/officeDocument/2006/relationships/slide" Target="slides/slide166.xml"/><Relationship Id="rId195" Type="http://schemas.openxmlformats.org/officeDocument/2006/relationships/slide" Target="slides/slide167.xml"/><Relationship Id="rId196" Type="http://schemas.openxmlformats.org/officeDocument/2006/relationships/slide" Target="slides/slide168.xml"/><Relationship Id="rId197" Type="http://schemas.openxmlformats.org/officeDocument/2006/relationships/slide" Target="slides/slide169.xml"/><Relationship Id="rId198" Type="http://schemas.openxmlformats.org/officeDocument/2006/relationships/slide" Target="slides/slide170.xml"/><Relationship Id="rId199" Type="http://schemas.openxmlformats.org/officeDocument/2006/relationships/slide" Target="slides/slide171.xml"/><Relationship Id="rId200" Type="http://schemas.openxmlformats.org/officeDocument/2006/relationships/slide" Target="slides/slide172.xml"/><Relationship Id="rId201" Type="http://schemas.openxmlformats.org/officeDocument/2006/relationships/slide" Target="slides/slide173.xml"/><Relationship Id="rId202" Type="http://schemas.openxmlformats.org/officeDocument/2006/relationships/slide" Target="slides/slide174.xml"/><Relationship Id="rId203" Type="http://schemas.openxmlformats.org/officeDocument/2006/relationships/slide" Target="slides/slide175.xml"/><Relationship Id="rId204" Type="http://schemas.openxmlformats.org/officeDocument/2006/relationships/slide" Target="slides/slide176.xml"/><Relationship Id="rId205" Type="http://schemas.openxmlformats.org/officeDocument/2006/relationships/slide" Target="slides/slide177.xml"/><Relationship Id="rId207" Type="http://schemas.openxmlformats.org/officeDocument/2006/relationships/slide" Target="slides/slide178.xml"/><Relationship Id="rId210" Type="http://schemas.openxmlformats.org/officeDocument/2006/relationships/slide" Target="slides/slide179.xml"/><Relationship Id="rId211" Type="http://schemas.openxmlformats.org/officeDocument/2006/relationships/slide" Target="slides/slide180.xml"/><Relationship Id="rId213" Type="http://schemas.openxmlformats.org/officeDocument/2006/relationships/slide" Target="slides/slide181.xml"/><Relationship Id="rId215" Type="http://schemas.openxmlformats.org/officeDocument/2006/relationships/slide" Target="slides/slide182.xml"/><Relationship Id="rId216" Type="http://schemas.openxmlformats.org/officeDocument/2006/relationships/slide" Target="slides/slide183.xml"/><Relationship Id="rId217" Type="http://schemas.openxmlformats.org/officeDocument/2006/relationships/slide" Target="slides/slide184.xml"/><Relationship Id="rId219" Type="http://schemas.openxmlformats.org/officeDocument/2006/relationships/slide" Target="slides/slide185.xml"/><Relationship Id="rId220" Type="http://schemas.openxmlformats.org/officeDocument/2006/relationships/slide" Target="slides/slide186.xml"/><Relationship Id="rId221" Type="http://schemas.openxmlformats.org/officeDocument/2006/relationships/slide" Target="slides/slide187.xml"/><Relationship Id="rId223" Type="http://schemas.openxmlformats.org/officeDocument/2006/relationships/slide" Target="slides/slide188.xml"/><Relationship Id="rId224" Type="http://schemas.openxmlformats.org/officeDocument/2006/relationships/slide" Target="slides/slide189.xml"/><Relationship Id="rId225" Type="http://schemas.openxmlformats.org/officeDocument/2006/relationships/slide" Target="slides/slide190.xml"/><Relationship Id="rId227" Type="http://schemas.openxmlformats.org/officeDocument/2006/relationships/slide" Target="slides/slide191.xml"/><Relationship Id="rId228" Type="http://schemas.openxmlformats.org/officeDocument/2006/relationships/slide" Target="slides/slide192.xml"/><Relationship Id="rId229" Type="http://schemas.openxmlformats.org/officeDocument/2006/relationships/slide" Target="slides/slide193.xml"/><Relationship Id="rId230" Type="http://schemas.openxmlformats.org/officeDocument/2006/relationships/slide" Target="slides/slide263.xml"/><Relationship Id="rId231" Type="http://schemas.openxmlformats.org/officeDocument/2006/relationships/slide" Target="slides/slide194.xml"/><Relationship Id="rId232" Type="http://schemas.openxmlformats.org/officeDocument/2006/relationships/slide" Target="slides/slide195.xml"/><Relationship Id="rId233" Type="http://schemas.openxmlformats.org/officeDocument/2006/relationships/slide" Target="slides/slide196.xml"/><Relationship Id="rId234" Type="http://schemas.openxmlformats.org/officeDocument/2006/relationships/slide" Target="slides/slide197.xml"/><Relationship Id="rId235" Type="http://schemas.openxmlformats.org/officeDocument/2006/relationships/slide" Target="slides/slide198.xml"/><Relationship Id="rId236" Type="http://schemas.openxmlformats.org/officeDocument/2006/relationships/slide" Target="slides/slide199.xml"/><Relationship Id="rId237" Type="http://schemas.openxmlformats.org/officeDocument/2006/relationships/slide" Target="slides/slide200.xml"/><Relationship Id="rId238" Type="http://schemas.openxmlformats.org/officeDocument/2006/relationships/slide" Target="slides/slide201.xml"/><Relationship Id="rId239" Type="http://schemas.openxmlformats.org/officeDocument/2006/relationships/slide" Target="slides/slide202.xml"/><Relationship Id="rId240" Type="http://schemas.openxmlformats.org/officeDocument/2006/relationships/slide" Target="slides/slide203.xml"/><Relationship Id="rId241" Type="http://schemas.openxmlformats.org/officeDocument/2006/relationships/slide" Target="slides/slide204.xml"/><Relationship Id="rId242" Type="http://schemas.openxmlformats.org/officeDocument/2006/relationships/slide" Target="slides/slide205.xml"/><Relationship Id="rId243" Type="http://schemas.openxmlformats.org/officeDocument/2006/relationships/slide" Target="slides/slide206.xml"/><Relationship Id="rId244" Type="http://schemas.openxmlformats.org/officeDocument/2006/relationships/slide" Target="slides/slide207.xml"/><Relationship Id="rId245" Type="http://schemas.openxmlformats.org/officeDocument/2006/relationships/slide" Target="slides/slide208.xml"/><Relationship Id="rId246" Type="http://schemas.openxmlformats.org/officeDocument/2006/relationships/slide" Target="slides/slide209.xml"/><Relationship Id="rId247" Type="http://schemas.openxmlformats.org/officeDocument/2006/relationships/slide" Target="slides/slide210.xml"/><Relationship Id="rId248" Type="http://schemas.openxmlformats.org/officeDocument/2006/relationships/slide" Target="slides/slide211.xml"/><Relationship Id="rId249" Type="http://schemas.openxmlformats.org/officeDocument/2006/relationships/slide" Target="slides/slide212.xml"/><Relationship Id="rId250" Type="http://schemas.openxmlformats.org/officeDocument/2006/relationships/slide" Target="slides/slide213.xml"/><Relationship Id="rId251" Type="http://schemas.openxmlformats.org/officeDocument/2006/relationships/slide" Target="slides/slide214.xml"/><Relationship Id="rId252" Type="http://schemas.openxmlformats.org/officeDocument/2006/relationships/slide" Target="slides/slide215.xml"/><Relationship Id="rId253" Type="http://schemas.openxmlformats.org/officeDocument/2006/relationships/slide" Target="slides/slide216.xml"/><Relationship Id="rId254" Type="http://schemas.openxmlformats.org/officeDocument/2006/relationships/slide" Target="slides/slide217.xml"/><Relationship Id="rId255" Type="http://schemas.openxmlformats.org/officeDocument/2006/relationships/slide" Target="slides/slide218.xml"/><Relationship Id="rId256" Type="http://schemas.openxmlformats.org/officeDocument/2006/relationships/slide" Target="slides/slide219.xml"/><Relationship Id="rId257" Type="http://schemas.openxmlformats.org/officeDocument/2006/relationships/slide" Target="slides/slide220.xml"/><Relationship Id="rId258" Type="http://schemas.openxmlformats.org/officeDocument/2006/relationships/slide" Target="slides/slide221.xml"/><Relationship Id="rId259" Type="http://schemas.openxmlformats.org/officeDocument/2006/relationships/slide" Target="slides/slide222.xml"/><Relationship Id="rId260" Type="http://schemas.openxmlformats.org/officeDocument/2006/relationships/slide" Target="slides/slide223.xml"/><Relationship Id="rId261" Type="http://schemas.openxmlformats.org/officeDocument/2006/relationships/slide" Target="slides/slide224.xml"/><Relationship Id="rId262" Type="http://schemas.openxmlformats.org/officeDocument/2006/relationships/slide" Target="slides/slide225.xml"/><Relationship Id="rId263" Type="http://schemas.openxmlformats.org/officeDocument/2006/relationships/slide" Target="slides/slide226.xml"/><Relationship Id="rId264" Type="http://schemas.openxmlformats.org/officeDocument/2006/relationships/slide" Target="slides/slide227.xml"/><Relationship Id="rId265" Type="http://schemas.openxmlformats.org/officeDocument/2006/relationships/slide" Target="slides/slide228.xml"/><Relationship Id="rId266" Type="http://schemas.openxmlformats.org/officeDocument/2006/relationships/slide" Target="slides/slide229.xml"/><Relationship Id="rId267" Type="http://schemas.openxmlformats.org/officeDocument/2006/relationships/slide" Target="slides/slide230.xml"/><Relationship Id="rId268" Type="http://schemas.openxmlformats.org/officeDocument/2006/relationships/slide" Target="slides/slide231.xml"/><Relationship Id="rId269" Type="http://schemas.openxmlformats.org/officeDocument/2006/relationships/slide" Target="slides/slide232.xml"/><Relationship Id="rId270" Type="http://schemas.openxmlformats.org/officeDocument/2006/relationships/slide" Target="slides/slide233.xml"/><Relationship Id="rId271" Type="http://schemas.openxmlformats.org/officeDocument/2006/relationships/slide" Target="slides/slide234.xml"/><Relationship Id="rId272" Type="http://schemas.openxmlformats.org/officeDocument/2006/relationships/slide" Target="slides/slide235.xml"/><Relationship Id="rId273" Type="http://schemas.openxmlformats.org/officeDocument/2006/relationships/slide" Target="slides/slide236.xml"/><Relationship Id="rId274" Type="http://schemas.openxmlformats.org/officeDocument/2006/relationships/slide" Target="slides/slide249.xml"/><Relationship Id="rId275" Type="http://schemas.openxmlformats.org/officeDocument/2006/relationships/slide" Target="slides/slide250.xml"/><Relationship Id="rId276" Type="http://schemas.openxmlformats.org/officeDocument/2006/relationships/slide" Target="slides/slide251.xml"/><Relationship Id="rId277" Type="http://schemas.openxmlformats.org/officeDocument/2006/relationships/slide" Target="slides/slide252.xml"/><Relationship Id="rId278" Type="http://schemas.openxmlformats.org/officeDocument/2006/relationships/slide" Target="slides/slide253.xml"/><Relationship Id="rId279" Type="http://schemas.openxmlformats.org/officeDocument/2006/relationships/slide" Target="slides/slide254.xml"/><Relationship Id="rId280" Type="http://schemas.openxmlformats.org/officeDocument/2006/relationships/slide" Target="slides/slide255.xml"/><Relationship Id="rId281" Type="http://schemas.openxmlformats.org/officeDocument/2006/relationships/slide" Target="slides/slide256.xml"/><Relationship Id="rId282" Type="http://schemas.openxmlformats.org/officeDocument/2006/relationships/slide" Target="slides/slide257.xml"/><Relationship Id="rId283" Type="http://schemas.openxmlformats.org/officeDocument/2006/relationships/slide" Target="slides/slide258.xml"/><Relationship Id="rId284" Type="http://schemas.openxmlformats.org/officeDocument/2006/relationships/slide" Target="slides/slide259.xml"/><Relationship Id="rId285" Type="http://schemas.openxmlformats.org/officeDocument/2006/relationships/slide" Target="slides/slide260.xml"/><Relationship Id="rId286" Type="http://schemas.openxmlformats.org/officeDocument/2006/relationships/slide" Target="slides/slide261.xml"/><Relationship Id="rId287" Type="http://schemas.openxmlformats.org/officeDocument/2006/relationships/slide" Target="slides/slide262.xml"/><Relationship Id="rId288" Type="http://schemas.openxmlformats.org/officeDocument/2006/relationships/slide" Target="slides/slide237.xml"/><Relationship Id="rId289" Type="http://schemas.openxmlformats.org/officeDocument/2006/relationships/slide" Target="slides/slide238.xml"/><Relationship Id="rId290" Type="http://schemas.openxmlformats.org/officeDocument/2006/relationships/slide" Target="slides/slide239.xml"/><Relationship Id="rId291" Type="http://schemas.openxmlformats.org/officeDocument/2006/relationships/slide" Target="slides/slide240.xml"/><Relationship Id="rId292" Type="http://schemas.openxmlformats.org/officeDocument/2006/relationships/slide" Target="slides/slide241.xml"/><Relationship Id="rId293" Type="http://schemas.openxmlformats.org/officeDocument/2006/relationships/slide" Target="slides/slide242.xml"/><Relationship Id="rId294" Type="http://schemas.openxmlformats.org/officeDocument/2006/relationships/slide" Target="slides/slide243.xml"/><Relationship Id="rId295" Type="http://schemas.openxmlformats.org/officeDocument/2006/relationships/slide" Target="slides/slide244.xml"/><Relationship Id="rId296" Type="http://schemas.openxmlformats.org/officeDocument/2006/relationships/slide" Target="slides/slide245.xml"/><Relationship Id="rId297" Type="http://schemas.openxmlformats.org/officeDocument/2006/relationships/slide" Target="slides/slide246.xml"/><Relationship Id="rId298" Type="http://schemas.openxmlformats.org/officeDocument/2006/relationships/slide" Target="slides/slide247.xml"/><Relationship Id="rId299" Type="http://schemas.openxmlformats.org/officeDocument/2006/relationships/slide" Target="slides/slide248.xml"/><Relationship Id="rId310" Type="http://schemas.openxmlformats.org/officeDocument/2006/relationships/slide" Target="slides/slide11.xml"/><Relationship Id="rId311" Type="http://schemas.openxmlformats.org/officeDocument/2006/relationships/slide" Target="slides/slide12.xml"/><Relationship Id="rId312" Type="http://schemas.openxmlformats.org/officeDocument/2006/relationships/slide" Target="slides/slide13.xml"/><Relationship Id="rId313" Type="http://schemas.openxmlformats.org/officeDocument/2006/relationships/slide" Target="slides/slide14.xml"/><Relationship Id="rId314" Type="http://schemas.openxmlformats.org/officeDocument/2006/relationships/slide" Target="slides/slide15.xml"/><Relationship Id="rId315" Type="http://schemas.openxmlformats.org/officeDocument/2006/relationships/slide" Target="slides/slide16.xml"/><Relationship Id="rId316" Type="http://schemas.openxmlformats.org/officeDocument/2006/relationships/slide" Target="slides/slide17.xml"/><Relationship Id="rId317" Type="http://schemas.openxmlformats.org/officeDocument/2006/relationships/slide" Target="slides/slide10.xml"/><Relationship Id="rId318" Type="http://schemas.openxmlformats.org/officeDocument/2006/relationships/slide" Target="slides/slide19.xml"/><Relationship Id="rId319" Type="http://schemas.openxmlformats.org/officeDocument/2006/relationships/slide" Target="slides/slide20.xml"/><Relationship Id="rId320" Type="http://schemas.openxmlformats.org/officeDocument/2006/relationships/slide" Target="slides/slide21.xml"/><Relationship Id="rId321" Type="http://schemas.openxmlformats.org/officeDocument/2006/relationships/slide" Target="slides/slide22.xml"/><Relationship Id="rId322" Type="http://schemas.openxmlformats.org/officeDocument/2006/relationships/slide" Target="slides/slide23.xml"/><Relationship Id="rId323" Type="http://schemas.openxmlformats.org/officeDocument/2006/relationships/slide" Target="slides/slide24.xml"/><Relationship Id="rId324" Type="http://schemas.openxmlformats.org/officeDocument/2006/relationships/slide" Target="slides/slide25.xml"/><Relationship Id="rId325" Type="http://schemas.openxmlformats.org/officeDocument/2006/relationships/slide" Target="slides/slide26.xml"/><Relationship Id="rId326" Type="http://schemas.openxmlformats.org/officeDocument/2006/relationships/slide" Target="slides/slide18.xml"/></Relationships>
</file>

<file path=ppt/charts/_rels/chart1.xml.rels><?xml version='1.0' encoding='UTF-8' standalone='yes'?>
<Relationships xmlns="http://schemas.openxmlformats.org/package/2006/relationships"><Relationship Id="rId2" Type="http://schemas.openxmlformats.org/officeDocument/2006/relationships/image" Target="../media/image3.png"/></Relationships>
</file>

<file path=ppt/charts/_rels/chart3.xml.rels><?xml version='1.0' encoding='UTF-8' standalone='yes'?>
<Relationships xmlns="http://schemas.openxmlformats.org/package/2006/relationships"><Relationship Id="rId2" Type="http://schemas.openxmlformats.org/officeDocument/2006/relationships/image" Target="../media/image4.png"/></Relationships>
</file>

<file path=ppt/charts/_rels/chart5.xml.rels><?xml version='1.0' encoding='UTF-8' standalone='yes'?>
<Relationships xmlns="http://schemas.openxmlformats.org/package/2006/relationships"><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charts/_rels/chart6.xml.rels><?xml version='1.0' encoding='UTF-8' standalone='yes'?>
<Relationships xmlns="http://schemas.openxmlformats.org/package/2006/relationships"><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image" Target="../media/image27.png"/><Relationship Id="rId15" Type="http://schemas.openxmlformats.org/officeDocument/2006/relationships/image" Target="../media/image28.png"/><Relationship Id="rId16" Type="http://schemas.openxmlformats.org/officeDocument/2006/relationships/image" Target="../media/image29.png"/><Relationship Id="rId17" Type="http://schemas.openxmlformats.org/officeDocument/2006/relationships/image" Target="../media/image30.png"/><Relationship Id="rId18" Type="http://schemas.openxmlformats.org/officeDocument/2006/relationships/image" Target="../media/image31.png"/><Relationship Id="rId19" Type="http://schemas.openxmlformats.org/officeDocument/2006/relationships/image" Target="../media/image32.png"/><Relationship Id="rId20" Type="http://schemas.openxmlformats.org/officeDocument/2006/relationships/image" Target="../media/image33.png"/><Relationship Id="rId21" Type="http://schemas.openxmlformats.org/officeDocument/2006/relationships/image" Target="../media/image34.png"/><Relationship Id="rId22" Type="http://schemas.openxmlformats.org/officeDocument/2006/relationships/image" Target="../media/image35.png"/><Relationship Id="rId23" Type="http://schemas.openxmlformats.org/officeDocument/2006/relationships/image" Target="../media/image36.png"/></Relationships>
</file>

<file path=ppt/charts/_rels/chart7.xml.rels><?xml version='1.0' encoding='UTF-8' standalone='yes'?>
<Relationships xmlns="http://schemas.openxmlformats.org/package/2006/relationships"><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46.png"/></Relationships>
</file>

<file path=ppt/charts/_rels/chart8.xml.rels><?xml version='1.0' encoding='UTF-8' standalone='yes'?>
<Relationships xmlns="http://schemas.openxmlformats.org/package/2006/relationships"><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55.png"/><Relationship Id="rId11" Type="http://schemas.openxmlformats.org/officeDocument/2006/relationships/image" Target="../media/image56.png"/></Relationships>
</file>

<file path=ppt/charts/_rels/chart9.xml.rels><?xml version='1.0' encoding='UTF-8' standalone='yes'?>
<Relationships xmlns="http://schemas.openxmlformats.org/package/2006/relationships"><Relationship Id="rId2" Type="http://schemas.openxmlformats.org/officeDocument/2006/relationships/image" Target="../media/image57.png"/><Relationship Id="rId3" Type="http://schemas.openxmlformats.org/officeDocument/2006/relationships/image" Target="../media/image58.png"/></Relationships>
</file>

<file path=ppt/charts/_rels/chart11.xml.rels><?xml version='1.0' encoding='UTF-8' standalone='yes'?>
<Relationships xmlns="http://schemas.openxmlformats.org/package/2006/relationships"><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image" Target="../media/image84.png"/><Relationship Id="rId10" Type="http://schemas.openxmlformats.org/officeDocument/2006/relationships/image" Target="../media/image85.png"/><Relationship Id="rId11" Type="http://schemas.openxmlformats.org/officeDocument/2006/relationships/image" Target="../media/image86.png"/><Relationship Id="rId12" Type="http://schemas.openxmlformats.org/officeDocument/2006/relationships/image" Target="../media/image87.png"/></Relationships>
</file>

<file path=ppt/charts/_rels/chart12.xml.rels><?xml version='1.0' encoding='UTF-8' standalone='yes'?>
<Relationships xmlns="http://schemas.openxmlformats.org/package/2006/relationships"><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 Id="rId12" Type="http://schemas.openxmlformats.org/officeDocument/2006/relationships/image" Target="../media/image101.png"/><Relationship Id="rId13" Type="http://schemas.openxmlformats.org/officeDocument/2006/relationships/image" Target="../media/image102.png"/></Relationships>
</file>

<file path=ppt/charts/_rels/chart13.xml.rels><?xml version='1.0' encoding='UTF-8' standalone='yes'?>
<Relationships xmlns="http://schemas.openxmlformats.org/package/2006/relationships"><Relationship Id="rId2" Type="http://schemas.openxmlformats.org/officeDocument/2006/relationships/image" Target="../media/image106.png"/></Relationships>
</file>

<file path=ppt/charts/_rels/chart14.xml.rels><?xml version='1.0' encoding='UTF-8' standalone='yes'?>
<Relationships xmlns="http://schemas.openxmlformats.org/package/2006/relationships"><Relationship Id="rId2" Type="http://schemas.openxmlformats.org/officeDocument/2006/relationships/image" Target="../media/image107.png"/></Relationships>
</file>

<file path=ppt/charts/_rels/chart15.xml.rels><?xml version='1.0' encoding='UTF-8' standalone='yes'?>
<Relationships xmlns="http://schemas.openxmlformats.org/package/2006/relationships"><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 Id="rId8" Type="http://schemas.openxmlformats.org/officeDocument/2006/relationships/image" Target="../media/image119.png"/><Relationship Id="rId9" Type="http://schemas.openxmlformats.org/officeDocument/2006/relationships/image" Target="../media/image120.png"/><Relationship Id="rId10" Type="http://schemas.openxmlformats.org/officeDocument/2006/relationships/image" Target="../media/image121.png"/><Relationship Id="rId11" Type="http://schemas.openxmlformats.org/officeDocument/2006/relationships/image" Target="../media/image122.png"/><Relationship Id="rId12" Type="http://schemas.openxmlformats.org/officeDocument/2006/relationships/image" Target="../media/image123.png"/><Relationship Id="rId13" Type="http://schemas.openxmlformats.org/officeDocument/2006/relationships/image" Target="../media/image124.png"/></Relationships>
</file>

<file path=ppt/charts/_rels/chart19.xml.rels><?xml version='1.0' encoding='UTF-8' standalone='yes'?>
<Relationships xmlns="http://schemas.openxmlformats.org/package/2006/relationships"><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image" Target="../media/image130.png"/></Relationships>
</file>

<file path=ppt/charts/_rels/chart20.xml.rels><?xml version='1.0' encoding='UTF-8' standalone='yes'?>
<Relationships xmlns="http://schemas.openxmlformats.org/package/2006/relationships"><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 Id="rId8" Type="http://schemas.openxmlformats.org/officeDocument/2006/relationships/image" Target="../media/image141.png"/><Relationship Id="rId9"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image" Target="../media/image145.png"/><Relationship Id="rId13" Type="http://schemas.openxmlformats.org/officeDocument/2006/relationships/image" Target="../media/image146.png"/></Relationships>
</file>

<file path=ppt/charts/_rels/chart24.xml.rels><?xml version='1.0' encoding='UTF-8' standalone='yes'?>
<Relationships xmlns="http://schemas.openxmlformats.org/package/2006/relationships"><Relationship Id="rId2" Type="http://schemas.openxmlformats.org/officeDocument/2006/relationships/image" Target="../media/image147.png"/><Relationship Id="rId3" Type="http://schemas.openxmlformats.org/officeDocument/2006/relationships/image" Target="../media/image148.png"/></Relationships>
</file>

<file path=ppt/charts/_rels/chart25.xml.rels><?xml version='1.0' encoding='UTF-8' standalone='yes'?>
<Relationships xmlns="http://schemas.openxmlformats.org/package/2006/relationships"><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 Id="rId6" Type="http://schemas.openxmlformats.org/officeDocument/2006/relationships/image" Target="../media/image158.png"/><Relationship Id="rId7" Type="http://schemas.openxmlformats.org/officeDocument/2006/relationships/image" Target="../media/image159.png"/><Relationship Id="rId8" Type="http://schemas.openxmlformats.org/officeDocument/2006/relationships/image" Target="../media/image160.png"/><Relationship Id="rId9" Type="http://schemas.openxmlformats.org/officeDocument/2006/relationships/image" Target="../media/image161.png"/><Relationship Id="rId10" Type="http://schemas.openxmlformats.org/officeDocument/2006/relationships/image" Target="../media/image162.png"/><Relationship Id="rId11" Type="http://schemas.openxmlformats.org/officeDocument/2006/relationships/image" Target="../media/image163.png"/></Relationships>
</file>

<file path=ppt/charts/_rels/chart29.xml.rels><?xml version='1.0' encoding='UTF-8' standalone='yes'?>
<Relationships xmlns="http://schemas.openxmlformats.org/package/2006/relationships"><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image" Target="../media/image168.png"/><Relationship Id="rId7" Type="http://schemas.openxmlformats.org/officeDocument/2006/relationships/image" Target="../media/image169.png"/></Relationships>
</file>

<file path=ppt/charts/_rels/chart30.xml.rels><?xml version='1.0' encoding='UTF-8' standalone='yes'?>
<Relationships xmlns="http://schemas.openxmlformats.org/package/2006/relationships"><Relationship Id="rId2" Type="http://schemas.openxmlformats.org/officeDocument/2006/relationships/image" Target="../media/image174.png"/><Relationship Id="rId3" Type="http://schemas.openxmlformats.org/officeDocument/2006/relationships/image" Target="../media/image175.png"/><Relationship Id="rId4" Type="http://schemas.openxmlformats.org/officeDocument/2006/relationships/image" Target="../media/image176.png"/><Relationship Id="rId5" Type="http://schemas.openxmlformats.org/officeDocument/2006/relationships/image" Target="../media/image177.png"/><Relationship Id="rId6" Type="http://schemas.openxmlformats.org/officeDocument/2006/relationships/image" Target="../media/image178.png"/><Relationship Id="rId7" Type="http://schemas.openxmlformats.org/officeDocument/2006/relationships/image" Target="../media/image179.png"/><Relationship Id="rId8" Type="http://schemas.openxmlformats.org/officeDocument/2006/relationships/image" Target="../media/image180.png"/><Relationship Id="rId9" Type="http://schemas.openxmlformats.org/officeDocument/2006/relationships/image" Target="../media/image181.png"/><Relationship Id="rId10" Type="http://schemas.openxmlformats.org/officeDocument/2006/relationships/image" Target="../media/image182.png"/><Relationship Id="rId11" Type="http://schemas.openxmlformats.org/officeDocument/2006/relationships/image" Target="../media/image183.png"/><Relationship Id="rId12" Type="http://schemas.openxmlformats.org/officeDocument/2006/relationships/image" Target="../media/image184.png"/><Relationship Id="rId13" Type="http://schemas.openxmlformats.org/officeDocument/2006/relationships/image" Target="../media/image185.png"/></Relationships>
</file>

<file path=ppt/charts/_rels/chart34.xml.rels><?xml version='1.0' encoding='UTF-8' standalone='yes'?>
<Relationships xmlns="http://schemas.openxmlformats.org/package/2006/relationships"><Relationship Id="rId2" Type="http://schemas.openxmlformats.org/officeDocument/2006/relationships/image" Target="../media/image186.png"/><Relationship Id="rId3" Type="http://schemas.openxmlformats.org/officeDocument/2006/relationships/image" Target="../media/image187.png"/><Relationship Id="rId4" Type="http://schemas.openxmlformats.org/officeDocument/2006/relationships/image" Target="../media/image188.png"/><Relationship Id="rId5" Type="http://schemas.openxmlformats.org/officeDocument/2006/relationships/image" Target="../media/image189.png"/><Relationship Id="rId6" Type="http://schemas.openxmlformats.org/officeDocument/2006/relationships/image" Target="../media/image190.png"/><Relationship Id="rId7" Type="http://schemas.openxmlformats.org/officeDocument/2006/relationships/image" Target="../media/image191.png"/></Relationships>
</file>

<file path=ppt/charts/_rels/chart35.xml.rels><?xml version='1.0' encoding='UTF-8' standalone='yes'?>
<Relationships xmlns="http://schemas.openxmlformats.org/package/2006/relationships"><Relationship Id="rId2" Type="http://schemas.openxmlformats.org/officeDocument/2006/relationships/image" Target="../media/image203.png"/><Relationship Id="rId3" Type="http://schemas.openxmlformats.org/officeDocument/2006/relationships/image" Target="../media/image204.png"/><Relationship Id="rId4" Type="http://schemas.openxmlformats.org/officeDocument/2006/relationships/image" Target="../media/image205.png"/><Relationship Id="rId5" Type="http://schemas.openxmlformats.org/officeDocument/2006/relationships/image" Target="../media/image206.png"/><Relationship Id="rId6" Type="http://schemas.openxmlformats.org/officeDocument/2006/relationships/image" Target="../media/image207.png"/><Relationship Id="rId7" Type="http://schemas.openxmlformats.org/officeDocument/2006/relationships/image" Target="../media/image208.png"/><Relationship Id="rId8" Type="http://schemas.openxmlformats.org/officeDocument/2006/relationships/image" Target="../media/image209.png"/><Relationship Id="rId9" Type="http://schemas.openxmlformats.org/officeDocument/2006/relationships/image" Target="../media/image210.png"/><Relationship Id="rId10" Type="http://schemas.openxmlformats.org/officeDocument/2006/relationships/image" Target="../media/image211.png"/><Relationship Id="rId11" Type="http://schemas.openxmlformats.org/officeDocument/2006/relationships/image" Target="../media/image212.png"/><Relationship Id="rId12" Type="http://schemas.openxmlformats.org/officeDocument/2006/relationships/image" Target="../media/image213.png"/><Relationship Id="rId13" Type="http://schemas.openxmlformats.org/officeDocument/2006/relationships/image" Target="../media/image214.png"/><Relationship Id="rId14" Type="http://schemas.openxmlformats.org/officeDocument/2006/relationships/image" Target="../media/image215.png"/><Relationship Id="rId15" Type="http://schemas.openxmlformats.org/officeDocument/2006/relationships/image" Target="../media/image216.png"/><Relationship Id="rId16" Type="http://schemas.openxmlformats.org/officeDocument/2006/relationships/image" Target="../media/image217.png"/><Relationship Id="rId17" Type="http://schemas.openxmlformats.org/officeDocument/2006/relationships/image" Target="../media/image218.png"/><Relationship Id="rId18" Type="http://schemas.openxmlformats.org/officeDocument/2006/relationships/image" Target="../media/image219.png"/><Relationship Id="rId19" Type="http://schemas.openxmlformats.org/officeDocument/2006/relationships/image" Target="../media/image220.png"/><Relationship Id="rId20" Type="http://schemas.openxmlformats.org/officeDocument/2006/relationships/image" Target="../media/image221.png"/><Relationship Id="rId21" Type="http://schemas.openxmlformats.org/officeDocument/2006/relationships/image" Target="../media/image222.png"/><Relationship Id="rId22" Type="http://schemas.openxmlformats.org/officeDocument/2006/relationships/image" Target="../media/image223.png"/><Relationship Id="rId23" Type="http://schemas.openxmlformats.org/officeDocument/2006/relationships/image" Target="../media/image224.png"/><Relationship Id="rId24" Type="http://schemas.openxmlformats.org/officeDocument/2006/relationships/image" Target="../media/image225.png"/></Relationships>
</file>

<file path=ppt/charts/_rels/chart41.xml.rels><?xml version='1.0' encoding='UTF-8' standalone='yes'?>
<Relationships xmlns="http://schemas.openxmlformats.org/package/2006/relationships"><Relationship Id="rId2" Type="http://schemas.openxmlformats.org/officeDocument/2006/relationships/image" Target="../media/image226.png"/><Relationship Id="rId3" Type="http://schemas.openxmlformats.org/officeDocument/2006/relationships/image" Target="../media/image227.png"/><Relationship Id="rId4" Type="http://schemas.openxmlformats.org/officeDocument/2006/relationships/image" Target="../media/image228.png"/><Relationship Id="rId5" Type="http://schemas.openxmlformats.org/officeDocument/2006/relationships/image" Target="../media/image229.png"/><Relationship Id="rId6" Type="http://schemas.openxmlformats.org/officeDocument/2006/relationships/image" Target="../media/image230.png"/><Relationship Id="rId7" Type="http://schemas.openxmlformats.org/officeDocument/2006/relationships/image" Target="../media/image231.png"/><Relationship Id="rId8" Type="http://schemas.openxmlformats.org/officeDocument/2006/relationships/image" Target="../media/image232.png"/><Relationship Id="rId9" Type="http://schemas.openxmlformats.org/officeDocument/2006/relationships/image" Target="../media/image233.png"/><Relationship Id="rId10" Type="http://schemas.openxmlformats.org/officeDocument/2006/relationships/image" Target="../media/image234.png"/><Relationship Id="rId11" Type="http://schemas.openxmlformats.org/officeDocument/2006/relationships/image" Target="../media/image235.png"/><Relationship Id="rId12" Type="http://schemas.openxmlformats.org/officeDocument/2006/relationships/image" Target="../media/image236.png"/><Relationship Id="rId13" Type="http://schemas.openxmlformats.org/officeDocument/2006/relationships/image" Target="../media/image237.png"/></Relationships>
</file>

<file path=ppt/charts/_rels/chart42.xml.rels><?xml version='1.0' encoding='UTF-8' standalone='yes'?>
<Relationships xmlns="http://schemas.openxmlformats.org/package/2006/relationships"><Relationship Id="rId2" Type="http://schemas.openxmlformats.org/officeDocument/2006/relationships/image" Target="../media/image243.png"/><Relationship Id="rId3" Type="http://schemas.openxmlformats.org/officeDocument/2006/relationships/image" Target="../media/image244.png"/><Relationship Id="rId4" Type="http://schemas.openxmlformats.org/officeDocument/2006/relationships/image" Target="../media/image245.png"/><Relationship Id="rId5" Type="http://schemas.openxmlformats.org/officeDocument/2006/relationships/image" Target="../media/image246.png"/><Relationship Id="rId6" Type="http://schemas.openxmlformats.org/officeDocument/2006/relationships/image" Target="../media/image247.png"/><Relationship Id="rId7" Type="http://schemas.openxmlformats.org/officeDocument/2006/relationships/image" Target="../media/image248.png"/><Relationship Id="rId8" Type="http://schemas.openxmlformats.org/officeDocument/2006/relationships/image" Target="../media/image249.png"/><Relationship Id="rId9" Type="http://schemas.openxmlformats.org/officeDocument/2006/relationships/image" Target="../media/image250.png"/><Relationship Id="rId10" Type="http://schemas.openxmlformats.org/officeDocument/2006/relationships/image" Target="../media/image251.png"/><Relationship Id="rId11" Type="http://schemas.openxmlformats.org/officeDocument/2006/relationships/image" Target="../media/image252.png"/><Relationship Id="rId12" Type="http://schemas.openxmlformats.org/officeDocument/2006/relationships/image" Target="../media/image253.png"/><Relationship Id="rId13" Type="http://schemas.openxmlformats.org/officeDocument/2006/relationships/image" Target="../media/image254.png"/></Relationships>
</file>

<file path=ppt/charts/_rels/chart46.xml.rels><?xml version='1.0' encoding='UTF-8' standalone='yes'?>
<Relationships xmlns="http://schemas.openxmlformats.org/package/2006/relationships"><Relationship Id="rId2" Type="http://schemas.openxmlformats.org/officeDocument/2006/relationships/image" Target="../media/image255.png"/><Relationship Id="rId3" Type="http://schemas.openxmlformats.org/officeDocument/2006/relationships/image" Target="../media/image256.png"/><Relationship Id="rId4" Type="http://schemas.openxmlformats.org/officeDocument/2006/relationships/image" Target="../media/image257.png"/><Relationship Id="rId5" Type="http://schemas.openxmlformats.org/officeDocument/2006/relationships/image" Target="../media/image258.png"/><Relationship Id="rId6" Type="http://schemas.openxmlformats.org/officeDocument/2006/relationships/image" Target="../media/image259.png"/><Relationship Id="rId7" Type="http://schemas.openxmlformats.org/officeDocument/2006/relationships/image" Target="../media/image260.png"/></Relationships>
</file>

<file path=ppt/charts/_rels/chart50.xml.rels><?xml version='1.0' encoding='UTF-8' standalone='yes'?>
<Relationships xmlns="http://schemas.openxmlformats.org/package/2006/relationships"><Relationship Id="rId2" Type="http://schemas.openxmlformats.org/officeDocument/2006/relationships/image" Target="../media/image261.png"/></Relationships>
</file>

<file path=ppt/charts/_rels/chart52.xml.rels><?xml version='1.0' encoding='UTF-8' standalone='yes'?>
<Relationships xmlns="http://schemas.openxmlformats.org/package/2006/relationships"><Relationship Id="rId2" Type="http://schemas.openxmlformats.org/officeDocument/2006/relationships/image" Target="../media/image262.png"/></Relationships>
</file>

<file path=ppt/charts/_rels/chart54.xml.rels><?xml version='1.0' encoding='UTF-8' standalone='yes'?>
<Relationships xmlns="http://schemas.openxmlformats.org/package/2006/relationships"><Relationship Id="rId2" Type="http://schemas.openxmlformats.org/officeDocument/2006/relationships/image" Target="../media/image263.png"/><Relationship Id="rId3" Type="http://schemas.openxmlformats.org/officeDocument/2006/relationships/image" Target="../media/image264.png"/><Relationship Id="rId4" Type="http://schemas.openxmlformats.org/officeDocument/2006/relationships/image" Target="../media/image265.png"/><Relationship Id="rId5" Type="http://schemas.openxmlformats.org/officeDocument/2006/relationships/image" Target="../media/image266.png"/><Relationship Id="rId6" Type="http://schemas.openxmlformats.org/officeDocument/2006/relationships/image" Target="../media/image267.png"/><Relationship Id="rId7" Type="http://schemas.openxmlformats.org/officeDocument/2006/relationships/image" Target="../media/image268.png"/><Relationship Id="rId8" Type="http://schemas.openxmlformats.org/officeDocument/2006/relationships/image" Target="../media/image269.png"/><Relationship Id="rId9" Type="http://schemas.openxmlformats.org/officeDocument/2006/relationships/image" Target="../media/image270.png"/><Relationship Id="rId10" Type="http://schemas.openxmlformats.org/officeDocument/2006/relationships/image" Target="../media/image271.png"/><Relationship Id="rId11" Type="http://schemas.openxmlformats.org/officeDocument/2006/relationships/image" Target="../media/image272.png"/></Relationships>
</file>

<file path=ppt/charts/_rels/chart55.xml.rels><?xml version='1.0' encoding='UTF-8' standalone='yes'?>
<Relationships xmlns="http://schemas.openxmlformats.org/package/2006/relationships"><Relationship Id="rId2" Type="http://schemas.openxmlformats.org/officeDocument/2006/relationships/image" Target="../media/image273.png"/><Relationship Id="rId3" Type="http://schemas.openxmlformats.org/officeDocument/2006/relationships/image" Target="../media/image274.png"/><Relationship Id="rId4" Type="http://schemas.openxmlformats.org/officeDocument/2006/relationships/image" Target="../media/image275.png"/><Relationship Id="rId5" Type="http://schemas.openxmlformats.org/officeDocument/2006/relationships/image" Target="../media/image276.png"/><Relationship Id="rId6" Type="http://schemas.openxmlformats.org/officeDocument/2006/relationships/image" Target="../media/image277.png"/><Relationship Id="rId7" Type="http://schemas.openxmlformats.org/officeDocument/2006/relationships/image" Target="../media/image278.png"/><Relationship Id="rId8" Type="http://schemas.openxmlformats.org/officeDocument/2006/relationships/image" Target="../media/image279.png"/><Relationship Id="rId9" Type="http://schemas.openxmlformats.org/officeDocument/2006/relationships/image" Target="../media/image280.png"/><Relationship Id="rId10" Type="http://schemas.openxmlformats.org/officeDocument/2006/relationships/image" Target="../media/image281.png"/><Relationship Id="rId11" Type="http://schemas.openxmlformats.org/officeDocument/2006/relationships/image" Target="../media/image282.png"/><Relationship Id="rId12" Type="http://schemas.openxmlformats.org/officeDocument/2006/relationships/image" Target="../media/image283.png"/><Relationship Id="rId13" Type="http://schemas.openxmlformats.org/officeDocument/2006/relationships/image" Target="../media/image284.png"/><Relationship Id="rId14" Type="http://schemas.openxmlformats.org/officeDocument/2006/relationships/image" Target="../media/image285.png"/><Relationship Id="rId15" Type="http://schemas.openxmlformats.org/officeDocument/2006/relationships/image" Target="../media/image286.png"/><Relationship Id="rId16" Type="http://schemas.openxmlformats.org/officeDocument/2006/relationships/image" Target="../media/image287.png"/><Relationship Id="rId17" Type="http://schemas.openxmlformats.org/officeDocument/2006/relationships/image" Target="../media/image288.png"/><Relationship Id="rId18" Type="http://schemas.openxmlformats.org/officeDocument/2006/relationships/image" Target="../media/image289.png"/><Relationship Id="rId19" Type="http://schemas.openxmlformats.org/officeDocument/2006/relationships/image" Target="../media/image290.png"/><Relationship Id="rId20" Type="http://schemas.openxmlformats.org/officeDocument/2006/relationships/image" Target="../media/image291.png"/><Relationship Id="rId21" Type="http://schemas.openxmlformats.org/officeDocument/2006/relationships/image" Target="../media/image292.png"/><Relationship Id="rId22" Type="http://schemas.openxmlformats.org/officeDocument/2006/relationships/image" Target="../media/image293.png"/><Relationship Id="rId23" Type="http://schemas.openxmlformats.org/officeDocument/2006/relationships/image" Target="../media/image294.png"/></Relationships>
</file>

<file path=ppt/charts/_rels/chart56.xml.rels><?xml version='1.0' encoding='UTF-8' standalone='yes'?>
<Relationships xmlns="http://schemas.openxmlformats.org/package/2006/relationships"><Relationship Id="rId2" Type="http://schemas.openxmlformats.org/officeDocument/2006/relationships/image" Target="../media/image295.png"/><Relationship Id="rId3" Type="http://schemas.openxmlformats.org/officeDocument/2006/relationships/image" Target="../media/image296.png"/></Relationships>
</file>

<file path=ppt/charts/_rels/chart57.xml.rels><?xml version='1.0' encoding='UTF-8' standalone='yes'?>
<Relationships xmlns="http://schemas.openxmlformats.org/package/2006/relationships"><Relationship Id="rId2" Type="http://schemas.openxmlformats.org/officeDocument/2006/relationships/image" Target="../media/image297.png"/><Relationship Id="rId3" Type="http://schemas.openxmlformats.org/officeDocument/2006/relationships/image" Target="../media/image298.png"/></Relationships>
</file>

<file path=ppt/charts/_rels/chart58.xml.rels><?xml version='1.0' encoding='UTF-8' standalone='yes'?>
<Relationships xmlns="http://schemas.openxmlformats.org/package/2006/relationships"><Relationship Id="rId2" Type="http://schemas.openxmlformats.org/officeDocument/2006/relationships/image" Target="../media/image299.png"/><Relationship Id="rId3" Type="http://schemas.openxmlformats.org/officeDocument/2006/relationships/image" Target="../media/image300.png"/></Relationships>
</file>

<file path=ppt/charts/_rels/chart60.xml.rels><?xml version='1.0' encoding='UTF-8' standalone='yes'?>
<Relationships xmlns="http://schemas.openxmlformats.org/package/2006/relationships"><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image" Target="../media/image303.png"/><Relationship Id="rId5" Type="http://schemas.openxmlformats.org/officeDocument/2006/relationships/image" Target="../media/image304.png"/></Relationships>
</file>

<file path=ppt/charts/_rels/chart61.xml.rels><?xml version='1.0' encoding='UTF-8' standalone='yes'?>
<Relationships xmlns="http://schemas.openxmlformats.org/package/2006/relationships"><Relationship Id="rId2" Type="http://schemas.openxmlformats.org/officeDocument/2006/relationships/image" Target="../media/image305.png"/><Relationship Id="rId3" Type="http://schemas.openxmlformats.org/officeDocument/2006/relationships/image" Target="../media/image306.png"/><Relationship Id="rId4" Type="http://schemas.openxmlformats.org/officeDocument/2006/relationships/image" Target="../media/image307.png"/><Relationship Id="rId5" Type="http://schemas.openxmlformats.org/officeDocument/2006/relationships/image" Target="../media/image308.png"/></Relationships>
</file>

<file path=ppt/charts/_rels/chart62.xml.rels><?xml version='1.0' encoding='UTF-8' standalone='yes'?>
<Relationships xmlns="http://schemas.openxmlformats.org/package/2006/relationships"><Relationship Id="rId2" Type="http://schemas.openxmlformats.org/officeDocument/2006/relationships/image" Target="../media/image309.png"/><Relationship Id="rId3" Type="http://schemas.openxmlformats.org/officeDocument/2006/relationships/image" Target="../media/image310.png"/><Relationship Id="rId4" Type="http://schemas.openxmlformats.org/officeDocument/2006/relationships/image" Target="../media/image311.png"/><Relationship Id="rId5" Type="http://schemas.openxmlformats.org/officeDocument/2006/relationships/image" Target="../media/image312.png"/><Relationship Id="rId6" Type="http://schemas.openxmlformats.org/officeDocument/2006/relationships/image" Target="../media/image313.png"/><Relationship Id="rId7" Type="http://schemas.openxmlformats.org/officeDocument/2006/relationships/image" Target="../media/image314.png"/><Relationship Id="rId8" Type="http://schemas.openxmlformats.org/officeDocument/2006/relationships/image" Target="../media/image315.png"/><Relationship Id="rId9" Type="http://schemas.openxmlformats.org/officeDocument/2006/relationships/image" Target="../media/image316.png"/><Relationship Id="rId10" Type="http://schemas.openxmlformats.org/officeDocument/2006/relationships/image" Target="../media/image317.png"/><Relationship Id="rId11" Type="http://schemas.openxmlformats.org/officeDocument/2006/relationships/image" Target="../media/image318.png"/><Relationship Id="rId12" Type="http://schemas.openxmlformats.org/officeDocument/2006/relationships/image" Target="../media/image319.png"/><Relationship Id="rId13" Type="http://schemas.openxmlformats.org/officeDocument/2006/relationships/image" Target="../media/image320.png"/><Relationship Id="rId14" Type="http://schemas.openxmlformats.org/officeDocument/2006/relationships/image" Target="../media/image321.png"/><Relationship Id="rId15" Type="http://schemas.openxmlformats.org/officeDocument/2006/relationships/image" Target="../media/image322.png"/><Relationship Id="rId16" Type="http://schemas.openxmlformats.org/officeDocument/2006/relationships/image" Target="../media/image323.png"/><Relationship Id="rId17" Type="http://schemas.openxmlformats.org/officeDocument/2006/relationships/image" Target="../media/image324.png"/><Relationship Id="rId18" Type="http://schemas.openxmlformats.org/officeDocument/2006/relationships/image" Target="../media/image325.png"/><Relationship Id="rId19" Type="http://schemas.openxmlformats.org/officeDocument/2006/relationships/image" Target="../media/image326.png"/><Relationship Id="rId20" Type="http://schemas.openxmlformats.org/officeDocument/2006/relationships/image" Target="../media/image327.png"/><Relationship Id="rId21" Type="http://schemas.openxmlformats.org/officeDocument/2006/relationships/image" Target="../media/image328.png"/><Relationship Id="rId22" Type="http://schemas.openxmlformats.org/officeDocument/2006/relationships/image" Target="../media/image329.png"/><Relationship Id="rId23" Type="http://schemas.openxmlformats.org/officeDocument/2006/relationships/image" Target="../media/image330.png"/><Relationship Id="rId24" Type="http://schemas.openxmlformats.org/officeDocument/2006/relationships/image" Target="../media/image331.png"/><Relationship Id="rId25" Type="http://schemas.openxmlformats.org/officeDocument/2006/relationships/image" Target="../media/image332.png"/><Relationship Id="rId26" Type="http://schemas.openxmlformats.org/officeDocument/2006/relationships/image" Target="../media/image333.png"/><Relationship Id="rId27" Type="http://schemas.openxmlformats.org/officeDocument/2006/relationships/image" Target="../media/image334.png"/><Relationship Id="rId28" Type="http://schemas.openxmlformats.org/officeDocument/2006/relationships/image" Target="../media/image335.png"/><Relationship Id="rId29" Type="http://schemas.openxmlformats.org/officeDocument/2006/relationships/image" Target="../media/image336.png"/><Relationship Id="rId30" Type="http://schemas.openxmlformats.org/officeDocument/2006/relationships/image" Target="../media/image337.png"/><Relationship Id="rId31" Type="http://schemas.openxmlformats.org/officeDocument/2006/relationships/image" Target="../media/image338.png"/><Relationship Id="rId32" Type="http://schemas.openxmlformats.org/officeDocument/2006/relationships/image" Target="../media/image339.png"/><Relationship Id="rId33" Type="http://schemas.openxmlformats.org/officeDocument/2006/relationships/image" Target="../media/image340.png"/></Relationships>
</file>

<file path=ppt/charts/_rels/chart63.xml.rels><?xml version='1.0' encoding='UTF-8' standalone='yes'?>
<Relationships xmlns="http://schemas.openxmlformats.org/package/2006/relationships"><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image" Target="../media/image345.png"/><Relationship Id="rId7" Type="http://schemas.openxmlformats.org/officeDocument/2006/relationships/image" Target="../media/image346.png"/><Relationship Id="rId8" Type="http://schemas.openxmlformats.org/officeDocument/2006/relationships/image" Target="../media/image347.png"/><Relationship Id="rId9" Type="http://schemas.openxmlformats.org/officeDocument/2006/relationships/image" Target="../media/image348.png"/><Relationship Id="rId10" Type="http://schemas.openxmlformats.org/officeDocument/2006/relationships/image" Target="../media/image349.png"/><Relationship Id="rId11" Type="http://schemas.openxmlformats.org/officeDocument/2006/relationships/image" Target="../media/image350.png"/><Relationship Id="rId12" Type="http://schemas.openxmlformats.org/officeDocument/2006/relationships/image" Target="../media/image351.png"/><Relationship Id="rId13" Type="http://schemas.openxmlformats.org/officeDocument/2006/relationships/image" Target="../media/image352.png"/><Relationship Id="rId14" Type="http://schemas.openxmlformats.org/officeDocument/2006/relationships/image" Target="../media/image353.png"/><Relationship Id="rId15" Type="http://schemas.openxmlformats.org/officeDocument/2006/relationships/image" Target="../media/image354.png"/><Relationship Id="rId16" Type="http://schemas.openxmlformats.org/officeDocument/2006/relationships/image" Target="../media/image355.png"/><Relationship Id="rId17" Type="http://schemas.openxmlformats.org/officeDocument/2006/relationships/image" Target="../media/image356.png"/><Relationship Id="rId18" Type="http://schemas.openxmlformats.org/officeDocument/2006/relationships/image" Target="../media/image357.png"/><Relationship Id="rId19" Type="http://schemas.openxmlformats.org/officeDocument/2006/relationships/image" Target="../media/image358.png"/><Relationship Id="rId20" Type="http://schemas.openxmlformats.org/officeDocument/2006/relationships/image" Target="../media/image359.png"/><Relationship Id="rId21" Type="http://schemas.openxmlformats.org/officeDocument/2006/relationships/image" Target="../media/image360.png"/><Relationship Id="rId22" Type="http://schemas.openxmlformats.org/officeDocument/2006/relationships/image" Target="../media/image361.png"/><Relationship Id="rId23" Type="http://schemas.openxmlformats.org/officeDocument/2006/relationships/image" Target="../media/image362.png"/><Relationship Id="rId24" Type="http://schemas.openxmlformats.org/officeDocument/2006/relationships/image" Target="../media/image363.png"/><Relationship Id="rId25" Type="http://schemas.openxmlformats.org/officeDocument/2006/relationships/image" Target="../media/image364.png"/><Relationship Id="rId26" Type="http://schemas.openxmlformats.org/officeDocument/2006/relationships/image" Target="../media/image365.png"/><Relationship Id="rId27" Type="http://schemas.openxmlformats.org/officeDocument/2006/relationships/image" Target="../media/image366.png"/><Relationship Id="rId28" Type="http://schemas.openxmlformats.org/officeDocument/2006/relationships/image" Target="../media/image367.png"/><Relationship Id="rId29" Type="http://schemas.openxmlformats.org/officeDocument/2006/relationships/image" Target="../media/image368.png"/><Relationship Id="rId30" Type="http://schemas.openxmlformats.org/officeDocument/2006/relationships/image" Target="../media/image369.png"/><Relationship Id="rId31" Type="http://schemas.openxmlformats.org/officeDocument/2006/relationships/image" Target="../media/image370.png"/><Relationship Id="rId32" Type="http://schemas.openxmlformats.org/officeDocument/2006/relationships/image" Target="../media/image371.png"/><Relationship Id="rId33" Type="http://schemas.openxmlformats.org/officeDocument/2006/relationships/image" Target="../media/image372.png"/></Relationships>
</file>

<file path=ppt/charts/_rels/chart64.xml.rels><?xml version='1.0' encoding='UTF-8' standalone='yes'?>
<Relationships xmlns="http://schemas.openxmlformats.org/package/2006/relationships"><Relationship Id="rId2" Type="http://schemas.openxmlformats.org/officeDocument/2006/relationships/image" Target="../media/image379.png"/><Relationship Id="rId3" Type="http://schemas.openxmlformats.org/officeDocument/2006/relationships/image" Target="../media/image380.png"/><Relationship Id="rId4" Type="http://schemas.openxmlformats.org/officeDocument/2006/relationships/image" Target="../media/image381.png"/><Relationship Id="rId5" Type="http://schemas.openxmlformats.org/officeDocument/2006/relationships/image" Target="../media/image382.png"/></Relationships>
</file>

<file path=ppt/charts/_rels/chart68.xml.rels><?xml version='1.0' encoding='UTF-8' standalone='yes'?>
<Relationships xmlns="http://schemas.openxmlformats.org/package/2006/relationships"><Relationship Id="rId2" Type="http://schemas.openxmlformats.org/officeDocument/2006/relationships/image" Target="../media/image383.png"/><Relationship Id="rId3" Type="http://schemas.openxmlformats.org/officeDocument/2006/relationships/image" Target="../media/image384.png"/><Relationship Id="rId4" Type="http://schemas.openxmlformats.org/officeDocument/2006/relationships/image" Target="../media/image385.png"/><Relationship Id="rId5" Type="http://schemas.openxmlformats.org/officeDocument/2006/relationships/image" Target="../media/image386.png"/><Relationship Id="rId6" Type="http://schemas.openxmlformats.org/officeDocument/2006/relationships/image" Target="../media/image387.png"/><Relationship Id="rId7" Type="http://schemas.openxmlformats.org/officeDocument/2006/relationships/image" Target="../media/image388.png"/></Relationships>
</file>

<file path=ppt/charts/_rels/chart69.xml.rels><?xml version='1.0' encoding='UTF-8' standalone='yes'?>
<Relationships xmlns="http://schemas.openxmlformats.org/package/2006/relationships"><Relationship Id="rId2" Type="http://schemas.openxmlformats.org/officeDocument/2006/relationships/image" Target="../media/image393.png"/><Relationship Id="rId3" Type="http://schemas.openxmlformats.org/officeDocument/2006/relationships/image" Target="../media/image394.png"/><Relationship Id="rId4" Type="http://schemas.openxmlformats.org/officeDocument/2006/relationships/image" Target="../media/image395.png"/><Relationship Id="rId5" Type="http://schemas.openxmlformats.org/officeDocument/2006/relationships/image" Target="../media/image396.png"/></Relationships>
</file>

<file path=ppt/charts/_rels/chart73.xml.rels><?xml version='1.0' encoding='UTF-8' standalone='yes'?>
<Relationships xmlns="http://schemas.openxmlformats.org/package/2006/relationships"><Relationship Id="rId2" Type="http://schemas.openxmlformats.org/officeDocument/2006/relationships/image" Target="../media/image397.png"/><Relationship Id="rId3" Type="http://schemas.openxmlformats.org/officeDocument/2006/relationships/image" Target="../media/image398.png"/><Relationship Id="rId4" Type="http://schemas.openxmlformats.org/officeDocument/2006/relationships/image" Target="../media/image399.png"/><Relationship Id="rId5" Type="http://schemas.openxmlformats.org/officeDocument/2006/relationships/image" Target="../media/image400.png"/></Relationships>
</file>

<file path=ppt/charts/_rels/chart74.xml.rels><?xml version='1.0' encoding='UTF-8' standalone='yes'?>
<Relationships xmlns="http://schemas.openxmlformats.org/package/2006/relationships"><Relationship Id="rId2" Type="http://schemas.openxmlformats.org/officeDocument/2006/relationships/image" Target="../media/image407.png"/><Relationship Id="rId3" Type="http://schemas.openxmlformats.org/officeDocument/2006/relationships/image" Target="../media/image408.png"/><Relationship Id="rId4" Type="http://schemas.openxmlformats.org/officeDocument/2006/relationships/image" Target="../media/image409.png"/><Relationship Id="rId5" Type="http://schemas.openxmlformats.org/officeDocument/2006/relationships/image" Target="../media/image410.png"/></Relationships>
</file>

<file path=ppt/charts/_rels/chart78.xml.rels><?xml version='1.0' encoding='UTF-8' standalone='yes'?>
<Relationships xmlns="http://schemas.openxmlformats.org/package/2006/relationships"><Relationship Id="rId2" Type="http://schemas.openxmlformats.org/officeDocument/2006/relationships/image" Target="../media/image411.png"/><Relationship Id="rId3" Type="http://schemas.openxmlformats.org/officeDocument/2006/relationships/image" Target="../media/image412.png"/><Relationship Id="rId4" Type="http://schemas.openxmlformats.org/officeDocument/2006/relationships/image" Target="../media/image413.png"/><Relationship Id="rId5" Type="http://schemas.openxmlformats.org/officeDocument/2006/relationships/image" Target="../media/image414.png"/><Relationship Id="rId6" Type="http://schemas.openxmlformats.org/officeDocument/2006/relationships/image" Target="../media/image415.png"/><Relationship Id="rId7" Type="http://schemas.openxmlformats.org/officeDocument/2006/relationships/image" Target="../media/image416.png"/></Relationships>
</file>

<file path=ppt/charts/_rels/chart79.xml.rels><?xml version='1.0' encoding='UTF-8' standalone='yes'?>
<Relationships xmlns="http://schemas.openxmlformats.org/package/2006/relationships"><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s>
</file>

<file path=ppt/charts/_rels/chart83.xml.rels><?xml version='1.0' encoding='UTF-8' standalone='yes'?>
<Relationships xmlns="http://schemas.openxmlformats.org/package/2006/relationships"><Relationship Id="rId2" Type="http://schemas.openxmlformats.org/officeDocument/2006/relationships/image" Target="../media/image426.png"/><Relationship Id="rId3" Type="http://schemas.openxmlformats.org/officeDocument/2006/relationships/image" Target="../media/image427.png"/><Relationship Id="rId4" Type="http://schemas.openxmlformats.org/officeDocument/2006/relationships/image" Target="../media/image428.png"/><Relationship Id="rId5" Type="http://schemas.openxmlformats.org/officeDocument/2006/relationships/image" Target="../media/image429.png"/><Relationship Id="rId6" Type="http://schemas.openxmlformats.org/officeDocument/2006/relationships/image" Target="../media/image430.png"/><Relationship Id="rId7" Type="http://schemas.openxmlformats.org/officeDocument/2006/relationships/image" Target="../media/image431.png"/></Relationships>
</file>

<file path=ppt/charts/_rels/chart84.xml.rels><?xml version='1.0' encoding='UTF-8' standalone='yes'?>
<Relationships xmlns="http://schemas.openxmlformats.org/package/2006/relationships"><Relationship Id="rId2" Type="http://schemas.openxmlformats.org/officeDocument/2006/relationships/image" Target="../media/image443.png"/><Relationship Id="rId3" Type="http://schemas.openxmlformats.org/officeDocument/2006/relationships/image" Target="../media/image444.png"/><Relationship Id="rId4" Type="http://schemas.openxmlformats.org/officeDocument/2006/relationships/image" Target="../media/image445.png"/><Relationship Id="rId5" Type="http://schemas.openxmlformats.org/officeDocument/2006/relationships/image" Target="../media/image446.png"/><Relationship Id="rId6" Type="http://schemas.openxmlformats.org/officeDocument/2006/relationships/image" Target="../media/image447.png"/><Relationship Id="rId7" Type="http://schemas.openxmlformats.org/officeDocument/2006/relationships/image" Target="../media/image448.png"/><Relationship Id="rId8" Type="http://schemas.openxmlformats.org/officeDocument/2006/relationships/image" Target="../media/image449.png"/><Relationship Id="rId9" Type="http://schemas.openxmlformats.org/officeDocument/2006/relationships/image" Target="../media/image450.png"/></Relationships>
</file>

<file path=ppt/charts/_rels/chart90.xml.rels><?xml version='1.0' encoding='UTF-8' standalone='yes'?>
<Relationships xmlns="http://schemas.openxmlformats.org/package/2006/relationships"><Relationship Id="rId2" Type="http://schemas.openxmlformats.org/officeDocument/2006/relationships/image" Target="../media/image451.png"/><Relationship Id="rId3" Type="http://schemas.openxmlformats.org/officeDocument/2006/relationships/image" Target="../media/image452.png"/><Relationship Id="rId4" Type="http://schemas.openxmlformats.org/officeDocument/2006/relationships/image" Target="../media/image453.png"/><Relationship Id="rId5" Type="http://schemas.openxmlformats.org/officeDocument/2006/relationships/image" Target="../media/image454.png"/><Relationship Id="rId6" Type="http://schemas.openxmlformats.org/officeDocument/2006/relationships/image" Target="../media/image455.png"/><Relationship Id="rId7" Type="http://schemas.openxmlformats.org/officeDocument/2006/relationships/image" Target="../media/image456.png"/><Relationship Id="rId8" Type="http://schemas.openxmlformats.org/officeDocument/2006/relationships/image" Target="../media/image457.png"/><Relationship Id="rId9" Type="http://schemas.openxmlformats.org/officeDocument/2006/relationships/image" Target="../media/image458.png"/><Relationship Id="rId10" Type="http://schemas.openxmlformats.org/officeDocument/2006/relationships/image" Target="../media/image459.png"/><Relationship Id="rId11" Type="http://schemas.openxmlformats.org/officeDocument/2006/relationships/image" Target="../media/image460.png"/><Relationship Id="rId12" Type="http://schemas.openxmlformats.org/officeDocument/2006/relationships/image" Target="../media/image461.png"/><Relationship Id="rId13" Type="http://schemas.openxmlformats.org/officeDocument/2006/relationships/image" Target="../media/image462.png"/></Relationships>
</file>

<file path=ppt/charts/_rels/chart91.xml.rels><?xml version='1.0' encoding='UTF-8' standalone='yes'?>
<Relationships xmlns="http://schemas.openxmlformats.org/package/2006/relationships"><Relationship Id="rId2" Type="http://schemas.openxmlformats.org/officeDocument/2006/relationships/image" Target="../media/image468.png"/><Relationship Id="rId3" Type="http://schemas.openxmlformats.org/officeDocument/2006/relationships/image" Target="../media/image469.png"/><Relationship Id="rId4" Type="http://schemas.openxmlformats.org/officeDocument/2006/relationships/image" Target="../media/image470.png"/><Relationship Id="rId5" Type="http://schemas.openxmlformats.org/officeDocument/2006/relationships/image" Target="../media/image471.png"/></Relationships>
</file>

<file path=ppt/charts/_rels/chart95.xml.rels><?xml version='1.0' encoding='UTF-8' standalone='yes'?>
<Relationships xmlns="http://schemas.openxmlformats.org/package/2006/relationships"><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s>
</file>

<file path=ppt/charts/_rels/chart132.xml.rels><?xml version='1.0' encoding='UTF-8' standalone='yes'?>
<Relationships xmlns="http://schemas.openxmlformats.org/package/2006/relationships"><Relationship Id="rId2" Type="http://schemas.openxmlformats.org/officeDocument/2006/relationships/image" Target="../media/image478.png"/><Relationship Id="rId3" Type="http://schemas.openxmlformats.org/officeDocument/2006/relationships/image" Target="../media/image479.png"/><Relationship Id="rId4" Type="http://schemas.openxmlformats.org/officeDocument/2006/relationships/image" Target="../media/image480.png"/><Relationship Id="rId5" Type="http://schemas.openxmlformats.org/officeDocument/2006/relationships/image" Target="../media/image481.png"/><Relationship Id="rId6" Type="http://schemas.openxmlformats.org/officeDocument/2006/relationships/image" Target="../media/image482.png"/><Relationship Id="rId7" Type="http://schemas.openxmlformats.org/officeDocument/2006/relationships/image" Target="../media/image483.png"/><Relationship Id="rId8" Type="http://schemas.openxmlformats.org/officeDocument/2006/relationships/image" Target="../media/image484.png"/><Relationship Id="rId9" Type="http://schemas.openxmlformats.org/officeDocument/2006/relationships/image" Target="../media/image485.png"/><Relationship Id="rId10" Type="http://schemas.openxmlformats.org/officeDocument/2006/relationships/image" Target="../media/image486.png"/><Relationship Id="rId11" Type="http://schemas.openxmlformats.org/officeDocument/2006/relationships/image" Target="../media/image487.png"/></Relationships>
</file>

<file path=ppt/charts/_rels/chart133.xml.rels><?xml version='1.0' encoding='UTF-8' standalone='yes'?>
<Relationships xmlns="http://schemas.openxmlformats.org/package/2006/relationships"><Relationship Id="rId2" Type="http://schemas.openxmlformats.org/officeDocument/2006/relationships/image" Target="../media/image488.png"/><Relationship Id="rId3" Type="http://schemas.openxmlformats.org/officeDocument/2006/relationships/image" Target="../media/image489.png"/><Relationship Id="rId4" Type="http://schemas.openxmlformats.org/officeDocument/2006/relationships/image" Target="../media/image490.png"/><Relationship Id="rId5" Type="http://schemas.openxmlformats.org/officeDocument/2006/relationships/image" Target="../media/image491.png"/><Relationship Id="rId6" Type="http://schemas.openxmlformats.org/officeDocument/2006/relationships/image" Target="../media/image492.png"/><Relationship Id="rId7" Type="http://schemas.openxmlformats.org/officeDocument/2006/relationships/image" Target="../media/image493.png"/><Relationship Id="rId8" Type="http://schemas.openxmlformats.org/officeDocument/2006/relationships/image" Target="../media/image494.png"/><Relationship Id="rId9" Type="http://schemas.openxmlformats.org/officeDocument/2006/relationships/image" Target="../media/image495.png"/><Relationship Id="rId10" Type="http://schemas.openxmlformats.org/officeDocument/2006/relationships/image" Target="../media/image496.png"/><Relationship Id="rId11" Type="http://schemas.openxmlformats.org/officeDocument/2006/relationships/image" Target="../media/image497.png"/><Relationship Id="rId12" Type="http://schemas.openxmlformats.org/officeDocument/2006/relationships/image" Target="../media/image498.png"/></Relationships>
</file>

<file path=ppt/charts/_rels/chart134.xml.rels><?xml version='1.0' encoding='UTF-8' standalone='yes'?>
<Relationships xmlns="http://schemas.openxmlformats.org/package/2006/relationships"><Relationship Id="rId2" Type="http://schemas.openxmlformats.org/officeDocument/2006/relationships/image" Target="../media/image499.png"/><Relationship Id="rId3" Type="http://schemas.openxmlformats.org/officeDocument/2006/relationships/image" Target="../media/image500.png"/><Relationship Id="rId4" Type="http://schemas.openxmlformats.org/officeDocument/2006/relationships/image" Target="../media/image501.png"/><Relationship Id="rId5" Type="http://schemas.openxmlformats.org/officeDocument/2006/relationships/image" Target="../media/image502.png"/><Relationship Id="rId6" Type="http://schemas.openxmlformats.org/officeDocument/2006/relationships/image" Target="../media/image503.png"/><Relationship Id="rId7" Type="http://schemas.openxmlformats.org/officeDocument/2006/relationships/image" Target="../media/image504.png"/><Relationship Id="rId8" Type="http://schemas.openxmlformats.org/officeDocument/2006/relationships/image" Target="../media/image505.png"/><Relationship Id="rId9" Type="http://schemas.openxmlformats.org/officeDocument/2006/relationships/image" Target="../media/image506.png"/><Relationship Id="rId10" Type="http://schemas.openxmlformats.org/officeDocument/2006/relationships/image" Target="../media/image507.png"/><Relationship Id="rId11" Type="http://schemas.openxmlformats.org/officeDocument/2006/relationships/image" Target="../media/image508.png"/></Relationships>
</file>

<file path=ppt/charts/_rels/chart135.xml.rels><?xml version='1.0' encoding='UTF-8' standalone='yes'?>
<Relationships xmlns="http://schemas.openxmlformats.org/package/2006/relationships"><Relationship Id="rId2" Type="http://schemas.openxmlformats.org/officeDocument/2006/relationships/image" Target="../media/image509.png"/><Relationship Id="rId3" Type="http://schemas.openxmlformats.org/officeDocument/2006/relationships/image" Target="../media/image510.png"/><Relationship Id="rId4" Type="http://schemas.openxmlformats.org/officeDocument/2006/relationships/image" Target="../media/image511.png"/><Relationship Id="rId5" Type="http://schemas.openxmlformats.org/officeDocument/2006/relationships/image" Target="../media/image512.png"/><Relationship Id="rId6" Type="http://schemas.openxmlformats.org/officeDocument/2006/relationships/image" Target="../media/image513.png"/><Relationship Id="rId7" Type="http://schemas.openxmlformats.org/officeDocument/2006/relationships/image" Target="../media/image514.png"/><Relationship Id="rId8" Type="http://schemas.openxmlformats.org/officeDocument/2006/relationships/image" Target="../media/image515.png"/><Relationship Id="rId9" Type="http://schemas.openxmlformats.org/officeDocument/2006/relationships/image" Target="../media/image516.png"/><Relationship Id="rId10" Type="http://schemas.openxmlformats.org/officeDocument/2006/relationships/image" Target="../media/image517.png"/><Relationship Id="rId11" Type="http://schemas.openxmlformats.org/officeDocument/2006/relationships/image" Target="../media/image518.png"/></Relationships>
</file>

<file path=ppt/charts/_rels/chart136.xml.rels><?xml version='1.0' encoding='UTF-8' standalone='yes'?>
<Relationships xmlns="http://schemas.openxmlformats.org/package/2006/relationships"><Relationship Id="rId2" Type="http://schemas.openxmlformats.org/officeDocument/2006/relationships/image" Target="../media/image519.png"/><Relationship Id="rId3" Type="http://schemas.openxmlformats.org/officeDocument/2006/relationships/image" Target="../media/image520.png"/><Relationship Id="rId4" Type="http://schemas.openxmlformats.org/officeDocument/2006/relationships/image" Target="../media/image521.png"/><Relationship Id="rId5" Type="http://schemas.openxmlformats.org/officeDocument/2006/relationships/image" Target="../media/image522.png"/><Relationship Id="rId6" Type="http://schemas.openxmlformats.org/officeDocument/2006/relationships/image" Target="../media/image523.png"/><Relationship Id="rId7" Type="http://schemas.openxmlformats.org/officeDocument/2006/relationships/image" Target="../media/image524.png"/><Relationship Id="rId8" Type="http://schemas.openxmlformats.org/officeDocument/2006/relationships/image" Target="../media/image525.png"/><Relationship Id="rId9" Type="http://schemas.openxmlformats.org/officeDocument/2006/relationships/image" Target="../media/image526.png"/><Relationship Id="rId10" Type="http://schemas.openxmlformats.org/officeDocument/2006/relationships/image" Target="../media/image527.png"/></Relationships>
</file>

<file path=ppt/charts/_rels/chart137.xml.rels><?xml version='1.0' encoding='UTF-8' standalone='yes'?>
<Relationships xmlns="http://schemas.openxmlformats.org/package/2006/relationships"><Relationship Id="rId2" Type="http://schemas.openxmlformats.org/officeDocument/2006/relationships/image" Target="../media/image528.png"/><Relationship Id="rId3" Type="http://schemas.openxmlformats.org/officeDocument/2006/relationships/image" Target="../media/image529.png"/><Relationship Id="rId4" Type="http://schemas.openxmlformats.org/officeDocument/2006/relationships/image" Target="../media/image530.png"/><Relationship Id="rId5" Type="http://schemas.openxmlformats.org/officeDocument/2006/relationships/image" Target="../media/image531.png"/><Relationship Id="rId6" Type="http://schemas.openxmlformats.org/officeDocument/2006/relationships/image" Target="../media/image532.png"/><Relationship Id="rId7" Type="http://schemas.openxmlformats.org/officeDocument/2006/relationships/image" Target="../media/image533.png"/><Relationship Id="rId8" Type="http://schemas.openxmlformats.org/officeDocument/2006/relationships/image" Target="../media/image534.png"/><Relationship Id="rId9" Type="http://schemas.openxmlformats.org/officeDocument/2006/relationships/image" Target="../media/image535.png"/><Relationship Id="rId10" Type="http://schemas.openxmlformats.org/officeDocument/2006/relationships/image" Target="../media/image536.png"/><Relationship Id="rId11" Type="http://schemas.openxmlformats.org/officeDocument/2006/relationships/image" Target="../media/image537.png"/><Relationship Id="rId12" Type="http://schemas.openxmlformats.org/officeDocument/2006/relationships/image" Target="../media/image538.png"/></Relationships>
</file>

<file path=ppt/charts/_rels/chart138.xml.rels><?xml version='1.0' encoding='UTF-8' standalone='yes'?>
<Relationships xmlns="http://schemas.openxmlformats.org/package/2006/relationships"><Relationship Id="rId2" Type="http://schemas.openxmlformats.org/officeDocument/2006/relationships/image" Target="../media/image539.png"/></Relationships>
</file>

<file path=ppt/charts/_rels/chart139.xml.rels><?xml version='1.0' encoding='UTF-8' standalone='yes'?>
<Relationships xmlns="http://schemas.openxmlformats.org/package/2006/relationships"><Relationship Id="rId2" Type="http://schemas.openxmlformats.org/officeDocument/2006/relationships/image" Target="../media/image540.png"/><Relationship Id="rId3" Type="http://schemas.openxmlformats.org/officeDocument/2006/relationships/image" Target="../media/image541.png"/><Relationship Id="rId4" Type="http://schemas.openxmlformats.org/officeDocument/2006/relationships/image" Target="../media/image542.png"/><Relationship Id="rId5" Type="http://schemas.openxmlformats.org/officeDocument/2006/relationships/image" Target="../media/image543.png"/><Relationship Id="rId6" Type="http://schemas.openxmlformats.org/officeDocument/2006/relationships/image" Target="../media/image544.png"/></Relationships>
</file>

<file path=ppt/charts/_rels/chart140.xml.rels><?xml version='1.0' encoding='UTF-8' standalone='yes'?>
<Relationships xmlns="http://schemas.openxmlformats.org/package/2006/relationships"><Relationship Id="rId2" Type="http://schemas.openxmlformats.org/officeDocument/2006/relationships/image" Target="../media/image545.png"/><Relationship Id="rId3" Type="http://schemas.openxmlformats.org/officeDocument/2006/relationships/image" Target="../media/image546.png"/></Relationships>
</file>

<file path=ppt/charts/_rels/chart141.xml.rels><?xml version='1.0' encoding='UTF-8' standalone='yes'?>
<Relationships xmlns="http://schemas.openxmlformats.org/package/2006/relationships"><Relationship Id="rId2" Type="http://schemas.openxmlformats.org/officeDocument/2006/relationships/image" Target="../media/image547.png"/><Relationship Id="rId3" Type="http://schemas.openxmlformats.org/officeDocument/2006/relationships/image" Target="../media/image548.png"/><Relationship Id="rId4" Type="http://schemas.openxmlformats.org/officeDocument/2006/relationships/image" Target="../media/image549.png"/><Relationship Id="rId5" Type="http://schemas.openxmlformats.org/officeDocument/2006/relationships/image" Target="../media/image550.png"/><Relationship Id="rId6" Type="http://schemas.openxmlformats.org/officeDocument/2006/relationships/image" Target="../media/image551.png"/><Relationship Id="rId7" Type="http://schemas.openxmlformats.org/officeDocument/2006/relationships/image" Target="../media/image552.png"/><Relationship Id="rId8" Type="http://schemas.openxmlformats.org/officeDocument/2006/relationships/image" Target="../media/image553.png"/><Relationship Id="rId9" Type="http://schemas.openxmlformats.org/officeDocument/2006/relationships/image" Target="../media/image554.png"/><Relationship Id="rId10" Type="http://schemas.openxmlformats.org/officeDocument/2006/relationships/image" Target="../media/image555.png"/><Relationship Id="rId11" Type="http://schemas.openxmlformats.org/officeDocument/2006/relationships/image" Target="../media/image556.png"/></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3.4430366701708737</c:v>
                </c:pt>
                <c:pt idx="1">
                  <c:v>4.3686428103570485</c:v>
                </c:pt>
                <c:pt idx="2">
                  <c:v>4.0591908149990585</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766608509671304"/>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2244586.438</c:v>
                </c:pt>
                <c:pt idx="2">
                  <c:v>0.0</c:v>
                </c:pt>
                <c:pt idx="3">
                  <c:v>2658536.581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0,,&quot;M&quot;"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2244586.438</c:v>
                </c:pt>
                <c:pt idx="1">
                  <c:v>413950.1429999997</c:v>
                </c:pt>
                <c:pt idx="2">
                  <c:v>2658536.581</c:v>
                </c:pt>
                <c:pt idx="3">
                  <c:v>1418484.9100000001</c:v>
                </c:pt>
                <c:pt idx="4">
                  <c:v>4077021.491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quot;M&quot;"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4.0804523661691405</c:v>
                </c:pt>
                <c:pt idx="1">
                  <c:v>4.958675434285231</c:v>
                </c:pt>
                <c:pt idx="2">
                  <c:v>4.665114108666368</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6.545451573256505"/>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8924.434</c:v>
                </c:pt>
                <c:pt idx="2">
                  <c:v>0.0</c:v>
                </c:pt>
                <c:pt idx="3">
                  <c:v>10900.001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8924.434</c:v>
                </c:pt>
                <c:pt idx="1">
                  <c:v>1975.567000000001</c:v>
                </c:pt>
                <c:pt idx="2">
                  <c:v>10900.001</c:v>
                </c:pt>
                <c:pt idx="3">
                  <c:v>6785.198</c:v>
                </c:pt>
                <c:pt idx="4">
                  <c:v>17685.199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8924.434</c:v>
                </c:pt>
                <c:pt idx="1">
                  <c:v>9286.762</c:v>
                </c:pt>
                <c:pt idx="2">
                  <c:v>9664.744999999999</c:v>
                </c:pt>
                <c:pt idx="3">
                  <c:v>10059.108</c:v>
                </c:pt>
                <c:pt idx="4">
                  <c:v>10470.593</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2244586.438</c:v>
                </c:pt>
                <c:pt idx="1">
                  <c:v>2321083.943</c:v>
                </c:pt>
                <c:pt idx="2">
                  <c:v>2400593.726</c:v>
                </c:pt>
                <c:pt idx="3">
                  <c:v>2483246.701</c:v>
                </c:pt>
                <c:pt idx="4">
                  <c:v>2569179.863</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12355"/>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3531232"/>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M&quot;;&quot;MMMMMMMM&quot;;&quot;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quot;;&quot;MMMMMMMM&quot;;&quot;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quot;;&quot;MMMMMMMM&quot;;&quot;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quot;;&quot;MMMMMMMM&quot;;&quot;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quot;;&quot;MMMMMMMM&quot;;&quot;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quot;;&quot;MMMMMMMM&quot;;&quot;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quot;;&quot;MMMMMMMM&quot;;&quot;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quot;;&quot;MMMMMMMM&quot;;&quot;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quot;;&quot;MMMMMMMM&quot;;&quot;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quot;;&quot;MMMMMMMM&quot;;&quot;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10900.001</c:v>
                </c:pt>
                <c:pt idx="1">
                  <c:v>11435.346</c:v>
                </c:pt>
                <c:pt idx="2">
                  <c:v>11998.18</c:v>
                </c:pt>
                <c:pt idx="3">
                  <c:v>12589.961</c:v>
                </c:pt>
                <c:pt idx="4">
                  <c:v>13212.247</c:v>
                </c:pt>
                <c:pt idx="5">
                  <c:v>13866.68</c:v>
                </c:pt>
                <c:pt idx="6">
                  <c:v>14554.996000000001</c:v>
                </c:pt>
                <c:pt idx="7">
                  <c:v>15279.015000000003</c:v>
                </c:pt>
                <c:pt idx="8">
                  <c:v>16040.678</c:v>
                </c:pt>
                <c:pt idx="9">
                  <c:v>16842.021</c:v>
                </c:pt>
                <c:pt idx="10">
                  <c:v>17685.199</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MM&quot;;&quot;MMMMMMMMMMM&quot;;&quot;MM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MM&quot;;&quot;MMMMMMMMMMM&quot;;&quot;MM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MM&quot;;&quot;MMMMMMMMMMM&quot;;&quot;MM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MM&quot;;&quot;MMMMMMMMMMM&quot;;&quot;MM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MM&quot;;&quot;MMMMMMMMMMM&quot;;&quot;MM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MM&quot;;&quot;MMMMMMMMMMM&quot;;&quot;MM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MM&quot;;&quot;MMMMMMMMMMM&quot;;&quot;MM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MM&quot;;&quot;MMMMMMMMMMM&quot;;&quot;MM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MM&quot;;&quot;MMMMMMMMMMM&quot;;&quot;MM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MM&quot;;&quot;MMMMMMMMMMM&quot;;&quot;MM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MM&quot;;&quot;MMMMMMMMMMM&quot;;&quot;MM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M&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2658536.581</c:v>
                </c:pt>
                <c:pt idx="1">
                  <c:v>2772587.8479999998</c:v>
                </c:pt>
                <c:pt idx="2">
                  <c:v>2892016.567</c:v>
                </c:pt>
                <c:pt idx="3">
                  <c:v>3017095.3100000005</c:v>
                </c:pt>
                <c:pt idx="4">
                  <c:v>3148111.25</c:v>
                </c:pt>
                <c:pt idx="5">
                  <c:v>3285366.941</c:v>
                </c:pt>
                <c:pt idx="6">
                  <c:v>3429181.1999999997</c:v>
                </c:pt>
                <c:pt idx="7">
                  <c:v>3579890.0009999997</c:v>
                </c:pt>
                <c:pt idx="8">
                  <c:v>3737847.454</c:v>
                </c:pt>
                <c:pt idx="9">
                  <c:v>3903426.7939999998</c:v>
                </c:pt>
                <c:pt idx="10">
                  <c:v>4077021.491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20869"/>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5783961"/>
          <c:min val="0"/>
        </c:scaling>
        <c:delete val="0"/>
        <c:axPos val="r"/>
        <c:numFmt formatCode="#,##0,,&quot;M&quot;"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Mexico</c:v>
                </c:pt>
                <c:pt idx="1">
                  <c:v>China</c:v>
                </c:pt>
                <c:pt idx="2">
                  <c:v>Malaysia</c:v>
                </c:pt>
                <c:pt idx="3">
                  <c:v>Spain</c:v>
                </c:pt>
                <c:pt idx="4">
                  <c:v>Thailand</c:v>
                </c:pt>
                <c:pt idx="5">
                  <c:v>Brazil</c:v>
                </c:pt>
                <c:pt idx="6">
                  <c:v>France</c:v>
                </c:pt>
                <c:pt idx="7">
                  <c:v>Netherlands</c:v>
                </c:pt>
                <c:pt idx="8">
                  <c:v>Germany</c:v>
                </c:pt>
                <c:pt idx="9">
                  <c:v>India</c:v>
                </c:pt>
              </c:strCache>
            </c:strRef>
          </c:cat>
          <c:val>
            <c:numRef>
              <c:numCache>
                <c:formatCode>General</c:formatCode>
                <c:ptCount val="10"/>
                <c:pt idx="0">
                  <c:v>101.89442555621608</c:v>
                </c:pt>
                <c:pt idx="1">
                  <c:v>102.33065875351734</c:v>
                </c:pt>
                <c:pt idx="2">
                  <c:v>106.71161941300547</c:v>
                </c:pt>
                <c:pt idx="3">
                  <c:v>115.22358467051738</c:v>
                </c:pt>
                <c:pt idx="4">
                  <c:v>118.8855386062085</c:v>
                </c:pt>
                <c:pt idx="5">
                  <c:v>119.41615619357728</c:v>
                </c:pt>
                <c:pt idx="6">
                  <c:v>123.8605971997628</c:v>
                </c:pt>
                <c:pt idx="7">
                  <c:v>128.61118733404203</c:v>
                </c:pt>
                <c:pt idx="8">
                  <c:v>131.9868889565641</c:v>
                </c:pt>
                <c:pt idx="9">
                  <c:v>136.39355337892025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quot;;&quot;MMM&quot;;&quot;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10"/>
                <c:pt idx="0">
                  <c:v>Turkey</c:v>
                </c:pt>
                <c:pt idx="1">
                  <c:v>Japan</c:v>
                </c:pt>
                <c:pt idx="2">
                  <c:v>U.K.</c:v>
                </c:pt>
                <c:pt idx="3">
                  <c:v>France</c:v>
                </c:pt>
                <c:pt idx="4">
                  <c:v>Brazil</c:v>
                </c:pt>
                <c:pt idx="5">
                  <c:v>India</c:v>
                </c:pt>
                <c:pt idx="6">
                  <c:v>China</c:v>
                </c:pt>
                <c:pt idx="7">
                  <c:v>Canada</c:v>
                </c:pt>
                <c:pt idx="8">
                  <c:v>Germany</c:v>
                </c:pt>
                <c:pt idx="9">
                  <c:v>U.S.</c:v>
                </c:pt>
              </c:strCache>
            </c:strRef>
          </c:cat>
          <c:val>
            <c:numRef>
              <c:numCache>
                <c:formatCode>General</c:formatCode>
                <c:ptCount val="10"/>
                <c:pt idx="0">
                  <c:v>2.730296153479973</c:v>
                </c:pt>
                <c:pt idx="1">
                  <c:v>3.0698146170531797</c:v>
                </c:pt>
                <c:pt idx="2">
                  <c:v>3.3939466468038235</c:v>
                </c:pt>
                <c:pt idx="3">
                  <c:v>3.749809511822646</c:v>
                </c:pt>
                <c:pt idx="4">
                  <c:v>5.41659948611669</c:v>
                </c:pt>
                <c:pt idx="5">
                  <c:v>7.232375532740532</c:v>
                </c:pt>
                <c:pt idx="6">
                  <c:v>7.716399727760341</c:v>
                </c:pt>
                <c:pt idx="7">
                  <c:v>9.2321108389173</c:v>
                </c:pt>
                <c:pt idx="8">
                  <c:v>14.40560761823016</c:v>
                </c:pt>
                <c:pt idx="9">
                  <c:v>16.651201630372473</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M&quot;;&quot;MMMMMMMM&quot;;&quot;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Static Cold Storage Devices</c:v>
                </c:pt>
                <c:pt idx="1">
                  <c:v>Portable Machine Perfusion Devices</c:v>
                </c:pt>
              </c:strCache>
            </c:strRef>
          </c:cat>
          <c:val>
            <c:numRef>
              <c:numCache>
                <c:formatCode>General</c:formatCode>
                <c:ptCount val="2"/>
                <c:pt idx="0">
                  <c:v>4157.582</c:v>
                </c:pt>
                <c:pt idx="1">
                  <c:v>13527.617</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0.05938306767373562</c:v>
                </c:pt>
                <c:pt idx="1">
                  <c:v>0.056723067673735625</c:v>
                </c:pt>
                <c:pt idx="2">
                  <c:v>0.05705306767373562</c:v>
                </c:pt>
                <c:pt idx="3">
                  <c:v>0.059053067673735624</c:v>
                </c:pt>
                <c:pt idx="4">
                  <c:v>0.06238306767373562</c:v>
                </c:pt>
                <c:pt idx="5">
                  <c:v>0.06505306767373562</c:v>
                </c:pt>
                <c:pt idx="6">
                  <c:v>0.06538306767373563</c:v>
                </c:pt>
                <c:pt idx="7">
                  <c:v>0.06405306767373561</c:v>
                </c:pt>
                <c:pt idx="8">
                  <c:v>0.06274306767373562</c:v>
                </c:pt>
                <c:pt idx="9">
                  <c:v>0.06072306767373562</c:v>
                </c:pt>
                <c:pt idx="10">
                  <c:v>0.05854306767373562</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0.05170848751400406</c:v>
                </c:pt>
                <c:pt idx="1">
                  <c:v>0.05013848751400406</c:v>
                </c:pt>
                <c:pt idx="2">
                  <c:v>0.04878848751400407</c:v>
                </c:pt>
                <c:pt idx="3">
                  <c:v>0.04776848751400406</c:v>
                </c:pt>
                <c:pt idx="4">
                  <c:v>0.04770848751400406</c:v>
                </c:pt>
                <c:pt idx="5">
                  <c:v>0.04787848751400406</c:v>
                </c:pt>
                <c:pt idx="6">
                  <c:v>0.04844848751400406</c:v>
                </c:pt>
                <c:pt idx="7">
                  <c:v>0.04912848751400406</c:v>
                </c:pt>
                <c:pt idx="8">
                  <c:v>0.04901848751400406</c:v>
                </c:pt>
                <c:pt idx="9">
                  <c:v>0.04838848751400406</c:v>
                </c:pt>
                <c:pt idx="10">
                  <c:v>0.04787848751400406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0.03487975044272266</c:v>
                </c:pt>
                <c:pt idx="1">
                  <c:v>0.03647975044272266</c:v>
                </c:pt>
                <c:pt idx="2">
                  <c:v>0.03799975044272266</c:v>
                </c:pt>
                <c:pt idx="3">
                  <c:v>0.03869975044272266</c:v>
                </c:pt>
                <c:pt idx="4">
                  <c:v>0.03867975044272266</c:v>
                </c:pt>
                <c:pt idx="5">
                  <c:v>0.03821975044272266</c:v>
                </c:pt>
                <c:pt idx="6">
                  <c:v>0.037389750442722657</c:v>
                </c:pt>
                <c:pt idx="7">
                  <c:v>0.03685975044272266</c:v>
                </c:pt>
                <c:pt idx="8">
                  <c:v>0.03588975044272266</c:v>
                </c:pt>
                <c:pt idx="9">
                  <c:v>0.03446975044272266</c:v>
                </c:pt>
                <c:pt idx="10">
                  <c:v>0.03308975044272266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South Asia &amp; Pacific</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19.421104064920893</c:v>
                </c:pt>
                <c:pt idx="1">
                  <c:v>22.361277344564286</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22.19425070984193</c:v>
                </c:pt>
                <c:pt idx="1">
                  <c:v>22.040920583413232</c:v>
                </c:pt>
              </c:numCache>
            </c:numRef>
          </c:val>
        </c:ser>
        <c:ser>
          <c:idx val="2"/>
          <c:order val="2"/>
          <c:tx>
            <c:strRef>
              <c:strCache>
                <c:ptCount val="1"/>
                <c:pt idx="0">
                  <c:v>North America</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24.1225434166783</c:v>
                </c:pt>
                <c:pt idx="1">
                  <c:v>20.30469083440993</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18.292995457563727</c:v>
                </c:pt>
                <c:pt idx="1">
                  <c:v>19.042259323719616</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8.382278265141538</c:v>
                </c:pt>
                <c:pt idx="1">
                  <c:v>8.657752743741915</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7.586828085853598</c:v>
                </c:pt>
                <c:pt idx="1">
                  <c:v>7.593099170151025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North America</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32.99999697247734</c:v>
                </c:pt>
                <c:pt idx="1">
                  <c:v>30.26957174753872</c:v>
                </c:pt>
              </c:numCache>
            </c:numRef>
          </c:val>
        </c:ser>
        <c:ser>
          <c:idx val="1"/>
          <c:order val="1"/>
          <c:tx>
            <c:strRef>
              <c:strCache>
                <c:ptCount val="1"/>
                <c:pt idx="0">
                  <c:v>Europe</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27.00000669724709</c:v>
                </c:pt>
                <c:pt idx="1">
                  <c:v>28.628595018919494</c:v>
                </c:pt>
              </c:numCache>
            </c:numRef>
          </c:val>
        </c:ser>
        <c:ser>
          <c:idx val="2"/>
          <c:order val="2"/>
          <c:tx>
            <c:strRef>
              <c:strCache>
                <c:ptCount val="1"/>
                <c:pt idx="0">
                  <c:v>South Asia &amp; Pacific</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11.999989724771584</c:v>
                </c:pt>
                <c:pt idx="1">
                  <c:v>13.06018100220416</c:v>
                </c:pt>
              </c:numCache>
            </c:numRef>
          </c:val>
        </c:ser>
        <c:ser>
          <c:idx val="3"/>
          <c:order val="3"/>
          <c:tx>
            <c:strRef>
              <c:strCache>
                <c:ptCount val="1"/>
                <c:pt idx="0">
                  <c:v>East Asia</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13.000007981650644</c:v>
                </c:pt>
                <c:pt idx="1">
                  <c:v>12.798968221957807</c:v>
                </c:pt>
              </c:numCache>
            </c:numRef>
          </c:val>
        </c:ser>
        <c:ser>
          <c:idx val="4"/>
          <c:order val="4"/>
          <c:tx>
            <c:strRef>
              <c:strCache>
                <c:ptCount val="1"/>
                <c:pt idx="0">
                  <c:v>Latin America</c:v>
                </c:pt>
              </c:strCache>
            </c:strRef>
          </c:tx>
          <c:spPr>
            <a:solidFill>
              <a:srgbClr val="A35313"/>
            </a:solidFill>
            <a:ln>
              <a:noFill/>
            </a:ln>
          </c:spPr>
          <c:dLbls>
            <c:dLbl>
              <c:idx val="0"/>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7.999990091744029</c:v>
                </c:pt>
                <c:pt idx="1">
                  <c:v>8.314523348026787</c:v>
                </c:pt>
              </c:numCache>
            </c:numRef>
          </c:val>
        </c:ser>
        <c:ser>
          <c:idx val="5"/>
          <c:order val="5"/>
          <c:tx>
            <c:strRef>
              <c:strCache>
                <c:ptCount val="1"/>
                <c:pt idx="0">
                  <c:v>Middle East &amp; Africa</c:v>
                </c:pt>
              </c:strCache>
            </c:strRef>
          </c:tx>
          <c:spPr>
            <a:solidFill>
              <a:srgbClr val="808080"/>
            </a:solidFill>
            <a:ln>
              <a:noFill/>
            </a:ln>
          </c:spPr>
          <c:dLbls>
            <c:dLbl>
              <c:idx val="0"/>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7.000008532109309</c:v>
                </c:pt>
                <c:pt idx="1">
                  <c:v>6.928160661353033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586799.237</c:v>
                </c:pt>
                <c:pt idx="1">
                  <c:v>597309.565</c:v>
                </c:pt>
                <c:pt idx="2">
                  <c:v>608011.855</c:v>
                </c:pt>
                <c:pt idx="3">
                  <c:v>618909.688</c:v>
                </c:pt>
                <c:pt idx="4">
                  <c:v>630006.711</c:v>
                </c:pt>
                <c:pt idx="5">
                  <c:v>641306.641</c:v>
                </c:pt>
                <c:pt idx="6">
                  <c:v>657871.724</c:v>
                </c:pt>
                <c:pt idx="7">
                  <c:v>674868.766</c:v>
                </c:pt>
                <c:pt idx="8">
                  <c:v>692309.145</c:v>
                </c:pt>
                <c:pt idx="9">
                  <c:v>710204.54</c:v>
                </c:pt>
                <c:pt idx="10">
                  <c:v>728566.944</c:v>
                </c:pt>
                <c:pt idx="11">
                  <c:v>747408.667</c:v>
                </c:pt>
                <c:pt idx="12">
                  <c:v>766742.345</c:v>
                </c:pt>
                <c:pt idx="13">
                  <c:v>786580.956</c:v>
                </c:pt>
                <c:pt idx="14">
                  <c:v>806937.818</c:v>
                </c:pt>
                <c:pt idx="15">
                  <c:v>827826.609</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498710.627</c:v>
                </c:pt>
                <c:pt idx="1">
                  <c:v>515651.418</c:v>
                </c:pt>
                <c:pt idx="2">
                  <c:v>533229.043</c:v>
                </c:pt>
                <c:pt idx="3">
                  <c:v>551468.907</c:v>
                </c:pt>
                <c:pt idx="4">
                  <c:v>570397.47</c:v>
                </c:pt>
                <c:pt idx="5">
                  <c:v>590042.274</c:v>
                </c:pt>
                <c:pt idx="6">
                  <c:v>615095.681</c:v>
                </c:pt>
                <c:pt idx="7">
                  <c:v>641283.02</c:v>
                </c:pt>
                <c:pt idx="8">
                  <c:v>668657.869</c:v>
                </c:pt>
                <c:pt idx="9">
                  <c:v>697276.417</c:v>
                </c:pt>
                <c:pt idx="10">
                  <c:v>727197.57</c:v>
                </c:pt>
                <c:pt idx="11">
                  <c:v>758483.106</c:v>
                </c:pt>
                <c:pt idx="12">
                  <c:v>791197.812</c:v>
                </c:pt>
                <c:pt idx="13">
                  <c:v>825409.628</c:v>
                </c:pt>
                <c:pt idx="14">
                  <c:v>861189.806</c:v>
                </c:pt>
                <c:pt idx="15">
                  <c:v>898613.069</c:v>
                </c:pt>
              </c:numCache>
            </c:numRef>
          </c:val>
        </c:ser>
        <c:ser>
          <c:idx val="2"/>
          <c:order val="2"/>
          <c:tx>
            <c:strRef>
              <c:strCache>
                <c:ptCount val="1"/>
                <c:pt idx="0">
                  <c:v>South Asia &amp; Pacific</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405031.897</c:v>
                </c:pt>
                <c:pt idx="1">
                  <c:v>425097.232</c:v>
                </c:pt>
                <c:pt idx="2">
                  <c:v>446201.313</c:v>
                </c:pt>
                <c:pt idx="3">
                  <c:v>468399.713</c:v>
                </c:pt>
                <c:pt idx="4">
                  <c:v>491751.05</c:v>
                </c:pt>
                <c:pt idx="5">
                  <c:v>516317.156</c:v>
                </c:pt>
                <c:pt idx="6">
                  <c:v>546294.432</c:v>
                </c:pt>
                <c:pt idx="7">
                  <c:v>578067.161</c:v>
                </c:pt>
                <c:pt idx="8">
                  <c:v>611745.545</c:v>
                </c:pt>
                <c:pt idx="9">
                  <c:v>647446.683</c:v>
                </c:pt>
                <c:pt idx="10">
                  <c:v>685295.01</c:v>
                </c:pt>
                <c:pt idx="11">
                  <c:v>725422.754</c:v>
                </c:pt>
                <c:pt idx="12">
                  <c:v>767970.435</c:v>
                </c:pt>
                <c:pt idx="13">
                  <c:v>813087.403</c:v>
                </c:pt>
                <c:pt idx="14">
                  <c:v>860932.38</c:v>
                </c:pt>
                <c:pt idx="15">
                  <c:v>911674.083</c:v>
                </c:pt>
              </c:numCache>
            </c:numRef>
          </c:val>
        </c:ser>
        <c:ser>
          <c:idx val="3"/>
          <c:order val="3"/>
          <c:tx>
            <c:strRef>
              <c:strCache>
                <c:ptCount val="1"/>
                <c:pt idx="0">
                  <c:v>East Asia</c:v>
                </c:pt>
              </c:strCache>
            </c:strRef>
          </c:tx>
          <c:spPr>
            <a:solidFill>
              <a:srgbClr val="40315E"/>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400245.448</c:v>
                </c:pt>
                <c:pt idx="1">
                  <c:v>416129.608</c:v>
                </c:pt>
                <c:pt idx="2">
                  <c:v>432653.151</c:v>
                </c:pt>
                <c:pt idx="3">
                  <c:v>449842.128</c:v>
                </c:pt>
                <c:pt idx="4">
                  <c:v>467723.656</c:v>
                </c:pt>
                <c:pt idx="5">
                  <c:v>486325.976</c:v>
                </c:pt>
                <c:pt idx="6">
                  <c:v>509567.836</c:v>
                </c:pt>
                <c:pt idx="7">
                  <c:v>533931.186</c:v>
                </c:pt>
                <c:pt idx="8">
                  <c:v>559470.599</c:v>
                </c:pt>
                <c:pt idx="9">
                  <c:v>586243.324</c:v>
                </c:pt>
                <c:pt idx="10">
                  <c:v>614309.42</c:v>
                </c:pt>
                <c:pt idx="11">
                  <c:v>643731.89</c:v>
                </c:pt>
                <c:pt idx="12">
                  <c:v>674576.826</c:v>
                </c:pt>
                <c:pt idx="13">
                  <c:v>706913.567</c:v>
                </c:pt>
                <c:pt idx="14">
                  <c:v>740814.855</c:v>
                </c:pt>
                <c:pt idx="15">
                  <c:v>776357.005</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184210.495</c:v>
                </c:pt>
                <c:pt idx="1">
                  <c:v>191345.485</c:v>
                </c:pt>
                <c:pt idx="2">
                  <c:v>198764.69</c:v>
                </c:pt>
                <c:pt idx="3">
                  <c:v>206479.699</c:v>
                </c:pt>
                <c:pt idx="4">
                  <c:v>214502.588</c:v>
                </c:pt>
                <c:pt idx="5">
                  <c:v>222845.934</c:v>
                </c:pt>
                <c:pt idx="6">
                  <c:v>233294.746</c:v>
                </c:pt>
                <c:pt idx="7">
                  <c:v>244242.829</c:v>
                </c:pt>
                <c:pt idx="8">
                  <c:v>255714.437</c:v>
                </c:pt>
                <c:pt idx="9">
                  <c:v>267735.021</c:v>
                </c:pt>
                <c:pt idx="10">
                  <c:v>280331.283</c:v>
                </c:pt>
                <c:pt idx="11">
                  <c:v>293531.247</c:v>
                </c:pt>
                <c:pt idx="12">
                  <c:v>307364.318</c:v>
                </c:pt>
                <c:pt idx="13">
                  <c:v>321861.354</c:v>
                </c:pt>
                <c:pt idx="14">
                  <c:v>337054.734</c:v>
                </c:pt>
                <c:pt idx="15">
                  <c:v>352978.44</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169588.734</c:v>
                </c:pt>
                <c:pt idx="1">
                  <c:v>175550.635</c:v>
                </c:pt>
                <c:pt idx="2">
                  <c:v>181733.674</c:v>
                </c:pt>
                <c:pt idx="3">
                  <c:v>188146.566</c:v>
                </c:pt>
                <c:pt idx="4">
                  <c:v>194798.388</c:v>
                </c:pt>
                <c:pt idx="5">
                  <c:v>201698.6</c:v>
                </c:pt>
                <c:pt idx="6">
                  <c:v>210463.429</c:v>
                </c:pt>
                <c:pt idx="7">
                  <c:v>219623.605</c:v>
                </c:pt>
                <c:pt idx="8">
                  <c:v>229197.715</c:v>
                </c:pt>
                <c:pt idx="9">
                  <c:v>239205.265</c:v>
                </c:pt>
                <c:pt idx="10">
                  <c:v>249666.714</c:v>
                </c:pt>
                <c:pt idx="11">
                  <c:v>260603.536</c:v>
                </c:pt>
                <c:pt idx="12">
                  <c:v>272038.265</c:v>
                </c:pt>
                <c:pt idx="13">
                  <c:v>283994.546</c:v>
                </c:pt>
                <c:pt idx="14">
                  <c:v>296497.201</c:v>
                </c:pt>
                <c:pt idx="15">
                  <c:v>309572.285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North America</c:v>
                </c:pt>
              </c:strCache>
            </c:strRef>
          </c:tx>
          <c:spPr>
            <a:solidFill>
              <a:srgbClr val="3D85C6"/>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3065.726</c:v>
                </c:pt>
                <c:pt idx="1">
                  <c:v>3165.233</c:v>
                </c:pt>
                <c:pt idx="2">
                  <c:v>3268.003</c:v>
                </c:pt>
                <c:pt idx="3">
                  <c:v>3374.146</c:v>
                </c:pt>
                <c:pt idx="4">
                  <c:v>3483.774</c:v>
                </c:pt>
                <c:pt idx="5">
                  <c:v>3597.0</c:v>
                </c:pt>
                <c:pt idx="6">
                  <c:v>3742.722</c:v>
                </c:pt>
                <c:pt idx="7">
                  <c:v>3894.387</c:v>
                </c:pt>
                <c:pt idx="8">
                  <c:v>4052.241</c:v>
                </c:pt>
                <c:pt idx="9">
                  <c:v>4216.537</c:v>
                </c:pt>
                <c:pt idx="10">
                  <c:v>4387.542</c:v>
                </c:pt>
                <c:pt idx="11">
                  <c:v>4565.529</c:v>
                </c:pt>
                <c:pt idx="12">
                  <c:v>4750.786</c:v>
                </c:pt>
                <c:pt idx="13">
                  <c:v>4943.613</c:v>
                </c:pt>
                <c:pt idx="14">
                  <c:v>5144.321</c:v>
                </c:pt>
                <c:pt idx="15">
                  <c:v>5353.234</c:v>
                </c:pt>
              </c:numCache>
            </c:numRef>
          </c:val>
        </c:ser>
        <c:ser>
          <c:idx val="1"/>
          <c:order val="1"/>
          <c:tx>
            <c:strRef>
              <c:strCache>
                <c:ptCount val="1"/>
                <c:pt idx="0">
                  <c:v>Europe</c:v>
                </c:pt>
              </c:strCache>
            </c:strRef>
          </c:tx>
          <c:spPr>
            <a:solidFill>
              <a:srgbClr val="9E7E0A"/>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2341.233</c:v>
                </c:pt>
                <c:pt idx="1">
                  <c:v>2450.225</c:v>
                </c:pt>
                <c:pt idx="2">
                  <c:v>2564.613</c:v>
                </c:pt>
                <c:pt idx="3">
                  <c:v>2684.672</c:v>
                </c:pt>
                <c:pt idx="4">
                  <c:v>2810.698</c:v>
                </c:pt>
                <c:pt idx="5">
                  <c:v>2943.001</c:v>
                </c:pt>
                <c:pt idx="6">
                  <c:v>3105.448</c:v>
                </c:pt>
                <c:pt idx="7">
                  <c:v>3277.255</c:v>
                </c:pt>
                <c:pt idx="8">
                  <c:v>3458.974</c:v>
                </c:pt>
                <c:pt idx="9">
                  <c:v>3651.196</c:v>
                </c:pt>
                <c:pt idx="10">
                  <c:v>3854.55</c:v>
                </c:pt>
                <c:pt idx="11">
                  <c:v>4069.701</c:v>
                </c:pt>
                <c:pt idx="12">
                  <c:v>4297.349</c:v>
                </c:pt>
                <c:pt idx="13">
                  <c:v>4538.251</c:v>
                </c:pt>
                <c:pt idx="14">
                  <c:v>4793.196</c:v>
                </c:pt>
                <c:pt idx="15">
                  <c:v>5063.024</c:v>
                </c:pt>
              </c:numCache>
            </c:numRef>
          </c:val>
        </c:ser>
        <c:ser>
          <c:idx val="2"/>
          <c:order val="2"/>
          <c:tx>
            <c:strRef>
              <c:strCache>
                <c:ptCount val="1"/>
                <c:pt idx="0">
                  <c:v>East Asia</c:v>
                </c:pt>
              </c:strCache>
            </c:strRef>
          </c:tx>
          <c:spPr>
            <a:solidFill>
              <a:srgbClr val="008189"/>
            </a:solidFill>
            <a:ln>
              <a:noFill/>
            </a:ln>
          </c:spPr>
          <c:dLbls>
            <c:dLbl>
              <c:idx val="0"/>
              <c:numFmt formatCode="&quot;&quot;" sourceLinked="0"/>
              <c:dLblPos val="ct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1165.472</c:v>
                </c:pt>
                <c:pt idx="1">
                  <c:v>1211.894</c:v>
                </c:pt>
                <c:pt idx="2">
                  <c:v>1260.181</c:v>
                </c:pt>
                <c:pt idx="3">
                  <c:v>1310.408</c:v>
                </c:pt>
                <c:pt idx="4">
                  <c:v>1362.653</c:v>
                </c:pt>
                <c:pt idx="5">
                  <c:v>1417.001</c:v>
                </c:pt>
                <c:pt idx="6">
                  <c:v>1484.868</c:v>
                </c:pt>
                <c:pt idx="7">
                  <c:v>1556.006</c:v>
                </c:pt>
                <c:pt idx="8">
                  <c:v>1630.571</c:v>
                </c:pt>
                <c:pt idx="9">
                  <c:v>1708.73</c:v>
                </c:pt>
                <c:pt idx="10">
                  <c:v>1790.657</c:v>
                </c:pt>
                <c:pt idx="11">
                  <c:v>1876.535</c:v>
                </c:pt>
                <c:pt idx="12">
                  <c:v>1966.555</c:v>
                </c:pt>
                <c:pt idx="13">
                  <c:v>2060.917</c:v>
                </c:pt>
                <c:pt idx="14">
                  <c:v>2159.833</c:v>
                </c:pt>
                <c:pt idx="15">
                  <c:v>2263.523</c:v>
                </c:pt>
              </c:numCache>
            </c:numRef>
          </c:val>
        </c:ser>
        <c:ser>
          <c:idx val="3"/>
          <c:order val="3"/>
          <c:tx>
            <c:strRef>
              <c:strCache>
                <c:ptCount val="1"/>
                <c:pt idx="0">
                  <c:v>South Asia &amp; Pacific</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dLblPos val="ctr"/>
              <c:showLegendKey val="0"/>
              <c:showVal val="1"/>
              <c:showCatName val="0"/>
              <c:showSerName val="0"/>
              <c:showPercent val="0"/>
              <c:showBubbleSize val="0"/>
            </c:dLbl>
            <c:dLbl>
              <c:idx val="2"/>
              <c:numFmt formatCode="&quot;&quot;" sourceLinked="0"/>
              <c:dLblPos val="ctr"/>
              <c:showLegendKey val="0"/>
              <c:showVal val="1"/>
              <c:showCatName val="0"/>
              <c:showSerName val="0"/>
              <c:showPercent val="0"/>
              <c:showBubbleSize val="0"/>
            </c:dLbl>
            <c:dLbl>
              <c:idx val="3"/>
              <c:numFmt formatCode="&quot;&quot;" sourceLinked="0"/>
              <c:dLblPos val="ctr"/>
              <c:showLegendKey val="0"/>
              <c:showVal val="1"/>
              <c:showCatName val="0"/>
              <c:showSerName val="0"/>
              <c:showPercent val="0"/>
              <c:showBubbleSize val="0"/>
            </c:dLbl>
            <c:dLbl>
              <c:idx val="4"/>
              <c:numFmt formatCode="&quot;&quot;" sourceLinked="0"/>
              <c:dLblPos val="ctr"/>
              <c:showLegendKey val="0"/>
              <c:showVal val="1"/>
              <c:showCatName val="0"/>
              <c:showSerName val="0"/>
              <c:showPercent val="0"/>
              <c:showBubbleSize val="0"/>
            </c:dLbl>
            <c:dLbl>
              <c:idx val="5"/>
              <c:numFmt formatCode="&quot;&quot;" sourceLinked="0"/>
              <c:dLblPos val="ctr"/>
              <c:showLegendKey val="0"/>
              <c:showVal val="1"/>
              <c:showCatName val="0"/>
              <c:showSerName val="0"/>
              <c:showPercent val="0"/>
              <c:showBubbleSize val="0"/>
            </c:dLbl>
            <c:dLbl>
              <c:idx val="6"/>
              <c:numFmt formatCode="&quot;&quot;" sourceLinked="0"/>
              <c:dLblPos val="ctr"/>
              <c:showLegendKey val="0"/>
              <c:showVal val="1"/>
              <c:showCatName val="0"/>
              <c:showSerName val="0"/>
              <c:showPercent val="0"/>
              <c:showBubbleSize val="0"/>
            </c:dLbl>
            <c:dLbl>
              <c:idx val="7"/>
              <c:numFmt formatCode="&quot;&quot;" sourceLinked="0"/>
              <c:dLblPos val="ctr"/>
              <c:showLegendKey val="0"/>
              <c:showVal val="1"/>
              <c:showCatName val="0"/>
              <c:showSerName val="0"/>
              <c:showPercent val="0"/>
              <c:showBubbleSize val="0"/>
            </c:dLbl>
            <c:dLbl>
              <c:idx val="8"/>
              <c:numFmt formatCode="&quot;&quot;" sourceLinked="0"/>
              <c:dLblPos val="ct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1026.138</c:v>
                </c:pt>
                <c:pt idx="1">
                  <c:v>1076.953</c:v>
                </c:pt>
                <c:pt idx="2">
                  <c:v>1130.401</c:v>
                </c:pt>
                <c:pt idx="3">
                  <c:v>1186.626</c:v>
                </c:pt>
                <c:pt idx="4">
                  <c:v>1245.772</c:v>
                </c:pt>
                <c:pt idx="5">
                  <c:v>1307.999</c:v>
                </c:pt>
                <c:pt idx="6">
                  <c:v>1383.936</c:v>
                </c:pt>
                <c:pt idx="7">
                  <c:v>1464.426</c:v>
                </c:pt>
                <c:pt idx="8">
                  <c:v>1549.748</c:v>
                </c:pt>
                <c:pt idx="9">
                  <c:v>1640.196</c:v>
                </c:pt>
                <c:pt idx="10">
                  <c:v>1736.088</c:v>
                </c:pt>
                <c:pt idx="11">
                  <c:v>1837.761</c:v>
                </c:pt>
                <c:pt idx="12">
                  <c:v>1945.57</c:v>
                </c:pt>
                <c:pt idx="13">
                  <c:v>2059.891</c:v>
                </c:pt>
                <c:pt idx="14">
                  <c:v>2181.132</c:v>
                </c:pt>
                <c:pt idx="15">
                  <c:v>2309.719</c:v>
                </c:pt>
              </c:numCache>
            </c:numRef>
          </c:val>
        </c:ser>
        <c:ser>
          <c:idx val="4"/>
          <c:order val="4"/>
          <c:tx>
            <c:strRef>
              <c:strCache>
                <c:ptCount val="1"/>
                <c:pt idx="0">
                  <c:v>Latin America</c:v>
                </c:pt>
              </c:strCache>
            </c:strRef>
          </c:tx>
          <c:spPr>
            <a:solidFill>
              <a:srgbClr val="A35313"/>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dLblPos val="ctr"/>
              <c:showLegendKey val="0"/>
              <c:showVal val="1"/>
              <c:showCatName val="0"/>
              <c:showSerName val="0"/>
              <c:showPercent val="0"/>
              <c:showBubbleSize val="0"/>
            </c:dLbl>
            <c:dLbl>
              <c:idx val="10"/>
              <c:numFmt formatCode="&quot;&quot;" sourceLinked="0"/>
              <c:dLblPos val="ctr"/>
              <c:showLegendKey val="0"/>
              <c:showVal val="1"/>
              <c:showCatName val="0"/>
              <c:showSerName val="0"/>
              <c:showPercent val="0"/>
              <c:showBubbleSize val="0"/>
            </c:dLbl>
            <c:dLbl>
              <c:idx val="11"/>
              <c:numFmt formatCode="&quot;&quot;" sourceLinked="0"/>
              <c:dLblPos val="ctr"/>
              <c:showLegendKey val="0"/>
              <c:showVal val="1"/>
              <c:showCatName val="0"/>
              <c:showSerName val="0"/>
              <c:showPercent val="0"/>
              <c:showBubbleSize val="0"/>
            </c:dLbl>
            <c:dLbl>
              <c:idx val="12"/>
              <c:numFmt formatCode="&quot;&quot;" sourceLinked="0"/>
              <c:dLblPos val="ctr"/>
              <c:showLegendKey val="0"/>
              <c:showVal val="1"/>
              <c:showCatName val="0"/>
              <c:showSerName val="0"/>
              <c:showPercent val="0"/>
              <c:showBubbleSize val="0"/>
            </c:dLbl>
            <c:dLbl>
              <c:idx val="13"/>
              <c:numFmt formatCode="&quot;&quot;" sourceLinked="0"/>
              <c:dLblPos val="ctr"/>
              <c:showLegendKey val="0"/>
              <c:showVal val="1"/>
              <c:showCatName val="0"/>
              <c:showSerName val="0"/>
              <c:showPercent val="0"/>
              <c:showBubbleSize val="0"/>
            </c:dLbl>
            <c:dLbl>
              <c:idx val="14"/>
              <c:numFmt formatCode="&quot;&quot;" sourceLinked="0"/>
              <c:dLblPos val="ctr"/>
              <c:showLegendKey val="0"/>
              <c:showVal val="1"/>
              <c:showCatName val="0"/>
              <c:showSerName val="0"/>
              <c:showPercent val="0"/>
              <c:showBubbleSize val="0"/>
            </c:dLbl>
            <c:dLbl>
              <c:idx val="15"/>
              <c:numFmt formatCode="&quot;&quot;" sourceLinked="0"/>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698.72</c:v>
                </c:pt>
                <c:pt idx="1">
                  <c:v>730.312</c:v>
                </c:pt>
                <c:pt idx="2">
                  <c:v>763.363</c:v>
                </c:pt>
                <c:pt idx="3">
                  <c:v>797.947</c:v>
                </c:pt>
                <c:pt idx="4">
                  <c:v>834.134</c:v>
                </c:pt>
                <c:pt idx="5">
                  <c:v>871.999</c:v>
                </c:pt>
                <c:pt idx="6">
                  <c:v>918.6</c:v>
                </c:pt>
                <c:pt idx="7">
                  <c:v>967.734</c:v>
                </c:pt>
                <c:pt idx="8">
                  <c:v>1019.538</c:v>
                </c:pt>
                <c:pt idx="9">
                  <c:v>1074.161</c:v>
                </c:pt>
                <c:pt idx="10">
                  <c:v>1131.758</c:v>
                </c:pt>
                <c:pt idx="11">
                  <c:v>1192.493</c:v>
                </c:pt>
                <c:pt idx="12">
                  <c:v>1256.541</c:v>
                </c:pt>
                <c:pt idx="13">
                  <c:v>1324.084</c:v>
                </c:pt>
                <c:pt idx="14">
                  <c:v>1395.315</c:v>
                </c:pt>
                <c:pt idx="15">
                  <c:v>1470.44</c:v>
                </c:pt>
              </c:numCache>
            </c:numRef>
          </c:val>
        </c:ser>
        <c:ser>
          <c:idx val="5"/>
          <c:order val="5"/>
          <c:tx>
            <c:strRef>
              <c:strCache>
                <c:ptCount val="1"/>
                <c:pt idx="0">
                  <c:v>Middle East &amp; Africa</c:v>
                </c:pt>
              </c:strCache>
            </c:strRef>
          </c:tx>
          <c:spPr>
            <a:solidFill>
              <a:srgbClr val="808080"/>
            </a:solidFill>
            <a:ln>
              <a:noFill/>
            </a:ln>
          </c:spPr>
          <c:dLbls>
            <c:dLbl>
              <c:layout>
                <c:manualLayout>
                  <c:x val="0"/>
                  <c:y val="-0.0830"/>
                </c:manualLayout>
              </c:layout>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6"/>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7"/>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8"/>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9"/>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3"/>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4"/>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dLbl>
              <c:layout>
                <c:manualLayout>
                  <c:x val="0"/>
                  <c:y val="-0.0830"/>
                </c:manualLayout>
              </c:layout>
              <c:idx val="15"/>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dLblPos val="inEnd"/>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627.145</c:v>
                </c:pt>
                <c:pt idx="1">
                  <c:v>652.145</c:v>
                </c:pt>
                <c:pt idx="2">
                  <c:v>678.184</c:v>
                </c:pt>
                <c:pt idx="3">
                  <c:v>705.309</c:v>
                </c:pt>
                <c:pt idx="4">
                  <c:v>733.562</c:v>
                </c:pt>
                <c:pt idx="5">
                  <c:v>763.001</c:v>
                </c:pt>
                <c:pt idx="6">
                  <c:v>799.772</c:v>
                </c:pt>
                <c:pt idx="7">
                  <c:v>838.372</c:v>
                </c:pt>
                <c:pt idx="8">
                  <c:v>878.889</c:v>
                </c:pt>
                <c:pt idx="9">
                  <c:v>921.427</c:v>
                </c:pt>
                <c:pt idx="10">
                  <c:v>966.085</c:v>
                </c:pt>
                <c:pt idx="11">
                  <c:v>1012.977</c:v>
                </c:pt>
                <c:pt idx="12">
                  <c:v>1062.214</c:v>
                </c:pt>
                <c:pt idx="13">
                  <c:v>1113.922</c:v>
                </c:pt>
                <c:pt idx="14">
                  <c:v>1168.224</c:v>
                </c:pt>
                <c:pt idx="15">
                  <c:v>1225.259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Static Cold Storage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24.262870136028383</c:v>
                </c:pt>
                <c:pt idx="1">
                  <c:v>24.18486983487935</c:v>
                </c:pt>
                <c:pt idx="2">
                  <c:v>26.066004189045128</c:v>
                </c:pt>
                <c:pt idx="3">
                  <c:v>21.713117483122403</c:v>
                </c:pt>
                <c:pt idx="4">
                  <c:v>25.254551430133453</c:v>
                </c:pt>
                <c:pt idx="5">
                  <c:v>21.19296485077992</c:v>
                </c:pt>
              </c:numCache>
            </c:numRef>
          </c:val>
        </c:ser>
        <c:ser>
          <c:idx val="1"/>
          <c:order val="1"/>
          <c:tx>
            <c:strRef>
              <c:strCache>
                <c:ptCount val="1"/>
                <c:pt idx="0">
                  <c:v>Portable Machine Perfusion Devices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75.73712986397162</c:v>
                </c:pt>
                <c:pt idx="1">
                  <c:v>75.81513016512065</c:v>
                </c:pt>
                <c:pt idx="2">
                  <c:v>73.93399581095487</c:v>
                </c:pt>
                <c:pt idx="3">
                  <c:v>78.28688251687758</c:v>
                </c:pt>
                <c:pt idx="4">
                  <c:v>74.74544856986654</c:v>
                </c:pt>
                <c:pt idx="5">
                  <c:v>78.80703514922008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Static Cold Storage Devices</c:v>
                </c:pt>
              </c:strCache>
            </c:strRef>
          </c:tx>
          <c:spPr>
            <a:solidFill>
              <a:srgbClr val="3D85C6"/>
            </a:solidFill>
          </c:spPr>
          <c:invertIfNegative val="0"/>
          <c:xVal>
            <c:numRef>
              <c:numCache>
                <c:formatCode>General</c:formatCode>
                <c:ptCount val="1"/>
                <c:pt idx="0">
                  <c:v>103.01283997840191</c:v>
                </c:pt>
              </c:numCache>
            </c:numRef>
          </c:xVal>
          <c:yVal>
            <c:numRef>
              <c:numCache>
                <c:formatCode>General</c:formatCode>
                <c:ptCount val="1"/>
                <c:pt idx="0">
                  <c:v>46.35361042627427</c:v>
                </c:pt>
              </c:numCache>
            </c:numRef>
          </c:yVal>
          <c:bubbleSize>
            <c:numRef>
              <c:numCache>
                <c:formatCode>General</c:formatCode>
                <c:ptCount val="1"/>
                <c:pt idx="0">
                  <c:v>4157.582</c:v>
                </c:pt>
              </c:numCache>
            </c:numRef>
          </c:bubbleSize>
          <c:bubble3D val="0"/>
        </c:ser>
        <c:ser>
          <c:idx val="1"/>
          <c:order val="1"/>
          <c:tx>
            <c:strRef>
              <c:strCache>
                <c:ptCount val="1"/>
                <c:pt idx="0">
                  <c:v>Portable Machine Perfusion Devices</c:v>
                </c:pt>
              </c:strCache>
            </c:strRef>
          </c:tx>
          <c:spPr>
            <a:solidFill>
              <a:srgbClr val="9E7E0A"/>
            </a:solidFill>
          </c:spPr>
          <c:invertIfNegative val="0"/>
          <c:xVal>
            <c:numRef>
              <c:numCache>
                <c:formatCode>General</c:formatCode>
                <c:ptCount val="1"/>
                <c:pt idx="0">
                  <c:v>99.08342754038519</c:v>
                </c:pt>
              </c:numCache>
            </c:numRef>
          </c:xVal>
          <c:yVal>
            <c:numRef>
              <c:numCache>
                <c:formatCode>General</c:formatCode>
                <c:ptCount val="1"/>
                <c:pt idx="0">
                  <c:v>153.6463895737257</c:v>
                </c:pt>
              </c:numCache>
            </c:numRef>
          </c:yVal>
          <c:bubbleSize>
            <c:numRef>
              <c:numCache>
                <c:formatCode>General</c:formatCode>
                <c:ptCount val="1"/>
                <c:pt idx="0">
                  <c:v>13527.617</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2526.272</c:v>
                </c:pt>
                <c:pt idx="2">
                  <c:v>2788.754</c:v>
                </c:pt>
                <c:pt idx="3">
                  <c:v>3079.7120000000004</c:v>
                </c:pt>
                <c:pt idx="4">
                  <c:v>3402.368</c:v>
                </c:pt>
                <c:pt idx="5">
                  <c:v>3760.3179999999998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2526.272</c:v>
                </c:pt>
                <c:pt idx="1">
                  <c:v>262.48199999999997</c:v>
                </c:pt>
                <c:pt idx="2">
                  <c:v>290.95800000000054</c:v>
                </c:pt>
                <c:pt idx="3">
                  <c:v>322.6559999999995</c:v>
                </c:pt>
                <c:pt idx="4">
                  <c:v>357.9499999999998</c:v>
                </c:pt>
                <c:pt idx="5">
                  <c:v>397.2640000000006</c:v>
                </c:pt>
                <c:pt idx="6">
                  <c:v>4157.582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8373.729</c:v>
                </c:pt>
                <c:pt idx="2">
                  <c:v>9209.426</c:v>
                </c:pt>
                <c:pt idx="3">
                  <c:v>10132.535</c:v>
                </c:pt>
                <c:pt idx="4">
                  <c:v>11152.628</c:v>
                </c:pt>
                <c:pt idx="5">
                  <c:v>12280.36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8373.729</c:v>
                </c:pt>
                <c:pt idx="1">
                  <c:v>835.6970000000001</c:v>
                </c:pt>
                <c:pt idx="2">
                  <c:v>923.1090000000004</c:v>
                </c:pt>
                <c:pt idx="3">
                  <c:v>1020.0930000000008</c:v>
                </c:pt>
                <c:pt idx="4">
                  <c:v>1127.732</c:v>
                </c:pt>
                <c:pt idx="5">
                  <c:v>1247.2569999999996</c:v>
                </c:pt>
                <c:pt idx="6">
                  <c:v>13527.617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Portable Machine Perfusion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76.98881520105364</c:v>
                </c:pt>
                <c:pt idx="1">
                  <c:v>76.82319478686286</c:v>
                </c:pt>
                <c:pt idx="2">
                  <c:v>76.49117773568734</c:v>
                </c:pt>
              </c:numCache>
            </c:numRef>
          </c:val>
        </c:ser>
        <c:ser>
          <c:idx val="1"/>
          <c:order val="1"/>
          <c:tx>
            <c:strRef>
              <c:strCache>
                <c:ptCount val="1"/>
                <c:pt idx="0">
                  <c:v>Static Cold Storage Devices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23.011184798946356</c:v>
                </c:pt>
                <c:pt idx="1">
                  <c:v>23.176805213137136</c:v>
                </c:pt>
                <c:pt idx="2">
                  <c:v>23.508822264312663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Organ-Specific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94.25819357376685</c:v>
                </c:pt>
                <c:pt idx="1">
                  <c:v>94.46022959114279</c:v>
                </c:pt>
                <c:pt idx="2">
                  <c:v>92.8651487084514</c:v>
                </c:pt>
                <c:pt idx="3">
                  <c:v>94.70325178084434</c:v>
                </c:pt>
                <c:pt idx="4">
                  <c:v>94.12874598263805</c:v>
                </c:pt>
                <c:pt idx="5">
                  <c:v>94.98105257494814</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quot;;&quot;MMM&quot;;&quot;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quot;;&quot;MMM&quot;;&quot;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5.741806426233147</c:v>
                </c:pt>
                <c:pt idx="1">
                  <c:v>5.539770408857213</c:v>
                </c:pt>
                <c:pt idx="2">
                  <c:v>7.1348512915486175</c:v>
                </c:pt>
                <c:pt idx="3">
                  <c:v>5.296748219155663</c:v>
                </c:pt>
                <c:pt idx="4">
                  <c:v>5.871254017361955</c:v>
                </c:pt>
                <c:pt idx="5">
                  <c:v>5.018947425051847</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Organ-Specific Devices</c:v>
                </c:pt>
              </c:strCache>
            </c:strRef>
          </c:tx>
          <c:spPr>
            <a:solidFill>
              <a:srgbClr val="3D85C6"/>
            </a:solidFill>
          </c:spPr>
          <c:invertIfNegative val="0"/>
          <c:xVal>
            <c:numRef>
              <c:numCache>
                <c:formatCode>General</c:formatCode>
                <c:ptCount val="1"/>
                <c:pt idx="0">
                  <c:v>99.99036637493319</c:v>
                </c:pt>
              </c:numCache>
            </c:numRef>
          </c:xVal>
          <c:yVal>
            <c:numRef>
              <c:numCache>
                <c:formatCode>General</c:formatCode>
                <c:ptCount val="1"/>
                <c:pt idx="0">
                  <c:v>188.681725809016</c:v>
                </c:pt>
              </c:numCache>
            </c:numRef>
          </c:yVal>
          <c:bubbleSize>
            <c:numRef>
              <c:numCache>
                <c:formatCode>General</c:formatCode>
                <c:ptCount val="1"/>
                <c:pt idx="0">
                  <c:v>16683.61</c:v>
                </c:pt>
              </c:numCache>
            </c:numRef>
          </c:bubbleSize>
          <c:bubble3D val="0"/>
        </c:ser>
        <c:ser>
          <c:idx val="1"/>
          <c:order val="1"/>
          <c:tx>
            <c:strRef>
              <c:strCache>
                <c:ptCount val="1"/>
                <c:pt idx="0">
                  <c:v>Multi-Organ Compatible Devices</c:v>
                </c:pt>
              </c:strCache>
            </c:strRef>
          </c:tx>
          <c:spPr>
            <a:solidFill>
              <a:srgbClr val="9E7E0A"/>
            </a:solidFill>
          </c:spPr>
          <c:invertIfNegative val="0"/>
          <c:xVal>
            <c:numRef>
              <c:numCache>
                <c:formatCode>General</c:formatCode>
                <c:ptCount val="1"/>
                <c:pt idx="0">
                  <c:v>100.16053962456073</c:v>
                </c:pt>
              </c:numCache>
            </c:numRef>
          </c:xVal>
          <c:yVal>
            <c:numRef>
              <c:numCache>
                <c:formatCode>General</c:formatCode>
                <c:ptCount val="1"/>
                <c:pt idx="0">
                  <c:v>11.318274190984019</c:v>
                </c:pt>
              </c:numCache>
            </c:numRef>
          </c:yVal>
          <c:bubbleSize>
            <c:numRef>
              <c:numCache>
                <c:formatCode>General</c:formatCode>
                <c:ptCount val="1"/>
                <c:pt idx="0">
                  <c:v>1001.589</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10283.155</c:v>
                </c:pt>
                <c:pt idx="2">
                  <c:v>11319.096</c:v>
                </c:pt>
                <c:pt idx="3">
                  <c:v>12464.342</c:v>
                </c:pt>
                <c:pt idx="4">
                  <c:v>13730.955</c:v>
                </c:pt>
                <c:pt idx="5">
                  <c:v>15132.378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10283.155</c:v>
                </c:pt>
                <c:pt idx="1">
                  <c:v>1035.940999999999</c:v>
                </c:pt>
                <c:pt idx="2">
                  <c:v>1145.246000000001</c:v>
                </c:pt>
                <c:pt idx="3">
                  <c:v>1266.6129999999994</c:v>
                </c:pt>
                <c:pt idx="4">
                  <c:v>1401.4230000000007</c:v>
                </c:pt>
                <c:pt idx="5">
                  <c:v>1551.232</c:v>
                </c:pt>
                <c:pt idx="6">
                  <c:v>16683.61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616.846</c:v>
                </c:pt>
                <c:pt idx="2">
                  <c:v>679.084</c:v>
                </c:pt>
                <c:pt idx="3">
                  <c:v>747.905</c:v>
                </c:pt>
                <c:pt idx="4">
                  <c:v>824.041</c:v>
                </c:pt>
                <c:pt idx="5">
                  <c:v>908.3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616.846</c:v>
                </c:pt>
                <c:pt idx="1">
                  <c:v>62.23799999999994</c:v>
                </c:pt>
                <c:pt idx="2">
                  <c:v>68.82100000000003</c:v>
                </c:pt>
                <c:pt idx="3">
                  <c:v>76.13600000000008</c:v>
                </c:pt>
                <c:pt idx="4">
                  <c:v>84.2589999999999</c:v>
                </c:pt>
                <c:pt idx="5">
                  <c:v>93.2890000000001</c:v>
                </c:pt>
                <c:pt idx="6">
                  <c:v>1001.589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Organ-Specific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94.34256559015395</c:v>
                </c:pt>
                <c:pt idx="1">
                  <c:v>94.340862904508</c:v>
                </c:pt>
                <c:pt idx="2">
                  <c:v>94.33656924075325</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5.657434409846047</c:v>
                </c:pt>
                <c:pt idx="1">
                  <c:v>5.659137095492009</c:v>
                </c:pt>
                <c:pt idx="2">
                  <c:v>5.663430759246758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Single-Use Transport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63.6077759885869</c:v>
                </c:pt>
                <c:pt idx="1">
                  <c:v>58.82341340007072</c:v>
                </c:pt>
                <c:pt idx="2">
                  <c:v>61.611611633723186</c:v>
                </c:pt>
                <c:pt idx="3">
                  <c:v>65.78856562205185</c:v>
                </c:pt>
                <c:pt idx="4">
                  <c:v>63.5998762794725</c:v>
                </c:pt>
                <c:pt idx="5">
                  <c:v>61.78637063128568</c:v>
                </c:pt>
              </c:numCache>
            </c:numRef>
          </c:val>
        </c:ser>
        <c:ser>
          <c:idx val="1"/>
          <c:order val="1"/>
          <c:tx>
            <c:strRef>
              <c:strCache>
                <c:ptCount val="1"/>
                <c:pt idx="0">
                  <c:v>Reusable Transport Devices</c:v>
                </c:pt>
              </c:strCache>
            </c:strRef>
          </c:tx>
          <c:spPr>
            <a:solidFill>
              <a:srgbClr val="9E7E0A"/>
            </a:solidFill>
            <a:ln>
              <a:noFill/>
            </a:ln>
          </c:spPr>
          <c:dLbls>
            <c:dLbl>
              <c:idx val="0"/>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36.3922240114131</c:v>
                </c:pt>
                <c:pt idx="1">
                  <c:v>41.17658659992927</c:v>
                </c:pt>
                <c:pt idx="2">
                  <c:v>38.38838836627681</c:v>
                </c:pt>
                <c:pt idx="3">
                  <c:v>34.211434377948144</c:v>
                </c:pt>
                <c:pt idx="4">
                  <c:v>36.40012372052749</c:v>
                </c:pt>
                <c:pt idx="5">
                  <c:v>38.21362936871431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2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Single-Use Transport Devices</c:v>
                </c:pt>
              </c:strCache>
            </c:strRef>
          </c:tx>
          <c:spPr>
            <a:solidFill>
              <a:srgbClr val="3D85C6"/>
            </a:solidFill>
          </c:spPr>
          <c:invertIfNegative val="0"/>
          <c:xVal>
            <c:numRef>
              <c:numCache>
                <c:formatCode>General</c:formatCode>
                <c:ptCount val="1"/>
                <c:pt idx="0">
                  <c:v>88.00651377191974</c:v>
                </c:pt>
              </c:numCache>
            </c:numRef>
          </c:xVal>
          <c:yVal>
            <c:numRef>
              <c:numCache>
                <c:formatCode>General</c:formatCode>
                <c:ptCount val="1"/>
                <c:pt idx="0">
                  <c:v>132.70173094479532</c:v>
                </c:pt>
              </c:numCache>
            </c:numRef>
          </c:yVal>
          <c:bubbleSize>
            <c:numRef>
              <c:numCache>
                <c:formatCode>General</c:formatCode>
                <c:ptCount val="1"/>
                <c:pt idx="0">
                  <c:v>11086.093</c:v>
                </c:pt>
              </c:numCache>
            </c:numRef>
          </c:bubbleSize>
          <c:bubble3D val="0"/>
        </c:ser>
        <c:ser>
          <c:idx val="1"/>
          <c:order val="1"/>
          <c:tx>
            <c:strRef>
              <c:strCache>
                <c:ptCount val="1"/>
                <c:pt idx="0">
                  <c:v>Reusable Transport Devices</c:v>
                </c:pt>
              </c:strCache>
            </c:strRef>
          </c:tx>
          <c:spPr>
            <a:solidFill>
              <a:srgbClr val="9E7E0A"/>
            </a:solidFill>
          </c:spPr>
          <c:invertIfNegative val="0"/>
          <c:xVal>
            <c:numRef>
              <c:numCache>
                <c:formatCode>General</c:formatCode>
                <c:ptCount val="1"/>
                <c:pt idx="0">
                  <c:v>121.9975251809992</c:v>
                </c:pt>
              </c:numCache>
            </c:numRef>
          </c:xVal>
          <c:yVal>
            <c:numRef>
              <c:numCache>
                <c:formatCode>General</c:formatCode>
                <c:ptCount val="1"/>
                <c:pt idx="0">
                  <c:v>67.29826905520467</c:v>
                </c:pt>
              </c:numCache>
            </c:numRef>
          </c:yVal>
          <c:bubbleSize>
            <c:numRef>
              <c:numCache>
                <c:formatCode>General</c:formatCode>
                <c:ptCount val="1"/>
                <c:pt idx="0">
                  <c:v>6599.106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7232.245</c:v>
                </c:pt>
                <c:pt idx="2">
                  <c:v>7878.257</c:v>
                </c:pt>
                <c:pt idx="3">
                  <c:v>8581.656</c:v>
                </c:pt>
                <c:pt idx="4">
                  <c:v>9347.274</c:v>
                </c:pt>
                <c:pt idx="5">
                  <c:v>10180.257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7232.245</c:v>
                </c:pt>
                <c:pt idx="1">
                  <c:v>646.0119999999997</c:v>
                </c:pt>
                <c:pt idx="2">
                  <c:v>703.3990000000013</c:v>
                </c:pt>
                <c:pt idx="3">
                  <c:v>765.6179999999986</c:v>
                </c:pt>
                <c:pt idx="4">
                  <c:v>832.9830000000002</c:v>
                </c:pt>
                <c:pt idx="5">
                  <c:v>905.8360000000011</c:v>
                </c:pt>
                <c:pt idx="6">
                  <c:v>11086.093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3667.756</c:v>
                </c:pt>
                <c:pt idx="2">
                  <c:v>4119.923</c:v>
                </c:pt>
                <c:pt idx="3">
                  <c:v>4630.591</c:v>
                </c:pt>
                <c:pt idx="4">
                  <c:v>5207.722</c:v>
                </c:pt>
                <c:pt idx="5">
                  <c:v>5860.421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3667.756</c:v>
                </c:pt>
                <c:pt idx="1">
                  <c:v>452.1669999999999</c:v>
                </c:pt>
                <c:pt idx="2">
                  <c:v>510.6680000000006</c:v>
                </c:pt>
                <c:pt idx="3">
                  <c:v>577.1309999999994</c:v>
                </c:pt>
                <c:pt idx="4">
                  <c:v>652.6990000000005</c:v>
                </c:pt>
                <c:pt idx="5">
                  <c:v>738.6849999999995</c:v>
                </c:pt>
                <c:pt idx="6">
                  <c:v>6599.106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Single-Use Transport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67.98672050238703</c:v>
                </c:pt>
                <c:pt idx="1">
                  <c:v>66.35086547239766</c:v>
                </c:pt>
                <c:pt idx="2">
                  <c:v>62.685712498909396</c:v>
                </c:pt>
              </c:numCache>
            </c:numRef>
          </c:val>
        </c:ser>
        <c:ser>
          <c:idx val="1"/>
          <c:order val="1"/>
          <c:tx>
            <c:strRef>
              <c:strCache>
                <c:ptCount val="1"/>
                <c:pt idx="0">
                  <c:v>Reusable Transport Devices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32.01327949761295</c:v>
                </c:pt>
                <c:pt idx="1">
                  <c:v>33.649134527602335</c:v>
                </c:pt>
                <c:pt idx="2">
                  <c:v>37.3142875010906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Devices without Integrated Monitoring</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15.457466543808291</c:v>
                </c:pt>
                <c:pt idx="1">
                  <c:v>15.740050597100186</c:v>
                </c:pt>
                <c:pt idx="2">
                  <c:v>13.706465540663823</c:v>
                </c:pt>
                <c:pt idx="3">
                  <c:v>13.98637669777146</c:v>
                </c:pt>
                <c:pt idx="4">
                  <c:v>15.301132287739502</c:v>
                </c:pt>
                <c:pt idx="5">
                  <c:v>13.033784811200109</c:v>
                </c:pt>
              </c:numCache>
            </c:numRef>
          </c:val>
        </c:ser>
        <c:ser>
          <c:idx val="1"/>
          <c:order val="1"/>
          <c:tx>
            <c:strRef>
              <c:strCache>
                <c:ptCount val="1"/>
                <c:pt idx="0">
                  <c:v>Devices with Integrated Monitoring</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84.54253345619172</c:v>
                </c:pt>
                <c:pt idx="1">
                  <c:v>84.25994940289982</c:v>
                </c:pt>
                <c:pt idx="2">
                  <c:v>86.29353445933617</c:v>
                </c:pt>
                <c:pt idx="3">
                  <c:v>86.01362330222855</c:v>
                </c:pt>
                <c:pt idx="4">
                  <c:v>84.69886771226051</c:v>
                </c:pt>
                <c:pt idx="5">
                  <c:v>86.9662151887999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Devices without Integrated Monitoring</c:v>
                </c:pt>
              </c:strCache>
            </c:strRef>
          </c:tx>
          <c:spPr>
            <a:solidFill>
              <a:srgbClr val="3D85C6"/>
            </a:solidFill>
          </c:spPr>
          <c:invertIfNegative val="0"/>
          <c:xVal>
            <c:numRef>
              <c:numCache>
                <c:formatCode>General</c:formatCode>
                <c:ptCount val="1"/>
                <c:pt idx="0">
                  <c:v>87.9432223714817</c:v>
                </c:pt>
              </c:numCache>
            </c:numRef>
          </c:xVal>
          <c:yVal>
            <c:numRef>
              <c:numCache>
                <c:formatCode>General</c:formatCode>
                <c:ptCount val="1"/>
                <c:pt idx="0">
                  <c:v>30.252364197030808</c:v>
                </c:pt>
              </c:numCache>
            </c:numRef>
          </c:yVal>
          <c:bubbleSize>
            <c:numRef>
              <c:numCache>
                <c:formatCode>General</c:formatCode>
                <c:ptCount val="1"/>
                <c:pt idx="0">
                  <c:v>2526.566</c:v>
                </c:pt>
              </c:numCache>
            </c:numRef>
          </c:bubbleSize>
          <c:bubble3D val="0"/>
        </c:ser>
        <c:ser>
          <c:idx val="1"/>
          <c:order val="1"/>
          <c:tx>
            <c:strRef>
              <c:strCache>
                <c:ptCount val="1"/>
                <c:pt idx="0">
                  <c:v>Devices with Integrated Monitoring</c:v>
                </c:pt>
              </c:strCache>
            </c:strRef>
          </c:tx>
          <c:spPr>
            <a:solidFill>
              <a:srgbClr val="9E7E0A"/>
            </a:solidFill>
          </c:spPr>
          <c:invertIfNegative val="0"/>
          <c:xVal>
            <c:numRef>
              <c:numCache>
                <c:formatCode>General</c:formatCode>
                <c:ptCount val="1"/>
                <c:pt idx="0">
                  <c:v>102.08523649340606</c:v>
                </c:pt>
              </c:numCache>
            </c:numRef>
          </c:xVal>
          <c:yVal>
            <c:numRef>
              <c:numCache>
                <c:formatCode>General</c:formatCode>
                <c:ptCount val="1"/>
                <c:pt idx="0">
                  <c:v>169.7476358029692</c:v>
                </c:pt>
              </c:numCache>
            </c:numRef>
          </c:yVal>
          <c:bubbleSize>
            <c:numRef>
              <c:numCache>
                <c:formatCode>General</c:formatCode>
                <c:ptCount val="1"/>
                <c:pt idx="0">
                  <c:v>15158.633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1648.754</c:v>
                </c:pt>
                <c:pt idx="2">
                  <c:v>1796.868</c:v>
                </c:pt>
                <c:pt idx="3">
                  <c:v>1957.784</c:v>
                </c:pt>
                <c:pt idx="4">
                  <c:v>2132.42</c:v>
                </c:pt>
                <c:pt idx="5">
                  <c:v>2321.703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1648.754</c:v>
                </c:pt>
                <c:pt idx="1">
                  <c:v>148.11400000000003</c:v>
                </c:pt>
                <c:pt idx="2">
                  <c:v>160.91600000000017</c:v>
                </c:pt>
                <c:pt idx="3">
                  <c:v>174.63599999999997</c:v>
                </c:pt>
                <c:pt idx="4">
                  <c:v>189.2829999999999</c:v>
                </c:pt>
                <c:pt idx="5">
                  <c:v>204.86299999999983</c:v>
                </c:pt>
                <c:pt idx="6">
                  <c:v>2526.566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9251.247</c:v>
                </c:pt>
                <c:pt idx="2">
                  <c:v>10201.312</c:v>
                </c:pt>
                <c:pt idx="3">
                  <c:v>11254.463</c:v>
                </c:pt>
                <c:pt idx="4">
                  <c:v>12422.576000000001</c:v>
                </c:pt>
                <c:pt idx="5">
                  <c:v>13718.974999999999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9251.247</c:v>
                </c:pt>
                <c:pt idx="1">
                  <c:v>950.0650000000005</c:v>
                </c:pt>
                <c:pt idx="2">
                  <c:v>1053.1509999999998</c:v>
                </c:pt>
                <c:pt idx="3">
                  <c:v>1168.1130000000012</c:v>
                </c:pt>
                <c:pt idx="4">
                  <c:v>1296.3989999999976</c:v>
                </c:pt>
                <c:pt idx="5">
                  <c:v>1439.6580000000013</c:v>
                </c:pt>
                <c:pt idx="6">
                  <c:v>15158.633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with Integrated Monitoring</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84.5309853823783</c:v>
                </c:pt>
                <c:pt idx="1">
                  <c:v>84.8738179014846</c:v>
                </c:pt>
                <c:pt idx="2">
                  <c:v>85.71366937968862</c:v>
                </c:pt>
              </c:numCache>
            </c:numRef>
          </c:val>
        </c:ser>
        <c:ser>
          <c:idx val="1"/>
          <c:order val="1"/>
          <c:tx>
            <c:strRef>
              <c:strCache>
                <c:ptCount val="1"/>
                <c:pt idx="0">
                  <c:v>without Integrated Monitoring</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15.469014617621687</c:v>
                </c:pt>
                <c:pt idx="1">
                  <c:v>15.126182098515404</c:v>
                </c:pt>
                <c:pt idx="2">
                  <c:v>14.286330620311366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Hospitals and Transplant Centres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37.255225221769436</c:v>
                </c:pt>
                <c:pt idx="1">
                  <c:v>36.36129321835641</c:v>
                </c:pt>
                <c:pt idx="2">
                  <c:v>35.974849824808494</c:v>
                </c:pt>
                <c:pt idx="3">
                  <c:v>40.180125807511644</c:v>
                </c:pt>
                <c:pt idx="4">
                  <c:v>36.2579359687017</c:v>
                </c:pt>
                <c:pt idx="5">
                  <c:v>35.101080954055064</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30.554437878032314</c:v>
                </c:pt>
                <c:pt idx="1">
                  <c:v>30.162740404232746</c:v>
                </c:pt>
                <c:pt idx="2">
                  <c:v>27.923860283284064</c:v>
                </c:pt>
                <c:pt idx="3">
                  <c:v>29.89307357301906</c:v>
                </c:pt>
                <c:pt idx="4">
                  <c:v>31.02343579647262</c:v>
                </c:pt>
                <c:pt idx="5">
                  <c:v>30.799195402255908</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MMMM&quot;;&quot;MMMM&quot;;&quot;MMMM&quot;" sourceLinked="0"/>
              <c:spPr>
                <a:blipFill>
                  <a:blip r:embed="rId1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1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19.55031548431801</c:v>
                </c:pt>
                <c:pt idx="1">
                  <c:v>21.811770626479145</c:v>
                </c:pt>
                <c:pt idx="2">
                  <c:v>22.955410658517717</c:v>
                </c:pt>
                <c:pt idx="3">
                  <c:v>17.938242703982603</c:v>
                </c:pt>
                <c:pt idx="4">
                  <c:v>19.438501575343114</c:v>
                </c:pt>
                <c:pt idx="5">
                  <c:v>22.42539743265473</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MMMM&quot;;&quot;MMMM&quot;;&quot;MMMM&quot;" sourceLinked="0"/>
              <c:spPr>
                <a:blipFill>
                  <a:blip r:embed="rId2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2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2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2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2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12.640021415880234</c:v>
                </c:pt>
                <c:pt idx="1">
                  <c:v>11.664195750931693</c:v>
                </c:pt>
                <c:pt idx="2">
                  <c:v>13.14587923338972</c:v>
                </c:pt>
                <c:pt idx="3">
                  <c:v>11.98855791548669</c:v>
                </c:pt>
                <c:pt idx="4">
                  <c:v>13.280126659482553</c:v>
                </c:pt>
                <c:pt idx="5">
                  <c:v>11.674326211034302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Hospitals and Transplant Centres</c:v>
                </c:pt>
              </c:strCache>
            </c:strRef>
          </c:tx>
          <c:spPr>
            <a:solidFill>
              <a:srgbClr val="3D85C6"/>
            </a:solidFill>
          </c:spPr>
          <c:invertIfNegative val="0"/>
          <c:xVal>
            <c:numRef>
              <c:numCache>
                <c:formatCode>General</c:formatCode>
                <c:ptCount val="1"/>
                <c:pt idx="0">
                  <c:v>78.19037333759863</c:v>
                </c:pt>
              </c:numCache>
            </c:numRef>
          </c:xVal>
          <c:yVal>
            <c:numRef>
              <c:numCache>
                <c:formatCode>General</c:formatCode>
                <c:ptCount val="1"/>
                <c:pt idx="0">
                  <c:v>161.76137965491927</c:v>
                </c:pt>
              </c:numCache>
            </c:numRef>
          </c:yVal>
          <c:bubbleSize>
            <c:numRef>
              <c:numCache>
                <c:formatCode>General</c:formatCode>
                <c:ptCount val="1"/>
                <c:pt idx="0">
                  <c:v>6448.282</c:v>
                </c:pt>
              </c:numCache>
            </c:numRef>
          </c:bubbleSize>
          <c:bubble3D val="0"/>
        </c:ser>
        <c:ser>
          <c:idx val="1"/>
          <c:order val="1"/>
          <c:tx>
            <c:strRef>
              <c:strCache>
                <c:ptCount val="1"/>
                <c:pt idx="0">
                  <c:v>Organ Procurement Organisations and Organ Retrieval Agencies</c:v>
                </c:pt>
              </c:strCache>
            </c:strRef>
          </c:tx>
          <c:spPr>
            <a:solidFill>
              <a:srgbClr val="9E7E0A"/>
            </a:solidFill>
          </c:spPr>
          <c:invertIfNegative val="0"/>
          <c:xVal>
            <c:numRef>
              <c:numCache>
                <c:formatCode>General</c:formatCode>
                <c:ptCount val="1"/>
                <c:pt idx="0">
                  <c:v>113.47999274950611</c:v>
                </c:pt>
              </c:numCache>
            </c:numRef>
          </c:xVal>
          <c:yVal>
            <c:numRef>
              <c:numCache>
                <c:formatCode>General</c:formatCode>
                <c:ptCount val="1"/>
                <c:pt idx="0">
                  <c:v>113.77187947046978</c:v>
                </c:pt>
              </c:numCache>
            </c:numRef>
          </c:yVal>
          <c:bubbleSize>
            <c:numRef>
              <c:numCache>
                <c:formatCode>General</c:formatCode>
                <c:ptCount val="1"/>
                <c:pt idx="0">
                  <c:v>5359.882</c:v>
                </c:pt>
              </c:numCache>
            </c:numRef>
          </c:bubbleSize>
          <c:bubble3D val="0"/>
        </c:ser>
        <c:ser>
          <c:idx val="2"/>
          <c:order val="2"/>
          <c:tx>
            <c:strRef>
              <c:strCache>
                <c:ptCount val="1"/>
                <c:pt idx="0">
                  <c:v>Specialised Medical Logistics Providers</c:v>
                </c:pt>
              </c:strCache>
            </c:strRef>
          </c:tx>
          <c:spPr>
            <a:solidFill>
              <a:srgbClr val="008189"/>
            </a:solidFill>
          </c:spPr>
          <c:invertIfNegative val="0"/>
          <c:xVal>
            <c:numRef>
              <c:numCache>
                <c:formatCode>General</c:formatCode>
                <c:ptCount val="1"/>
                <c:pt idx="0">
                  <c:v>149.28096977122212</c:v>
                </c:pt>
              </c:numCache>
            </c:numRef>
          </c:xVal>
          <c:yVal>
            <c:numRef>
              <c:numCache>
                <c:formatCode>General</c:formatCode>
                <c:ptCount val="1"/>
                <c:pt idx="0">
                  <c:v>66.10098476137755</c:v>
                </c:pt>
              </c:numCache>
            </c:numRef>
          </c:yVal>
          <c:bubbleSize>
            <c:numRef>
              <c:numCache>
                <c:formatCode>General</c:formatCode>
                <c:ptCount val="1"/>
                <c:pt idx="0">
                  <c:v>3678.855</c:v>
                </c:pt>
              </c:numCache>
            </c:numRef>
          </c:bubbleSize>
          <c:bubble3D val="0"/>
        </c:ser>
        <c:ser>
          <c:idx val="3"/>
          <c:order val="3"/>
          <c:tx>
            <c:strRef>
              <c:strCache>
                <c:ptCount val="1"/>
                <c:pt idx="0">
                  <c:v>Other Purchasing Organisations</c:v>
                </c:pt>
              </c:strCache>
            </c:strRef>
          </c:tx>
          <c:spPr>
            <a:solidFill>
              <a:srgbClr val="40315E"/>
            </a:solidFill>
          </c:spPr>
          <c:invertIfNegative val="0"/>
          <c:xVal>
            <c:numRef>
              <c:numCache>
                <c:formatCode>General</c:formatCode>
                <c:ptCount val="1"/>
                <c:pt idx="0">
                  <c:v>66.32717120516489</c:v>
                </c:pt>
              </c:numCache>
            </c:numRef>
          </c:xVal>
          <c:yVal>
            <c:numRef>
              <c:numCache>
                <c:formatCode>General</c:formatCode>
                <c:ptCount val="1"/>
                <c:pt idx="0">
                  <c:v>58.36575611323339</c:v>
                </c:pt>
              </c:numCache>
            </c:numRef>
          </c:yVal>
          <c:bubbleSize>
            <c:numRef>
              <c:numCache>
                <c:formatCode>General</c:formatCode>
                <c:ptCount val="1"/>
                <c:pt idx="0">
                  <c:v>2198.18</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80.0"/>
          <c:min val="4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4407.998</c:v>
                </c:pt>
                <c:pt idx="2">
                  <c:v>4757.473</c:v>
                </c:pt>
                <c:pt idx="3">
                  <c:v>5134.209</c:v>
                </c:pt>
                <c:pt idx="4">
                  <c:v>5540.179</c:v>
                </c:pt>
                <c:pt idx="5">
                  <c:v>5977.479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4407.998</c:v>
                </c:pt>
                <c:pt idx="1">
                  <c:v>349.47500000000036</c:v>
                </c:pt>
                <c:pt idx="2">
                  <c:v>376.7359999999999</c:v>
                </c:pt>
                <c:pt idx="3">
                  <c:v>405.97000000000025</c:v>
                </c:pt>
                <c:pt idx="4">
                  <c:v>437.3000000000002</c:v>
                </c:pt>
                <c:pt idx="5">
                  <c:v>470.8029999999999</c:v>
                </c:pt>
                <c:pt idx="6">
                  <c:v>6448.282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3100.284</c:v>
                </c:pt>
                <c:pt idx="2">
                  <c:v>3456.68</c:v>
                </c:pt>
                <c:pt idx="3">
                  <c:v>3855.32</c:v>
                </c:pt>
                <c:pt idx="4">
                  <c:v>4301.392</c:v>
                </c:pt>
                <c:pt idx="5">
                  <c:v>4800.718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3100.284</c:v>
                </c:pt>
                <c:pt idx="1">
                  <c:v>356.39599999999973</c:v>
                </c:pt>
                <c:pt idx="2">
                  <c:v>398.6400000000003</c:v>
                </c:pt>
                <c:pt idx="3">
                  <c:v>446.07199999999966</c:v>
                </c:pt>
                <c:pt idx="4">
                  <c:v>499.326</c:v>
                </c:pt>
                <c:pt idx="5">
                  <c:v>559.1639999999998</c:v>
                </c:pt>
                <c:pt idx="6">
                  <c:v>5359.882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1801.252</c:v>
                </c:pt>
                <c:pt idx="2">
                  <c:v>2084.65</c:v>
                </c:pt>
                <c:pt idx="3">
                  <c:v>2408.202</c:v>
                </c:pt>
                <c:pt idx="4">
                  <c:v>2777.429</c:v>
                </c:pt>
                <c:pt idx="5">
                  <c:v>3198.598</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1801.252</c:v>
                </c:pt>
                <c:pt idx="1">
                  <c:v>283.39800000000014</c:v>
                </c:pt>
                <c:pt idx="2">
                  <c:v>323.55200000000013</c:v>
                </c:pt>
                <c:pt idx="3">
                  <c:v>369.22699999999986</c:v>
                </c:pt>
                <c:pt idx="4">
                  <c:v>421.16899999999987</c:v>
                </c:pt>
                <c:pt idx="5">
                  <c:v>480.25700000000006</c:v>
                </c:pt>
                <c:pt idx="6">
                  <c:v>3678.855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1590.467</c:v>
                </c:pt>
                <c:pt idx="2">
                  <c:v>1699.377</c:v>
                </c:pt>
                <c:pt idx="3">
                  <c:v>1814.516</c:v>
                </c:pt>
                <c:pt idx="4">
                  <c:v>1935.996</c:v>
                </c:pt>
                <c:pt idx="5">
                  <c:v>2063.883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1590.467</c:v>
                </c:pt>
                <c:pt idx="1">
                  <c:v>108.90999999999985</c:v>
                </c:pt>
                <c:pt idx="2">
                  <c:v>115.13900000000012</c:v>
                </c:pt>
                <c:pt idx="3">
                  <c:v>121.48000000000002</c:v>
                </c:pt>
                <c:pt idx="4">
                  <c:v>127.88699999999972</c:v>
                </c:pt>
                <c:pt idx="5">
                  <c:v>134.29700000000003</c:v>
                </c:pt>
                <c:pt idx="6">
                  <c:v>2198.18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Hospitals and Transplant Centres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42.39774757704522</c:v>
                </c:pt>
                <c:pt idx="1">
                  <c:v>40.44034491372982</c:v>
                </c:pt>
                <c:pt idx="2">
                  <c:v>36.461461360994576</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27.53717490655429</c:v>
                </c:pt>
                <c:pt idx="1">
                  <c:v>28.442969867617446</c:v>
                </c:pt>
                <c:pt idx="2">
                  <c:v>30.307162503514938</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14.413720802910301</c:v>
                </c:pt>
                <c:pt idx="1">
                  <c:v>16.525246190344387</c:v>
                </c:pt>
                <c:pt idx="2">
                  <c:v>20.80188636836939</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15.651356713490177</c:v>
                </c:pt>
                <c:pt idx="1">
                  <c:v>14.591439028308347</c:v>
                </c:pt>
                <c:pt idx="2">
                  <c:v>12.429489767121082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59.53484120500237</c:v>
                </c:pt>
                <c:pt idx="1">
                  <c:v>61.04410924621201</c:v>
                </c:pt>
                <c:pt idx="2">
                  <c:v>60.61051732189158</c:v>
                </c:pt>
                <c:pt idx="3">
                  <c:v>56.84808411759179</c:v>
                </c:pt>
                <c:pt idx="4">
                  <c:v>57.27071410287608</c:v>
                </c:pt>
                <c:pt idx="5">
                  <c:v>58.680435041696285</c:v>
                </c:pt>
              </c:numCache>
            </c:numRef>
          </c:val>
        </c:ser>
        <c:ser>
          <c:idx val="1"/>
          <c:order val="1"/>
          <c:tx>
            <c:strRef>
              <c:strCache>
                <c:ptCount val="1"/>
                <c:pt idx="0">
                  <c:v>Distributor Sales</c:v>
                </c:pt>
              </c:strCache>
            </c:strRef>
          </c:tx>
          <c:spPr>
            <a:solidFill>
              <a:srgbClr val="9E7E0A"/>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3"/>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4"/>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5"/>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6"/>
                <c:pt idx="0">
                  <c:v>Middle East &amp; Africa</c:v>
                </c:pt>
                <c:pt idx="1">
                  <c:v>Latin America</c:v>
                </c:pt>
                <c:pt idx="2">
                  <c:v>East Asia</c:v>
                </c:pt>
                <c:pt idx="3">
                  <c:v>South Asia &amp; Pacific</c:v>
                </c:pt>
                <c:pt idx="4">
                  <c:v>Europe</c:v>
                </c:pt>
                <c:pt idx="5">
                  <c:v>North America</c:v>
                </c:pt>
              </c:strCache>
            </c:strRef>
          </c:cat>
          <c:val>
            <c:numRef>
              <c:numCache>
                <c:formatCode>General</c:formatCode>
                <c:ptCount val="6"/>
                <c:pt idx="0">
                  <c:v>40.46515879499763</c:v>
                </c:pt>
                <c:pt idx="1">
                  <c:v>38.95589075378798</c:v>
                </c:pt>
                <c:pt idx="2">
                  <c:v>39.389482678108415</c:v>
                </c:pt>
                <c:pt idx="3">
                  <c:v>43.151915882408204</c:v>
                </c:pt>
                <c:pt idx="4">
                  <c:v>42.72928589712393</c:v>
                </c:pt>
                <c:pt idx="5">
                  <c:v>41.31956495830371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c:v>
                </c:pt>
              </c:strCache>
            </c:strRef>
          </c:tx>
          <c:spPr>
            <a:solidFill>
              <a:srgbClr val="3D85C6"/>
            </a:solidFill>
          </c:spPr>
          <c:invertIfNegative val="0"/>
          <c:xVal>
            <c:numRef>
              <c:numCache>
                <c:formatCode>General</c:formatCode>
                <c:ptCount val="1"/>
                <c:pt idx="0">
                  <c:v>88.27121696890123</c:v>
                </c:pt>
              </c:numCache>
            </c:numRef>
          </c:xVal>
          <c:yVal>
            <c:numRef>
              <c:numCache>
                <c:formatCode>General</c:formatCode>
                <c:ptCount val="1"/>
                <c:pt idx="0">
                  <c:v>123.7703923146429</c:v>
                </c:pt>
              </c:numCache>
            </c:numRef>
          </c:yVal>
          <c:bubbleSize>
            <c:numRef>
              <c:numCache>
                <c:formatCode>General</c:formatCode>
                <c:ptCount val="1"/>
                <c:pt idx="0">
                  <c:v>10352.968</c:v>
                </c:pt>
              </c:numCache>
            </c:numRef>
          </c:bubbleSize>
          <c:bubble3D val="0"/>
        </c:ser>
        <c:ser>
          <c:idx val="1"/>
          <c:order val="1"/>
          <c:tx>
            <c:strRef>
              <c:strCache>
                <c:ptCount val="1"/>
                <c:pt idx="0">
                  <c:v>Distributor Sales</c:v>
                </c:pt>
              </c:strCache>
            </c:strRef>
          </c:tx>
          <c:spPr>
            <a:solidFill>
              <a:srgbClr val="9E7E0A"/>
            </a:solidFill>
          </c:spPr>
          <c:invertIfNegative val="0"/>
          <c:xVal>
            <c:numRef>
              <c:numCache>
                <c:formatCode>General</c:formatCode>
                <c:ptCount val="1"/>
                <c:pt idx="0">
                  <c:v>117.88033417658839</c:v>
                </c:pt>
              </c:numCache>
            </c:numRef>
          </c:xVal>
          <c:yVal>
            <c:numRef>
              <c:numCache>
                <c:formatCode>General</c:formatCode>
                <c:ptCount val="1"/>
                <c:pt idx="0">
                  <c:v>76.2296076853571</c:v>
                </c:pt>
              </c:numCache>
            </c:numRef>
          </c:yVal>
          <c:bubbleSize>
            <c:numRef>
              <c:numCache>
                <c:formatCode>General</c:formatCode>
                <c:ptCount val="1"/>
                <c:pt idx="0">
                  <c:v>7332.231</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0.0"/>
          <c:min val="8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4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6745.487</c:v>
                </c:pt>
                <c:pt idx="2">
                  <c:v>7334.604</c:v>
                </c:pt>
                <c:pt idx="3">
                  <c:v>7983.3</c:v>
                </c:pt>
                <c:pt idx="4">
                  <c:v>8697.83</c:v>
                </c:pt>
                <c:pt idx="5">
                  <c:v>9485.136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6745.487</c:v>
                </c:pt>
                <c:pt idx="1">
                  <c:v>589.1170000000002</c:v>
                </c:pt>
                <c:pt idx="2">
                  <c:v>648.6959999999999</c:v>
                </c:pt>
                <c:pt idx="3">
                  <c:v>714.5299999999997</c:v>
                </c:pt>
                <c:pt idx="4">
                  <c:v>787.3060000000005</c:v>
                </c:pt>
                <c:pt idx="5">
                  <c:v>867.8320000000003</c:v>
                </c:pt>
                <c:pt idx="6">
                  <c:v>10352.968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4154.514</c:v>
                </c:pt>
                <c:pt idx="2">
                  <c:v>4663.576</c:v>
                </c:pt>
                <c:pt idx="3">
                  <c:v>5228.947</c:v>
                </c:pt>
                <c:pt idx="4">
                  <c:v>5857.166</c:v>
                </c:pt>
                <c:pt idx="5">
                  <c:v>6555.542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4154.514</c:v>
                </c:pt>
                <c:pt idx="1">
                  <c:v>509.0619999999999</c:v>
                </c:pt>
                <c:pt idx="2">
                  <c:v>565.3710000000001</c:v>
                </c:pt>
                <c:pt idx="3">
                  <c:v>628.219</c:v>
                </c:pt>
                <c:pt idx="4">
                  <c:v>698.3760000000002</c:v>
                </c:pt>
                <c:pt idx="5">
                  <c:v>776.6889999999994</c:v>
                </c:pt>
                <c:pt idx="6">
                  <c:v>7332.231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64.00979602740074</c:v>
                </c:pt>
                <c:pt idx="1">
                  <c:v>61.88519615732145</c:v>
                </c:pt>
                <c:pt idx="2">
                  <c:v>58.54029688894086</c:v>
                </c:pt>
              </c:numCache>
            </c:numRef>
          </c:val>
        </c:ser>
        <c:ser>
          <c:idx val="1"/>
          <c:order val="1"/>
          <c:tx>
            <c:strRef>
              <c:strCache>
                <c:ptCount val="1"/>
                <c:pt idx="0">
                  <c:v>Distributor Sales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35.990203972599275</c:v>
                </c:pt>
                <c:pt idx="1">
                  <c:v>38.11480384267855</c:v>
                </c:pt>
                <c:pt idx="2">
                  <c:v>41.459703111059135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Organ-Specific Devices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81.7189102475595</c:v>
                </c:pt>
                <c:pt idx="1">
                  <c:v>81.71866370397011</c:v>
                </c:pt>
                <c:pt idx="2">
                  <c:v>81.71866370397011</c:v>
                </c:pt>
                <c:pt idx="3">
                  <c:v>81.71866370397011</c:v>
                </c:pt>
                <c:pt idx="4">
                  <c:v>81.71866370397011</c:v>
                </c:pt>
                <c:pt idx="5">
                  <c:v>81.71866370397011</c:v>
                </c:pt>
                <c:pt idx="6">
                  <c:v>81.71866370397011</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18.2810897524405</c:v>
                </c:pt>
                <c:pt idx="1">
                  <c:v>18.281336296029902</c:v>
                </c:pt>
                <c:pt idx="2">
                  <c:v>18.281336296029902</c:v>
                </c:pt>
                <c:pt idx="3">
                  <c:v>18.281336296029902</c:v>
                </c:pt>
                <c:pt idx="4">
                  <c:v>18.281336296029902</c:v>
                </c:pt>
                <c:pt idx="5">
                  <c:v>18.281336296029902</c:v>
                </c:pt>
                <c:pt idx="6">
                  <c:v>18.281336296029902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Hospitals and Transplant Centres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39.11161231322963</c:v>
                </c:pt>
                <c:pt idx="1">
                  <c:v>39.11172077494341</c:v>
                </c:pt>
                <c:pt idx="2">
                  <c:v>39.11172077494341</c:v>
                </c:pt>
                <c:pt idx="3">
                  <c:v>39.11172077494341</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33.54086819689072</c:v>
                </c:pt>
                <c:pt idx="1">
                  <c:v>33.54070955622369</c:v>
                </c:pt>
                <c:pt idx="2">
                  <c:v>33.54070955622369</c:v>
                </c:pt>
                <c:pt idx="3">
                  <c:v>33.54070955622369</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19.109072867415975</c:v>
                </c:pt>
                <c:pt idx="1">
                  <c:v>19.10910792994786</c:v>
                </c:pt>
                <c:pt idx="2">
                  <c:v>19.10910792994786</c:v>
                </c:pt>
                <c:pt idx="3">
                  <c:v>19.10910792994786</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8.238446622463673</c:v>
                </c:pt>
                <c:pt idx="1">
                  <c:v>8.238461738885041</c:v>
                </c:pt>
                <c:pt idx="2">
                  <c:v>8.238461738885041</c:v>
                </c:pt>
                <c:pt idx="3">
                  <c:v>8.238461738885041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Sales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79.04109707176093</c:v>
                </c:pt>
                <c:pt idx="1">
                  <c:v>79.04110860876749</c:v>
                </c:pt>
              </c:numCache>
            </c:numRef>
          </c:val>
        </c:ser>
        <c:ser>
          <c:idx val="1"/>
          <c:order val="1"/>
          <c:tx>
            <c:strRef>
              <c:strCache>
                <c:ptCount val="1"/>
                <c:pt idx="0">
                  <c:v>Distributor Sales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20.95890292823907</c:v>
                </c:pt>
                <c:pt idx="1">
                  <c:v>20.958891391232516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1.7923731241561658</c:v>
                </c:pt>
                <c:pt idx="1">
                  <c:v>2.585827137017893</c:v>
                </c:pt>
                <c:pt idx="2">
                  <c:v>2.3206576318735683</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41329182086361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586799.237</c:v>
                </c:pt>
                <c:pt idx="2">
                  <c:v>0.0</c:v>
                </c:pt>
                <c:pt idx="3">
                  <c:v>641306.6410000001</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586799.237</c:v>
                </c:pt>
                <c:pt idx="1">
                  <c:v>54507.4040000001</c:v>
                </c:pt>
                <c:pt idx="2">
                  <c:v>641306.6410000001</c:v>
                </c:pt>
                <c:pt idx="3">
                  <c:v>186519.96799999988</c:v>
                </c:pt>
                <c:pt idx="4">
                  <c:v>827826.6089999999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03E5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3"/>
                <c:pt idx="0">
                  <c:v>2021–2026</c:v>
                </c:pt>
                <c:pt idx="1">
                  <c:v>2026–2036</c:v>
                </c:pt>
                <c:pt idx="2">
                  <c:v>2021–2036</c:v>
                </c:pt>
              </c:strCache>
            </c:strRef>
          </c:cat>
          <c:val>
            <c:numRef>
              <c:numCache>
                <c:formatCode>General</c:formatCode>
                <c:ptCount val="3"/>
                <c:pt idx="0">
                  <c:v>3.247945887409953</c:v>
                </c:pt>
                <c:pt idx="1">
                  <c:v>4.056108237174105</c:v>
                </c:pt>
                <c:pt idx="2">
                  <c:v>3.7860203540756476</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5.354062873069819"/>
          <c:min val="0.0"/>
        </c:scaling>
        <c:delete val="0"/>
        <c:axPos val="l"/>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2021</c:v>
                </c:pt>
                <c:pt idx="1">
                  <c:v>2021–2026</c:v>
                </c:pt>
                <c:pt idx="2">
                  <c:v>2026</c:v>
                </c:pt>
                <c:pt idx="3">
                  <c:v>2026–2036</c:v>
                </c:pt>
                <c:pt idx="4">
                  <c:v>2036</c:v>
                </c:pt>
              </c:strCache>
            </c:strRef>
          </c:cat>
          <c:val>
            <c:numRef>
              <c:numCache>
                <c:formatCode>General</c:formatCode>
                <c:ptCount val="5"/>
                <c:pt idx="0">
                  <c:v>0.0</c:v>
                </c:pt>
                <c:pt idx="1">
                  <c:v>3065.7259999999997</c:v>
                </c:pt>
                <c:pt idx="2">
                  <c:v>0.0</c:v>
                </c:pt>
                <c:pt idx="3">
                  <c:v>3597.0</c:v>
                </c:pt>
                <c:pt idx="4">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2021</c:v>
                </c:pt>
                <c:pt idx="1">
                  <c:v>2021–2026</c:v>
                </c:pt>
                <c:pt idx="2">
                  <c:v>2026</c:v>
                </c:pt>
                <c:pt idx="3">
                  <c:v>2026–2036</c:v>
                </c:pt>
                <c:pt idx="4">
                  <c:v>2036</c:v>
                </c:pt>
              </c:strCache>
            </c:strRef>
          </c:cat>
          <c:val>
            <c:numRef>
              <c:numCache>
                <c:formatCode>General</c:formatCode>
                <c:ptCount val="5"/>
                <c:pt idx="0">
                  <c:v>3065.7259999999997</c:v>
                </c:pt>
                <c:pt idx="1">
                  <c:v>531.2740000000003</c:v>
                </c:pt>
                <c:pt idx="2">
                  <c:v>3597.0</c:v>
                </c:pt>
                <c:pt idx="3">
                  <c:v>1756.2340000000004</c:v>
                </c:pt>
                <c:pt idx="4">
                  <c:v>5353.234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3065.7259999999997</c:v>
                </c:pt>
                <c:pt idx="1">
                  <c:v>3165.233</c:v>
                </c:pt>
                <c:pt idx="2">
                  <c:v>3268.003</c:v>
                </c:pt>
                <c:pt idx="3">
                  <c:v>3374.1459999999997</c:v>
                </c:pt>
                <c:pt idx="4">
                  <c:v>3483.7740000000003</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5"/>
                <c:pt idx="0">
                  <c:v>2021</c:v>
                </c:pt>
                <c:pt idx="1">
                  <c:v>2022</c:v>
                </c:pt>
                <c:pt idx="2">
                  <c:v>2023</c:v>
                </c:pt>
                <c:pt idx="3">
                  <c:v>2024</c:v>
                </c:pt>
                <c:pt idx="4">
                  <c:v>2025</c:v>
                </c:pt>
              </c:strCache>
            </c:strRef>
          </c:cat>
          <c:val>
            <c:numRef>
              <c:numCache>
                <c:formatCode>General</c:formatCode>
                <c:ptCount val="5"/>
                <c:pt idx="0">
                  <c:v>586799.237</c:v>
                </c:pt>
                <c:pt idx="1">
                  <c:v>597309.565</c:v>
                </c:pt>
                <c:pt idx="2">
                  <c:v>608011.855</c:v>
                </c:pt>
                <c:pt idx="3">
                  <c:v>618909.6880000001</c:v>
                </c:pt>
                <c:pt idx="4">
                  <c:v>630006.711</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4111"/>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894140"/>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3597.0</c:v>
                </c:pt>
                <c:pt idx="1">
                  <c:v>3742.7219999999998</c:v>
                </c:pt>
                <c:pt idx="2">
                  <c:v>3894.3869999999997</c:v>
                </c:pt>
                <c:pt idx="3">
                  <c:v>4052.241</c:v>
                </c:pt>
                <c:pt idx="4">
                  <c:v>4216.537</c:v>
                </c:pt>
                <c:pt idx="5">
                  <c:v>4387.542</c:v>
                </c:pt>
                <c:pt idx="6">
                  <c:v>4565.529</c:v>
                </c:pt>
                <c:pt idx="7">
                  <c:v>4750.786</c:v>
                </c:pt>
                <c:pt idx="8">
                  <c:v>4943.613</c:v>
                </c:pt>
                <c:pt idx="9">
                  <c:v>5144.321</c:v>
                </c:pt>
                <c:pt idx="10">
                  <c:v>5353.234</c:v>
                </c:pt>
              </c:numCache>
            </c:numRef>
          </c:val>
        </c:ser>
        <c:gapWidth val="50"/>
        <c:axId val="-2068027336"/>
        <c:axId val="-2113994440"/>
      </c:barChart>
      <c:barChart>
        <c:barDir val="col"/>
        <c:grouping val="clustered"/>
        <c:varyColors val="0"/>
        <c:ser>
          <c:idx val="1"/>
          <c:order val="1"/>
          <c:tx>
            <c:strRef>
              <c:strCache>
                <c:ptCount val="1"/>
                <c:pt idx="0">
                  <c:v>Volume (Units)</c:v>
                </c:pt>
              </c:strCache>
            </c:strRef>
          </c:tx>
          <c:spPr>
            <a:solidFill>
              <a:srgbClr val="C55A11"/>
            </a:solidFill>
            <a:ln>
              <a:noFill/>
            </a:ln>
          </c:spPr>
          <c:dLbls>
            <c:dLbl>
              <c:idx val="0"/>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641306.6410000001</c:v>
                </c:pt>
                <c:pt idx="1">
                  <c:v>657871.7239999999</c:v>
                </c:pt>
                <c:pt idx="2">
                  <c:v>674868.7660000001</c:v>
                </c:pt>
                <c:pt idx="3">
                  <c:v>692309.145</c:v>
                </c:pt>
                <c:pt idx="4">
                  <c:v>710204.5399999999</c:v>
                </c:pt>
                <c:pt idx="5">
                  <c:v>728566.9439999999</c:v>
                </c:pt>
                <c:pt idx="6">
                  <c:v>747408.667</c:v>
                </c:pt>
                <c:pt idx="7">
                  <c:v>766742.345</c:v>
                </c:pt>
                <c:pt idx="8">
                  <c:v>786580.956</c:v>
                </c:pt>
                <c:pt idx="9">
                  <c:v>806937.818</c:v>
                </c:pt>
                <c:pt idx="10">
                  <c:v>827826.6089999999</c:v>
                </c:pt>
              </c:numCache>
            </c:numRef>
          </c:val>
        </c:ser>
        <c:gapWidth val="219"/>
        <c:axId val="90210001"/>
        <c:axId val="90210002"/>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max val="6317"/>
          <c:min val="0"/>
        </c:scaling>
        <c:delete val="0"/>
        <c:axPos val="l"/>
        <c:numFmt formatCode="#,##0" sourceLinked="0"/>
        <c:majorTickMark val="none"/>
        <c:minorTickMark val="none"/>
        <c:tickLblPos val="none"/>
        <c:spPr>
          <a:ln>
            <a:noFill/>
          </a:ln>
        </c:spPr>
        <c:txPr>
          <a:bodyPr/>
          <a:lstStyle/>
          <a:p>
            <a:pPr>
              <a:defRPr sz="1100"/>
            </a:pPr>
          </a:p>
        </c:txPr>
        <c:crossAx val="-2068027336"/>
        <c:crosses val="autoZero"/>
      </c:valAx>
      <c:catAx>
        <c:axId val="90210001"/>
        <c:scaling>
          <c:orientation val="minMax"/>
        </c:scaling>
        <c:delete val="1"/>
        <c:axPos val="b"/>
        <c:crossAx val="90210002"/>
        <c:crosses val="autoZero"/>
      </c:catAx>
      <c:valAx>
        <c:axId val="90210002"/>
        <c:scaling>
          <c:orientation val="minMax"/>
          <c:max val="1279796"/>
          <c:min val="0"/>
        </c:scaling>
        <c:delete val="0"/>
        <c:axPos val="r"/>
        <c:numFmt formatCode="#,##0" sourceLinked="0"/>
        <c:majorTickMark val="none"/>
        <c:minorTickMark val="none"/>
        <c:tickLblPos val="none"/>
        <c:spPr>
          <a:ln>
            <a:noFill/>
          </a:ln>
        </c:spPr>
        <c:crossAx val="90210001"/>
        <c:crosses val="max"/>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U.S.</c:v>
                </c:pt>
                <c:pt idx="1">
                  <c:v>Canada</c:v>
                </c:pt>
              </c:strCache>
            </c:strRef>
          </c:cat>
          <c:val>
            <c:numRef>
              <c:numCache>
                <c:formatCode>General</c:formatCode>
                <c:ptCount val="2"/>
                <c:pt idx="0">
                  <c:v>94.32280936141345</c:v>
                </c:pt>
                <c:pt idx="1">
                  <c:v>112.2089358792123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Index</c:v>
                </c:pt>
              </c:strCache>
            </c:strRef>
          </c:tx>
          <c:spPr>
            <a:solidFill>
              <a:srgbClr val="0E72AE"/>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35.668196834818126</c:v>
                </c:pt>
                <c:pt idx="1">
                  <c:v>64.33180316518188</c:v>
                </c:pt>
              </c:numCache>
            </c:numRef>
          </c:val>
        </c:ser>
        <c:dLbls>
          <c:numFmt formatCode="0.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Static Cold Storage Devices</c:v>
                </c:pt>
                <c:pt idx="1">
                  <c:v>Portable Machine Perfusion Devices</c:v>
                </c:pt>
              </c:strCache>
            </c:strRef>
          </c:cat>
          <c:val>
            <c:numRef>
              <c:numCache>
                <c:formatCode>General</c:formatCode>
                <c:ptCount val="2"/>
                <c:pt idx="0">
                  <c:v>1134.509</c:v>
                </c:pt>
                <c:pt idx="1">
                  <c:v>4218.725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strCache>
                <c:ptCount val="1"/>
                <c:pt idx="0">
                  <c:v>Optimistic Scenario</c:v>
                </c:pt>
              </c:strCache>
            </c:strRef>
          </c:tx>
          <c:spPr>
            <a:ln w="28575">
              <a:solidFill>
                <a:srgbClr val="2E5F8A"/>
              </a:solidFill>
            </a:ln>
          </c:spPr>
          <c:marker>
            <c:symbol val="circle"/>
            <c:size val="6"/>
            <c:spPr>
              <a:solidFill>
                <a:srgbClr val="2E5F8A"/>
              </a:solidFill>
              <a:ln>
                <a:solidFill>
                  <a:srgbClr val="2E5F8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0.04541363205876027</c:v>
                </c:pt>
                <c:pt idx="1">
                  <c:v>0.04670503982092365</c:v>
                </c:pt>
                <c:pt idx="2">
                  <c:v>0.04757410039042982</c:v>
                </c:pt>
                <c:pt idx="3">
                  <c:v>0.04814670571893623</c:v>
                </c:pt>
                <c:pt idx="4">
                  <c:v>0.0490604376261273</c:v>
                </c:pt>
                <c:pt idx="5">
                  <c:v>0.049661470169524095</c:v>
                </c:pt>
                <c:pt idx="6">
                  <c:v>0.050156915914756586</c:v>
                </c:pt>
                <c:pt idx="7">
                  <c:v>0.05109501400613942</c:v>
                </c:pt>
                <c:pt idx="8">
                  <c:v>0.052053417251015394</c:v>
                </c:pt>
                <c:pt idx="9">
                  <c:v>0.05341792356575406</c:v>
                </c:pt>
                <c:pt idx="10">
                  <c:v>0.054347899595739636</c:v>
                </c:pt>
              </c:numCache>
            </c:numRef>
          </c:val>
          <c:smooth val="0"/>
        </c:ser>
        <c:ser>
          <c:idx val="1"/>
          <c:order val="1"/>
          <c:tx>
            <c:strRef>
              <c:strCache>
                <c:ptCount val="1"/>
                <c:pt idx="0">
                  <c:v>Likely Scenario</c:v>
                </c:pt>
              </c:strCache>
            </c:strRef>
          </c:tx>
          <c:spPr>
            <a:ln w="28575">
              <a:solidFill>
                <a:srgbClr val="8B1A1A"/>
              </a:solidFill>
            </a:ln>
          </c:spPr>
          <c:marker>
            <c:symbol val="circle"/>
            <c:size val="6"/>
            <c:spPr>
              <a:solidFill>
                <a:srgbClr val="8B1A1A"/>
              </a:solidFill>
              <a:ln>
                <a:solidFill>
                  <a:srgbClr val="8B1A1A"/>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0.04133805830343959</c:v>
                </c:pt>
                <c:pt idx="1">
                  <c:v>0.03966805830343959</c:v>
                </c:pt>
                <c:pt idx="2">
                  <c:v>0.038998058303439595</c:v>
                </c:pt>
                <c:pt idx="3">
                  <c:v>0.03966805830343959</c:v>
                </c:pt>
                <c:pt idx="4">
                  <c:v>0.041668058303439594</c:v>
                </c:pt>
                <c:pt idx="5">
                  <c:v>0.04233805830343959</c:v>
                </c:pt>
                <c:pt idx="6">
                  <c:v>0.041668058303439594</c:v>
                </c:pt>
                <c:pt idx="7">
                  <c:v>0.0396380583034396</c:v>
                </c:pt>
                <c:pt idx="8">
                  <c:v>0.038748058303439595</c:v>
                </c:pt>
                <c:pt idx="9">
                  <c:v>0.03776805830343959</c:v>
                </c:pt>
                <c:pt idx="10">
                  <c:v>0.036598058303439596</c:v>
                </c:pt>
              </c:numCache>
            </c:numRef>
          </c:val>
          <c:smooth val="0"/>
        </c:ser>
        <c:ser>
          <c:idx val="2"/>
          <c:order val="2"/>
          <c:tx>
            <c:strRef>
              <c:strCache>
                <c:ptCount val="1"/>
                <c:pt idx="0">
                  <c:v>Conservative Scenario</c:v>
                </c:pt>
              </c:strCache>
            </c:strRef>
          </c:tx>
          <c:spPr>
            <a:ln w="28575">
              <a:solidFill>
                <a:srgbClr val="A08000"/>
              </a:solidFill>
            </a:ln>
          </c:spPr>
          <c:marker>
            <c:symbol val="circle"/>
            <c:size val="6"/>
            <c:spPr>
              <a:solidFill>
                <a:srgbClr val="A08000"/>
              </a:solidFill>
              <a:ln>
                <a:solidFill>
                  <a:srgbClr val="A08000"/>
                </a:solidFill>
              </a:ln>
            </c:spPr>
          </c:marker>
          <c:cat>
            <c:strRe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numCache>
                <c:formatCode>General</c:formatCode>
                <c:ptCount val="11"/>
                <c:pt idx="0">
                  <c:v>0.0274884225605139</c:v>
                </c:pt>
                <c:pt idx="1">
                  <c:v>0.0259984225605139</c:v>
                </c:pt>
                <c:pt idx="2">
                  <c:v>0.0257984225605139</c:v>
                </c:pt>
                <c:pt idx="3">
                  <c:v>0.0264684225605139</c:v>
                </c:pt>
                <c:pt idx="4">
                  <c:v>0.0286984225605139</c:v>
                </c:pt>
                <c:pt idx="5">
                  <c:v>0.0307184225605139</c:v>
                </c:pt>
                <c:pt idx="6">
                  <c:v>0.0327384225605139</c:v>
                </c:pt>
                <c:pt idx="7">
                  <c:v>0.0334084225605139</c:v>
                </c:pt>
                <c:pt idx="8">
                  <c:v>0.0332384225605139</c:v>
                </c:pt>
                <c:pt idx="9">
                  <c:v>0.0324284225605139</c:v>
                </c:pt>
                <c:pt idx="10">
                  <c:v>0.0316284225605139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1100"/>
            </a:pPr>
          </a:p>
        </c:txPr>
        <c:crossAx val="2140495176"/>
        <c:crosses val="autoZero"/>
        <c:auto val="1"/>
        <c:lblAlgn val="ctr"/>
        <c:lblOffset val="100"/>
        <c:noMultiLvlLbl val="0"/>
        <c:tickLblSkip val="1"/>
        <c:tickMarkSkip val="1"/>
      </c:catAx>
      <c:valAx>
        <c:axId val="2140495176"/>
        <c:scaling>
          <c:min val="0.0"/>
        </c:scaling>
        <c:delete val="0"/>
        <c:axPos val="l"/>
        <c:numFmt formatCode="0.00%" sourceLinked="0"/>
        <c:majorTickMark val="out"/>
        <c:minorTickMark val="none"/>
        <c:tickLblPos val="nextTo"/>
        <c:spPr>
          <a:ln>
            <a:solidFill>
              <a:srgbClr val="C6D5E1"/>
            </a:solidFill>
          </a:ln>
        </c:spPr>
        <c:txPr>
          <a:bodyPr/>
          <a:lstStyle/>
          <a:p>
            <a:pPr>
              <a:defRPr sz="1100"/>
            </a:pPr>
          </a:p>
        </c:txPr>
        <c:crossAx val="2118791784"/>
        <c:crosses val="autoZero"/>
      </c:valAx>
    </c:plotArea>
    <c:legend>
      <c:legendPos val="b"/>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70.02305547620237</c:v>
                </c:pt>
                <c:pt idx="1">
                  <c:v>68.88583343423309</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29.97694452379762</c:v>
                </c:pt>
                <c:pt idx="1">
                  <c:v>31.114166565766915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U.S.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68.93577981651376</c:v>
                </c:pt>
                <c:pt idx="1">
                  <c:v>67.42535446797207</c:v>
                </c:pt>
              </c:numCache>
            </c:numRef>
          </c:val>
        </c:ser>
        <c:ser>
          <c:idx val="1"/>
          <c:order val="1"/>
          <c:tx>
            <c:strRef>
              <c:strCache>
                <c:ptCount val="1"/>
                <c:pt idx="0">
                  <c:v>Canada</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2026</c:v>
                </c:pt>
                <c:pt idx="1">
                  <c:v>2036</c:v>
                </c:pt>
              </c:strCache>
            </c:strRef>
          </c:cat>
          <c:val>
            <c:numRef>
              <c:numCache>
                <c:formatCode>General</c:formatCode>
                <c:ptCount val="2"/>
                <c:pt idx="0">
                  <c:v>31.064220183486242</c:v>
                </c:pt>
                <c:pt idx="1">
                  <c:v>32.57464553202793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MM&quot;;&quot;MMMMMMMMM&quot;;&quot;MM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414211.345</c:v>
                </c:pt>
                <c:pt idx="1">
                  <c:v>420958.178</c:v>
                </c:pt>
                <c:pt idx="2">
                  <c:v>427814.906</c:v>
                </c:pt>
                <c:pt idx="3">
                  <c:v>434783.318</c:v>
                </c:pt>
                <c:pt idx="4">
                  <c:v>441865.235</c:v>
                </c:pt>
                <c:pt idx="5">
                  <c:v>449062.505</c:v>
                </c:pt>
                <c:pt idx="6">
                  <c:v>459920.794</c:v>
                </c:pt>
                <c:pt idx="7">
                  <c:v>471041.635</c:v>
                </c:pt>
                <c:pt idx="8">
                  <c:v>482431.377</c:v>
                </c:pt>
                <c:pt idx="9">
                  <c:v>494096.521</c:v>
                </c:pt>
                <c:pt idx="10">
                  <c:v>506043.728</c:v>
                </c:pt>
                <c:pt idx="11">
                  <c:v>518279.818</c:v>
                </c:pt>
                <c:pt idx="12">
                  <c:v>530811.774</c:v>
                </c:pt>
                <c:pt idx="13">
                  <c:v>543646.753</c:v>
                </c:pt>
                <c:pt idx="14">
                  <c:v>556792.079</c:v>
                </c:pt>
                <c:pt idx="15">
                  <c:v>570255.259</c:v>
                </c:pt>
              </c:numCache>
            </c:numRef>
          </c:val>
        </c:ser>
        <c:ser>
          <c:idx val="1"/>
          <c:order val="1"/>
          <c:tx>
            <c:strRef>
              <c:strCache>
                <c:ptCount val="1"/>
                <c:pt idx="0">
                  <c:v>Canada</c:v>
                </c:pt>
              </c:strCache>
            </c:strRef>
          </c:tx>
          <c:spPr>
            <a:solidFill>
              <a:srgbClr val="9E7E0A"/>
            </a:solidFill>
            <a:ln>
              <a:noFill/>
            </a:ln>
          </c:spPr>
          <c:dLbls>
            <c:dLbl>
              <c:idx val="0"/>
              <c:numFmt formatCode="&quot;MMMMMMMMM&quot;;&quot;MMMMMMMMM&quot;;&quot;MMMM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MM&quot;;&quot;MMMMMMMMM&quot;;&quot;MMMM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MM&quot;;&quot;MMMMMMMMM&quot;;&quot;MM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MM&quot;;&quot;MMMMMMMMM&quot;;&quot;MM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MM&quot;;&quot;MMMMMMMMM&quot;;&quot;MM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MM&quot;;&quot;MMMMMMMMM&quot;;&quot;MM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MM&quot;;&quot;MMMMMMMMM&quot;;&quot;MM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MM&quot;;&quot;MMMMMMMMM&quot;;&quot;MM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MM&quot;;&quot;MMMMMMMMM&quot;;&quot;MM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MM&quot;;&quot;MMMMMMMMM&quot;;&quot;MM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MM&quot;;&quot;MMMMMMMMM&quot;;&quot;MM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MM&quot;;&quot;MMMMMMMMM&quot;;&quot;MM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MM&quot;;&quot;MMMMMMMMM&quot;;&quot;MM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MM&quot;;&quot;MMMMMMMMM&quot;;&quot;MM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MM&quot;;&quot;MMMMMMMMM&quot;;&quot;MM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MM&quot;;&quot;MMMMMMMMM&quot;;&quot;MM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172587.892</c:v>
                </c:pt>
                <c:pt idx="1">
                  <c:v>176351.387</c:v>
                </c:pt>
                <c:pt idx="2">
                  <c:v>180196.949</c:v>
                </c:pt>
                <c:pt idx="3">
                  <c:v>184126.37</c:v>
                </c:pt>
                <c:pt idx="4">
                  <c:v>188141.476</c:v>
                </c:pt>
                <c:pt idx="5">
                  <c:v>192244.136</c:v>
                </c:pt>
                <c:pt idx="6">
                  <c:v>197950.93</c:v>
                </c:pt>
                <c:pt idx="7">
                  <c:v>203827.131</c:v>
                </c:pt>
                <c:pt idx="8">
                  <c:v>209877.768</c:v>
                </c:pt>
                <c:pt idx="9">
                  <c:v>216108.019</c:v>
                </c:pt>
                <c:pt idx="10">
                  <c:v>222523.216</c:v>
                </c:pt>
                <c:pt idx="11">
                  <c:v>229128.849</c:v>
                </c:pt>
                <c:pt idx="12">
                  <c:v>235930.571</c:v>
                </c:pt>
                <c:pt idx="13">
                  <c:v>242934.203</c:v>
                </c:pt>
                <c:pt idx="14">
                  <c:v>250145.739</c:v>
                </c:pt>
                <c:pt idx="15">
                  <c:v>257571.35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U.S.</c:v>
                </c:pt>
              </c:strCache>
            </c:strRef>
          </c:tx>
          <c:spPr>
            <a:solidFill>
              <a:srgbClr val="3D85C6"/>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1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1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1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1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2136.262</c:v>
                </c:pt>
                <c:pt idx="1">
                  <c:v>2200.902</c:v>
                </c:pt>
                <c:pt idx="2">
                  <c:v>2267.497</c:v>
                </c:pt>
                <c:pt idx="3">
                  <c:v>2336.108</c:v>
                </c:pt>
                <c:pt idx="4">
                  <c:v>2406.795</c:v>
                </c:pt>
                <c:pt idx="5">
                  <c:v>2479.62</c:v>
                </c:pt>
                <c:pt idx="6">
                  <c:v>2574.487</c:v>
                </c:pt>
                <c:pt idx="7">
                  <c:v>2672.982</c:v>
                </c:pt>
                <c:pt idx="8">
                  <c:v>2775.246</c:v>
                </c:pt>
                <c:pt idx="9">
                  <c:v>2881.422</c:v>
                </c:pt>
                <c:pt idx="10">
                  <c:v>2991.661</c:v>
                </c:pt>
                <c:pt idx="11">
                  <c:v>3106.117</c:v>
                </c:pt>
                <c:pt idx="12">
                  <c:v>3224.952</c:v>
                </c:pt>
                <c:pt idx="13">
                  <c:v>3348.333</c:v>
                </c:pt>
                <c:pt idx="14">
                  <c:v>3476.435</c:v>
                </c:pt>
                <c:pt idx="15">
                  <c:v>3609.437</c:v>
                </c:pt>
              </c:numCache>
            </c:numRef>
          </c:val>
        </c:ser>
        <c:ser>
          <c:idx val="1"/>
          <c:order val="1"/>
          <c:tx>
            <c:strRef>
              <c:strCache>
                <c:ptCount val="1"/>
                <c:pt idx="0">
                  <c:v>Canada</c:v>
                </c:pt>
              </c:strCache>
            </c:strRef>
          </c:tx>
          <c:spPr>
            <a:solidFill>
              <a:srgbClr val="9E7E0A"/>
            </a:solidFill>
            <a:ln>
              <a:noFill/>
            </a:ln>
          </c:spPr>
          <c:dLbls>
            <c:dLbl>
              <c:idx val="0"/>
              <c:numFmt formatCode="&quot;MMMMM&quot;;&quot;MMMMM&quot;;&quot;MMMMM&quot;" sourceLinked="0"/>
              <c:spPr>
                <a:blipFill>
                  <a:blip r:embed="rId1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1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2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2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MM&quot;;&quot;MMMMMMM&quot;;&quot;MMMMMMM&quot;" sourceLinked="0"/>
              <c:spPr>
                <a:blipFill>
                  <a:blip r:embed="rId2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numFmt formatCode="&quot;MMMMMMM&quot;;&quot;MMMMMMM&quot;;&quot;MMMMMMM&quot;" sourceLinked="0"/>
              <c:spPr>
                <a:blipFill>
                  <a:blip r:embed="rId2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numFmt formatCode="&quot;MMMMMMM&quot;;&quot;MMMMMMM&quot;;&quot;MMMMMMM&quot;" sourceLinked="0"/>
              <c:spPr>
                <a:blipFill>
                  <a:blip r:embed="rId2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numFmt formatCode="&quot;MMMMMMM&quot;;&quot;MMMMMMM&quot;;&quot;MMMMMMM&quot;" sourceLinked="0"/>
              <c:spPr>
                <a:blipFill>
                  <a:blip r:embed="rId2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numFmt formatCode="&quot;MMMMMMM&quot;;&quot;MMMMMMM&quot;;&quot;MMMMMMM&quot;" sourceLinked="0"/>
              <c:spPr>
                <a:blipFill>
                  <a:blip r:embed="rId2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numFmt formatCode="&quot;MMMMMMM&quot;;&quot;MMMMMMM&quot;;&quot;MMMMMMM&quot;" sourceLinked="0"/>
              <c:spPr>
                <a:blipFill>
                  <a:blip r:embed="rId2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numFmt formatCode="&quot;MMMMMMM&quot;;&quot;MMMMMMM&quot;;&quot;MMMMMMM&quot;" sourceLinked="0"/>
              <c:spPr>
                <a:blipFill>
                  <a:blip r:embed="rId2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1"/>
              <c:numFmt formatCode="&quot;MMMMMMM&quot;;&quot;MMMMMMM&quot;;&quot;MMMMMMM&quot;" sourceLinked="0"/>
              <c:spPr>
                <a:blipFill>
                  <a:blip r:embed="rId2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2"/>
              <c:numFmt formatCode="&quot;MMMMMMM&quot;;&quot;MMMMMMM&quot;;&quot;MMMMMMM&quot;" sourceLinked="0"/>
              <c:spPr>
                <a:blipFill>
                  <a:blip r:embed="rId3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3"/>
              <c:numFmt formatCode="&quot;MMMMMMM&quot;;&quot;MMMMMMM&quot;;&quot;MMMMMMM&quot;" sourceLinked="0"/>
              <c:spPr>
                <a:blipFill>
                  <a:blip r:embed="rId3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4"/>
              <c:numFmt formatCode="&quot;MMMMMMM&quot;;&quot;MMMMMMM&quot;;&quot;MMMMMMM&quot;" sourceLinked="0"/>
              <c:spPr>
                <a:blipFill>
                  <a:blip r:embed="rId3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5"/>
              <c:numFmt formatCode="&quot;MMMMMMM&quot;;&quot;MMMMMMM&quot;;&quot;MMMMMMM&quot;" sourceLinked="0"/>
              <c:spPr>
                <a:blipFill>
                  <a:blip r:embed="rId3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929.464</c:v>
                </c:pt>
                <c:pt idx="1">
                  <c:v>964.331</c:v>
                </c:pt>
                <c:pt idx="2">
                  <c:v>1000.506</c:v>
                </c:pt>
                <c:pt idx="3">
                  <c:v>1038.038</c:v>
                </c:pt>
                <c:pt idx="4">
                  <c:v>1076.979</c:v>
                </c:pt>
                <c:pt idx="5">
                  <c:v>1117.38</c:v>
                </c:pt>
                <c:pt idx="6">
                  <c:v>1168.235</c:v>
                </c:pt>
                <c:pt idx="7">
                  <c:v>1221.405</c:v>
                </c:pt>
                <c:pt idx="8">
                  <c:v>1276.995</c:v>
                </c:pt>
                <c:pt idx="9">
                  <c:v>1335.115</c:v>
                </c:pt>
                <c:pt idx="10">
                  <c:v>1395.881</c:v>
                </c:pt>
                <c:pt idx="11">
                  <c:v>1459.412</c:v>
                </c:pt>
                <c:pt idx="12">
                  <c:v>1525.834</c:v>
                </c:pt>
                <c:pt idx="13">
                  <c:v>1595.28</c:v>
                </c:pt>
                <c:pt idx="14">
                  <c:v>1667.886</c:v>
                </c:pt>
                <c:pt idx="15">
                  <c:v>1743.797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Static Cold Storage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22.408628986057437</c:v>
                </c:pt>
                <c:pt idx="1">
                  <c:v>20.605651241453998</c:v>
                </c:pt>
              </c:numCache>
            </c:numRef>
          </c:val>
        </c:ser>
        <c:ser>
          <c:idx val="1"/>
          <c:order val="1"/>
          <c:tx>
            <c:strRef>
              <c:strCache>
                <c:ptCount val="1"/>
                <c:pt idx="0">
                  <c:v>Portable Machine Perfusion Devices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77.59137101394256</c:v>
                </c:pt>
                <c:pt idx="1">
                  <c:v>79.394348758546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6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Static Cold Storage Devices</c:v>
                </c:pt>
              </c:strCache>
            </c:strRef>
          </c:tx>
          <c:spPr>
            <a:solidFill>
              <a:srgbClr val="3D85C6"/>
            </a:solidFill>
          </c:spPr>
          <c:invertIfNegative val="0"/>
          <c:xVal>
            <c:numRef>
              <c:numCache>
                <c:formatCode>General</c:formatCode>
                <c:ptCount val="1"/>
                <c:pt idx="0">
                  <c:v>106.10852395795611</c:v>
                </c:pt>
              </c:numCache>
            </c:numRef>
          </c:xVal>
          <c:yVal>
            <c:numRef>
              <c:numCache>
                <c:formatCode>General</c:formatCode>
                <c:ptCount val="1"/>
                <c:pt idx="0">
                  <c:v>41.38976925215457</c:v>
                </c:pt>
              </c:numCache>
            </c:numRef>
          </c:yVal>
          <c:bubbleSize>
            <c:numRef>
              <c:numCache>
                <c:formatCode>General</c:formatCode>
                <c:ptCount val="1"/>
                <c:pt idx="0">
                  <c:v>1134.509</c:v>
                </c:pt>
              </c:numCache>
            </c:numRef>
          </c:bubbleSize>
          <c:bubble3D val="0"/>
        </c:ser>
        <c:ser>
          <c:idx val="1"/>
          <c:order val="1"/>
          <c:tx>
            <c:strRef>
              <c:strCache>
                <c:ptCount val="1"/>
                <c:pt idx="0">
                  <c:v>Portable Machine Perfusion Devices</c:v>
                </c:pt>
              </c:strCache>
            </c:strRef>
          </c:tx>
          <c:spPr>
            <a:solidFill>
              <a:srgbClr val="9E7E0A"/>
            </a:solidFill>
          </c:spPr>
          <c:invertIfNegative val="0"/>
          <c:xVal>
            <c:numRef>
              <c:numCache>
                <c:formatCode>General</c:formatCode>
                <c:ptCount val="1"/>
                <c:pt idx="0">
                  <c:v>98.3842032666372</c:v>
                </c:pt>
              </c:numCache>
            </c:numRef>
          </c:xVal>
          <c:yVal>
            <c:numRef>
              <c:numCache>
                <c:formatCode>General</c:formatCode>
                <c:ptCount val="1"/>
                <c:pt idx="0">
                  <c:v>158.61023074784543</c:v>
                </c:pt>
              </c:numCache>
            </c:numRef>
          </c:yVal>
          <c:bubbleSize>
            <c:numRef>
              <c:numCache>
                <c:formatCode>General</c:formatCode>
                <c:ptCount val="1"/>
                <c:pt idx="0">
                  <c:v>4218.725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5.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744.395</c:v>
                </c:pt>
                <c:pt idx="2">
                  <c:v>809.629</c:v>
                </c:pt>
                <c:pt idx="3">
                  <c:v>880.6959999999999</c:v>
                </c:pt>
                <c:pt idx="4">
                  <c:v>958.1310000000001</c:v>
                </c:pt>
                <c:pt idx="5">
                  <c:v>1042.5230000000001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744.395</c:v>
                </c:pt>
                <c:pt idx="1">
                  <c:v>65.23400000000004</c:v>
                </c:pt>
                <c:pt idx="2">
                  <c:v>71.0669999999999</c:v>
                </c:pt>
                <c:pt idx="3">
                  <c:v>77.43500000000017</c:v>
                </c:pt>
                <c:pt idx="4">
                  <c:v>84.39200000000005</c:v>
                </c:pt>
                <c:pt idx="5">
                  <c:v>91.98599999999988</c:v>
                </c:pt>
                <c:pt idx="6">
                  <c:v>1134.509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2852.605</c:v>
                </c:pt>
                <c:pt idx="2">
                  <c:v>3084.758</c:v>
                </c:pt>
                <c:pt idx="3">
                  <c:v>3335.8410000000003</c:v>
                </c:pt>
                <c:pt idx="4">
                  <c:v>3607.398</c:v>
                </c:pt>
                <c:pt idx="5">
                  <c:v>3901.09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2852.605</c:v>
                </c:pt>
                <c:pt idx="1">
                  <c:v>232.1529999999998</c:v>
                </c:pt>
                <c:pt idx="2">
                  <c:v>251.08300000000054</c:v>
                </c:pt>
                <c:pt idx="3">
                  <c:v>271.5569999999998</c:v>
                </c:pt>
                <c:pt idx="4">
                  <c:v>293.692</c:v>
                </c:pt>
                <c:pt idx="5">
                  <c:v>317.6350000000002</c:v>
                </c:pt>
                <c:pt idx="6">
                  <c:v>4218.725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Portable Machine Perfusion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79.53238482499742</c:v>
                </c:pt>
                <c:pt idx="1">
                  <c:v>79.30511537392272</c:v>
                </c:pt>
                <c:pt idx="2">
                  <c:v>78.80703514922008</c:v>
                </c:pt>
              </c:numCache>
            </c:numRef>
          </c:val>
        </c:ser>
        <c:ser>
          <c:idx val="1"/>
          <c:order val="1"/>
          <c:tx>
            <c:strRef>
              <c:strCache>
                <c:ptCount val="1"/>
                <c:pt idx="0">
                  <c:v>Static Cold Storage Devices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20.467615175002596</c:v>
                </c:pt>
                <c:pt idx="1">
                  <c:v>20.694884626077286</c:v>
                </c:pt>
                <c:pt idx="2">
                  <c:v>21.19296485077992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Organ-Specific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95.89034732827272</c:v>
                </c:pt>
                <c:pt idx="1">
                  <c:v>94.54175263344395</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4.109652671727272</c:v>
                </c:pt>
                <c:pt idx="1">
                  <c:v>5.458247366556058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Organ-Specific Devices</c:v>
                </c:pt>
              </c:strCache>
            </c:strRef>
          </c:tx>
          <c:spPr>
            <a:solidFill>
              <a:srgbClr val="3D85C6"/>
            </a:solidFill>
          </c:spPr>
          <c:invertIfNegative val="0"/>
          <c:xVal>
            <c:numRef>
              <c:numCache>
                <c:formatCode>General</c:formatCode>
                <c:ptCount val="1"/>
                <c:pt idx="0">
                  <c:v>100.1148000047646</c:v>
                </c:pt>
              </c:numCache>
            </c:numRef>
          </c:xVal>
          <c:yVal>
            <c:numRef>
              <c:numCache>
                <c:formatCode>General</c:formatCode>
                <c:ptCount val="1"/>
                <c:pt idx="0">
                  <c:v>189.87711982207395</c:v>
                </c:pt>
              </c:numCache>
            </c:numRef>
          </c:yVal>
          <c:bubbleSize>
            <c:numRef>
              <c:numCache>
                <c:formatCode>General</c:formatCode>
                <c:ptCount val="1"/>
                <c:pt idx="0">
                  <c:v>5084.558</c:v>
                </c:pt>
              </c:numCache>
            </c:numRef>
          </c:bubbleSize>
          <c:bubble3D val="0"/>
        </c:ser>
        <c:ser>
          <c:idx val="1"/>
          <c:order val="1"/>
          <c:tx>
            <c:strRef>
              <c:strCache>
                <c:ptCount val="1"/>
                <c:pt idx="0">
                  <c:v>Multi-Organ Compatible Devices</c:v>
                </c:pt>
              </c:strCache>
            </c:strRef>
          </c:tx>
          <c:spPr>
            <a:solidFill>
              <a:srgbClr val="9E7E0A"/>
            </a:solidFill>
          </c:spPr>
          <c:invertIfNegative val="0"/>
          <c:xVal>
            <c:numRef>
              <c:numCache>
                <c:formatCode>General</c:formatCode>
                <c:ptCount val="1"/>
                <c:pt idx="0">
                  <c:v>97.838056787643</c:v>
                </c:pt>
              </c:numCache>
            </c:numRef>
          </c:xVal>
          <c:yVal>
            <c:numRef>
              <c:numCache>
                <c:formatCode>General</c:formatCode>
                <c:ptCount val="1"/>
                <c:pt idx="0">
                  <c:v>10.12288017792605</c:v>
                </c:pt>
              </c:numCache>
            </c:numRef>
          </c:yVal>
          <c:bubbleSize>
            <c:numRef>
              <c:numCache>
                <c:formatCode>General</c:formatCode>
                <c:ptCount val="1"/>
                <c:pt idx="0">
                  <c:v>268.676</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9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50.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3414.94</c:v>
                </c:pt>
                <c:pt idx="2">
                  <c:v>3697.6150000000002</c:v>
                </c:pt>
                <c:pt idx="3">
                  <c:v>4003.85</c:v>
                </c:pt>
                <c:pt idx="4">
                  <c:v>4335.626</c:v>
                </c:pt>
                <c:pt idx="5">
                  <c:v>4695.085999999999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3414.94</c:v>
                </c:pt>
                <c:pt idx="1">
                  <c:v>282.6750000000002</c:v>
                </c:pt>
                <c:pt idx="2">
                  <c:v>306.2349999999997</c:v>
                </c:pt>
                <c:pt idx="3">
                  <c:v>331.7760000000003</c:v>
                </c:pt>
                <c:pt idx="4">
                  <c:v>359.4599999999991</c:v>
                </c:pt>
                <c:pt idx="5">
                  <c:v>389.47200000000066</c:v>
                </c:pt>
                <c:pt idx="6">
                  <c:v>5084.558</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182.06</c:v>
                </c:pt>
                <c:pt idx="2">
                  <c:v>196.772</c:v>
                </c:pt>
                <c:pt idx="3">
                  <c:v>212.687</c:v>
                </c:pt>
                <c:pt idx="4">
                  <c:v>229.903</c:v>
                </c:pt>
                <c:pt idx="5">
                  <c:v>248.527</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182.06</c:v>
                </c:pt>
                <c:pt idx="1">
                  <c:v>14.711999999999989</c:v>
                </c:pt>
                <c:pt idx="2">
                  <c:v>15.91500000000002</c:v>
                </c:pt>
                <c:pt idx="3">
                  <c:v>17.21599999999998</c:v>
                </c:pt>
                <c:pt idx="4">
                  <c:v>18.623999999999995</c:v>
                </c:pt>
                <c:pt idx="5">
                  <c:v>20.149</c:v>
                </c:pt>
                <c:pt idx="6">
                  <c:v>268.676</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Organ-Specific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94.9161144864218</c:v>
                </c:pt>
                <c:pt idx="1">
                  <c:v>94.93855991103698</c:v>
                </c:pt>
                <c:pt idx="2">
                  <c:v>94.98105257494814</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5.083885513578186</c:v>
                </c:pt>
                <c:pt idx="1">
                  <c:v>5.061440088963025</c:v>
                </c:pt>
                <c:pt idx="2">
                  <c:v>5.018947425051847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Single-Use Transport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61.16893193416436</c:v>
                </c:pt>
                <c:pt idx="1">
                  <c:v>62.084668606212</c:v>
                </c:pt>
              </c:numCache>
            </c:numRef>
          </c:val>
        </c:ser>
        <c:ser>
          <c:idx val="1"/>
          <c:order val="1"/>
          <c:tx>
            <c:strRef>
              <c:strCache>
                <c:ptCount val="1"/>
                <c:pt idx="0">
                  <c:v>Reusable Transport Devices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38.831068065835645</c:v>
                </c:pt>
                <c:pt idx="1">
                  <c:v>37.915331393788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7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Single-Use Transport Devices</c:v>
                </c:pt>
              </c:strCache>
            </c:strRef>
          </c:tx>
          <c:spPr>
            <a:solidFill>
              <a:srgbClr val="3D85C6"/>
            </a:solidFill>
          </c:spPr>
          <c:invertIfNegative val="0"/>
          <c:xVal>
            <c:numRef>
              <c:numCache>
                <c:formatCode>General</c:formatCode>
                <c:ptCount val="1"/>
                <c:pt idx="0">
                  <c:v>84.56917374090168</c:v>
                </c:pt>
              </c:numCache>
            </c:numRef>
          </c:xVal>
          <c:yVal>
            <c:numRef>
              <c:numCache>
                <c:formatCode>General</c:formatCode>
                <c:ptCount val="1"/>
                <c:pt idx="0">
                  <c:v>131.25749235474007</c:v>
                </c:pt>
              </c:numCache>
            </c:numRef>
          </c:yVal>
          <c:bubbleSize>
            <c:numRef>
              <c:numCache>
                <c:formatCode>General</c:formatCode>
                <c:ptCount val="1"/>
                <c:pt idx="0">
                  <c:v>3307.569</c:v>
                </c:pt>
              </c:numCache>
            </c:numRef>
          </c:bubbleSize>
          <c:bubble3D val="0"/>
        </c:ser>
        <c:ser>
          <c:idx val="1"/>
          <c:order val="1"/>
          <c:tx>
            <c:strRef>
              <c:strCache>
                <c:ptCount val="1"/>
                <c:pt idx="0">
                  <c:v>Reusable Transport Devices</c:v>
                </c:pt>
              </c:strCache>
            </c:strRef>
          </c:tx>
          <c:spPr>
            <a:solidFill>
              <a:srgbClr val="9E7E0A"/>
            </a:solidFill>
          </c:spPr>
          <c:invertIfNegative val="0"/>
          <c:xVal>
            <c:numRef>
              <c:numCache>
                <c:formatCode>General</c:formatCode>
                <c:ptCount val="1"/>
                <c:pt idx="0">
                  <c:v>127.33071574100101</c:v>
                </c:pt>
              </c:numCache>
            </c:numRef>
          </c:xVal>
          <c:yVal>
            <c:numRef>
              <c:numCache>
                <c:formatCode>General</c:formatCode>
                <c:ptCount val="1"/>
                <c:pt idx="0">
                  <c:v>68.74250764525995</c:v>
                </c:pt>
              </c:numCache>
            </c:numRef>
          </c:yVal>
          <c:bubbleSize>
            <c:numRef>
              <c:numCache>
                <c:formatCode>General</c:formatCode>
                <c:ptCount val="1"/>
                <c:pt idx="0">
                  <c:v>2045.665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40.0"/>
          <c:min val="7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75.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2360.666</c:v>
                </c:pt>
                <c:pt idx="2">
                  <c:v>2527.732</c:v>
                </c:pt>
                <c:pt idx="3">
                  <c:v>2705.46</c:v>
                </c:pt>
                <c:pt idx="4">
                  <c:v>2894.35</c:v>
                </c:pt>
                <c:pt idx="5">
                  <c:v>3094.893</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2360.666</c:v>
                </c:pt>
                <c:pt idx="1">
                  <c:v>167.0659999999998</c:v>
                </c:pt>
                <c:pt idx="2">
                  <c:v>177.72800000000007</c:v>
                </c:pt>
                <c:pt idx="3">
                  <c:v>188.88999999999987</c:v>
                </c:pt>
                <c:pt idx="4">
                  <c:v>200.54300000000012</c:v>
                </c:pt>
                <c:pt idx="5">
                  <c:v>212.67599999999993</c:v>
                </c:pt>
                <c:pt idx="6">
                  <c:v>3307.569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1236.334</c:v>
                </c:pt>
                <c:pt idx="2">
                  <c:v>1366.655</c:v>
                </c:pt>
                <c:pt idx="3">
                  <c:v>1511.077</c:v>
                </c:pt>
                <c:pt idx="4">
                  <c:v>1671.179</c:v>
                </c:pt>
                <c:pt idx="5">
                  <c:v>1848.72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1236.334</c:v>
                </c:pt>
                <c:pt idx="1">
                  <c:v>130.3209999999999</c:v>
                </c:pt>
                <c:pt idx="2">
                  <c:v>144.42200000000003</c:v>
                </c:pt>
                <c:pt idx="3">
                  <c:v>160.1020000000001</c:v>
                </c:pt>
                <c:pt idx="4">
                  <c:v>177.54099999999994</c:v>
                </c:pt>
                <c:pt idx="5">
                  <c:v>196.94499999999994</c:v>
                </c:pt>
                <c:pt idx="6">
                  <c:v>2045.665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Single-Use Transport Devices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67.34163457530126</c:v>
                </c:pt>
                <c:pt idx="1">
                  <c:v>65.62874617737003</c:v>
                </c:pt>
                <c:pt idx="2">
                  <c:v>61.78637063128568</c:v>
                </c:pt>
              </c:numCache>
            </c:numRef>
          </c:val>
        </c:ser>
        <c:ser>
          <c:idx val="1"/>
          <c:order val="1"/>
          <c:tx>
            <c:strRef>
              <c:strCache>
                <c:ptCount val="1"/>
                <c:pt idx="0">
                  <c:v>Reusable Transport Devices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32.65836542469875</c:v>
                </c:pt>
                <c:pt idx="1">
                  <c:v>34.371253822629974</c:v>
                </c:pt>
                <c:pt idx="2">
                  <c:v>38.21362936871431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7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Devices without Integrated Monitoring</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13.84496016451456</c:v>
                </c:pt>
                <c:pt idx="1">
                  <c:v>12.64188847180322</c:v>
                </c:pt>
              </c:numCache>
            </c:numRef>
          </c:val>
        </c:ser>
        <c:ser>
          <c:idx val="1"/>
          <c:order val="1"/>
          <c:tx>
            <c:strRef>
              <c:strCache>
                <c:ptCount val="1"/>
                <c:pt idx="0">
                  <c:v>Devices with Integrated Monitoring</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86.15503983548544</c:v>
                </c:pt>
                <c:pt idx="1">
                  <c:v>87.35811152819679</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0.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Devices without Integrated Monitoring</c:v>
                </c:pt>
              </c:strCache>
            </c:strRef>
          </c:tx>
          <c:spPr>
            <a:solidFill>
              <a:srgbClr val="3D85C6"/>
            </a:solidFill>
          </c:spPr>
          <c:invertIfNegative val="0"/>
          <c:xVal>
            <c:numRef>
              <c:numCache>
                <c:formatCode>General</c:formatCode>
                <c:ptCount val="1"/>
                <c:pt idx="0">
                  <c:v>82.40283691103231</c:v>
                </c:pt>
              </c:numCache>
            </c:numRef>
          </c:xVal>
          <c:yVal>
            <c:numRef>
              <c:numCache>
                <c:formatCode>General</c:formatCode>
                <c:ptCount val="1"/>
                <c:pt idx="0">
                  <c:v>27.924993049763692</c:v>
                </c:pt>
              </c:numCache>
            </c:numRef>
          </c:yVal>
          <c:bubbleSize>
            <c:numRef>
              <c:numCache>
                <c:formatCode>General</c:formatCode>
                <c:ptCount val="1"/>
                <c:pt idx="0">
                  <c:v>697.729</c:v>
                </c:pt>
              </c:numCache>
            </c:numRef>
          </c:bubbleSize>
          <c:bubble3D val="0"/>
        </c:ser>
        <c:ser>
          <c:idx val="1"/>
          <c:order val="1"/>
          <c:tx>
            <c:strRef>
              <c:strCache>
                <c:ptCount val="1"/>
                <c:pt idx="0">
                  <c:v>Devices with Integrated Monitoring</c:v>
                </c:pt>
              </c:strCache>
            </c:strRef>
          </c:tx>
          <c:spPr>
            <a:solidFill>
              <a:srgbClr val="9E7E0A"/>
            </a:solidFill>
          </c:spPr>
          <c:invertIfNegative val="0"/>
          <c:xVal>
            <c:numRef>
              <c:numCache>
                <c:formatCode>General</c:formatCode>
                <c:ptCount val="1"/>
                <c:pt idx="0">
                  <c:v>102.75582004749624</c:v>
                </c:pt>
              </c:numCache>
            </c:numRef>
          </c:xVal>
          <c:yVal>
            <c:numRef>
              <c:numCache>
                <c:formatCode>General</c:formatCode>
                <c:ptCount val="1"/>
                <c:pt idx="0">
                  <c:v>172.07500695023631</c:v>
                </c:pt>
              </c:numCache>
            </c:numRef>
          </c:yVal>
          <c:bubbleSize>
            <c:numRef>
              <c:numCache>
                <c:formatCode>General</c:formatCode>
                <c:ptCount val="1"/>
                <c:pt idx="0">
                  <c:v>4655.505</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10.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25.0"/>
          <c:min val="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502.231</c:v>
                </c:pt>
                <c:pt idx="2">
                  <c:v>537.202</c:v>
                </c:pt>
                <c:pt idx="3">
                  <c:v>574.205</c:v>
                </c:pt>
                <c:pt idx="4">
                  <c:v>613.284</c:v>
                </c:pt>
                <c:pt idx="5">
                  <c:v>654.459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502.231</c:v>
                </c:pt>
                <c:pt idx="1">
                  <c:v>34.971000000000004</c:v>
                </c:pt>
                <c:pt idx="2">
                  <c:v>37.00300000000004</c:v>
                </c:pt>
                <c:pt idx="3">
                  <c:v>39.07899999999995</c:v>
                </c:pt>
                <c:pt idx="4">
                  <c:v>41.174999999999955</c:v>
                </c:pt>
                <c:pt idx="5">
                  <c:v>43.270000000000095</c:v>
                </c:pt>
                <c:pt idx="6">
                  <c:v>697.729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3094.7690000000002</c:v>
                </c:pt>
                <c:pt idx="2">
                  <c:v>3357.1850000000004</c:v>
                </c:pt>
                <c:pt idx="3">
                  <c:v>3642.3320000000003</c:v>
                </c:pt>
                <c:pt idx="4">
                  <c:v>3952.245</c:v>
                </c:pt>
                <c:pt idx="5">
                  <c:v>4289.154</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3094.7690000000002</c:v>
                </c:pt>
                <c:pt idx="1">
                  <c:v>262.41600000000017</c:v>
                </c:pt>
                <c:pt idx="2">
                  <c:v>285.14699999999993</c:v>
                </c:pt>
                <c:pt idx="3">
                  <c:v>309.91299999999956</c:v>
                </c:pt>
                <c:pt idx="4">
                  <c:v>336.90900000000056</c:v>
                </c:pt>
                <c:pt idx="5">
                  <c:v>366.35099999999966</c:v>
                </c:pt>
                <c:pt idx="6">
                  <c:v>4655.505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with Integrated Monitoring</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85.64858699048774</c:v>
                </c:pt>
                <c:pt idx="1">
                  <c:v>86.03750347511816</c:v>
                </c:pt>
                <c:pt idx="2">
                  <c:v>86.9662151887999</c:v>
                </c:pt>
              </c:numCache>
            </c:numRef>
          </c:val>
        </c:ser>
        <c:ser>
          <c:idx val="1"/>
          <c:order val="1"/>
          <c:tx>
            <c:strRef>
              <c:strCache>
                <c:ptCount val="1"/>
                <c:pt idx="0">
                  <c:v>without Integrated Monitoring</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14.351413009512266</c:v>
                </c:pt>
                <c:pt idx="1">
                  <c:v>13.962496524881846</c:v>
                </c:pt>
                <c:pt idx="2">
                  <c:v>13.033784811200109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Hospitals and Transplant Centres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38.629037668948854</c:v>
                </c:pt>
                <c:pt idx="1">
                  <c:v>33.39664884024849</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24.63704204101739</c:v>
                </c:pt>
                <c:pt idx="1">
                  <c:v>33.77626483022144</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22.625856105957286</c:v>
                </c:pt>
                <c:pt idx="1">
                  <c:v>22.32855151648304</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14.108064184076472</c:v>
                </c:pt>
                <c:pt idx="1">
                  <c:v>10.49853481304702</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8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Hospitals and Transplant Centres</c:v>
                </c:pt>
              </c:strCache>
            </c:strRef>
          </c:tx>
          <c:spPr>
            <a:solidFill>
              <a:srgbClr val="3D85C6"/>
            </a:solidFill>
          </c:spPr>
          <c:invertIfNegative val="0"/>
          <c:xVal>
            <c:numRef>
              <c:numCache>
                <c:formatCode>General</c:formatCode>
                <c:ptCount val="1"/>
                <c:pt idx="0">
                  <c:v>71.93863676238537</c:v>
                </c:pt>
              </c:numCache>
            </c:numRef>
          </c:xVal>
          <c:yVal>
            <c:numRef>
              <c:numCache>
                <c:formatCode>General</c:formatCode>
                <c:ptCount val="1"/>
                <c:pt idx="0">
                  <c:v>156.72805115373924</c:v>
                </c:pt>
              </c:numCache>
            </c:numRef>
          </c:yVal>
          <c:bubbleSize>
            <c:numRef>
              <c:numCache>
                <c:formatCode>General</c:formatCode>
                <c:ptCount val="1"/>
                <c:pt idx="0">
                  <c:v>1879.043</c:v>
                </c:pt>
              </c:numCache>
            </c:numRef>
          </c:bubbleSize>
          <c:bubble3D val="0"/>
        </c:ser>
        <c:ser>
          <c:idx val="1"/>
          <c:order val="1"/>
          <c:tx>
            <c:strRef>
              <c:strCache>
                <c:ptCount val="1"/>
                <c:pt idx="0">
                  <c:v>Organ Procurement Organisations and Organ Retrieval Agencies</c:v>
                </c:pt>
              </c:strCache>
            </c:strRef>
          </c:tx>
          <c:spPr>
            <a:solidFill>
              <a:srgbClr val="9E7E0A"/>
            </a:solidFill>
          </c:spPr>
          <c:invertIfNegative val="0"/>
          <c:xVal>
            <c:numRef>
              <c:numCache>
                <c:formatCode>General</c:formatCode>
                <c:ptCount val="1"/>
                <c:pt idx="0">
                  <c:v>113.62249977088284</c:v>
                </c:pt>
              </c:numCache>
            </c:numRef>
          </c:xVal>
          <c:yVal>
            <c:numRef>
              <c:numCache>
                <c:formatCode>General</c:formatCode>
                <c:ptCount val="1"/>
                <c:pt idx="0">
                  <c:v>116.84203502919101</c:v>
                </c:pt>
              </c:numCache>
            </c:numRef>
          </c:yVal>
          <c:bubbleSize>
            <c:numRef>
              <c:numCache>
                <c:formatCode>General</c:formatCode>
                <c:ptCount val="1"/>
                <c:pt idx="0">
                  <c:v>1648.753</c:v>
                </c:pt>
              </c:numCache>
            </c:numRef>
          </c:bubbleSize>
          <c:bubble3D val="0"/>
        </c:ser>
        <c:ser>
          <c:idx val="2"/>
          <c:order val="2"/>
          <c:tx>
            <c:strRef>
              <c:strCache>
                <c:ptCount val="1"/>
                <c:pt idx="0">
                  <c:v>Specialised Medical Logistics Providers</c:v>
                </c:pt>
              </c:strCache>
            </c:strRef>
          </c:tx>
          <c:spPr>
            <a:solidFill>
              <a:srgbClr val="008189"/>
            </a:solidFill>
          </c:spPr>
          <c:invertIfNegative val="0"/>
          <c:xVal>
            <c:numRef>
              <c:numCache>
                <c:formatCode>General</c:formatCode>
                <c:ptCount val="1"/>
                <c:pt idx="0">
                  <c:v>159.26475597583797</c:v>
                </c:pt>
              </c:numCache>
            </c:numRef>
          </c:xVal>
          <c:yVal>
            <c:numRef>
              <c:numCache>
                <c:formatCode>General</c:formatCode>
                <c:ptCount val="1"/>
                <c:pt idx="0">
                  <c:v>71.38604392549347</c:v>
                </c:pt>
              </c:numCache>
            </c:numRef>
          </c:yVal>
          <c:bubbleSize>
            <c:numRef>
              <c:numCache>
                <c:formatCode>General</c:formatCode>
                <c:ptCount val="1"/>
                <c:pt idx="0">
                  <c:v>1200.484</c:v>
                </c:pt>
              </c:numCache>
            </c:numRef>
          </c:bubbleSize>
          <c:bubble3D val="0"/>
        </c:ser>
        <c:ser>
          <c:idx val="3"/>
          <c:order val="3"/>
          <c:tx>
            <c:strRef>
              <c:strCache>
                <c:ptCount val="1"/>
                <c:pt idx="0">
                  <c:v>Other Purchasing Organisations</c:v>
                </c:pt>
              </c:strCache>
            </c:strRef>
          </c:tx>
          <c:spPr>
            <a:solidFill>
              <a:srgbClr val="40315E"/>
            </a:solidFill>
          </c:spPr>
          <c:invertIfNegative val="0"/>
          <c:xVal>
            <c:numRef>
              <c:numCache>
                <c:formatCode>General</c:formatCode>
                <c:ptCount val="1"/>
                <c:pt idx="0">
                  <c:v>58.1582109242232</c:v>
                </c:pt>
              </c:numCache>
            </c:numRef>
          </c:xVal>
          <c:yVal>
            <c:numRef>
              <c:numCache>
                <c:formatCode>General</c:formatCode>
                <c:ptCount val="1"/>
                <c:pt idx="0">
                  <c:v>55.04386989157632</c:v>
                </c:pt>
              </c:numCache>
            </c:numRef>
          </c:yVal>
          <c:bubbleSize>
            <c:numRef>
              <c:numCache>
                <c:formatCode>General</c:formatCode>
                <c:ptCount val="1"/>
                <c:pt idx="0">
                  <c:v>624.954</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90.0"/>
          <c:min val="30.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200.0"/>
          <c:min val="25.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1409.377</c:v>
                </c:pt>
                <c:pt idx="2">
                  <c:v>1494.237</c:v>
                </c:pt>
                <c:pt idx="3">
                  <c:v>1583.499</c:v>
                </c:pt>
                <c:pt idx="4">
                  <c:v>1677.303</c:v>
                </c:pt>
                <c:pt idx="5">
                  <c:v>1775.776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1409.377</c:v>
                </c:pt>
                <c:pt idx="1">
                  <c:v>84.86000000000013</c:v>
                </c:pt>
                <c:pt idx="2">
                  <c:v>89.26199999999994</c:v>
                </c:pt>
                <c:pt idx="3">
                  <c:v>93.80400000000009</c:v>
                </c:pt>
                <c:pt idx="4">
                  <c:v>98.47299999999996</c:v>
                </c:pt>
                <c:pt idx="5">
                  <c:v>103.26699999999983</c:v>
                </c:pt>
                <c:pt idx="6">
                  <c:v>1879.043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1050.702</c:v>
                </c:pt>
                <c:pt idx="2">
                  <c:v>1149.905</c:v>
                </c:pt>
                <c:pt idx="3">
                  <c:v>1258.401</c:v>
                </c:pt>
                <c:pt idx="4">
                  <c:v>1377.06</c:v>
                </c:pt>
                <c:pt idx="5">
                  <c:v>1506.832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1050.702</c:v>
                </c:pt>
                <c:pt idx="1">
                  <c:v>99.20299999999997</c:v>
                </c:pt>
                <c:pt idx="2">
                  <c:v>108.4960000000001</c:v>
                </c:pt>
                <c:pt idx="3">
                  <c:v>118.65899999999988</c:v>
                </c:pt>
                <c:pt idx="4">
                  <c:v>129.77200000000016</c:v>
                </c:pt>
                <c:pt idx="5">
                  <c:v>141.92099999999982</c:v>
                </c:pt>
                <c:pt idx="6">
                  <c:v>1648.753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641.939</c:v>
                </c:pt>
                <c:pt idx="2">
                  <c:v>730.476</c:v>
                </c:pt>
                <c:pt idx="3">
                  <c:v>829.404</c:v>
                </c:pt>
                <c:pt idx="4">
                  <c:v>939.857</c:v>
                </c:pt>
                <c:pt idx="5">
                  <c:v>1063.089</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641.939</c:v>
                </c:pt>
                <c:pt idx="1">
                  <c:v>88.53700000000003</c:v>
                </c:pt>
                <c:pt idx="2">
                  <c:v>98.928</c:v>
                </c:pt>
                <c:pt idx="3">
                  <c:v>110.45299999999997</c:v>
                </c:pt>
                <c:pt idx="4">
                  <c:v>123.23199999999997</c:v>
                </c:pt>
                <c:pt idx="5">
                  <c:v>137.39499999999998</c:v>
                </c:pt>
                <c:pt idx="6">
                  <c:v>1200.484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494.982</c:v>
                </c:pt>
                <c:pt idx="2">
                  <c:v>519.769</c:v>
                </c:pt>
                <c:pt idx="3">
                  <c:v>545.233</c:v>
                </c:pt>
                <c:pt idx="4">
                  <c:v>571.309</c:v>
                </c:pt>
                <c:pt idx="5">
                  <c:v>597.916</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494.982</c:v>
                </c:pt>
                <c:pt idx="1">
                  <c:v>24.786999999999978</c:v>
                </c:pt>
                <c:pt idx="2">
                  <c:v>25.463999999999942</c:v>
                </c:pt>
                <c:pt idx="3">
                  <c:v>26.076000000000022</c:v>
                </c:pt>
                <c:pt idx="4">
                  <c:v>26.607000000000085</c:v>
                </c:pt>
                <c:pt idx="5">
                  <c:v>27.037999999999897</c:v>
                </c:pt>
                <c:pt idx="6">
                  <c:v>624.954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Hospitals and Transplant Centres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41.20789007236785</c:v>
                </c:pt>
                <c:pt idx="1">
                  <c:v>39.18201278843481</c:v>
                </c:pt>
                <c:pt idx="2">
                  <c:v>35.101080954055064</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28.421196153863722</c:v>
                </c:pt>
                <c:pt idx="1">
                  <c:v>29.210508757297752</c:v>
                </c:pt>
                <c:pt idx="2">
                  <c:v>30.799195402255908</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MMMM&quot;;&quot;MMMM&quot;;&quot;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15.580257335456595</c:v>
                </c:pt>
                <c:pt idx="1">
                  <c:v>17.846510981373367</c:v>
                </c:pt>
                <c:pt idx="2">
                  <c:v>22.42539743265473</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1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14.790656438311839</c:v>
                </c:pt>
                <c:pt idx="1">
                  <c:v>13.76096747289408</c:v>
                </c:pt>
                <c:pt idx="2">
                  <c:v>11.674326211034302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57.98885994183956</c:v>
                </c:pt>
                <c:pt idx="1">
                  <c:v>59.014549914571155</c:v>
                </c:pt>
              </c:numCache>
            </c:numRef>
          </c:val>
        </c:ser>
        <c:ser>
          <c:idx val="1"/>
          <c:order val="1"/>
          <c:tx>
            <c:strRef>
              <c:strCache>
                <c:ptCount val="1"/>
                <c:pt idx="0">
                  <c:v>Distributor Sales</c:v>
                </c:pt>
              </c:strCache>
            </c:strRef>
          </c:tx>
          <c:spPr>
            <a:solidFill>
              <a:srgbClr val="9E7E0A"/>
            </a:solidFill>
            <a:ln>
              <a:noFill/>
            </a:ln>
          </c:spPr>
          <c:dLbls>
            <c:dLbl>
              <c:idx val="0"/>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dLbl>
              <c:idx val="1"/>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Canada</c:v>
                </c:pt>
                <c:pt idx="1">
                  <c:v>U.S.</c:v>
                </c:pt>
              </c:strCache>
            </c:strRef>
          </c:cat>
          <c:val>
            <c:numRef>
              <c:numCache>
                <c:formatCode>General</c:formatCode>
                <c:ptCount val="2"/>
                <c:pt idx="0">
                  <c:v>42.01114005816044</c:v>
                </c:pt>
                <c:pt idx="1">
                  <c:v>40.98545008542884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tickLblSkip val="1"/>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2.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strCache>
                <c:ptCount val="1"/>
                <c:pt idx="0">
                  <c:v>Direct Sales</c:v>
                </c:pt>
              </c:strCache>
            </c:strRef>
          </c:tx>
          <c:spPr>
            <a:solidFill>
              <a:srgbClr val="3D85C6"/>
            </a:solidFill>
          </c:spPr>
          <c:invertIfNegative val="0"/>
          <c:xVal>
            <c:numRef>
              <c:numCache>
                <c:formatCode>General</c:formatCode>
                <c:ptCount val="1"/>
                <c:pt idx="0">
                  <c:v>86.05556187602019</c:v>
                </c:pt>
              </c:numCache>
            </c:numRef>
          </c:xVal>
          <c:yVal>
            <c:numRef>
              <c:numCache>
                <c:formatCode>General</c:formatCode>
                <c:ptCount val="1"/>
                <c:pt idx="0">
                  <c:v>123.93500139004728</c:v>
                </c:pt>
              </c:numCache>
            </c:numRef>
          </c:yVal>
          <c:bubbleSize>
            <c:numRef>
              <c:numCache>
                <c:formatCode>General</c:formatCode>
                <c:ptCount val="1"/>
                <c:pt idx="0">
                  <c:v>3141.301</c:v>
                </c:pt>
              </c:numCache>
            </c:numRef>
          </c:bubbleSize>
          <c:bubble3D val="0"/>
        </c:ser>
        <c:ser>
          <c:idx val="1"/>
          <c:order val="1"/>
          <c:tx>
            <c:strRef>
              <c:strCache>
                <c:ptCount val="1"/>
                <c:pt idx="0">
                  <c:v>Distributor Sales</c:v>
                </c:pt>
              </c:strCache>
            </c:strRef>
          </c:tx>
          <c:spPr>
            <a:solidFill>
              <a:srgbClr val="9E7E0A"/>
            </a:solidFill>
          </c:spPr>
          <c:invertIfNegative val="0"/>
          <c:xVal>
            <c:numRef>
              <c:numCache>
                <c:formatCode>General</c:formatCode>
                <c:ptCount val="1"/>
                <c:pt idx="0">
                  <c:v>121.35443411642734</c:v>
                </c:pt>
              </c:numCache>
            </c:numRef>
          </c:xVal>
          <c:yVal>
            <c:numRef>
              <c:numCache>
                <c:formatCode>General</c:formatCode>
                <c:ptCount val="1"/>
                <c:pt idx="0">
                  <c:v>76.06499860995274</c:v>
                </c:pt>
              </c:numCache>
            </c:numRef>
          </c:yVal>
          <c:bubbleSize>
            <c:numRef>
              <c:numCache>
                <c:formatCode>General</c:formatCode>
                <c:ptCount val="1"/>
                <c:pt idx="0">
                  <c:v>2211.933</c:v>
                </c:pt>
              </c:numCache>
            </c:numRef>
          </c:bubbleSize>
          <c:bubble3D val="0"/>
        </c:ser>
        <c:dLbls>
          <c:showLegendKey val="0"/>
          <c:showVal val="0"/>
          <c:showCatName val="0"/>
          <c:showSerName val="0"/>
          <c:showPercent val="0"/>
          <c:showBubbleSize val="0"/>
        </c:dLbls>
        <c:bubbleScale val="55"/>
        <c:showNegBubbles val="0"/>
        <c:axId val="-2115720072"/>
        <c:axId val="-2115723560"/>
      </c:bubbleChart>
      <c:valAx>
        <c:axId val="-2115720072"/>
        <c:scaling>
          <c:orientation val="minMax"/>
          <c:max val="135.0"/>
          <c:min val="75.0"/>
        </c:scaling>
        <c:delete val="0"/>
        <c:axPos val="b"/>
        <c:title>
          <c:tx>
            <c:rich>
              <a:bodyPr/>
              <a:lstStyle/>
              <a:p>
                <a:r>
                  <a:rPr sz="1100" b="0">
                    <a:solidFill>
                      <a:srgbClr val="6C7A89"/>
                    </a:solidFill>
                    <a:latin typeface="Calibri"/>
                  </a:rPr>
                  <a:t>CAGR Index (100 = segment average growth)</a:t>
                </a:r>
              </a:p>
            </c:rich>
          </c:tx>
          <c:layout/>
          <c:overlay val="0"/>
        </c:title>
        <c:numFmt formatCode="General" sourceLinked="1"/>
        <c:majorTickMark val="out"/>
        <c:minorTickMark val="none"/>
        <c:tickLblPos val="nextTo"/>
        <c:spPr>
          <a:ln>
            <a:solidFill>
              <a:srgbClr val="C6D5E1"/>
            </a:solidFill>
          </a:ln>
        </c:spPr>
        <c:txPr>
          <a:bodyPr/>
          <a:lstStyle/>
          <a:p>
            <a:pPr>
              <a:defRPr sz="1100"/>
            </a:pPr>
          </a:p>
        </c:txPr>
        <c:crossAx val="-2115723560"/>
        <c:crosses val="autoZero"/>
        <c:crossBetween val="midCat"/>
      </c:valAx>
      <c:valAx>
        <c:axId val="-2115723560"/>
        <c:scaling>
          <c:orientation val="minMax"/>
          <c:max val="140.0"/>
          <c:min val="60.0"/>
        </c:scaling>
        <c:delete val="0"/>
        <c:axPos val="l"/>
        <c:title>
          <c:tx>
            <c:rich>
              <a:bodyPr/>
              <a:lstStyle/>
              <a:p>
                <a:r>
                  <a:rPr sz="1100" b="0">
                    <a:solidFill>
                      <a:srgbClr val="6C7A89"/>
                    </a:solidFill>
                    <a:latin typeface="Calibri"/>
                  </a:rPr>
                  <a:t>Market Share Index (100 = equal share)</a:t>
                </a:r>
              </a:p>
            </c:rich>
          </c:tx>
          <c:layout/>
          <c:overlay val="0"/>
        </c:title>
        <c:numFmt formatCode="General" sourceLinked="1"/>
        <c:majorTickMark val="out"/>
        <c:minorTickMark val="none"/>
        <c:tickLblPos val="none"/>
        <c:spPr>
          <a:ln>
            <a:solidFill>
              <a:srgbClr val="C6D5E1"/>
            </a:solidFill>
          </a:ln>
        </c:spPr>
        <c:txPr>
          <a:bodyPr/>
          <a:lstStyle/>
          <a:p>
            <a:pPr>
              <a:defRPr sz="1100"/>
            </a:pPr>
          </a:p>
        </c:txPr>
        <c:crossAx val="-2115720072"/>
        <c:crosses val="autoZero"/>
        <c:crossBetween val="midCat"/>
      </c:valAx>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lang="en-US"/>
    </a:p>
  </c:txPr>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2228.971</c:v>
                </c:pt>
                <c:pt idx="2">
                  <c:v>2384.292</c:v>
                </c:pt>
                <c:pt idx="3">
                  <c:v>2552.16</c:v>
                </c:pt>
                <c:pt idx="4">
                  <c:v>2733.558</c:v>
                </c:pt>
                <c:pt idx="5">
                  <c:v>2929.552</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2228.971</c:v>
                </c:pt>
                <c:pt idx="1">
                  <c:v>155.3209999999999</c:v>
                </c:pt>
                <c:pt idx="2">
                  <c:v>167.86799999999994</c:v>
                </c:pt>
                <c:pt idx="3">
                  <c:v>181.39800000000014</c:v>
                </c:pt>
                <c:pt idx="4">
                  <c:v>195.99400000000014</c:v>
                </c:pt>
                <c:pt idx="5">
                  <c:v>211.7489999999998</c:v>
                </c:pt>
                <c:pt idx="6">
                  <c:v>3141.301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0.0</c:v>
                </c:pt>
                <c:pt idx="1">
                  <c:v>1368.029</c:v>
                </c:pt>
                <c:pt idx="2">
                  <c:v>1510.095</c:v>
                </c:pt>
                <c:pt idx="3">
                  <c:v>1664.377</c:v>
                </c:pt>
                <c:pt idx="4">
                  <c:v>1831.971</c:v>
                </c:pt>
                <c:pt idx="5">
                  <c:v>2014.061</c:v>
                </c:pt>
                <c:pt idx="6">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7"/>
                <c:pt idx="0">
                  <c:v>2026</c:v>
                </c:pt>
                <c:pt idx="1">
                  <c:v>2028</c:v>
                </c:pt>
                <c:pt idx="2">
                  <c:v>2030</c:v>
                </c:pt>
                <c:pt idx="3">
                  <c:v>2032</c:v>
                </c:pt>
                <c:pt idx="4">
                  <c:v>2034</c:v>
                </c:pt>
                <c:pt idx="5">
                  <c:v>2036</c:v>
                </c:pt>
                <c:pt idx="6">
                  <c:v>2036 Total</c:v>
                </c:pt>
              </c:strCache>
            </c:strRef>
          </c:cat>
          <c:val>
            <c:numRef>
              <c:numCache>
                <c:formatCode>General</c:formatCode>
                <c:ptCount val="7"/>
                <c:pt idx="0">
                  <c:v>1368.029</c:v>
                </c:pt>
                <c:pt idx="1">
                  <c:v>142.06600000000003</c:v>
                </c:pt>
                <c:pt idx="2">
                  <c:v>154.28199999999993</c:v>
                </c:pt>
                <c:pt idx="3">
                  <c:v>167.59400000000005</c:v>
                </c:pt>
                <c:pt idx="4">
                  <c:v>182.08999999999992</c:v>
                </c:pt>
                <c:pt idx="5">
                  <c:v>197.87200000000007</c:v>
                </c:pt>
                <c:pt idx="6">
                  <c:v>2211.933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Sales</c:v>
                </c:pt>
              </c:strCache>
            </c:strRef>
          </c:tx>
          <c:spPr>
            <a:solidFill>
              <a:srgbClr val="3D85C6"/>
            </a:solidFill>
            <a:ln>
              <a:noFill/>
            </a:ln>
          </c:spPr>
          <c:dLbls>
            <c:dLbl>
              <c:idx val="0"/>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64.06831530280267</c:v>
                </c:pt>
                <c:pt idx="1">
                  <c:v>61.96750069502364</c:v>
                </c:pt>
                <c:pt idx="2">
                  <c:v>58.680435041696285</c:v>
                </c:pt>
              </c:numCache>
            </c:numRef>
          </c:val>
        </c:ser>
        <c:ser>
          <c:idx val="1"/>
          <c:order val="1"/>
          <c:tx>
            <c:strRef>
              <c:strCache>
                <c:ptCount val="1"/>
                <c:pt idx="0">
                  <c:v>Distributor Sales</c:v>
                </c:pt>
              </c:strCache>
            </c:strRef>
          </c:tx>
          <c:spPr>
            <a:solidFill>
              <a:srgbClr val="9E7E0A"/>
            </a:solidFill>
            <a:ln>
              <a:noFill/>
            </a:ln>
          </c:spPr>
          <c:dLbls>
            <c:dLbl>
              <c:idx val="0"/>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quot;;&quot;MMMM&quot;;&quot;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quot;;&quot;MMMM&quot;;&quot;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3"/>
                <c:pt idx="0">
                  <c:v>2021</c:v>
                </c:pt>
                <c:pt idx="1">
                  <c:v>2026</c:v>
                </c:pt>
                <c:pt idx="2">
                  <c:v>2036</c:v>
                </c:pt>
              </c:strCache>
            </c:strRef>
          </c:cat>
          <c:val>
            <c:numRef>
              <c:numCache>
                <c:formatCode>General</c:formatCode>
                <c:ptCount val="3"/>
                <c:pt idx="0">
                  <c:v>35.93168469719733</c:v>
                </c:pt>
                <c:pt idx="1">
                  <c:v>38.03249930497637</c:v>
                </c:pt>
                <c:pt idx="2">
                  <c:v>41.31956495830371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Organ-Specific Devices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80.12034593618395</c:v>
                </c:pt>
                <c:pt idx="1">
                  <c:v>80.12057805852977</c:v>
                </c:pt>
                <c:pt idx="2">
                  <c:v>80.12057805852977</c:v>
                </c:pt>
                <c:pt idx="3">
                  <c:v>80.12057805852977</c:v>
                </c:pt>
                <c:pt idx="4">
                  <c:v>80.12057805852977</c:v>
                </c:pt>
                <c:pt idx="5">
                  <c:v>80.12057805852977</c:v>
                </c:pt>
                <c:pt idx="6">
                  <c:v>80.12057805852977</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19.87965406381604</c:v>
                </c:pt>
                <c:pt idx="1">
                  <c:v>19.87942194147021</c:v>
                </c:pt>
                <c:pt idx="2">
                  <c:v>19.87942194147021</c:v>
                </c:pt>
                <c:pt idx="3">
                  <c:v>19.87942194147021</c:v>
                </c:pt>
                <c:pt idx="4">
                  <c:v>19.87942194147021</c:v>
                </c:pt>
                <c:pt idx="5">
                  <c:v>19.87942194147021</c:v>
                </c:pt>
                <c:pt idx="6">
                  <c:v>19.87942194147021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Hospitals and Transplant Centres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38.744638569825646</c:v>
                </c:pt>
                <c:pt idx="1">
                  <c:v>38.74491104263437</c:v>
                </c:pt>
                <c:pt idx="2">
                  <c:v>38.74491104263437</c:v>
                </c:pt>
                <c:pt idx="3">
                  <c:v>38.74491104263437</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34.481404997736995</c:v>
                </c:pt>
                <c:pt idx="1">
                  <c:v>34.48125161940326</c:v>
                </c:pt>
                <c:pt idx="2">
                  <c:v>34.48125161940326</c:v>
                </c:pt>
                <c:pt idx="3">
                  <c:v>34.48125161940326</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18.301645710244237</c:v>
                </c:pt>
                <c:pt idx="1">
                  <c:v>18.30156430184676</c:v>
                </c:pt>
                <c:pt idx="2">
                  <c:v>18.30156430184676</c:v>
                </c:pt>
                <c:pt idx="3">
                  <c:v>18.30156430184676</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8.472310722193125</c:v>
                </c:pt>
                <c:pt idx="1">
                  <c:v>8.472273036115611</c:v>
                </c:pt>
                <c:pt idx="2">
                  <c:v>8.472273036115611</c:v>
                </c:pt>
                <c:pt idx="3">
                  <c:v>8.472273036115611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Sales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79.379760911871</c:v>
                </c:pt>
                <c:pt idx="1">
                  <c:v>79.379760911871</c:v>
                </c:pt>
              </c:numCache>
            </c:numRef>
          </c:val>
        </c:ser>
        <c:ser>
          <c:idx val="1"/>
          <c:order val="1"/>
          <c:tx>
            <c:strRef>
              <c:strCache>
                <c:ptCount val="1"/>
                <c:pt idx="0">
                  <c:v>Distributor Sales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20.620239088128997</c:v>
                </c:pt>
                <c:pt idx="1">
                  <c:v>20.620239088128997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9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Volume (Units)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414211.34500000003</c:v>
                </c:pt>
                <c:pt idx="1">
                  <c:v>420958.178</c:v>
                </c:pt>
                <c:pt idx="2">
                  <c:v>427814.906</c:v>
                </c:pt>
                <c:pt idx="3">
                  <c:v>434783.31799999997</c:v>
                </c:pt>
                <c:pt idx="4">
                  <c:v>441865.235</c:v>
                </c:pt>
                <c:pt idx="5">
                  <c:v>449062.50500000006</c:v>
                </c:pt>
                <c:pt idx="6">
                  <c:v>459920.794</c:v>
                </c:pt>
                <c:pt idx="7">
                  <c:v>471041.635</c:v>
                </c:pt>
                <c:pt idx="8">
                  <c:v>482431.377</c:v>
                </c:pt>
                <c:pt idx="9">
                  <c:v>494096.521</c:v>
                </c:pt>
                <c:pt idx="10">
                  <c:v>506043.728</c:v>
                </c:pt>
                <c:pt idx="11">
                  <c:v>518279.818</c:v>
                </c:pt>
                <c:pt idx="12">
                  <c:v>530811.774</c:v>
                </c:pt>
                <c:pt idx="13">
                  <c:v>543646.753</c:v>
                </c:pt>
                <c:pt idx="14">
                  <c:v>556792.0789999999</c:v>
                </c:pt>
                <c:pt idx="15">
                  <c:v>570255.2590000001</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0.043686428103570485</c:v>
                </c:pt>
                <c:pt idx="1">
                  <c:v>0.02585827137017893</c:v>
                </c:pt>
                <c:pt idx="2">
                  <c:v>0.02417990493451394</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5897667793982016"/>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449062.50500000006</c:v>
                </c:pt>
                <c:pt idx="2">
                  <c:v>459920.794</c:v>
                </c:pt>
                <c:pt idx="3">
                  <c:v>471041.635</c:v>
                </c:pt>
                <c:pt idx="4">
                  <c:v>482431.377</c:v>
                </c:pt>
                <c:pt idx="5">
                  <c:v>494096.521</c:v>
                </c:pt>
                <c:pt idx="6">
                  <c:v>506043.728</c:v>
                </c:pt>
                <c:pt idx="7">
                  <c:v>518279.818</c:v>
                </c:pt>
                <c:pt idx="8">
                  <c:v>530811.774</c:v>
                </c:pt>
                <c:pt idx="9">
                  <c:v>543646.753</c:v>
                </c:pt>
                <c:pt idx="10">
                  <c:v>556792.0789999999</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449062.50500000006</c:v>
                </c:pt>
                <c:pt idx="1">
                  <c:v>10858.288999999932</c:v>
                </c:pt>
                <c:pt idx="2">
                  <c:v>11120.841000000015</c:v>
                </c:pt>
                <c:pt idx="3">
                  <c:v>11389.74199999997</c:v>
                </c:pt>
                <c:pt idx="4">
                  <c:v>11665.14400000003</c:v>
                </c:pt>
                <c:pt idx="5">
                  <c:v>11947.206999999995</c:v>
                </c:pt>
                <c:pt idx="6">
                  <c:v>12236.090000000026</c:v>
                </c:pt>
                <c:pt idx="7">
                  <c:v>12531.955999999947</c:v>
                </c:pt>
                <c:pt idx="8">
                  <c:v>12834.97900000005</c:v>
                </c:pt>
                <c:pt idx="9">
                  <c:v>13145.325999999885</c:v>
                </c:pt>
                <c:pt idx="10">
                  <c:v>13463.180000000168</c:v>
                </c:pt>
                <c:pt idx="11">
                  <c:v>570255.2590000001</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70.02305547620237</c:v>
                </c:pt>
                <c:pt idx="1">
                  <c:v>16.891341958931655</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29.976944523797627</c:v>
                </c:pt>
                <c:pt idx="1">
                  <c:v>83.10865804106834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Value (US$ Mn)</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delete val="1"/>
              <c:numFmt formatCode="&quot;&quot;" sourceLinked="0"/>
            </c:dLbl>
            <c:dLbl>
              <c:idx val="2"/>
              <c:delete val="1"/>
              <c:numFmt formatCode="&quot;&quot;" sourceLinked="0"/>
            </c:dLbl>
            <c:dLbl>
              <c:idx val="3"/>
              <c:delete val="1"/>
              <c:numFmt formatCode="&quot;&quot;" sourceLinked="0"/>
            </c:dLbl>
            <c:dLbl>
              <c:idx val="4"/>
              <c:delete val="1"/>
              <c:numFmt formatCode="&quot;&quot;" sourceLinked="0"/>
            </c:dLbl>
            <c:dLbl>
              <c:idx val="5"/>
              <c:delete val="1"/>
              <c:numFmt formatCode="&quot;&quot;" sourceLinked="0"/>
            </c:dLbl>
            <c:dLbl>
              <c:idx val="6"/>
              <c:delete val="1"/>
              <c:numFmt formatCode="&quot;&quot;" sourceLinked="0"/>
            </c:dLbl>
            <c:dLbl>
              <c:idx val="7"/>
              <c:delete val="1"/>
              <c:numFmt formatCode="&quot;&quot;" sourceLinked="0"/>
            </c:dLbl>
            <c:dLbl>
              <c:idx val="8"/>
              <c:delete val="1"/>
              <c:numFmt formatCode="&quot;&quot;" sourceLinked="0"/>
            </c:dLbl>
            <c:dLbl>
              <c:idx val="9"/>
              <c:delete val="1"/>
              <c:numFmt formatCode="&quot;&quot;" sourceLinked="0"/>
            </c:dLbl>
            <c:dLbl>
              <c:idx val="10"/>
              <c:delete val="1"/>
              <c:numFmt formatCode="&quot;&quot;" sourceLinked="0"/>
            </c:dLbl>
            <c:dLbl>
              <c:idx val="11"/>
              <c:delete val="1"/>
              <c:numFmt formatCode="&quot;&quot;" sourceLinked="0"/>
            </c:dLbl>
            <c:dLbl>
              <c:idx val="12"/>
              <c:delete val="1"/>
              <c:numFmt formatCode="&quot;&quot;" sourceLinked="0"/>
            </c:dLbl>
            <c:dLbl>
              <c:idx val="13"/>
              <c:delete val="1"/>
              <c:numFmt formatCode="&quot;&quot;" sourceLinked="0"/>
            </c:dLbl>
            <c:dLbl>
              <c:idx val="14"/>
              <c:delete val="1"/>
              <c:numFmt formatCode="&quot;&quot;" sourceLinked="0"/>
            </c:dLbl>
            <c:dLbl>
              <c:idx val="15"/>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solidFill>
                      <a:srgbClr val="6C7A89"/>
                    </a:solidFill>
                    <a:latin typeface="Calibri"/>
                  </a:defRPr>
                </a:pPr>
              </a:p>
            </c:txPr>
            <c:dLblPos val="outEnd"/>
            <c:showLegendKey val="0"/>
            <c:showVal val="1"/>
            <c:showCatName val="0"/>
            <c:showSerName val="0"/>
            <c:showPercent val="0"/>
            <c:showBubbleSize val="0"/>
            <c:showLeaderLines val="1"/>
          </c:dLbls>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2136.2619999999997</c:v>
                </c:pt>
                <c:pt idx="1">
                  <c:v>2200.902</c:v>
                </c:pt>
                <c:pt idx="2">
                  <c:v>2267.497</c:v>
                </c:pt>
                <c:pt idx="3">
                  <c:v>2336.1079999999997</c:v>
                </c:pt>
                <c:pt idx="4">
                  <c:v>2406.795</c:v>
                </c:pt>
                <c:pt idx="5">
                  <c:v>2479.62</c:v>
                </c:pt>
                <c:pt idx="6">
                  <c:v>2574.487</c:v>
                </c:pt>
                <c:pt idx="7">
                  <c:v>2672.982</c:v>
                </c:pt>
                <c:pt idx="8">
                  <c:v>2775.2459999999996</c:v>
                </c:pt>
                <c:pt idx="9">
                  <c:v>2881.4219999999996</c:v>
                </c:pt>
                <c:pt idx="10">
                  <c:v>2991.661</c:v>
                </c:pt>
                <c:pt idx="11">
                  <c:v>3106.117</c:v>
                </c:pt>
                <c:pt idx="12">
                  <c:v>3224.952</c:v>
                </c:pt>
                <c:pt idx="13">
                  <c:v>3348.333</c:v>
                </c:pt>
                <c:pt idx="14">
                  <c:v>3476.435</c:v>
                </c:pt>
                <c:pt idx="15">
                  <c:v>3609.4370000000004</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CAGR</c:v>
                </c:pt>
              </c:strCache>
            </c:strRef>
          </c:tx>
          <c:spPr>
            <a:solidFill>
              <a:srgbClr val="3D85C6"/>
            </a:solidFill>
            <a:ln>
              <a:noFill/>
            </a:ln>
          </c:spPr>
          <c:dPt>
            <c:idx val="0"/>
            <c:spPr>
              <a:solidFill>
                <a:srgbClr val="008189"/>
              </a:solidFill>
            </c:spPr>
          </c:dPt>
          <c:dPt>
            <c:idx val="1"/>
            <c:spPr>
              <a:solidFill>
                <a:srgbClr val="9E7E0A"/>
              </a:solidFill>
            </c:spPr>
          </c:dPt>
          <c:dPt>
            <c:idx val="2"/>
            <c:spPr>
              <a:solidFill>
                <a:srgbClr val="3D85C6"/>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0%" sourceLinked="0"/>
            <c:txPr>
              <a:bodyPr rot="0" vert="horz"/>
              <a:lstStyle/>
              <a:p>
                <a:pPr>
                  <a:defRPr sz="1100">
                    <a:solidFill>
                      <a:srgbClr val="2E2E2E"/>
                    </a:solidFill>
                    <a:latin typeface="Calibri"/>
                  </a:defRPr>
                </a:pPr>
              </a:p>
            </c:txPr>
            <c:dLblPos val="outEnd"/>
            <c:showLegendKey val="0"/>
            <c:showVal val="1"/>
            <c:showCatName val="0"/>
            <c:showSerName val="0"/>
            <c:showPercent val="0"/>
            <c:showBubbleSize val="0"/>
            <c:showLeaderLines val="1"/>
          </c:dLbls>
          <c:cat>
            <c:strRef>
              <c:strCache>
                <c:ptCount val="3"/>
                <c:pt idx="0">
                  <c:v>Global</c:v>
                </c:pt>
                <c:pt idx="1">
                  <c:v>North America</c:v>
                </c:pt>
                <c:pt idx="2">
                  <c:v>U.S.</c:v>
                </c:pt>
              </c:strCache>
            </c:strRef>
          </c:cat>
          <c:val>
            <c:numRef>
              <c:numCache>
                <c:formatCode>General</c:formatCode>
                <c:ptCount val="3"/>
                <c:pt idx="0">
                  <c:v>0.04958675434285231</c:v>
                </c:pt>
                <c:pt idx="1">
                  <c:v>0.04056108237174105</c:v>
                </c:pt>
                <c:pt idx="2">
                  <c:v>0.03825835240042319</c:v>
                </c:pt>
              </c:numCache>
            </c:numRef>
          </c:val>
        </c:ser>
        <c:gapWidth val="6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0.06694211836285063"/>
          <c:min val="0.0"/>
        </c:scaling>
        <c:delete/>
        <c:axPos val="b"/>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0.0</c:v>
                </c:pt>
                <c:pt idx="1">
                  <c:v>2479.62</c:v>
                </c:pt>
                <c:pt idx="2">
                  <c:v>2574.487</c:v>
                </c:pt>
                <c:pt idx="3">
                  <c:v>2672.982</c:v>
                </c:pt>
                <c:pt idx="4">
                  <c:v>2775.2459999999996</c:v>
                </c:pt>
                <c:pt idx="5">
                  <c:v>2881.4219999999996</c:v>
                </c:pt>
                <c:pt idx="6">
                  <c:v>2991.661</c:v>
                </c:pt>
                <c:pt idx="7">
                  <c:v>3106.117</c:v>
                </c:pt>
                <c:pt idx="8">
                  <c:v>3224.952</c:v>
                </c:pt>
                <c:pt idx="9">
                  <c:v>3348.333</c:v>
                </c:pt>
                <c:pt idx="10">
                  <c:v>3476.435</c:v>
                </c:pt>
                <c:pt idx="11">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dLbl>
              <c:idx val="7"/>
              <c:numFmt formatCode="&quot;&quot;" sourceLinked="0"/>
              <c:txPr>
                <a:bodyPr/>
                <a:lstStyle/>
                <a:p>
                  <a:pPr>
                    <a:defRPr/>
                  </a:pPr>
                </a:p>
              </c:txPr>
              <c:showLegendKey val="0"/>
              <c:showVal val="1"/>
              <c:showCatName val="0"/>
              <c:showSerName val="0"/>
              <c:showPercent val="0"/>
              <c:showBubbleSize val="0"/>
            </c:dLbl>
            <c:dLbl>
              <c:idx val="8"/>
              <c:numFmt formatCode="&quot;&quot;" sourceLinked="0"/>
              <c:txPr>
                <a:bodyPr/>
                <a:lstStyle/>
                <a:p>
                  <a:pPr>
                    <a:defRPr/>
                  </a:pPr>
                </a:p>
              </c:txPr>
              <c:showLegendKey val="0"/>
              <c:showVal val="1"/>
              <c:showCatName val="0"/>
              <c:showSerName val="0"/>
              <c:showPercent val="0"/>
              <c:showBubbleSize val="0"/>
            </c:dLbl>
            <c:dLbl>
              <c:idx val="9"/>
              <c:numFmt formatCode="&quot;&quot;" sourceLinked="0"/>
              <c:txPr>
                <a:bodyPr/>
                <a:lstStyle/>
                <a:p>
                  <a:pPr>
                    <a:defRPr/>
                  </a:pPr>
                </a:p>
              </c:txPr>
              <c:showLegendKey val="0"/>
              <c:showVal val="1"/>
              <c:showCatName val="0"/>
              <c:showSerName val="0"/>
              <c:showPercent val="0"/>
              <c:showBubbleSize val="0"/>
            </c:dLbl>
            <c:dLbl>
              <c:idx val="10"/>
              <c:numFmt formatCode="&quot;&quot;" sourceLinked="0"/>
              <c:txPr>
                <a:bodyPr/>
                <a:lstStyle/>
                <a:p>
                  <a:pPr>
                    <a:defRPr/>
                  </a:pPr>
                </a:p>
              </c:txPr>
              <c:showLegendKey val="0"/>
              <c:showVal val="1"/>
              <c:showCatName val="0"/>
              <c:showSerName val="0"/>
              <c:showPercent val="0"/>
              <c:showBubbleSize val="0"/>
            </c:dLbl>
            <c:dLbl>
              <c:idx val="11"/>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numCache>
                <c:formatCode>General</c:formatCode>
                <c:ptCount val="12"/>
                <c:pt idx="0">
                  <c:v>2479.62</c:v>
                </c:pt>
                <c:pt idx="1">
                  <c:v>94.86700000000019</c:v>
                </c:pt>
                <c:pt idx="2">
                  <c:v>98.49499999999989</c:v>
                </c:pt>
                <c:pt idx="3">
                  <c:v>102.26399999999967</c:v>
                </c:pt>
                <c:pt idx="4">
                  <c:v>106.17599999999993</c:v>
                </c:pt>
                <c:pt idx="5">
                  <c:v>110.23900000000049</c:v>
                </c:pt>
                <c:pt idx="6">
                  <c:v>114.45600000000013</c:v>
                </c:pt>
                <c:pt idx="7">
                  <c:v>118.83500000000004</c:v>
                </c:pt>
                <c:pt idx="8">
                  <c:v>123.38099999999986</c:v>
                </c:pt>
                <c:pt idx="9">
                  <c:v>128.10199999999986</c:v>
                </c:pt>
                <c:pt idx="10">
                  <c:v>133.0020000000004</c:v>
                </c:pt>
                <c:pt idx="11">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strCache>
                <c:ptCount val="1"/>
                <c:pt idx="0">
                  <c:v>U.S.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68.93577981651376</c:v>
                </c:pt>
                <c:pt idx="1">
                  <c:v>22.748805252403187</c:v>
                </c:pt>
              </c:numCache>
            </c:numRef>
          </c:val>
        </c:ser>
        <c:ser>
          <c:idx val="1"/>
          <c:order val="1"/>
          <c:tx>
            <c:strRef>
              <c:strCache>
                <c:ptCount val="1"/>
                <c:pt idx="0">
                  <c:v>Rest of the market</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Share of North America</c:v>
                </c:pt>
                <c:pt idx="1">
                  <c:v>Share of Global</c:v>
                </c:pt>
              </c:strCache>
            </c:strRef>
          </c:cat>
          <c:val>
            <c:numRef>
              <c:numCache>
                <c:formatCode>General</c:formatCode>
                <c:ptCount val="2"/>
                <c:pt idx="0">
                  <c:v>31.064220183486242</c:v>
                </c:pt>
                <c:pt idx="1">
                  <c:v>77.25119474759681</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0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EC6DE"/>
              </a:solidFill>
            </c:spPr>
          </c:dPt>
          <c:dPt>
            <c:idx val="3"/>
            <c:spPr>
              <a:solidFill>
                <a:srgbClr val="0E72AE"/>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Static Cold Storage D…</c:v>
                </c:pt>
                <c:pt idx="3">
                  <c:v>Portable Machine Perf…</c:v>
                </c:pt>
              </c:strCache>
            </c:strRef>
          </c:cat>
          <c:val>
            <c:numRef>
              <c:numCache>
                <c:formatCode>General</c:formatCode>
                <c:ptCount val="4"/>
                <c:pt idx="2">
                  <c:v>498.67400000000004</c:v>
                </c:pt>
                <c:pt idx="3">
                  <c:v>1980.946</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654.46764"/>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9DABB6"/>
              </a:solidFill>
            </c:spPr>
          </c:dPt>
          <c:dPt>
            <c:idx val="3"/>
            <c:spPr>
              <a:solidFill>
                <a:srgbClr val="0B2E4A"/>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Multi-Organ Compatibl…</c:v>
                </c:pt>
                <c:pt idx="3">
                  <c:v>Organ-Specific Devices</c:v>
                </c:pt>
              </c:strCache>
            </c:strRef>
          </c:cat>
          <c:val>
            <c:numRef>
              <c:numCache>
                <c:formatCode>General</c:formatCode>
                <c:ptCount val="4"/>
                <c:pt idx="2">
                  <c:v>135.895</c:v>
                </c:pt>
                <c:pt idx="3">
                  <c:v>2343.725</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3140.5915"/>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0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C5B1E6"/>
              </a:solidFill>
            </c:spPr>
          </c:dPt>
          <c:dPt>
            <c:idx val="3"/>
            <c:spPr>
              <a:solidFill>
                <a:srgbClr val="6F3CC2"/>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Reusable Transport De…</c:v>
                </c:pt>
                <c:pt idx="3">
                  <c:v>Single-Use Transport…</c:v>
                </c:pt>
              </c:strCache>
            </c:strRef>
          </c:cat>
          <c:val>
            <c:numRef>
              <c:numCache>
                <c:formatCode>General</c:formatCode>
                <c:ptCount val="4"/>
                <c:pt idx="2">
                  <c:v>845.533</c:v>
                </c:pt>
                <c:pt idx="3">
                  <c:v>1634.087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189.6765800000003"/>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DABAA0"/>
              </a:solidFill>
            </c:spPr>
          </c:dPt>
          <c:dPt>
            <c:idx val="3"/>
            <c:spPr>
              <a:solidFill>
                <a:srgbClr val="A35313"/>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without Integrated Mo…</c:v>
                </c:pt>
                <c:pt idx="3">
                  <c:v>with Integrated Monit…</c:v>
                </c:pt>
              </c:strCache>
            </c:strRef>
          </c:cat>
          <c:val>
            <c:numRef>
              <c:numCache>
                <c:formatCode>General</c:formatCode>
                <c:ptCount val="4"/>
                <c:pt idx="2">
                  <c:v>339.925</c:v>
                </c:pt>
                <c:pt idx="3">
                  <c:v>2139.6949999999997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867.1913"/>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DCC599"/>
              </a:solidFill>
            </c:spPr>
          </c:dPt>
          <c:dPt>
            <c:idx val="1"/>
            <c:spPr>
              <a:solidFill>
                <a:srgbClr val="CAA865"/>
              </a:solidFill>
            </c:spPr>
          </c:dPt>
          <c:dPt>
            <c:idx val="2"/>
            <c:spPr>
              <a:solidFill>
                <a:srgbClr val="B98B32"/>
              </a:solidFill>
            </c:spPr>
          </c:dPt>
          <c:dPt>
            <c:idx val="3"/>
            <c:spPr>
              <a:solidFill>
                <a:srgbClr val="A86F00"/>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Other Purchasing Orga…</c:v>
                </c:pt>
                <c:pt idx="1">
                  <c:v>Specialised Medical L…</c:v>
                </c:pt>
                <c:pt idx="2">
                  <c:v>Organ Procurement Org…</c:v>
                </c:pt>
                <c:pt idx="3">
                  <c:v>Hospitals and Transpl…</c:v>
                </c:pt>
              </c:strCache>
            </c:strRef>
          </c:cat>
          <c:val>
            <c:numRef>
              <c:numCache>
                <c:formatCode>General</c:formatCode>
                <c:ptCount val="4"/>
                <c:pt idx="0">
                  <c:v>310.321</c:v>
                </c:pt>
                <c:pt idx="1">
                  <c:v>443.11</c:v>
                </c:pt>
                <c:pt idx="2">
                  <c:v>794.182</c:v>
                </c:pt>
                <c:pt idx="3">
                  <c:v>932.007</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1248.88938"/>
          <c:min val="0.0"/>
        </c:scaling>
        <c:delete val="0"/>
        <c:axPos val="b"/>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E59999"/>
              </a:solidFill>
            </c:spPr>
          </c:dPt>
          <c:dPt>
            <c:idx val="3"/>
            <c:spPr>
              <a:solidFill>
                <a:srgbClr val="C00000"/>
              </a:solidFill>
            </c:spPr>
          </c:dPt>
          <c:dLbls>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4"/>
                <c:pt idx="0">
                  <c:v> </c:v>
                </c:pt>
                <c:pt idx="1">
                  <c:v>  </c:v>
                </c:pt>
                <c:pt idx="2">
                  <c:v>Distributor Sales</c:v>
                </c:pt>
                <c:pt idx="3">
                  <c:v>Direct Sales</c:v>
                </c:pt>
              </c:strCache>
            </c:strRef>
          </c:cat>
          <c:val>
            <c:numRef>
              <c:numCache>
                <c:formatCode>General</c:formatCode>
                <c:ptCount val="4"/>
                <c:pt idx="2">
                  <c:v>935.377</c:v>
                </c:pt>
                <c:pt idx="3">
                  <c:v>1544.243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pPr>
          </a:p>
        </c:txPr>
        <c:crossAx val="-2113994440"/>
        <c:crosses val="autoZero"/>
        <c:auto val="1"/>
        <c:lblAlgn val="ctr"/>
        <c:lblOffset val="100"/>
        <c:noMultiLvlLbl val="0"/>
        <c:tickLblSkip val="1"/>
        <c:tickMarkSkip val="1"/>
      </c:catAx>
      <c:valAx>
        <c:axId val="-2113994440"/>
        <c:scaling>
          <c:max val="2069.28562"/>
          <c:min val="0.0"/>
        </c:scaling>
        <c:delete val="0"/>
        <c:axPos val="b"/>
        <c:numFmt formatCode="#,##0" sourceLinked="0"/>
        <c:majorTickMark val="none"/>
        <c:minorTickMark val="none"/>
        <c:tickLblPos val="none"/>
        <c:spPr>
          <a:ln>
            <a:no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Static Cold Storage Devices</c:v>
                </c:pt>
                <c:pt idx="2">
                  <c:v>Portable Machine Perfusion Devices</c:v>
                </c:pt>
                <c:pt idx="3">
                  <c:v>2036 Total</c:v>
                </c:pt>
              </c:strCache>
            </c:strRef>
          </c:cat>
          <c:val>
            <c:numRef>
              <c:numCache>
                <c:formatCode>General</c:formatCode>
                <c:ptCount val="4"/>
                <c:pt idx="0">
                  <c:v>0.0</c:v>
                </c:pt>
                <c:pt idx="1">
                  <c:v>2479.62</c:v>
                </c:pt>
                <c:pt idx="2">
                  <c:v>2724.694</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Static Cold Storage Devices</c:v>
                </c:pt>
                <c:pt idx="2">
                  <c:v>Portable Machine Perfusion Devices</c:v>
                </c:pt>
                <c:pt idx="3">
                  <c:v>2036 Total</c:v>
                </c:pt>
              </c:strCache>
            </c:strRef>
          </c:cat>
          <c:val>
            <c:numRef>
              <c:numCache>
                <c:formatCode>General</c:formatCode>
                <c:ptCount val="4"/>
                <c:pt idx="0">
                  <c:v>2479.62</c:v>
                </c:pt>
                <c:pt idx="1">
                  <c:v>245.074</c:v>
                </c:pt>
                <c:pt idx="2">
                  <c:v>884.7430000000004</c:v>
                </c:pt>
                <c:pt idx="3">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Static Cold Storage Devices</c:v>
                </c:pt>
                <c:pt idx="1">
                  <c:v>Portable Machine Perfusion Devices</c:v>
                </c:pt>
                <c:pt idx="2">
                  <c:v>Total Absolute $ Opportunity</c:v>
                </c:pt>
              </c:strCache>
            </c:strRef>
          </c:cat>
          <c:val>
            <c:numRef>
              <c:numCache>
                <c:formatCode>General</c:formatCode>
                <c:ptCount val="3"/>
                <c:pt idx="0">
                  <c:v>0.0</c:v>
                </c:pt>
                <c:pt idx="1">
                  <c:v>245.074</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Static Cold Storage Devices</c:v>
                </c:pt>
                <c:pt idx="1">
                  <c:v>Portable Machine Perfusion Devices</c:v>
                </c:pt>
                <c:pt idx="2">
                  <c:v>Total Absolute $ Opportunity</c:v>
                </c:pt>
              </c:strCache>
            </c:strRef>
          </c:cat>
          <c:val>
            <c:numRef>
              <c:numCache>
                <c:formatCode>General</c:formatCode>
                <c:ptCount val="3"/>
                <c:pt idx="0">
                  <c:v>245.074</c:v>
                </c:pt>
                <c:pt idx="1">
                  <c:v>884.7430000000004</c:v>
                </c:pt>
                <c:pt idx="2">
                  <c:v>1129.8170000000005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Organ-Specific Devices</c:v>
                </c:pt>
                <c:pt idx="2">
                  <c:v>Multi-Organ Compatible Devices</c:v>
                </c:pt>
                <c:pt idx="3">
                  <c:v>2036 Total</c:v>
                </c:pt>
              </c:strCache>
            </c:strRef>
          </c:cat>
          <c:val>
            <c:numRef>
              <c:numCache>
                <c:formatCode>General</c:formatCode>
                <c:ptCount val="4"/>
                <c:pt idx="0">
                  <c:v>0.0</c:v>
                </c:pt>
                <c:pt idx="1">
                  <c:v>2479.62</c:v>
                </c:pt>
                <c:pt idx="2">
                  <c:v>3548.32</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Organ-Specific Devices</c:v>
                </c:pt>
                <c:pt idx="2">
                  <c:v>Multi-Organ Compatible Devices</c:v>
                </c:pt>
                <c:pt idx="3">
                  <c:v>2036 Total</c:v>
                </c:pt>
              </c:strCache>
            </c:strRef>
          </c:cat>
          <c:val>
            <c:numRef>
              <c:numCache>
                <c:formatCode>General</c:formatCode>
                <c:ptCount val="4"/>
                <c:pt idx="0">
                  <c:v>2479.62</c:v>
                </c:pt>
                <c:pt idx="1">
                  <c:v>1068.7000000000003</c:v>
                </c:pt>
                <c:pt idx="2">
                  <c:v>61.11699999999999</c:v>
                </c:pt>
                <c:pt idx="3">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Organ-Specific Devices</c:v>
                </c:pt>
                <c:pt idx="1">
                  <c:v>Multi-Organ Compatible Devices</c:v>
                </c:pt>
                <c:pt idx="2">
                  <c:v>Total Absolute $ Opportunity</c:v>
                </c:pt>
              </c:strCache>
            </c:strRef>
          </c:cat>
          <c:val>
            <c:numRef>
              <c:numCache>
                <c:formatCode>General</c:formatCode>
                <c:ptCount val="3"/>
                <c:pt idx="0">
                  <c:v>0.0</c:v>
                </c:pt>
                <c:pt idx="1">
                  <c:v>1068.7000000000003</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Organ-Specific Devices</c:v>
                </c:pt>
                <c:pt idx="1">
                  <c:v>Multi-Organ Compatible Devices</c:v>
                </c:pt>
                <c:pt idx="2">
                  <c:v>Total Absolute $ Opportunity</c:v>
                </c:pt>
              </c:strCache>
            </c:strRef>
          </c:cat>
          <c:val>
            <c:numRef>
              <c:numCache>
                <c:formatCode>General</c:formatCode>
                <c:ptCount val="3"/>
                <c:pt idx="0">
                  <c:v>1068.7000000000003</c:v>
                </c:pt>
                <c:pt idx="1">
                  <c:v>61.11699999999999</c:v>
                </c:pt>
                <c:pt idx="2">
                  <c:v>1129.8170000000002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Single-Use Transport Devices</c:v>
                </c:pt>
                <c:pt idx="2">
                  <c:v>Reusable Transport Devices</c:v>
                </c:pt>
                <c:pt idx="3">
                  <c:v>2036 Total</c:v>
                </c:pt>
              </c:strCache>
            </c:strRef>
          </c:cat>
          <c:val>
            <c:numRef>
              <c:numCache>
                <c:formatCode>General</c:formatCode>
                <c:ptCount val="4"/>
                <c:pt idx="0">
                  <c:v>0.0</c:v>
                </c:pt>
                <c:pt idx="1">
                  <c:v>2479.62</c:v>
                </c:pt>
                <c:pt idx="2">
                  <c:v>3086.44</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Single-Use Transport Devices</c:v>
                </c:pt>
                <c:pt idx="2">
                  <c:v>Reusable Transport Devices</c:v>
                </c:pt>
                <c:pt idx="3">
                  <c:v>2036 Total</c:v>
                </c:pt>
              </c:strCache>
            </c:strRef>
          </c:cat>
          <c:val>
            <c:numRef>
              <c:numCache>
                <c:formatCode>General</c:formatCode>
                <c:ptCount val="4"/>
                <c:pt idx="0">
                  <c:v>2479.62</c:v>
                </c:pt>
                <c:pt idx="1">
                  <c:v>606.8200000000002</c:v>
                </c:pt>
                <c:pt idx="2">
                  <c:v>522.997</c:v>
                </c:pt>
                <c:pt idx="3">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Single-Use Transport Devices</c:v>
                </c:pt>
                <c:pt idx="1">
                  <c:v>Reusable Transport Devices</c:v>
                </c:pt>
                <c:pt idx="2">
                  <c:v>Total Absolute $ Opportunity</c:v>
                </c:pt>
              </c:strCache>
            </c:strRef>
          </c:cat>
          <c:val>
            <c:numRef>
              <c:numCache>
                <c:formatCode>General</c:formatCode>
                <c:ptCount val="3"/>
                <c:pt idx="0">
                  <c:v>0.0</c:v>
                </c:pt>
                <c:pt idx="1">
                  <c:v>606.8200000000002</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Single-Use Transport Devices</c:v>
                </c:pt>
                <c:pt idx="1">
                  <c:v>Reusable Transport Devices</c:v>
                </c:pt>
                <c:pt idx="2">
                  <c:v>Total Absolute $ Opportunity</c:v>
                </c:pt>
              </c:strCache>
            </c:strRef>
          </c:cat>
          <c:val>
            <c:numRef>
              <c:numCache>
                <c:formatCode>General</c:formatCode>
                <c:ptCount val="3"/>
                <c:pt idx="0">
                  <c:v>606.8200000000002</c:v>
                </c:pt>
                <c:pt idx="1">
                  <c:v>522.997</c:v>
                </c:pt>
                <c:pt idx="2">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Devices without Integrated Monitoring</c:v>
                </c:pt>
                <c:pt idx="2">
                  <c:v>Devices with Integrated Monitoring</c:v>
                </c:pt>
                <c:pt idx="3">
                  <c:v>2036 Total</c:v>
                </c:pt>
              </c:strCache>
            </c:strRef>
          </c:cat>
          <c:val>
            <c:numRef>
              <c:numCache>
                <c:formatCode>General</c:formatCode>
                <c:ptCount val="4"/>
                <c:pt idx="0">
                  <c:v>0.0</c:v>
                </c:pt>
                <c:pt idx="1">
                  <c:v>2479.62</c:v>
                </c:pt>
                <c:pt idx="2">
                  <c:v>2595.996</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Devices without Integrated Monitoring</c:v>
                </c:pt>
                <c:pt idx="2">
                  <c:v>Devices with Integrated Monitoring</c:v>
                </c:pt>
                <c:pt idx="3">
                  <c:v>2036 Total</c:v>
                </c:pt>
              </c:strCache>
            </c:strRef>
          </c:cat>
          <c:val>
            <c:numRef>
              <c:numCache>
                <c:formatCode>General</c:formatCode>
                <c:ptCount val="4"/>
                <c:pt idx="0">
                  <c:v>2479.62</c:v>
                </c:pt>
                <c:pt idx="1">
                  <c:v>116.37599999999998</c:v>
                </c:pt>
                <c:pt idx="2">
                  <c:v>1013.4410000000003</c:v>
                </c:pt>
                <c:pt idx="3">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Devices without Integrated Monitoring</c:v>
                </c:pt>
                <c:pt idx="1">
                  <c:v>Devices with Integrated Monitoring</c:v>
                </c:pt>
                <c:pt idx="2">
                  <c:v>Total Absolute $ Opportunity</c:v>
                </c:pt>
              </c:strCache>
            </c:strRef>
          </c:cat>
          <c:val>
            <c:numRef>
              <c:numCache>
                <c:formatCode>General</c:formatCode>
                <c:ptCount val="3"/>
                <c:pt idx="0">
                  <c:v>0.0</c:v>
                </c:pt>
                <c:pt idx="1">
                  <c:v>116.37599999999998</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Devices without Integrated Monitoring</c:v>
                </c:pt>
                <c:pt idx="1">
                  <c:v>Devices with Integrated Monitoring</c:v>
                </c:pt>
                <c:pt idx="2">
                  <c:v>Total Absolute $ Opportunity</c:v>
                </c:pt>
              </c:strCache>
            </c:strRef>
          </c:cat>
          <c:val>
            <c:numRef>
              <c:numCache>
                <c:formatCode>General</c:formatCode>
                <c:ptCount val="3"/>
                <c:pt idx="0">
                  <c:v>116.37599999999998</c:v>
                </c:pt>
                <c:pt idx="1">
                  <c:v>1013.4410000000003</c:v>
                </c:pt>
                <c:pt idx="2">
                  <c:v>1129.8170000000002</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6"/>
                <c:pt idx="0">
                  <c:v>2026</c:v>
                </c:pt>
                <c:pt idx="1">
                  <c:v>Hospitals and Transplant Centres</c:v>
                </c:pt>
                <c:pt idx="2">
                  <c:v>Organ Procurement Organisations and Organ Retrieval Agencies</c:v>
                </c:pt>
                <c:pt idx="3">
                  <c:v>Specialised Medical Logistics Providers</c:v>
                </c:pt>
                <c:pt idx="4">
                  <c:v>Other Purchasing Organisations</c:v>
                </c:pt>
                <c:pt idx="5">
                  <c:v>2036 Total</c:v>
                </c:pt>
              </c:strCache>
            </c:strRef>
          </c:cat>
          <c:val>
            <c:numRef>
              <c:numCache>
                <c:formatCode>General</c:formatCode>
                <c:ptCount val="6"/>
                <c:pt idx="0">
                  <c:v>0.0</c:v>
                </c:pt>
                <c:pt idx="1">
                  <c:v>2479.62</c:v>
                </c:pt>
                <c:pt idx="2">
                  <c:v>2753.044</c:v>
                </c:pt>
                <c:pt idx="3">
                  <c:v>3177.995</c:v>
                </c:pt>
                <c:pt idx="4">
                  <c:v>3540.8199999999997</c:v>
                </c:pt>
                <c:pt idx="5">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6"/>
                <c:pt idx="0">
                  <c:v>2026</c:v>
                </c:pt>
                <c:pt idx="1">
                  <c:v>Hospitals and Transplant Centres</c:v>
                </c:pt>
                <c:pt idx="2">
                  <c:v>Organ Procurement Organisations and Organ Retrieval Agencies</c:v>
                </c:pt>
                <c:pt idx="3">
                  <c:v>Specialised Medical Logistics Providers</c:v>
                </c:pt>
                <c:pt idx="4">
                  <c:v>Other Purchasing Organisations</c:v>
                </c:pt>
                <c:pt idx="5">
                  <c:v>2036 Total</c:v>
                </c:pt>
              </c:strCache>
            </c:strRef>
          </c:cat>
          <c:val>
            <c:numRef>
              <c:numCache>
                <c:formatCode>General</c:formatCode>
                <c:ptCount val="6"/>
                <c:pt idx="0">
                  <c:v>2479.62</c:v>
                </c:pt>
                <c:pt idx="1">
                  <c:v>273.4240000000001</c:v>
                </c:pt>
                <c:pt idx="2">
                  <c:v>424.951</c:v>
                </c:pt>
                <c:pt idx="3">
                  <c:v>362.82499999999993</c:v>
                </c:pt>
                <c:pt idx="4">
                  <c:v>68.61699999999996</c:v>
                </c:pt>
                <c:pt idx="5">
                  <c:v>3609.4370000000004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5"/>
                <c:pt idx="0">
                  <c:v>Hospitals and Transplant Centres</c:v>
                </c:pt>
                <c:pt idx="1">
                  <c:v>Organ Procurement Organisations and Organ Retrieval Agencies</c:v>
                </c:pt>
                <c:pt idx="2">
                  <c:v>Specialised Medical Logistics Providers</c:v>
                </c:pt>
                <c:pt idx="3">
                  <c:v>Other Purchasing Organisations</c:v>
                </c:pt>
                <c:pt idx="4">
                  <c:v>Total Absolute $ Opportunity</c:v>
                </c:pt>
              </c:strCache>
            </c:strRef>
          </c:cat>
          <c:val>
            <c:numRef>
              <c:numCache>
                <c:formatCode>General</c:formatCode>
                <c:ptCount val="5"/>
                <c:pt idx="0">
                  <c:v>0.0</c:v>
                </c:pt>
                <c:pt idx="1">
                  <c:v>273.4240000000001</c:v>
                </c:pt>
                <c:pt idx="2">
                  <c:v>698.3750000000001</c:v>
                </c:pt>
                <c:pt idx="3">
                  <c:v>1061.2</c:v>
                </c:pt>
                <c:pt idx="4">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5"/>
                <c:pt idx="0">
                  <c:v>Hospitals and Transplant Centres</c:v>
                </c:pt>
                <c:pt idx="1">
                  <c:v>Organ Procurement Organisations and Organ Retrieval Agencies</c:v>
                </c:pt>
                <c:pt idx="2">
                  <c:v>Specialised Medical Logistics Providers</c:v>
                </c:pt>
                <c:pt idx="3">
                  <c:v>Other Purchasing Organisations</c:v>
                </c:pt>
                <c:pt idx="4">
                  <c:v>Total Absolute $ Opportunity</c:v>
                </c:pt>
              </c:strCache>
            </c:strRef>
          </c:cat>
          <c:val>
            <c:numRef>
              <c:numCache>
                <c:formatCode>General</c:formatCode>
                <c:ptCount val="5"/>
                <c:pt idx="0">
                  <c:v>273.4240000000001</c:v>
                </c:pt>
                <c:pt idx="1">
                  <c:v>424.951</c:v>
                </c:pt>
                <c:pt idx="2">
                  <c:v>362.82499999999993</c:v>
                </c:pt>
                <c:pt idx="3">
                  <c:v>68.61699999999996</c:v>
                </c:pt>
                <c:pt idx="4">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4"/>
                <c:pt idx="0">
                  <c:v>2026</c:v>
                </c:pt>
                <c:pt idx="1">
                  <c:v>Direct Sales</c:v>
                </c:pt>
                <c:pt idx="2">
                  <c:v>Distributor Sales</c:v>
                </c:pt>
                <c:pt idx="3">
                  <c:v>2036 Total</c:v>
                </c:pt>
              </c:strCache>
            </c:strRef>
          </c:cat>
          <c:val>
            <c:numRef>
              <c:numCache>
                <c:formatCode>General</c:formatCode>
                <c:ptCount val="4"/>
                <c:pt idx="0">
                  <c:v>0.0</c:v>
                </c:pt>
                <c:pt idx="1">
                  <c:v>2479.62</c:v>
                </c:pt>
                <c:pt idx="2">
                  <c:v>3065.47</c:v>
                </c:pt>
                <c:pt idx="3">
                  <c:v>0.0</c:v>
                </c:pt>
              </c:numCache>
            </c:numRef>
          </c:val>
        </c:ser>
        <c:ser>
          <c:idx val="1"/>
          <c:order val="1"/>
          <c:tx>
            <c:strRef>
              <c:strCache>
                <c:ptCount val="1"/>
                <c:pt idx="0">
                  <c:v>value</c:v>
                </c:pt>
              </c:strCache>
            </c:strRef>
          </c:tx>
          <c:spPr/>
          <c:dPt>
            <c:idx val="0"/>
            <c:spPr>
              <a:solidFill>
                <a:srgbClr val="0E72AE"/>
              </a:solidFill>
            </c:spPr>
          </c:dPt>
          <c:dPt>
            <c:idx val="1"/>
            <c:spPr>
              <a:solidFill>
                <a:srgbClr val="008189"/>
              </a:solidFill>
            </c:spPr>
          </c:dPt>
          <c:dPt>
            <c:idx val="2"/>
            <c:spPr>
              <a:solidFill>
                <a:srgbClr val="008189"/>
              </a:solidFill>
            </c:spPr>
          </c:dPt>
          <c:dPt>
            <c:idx val="3"/>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4"/>
                <c:pt idx="0">
                  <c:v>2026</c:v>
                </c:pt>
                <c:pt idx="1">
                  <c:v>Direct Sales</c:v>
                </c:pt>
                <c:pt idx="2">
                  <c:v>Distributor Sales</c:v>
                </c:pt>
                <c:pt idx="3">
                  <c:v>2036 Total</c:v>
                </c:pt>
              </c:strCache>
            </c:strRef>
          </c:cat>
          <c:val>
            <c:numRef>
              <c:numCache>
                <c:formatCode>General</c:formatCode>
                <c:ptCount val="4"/>
                <c:pt idx="0">
                  <c:v>2479.62</c:v>
                </c:pt>
                <c:pt idx="1">
                  <c:v>585.8499999999999</c:v>
                </c:pt>
                <c:pt idx="2">
                  <c:v>543.9670000000001</c:v>
                </c:pt>
                <c:pt idx="3">
                  <c:v>3609.437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strCache>
                <c:ptCount val="1"/>
                <c:pt idx="0">
                  <c:v>base</c:v>
                </c:pt>
              </c:strCache>
            </c:strRef>
          </c:tx>
          <c:spPr>
            <a:noFill/>
            <a:ln>
              <a:noFill/>
            </a:ln>
          </c:spPr>
          <c:cat>
            <c:strRef>
              <c:strCache>
                <c:ptCount val="3"/>
                <c:pt idx="0">
                  <c:v>Direct Sales</c:v>
                </c:pt>
                <c:pt idx="1">
                  <c:v>Distributor Sales</c:v>
                </c:pt>
                <c:pt idx="2">
                  <c:v>Total Absolute $ Opportunity</c:v>
                </c:pt>
              </c:strCache>
            </c:strRef>
          </c:cat>
          <c:val>
            <c:numRef>
              <c:numCache>
                <c:formatCode>General</c:formatCode>
                <c:ptCount val="3"/>
                <c:pt idx="0">
                  <c:v>0.0</c:v>
                </c:pt>
                <c:pt idx="1">
                  <c:v>585.8499999999999</c:v>
                </c:pt>
                <c:pt idx="2">
                  <c:v>0.0</c:v>
                </c:pt>
              </c:numCache>
            </c:numRef>
          </c:val>
        </c:ser>
        <c:ser>
          <c:idx val="1"/>
          <c:order val="1"/>
          <c:tx>
            <c:strRef>
              <c:strCache>
                <c:ptCount val="1"/>
                <c:pt idx="0">
                  <c:v>value</c:v>
                </c:pt>
              </c:strCache>
            </c:strRef>
          </c:tx>
          <c:spPr/>
          <c:dPt>
            <c:idx val="0"/>
            <c:spPr>
              <a:solidFill>
                <a:srgbClr val="008189"/>
              </a:solidFill>
            </c:spPr>
          </c:dPt>
          <c:dPt>
            <c:idx val="1"/>
            <c:spPr>
              <a:solidFill>
                <a:srgbClr val="008189"/>
              </a:solidFill>
            </c:spPr>
          </c:dPt>
          <c:dPt>
            <c:idx val="2"/>
            <c:spPr>
              <a:solidFill>
                <a:srgbClr val="0E72AE"/>
              </a:solidFill>
            </c:spPr>
          </c:dPt>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numFmt formatCode="#,##0" sourceLinked="0"/>
            <c:txPr>
              <a:bodyPr/>
              <a:lstStyle/>
              <a:p>
                <a:pPr>
                  <a:defRPr sz="1100">
                    <a:latin typeface="Calibri"/>
                  </a:defRPr>
                </a:pPr>
              </a:p>
            </c:txPr>
            <c:dLblPos val="inEnd"/>
            <c:showLegendKey val="0"/>
            <c:showVal val="1"/>
            <c:showCatName val="0"/>
            <c:showSerName val="0"/>
            <c:showPercent val="0"/>
            <c:showBubbleSize val="0"/>
            <c:showLeaderLines val="1"/>
          </c:dLbls>
          <c:cat>
            <c:strRef>
              <c:strCache>
                <c:ptCount val="3"/>
                <c:pt idx="0">
                  <c:v>Direct Sales</c:v>
                </c:pt>
                <c:pt idx="1">
                  <c:v>Distributor Sales</c:v>
                </c:pt>
                <c:pt idx="2">
                  <c:v>Total Absolute $ Opportunity</c:v>
                </c:pt>
              </c:strCache>
            </c:strRef>
          </c:cat>
          <c:val>
            <c:numRef>
              <c:numCache>
                <c:formatCode>General</c:formatCode>
                <c:ptCount val="3"/>
                <c:pt idx="0">
                  <c:v>585.8499999999999</c:v>
                </c:pt>
                <c:pt idx="1">
                  <c:v>543.9670000000001</c:v>
                </c:pt>
                <c:pt idx="2">
                  <c:v>1129.817</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Organ-Specific Devices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79.42313989859639</c:v>
                </c:pt>
                <c:pt idx="1">
                  <c:v>79.42337225321259</c:v>
                </c:pt>
                <c:pt idx="2">
                  <c:v>79.42337225321259</c:v>
                </c:pt>
                <c:pt idx="3">
                  <c:v>79.42337225321259</c:v>
                </c:pt>
                <c:pt idx="4">
                  <c:v>79.42337225321259</c:v>
                </c:pt>
                <c:pt idx="5">
                  <c:v>79.42337225321259</c:v>
                </c:pt>
                <c:pt idx="6">
                  <c:v>79.42337225321259</c:v>
                </c:pt>
              </c:numCache>
            </c:numRef>
          </c:val>
        </c:ser>
        <c:ser>
          <c:idx val="1"/>
          <c:order val="1"/>
          <c:tx>
            <c:strRef>
              <c:strCache>
                <c:ptCount val="1"/>
                <c:pt idx="0">
                  <c:v>Multi-Organ Compatible Devices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dLbl>
              <c:idx val="4"/>
              <c:numFmt formatCode="&quot;&quot;" sourceLinked="0"/>
              <c:txPr>
                <a:bodyPr/>
                <a:lstStyle/>
                <a:p>
                  <a:pPr>
                    <a:defRPr/>
                  </a:pPr>
                </a:p>
              </c:txPr>
              <c:showLegendKey val="0"/>
              <c:showVal val="1"/>
              <c:showCatName val="0"/>
              <c:showSerName val="0"/>
              <c:showPercent val="0"/>
              <c:showBubbleSize val="0"/>
            </c:dLbl>
            <c:dLbl>
              <c:idx val="5"/>
              <c:numFmt formatCode="&quot;&quot;" sourceLinked="0"/>
              <c:txPr>
                <a:bodyPr/>
                <a:lstStyle/>
                <a:p>
                  <a:pPr>
                    <a:defRPr/>
                  </a:pPr>
                </a:p>
              </c:txPr>
              <c:showLegendKey val="0"/>
              <c:showVal val="1"/>
              <c:showCatName val="0"/>
              <c:showSerName val="0"/>
              <c:showPercent val="0"/>
              <c:showBubbleSize val="0"/>
            </c:dLbl>
            <c:dLbl>
              <c:idx val="6"/>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7"/>
                <c:pt idx="0">
                  <c:v>Passive Insulated Transport Containers</c:v>
                </c:pt>
                <c:pt idx="1">
                  <c:v>Active Temperature-Controlled Transport Devices</c:v>
                </c:pt>
                <c:pt idx="2">
                  <c:v>Hypothermic Non-Oxygenated Perfusion Devices</c:v>
                </c:pt>
                <c:pt idx="3">
                  <c:v>Hypothermic Oxygenated Perfusion Devices</c:v>
                </c:pt>
                <c:pt idx="4">
                  <c:v>Subnormothermic Perfusion Devices</c:v>
                </c:pt>
                <c:pt idx="5">
                  <c:v>Normothermic Perfusion Devices</c:v>
                </c:pt>
                <c:pt idx="6">
                  <c:v>Multi-Temperature Perfusion Devices</c:v>
                </c:pt>
              </c:strCache>
            </c:strRef>
          </c:cat>
          <c:val>
            <c:numRef>
              <c:numCache>
                <c:formatCode>General</c:formatCode>
                <c:ptCount val="7"/>
                <c:pt idx="0">
                  <c:v>20.576860101403614</c:v>
                </c:pt>
                <c:pt idx="1">
                  <c:v>20.576627746787413</c:v>
                </c:pt>
                <c:pt idx="2">
                  <c:v>20.576627746787413</c:v>
                </c:pt>
                <c:pt idx="3">
                  <c:v>20.576627746787413</c:v>
                </c:pt>
                <c:pt idx="4">
                  <c:v>20.576627746787413</c:v>
                </c:pt>
                <c:pt idx="5">
                  <c:v>20.576627746787413</c:v>
                </c:pt>
                <c:pt idx="6">
                  <c:v>20.576627746787413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Hospitals and Transplant Centres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38.368967998167456</c:v>
                </c:pt>
                <c:pt idx="1">
                  <c:v>38.369365678022156</c:v>
                </c:pt>
                <c:pt idx="2">
                  <c:v>38.369365678022156</c:v>
                </c:pt>
                <c:pt idx="3">
                  <c:v>38.369365678022156</c:v>
                </c:pt>
              </c:numCache>
            </c:numRef>
          </c:val>
        </c:ser>
        <c:ser>
          <c:idx val="1"/>
          <c:order val="1"/>
          <c:tx>
            <c:strRef>
              <c:strCache>
                <c:ptCount val="1"/>
                <c:pt idx="0">
                  <c:v>Organ Procurement Organisations and Organ Retrieval Agencies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37.19539540120858</c:v>
                </c:pt>
                <c:pt idx="1">
                  <c:v>37.19515539452756</c:v>
                </c:pt>
                <c:pt idx="2">
                  <c:v>37.19515539452756</c:v>
                </c:pt>
                <c:pt idx="3">
                  <c:v>37.19515539452756</c:v>
                </c:pt>
              </c:numCache>
            </c:numRef>
          </c:val>
        </c:ser>
        <c:ser>
          <c:idx val="2"/>
          <c:order val="2"/>
          <c:tx>
            <c:strRef>
              <c:strCache>
                <c:ptCount val="1"/>
                <c:pt idx="0">
                  <c:v>Specialised Medical Logistics Providers</c:v>
                </c:pt>
              </c:strCache>
            </c:strRef>
          </c:tx>
          <c:spPr>
            <a:solidFill>
              <a:srgbClr val="008189"/>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15.709579901339247</c:v>
                </c:pt>
                <c:pt idx="1">
                  <c:v>15.709478533842228</c:v>
                </c:pt>
                <c:pt idx="2">
                  <c:v>15.709478533842228</c:v>
                </c:pt>
                <c:pt idx="3">
                  <c:v>15.709478533842228</c:v>
                </c:pt>
              </c:numCache>
            </c:numRef>
          </c:val>
        </c:ser>
        <c:ser>
          <c:idx val="3"/>
          <c:order val="3"/>
          <c:tx>
            <c:strRef>
              <c:strCache>
                <c:ptCount val="1"/>
                <c:pt idx="0">
                  <c:v>Other Purchasing Organisations</c:v>
                </c:pt>
              </c:strCache>
            </c:strRef>
          </c:tx>
          <c:spPr>
            <a:solidFill>
              <a:srgbClr val="40315E"/>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dLbl>
              <c:idx val="2"/>
              <c:numFmt formatCode="&quot;&quot;" sourceLinked="0"/>
              <c:txPr>
                <a:bodyPr/>
                <a:lstStyle/>
                <a:p>
                  <a:pPr>
                    <a:defRPr/>
                  </a:pPr>
                </a:p>
              </c:txPr>
              <c:showLegendKey val="0"/>
              <c:showVal val="1"/>
              <c:showCatName val="0"/>
              <c:showSerName val="0"/>
              <c:showPercent val="0"/>
              <c:showBubbleSize val="0"/>
            </c:dLbl>
            <c:dLbl>
              <c:idx val="3"/>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4"/>
                <c:pt idx="0">
                  <c:v>Devices without Integrated Monitoring</c:v>
                </c:pt>
                <c:pt idx="1">
                  <c:v>Temperature Monitoring Only</c:v>
                </c:pt>
                <c:pt idx="2">
                  <c:v>Temperature and Location Monitoring</c:v>
                </c:pt>
                <c:pt idx="3">
                  <c:v>Physiological and Perfusion Parameter Monitoring</c:v>
                </c:pt>
              </c:strCache>
            </c:strRef>
          </c:cat>
          <c:val>
            <c:numRef>
              <c:numCache>
                <c:formatCode>General</c:formatCode>
                <c:ptCount val="4"/>
                <c:pt idx="0">
                  <c:v>8.726056699284728</c:v>
                </c:pt>
                <c:pt idx="1">
                  <c:v>8.726000393608064</c:v>
                </c:pt>
                <c:pt idx="2">
                  <c:v>8.726000393608064</c:v>
                </c:pt>
                <c:pt idx="3">
                  <c:v>8.726000393608064</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strCache>
                <c:ptCount val="1"/>
                <c:pt idx="0">
                  <c:v>Direct Sales</c:v>
                </c:pt>
              </c:strCache>
            </c:strRef>
          </c:tx>
          <c:spPr>
            <a:solidFill>
              <a:srgbClr val="3D85C6"/>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81.23301150982812</c:v>
                </c:pt>
                <c:pt idx="1">
                  <c:v>81.23301150982812</c:v>
                </c:pt>
              </c:numCache>
            </c:numRef>
          </c:val>
        </c:ser>
        <c:ser>
          <c:idx val="1"/>
          <c:order val="1"/>
          <c:tx>
            <c:strRef>
              <c:strCache>
                <c:ptCount val="1"/>
                <c:pt idx="0">
                  <c:v>Distributor Sales</c:v>
                </c:pt>
              </c:strCache>
            </c:strRef>
          </c:tx>
          <c:spPr>
            <a:solidFill>
              <a:srgbClr val="9E7E0A"/>
            </a:solidFill>
            <a:ln>
              <a:noFill/>
            </a:ln>
          </c:spPr>
          <c:dLbls>
            <c:dLbl>
              <c:idx val="0"/>
              <c:numFmt formatCode="&quot;&quot;" sourceLinked="0"/>
              <c:txPr>
                <a:bodyPr/>
                <a:lstStyle/>
                <a:p>
                  <a:pPr>
                    <a:defRPr/>
                  </a:pPr>
                </a:p>
              </c:txPr>
              <c:showLegendKey val="0"/>
              <c:showVal val="1"/>
              <c:showCatName val="0"/>
              <c:showSerName val="0"/>
              <c:showPercent val="0"/>
              <c:showBubbleSize val="0"/>
            </c:dLbl>
            <c:dLbl>
              <c:idx val="1"/>
              <c:numFmt formatCode="&quot;&quot;" sourceLinked="0"/>
              <c:txPr>
                <a:bodyPr/>
                <a:lstStyle/>
                <a:p>
                  <a:pPr>
                    <a:defRPr/>
                  </a:pPr>
                </a:p>
              </c:txPr>
              <c:showLegendKey val="0"/>
              <c:showVal val="1"/>
              <c:showCatName val="0"/>
              <c:showSerName val="0"/>
              <c:showPercent val="0"/>
              <c:showBubbleSize val="0"/>
            </c:dLbl>
            <c:numFmt formatCode="0&quot;%&quot;" sourceLinked="0"/>
            <c:txPr>
              <a:bodyPr rot="0" vert="horz"/>
              <a:lstStyle/>
              <a:p>
                <a:pPr>
                  <a:defRPr sz="1100">
                    <a:solidFill>
                      <a:srgbClr val="FFFFFF"/>
                    </a:solidFill>
                    <a:latin typeface="Calibri"/>
                  </a:defRPr>
                </a:pPr>
              </a:p>
            </c:txPr>
            <c:dLblPos val="ctr"/>
            <c:showLegendKey val="0"/>
            <c:showVal val="1"/>
            <c:showCatName val="0"/>
            <c:showSerName val="0"/>
            <c:showPercent val="0"/>
            <c:showBubbleSize val="0"/>
            <c:showLeaderLines val="1"/>
          </c:dLbls>
          <c:cat>
            <c:strRef>
              <c:strCache>
                <c:ptCount val="2"/>
                <c:pt idx="0">
                  <c:v>Single-Use Transport Devices</c:v>
                </c:pt>
                <c:pt idx="1">
                  <c:v>Reusable Transport Devices</c:v>
                </c:pt>
              </c:strCache>
            </c:strRef>
          </c:cat>
          <c:val>
            <c:numRef>
              <c:numCache>
                <c:formatCode>General</c:formatCode>
                <c:ptCount val="2"/>
                <c:pt idx="0">
                  <c:v>18.766988490171883</c:v>
                </c:pt>
                <c:pt idx="1">
                  <c:v>18.766988490171883</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charts/chart12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strCache>
                <c:ptCount val="1"/>
                <c:pt idx="0">
                  <c:v>Static Cold Storage Devices</c:v>
                </c:pt>
              </c:strCache>
            </c:strRef>
          </c:tx>
          <c:spPr>
            <a:ln w="25400">
              <a:solidFill>
                <a:srgbClr val="C55A11"/>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4420.0</c:v>
                </c:pt>
                <c:pt idx="1">
                  <c:v>4455.0</c:v>
                </c:pt>
                <c:pt idx="2">
                  <c:v>4486.0</c:v>
                </c:pt>
                <c:pt idx="3">
                  <c:v>4514.0</c:v>
                </c:pt>
                <c:pt idx="4">
                  <c:v>4541.0</c:v>
                </c:pt>
                <c:pt idx="5">
                  <c:v>4570.0</c:v>
                </c:pt>
                <c:pt idx="6">
                  <c:v>4590.0</c:v>
                </c:pt>
                <c:pt idx="7">
                  <c:v>4614.0</c:v>
                </c:pt>
                <c:pt idx="8">
                  <c:v>4645.0</c:v>
                </c:pt>
                <c:pt idx="9">
                  <c:v>4682.0</c:v>
                </c:pt>
                <c:pt idx="10">
                  <c:v>4719.0</c:v>
                </c:pt>
                <c:pt idx="11">
                  <c:v>4754.0</c:v>
                </c:pt>
                <c:pt idx="12">
                  <c:v>4785.0</c:v>
                </c:pt>
                <c:pt idx="13">
                  <c:v>4814.0</c:v>
                </c:pt>
                <c:pt idx="14">
                  <c:v>4840.0</c:v>
                </c:pt>
                <c:pt idx="15">
                  <c:v>4865.0</c:v>
                </c:pt>
              </c:numCache>
            </c:numRef>
          </c:val>
          <c:smooth val="0"/>
        </c:ser>
        <c:ser>
          <c:idx val="1"/>
          <c:order val="1"/>
          <c:tx>
            <c:strRef>
              <c:strCache>
                <c:ptCount val="1"/>
                <c:pt idx="0">
                  <c:v>Portable Machine Perfusion Devices</c:v>
                </c:pt>
              </c:strCache>
            </c:strRef>
          </c:tx>
          <c:spPr>
            <a:ln w="25400">
              <a:solidFill>
                <a:srgbClr val="0B2E4A"/>
              </a:solidFill>
            </a:ln>
          </c:spPr>
          <c:marker>
            <c:symbol val="none"/>
          </c:marker>
          <c:cat>
            <c:strRe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numCache>
                <c:formatCode>General</c:formatCode>
                <c:ptCount val="16"/>
                <c:pt idx="0">
                  <c:v>3860.0</c:v>
                </c:pt>
                <c:pt idx="1">
                  <c:v>3888.0</c:v>
                </c:pt>
                <c:pt idx="2">
                  <c:v>3914.0</c:v>
                </c:pt>
                <c:pt idx="3">
                  <c:v>3936.0</c:v>
                </c:pt>
                <c:pt idx="4">
                  <c:v>3957.0</c:v>
                </c:pt>
                <c:pt idx="5">
                  <c:v>3977.0</c:v>
                </c:pt>
                <c:pt idx="6">
                  <c:v>3998.0</c:v>
                </c:pt>
                <c:pt idx="7">
                  <c:v>4017.0</c:v>
                </c:pt>
                <c:pt idx="8">
                  <c:v>4036.0</c:v>
                </c:pt>
                <c:pt idx="9">
                  <c:v>4060.0</c:v>
                </c:pt>
                <c:pt idx="10">
                  <c:v>4085.0</c:v>
                </c:pt>
                <c:pt idx="11">
                  <c:v>4111.0</c:v>
                </c:pt>
                <c:pt idx="12">
                  <c:v>4136.0</c:v>
                </c:pt>
                <c:pt idx="13">
                  <c:v>4159.0</c:v>
                </c:pt>
                <c:pt idx="14">
                  <c:v>4179.0</c:v>
                </c:pt>
                <c:pt idx="15">
                  <c:v>4198.0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D9DEE4"/>
            </a:solidFill>
          </a:ln>
        </c:spPr>
        <c:txPr>
          <a:bodyPr/>
          <a:lstStyle/>
          <a:p>
            <a:pPr>
              <a:defRPr sz="900">
                <a:solidFill>
                  <a:srgbClr val="59636E"/>
                </a:solidFill>
                <a:latin typeface="Calibri"/>
              </a:defRPr>
            </a:pPr>
          </a:p>
        </c:txPr>
        <c:crossAx val="2140495176"/>
        <c:crosses val="autoZero"/>
        <c:auto val="1"/>
        <c:lblAlgn val="ctr"/>
        <c:lblOffset val="100"/>
        <c:noMultiLvlLbl val="0"/>
      </c:catAx>
      <c:valAx>
        <c:axId val="2140495176"/>
        <c:scaling>
          <c:max val="5000.0"/>
          <c:min val="3500.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900">
                <a:solidFill>
                  <a:srgbClr val="59636E"/>
                </a:solidFill>
                <a:latin typeface="Calibri"/>
              </a:defRPr>
            </a:pPr>
          </a:p>
        </c:txPr>
        <c:crossAx val="2118791784"/>
        <c:crosses val="autoZero"/>
        <c:majorUnit val="500.0"/>
      </c:valAx>
    </c:plotArea>
    <c:legend>
      <c:legendPos val="b"/>
      <c:layout/>
      <c:overlay val="0"/>
      <c:txPr>
        <a:bodyPr/>
        <a:lstStyle/>
        <a:p>
          <a:pPr>
            <a:defRPr sz="900">
              <a:latin typeface="Calibri"/>
            </a:defRPr>
          </a:pPr>
        </a:p>
      </c:txPr>
    </c:legend>
    <c:plotVisOnly val="1"/>
    <c:dispBlanksAs val="gap"/>
    <c:showDLblsOverMax val="0"/>
  </c:chart>
  <c:txPr>
    <a:bodyPr/>
    <a:lstStyle/>
    <a:p>
      <a:pPr>
        <a:defRPr sz="1800"/>
      </a:pPr>
      <a:endParaRPr lang="en-US"/>
    </a:p>
  </c:txPr>
</c:chartSpace>
</file>

<file path=ppt/charts/chart12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strCache>
                <c:ptCount val="1"/>
                <c:pt idx="0">
                  <c:v>Index</c:v>
                </c:pt>
              </c:strCache>
            </c:strRef>
          </c:tx>
          <c:dPt>
            <c:idx val="0"/>
            <c:spPr>
              <a:solidFill>
                <a:srgbClr val="5B7DB1"/>
              </a:solidFill>
            </c:spPr>
          </c:dPt>
          <c:dPt>
            <c:idx val="1"/>
            <c:spPr>
              <a:solidFill>
                <a:srgbClr val="C55A11"/>
              </a:solidFill>
            </c:spPr>
          </c:dPt>
          <c:cat>
            <c:strRef>
              <c:strCache>
                <c:ptCount val="2"/>
                <c:pt idx="0">
                  <c:v>Portable Machine Perfusion Devices</c:v>
                </c:pt>
                <c:pt idx="1">
                  <c:v>Static Cold Storage Devices</c:v>
                </c:pt>
              </c:strCache>
            </c:strRef>
          </c:cat>
          <c:val>
            <c:numRef>
              <c:numCache>
                <c:formatCode>General</c:formatCode>
                <c:ptCount val="2"/>
                <c:pt idx="0">
                  <c:v>97.0</c:v>
                </c:pt>
                <c:pt idx="1">
                  <c:v>111.5</c:v>
                </c:pt>
              </c:numCache>
            </c:numRef>
          </c:val>
        </c:ser>
        <c:gapWidth val="45"/>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13.0"/>
          <c:min val="94.0"/>
        </c:scaling>
        <c:delete/>
        <c:axPos val="b"/>
        <c:majorTickMark val="out"/>
        <c:minorTickMark val="none"/>
        <c:tickLblPos val="none"/>
        <c:crossAx val="-2068027336"/>
        <c:crosses val="autoZero"/>
      </c:valAx>
    </c:plotArea>
    <c:dispBlanksAs val="gap"/>
  </c:chart>
  <c:txPr>
    <a:bodyPr/>
    <a:lstStyle/>
    <a:p>
      <a:pPr>
        <a:defRPr sz="1800"/>
      </a:pPr>
      <a:endParaRPr lang="en-US"/>
    </a:p>
  </c:txPr>
</c:chartSpace>
</file>

<file path=ppt/charts/chart13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strCache>
                <c:ptCount val="1"/>
                <c:pt idx="0">
                  <c:v>Base</c:v>
                </c:pt>
              </c:strCache>
            </c:strRef>
          </c:tx>
          <c:spPr>
            <a:noFill/>
          </c:spPr>
          <c:cat>
            <c:strRef>
              <c:strCache>
                <c:ptCount val="7"/>
                <c:pt idx="0">
                  <c:v>Multi-Temperature Perfusion Devices</c:v>
                </c:pt>
                <c:pt idx="1">
                  <c:v>Normothermic Perfusion Devices</c:v>
                </c:pt>
                <c:pt idx="2">
                  <c:v>Subnormothermic Perfusion Devices</c:v>
                </c:pt>
                <c:pt idx="3">
                  <c:v>Hypothermic Oxygenated Perfusion Devices</c:v>
                </c:pt>
                <c:pt idx="4">
                  <c:v>Hypothermic Non-Oxygenated Perfusion Devices</c:v>
                </c:pt>
                <c:pt idx="5">
                  <c:v>Active Temperature-Controlled Transport Devices</c:v>
                </c:pt>
                <c:pt idx="6">
                  <c:v>Passive Insulated Transport Containers</c:v>
                </c:pt>
              </c:strCache>
            </c:strRef>
          </c:cat>
          <c:val>
            <c:numRef>
              <c:numCache>
                <c:formatCode>General</c:formatCode>
                <c:ptCount val="7"/>
                <c:pt idx="0">
                  <c:v>2897</c:v>
                </c:pt>
                <c:pt idx="1">
                  <c:v>2897</c:v>
                </c:pt>
                <c:pt idx="2">
                  <c:v>2897</c:v>
                </c:pt>
                <c:pt idx="3">
                  <c:v>2897</c:v>
                </c:pt>
                <c:pt idx="4">
                  <c:v>2897</c:v>
                </c:pt>
                <c:pt idx="5">
                  <c:v>2897</c:v>
                </c:pt>
                <c:pt idx="6">
                  <c:v>2897</c:v>
                </c:pt>
              </c:numCache>
            </c:numRef>
          </c:val>
        </c:ser>
        <c:ser>
          <c:idx val="1"/>
          <c:order val="1"/>
          <c:tx>
            <c:strRef>
              <c:strCache>
                <c:ptCount val="1"/>
                <c:pt idx="0">
                  <c:v>Range</c:v>
                </c:pt>
              </c:strCache>
            </c:strRef>
          </c:tx>
          <c:spPr>
            <a:solidFill>
              <a:srgbClr val="008189"/>
            </a:solidFill>
          </c:spPr>
          <c:cat>
            <c:strRef>
              <c:strCache>
                <c:ptCount val="7"/>
                <c:pt idx="0">
                  <c:v>Multi-Temperature Perfusion Devices</c:v>
                </c:pt>
                <c:pt idx="1">
                  <c:v>Normothermic Perfusion Devices</c:v>
                </c:pt>
                <c:pt idx="2">
                  <c:v>Subnormothermic Perfusion Devices</c:v>
                </c:pt>
                <c:pt idx="3">
                  <c:v>Hypothermic Oxygenated Perfusion Devices</c:v>
                </c:pt>
                <c:pt idx="4">
                  <c:v>Hypothermic Non-Oxygenated Perfusion Devices</c:v>
                </c:pt>
                <c:pt idx="5">
                  <c:v>Active Temperature-Controlled Transport Devices</c:v>
                </c:pt>
                <c:pt idx="6">
                  <c:v>Passive Insulated Transport Containers</c:v>
                </c:pt>
              </c:strCache>
            </c:strRef>
          </c:cat>
          <c:val>
            <c:numRef>
              <c:numCache>
                <c:formatCode>General</c:formatCode>
                <c:ptCount val="7"/>
                <c:pt idx="0">
                  <c:v>2278</c:v>
                </c:pt>
                <c:pt idx="1">
                  <c:v>2278</c:v>
                </c:pt>
                <c:pt idx="2">
                  <c:v>2278</c:v>
                </c:pt>
                <c:pt idx="3">
                  <c:v>2278</c:v>
                </c:pt>
                <c:pt idx="4">
                  <c:v>2278</c:v>
                </c:pt>
                <c:pt idx="5">
                  <c:v>2278</c:v>
                </c:pt>
                <c:pt idx="6">
                  <c:v>2278</c:v>
                </c:pt>
              </c:numCache>
            </c:numRef>
          </c:val>
        </c:ser>
        <c:gapWidth val="55"/>
        <c:overlap val="100"/>
        <c:axId val="-2068027336"/>
        <c:axId val="-2113994440"/>
      </c:barChart>
      <c:catAx>
        <c:axId val="-2068027336"/>
        <c:scaling>
          <c:orientation val="minMax"/>
        </c:scaling>
        <c:delete val="0"/>
        <c:axPos val="l"/>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6000.0"/>
          <c:min val="2000.0"/>
        </c:scaling>
        <c:delete val="0"/>
        <c:axPos val="b"/>
        <c:majorGridlines>
          <c:spPr>
            <a:ln>
              <a:solidFill>
                <a:srgbClr val="D9DEE4"/>
              </a:solidFill>
            </a:ln>
          </c:spPr>
        </c:majorGridlines>
        <c:numFmt formatCode="#,##0" sourceLinked="0"/>
        <c:majorTickMark val="out"/>
        <c:minorTickMark val="none"/>
        <c:tickLblPos val="none"/>
        <c:spPr>
          <a:ln>
            <a:noFill/>
          </a:ln>
        </c:spPr>
        <c:txPr>
          <a:bodyPr/>
          <a:lstStyle/>
          <a:p>
            <a:pPr>
              <a:defRPr sz="800">
                <a:solidFill>
                  <a:srgbClr val="59636E"/>
                </a:solidFill>
                <a:latin typeface="Calibri"/>
              </a:defRPr>
            </a:pPr>
          </a:p>
        </c:txPr>
        <c:crossAx val="-2068027336"/>
        <c:crosses val="autoZero"/>
        <c:majorUnit val="2000.0"/>
      </c:valAx>
    </c:plotArea>
    <c:dispBlanksAs val="gap"/>
  </c:chart>
  <c:txPr>
    <a:bodyPr/>
    <a:lstStyle/>
    <a:p>
      <a:pPr>
        <a:defRPr sz="1800"/>
      </a:pPr>
      <a:endParaRPr lang="en-US"/>
    </a:p>
  </c:txPr>
</c:chartSpace>
</file>

<file path=ppt/charts/chart13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strCache>
                <c:ptCount val="1"/>
                <c:pt idx="0">
                  <c:v>Base</c:v>
                </c:pt>
              </c:strCache>
            </c:strRef>
          </c:tx>
          <c:spPr>
            <a:noFill/>
          </c:spPr>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132.7</c:v>
                </c:pt>
                <c:pt idx="1">
                  <c:v>117.3</c:v>
                </c:pt>
                <c:pt idx="2">
                  <c:v>92.3</c:v>
                </c:pt>
                <c:pt idx="3">
                  <c:v>89.1</c:v>
                </c:pt>
                <c:pt idx="4">
                  <c:v>68.8</c:v>
                </c:pt>
                <c:pt idx="5">
                  <c:v>59.9</c:v>
                </c:pt>
              </c:numCache>
            </c:numRef>
          </c:val>
        </c:ser>
        <c:ser>
          <c:idx val="1"/>
          <c:order val="1"/>
          <c:tx>
            <c:strRef>
              <c:strCache>
                <c:ptCount val="1"/>
                <c:pt idx="0">
                  <c:v>Range</c:v>
                </c:pt>
              </c:strCache>
            </c:strRef>
          </c:tx>
          <c:spPr>
            <a:solidFill>
              <a:srgbClr val="008189"/>
            </a:solidFill>
          </c:spPr>
          <c:dPt>
            <c:idx val="2"/>
            <c:spPr>
              <a:solidFill>
                <a:srgbClr val="5B7DB1"/>
              </a:solidFill>
            </c:spPr>
          </c:dPt>
          <c:dPt>
            <c:idx val="3"/>
            <c:spPr>
              <a:solidFill>
                <a:srgbClr val="5B7DB1"/>
              </a:solidFill>
            </c:spPr>
          </c:dPt>
          <c:dPt>
            <c:idx val="4"/>
            <c:spPr>
              <a:solidFill>
                <a:srgbClr val="5B7DB1"/>
              </a:solidFill>
            </c:spPr>
          </c:dPt>
          <c:dPt>
            <c:idx val="5"/>
            <c:spPr>
              <a:solidFill>
                <a:srgbClr val="5B7DB1"/>
              </a:solidFill>
            </c:spPr>
          </c:dPt>
          <c:cat>
            <c:strRef>
              <c:strCache>
                <c:ptCount val="6"/>
                <c:pt idx="0">
                  <c:v>North America</c:v>
                </c:pt>
                <c:pt idx="1">
                  <c:v>Europe</c:v>
                </c:pt>
                <c:pt idx="2">
                  <c:v>Latin America</c:v>
                </c:pt>
                <c:pt idx="3">
                  <c:v>Middle East &amp; Africa</c:v>
                </c:pt>
                <c:pt idx="4">
                  <c:v>East Asia</c:v>
                </c:pt>
                <c:pt idx="5">
                  <c:v>South Asia &amp; Pacific</c:v>
                </c:pt>
              </c:strCache>
            </c:strRef>
          </c:cat>
          <c:val>
            <c:numRef>
              <c:numCache>
                <c:formatCode>General</c:formatCode>
                <c:ptCount val="6"/>
                <c:pt idx="0">
                  <c:v>22.3</c:v>
                </c:pt>
                <c:pt idx="1">
                  <c:v>19.5</c:v>
                </c:pt>
                <c:pt idx="2">
                  <c:v>14.5</c:v>
                </c:pt>
                <c:pt idx="3">
                  <c:v>14.7</c:v>
                </c:pt>
                <c:pt idx="4">
                  <c:v>9.8</c:v>
                </c:pt>
                <c:pt idx="5">
                  <c:v>9.7</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D9DEE4"/>
            </a:solidFill>
          </a:ln>
        </c:spPr>
        <c:txPr>
          <a:bodyPr/>
          <a:lstStyle/>
          <a:p>
            <a:pPr>
              <a:defRPr sz="850">
                <a:solidFill>
                  <a:srgbClr val="1F1F1F"/>
                </a:solidFill>
                <a:latin typeface="Calibri"/>
              </a:defRPr>
            </a:pPr>
          </a:p>
        </c:txPr>
        <c:crossAx val="-2113994440"/>
        <c:crosses val="autoZero"/>
        <c:auto val="1"/>
        <c:lblAlgn val="ctr"/>
        <c:lblOffset val="100"/>
        <c:tickLblSkip val="1"/>
        <c:noMultiLvlLbl val="0"/>
      </c:catAx>
      <c:valAx>
        <c:axId val="-2113994440"/>
        <c:scaling>
          <c:max val="160.0"/>
          <c:min val="55.0"/>
        </c:scaling>
        <c:delete val="0"/>
        <c:axPos val="l"/>
        <c:majorGridlines>
          <c:spPr>
            <a:ln>
              <a:solidFill>
                <a:srgbClr val="D9DEE4"/>
              </a:solidFill>
            </a:ln>
          </c:spPr>
        </c:majorGridlines>
        <c:numFmt formatCode="0" sourceLinked="0"/>
        <c:majorTickMark val="out"/>
        <c:minorTickMark val="none"/>
        <c:tickLblPos val="none"/>
        <c:spPr>
          <a:ln>
            <a:noFill/>
          </a:ln>
        </c:spPr>
        <c:txPr>
          <a:bodyPr/>
          <a:lstStyle/>
          <a:p>
            <a:pPr>
              <a:defRPr sz="850">
                <a:solidFill>
                  <a:srgbClr val="59636E"/>
                </a:solidFill>
                <a:latin typeface="Calibri"/>
              </a:defRPr>
            </a:pPr>
          </a:p>
        </c:txPr>
        <c:crossAx val="-2068027336"/>
        <c:crosses val="autoZero"/>
        <c:majorUnit val="10.0"/>
      </c:valAx>
    </c:plotArea>
    <c:dispBlanksAs val="gap"/>
  </c:chart>
  <c:txPr>
    <a:bodyPr/>
    <a:lstStyle/>
    <a:p>
      <a:pPr>
        <a:defRPr sz="1800"/>
      </a:pPr>
      <a:endParaRPr lang="en-US"/>
    </a:p>
  </c:txPr>
</c:chartSpace>
</file>

<file path=ppt/charts/chart13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15.401240790072533</c:v>
                </c:pt>
                <c:pt idx="1">
                  <c:v>13.483170759180723</c:v>
                </c:pt>
                <c:pt idx="2">
                  <c:v>9.29935288364539</c:v>
                </c:pt>
                <c:pt idx="3">
                  <c:v>6.532876475193235</c:v>
                </c:pt>
                <c:pt idx="4">
                  <c:v>6.473319829711896</c:v>
                </c:pt>
                <c:pt idx="5">
                  <c:v>6.433244680872183</c:v>
                </c:pt>
                <c:pt idx="6">
                  <c:v>5.150370028076766</c:v>
                </c:pt>
                <c:pt idx="7">
                  <c:v>3.1015192989370006</c:v>
                </c:pt>
                <c:pt idx="8">
                  <c:v>2.1645981368190896</c:v>
                </c:pt>
                <c:pt idx="9">
                  <c:v>2.1360961810687464</c:v>
                </c:pt>
                <c:pt idx="10">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11.693602256562977</c:v>
                </c:pt>
                <c:pt idx="1">
                  <c:v>9.98907014549872</c:v>
                </c:pt>
                <c:pt idx="2">
                  <c:v>11.264513875278551</c:v>
                </c:pt>
                <c:pt idx="3">
                  <c:v>11.542462021743303</c:v>
                </c:pt>
                <c:pt idx="4">
                  <c:v>9.170712625473369</c:v>
                </c:pt>
                <c:pt idx="5">
                  <c:v>5.69371565484273</c:v>
                </c:pt>
                <c:pt idx="6">
                  <c:v>3.7515880157620747</c:v>
                </c:pt>
                <c:pt idx="7">
                  <c:v>3.240076671241286</c:v>
                </c:pt>
                <c:pt idx="8">
                  <c:v>3.3901784262482124</c:v>
                </c:pt>
                <c:pt idx="9">
                  <c:v>3.0300946920704144</c:v>
                </c:pt>
                <c:pt idx="10">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12.127056022733685</c:v>
                </c:pt>
                <c:pt idx="1">
                  <c:v>13.515963661294228</c:v>
                </c:pt>
                <c:pt idx="2">
                  <c:v>13.672509787055716</c:v>
                </c:pt>
                <c:pt idx="3">
                  <c:v>10.747277583816313</c:v>
                </c:pt>
                <c:pt idx="4">
                  <c:v>6.853819923875349</c:v>
                </c:pt>
                <c:pt idx="5">
                  <c:v>4.527540451517601</c:v>
                </c:pt>
                <c:pt idx="6">
                  <c:v>4.351504519294602</c:v>
                </c:pt>
                <c:pt idx="7">
                  <c:v>4.386878793633664</c:v>
                </c:pt>
                <c:pt idx="8">
                  <c:v>3.8343075690671227</c:v>
                </c:pt>
                <c:pt idx="9">
                  <c:v>2.614124464284719</c:v>
                </c:pt>
                <c:pt idx="10">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quot;;&quot;MMM&quot;;&quot;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17.07493181467485</c:v>
                </c:pt>
                <c:pt idx="1">
                  <c:v>12.55088526010719</c:v>
                </c:pt>
                <c:pt idx="2">
                  <c:v>8.380043562697717</c:v>
                </c:pt>
                <c:pt idx="3">
                  <c:v>7.444952014860332</c:v>
                </c:pt>
                <c:pt idx="4">
                  <c:v>8.046607083054917</c:v>
                </c:pt>
                <c:pt idx="5">
                  <c:v>6.9192142292565135</c:v>
                </c:pt>
                <c:pt idx="6">
                  <c:v>4.691071174682331</c:v>
                </c:pt>
                <c:pt idx="7">
                  <c:v>2.8651087985998394</c:v>
                </c:pt>
                <c:pt idx="8">
                  <c:v>2.560369933335588</c:v>
                </c:pt>
                <c:pt idx="9">
                  <c:v>2.616980414229504</c:v>
                </c:pt>
                <c:pt idx="10">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15.570454803610694</c:v>
                </c:pt>
                <c:pt idx="1">
                  <c:v>10.546713911504883</c:v>
                </c:pt>
                <c:pt idx="2">
                  <c:v>10.489494550876001</c:v>
                </c:pt>
                <c:pt idx="3">
                  <c:v>11.523850319189417</c:v>
                </c:pt>
                <c:pt idx="4">
                  <c:v>9.716274527037694</c:v>
                </c:pt>
                <c:pt idx="5">
                  <c:v>6.041847824962319</c:v>
                </c:pt>
                <c:pt idx="6">
                  <c:v>4.100995695833606</c:v>
                </c:pt>
                <c:pt idx="7">
                  <c:v>3.8524851858046234</c:v>
                </c:pt>
                <c:pt idx="8">
                  <c:v>3.889793811996375</c:v>
                </c:pt>
                <c:pt idx="9">
                  <c:v>2.9792010725276863</c:v>
                </c:pt>
                <c:pt idx="10">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0B2E4A"/>
              </a:solidFill>
            </c:spPr>
          </c:dPt>
          <c:dPt>
            <c:idx val="9"/>
            <c:spPr>
              <a:solidFill>
                <a:srgbClr val="6C7A89"/>
              </a:solidFill>
            </c:spPr>
          </c:dPt>
          <c:dPt>
            <c:idx val="10"/>
            <c:spPr>
              <a:solidFill>
                <a:srgbClr val="B9B3AC"/>
              </a:solidFill>
            </c:spPr>
          </c:dPt>
          <c:dLbls>
            <c:dLbl>
              <c:idx val="0"/>
              <c:layout>
                <c:manualLayout>
                  <c:x val="0.0350"/>
                  <c:y val="0.0000"/>
                </c:manualLayout>
              </c:layout>
              <c:numFmt formatCode="&quot;MMMM&quot;;&quot;MMMM&quot;;&quot;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quot;;&quot;MMMM&quot;;&quot;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layout>
                <c:manualLayout>
                  <c:x val="0.0350"/>
                  <c:y val="0.0000"/>
                </c:manualLayout>
              </c:layout>
              <c:numFmt formatCode="&quot;MMMM&quot;;&quot;MMMM&quot;;&quot;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layout>
                <c:manualLayout>
                  <c:x val="0.0350"/>
                  <c:y val="0.0000"/>
                </c:manualLayout>
              </c:layout>
              <c:numFmt formatCode="&quot;MMMM&quot;;&quot;MMMM&quot;;&quot;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layout>
                <c:manualLayout>
                  <c:x val="0.0350"/>
                  <c:y val="0.0000"/>
                </c:manualLayout>
              </c:layout>
              <c:numFmt formatCode="&quot;MMM&quot;;&quot;MMM&quot;;&quot;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5"/>
              <c:layout>
                <c:manualLayout>
                  <c:x val="0.0350"/>
                  <c:y val="0.0000"/>
                </c:manualLayout>
              </c:layout>
              <c:numFmt formatCode="&quot;MMM&quot;;&quot;MMM&quot;;&quot;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6"/>
              <c:layout>
                <c:manualLayout>
                  <c:x val="0.0350"/>
                  <c:y val="0.0000"/>
                </c:manualLayout>
              </c:layout>
              <c:numFmt formatCode="&quot;MMM&quot;;&quot;MMM&quot;;&quot;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7"/>
              <c:layout>
                <c:manualLayout>
                  <c:x val="0.0350"/>
                  <c:y val="0.0000"/>
                </c:manualLayout>
              </c:layout>
              <c:numFmt formatCode="&quot;MMM&quot;;&quot;MMM&quot;;&quot;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8"/>
              <c:layout>
                <c:manualLayout>
                  <c:x val="0.0350"/>
                  <c:y val="0.0000"/>
                </c:manualLayout>
              </c:layout>
              <c:numFmt formatCode="&quot;MMM&quot;;&quot;MMM&quot;;&quot;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9"/>
              <c:layout>
                <c:manualLayout>
                  <c:x val="0.0350"/>
                  <c:y val="0.0000"/>
                </c:manualLayout>
              </c:layout>
              <c:numFmt formatCode="&quot;MMM&quot;;&quot;MMM&quot;;&quot;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0"/>
              <c:layout>
                <c:manualLayout>
                  <c:x val="0.0350"/>
                  <c:y val="0.0000"/>
                </c:manualLayout>
              </c:layout>
              <c:numFmt formatCode="&quot;MMMM&quot;;&quot;MMMM&quot;;&quot;MMMM&quot;" sourceLinked="0"/>
              <c:spPr>
                <a:blipFill>
                  <a:blip r:embed="rId1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11"/>
                <c:pt idx="0">
                  <c:v>TransMedics</c:v>
                </c:pt>
                <c:pt idx="1">
                  <c:v>OrganOx</c:v>
                </c:pt>
                <c:pt idx="2">
                  <c:v>XVIVO Perfusion</c:v>
                </c:pt>
                <c:pt idx="3">
                  <c:v>Paragonix Technologies</c:v>
                </c:pt>
                <c:pt idx="4">
                  <c:v>Organ Recovery Systems</c:v>
                </c:pt>
                <c:pt idx="5">
                  <c:v>IGL Group / Waters Medical Systems</c:v>
                </c:pt>
                <c:pt idx="6">
                  <c:v>Bridge to Life</c:v>
                </c:pt>
                <c:pt idx="7">
                  <c:v>Aferetica</c:v>
                </c:pt>
                <c:pt idx="8">
                  <c:v>EBERS Medical Technology</c:v>
                </c:pt>
                <c:pt idx="9">
                  <c:v>Traferox Technologies</c:v>
                </c:pt>
                <c:pt idx="10">
                  <c:v>Others</c:v>
                </c:pt>
              </c:strCache>
            </c:strRef>
          </c:cat>
          <c:val>
            <c:numRef>
              <c:numCache>
                <c:formatCode>General</c:formatCode>
                <c:ptCount val="11"/>
                <c:pt idx="0">
                  <c:v>11.931858870012501</c:v>
                </c:pt>
                <c:pt idx="1">
                  <c:v>12.495250983383206</c:v>
                </c:pt>
                <c:pt idx="2">
                  <c:v>13.557011133261542</c:v>
                </c:pt>
                <c:pt idx="3">
                  <c:v>11.024479649083794</c:v>
                </c:pt>
                <c:pt idx="4">
                  <c:v>6.975036720459171</c:v>
                </c:pt>
                <c:pt idx="5">
                  <c:v>4.918850211127804</c:v>
                </c:pt>
                <c:pt idx="6">
                  <c:v>5.131252406943278</c:v>
                </c:pt>
                <c:pt idx="7">
                  <c:v>4.808839258461541</c:v>
                </c:pt>
                <c:pt idx="8">
                  <c:v>3.5084788144252483</c:v>
                </c:pt>
                <c:pt idx="9">
                  <c:v>2.100246059545411</c:v>
                </c:pt>
                <c:pt idx="10">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1668A8"/>
            </a:solidFill>
            <a:ln>
              <a:noFill/>
            </a:ln>
          </c:spPr>
          <c:dLbls>
            <c:dLbl>
              <c:idx val="0"/>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quot;;&quot;M&quot;;&quot;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2"/>
                <c:pt idx="0">
                  <c:v>Direct Sales</c:v>
                </c:pt>
                <c:pt idx="1">
                  <c:v>Distributor Sales</c:v>
                </c:pt>
              </c:strCache>
            </c:strRef>
          </c:cat>
          <c:val>
            <c:numRef>
              <c:numCache>
                <c:formatCode>General</c:formatCode>
                <c:ptCount val="2"/>
                <c:pt idx="0">
                  <c:v>1750.098346379606</c:v>
                </c:pt>
                <c:pt idx="1">
                  <c:v>973.6417358138933</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2310.12981722108"/>
          <c:min val="0.0"/>
        </c:scaling>
        <c:delete val="0"/>
        <c:axPos val="l"/>
        <c:numFmt formatCode="#,##0" sourceLinked="0"/>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strCache>
                <c:ptCount val="1"/>
                <c:pt idx="0">
                  <c:v>S1</c:v>
                </c:pt>
              </c:strCache>
            </c:strRef>
          </c:tx>
          <c:spPr>
            <a:solidFill>
              <a:srgbClr val="0E3A5F"/>
            </a:solidFill>
            <a:ln>
              <a:noFill/>
            </a:ln>
          </c:spPr>
          <c:dLbls>
            <c:dLbl>
              <c:idx val="0"/>
              <c:numFmt formatCode="&quot;MMMMM&quot;;&quot;MMMMM&quot;;&quot;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904.2307972277085</c:v>
                </c:pt>
                <c:pt idx="1">
                  <c:v>550.4032730180596</c:v>
                </c:pt>
                <c:pt idx="2">
                  <c:v>296.81652918386834</c:v>
                </c:pt>
                <c:pt idx="3">
                  <c:v>335.37995781625204</c:v>
                </c:pt>
                <c:pt idx="4">
                  <c:v>636.9095249476111</c:v>
                </c:pt>
              </c:numCache>
            </c:numRef>
          </c:val>
        </c:ser>
        <c:dLbls>
          <c:numFmt formatCode="#,##0"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1193.5846523405753"/>
          <c:min val="0.0"/>
        </c:scaling>
        <c:delete val="0"/>
        <c:axPos val="l"/>
        <c:majorTickMark val="out"/>
        <c:minorTickMark val="none"/>
        <c:tickLblPos val="none"/>
        <c:spPr>
          <a:ln>
            <a:solidFill>
              <a:srgbClr val="C6D5E1"/>
            </a:solidFill>
          </a:ln>
        </c:spPr>
        <c:txPr>
          <a:bodyPr/>
          <a:lstStyle/>
          <a:p>
            <a:pPr>
              <a:defRPr sz="1100"/>
            </a:pPr>
          </a:p>
        </c:txPr>
        <c:crossAx val="-2068027336"/>
        <c:crosses val="autoZero"/>
      </c:valAx>
    </c:plotArea>
    <c:dispBlanksAs val="gap"/>
  </c:chart>
  <c:txPr>
    <a:bodyPr/>
    <a:lstStyle/>
    <a:p>
      <a:pPr>
        <a:defRPr sz="1100">
          <a:latin typeface="Calibri"/>
        </a:defRPr>
      </a:pPr>
      <a:endParaRPr lang="en-US"/>
    </a:p>
  </c:txPr>
</c:chartSpace>
</file>

<file path=ppt/charts/chart14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strCache>
                <c:ptCount val="1"/>
                <c:pt idx="0">
                  <c:v>Share</c:v>
                </c:pt>
              </c:strCache>
            </c:strRef>
          </c:tx>
          <c:spPr/>
          <c:dPt>
            <c:idx val="0"/>
            <c:spPr>
              <a:solidFill>
                <a:srgbClr val="3D85C6"/>
              </a:solidFill>
            </c:spPr>
          </c:dPt>
          <c:dPt>
            <c:idx val="1"/>
            <c:spPr>
              <a:solidFill>
                <a:srgbClr val="9E7E0A"/>
              </a:solidFill>
            </c:spPr>
          </c:dPt>
          <c:dLbls>
            <c:dLbl>
              <c:idx val="0"/>
              <c:layout>
                <c:manualLayout>
                  <c:x val="0.0350"/>
                  <c:y val="0.0000"/>
                </c:manualLayout>
              </c:layout>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layout>
                <c:manualLayout>
                  <c:x val="0.0350"/>
                  <c:y val="0.0000"/>
                </c:manualLayout>
              </c:layout>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showLegendKey val="0"/>
            <c:showVal val="0"/>
            <c:showCatName val="0"/>
            <c:showSerName val="0"/>
            <c:showPercent val="0"/>
            <c:showBubbleSize val="0"/>
            <c:showLeaderLines val="1"/>
          </c:dLbls>
          <c:cat>
            <c:strRef>
              <c:strCache>
                <c:ptCount val="2"/>
                <c:pt idx="0">
                  <c:v>Portable Machine Perfusion Devices</c:v>
                </c:pt>
                <c:pt idx="1">
                  <c:v>Static Cold Storage Devices</c:v>
                </c:pt>
              </c:strCache>
            </c:strRef>
          </c:cat>
          <c:val>
            <c:numRef>
              <c:numCache>
                <c:formatCode>General</c:formatCode>
                <c:ptCount val="2"/>
                <c:pt idx="0">
                  <c:v>1139.5293907026985</c:v>
                </c:pt>
                <c:pt idx="1">
                  <c:v>1584.2106914908009</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pPr>
        </a:p>
      </c:txPr>
    </c:legend>
    <c:plotVisOnly val="1"/>
    <c:dispBlanksAs val="gap"/>
    <c:showDLblsOverMax val="0"/>
  </c:chart>
  <c:txPr>
    <a:bodyPr/>
    <a:lstStyle/>
    <a:p>
      <a:pPr>
        <a:defRPr sz="1100">
          <a:latin typeface="Calibri"/>
        </a:defRPr>
      </a:pPr>
      <a:endParaRPr/>
    </a:p>
  </c:txPr>
</c:chartSpace>
</file>

<file path=ppt/charts/chart14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strCache>
                <c:ptCount val="1"/>
                <c:pt idx="0">
                  <c:v>SAM</c:v>
                </c:pt>
              </c:strCache>
            </c:strRef>
          </c:tx>
          <c:spPr>
            <a:solidFill>
              <a:srgbClr val="69B1E0"/>
            </a:solidFill>
            <a:ln>
              <a:noFill/>
            </a:ln>
          </c:spPr>
          <c:dLbls>
            <c:dLbl>
              <c:idx val="0"/>
              <c:numFmt formatCode="&quot;MMMMMMM&quot;;&quot;MMMMMMM&quot;;&quot;MMMMMMM&quot;" sourceLinked="0"/>
              <c:spPr>
                <a:blipFill>
                  <a:blip r:embed="rId2"/>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MM&quot;;&quot;MMMMMMM&quot;;&quot;MMMMMMM&quot;" sourceLinked="0"/>
              <c:spPr>
                <a:blipFill>
                  <a:blip r:embed="rId3"/>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MM&quot;;&quot;MMMMMMM&quot;;&quot;MMMMMMM&quot;" sourceLinked="0"/>
              <c:spPr>
                <a:blipFill>
                  <a:blip r:embed="rId4"/>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MM&quot;;&quot;MMMMMMM&quot;;&quot;MMMMMMM&quot;" sourceLinked="0"/>
              <c:spPr>
                <a:blipFill>
                  <a:blip r:embed="rId5"/>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6"/>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2758.891044</c:v>
                </c:pt>
                <c:pt idx="1">
                  <c:v>2479.973329570869</c:v>
                </c:pt>
                <c:pt idx="2">
                  <c:v>1812.407929144632</c:v>
                </c:pt>
                <c:pt idx="3">
                  <c:v>1161.1310567637913</c:v>
                </c:pt>
                <c:pt idx="4">
                  <c:v>921.1985239292893</c:v>
                </c:pt>
              </c:numCache>
            </c:numRef>
          </c:val>
        </c:ser>
        <c:ser>
          <c:idx val="1"/>
          <c:order val="1"/>
          <c:tx>
            <c:strRef>
              <c:strCache>
                <c:ptCount val="1"/>
                <c:pt idx="0">
                  <c:v>SOM</c:v>
                </c:pt>
              </c:strCache>
            </c:strRef>
          </c:tx>
          <c:spPr>
            <a:solidFill>
              <a:srgbClr val="0E72AE"/>
            </a:solidFill>
            <a:ln>
              <a:noFill/>
            </a:ln>
          </c:spPr>
          <c:dLbls>
            <c:dLbl>
              <c:idx val="0"/>
              <c:numFmt formatCode="&quot;MMMMM&quot;;&quot;MMMMM&quot;;&quot;MMMMM&quot;" sourceLinked="0"/>
              <c:spPr>
                <a:blipFill>
                  <a:blip r:embed="rId7"/>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1"/>
              <c:numFmt formatCode="&quot;MMMMM&quot;;&quot;MMMMM&quot;;&quot;MMMMM&quot;" sourceLinked="0"/>
              <c:spPr>
                <a:blipFill>
                  <a:blip r:embed="rId8"/>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2"/>
              <c:numFmt formatCode="&quot;MMMMM&quot;;&quot;MMMMM&quot;;&quot;MMMMM&quot;" sourceLinked="0"/>
              <c:spPr>
                <a:blipFill>
                  <a:blip r:embed="rId9"/>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3"/>
              <c:numFmt formatCode="&quot;MMMMM&quot;;&quot;MMMMM&quot;;&quot;MMMMM&quot;" sourceLinked="0"/>
              <c:spPr>
                <a:blipFill>
                  <a:blip r:embed="rId10"/>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dLbl>
              <c:idx val="4"/>
              <c:numFmt formatCode="&quot;MMMMM&quot;;&quot;MMMMM&quot;;&quot;MMMMM&quot;" sourceLinked="0"/>
              <c:spPr>
                <a:blipFill>
                  <a:blip r:embed="rId11"/>
                  <a:stretch>
                    <a:fillRect/>
                  </a:stretch>
                </a:blipFill>
              </c:spPr>
              <c:txPr>
                <a:bodyPr/>
                <a:lstStyle/>
                <a:p>
                  <a:pPr>
                    <a:defRPr>
                      <a:solidFill>
                        <a:srgbClr val="FFFFFF">
                          <a:alpha val="0"/>
                        </a:srgbClr>
                      </a:solidFill>
                    </a:defRPr>
                  </a:pPr>
                  <a:endParaRPr lang="en-US"/>
                </a:p>
              </c:txPr>
              <c:showLegendKey val="0"/>
              <c:showVal val="1"/>
              <c:showCatName val="0"/>
              <c:showSerName val="0"/>
              <c:showPercent val="0"/>
              <c:showBubbleSize val="0"/>
            </c:dLbl>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cat>
            <c:strRef>
              <c:strCache>
                <c:ptCount val="5"/>
                <c:pt idx="0">
                  <c:v>North America</c:v>
                </c:pt>
                <c:pt idx="1">
                  <c:v>Europe</c:v>
                </c:pt>
                <c:pt idx="2">
                  <c:v>South Asia &amp; Pacific</c:v>
                </c:pt>
                <c:pt idx="3">
                  <c:v>East Asia</c:v>
                </c:pt>
                <c:pt idx="4">
                  <c:v>Rest of the World</c:v>
                </c:pt>
              </c:strCache>
            </c:strRef>
          </c:cat>
          <c:val>
            <c:numRef>
              <c:numCache>
                <c:formatCode>General</c:formatCode>
                <c:ptCount val="5"/>
                <c:pt idx="0">
                  <c:v>904.2307972277085</c:v>
                </c:pt>
                <c:pt idx="1">
                  <c:v>550.4032730180596</c:v>
                </c:pt>
                <c:pt idx="2">
                  <c:v>296.81652918386834</c:v>
                </c:pt>
                <c:pt idx="3">
                  <c:v>335.37995781625204</c:v>
                </c:pt>
                <c:pt idx="4">
                  <c:v>636.9095249476111</c:v>
                </c:pt>
              </c:numCache>
            </c:numRef>
          </c:val>
        </c:ser>
        <c:dLbls>
          <c:numFmt formatCode="0.0&quot;%&quot;" sourceLinked="0"/>
          <c:txPr>
            <a:bodyPr rot="0" vert="horz"/>
            <a:lstStyle/>
            <a:p>
              <a:pPr>
                <a:defRPr sz="11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1100"/>
            </a:pPr>
          </a:p>
        </c:txPr>
        <c:crossAx val="-2113994440"/>
        <c:crosses val="autoZero"/>
        <c:auto val="1"/>
        <c:lblAlgn val="ctr"/>
        <c:lblOffset val="100"/>
        <c:noMultiLvlLbl val="0"/>
        <c:tickLblSkip val="1"/>
        <c:tickMarkSkip val="1"/>
      </c:catAx>
      <c:valAx>
        <c:axId val="-2113994440"/>
        <c:scaling>
          <c:max val="3531.38053632"/>
          <c:min val="0.0"/>
        </c:scaling>
        <c:delete val="0"/>
        <c:axPos val="b"/>
        <c:numFmt formatCode="0&quot;%&quot;" sourceLinked="0"/>
        <c:majorTickMark val="out"/>
        <c:minorTickMark val="none"/>
        <c:tickLblPos val="nextTo"/>
        <c:spPr>
          <a:ln>
            <a:solidFill>
              <a:srgbClr val="C6D5E1"/>
            </a:solidFill>
          </a:ln>
        </c:spPr>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100">
          <a:latin typeface="Calibri"/>
        </a:defRPr>
      </a:pPr>
      <a:endParaRPr lang="en-US"/>
    </a:p>
  </c:tx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Overview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Country Outlook  (1/2)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Country Outlook  (2/2)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Global Organ Transport Devices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By Device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By Organ Compatibility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By Device Reusability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By Monitoring Capability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By Purchasing Organisation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America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North America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North America Organ Transport Devices –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Market Analysis By Country (1/2)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Market Analysis By Country (2/2)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Volume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Value Share Analysis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Market Trends By Country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By Country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By Device Technology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By Organ Compatibility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Organ Compatibility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By Device Reusability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By Monitoring Capability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By Purchasing Organisation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Purchasing Organisation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By Sales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Sales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Country Market Outlook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Overview Key Segments (Value)</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Device Technology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Device Technology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Organ Compatibility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Organ Compatibility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Device Reusability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Device Reusability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Monitoring Capability Segmental</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Monitoring Capability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Purchasing Organisation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Purchasing Organisation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Sales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Country Sales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(1/2)</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Snapshot  (2/2)</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(1/2)</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Market Share Analysis  (2/2)</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Technology x Organ Compatibility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Monitoring Capability x Purchasing Organisation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Snapshot</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Market Share Analysis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Device Reusability x Sales Channel Absolute $ Opportunity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Global Pricing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Supply Chain Analysis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 Dynamics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Competition Assessment (section breaker)</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Competitive Landscape at a Glance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Segment Leadership Map</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Value Chain Positioning</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Player Landscape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Corporate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Offering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Execution Scorecard</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Success Factors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Strategic Activity Tracker</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Strategic Activity by Function</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Industry Structure Landscape  (1/2)</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Industry Structure Landscape  (2/2)</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Competitive Landscape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Company Profiles &amp; Strategic Benchmarking TransMedics Snapshot</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Company Profiles &amp; Strategic Benchmarking TransMedics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Company Profiles &amp; Strategic Benchmarking TransMedics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Company Profiles &amp; Strategic Benchmarking TransMedics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Competitor Company Profiles &amp; Strategic Benchmarking TransMedics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(1/7)</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(2/7)</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(3/7)</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(4/7)</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(5/7)</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(6/7)</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Table of Contents  (7/7)</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Figures  (1/4)</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Figures  (2/4)</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Figures  (3/4)</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Figures  (4/4)</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Tables  (1/4)</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Tables  (2/4)</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Tables  (3/4)</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 Transport Devices Market List of Tables  (4/4)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7.jpg"/><Relationship Id="rId3" Type="http://schemas.openxmlformats.org/officeDocument/2006/relationships/image" Target="../media/image558.png"/><Relationship Id="rId4" Type="http://schemas.openxmlformats.org/officeDocument/2006/relationships/image" Target="../media/image559.png"/><Relationship Id="rId5" Type="http://schemas.openxmlformats.org/officeDocument/2006/relationships/image" Target="../media/image56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8.xml"/><Relationship Id="rId8" Type="http://schemas.openxmlformats.org/officeDocument/2006/relationships/slide" Target="slide27.xml"/><Relationship Id="rId9" Type="http://schemas.openxmlformats.org/officeDocument/2006/relationships/slide" Target="slide28.xml"/><Relationship Id="rId10" Type="http://schemas.openxmlformats.org/officeDocument/2006/relationships/slide" Target="slide39.xml"/><Relationship Id="rId11" Type="http://schemas.openxmlformats.org/officeDocument/2006/relationships/slide" Target="slide47.xml"/><Relationship Id="rId12" Type="http://schemas.openxmlformats.org/officeDocument/2006/relationships/slide" Target="slide84.xml"/><Relationship Id="rId13" Type="http://schemas.openxmlformats.org/officeDocument/2006/relationships/slide" Target="slide99.xml"/><Relationship Id="rId14" Type="http://schemas.openxmlformats.org/officeDocument/2006/relationships/slide" Target="slide100.xml"/><Relationship Id="rId15" Type="http://schemas.openxmlformats.org/officeDocument/2006/relationships/slide" Target="slide110.xml"/><Relationship Id="rId16" Type="http://schemas.openxmlformats.org/officeDocument/2006/relationships/slide" Target="slide118.xml"/><Relationship Id="rId17" Type="http://schemas.openxmlformats.org/officeDocument/2006/relationships/slide" Target="slide155.xml"/><Relationship Id="rId18" Type="http://schemas.openxmlformats.org/officeDocument/2006/relationships/slide" Target="slide170.xml"/><Relationship Id="rId19" Type="http://schemas.openxmlformats.org/officeDocument/2006/relationships/slide" Target="slide171.xml"/><Relationship Id="rId20" Type="http://schemas.openxmlformats.org/officeDocument/2006/relationships/slide" Target="slide175.xml"/><Relationship Id="rId21" Type="http://schemas.openxmlformats.org/officeDocument/2006/relationships/slide" Target="slide194.xml"/><Relationship Id="rId22" Type="http://schemas.openxmlformats.org/officeDocument/2006/relationships/slide" Target="slide209.xml"/><Relationship Id="rId23" Type="http://schemas.openxmlformats.org/officeDocument/2006/relationships/slide" Target="slide210.xml"/><Relationship Id="rId24" Type="http://schemas.openxmlformats.org/officeDocument/2006/relationships/slide" Target="slide223.xml"/><Relationship Id="rId25" Type="http://schemas.openxmlformats.org/officeDocument/2006/relationships/slide" Target="slide227.xml"/><Relationship Id="rId26" Type="http://schemas.openxmlformats.org/officeDocument/2006/relationships/slide" Target="slide228.xml"/><Relationship Id="rId27" Type="http://schemas.openxmlformats.org/officeDocument/2006/relationships/slide" Target="slide236.xml"/><Relationship Id="rId28" Type="http://schemas.openxmlformats.org/officeDocument/2006/relationships/slide" Target="slide249.xml"/><Relationship Id="rId29" Type="http://schemas.openxmlformats.org/officeDocument/2006/relationships/slide" Target="slide237.xml"/><Relationship Id="rId30" Type="http://schemas.openxmlformats.org/officeDocument/2006/relationships/slide" Target="slide2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7.xml"/><Relationship Id="rId6"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9.xml"/><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10.xml"/><Relationship Id="rId6"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11.xml"/><Relationship Id="rId6"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4.xml"/><Relationship Id="rId5"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notesSlide" Target="../notesSlides/notesSlide16.xml"/><Relationship Id="rId5"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69.png"/><Relationship Id="rId15" Type="http://schemas.openxmlformats.org/officeDocument/2006/relationships/image" Target="../media/image70.png"/><Relationship Id="rId16" Type="http://schemas.openxmlformats.org/officeDocument/2006/relationships/image" Target="../media/image71.png"/><Relationship Id="rId17" Type="http://schemas.openxmlformats.org/officeDocument/2006/relationships/image" Target="../media/image72.png"/><Relationship Id="rId18" Type="http://schemas.openxmlformats.org/officeDocument/2006/relationships/image" Target="../media/image73.png"/><Relationship Id="rId19" Type="http://schemas.openxmlformats.org/officeDocument/2006/relationships/image" Target="../media/image74.png"/><Relationship Id="rId20" Type="http://schemas.openxmlformats.org/officeDocument/2006/relationships/image" Target="../media/image75.png"/><Relationship Id="rId21" Type="http://schemas.openxmlformats.org/officeDocument/2006/relationships/image" Target="../media/image76.png"/><Relationship Id="rId2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xml"/><Relationship Id="rId4" Type="http://schemas.openxmlformats.org/officeDocument/2006/relationships/notesSlide" Target="../notesSlides/notesSlide18.xml"/><Relationship Id="rId5" Type="http://schemas.openxmlformats.org/officeDocument/2006/relationships/image" Target="../media/image2.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9.xml"/><Relationship Id="rId5" Type="http://schemas.openxmlformats.org/officeDocument/2006/relationships/image" Target="../media/image2.png"/><Relationship Id="rId6" Type="http://schemas.openxmlformats.org/officeDocument/2006/relationships/image" Target="../media/image103.png"/><Relationship Id="rId7" Type="http://schemas.openxmlformats.org/officeDocument/2006/relationships/image" Target="../media/image104.png"/><Relationship Id="rId8" Type="http://schemas.openxmlformats.org/officeDocument/2006/relationships/image" Target="../media/image10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76.png"/><Relationship Id="rId7" Type="http://schemas.openxmlformats.org/officeDocument/2006/relationships/image" Target="../media/image110.png"/><Relationship Id="rId8" Type="http://schemas.openxmlformats.org/officeDocument/2006/relationships/image" Target="../media/image111.png"/><Relationship Id="rId9" Type="http://schemas.openxmlformats.org/officeDocument/2006/relationships/image" Target="../media/image112.png"/><Relationship Id="rId10"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5.xml"/><Relationship Id="rId4" Type="http://schemas.openxmlformats.org/officeDocument/2006/relationships/chart" Target="../charts/chart16.xml"/><Relationship Id="rId5" Type="http://schemas.openxmlformats.org/officeDocument/2006/relationships/notesSlide" Target="../notesSlides/notesSlide25.xml"/><Relationship Id="rId6"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7.xml"/><Relationship Id="rId4" Type="http://schemas.openxmlformats.org/officeDocument/2006/relationships/chart" Target="../charts/chart18.xml"/><Relationship Id="rId5" Type="http://schemas.openxmlformats.org/officeDocument/2006/relationships/notesSlide" Target="../notesSlides/notesSlide26.xml"/><Relationship Id="rId6"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9.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05.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0.xml"/><Relationship Id="rId4" Type="http://schemas.openxmlformats.org/officeDocument/2006/relationships/chart" Target="../charts/chart21.xml"/><Relationship Id="rId5" Type="http://schemas.openxmlformats.org/officeDocument/2006/relationships/notesSlide" Target="../notesSlides/notesSlide34.xml"/><Relationship Id="rId6"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5.xml"/><Relationship Id="rId6"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notesSlide" Target="../notesSlides/notesSlide38.xml"/><Relationship Id="rId5"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 Id="rId4" Type="http://schemas.openxmlformats.org/officeDocument/2006/relationships/image" Target="../media/image149.png"/><Relationship Id="rId5" Type="http://schemas.openxmlformats.org/officeDocument/2006/relationships/image" Target="../media/image150.png"/><Relationship Id="rId6" Type="http://schemas.openxmlformats.org/officeDocument/2006/relationships/image" Target="../media/image90.png"/><Relationship Id="rId7" Type="http://schemas.openxmlformats.org/officeDocument/2006/relationships/image" Target="../media/image151.png"/><Relationship Id="rId8" Type="http://schemas.openxmlformats.org/officeDocument/2006/relationships/image" Target="../media/image152.png"/><Relationship Id="rId9" Type="http://schemas.openxmlformats.org/officeDocument/2006/relationships/image" Target="../media/image153.png"/><Relationship Id="rId10"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5.xml"/><Relationship Id="rId4" Type="http://schemas.openxmlformats.org/officeDocument/2006/relationships/chart" Target="../charts/chart26.xml"/><Relationship Id="rId5" Type="http://schemas.openxmlformats.org/officeDocument/2006/relationships/notesSlide" Target="../notesSlides/notesSlide42.xml"/><Relationship Id="rId6"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chart" Target="../charts/chart28.xml"/><Relationship Id="rId5" Type="http://schemas.openxmlformats.org/officeDocument/2006/relationships/notesSlide" Target="../notesSlides/notesSlide43.xml"/><Relationship Id="rId6"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9.xml"/><Relationship Id="rId4" Type="http://schemas.openxmlformats.org/officeDocument/2006/relationships/notesSlide" Target="../notesSlides/notesSlide46.xml"/><Relationship Id="rId5"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112.png"/><Relationship Id="rId7" Type="http://schemas.openxmlformats.org/officeDocument/2006/relationships/image" Target="../media/image172.png"/><Relationship Id="rId8" Type="http://schemas.openxmlformats.org/officeDocument/2006/relationships/image" Target="../media/image173.png"/><Relationship Id="rId9" Type="http://schemas.openxmlformats.org/officeDocument/2006/relationships/image" Target="../media/image90.png"/><Relationship Id="rId10"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notesSlide" Target="../notesSlides/notesSlide50.xml"/><Relationship Id="rId6"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2.xml"/><Relationship Id="rId4" Type="http://schemas.openxmlformats.org/officeDocument/2006/relationships/chart" Target="../charts/chart33.xml"/><Relationship Id="rId5" Type="http://schemas.openxmlformats.org/officeDocument/2006/relationships/notesSlide" Target="../notesSlides/notesSlide51.xml"/><Relationship Id="rId6"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notesSlide" Target="../notesSlides/notesSlide55.xml"/><Relationship Id="rId5"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 Id="rId4" Type="http://schemas.openxmlformats.org/officeDocument/2006/relationships/image" Target="../media/image192.png"/><Relationship Id="rId5" Type="http://schemas.openxmlformats.org/officeDocument/2006/relationships/image" Target="../media/image193.png"/><Relationship Id="rId6" Type="http://schemas.openxmlformats.org/officeDocument/2006/relationships/image" Target="../media/image194.png"/><Relationship Id="rId7" Type="http://schemas.openxmlformats.org/officeDocument/2006/relationships/image" Target="../media/image195.png"/><Relationship Id="rId8" Type="http://schemas.openxmlformats.org/officeDocument/2006/relationships/image" Target="../media/image196.png"/><Relationship Id="rId9" Type="http://schemas.openxmlformats.org/officeDocument/2006/relationships/image" Target="../media/image64.png"/><Relationship Id="rId10" Type="http://schemas.openxmlformats.org/officeDocument/2006/relationships/image" Target="../media/image197.png"/><Relationship Id="rId11" Type="http://schemas.openxmlformats.org/officeDocument/2006/relationships/image" Target="../media/image198.png"/><Relationship Id="rId12" Type="http://schemas.openxmlformats.org/officeDocument/2006/relationships/image" Target="../media/image199.png"/><Relationship Id="rId13" Type="http://schemas.openxmlformats.org/officeDocument/2006/relationships/image" Target="../media/image200.png"/><Relationship Id="rId14" Type="http://schemas.openxmlformats.org/officeDocument/2006/relationships/image" Target="../media/image201.png"/><Relationship Id="rId15" Type="http://schemas.openxmlformats.org/officeDocument/2006/relationships/image" Target="../media/image202.png"/><Relationship Id="rId16"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5.xml"/><Relationship Id="rId4" Type="http://schemas.openxmlformats.org/officeDocument/2006/relationships/chart" Target="../charts/chart36.xml"/><Relationship Id="rId5" Type="http://schemas.openxmlformats.org/officeDocument/2006/relationships/notesSlide" Target="../notesSlides/notesSlide59.xml"/><Relationship Id="rId6"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7.xml"/><Relationship Id="rId4" Type="http://schemas.openxmlformats.org/officeDocument/2006/relationships/chart" Target="../charts/chart38.xml"/><Relationship Id="rId5" Type="http://schemas.openxmlformats.org/officeDocument/2006/relationships/chart" Target="../charts/chart39.xml"/><Relationship Id="rId6" Type="http://schemas.openxmlformats.org/officeDocument/2006/relationships/chart" Target="../charts/chart40.xml"/><Relationship Id="rId7" Type="http://schemas.openxmlformats.org/officeDocument/2006/relationships/notesSlide" Target="../notesSlides/notesSlide60.xml"/><Relationship Id="rId8"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1.xml"/><Relationship Id="rId4" Type="http://schemas.openxmlformats.org/officeDocument/2006/relationships/notesSlide" Target="../notesSlides/notesSlide63.xml"/><Relationship Id="rId5"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 Id="rId4" Type="http://schemas.openxmlformats.org/officeDocument/2006/relationships/image" Target="../media/image238.png"/><Relationship Id="rId5" Type="http://schemas.openxmlformats.org/officeDocument/2006/relationships/image" Target="../media/image239.png"/><Relationship Id="rId6" Type="http://schemas.openxmlformats.org/officeDocument/2006/relationships/image" Target="../media/image90.png"/><Relationship Id="rId7" Type="http://schemas.openxmlformats.org/officeDocument/2006/relationships/image" Target="../media/image240.png"/><Relationship Id="rId8" Type="http://schemas.openxmlformats.org/officeDocument/2006/relationships/image" Target="../media/image241.png"/><Relationship Id="rId9" Type="http://schemas.openxmlformats.org/officeDocument/2006/relationships/image" Target="../media/image242.png"/><Relationship Id="rId10"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notesSlide" Target="../notesSlides/notesSlide67.xml"/><Relationship Id="rId6"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4.xml"/><Relationship Id="rId4" Type="http://schemas.openxmlformats.org/officeDocument/2006/relationships/chart" Target="../charts/chart45.xml"/><Relationship Id="rId5" Type="http://schemas.openxmlformats.org/officeDocument/2006/relationships/notesSlide" Target="../notesSlides/notesSlide68.xml"/><Relationship Id="rId6"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notesSlide" Target="../notesSlides/notesSlide71.xml"/><Relationship Id="rId5"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image" Target="../media/image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7.xml"/><Relationship Id="rId4" Type="http://schemas.openxmlformats.org/officeDocument/2006/relationships/notesSlide" Target="../notesSlides/notesSlide77.xml"/><Relationship Id="rId5"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notesSlide" Target="../notesSlides/notesSlide80.xml"/><Relationship Id="rId5"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 Id="rId4"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9.xml"/><Relationship Id="rId4" Type="http://schemas.openxmlformats.org/officeDocument/2006/relationships/notesSlide" Target="../notesSlides/notesSlide83.xml"/><Relationship Id="rId5"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 Id="rId4"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notesSlide" Target="../notesSlides/notesSlide86.xml"/><Relationship Id="rId6"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notesSlide" Target="../notesSlides/notesSlide88.xml"/><Relationship Id="rId6"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4.xml"/><Relationship Id="rId4" Type="http://schemas.openxmlformats.org/officeDocument/2006/relationships/chart" Target="../charts/chart55.xml"/><Relationship Id="rId5" Type="http://schemas.openxmlformats.org/officeDocument/2006/relationships/notesSlide" Target="../notesSlides/notesSlide89.xml"/><Relationship Id="rId6"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notesSlide" Target="../notesSlides/notesSlide90.xml"/><Relationship Id="rId6"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8.xml"/><Relationship Id="rId4" Type="http://schemas.openxmlformats.org/officeDocument/2006/relationships/notesSlide" Target="../notesSlides/notesSlide92.xml"/><Relationship Id="rId5"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9.xml"/><Relationship Id="rId4" Type="http://schemas.openxmlformats.org/officeDocument/2006/relationships/notesSlide" Target="../notesSlides/notesSlide94.xml"/><Relationship Id="rId5" Type="http://schemas.openxmlformats.org/officeDocument/2006/relationships/image" Target="../media/image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image" Target="../media/image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notesSlide" Target="../notesSlides/notesSlide96.xml"/><Relationship Id="rId5" Type="http://schemas.openxmlformats.org/officeDocument/2006/relationships/image" Target="../media/image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1.xml"/><Relationship Id="rId4" Type="http://schemas.openxmlformats.org/officeDocument/2006/relationships/notesSlide" Target="../notesSlides/notesSlide97.xml"/><Relationship Id="rId5" Type="http://schemas.openxmlformats.org/officeDocument/2006/relationships/image" Target="../media/image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image" Target="../media/image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2.xml"/><Relationship Id="rId4" Type="http://schemas.openxmlformats.org/officeDocument/2006/relationships/chart" Target="../charts/chart63.xml"/><Relationship Id="rId5" Type="http://schemas.openxmlformats.org/officeDocument/2006/relationships/notesSlide" Target="../notesSlides/notesSlide100.xml"/><Relationship Id="rId6" Type="http://schemas.openxmlformats.org/officeDocument/2006/relationships/image" Target="../media/image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 Id="rId4" Type="http://schemas.openxmlformats.org/officeDocument/2006/relationships/image" Target="../media/image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image" Target="../media/image373.png"/><Relationship Id="rId5" Type="http://schemas.openxmlformats.org/officeDocument/2006/relationships/image" Target="../media/image374.png"/><Relationship Id="rId6" Type="http://schemas.openxmlformats.org/officeDocument/2006/relationships/image" Target="../media/image375.png"/><Relationship Id="rId7" Type="http://schemas.openxmlformats.org/officeDocument/2006/relationships/image" Target="../media/image376.png"/><Relationship Id="rId8" Type="http://schemas.openxmlformats.org/officeDocument/2006/relationships/image" Target="../media/image377.png"/><Relationship Id="rId9" Type="http://schemas.openxmlformats.org/officeDocument/2006/relationships/image" Target="../media/image378.png"/><Relationship Id="rId10"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4.xml"/><Relationship Id="rId4" Type="http://schemas.openxmlformats.org/officeDocument/2006/relationships/chart" Target="../charts/chart65.xml"/><Relationship Id="rId5" Type="http://schemas.openxmlformats.org/officeDocument/2006/relationships/notesSlide" Target="../notesSlides/notesSlide103.xml"/><Relationship Id="rId6" Type="http://schemas.openxmlformats.org/officeDocument/2006/relationships/image" Target="../media/image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104.xml"/><Relationship Id="rId6"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image" Target="../media/image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notesSlide" Target="../notesSlides/notesSlide107.xml"/><Relationship Id="rId5"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image" Target="../media/image389.png"/><Relationship Id="rId5" Type="http://schemas.openxmlformats.org/officeDocument/2006/relationships/image" Target="../media/image390.png"/><Relationship Id="rId6" Type="http://schemas.openxmlformats.org/officeDocument/2006/relationships/image" Target="../media/image61.png"/><Relationship Id="rId7" Type="http://schemas.openxmlformats.org/officeDocument/2006/relationships/image" Target="../media/image391.png"/><Relationship Id="rId8" Type="http://schemas.openxmlformats.org/officeDocument/2006/relationships/image" Target="../media/image392.png"/><Relationship Id="rId9" Type="http://schemas.openxmlformats.org/officeDocument/2006/relationships/image" Target="../media/image375.png"/><Relationship Id="rId10"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9.xml"/><Relationship Id="rId4" Type="http://schemas.openxmlformats.org/officeDocument/2006/relationships/chart" Target="../charts/chart70.xml"/><Relationship Id="rId5" Type="http://schemas.openxmlformats.org/officeDocument/2006/relationships/notesSlide" Target="../notesSlides/notesSlide111.xml"/><Relationship Id="rId6" Type="http://schemas.openxmlformats.org/officeDocument/2006/relationships/image" Target="../media/image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1.xml"/><Relationship Id="rId4" Type="http://schemas.openxmlformats.org/officeDocument/2006/relationships/chart" Target="../charts/chart72.xml"/><Relationship Id="rId5" Type="http://schemas.openxmlformats.org/officeDocument/2006/relationships/notesSlide" Target="../notesSlides/notesSlide112.xml"/><Relationship Id="rId6" Type="http://schemas.openxmlformats.org/officeDocument/2006/relationships/image" Target="../media/image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3.xml"/><Relationship Id="rId4" Type="http://schemas.openxmlformats.org/officeDocument/2006/relationships/notesSlide" Target="../notesSlides/notesSlide115.xml"/><Relationship Id="rId5" Type="http://schemas.openxmlformats.org/officeDocument/2006/relationships/image" Target="../media/image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 Id="rId4" Type="http://schemas.openxmlformats.org/officeDocument/2006/relationships/image" Target="../media/image401.png"/><Relationship Id="rId5" Type="http://schemas.openxmlformats.org/officeDocument/2006/relationships/image" Target="../media/image402.png"/><Relationship Id="rId6" Type="http://schemas.openxmlformats.org/officeDocument/2006/relationships/image" Target="../media/image403.png"/><Relationship Id="rId7" Type="http://schemas.openxmlformats.org/officeDocument/2006/relationships/image" Target="../media/image404.png"/><Relationship Id="rId8" Type="http://schemas.openxmlformats.org/officeDocument/2006/relationships/image" Target="../media/image405.png"/><Relationship Id="rId9" Type="http://schemas.openxmlformats.org/officeDocument/2006/relationships/image" Target="../media/image406.png"/><Relationship Id="rId10"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notesSlide" Target="../notesSlides/notesSlide119.xml"/><Relationship Id="rId6" Type="http://schemas.openxmlformats.org/officeDocument/2006/relationships/image" Target="../media/image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120.xml"/><Relationship Id="rId6" Type="http://schemas.openxmlformats.org/officeDocument/2006/relationships/image" Target="../media/image2.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notesSlide" Target="../notesSlides/notesSlide123.xml"/><Relationship Id="rId5" Type="http://schemas.openxmlformats.org/officeDocument/2006/relationships/image" Target="../media/image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 Id="rId4" Type="http://schemas.openxmlformats.org/officeDocument/2006/relationships/image" Target="../media/image417.png"/><Relationship Id="rId5" Type="http://schemas.openxmlformats.org/officeDocument/2006/relationships/image" Target="../media/image418.png"/><Relationship Id="rId6" Type="http://schemas.openxmlformats.org/officeDocument/2006/relationships/image" Target="../media/image419.png"/><Relationship Id="rId7" Type="http://schemas.openxmlformats.org/officeDocument/2006/relationships/image" Target="../media/image420.png"/><Relationship Id="rId8" Type="http://schemas.openxmlformats.org/officeDocument/2006/relationships/image" Target="../media/image421.png"/><Relationship Id="rId9" Type="http://schemas.openxmlformats.org/officeDocument/2006/relationships/image" Target="../media/image202.png"/><Relationship Id="rId10" Type="http://schemas.openxmlformats.org/officeDocument/2006/relationships/image" Target="../media/image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notesSlide" Target="../notesSlides/notesSlide127.xml"/><Relationship Id="rId6" Type="http://schemas.openxmlformats.org/officeDocument/2006/relationships/image" Target="../media/image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1.xml"/><Relationship Id="rId4" Type="http://schemas.openxmlformats.org/officeDocument/2006/relationships/chart" Target="../charts/chart82.xml"/><Relationship Id="rId5" Type="http://schemas.openxmlformats.org/officeDocument/2006/relationships/notesSlide" Target="../notesSlides/notesSlide128.xml"/><Relationship Id="rId6" Type="http://schemas.openxmlformats.org/officeDocument/2006/relationships/image" Target="../media/image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image" Target="../media/image2.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3.xml"/><Relationship Id="rId4" Type="http://schemas.openxmlformats.org/officeDocument/2006/relationships/notesSlide" Target="../notesSlides/notesSlide131.xml"/><Relationship Id="rId5" Type="http://schemas.openxmlformats.org/officeDocument/2006/relationships/image" Target="../media/image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image" Target="../media/image432.png"/><Relationship Id="rId5" Type="http://schemas.openxmlformats.org/officeDocument/2006/relationships/image" Target="../media/image433.png"/><Relationship Id="rId6" Type="http://schemas.openxmlformats.org/officeDocument/2006/relationships/image" Target="../media/image434.png"/><Relationship Id="rId7" Type="http://schemas.openxmlformats.org/officeDocument/2006/relationships/image" Target="../media/image435.png"/><Relationship Id="rId8" Type="http://schemas.openxmlformats.org/officeDocument/2006/relationships/image" Target="../media/image172.png"/><Relationship Id="rId9" Type="http://schemas.openxmlformats.org/officeDocument/2006/relationships/image" Target="../media/image436.png"/><Relationship Id="rId10" Type="http://schemas.openxmlformats.org/officeDocument/2006/relationships/image" Target="../media/image437.png"/><Relationship Id="rId11" Type="http://schemas.openxmlformats.org/officeDocument/2006/relationships/image" Target="../media/image438.png"/><Relationship Id="rId12" Type="http://schemas.openxmlformats.org/officeDocument/2006/relationships/image" Target="../media/image439.png"/><Relationship Id="rId13" Type="http://schemas.openxmlformats.org/officeDocument/2006/relationships/image" Target="../media/image440.png"/><Relationship Id="rId14" Type="http://schemas.openxmlformats.org/officeDocument/2006/relationships/image" Target="../media/image441.png"/><Relationship Id="rId15" Type="http://schemas.openxmlformats.org/officeDocument/2006/relationships/image" Target="../media/image442.png"/><Relationship Id="rId16" Type="http://schemas.openxmlformats.org/officeDocument/2006/relationships/image" Target="../media/image2.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4.xml"/><Relationship Id="rId4" Type="http://schemas.openxmlformats.org/officeDocument/2006/relationships/chart" Target="../charts/chart85.xml"/><Relationship Id="rId5" Type="http://schemas.openxmlformats.org/officeDocument/2006/relationships/notesSlide" Target="../notesSlides/notesSlide135.xml"/><Relationship Id="rId6" Type="http://schemas.openxmlformats.org/officeDocument/2006/relationships/image" Target="../media/image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6.xml"/><Relationship Id="rId4" Type="http://schemas.openxmlformats.org/officeDocument/2006/relationships/chart" Target="../charts/chart87.xml"/><Relationship Id="rId5" Type="http://schemas.openxmlformats.org/officeDocument/2006/relationships/chart" Target="../charts/chart88.xml"/><Relationship Id="rId6" Type="http://schemas.openxmlformats.org/officeDocument/2006/relationships/chart" Target="../charts/chart89.xml"/><Relationship Id="rId7" Type="http://schemas.openxmlformats.org/officeDocument/2006/relationships/notesSlide" Target="../notesSlides/notesSlide136.xml"/><Relationship Id="rId8" Type="http://schemas.openxmlformats.org/officeDocument/2006/relationships/image" Target="../media/image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0.xml"/><Relationship Id="rId4" Type="http://schemas.openxmlformats.org/officeDocument/2006/relationships/notesSlide" Target="../notesSlides/notesSlide139.xml"/><Relationship Id="rId5" Type="http://schemas.openxmlformats.org/officeDocument/2006/relationships/image" Target="../media/image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 Id="rId4" Type="http://schemas.openxmlformats.org/officeDocument/2006/relationships/image" Target="../media/image463.png"/><Relationship Id="rId5" Type="http://schemas.openxmlformats.org/officeDocument/2006/relationships/image" Target="../media/image464.png"/><Relationship Id="rId6" Type="http://schemas.openxmlformats.org/officeDocument/2006/relationships/image" Target="../media/image465.png"/><Relationship Id="rId7" Type="http://schemas.openxmlformats.org/officeDocument/2006/relationships/image" Target="../media/image466.png"/><Relationship Id="rId8" Type="http://schemas.openxmlformats.org/officeDocument/2006/relationships/image" Target="../media/image467.png"/><Relationship Id="rId9" Type="http://schemas.openxmlformats.org/officeDocument/2006/relationships/image" Target="../media/image76.png"/><Relationship Id="rId10"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1.xml"/><Relationship Id="rId4" Type="http://schemas.openxmlformats.org/officeDocument/2006/relationships/chart" Target="../charts/chart92.xml"/><Relationship Id="rId5" Type="http://schemas.openxmlformats.org/officeDocument/2006/relationships/notesSlide" Target="../notesSlides/notesSlide143.xml"/><Relationship Id="rId6" Type="http://schemas.openxmlformats.org/officeDocument/2006/relationships/image" Target="../media/image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notesSlide" Target="../notesSlides/notesSlide144.xml"/><Relationship Id="rId6" Type="http://schemas.openxmlformats.org/officeDocument/2006/relationships/image" Target="../media/image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 Id="rId4"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5.xml"/><Relationship Id="rId4" Type="http://schemas.openxmlformats.org/officeDocument/2006/relationships/notesSlide" Target="../notesSlides/notesSlide147.xml"/><Relationship Id="rId5" Type="http://schemas.openxmlformats.org/officeDocument/2006/relationships/image" Target="../media/image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 Id="rId4"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 Id="rId4"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notesSlide" Target="../notesSlides/notesSlide153.xml"/><Relationship Id="rId5" Type="http://schemas.openxmlformats.org/officeDocument/2006/relationships/image" Target="../media/image2.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 Id="rId4" Type="http://schemas.openxmlformats.org/officeDocument/2006/relationships/image" Target="../media/image2.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 Id="rId4" Type="http://schemas.openxmlformats.org/officeDocument/2006/relationships/image" Target="../media/image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7.xml"/><Relationship Id="rId4" Type="http://schemas.openxmlformats.org/officeDocument/2006/relationships/notesSlide" Target="../notesSlides/notesSlide156.xml"/><Relationship Id="rId5" Type="http://schemas.openxmlformats.org/officeDocument/2006/relationships/image" Target="../media/image2.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 Id="rId4" Type="http://schemas.openxmlformats.org/officeDocument/2006/relationships/image" Target="../media/image2.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8.xml"/><Relationship Id="rId4" Type="http://schemas.openxmlformats.org/officeDocument/2006/relationships/notesSlide" Target="../notesSlides/notesSlide159.xml"/><Relationship Id="rId5" Type="http://schemas.openxmlformats.org/officeDocument/2006/relationships/image" Target="../media/image2.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 Id="rId4" Type="http://schemas.openxmlformats.org/officeDocument/2006/relationships/image" Target="../media/image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9.xml"/><Relationship Id="rId4" Type="http://schemas.openxmlformats.org/officeDocument/2006/relationships/chart" Target="../charts/chart100.xml"/><Relationship Id="rId5" Type="http://schemas.openxmlformats.org/officeDocument/2006/relationships/chart" Target="../charts/chart101.xml"/><Relationship Id="rId6" Type="http://schemas.openxmlformats.org/officeDocument/2006/relationships/chart" Target="../charts/chart102.xml"/><Relationship Id="rId7" Type="http://schemas.openxmlformats.org/officeDocument/2006/relationships/notesSlide" Target="../notesSlides/notesSlide162.xml"/><Relationship Id="rId8" Type="http://schemas.openxmlformats.org/officeDocument/2006/relationships/image" Target="../media/image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3.xml"/><Relationship Id="rId4" Type="http://schemas.openxmlformats.org/officeDocument/2006/relationships/chart" Target="../charts/chart104.xml"/><Relationship Id="rId5" Type="http://schemas.openxmlformats.org/officeDocument/2006/relationships/chart" Target="../charts/chart105.xml"/><Relationship Id="rId6" Type="http://schemas.openxmlformats.org/officeDocument/2006/relationships/chart" Target="../charts/chart106.xml"/><Relationship Id="rId7" Type="http://schemas.openxmlformats.org/officeDocument/2006/relationships/notesSlide" Target="../notesSlides/notesSlide163.xml"/><Relationship Id="rId8" Type="http://schemas.openxmlformats.org/officeDocument/2006/relationships/image" Target="../media/image2.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7.xml"/><Relationship Id="rId4" Type="http://schemas.openxmlformats.org/officeDocument/2006/relationships/chart" Target="../charts/chart108.xml"/><Relationship Id="rId5" Type="http://schemas.openxmlformats.org/officeDocument/2006/relationships/chart" Target="../charts/chart109.xml"/><Relationship Id="rId6" Type="http://schemas.openxmlformats.org/officeDocument/2006/relationships/chart" Target="../charts/chart110.xml"/><Relationship Id="rId7" Type="http://schemas.openxmlformats.org/officeDocument/2006/relationships/chart" Target="../charts/chart111.xml"/><Relationship Id="rId8" Type="http://schemas.openxmlformats.org/officeDocument/2006/relationships/chart" Target="../charts/chart112.xml"/><Relationship Id="rId9" Type="http://schemas.openxmlformats.org/officeDocument/2006/relationships/notesSlide" Target="../notesSlides/notesSlide164.xml"/><Relationship Id="rId10" Type="http://schemas.openxmlformats.org/officeDocument/2006/relationships/image" Target="../media/image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3.xml"/><Relationship Id="rId4" Type="http://schemas.openxmlformats.org/officeDocument/2006/relationships/chart" Target="../charts/chart114.xml"/><Relationship Id="rId5" Type="http://schemas.openxmlformats.org/officeDocument/2006/relationships/notesSlide" Target="../notesSlides/notesSlide165.xml"/><Relationship Id="rId6" Type="http://schemas.openxmlformats.org/officeDocument/2006/relationships/image" Target="../media/image2.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 Id="rId4" Type="http://schemas.openxmlformats.org/officeDocument/2006/relationships/image" Target="../media/image2.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5.xml"/><Relationship Id="rId4" Type="http://schemas.openxmlformats.org/officeDocument/2006/relationships/chart" Target="../charts/chart116.xml"/><Relationship Id="rId5" Type="http://schemas.openxmlformats.org/officeDocument/2006/relationships/notesSlide" Target="../notesSlides/notesSlide170.xml"/><Relationship Id="rId6" Type="http://schemas.openxmlformats.org/officeDocument/2006/relationships/image" Target="../media/image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2.xml"/><Relationship Id="rId4" Type="http://schemas.openxmlformats.org/officeDocument/2006/relationships/image" Target="../media/image2.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7.xml"/><Relationship Id="rId4" Type="http://schemas.openxmlformats.org/officeDocument/2006/relationships/chart" Target="../charts/chart118.xml"/><Relationship Id="rId5" Type="http://schemas.openxmlformats.org/officeDocument/2006/relationships/notesSlide" Target="../notesSlides/notesSlide174.xml"/><Relationship Id="rId6" Type="http://schemas.openxmlformats.org/officeDocument/2006/relationships/image" Target="../media/image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5.xml"/><Relationship Id="rId4" Type="http://schemas.openxmlformats.org/officeDocument/2006/relationships/image" Target="../media/image2.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19.xml"/><Relationship Id="rId4" Type="http://schemas.openxmlformats.org/officeDocument/2006/relationships/chart" Target="../charts/chart120.xml"/><Relationship Id="rId5" Type="http://schemas.openxmlformats.org/officeDocument/2006/relationships/notesSlide" Target="../notesSlides/notesSlide177.xml"/><Relationship Id="rId6" Type="http://schemas.openxmlformats.org/officeDocument/2006/relationships/image" Target="../media/image2.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 Id="rId4" Type="http://schemas.openxmlformats.org/officeDocument/2006/relationships/image" Target="../media/image2.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1.xml"/><Relationship Id="rId4" Type="http://schemas.openxmlformats.org/officeDocument/2006/relationships/chart" Target="../charts/chart122.xml"/><Relationship Id="rId5" Type="http://schemas.openxmlformats.org/officeDocument/2006/relationships/notesSlide" Target="../notesSlides/notesSlide180.xml"/><Relationship Id="rId6" Type="http://schemas.openxmlformats.org/officeDocument/2006/relationships/image" Target="../media/image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 Id="rId4" Type="http://schemas.openxmlformats.org/officeDocument/2006/relationships/image" Target="../media/image2.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3.xml"/><Relationship Id="rId4" Type="http://schemas.openxmlformats.org/officeDocument/2006/relationships/chart" Target="../charts/chart124.xml"/><Relationship Id="rId5" Type="http://schemas.openxmlformats.org/officeDocument/2006/relationships/notesSlide" Target="../notesSlides/notesSlide183.xml"/><Relationship Id="rId6" Type="http://schemas.openxmlformats.org/officeDocument/2006/relationships/image" Target="../media/image2.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4.xml"/><Relationship Id="rId4" Type="http://schemas.openxmlformats.org/officeDocument/2006/relationships/image" Target="../media/image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 Id="rId4" Type="http://schemas.openxmlformats.org/officeDocument/2006/relationships/image" Target="../media/image2.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 Id="rId4"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 Id="rId4" Type="http://schemas.openxmlformats.org/officeDocument/2006/relationships/image" Target="../media/image2.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5.xml"/><Relationship Id="rId4" Type="http://schemas.openxmlformats.org/officeDocument/2006/relationships/notesSlide" Target="../notesSlides/notesSlide189.xml"/><Relationship Id="rId5" Type="http://schemas.openxmlformats.org/officeDocument/2006/relationships/image" Target="../media/image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 Id="rId4" Type="http://schemas.openxmlformats.org/officeDocument/2006/relationships/image" Target="../media/image2.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1.xml"/><Relationship Id="rId4" Type="http://schemas.openxmlformats.org/officeDocument/2006/relationships/image" Target="../media/image2.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6.xml"/><Relationship Id="rId4" Type="http://schemas.openxmlformats.org/officeDocument/2006/relationships/notesSlide" Target="../notesSlides/notesSlide192.xml"/><Relationship Id="rId5" Type="http://schemas.openxmlformats.org/officeDocument/2006/relationships/image" Target="../media/image2.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3.xml"/><Relationship Id="rId4" Type="http://schemas.openxmlformats.org/officeDocument/2006/relationships/image" Target="../media/image2.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4.xml"/><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7.xml"/><Relationship Id="rId4" Type="http://schemas.openxmlformats.org/officeDocument/2006/relationships/notesSlide" Target="../notesSlides/notesSlide195.xml"/><Relationship Id="rId5" Type="http://schemas.openxmlformats.org/officeDocument/2006/relationships/image" Target="../media/image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 Id="rId4" Type="http://schemas.openxmlformats.org/officeDocument/2006/relationships/image" Target="../media/image2.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 Id="rId4" Type="http://schemas.openxmlformats.org/officeDocument/2006/relationships/image" Target="../media/image2.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8.xml"/><Relationship Id="rId4" Type="http://schemas.openxmlformats.org/officeDocument/2006/relationships/chart" Target="../charts/chart129.xml"/><Relationship Id="rId5" Type="http://schemas.openxmlformats.org/officeDocument/2006/relationships/notesSlide" Target="../notesSlides/notesSlide199.xml"/><Relationship Id="rId6"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0.xml"/><Relationship Id="rId4" Type="http://schemas.openxmlformats.org/officeDocument/2006/relationships/notesSlide" Target="../notesSlides/notesSlide200.xml"/><Relationship Id="rId5"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1.xml"/><Relationship Id="rId4" Type="http://schemas.openxmlformats.org/officeDocument/2006/relationships/notesSlide" Target="../notesSlides/notesSlide201.xml"/><Relationship Id="rId5" Type="http://schemas.openxmlformats.org/officeDocument/2006/relationships/image" Target="../media/image2.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 Id="rId4" Type="http://schemas.openxmlformats.org/officeDocument/2006/relationships/image" Target="../media/image2.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 Id="rId4" Type="http://schemas.openxmlformats.org/officeDocument/2006/relationships/image" Target="../media/image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4.xml"/><Relationship Id="rId4" Type="http://schemas.openxmlformats.org/officeDocument/2006/relationships/image" Target="../media/image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5.xml"/><Relationship Id="rId4" Type="http://schemas.openxmlformats.org/officeDocument/2006/relationships/image" Target="../media/image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 Id="rId4" Type="http://schemas.openxmlformats.org/officeDocument/2006/relationships/image" Target="../media/image2.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7.xml"/><Relationship Id="rId4" Type="http://schemas.openxmlformats.org/officeDocument/2006/relationships/image" Target="../media/image2.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 Id="rId4" Type="http://schemas.openxmlformats.org/officeDocument/2006/relationships/image" Target="../media/image2.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0.xml"/><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 Id="rId4" Type="http://schemas.openxmlformats.org/officeDocument/2006/relationships/image" Target="../media/image2.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 Id="rId4" Type="http://schemas.openxmlformats.org/officeDocument/2006/relationships/image" Target="../media/image2.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 Id="rId4" Type="http://schemas.openxmlformats.org/officeDocument/2006/relationships/image" Target="../media/image2.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 Id="rId4" Type="http://schemas.openxmlformats.org/officeDocument/2006/relationships/image" Target="../media/image2.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 Id="rId4" Type="http://schemas.openxmlformats.org/officeDocument/2006/relationships/image" Target="../media/image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8.xml"/><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 Id="rId4" Type="http://schemas.openxmlformats.org/officeDocument/2006/relationships/image" Target="../media/image2.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 Id="rId4" Type="http://schemas.openxmlformats.org/officeDocument/2006/relationships/image" Target="../media/image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1.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5.xml"/><Relationship Id="rId4" Type="http://schemas.openxmlformats.org/officeDocument/2006/relationships/image" Target="../media/image2.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2.xml"/><Relationship Id="rId4" Type="http://schemas.openxmlformats.org/officeDocument/2006/relationships/notesSlide" Target="../notesSlides/notesSlide236.xml"/><Relationship Id="rId5" Type="http://schemas.openxmlformats.org/officeDocument/2006/relationships/image" Target="../media/image2.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3.xml"/><Relationship Id="rId4" Type="http://schemas.openxmlformats.org/officeDocument/2006/relationships/chart" Target="../charts/chart134.xml"/><Relationship Id="rId5" Type="http://schemas.openxmlformats.org/officeDocument/2006/relationships/notesSlide" Target="../notesSlides/notesSlide237.xml"/><Relationship Id="rId6"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5.xml"/><Relationship Id="rId4" Type="http://schemas.openxmlformats.org/officeDocument/2006/relationships/chart" Target="../charts/chart136.xml"/><Relationship Id="rId5" Type="http://schemas.openxmlformats.org/officeDocument/2006/relationships/chart" Target="../charts/chart137.xml"/><Relationship Id="rId6" Type="http://schemas.openxmlformats.org/officeDocument/2006/relationships/notesSlide" Target="../notesSlides/notesSlide238.xml"/><Relationship Id="rId7" Type="http://schemas.openxmlformats.org/officeDocument/2006/relationships/image" Target="../media/image2.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 Id="rId4" Type="http://schemas.openxmlformats.org/officeDocument/2006/relationships/image" Target="../media/image2.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8.xml"/><Relationship Id="rId4" Type="http://schemas.openxmlformats.org/officeDocument/2006/relationships/chart" Target="../charts/chart139.xml"/><Relationship Id="rId5" Type="http://schemas.openxmlformats.org/officeDocument/2006/relationships/chart" Target="../charts/chart140.xml"/><Relationship Id="rId6" Type="http://schemas.openxmlformats.org/officeDocument/2006/relationships/notesSlide" Target="../notesSlides/notesSlide240.xml"/><Relationship Id="rId7" Type="http://schemas.openxmlformats.org/officeDocument/2006/relationships/image" Target="../media/image2.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1.xml"/><Relationship Id="rId4" Type="http://schemas.openxmlformats.org/officeDocument/2006/relationships/notesSlide" Target="../notesSlides/notesSlide241.xml"/><Relationship Id="rId5" Type="http://schemas.openxmlformats.org/officeDocument/2006/relationships/image" Target="../media/image2.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 Id="rId4" Type="http://schemas.openxmlformats.org/officeDocument/2006/relationships/image" Target="../media/image2.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 Id="rId4" Type="http://schemas.openxmlformats.org/officeDocument/2006/relationships/image" Target="../media/image2.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 Id="rId4" Type="http://schemas.openxmlformats.org/officeDocument/2006/relationships/image" Target="../media/image2.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2.xml"/><Relationship Id="rId4" Type="http://schemas.openxmlformats.org/officeDocument/2006/relationships/image" Target="../media/image2.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 Id="rId4" Type="http://schemas.openxmlformats.org/officeDocument/2006/relationships/image" Target="../media/image2.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 Id="rId4" Type="http://schemas.openxmlformats.org/officeDocument/2006/relationships/image" Target="../media/image2.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 Id="rId4" Type="http://schemas.openxmlformats.org/officeDocument/2006/relationships/image" Target="../media/image2.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 Id="rId4" Type="http://schemas.openxmlformats.org/officeDocument/2006/relationships/image" Target="../media/image2.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7.xml"/><Relationship Id="rId4" Type="http://schemas.openxmlformats.org/officeDocument/2006/relationships/image" Target="../media/image2.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 Id="rId4" Type="http://schemas.openxmlformats.org/officeDocument/2006/relationships/image" Target="../media/image2.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9.xml"/><Relationship Id="rId4" Type="http://schemas.openxmlformats.org/officeDocument/2006/relationships/image" Target="../media/image2.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 Id="rId4" Type="http://schemas.openxmlformats.org/officeDocument/2006/relationships/image" Target="../media/image2.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 Id="rId4" Type="http://schemas.openxmlformats.org/officeDocument/2006/relationships/image" Target="../media/image2.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3.xml"/><Relationship Id="rId4" Type="http://schemas.openxmlformats.org/officeDocument/2006/relationships/image" Target="../media/image2.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 Id="rId4" Type="http://schemas.openxmlformats.org/officeDocument/2006/relationships/image" Target="../media/image2.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1.png"/><Relationship Id="rId3" Type="http://schemas.openxmlformats.org/officeDocument/2006/relationships/image" Target="../media/image562.png"/><Relationship Id="rId4" Type="http://schemas.openxmlformats.org/officeDocument/2006/relationships/image" Target="../media/image563.png"/><Relationship Id="rId5" Type="http://schemas.openxmlformats.org/officeDocument/2006/relationships/image" Target="../media/image564.png"/><Relationship Id="rId6" Type="http://schemas.openxmlformats.org/officeDocument/2006/relationships/image" Target="../media/image565.png"/><Relationship Id="rId7" Type="http://schemas.openxmlformats.org/officeDocument/2006/relationships/image" Target="../media/image566.png"/><Relationship Id="rId8" Type="http://schemas.openxmlformats.org/officeDocument/2006/relationships/image" Target="../media/image56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extBox 5"/>
          <p:cNvSpPr txBox="1"/>
          <p:nvPr userDrawn="1"/>
        </p:nvSpPr>
        <p:spPr>
          <a:xfrm>
            <a:off x="0" y="2"/>
            <a:ext cx="12192000" cy="6824625"/>
          </a:xfrm>
          <a:prstGeom prst="rect">
            <a:avLst/>
          </a:prstGeom>
          <a:solidFill>
            <a:srgbClr val="FFFFFF"/>
          </a:solidFill>
        </p:spPr>
        <p:txBody>
          <a:bodyPr wrap="square" rtlCol="0">
            <a:spAutoFit/>
          </a:bodyPr>
          <a:lstStyle/>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US" sz="1902" dirty="0"/>
          </a:p>
          <a:p>
            <a:endParaRPr lang="en-IN" sz="1902" dirty="0"/>
          </a:p>
        </p:txBody>
      </p:sp>
      <p:pic>
        <p:nvPicPr>
          <p:cNvPr id="4" name="Picture 7"/>
          <p:cNvPicPr>
            <a:picLocks noChangeAspect="1"/>
          </p:cNvPicPr>
          <p:nvPr userDrawn="1"/>
        </p:nvPicPr>
        <p:blipFill>
          <a:blip r:embed="rId2" cstate="print">
            <a:duotone>
              <a:srgbClr val="F8F8F8">
                <a:shade val="45000"/>
                <a:satMod val="135000"/>
              </a:srgbClr>
              <a:prstClr val="white"/>
            </a:duotone>
            <a:extLst>
              <a:ext uri="{28A0092B-C50C-407E-A947-70E740481C1C}">
                <a14:useLocalDpi xmlns:a14="http://schemas.microsoft.com/office/drawing/2010/main" val="0"/>
              </a:ext>
            </a:extLst>
          </a:blip>
          <a:stretch>
            <a:fillRect/>
          </a:stretch>
        </p:blipFill>
        <p:spPr>
          <a:xfrm>
            <a:off x="0" y="10056"/>
            <a:ext cx="12192000" cy="6847944"/>
          </a:xfrm>
          <a:prstGeom prst="rect">
            <a:avLst/>
          </a:prstGeom>
          <a:effectLst>
            <a:outerShdw blurRad="50800" dist="38100" dir="18900000" algn="bl" rotWithShape="0">
              <a:prstClr val="black">
                <a:alpha val="40000"/>
              </a:prstClr>
            </a:outerShdw>
          </a:effectLst>
        </p:spPr>
      </p:pic>
      <p:sp>
        <p:nvSpPr>
          <p:cNvPr id="5" name="Rectangle 34"/>
          <p:cNvSpPr/>
          <p:nvPr userDrawn="1"/>
        </p:nvSpPr>
        <p:spPr>
          <a:xfrm>
            <a:off x="743259" y="10058"/>
            <a:ext cx="5906925" cy="6858001"/>
          </a:xfrm>
          <a:prstGeom prst="rect">
            <a:avLst/>
          </a:prstGeom>
          <a:solidFill>
            <a:srgbClr val="0070C0">
              <a:alpha val="81000"/>
            </a:srgbClr>
          </a:solidFill>
          <a:ln>
            <a:noFill/>
          </a:ln>
          <a:effectLst>
            <a:outerShdw blurRad="63500" sx="102000" sy="102000" algn="ctr"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6" name="TextBox 9"/>
          <p:cNvSpPr txBox="1"/>
          <p:nvPr userDrawn="1"/>
        </p:nvSpPr>
        <p:spPr>
          <a:xfrm>
            <a:off x="829068" y="6616282"/>
            <a:ext cx="1984839" cy="230832"/>
          </a:xfrm>
          <a:prstGeom prst="rect">
            <a:avLst/>
          </a:prstGeom>
          <a:noFill/>
        </p:spPr>
        <p:txBody>
          <a:bodyPr wrap="none" rtlCol="0">
            <a:spAutoFit/>
          </a:bodyPr>
          <a:lstStyle/>
          <a:p>
            <a:r>
              <a:rPr lang="en-US" sz="900" dirty="0">
                <a:solidFill>
                  <a:srgbClr val="FFFFFF"/>
                </a:solidFill>
              </a:rPr>
              <a:t>Source@ Future Market Insights, 2026</a:t>
            </a:r>
            <a:endParaRPr lang="en-IN" sz="900" dirty="0">
              <a:solidFill>
                <a:srgbClr val="FFFFFF"/>
              </a:solidFill>
            </a:endParaRPr>
          </a:p>
        </p:txBody>
      </p:sp>
      <p:sp>
        <p:nvSpPr>
          <p:cNvPr id="7" name="Rectangle 11"/>
          <p:cNvSpPr/>
          <p:nvPr userDrawn="1"/>
        </p:nvSpPr>
        <p:spPr>
          <a:xfrm>
            <a:off x="371630" y="5918917"/>
            <a:ext cx="11448743" cy="584895"/>
          </a:xfrm>
          <a:prstGeom prst="rect">
            <a:avLst/>
          </a:prstGeom>
          <a:solidFill>
            <a:srgbClr val="FCD150"/>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8" name="Rectangle 12"/>
          <p:cNvSpPr/>
          <p:nvPr userDrawn="1"/>
        </p:nvSpPr>
        <p:spPr>
          <a:xfrm>
            <a:off x="371630" y="6559883"/>
            <a:ext cx="11448743" cy="57528"/>
          </a:xfrm>
          <a:prstGeom prst="rect">
            <a:avLst/>
          </a:prstGeom>
          <a:solidFill>
            <a:srgbClr val="FFFFFF"/>
          </a:solidFill>
          <a:ln>
            <a:noFill/>
          </a:ln>
          <a:effectLst>
            <a:outerShdw blurRad="50800" dist="38100" dir="18900000" algn="bl" rotWithShape="0">
              <a:prstClr val="black">
                <a:alpha val="40000"/>
              </a:prstClr>
            </a:outerShdw>
          </a:effectLst>
        </p:spPr>
        <p:style>
          <a:lnRef idx="2">
            <a:srgbClr val="2A5F8F">
              <a:shade val="50000"/>
            </a:srgbClr>
          </a:lnRef>
          <a:fillRef idx="1">
            <a:srgbClr val="2A5F8F"/>
          </a:fillRef>
          <a:effectRef idx="0">
            <a:srgbClr val="2A5F8F"/>
          </a:effectRef>
          <a:fontRef idx="minor">
            <a:srgbClr val="FFFFFF"/>
          </a:fontRef>
        </p:style>
        <p:txBody>
          <a:bodyPr rtlCol="0" anchor="ctr"/>
          <a:lstStyle/>
          <a:p>
            <a:pPr algn="ctr"/>
            <a:endParaRPr lang="en-IN" sz="1902"/>
          </a:p>
        </p:txBody>
      </p:sp>
      <p:sp>
        <p:nvSpPr>
          <p:cNvPr id="9" name="Text Placeholder 4"/>
          <p:cNvSpPr txBox="1">
            <a:spLocks/>
          </p:cNvSpPr>
          <p:nvPr/>
        </p:nvSpPr>
        <p:spPr bwMode="gray">
          <a:xfrm>
            <a:off x="934546" y="262851"/>
            <a:ext cx="5623008" cy="3800000"/>
          </a:xfrm>
          <a:prstGeom prst="rect">
            <a:avLst/>
          </a:prstGeom>
        </p:spPr>
        <p:txBody>
          <a:bodyPr vert="horz" lIns="0" tIns="77372" rIns="77372" bIns="77372" rtlCol="0">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6000" dirty="0">
                <a:solidFill>
                  <a:srgbClr val="FFFFFF"/>
                </a:solidFill>
                <a:latin typeface="Bell MT" panose="02020503060305020303" pitchFamily="18" charset="0"/>
              </a:rPr>
              <a:t>Organ Transport Devices Market</a:t>
            </a:r>
            <a:endParaRPr lang="en-US" sz="1600" dirty="0">
              <a:solidFill>
                <a:srgbClr val="FFFFFF"/>
              </a:solidFill>
              <a:latin typeface="Bell MT" panose="02020503060305020303" pitchFamily="18" charset="0"/>
            </a:endParaRPr>
          </a:p>
        </p:txBody>
      </p:sp>
      <p:sp>
        <p:nvSpPr>
          <p:cNvPr id="9" name="Front Page Subtitle"/>
          <p:cNvSpPr txBox="1">
            <a:spLocks/>
          </p:cNvSpPr>
          <p:nvPr/>
        </p:nvSpPr>
        <p:spPr bwMode="gray">
          <a:xfrm>
            <a:off x="934546" y="4150000"/>
            <a:ext cx="5623008" cy="1650000"/>
          </a:xfrm>
          <a:prstGeom prst="rect">
            <a:avLst/>
          </a:prstGeom>
        </p:spPr>
        <p:txBody>
          <a:bodyPr vert="horz" lIns="0" tIns="77372" rIns="77372" bIns="77372" rtlCol="0" anchor="b">
            <a:noAutofit/>
          </a:bodyPr>
          <a:lstStyle>
            <a:lvl1pPr marL="0" indent="0" algn="l" defTabSz="792505" rtl="0" eaLnBrk="1" latinLnBrk="0" hangingPunct="1">
              <a:lnSpc>
                <a:spcPct val="90000"/>
              </a:lnSpc>
              <a:spcBef>
                <a:spcPts val="867"/>
              </a:spcBef>
              <a:buFont typeface="Wingdings" panose="05000000000000000000" pitchFamily="2" charset="2"/>
              <a:buNone/>
              <a:defRPr sz="1800" kern="1200">
                <a:solidFill>
                  <a:srgbClr val="000000"/>
                </a:solidFill>
                <a:latin typeface="Calibri" panose="020F0502020204030204" pitchFamily="34" charset="0"/>
                <a:ea typeface="+mn-ea"/>
                <a:cs typeface="Calibri" panose="020F0502020204030204" pitchFamily="34" charset="0"/>
              </a:defRPr>
            </a:lvl1pPr>
            <a:lvl2pPr marL="457196" indent="0" algn="ctr" defTabSz="792505" rtl="0" eaLnBrk="1" latinLnBrk="0" hangingPunct="1">
              <a:lnSpc>
                <a:spcPct val="90000"/>
              </a:lnSpc>
              <a:spcBef>
                <a:spcPts val="433"/>
              </a:spcBef>
              <a:buSzPct val="80000"/>
              <a:buFont typeface="Wingdings" panose="05000000000000000000" pitchFamily="2" charset="2"/>
              <a:buNone/>
              <a:defRPr sz="2000" kern="1200">
                <a:solidFill>
                  <a:srgbClr val="000000"/>
                </a:solidFill>
                <a:latin typeface="+mn-lt"/>
                <a:ea typeface="+mn-ea"/>
                <a:cs typeface="+mn-cs"/>
              </a:defRPr>
            </a:lvl2pPr>
            <a:lvl3pPr marL="914391" indent="0" algn="ctr" defTabSz="792505" rtl="0" eaLnBrk="1" latinLnBrk="0" hangingPunct="1">
              <a:lnSpc>
                <a:spcPct val="90000"/>
              </a:lnSpc>
              <a:spcBef>
                <a:spcPts val="433"/>
              </a:spcBef>
              <a:buFont typeface="Wingdings" panose="05000000000000000000" pitchFamily="2" charset="2"/>
              <a:buNone/>
              <a:defRPr sz="1800" kern="1200">
                <a:solidFill>
                  <a:srgbClr val="000000"/>
                </a:solidFill>
                <a:latin typeface="+mn-lt"/>
                <a:ea typeface="+mn-ea"/>
                <a:cs typeface="+mn-cs"/>
              </a:defRPr>
            </a:lvl3pPr>
            <a:lvl4pPr marL="1371587" indent="0" algn="ctr" defTabSz="792505" rtl="0" eaLnBrk="1" latinLnBrk="0" hangingPunct="1">
              <a:lnSpc>
                <a:spcPct val="90000"/>
              </a:lnSpc>
              <a:spcBef>
                <a:spcPts val="433"/>
              </a:spcBef>
              <a:buSzPct val="80000"/>
              <a:buFont typeface="Wingdings" panose="05000000000000000000" pitchFamily="2" charset="2"/>
              <a:buNone/>
              <a:defRPr sz="1600" kern="1200">
                <a:solidFill>
                  <a:srgbClr val="000000"/>
                </a:solidFill>
                <a:latin typeface="+mn-lt"/>
                <a:ea typeface="+mn-ea"/>
                <a:cs typeface="+mn-cs"/>
              </a:defRPr>
            </a:lvl4pPr>
            <a:lvl5pPr marL="1828783"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5pPr>
            <a:lvl6pPr marL="2285978"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6pPr>
            <a:lvl7pPr marL="2743174"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7pPr>
            <a:lvl8pPr marL="3200370"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8pPr>
            <a:lvl9pPr marL="3657565" indent="0" algn="ctr" defTabSz="792505" rtl="0" eaLnBrk="1" latinLnBrk="0" hangingPunct="1">
              <a:lnSpc>
                <a:spcPct val="90000"/>
              </a:lnSpc>
              <a:spcBef>
                <a:spcPts val="433"/>
              </a:spcBef>
              <a:buFont typeface="Arial" panose="020B0604020202020204" pitchFamily="34" charset="0"/>
              <a:buNone/>
              <a:defRPr sz="1600" kern="1200">
                <a:solidFill>
                  <a:srgbClr val="000000"/>
                </a:solidFill>
                <a:latin typeface="+mn-lt"/>
                <a:ea typeface="+mn-ea"/>
                <a:cs typeface="+mn-cs"/>
              </a:defRPr>
            </a:lvl9pPr>
          </a:lstStyle>
          <a:p>
            <a:pPr>
              <a:spcBef>
                <a:spcPts val="0"/>
              </a:spcBef>
            </a:pPr>
            <a:r>
              <a:rPr lang="en-US" sz="2400" dirty="0">
                <a:solidFill>
                  <a:srgbClr val="FFFFFF"/>
                </a:solidFill>
                <a:latin typeface="Bell MT" panose="02020503060305020303" pitchFamily="18" charset="0"/>
              </a:rPr>
              <a:t>Global Industry Analysis 2021 – 2025 and Opportunity Assessment 2026 – 2036</a:t>
            </a:r>
          </a:p>
        </p:txBody>
      </p:sp>
      <p:grpSp>
        <p:nvGrpSpPr>
          <p:cNvPr id="10" name="Group 8"/>
          <p:cNvGrpSpPr/>
          <p:nvPr/>
        </p:nvGrpSpPr>
        <p:grpSpPr>
          <a:xfrm>
            <a:off x="9124182" y="262851"/>
            <a:ext cx="2864618" cy="709680"/>
            <a:chOff x="201497" y="6393289"/>
            <a:chExt cx="1281818" cy="338050"/>
          </a:xfrm>
        </p:grpSpPr>
        <p:pic>
          <p:nvPicPr>
            <p:cNvPr id="11"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97" y="6393289"/>
              <a:ext cx="537551" cy="338050"/>
            </a:xfrm>
            <a:prstGeom prst="rect">
              <a:avLst/>
            </a:prstGeom>
          </p:spPr>
        </p:pic>
        <p:pic>
          <p:nvPicPr>
            <p:cNvPr id="12" name="Picture 7" descr="C:\Users\Nandini\Desktop\ESOMAR_corporate2020_RGB.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199" y="6426912"/>
              <a:ext cx="722116" cy="270803"/>
            </a:xfrm>
            <a:prstGeom prst="rect">
              <a:avLst/>
            </a:prstGeom>
            <a:noFill/>
            <a:ln>
              <a:noFill/>
            </a:ln>
          </p:spPr>
        </p:pic>
      </p:grpSp>
      <p:sp>
        <p:nvSpPr>
          <p:cNvPr id="13" name="Rectangle 3"/>
          <p:cNvSpPr/>
          <p:nvPr/>
        </p:nvSpPr>
        <p:spPr>
          <a:xfrm>
            <a:off x="934546" y="6015689"/>
            <a:ext cx="2551724" cy="400110"/>
          </a:xfrm>
          <a:prstGeom prst="rect">
            <a:avLst/>
          </a:prstGeom>
        </p:spPr>
        <p:txBody>
          <a:bodyPr wrap="none">
            <a:spAutoFit/>
          </a:bodyPr>
          <a:lstStyle/>
          <a:p>
            <a:r>
              <a:rPr lang="en-US" sz="2000" b="1" dirty="0">
                <a:solidFill>
                  <a:srgbClr val="000000">
                    <a:lumMod val="85000"/>
                    <a:lumOff val="15000"/>
                  </a:srgbClr>
                </a:solidFill>
                <a:latin typeface="Bell MT" panose="02020503060305020303" pitchFamily="18" charset="0"/>
              </a:rPr>
              <a:t>Sample Report</a:t>
            </a:r>
            <a:r>
              <a:rPr lang="en-US" sz="1600" b="1" dirty="0">
                <a:solidFill>
                  <a:srgbClr val="000000">
                    <a:lumMod val="85000"/>
                    <a:lumOff val="15000"/>
                  </a:srgbClr>
                </a:solidFill>
                <a:latin typeface="Bell MT" panose="02020503060305020303" pitchFamily="18" charset="0"/>
              </a:rPr>
              <a:t>| </a:t>
            </a:r>
            <a:r>
              <a:rPr lang="en-US" sz="2000" b="1" dirty="0">
                <a:solidFill>
                  <a:srgbClr val="000000">
                    <a:lumMod val="85000"/>
                    <a:lumOff val="15000"/>
                  </a:srgbClr>
                </a:solidFill>
                <a:latin typeface="Bell MT" panose="02020503060305020303" pitchFamily="18" charset="0"/>
              </a:rPr>
              <a:t>2026</a:t>
            </a:r>
          </a:p>
        </p:txBody>
      </p:sp>
      <p:pic>
        <p:nvPicPr>
          <p:cNvPr id="14" name="Picture 2" descr="A logo on a black background&#10;&#10;AI-generated content may be incorrect.">
            <a:extLst>
              <a:ext uri="{FF2B5EF4-FFF2-40B4-BE49-F238E27FC236}">
                <a16:creationId xmlns:a16="http://schemas.microsoft.com/office/drawing/2014/main" id="{94959869-610E-9143-54C1-1302C085AC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8778" y="4755786"/>
            <a:ext cx="5493222" cy="11667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Agenda</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Storyline of the report by section · click a section card to jump to it</a:t>
            </a:r>
          </a:p>
        </p:txBody>
      </p:sp>
      <p:sp>
        <p:nvSpPr>
          <p:cNvPr id="10" name="Rounded Rectangle 9">
            <a:hlinkClick action="ppaction://hlinksldjump" r:id="rId3"/>
          </p:cNvPr>
          <p:cNvSpPr/>
          <p:nvPr/>
        </p:nvSpPr>
        <p:spPr>
          <a:xfrm>
            <a:off x="314325" y="113503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 Market Signals</a:t>
            </a:r>
          </a:p>
        </p:txBody>
      </p:sp>
      <p:sp>
        <p:nvSpPr>
          <p:cNvPr id="11" name="Rounded Rectangle 10">
            <a:hlinkClick action="ppaction://hlinksldjump" r:id="rId4"/>
          </p:cNvPr>
          <p:cNvSpPr/>
          <p:nvPr/>
        </p:nvSpPr>
        <p:spPr>
          <a:xfrm>
            <a:off x="142875" y="1494026"/>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Overview</a:t>
            </a:r>
          </a:p>
        </p:txBody>
      </p:sp>
      <p:sp>
        <p:nvSpPr>
          <p:cNvPr id="12" name="Rounded Rectangle 11">
            <a:hlinkClick action="ppaction://hlinksldjump" r:id="rId5"/>
          </p:cNvPr>
          <p:cNvSpPr/>
          <p:nvPr/>
        </p:nvSpPr>
        <p:spPr>
          <a:xfrm>
            <a:off x="31432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 Market Taxonomy</a:t>
            </a:r>
          </a:p>
        </p:txBody>
      </p:sp>
      <p:sp>
        <p:nvSpPr>
          <p:cNvPr id="13" name="Rounded Rectangle 12">
            <a:hlinkClick action="ppaction://hlinksldjump" r:id="rId6"/>
          </p:cNvPr>
          <p:cNvSpPr/>
          <p:nvPr/>
        </p:nvSpPr>
        <p:spPr>
          <a:xfrm>
            <a:off x="31432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3. Table of Contents</a:t>
            </a:r>
          </a:p>
        </p:txBody>
      </p:sp>
      <p:sp>
        <p:nvSpPr>
          <p:cNvPr id="14" name="Rounded Rectangle 13">
            <a:hlinkClick action="ppaction://hlinksldjump" r:id="rId7"/>
          </p:cNvPr>
          <p:cNvSpPr/>
          <p:nvPr/>
        </p:nvSpPr>
        <p:spPr>
          <a:xfrm>
            <a:off x="314325" y="258620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4. List of Figures, List of Tables</a:t>
            </a:r>
          </a:p>
        </p:txBody>
      </p:sp>
      <p:sp>
        <p:nvSpPr>
          <p:cNvPr id="15" name="Rounded Rectangle 14">
            <a:hlinkClick action="ppaction://hlinksldjump" r:id="rId8"/>
          </p:cNvPr>
          <p:cNvSpPr/>
          <p:nvPr/>
        </p:nvSpPr>
        <p:spPr>
          <a:xfrm>
            <a:off x="142875" y="294519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Global Market Outlook</a:t>
            </a:r>
          </a:p>
        </p:txBody>
      </p:sp>
      <p:sp>
        <p:nvSpPr>
          <p:cNvPr id="16" name="Rounded Rectangle 15">
            <a:hlinkClick action="ppaction://hlinksldjump" r:id="rId9"/>
          </p:cNvPr>
          <p:cNvSpPr/>
          <p:nvPr/>
        </p:nvSpPr>
        <p:spPr>
          <a:xfrm>
            <a:off x="31432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5. Organ Transport Devices Market Global Overview</a:t>
            </a:r>
          </a:p>
        </p:txBody>
      </p:sp>
      <p:sp>
        <p:nvSpPr>
          <p:cNvPr id="17" name="Rounded Rectangle 16">
            <a:hlinkClick action="ppaction://hlinksldjump" r:id="rId10"/>
          </p:cNvPr>
          <p:cNvSpPr/>
          <p:nvPr/>
        </p:nvSpPr>
        <p:spPr>
          <a:xfrm>
            <a:off x="314325" y="367838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6. Global Market Analysis By Region</a:t>
            </a:r>
          </a:p>
        </p:txBody>
      </p:sp>
      <p:sp>
        <p:nvSpPr>
          <p:cNvPr id="18" name="Rounded Rectangle 17">
            <a:hlinkClick action="ppaction://hlinksldjump" r:id="rId11"/>
          </p:cNvPr>
          <p:cNvSpPr/>
          <p:nvPr/>
        </p:nvSpPr>
        <p:spPr>
          <a:xfrm>
            <a:off x="314325" y="403737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7. Global Market Analysis By Segments</a:t>
            </a:r>
          </a:p>
        </p:txBody>
      </p:sp>
      <p:sp>
        <p:nvSpPr>
          <p:cNvPr id="19" name="Rounded Rectangle 18">
            <a:hlinkClick action="ppaction://hlinksldjump" r:id="rId12"/>
          </p:cNvPr>
          <p:cNvSpPr/>
          <p:nvPr/>
        </p:nvSpPr>
        <p:spPr>
          <a:xfrm>
            <a:off x="314325" y="439636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8. Cross-sectional Assessment</a:t>
            </a:r>
          </a:p>
        </p:txBody>
      </p:sp>
      <p:sp>
        <p:nvSpPr>
          <p:cNvPr id="20" name="Rounded Rectangle 19">
            <a:hlinkClick action="ppaction://hlinksldjump" r:id="rId13"/>
          </p:cNvPr>
          <p:cNvSpPr/>
          <p:nvPr/>
        </p:nvSpPr>
        <p:spPr>
          <a:xfrm>
            <a:off x="142875" y="4755351"/>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North America Market Outlook</a:t>
            </a:r>
          </a:p>
        </p:txBody>
      </p:sp>
      <p:sp>
        <p:nvSpPr>
          <p:cNvPr id="21" name="Rounded Rectangle 20">
            <a:hlinkClick action="ppaction://hlinksldjump" r:id="rId14"/>
          </p:cNvPr>
          <p:cNvSpPr/>
          <p:nvPr/>
        </p:nvSpPr>
        <p:spPr>
          <a:xfrm>
            <a:off x="314325" y="5129552"/>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9. North America Overview</a:t>
            </a:r>
          </a:p>
        </p:txBody>
      </p:sp>
      <p:sp>
        <p:nvSpPr>
          <p:cNvPr id="22" name="Rounded Rectangle 21">
            <a:hlinkClick action="ppaction://hlinksldjump" r:id="rId15"/>
          </p:cNvPr>
          <p:cNvSpPr/>
          <p:nvPr/>
        </p:nvSpPr>
        <p:spPr>
          <a:xfrm>
            <a:off x="314325" y="5488541"/>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10. North America Market Analysis By Country</a:t>
            </a:r>
          </a:p>
        </p:txBody>
      </p:sp>
      <p:sp>
        <p:nvSpPr>
          <p:cNvPr id="23" name="Rounded Rectangle 22">
            <a:hlinkClick action="ppaction://hlinksldjump" r:id="rId16"/>
          </p:cNvPr>
          <p:cNvSpPr/>
          <p:nvPr/>
        </p:nvSpPr>
        <p:spPr>
          <a:xfrm>
            <a:off x="314325" y="5847530"/>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11. North America Market Analysis By Segments</a:t>
            </a:r>
          </a:p>
        </p:txBody>
      </p:sp>
      <p:sp>
        <p:nvSpPr>
          <p:cNvPr id="24" name="Rounded Rectangle 23">
            <a:hlinkClick action="ppaction://hlinksldjump" r:id="rId17"/>
          </p:cNvPr>
          <p:cNvSpPr/>
          <p:nvPr/>
        </p:nvSpPr>
        <p:spPr>
          <a:xfrm>
            <a:off x="314325" y="6206519"/>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12. Cross-sectional Assessment</a:t>
            </a:r>
          </a:p>
        </p:txBody>
      </p:sp>
      <p:sp>
        <p:nvSpPr>
          <p:cNvPr id="25" name="Rounded Rectangle 24">
            <a:hlinkClick action="ppaction://hlinksldjump" r:id="rId18"/>
          </p:cNvPr>
          <p:cNvSpPr/>
          <p:nvPr/>
        </p:nvSpPr>
        <p:spPr>
          <a:xfrm>
            <a:off x="6219825" y="1135037"/>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Country Market Outlook</a:t>
            </a:r>
          </a:p>
        </p:txBody>
      </p:sp>
      <p:sp>
        <p:nvSpPr>
          <p:cNvPr id="26" name="Rounded Rectangle 25">
            <a:hlinkClick action="ppaction://hlinksldjump" r:id="rId19"/>
          </p:cNvPr>
          <p:cNvSpPr/>
          <p:nvPr/>
        </p:nvSpPr>
        <p:spPr>
          <a:xfrm>
            <a:off x="6391275" y="1509238"/>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13. Organ Transport Devices Market Overview (Volume &amp; Value)</a:t>
            </a:r>
          </a:p>
        </p:txBody>
      </p:sp>
      <p:sp>
        <p:nvSpPr>
          <p:cNvPr id="27" name="Rounded Rectangle 26">
            <a:hlinkClick action="ppaction://hlinksldjump" r:id="rId20"/>
          </p:cNvPr>
          <p:cNvSpPr/>
          <p:nvPr/>
        </p:nvSpPr>
        <p:spPr>
          <a:xfrm>
            <a:off x="6391275" y="1868227"/>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14. Segment Overview (Volume &amp; Value)</a:t>
            </a:r>
          </a:p>
        </p:txBody>
      </p:sp>
      <p:sp>
        <p:nvSpPr>
          <p:cNvPr id="28" name="Rounded Rectangle 27">
            <a:hlinkClick action="ppaction://hlinksldjump" r:id="rId21"/>
          </p:cNvPr>
          <p:cNvSpPr/>
          <p:nvPr/>
        </p:nvSpPr>
        <p:spPr>
          <a:xfrm>
            <a:off x="6391275" y="222721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15. Cross-sectional Assessment</a:t>
            </a:r>
          </a:p>
        </p:txBody>
      </p:sp>
      <p:sp>
        <p:nvSpPr>
          <p:cNvPr id="29" name="Rounded Rectangle 28">
            <a:hlinkClick action="ppaction://hlinksldjump" r:id="rId22"/>
          </p:cNvPr>
          <p:cNvSpPr/>
          <p:nvPr/>
        </p:nvSpPr>
        <p:spPr>
          <a:xfrm>
            <a:off x="6219825" y="2586205"/>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Pricing Assessment</a:t>
            </a:r>
          </a:p>
        </p:txBody>
      </p:sp>
      <p:sp>
        <p:nvSpPr>
          <p:cNvPr id="30" name="Rounded Rectangle 29">
            <a:hlinkClick action="ppaction://hlinksldjump" r:id="rId23"/>
          </p:cNvPr>
          <p:cNvSpPr/>
          <p:nvPr/>
        </p:nvSpPr>
        <p:spPr>
          <a:xfrm>
            <a:off x="6391275" y="2960406"/>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16. Organ Transport Devices Market Pricing Analysis</a:t>
            </a:r>
          </a:p>
        </p:txBody>
      </p:sp>
      <p:sp>
        <p:nvSpPr>
          <p:cNvPr id="31" name="Rounded Rectangle 30">
            <a:hlinkClick action="ppaction://hlinksldjump" r:id="rId24"/>
          </p:cNvPr>
          <p:cNvSpPr/>
          <p:nvPr/>
        </p:nvSpPr>
        <p:spPr>
          <a:xfrm>
            <a:off x="6391275" y="331939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17. Supply Chain Analysis</a:t>
            </a:r>
          </a:p>
        </p:txBody>
      </p:sp>
      <p:sp>
        <p:nvSpPr>
          <p:cNvPr id="32" name="Rounded Rectangle 31">
            <a:hlinkClick action="ppaction://hlinksldjump" r:id="rId25"/>
          </p:cNvPr>
          <p:cNvSpPr/>
          <p:nvPr/>
        </p:nvSpPr>
        <p:spPr>
          <a:xfrm>
            <a:off x="6219825" y="367838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Market Dynamics</a:t>
            </a:r>
          </a:p>
        </p:txBody>
      </p:sp>
      <p:sp>
        <p:nvSpPr>
          <p:cNvPr id="33" name="Rounded Rectangle 32">
            <a:hlinkClick action="ppaction://hlinksldjump" r:id="rId26"/>
          </p:cNvPr>
          <p:cNvSpPr/>
          <p:nvPr/>
        </p:nvSpPr>
        <p:spPr>
          <a:xfrm>
            <a:off x="6391275" y="405258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18. Market Dynamics &amp; Forces</a:t>
            </a:r>
          </a:p>
        </p:txBody>
      </p:sp>
      <p:sp>
        <p:nvSpPr>
          <p:cNvPr id="34" name="Rounded Rectangle 33">
            <a:hlinkClick action="ppaction://hlinksldjump" r:id="rId27"/>
          </p:cNvPr>
          <p:cNvSpPr/>
          <p:nvPr/>
        </p:nvSpPr>
        <p:spPr>
          <a:xfrm>
            <a:off x="6219825" y="4411574"/>
            <a:ext cx="5829300" cy="310313"/>
          </a:xfrm>
          <a:prstGeom prst="roundRect">
            <a:avLst>
              <a:gd name="adj" fmla="val 23529"/>
            </a:avLst>
          </a:prstGeom>
          <a:solidFill>
            <a:srgbClr val="E0E8E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300" b="1">
                <a:solidFill>
                  <a:srgbClr val="0B2E4A"/>
                </a:solidFill>
                <a:latin typeface="Calibri"/>
              </a:rPr>
              <a:t>Competition Assessment</a:t>
            </a:r>
          </a:p>
        </p:txBody>
      </p:sp>
      <p:sp>
        <p:nvSpPr>
          <p:cNvPr id="35" name="Rounded Rectangle 34">
            <a:hlinkClick action="ppaction://hlinksldjump" r:id="rId28"/>
          </p:cNvPr>
          <p:cNvSpPr/>
          <p:nvPr/>
        </p:nvSpPr>
        <p:spPr>
          <a:xfrm>
            <a:off x="6391275" y="5503753"/>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21. Competitive Landscape</a:t>
            </a:r>
          </a:p>
        </p:txBody>
      </p:sp>
      <p:sp>
        <p:nvSpPr>
          <p:cNvPr id="36" name="Rounded Rectangle 35">
            <a:hlinkClick action="ppaction://hlinksldjump" r:id="rId29"/>
          </p:cNvPr>
          <p:cNvSpPr/>
          <p:nvPr/>
        </p:nvSpPr>
        <p:spPr>
          <a:xfrm>
            <a:off x="6391275" y="4785775"/>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19. Market Share by Leading Players</a:t>
            </a:r>
          </a:p>
        </p:txBody>
      </p:sp>
      <p:sp>
        <p:nvSpPr>
          <p:cNvPr id="37" name="Rounded Rectangle 36">
            <a:hlinkClick action="ppaction://hlinksldjump" r:id="rId30"/>
          </p:cNvPr>
          <p:cNvSpPr/>
          <p:nvPr/>
        </p:nvSpPr>
        <p:spPr>
          <a:xfrm>
            <a:off x="6391275" y="5144764"/>
            <a:ext cx="5657850" cy="295101"/>
          </a:xfrm>
          <a:prstGeom prst="roundRect">
            <a:avLst>
              <a:gd name="adj" fmla="val 24742"/>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l"/>
            <a:r>
              <a:rPr sz="1200" b="0">
                <a:solidFill>
                  <a:srgbClr val="0B2E4A"/>
                </a:solidFill>
                <a:latin typeface="Calibri"/>
              </a:rPr>
              <a:t>20. Company Profiles &amp; Strategic Benchmarking</a:t>
            </a:r>
          </a:p>
        </p:txBody>
      </p:sp>
      <p:sp>
        <p:nvSpPr>
          <p:cNvPr id="38" name="TextBox 3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Market Signals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Signals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Signals Reshaping Organ Transport Devices Demand</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Signals reshaping Organ Transport Devices demand, the evidence behind each and what it implies for the global market</a:t>
            </a:r>
          </a:p>
        </p:txBody>
      </p:sp>
      <p:graphicFrame>
        <p:nvGraphicFramePr>
          <p:cNvPr id="10" name="Table 9"/>
          <p:cNvGraphicFramePr>
            <a:graphicFrameLocks noGrp="1"/>
          </p:cNvGraphicFramePr>
          <p:nvPr/>
        </p:nvGraphicFramePr>
        <p:xfrm>
          <a:off x="142875" y="1062022"/>
          <a:ext cx="11906250" cy="5549125"/>
        </p:xfrm>
        <a:graphic>
          <a:graphicData uri="http://schemas.openxmlformats.org/drawingml/2006/table">
            <a:tbl>
              <a:tblPr>
                <a:tableStyleId>{5C22544A-7EE6-4342-B048-85BDC9FD1C3A}</a:tableStyleId>
              </a:tblPr>
              <a:tblGrid>
                <a:gridCol w="3571875"/>
                <a:gridCol w="5000625"/>
                <a:gridCol w="3333750"/>
              </a:tblGrid>
              <a:tr h="346820">
                <a:tc>
                  <a:txBody>
                    <a:bodyPr wrap="square"/>
                    <a:lstStyle/>
                    <a:p>
                      <a:pPr algn="l"/>
                      <a:r>
                        <a:rPr sz="1100" b="1">
                          <a:solidFill>
                            <a:srgbClr val="0B2E4A"/>
                          </a:solidFill>
                          <a:latin typeface="Calibri"/>
                        </a:rPr>
                        <a:t>QUESTIONS WE'RE HEARING</a:t>
                      </a:r>
                    </a:p>
                  </a:txBody>
                  <a:tcPr marL="70000" marR="70000" marT="45000" marB="45000" anchor="ctr">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ctr">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ctr">
                    <a:solidFill>
                      <a:srgbClr val="EAF1F8"/>
                    </a:solidFill>
                  </a:tcPr>
                </a:tc>
              </a:tr>
              <a:tr h="1040461">
                <a:tc>
                  <a:txBody>
                    <a:bodyPr wrap="square"/>
                    <a:lstStyle/>
                    <a:p>
                      <a:pPr algn="l"/>
                      <a:r>
                        <a:rPr sz="1100" b="1">
                          <a:solidFill>
                            <a:srgbClr val="0B2E4A"/>
                          </a:solidFill>
                          <a:latin typeface="Calibri"/>
                        </a:rPr>
                        <a:t>How fast is Organ Transport Devices demand set to grow through 2036?</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a:t>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device technology categories are buyers prioritising?</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is incremental demand concentrating?</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r h="1040461">
                <a:tc>
                  <a:txBody>
                    <a:bodyPr wrap="square"/>
                    <a:lstStyle/>
                    <a:p>
                      <a:pPr algn="l"/>
                      <a:r>
                        <a:rPr sz="1100" b="1">
                          <a:solidFill>
                            <a:srgbClr val="0B2E4A"/>
                          </a:solidFill>
                          <a:latin typeface="Calibri"/>
                        </a:rPr>
                        <a:t>Which regions will drive the next wave of Organ Transport Devices demand?</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c>
                  <a:txBody>
                    <a:bodyPr wrap="square"/>
                    <a:lstStyle/>
                    <a:p>
                      <a:pPr algn="l"/>
                      <a:r>
                        <a:rPr sz="1100" b="0">
                          <a:solidFill>
                            <a:srgbClr val="2E2E2E"/>
                          </a:solidFill>
                          <a:latin typeface="Calibri"/>
                        </a:rPr>
                        <a:t/>
                      </a:r>
                    </a:p>
                  </a:txBody>
                  <a:tcPr marL="70000" marR="70000" marT="45000" marB="45000" anchor="ctr">
                    <a:solidFill>
                      <a:srgbClr val="F6F9FC"/>
                    </a:solidFill>
                  </a:tcPr>
                </a:tc>
              </a:tr>
              <a:tr h="1040461">
                <a:tc>
                  <a:txBody>
                    <a:bodyPr wrap="square"/>
                    <a:lstStyle/>
                    <a:p>
                      <a:pPr algn="l"/>
                      <a:r>
                        <a:rPr sz="1100" b="1">
                          <a:solidFill>
                            <a:srgbClr val="0B2E4A"/>
                          </a:solidFill>
                          <a:latin typeface="Calibri"/>
                        </a:rPr>
                        <a:t>Where should suppliers focus investment?</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c>
                  <a:txBody>
                    <a:bodyPr wrap="square"/>
                    <a:lstStyle/>
                    <a:p>
                      <a:pPr algn="l"/>
                      <a:r>
                        <a:rPr sz="1100" b="0">
                          <a:solidFill>
                            <a:srgbClr val="2E2E2E"/>
                          </a:solidFill>
                          <a:latin typeface="Calibri"/>
                        </a:rPr>
                        <a:t/>
                      </a:r>
                    </a:p>
                  </a:txBody>
                  <a:tcPr marL="70000" marR="70000" marT="45000" marB="45000" anchor="ctr">
                    <a:solidFill>
                      <a:srgbClr val="FFFFFF"/>
                    </a:solidFill>
                  </a:tcP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2" name="TextBox 11"/>
          <p:cNvSpPr txBox="1"/>
          <p:nvPr/>
        </p:nvSpPr>
        <p:spPr>
          <a:xfrm>
            <a:off x="3784750" y="1761432"/>
            <a:ext cx="1689844" cy="186689"/>
          </a:xfrm>
          <a:prstGeom prst="rect">
            <a:avLst/>
          </a:prstGeom>
          <a:noFill/>
        </p:spPr>
        <p:txBody>
          <a:bodyPr wrap="none" lIns="0" rIns="0" tIns="0" bIns="0">
            <a:spAutoFit/>
          </a:bodyPr>
          <a:lstStyle/>
          <a:p>
            <a:r>
              <a:rPr sz="1100" b="0">
                <a:solidFill>
                  <a:srgbClr val="2E2E2E"/>
                </a:solidFill>
                <a:latin typeface="Calibri"/>
              </a:rPr>
              <a:t>Global demand expands at a</a:t>
            </a:r>
          </a:p>
        </p:txBody>
      </p:sp>
      <p:pic>
        <p:nvPicPr>
          <p:cNvPr id="13" name="Picture 12" descr="lock.png"/>
          <p:cNvPicPr>
            <a:picLocks noChangeAspect="1"/>
          </p:cNvPicPr>
          <p:nvPr/>
        </p:nvPicPr>
        <p:blipFill>
          <a:blip r:embed="rId4"/>
          <a:stretch>
            <a:fillRect/>
          </a:stretch>
        </p:blipFill>
        <p:spPr>
          <a:xfrm>
            <a:off x="5422645" y="1751653"/>
            <a:ext cx="128699" cy="187198"/>
          </a:xfrm>
          <a:prstGeom prst="rect">
            <a:avLst/>
          </a:prstGeom>
        </p:spPr>
      </p:pic>
      <p:sp>
        <p:nvSpPr>
          <p:cNvPr id="14" name="TextBox 13"/>
          <p:cNvSpPr txBox="1"/>
          <p:nvPr/>
        </p:nvSpPr>
        <p:spPr>
          <a:xfrm>
            <a:off x="5590141" y="1761432"/>
            <a:ext cx="2708109" cy="186689"/>
          </a:xfrm>
          <a:prstGeom prst="rect">
            <a:avLst/>
          </a:prstGeom>
          <a:noFill/>
        </p:spPr>
        <p:txBody>
          <a:bodyPr wrap="none" lIns="0" rIns="0" tIns="0" bIns="0">
            <a:spAutoFit/>
          </a:bodyPr>
          <a:lstStyle/>
          <a:p>
            <a:r>
              <a:rPr sz="1100" b="0">
                <a:solidFill>
                  <a:srgbClr val="2E2E2E"/>
                </a:solidFill>
                <a:latin typeface="Calibri"/>
              </a:rPr>
              <a:t>forecast CAGR (2026–2036), accelerating from</a:t>
            </a:r>
          </a:p>
        </p:txBody>
      </p:sp>
      <p:pic>
        <p:nvPicPr>
          <p:cNvPr id="15" name="Picture 14" descr="lock.png"/>
          <p:cNvPicPr>
            <a:picLocks noChangeAspect="1"/>
          </p:cNvPicPr>
          <p:nvPr/>
        </p:nvPicPr>
        <p:blipFill>
          <a:blip r:embed="rId4"/>
          <a:stretch>
            <a:fillRect/>
          </a:stretch>
        </p:blipFill>
        <p:spPr>
          <a:xfrm>
            <a:off x="8246302" y="1751653"/>
            <a:ext cx="128699" cy="187198"/>
          </a:xfrm>
          <a:prstGeom prst="rect">
            <a:avLst/>
          </a:prstGeom>
        </p:spPr>
      </p:pic>
      <p:sp>
        <p:nvSpPr>
          <p:cNvPr id="16" name="TextBox 15"/>
          <p:cNvSpPr txBox="1"/>
          <p:nvPr/>
        </p:nvSpPr>
        <p:spPr>
          <a:xfrm>
            <a:off x="3784750" y="1929072"/>
            <a:ext cx="1137865" cy="186689"/>
          </a:xfrm>
          <a:prstGeom prst="rect">
            <a:avLst/>
          </a:prstGeom>
          <a:noFill/>
        </p:spPr>
        <p:txBody>
          <a:bodyPr wrap="none" lIns="0" rIns="0" tIns="0" bIns="0">
            <a:spAutoFit/>
          </a:bodyPr>
          <a:lstStyle/>
          <a:p>
            <a:r>
              <a:rPr sz="1100" b="0">
                <a:solidFill>
                  <a:srgbClr val="2E2E2E"/>
                </a:solidFill>
                <a:latin typeface="Calibri"/>
              </a:rPr>
              <a:t>across 2021–2025.</a:t>
            </a:r>
          </a:p>
        </p:txBody>
      </p:sp>
      <p:pic>
        <p:nvPicPr>
          <p:cNvPr id="17" name="Picture 16" descr="lock.png"/>
          <p:cNvPicPr>
            <a:picLocks noChangeAspect="1"/>
          </p:cNvPicPr>
          <p:nvPr/>
        </p:nvPicPr>
        <p:blipFill>
          <a:blip r:embed="rId4"/>
          <a:stretch>
            <a:fillRect/>
          </a:stretch>
        </p:blipFill>
        <p:spPr>
          <a:xfrm>
            <a:off x="10214228" y="1689042"/>
            <a:ext cx="330041" cy="480060"/>
          </a:xfrm>
          <a:prstGeom prst="rect">
            <a:avLst/>
          </a:prstGeom>
        </p:spPr>
      </p:pic>
      <p:sp>
        <p:nvSpPr>
          <p:cNvPr id="18" name="TextBox 17"/>
          <p:cNvSpPr txBox="1"/>
          <p:nvPr/>
        </p:nvSpPr>
        <p:spPr>
          <a:xfrm>
            <a:off x="3784750" y="2801893"/>
            <a:ext cx="3727499" cy="186689"/>
          </a:xfrm>
          <a:prstGeom prst="rect">
            <a:avLst/>
          </a:prstGeom>
          <a:noFill/>
        </p:spPr>
        <p:txBody>
          <a:bodyPr wrap="none" lIns="0" rIns="0" tIns="0" bIns="0">
            <a:spAutoFit/>
          </a:bodyPr>
          <a:lstStyle/>
          <a:p>
            <a:r>
              <a:rPr sz="1100" b="0">
                <a:solidFill>
                  <a:srgbClr val="2E2E2E"/>
                </a:solidFill>
                <a:latin typeface="Calibri"/>
              </a:rPr>
              <a:t>Portable Machine Perfusion Devices leads Device Technology, at</a:t>
            </a:r>
          </a:p>
        </p:txBody>
      </p:sp>
      <p:pic>
        <p:nvPicPr>
          <p:cNvPr id="19" name="Picture 18" descr="lock.png"/>
          <p:cNvPicPr>
            <a:picLocks noChangeAspect="1"/>
          </p:cNvPicPr>
          <p:nvPr/>
        </p:nvPicPr>
        <p:blipFill>
          <a:blip r:embed="rId4"/>
          <a:stretch>
            <a:fillRect/>
          </a:stretch>
        </p:blipFill>
        <p:spPr>
          <a:xfrm>
            <a:off x="7460301" y="2792114"/>
            <a:ext cx="128699" cy="187198"/>
          </a:xfrm>
          <a:prstGeom prst="rect">
            <a:avLst/>
          </a:prstGeom>
        </p:spPr>
      </p:pic>
      <p:sp>
        <p:nvSpPr>
          <p:cNvPr id="20" name="TextBox 19"/>
          <p:cNvSpPr txBox="1"/>
          <p:nvPr/>
        </p:nvSpPr>
        <p:spPr>
          <a:xfrm>
            <a:off x="7627797" y="2801893"/>
            <a:ext cx="879475"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21" name="TextBox 20"/>
          <p:cNvSpPr txBox="1"/>
          <p:nvPr/>
        </p:nvSpPr>
        <p:spPr>
          <a:xfrm>
            <a:off x="3784750" y="2969533"/>
            <a:ext cx="2133227" cy="186689"/>
          </a:xfrm>
          <a:prstGeom prst="rect">
            <a:avLst/>
          </a:prstGeom>
          <a:noFill/>
        </p:spPr>
        <p:txBody>
          <a:bodyPr wrap="none" lIns="0" rIns="0" tIns="0" bIns="0">
            <a:spAutoFit/>
          </a:bodyPr>
          <a:lstStyle/>
          <a:p>
            <a:r>
              <a:rPr sz="1100" b="0">
                <a:solidFill>
                  <a:srgbClr val="2E2E2E"/>
                </a:solidFill>
                <a:latin typeface="Calibri"/>
              </a:rPr>
              <a:t>within a mix of 2 tracked categories.</a:t>
            </a:r>
          </a:p>
        </p:txBody>
      </p:sp>
      <p:sp>
        <p:nvSpPr>
          <p:cNvPr id="22" name="TextBox 21"/>
          <p:cNvSpPr txBox="1"/>
          <p:nvPr/>
        </p:nvSpPr>
        <p:spPr>
          <a:xfrm>
            <a:off x="8785375" y="2801893"/>
            <a:ext cx="2528044" cy="186689"/>
          </a:xfrm>
          <a:prstGeom prst="rect">
            <a:avLst/>
          </a:prstGeom>
          <a:noFill/>
        </p:spPr>
        <p:txBody>
          <a:bodyPr wrap="none" lIns="0" rIns="0" tIns="0" bIns="0">
            <a:spAutoFit/>
          </a:bodyPr>
          <a:lstStyle/>
          <a:p>
            <a:r>
              <a:rPr sz="1100" b="0">
                <a:solidFill>
                  <a:srgbClr val="2E2E2E"/>
                </a:solidFill>
                <a:latin typeface="Calibri"/>
              </a:rPr>
              <a:t>Lead: Portable Machine Perfusion Devices ·</a:t>
            </a:r>
          </a:p>
        </p:txBody>
      </p:sp>
      <p:pic>
        <p:nvPicPr>
          <p:cNvPr id="23" name="Picture 22" descr="lock.png"/>
          <p:cNvPicPr>
            <a:picLocks noChangeAspect="1"/>
          </p:cNvPicPr>
          <p:nvPr/>
        </p:nvPicPr>
        <p:blipFill>
          <a:blip r:embed="rId4"/>
          <a:stretch>
            <a:fillRect/>
          </a:stretch>
        </p:blipFill>
        <p:spPr>
          <a:xfrm>
            <a:off x="11261470" y="2792114"/>
            <a:ext cx="128699" cy="187198"/>
          </a:xfrm>
          <a:prstGeom prst="rect">
            <a:avLst/>
          </a:prstGeom>
        </p:spPr>
      </p:pic>
      <p:sp>
        <p:nvSpPr>
          <p:cNvPr id="24" name="TextBox 23"/>
          <p:cNvSpPr txBox="1"/>
          <p:nvPr/>
        </p:nvSpPr>
        <p:spPr>
          <a:xfrm>
            <a:off x="11428966" y="2801893"/>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25" name="TextBox 24"/>
          <p:cNvSpPr txBox="1"/>
          <p:nvPr/>
        </p:nvSpPr>
        <p:spPr>
          <a:xfrm>
            <a:off x="8785375" y="2969533"/>
            <a:ext cx="444549"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26" name="TextBox 25"/>
          <p:cNvSpPr txBox="1"/>
          <p:nvPr/>
        </p:nvSpPr>
        <p:spPr>
          <a:xfrm>
            <a:off x="3784750" y="3842354"/>
            <a:ext cx="3776340" cy="186689"/>
          </a:xfrm>
          <a:prstGeom prst="rect">
            <a:avLst/>
          </a:prstGeom>
          <a:noFill/>
        </p:spPr>
        <p:txBody>
          <a:bodyPr wrap="none" lIns="0" rIns="0" tIns="0" bIns="0">
            <a:spAutoFit/>
          </a:bodyPr>
          <a:lstStyle/>
          <a:p>
            <a:r>
              <a:rPr sz="1100" b="0">
                <a:solidFill>
                  <a:srgbClr val="2E2E2E"/>
                </a:solidFill>
                <a:latin typeface="Calibri"/>
              </a:rPr>
              <a:t>Distributor Sales is the fastest-growing part of Sales Channel, at a</a:t>
            </a:r>
          </a:p>
        </p:txBody>
      </p:sp>
      <p:pic>
        <p:nvPicPr>
          <p:cNvPr id="27" name="Picture 26" descr="lock.png"/>
          <p:cNvPicPr>
            <a:picLocks noChangeAspect="1"/>
          </p:cNvPicPr>
          <p:nvPr/>
        </p:nvPicPr>
        <p:blipFill>
          <a:blip r:embed="rId4"/>
          <a:stretch>
            <a:fillRect/>
          </a:stretch>
        </p:blipFill>
        <p:spPr>
          <a:xfrm>
            <a:off x="7509141" y="3832575"/>
            <a:ext cx="128699" cy="187198"/>
          </a:xfrm>
          <a:prstGeom prst="rect">
            <a:avLst/>
          </a:prstGeom>
        </p:spPr>
      </p:pic>
      <p:sp>
        <p:nvSpPr>
          <p:cNvPr id="28" name="TextBox 27"/>
          <p:cNvSpPr txBox="1"/>
          <p:nvPr/>
        </p:nvSpPr>
        <p:spPr>
          <a:xfrm>
            <a:off x="7676637" y="3842354"/>
            <a:ext cx="889280"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29" name="TextBox 28"/>
          <p:cNvSpPr txBox="1"/>
          <p:nvPr/>
        </p:nvSpPr>
        <p:spPr>
          <a:xfrm>
            <a:off x="3784750" y="4009994"/>
            <a:ext cx="1692299" cy="186689"/>
          </a:xfrm>
          <a:prstGeom prst="rect">
            <a:avLst/>
          </a:prstGeom>
          <a:noFill/>
        </p:spPr>
        <p:txBody>
          <a:bodyPr wrap="none" lIns="0" rIns="0" tIns="0" bIns="0">
            <a:spAutoFit/>
          </a:bodyPr>
          <a:lstStyle/>
          <a:p>
            <a:r>
              <a:rPr sz="1100" b="0">
                <a:solidFill>
                  <a:srgbClr val="2E2E2E"/>
                </a:solidFill>
                <a:latin typeface="Calibri"/>
              </a:rPr>
              <a:t>outpacing the wider market.</a:t>
            </a:r>
          </a:p>
        </p:txBody>
      </p:sp>
      <p:sp>
        <p:nvSpPr>
          <p:cNvPr id="30" name="TextBox 29"/>
          <p:cNvSpPr txBox="1"/>
          <p:nvPr/>
        </p:nvSpPr>
        <p:spPr>
          <a:xfrm>
            <a:off x="8785375" y="3926174"/>
            <a:ext cx="1551448" cy="186689"/>
          </a:xfrm>
          <a:prstGeom prst="rect">
            <a:avLst/>
          </a:prstGeom>
          <a:noFill/>
        </p:spPr>
        <p:txBody>
          <a:bodyPr wrap="none" lIns="0" rIns="0" tIns="0" bIns="0">
            <a:spAutoFit/>
          </a:bodyPr>
          <a:lstStyle/>
          <a:p>
            <a:r>
              <a:rPr sz="1100" b="0">
                <a:solidFill>
                  <a:srgbClr val="2E2E2E"/>
                </a:solidFill>
                <a:latin typeface="Calibri"/>
              </a:rPr>
              <a:t>Fastest: Distributor Sales ·</a:t>
            </a:r>
          </a:p>
        </p:txBody>
      </p:sp>
      <p:pic>
        <p:nvPicPr>
          <p:cNvPr id="31" name="Picture 30" descr="lock.png"/>
          <p:cNvPicPr>
            <a:picLocks noChangeAspect="1"/>
          </p:cNvPicPr>
          <p:nvPr/>
        </p:nvPicPr>
        <p:blipFill>
          <a:blip r:embed="rId4"/>
          <a:stretch>
            <a:fillRect/>
          </a:stretch>
        </p:blipFill>
        <p:spPr>
          <a:xfrm>
            <a:off x="10284875" y="3916395"/>
            <a:ext cx="128699" cy="187198"/>
          </a:xfrm>
          <a:prstGeom prst="rect">
            <a:avLst/>
          </a:prstGeom>
        </p:spPr>
      </p:pic>
      <p:sp>
        <p:nvSpPr>
          <p:cNvPr id="32" name="TextBox 31"/>
          <p:cNvSpPr txBox="1"/>
          <p:nvPr/>
        </p:nvSpPr>
        <p:spPr>
          <a:xfrm>
            <a:off x="10452371" y="3926174"/>
            <a:ext cx="502377" cy="186689"/>
          </a:xfrm>
          <a:prstGeom prst="rect">
            <a:avLst/>
          </a:prstGeom>
          <a:noFill/>
        </p:spPr>
        <p:txBody>
          <a:bodyPr wrap="none" lIns="0" rIns="0" tIns="0" bIns="0">
            <a:spAutoFit/>
          </a:bodyPr>
          <a:lstStyle/>
          <a:p>
            <a:r>
              <a:rPr sz="1100" b="0">
                <a:solidFill>
                  <a:srgbClr val="2E2E2E"/>
                </a:solidFill>
                <a:latin typeface="Calibri"/>
              </a:rPr>
              <a:t>F-CAGR</a:t>
            </a:r>
          </a:p>
        </p:txBody>
      </p:sp>
      <p:sp>
        <p:nvSpPr>
          <p:cNvPr id="33" name="TextBox 32"/>
          <p:cNvSpPr txBox="1"/>
          <p:nvPr/>
        </p:nvSpPr>
        <p:spPr>
          <a:xfrm>
            <a:off x="3784750" y="4882815"/>
            <a:ext cx="2673474" cy="186689"/>
          </a:xfrm>
          <a:prstGeom prst="rect">
            <a:avLst/>
          </a:prstGeom>
          <a:noFill/>
        </p:spPr>
        <p:txBody>
          <a:bodyPr wrap="none" lIns="0" rIns="0" tIns="0" bIns="0">
            <a:spAutoFit/>
          </a:bodyPr>
          <a:lstStyle/>
          <a:p>
            <a:r>
              <a:rPr sz="1100" b="0">
                <a:solidFill>
                  <a:srgbClr val="2E2E2E"/>
                </a:solidFill>
                <a:latin typeface="Calibri"/>
              </a:rPr>
              <a:t>North America is the largest regional market (</a:t>
            </a:r>
          </a:p>
        </p:txBody>
      </p:sp>
      <p:pic>
        <p:nvPicPr>
          <p:cNvPr id="34" name="Picture 33" descr="lock.png"/>
          <p:cNvPicPr>
            <a:picLocks noChangeAspect="1"/>
          </p:cNvPicPr>
          <p:nvPr/>
        </p:nvPicPr>
        <p:blipFill>
          <a:blip r:embed="rId4"/>
          <a:stretch>
            <a:fillRect/>
          </a:stretch>
        </p:blipFill>
        <p:spPr>
          <a:xfrm>
            <a:off x="6406275" y="4873036"/>
            <a:ext cx="128699" cy="187198"/>
          </a:xfrm>
          <a:prstGeom prst="rect">
            <a:avLst/>
          </a:prstGeom>
        </p:spPr>
      </p:pic>
      <p:sp>
        <p:nvSpPr>
          <p:cNvPr id="35" name="TextBox 34"/>
          <p:cNvSpPr txBox="1"/>
          <p:nvPr/>
        </p:nvSpPr>
        <p:spPr>
          <a:xfrm>
            <a:off x="6573771" y="4882815"/>
            <a:ext cx="2016720" cy="186689"/>
          </a:xfrm>
          <a:prstGeom prst="rect">
            <a:avLst/>
          </a:prstGeom>
          <a:noFill/>
        </p:spPr>
        <p:txBody>
          <a:bodyPr wrap="none" lIns="0" rIns="0" tIns="0" bIns="0">
            <a:spAutoFit/>
          </a:bodyPr>
          <a:lstStyle/>
          <a:p>
            <a:r>
              <a:rPr sz="1100" b="0">
                <a:solidFill>
                  <a:srgbClr val="2E2E2E"/>
                </a:solidFill>
                <a:latin typeface="Calibri"/>
              </a:rPr>
              <a:t>of 2036 value), while South Asia &amp;</a:t>
            </a:r>
          </a:p>
        </p:txBody>
      </p:sp>
      <p:sp>
        <p:nvSpPr>
          <p:cNvPr id="36" name="TextBox 35"/>
          <p:cNvSpPr txBox="1"/>
          <p:nvPr/>
        </p:nvSpPr>
        <p:spPr>
          <a:xfrm>
            <a:off x="3784750" y="5050455"/>
            <a:ext cx="1374154" cy="186689"/>
          </a:xfrm>
          <a:prstGeom prst="rect">
            <a:avLst/>
          </a:prstGeom>
          <a:noFill/>
        </p:spPr>
        <p:txBody>
          <a:bodyPr wrap="none" lIns="0" rIns="0" tIns="0" bIns="0">
            <a:spAutoFit/>
          </a:bodyPr>
          <a:lstStyle/>
          <a:p>
            <a:r>
              <a:rPr sz="1100" b="0">
                <a:solidFill>
                  <a:srgbClr val="2E2E2E"/>
                </a:solidFill>
                <a:latin typeface="Calibri"/>
              </a:rPr>
              <a:t>Pacific grows fastest at</a:t>
            </a:r>
          </a:p>
        </p:txBody>
      </p:sp>
      <p:pic>
        <p:nvPicPr>
          <p:cNvPr id="37" name="Picture 36" descr="lock.png"/>
          <p:cNvPicPr>
            <a:picLocks noChangeAspect="1"/>
          </p:cNvPicPr>
          <p:nvPr/>
        </p:nvPicPr>
        <p:blipFill>
          <a:blip r:embed="rId4"/>
          <a:stretch>
            <a:fillRect/>
          </a:stretch>
        </p:blipFill>
        <p:spPr>
          <a:xfrm>
            <a:off x="5106956" y="5040676"/>
            <a:ext cx="128699" cy="187198"/>
          </a:xfrm>
          <a:prstGeom prst="rect">
            <a:avLst/>
          </a:prstGeom>
        </p:spPr>
      </p:pic>
      <p:sp>
        <p:nvSpPr>
          <p:cNvPr id="38" name="TextBox 37"/>
          <p:cNvSpPr txBox="1"/>
          <p:nvPr/>
        </p:nvSpPr>
        <p:spPr>
          <a:xfrm>
            <a:off x="5274452" y="505045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9" name="TextBox 38"/>
          <p:cNvSpPr txBox="1"/>
          <p:nvPr/>
        </p:nvSpPr>
        <p:spPr>
          <a:xfrm>
            <a:off x="8785375" y="4882815"/>
            <a:ext cx="1464195" cy="186689"/>
          </a:xfrm>
          <a:prstGeom prst="rect">
            <a:avLst/>
          </a:prstGeom>
          <a:noFill/>
        </p:spPr>
        <p:txBody>
          <a:bodyPr wrap="none" lIns="0" rIns="0" tIns="0" bIns="0">
            <a:spAutoFit/>
          </a:bodyPr>
          <a:lstStyle/>
          <a:p>
            <a:r>
              <a:rPr sz="1100" b="0">
                <a:solidFill>
                  <a:srgbClr val="2E2E2E"/>
                </a:solidFill>
                <a:latin typeface="Calibri"/>
              </a:rPr>
              <a:t>Largest: North America (</a:t>
            </a:r>
          </a:p>
        </p:txBody>
      </p:sp>
      <p:pic>
        <p:nvPicPr>
          <p:cNvPr id="40" name="Picture 39" descr="lock.png"/>
          <p:cNvPicPr>
            <a:picLocks noChangeAspect="1"/>
          </p:cNvPicPr>
          <p:nvPr/>
        </p:nvPicPr>
        <p:blipFill>
          <a:blip r:embed="rId4"/>
          <a:stretch>
            <a:fillRect/>
          </a:stretch>
        </p:blipFill>
        <p:spPr>
          <a:xfrm>
            <a:off x="10197622" y="4873036"/>
            <a:ext cx="128699" cy="187198"/>
          </a:xfrm>
          <a:prstGeom prst="rect">
            <a:avLst/>
          </a:prstGeom>
        </p:spPr>
      </p:pic>
      <p:sp>
        <p:nvSpPr>
          <p:cNvPr id="41" name="TextBox 40"/>
          <p:cNvSpPr txBox="1"/>
          <p:nvPr/>
        </p:nvSpPr>
        <p:spPr>
          <a:xfrm>
            <a:off x="10365118" y="4882815"/>
            <a:ext cx="1413931" cy="186689"/>
          </a:xfrm>
          <a:prstGeom prst="rect">
            <a:avLst/>
          </a:prstGeom>
          <a:noFill/>
        </p:spPr>
        <p:txBody>
          <a:bodyPr wrap="none" lIns="0" rIns="0" tIns="0" bIns="0">
            <a:spAutoFit/>
          </a:bodyPr>
          <a:lstStyle/>
          <a:p>
            <a:r>
              <a:rPr sz="1100" b="0">
                <a:solidFill>
                  <a:srgbClr val="2E2E2E"/>
                </a:solidFill>
                <a:latin typeface="Calibri"/>
              </a:rPr>
              <a:t>) · Fastest: South Asia &amp;</a:t>
            </a:r>
          </a:p>
        </p:txBody>
      </p:sp>
      <p:sp>
        <p:nvSpPr>
          <p:cNvPr id="42" name="TextBox 41"/>
          <p:cNvSpPr txBox="1"/>
          <p:nvPr/>
        </p:nvSpPr>
        <p:spPr>
          <a:xfrm>
            <a:off x="8785375" y="5050455"/>
            <a:ext cx="514672" cy="186689"/>
          </a:xfrm>
          <a:prstGeom prst="rect">
            <a:avLst/>
          </a:prstGeom>
          <a:noFill/>
        </p:spPr>
        <p:txBody>
          <a:bodyPr wrap="none" lIns="0" rIns="0" tIns="0" bIns="0">
            <a:spAutoFit/>
          </a:bodyPr>
          <a:lstStyle/>
          <a:p>
            <a:r>
              <a:rPr sz="1100" b="0">
                <a:solidFill>
                  <a:srgbClr val="2E2E2E"/>
                </a:solidFill>
                <a:latin typeface="Calibri"/>
              </a:rPr>
              <a:t>Pacific (</a:t>
            </a:r>
          </a:p>
        </p:txBody>
      </p:sp>
      <p:pic>
        <p:nvPicPr>
          <p:cNvPr id="43" name="Picture 42" descr="lock.png"/>
          <p:cNvPicPr>
            <a:picLocks noChangeAspect="1"/>
          </p:cNvPicPr>
          <p:nvPr/>
        </p:nvPicPr>
        <p:blipFill>
          <a:blip r:embed="rId4"/>
          <a:stretch>
            <a:fillRect/>
          </a:stretch>
        </p:blipFill>
        <p:spPr>
          <a:xfrm>
            <a:off x="9248099" y="5040676"/>
            <a:ext cx="128699" cy="187198"/>
          </a:xfrm>
          <a:prstGeom prst="rect">
            <a:avLst/>
          </a:prstGeom>
        </p:spPr>
      </p:pic>
      <p:sp>
        <p:nvSpPr>
          <p:cNvPr id="44" name="TextBox 43"/>
          <p:cNvSpPr txBox="1"/>
          <p:nvPr/>
        </p:nvSpPr>
        <p:spPr>
          <a:xfrm>
            <a:off x="9415594" y="5050455"/>
            <a:ext cx="118491" cy="186689"/>
          </a:xfrm>
          <a:prstGeom prst="rect">
            <a:avLst/>
          </a:prstGeom>
          <a:noFill/>
        </p:spPr>
        <p:txBody>
          <a:bodyPr wrap="none" lIns="0" rIns="0" tIns="0" bIns="0">
            <a:spAutoFit/>
          </a:bodyPr>
          <a:lstStyle/>
          <a:p>
            <a:r>
              <a:rPr sz="1100" b="0">
                <a:solidFill>
                  <a:srgbClr val="2E2E2E"/>
                </a:solidFill>
                <a:latin typeface="Calibri"/>
              </a:rPr>
              <a:t>)</a:t>
            </a:r>
          </a:p>
        </p:txBody>
      </p:sp>
      <p:sp>
        <p:nvSpPr>
          <p:cNvPr id="45" name="TextBox 44"/>
          <p:cNvSpPr txBox="1"/>
          <p:nvPr/>
        </p:nvSpPr>
        <p:spPr>
          <a:xfrm>
            <a:off x="3784750" y="5923276"/>
            <a:ext cx="945777" cy="186689"/>
          </a:xfrm>
          <a:prstGeom prst="rect">
            <a:avLst/>
          </a:prstGeom>
          <a:noFill/>
        </p:spPr>
        <p:txBody>
          <a:bodyPr wrap="none" lIns="0" rIns="0" tIns="0" bIns="0">
            <a:spAutoFit/>
          </a:bodyPr>
          <a:lstStyle/>
          <a:p>
            <a:r>
              <a:rPr sz="1100" b="0">
                <a:solidFill>
                  <a:srgbClr val="2E2E2E"/>
                </a:solidFill>
                <a:latin typeface="Calibri"/>
              </a:rPr>
              <a:t>An incremental</a:t>
            </a:r>
          </a:p>
        </p:txBody>
      </p:sp>
      <p:pic>
        <p:nvPicPr>
          <p:cNvPr id="46" name="Picture 45" descr="lock.png"/>
          <p:cNvPicPr>
            <a:picLocks noChangeAspect="1"/>
          </p:cNvPicPr>
          <p:nvPr/>
        </p:nvPicPr>
        <p:blipFill>
          <a:blip r:embed="rId4"/>
          <a:stretch>
            <a:fillRect/>
          </a:stretch>
        </p:blipFill>
        <p:spPr>
          <a:xfrm>
            <a:off x="4678579" y="5913497"/>
            <a:ext cx="128699" cy="187198"/>
          </a:xfrm>
          <a:prstGeom prst="rect">
            <a:avLst/>
          </a:prstGeom>
        </p:spPr>
      </p:pic>
      <p:sp>
        <p:nvSpPr>
          <p:cNvPr id="47" name="TextBox 46"/>
          <p:cNvSpPr txBox="1"/>
          <p:nvPr/>
        </p:nvSpPr>
        <p:spPr>
          <a:xfrm>
            <a:off x="4846075" y="5923276"/>
            <a:ext cx="3125043" cy="186689"/>
          </a:xfrm>
          <a:prstGeom prst="rect">
            <a:avLst/>
          </a:prstGeom>
          <a:noFill/>
        </p:spPr>
        <p:txBody>
          <a:bodyPr wrap="none" lIns="0" rIns="0" tIns="0" bIns="0">
            <a:spAutoFit/>
          </a:bodyPr>
          <a:lstStyle/>
          <a:p>
            <a:r>
              <a:rPr sz="1100" b="0">
                <a:solidFill>
                  <a:srgbClr val="2E2E2E"/>
                </a:solidFill>
                <a:latin typeface="Calibri"/>
              </a:rPr>
              <a:t>US$ Mn of demand is added between 2026 and 2036,</a:t>
            </a:r>
          </a:p>
        </p:txBody>
      </p:sp>
      <p:sp>
        <p:nvSpPr>
          <p:cNvPr id="48" name="TextBox 47"/>
          <p:cNvSpPr txBox="1"/>
          <p:nvPr/>
        </p:nvSpPr>
        <p:spPr>
          <a:xfrm>
            <a:off x="3784750" y="6090916"/>
            <a:ext cx="3324497" cy="186689"/>
          </a:xfrm>
          <a:prstGeom prst="rect">
            <a:avLst/>
          </a:prstGeom>
          <a:noFill/>
        </p:spPr>
        <p:txBody>
          <a:bodyPr wrap="none" lIns="0" rIns="0" tIns="0" bIns="0">
            <a:spAutoFit/>
          </a:bodyPr>
          <a:lstStyle/>
          <a:p>
            <a:r>
              <a:rPr sz="1100" b="0">
                <a:solidFill>
                  <a:srgbClr val="2E2E2E"/>
                </a:solidFill>
                <a:latin typeface="Calibri"/>
              </a:rPr>
              <a:t>front-loaded in the leading categories and regions above.</a:t>
            </a:r>
          </a:p>
        </p:txBody>
      </p:sp>
      <p:sp>
        <p:nvSpPr>
          <p:cNvPr id="49" name="TextBox 48"/>
          <p:cNvSpPr txBox="1"/>
          <p:nvPr/>
        </p:nvSpPr>
        <p:spPr>
          <a:xfrm>
            <a:off x="8785375" y="6007096"/>
            <a:ext cx="857919" cy="186689"/>
          </a:xfrm>
          <a:prstGeom prst="rect">
            <a:avLst/>
          </a:prstGeom>
          <a:noFill/>
        </p:spPr>
        <p:txBody>
          <a:bodyPr wrap="none" lIns="0" rIns="0" tIns="0" bIns="0">
            <a:spAutoFit/>
          </a:bodyPr>
          <a:lstStyle/>
          <a:p>
            <a:r>
              <a:rPr sz="1100" b="0">
                <a:solidFill>
                  <a:srgbClr val="2E2E2E"/>
                </a:solidFill>
                <a:latin typeface="Calibri"/>
              </a:rPr>
              <a:t>$ opportunity</a:t>
            </a:r>
          </a:p>
        </p:txBody>
      </p:sp>
      <p:pic>
        <p:nvPicPr>
          <p:cNvPr id="50" name="Picture 49" descr="lock.png"/>
          <p:cNvPicPr>
            <a:picLocks noChangeAspect="1"/>
          </p:cNvPicPr>
          <p:nvPr/>
        </p:nvPicPr>
        <p:blipFill>
          <a:blip r:embed="rId4"/>
          <a:stretch>
            <a:fillRect/>
          </a:stretch>
        </p:blipFill>
        <p:spPr>
          <a:xfrm>
            <a:off x="9591346" y="5997317"/>
            <a:ext cx="128699" cy="187198"/>
          </a:xfrm>
          <a:prstGeom prst="rect">
            <a:avLst/>
          </a:prstGeom>
        </p:spPr>
      </p:pic>
      <p:sp>
        <p:nvSpPr>
          <p:cNvPr id="51" name="TextBox 50"/>
          <p:cNvSpPr txBox="1"/>
          <p:nvPr/>
        </p:nvSpPr>
        <p:spPr>
          <a:xfrm>
            <a:off x="9758842" y="6007096"/>
            <a:ext cx="1345778" cy="186689"/>
          </a:xfrm>
          <a:prstGeom prst="rect">
            <a:avLst/>
          </a:prstGeom>
          <a:noFill/>
        </p:spPr>
        <p:txBody>
          <a:bodyPr wrap="none" lIns="0" rIns="0" tIns="0" bIns="0">
            <a:spAutoFit/>
          </a:bodyPr>
          <a:lstStyle/>
          <a:p>
            <a:r>
              <a:rPr sz="1100" b="0">
                <a:solidFill>
                  <a:srgbClr val="2E2E2E"/>
                </a:solidFill>
                <a:latin typeface="Calibri"/>
              </a:rPr>
              <a:t>US$ Mn (2026–2036) ·</a:t>
            </a:r>
          </a:p>
        </p:txBody>
      </p:sp>
      <p:pic>
        <p:nvPicPr>
          <p:cNvPr id="52" name="Picture 51" descr="lock.png"/>
          <p:cNvPicPr>
            <a:picLocks noChangeAspect="1"/>
          </p:cNvPicPr>
          <p:nvPr/>
        </p:nvPicPr>
        <p:blipFill>
          <a:blip r:embed="rId4"/>
          <a:stretch>
            <a:fillRect/>
          </a:stretch>
        </p:blipFill>
        <p:spPr>
          <a:xfrm>
            <a:off x="11052672" y="5997317"/>
            <a:ext cx="128699" cy="187198"/>
          </a:xfrm>
          <a:prstGeom prst="rect">
            <a:avLst/>
          </a:prstGeom>
        </p:spPr>
      </p:pic>
      <p:sp>
        <p:nvSpPr>
          <p:cNvPr id="53" name="TextBox 52"/>
          <p:cNvSpPr txBox="1"/>
          <p:nvPr/>
        </p:nvSpPr>
        <p:spPr>
          <a:xfrm>
            <a:off x="11220167" y="6007096"/>
            <a:ext cx="528315" cy="186689"/>
          </a:xfrm>
          <a:prstGeom prst="rect">
            <a:avLst/>
          </a:prstGeom>
          <a:noFill/>
        </p:spPr>
        <p:txBody>
          <a:bodyPr wrap="none" lIns="0" rIns="0" tIns="0" bIns="0">
            <a:spAutoFit/>
          </a:bodyPr>
          <a:lstStyle/>
          <a:p>
            <a:r>
              <a:rPr sz="1100" b="0">
                <a:solidFill>
                  <a:srgbClr val="2E2E2E"/>
                </a:solidFill>
                <a:latin typeface="Calibri"/>
              </a:rPr>
              <a:t>by 2031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Market Overview</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Taxonomy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Table of Contents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List of Figures, List of Tables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Market Taxonomy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Geographic Coverage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Segments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Coverage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Regions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Geographic scope of the study: the global market broken into 6 regions and the countries assessed under each</a:t>
            </a:r>
          </a:p>
        </p:txBody>
      </p:sp>
      <p:cxnSp>
        <p:nvCxnSpPr>
          <p:cNvPr id="10" name="Connector 9"/>
          <p:cNvCxnSpPr/>
          <p:nvPr/>
        </p:nvCxnSpPr>
        <p:spPr>
          <a:xfrm>
            <a:off x="6096000" y="1682648"/>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85850" y="1846931"/>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08610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86350"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961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09637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096625" y="1846931"/>
            <a:ext cx="0" cy="164283"/>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525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5277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152775"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152775"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153025"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53025" y="2750489"/>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53025" y="309730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53025" y="345325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153025" y="380007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153025" y="4146897"/>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53025" y="4493717"/>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4849664"/>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519648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5543305"/>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58901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6246072"/>
            <a:ext cx="0" cy="63888"/>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1628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16305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16305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16305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916305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163050" y="524211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2312400"/>
            <a:ext cx="0" cy="155156"/>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163300" y="2750489"/>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163300" y="3106436"/>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163300" y="3462383"/>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163300" y="3818331"/>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63300" y="4174278"/>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163300" y="4530225"/>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163300" y="4886172"/>
            <a:ext cx="0" cy="7301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4667250" y="1080276"/>
            <a:ext cx="2857500" cy="602372"/>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Organ Transport Devices Market</a:t>
            </a:r>
          </a:p>
        </p:txBody>
      </p:sp>
      <p:sp>
        <p:nvSpPr>
          <p:cNvPr id="57" name="Rounded Rectangle 56"/>
          <p:cNvSpPr/>
          <p:nvPr/>
        </p:nvSpPr>
        <p:spPr>
          <a:xfrm>
            <a:off x="1428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North America</a:t>
            </a:r>
          </a:p>
        </p:txBody>
      </p:sp>
      <p:sp>
        <p:nvSpPr>
          <p:cNvPr id="58" name="Rounded Rectangle 57"/>
          <p:cNvSpPr/>
          <p:nvPr/>
        </p:nvSpPr>
        <p:spPr>
          <a:xfrm>
            <a:off x="2762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U.S.</a:t>
            </a:r>
          </a:p>
        </p:txBody>
      </p:sp>
      <p:sp>
        <p:nvSpPr>
          <p:cNvPr id="59" name="Rounded Rectangle 58"/>
          <p:cNvSpPr/>
          <p:nvPr/>
        </p:nvSpPr>
        <p:spPr>
          <a:xfrm>
            <a:off x="27622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60" name="Rounded Rectangle 59"/>
          <p:cNvSpPr/>
          <p:nvPr/>
        </p:nvSpPr>
        <p:spPr>
          <a:xfrm>
            <a:off x="214312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Latin America</a:t>
            </a:r>
          </a:p>
        </p:txBody>
      </p:sp>
      <p:sp>
        <p:nvSpPr>
          <p:cNvPr id="61" name="Rounded Rectangle 60"/>
          <p:cNvSpPr/>
          <p:nvPr/>
        </p:nvSpPr>
        <p:spPr>
          <a:xfrm>
            <a:off x="227647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62" name="Rounded Rectangle 61"/>
          <p:cNvSpPr/>
          <p:nvPr/>
        </p:nvSpPr>
        <p:spPr>
          <a:xfrm>
            <a:off x="2276475"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63" name="Rounded Rectangle 62"/>
          <p:cNvSpPr/>
          <p:nvPr/>
        </p:nvSpPr>
        <p:spPr>
          <a:xfrm>
            <a:off x="2276475"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Colombia</a:t>
            </a:r>
          </a:p>
        </p:txBody>
      </p:sp>
      <p:sp>
        <p:nvSpPr>
          <p:cNvPr id="64" name="Rounded Rectangle 63"/>
          <p:cNvSpPr/>
          <p:nvPr/>
        </p:nvSpPr>
        <p:spPr>
          <a:xfrm>
            <a:off x="2276475"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Latin America</a:t>
            </a:r>
          </a:p>
        </p:txBody>
      </p:sp>
      <p:sp>
        <p:nvSpPr>
          <p:cNvPr id="65" name="Rounded Rectangle 64"/>
          <p:cNvSpPr/>
          <p:nvPr/>
        </p:nvSpPr>
        <p:spPr>
          <a:xfrm>
            <a:off x="4143375"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Europe</a:t>
            </a:r>
          </a:p>
        </p:txBody>
      </p:sp>
      <p:sp>
        <p:nvSpPr>
          <p:cNvPr id="66" name="Rounded Rectangle 65"/>
          <p:cNvSpPr/>
          <p:nvPr/>
        </p:nvSpPr>
        <p:spPr>
          <a:xfrm>
            <a:off x="4276725"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7" name="Rounded Rectangle 66"/>
          <p:cNvSpPr/>
          <p:nvPr/>
        </p:nvSpPr>
        <p:spPr>
          <a:xfrm>
            <a:off x="4276725" y="281437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U.K.</a:t>
            </a:r>
          </a:p>
        </p:txBody>
      </p:sp>
      <p:sp>
        <p:nvSpPr>
          <p:cNvPr id="68" name="Rounded Rectangle 67"/>
          <p:cNvSpPr/>
          <p:nvPr/>
        </p:nvSpPr>
        <p:spPr>
          <a:xfrm>
            <a:off x="4276725" y="317032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9" name="Rounded Rectangle 68"/>
          <p:cNvSpPr/>
          <p:nvPr/>
        </p:nvSpPr>
        <p:spPr>
          <a:xfrm>
            <a:off x="4276725" y="35171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70" name="Rounded Rectangle 69"/>
          <p:cNvSpPr/>
          <p:nvPr/>
        </p:nvSpPr>
        <p:spPr>
          <a:xfrm>
            <a:off x="4276725" y="386396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71" name="Rounded Rectangle 70"/>
          <p:cNvSpPr/>
          <p:nvPr/>
        </p:nvSpPr>
        <p:spPr>
          <a:xfrm>
            <a:off x="4276725" y="421078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Belgium</a:t>
            </a:r>
          </a:p>
        </p:txBody>
      </p:sp>
      <p:sp>
        <p:nvSpPr>
          <p:cNvPr id="72" name="Rounded Rectangle 71"/>
          <p:cNvSpPr/>
          <p:nvPr/>
        </p:nvSpPr>
        <p:spPr>
          <a:xfrm>
            <a:off x="4276725" y="456673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Netherlands</a:t>
            </a:r>
          </a:p>
        </p:txBody>
      </p:sp>
      <p:sp>
        <p:nvSpPr>
          <p:cNvPr id="73" name="Rounded Rectangle 72"/>
          <p:cNvSpPr/>
          <p:nvPr/>
        </p:nvSpPr>
        <p:spPr>
          <a:xfrm>
            <a:off x="4276725" y="491355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74" name="Rounded Rectangle 73"/>
          <p:cNvSpPr/>
          <p:nvPr/>
        </p:nvSpPr>
        <p:spPr>
          <a:xfrm>
            <a:off x="4276725" y="526037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Switzerland</a:t>
            </a:r>
          </a:p>
        </p:txBody>
      </p:sp>
      <p:sp>
        <p:nvSpPr>
          <p:cNvPr id="75" name="Rounded Rectangle 74"/>
          <p:cNvSpPr/>
          <p:nvPr/>
        </p:nvSpPr>
        <p:spPr>
          <a:xfrm>
            <a:off x="4276725" y="5607193"/>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6" name="Rounded Rectangle 75"/>
          <p:cNvSpPr/>
          <p:nvPr/>
        </p:nvSpPr>
        <p:spPr>
          <a:xfrm>
            <a:off x="4276725" y="59631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7" name="Rounded Rectangle 76"/>
          <p:cNvSpPr/>
          <p:nvPr/>
        </p:nvSpPr>
        <p:spPr>
          <a:xfrm>
            <a:off x="4276725" y="630996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Europe</a:t>
            </a:r>
          </a:p>
        </p:txBody>
      </p:sp>
      <p:sp>
        <p:nvSpPr>
          <p:cNvPr id="78" name="Rounded Rectangle 77"/>
          <p:cNvSpPr/>
          <p:nvPr/>
        </p:nvSpPr>
        <p:spPr>
          <a:xfrm>
            <a:off x="61531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East Asia</a:t>
            </a:r>
          </a:p>
        </p:txBody>
      </p:sp>
      <p:sp>
        <p:nvSpPr>
          <p:cNvPr id="79" name="Rounded Rectangle 78"/>
          <p:cNvSpPr/>
          <p:nvPr/>
        </p:nvSpPr>
        <p:spPr>
          <a:xfrm>
            <a:off x="62865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80" name="Rounded Rectangle 79"/>
          <p:cNvSpPr/>
          <p:nvPr/>
        </p:nvSpPr>
        <p:spPr>
          <a:xfrm>
            <a:off x="62865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81" name="Rounded Rectangle 80"/>
          <p:cNvSpPr/>
          <p:nvPr/>
        </p:nvSpPr>
        <p:spPr>
          <a:xfrm>
            <a:off x="62865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2" name="Rounded Rectangle 81"/>
          <p:cNvSpPr/>
          <p:nvPr/>
        </p:nvSpPr>
        <p:spPr>
          <a:xfrm>
            <a:off x="815340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South Asia &amp; Pacific</a:t>
            </a:r>
          </a:p>
        </p:txBody>
      </p:sp>
      <p:sp>
        <p:nvSpPr>
          <p:cNvPr id="83" name="Rounded Rectangle 82"/>
          <p:cNvSpPr/>
          <p:nvPr/>
        </p:nvSpPr>
        <p:spPr>
          <a:xfrm>
            <a:off x="828675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4" name="Rounded Rectangle 83"/>
          <p:cNvSpPr/>
          <p:nvPr/>
        </p:nvSpPr>
        <p:spPr>
          <a:xfrm>
            <a:off x="828675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Thailand</a:t>
            </a:r>
          </a:p>
        </p:txBody>
      </p:sp>
      <p:sp>
        <p:nvSpPr>
          <p:cNvPr id="85" name="Rounded Rectangle 84"/>
          <p:cNvSpPr/>
          <p:nvPr/>
        </p:nvSpPr>
        <p:spPr>
          <a:xfrm>
            <a:off x="828675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Malaysia</a:t>
            </a:r>
          </a:p>
        </p:txBody>
      </p:sp>
      <p:sp>
        <p:nvSpPr>
          <p:cNvPr id="86" name="Rounded Rectangle 85"/>
          <p:cNvSpPr/>
          <p:nvPr/>
        </p:nvSpPr>
        <p:spPr>
          <a:xfrm>
            <a:off x="828675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Indonesia</a:t>
            </a:r>
          </a:p>
        </p:txBody>
      </p:sp>
      <p:sp>
        <p:nvSpPr>
          <p:cNvPr id="87" name="Rounded Rectangle 86"/>
          <p:cNvSpPr/>
          <p:nvPr/>
        </p:nvSpPr>
        <p:spPr>
          <a:xfrm>
            <a:off x="828675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Singapore</a:t>
            </a:r>
          </a:p>
        </p:txBody>
      </p:sp>
      <p:sp>
        <p:nvSpPr>
          <p:cNvPr id="88" name="Rounded Rectangle 87"/>
          <p:cNvSpPr/>
          <p:nvPr/>
        </p:nvSpPr>
        <p:spPr>
          <a:xfrm>
            <a:off x="828675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Philippines</a:t>
            </a:r>
          </a:p>
        </p:txBody>
      </p:sp>
      <p:sp>
        <p:nvSpPr>
          <p:cNvPr id="89" name="Rounded Rectangle 88"/>
          <p:cNvSpPr/>
          <p:nvPr/>
        </p:nvSpPr>
        <p:spPr>
          <a:xfrm>
            <a:off x="828675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a:t>
            </a:r>
          </a:p>
        </p:txBody>
      </p:sp>
      <p:sp>
        <p:nvSpPr>
          <p:cNvPr id="90" name="Rounded Rectangle 89"/>
          <p:cNvSpPr/>
          <p:nvPr/>
        </p:nvSpPr>
        <p:spPr>
          <a:xfrm>
            <a:off x="828675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 Zealand</a:t>
            </a:r>
          </a:p>
        </p:txBody>
      </p:sp>
      <p:sp>
        <p:nvSpPr>
          <p:cNvPr id="91" name="Rounded Rectangle 90"/>
          <p:cNvSpPr/>
          <p:nvPr/>
        </p:nvSpPr>
        <p:spPr>
          <a:xfrm>
            <a:off x="8286750" y="531513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South Asia &amp; Pacific</a:t>
            </a:r>
          </a:p>
        </p:txBody>
      </p:sp>
      <p:sp>
        <p:nvSpPr>
          <p:cNvPr id="92" name="Rounded Rectangle 91"/>
          <p:cNvSpPr/>
          <p:nvPr/>
        </p:nvSpPr>
        <p:spPr>
          <a:xfrm>
            <a:off x="10153650" y="2011214"/>
            <a:ext cx="1885950" cy="301186"/>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Middle East &amp; Africa</a:t>
            </a:r>
          </a:p>
        </p:txBody>
      </p:sp>
      <p:sp>
        <p:nvSpPr>
          <p:cNvPr id="93" name="Rounded Rectangle 92"/>
          <p:cNvSpPr/>
          <p:nvPr/>
        </p:nvSpPr>
        <p:spPr>
          <a:xfrm>
            <a:off x="10287000" y="246755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Turkey</a:t>
            </a:r>
          </a:p>
        </p:txBody>
      </p:sp>
      <p:sp>
        <p:nvSpPr>
          <p:cNvPr id="94" name="Rounded Rectangle 93"/>
          <p:cNvSpPr/>
          <p:nvPr/>
        </p:nvSpPr>
        <p:spPr>
          <a:xfrm>
            <a:off x="10287000" y="2823504"/>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UAE</a:t>
            </a:r>
          </a:p>
        </p:txBody>
      </p:sp>
      <p:sp>
        <p:nvSpPr>
          <p:cNvPr id="95" name="Rounded Rectangle 94"/>
          <p:cNvSpPr/>
          <p:nvPr/>
        </p:nvSpPr>
        <p:spPr>
          <a:xfrm>
            <a:off x="10287000" y="3179451"/>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Saudi Arabia</a:t>
            </a:r>
          </a:p>
        </p:txBody>
      </p:sp>
      <p:sp>
        <p:nvSpPr>
          <p:cNvPr id="96" name="Rounded Rectangle 95"/>
          <p:cNvSpPr/>
          <p:nvPr/>
        </p:nvSpPr>
        <p:spPr>
          <a:xfrm>
            <a:off x="10287000" y="3535398"/>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Israel</a:t>
            </a:r>
          </a:p>
        </p:txBody>
      </p:sp>
      <p:sp>
        <p:nvSpPr>
          <p:cNvPr id="97" name="Rounded Rectangle 96"/>
          <p:cNvSpPr/>
          <p:nvPr/>
        </p:nvSpPr>
        <p:spPr>
          <a:xfrm>
            <a:off x="10287000" y="3891345"/>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98" name="Rounded Rectangle 97"/>
          <p:cNvSpPr/>
          <p:nvPr/>
        </p:nvSpPr>
        <p:spPr>
          <a:xfrm>
            <a:off x="10287000" y="4247292"/>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North Africa</a:t>
            </a:r>
          </a:p>
        </p:txBody>
      </p:sp>
      <p:sp>
        <p:nvSpPr>
          <p:cNvPr id="99" name="Rounded Rectangle 98"/>
          <p:cNvSpPr/>
          <p:nvPr/>
        </p:nvSpPr>
        <p:spPr>
          <a:xfrm>
            <a:off x="10287000" y="4603240"/>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100" name="Rounded Rectangle 99"/>
          <p:cNvSpPr/>
          <p:nvPr/>
        </p:nvSpPr>
        <p:spPr>
          <a:xfrm>
            <a:off x="10287000" y="4959187"/>
            <a:ext cx="1752600" cy="282932"/>
          </a:xfrm>
          <a:prstGeom prst="roundRect">
            <a:avLst>
              <a:gd name="adj" fmla="val 22580"/>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Middle East &amp; Africa</a:t>
            </a:r>
          </a:p>
        </p:txBody>
      </p:sp>
      <p:sp>
        <p:nvSpPr>
          <p:cNvPr id="101" name="TextBox 10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Taxonomy Segments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Segmentation framework of the study: 6 axes and the sub-segments sized under each</a:t>
            </a:r>
          </a:p>
        </p:txBody>
      </p:sp>
      <p:sp>
        <p:nvSpPr>
          <p:cNvPr id="10" name="Rectangle 9"/>
          <p:cNvSpPr/>
          <p:nvPr/>
        </p:nvSpPr>
        <p:spPr>
          <a:xfrm>
            <a:off x="142875" y="1028700"/>
            <a:ext cx="2876550" cy="235458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428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90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Device Technology</a:t>
            </a:r>
          </a:p>
        </p:txBody>
      </p:sp>
      <p:sp>
        <p:nvSpPr>
          <p:cNvPr id="13" name="TextBox 12"/>
          <p:cNvSpPr txBox="1"/>
          <p:nvPr/>
        </p:nvSpPr>
        <p:spPr>
          <a:xfrm>
            <a:off x="2000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4" name="TextBox 13"/>
          <p:cNvSpPr txBox="1"/>
          <p:nvPr/>
        </p:nvSpPr>
        <p:spPr>
          <a:xfrm>
            <a:off x="3905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Static Cold Storage Devices</a:t>
            </a:r>
          </a:p>
        </p:txBody>
      </p:sp>
      <p:cxnSp>
        <p:nvCxnSpPr>
          <p:cNvPr id="15" name="Connector 14"/>
          <p:cNvCxnSpPr/>
          <p:nvPr/>
        </p:nvCxnSpPr>
        <p:spPr>
          <a:xfrm>
            <a:off x="1524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14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7" name="TextBox 16"/>
          <p:cNvSpPr txBox="1"/>
          <p:nvPr/>
        </p:nvSpPr>
        <p:spPr>
          <a:xfrm>
            <a:off x="5619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Passive Insulated Transport Containers</a:t>
            </a:r>
          </a:p>
        </p:txBody>
      </p:sp>
      <p:cxnSp>
        <p:nvCxnSpPr>
          <p:cNvPr id="18" name="Connector 17"/>
          <p:cNvCxnSpPr/>
          <p:nvPr/>
        </p:nvCxnSpPr>
        <p:spPr>
          <a:xfrm>
            <a:off x="1524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14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0" name="TextBox 19"/>
          <p:cNvSpPr txBox="1"/>
          <p:nvPr/>
        </p:nvSpPr>
        <p:spPr>
          <a:xfrm>
            <a:off x="561975" y="161163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Active Temperature-Controlled Transport Devices</a:t>
            </a:r>
          </a:p>
        </p:txBody>
      </p:sp>
      <p:cxnSp>
        <p:nvCxnSpPr>
          <p:cNvPr id="21" name="Connector 20"/>
          <p:cNvCxnSpPr/>
          <p:nvPr/>
        </p:nvCxnSpPr>
        <p:spPr>
          <a:xfrm>
            <a:off x="1524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0002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3" name="TextBox 22"/>
          <p:cNvSpPr txBox="1"/>
          <p:nvPr/>
        </p:nvSpPr>
        <p:spPr>
          <a:xfrm>
            <a:off x="390525" y="196596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Portable Machine Perfusion Devices</a:t>
            </a:r>
          </a:p>
        </p:txBody>
      </p:sp>
      <p:cxnSp>
        <p:nvCxnSpPr>
          <p:cNvPr id="24" name="Connector 23"/>
          <p:cNvCxnSpPr/>
          <p:nvPr/>
        </p:nvCxnSpPr>
        <p:spPr>
          <a:xfrm>
            <a:off x="1524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714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561975" y="214312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Hypothermic Non-Oxygenated Perfusion Devices</a:t>
            </a:r>
          </a:p>
        </p:txBody>
      </p:sp>
      <p:cxnSp>
        <p:nvCxnSpPr>
          <p:cNvPr id="27" name="Connector 26"/>
          <p:cNvCxnSpPr/>
          <p:nvPr/>
        </p:nvCxnSpPr>
        <p:spPr>
          <a:xfrm>
            <a:off x="152400" y="24974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71475" y="24974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561975" y="2497455"/>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Hypothermic Oxygenated Perfusion Devices</a:t>
            </a:r>
          </a:p>
        </p:txBody>
      </p:sp>
      <p:cxnSp>
        <p:nvCxnSpPr>
          <p:cNvPr id="30" name="Connector 29"/>
          <p:cNvCxnSpPr/>
          <p:nvPr/>
        </p:nvCxnSpPr>
        <p:spPr>
          <a:xfrm>
            <a:off x="152400" y="285178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1475" y="285178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2" name="TextBox 31"/>
          <p:cNvSpPr txBox="1"/>
          <p:nvPr/>
        </p:nvSpPr>
        <p:spPr>
          <a:xfrm>
            <a:off x="561975" y="285178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Subnormothermic Perfusion Devices</a:t>
            </a:r>
          </a:p>
        </p:txBody>
      </p:sp>
      <p:cxnSp>
        <p:nvCxnSpPr>
          <p:cNvPr id="33" name="Connector 32"/>
          <p:cNvCxnSpPr/>
          <p:nvPr/>
        </p:nvCxnSpPr>
        <p:spPr>
          <a:xfrm>
            <a:off x="152400" y="302895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371475" y="302895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5" name="TextBox 34"/>
          <p:cNvSpPr txBox="1"/>
          <p:nvPr/>
        </p:nvSpPr>
        <p:spPr>
          <a:xfrm>
            <a:off x="561975" y="302895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Normothermic Perfusion Devices</a:t>
            </a:r>
          </a:p>
        </p:txBody>
      </p:sp>
      <p:cxnSp>
        <p:nvCxnSpPr>
          <p:cNvPr id="36" name="Connector 35"/>
          <p:cNvCxnSpPr/>
          <p:nvPr/>
        </p:nvCxnSpPr>
        <p:spPr>
          <a:xfrm>
            <a:off x="152400" y="320611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1475" y="320611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8" name="TextBox 37"/>
          <p:cNvSpPr txBox="1"/>
          <p:nvPr/>
        </p:nvSpPr>
        <p:spPr>
          <a:xfrm>
            <a:off x="561975" y="320611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Multi-Temperature Perfusion Devices</a:t>
            </a:r>
          </a:p>
        </p:txBody>
      </p:sp>
      <p:sp>
        <p:nvSpPr>
          <p:cNvPr id="39" name="Rectangle 38"/>
          <p:cNvSpPr/>
          <p:nvPr/>
        </p:nvSpPr>
        <p:spPr>
          <a:xfrm>
            <a:off x="3152775" y="1028700"/>
            <a:ext cx="2876550" cy="146875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527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289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Organ Compatibility</a:t>
            </a:r>
          </a:p>
        </p:txBody>
      </p:sp>
      <p:sp>
        <p:nvSpPr>
          <p:cNvPr id="42" name="TextBox 41"/>
          <p:cNvSpPr txBox="1"/>
          <p:nvPr/>
        </p:nvSpPr>
        <p:spPr>
          <a:xfrm>
            <a:off x="32099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3" name="TextBox 42"/>
          <p:cNvSpPr txBox="1"/>
          <p:nvPr/>
        </p:nvSpPr>
        <p:spPr>
          <a:xfrm>
            <a:off x="34004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Organ-Specific Devices</a:t>
            </a:r>
          </a:p>
        </p:txBody>
      </p:sp>
      <p:cxnSp>
        <p:nvCxnSpPr>
          <p:cNvPr id="44" name="Connector 43"/>
          <p:cNvCxnSpPr/>
          <p:nvPr/>
        </p:nvCxnSpPr>
        <p:spPr>
          <a:xfrm>
            <a:off x="31623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38137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6" name="TextBox 45"/>
          <p:cNvSpPr txBox="1"/>
          <p:nvPr/>
        </p:nvSpPr>
        <p:spPr>
          <a:xfrm>
            <a:off x="3571875" y="143446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Kidney-Specific Devices</a:t>
            </a:r>
          </a:p>
        </p:txBody>
      </p:sp>
      <p:cxnSp>
        <p:nvCxnSpPr>
          <p:cNvPr id="47" name="Connector 46"/>
          <p:cNvCxnSpPr/>
          <p:nvPr/>
        </p:nvCxnSpPr>
        <p:spPr>
          <a:xfrm>
            <a:off x="31623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3813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9" name="TextBox 48"/>
          <p:cNvSpPr txBox="1"/>
          <p:nvPr/>
        </p:nvSpPr>
        <p:spPr>
          <a:xfrm>
            <a:off x="35718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Liver-Specific Devices</a:t>
            </a:r>
          </a:p>
        </p:txBody>
      </p:sp>
      <p:cxnSp>
        <p:nvCxnSpPr>
          <p:cNvPr id="50" name="Connector 49"/>
          <p:cNvCxnSpPr/>
          <p:nvPr/>
        </p:nvCxnSpPr>
        <p:spPr>
          <a:xfrm>
            <a:off x="31623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3813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2" name="TextBox 51"/>
          <p:cNvSpPr txBox="1"/>
          <p:nvPr/>
        </p:nvSpPr>
        <p:spPr>
          <a:xfrm>
            <a:off x="35718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Heart-Specific Devices</a:t>
            </a:r>
          </a:p>
        </p:txBody>
      </p:sp>
      <p:cxnSp>
        <p:nvCxnSpPr>
          <p:cNvPr id="53" name="Connector 52"/>
          <p:cNvCxnSpPr/>
          <p:nvPr/>
        </p:nvCxnSpPr>
        <p:spPr>
          <a:xfrm>
            <a:off x="31623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33813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5" name="TextBox 54"/>
          <p:cNvSpPr txBox="1"/>
          <p:nvPr/>
        </p:nvSpPr>
        <p:spPr>
          <a:xfrm>
            <a:off x="3571875" y="196596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Lung-Specific Devices</a:t>
            </a:r>
          </a:p>
        </p:txBody>
      </p:sp>
      <p:cxnSp>
        <p:nvCxnSpPr>
          <p:cNvPr id="56" name="Connector 55"/>
          <p:cNvCxnSpPr/>
          <p:nvPr/>
        </p:nvCxnSpPr>
        <p:spPr>
          <a:xfrm>
            <a:off x="3162300" y="21431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381375" y="21431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3571875" y="214312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Organ-Specific Devices</a:t>
            </a:r>
          </a:p>
        </p:txBody>
      </p:sp>
      <p:cxnSp>
        <p:nvCxnSpPr>
          <p:cNvPr id="59" name="Connector 58"/>
          <p:cNvCxnSpPr/>
          <p:nvPr/>
        </p:nvCxnSpPr>
        <p:spPr>
          <a:xfrm>
            <a:off x="3162300" y="23202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209925" y="23202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1" name="TextBox 60"/>
          <p:cNvSpPr txBox="1"/>
          <p:nvPr/>
        </p:nvSpPr>
        <p:spPr>
          <a:xfrm>
            <a:off x="3400425" y="232029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Multi-Organ Compatible Devices</a:t>
            </a:r>
          </a:p>
        </p:txBody>
      </p:sp>
      <p:sp>
        <p:nvSpPr>
          <p:cNvPr id="62" name="Rectangle 61"/>
          <p:cNvSpPr/>
          <p:nvPr/>
        </p:nvSpPr>
        <p:spPr>
          <a:xfrm>
            <a:off x="6162675" y="102870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626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2388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Device Reusability</a:t>
            </a:r>
          </a:p>
        </p:txBody>
      </p:sp>
      <p:sp>
        <p:nvSpPr>
          <p:cNvPr id="65" name="TextBox 64"/>
          <p:cNvSpPr txBox="1"/>
          <p:nvPr/>
        </p:nvSpPr>
        <p:spPr>
          <a:xfrm>
            <a:off x="62198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6" name="TextBox 65"/>
          <p:cNvSpPr txBox="1"/>
          <p:nvPr/>
        </p:nvSpPr>
        <p:spPr>
          <a:xfrm>
            <a:off x="6410325" y="125730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Single-Use Transport Devices</a:t>
            </a:r>
          </a:p>
        </p:txBody>
      </p:sp>
      <p:cxnSp>
        <p:nvCxnSpPr>
          <p:cNvPr id="67" name="Connector 66"/>
          <p:cNvCxnSpPr/>
          <p:nvPr/>
        </p:nvCxnSpPr>
        <p:spPr>
          <a:xfrm>
            <a:off x="61722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2198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9" name="TextBox 68"/>
          <p:cNvSpPr txBox="1"/>
          <p:nvPr/>
        </p:nvSpPr>
        <p:spPr>
          <a:xfrm>
            <a:off x="6410325" y="143446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Reusable Transport Devices</a:t>
            </a:r>
          </a:p>
        </p:txBody>
      </p:sp>
      <p:sp>
        <p:nvSpPr>
          <p:cNvPr id="70" name="Rectangle 69"/>
          <p:cNvSpPr/>
          <p:nvPr/>
        </p:nvSpPr>
        <p:spPr>
          <a:xfrm>
            <a:off x="6162675" y="1725930"/>
            <a:ext cx="2876550" cy="1114425"/>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62675" y="172593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38875" y="172593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Purchasing Organisation</a:t>
            </a:r>
          </a:p>
        </p:txBody>
      </p:sp>
      <p:sp>
        <p:nvSpPr>
          <p:cNvPr id="73" name="TextBox 72"/>
          <p:cNvSpPr txBox="1"/>
          <p:nvPr/>
        </p:nvSpPr>
        <p:spPr>
          <a:xfrm>
            <a:off x="6219825" y="19545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4" name="TextBox 73"/>
          <p:cNvSpPr txBox="1"/>
          <p:nvPr/>
        </p:nvSpPr>
        <p:spPr>
          <a:xfrm>
            <a:off x="6410325" y="195453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Hospitals and Transplant Centres</a:t>
            </a:r>
          </a:p>
        </p:txBody>
      </p:sp>
      <p:cxnSp>
        <p:nvCxnSpPr>
          <p:cNvPr id="75" name="Connector 74"/>
          <p:cNvCxnSpPr/>
          <p:nvPr/>
        </p:nvCxnSpPr>
        <p:spPr>
          <a:xfrm>
            <a:off x="6172200" y="21316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219825" y="21316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7" name="TextBox 76"/>
          <p:cNvSpPr txBox="1"/>
          <p:nvPr/>
        </p:nvSpPr>
        <p:spPr>
          <a:xfrm>
            <a:off x="6410325" y="2131695"/>
            <a:ext cx="259080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Organ Procurement Organisations and Organ Retrieval Agencies</a:t>
            </a:r>
          </a:p>
        </p:txBody>
      </p:sp>
      <p:cxnSp>
        <p:nvCxnSpPr>
          <p:cNvPr id="78" name="Connector 77"/>
          <p:cNvCxnSpPr/>
          <p:nvPr/>
        </p:nvCxnSpPr>
        <p:spPr>
          <a:xfrm>
            <a:off x="6172200" y="248602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219825" y="248602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0" name="TextBox 79"/>
          <p:cNvSpPr txBox="1"/>
          <p:nvPr/>
        </p:nvSpPr>
        <p:spPr>
          <a:xfrm>
            <a:off x="6410325" y="248602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Specialised Medical Logistics Providers</a:t>
            </a:r>
          </a:p>
        </p:txBody>
      </p:sp>
      <p:cxnSp>
        <p:nvCxnSpPr>
          <p:cNvPr id="81" name="Connector 80"/>
          <p:cNvCxnSpPr/>
          <p:nvPr/>
        </p:nvCxnSpPr>
        <p:spPr>
          <a:xfrm>
            <a:off x="6172200" y="266319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2198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3" name="TextBox 82"/>
          <p:cNvSpPr txBox="1"/>
          <p:nvPr/>
        </p:nvSpPr>
        <p:spPr>
          <a:xfrm>
            <a:off x="64103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Other Purchasing Organisations</a:t>
            </a:r>
          </a:p>
        </p:txBody>
      </p:sp>
      <p:sp>
        <p:nvSpPr>
          <p:cNvPr id="84" name="Rectangle 83"/>
          <p:cNvSpPr/>
          <p:nvPr/>
        </p:nvSpPr>
        <p:spPr>
          <a:xfrm>
            <a:off x="9172575" y="1028700"/>
            <a:ext cx="2876550" cy="129159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172575" y="102870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248775" y="102870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Monitoring Capability</a:t>
            </a:r>
          </a:p>
        </p:txBody>
      </p:sp>
      <p:sp>
        <p:nvSpPr>
          <p:cNvPr id="87" name="TextBox 86"/>
          <p:cNvSpPr txBox="1"/>
          <p:nvPr/>
        </p:nvSpPr>
        <p:spPr>
          <a:xfrm>
            <a:off x="9229725" y="125730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8" name="TextBox 87"/>
          <p:cNvSpPr txBox="1"/>
          <p:nvPr/>
        </p:nvSpPr>
        <p:spPr>
          <a:xfrm>
            <a:off x="9420225" y="1257300"/>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Devices without Integrated Monitoring</a:t>
            </a:r>
          </a:p>
        </p:txBody>
      </p:sp>
      <p:cxnSp>
        <p:nvCxnSpPr>
          <p:cNvPr id="89" name="Connector 88"/>
          <p:cNvCxnSpPr/>
          <p:nvPr/>
        </p:nvCxnSpPr>
        <p:spPr>
          <a:xfrm>
            <a:off x="9182100" y="143446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9229725" y="143446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1" name="TextBox 90"/>
          <p:cNvSpPr txBox="1"/>
          <p:nvPr/>
        </p:nvSpPr>
        <p:spPr>
          <a:xfrm>
            <a:off x="9420225" y="1434465"/>
            <a:ext cx="2590800" cy="177165"/>
          </a:xfrm>
          <a:prstGeom prst="rect">
            <a:avLst/>
          </a:prstGeom>
          <a:noFill/>
        </p:spPr>
        <p:txBody>
          <a:bodyPr wrap="square" lIns="28575" rIns="28575" tIns="9525" bIns="9525" anchor="ctr">
            <a:spAutoFit/>
          </a:bodyPr>
          <a:lstStyle/>
          <a:p>
            <a:pPr algn="l"/>
            <a:r>
              <a:rPr sz="1100" b="1">
                <a:solidFill>
                  <a:srgbClr val="2E2E2E"/>
                </a:solidFill>
                <a:latin typeface="Calibri"/>
              </a:rPr>
              <a:t>Devices with Integrated Monitoring</a:t>
            </a:r>
          </a:p>
        </p:txBody>
      </p:sp>
      <p:cxnSp>
        <p:nvCxnSpPr>
          <p:cNvPr id="92" name="Connector 91"/>
          <p:cNvCxnSpPr/>
          <p:nvPr/>
        </p:nvCxnSpPr>
        <p:spPr>
          <a:xfrm>
            <a:off x="9182100" y="161163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01175" y="161163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4" name="TextBox 93"/>
          <p:cNvSpPr txBox="1"/>
          <p:nvPr/>
        </p:nvSpPr>
        <p:spPr>
          <a:xfrm>
            <a:off x="9591675" y="1611630"/>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Temperature Monitoring Only</a:t>
            </a:r>
          </a:p>
        </p:txBody>
      </p:sp>
      <p:cxnSp>
        <p:nvCxnSpPr>
          <p:cNvPr id="95" name="Connector 94"/>
          <p:cNvCxnSpPr/>
          <p:nvPr/>
        </p:nvCxnSpPr>
        <p:spPr>
          <a:xfrm>
            <a:off x="9182100" y="178879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9401175" y="178879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7" name="TextBox 96"/>
          <p:cNvSpPr txBox="1"/>
          <p:nvPr/>
        </p:nvSpPr>
        <p:spPr>
          <a:xfrm>
            <a:off x="9591675" y="1788795"/>
            <a:ext cx="2419350" cy="177165"/>
          </a:xfrm>
          <a:prstGeom prst="rect">
            <a:avLst/>
          </a:prstGeom>
          <a:noFill/>
        </p:spPr>
        <p:txBody>
          <a:bodyPr wrap="square" lIns="28575" rIns="28575" tIns="9525" bIns="9525" anchor="ctr">
            <a:spAutoFit/>
          </a:bodyPr>
          <a:lstStyle/>
          <a:p>
            <a:pPr algn="l"/>
            <a:r>
              <a:rPr sz="1100" b="0">
                <a:solidFill>
                  <a:srgbClr val="2E2E2E"/>
                </a:solidFill>
                <a:latin typeface="Calibri"/>
              </a:rPr>
              <a:t>Temperature and Location Monitoring</a:t>
            </a:r>
          </a:p>
        </p:txBody>
      </p:sp>
      <p:cxnSp>
        <p:nvCxnSpPr>
          <p:cNvPr id="98" name="Connector 97"/>
          <p:cNvCxnSpPr/>
          <p:nvPr/>
        </p:nvCxnSpPr>
        <p:spPr>
          <a:xfrm>
            <a:off x="9182100" y="1965960"/>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9401175" y="196596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9591675" y="1965960"/>
            <a:ext cx="2419350" cy="354330"/>
          </a:xfrm>
          <a:prstGeom prst="rect">
            <a:avLst/>
          </a:prstGeom>
          <a:noFill/>
        </p:spPr>
        <p:txBody>
          <a:bodyPr wrap="square" lIns="28575" rIns="28575" tIns="9525" bIns="9525" anchor="t">
            <a:spAutoFit/>
          </a:bodyPr>
          <a:lstStyle/>
          <a:p>
            <a:pPr algn="l">
              <a:lnSpc>
                <a:spcPct val="100000"/>
              </a:lnSpc>
            </a:pPr>
            <a:r>
              <a:rPr sz="1100" b="0">
                <a:solidFill>
                  <a:srgbClr val="2E2E2E"/>
                </a:solidFill>
                <a:latin typeface="Calibri"/>
              </a:rPr>
              <a:t>Physiological and Perfusion Parameter Monitoring</a:t>
            </a:r>
          </a:p>
        </p:txBody>
      </p:sp>
      <p:sp>
        <p:nvSpPr>
          <p:cNvPr id="101" name="Rectangle 100"/>
          <p:cNvSpPr/>
          <p:nvPr/>
        </p:nvSpPr>
        <p:spPr>
          <a:xfrm>
            <a:off x="9172575" y="2434590"/>
            <a:ext cx="2876550" cy="58293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172575" y="2434590"/>
            <a:ext cx="2876550" cy="22860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248775" y="2434590"/>
            <a:ext cx="2724150" cy="228600"/>
          </a:xfrm>
          <a:prstGeom prst="rect">
            <a:avLst/>
          </a:prstGeom>
          <a:noFill/>
        </p:spPr>
        <p:txBody>
          <a:bodyPr wrap="square" lIns="28575" rIns="28575" tIns="9525" bIns="9525" anchor="ctr">
            <a:spAutoFit/>
          </a:bodyPr>
          <a:lstStyle/>
          <a:p>
            <a:pPr algn="l"/>
            <a:r>
              <a:rPr sz="1100" b="1">
                <a:solidFill>
                  <a:srgbClr val="FFFFFF"/>
                </a:solidFill>
                <a:latin typeface="Calibri"/>
              </a:rPr>
              <a:t>By Sales Channel</a:t>
            </a:r>
          </a:p>
        </p:txBody>
      </p:sp>
      <p:sp>
        <p:nvSpPr>
          <p:cNvPr id="104" name="TextBox 103"/>
          <p:cNvSpPr txBox="1"/>
          <p:nvPr/>
        </p:nvSpPr>
        <p:spPr>
          <a:xfrm>
            <a:off x="9229725" y="2663190"/>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5" name="TextBox 104"/>
          <p:cNvSpPr txBox="1"/>
          <p:nvPr/>
        </p:nvSpPr>
        <p:spPr>
          <a:xfrm>
            <a:off x="9420225" y="2663190"/>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Direct Sales</a:t>
            </a:r>
          </a:p>
        </p:txBody>
      </p:sp>
      <p:cxnSp>
        <p:nvCxnSpPr>
          <p:cNvPr id="106" name="Connector 105"/>
          <p:cNvCxnSpPr/>
          <p:nvPr/>
        </p:nvCxnSpPr>
        <p:spPr>
          <a:xfrm>
            <a:off x="9182100" y="2840355"/>
            <a:ext cx="285750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9229725" y="2840355"/>
            <a:ext cx="190500" cy="177165"/>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8" name="TextBox 107"/>
          <p:cNvSpPr txBox="1"/>
          <p:nvPr/>
        </p:nvSpPr>
        <p:spPr>
          <a:xfrm>
            <a:off x="9420225" y="2840355"/>
            <a:ext cx="2590800" cy="177165"/>
          </a:xfrm>
          <a:prstGeom prst="rect">
            <a:avLst/>
          </a:prstGeom>
          <a:noFill/>
        </p:spPr>
        <p:txBody>
          <a:bodyPr wrap="square" lIns="28575" rIns="28575" tIns="9525" bIns="9525" anchor="ctr">
            <a:spAutoFit/>
          </a:bodyPr>
          <a:lstStyle/>
          <a:p>
            <a:pPr algn="l"/>
            <a:r>
              <a:rPr sz="1100" b="0">
                <a:solidFill>
                  <a:srgbClr val="2E2E2E"/>
                </a:solidFill>
                <a:latin typeface="Calibri"/>
              </a:rPr>
              <a:t>Distributor Sales</a:t>
            </a:r>
          </a:p>
        </p:txBody>
      </p:sp>
      <p:sp>
        <p:nvSpPr>
          <p:cNvPr id="109" name="TextBox 10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Company Coverage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Companies profiled and benchmarked across the competition assessment</a:t>
            </a:r>
          </a:p>
        </p:txBody>
      </p:sp>
      <p:sp>
        <p:nvSpPr>
          <p:cNvPr id="10" name="TextBox 9"/>
          <p:cNvSpPr txBox="1"/>
          <p:nvPr/>
        </p:nvSpPr>
        <p:spPr>
          <a:xfrm>
            <a:off x="142875" y="1007261"/>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Organ Transport Devices Market profiled and benchmarked in the Competition Assessment section.</a:t>
            </a:r>
          </a:p>
        </p:txBody>
      </p:sp>
      <p:sp>
        <p:nvSpPr>
          <p:cNvPr id="11" name="Rectangle 10"/>
          <p:cNvSpPr/>
          <p:nvPr/>
        </p:nvSpPr>
        <p:spPr>
          <a:xfrm>
            <a:off x="142875"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2875"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4" name="TextBox 13"/>
          <p:cNvSpPr txBox="1"/>
          <p:nvPr/>
        </p:nvSpPr>
        <p:spPr>
          <a:xfrm>
            <a:off x="333375"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5" name="TextBox 14"/>
          <p:cNvSpPr txBox="1"/>
          <p:nvPr/>
        </p:nvSpPr>
        <p:spPr>
          <a:xfrm>
            <a:off x="581025"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TransMedics</a:t>
            </a:r>
          </a:p>
        </p:txBody>
      </p:sp>
      <p:sp>
        <p:nvSpPr>
          <p:cNvPr id="16" name="Rectangle 15"/>
          <p:cNvSpPr/>
          <p:nvPr/>
        </p:nvSpPr>
        <p:spPr>
          <a:xfrm>
            <a:off x="152400"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2400"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375"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19" name="TextBox 18"/>
          <p:cNvSpPr txBox="1"/>
          <p:nvPr/>
        </p:nvSpPr>
        <p:spPr>
          <a:xfrm>
            <a:off x="581025"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OrganOx</a:t>
            </a:r>
          </a:p>
        </p:txBody>
      </p:sp>
      <p:cxnSp>
        <p:nvCxnSpPr>
          <p:cNvPr id="20" name="Connector 19"/>
          <p:cNvCxnSpPr/>
          <p:nvPr/>
        </p:nvCxnSpPr>
        <p:spPr>
          <a:xfrm>
            <a:off x="152400"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3375"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2" name="TextBox 21"/>
          <p:cNvSpPr txBox="1"/>
          <p:nvPr/>
        </p:nvSpPr>
        <p:spPr>
          <a:xfrm>
            <a:off x="581025"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XVIVO Perfusion</a:t>
            </a:r>
          </a:p>
        </p:txBody>
      </p:sp>
      <p:sp>
        <p:nvSpPr>
          <p:cNvPr id="23" name="Rectangle 22"/>
          <p:cNvSpPr/>
          <p:nvPr/>
        </p:nvSpPr>
        <p:spPr>
          <a:xfrm>
            <a:off x="152400"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52400"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33375"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6" name="TextBox 25"/>
          <p:cNvSpPr txBox="1"/>
          <p:nvPr/>
        </p:nvSpPr>
        <p:spPr>
          <a:xfrm>
            <a:off x="581025"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Paragonix Technologies</a:t>
            </a:r>
          </a:p>
        </p:txBody>
      </p:sp>
      <p:cxnSp>
        <p:nvCxnSpPr>
          <p:cNvPr id="27" name="Connector 26"/>
          <p:cNvCxnSpPr/>
          <p:nvPr/>
        </p:nvCxnSpPr>
        <p:spPr>
          <a:xfrm>
            <a:off x="152400"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33375"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29" name="TextBox 28"/>
          <p:cNvSpPr txBox="1"/>
          <p:nvPr/>
        </p:nvSpPr>
        <p:spPr>
          <a:xfrm>
            <a:off x="581025"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Organ Recovery Systems</a:t>
            </a:r>
          </a:p>
        </p:txBody>
      </p:sp>
      <p:sp>
        <p:nvSpPr>
          <p:cNvPr id="30" name="Rectangle 29"/>
          <p:cNvSpPr/>
          <p:nvPr/>
        </p:nvSpPr>
        <p:spPr>
          <a:xfrm>
            <a:off x="152400"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52400"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33375"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3" name="TextBox 32"/>
          <p:cNvSpPr txBox="1"/>
          <p:nvPr/>
        </p:nvSpPr>
        <p:spPr>
          <a:xfrm>
            <a:off x="581025"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IGL Group / Waters Medical Systems</a:t>
            </a:r>
          </a:p>
        </p:txBody>
      </p:sp>
      <p:cxnSp>
        <p:nvCxnSpPr>
          <p:cNvPr id="34" name="Connector 33"/>
          <p:cNvCxnSpPr/>
          <p:nvPr/>
        </p:nvCxnSpPr>
        <p:spPr>
          <a:xfrm>
            <a:off x="152400"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33375"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36" name="TextBox 35"/>
          <p:cNvSpPr txBox="1"/>
          <p:nvPr/>
        </p:nvSpPr>
        <p:spPr>
          <a:xfrm>
            <a:off x="581025"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Bridge to Life</a:t>
            </a:r>
          </a:p>
        </p:txBody>
      </p:sp>
      <p:sp>
        <p:nvSpPr>
          <p:cNvPr id="37" name="Rectangle 36"/>
          <p:cNvSpPr/>
          <p:nvPr/>
        </p:nvSpPr>
        <p:spPr>
          <a:xfrm>
            <a:off x="152400"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52400"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33375"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0" name="TextBox 39"/>
          <p:cNvSpPr txBox="1"/>
          <p:nvPr/>
        </p:nvSpPr>
        <p:spPr>
          <a:xfrm>
            <a:off x="581025"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Aferetica</a:t>
            </a:r>
          </a:p>
        </p:txBody>
      </p:sp>
      <p:cxnSp>
        <p:nvCxnSpPr>
          <p:cNvPr id="41" name="Connector 40"/>
          <p:cNvCxnSpPr/>
          <p:nvPr/>
        </p:nvCxnSpPr>
        <p:spPr>
          <a:xfrm>
            <a:off x="152400"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33375" y="5680208"/>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3" name="TextBox 42"/>
          <p:cNvSpPr txBox="1"/>
          <p:nvPr/>
        </p:nvSpPr>
        <p:spPr>
          <a:xfrm>
            <a:off x="581025" y="5680208"/>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EBERS Medical Technology</a:t>
            </a:r>
          </a:p>
        </p:txBody>
      </p:sp>
      <p:sp>
        <p:nvSpPr>
          <p:cNvPr id="44" name="Rectangle 43"/>
          <p:cNvSpPr/>
          <p:nvPr/>
        </p:nvSpPr>
        <p:spPr>
          <a:xfrm>
            <a:off x="6191250" y="1609633"/>
            <a:ext cx="5857875" cy="4545171"/>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91250" y="1609633"/>
            <a:ext cx="5857875" cy="273805"/>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1250" y="1673521"/>
            <a:ext cx="5857875" cy="164283"/>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47" name="TextBox 46"/>
          <p:cNvSpPr txBox="1"/>
          <p:nvPr/>
        </p:nvSpPr>
        <p:spPr>
          <a:xfrm>
            <a:off x="6381750" y="188343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48" name="TextBox 47"/>
          <p:cNvSpPr txBox="1"/>
          <p:nvPr/>
        </p:nvSpPr>
        <p:spPr>
          <a:xfrm>
            <a:off x="6629400" y="188343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Traferox Technologies</a:t>
            </a:r>
          </a:p>
        </p:txBody>
      </p:sp>
      <p:sp>
        <p:nvSpPr>
          <p:cNvPr id="49" name="Rectangle 48"/>
          <p:cNvSpPr/>
          <p:nvPr/>
        </p:nvSpPr>
        <p:spPr>
          <a:xfrm>
            <a:off x="6200775" y="2358035"/>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6200775" y="235803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81750" y="235803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2" name="TextBox 51"/>
          <p:cNvSpPr txBox="1"/>
          <p:nvPr/>
        </p:nvSpPr>
        <p:spPr>
          <a:xfrm>
            <a:off x="6629400" y="235803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Hangzhou Life Perfusor Medical Technology</a:t>
            </a:r>
          </a:p>
        </p:txBody>
      </p:sp>
      <p:cxnSp>
        <p:nvCxnSpPr>
          <p:cNvPr id="53" name="Connector 52"/>
          <p:cNvCxnSpPr/>
          <p:nvPr/>
        </p:nvCxnSpPr>
        <p:spPr>
          <a:xfrm>
            <a:off x="6200775" y="2832631"/>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381750" y="2832631"/>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5" name="TextBox 54"/>
          <p:cNvSpPr txBox="1"/>
          <p:nvPr/>
        </p:nvSpPr>
        <p:spPr>
          <a:xfrm>
            <a:off x="6629400" y="2832631"/>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ALCIS</a:t>
            </a:r>
          </a:p>
        </p:txBody>
      </p:sp>
      <p:sp>
        <p:nvSpPr>
          <p:cNvPr id="56" name="Rectangle 55"/>
          <p:cNvSpPr/>
          <p:nvPr/>
        </p:nvSpPr>
        <p:spPr>
          <a:xfrm>
            <a:off x="6200775" y="3307227"/>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6200775" y="3307227"/>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81750" y="3307227"/>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59" name="TextBox 58"/>
          <p:cNvSpPr txBox="1"/>
          <p:nvPr/>
        </p:nvSpPr>
        <p:spPr>
          <a:xfrm>
            <a:off x="6629400" y="3307227"/>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RipplePak</a:t>
            </a:r>
          </a:p>
        </p:txBody>
      </p:sp>
      <p:cxnSp>
        <p:nvCxnSpPr>
          <p:cNvPr id="60" name="Connector 59"/>
          <p:cNvCxnSpPr/>
          <p:nvPr/>
        </p:nvCxnSpPr>
        <p:spPr>
          <a:xfrm>
            <a:off x="6200775" y="3781823"/>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381750" y="3781823"/>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2" name="TextBox 61"/>
          <p:cNvSpPr txBox="1"/>
          <p:nvPr/>
        </p:nvSpPr>
        <p:spPr>
          <a:xfrm>
            <a:off x="6629400" y="3781823"/>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True Pack Ltd.</a:t>
            </a:r>
          </a:p>
        </p:txBody>
      </p:sp>
      <p:sp>
        <p:nvSpPr>
          <p:cNvPr id="63" name="Rectangle 62"/>
          <p:cNvSpPr/>
          <p:nvPr/>
        </p:nvSpPr>
        <p:spPr>
          <a:xfrm>
            <a:off x="6200775" y="4256419"/>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6200775" y="4256419"/>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381750" y="4256419"/>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6" name="TextBox 65"/>
          <p:cNvSpPr txBox="1"/>
          <p:nvPr/>
        </p:nvSpPr>
        <p:spPr>
          <a:xfrm>
            <a:off x="6629400" y="4256419"/>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X-Therma</a:t>
            </a:r>
          </a:p>
        </p:txBody>
      </p:sp>
      <p:cxnSp>
        <p:nvCxnSpPr>
          <p:cNvPr id="67" name="Connector 66"/>
          <p:cNvCxnSpPr/>
          <p:nvPr/>
        </p:nvCxnSpPr>
        <p:spPr>
          <a:xfrm>
            <a:off x="6200775" y="4731015"/>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381750" y="4731015"/>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69" name="TextBox 68"/>
          <p:cNvSpPr txBox="1"/>
          <p:nvPr/>
        </p:nvSpPr>
        <p:spPr>
          <a:xfrm>
            <a:off x="6629400" y="4731015"/>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Vascular Perfusion Solutions</a:t>
            </a:r>
          </a:p>
        </p:txBody>
      </p:sp>
      <p:sp>
        <p:nvSpPr>
          <p:cNvPr id="70" name="Rectangle 69"/>
          <p:cNvSpPr/>
          <p:nvPr/>
        </p:nvSpPr>
        <p:spPr>
          <a:xfrm>
            <a:off x="6200775" y="5205612"/>
            <a:ext cx="5838825" cy="474596"/>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200775" y="5205612"/>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381750" y="5205612"/>
            <a:ext cx="190500" cy="474596"/>
          </a:xfrm>
          <a:prstGeom prst="rect">
            <a:avLst/>
          </a:prstGeom>
          <a:noFill/>
        </p:spPr>
        <p:txBody>
          <a:bodyPr wrap="none" lIns="0" rIns="0" tIns="0" bIns="0" anchor="ctr">
            <a:spAutoFit/>
          </a:bodyPr>
          <a:lstStyle/>
          <a:p>
            <a:pPr algn="l"/>
            <a:r>
              <a:rPr sz="1100" b="0">
                <a:solidFill>
                  <a:srgbClr val="6C7A89"/>
                </a:solidFill>
                <a:latin typeface="Calibri"/>
              </a:rPr>
              <a:t>❑</a:t>
            </a:r>
          </a:p>
        </p:txBody>
      </p:sp>
      <p:sp>
        <p:nvSpPr>
          <p:cNvPr id="73" name="TextBox 72"/>
          <p:cNvSpPr txBox="1"/>
          <p:nvPr/>
        </p:nvSpPr>
        <p:spPr>
          <a:xfrm>
            <a:off x="6629400" y="5205612"/>
            <a:ext cx="5324475" cy="474596"/>
          </a:xfrm>
          <a:prstGeom prst="rect">
            <a:avLst/>
          </a:prstGeom>
          <a:noFill/>
        </p:spPr>
        <p:txBody>
          <a:bodyPr wrap="square" lIns="28575" rIns="28575" tIns="9525" bIns="9525" anchor="ctr">
            <a:spAutoFit/>
          </a:bodyPr>
          <a:lstStyle/>
          <a:p>
            <a:pPr algn="l"/>
            <a:r>
              <a:rPr sz="1100" b="0">
                <a:solidFill>
                  <a:srgbClr val="2E2E2E"/>
                </a:solidFill>
                <a:latin typeface="Calibri"/>
              </a:rPr>
              <a:t>BioMedInnovations / BMI OrganBank</a:t>
            </a:r>
          </a:p>
        </p:txBody>
      </p:sp>
      <p:cxnSp>
        <p:nvCxnSpPr>
          <p:cNvPr id="74" name="Connector 73"/>
          <p:cNvCxnSpPr/>
          <p:nvPr/>
        </p:nvCxnSpPr>
        <p:spPr>
          <a:xfrm>
            <a:off x="6200775" y="5680208"/>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142875" y="6337341"/>
            <a:ext cx="11906250" cy="182537"/>
          </a:xfrm>
          <a:prstGeom prst="rect">
            <a:avLst/>
          </a:prstGeom>
          <a:noFill/>
        </p:spPr>
        <p:txBody>
          <a:bodyPr wrap="square" lIns="28575" rIns="28575" tIns="9525" bIns="9525" anchor="ctr">
            <a:spAutoFit/>
          </a:bodyPr>
          <a:lstStyle/>
          <a:p>
            <a:pPr algn="l"/>
            <a:r>
              <a:rPr sz="1100" b="1">
                <a:solidFill>
                  <a:srgbClr val="B06A2C"/>
                </a:solidFill>
                <a:latin typeface="Calibri"/>
              </a:rPr>
              <a:t>Note: the list of companies is indicative and can be customised on request.</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31464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489325"/>
            <a:ext cx="8572500" cy="514350"/>
          </a:xfrm>
          <a:prstGeom prst="rect">
            <a:avLst/>
          </a:prstGeom>
          <a:noFill/>
        </p:spPr>
        <p:txBody>
          <a:bodyPr wrap="square" lIns="0" rIns="0" tIns="0">
            <a:spAutoFit/>
          </a:bodyPr>
          <a:lstStyle/>
          <a:p>
            <a:r>
              <a:rPr sz="3000" b="1">
                <a:solidFill>
                  <a:srgbClr val="0B3C8C"/>
                </a:solidFill>
                <a:latin typeface="Calibri"/>
              </a:rPr>
              <a:t>Table of Contents</a:t>
            </a:r>
          </a:p>
        </p:txBody>
      </p:sp>
      <p:sp>
        <p:nvSpPr>
          <p:cNvPr id="11" name="TextBox 10"/>
          <p:cNvSpPr txBox="1"/>
          <p:nvPr/>
        </p:nvSpPr>
        <p:spPr>
          <a:xfrm>
            <a:off x="914400" y="4175125"/>
            <a:ext cx="84582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The full contents of this study, as delivered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(1/7)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Symbol"/>
                        </a:rPr>
                        <a:t></a:t>
                      </a:r>
                      <a:r>
                        <a:rPr sz="700" b="1" i="0">
                          <a:solidFill>
                            <a:srgbClr val="000000"/>
                          </a:solidFill>
                          <a:latin typeface="Times New Roman"/>
                        </a:rPr>
                        <a:t>         </a:t>
                      </a:r>
                      <a:r>
                        <a:rPr sz="1100" b="1" i="0">
                          <a:solidFill>
                            <a:srgbClr val="000000"/>
                          </a:solidFill>
                          <a:latin typeface="Calibri"/>
                        </a:rPr>
                        <a:t>Executive Summary</a:t>
                      </a:r>
                      <a:endParaRPr sz="1100"/>
                    </a:p>
                  </a:txBody>
                  <a:tcPr marL="17145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Global Market Snapshot</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Demand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Key Supply Trends</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Technology Roadmap</a:t>
                      </a:r>
                      <a:endParaRPr sz="1100"/>
                    </a:p>
                  </a:txBody>
                  <a:tcPr marL="685800" marR="9525" marT="9525" marB="0" anchor="ctr"/>
                </a:tc>
              </a:tr>
              <a:tr h="175260">
                <a:tc>
                  <a:txBody>
                    <a:bodyPr wrap="square"/>
                    <a:lstStyle/>
                    <a:p>
                      <a:pPr algn="l"/>
                      <a:r>
                        <a:rPr sz="1100" b="0" i="0">
                          <a:solidFill>
                            <a:srgbClr val="0070C0"/>
                          </a:solidFill>
                          <a:latin typeface="Courier New"/>
                        </a:rPr>
                        <a:t>o</a:t>
                      </a:r>
                      <a:r>
                        <a:rPr sz="700" b="0" i="0">
                          <a:solidFill>
                            <a:srgbClr val="0070C0"/>
                          </a:solidFill>
                          <a:latin typeface="Times New Roman"/>
                        </a:rPr>
                        <a:t>        </a:t>
                      </a:r>
                      <a:r>
                        <a:rPr sz="1100" b="0" i="0">
                          <a:solidFill>
                            <a:srgbClr val="0070C0"/>
                          </a:solidFill>
                          <a:latin typeface="Calibri"/>
                        </a:rPr>
                        <a:t>Analyst Takeaways &amp; Recommendations</a:t>
                      </a:r>
                      <a:endParaRPr sz="1100"/>
                    </a:p>
                  </a:txBody>
                  <a:tcPr marL="685800" marR="9525" marT="9525" marB="0" anchor="ctr"/>
                </a:tc>
              </a:tr>
              <a:tr h="175260">
                <a:tc>
                  <a:txBody>
                    <a:bodyPr wrap="square"/>
                    <a:lstStyle/>
                    <a:p>
                      <a:pPr algn="l"/>
                      <a:r>
                        <a:rPr sz="1100" b="1" i="0">
                          <a:solidFill>
                            <a:srgbClr val="000000"/>
                          </a:solidFill>
                          <a:latin typeface="Calibri"/>
                        </a:rPr>
                        <a:t>1.</a:t>
                      </a:r>
                      <a:r>
                        <a:rPr sz="700" b="1" i="0">
                          <a:solidFill>
                            <a:srgbClr val="000000"/>
                          </a:solidFill>
                          <a:latin typeface="Times New Roman"/>
                        </a:rPr>
                        <a:t>       </a:t>
                      </a:r>
                      <a:r>
                        <a:rPr sz="1100" b="1" i="0">
                          <a:solidFill>
                            <a:srgbClr val="000000"/>
                          </a:solidFill>
                          <a:latin typeface="Calibri"/>
                        </a:rPr>
                        <a:t>Market Overview</a:t>
                      </a:r>
                      <a:endParaRPr sz="1100"/>
                    </a:p>
                  </a:txBody>
                  <a:tcPr marL="171450" marR="9525" marT="9525" marB="0" anchor="ctr"/>
                </a:tc>
              </a:tr>
              <a:tr h="175260">
                <a:tc>
                  <a:txBody>
                    <a:bodyPr wrap="square"/>
                    <a:lstStyle/>
                    <a:p>
                      <a:pPr algn="l"/>
                      <a:r>
                        <a:rPr sz="1100" b="0" i="0">
                          <a:solidFill>
                            <a:srgbClr val="0070C0"/>
                          </a:solidFill>
                          <a:latin typeface="Calibri"/>
                        </a:rPr>
                        <a:t>1.1.</a:t>
                      </a:r>
                      <a:r>
                        <a:rPr sz="700" b="0" i="0">
                          <a:solidFill>
                            <a:srgbClr val="0070C0"/>
                          </a:solidFill>
                          <a:latin typeface="Times New Roman"/>
                        </a:rPr>
                        <a:t>    </a:t>
                      </a:r>
                      <a:r>
                        <a:rPr sz="1100" b="0" i="0">
                          <a:solidFill>
                            <a:srgbClr val="0070C0"/>
                          </a:solidFill>
                          <a:latin typeface="Calibri"/>
                        </a:rPr>
                        <a:t>Market Coverage / Taxonomy</a:t>
                      </a:r>
                      <a:endParaRPr sz="1100"/>
                    </a:p>
                  </a:txBody>
                  <a:tcPr marL="428625" marR="9525" marT="9525" marB="0" anchor="ctr"/>
                </a:tc>
              </a:tr>
              <a:tr h="175260">
                <a:tc>
                  <a:txBody>
                    <a:bodyPr wrap="square"/>
                    <a:lstStyle/>
                    <a:p>
                      <a:pPr algn="l"/>
                      <a:r>
                        <a:rPr sz="1100" b="0" i="0">
                          <a:solidFill>
                            <a:srgbClr val="0070C0"/>
                          </a:solidFill>
                          <a:latin typeface="Calibri"/>
                        </a:rPr>
                        <a:t>1.2.</a:t>
                      </a:r>
                      <a:r>
                        <a:rPr sz="700" b="0" i="0">
                          <a:solidFill>
                            <a:srgbClr val="0070C0"/>
                          </a:solidFill>
                          <a:latin typeface="Times New Roman"/>
                        </a:rPr>
                        <a:t>    </a:t>
                      </a:r>
                      <a:r>
                        <a:rPr sz="1100" b="0" i="0">
                          <a:solidFill>
                            <a:srgbClr val="0070C0"/>
                          </a:solidFill>
                          <a:latin typeface="Calibri"/>
                        </a:rPr>
                        <a:t>Market Definition By Segments Covered</a:t>
                      </a:r>
                      <a:endParaRPr sz="1100"/>
                    </a:p>
                  </a:txBody>
                  <a:tcPr marL="428625" marR="9525" marT="9525" marB="0" anchor="ctr"/>
                </a:tc>
              </a:tr>
              <a:tr h="175260">
                <a:tc>
                  <a:txBody>
                    <a:bodyPr wrap="square"/>
                    <a:lstStyle/>
                    <a:p>
                      <a:pPr algn="l"/>
                      <a:r>
                        <a:rPr sz="1100" b="1" i="0">
                          <a:solidFill>
                            <a:srgbClr val="000000"/>
                          </a:solidFill>
                          <a:latin typeface="Calibri"/>
                        </a:rPr>
                        <a:t>2.</a:t>
                      </a:r>
                      <a:r>
                        <a:rPr sz="700" b="1" i="0">
                          <a:solidFill>
                            <a:srgbClr val="000000"/>
                          </a:solidFill>
                          <a:latin typeface="Times New Roman"/>
                        </a:rPr>
                        <a:t>       </a:t>
                      </a:r>
                      <a:r>
                        <a:rPr sz="1100" b="1" i="0">
                          <a:solidFill>
                            <a:srgbClr val="000000"/>
                          </a:solidFill>
                          <a:latin typeface="Calibri"/>
                        </a:rPr>
                        <a:t>Market Background</a:t>
                      </a:r>
                      <a:endParaRPr sz="1100"/>
                    </a:p>
                  </a:txBody>
                  <a:tcPr marL="171450" marR="9525" marT="9525" marB="0" anchor="ctr"/>
                </a:tc>
              </a:tr>
              <a:tr h="175260">
                <a:tc>
                  <a:txBody>
                    <a:bodyPr wrap="square"/>
                    <a:lstStyle/>
                    <a:p>
                      <a:pPr algn="l"/>
                      <a:r>
                        <a:rPr sz="1100" b="0" i="0">
                          <a:solidFill>
                            <a:srgbClr val="0070C0"/>
                          </a:solidFill>
                          <a:latin typeface="Calibri"/>
                        </a:rPr>
                        <a:t>2.1.</a:t>
                      </a:r>
                      <a:r>
                        <a:rPr sz="700" b="0" i="0">
                          <a:solidFill>
                            <a:srgbClr val="0070C0"/>
                          </a:solidFill>
                          <a:latin typeface="Times New Roman"/>
                        </a:rPr>
                        <a:t>    </a:t>
                      </a:r>
                      <a:r>
                        <a:rPr sz="1100" b="0" i="0">
                          <a:solidFill>
                            <a:srgbClr val="0070C0"/>
                          </a:solidFill>
                          <a:latin typeface="Calibri"/>
                        </a:rPr>
                        <a:t>Top 5 Macro Factors</a:t>
                      </a:r>
                      <a:endParaRPr sz="1100"/>
                    </a:p>
                  </a:txBody>
                  <a:tcPr marL="428625" marR="9525" marT="9525" marB="0" anchor="ctr"/>
                </a:tc>
              </a:tr>
              <a:tr h="350520">
                <a:tc>
                  <a:txBody>
                    <a:bodyPr wrap="square"/>
                    <a:lstStyle/>
                    <a:p>
                      <a:pPr algn="l"/>
                      <a:r>
                        <a:rPr sz="1100" b="0" i="0">
                          <a:solidFill>
                            <a:srgbClr val="000000"/>
                          </a:solidFill>
                          <a:latin typeface="Calibri"/>
                        </a:rPr>
                        <a:t>2.1.1.</a:t>
                      </a:r>
                      <a:r>
                        <a:rPr sz="700" b="0" i="0">
                          <a:solidFill>
                            <a:srgbClr val="000000"/>
                          </a:solidFill>
                          <a:latin typeface="Times New Roman"/>
                        </a:rPr>
                        <a:t>   </a:t>
                      </a:r>
                      <a:r>
                        <a:rPr sz="1100" b="0" i="0">
                          <a:solidFill>
                            <a:srgbClr val="000000"/>
                          </a:solidFill>
                          <a:latin typeface="Calibri"/>
                        </a:rPr>
                        <a:t>Organ Transplantation Activity – Annual Transplants by Organ and Country; YoY Growth (%)</a:t>
                      </a:r>
                      <a:endParaRPr sz="1100"/>
                    </a:p>
                  </a:txBody>
                  <a:tcPr marL="771525" marR="9525" marT="9525" marB="0" anchor="ctr"/>
                </a:tc>
              </a:tr>
              <a:tr h="350520">
                <a:tc>
                  <a:txBody>
                    <a:bodyPr wrap="square"/>
                    <a:lstStyle/>
                    <a:p>
                      <a:pPr algn="l"/>
                      <a:r>
                        <a:rPr sz="1100" b="0" i="0">
                          <a:solidFill>
                            <a:srgbClr val="000000"/>
                          </a:solidFill>
                          <a:latin typeface="Calibri"/>
                        </a:rPr>
                        <a:t>2.1.2.</a:t>
                      </a:r>
                      <a:r>
                        <a:rPr sz="700" b="0" i="0">
                          <a:solidFill>
                            <a:srgbClr val="000000"/>
                          </a:solidFill>
                          <a:latin typeface="Times New Roman"/>
                        </a:rPr>
                        <a:t>   </a:t>
                      </a:r>
                      <a:r>
                        <a:rPr sz="1100" b="0" i="0">
                          <a:solidFill>
                            <a:srgbClr val="000000"/>
                          </a:solidFill>
                          <a:latin typeface="Calibri"/>
                        </a:rPr>
                        <a:t>Deceased Donor Availability – Annual Deceased Donors; Donors per Million Population</a:t>
                      </a:r>
                      <a:endParaRPr sz="1100"/>
                    </a:p>
                  </a:txBody>
                  <a:tcPr marL="771525" marR="9525" marT="9525" marB="0" anchor="ctr"/>
                </a:tc>
              </a:tr>
              <a:tr h="350520">
                <a:tc>
                  <a:txBody>
                    <a:bodyPr wrap="square"/>
                    <a:lstStyle/>
                    <a:p>
                      <a:pPr algn="l"/>
                      <a:r>
                        <a:rPr sz="1100" b="0" i="0">
                          <a:solidFill>
                            <a:srgbClr val="000000"/>
                          </a:solidFill>
                          <a:latin typeface="Calibri"/>
                        </a:rPr>
                        <a:t>2.1.3.</a:t>
                      </a:r>
                      <a:r>
                        <a:rPr sz="700" b="0" i="0">
                          <a:solidFill>
                            <a:srgbClr val="000000"/>
                          </a:solidFill>
                          <a:latin typeface="Times New Roman"/>
                        </a:rPr>
                        <a:t>   </a:t>
                      </a:r>
                      <a:r>
                        <a:rPr sz="1100" b="0" i="0">
                          <a:solidFill>
                            <a:srgbClr val="000000"/>
                          </a:solidFill>
                          <a:latin typeface="Calibri"/>
                        </a:rPr>
                        <a:t>Geographic Organ Sharing – Organs Transported between Regions; Average Transport Distance (km)</a:t>
                      </a:r>
                      <a:endParaRPr sz="1100"/>
                    </a:p>
                  </a:txBody>
                  <a:tcPr marL="771525" marR="9525" marT="9525" marB="0" anchor="ctr"/>
                </a:tc>
              </a:tr>
              <a:tr h="350520">
                <a:tc>
                  <a:txBody>
                    <a:bodyPr wrap="square"/>
                    <a:lstStyle/>
                    <a:p>
                      <a:pPr algn="l"/>
                      <a:r>
                        <a:rPr sz="1100" b="0" i="0">
                          <a:solidFill>
                            <a:srgbClr val="000000"/>
                          </a:solidFill>
                          <a:latin typeface="Calibri"/>
                        </a:rPr>
                        <a:t>2.1.4.</a:t>
                      </a:r>
                      <a:r>
                        <a:rPr sz="700" b="0" i="0">
                          <a:solidFill>
                            <a:srgbClr val="000000"/>
                          </a:solidFill>
                          <a:latin typeface="Times New Roman"/>
                        </a:rPr>
                        <a:t>   </a:t>
                      </a:r>
                      <a:r>
                        <a:rPr sz="1100" b="0" i="0">
                          <a:solidFill>
                            <a:srgbClr val="000000"/>
                          </a:solidFill>
                          <a:latin typeface="Calibri"/>
                        </a:rPr>
                        <a:t>Transplant Infrastructure Expansion – Active and Newly Established Transplant Centres and Procurement Organisations</a:t>
                      </a:r>
                      <a:endParaRPr sz="1100"/>
                    </a:p>
                  </a:txBody>
                  <a:tcPr marL="771525" marR="9525" marT="9525" marB="0" anchor="ctr"/>
                </a:tc>
              </a:tr>
              <a:tr h="350520">
                <a:tc>
                  <a:txBody>
                    <a:bodyPr wrap="square"/>
                    <a:lstStyle/>
                    <a:p>
                      <a:pPr algn="l"/>
                      <a:r>
                        <a:rPr sz="1100" b="0" i="0">
                          <a:solidFill>
                            <a:srgbClr val="000000"/>
                          </a:solidFill>
                          <a:latin typeface="Calibri"/>
                        </a:rPr>
                        <a:t>2.1.5.</a:t>
                      </a:r>
                      <a:r>
                        <a:rPr sz="700" b="0" i="0">
                          <a:solidFill>
                            <a:srgbClr val="000000"/>
                          </a:solidFill>
                          <a:latin typeface="Times New Roman"/>
                        </a:rPr>
                        <a:t>   </a:t>
                      </a:r>
                      <a:r>
                        <a:rPr sz="1100" b="0" i="0">
                          <a:solidFill>
                            <a:srgbClr val="000000"/>
                          </a:solidFill>
                          <a:latin typeface="Calibri"/>
                        </a:rPr>
                        <a:t>Funding and Reimbursement – Annual Organ Transport Equipment Funding; Reimbursement per Device-Assisted Transplant</a:t>
                      </a:r>
                      <a:endParaRPr sz="1100"/>
                    </a:p>
                  </a:txBody>
                  <a:tcPr marL="771525" marR="9525" marT="9525" marB="0" anchor="ctr"/>
                </a:tc>
              </a:tr>
              <a:tr h="175260">
                <a:tc>
                  <a:txBody>
                    <a:bodyPr wrap="square"/>
                    <a:lstStyle/>
                    <a:p>
                      <a:pPr algn="l"/>
                      <a:r>
                        <a:rPr sz="1100" b="0" i="0">
                          <a:solidFill>
                            <a:srgbClr val="0070C0"/>
                          </a:solidFill>
                          <a:latin typeface="Calibri"/>
                        </a:rPr>
                        <a:t>2.2.</a:t>
                      </a:r>
                      <a:r>
                        <a:rPr sz="700" b="0" i="0">
                          <a:solidFill>
                            <a:srgbClr val="0070C0"/>
                          </a:solidFill>
                          <a:latin typeface="Times New Roman"/>
                        </a:rPr>
                        <a:t>    </a:t>
                      </a:r>
                      <a:r>
                        <a:rPr sz="1100" b="0" i="0">
                          <a:solidFill>
                            <a:srgbClr val="0070C0"/>
                          </a:solidFill>
                          <a:latin typeface="Calibri"/>
                        </a:rPr>
                        <a:t>Top 5 Micro Factors</a:t>
                      </a:r>
                      <a:endParaRPr sz="1100"/>
                    </a:p>
                  </a:txBody>
                  <a:tcPr marL="428625" marR="9525" marT="9525" marB="0" anchor="ctr"/>
                </a:tc>
              </a:tr>
              <a:tr h="350520">
                <a:tc>
                  <a:txBody>
                    <a:bodyPr wrap="square"/>
                    <a:lstStyle/>
                    <a:p>
                      <a:pPr algn="l"/>
                      <a:r>
                        <a:rPr sz="1100" b="0" i="0">
                          <a:solidFill>
                            <a:srgbClr val="000000"/>
                          </a:solidFill>
                          <a:latin typeface="Calibri"/>
                        </a:rPr>
                        <a:t>2.2.1.</a:t>
                      </a:r>
                      <a:r>
                        <a:rPr sz="700" b="0" i="0">
                          <a:solidFill>
                            <a:srgbClr val="000000"/>
                          </a:solidFill>
                          <a:latin typeface="Times New Roman"/>
                        </a:rPr>
                        <a:t>   </a:t>
                      </a:r>
                      <a:r>
                        <a:rPr sz="1100" b="0" i="0">
                          <a:solidFill>
                            <a:srgbClr val="000000"/>
                          </a:solidFill>
                          <a:latin typeface="Calibri"/>
                        </a:rPr>
                        <a:t>Device Adoption – Share of Eligible Organ Transports Using Dedicated Transport or Portable Perfusion Devices (%)</a:t>
                      </a:r>
                      <a:endParaRPr sz="1100"/>
                    </a:p>
                  </a:txBody>
                  <a:tcPr marL="771525" marR="9525" marT="9525" marB="0" anchor="ctr"/>
                </a:tc>
              </a:tr>
              <a:tr h="350520">
                <a:tc>
                  <a:txBody>
                    <a:bodyPr wrap="square"/>
                    <a:lstStyle/>
                    <a:p>
                      <a:pPr algn="l"/>
                      <a:r>
                        <a:rPr sz="1100" b="0" i="0">
                          <a:solidFill>
                            <a:srgbClr val="000000"/>
                          </a:solidFill>
                          <a:latin typeface="Calibri"/>
                        </a:rPr>
                        <a:t>2.2.2.</a:t>
                      </a:r>
                      <a:r>
                        <a:rPr sz="700" b="0" i="0">
                          <a:solidFill>
                            <a:srgbClr val="000000"/>
                          </a:solidFill>
                          <a:latin typeface="Times New Roman"/>
                        </a:rPr>
                        <a:t>   </a:t>
                      </a:r>
                      <a:r>
                        <a:rPr sz="1100" b="0" i="0">
                          <a:solidFill>
                            <a:srgbClr val="000000"/>
                          </a:solidFill>
                          <a:latin typeface="Calibri"/>
                        </a:rPr>
                        <a:t>Customer Acquisition and Retention – New Purchasing Accounts; Repeat-Purchase and Contract Renewal Rates (%)</a:t>
                      </a:r>
                      <a:endParaRPr sz="1100"/>
                    </a:p>
                  </a:txBody>
                  <a:tcPr marL="771525" marR="9525" marT="9525" marB="0" anchor="ctr"/>
                </a:tc>
              </a:tr>
              <a:tr h="350520">
                <a:tc>
                  <a:txBody>
                    <a:bodyPr wrap="square"/>
                    <a:lstStyle/>
                    <a:p>
                      <a:pPr algn="l"/>
                      <a:r>
                        <a:rPr sz="1100" b="0" i="0">
                          <a:solidFill>
                            <a:srgbClr val="000000"/>
                          </a:solidFill>
                          <a:latin typeface="Calibri"/>
                        </a:rPr>
                        <a:t>2.2.3.</a:t>
                      </a:r>
                      <a:r>
                        <a:rPr sz="700" b="0" i="0">
                          <a:solidFill>
                            <a:srgbClr val="000000"/>
                          </a:solidFill>
                          <a:latin typeface="Times New Roman"/>
                        </a:rPr>
                        <a:t>   </a:t>
                      </a:r>
                      <a:r>
                        <a:rPr sz="1100" b="0" i="0">
                          <a:solidFill>
                            <a:srgbClr val="000000"/>
                          </a:solidFill>
                          <a:latin typeface="Calibri"/>
                        </a:rPr>
                        <a:t>Installed Base and Utilisation – Active Reusable Systems; Annual Organ Transports per System</a:t>
                      </a:r>
                      <a:endParaRPr sz="1100"/>
                    </a:p>
                  </a:txBody>
                  <a:tcPr marL="771525" marR="9525" marT="9525" marB="0" anchor="ctr"/>
                </a:tc>
              </a:tr>
              <a:tr h="350520">
                <a:tc>
                  <a:txBody>
                    <a:bodyPr wrap="square"/>
                    <a:lstStyle/>
                    <a:p>
                      <a:pPr algn="l"/>
                      <a:r>
                        <a:rPr sz="1100" b="0" i="0">
                          <a:solidFill>
                            <a:srgbClr val="000000"/>
                          </a:solidFill>
                          <a:latin typeface="Calibri"/>
                        </a:rPr>
                        <a:t>2.2.4.</a:t>
                      </a:r>
                      <a:r>
                        <a:rPr sz="700" b="0" i="0">
                          <a:solidFill>
                            <a:srgbClr val="000000"/>
                          </a:solidFill>
                          <a:latin typeface="Times New Roman"/>
                        </a:rPr>
                        <a:t>   </a:t>
                      </a:r>
                      <a:r>
                        <a:rPr sz="1100" b="0" i="0">
                          <a:solidFill>
                            <a:srgbClr val="000000"/>
                          </a:solidFill>
                          <a:latin typeface="Calibri"/>
                        </a:rPr>
                        <a:t>Pricing and Affordability – Net Device Selling Price; Total Cost per Organ Transport</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350520">
                <a:tc>
                  <a:txBody>
                    <a:bodyPr wrap="square"/>
                    <a:lstStyle/>
                    <a:p>
                      <a:pPr algn="l"/>
                      <a:r>
                        <a:rPr sz="1100" b="0" i="0">
                          <a:solidFill>
                            <a:srgbClr val="000000"/>
                          </a:solidFill>
                          <a:latin typeface="Calibri"/>
                        </a:rPr>
                        <a:t>2.2.5.</a:t>
                      </a:r>
                      <a:r>
                        <a:rPr sz="700" b="0" i="0">
                          <a:solidFill>
                            <a:srgbClr val="000000"/>
                          </a:solidFill>
                          <a:latin typeface="Times New Roman"/>
                        </a:rPr>
                        <a:t>   </a:t>
                      </a:r>
                      <a:r>
                        <a:rPr sz="1100" b="0" i="0">
                          <a:solidFill>
                            <a:srgbClr val="000000"/>
                          </a:solidFill>
                          <a:latin typeface="Calibri"/>
                        </a:rPr>
                        <a:t>Replacement and Fleet Expansion – Annual Replacement Units; Additional Systems Purchased by Existing Customers</a:t>
                      </a:r>
                      <a:endParaRPr sz="1100"/>
                    </a:p>
                  </a:txBody>
                  <a:tcPr marL="771525" marR="9525" marT="9525" marB="0" anchor="ctr"/>
                </a:tc>
              </a:tr>
              <a:tr h="175260">
                <a:tc>
                  <a:txBody>
                    <a:bodyPr wrap="square"/>
                    <a:lstStyle/>
                    <a:p>
                      <a:pPr algn="l"/>
                      <a:r>
                        <a:rPr sz="1100" b="0" i="0">
                          <a:solidFill>
                            <a:srgbClr val="0070C0"/>
                          </a:solidFill>
                          <a:latin typeface="Calibri"/>
                        </a:rPr>
                        <a:t>2.3.</a:t>
                      </a:r>
                      <a:r>
                        <a:rPr sz="700" b="0" i="0">
                          <a:solidFill>
                            <a:srgbClr val="0070C0"/>
                          </a:solidFill>
                          <a:latin typeface="Times New Roman"/>
                        </a:rPr>
                        <a:t>    </a:t>
                      </a:r>
                      <a:r>
                        <a:rPr sz="1100" b="0" i="0">
                          <a:solidFill>
                            <a:srgbClr val="0070C0"/>
                          </a:solidFill>
                          <a:latin typeface="Calibri"/>
                        </a:rPr>
                        <a:t>Macro-Economic Factors</a:t>
                      </a:r>
                      <a:endParaRPr sz="1100"/>
                    </a:p>
                  </a:txBody>
                  <a:tcPr marL="428625" marR="9525" marT="9525" marB="0" anchor="ctr"/>
                </a:tc>
              </a:tr>
              <a:tr h="175260">
                <a:tc>
                  <a:txBody>
                    <a:bodyPr wrap="square"/>
                    <a:lstStyle/>
                    <a:p>
                      <a:pPr algn="l"/>
                      <a:r>
                        <a:rPr sz="1100" b="0" i="0">
                          <a:solidFill>
                            <a:srgbClr val="000000"/>
                          </a:solidFill>
                          <a:latin typeface="Calibri"/>
                        </a:rPr>
                        <a:t>2.3.1.</a:t>
                      </a:r>
                      <a:r>
                        <a:rPr sz="700" b="0" i="0">
                          <a:solidFill>
                            <a:srgbClr val="000000"/>
                          </a:solidFill>
                          <a:latin typeface="Times New Roman"/>
                        </a:rPr>
                        <a:t>   </a:t>
                      </a:r>
                      <a:r>
                        <a:rPr sz="1100" b="0" i="0">
                          <a:solidFill>
                            <a:srgbClr val="000000"/>
                          </a:solidFill>
                          <a:latin typeface="Calibri"/>
                        </a:rPr>
                        <a:t>Global Healthcare Expenditure</a:t>
                      </a:r>
                      <a:endParaRPr sz="1100"/>
                    </a:p>
                  </a:txBody>
                  <a:tcPr marL="771525" marR="9525" marT="9525" marB="0" anchor="ctr"/>
                </a:tc>
              </a:tr>
              <a:tr h="175260">
                <a:tc>
                  <a:txBody>
                    <a:bodyPr wrap="square"/>
                    <a:lstStyle/>
                    <a:p>
                      <a:pPr algn="l"/>
                      <a:r>
                        <a:rPr sz="1100" b="0" i="0">
                          <a:solidFill>
                            <a:srgbClr val="000000"/>
                          </a:solidFill>
                          <a:latin typeface="Calibri"/>
                        </a:rPr>
                        <a:t>2.3.2.</a:t>
                      </a:r>
                      <a:r>
                        <a:rPr sz="700" b="0" i="0">
                          <a:solidFill>
                            <a:srgbClr val="000000"/>
                          </a:solidFill>
                          <a:latin typeface="Times New Roman"/>
                        </a:rPr>
                        <a:t>   </a:t>
                      </a:r>
                      <a:r>
                        <a:rPr sz="1100" b="0" i="0">
                          <a:solidFill>
                            <a:srgbClr val="000000"/>
                          </a:solidFill>
                          <a:latin typeface="Calibri"/>
                        </a:rPr>
                        <a:t>R&amp;D Funding Outlook, By Region</a:t>
                      </a:r>
                      <a:endParaRPr sz="1100"/>
                    </a:p>
                  </a:txBody>
                  <a:tcPr marL="771525" marR="9525" marT="9525" marB="0" anchor="ctr"/>
                </a:tc>
              </a:tr>
              <a:tr h="175260">
                <a:tc>
                  <a:txBody>
                    <a:bodyPr wrap="square"/>
                    <a:lstStyle/>
                    <a:p>
                      <a:pPr algn="l"/>
                      <a:r>
                        <a:rPr sz="1100" b="0" i="0">
                          <a:solidFill>
                            <a:srgbClr val="000000"/>
                          </a:solidFill>
                          <a:latin typeface="Calibri"/>
                        </a:rPr>
                        <a:t>2.3.3.</a:t>
                      </a:r>
                      <a:r>
                        <a:rPr sz="700" b="0" i="0">
                          <a:solidFill>
                            <a:srgbClr val="000000"/>
                          </a:solidFill>
                          <a:latin typeface="Times New Roman"/>
                        </a:rPr>
                        <a:t>   </a:t>
                      </a:r>
                      <a:r>
                        <a:rPr sz="1100" b="0" i="0">
                          <a:solidFill>
                            <a:srgbClr val="000000"/>
                          </a:solidFill>
                          <a:latin typeface="Calibri"/>
                        </a:rPr>
                        <a:t>R&amp;D Funding Outlook, By Country</a:t>
                      </a:r>
                      <a:endParaRPr sz="1100"/>
                    </a:p>
                  </a:txBody>
                  <a:tcPr marL="771525" marR="9525" marT="9525" marB="0" anchor="ctr"/>
                </a:tc>
              </a:tr>
              <a:tr h="175260">
                <a:tc>
                  <a:txBody>
                    <a:bodyPr wrap="square"/>
                    <a:lstStyle/>
                    <a:p>
                      <a:pPr algn="l"/>
                      <a:r>
                        <a:rPr sz="1100" b="0" i="0">
                          <a:solidFill>
                            <a:srgbClr val="000000"/>
                          </a:solidFill>
                          <a:latin typeface="Calibri"/>
                        </a:rPr>
                        <a:t>2.3.4.</a:t>
                      </a:r>
                      <a:r>
                        <a:rPr sz="700" b="0" i="0">
                          <a:solidFill>
                            <a:srgbClr val="000000"/>
                          </a:solidFill>
                          <a:latin typeface="Times New Roman"/>
                        </a:rPr>
                        <a:t>   </a:t>
                      </a:r>
                      <a:r>
                        <a:rPr sz="1100" b="0" i="0">
                          <a:solidFill>
                            <a:srgbClr val="000000"/>
                          </a:solidFill>
                          <a:latin typeface="Calibri"/>
                        </a:rPr>
                        <a:t>Global Organ Transplant Market Outlook</a:t>
                      </a:r>
                      <a:endParaRPr sz="1100"/>
                    </a:p>
                  </a:txBody>
                  <a:tcPr marL="771525" marR="9525" marT="9525" marB="0" anchor="ctr"/>
                </a:tc>
              </a:tr>
              <a:tr h="175260">
                <a:tc>
                  <a:txBody>
                    <a:bodyPr wrap="square"/>
                    <a:lstStyle/>
                    <a:p>
                      <a:pPr algn="l"/>
                      <a:r>
                        <a:rPr sz="1100" b="0" i="0">
                          <a:solidFill>
                            <a:srgbClr val="0070C0"/>
                          </a:solidFill>
                          <a:latin typeface="Calibri"/>
                        </a:rPr>
                        <a:t>2.4.</a:t>
                      </a:r>
                      <a:r>
                        <a:rPr sz="700" b="0" i="0">
                          <a:solidFill>
                            <a:srgbClr val="0070C0"/>
                          </a:solidFill>
                          <a:latin typeface="Times New Roman"/>
                        </a:rPr>
                        <a:t>    </a:t>
                      </a:r>
                      <a:r>
                        <a:rPr sz="1100" b="0" i="0">
                          <a:solidFill>
                            <a:srgbClr val="0070C0"/>
                          </a:solidFill>
                          <a:latin typeface="Calibri"/>
                        </a:rPr>
                        <a:t>Forecast Factors – Relevance &amp; Impact</a:t>
                      </a:r>
                      <a:endParaRPr sz="1100"/>
                    </a:p>
                  </a:txBody>
                  <a:tcPr marL="428625" marR="9525" marT="9525" marB="0" anchor="ctr"/>
                </a:tc>
              </a:tr>
              <a:tr h="175260">
                <a:tc>
                  <a:txBody>
                    <a:bodyPr wrap="square"/>
                    <a:lstStyle/>
                    <a:p>
                      <a:pPr algn="l"/>
                      <a:r>
                        <a:rPr sz="1100" b="0" i="0">
                          <a:solidFill>
                            <a:srgbClr val="000000"/>
                          </a:solidFill>
                          <a:latin typeface="Calibri"/>
                        </a:rPr>
                        <a:t>2.4.1.</a:t>
                      </a:r>
                      <a:r>
                        <a:rPr sz="700" b="0" i="0">
                          <a:solidFill>
                            <a:srgbClr val="000000"/>
                          </a:solidFill>
                          <a:latin typeface="Times New Roman"/>
                        </a:rPr>
                        <a:t>   </a:t>
                      </a:r>
                      <a:r>
                        <a:rPr sz="1100" b="0" i="0">
                          <a:solidFill>
                            <a:srgbClr val="000000"/>
                          </a:solidFill>
                          <a:latin typeface="Calibri"/>
                        </a:rPr>
                        <a:t>Growing Prevalence of Respiratory Diseases</a:t>
                      </a:r>
                      <a:endParaRPr sz="1100"/>
                    </a:p>
                  </a:txBody>
                  <a:tcPr marL="771525" marR="9525" marT="9525" marB="0" anchor="ctr"/>
                </a:tc>
              </a:tr>
              <a:tr h="175260">
                <a:tc>
                  <a:txBody>
                    <a:bodyPr wrap="square"/>
                    <a:lstStyle/>
                    <a:p>
                      <a:pPr algn="l"/>
                      <a:r>
                        <a:rPr sz="1100" b="0" i="0">
                          <a:solidFill>
                            <a:srgbClr val="000000"/>
                          </a:solidFill>
                          <a:latin typeface="Calibri"/>
                        </a:rPr>
                        <a:t>2.4.2.</a:t>
                      </a:r>
                      <a:r>
                        <a:rPr sz="700" b="0" i="0">
                          <a:solidFill>
                            <a:srgbClr val="000000"/>
                          </a:solidFill>
                          <a:latin typeface="Times New Roman"/>
                        </a:rPr>
                        <a:t>   </a:t>
                      </a:r>
                      <a:r>
                        <a:rPr sz="1100" b="0" i="0">
                          <a:solidFill>
                            <a:srgbClr val="000000"/>
                          </a:solidFill>
                          <a:latin typeface="Calibri"/>
                        </a:rPr>
                        <a:t>Increasing Number of Organ Transplants</a:t>
                      </a:r>
                      <a:endParaRPr sz="1100"/>
                    </a:p>
                  </a:txBody>
                  <a:tcPr marL="771525" marR="9525" marT="9525" marB="0" anchor="ctr"/>
                </a:tc>
              </a:tr>
              <a:tr h="175260">
                <a:tc>
                  <a:txBody>
                    <a:bodyPr wrap="square"/>
                    <a:lstStyle/>
                    <a:p>
                      <a:pPr algn="l"/>
                      <a:r>
                        <a:rPr sz="1100" b="0" i="0">
                          <a:solidFill>
                            <a:srgbClr val="000000"/>
                          </a:solidFill>
                          <a:latin typeface="Calibri"/>
                        </a:rPr>
                        <a:t>2.4.3.</a:t>
                      </a:r>
                      <a:r>
                        <a:rPr sz="700" b="0" i="0">
                          <a:solidFill>
                            <a:srgbClr val="000000"/>
                          </a:solidFill>
                          <a:latin typeface="Times New Roman"/>
                        </a:rPr>
                        <a:t>   </a:t>
                      </a:r>
                      <a:r>
                        <a:rPr sz="1100" b="0" i="0">
                          <a:solidFill>
                            <a:srgbClr val="000000"/>
                          </a:solidFill>
                          <a:latin typeface="Calibri"/>
                        </a:rPr>
                        <a:t>Average Number of Organ Transport Devices per Healthcare Setting</a:t>
                      </a:r>
                      <a:endParaRPr sz="1100"/>
                    </a:p>
                  </a:txBody>
                  <a:tcPr marL="771525" marR="9525" marT="9525" marB="0" anchor="ctr"/>
                </a:tc>
              </a:tr>
              <a:tr h="175260">
                <a:tc>
                  <a:txBody>
                    <a:bodyPr wrap="square"/>
                    <a:lstStyle/>
                    <a:p>
                      <a:pPr algn="l"/>
                      <a:r>
                        <a:rPr sz="1100" b="0" i="0">
                          <a:solidFill>
                            <a:srgbClr val="000000"/>
                          </a:solidFill>
                          <a:latin typeface="Calibri"/>
                        </a:rPr>
                        <a:t>2.4.4.</a:t>
                      </a:r>
                      <a:r>
                        <a:rPr sz="700" b="0" i="0">
                          <a:solidFill>
                            <a:srgbClr val="000000"/>
                          </a:solidFill>
                          <a:latin typeface="Times New Roman"/>
                        </a:rPr>
                        <a:t>   </a:t>
                      </a:r>
                      <a:r>
                        <a:rPr sz="1100" b="0" i="0">
                          <a:solidFill>
                            <a:srgbClr val="000000"/>
                          </a:solidFill>
                          <a:latin typeface="Calibri"/>
                        </a:rPr>
                        <a:t>Life Span of the Devices</a:t>
                      </a:r>
                      <a:endParaRPr sz="1100"/>
                    </a:p>
                  </a:txBody>
                  <a:tcPr marL="771525" marR="9525" marT="9525" marB="0" anchor="ctr"/>
                </a:tc>
              </a:tr>
              <a:tr h="175260">
                <a:tc>
                  <a:txBody>
                    <a:bodyPr wrap="square"/>
                    <a:lstStyle/>
                    <a:p>
                      <a:pPr algn="l"/>
                      <a:r>
                        <a:rPr sz="1100" b="0" i="0">
                          <a:solidFill>
                            <a:srgbClr val="000000"/>
                          </a:solidFill>
                          <a:latin typeface="Calibri"/>
                        </a:rPr>
                        <a:t>2.4.5.</a:t>
                      </a:r>
                      <a:r>
                        <a:rPr sz="700" b="0" i="0">
                          <a:solidFill>
                            <a:srgbClr val="000000"/>
                          </a:solidFill>
                          <a:latin typeface="Times New Roman"/>
                        </a:rPr>
                        <a:t>   </a:t>
                      </a:r>
                      <a:r>
                        <a:rPr sz="1100" b="0" i="0">
                          <a:solidFill>
                            <a:srgbClr val="000000"/>
                          </a:solidFill>
                          <a:latin typeface="Calibri"/>
                        </a:rPr>
                        <a:t>Replacement Cycle &amp; New Sales of the Devices</a:t>
                      </a:r>
                      <a:endParaRPr sz="1100"/>
                    </a:p>
                  </a:txBody>
                  <a:tcPr marL="771525" marR="9525" marT="9525" marB="0" anchor="ctr"/>
                </a:tc>
              </a:tr>
              <a:tr h="175260">
                <a:tc>
                  <a:txBody>
                    <a:bodyPr wrap="square"/>
                    <a:lstStyle/>
                    <a:p>
                      <a:pPr algn="l"/>
                      <a:r>
                        <a:rPr sz="1100" b="0" i="0">
                          <a:solidFill>
                            <a:srgbClr val="000000"/>
                          </a:solidFill>
                          <a:latin typeface="Calibri"/>
                        </a:rPr>
                        <a:t>2.4.6.</a:t>
                      </a:r>
                      <a:r>
                        <a:rPr sz="700" b="0" i="0">
                          <a:solidFill>
                            <a:srgbClr val="000000"/>
                          </a:solidFill>
                          <a:latin typeface="Times New Roman"/>
                        </a:rPr>
                        <a:t>   </a:t>
                      </a:r>
                      <a:r>
                        <a:rPr sz="1100" b="0" i="0">
                          <a:solidFill>
                            <a:srgbClr val="000000"/>
                          </a:solidFill>
                          <a:latin typeface="Calibri"/>
                        </a:rPr>
                        <a:t>Average Number of Perfusion Circuits &amp; Cannulas Used per Transport</a:t>
                      </a:r>
                      <a:endParaRPr sz="1100"/>
                    </a:p>
                  </a:txBody>
                  <a:tcPr marL="771525" marR="9525" marT="9525" marB="0" anchor="ctr"/>
                </a:tc>
              </a:tr>
              <a:tr h="175260">
                <a:tc>
                  <a:txBody>
                    <a:bodyPr wrap="square"/>
                    <a:lstStyle/>
                    <a:p>
                      <a:pPr algn="l"/>
                      <a:r>
                        <a:rPr sz="1100" b="0" i="0">
                          <a:solidFill>
                            <a:srgbClr val="000000"/>
                          </a:solidFill>
                          <a:latin typeface="Calibri"/>
                        </a:rPr>
                        <a:t>2.4.7.</a:t>
                      </a:r>
                      <a:r>
                        <a:rPr sz="700" b="0" i="0">
                          <a:solidFill>
                            <a:srgbClr val="000000"/>
                          </a:solidFill>
                          <a:latin typeface="Times New Roman"/>
                        </a:rPr>
                        <a:t>   </a:t>
                      </a:r>
                      <a:r>
                        <a:rPr sz="1100" b="0" i="0">
                          <a:solidFill>
                            <a:srgbClr val="000000"/>
                          </a:solidFill>
                          <a:latin typeface="Calibri"/>
                        </a:rPr>
                        <a:t>Cost per Device and Disposable</a:t>
                      </a:r>
                      <a:endParaRPr sz="1100"/>
                    </a:p>
                  </a:txBody>
                  <a:tcPr marL="771525" marR="9525" marT="9525" marB="0" anchor="ctr"/>
                </a:tc>
              </a:tr>
              <a:tr h="175260">
                <a:tc>
                  <a:txBody>
                    <a:bodyPr wrap="square"/>
                    <a:lstStyle/>
                    <a:p>
                      <a:pPr algn="l"/>
                      <a:r>
                        <a:rPr sz="1100" b="1" i="0">
                          <a:solidFill>
                            <a:srgbClr val="000000"/>
                          </a:solidFill>
                          <a:latin typeface="Calibri"/>
                        </a:rPr>
                        <a:t>Section 1: Global Market Outlook</a:t>
                      </a:r>
                      <a:endParaRPr sz="1100"/>
                    </a:p>
                  </a:txBody>
                  <a:tcPr marL="9525" marR="9525" marT="9525" marB="0" anchor="ctr"/>
                </a:tc>
              </a:tr>
              <a:tr h="175260">
                <a:tc>
                  <a:txBody>
                    <a:bodyPr wrap="square"/>
                    <a:lstStyle/>
                    <a:p>
                      <a:pPr algn="l"/>
                      <a:r>
                        <a:rPr sz="1100" b="1" i="0">
                          <a:solidFill>
                            <a:srgbClr val="000000"/>
                          </a:solidFill>
                          <a:latin typeface="Calibri"/>
                        </a:rPr>
                        <a:t>3.</a:t>
                      </a:r>
                      <a:r>
                        <a:rPr sz="700" b="1" i="0">
                          <a:solidFill>
                            <a:srgbClr val="000000"/>
                          </a:solidFill>
                          <a:latin typeface="Times New Roman"/>
                        </a:rPr>
                        <a:t>       </a:t>
                      </a:r>
                      <a:r>
                        <a:rPr sz="1100" b="1" i="0">
                          <a:solidFill>
                            <a:srgbClr val="000000"/>
                          </a:solidFill>
                          <a:latin typeface="Calibri"/>
                        </a:rPr>
                        <a:t>Global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1" i="0">
                          <a:solidFill>
                            <a:srgbClr val="000000"/>
                          </a:solidFill>
                          <a:latin typeface="Calibri"/>
                        </a:rPr>
                        <a:t>4.</a:t>
                      </a:r>
                      <a:r>
                        <a:rPr sz="700" b="1" i="0">
                          <a:solidFill>
                            <a:srgbClr val="000000"/>
                          </a:solidFill>
                          <a:latin typeface="Times New Roman"/>
                        </a:rPr>
                        <a:t>       </a:t>
                      </a:r>
                      <a:r>
                        <a:rPr sz="1100" b="1" i="0">
                          <a:solidFill>
                            <a:srgbClr val="000000"/>
                          </a:solidFill>
                          <a:latin typeface="Calibri"/>
                        </a:rPr>
                        <a:t>Global Market (Value- Volume) Analysis 2021–2036, By Device Technology</a:t>
                      </a:r>
                      <a:endParaRPr sz="1100"/>
                    </a:p>
                  </a:txBody>
                  <a:tcPr marL="171450" marR="9525" marT="9525" marB="0" anchor="ctr"/>
                </a:tc>
              </a:tr>
              <a:tr h="175260">
                <a:tc>
                  <a:txBody>
                    <a:bodyPr wrap="square"/>
                    <a:lstStyle/>
                    <a:p>
                      <a:pPr algn="l"/>
                      <a:r>
                        <a:rPr sz="1100" b="0" i="0">
                          <a:solidFill>
                            <a:srgbClr val="0070C0"/>
                          </a:solidFill>
                          <a:latin typeface="Calibri"/>
                        </a:rPr>
                        <a:t>4.1.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4.2.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4.3.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4.4.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4.5.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4.5.1.</a:t>
                      </a:r>
                      <a:r>
                        <a:rPr sz="700" b="0" i="0">
                          <a:solidFill>
                            <a:srgbClr val="000000"/>
                          </a:solidFill>
                          <a:latin typeface="Times New Roman"/>
                        </a:rPr>
                        <a:t>   </a:t>
                      </a:r>
                      <a:r>
                        <a:rPr sz="1100" b="0" i="0">
                          <a:solidFill>
                            <a:srgbClr val="000000"/>
                          </a:solidFill>
                          <a:latin typeface="Calibri"/>
                        </a:rPr>
                        <a:t>Static Cold Storage Devices</a:t>
                      </a:r>
                      <a:endParaRPr sz="1100"/>
                    </a:p>
                  </a:txBody>
                  <a:tcPr marL="771525" marR="9525" marT="9525" marB="0" anchor="ctr"/>
                </a:tc>
              </a:tr>
              <a:tr h="175260">
                <a:tc>
                  <a:txBody>
                    <a:bodyPr wrap="square"/>
                    <a:lstStyle/>
                    <a:p>
                      <a:pPr algn="l"/>
                      <a:r>
                        <a:rPr sz="1100" b="0" i="1">
                          <a:solidFill>
                            <a:srgbClr val="000000"/>
                          </a:solidFill>
                          <a:latin typeface="Calibri"/>
                        </a:rPr>
                        <a:t>4.5.1.1.</a:t>
                      </a:r>
                      <a:r>
                        <a:rPr sz="700" b="0" i="1">
                          <a:solidFill>
                            <a:srgbClr val="000000"/>
                          </a:solidFill>
                          <a:latin typeface="Times New Roman"/>
                        </a:rPr>
                        <a:t>    </a:t>
                      </a:r>
                      <a:r>
                        <a:rPr sz="1100" b="0" i="1">
                          <a:solidFill>
                            <a:srgbClr val="000000"/>
                          </a:solidFill>
                          <a:latin typeface="Calibri"/>
                        </a:rPr>
                        <a:t>Passive Insulated Transport Containers</a:t>
                      </a:r>
                      <a:endParaRPr sz="1100"/>
                    </a:p>
                  </a:txBody>
                  <a:tcPr marL="1028700" marR="9525" marT="9525" marB="0" anchor="ctr"/>
                </a:tc>
              </a:tr>
              <a:tr h="175260">
                <a:tc>
                  <a:txBody>
                    <a:bodyPr wrap="square"/>
                    <a:lstStyle/>
                    <a:p>
                      <a:pPr algn="l"/>
                      <a:r>
                        <a:rPr sz="1100" b="0" i="1">
                          <a:solidFill>
                            <a:srgbClr val="000000"/>
                          </a:solidFill>
                          <a:latin typeface="Calibri"/>
                        </a:rPr>
                        <a:t>4.5.1.2.</a:t>
                      </a:r>
                      <a:r>
                        <a:rPr sz="700" b="0" i="1">
                          <a:solidFill>
                            <a:srgbClr val="000000"/>
                          </a:solidFill>
                          <a:latin typeface="Times New Roman"/>
                        </a:rPr>
                        <a:t>    </a:t>
                      </a:r>
                      <a:r>
                        <a:rPr sz="1100" b="0" i="1">
                          <a:solidFill>
                            <a:srgbClr val="000000"/>
                          </a:solidFill>
                          <a:latin typeface="Calibri"/>
                        </a:rPr>
                        <a:t>Active Temperature-Controlled Transport Devices</a:t>
                      </a:r>
                      <a:endParaRPr sz="1100"/>
                    </a:p>
                  </a:txBody>
                  <a:tcPr marL="102870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(2/7)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4.5.2.</a:t>
                      </a:r>
                      <a:r>
                        <a:rPr sz="700" b="0" i="0">
                          <a:solidFill>
                            <a:srgbClr val="000000"/>
                          </a:solidFill>
                          <a:latin typeface="Times New Roman"/>
                        </a:rPr>
                        <a:t>   </a:t>
                      </a:r>
                      <a:r>
                        <a:rPr sz="1100" b="0" i="0">
                          <a:solidFill>
                            <a:srgbClr val="000000"/>
                          </a:solidFill>
                          <a:latin typeface="Calibri"/>
                        </a:rPr>
                        <a:t>Portable Machine Perfusion Devices</a:t>
                      </a:r>
                      <a:endParaRPr sz="1100"/>
                    </a:p>
                  </a:txBody>
                  <a:tcPr marL="771525" marR="9525" marT="9525" marB="0" anchor="ctr"/>
                </a:tc>
              </a:tr>
              <a:tr h="175260">
                <a:tc>
                  <a:txBody>
                    <a:bodyPr wrap="square"/>
                    <a:lstStyle/>
                    <a:p>
                      <a:pPr algn="l"/>
                      <a:r>
                        <a:rPr sz="1100" b="0" i="1">
                          <a:solidFill>
                            <a:srgbClr val="000000"/>
                          </a:solidFill>
                          <a:latin typeface="Calibri"/>
                        </a:rPr>
                        <a:t>4.5.2.1.</a:t>
                      </a:r>
                      <a:r>
                        <a:rPr sz="700" b="0" i="1">
                          <a:solidFill>
                            <a:srgbClr val="000000"/>
                          </a:solidFill>
                          <a:latin typeface="Times New Roman"/>
                        </a:rPr>
                        <a:t>    </a:t>
                      </a:r>
                      <a:r>
                        <a:rPr sz="1100" b="0" i="1">
                          <a:solidFill>
                            <a:srgbClr val="000000"/>
                          </a:solidFill>
                          <a:latin typeface="Calibri"/>
                        </a:rPr>
                        <a:t>Hypothermic Non-Oxygenated Perfusion Devices</a:t>
                      </a:r>
                      <a:endParaRPr sz="1100"/>
                    </a:p>
                  </a:txBody>
                  <a:tcPr marL="1028700" marR="9525" marT="9525" marB="0" anchor="ctr"/>
                </a:tc>
              </a:tr>
              <a:tr h="175260">
                <a:tc>
                  <a:txBody>
                    <a:bodyPr wrap="square"/>
                    <a:lstStyle/>
                    <a:p>
                      <a:pPr algn="l"/>
                      <a:r>
                        <a:rPr sz="1100" b="0" i="1">
                          <a:solidFill>
                            <a:srgbClr val="000000"/>
                          </a:solidFill>
                          <a:latin typeface="Calibri"/>
                        </a:rPr>
                        <a:t>4.5.2.2.</a:t>
                      </a:r>
                      <a:r>
                        <a:rPr sz="700" b="0" i="1">
                          <a:solidFill>
                            <a:srgbClr val="000000"/>
                          </a:solidFill>
                          <a:latin typeface="Times New Roman"/>
                        </a:rPr>
                        <a:t>    </a:t>
                      </a:r>
                      <a:r>
                        <a:rPr sz="1100" b="0" i="1">
                          <a:solidFill>
                            <a:srgbClr val="000000"/>
                          </a:solidFill>
                          <a:latin typeface="Calibri"/>
                        </a:rPr>
                        <a:t>Hypothermic Oxygenated Perfusion Devices</a:t>
                      </a:r>
                      <a:endParaRPr sz="1100"/>
                    </a:p>
                  </a:txBody>
                  <a:tcPr marL="1028700" marR="9525" marT="9525" marB="0" anchor="ctr"/>
                </a:tc>
              </a:tr>
              <a:tr h="175260">
                <a:tc>
                  <a:txBody>
                    <a:bodyPr wrap="square"/>
                    <a:lstStyle/>
                    <a:p>
                      <a:pPr algn="l"/>
                      <a:r>
                        <a:rPr sz="1100" b="0" i="1">
                          <a:solidFill>
                            <a:srgbClr val="000000"/>
                          </a:solidFill>
                          <a:latin typeface="Calibri"/>
                        </a:rPr>
                        <a:t>4.5.2.3.</a:t>
                      </a:r>
                      <a:r>
                        <a:rPr sz="700" b="0" i="1">
                          <a:solidFill>
                            <a:srgbClr val="000000"/>
                          </a:solidFill>
                          <a:latin typeface="Times New Roman"/>
                        </a:rPr>
                        <a:t>    </a:t>
                      </a:r>
                      <a:r>
                        <a:rPr sz="1100" b="0" i="1">
                          <a:solidFill>
                            <a:srgbClr val="000000"/>
                          </a:solidFill>
                          <a:latin typeface="Calibri"/>
                        </a:rPr>
                        <a:t>Subnormothermic Perfusion Devices</a:t>
                      </a:r>
                      <a:endParaRPr sz="1100"/>
                    </a:p>
                  </a:txBody>
                  <a:tcPr marL="1028700" marR="9525" marT="9525" marB="0" anchor="ctr"/>
                </a:tc>
              </a:tr>
              <a:tr h="175260">
                <a:tc>
                  <a:txBody>
                    <a:bodyPr wrap="square"/>
                    <a:lstStyle/>
                    <a:p>
                      <a:pPr algn="l"/>
                      <a:r>
                        <a:rPr sz="1100" b="0" i="1">
                          <a:solidFill>
                            <a:srgbClr val="000000"/>
                          </a:solidFill>
                          <a:latin typeface="Calibri"/>
                        </a:rPr>
                        <a:t>4.5.2.4.</a:t>
                      </a:r>
                      <a:r>
                        <a:rPr sz="700" b="0" i="1">
                          <a:solidFill>
                            <a:srgbClr val="000000"/>
                          </a:solidFill>
                          <a:latin typeface="Times New Roman"/>
                        </a:rPr>
                        <a:t>    </a:t>
                      </a:r>
                      <a:r>
                        <a:rPr sz="1100" b="0" i="1">
                          <a:solidFill>
                            <a:srgbClr val="000000"/>
                          </a:solidFill>
                          <a:latin typeface="Calibri"/>
                        </a:rPr>
                        <a:t>Normothermic Perfusion Devices</a:t>
                      </a:r>
                      <a:endParaRPr sz="1100"/>
                    </a:p>
                  </a:txBody>
                  <a:tcPr marL="1028700" marR="9525" marT="9525" marB="0" anchor="ctr"/>
                </a:tc>
              </a:tr>
              <a:tr h="175260">
                <a:tc>
                  <a:txBody>
                    <a:bodyPr wrap="square"/>
                    <a:lstStyle/>
                    <a:p>
                      <a:pPr algn="l"/>
                      <a:r>
                        <a:rPr sz="1100" b="0" i="1">
                          <a:solidFill>
                            <a:srgbClr val="000000"/>
                          </a:solidFill>
                          <a:latin typeface="Calibri"/>
                        </a:rPr>
                        <a:t>4.5.2.5.</a:t>
                      </a:r>
                      <a:r>
                        <a:rPr sz="700" b="0" i="1">
                          <a:solidFill>
                            <a:srgbClr val="000000"/>
                          </a:solidFill>
                          <a:latin typeface="Times New Roman"/>
                        </a:rPr>
                        <a:t>    </a:t>
                      </a:r>
                      <a:r>
                        <a:rPr sz="1100" b="0" i="1">
                          <a:solidFill>
                            <a:srgbClr val="000000"/>
                          </a:solidFill>
                          <a:latin typeface="Calibri"/>
                        </a:rPr>
                        <a:t>Multi-Temperature Perfusion Devices</a:t>
                      </a:r>
                      <a:endParaRPr sz="1100"/>
                    </a:p>
                  </a:txBody>
                  <a:tcPr marL="1028700" marR="9525" marT="9525" marB="0" anchor="ctr"/>
                </a:tc>
              </a:tr>
              <a:tr h="175260">
                <a:tc>
                  <a:txBody>
                    <a:bodyPr wrap="square"/>
                    <a:lstStyle/>
                    <a:p>
                      <a:pPr algn="l"/>
                      <a:r>
                        <a:rPr sz="1100" b="1" i="0">
                          <a:solidFill>
                            <a:srgbClr val="000000"/>
                          </a:solidFill>
                          <a:latin typeface="Calibri"/>
                        </a:rPr>
                        <a:t>5.</a:t>
                      </a:r>
                      <a:r>
                        <a:rPr sz="700" b="1" i="0">
                          <a:solidFill>
                            <a:srgbClr val="000000"/>
                          </a:solidFill>
                          <a:latin typeface="Times New Roman"/>
                        </a:rPr>
                        <a:t>       </a:t>
                      </a:r>
                      <a:r>
                        <a:rPr sz="1100" b="1" i="0">
                          <a:solidFill>
                            <a:srgbClr val="000000"/>
                          </a:solidFill>
                          <a:latin typeface="Calibri"/>
                        </a:rPr>
                        <a:t>Global Market (Value- Volume) Analysis 2021–2036, By Organ Compatibility</a:t>
                      </a:r>
                      <a:endParaRPr sz="1100"/>
                    </a:p>
                  </a:txBody>
                  <a:tcPr marL="171450" marR="9525" marT="9525" marB="0" anchor="ctr"/>
                </a:tc>
              </a:tr>
              <a:tr h="175260">
                <a:tc>
                  <a:txBody>
                    <a:bodyPr wrap="square"/>
                    <a:lstStyle/>
                    <a:p>
                      <a:pPr algn="l"/>
                      <a:r>
                        <a:rPr sz="1100" b="0" i="0">
                          <a:solidFill>
                            <a:srgbClr val="0070C0"/>
                          </a:solidFill>
                          <a:latin typeface="Calibri"/>
                        </a:rPr>
                        <a:t>5.1.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5.2.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5.3.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5.4.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5.5.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5.5.1.</a:t>
                      </a:r>
                      <a:r>
                        <a:rPr sz="700" b="0" i="0">
                          <a:solidFill>
                            <a:srgbClr val="000000"/>
                          </a:solidFill>
                          <a:latin typeface="Times New Roman"/>
                        </a:rPr>
                        <a:t>   </a:t>
                      </a:r>
                      <a:r>
                        <a:rPr sz="1100" b="0" i="0">
                          <a:solidFill>
                            <a:srgbClr val="000000"/>
                          </a:solidFill>
                          <a:latin typeface="Calibri"/>
                        </a:rPr>
                        <a:t>Organ-Specific Devices</a:t>
                      </a:r>
                      <a:endParaRPr sz="1100"/>
                    </a:p>
                  </a:txBody>
                  <a:tcPr marL="771525" marR="9525" marT="9525" marB="0" anchor="ctr"/>
                </a:tc>
              </a:tr>
              <a:tr h="175260">
                <a:tc>
                  <a:txBody>
                    <a:bodyPr wrap="square"/>
                    <a:lstStyle/>
                    <a:p>
                      <a:pPr algn="l"/>
                      <a:r>
                        <a:rPr sz="1100" b="0" i="1">
                          <a:solidFill>
                            <a:srgbClr val="000000"/>
                          </a:solidFill>
                          <a:latin typeface="Calibri"/>
                        </a:rPr>
                        <a:t>5.5.1.1.</a:t>
                      </a:r>
                      <a:r>
                        <a:rPr sz="700" b="0" i="1">
                          <a:solidFill>
                            <a:srgbClr val="000000"/>
                          </a:solidFill>
                          <a:latin typeface="Times New Roman"/>
                        </a:rPr>
                        <a:t>    </a:t>
                      </a:r>
                      <a:r>
                        <a:rPr sz="1100" b="0" i="1">
                          <a:solidFill>
                            <a:srgbClr val="000000"/>
                          </a:solidFill>
                          <a:latin typeface="Calibri"/>
                        </a:rPr>
                        <a:t>Kidney-Specific Devices</a:t>
                      </a:r>
                      <a:endParaRPr sz="1100"/>
                    </a:p>
                  </a:txBody>
                  <a:tcPr marL="1028700" marR="9525" marT="9525" marB="0" anchor="ctr"/>
                </a:tc>
              </a:tr>
              <a:tr h="175260">
                <a:tc>
                  <a:txBody>
                    <a:bodyPr wrap="square"/>
                    <a:lstStyle/>
                    <a:p>
                      <a:pPr algn="l"/>
                      <a:r>
                        <a:rPr sz="1100" b="0" i="1">
                          <a:solidFill>
                            <a:srgbClr val="000000"/>
                          </a:solidFill>
                          <a:latin typeface="Calibri"/>
                        </a:rPr>
                        <a:t>5.5.1.2.</a:t>
                      </a:r>
                      <a:r>
                        <a:rPr sz="700" b="0" i="1">
                          <a:solidFill>
                            <a:srgbClr val="000000"/>
                          </a:solidFill>
                          <a:latin typeface="Times New Roman"/>
                        </a:rPr>
                        <a:t>    </a:t>
                      </a:r>
                      <a:r>
                        <a:rPr sz="1100" b="0" i="1">
                          <a:solidFill>
                            <a:srgbClr val="000000"/>
                          </a:solidFill>
                          <a:latin typeface="Calibri"/>
                        </a:rPr>
                        <a:t>Liver-Specific Devices</a:t>
                      </a:r>
                      <a:endParaRPr sz="1100"/>
                    </a:p>
                  </a:txBody>
                  <a:tcPr marL="1028700" marR="9525" marT="9525" marB="0" anchor="ctr"/>
                </a:tc>
              </a:tr>
              <a:tr h="175260">
                <a:tc>
                  <a:txBody>
                    <a:bodyPr wrap="square"/>
                    <a:lstStyle/>
                    <a:p>
                      <a:pPr algn="l"/>
                      <a:r>
                        <a:rPr sz="1100" b="0" i="1">
                          <a:solidFill>
                            <a:srgbClr val="000000"/>
                          </a:solidFill>
                          <a:latin typeface="Calibri"/>
                        </a:rPr>
                        <a:t>5.5.1.3.</a:t>
                      </a:r>
                      <a:r>
                        <a:rPr sz="700" b="0" i="1">
                          <a:solidFill>
                            <a:srgbClr val="000000"/>
                          </a:solidFill>
                          <a:latin typeface="Times New Roman"/>
                        </a:rPr>
                        <a:t>    </a:t>
                      </a:r>
                      <a:r>
                        <a:rPr sz="1100" b="0" i="1">
                          <a:solidFill>
                            <a:srgbClr val="000000"/>
                          </a:solidFill>
                          <a:latin typeface="Calibri"/>
                        </a:rPr>
                        <a:t>Heart-Specific Devices</a:t>
                      </a:r>
                      <a:endParaRPr sz="1100"/>
                    </a:p>
                  </a:txBody>
                  <a:tcPr marL="1028700" marR="9525" marT="9525" marB="0" anchor="ctr"/>
                </a:tc>
              </a:tr>
              <a:tr h="175260">
                <a:tc>
                  <a:txBody>
                    <a:bodyPr wrap="square"/>
                    <a:lstStyle/>
                    <a:p>
                      <a:pPr algn="l"/>
                      <a:r>
                        <a:rPr sz="1100" b="0" i="1">
                          <a:solidFill>
                            <a:srgbClr val="000000"/>
                          </a:solidFill>
                          <a:latin typeface="Calibri"/>
                        </a:rPr>
                        <a:t>5.5.1.4.</a:t>
                      </a:r>
                      <a:r>
                        <a:rPr sz="700" b="0" i="1">
                          <a:solidFill>
                            <a:srgbClr val="000000"/>
                          </a:solidFill>
                          <a:latin typeface="Times New Roman"/>
                        </a:rPr>
                        <a:t>    </a:t>
                      </a:r>
                      <a:r>
                        <a:rPr sz="1100" b="0" i="1">
                          <a:solidFill>
                            <a:srgbClr val="000000"/>
                          </a:solidFill>
                          <a:latin typeface="Calibri"/>
                        </a:rPr>
                        <a:t>Lung-Specific Devices</a:t>
                      </a:r>
                      <a:endParaRPr sz="1100"/>
                    </a:p>
                  </a:txBody>
                  <a:tcPr marL="1028700" marR="9525" marT="9525" marB="0" anchor="ctr"/>
                </a:tc>
              </a:tr>
              <a:tr h="175260">
                <a:tc>
                  <a:txBody>
                    <a:bodyPr wrap="square"/>
                    <a:lstStyle/>
                    <a:p>
                      <a:pPr algn="l"/>
                      <a:r>
                        <a:rPr sz="1100" b="0" i="1">
                          <a:solidFill>
                            <a:srgbClr val="000000"/>
                          </a:solidFill>
                          <a:latin typeface="Calibri"/>
                        </a:rPr>
                        <a:t>5.5.1.5.</a:t>
                      </a:r>
                      <a:r>
                        <a:rPr sz="700" b="0" i="1">
                          <a:solidFill>
                            <a:srgbClr val="000000"/>
                          </a:solidFill>
                          <a:latin typeface="Times New Roman"/>
                        </a:rPr>
                        <a:t>    </a:t>
                      </a:r>
                      <a:r>
                        <a:rPr sz="1100" b="0" i="1">
                          <a:solidFill>
                            <a:srgbClr val="000000"/>
                          </a:solidFill>
                          <a:latin typeface="Calibri"/>
                        </a:rPr>
                        <a:t>Other Organ-Specific Devices</a:t>
                      </a:r>
                      <a:endParaRPr sz="1100"/>
                    </a:p>
                  </a:txBody>
                  <a:tcPr marL="1028700" marR="9525" marT="9525" marB="0" anchor="ctr"/>
                </a:tc>
              </a:tr>
              <a:tr h="175260">
                <a:tc>
                  <a:txBody>
                    <a:bodyPr wrap="square"/>
                    <a:lstStyle/>
                    <a:p>
                      <a:pPr algn="l"/>
                      <a:r>
                        <a:rPr sz="1100" b="0" i="0">
                          <a:solidFill>
                            <a:srgbClr val="000000"/>
                          </a:solidFill>
                          <a:latin typeface="Calibri"/>
                        </a:rPr>
                        <a:t>5.5.2.</a:t>
                      </a:r>
                      <a:r>
                        <a:rPr sz="700" b="0" i="0">
                          <a:solidFill>
                            <a:srgbClr val="000000"/>
                          </a:solidFill>
                          <a:latin typeface="Times New Roman"/>
                        </a:rPr>
                        <a:t>   </a:t>
                      </a:r>
                      <a:r>
                        <a:rPr sz="1100" b="0" i="0">
                          <a:solidFill>
                            <a:srgbClr val="000000"/>
                          </a:solidFill>
                          <a:latin typeface="Calibri"/>
                        </a:rPr>
                        <a:t>Multi-Organ Compatible Devices</a:t>
                      </a:r>
                      <a:endParaRPr sz="1100"/>
                    </a:p>
                  </a:txBody>
                  <a:tcPr marL="771525" marR="9525" marT="9525" marB="0" anchor="ctr"/>
                </a:tc>
              </a:tr>
              <a:tr h="175260">
                <a:tc>
                  <a:txBody>
                    <a:bodyPr wrap="square"/>
                    <a:lstStyle/>
                    <a:p>
                      <a:pPr algn="l"/>
                      <a:r>
                        <a:rPr sz="1100" b="1" i="0">
                          <a:solidFill>
                            <a:srgbClr val="000000"/>
                          </a:solidFill>
                          <a:latin typeface="Calibri"/>
                        </a:rPr>
                        <a:t>6.</a:t>
                      </a:r>
                      <a:r>
                        <a:rPr sz="700" b="1" i="0">
                          <a:solidFill>
                            <a:srgbClr val="000000"/>
                          </a:solidFill>
                          <a:latin typeface="Times New Roman"/>
                        </a:rPr>
                        <a:t>       </a:t>
                      </a:r>
                      <a:r>
                        <a:rPr sz="1100" b="1" i="0">
                          <a:solidFill>
                            <a:srgbClr val="000000"/>
                          </a:solidFill>
                          <a:latin typeface="Calibri"/>
                        </a:rPr>
                        <a:t>Global Market (Value- Volume) Analysis 2021–2036, By Device Reusability</a:t>
                      </a:r>
                      <a:endParaRPr sz="1100"/>
                    </a:p>
                  </a:txBody>
                  <a:tcPr marL="171450" marR="9525" marT="9525" marB="0" anchor="ctr"/>
                </a:tc>
              </a:tr>
              <a:tr h="175260">
                <a:tc>
                  <a:txBody>
                    <a:bodyPr wrap="square"/>
                    <a:lstStyle/>
                    <a:p>
                      <a:pPr algn="l"/>
                      <a:r>
                        <a:rPr sz="1100" b="0" i="0">
                          <a:solidFill>
                            <a:srgbClr val="0070C0"/>
                          </a:solidFill>
                          <a:latin typeface="Calibri"/>
                        </a:rPr>
                        <a:t>6.1.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6.2.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6.3.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6.4.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6.5.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6.5.1.</a:t>
                      </a:r>
                      <a:r>
                        <a:rPr sz="700" b="0" i="0">
                          <a:solidFill>
                            <a:srgbClr val="000000"/>
                          </a:solidFill>
                          <a:latin typeface="Times New Roman"/>
                        </a:rPr>
                        <a:t>   </a:t>
                      </a:r>
                      <a:r>
                        <a:rPr sz="1100" b="0" i="0">
                          <a:solidFill>
                            <a:srgbClr val="000000"/>
                          </a:solidFill>
                          <a:latin typeface="Calibri"/>
                        </a:rPr>
                        <a:t>Single-Use Transport Devices</a:t>
                      </a:r>
                      <a:endParaRPr sz="1100"/>
                    </a:p>
                  </a:txBody>
                  <a:tcPr marL="771525" marR="9525" marT="9525" marB="0" anchor="ctr"/>
                </a:tc>
              </a:tr>
              <a:tr h="175260">
                <a:tc>
                  <a:txBody>
                    <a:bodyPr wrap="square"/>
                    <a:lstStyle/>
                    <a:p>
                      <a:pPr algn="l"/>
                      <a:r>
                        <a:rPr sz="1100" b="0" i="0">
                          <a:solidFill>
                            <a:srgbClr val="000000"/>
                          </a:solidFill>
                          <a:latin typeface="Calibri"/>
                        </a:rPr>
                        <a:t>6.5.2.</a:t>
                      </a:r>
                      <a:r>
                        <a:rPr sz="700" b="0" i="0">
                          <a:solidFill>
                            <a:srgbClr val="000000"/>
                          </a:solidFill>
                          <a:latin typeface="Times New Roman"/>
                        </a:rPr>
                        <a:t>   </a:t>
                      </a:r>
                      <a:r>
                        <a:rPr sz="1100" b="0" i="0">
                          <a:solidFill>
                            <a:srgbClr val="000000"/>
                          </a:solidFill>
                          <a:latin typeface="Calibri"/>
                        </a:rPr>
                        <a:t>Reusable Transport Devices</a:t>
                      </a:r>
                      <a:endParaRPr sz="1100"/>
                    </a:p>
                  </a:txBody>
                  <a:tcPr marL="771525" marR="9525" marT="9525" marB="0" anchor="ctr"/>
                </a:tc>
              </a:tr>
              <a:tr h="175260">
                <a:tc>
                  <a:txBody>
                    <a:bodyPr wrap="square"/>
                    <a:lstStyle/>
                    <a:p>
                      <a:pPr algn="l"/>
                      <a:r>
                        <a:rPr sz="1100" b="1" i="0">
                          <a:solidFill>
                            <a:srgbClr val="000000"/>
                          </a:solidFill>
                          <a:latin typeface="Calibri"/>
                        </a:rPr>
                        <a:t>7.</a:t>
                      </a:r>
                      <a:r>
                        <a:rPr sz="700" b="1" i="0">
                          <a:solidFill>
                            <a:srgbClr val="000000"/>
                          </a:solidFill>
                          <a:latin typeface="Times New Roman"/>
                        </a:rPr>
                        <a:t>       </a:t>
                      </a:r>
                      <a:r>
                        <a:rPr sz="1100" b="1" i="0">
                          <a:solidFill>
                            <a:srgbClr val="000000"/>
                          </a:solidFill>
                          <a:latin typeface="Calibri"/>
                        </a:rPr>
                        <a:t>Global Market (Value- Volume) Analysis 2021–2036, By Monitoring Capability</a:t>
                      </a:r>
                      <a:endParaRPr sz="1100"/>
                    </a:p>
                  </a:txBody>
                  <a:tcPr marL="171450" marR="9525" marT="9525" marB="0" anchor="ctr"/>
                </a:tc>
              </a:tr>
              <a:tr h="175260">
                <a:tc>
                  <a:txBody>
                    <a:bodyPr wrap="square"/>
                    <a:lstStyle/>
                    <a:p>
                      <a:pPr algn="l"/>
                      <a:r>
                        <a:rPr sz="1100" b="0" i="0">
                          <a:solidFill>
                            <a:srgbClr val="0070C0"/>
                          </a:solidFill>
                          <a:latin typeface="Calibri"/>
                        </a:rPr>
                        <a:t>7.1.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7.2.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7.3.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7.4.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7.5.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7.5.1.</a:t>
                      </a:r>
                      <a:r>
                        <a:rPr sz="700" b="0" i="0">
                          <a:solidFill>
                            <a:srgbClr val="000000"/>
                          </a:solidFill>
                          <a:latin typeface="Times New Roman"/>
                        </a:rPr>
                        <a:t>   </a:t>
                      </a:r>
                      <a:r>
                        <a:rPr sz="1100" b="0" i="0">
                          <a:solidFill>
                            <a:srgbClr val="000000"/>
                          </a:solidFill>
                          <a:latin typeface="Calibri"/>
                        </a:rPr>
                        <a:t>Devices without Integrated Monitoring</a:t>
                      </a:r>
                      <a:endParaRPr sz="1100"/>
                    </a:p>
                  </a:txBody>
                  <a:tcPr marL="771525" marR="9525" marT="9525" marB="0" anchor="ctr"/>
                </a:tc>
              </a:tr>
              <a:tr h="175260">
                <a:tc>
                  <a:txBody>
                    <a:bodyPr wrap="square"/>
                    <a:lstStyle/>
                    <a:p>
                      <a:pPr algn="l"/>
                      <a:r>
                        <a:rPr sz="1100" b="0" i="0">
                          <a:solidFill>
                            <a:srgbClr val="000000"/>
                          </a:solidFill>
                          <a:latin typeface="Calibri"/>
                        </a:rPr>
                        <a:t>7.5.2.</a:t>
                      </a:r>
                      <a:r>
                        <a:rPr sz="700" b="0" i="0">
                          <a:solidFill>
                            <a:srgbClr val="000000"/>
                          </a:solidFill>
                          <a:latin typeface="Times New Roman"/>
                        </a:rPr>
                        <a:t>   </a:t>
                      </a:r>
                      <a:r>
                        <a:rPr sz="1100" b="0" i="0">
                          <a:solidFill>
                            <a:srgbClr val="000000"/>
                          </a:solidFill>
                          <a:latin typeface="Calibri"/>
                        </a:rPr>
                        <a:t>Devices with Integrated Monitoring</a:t>
                      </a:r>
                      <a:endParaRPr sz="1100"/>
                    </a:p>
                  </a:txBody>
                  <a:tcPr marL="771525" marR="9525" marT="9525" marB="0" anchor="ctr"/>
                </a:tc>
              </a:tr>
              <a:tr h="175260">
                <a:tc>
                  <a:txBody>
                    <a:bodyPr wrap="square"/>
                    <a:lstStyle/>
                    <a:p>
                      <a:pPr algn="l"/>
                      <a:r>
                        <a:rPr sz="1100" b="0" i="1">
                          <a:solidFill>
                            <a:srgbClr val="000000"/>
                          </a:solidFill>
                          <a:latin typeface="Calibri"/>
                        </a:rPr>
                        <a:t>7.5.2.1.</a:t>
                      </a:r>
                      <a:r>
                        <a:rPr sz="700" b="0" i="1">
                          <a:solidFill>
                            <a:srgbClr val="000000"/>
                          </a:solidFill>
                          <a:latin typeface="Times New Roman"/>
                        </a:rPr>
                        <a:t>    </a:t>
                      </a:r>
                      <a:r>
                        <a:rPr sz="1100" b="0" i="1">
                          <a:solidFill>
                            <a:srgbClr val="000000"/>
                          </a:solidFill>
                          <a:latin typeface="Calibri"/>
                        </a:rPr>
                        <a:t>Temperature Monitoring Only</a:t>
                      </a:r>
                      <a:endParaRPr sz="1100"/>
                    </a:p>
                  </a:txBody>
                  <a:tcPr marL="1028700" marR="9525" marT="9525" marB="0" anchor="ctr"/>
                </a:tc>
              </a:tr>
              <a:tr h="175260">
                <a:tc>
                  <a:txBody>
                    <a:bodyPr wrap="square"/>
                    <a:lstStyle/>
                    <a:p>
                      <a:pPr algn="l"/>
                      <a:r>
                        <a:rPr sz="1100" b="0" i="1">
                          <a:solidFill>
                            <a:srgbClr val="000000"/>
                          </a:solidFill>
                          <a:latin typeface="Calibri"/>
                        </a:rPr>
                        <a:t>7.5.2.2.</a:t>
                      </a:r>
                      <a:r>
                        <a:rPr sz="700" b="0" i="1">
                          <a:solidFill>
                            <a:srgbClr val="000000"/>
                          </a:solidFill>
                          <a:latin typeface="Times New Roman"/>
                        </a:rPr>
                        <a:t>    </a:t>
                      </a:r>
                      <a:r>
                        <a:rPr sz="1100" b="0" i="1">
                          <a:solidFill>
                            <a:srgbClr val="000000"/>
                          </a:solidFill>
                          <a:latin typeface="Calibri"/>
                        </a:rPr>
                        <a:t>Temperature and Location Monitoring</a:t>
                      </a:r>
                      <a:endParaRPr sz="1100"/>
                    </a:p>
                  </a:txBody>
                  <a:tcPr marL="1028700" marR="9525" marT="9525" marB="0" anchor="ctr"/>
                </a:tc>
              </a:tr>
              <a:tr h="175260">
                <a:tc>
                  <a:txBody>
                    <a:bodyPr wrap="square"/>
                    <a:lstStyle/>
                    <a:p>
                      <a:pPr algn="l"/>
                      <a:r>
                        <a:rPr sz="1100" b="0" i="1">
                          <a:solidFill>
                            <a:srgbClr val="000000"/>
                          </a:solidFill>
                          <a:latin typeface="Calibri"/>
                        </a:rPr>
                        <a:t>7.5.2.3.</a:t>
                      </a:r>
                      <a:r>
                        <a:rPr sz="700" b="0" i="1">
                          <a:solidFill>
                            <a:srgbClr val="000000"/>
                          </a:solidFill>
                          <a:latin typeface="Times New Roman"/>
                        </a:rPr>
                        <a:t>    </a:t>
                      </a:r>
                      <a:r>
                        <a:rPr sz="1100" b="0" i="1">
                          <a:solidFill>
                            <a:srgbClr val="000000"/>
                          </a:solidFill>
                          <a:latin typeface="Calibri"/>
                        </a:rPr>
                        <a:t>Physiological and Perfusion Parameter Monitoring</a:t>
                      </a:r>
                      <a:endParaRPr sz="1100"/>
                    </a:p>
                  </a:txBody>
                  <a:tcPr marL="1028700" marR="9525" marT="9525" marB="0" anchor="ctr"/>
                </a:tc>
              </a:tr>
              <a:tr h="175260">
                <a:tc>
                  <a:txBody>
                    <a:bodyPr wrap="square"/>
                    <a:lstStyle/>
                    <a:p>
                      <a:pPr algn="l"/>
                      <a:r>
                        <a:rPr sz="1100" b="1" i="0">
                          <a:solidFill>
                            <a:srgbClr val="000000"/>
                          </a:solidFill>
                          <a:latin typeface="Calibri"/>
                        </a:rPr>
                        <a:t>8.</a:t>
                      </a:r>
                      <a:r>
                        <a:rPr sz="700" b="1" i="0">
                          <a:solidFill>
                            <a:srgbClr val="000000"/>
                          </a:solidFill>
                          <a:latin typeface="Times New Roman"/>
                        </a:rPr>
                        <a:t>       </a:t>
                      </a:r>
                      <a:r>
                        <a:rPr sz="1100" b="1" i="0">
                          <a:solidFill>
                            <a:srgbClr val="000000"/>
                          </a:solidFill>
                          <a:latin typeface="Calibri"/>
                        </a:rPr>
                        <a:t>Global Market (Value- Volume) Analysis 2021–2036, By Purchasing Organisation</a:t>
                      </a:r>
                      <a:endParaRPr sz="1100"/>
                    </a:p>
                  </a:txBody>
                  <a:tcPr marL="171450" marR="9525" marT="9525" marB="0" anchor="ctr"/>
                </a:tc>
              </a:tr>
              <a:tr h="175260">
                <a:tc>
                  <a:txBody>
                    <a:bodyPr wrap="square"/>
                    <a:lstStyle/>
                    <a:p>
                      <a:pPr algn="l"/>
                      <a:r>
                        <a:rPr sz="1100" b="0" i="0">
                          <a:solidFill>
                            <a:srgbClr val="0070C0"/>
                          </a:solidFill>
                          <a:latin typeface="Calibri"/>
                        </a:rPr>
                        <a:t>8.1.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8.2.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8.3.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8.4.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8.5.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8.5.1.</a:t>
                      </a:r>
                      <a:r>
                        <a:rPr sz="700" b="0" i="0">
                          <a:solidFill>
                            <a:srgbClr val="000000"/>
                          </a:solidFill>
                          <a:latin typeface="Times New Roman"/>
                        </a:rPr>
                        <a:t>   </a:t>
                      </a:r>
                      <a:r>
                        <a:rPr sz="1100" b="0" i="0">
                          <a:solidFill>
                            <a:srgbClr val="000000"/>
                          </a:solidFill>
                          <a:latin typeface="Calibri"/>
                        </a:rPr>
                        <a:t>Hospitals and Transplant Centres</a:t>
                      </a:r>
                      <a:endParaRPr sz="1100"/>
                    </a:p>
                  </a:txBody>
                  <a:tcPr marL="771525" marR="9525" marT="9525" marB="0" anchor="ctr"/>
                </a:tc>
              </a:tr>
              <a:tr h="175260">
                <a:tc>
                  <a:txBody>
                    <a:bodyPr wrap="square"/>
                    <a:lstStyle/>
                    <a:p>
                      <a:pPr algn="l"/>
                      <a:r>
                        <a:rPr sz="1100" b="0" i="0">
                          <a:solidFill>
                            <a:srgbClr val="000000"/>
                          </a:solidFill>
                          <a:latin typeface="Calibri"/>
                        </a:rPr>
                        <a:t>8.5.2.</a:t>
                      </a:r>
                      <a:r>
                        <a:rPr sz="700" b="0" i="0">
                          <a:solidFill>
                            <a:srgbClr val="000000"/>
                          </a:solidFill>
                          <a:latin typeface="Times New Roman"/>
                        </a:rPr>
                        <a:t>   </a:t>
                      </a:r>
                      <a:r>
                        <a:rPr sz="1100" b="0" i="0">
                          <a:solidFill>
                            <a:srgbClr val="000000"/>
                          </a:solidFill>
                          <a:latin typeface="Calibri"/>
                        </a:rPr>
                        <a:t>Organ Procurement Organisations and Organ Retrieval Agencies</a:t>
                      </a:r>
                      <a:endParaRPr sz="1100"/>
                    </a:p>
                  </a:txBody>
                  <a:tcPr marL="771525" marR="9525" marT="9525" marB="0" anchor="ctr"/>
                </a:tc>
              </a:tr>
              <a:tr h="175260">
                <a:tc>
                  <a:txBody>
                    <a:bodyPr wrap="square"/>
                    <a:lstStyle/>
                    <a:p>
                      <a:pPr algn="l"/>
                      <a:r>
                        <a:rPr sz="1100" b="0" i="0">
                          <a:solidFill>
                            <a:srgbClr val="000000"/>
                          </a:solidFill>
                          <a:latin typeface="Calibri"/>
                        </a:rPr>
                        <a:t>8.5.3.</a:t>
                      </a:r>
                      <a:r>
                        <a:rPr sz="700" b="0" i="0">
                          <a:solidFill>
                            <a:srgbClr val="000000"/>
                          </a:solidFill>
                          <a:latin typeface="Times New Roman"/>
                        </a:rPr>
                        <a:t>   </a:t>
                      </a:r>
                      <a:r>
                        <a:rPr sz="1100" b="0" i="0">
                          <a:solidFill>
                            <a:srgbClr val="000000"/>
                          </a:solidFill>
                          <a:latin typeface="Calibri"/>
                        </a:rPr>
                        <a:t>Specialised Medical Logistics Providers</a:t>
                      </a:r>
                      <a:endParaRPr sz="1100"/>
                    </a:p>
                  </a:txBody>
                  <a:tcPr marL="771525" marR="9525" marT="9525" marB="0" anchor="ctr"/>
                </a:tc>
              </a:tr>
              <a:tr h="175260">
                <a:tc>
                  <a:txBody>
                    <a:bodyPr wrap="square"/>
                    <a:lstStyle/>
                    <a:p>
                      <a:pPr algn="l"/>
                      <a:r>
                        <a:rPr sz="1100" b="0" i="0">
                          <a:solidFill>
                            <a:srgbClr val="000000"/>
                          </a:solidFill>
                          <a:latin typeface="Calibri"/>
                        </a:rPr>
                        <a:t>8.5.4.</a:t>
                      </a:r>
                      <a:r>
                        <a:rPr sz="700" b="0" i="0">
                          <a:solidFill>
                            <a:srgbClr val="000000"/>
                          </a:solidFill>
                          <a:latin typeface="Times New Roman"/>
                        </a:rPr>
                        <a:t>   </a:t>
                      </a:r>
                      <a:r>
                        <a:rPr sz="1100" b="0" i="0">
                          <a:solidFill>
                            <a:srgbClr val="000000"/>
                          </a:solidFill>
                          <a:latin typeface="Calibri"/>
                        </a:rPr>
                        <a:t>Other Purchasing Organisations</a:t>
                      </a:r>
                      <a:endParaRPr sz="1100"/>
                    </a:p>
                  </a:txBody>
                  <a:tcPr marL="771525" marR="9525" marT="9525" marB="0" anchor="ctr"/>
                </a:tc>
              </a:tr>
              <a:tr h="175260">
                <a:tc>
                  <a:txBody>
                    <a:bodyPr wrap="square"/>
                    <a:lstStyle/>
                    <a:p>
                      <a:pPr algn="l"/>
                      <a:r>
                        <a:rPr sz="1100" b="1" i="0">
                          <a:solidFill>
                            <a:srgbClr val="000000"/>
                          </a:solidFill>
                          <a:latin typeface="Calibri"/>
                        </a:rPr>
                        <a:t>9.</a:t>
                      </a:r>
                      <a:r>
                        <a:rPr sz="700" b="1" i="0">
                          <a:solidFill>
                            <a:srgbClr val="000000"/>
                          </a:solidFill>
                          <a:latin typeface="Times New Roman"/>
                        </a:rPr>
                        <a:t>       </a:t>
                      </a:r>
                      <a:r>
                        <a:rPr sz="1100" b="1" i="0">
                          <a:solidFill>
                            <a:srgbClr val="000000"/>
                          </a:solidFill>
                          <a:latin typeface="Calibri"/>
                        </a:rPr>
                        <a:t>Global Market (Value- Volume) Analysis 2021–2036, By Sales Channel</a:t>
                      </a:r>
                      <a:endParaRPr sz="1100"/>
                    </a:p>
                  </a:txBody>
                  <a:tcPr marL="171450" marR="9525" marT="9525" marB="0" anchor="ctr"/>
                </a:tc>
              </a:tr>
              <a:tr h="175260">
                <a:tc>
                  <a:txBody>
                    <a:bodyPr wrap="square"/>
                    <a:lstStyle/>
                    <a:p>
                      <a:pPr algn="l"/>
                      <a:r>
                        <a:rPr sz="1100" b="0" i="0">
                          <a:solidFill>
                            <a:srgbClr val="0070C0"/>
                          </a:solidFill>
                          <a:latin typeface="Calibri"/>
                        </a:rPr>
                        <a:t>9.1.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9.2.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9.3.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9.4.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9.5.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9.5.1.</a:t>
                      </a:r>
                      <a:r>
                        <a:rPr sz="700" b="0" i="0">
                          <a:solidFill>
                            <a:srgbClr val="000000"/>
                          </a:solidFill>
                          <a:latin typeface="Times New Roman"/>
                        </a:rPr>
                        <a:t>   </a:t>
                      </a:r>
                      <a:r>
                        <a:rPr sz="1100" b="0" i="0">
                          <a:solidFill>
                            <a:srgbClr val="000000"/>
                          </a:solidFill>
                          <a:latin typeface="Calibri"/>
                        </a:rPr>
                        <a:t>Direct Sales</a:t>
                      </a:r>
                      <a:endParaRPr sz="1100"/>
                    </a:p>
                  </a:txBody>
                  <a:tcPr marL="771525" marR="9525" marT="9525" marB="0" anchor="ctr"/>
                </a:tc>
              </a:tr>
              <a:tr h="175260">
                <a:tc>
                  <a:txBody>
                    <a:bodyPr wrap="square"/>
                    <a:lstStyle/>
                    <a:p>
                      <a:pPr algn="l"/>
                      <a:r>
                        <a:rPr sz="1100" b="0" i="0">
                          <a:solidFill>
                            <a:srgbClr val="000000"/>
                          </a:solidFill>
                          <a:latin typeface="Calibri"/>
                        </a:rPr>
                        <a:t>9.5.2.</a:t>
                      </a:r>
                      <a:r>
                        <a:rPr sz="700" b="0" i="0">
                          <a:solidFill>
                            <a:srgbClr val="000000"/>
                          </a:solidFill>
                          <a:latin typeface="Times New Roman"/>
                        </a:rPr>
                        <a:t>   </a:t>
                      </a:r>
                      <a:r>
                        <a:rPr sz="1100" b="0" i="0">
                          <a:solidFill>
                            <a:srgbClr val="000000"/>
                          </a:solidFill>
                          <a:latin typeface="Calibri"/>
                        </a:rPr>
                        <a:t>Distributor Sales</a:t>
                      </a:r>
                      <a:endParaRPr sz="1100"/>
                    </a:p>
                  </a:txBody>
                  <a:tcPr marL="771525" marR="9525" marT="9525" marB="0" anchor="ctr"/>
                </a:tc>
              </a:tr>
              <a:tr h="175260">
                <a:tc>
                  <a:txBody>
                    <a:bodyPr wrap="square"/>
                    <a:lstStyle/>
                    <a:p>
                      <a:pPr algn="l"/>
                      <a:r>
                        <a:rPr sz="1100" b="1" i="0">
                          <a:solidFill>
                            <a:srgbClr val="000000"/>
                          </a:solidFill>
                          <a:latin typeface="Calibri"/>
                        </a:rPr>
                        <a:t>10.</a:t>
                      </a:r>
                      <a:r>
                        <a:rPr sz="700" b="1" i="0">
                          <a:solidFill>
                            <a:srgbClr val="000000"/>
                          </a:solidFill>
                          <a:latin typeface="Times New Roman"/>
                        </a:rPr>
                        <a:t>    </a:t>
                      </a:r>
                      <a:r>
                        <a:rPr sz="1100" b="1" i="0">
                          <a:solidFill>
                            <a:srgbClr val="000000"/>
                          </a:solidFill>
                          <a:latin typeface="Calibri"/>
                        </a:rPr>
                        <a:t>Global Market (Value- Volume) Analysis 2021–2036, by Region</a:t>
                      </a:r>
                      <a:endParaRPr sz="1100"/>
                    </a:p>
                  </a:txBody>
                  <a:tcPr marL="171450" marR="9525" marT="9525" marB="0" anchor="ctr"/>
                </a:tc>
              </a:tr>
              <a:tr h="175260">
                <a:tc>
                  <a:txBody>
                    <a:bodyPr wrap="square"/>
                    <a:lstStyle/>
                    <a:p>
                      <a:pPr algn="l"/>
                      <a:r>
                        <a:rPr sz="1100" b="0" i="0">
                          <a:solidFill>
                            <a:srgbClr val="0070C0"/>
                          </a:solidFill>
                          <a:latin typeface="Calibri"/>
                        </a:rPr>
                        <a:t>10.1.</a:t>
                      </a:r>
                      <a:r>
                        <a:rPr sz="700" b="0" i="0">
                          <a:solidFill>
                            <a:srgbClr val="0070C0"/>
                          </a:solidFill>
                          <a:latin typeface="Times New Roman"/>
                        </a:rPr>
                        <a:t>  </a:t>
                      </a:r>
                      <a:r>
                        <a:rPr sz="1100" b="0" i="0">
                          <a:solidFill>
                            <a:srgbClr val="0070C0"/>
                          </a:solidFill>
                          <a:latin typeface="Calibri"/>
                        </a:rPr>
                        <a:t>Introduction / Key Findings</a:t>
                      </a:r>
                      <a:endParaRPr sz="1100"/>
                    </a:p>
                  </a:txBody>
                  <a:tcPr marL="428625" marR="9525" marT="9525" marB="0" anchor="ctr"/>
                </a:tc>
              </a:tr>
              <a:tr h="175260">
                <a:tc>
                  <a:txBody>
                    <a:bodyPr wrap="square"/>
                    <a:lstStyle/>
                    <a:p>
                      <a:pPr algn="l"/>
                      <a:r>
                        <a:rPr sz="1100" b="0" i="0">
                          <a:solidFill>
                            <a:srgbClr val="0070C0"/>
                          </a:solidFill>
                          <a:latin typeface="Calibri"/>
                        </a:rPr>
                        <a:t>10.2.</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10.3.</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(3/7)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10.4.</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10.5.</a:t>
                      </a:r>
                      <a:r>
                        <a:rPr sz="700" b="0" i="0">
                          <a:solidFill>
                            <a:srgbClr val="0070C0"/>
                          </a:solidFill>
                          <a:latin typeface="Times New Roman"/>
                        </a:rPr>
                        <a:t>  </a:t>
                      </a:r>
                      <a:r>
                        <a:rPr sz="1100" b="0" i="0">
                          <a:solidFill>
                            <a:srgbClr val="0070C0"/>
                          </a:solidFill>
                          <a:latin typeface="Calibri"/>
                        </a:rPr>
                        <a:t>Market Share Analysis</a:t>
                      </a:r>
                      <a:endParaRPr sz="1100"/>
                    </a:p>
                  </a:txBody>
                  <a:tcPr marL="428625" marR="9525" marT="9525" marB="0" anchor="ctr"/>
                </a:tc>
              </a:tr>
              <a:tr h="175260">
                <a:tc>
                  <a:txBody>
                    <a:bodyPr wrap="square"/>
                    <a:lstStyle/>
                    <a:p>
                      <a:pPr algn="l"/>
                      <a:r>
                        <a:rPr sz="1100" b="0" i="0">
                          <a:solidFill>
                            <a:srgbClr val="000000"/>
                          </a:solidFill>
                          <a:latin typeface="Calibri"/>
                        </a:rPr>
                        <a:t>10.5.1.</a:t>
                      </a:r>
                      <a:r>
                        <a:rPr sz="700" b="0" i="0">
                          <a:solidFill>
                            <a:srgbClr val="000000"/>
                          </a:solidFill>
                          <a:latin typeface="Times New Roman"/>
                        </a:rPr>
                        <a:t> </a:t>
                      </a:r>
                      <a:r>
                        <a:rPr sz="1100" b="0" i="0">
                          <a:solidFill>
                            <a:srgbClr val="000000"/>
                          </a:solidFill>
                          <a:latin typeface="Calibri"/>
                        </a:rPr>
                        <a:t>North America</a:t>
                      </a:r>
                      <a:endParaRPr sz="1100"/>
                    </a:p>
                  </a:txBody>
                  <a:tcPr marL="771525" marR="9525" marT="9525" marB="0" anchor="ctr"/>
                </a:tc>
              </a:tr>
              <a:tr h="175260">
                <a:tc>
                  <a:txBody>
                    <a:bodyPr wrap="square"/>
                    <a:lstStyle/>
                    <a:p>
                      <a:pPr algn="l"/>
                      <a:r>
                        <a:rPr sz="1100" b="0" i="1">
                          <a:solidFill>
                            <a:srgbClr val="000000"/>
                          </a:solidFill>
                          <a:latin typeface="Calibri"/>
                        </a:rPr>
                        <a:t>10.5.1.1.</a:t>
                      </a:r>
                      <a:r>
                        <a:rPr sz="700" b="0" i="1">
                          <a:solidFill>
                            <a:srgbClr val="000000"/>
                          </a:solidFill>
                          <a:latin typeface="Times New Roman"/>
                        </a:rPr>
                        <a:t> </a:t>
                      </a:r>
                      <a:r>
                        <a:rPr sz="1100" b="0" i="1">
                          <a:solidFill>
                            <a:srgbClr val="000000"/>
                          </a:solidFill>
                          <a:latin typeface="Calibri"/>
                        </a:rPr>
                        <a:t>U.S.</a:t>
                      </a:r>
                      <a:endParaRPr sz="1100"/>
                    </a:p>
                  </a:txBody>
                  <a:tcPr marL="1028700" marR="9525" marT="9525" marB="0" anchor="ctr"/>
                </a:tc>
              </a:tr>
              <a:tr h="175260">
                <a:tc>
                  <a:txBody>
                    <a:bodyPr wrap="square"/>
                    <a:lstStyle/>
                    <a:p>
                      <a:pPr algn="l"/>
                      <a:r>
                        <a:rPr sz="1100" b="0" i="1">
                          <a:solidFill>
                            <a:srgbClr val="000000"/>
                          </a:solidFill>
                          <a:latin typeface="Calibri"/>
                        </a:rPr>
                        <a:t>10.5.1.2.</a:t>
                      </a:r>
                      <a:r>
                        <a:rPr sz="700" b="0" i="1">
                          <a:solidFill>
                            <a:srgbClr val="000000"/>
                          </a:solidFill>
                          <a:latin typeface="Times New Roman"/>
                        </a:rPr>
                        <a:t> </a:t>
                      </a:r>
                      <a:r>
                        <a:rPr sz="1100" b="0" i="1">
                          <a:solidFill>
                            <a:srgbClr val="000000"/>
                          </a:solidFill>
                          <a:latin typeface="Calibri"/>
                        </a:rPr>
                        <a:t>Canada</a:t>
                      </a:r>
                      <a:endParaRPr sz="1100"/>
                    </a:p>
                  </a:txBody>
                  <a:tcPr marL="1028700" marR="9525" marT="9525" marB="0" anchor="ctr"/>
                </a:tc>
              </a:tr>
              <a:tr h="175260">
                <a:tc>
                  <a:txBody>
                    <a:bodyPr wrap="square"/>
                    <a:lstStyle/>
                    <a:p>
                      <a:pPr algn="l"/>
                      <a:r>
                        <a:rPr sz="1100" b="0" i="0">
                          <a:solidFill>
                            <a:srgbClr val="000000"/>
                          </a:solidFill>
                          <a:latin typeface="Calibri"/>
                        </a:rPr>
                        <a:t>10.5.2.</a:t>
                      </a:r>
                      <a:r>
                        <a:rPr sz="700" b="0" i="0">
                          <a:solidFill>
                            <a:srgbClr val="000000"/>
                          </a:solidFill>
                          <a:latin typeface="Times New Roman"/>
                        </a:rPr>
                        <a:t> </a:t>
                      </a:r>
                      <a:r>
                        <a:rPr sz="1100" b="0" i="0">
                          <a:solidFill>
                            <a:srgbClr val="000000"/>
                          </a:solidFill>
                          <a:latin typeface="Calibri"/>
                        </a:rPr>
                        <a:t>Latin America</a:t>
                      </a:r>
                      <a:endParaRPr sz="1100"/>
                    </a:p>
                  </a:txBody>
                  <a:tcPr marL="771525" marR="9525" marT="9525" marB="0" anchor="ctr"/>
                </a:tc>
              </a:tr>
              <a:tr h="175260">
                <a:tc>
                  <a:txBody>
                    <a:bodyPr wrap="square"/>
                    <a:lstStyle/>
                    <a:p>
                      <a:pPr algn="l"/>
                      <a:r>
                        <a:rPr sz="1100" b="0" i="1">
                          <a:solidFill>
                            <a:srgbClr val="000000"/>
                          </a:solidFill>
                          <a:latin typeface="Calibri"/>
                        </a:rPr>
                        <a:t>10.5.2.1.</a:t>
                      </a:r>
                      <a:r>
                        <a:rPr sz="700" b="0" i="1">
                          <a:solidFill>
                            <a:srgbClr val="000000"/>
                          </a:solidFill>
                          <a:latin typeface="Times New Roman"/>
                        </a:rPr>
                        <a:t> </a:t>
                      </a:r>
                      <a:r>
                        <a:rPr sz="1100" b="0" i="1">
                          <a:solidFill>
                            <a:srgbClr val="000000"/>
                          </a:solidFill>
                          <a:latin typeface="Calibri"/>
                        </a:rPr>
                        <a:t>Brazil</a:t>
                      </a:r>
                      <a:endParaRPr sz="1100"/>
                    </a:p>
                  </a:txBody>
                  <a:tcPr marL="1028700" marR="9525" marT="9525" marB="0" anchor="ctr"/>
                </a:tc>
              </a:tr>
              <a:tr h="175260">
                <a:tc>
                  <a:txBody>
                    <a:bodyPr wrap="square"/>
                    <a:lstStyle/>
                    <a:p>
                      <a:pPr algn="l"/>
                      <a:r>
                        <a:rPr sz="1100" b="0" i="1">
                          <a:solidFill>
                            <a:srgbClr val="000000"/>
                          </a:solidFill>
                          <a:latin typeface="Calibri"/>
                        </a:rPr>
                        <a:t>10.5.2.2.</a:t>
                      </a:r>
                      <a:r>
                        <a:rPr sz="700" b="0" i="1">
                          <a:solidFill>
                            <a:srgbClr val="000000"/>
                          </a:solidFill>
                          <a:latin typeface="Times New Roman"/>
                        </a:rPr>
                        <a:t> </a:t>
                      </a:r>
                      <a:r>
                        <a:rPr sz="1100" b="0" i="1">
                          <a:solidFill>
                            <a:srgbClr val="000000"/>
                          </a:solidFill>
                          <a:latin typeface="Calibri"/>
                        </a:rPr>
                        <a:t>Mexico</a:t>
                      </a:r>
                      <a:endParaRPr sz="1100"/>
                    </a:p>
                  </a:txBody>
                  <a:tcPr marL="1028700" marR="9525" marT="9525" marB="0" anchor="ctr"/>
                </a:tc>
              </a:tr>
              <a:tr h="175260">
                <a:tc>
                  <a:txBody>
                    <a:bodyPr wrap="square"/>
                    <a:lstStyle/>
                    <a:p>
                      <a:pPr algn="l"/>
                      <a:r>
                        <a:rPr sz="1100" b="0" i="1">
                          <a:solidFill>
                            <a:srgbClr val="000000"/>
                          </a:solidFill>
                          <a:latin typeface="Calibri"/>
                        </a:rPr>
                        <a:t>10.5.2.3.</a:t>
                      </a:r>
                      <a:r>
                        <a:rPr sz="700" b="0" i="1">
                          <a:solidFill>
                            <a:srgbClr val="000000"/>
                          </a:solidFill>
                          <a:latin typeface="Times New Roman"/>
                        </a:rPr>
                        <a:t> </a:t>
                      </a:r>
                      <a:r>
                        <a:rPr sz="1100" b="0" i="1">
                          <a:solidFill>
                            <a:srgbClr val="000000"/>
                          </a:solidFill>
                          <a:latin typeface="Calibri"/>
                        </a:rPr>
                        <a:t>Rest of LATAM</a:t>
                      </a:r>
                      <a:endParaRPr sz="1100"/>
                    </a:p>
                  </a:txBody>
                  <a:tcPr marL="1028700" marR="9525" marT="9525" marB="0" anchor="ctr"/>
                </a:tc>
              </a:tr>
              <a:tr h="175260">
                <a:tc>
                  <a:txBody>
                    <a:bodyPr wrap="square"/>
                    <a:lstStyle/>
                    <a:p>
                      <a:pPr algn="l"/>
                      <a:r>
                        <a:rPr sz="1100" b="0" i="0">
                          <a:solidFill>
                            <a:srgbClr val="000000"/>
                          </a:solidFill>
                          <a:latin typeface="Calibri"/>
                        </a:rPr>
                        <a:t>10.5.3.</a:t>
                      </a:r>
                      <a:r>
                        <a:rPr sz="700" b="0" i="0">
                          <a:solidFill>
                            <a:srgbClr val="000000"/>
                          </a:solidFill>
                          <a:latin typeface="Times New Roman"/>
                        </a:rPr>
                        <a:t> </a:t>
                      </a:r>
                      <a:r>
                        <a:rPr sz="1100" b="0" i="0">
                          <a:solidFill>
                            <a:srgbClr val="000000"/>
                          </a:solidFill>
                          <a:latin typeface="Calibri"/>
                        </a:rPr>
                        <a:t>East Asia</a:t>
                      </a:r>
                      <a:endParaRPr sz="1100"/>
                    </a:p>
                  </a:txBody>
                  <a:tcPr marL="771525" marR="9525" marT="9525" marB="0" anchor="ctr"/>
                </a:tc>
              </a:tr>
              <a:tr h="175260">
                <a:tc>
                  <a:txBody>
                    <a:bodyPr wrap="square"/>
                    <a:lstStyle/>
                    <a:p>
                      <a:pPr algn="l"/>
                      <a:r>
                        <a:rPr sz="1100" b="0" i="1">
                          <a:solidFill>
                            <a:srgbClr val="000000"/>
                          </a:solidFill>
                          <a:latin typeface="Calibri"/>
                        </a:rPr>
                        <a:t>10.5.3.1.</a:t>
                      </a:r>
                      <a:r>
                        <a:rPr sz="700" b="0" i="1">
                          <a:solidFill>
                            <a:srgbClr val="000000"/>
                          </a:solidFill>
                          <a:latin typeface="Times New Roman"/>
                        </a:rPr>
                        <a:t> </a:t>
                      </a:r>
                      <a:r>
                        <a:rPr sz="1100" b="0" i="1">
                          <a:solidFill>
                            <a:srgbClr val="000000"/>
                          </a:solidFill>
                          <a:latin typeface="Calibri"/>
                        </a:rPr>
                        <a:t>China</a:t>
                      </a:r>
                      <a:endParaRPr sz="1100"/>
                    </a:p>
                  </a:txBody>
                  <a:tcPr marL="1028700" marR="9525" marT="9525" marB="0" anchor="ctr"/>
                </a:tc>
              </a:tr>
              <a:tr h="175260">
                <a:tc>
                  <a:txBody>
                    <a:bodyPr wrap="square"/>
                    <a:lstStyle/>
                    <a:p>
                      <a:pPr algn="l"/>
                      <a:r>
                        <a:rPr sz="1100" b="0" i="1">
                          <a:solidFill>
                            <a:srgbClr val="000000"/>
                          </a:solidFill>
                          <a:latin typeface="Calibri"/>
                        </a:rPr>
                        <a:t>10.5.3.2.</a:t>
                      </a:r>
                      <a:r>
                        <a:rPr sz="700" b="0" i="1">
                          <a:solidFill>
                            <a:srgbClr val="000000"/>
                          </a:solidFill>
                          <a:latin typeface="Times New Roman"/>
                        </a:rPr>
                        <a:t> </a:t>
                      </a:r>
                      <a:r>
                        <a:rPr sz="1100" b="0" i="1">
                          <a:solidFill>
                            <a:srgbClr val="000000"/>
                          </a:solidFill>
                          <a:latin typeface="Calibri"/>
                        </a:rPr>
                        <a:t>Japan</a:t>
                      </a:r>
                      <a:endParaRPr sz="1100"/>
                    </a:p>
                  </a:txBody>
                  <a:tcPr marL="1028700" marR="9525" marT="9525" marB="0" anchor="ctr"/>
                </a:tc>
              </a:tr>
              <a:tr h="175260">
                <a:tc>
                  <a:txBody>
                    <a:bodyPr wrap="square"/>
                    <a:lstStyle/>
                    <a:p>
                      <a:pPr algn="l"/>
                      <a:r>
                        <a:rPr sz="1100" b="0" i="1">
                          <a:solidFill>
                            <a:srgbClr val="000000"/>
                          </a:solidFill>
                          <a:latin typeface="Calibri"/>
                        </a:rPr>
                        <a:t>10.5.3.3.</a:t>
                      </a:r>
                      <a:r>
                        <a:rPr sz="700" b="0" i="1">
                          <a:solidFill>
                            <a:srgbClr val="000000"/>
                          </a:solidFill>
                          <a:latin typeface="Times New Roman"/>
                        </a:rPr>
                        <a:t> </a:t>
                      </a:r>
                      <a:r>
                        <a:rPr sz="1100" b="0" i="1">
                          <a:solidFill>
                            <a:srgbClr val="000000"/>
                          </a:solidFill>
                          <a:latin typeface="Calibri"/>
                        </a:rPr>
                        <a:t>S Korea</a:t>
                      </a:r>
                      <a:endParaRPr sz="1100"/>
                    </a:p>
                  </a:txBody>
                  <a:tcPr marL="1028700" marR="9525" marT="9525" marB="0" anchor="ctr"/>
                </a:tc>
              </a:tr>
              <a:tr h="175260">
                <a:tc>
                  <a:txBody>
                    <a:bodyPr wrap="square"/>
                    <a:lstStyle/>
                    <a:p>
                      <a:pPr algn="l"/>
                      <a:r>
                        <a:rPr sz="1100" b="0" i="0">
                          <a:solidFill>
                            <a:srgbClr val="000000"/>
                          </a:solidFill>
                          <a:latin typeface="Calibri"/>
                        </a:rPr>
                        <a:t>10.5.4.</a:t>
                      </a:r>
                      <a:r>
                        <a:rPr sz="700" b="0" i="0">
                          <a:solidFill>
                            <a:srgbClr val="000000"/>
                          </a:solidFill>
                          <a:latin typeface="Times New Roman"/>
                        </a:rPr>
                        <a:t> </a:t>
                      </a:r>
                      <a:r>
                        <a:rPr sz="1100" b="0" i="0">
                          <a:solidFill>
                            <a:srgbClr val="000000"/>
                          </a:solidFill>
                          <a:latin typeface="Calibri"/>
                        </a:rPr>
                        <a:t>South Asia &amp; Pacific</a:t>
                      </a:r>
                      <a:endParaRPr sz="1100"/>
                    </a:p>
                  </a:txBody>
                  <a:tcPr marL="771525" marR="9525" marT="9525" marB="0" anchor="ctr"/>
                </a:tc>
              </a:tr>
              <a:tr h="175260">
                <a:tc>
                  <a:txBody>
                    <a:bodyPr wrap="square"/>
                    <a:lstStyle/>
                    <a:p>
                      <a:pPr algn="l"/>
                      <a:r>
                        <a:rPr sz="1100" b="0" i="1">
                          <a:solidFill>
                            <a:srgbClr val="000000"/>
                          </a:solidFill>
                          <a:latin typeface="Calibri"/>
                        </a:rPr>
                        <a:t>10.5.4.1.</a:t>
                      </a:r>
                      <a:r>
                        <a:rPr sz="700" b="0" i="1">
                          <a:solidFill>
                            <a:srgbClr val="000000"/>
                          </a:solidFill>
                          <a:latin typeface="Times New Roman"/>
                        </a:rPr>
                        <a:t> </a:t>
                      </a:r>
                      <a:r>
                        <a:rPr sz="1100" b="0" i="1">
                          <a:solidFill>
                            <a:srgbClr val="000000"/>
                          </a:solidFill>
                          <a:latin typeface="Calibri"/>
                        </a:rPr>
                        <a:t>India</a:t>
                      </a:r>
                      <a:endParaRPr sz="1100"/>
                    </a:p>
                  </a:txBody>
                  <a:tcPr marL="1028700" marR="9525" marT="9525" marB="0" anchor="ctr"/>
                </a:tc>
              </a:tr>
              <a:tr h="175260">
                <a:tc>
                  <a:txBody>
                    <a:bodyPr wrap="square"/>
                    <a:lstStyle/>
                    <a:p>
                      <a:pPr algn="l"/>
                      <a:r>
                        <a:rPr sz="1100" b="0" i="1">
                          <a:solidFill>
                            <a:srgbClr val="000000"/>
                          </a:solidFill>
                          <a:latin typeface="Calibri"/>
                        </a:rPr>
                        <a:t>10.5.4.2.</a:t>
                      </a:r>
                      <a:r>
                        <a:rPr sz="700" b="0" i="1">
                          <a:solidFill>
                            <a:srgbClr val="000000"/>
                          </a:solidFill>
                          <a:latin typeface="Times New Roman"/>
                        </a:rPr>
                        <a:t> </a:t>
                      </a:r>
                      <a:r>
                        <a:rPr sz="1100" b="0" i="1">
                          <a:solidFill>
                            <a:srgbClr val="000000"/>
                          </a:solidFill>
                          <a:latin typeface="Calibri"/>
                        </a:rPr>
                        <a:t>Thailand</a:t>
                      </a:r>
                      <a:endParaRPr sz="1100"/>
                    </a:p>
                  </a:txBody>
                  <a:tcPr marL="1028700" marR="9525" marT="9525" marB="0" anchor="ctr"/>
                </a:tc>
              </a:tr>
              <a:tr h="175260">
                <a:tc>
                  <a:txBody>
                    <a:bodyPr wrap="square"/>
                    <a:lstStyle/>
                    <a:p>
                      <a:pPr algn="l"/>
                      <a:r>
                        <a:rPr sz="1100" b="0" i="1">
                          <a:solidFill>
                            <a:srgbClr val="000000"/>
                          </a:solidFill>
                          <a:latin typeface="Calibri"/>
                        </a:rPr>
                        <a:t>10.5.4.3.</a:t>
                      </a:r>
                      <a:r>
                        <a:rPr sz="700" b="0" i="1">
                          <a:solidFill>
                            <a:srgbClr val="000000"/>
                          </a:solidFill>
                          <a:latin typeface="Times New Roman"/>
                        </a:rPr>
                        <a:t> </a:t>
                      </a:r>
                      <a:r>
                        <a:rPr sz="1100" b="0" i="1">
                          <a:solidFill>
                            <a:srgbClr val="000000"/>
                          </a:solidFill>
                          <a:latin typeface="Calibri"/>
                        </a:rPr>
                        <a:t>Malaysia</a:t>
                      </a:r>
                      <a:endParaRPr sz="1100"/>
                    </a:p>
                  </a:txBody>
                  <a:tcPr marL="1028700" marR="9525" marT="9525" marB="0" anchor="ctr"/>
                </a:tc>
              </a:tr>
              <a:tr h="175260">
                <a:tc>
                  <a:txBody>
                    <a:bodyPr wrap="square"/>
                    <a:lstStyle/>
                    <a:p>
                      <a:pPr algn="l"/>
                      <a:r>
                        <a:rPr sz="1100" b="0" i="1">
                          <a:solidFill>
                            <a:srgbClr val="000000"/>
                          </a:solidFill>
                          <a:latin typeface="Calibri"/>
                        </a:rPr>
                        <a:t>10.5.4.4.</a:t>
                      </a:r>
                      <a:r>
                        <a:rPr sz="700" b="0" i="1">
                          <a:solidFill>
                            <a:srgbClr val="000000"/>
                          </a:solidFill>
                          <a:latin typeface="Times New Roman"/>
                        </a:rPr>
                        <a:t> </a:t>
                      </a:r>
                      <a:r>
                        <a:rPr sz="1100" b="0" i="1">
                          <a:solidFill>
                            <a:srgbClr val="000000"/>
                          </a:solidFill>
                          <a:latin typeface="Calibri"/>
                        </a:rPr>
                        <a:t>Indonesia</a:t>
                      </a:r>
                      <a:endParaRPr sz="1100"/>
                    </a:p>
                  </a:txBody>
                  <a:tcPr marL="1028700" marR="9525" marT="9525" marB="0" anchor="ctr"/>
                </a:tc>
              </a:tr>
              <a:tr h="175260">
                <a:tc>
                  <a:txBody>
                    <a:bodyPr wrap="square"/>
                    <a:lstStyle/>
                    <a:p>
                      <a:pPr algn="l"/>
                      <a:r>
                        <a:rPr sz="1100" b="0" i="1">
                          <a:solidFill>
                            <a:srgbClr val="000000"/>
                          </a:solidFill>
                          <a:latin typeface="Calibri"/>
                        </a:rPr>
                        <a:t>10.5.4.5.</a:t>
                      </a:r>
                      <a:r>
                        <a:rPr sz="700" b="0" i="1">
                          <a:solidFill>
                            <a:srgbClr val="000000"/>
                          </a:solidFill>
                          <a:latin typeface="Times New Roman"/>
                        </a:rPr>
                        <a:t> </a:t>
                      </a:r>
                      <a:r>
                        <a:rPr sz="1100" b="0" i="1">
                          <a:solidFill>
                            <a:srgbClr val="000000"/>
                          </a:solidFill>
                          <a:latin typeface="Calibri"/>
                        </a:rPr>
                        <a:t>Philippines</a:t>
                      </a:r>
                      <a:endParaRPr sz="1100"/>
                    </a:p>
                  </a:txBody>
                  <a:tcPr marL="1028700" marR="9525" marT="9525" marB="0" anchor="ctr"/>
                </a:tc>
              </a:tr>
              <a:tr h="175260">
                <a:tc>
                  <a:txBody>
                    <a:bodyPr wrap="square"/>
                    <a:lstStyle/>
                    <a:p>
                      <a:pPr algn="l"/>
                      <a:r>
                        <a:rPr sz="1100" b="0" i="1">
                          <a:solidFill>
                            <a:srgbClr val="000000"/>
                          </a:solidFill>
                          <a:latin typeface="Calibri"/>
                        </a:rPr>
                        <a:t>10.5.4.6.</a:t>
                      </a:r>
                      <a:r>
                        <a:rPr sz="700" b="0" i="1">
                          <a:solidFill>
                            <a:srgbClr val="000000"/>
                          </a:solidFill>
                          <a:latin typeface="Times New Roman"/>
                        </a:rPr>
                        <a:t> </a:t>
                      </a:r>
                      <a:r>
                        <a:rPr sz="1100" b="0" i="1">
                          <a:solidFill>
                            <a:srgbClr val="000000"/>
                          </a:solidFill>
                          <a:latin typeface="Calibri"/>
                        </a:rPr>
                        <a:t>Singapore</a:t>
                      </a:r>
                      <a:endParaRPr sz="1100"/>
                    </a:p>
                  </a:txBody>
                  <a:tcPr marL="1028700" marR="9525" marT="9525" marB="0" anchor="ctr"/>
                </a:tc>
              </a:tr>
              <a:tr h="175260">
                <a:tc>
                  <a:txBody>
                    <a:bodyPr wrap="square"/>
                    <a:lstStyle/>
                    <a:p>
                      <a:pPr algn="l"/>
                      <a:r>
                        <a:rPr sz="1100" b="0" i="1">
                          <a:solidFill>
                            <a:srgbClr val="000000"/>
                          </a:solidFill>
                          <a:latin typeface="Calibri"/>
                        </a:rPr>
                        <a:t>10.5.4.7.</a:t>
                      </a:r>
                      <a:r>
                        <a:rPr sz="700" b="0" i="1">
                          <a:solidFill>
                            <a:srgbClr val="000000"/>
                          </a:solidFill>
                          <a:latin typeface="Times New Roman"/>
                        </a:rPr>
                        <a:t> </a:t>
                      </a:r>
                      <a:r>
                        <a:rPr sz="1100" b="0" i="1">
                          <a:solidFill>
                            <a:srgbClr val="000000"/>
                          </a:solidFill>
                          <a:latin typeface="Calibri"/>
                        </a:rPr>
                        <a:t>Australia</a:t>
                      </a:r>
                      <a:endParaRPr sz="1100"/>
                    </a:p>
                  </a:txBody>
                  <a:tcPr marL="1028700" marR="9525" marT="9525" marB="0" anchor="ctr"/>
                </a:tc>
              </a:tr>
              <a:tr h="175260">
                <a:tc>
                  <a:txBody>
                    <a:bodyPr wrap="square"/>
                    <a:lstStyle/>
                    <a:p>
                      <a:pPr algn="l"/>
                      <a:r>
                        <a:rPr sz="1100" b="0" i="1">
                          <a:solidFill>
                            <a:srgbClr val="000000"/>
                          </a:solidFill>
                          <a:latin typeface="Calibri"/>
                        </a:rPr>
                        <a:t>10.5.4.8.</a:t>
                      </a:r>
                      <a:r>
                        <a:rPr sz="700" b="0" i="1">
                          <a:solidFill>
                            <a:srgbClr val="000000"/>
                          </a:solidFill>
                          <a:latin typeface="Times New Roman"/>
                        </a:rPr>
                        <a:t> </a:t>
                      </a:r>
                      <a:r>
                        <a:rPr sz="1100" b="0" i="1">
                          <a:solidFill>
                            <a:srgbClr val="000000"/>
                          </a:solidFill>
                          <a:latin typeface="Calibri"/>
                        </a:rPr>
                        <a:t>New Zealand</a:t>
                      </a:r>
                      <a:endParaRPr sz="1100"/>
                    </a:p>
                  </a:txBody>
                  <a:tcPr marL="1028700" marR="9525" marT="9525" marB="0" anchor="ctr"/>
                </a:tc>
              </a:tr>
              <a:tr h="175260">
                <a:tc>
                  <a:txBody>
                    <a:bodyPr wrap="square"/>
                    <a:lstStyle/>
                    <a:p>
                      <a:pPr algn="l"/>
                      <a:r>
                        <a:rPr sz="1100" b="0" i="1">
                          <a:solidFill>
                            <a:srgbClr val="000000"/>
                          </a:solidFill>
                          <a:latin typeface="Calibri"/>
                        </a:rPr>
                        <a:t>10.5.4.9.</a:t>
                      </a:r>
                      <a:r>
                        <a:rPr sz="700" b="0" i="1">
                          <a:solidFill>
                            <a:srgbClr val="000000"/>
                          </a:solidFill>
                          <a:latin typeface="Times New Roman"/>
                        </a:rPr>
                        <a:t> </a:t>
                      </a:r>
                      <a:r>
                        <a:rPr sz="1100" b="0" i="1">
                          <a:solidFill>
                            <a:srgbClr val="000000"/>
                          </a:solidFill>
                          <a:latin typeface="Calibri"/>
                        </a:rPr>
                        <a:t>Rest of South East Asia</a:t>
                      </a:r>
                      <a:endParaRPr sz="1100"/>
                    </a:p>
                  </a:txBody>
                  <a:tcPr marL="1028700" marR="9525" marT="9525" marB="0" anchor="ctr"/>
                </a:tc>
              </a:tr>
              <a:tr h="175260">
                <a:tc>
                  <a:txBody>
                    <a:bodyPr wrap="square"/>
                    <a:lstStyle/>
                    <a:p>
                      <a:pPr algn="l"/>
                      <a:r>
                        <a:rPr sz="1100" b="0" i="0">
                          <a:solidFill>
                            <a:srgbClr val="000000"/>
                          </a:solidFill>
                          <a:latin typeface="Calibri"/>
                        </a:rPr>
                        <a:t>10.5.5.</a:t>
                      </a:r>
                      <a:r>
                        <a:rPr sz="700" b="0" i="0">
                          <a:solidFill>
                            <a:srgbClr val="000000"/>
                          </a:solidFill>
                          <a:latin typeface="Times New Roman"/>
                        </a:rPr>
                        <a:t> </a:t>
                      </a:r>
                      <a:r>
                        <a:rPr sz="1100" b="0" i="0">
                          <a:solidFill>
                            <a:srgbClr val="000000"/>
                          </a:solidFill>
                          <a:latin typeface="Calibri"/>
                        </a:rPr>
                        <a:t>Europe</a:t>
                      </a:r>
                      <a:endParaRPr sz="1100"/>
                    </a:p>
                  </a:txBody>
                  <a:tcPr marL="771525" marR="9525" marT="9525" marB="0" anchor="ctr"/>
                </a:tc>
              </a:tr>
              <a:tr h="175260">
                <a:tc>
                  <a:txBody>
                    <a:bodyPr wrap="square"/>
                    <a:lstStyle/>
                    <a:p>
                      <a:pPr algn="l"/>
                      <a:r>
                        <a:rPr sz="1100" b="0" i="1">
                          <a:solidFill>
                            <a:srgbClr val="000000"/>
                          </a:solidFill>
                          <a:latin typeface="Calibri"/>
                        </a:rPr>
                        <a:t>10.5.5.1.</a:t>
                      </a:r>
                      <a:r>
                        <a:rPr sz="700" b="0" i="1">
                          <a:solidFill>
                            <a:srgbClr val="000000"/>
                          </a:solidFill>
                          <a:latin typeface="Times New Roman"/>
                        </a:rPr>
                        <a:t> </a:t>
                      </a:r>
                      <a:r>
                        <a:rPr sz="1100" b="0" i="1">
                          <a:solidFill>
                            <a:srgbClr val="000000"/>
                          </a:solidFill>
                          <a:latin typeface="Calibri"/>
                        </a:rPr>
                        <a:t>Germany</a:t>
                      </a:r>
                      <a:endParaRPr sz="1100"/>
                    </a:p>
                  </a:txBody>
                  <a:tcPr marL="1028700" marR="9525" marT="9525" marB="0" anchor="ctr"/>
                </a:tc>
              </a:tr>
              <a:tr h="175260">
                <a:tc>
                  <a:txBody>
                    <a:bodyPr wrap="square"/>
                    <a:lstStyle/>
                    <a:p>
                      <a:pPr algn="l"/>
                      <a:r>
                        <a:rPr sz="1100" b="0" i="1">
                          <a:solidFill>
                            <a:srgbClr val="000000"/>
                          </a:solidFill>
                          <a:latin typeface="Calibri"/>
                        </a:rPr>
                        <a:t>10.5.5.2.</a:t>
                      </a:r>
                      <a:r>
                        <a:rPr sz="700" b="0" i="1">
                          <a:solidFill>
                            <a:srgbClr val="000000"/>
                          </a:solidFill>
                          <a:latin typeface="Times New Roman"/>
                        </a:rPr>
                        <a:t> </a:t>
                      </a:r>
                      <a:r>
                        <a:rPr sz="1100" b="0" i="1">
                          <a:solidFill>
                            <a:srgbClr val="000000"/>
                          </a:solidFill>
                          <a:latin typeface="Calibri"/>
                        </a:rPr>
                        <a:t>U.K.</a:t>
                      </a:r>
                      <a:endParaRPr sz="1100"/>
                    </a:p>
                  </a:txBody>
                  <a:tcPr marL="1028700" marR="9525" marT="9525" marB="0" anchor="ctr"/>
                </a:tc>
              </a:tr>
              <a:tr h="175260">
                <a:tc>
                  <a:txBody>
                    <a:bodyPr wrap="square"/>
                    <a:lstStyle/>
                    <a:p>
                      <a:pPr algn="l"/>
                      <a:r>
                        <a:rPr sz="1100" b="0" i="1">
                          <a:solidFill>
                            <a:srgbClr val="000000"/>
                          </a:solidFill>
                          <a:latin typeface="Calibri"/>
                        </a:rPr>
                        <a:t>10.5.5.3.</a:t>
                      </a:r>
                      <a:r>
                        <a:rPr sz="700" b="0" i="1">
                          <a:solidFill>
                            <a:srgbClr val="000000"/>
                          </a:solidFill>
                          <a:latin typeface="Times New Roman"/>
                        </a:rPr>
                        <a:t> </a:t>
                      </a:r>
                      <a:r>
                        <a:rPr sz="1100" b="0" i="1">
                          <a:solidFill>
                            <a:srgbClr val="000000"/>
                          </a:solidFill>
                          <a:latin typeface="Calibri"/>
                        </a:rPr>
                        <a:t>France</a:t>
                      </a:r>
                      <a:endParaRPr sz="1100"/>
                    </a:p>
                  </a:txBody>
                  <a:tcPr marL="1028700" marR="9525" marT="9525" marB="0" anchor="ctr"/>
                </a:tc>
              </a:tr>
              <a:tr h="175260">
                <a:tc>
                  <a:txBody>
                    <a:bodyPr wrap="square"/>
                    <a:lstStyle/>
                    <a:p>
                      <a:pPr algn="l"/>
                      <a:r>
                        <a:rPr sz="1100" b="0" i="1">
                          <a:solidFill>
                            <a:srgbClr val="000000"/>
                          </a:solidFill>
                          <a:latin typeface="Calibri"/>
                        </a:rPr>
                        <a:t>10.5.5.4.</a:t>
                      </a:r>
                      <a:r>
                        <a:rPr sz="700" b="0" i="1">
                          <a:solidFill>
                            <a:srgbClr val="000000"/>
                          </a:solidFill>
                          <a:latin typeface="Times New Roman"/>
                        </a:rPr>
                        <a:t> </a:t>
                      </a:r>
                      <a:r>
                        <a:rPr sz="1100" b="0" i="1">
                          <a:solidFill>
                            <a:srgbClr val="000000"/>
                          </a:solidFill>
                          <a:latin typeface="Calibri"/>
                        </a:rPr>
                        <a:t>Italy</a:t>
                      </a:r>
                      <a:endParaRPr sz="1100"/>
                    </a:p>
                  </a:txBody>
                  <a:tcPr marL="1028700" marR="9525" marT="9525" marB="0" anchor="ctr"/>
                </a:tc>
              </a:tr>
              <a:tr h="175260">
                <a:tc>
                  <a:txBody>
                    <a:bodyPr wrap="square"/>
                    <a:lstStyle/>
                    <a:p>
                      <a:pPr algn="l"/>
                      <a:r>
                        <a:rPr sz="1100" b="0" i="1">
                          <a:solidFill>
                            <a:srgbClr val="000000"/>
                          </a:solidFill>
                          <a:latin typeface="Calibri"/>
                        </a:rPr>
                        <a:t>10.5.5.5.</a:t>
                      </a:r>
                      <a:r>
                        <a:rPr sz="700" b="0" i="1">
                          <a:solidFill>
                            <a:srgbClr val="000000"/>
                          </a:solidFill>
                          <a:latin typeface="Times New Roman"/>
                        </a:rPr>
                        <a:t> </a:t>
                      </a:r>
                      <a:r>
                        <a:rPr sz="1100" b="0" i="1">
                          <a:solidFill>
                            <a:srgbClr val="000000"/>
                          </a:solidFill>
                          <a:latin typeface="Calibri"/>
                        </a:rPr>
                        <a:t>Spain</a:t>
                      </a:r>
                      <a:endParaRPr sz="1100"/>
                    </a:p>
                  </a:txBody>
                  <a:tcPr marL="1028700" marR="9525" marT="9525" marB="0" anchor="ctr"/>
                </a:tc>
              </a:tr>
              <a:tr h="175260">
                <a:tc>
                  <a:txBody>
                    <a:bodyPr wrap="square"/>
                    <a:lstStyle/>
                    <a:p>
                      <a:pPr algn="l"/>
                      <a:r>
                        <a:rPr sz="1100" b="0" i="1">
                          <a:solidFill>
                            <a:srgbClr val="000000"/>
                          </a:solidFill>
                          <a:latin typeface="Calibri"/>
                        </a:rPr>
                        <a:t>10.5.5.6.</a:t>
                      </a:r>
                      <a:r>
                        <a:rPr sz="700" b="0" i="1">
                          <a:solidFill>
                            <a:srgbClr val="000000"/>
                          </a:solidFill>
                          <a:latin typeface="Times New Roman"/>
                        </a:rPr>
                        <a:t> </a:t>
                      </a:r>
                      <a:r>
                        <a:rPr sz="1100" b="0" i="1">
                          <a:solidFill>
                            <a:srgbClr val="000000"/>
                          </a:solidFill>
                          <a:latin typeface="Calibri"/>
                        </a:rPr>
                        <a:t>Belgium</a:t>
                      </a:r>
                      <a:endParaRPr sz="1100"/>
                    </a:p>
                  </a:txBody>
                  <a:tcPr marL="1028700"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1">
                          <a:solidFill>
                            <a:srgbClr val="000000"/>
                          </a:solidFill>
                          <a:latin typeface="Calibri"/>
                        </a:rPr>
                        <a:t>10.5.5.7.</a:t>
                      </a:r>
                      <a:r>
                        <a:rPr sz="700" b="0" i="1">
                          <a:solidFill>
                            <a:srgbClr val="000000"/>
                          </a:solidFill>
                          <a:latin typeface="Times New Roman"/>
                        </a:rPr>
                        <a:t> </a:t>
                      </a:r>
                      <a:r>
                        <a:rPr sz="1100" b="0" i="1">
                          <a:solidFill>
                            <a:srgbClr val="000000"/>
                          </a:solidFill>
                          <a:latin typeface="Calibri"/>
                        </a:rPr>
                        <a:t>Netherlands</a:t>
                      </a:r>
                      <a:endParaRPr sz="1100"/>
                    </a:p>
                  </a:txBody>
                  <a:tcPr marL="1028700" marR="9525" marT="9525" marB="0" anchor="ctr"/>
                </a:tc>
              </a:tr>
              <a:tr h="175260">
                <a:tc>
                  <a:txBody>
                    <a:bodyPr wrap="square"/>
                    <a:lstStyle/>
                    <a:p>
                      <a:pPr algn="l"/>
                      <a:r>
                        <a:rPr sz="1100" b="0" i="1">
                          <a:solidFill>
                            <a:srgbClr val="000000"/>
                          </a:solidFill>
                          <a:latin typeface="Calibri"/>
                        </a:rPr>
                        <a:t>10.5.5.8.</a:t>
                      </a:r>
                      <a:r>
                        <a:rPr sz="700" b="0" i="1">
                          <a:solidFill>
                            <a:srgbClr val="000000"/>
                          </a:solidFill>
                          <a:latin typeface="Times New Roman"/>
                        </a:rPr>
                        <a:t> </a:t>
                      </a:r>
                      <a:r>
                        <a:rPr sz="1100" b="0" i="1">
                          <a:solidFill>
                            <a:srgbClr val="000000"/>
                          </a:solidFill>
                          <a:latin typeface="Calibri"/>
                        </a:rPr>
                        <a:t>Nordic</a:t>
                      </a:r>
                      <a:endParaRPr sz="1100"/>
                    </a:p>
                  </a:txBody>
                  <a:tcPr marL="1028700" marR="9525" marT="9525" marB="0" anchor="ctr"/>
                </a:tc>
              </a:tr>
              <a:tr h="175260">
                <a:tc>
                  <a:txBody>
                    <a:bodyPr wrap="square"/>
                    <a:lstStyle/>
                    <a:p>
                      <a:pPr algn="l"/>
                      <a:r>
                        <a:rPr sz="1100" b="0" i="1">
                          <a:solidFill>
                            <a:srgbClr val="000000"/>
                          </a:solidFill>
                          <a:latin typeface="Calibri"/>
                        </a:rPr>
                        <a:t>10.5.5.9.</a:t>
                      </a:r>
                      <a:r>
                        <a:rPr sz="700" b="0" i="1">
                          <a:solidFill>
                            <a:srgbClr val="000000"/>
                          </a:solidFill>
                          <a:latin typeface="Times New Roman"/>
                        </a:rPr>
                        <a:t> </a:t>
                      </a:r>
                      <a:r>
                        <a:rPr sz="1100" b="0" i="1">
                          <a:solidFill>
                            <a:srgbClr val="000000"/>
                          </a:solidFill>
                          <a:latin typeface="Calibri"/>
                        </a:rPr>
                        <a:t>Russia</a:t>
                      </a:r>
                      <a:endParaRPr sz="1100"/>
                    </a:p>
                  </a:txBody>
                  <a:tcPr marL="1028700" marR="9525" marT="9525" marB="0" anchor="ctr"/>
                </a:tc>
              </a:tr>
              <a:tr h="175260">
                <a:tc>
                  <a:txBody>
                    <a:bodyPr wrap="square"/>
                    <a:lstStyle/>
                    <a:p>
                      <a:pPr algn="l"/>
                      <a:r>
                        <a:rPr sz="1100" b="0" i="1">
                          <a:solidFill>
                            <a:srgbClr val="000000"/>
                          </a:solidFill>
                          <a:latin typeface="Calibri"/>
                        </a:rPr>
                        <a:t>10.5.5.10.</a:t>
                      </a:r>
                      <a:r>
                        <a:rPr sz="700" b="0" i="1">
                          <a:solidFill>
                            <a:srgbClr val="000000"/>
                          </a:solidFill>
                          <a:latin typeface="Times New Roman"/>
                        </a:rPr>
                        <a:t> </a:t>
                      </a:r>
                      <a:r>
                        <a:rPr sz="1100" b="0" i="1">
                          <a:solidFill>
                            <a:srgbClr val="000000"/>
                          </a:solidFill>
                          <a:latin typeface="Calibri"/>
                        </a:rPr>
                        <a:t>Poland</a:t>
                      </a:r>
                      <a:endParaRPr sz="1100"/>
                    </a:p>
                  </a:txBody>
                  <a:tcPr marL="1028700" marR="9525" marT="9525" marB="0" anchor="ctr"/>
                </a:tc>
              </a:tr>
              <a:tr h="175260">
                <a:tc>
                  <a:txBody>
                    <a:bodyPr wrap="square"/>
                    <a:lstStyle/>
                    <a:p>
                      <a:pPr algn="l"/>
                      <a:r>
                        <a:rPr sz="1100" b="0" i="1">
                          <a:solidFill>
                            <a:srgbClr val="000000"/>
                          </a:solidFill>
                          <a:latin typeface="Calibri"/>
                        </a:rPr>
                        <a:t>10.5.5.11.</a:t>
                      </a:r>
                      <a:r>
                        <a:rPr sz="700" b="0" i="1">
                          <a:solidFill>
                            <a:srgbClr val="000000"/>
                          </a:solidFill>
                          <a:latin typeface="Times New Roman"/>
                        </a:rPr>
                        <a:t> </a:t>
                      </a:r>
                      <a:r>
                        <a:rPr sz="1100" b="0" i="1">
                          <a:solidFill>
                            <a:srgbClr val="000000"/>
                          </a:solidFill>
                          <a:latin typeface="Calibri"/>
                        </a:rPr>
                        <a:t>Switzerland</a:t>
                      </a:r>
                      <a:endParaRPr sz="1100"/>
                    </a:p>
                  </a:txBody>
                  <a:tcPr marL="1028700" marR="9525" marT="9525" marB="0" anchor="ctr"/>
                </a:tc>
              </a:tr>
              <a:tr h="175260">
                <a:tc>
                  <a:txBody>
                    <a:bodyPr wrap="square"/>
                    <a:lstStyle/>
                    <a:p>
                      <a:pPr algn="l"/>
                      <a:r>
                        <a:rPr sz="1100" b="0" i="1">
                          <a:solidFill>
                            <a:srgbClr val="000000"/>
                          </a:solidFill>
                          <a:latin typeface="Calibri"/>
                        </a:rPr>
                        <a:t>10.5.5.12.</a:t>
                      </a:r>
                      <a:r>
                        <a:rPr sz="700" b="0" i="1">
                          <a:solidFill>
                            <a:srgbClr val="000000"/>
                          </a:solidFill>
                          <a:latin typeface="Times New Roman"/>
                        </a:rPr>
                        <a:t> </a:t>
                      </a:r>
                      <a:r>
                        <a:rPr sz="1100" b="0" i="1">
                          <a:solidFill>
                            <a:srgbClr val="000000"/>
                          </a:solidFill>
                          <a:latin typeface="Calibri"/>
                        </a:rPr>
                        <a:t>Rest of Europe</a:t>
                      </a:r>
                      <a:endParaRPr sz="1100"/>
                    </a:p>
                  </a:txBody>
                  <a:tcPr marL="1028700" marR="9525" marT="9525" marB="0" anchor="ctr"/>
                </a:tc>
              </a:tr>
              <a:tr h="175260">
                <a:tc>
                  <a:txBody>
                    <a:bodyPr wrap="square"/>
                    <a:lstStyle/>
                    <a:p>
                      <a:pPr algn="l"/>
                      <a:r>
                        <a:rPr sz="1100" b="0" i="0">
                          <a:solidFill>
                            <a:srgbClr val="000000"/>
                          </a:solidFill>
                          <a:latin typeface="Calibri"/>
                        </a:rPr>
                        <a:t>10.5.6.</a:t>
                      </a:r>
                      <a:r>
                        <a:rPr sz="700" b="0" i="0">
                          <a:solidFill>
                            <a:srgbClr val="000000"/>
                          </a:solidFill>
                          <a:latin typeface="Times New Roman"/>
                        </a:rPr>
                        <a:t> </a:t>
                      </a:r>
                      <a:r>
                        <a:rPr sz="1100" b="0" i="0">
                          <a:solidFill>
                            <a:srgbClr val="000000"/>
                          </a:solidFill>
                          <a:latin typeface="Calibri"/>
                        </a:rPr>
                        <a:t>Middle East &amp; Africa</a:t>
                      </a:r>
                      <a:endParaRPr sz="1100"/>
                    </a:p>
                  </a:txBody>
                  <a:tcPr marL="771525" marR="9525" marT="9525" marB="0" anchor="ctr"/>
                </a:tc>
              </a:tr>
              <a:tr h="175260">
                <a:tc>
                  <a:txBody>
                    <a:bodyPr wrap="square"/>
                    <a:lstStyle/>
                    <a:p>
                      <a:pPr algn="l"/>
                      <a:r>
                        <a:rPr sz="1100" b="0" i="1">
                          <a:solidFill>
                            <a:srgbClr val="000000"/>
                          </a:solidFill>
                          <a:latin typeface="Calibri"/>
                        </a:rPr>
                        <a:t>10.5.6.1.</a:t>
                      </a:r>
                      <a:r>
                        <a:rPr sz="700" b="0" i="1">
                          <a:solidFill>
                            <a:srgbClr val="000000"/>
                          </a:solidFill>
                          <a:latin typeface="Times New Roman"/>
                        </a:rPr>
                        <a:t> </a:t>
                      </a:r>
                      <a:r>
                        <a:rPr sz="1100" b="0" i="1">
                          <a:solidFill>
                            <a:srgbClr val="000000"/>
                          </a:solidFill>
                          <a:latin typeface="Calibri"/>
                        </a:rPr>
                        <a:t>UAE</a:t>
                      </a:r>
                      <a:endParaRPr sz="1100"/>
                    </a:p>
                  </a:txBody>
                  <a:tcPr marL="1028700" marR="9525" marT="9525" marB="0" anchor="ctr"/>
                </a:tc>
              </a:tr>
              <a:tr h="175260">
                <a:tc>
                  <a:txBody>
                    <a:bodyPr wrap="square"/>
                    <a:lstStyle/>
                    <a:p>
                      <a:pPr algn="l"/>
                      <a:r>
                        <a:rPr sz="1100" b="0" i="1">
                          <a:solidFill>
                            <a:srgbClr val="000000"/>
                          </a:solidFill>
                          <a:latin typeface="Calibri"/>
                        </a:rPr>
                        <a:t>10.5.6.2.</a:t>
                      </a:r>
                      <a:r>
                        <a:rPr sz="700" b="0" i="1">
                          <a:solidFill>
                            <a:srgbClr val="000000"/>
                          </a:solidFill>
                          <a:latin typeface="Times New Roman"/>
                        </a:rPr>
                        <a:t> </a:t>
                      </a:r>
                      <a:r>
                        <a:rPr sz="1100" b="0" i="1">
                          <a:solidFill>
                            <a:srgbClr val="000000"/>
                          </a:solidFill>
                          <a:latin typeface="Calibri"/>
                        </a:rPr>
                        <a:t>Saudi Arabia</a:t>
                      </a:r>
                      <a:endParaRPr sz="1100"/>
                    </a:p>
                  </a:txBody>
                  <a:tcPr marL="1028700" marR="9525" marT="9525" marB="0" anchor="ctr"/>
                </a:tc>
              </a:tr>
              <a:tr h="175260">
                <a:tc>
                  <a:txBody>
                    <a:bodyPr wrap="square"/>
                    <a:lstStyle/>
                    <a:p>
                      <a:pPr algn="l"/>
                      <a:r>
                        <a:rPr sz="1100" b="0" i="1">
                          <a:solidFill>
                            <a:srgbClr val="000000"/>
                          </a:solidFill>
                          <a:latin typeface="Calibri"/>
                        </a:rPr>
                        <a:t>10.5.6.3.</a:t>
                      </a:r>
                      <a:r>
                        <a:rPr sz="700" b="0" i="1">
                          <a:solidFill>
                            <a:srgbClr val="000000"/>
                          </a:solidFill>
                          <a:latin typeface="Times New Roman"/>
                        </a:rPr>
                        <a:t> </a:t>
                      </a:r>
                      <a:r>
                        <a:rPr sz="1100" b="0" i="1">
                          <a:solidFill>
                            <a:srgbClr val="000000"/>
                          </a:solidFill>
                          <a:latin typeface="Calibri"/>
                        </a:rPr>
                        <a:t>Turkey</a:t>
                      </a:r>
                      <a:endParaRPr sz="1100"/>
                    </a:p>
                  </a:txBody>
                  <a:tcPr marL="1028700" marR="9525" marT="9525" marB="0" anchor="ctr"/>
                </a:tc>
              </a:tr>
              <a:tr h="175260">
                <a:tc>
                  <a:txBody>
                    <a:bodyPr wrap="square"/>
                    <a:lstStyle/>
                    <a:p>
                      <a:pPr algn="l"/>
                      <a:r>
                        <a:rPr sz="1100" b="0" i="1">
                          <a:solidFill>
                            <a:srgbClr val="000000"/>
                          </a:solidFill>
                          <a:latin typeface="Calibri"/>
                        </a:rPr>
                        <a:t>10.5.6.4.</a:t>
                      </a:r>
                      <a:r>
                        <a:rPr sz="700" b="0" i="1">
                          <a:solidFill>
                            <a:srgbClr val="000000"/>
                          </a:solidFill>
                          <a:latin typeface="Times New Roman"/>
                        </a:rPr>
                        <a:t> </a:t>
                      </a:r>
                      <a:r>
                        <a:rPr sz="1100" b="0" i="1">
                          <a:solidFill>
                            <a:srgbClr val="000000"/>
                          </a:solidFill>
                          <a:latin typeface="Calibri"/>
                        </a:rPr>
                        <a:t>Israel</a:t>
                      </a:r>
                      <a:endParaRPr sz="1100"/>
                    </a:p>
                  </a:txBody>
                  <a:tcPr marL="1028700" marR="9525" marT="9525" marB="0" anchor="ctr"/>
                </a:tc>
              </a:tr>
              <a:tr h="175260">
                <a:tc>
                  <a:txBody>
                    <a:bodyPr wrap="square"/>
                    <a:lstStyle/>
                    <a:p>
                      <a:pPr algn="l"/>
                      <a:r>
                        <a:rPr sz="1100" b="0" i="1">
                          <a:solidFill>
                            <a:srgbClr val="000000"/>
                          </a:solidFill>
                          <a:latin typeface="Calibri"/>
                        </a:rPr>
                        <a:t>10.5.6.5.</a:t>
                      </a:r>
                      <a:r>
                        <a:rPr sz="700" b="0" i="1">
                          <a:solidFill>
                            <a:srgbClr val="000000"/>
                          </a:solidFill>
                          <a:latin typeface="Times New Roman"/>
                        </a:rPr>
                        <a:t> </a:t>
                      </a:r>
                      <a:r>
                        <a:rPr sz="1100" b="0" i="1">
                          <a:solidFill>
                            <a:srgbClr val="000000"/>
                          </a:solidFill>
                          <a:latin typeface="Calibri"/>
                        </a:rPr>
                        <a:t>Rest of GCC</a:t>
                      </a:r>
                      <a:endParaRPr sz="1100"/>
                    </a:p>
                  </a:txBody>
                  <a:tcPr marL="1028700" marR="9525" marT="9525" marB="0" anchor="ctr"/>
                </a:tc>
              </a:tr>
              <a:tr h="175260">
                <a:tc>
                  <a:txBody>
                    <a:bodyPr wrap="square"/>
                    <a:lstStyle/>
                    <a:p>
                      <a:pPr algn="l"/>
                      <a:r>
                        <a:rPr sz="1100" b="0" i="1">
                          <a:solidFill>
                            <a:srgbClr val="000000"/>
                          </a:solidFill>
                          <a:latin typeface="Calibri"/>
                        </a:rPr>
                        <a:t>10.5.6.6.</a:t>
                      </a:r>
                      <a:r>
                        <a:rPr sz="700" b="0" i="1">
                          <a:solidFill>
                            <a:srgbClr val="000000"/>
                          </a:solidFill>
                          <a:latin typeface="Times New Roman"/>
                        </a:rPr>
                        <a:t> </a:t>
                      </a:r>
                      <a:r>
                        <a:rPr sz="1100" b="0" i="1">
                          <a:solidFill>
                            <a:srgbClr val="000000"/>
                          </a:solidFill>
                          <a:latin typeface="Calibri"/>
                        </a:rPr>
                        <a:t>South Africa</a:t>
                      </a:r>
                      <a:endParaRPr sz="1100"/>
                    </a:p>
                  </a:txBody>
                  <a:tcPr marL="1028700" marR="9525" marT="9525" marB="0" anchor="ctr"/>
                </a:tc>
              </a:tr>
              <a:tr h="175260">
                <a:tc>
                  <a:txBody>
                    <a:bodyPr wrap="square"/>
                    <a:lstStyle/>
                    <a:p>
                      <a:pPr algn="l"/>
                      <a:r>
                        <a:rPr sz="1100" b="0" i="1">
                          <a:solidFill>
                            <a:srgbClr val="000000"/>
                          </a:solidFill>
                          <a:latin typeface="Calibri"/>
                        </a:rPr>
                        <a:t>10.5.6.7.</a:t>
                      </a:r>
                      <a:r>
                        <a:rPr sz="700" b="0" i="1">
                          <a:solidFill>
                            <a:srgbClr val="000000"/>
                          </a:solidFill>
                          <a:latin typeface="Times New Roman"/>
                        </a:rPr>
                        <a:t> </a:t>
                      </a:r>
                      <a:r>
                        <a:rPr sz="1100" b="0" i="1">
                          <a:solidFill>
                            <a:srgbClr val="000000"/>
                          </a:solidFill>
                          <a:latin typeface="Calibri"/>
                        </a:rPr>
                        <a:t>Rest of MEA</a:t>
                      </a:r>
                      <a:endParaRPr sz="1100"/>
                    </a:p>
                  </a:txBody>
                  <a:tcPr marL="1028700" marR="9525" marT="9525" marB="0" anchor="ctr"/>
                </a:tc>
              </a:tr>
              <a:tr h="175260">
                <a:tc>
                  <a:txBody>
                    <a:bodyPr wrap="square"/>
                    <a:lstStyle/>
                    <a:p>
                      <a:pPr algn="l"/>
                      <a:r>
                        <a:rPr sz="1100" b="0" i="1">
                          <a:solidFill>
                            <a:srgbClr val="EE0000"/>
                          </a:solidFill>
                          <a:latin typeface="Calibri"/>
                        </a:rPr>
                        <a:t>Note: Value (US$ Mn) &amp; Volume (Units) for all segments will be provided for each region/ country</a:t>
                      </a:r>
                      <a:endParaRPr sz="1100"/>
                    </a:p>
                  </a:txBody>
                  <a:tcPr marL="9525" marR="9525" marT="9525" marB="0" anchor="ctr"/>
                </a:tc>
              </a:tr>
              <a:tr h="175260">
                <a:tc>
                  <a:txBody>
                    <a:bodyPr wrap="square"/>
                    <a:lstStyle/>
                    <a:p>
                      <a:pPr algn="l"/>
                      <a:r>
                        <a:rPr sz="1100" b="1" i="0">
                          <a:solidFill>
                            <a:srgbClr val="000000"/>
                          </a:solidFill>
                          <a:latin typeface="Calibri"/>
                        </a:rPr>
                        <a:t>11.</a:t>
                      </a:r>
                      <a:r>
                        <a:rPr sz="700" b="1" i="0">
                          <a:solidFill>
                            <a:srgbClr val="000000"/>
                          </a:solidFill>
                          <a:latin typeface="Times New Roman"/>
                        </a:rPr>
                        <a:t>    </a:t>
                      </a:r>
                      <a:r>
                        <a:rPr sz="1100" b="1" i="0">
                          <a:solidFill>
                            <a:srgbClr val="000000"/>
                          </a:solidFill>
                          <a:latin typeface="Calibri"/>
                        </a:rPr>
                        <a:t>Global (Parent Market) Organ Preservation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11.1.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11.2.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11.3.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11.4.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11.4.1.</a:t>
                      </a:r>
                      <a:r>
                        <a:rPr sz="700" b="0" i="0">
                          <a:solidFill>
                            <a:srgbClr val="000000"/>
                          </a:solidFill>
                          <a:latin typeface="Times New Roman"/>
                        </a:rPr>
                        <a:t> </a:t>
                      </a:r>
                      <a:r>
                        <a:rPr sz="1100" b="0" i="0">
                          <a:solidFill>
                            <a:srgbClr val="000000"/>
                          </a:solidFill>
                          <a:latin typeface="Calibri"/>
                        </a:rPr>
                        <a:t>Organ Preservation Solutions</a:t>
                      </a:r>
                      <a:endParaRPr sz="1100"/>
                    </a:p>
                  </a:txBody>
                  <a:tcPr marL="771525" marR="9525" marT="9525" marB="0" anchor="ctr"/>
                </a:tc>
              </a:tr>
              <a:tr h="175260">
                <a:tc>
                  <a:txBody>
                    <a:bodyPr wrap="square"/>
                    <a:lstStyle/>
                    <a:p>
                      <a:pPr algn="l"/>
                      <a:r>
                        <a:rPr sz="1100" b="0" i="0">
                          <a:solidFill>
                            <a:srgbClr val="000000"/>
                          </a:solidFill>
                          <a:latin typeface="Calibri"/>
                        </a:rPr>
                        <a:t>11.4.2.</a:t>
                      </a:r>
                      <a:r>
                        <a:rPr sz="700" b="0" i="0">
                          <a:solidFill>
                            <a:srgbClr val="000000"/>
                          </a:solidFill>
                          <a:latin typeface="Times New Roman"/>
                        </a:rPr>
                        <a:t> </a:t>
                      </a:r>
                      <a:r>
                        <a:rPr sz="1100" b="0" i="0">
                          <a:solidFill>
                            <a:srgbClr val="000000"/>
                          </a:solidFill>
                          <a:latin typeface="Calibri"/>
                        </a:rPr>
                        <a:t>Organ Transport Devices (Target Market)</a:t>
                      </a:r>
                      <a:endParaRPr sz="1100"/>
                    </a:p>
                  </a:txBody>
                  <a:tcPr marL="771525" marR="9525" marT="9525" marB="0" anchor="ctr"/>
                </a:tc>
              </a:tr>
              <a:tr h="175260">
                <a:tc>
                  <a:txBody>
                    <a:bodyPr wrap="square"/>
                    <a:lstStyle/>
                    <a:p>
                      <a:pPr algn="l"/>
                      <a:r>
                        <a:rPr sz="1100" b="0" i="0">
                          <a:solidFill>
                            <a:srgbClr val="000000"/>
                          </a:solidFill>
                          <a:latin typeface="Calibri"/>
                        </a:rPr>
                        <a:t>11.4.3.</a:t>
                      </a:r>
                      <a:r>
                        <a:rPr sz="700" b="0" i="0">
                          <a:solidFill>
                            <a:srgbClr val="000000"/>
                          </a:solidFill>
                          <a:latin typeface="Times New Roman"/>
                        </a:rPr>
                        <a:t> </a:t>
                      </a:r>
                      <a:r>
                        <a:rPr sz="1100" b="0" i="0">
                          <a:solidFill>
                            <a:srgbClr val="000000"/>
                          </a:solidFill>
                          <a:latin typeface="Calibri"/>
                        </a:rPr>
                        <a:t>Perfusion Circuits, Cannulas &amp; Consumables</a:t>
                      </a:r>
                      <a:endParaRPr sz="1100"/>
                    </a:p>
                  </a:txBody>
                  <a:tcPr marL="771525" marR="9525" marT="9525" marB="0" anchor="ctr"/>
                </a:tc>
              </a:tr>
              <a:tr h="175260">
                <a:tc>
                  <a:txBody>
                    <a:bodyPr wrap="square"/>
                    <a:lstStyle/>
                    <a:p>
                      <a:pPr algn="l"/>
                      <a:r>
                        <a:rPr sz="1100" b="0" i="0">
                          <a:solidFill>
                            <a:srgbClr val="000000"/>
                          </a:solidFill>
                          <a:latin typeface="Calibri"/>
                        </a:rPr>
                        <a:t>11.4.4.</a:t>
                      </a:r>
                      <a:r>
                        <a:rPr sz="700" b="0" i="0">
                          <a:solidFill>
                            <a:srgbClr val="000000"/>
                          </a:solidFill>
                          <a:latin typeface="Times New Roman"/>
                        </a:rPr>
                        <a:t> </a:t>
                      </a:r>
                      <a:r>
                        <a:rPr sz="1100" b="0" i="0">
                          <a:solidFill>
                            <a:srgbClr val="000000"/>
                          </a:solidFill>
                          <a:latin typeface="Calibri"/>
                        </a:rPr>
                        <a:t>Organ Recovery and Transport Services</a:t>
                      </a:r>
                      <a:endParaRPr sz="1100"/>
                    </a:p>
                  </a:txBody>
                  <a:tcPr marL="771525" marR="9525" marT="9525" marB="0" anchor="ctr"/>
                </a:tc>
              </a:tr>
              <a:tr h="175260">
                <a:tc>
                  <a:txBody>
                    <a:bodyPr wrap="square"/>
                    <a:lstStyle/>
                    <a:p>
                      <a:pPr algn="l"/>
                      <a:r>
                        <a:rPr sz="1100" b="1" i="0">
                          <a:solidFill>
                            <a:srgbClr val="000000"/>
                          </a:solidFill>
                          <a:latin typeface="Calibri"/>
                        </a:rPr>
                        <a:t>12.</a:t>
                      </a:r>
                      <a:r>
                        <a:rPr sz="700" b="1" i="0">
                          <a:solidFill>
                            <a:srgbClr val="000000"/>
                          </a:solidFill>
                          <a:latin typeface="Times New Roman"/>
                        </a:rPr>
                        <a:t>    </a:t>
                      </a:r>
                      <a:r>
                        <a:rPr sz="1100" b="1" i="0">
                          <a:solidFill>
                            <a:srgbClr val="000000"/>
                          </a:solidFill>
                          <a:latin typeface="Calibri"/>
                        </a:rPr>
                        <a:t>Cross-sectional Assessment</a:t>
                      </a:r>
                      <a:endParaRPr sz="1100"/>
                    </a:p>
                  </a:txBody>
                  <a:tcPr marL="171450" marR="9525" marT="9525" marB="0" anchor="ctr"/>
                </a:tc>
              </a:tr>
              <a:tr h="175260">
                <a:tc>
                  <a:txBody>
                    <a:bodyPr wrap="square"/>
                    <a:lstStyle/>
                    <a:p>
                      <a:pPr algn="l"/>
                      <a:r>
                        <a:rPr sz="1100" b="0" i="0">
                          <a:solidFill>
                            <a:srgbClr val="0070C0"/>
                          </a:solidFill>
                          <a:latin typeface="Calibri"/>
                        </a:rPr>
                        <a:t>12.1.</a:t>
                      </a:r>
                      <a:r>
                        <a:rPr sz="700" b="0" i="0">
                          <a:solidFill>
                            <a:srgbClr val="0070C0"/>
                          </a:solidFill>
                          <a:latin typeface="Times New Roman"/>
                        </a:rPr>
                        <a:t>  </a:t>
                      </a:r>
                      <a:r>
                        <a:rPr sz="1100" b="0" i="0">
                          <a:solidFill>
                            <a:srgbClr val="0070C0"/>
                          </a:solidFill>
                          <a:latin typeface="Calibri"/>
                        </a:rPr>
                        <a:t>Device Technology × Organ Compatibility</a:t>
                      </a:r>
                      <a:endParaRPr sz="1100"/>
                    </a:p>
                  </a:txBody>
                  <a:tcPr marL="428625" marR="9525" marT="9525" marB="0" anchor="ctr"/>
                </a:tc>
              </a:tr>
              <a:tr h="175260">
                <a:tc>
                  <a:txBody>
                    <a:bodyPr wrap="square"/>
                    <a:lstStyle/>
                    <a:p>
                      <a:pPr algn="l"/>
                      <a:r>
                        <a:rPr sz="1100" b="0" i="0">
                          <a:solidFill>
                            <a:srgbClr val="0070C0"/>
                          </a:solidFill>
                          <a:latin typeface="Calibri"/>
                        </a:rPr>
                        <a:t>12.2.</a:t>
                      </a:r>
                      <a:r>
                        <a:rPr sz="700" b="0" i="0">
                          <a:solidFill>
                            <a:srgbClr val="0070C0"/>
                          </a:solidFill>
                          <a:latin typeface="Times New Roman"/>
                        </a:rPr>
                        <a:t>  </a:t>
                      </a:r>
                      <a:r>
                        <a:rPr sz="1100" b="0" i="0">
                          <a:solidFill>
                            <a:srgbClr val="0070C0"/>
                          </a:solidFill>
                          <a:latin typeface="Calibri"/>
                        </a:rPr>
                        <a:t>Monitoring Capability × Purchasing Organisation</a:t>
                      </a:r>
                      <a:endParaRPr sz="1100"/>
                    </a:p>
                  </a:txBody>
                  <a:tcPr marL="428625" marR="9525" marT="9525" marB="0" anchor="ctr"/>
                </a:tc>
              </a:tr>
              <a:tr h="175260">
                <a:tc>
                  <a:txBody>
                    <a:bodyPr wrap="square"/>
                    <a:lstStyle/>
                    <a:p>
                      <a:pPr algn="l"/>
                      <a:r>
                        <a:rPr sz="1100" b="0" i="0">
                          <a:solidFill>
                            <a:srgbClr val="0070C0"/>
                          </a:solidFill>
                          <a:latin typeface="Calibri"/>
                        </a:rPr>
                        <a:t>12.3.</a:t>
                      </a:r>
                      <a:r>
                        <a:rPr sz="700" b="0" i="0">
                          <a:solidFill>
                            <a:srgbClr val="0070C0"/>
                          </a:solidFill>
                          <a:latin typeface="Times New Roman"/>
                        </a:rPr>
                        <a:t>  </a:t>
                      </a:r>
                      <a:r>
                        <a:rPr sz="1100" b="0" i="0">
                          <a:solidFill>
                            <a:srgbClr val="0070C0"/>
                          </a:solidFill>
                          <a:latin typeface="Calibri"/>
                        </a:rPr>
                        <a:t>Device Reusability × Sales Channel</a:t>
                      </a:r>
                      <a:endParaRPr sz="1100"/>
                    </a:p>
                  </a:txBody>
                  <a:tcPr marL="428625" marR="9525" marT="9525" marB="0" anchor="ctr"/>
                </a:tc>
              </a:tr>
              <a:tr h="175260">
                <a:tc>
                  <a:txBody>
                    <a:bodyPr wrap="square"/>
                    <a:lstStyle/>
                    <a:p>
                      <a:pPr algn="l"/>
                      <a:r>
                        <a:rPr sz="1100" b="0" i="0">
                          <a:solidFill>
                            <a:srgbClr val="0070C0"/>
                          </a:solidFill>
                          <a:latin typeface="Calibri"/>
                        </a:rPr>
                        <a:t>12.4.</a:t>
                      </a:r>
                      <a:r>
                        <a:rPr sz="700" b="0" i="0">
                          <a:solidFill>
                            <a:srgbClr val="0070C0"/>
                          </a:solidFill>
                          <a:latin typeface="Times New Roman"/>
                        </a:rPr>
                        <a:t>  </a:t>
                      </a:r>
                      <a:r>
                        <a:rPr sz="1100" b="0" i="0">
                          <a:solidFill>
                            <a:srgbClr val="0070C0"/>
                          </a:solidFill>
                          <a:latin typeface="Calibri"/>
                        </a:rPr>
                        <a:t>Region × Device Technology</a:t>
                      </a:r>
                      <a:endParaRPr sz="1100"/>
                    </a:p>
                  </a:txBody>
                  <a:tcPr marL="428625" marR="9525" marT="9525" marB="0" anchor="ctr"/>
                </a:tc>
              </a:tr>
              <a:tr h="175260">
                <a:tc>
                  <a:txBody>
                    <a:bodyPr wrap="square"/>
                    <a:lstStyle/>
                    <a:p>
                      <a:pPr algn="l"/>
                      <a:r>
                        <a:rPr sz="1100" b="0" i="1">
                          <a:solidFill>
                            <a:srgbClr val="EE0000"/>
                          </a:solidFill>
                          <a:latin typeface="Calibri"/>
                        </a:rPr>
                        <a:t>Note: Cross Sectional Assessment shall be provided on custom request</a:t>
                      </a:r>
                      <a:endParaRPr sz="110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(4/7)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Section 2: Regional and Country Market Outlook</a:t>
                      </a:r>
                      <a:endParaRPr sz="1100"/>
                    </a:p>
                  </a:txBody>
                  <a:tcPr marL="9525" marR="9525" marT="9525" marB="0" anchor="ctr"/>
                </a:tc>
              </a:tr>
              <a:tr h="175260">
                <a:tc>
                  <a:txBody>
                    <a:bodyPr wrap="square"/>
                    <a:lstStyle/>
                    <a:p>
                      <a:pPr algn="l"/>
                      <a:r>
                        <a:rPr sz="1100" b="1" i="0">
                          <a:solidFill>
                            <a:srgbClr val="000000"/>
                          </a:solidFill>
                          <a:latin typeface="Calibri"/>
                        </a:rPr>
                        <a:t>13.</a:t>
                      </a:r>
                      <a:r>
                        <a:rPr sz="700" b="1" i="0">
                          <a:solidFill>
                            <a:srgbClr val="000000"/>
                          </a:solidFill>
                          <a:latin typeface="Times New Roman"/>
                        </a:rPr>
                        <a:t>    </a:t>
                      </a:r>
                      <a:r>
                        <a:rPr sz="1100" b="1" i="0">
                          <a:solidFill>
                            <a:srgbClr val="000000"/>
                          </a:solidFill>
                          <a:latin typeface="Calibri"/>
                        </a:rPr>
                        <a:t>North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13.1.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13.2.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13.3.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13.4.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13.4.1.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13.4.2.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13.4.3.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13.4.4.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13.4.5.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13.4.6.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13.4.7.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14.</a:t>
                      </a:r>
                      <a:r>
                        <a:rPr sz="700" b="1" i="0">
                          <a:solidFill>
                            <a:srgbClr val="000000"/>
                          </a:solidFill>
                          <a:latin typeface="Times New Roman"/>
                        </a:rPr>
                        <a:t>    </a:t>
                      </a:r>
                      <a:r>
                        <a:rPr sz="1100" b="1" i="0">
                          <a:solidFill>
                            <a:srgbClr val="000000"/>
                          </a:solidFill>
                          <a:latin typeface="Calibri"/>
                        </a:rPr>
                        <a:t>Latin America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14.1.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14.2.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14.3.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14.4.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14.4.1.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14.4.2.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14.4.3.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14.4.4.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14.4.5.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14.4.6.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14.4.7.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15.</a:t>
                      </a:r>
                      <a:r>
                        <a:rPr sz="700" b="1" i="0">
                          <a:solidFill>
                            <a:srgbClr val="000000"/>
                          </a:solidFill>
                          <a:latin typeface="Times New Roman"/>
                        </a:rPr>
                        <a:t>    </a:t>
                      </a:r>
                      <a:r>
                        <a:rPr sz="1100" b="1" i="0">
                          <a:solidFill>
                            <a:srgbClr val="000000"/>
                          </a:solidFill>
                          <a:latin typeface="Calibri"/>
                        </a:rPr>
                        <a:t>Europe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15.1.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15.2.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15.3.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15.4.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15.4.1.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15.4.2.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15.4.3.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15.4.4.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15.4.5.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15.4.6.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15.4.7.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16.</a:t>
                      </a:r>
                      <a:r>
                        <a:rPr sz="700" b="1" i="0">
                          <a:solidFill>
                            <a:srgbClr val="000000"/>
                          </a:solidFill>
                          <a:latin typeface="Times New Roman"/>
                        </a:rPr>
                        <a:t>    </a:t>
                      </a:r>
                      <a:r>
                        <a:rPr sz="1100" b="1" i="0">
                          <a:solidFill>
                            <a:srgbClr val="000000"/>
                          </a:solidFill>
                          <a:latin typeface="Calibri"/>
                        </a:rPr>
                        <a:t>East Asia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16.1.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16.2.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16.3.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16.4.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16.4.1.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16.4.2.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16.4.3.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16.4.4.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16.4.5.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16.4.6.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16.4.7.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17.</a:t>
                      </a:r>
                      <a:r>
                        <a:rPr sz="700" b="1" i="0">
                          <a:solidFill>
                            <a:srgbClr val="000000"/>
                          </a:solidFill>
                          <a:latin typeface="Times New Roman"/>
                        </a:rPr>
                        <a:t>    </a:t>
                      </a:r>
                      <a:r>
                        <a:rPr sz="1100" b="1" i="0">
                          <a:solidFill>
                            <a:srgbClr val="000000"/>
                          </a:solidFill>
                          <a:latin typeface="Calibri"/>
                        </a:rPr>
                        <a:t>South Asia &amp; Pacific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17.1.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17.2.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17.3.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17.4.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17.4.1.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17.4.2.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17.4.3.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17.4.4.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17.4.5.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17.4.6.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(5/7)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17.4.7.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18.</a:t>
                      </a:r>
                      <a:r>
                        <a:rPr sz="700" b="1" i="0">
                          <a:solidFill>
                            <a:srgbClr val="000000"/>
                          </a:solidFill>
                          <a:latin typeface="Times New Roman"/>
                        </a:rPr>
                        <a:t>    </a:t>
                      </a:r>
                      <a:r>
                        <a:rPr sz="1100" b="1" i="0">
                          <a:solidFill>
                            <a:srgbClr val="000000"/>
                          </a:solidFill>
                          <a:latin typeface="Calibri"/>
                        </a:rPr>
                        <a:t>Middle East &amp; Africa Market Size (Value &amp; Volume) 2021–2036</a:t>
                      </a:r>
                      <a:endParaRPr sz="1100"/>
                    </a:p>
                  </a:txBody>
                  <a:tcPr marL="171450" marR="9525" marT="9525" marB="0" anchor="ctr"/>
                </a:tc>
              </a:tr>
              <a:tr h="175260">
                <a:tc>
                  <a:txBody>
                    <a:bodyPr wrap="square"/>
                    <a:lstStyle/>
                    <a:p>
                      <a:pPr algn="l"/>
                      <a:r>
                        <a:rPr sz="1100" b="0" i="0">
                          <a:solidFill>
                            <a:srgbClr val="0070C0"/>
                          </a:solidFill>
                          <a:latin typeface="Calibri"/>
                        </a:rPr>
                        <a:t>18.1.</a:t>
                      </a:r>
                      <a:r>
                        <a:rPr sz="700" b="0" i="0">
                          <a:solidFill>
                            <a:srgbClr val="0070C0"/>
                          </a:solidFill>
                          <a:latin typeface="Times New Roman"/>
                        </a:rPr>
                        <a:t>  </a:t>
                      </a:r>
                      <a:r>
                        <a:rPr sz="1100" b="0" i="0">
                          <a:solidFill>
                            <a:srgbClr val="0070C0"/>
                          </a:solidFill>
                          <a:latin typeface="Calibri"/>
                        </a:rPr>
                        <a:t>2021–2025: Historical Analysis</a:t>
                      </a:r>
                      <a:endParaRPr sz="1100"/>
                    </a:p>
                  </a:txBody>
                  <a:tcPr marL="428625" marR="9525" marT="9525" marB="0" anchor="ctr"/>
                </a:tc>
              </a:tr>
              <a:tr h="175260">
                <a:tc>
                  <a:txBody>
                    <a:bodyPr wrap="square"/>
                    <a:lstStyle/>
                    <a:p>
                      <a:pPr algn="l"/>
                      <a:r>
                        <a:rPr sz="1100" b="0" i="0">
                          <a:solidFill>
                            <a:srgbClr val="0070C0"/>
                          </a:solidFill>
                          <a:latin typeface="Calibri"/>
                        </a:rPr>
                        <a:t>18.2.</a:t>
                      </a:r>
                      <a:r>
                        <a:rPr sz="700" b="0" i="0">
                          <a:solidFill>
                            <a:srgbClr val="0070C0"/>
                          </a:solidFill>
                          <a:latin typeface="Times New Roman"/>
                        </a:rPr>
                        <a:t>  </a:t>
                      </a:r>
                      <a:r>
                        <a:rPr sz="1100" b="0" i="0">
                          <a:solidFill>
                            <a:srgbClr val="0070C0"/>
                          </a:solidFill>
                          <a:latin typeface="Calibri"/>
                        </a:rPr>
                        <a:t>2026–2036: Forecast Outlook</a:t>
                      </a:r>
                      <a:endParaRPr sz="1100"/>
                    </a:p>
                  </a:txBody>
                  <a:tcPr marL="428625" marR="9525" marT="9525" marB="0" anchor="ctr"/>
                </a:tc>
              </a:tr>
              <a:tr h="175260">
                <a:tc>
                  <a:txBody>
                    <a:bodyPr wrap="square"/>
                    <a:lstStyle/>
                    <a:p>
                      <a:pPr algn="l"/>
                      <a:r>
                        <a:rPr sz="1100" b="0" i="0">
                          <a:solidFill>
                            <a:srgbClr val="0070C0"/>
                          </a:solidFill>
                          <a:latin typeface="Calibri"/>
                        </a:rPr>
                        <a:t>18.3.</a:t>
                      </a:r>
                      <a:r>
                        <a:rPr sz="700" b="0" i="0">
                          <a:solidFill>
                            <a:srgbClr val="0070C0"/>
                          </a:solidFill>
                          <a:latin typeface="Times New Roman"/>
                        </a:rPr>
                        <a:t>  </a:t>
                      </a:r>
                      <a:r>
                        <a:rPr sz="1100" b="0" i="0">
                          <a:solidFill>
                            <a:srgbClr val="0070C0"/>
                          </a:solidFill>
                          <a:latin typeface="Calibri"/>
                        </a:rPr>
                        <a:t>Y-o-Y Growth Trend Analysis</a:t>
                      </a:r>
                      <a:endParaRPr sz="1100"/>
                    </a:p>
                  </a:txBody>
                  <a:tcPr marL="428625" marR="9525" marT="9525" marB="0" anchor="ctr"/>
                </a:tc>
              </a:tr>
              <a:tr h="175260">
                <a:tc>
                  <a:txBody>
                    <a:bodyPr wrap="square"/>
                    <a:lstStyle/>
                    <a:p>
                      <a:pPr algn="l"/>
                      <a:r>
                        <a:rPr sz="1100" b="0" i="0">
                          <a:solidFill>
                            <a:srgbClr val="0070C0"/>
                          </a:solidFill>
                          <a:latin typeface="Calibri"/>
                        </a:rPr>
                        <a:t>18.4.</a:t>
                      </a:r>
                      <a:r>
                        <a:rPr sz="700" b="0" i="0">
                          <a:solidFill>
                            <a:srgbClr val="0070C0"/>
                          </a:solidFill>
                          <a:latin typeface="Times New Roman"/>
                        </a:rPr>
                        <a:t>  </a:t>
                      </a:r>
                      <a:r>
                        <a:rPr sz="1100" b="0" i="0">
                          <a:solidFill>
                            <a:srgbClr val="0070C0"/>
                          </a:solidFill>
                          <a:latin typeface="Calibri"/>
                        </a:rPr>
                        <a:t>Absolute $ Opportunity Analysis</a:t>
                      </a:r>
                      <a:endParaRPr sz="1100"/>
                    </a:p>
                  </a:txBody>
                  <a:tcPr marL="428625" marR="9525" marT="9525" marB="0" anchor="ctr"/>
                </a:tc>
              </a:tr>
              <a:tr h="175260">
                <a:tc>
                  <a:txBody>
                    <a:bodyPr wrap="square"/>
                    <a:lstStyle/>
                    <a:p>
                      <a:pPr algn="l"/>
                      <a:r>
                        <a:rPr sz="1100" b="0" i="0">
                          <a:solidFill>
                            <a:srgbClr val="000000"/>
                          </a:solidFill>
                          <a:latin typeface="Calibri"/>
                        </a:rPr>
                        <a:t>18.4.1.</a:t>
                      </a:r>
                      <a:r>
                        <a:rPr sz="700" b="0" i="0">
                          <a:solidFill>
                            <a:srgbClr val="000000"/>
                          </a:solidFill>
                          <a:latin typeface="Times New Roman"/>
                        </a:rPr>
                        <a:t> </a:t>
                      </a:r>
                      <a:r>
                        <a:rPr sz="1100" b="0" i="0">
                          <a:solidFill>
                            <a:srgbClr val="000000"/>
                          </a:solidFill>
                          <a:latin typeface="Calibri"/>
                        </a:rPr>
                        <a:t>By Device Technology</a:t>
                      </a:r>
                      <a:endParaRPr sz="1100"/>
                    </a:p>
                  </a:txBody>
                  <a:tcPr marL="771525" marR="9525" marT="9525" marB="0" anchor="ctr"/>
                </a:tc>
              </a:tr>
              <a:tr h="175260">
                <a:tc>
                  <a:txBody>
                    <a:bodyPr wrap="square"/>
                    <a:lstStyle/>
                    <a:p>
                      <a:pPr algn="l"/>
                      <a:r>
                        <a:rPr sz="1100" b="0" i="0">
                          <a:solidFill>
                            <a:srgbClr val="000000"/>
                          </a:solidFill>
                          <a:latin typeface="Calibri"/>
                        </a:rPr>
                        <a:t>18.4.2.</a:t>
                      </a:r>
                      <a:r>
                        <a:rPr sz="700" b="0" i="0">
                          <a:solidFill>
                            <a:srgbClr val="000000"/>
                          </a:solidFill>
                          <a:latin typeface="Times New Roman"/>
                        </a:rPr>
                        <a:t> </a:t>
                      </a:r>
                      <a:r>
                        <a:rPr sz="1100" b="0" i="0">
                          <a:solidFill>
                            <a:srgbClr val="000000"/>
                          </a:solidFill>
                          <a:latin typeface="Calibri"/>
                        </a:rPr>
                        <a:t>By Organ Compatibility</a:t>
                      </a:r>
                      <a:endParaRPr sz="1100"/>
                    </a:p>
                  </a:txBody>
                  <a:tcPr marL="771525" marR="9525" marT="9525" marB="0" anchor="ctr"/>
                </a:tc>
              </a:tr>
              <a:tr h="175260">
                <a:tc>
                  <a:txBody>
                    <a:bodyPr wrap="square"/>
                    <a:lstStyle/>
                    <a:p>
                      <a:pPr algn="l"/>
                      <a:r>
                        <a:rPr sz="1100" b="0" i="0">
                          <a:solidFill>
                            <a:srgbClr val="000000"/>
                          </a:solidFill>
                          <a:latin typeface="Calibri"/>
                        </a:rPr>
                        <a:t>18.4.3.</a:t>
                      </a:r>
                      <a:r>
                        <a:rPr sz="700" b="0" i="0">
                          <a:solidFill>
                            <a:srgbClr val="000000"/>
                          </a:solidFill>
                          <a:latin typeface="Times New Roman"/>
                        </a:rPr>
                        <a:t> </a:t>
                      </a:r>
                      <a:r>
                        <a:rPr sz="1100" b="0" i="0">
                          <a:solidFill>
                            <a:srgbClr val="000000"/>
                          </a:solidFill>
                          <a:latin typeface="Calibri"/>
                        </a:rPr>
                        <a:t>By Device Reusability</a:t>
                      </a:r>
                      <a:endParaRPr sz="1100"/>
                    </a:p>
                  </a:txBody>
                  <a:tcPr marL="771525" marR="9525" marT="9525" marB="0" anchor="ctr"/>
                </a:tc>
              </a:tr>
              <a:tr h="175260">
                <a:tc>
                  <a:txBody>
                    <a:bodyPr wrap="square"/>
                    <a:lstStyle/>
                    <a:p>
                      <a:pPr algn="l"/>
                      <a:r>
                        <a:rPr sz="1100" b="0" i="0">
                          <a:solidFill>
                            <a:srgbClr val="000000"/>
                          </a:solidFill>
                          <a:latin typeface="Calibri"/>
                        </a:rPr>
                        <a:t>18.4.4.</a:t>
                      </a:r>
                      <a:r>
                        <a:rPr sz="700" b="0" i="0">
                          <a:solidFill>
                            <a:srgbClr val="000000"/>
                          </a:solidFill>
                          <a:latin typeface="Times New Roman"/>
                        </a:rPr>
                        <a:t> </a:t>
                      </a:r>
                      <a:r>
                        <a:rPr sz="1100" b="0" i="0">
                          <a:solidFill>
                            <a:srgbClr val="000000"/>
                          </a:solidFill>
                          <a:latin typeface="Calibri"/>
                        </a:rPr>
                        <a:t>By Monitoring Capability</a:t>
                      </a:r>
                      <a:endParaRPr sz="1100"/>
                    </a:p>
                  </a:txBody>
                  <a:tcPr marL="771525" marR="9525" marT="9525" marB="0" anchor="ctr"/>
                </a:tc>
              </a:tr>
              <a:tr h="175260">
                <a:tc>
                  <a:txBody>
                    <a:bodyPr wrap="square"/>
                    <a:lstStyle/>
                    <a:p>
                      <a:pPr algn="l"/>
                      <a:r>
                        <a:rPr sz="1100" b="0" i="0">
                          <a:solidFill>
                            <a:srgbClr val="000000"/>
                          </a:solidFill>
                          <a:latin typeface="Calibri"/>
                        </a:rPr>
                        <a:t>18.4.5.</a:t>
                      </a:r>
                      <a:r>
                        <a:rPr sz="700" b="0" i="0">
                          <a:solidFill>
                            <a:srgbClr val="000000"/>
                          </a:solidFill>
                          <a:latin typeface="Times New Roman"/>
                        </a:rPr>
                        <a:t> </a:t>
                      </a:r>
                      <a:r>
                        <a:rPr sz="1100" b="0" i="0">
                          <a:solidFill>
                            <a:srgbClr val="000000"/>
                          </a:solidFill>
                          <a:latin typeface="Calibri"/>
                        </a:rPr>
                        <a:t>By Purchasing Organisation</a:t>
                      </a:r>
                      <a:endParaRPr sz="1100"/>
                    </a:p>
                  </a:txBody>
                  <a:tcPr marL="771525" marR="9525" marT="9525" marB="0" anchor="ctr"/>
                </a:tc>
              </a:tr>
              <a:tr h="175260">
                <a:tc>
                  <a:txBody>
                    <a:bodyPr wrap="square"/>
                    <a:lstStyle/>
                    <a:p>
                      <a:pPr algn="l"/>
                      <a:r>
                        <a:rPr sz="1100" b="0" i="0">
                          <a:solidFill>
                            <a:srgbClr val="000000"/>
                          </a:solidFill>
                          <a:latin typeface="Calibri"/>
                        </a:rPr>
                        <a:t>18.4.6.</a:t>
                      </a:r>
                      <a:r>
                        <a:rPr sz="700" b="0" i="0">
                          <a:solidFill>
                            <a:srgbClr val="000000"/>
                          </a:solidFill>
                          <a:latin typeface="Times New Roman"/>
                        </a:rPr>
                        <a:t> </a:t>
                      </a:r>
                      <a:r>
                        <a:rPr sz="1100" b="0" i="0">
                          <a:solidFill>
                            <a:srgbClr val="000000"/>
                          </a:solidFill>
                          <a:latin typeface="Calibri"/>
                        </a:rPr>
                        <a:t>By Sales Channel</a:t>
                      </a:r>
                      <a:endParaRPr sz="1100"/>
                    </a:p>
                  </a:txBody>
                  <a:tcPr marL="771525" marR="9525" marT="9525" marB="0" anchor="ctr"/>
                </a:tc>
              </a:tr>
              <a:tr h="175260">
                <a:tc>
                  <a:txBody>
                    <a:bodyPr wrap="square"/>
                    <a:lstStyle/>
                    <a:p>
                      <a:pPr algn="l"/>
                      <a:r>
                        <a:rPr sz="1100" b="0" i="0">
                          <a:solidFill>
                            <a:srgbClr val="000000"/>
                          </a:solidFill>
                          <a:latin typeface="Calibri"/>
                        </a:rPr>
                        <a:t>18.4.7.</a:t>
                      </a:r>
                      <a:r>
                        <a:rPr sz="700" b="0" i="0">
                          <a:solidFill>
                            <a:srgbClr val="000000"/>
                          </a:solidFill>
                          <a:latin typeface="Times New Roman"/>
                        </a:rPr>
                        <a:t> </a:t>
                      </a:r>
                      <a:r>
                        <a:rPr sz="1100" b="0" i="0">
                          <a:solidFill>
                            <a:srgbClr val="000000"/>
                          </a:solidFill>
                          <a:latin typeface="Calibri"/>
                        </a:rPr>
                        <a:t>By Country</a:t>
                      </a:r>
                      <a:endParaRPr sz="1100"/>
                    </a:p>
                  </a:txBody>
                  <a:tcPr marL="771525" marR="9525" marT="9525" marB="0" anchor="ctr"/>
                </a:tc>
              </a:tr>
              <a:tr h="175260">
                <a:tc>
                  <a:txBody>
                    <a:bodyPr wrap="square"/>
                    <a:lstStyle/>
                    <a:p>
                      <a:pPr algn="l"/>
                      <a:r>
                        <a:rPr sz="1100" b="1" i="0">
                          <a:solidFill>
                            <a:srgbClr val="000000"/>
                          </a:solidFill>
                          <a:latin typeface="Calibri"/>
                        </a:rPr>
                        <a:t>Section 3: Pricing, Cost, and Margin Assessment</a:t>
                      </a:r>
                      <a:endParaRPr sz="1100"/>
                    </a:p>
                  </a:txBody>
                  <a:tcPr marL="9525" marR="9525" marT="9525" marB="0" anchor="ctr"/>
                </a:tc>
              </a:tr>
              <a:tr h="175260">
                <a:tc>
                  <a:txBody>
                    <a:bodyPr wrap="square"/>
                    <a:lstStyle/>
                    <a:p>
                      <a:pPr algn="l"/>
                      <a:r>
                        <a:rPr sz="1100" b="1" i="0">
                          <a:solidFill>
                            <a:srgbClr val="000000"/>
                          </a:solidFill>
                          <a:latin typeface="Calibri"/>
                        </a:rPr>
                        <a:t>19.</a:t>
                      </a:r>
                      <a:r>
                        <a:rPr sz="700" b="1" i="0">
                          <a:solidFill>
                            <a:srgbClr val="000000"/>
                          </a:solidFill>
                          <a:latin typeface="Times New Roman"/>
                        </a:rPr>
                        <a:t>    </a:t>
                      </a:r>
                      <a:r>
                        <a:rPr sz="1100" b="1" i="0">
                          <a:solidFill>
                            <a:srgbClr val="000000"/>
                          </a:solidFill>
                          <a:latin typeface="Calibri"/>
                        </a:rPr>
                        <a:t>Pricing, Cost, and Margin Analysis</a:t>
                      </a:r>
                      <a:endParaRPr sz="1100"/>
                    </a:p>
                  </a:txBody>
                  <a:tcPr marL="171450" marR="9525" marT="9525" marB="0" anchor="ctr"/>
                </a:tc>
              </a:tr>
              <a:tr h="175260">
                <a:tc>
                  <a:txBody>
                    <a:bodyPr wrap="square"/>
                    <a:lstStyle/>
                    <a:p>
                      <a:pPr algn="l"/>
                      <a:r>
                        <a:rPr sz="1100" b="0" i="0">
                          <a:solidFill>
                            <a:srgbClr val="0070C0"/>
                          </a:solidFill>
                          <a:latin typeface="Calibri"/>
                        </a:rPr>
                        <a:t>19.1.</a:t>
                      </a:r>
                      <a:r>
                        <a:rPr sz="700" b="0" i="0">
                          <a:solidFill>
                            <a:srgbClr val="0070C0"/>
                          </a:solidFill>
                          <a:latin typeface="Times New Roman"/>
                        </a:rPr>
                        <a:t>  </a:t>
                      </a:r>
                      <a:r>
                        <a:rPr sz="1100" b="0" i="0">
                          <a:solidFill>
                            <a:srgbClr val="0070C0"/>
                          </a:solidFill>
                          <a:latin typeface="Calibri"/>
                        </a:rPr>
                        <a:t>Device Price Benchmarking by Technology, Organ Type, and Manufacturer</a:t>
                      </a:r>
                      <a:endParaRPr sz="1100"/>
                    </a:p>
                  </a:txBody>
                  <a:tcPr marL="428625" marR="9525" marT="9525" marB="0" anchor="ctr"/>
                </a:tc>
              </a:tr>
              <a:tr h="175260">
                <a:tc>
                  <a:txBody>
                    <a:bodyPr wrap="square"/>
                    <a:lstStyle/>
                    <a:p>
                      <a:pPr algn="l"/>
                      <a:r>
                        <a:rPr sz="1100" b="0" i="0">
                          <a:solidFill>
                            <a:srgbClr val="0070C0"/>
                          </a:solidFill>
                          <a:latin typeface="Calibri"/>
                        </a:rPr>
                        <a:t>19.2.</a:t>
                      </a:r>
                      <a:r>
                        <a:rPr sz="700" b="0" i="0">
                          <a:solidFill>
                            <a:srgbClr val="0070C0"/>
                          </a:solidFill>
                          <a:latin typeface="Times New Roman"/>
                        </a:rPr>
                        <a:t>  </a:t>
                      </a:r>
                      <a:r>
                        <a:rPr sz="1100" b="0" i="0">
                          <a:solidFill>
                            <a:srgbClr val="0070C0"/>
                          </a:solidFill>
                          <a:latin typeface="Calibri"/>
                        </a:rPr>
                        <a:t>Capital Equipment Acquisition and Leasing Costs</a:t>
                      </a:r>
                      <a:endParaRPr sz="1100"/>
                    </a:p>
                  </a:txBody>
                  <a:tcPr marL="428625" marR="9525" marT="9525" marB="0" anchor="ctr"/>
                </a:tc>
              </a:tr>
              <a:tr h="175260">
                <a:tc>
                  <a:txBody>
                    <a:bodyPr wrap="square"/>
                    <a:lstStyle/>
                    <a:p>
                      <a:pPr algn="l"/>
                      <a:r>
                        <a:rPr sz="1100" b="0" i="0">
                          <a:solidFill>
                            <a:srgbClr val="0070C0"/>
                          </a:solidFill>
                          <a:latin typeface="Calibri"/>
                        </a:rPr>
                        <a:t>19.3.</a:t>
                      </a:r>
                      <a:r>
                        <a:rPr sz="700" b="0" i="0">
                          <a:solidFill>
                            <a:srgbClr val="0070C0"/>
                          </a:solidFill>
                          <a:latin typeface="Times New Roman"/>
                        </a:rPr>
                        <a:t>  </a:t>
                      </a:r>
                      <a:r>
                        <a:rPr sz="1100" b="0" i="0">
                          <a:solidFill>
                            <a:srgbClr val="0070C0"/>
                          </a:solidFill>
                          <a:latin typeface="Calibri"/>
                        </a:rPr>
                        <a:t>Per-Procedure Costs of Static Cold Storage versus Machine Perfusion</a:t>
                      </a:r>
                      <a:endParaRPr sz="1100"/>
                    </a:p>
                  </a:txBody>
                  <a:tcPr marL="428625" marR="9525" marT="9525" marB="0" anchor="ctr"/>
                </a:tc>
              </a:tr>
              <a:tr h="175260">
                <a:tc>
                  <a:txBody>
                    <a:bodyPr wrap="square"/>
                    <a:lstStyle/>
                    <a:p>
                      <a:pPr algn="l"/>
                      <a:r>
                        <a:rPr sz="1100" b="0" i="0">
                          <a:solidFill>
                            <a:srgbClr val="0070C0"/>
                          </a:solidFill>
                          <a:latin typeface="Calibri"/>
                        </a:rPr>
                        <a:t>19.4.</a:t>
                      </a:r>
                      <a:r>
                        <a:rPr sz="700" b="0" i="0">
                          <a:solidFill>
                            <a:srgbClr val="0070C0"/>
                          </a:solidFill>
                          <a:latin typeface="Times New Roman"/>
                        </a:rPr>
                        <a:t>  </a:t>
                      </a:r>
                      <a:r>
                        <a:rPr sz="1100" b="0" i="0">
                          <a:solidFill>
                            <a:srgbClr val="0070C0"/>
                          </a:solidFill>
                          <a:latin typeface="Calibri"/>
                        </a:rPr>
                        <a:t>Disposable Circuit, Preservation Solution, and Accessory Pricing</a:t>
                      </a:r>
                      <a:endParaRPr sz="1100"/>
                    </a:p>
                  </a:txBody>
                  <a:tcPr marL="428625" marR="9525" marT="9525" marB="0" anchor="ctr"/>
                </a:tc>
              </a:tr>
              <a:tr h="175260">
                <a:tc>
                  <a:txBody>
                    <a:bodyPr wrap="square"/>
                    <a:lstStyle/>
                    <a:p>
                      <a:pPr algn="l"/>
                      <a:r>
                        <a:rPr sz="1100" b="0" i="0">
                          <a:solidFill>
                            <a:srgbClr val="0070C0"/>
                          </a:solidFill>
                          <a:latin typeface="Calibri"/>
                        </a:rPr>
                        <a:t>19.5.</a:t>
                      </a:r>
                      <a:r>
                        <a:rPr sz="700" b="0" i="0">
                          <a:solidFill>
                            <a:srgbClr val="0070C0"/>
                          </a:solidFill>
                          <a:latin typeface="Times New Roman"/>
                        </a:rPr>
                        <a:t>  </a:t>
                      </a:r>
                      <a:r>
                        <a:rPr sz="1100" b="0" i="0">
                          <a:solidFill>
                            <a:srgbClr val="0070C0"/>
                          </a:solidFill>
                          <a:latin typeface="Calibri"/>
                        </a:rPr>
                        <a:t>Total Cost of Ownership, including Servicing and Maintenance</a:t>
                      </a:r>
                      <a:endParaRPr sz="1100"/>
                    </a:p>
                  </a:txBody>
                  <a:tcPr marL="428625" marR="9525" marT="9525" marB="0" anchor="ctr"/>
                </a:tc>
              </a:tr>
              <a:tr h="350520">
                <a:tc>
                  <a:txBody>
                    <a:bodyPr wrap="square"/>
                    <a:lstStyle/>
                    <a:p>
                      <a:pPr algn="l"/>
                      <a:r>
                        <a:rPr sz="1100" b="0" i="0">
                          <a:solidFill>
                            <a:srgbClr val="0070C0"/>
                          </a:solidFill>
                          <a:latin typeface="Calibri"/>
                        </a:rPr>
                        <a:t>19.6.</a:t>
                      </a:r>
                      <a:r>
                        <a:rPr sz="700" b="0" i="0">
                          <a:solidFill>
                            <a:srgbClr val="0070C0"/>
                          </a:solidFill>
                          <a:latin typeface="Times New Roman"/>
                        </a:rPr>
                        <a:t>  </a:t>
                      </a:r>
                      <a:r>
                        <a:rPr sz="1100" b="0" i="0">
                          <a:solidFill>
                            <a:srgbClr val="0070C0"/>
                          </a:solidFill>
                          <a:latin typeface="Calibri"/>
                        </a:rPr>
                        <a:t>Procurement Pricing across Transplant Hospitals and Organ Procurement Organisations</a:t>
                      </a:r>
                      <a:endParaRPr sz="1100"/>
                    </a:p>
                  </a:txBody>
                  <a:tcPr marL="428625" marR="9525" marT="9525" marB="0" anchor="ctr"/>
                </a:tc>
              </a:tr>
              <a:tr h="175260">
                <a:tc>
                  <a:txBody>
                    <a:bodyPr wrap="square"/>
                    <a:lstStyle/>
                    <a:p>
                      <a:pPr algn="l"/>
                      <a:r>
                        <a:rPr sz="1100" b="0" i="0">
                          <a:solidFill>
                            <a:srgbClr val="0070C0"/>
                          </a:solidFill>
                          <a:latin typeface="Calibri"/>
                        </a:rPr>
                        <a:t>19.7.</a:t>
                      </a:r>
                      <a:r>
                        <a:rPr sz="700" b="0" i="0">
                          <a:solidFill>
                            <a:srgbClr val="0070C0"/>
                          </a:solidFill>
                          <a:latin typeface="Times New Roman"/>
                        </a:rPr>
                        <a:t>  </a:t>
                      </a:r>
                      <a:r>
                        <a:rPr sz="1100" b="0" i="0">
                          <a:solidFill>
                            <a:srgbClr val="0070C0"/>
                          </a:solidFill>
                          <a:latin typeface="Calibri"/>
                        </a:rPr>
                        <a:t>Reimbursement and Payment Considerations for Organ Preservation Technologies</a:t>
                      </a:r>
                      <a:endParaRPr sz="1100"/>
                    </a:p>
                  </a:txBody>
                  <a:tcPr marL="428625" marR="9525" marT="9525" marB="0" anchor="ctr"/>
                </a:tc>
              </a:tr>
              <a:tr h="175260">
                <a:tc>
                  <a:txBody>
                    <a:bodyPr wrap="square"/>
                    <a:lstStyle/>
                    <a:p>
                      <a:pPr algn="l"/>
                      <a:r>
                        <a:rPr sz="1100" b="0" i="0">
                          <a:solidFill>
                            <a:srgbClr val="0070C0"/>
                          </a:solidFill>
                          <a:latin typeface="Calibri"/>
                        </a:rPr>
                        <a:t>19.8.</a:t>
                      </a:r>
                      <a:r>
                        <a:rPr sz="700" b="0" i="0">
                          <a:solidFill>
                            <a:srgbClr val="0070C0"/>
                          </a:solidFill>
                          <a:latin typeface="Times New Roman"/>
                        </a:rPr>
                        <a:t>  </a:t>
                      </a:r>
                      <a:r>
                        <a:rPr sz="1100" b="0" i="0">
                          <a:solidFill>
                            <a:srgbClr val="0070C0"/>
                          </a:solidFill>
                          <a:latin typeface="Calibri"/>
                        </a:rPr>
                        <a:t>Manufacturer, Distributor, and Service-Provider Margin Structures</a:t>
                      </a:r>
                      <a:endParaRPr sz="1100"/>
                    </a:p>
                  </a:txBody>
                  <a:tcPr marL="428625" marR="9525" marT="9525" marB="0" anchor="ctr"/>
                </a:tc>
              </a:tr>
              <a:tr h="175260">
                <a:tc>
                  <a:txBody>
                    <a:bodyPr wrap="square"/>
                    <a:lstStyle/>
                    <a:p>
                      <a:pPr algn="l"/>
                      <a:r>
                        <a:rPr sz="1100" b="0" i="0">
                          <a:solidFill>
                            <a:srgbClr val="0070C0"/>
                          </a:solidFill>
                          <a:latin typeface="Calibri"/>
                        </a:rPr>
                        <a:t>19.9.</a:t>
                      </a:r>
                      <a:r>
                        <a:rPr sz="700" b="0" i="0">
                          <a:solidFill>
                            <a:srgbClr val="0070C0"/>
                          </a:solidFill>
                          <a:latin typeface="Times New Roman"/>
                        </a:rPr>
                        <a:t>  </a:t>
                      </a:r>
                      <a:r>
                        <a:rPr sz="1100" b="0" i="0">
                          <a:solidFill>
                            <a:srgbClr val="0070C0"/>
                          </a:solidFill>
                          <a:latin typeface="Calibri"/>
                        </a:rPr>
                        <a:t>Price Forecast till 2036</a:t>
                      </a:r>
                      <a:endParaRPr sz="1100"/>
                    </a:p>
                  </a:txBody>
                  <a:tcPr marL="428625" marR="9525" marT="9525" marB="0" anchor="ctr"/>
                </a:tc>
              </a:tr>
              <a:tr h="175260">
                <a:tc>
                  <a:txBody>
                    <a:bodyPr wrap="square"/>
                    <a:lstStyle/>
                    <a:p>
                      <a:pPr algn="l"/>
                      <a:r>
                        <a:rPr sz="1100" b="1" i="0">
                          <a:solidFill>
                            <a:srgbClr val="000000"/>
                          </a:solidFill>
                          <a:latin typeface="Calibri"/>
                        </a:rPr>
                        <a:t>Section 4: Market Dynamics</a:t>
                      </a:r>
                      <a:endParaRPr sz="1100"/>
                    </a:p>
                  </a:txBody>
                  <a:tcPr marL="9525" marR="9525" marT="9525" marB="0" anchor="ctr"/>
                </a:tc>
              </a:tr>
              <a:tr h="175260">
                <a:tc>
                  <a:txBody>
                    <a:bodyPr wrap="square"/>
                    <a:lstStyle/>
                    <a:p>
                      <a:pPr algn="l"/>
                      <a:r>
                        <a:rPr sz="1100" b="1" i="0">
                          <a:solidFill>
                            <a:srgbClr val="000000"/>
                          </a:solidFill>
                          <a:latin typeface="Calibri"/>
                        </a:rPr>
                        <a:t>20.</a:t>
                      </a:r>
                      <a:r>
                        <a:rPr sz="700" b="1" i="0">
                          <a:solidFill>
                            <a:srgbClr val="000000"/>
                          </a:solidFill>
                          <a:latin typeface="Times New Roman"/>
                        </a:rPr>
                        <a:t>    </a:t>
                      </a:r>
                      <a:r>
                        <a:rPr sz="1100" b="1" i="0">
                          <a:solidFill>
                            <a:srgbClr val="000000"/>
                          </a:solidFill>
                          <a:latin typeface="Calibri"/>
                        </a:rPr>
                        <a:t>Innovation Tracker</a:t>
                      </a:r>
                      <a:endParaRPr sz="1100"/>
                    </a:p>
                  </a:txBody>
                  <a:tcPr marL="171450" marR="9525" marT="9525" marB="0" anchor="ctr"/>
                </a:tc>
              </a:tr>
              <a:tr h="175260">
                <a:tc>
                  <a:txBody>
                    <a:bodyPr wrap="square"/>
                    <a:lstStyle/>
                    <a:p>
                      <a:pPr algn="l"/>
                      <a:r>
                        <a:rPr sz="1100" b="0" i="0">
                          <a:solidFill>
                            <a:srgbClr val="0070C0"/>
                          </a:solidFill>
                          <a:latin typeface="Calibri"/>
                        </a:rPr>
                        <a:t>20.1.</a:t>
                      </a:r>
                      <a:r>
                        <a:rPr sz="700" b="0" i="0">
                          <a:solidFill>
                            <a:srgbClr val="0070C0"/>
                          </a:solidFill>
                          <a:latin typeface="Times New Roman"/>
                        </a:rPr>
                        <a:t>  </a:t>
                      </a:r>
                      <a:r>
                        <a:rPr sz="1100" b="0" i="0">
                          <a:solidFill>
                            <a:srgbClr val="0070C0"/>
                          </a:solidFill>
                          <a:latin typeface="Calibri"/>
                        </a:rPr>
                        <a:t>Major Deals and Strategic Alliance</a:t>
                      </a:r>
                      <a:endParaRPr sz="1100"/>
                    </a:p>
                  </a:txBody>
                  <a:tcPr marL="428625" marR="9525" marT="9525" marB="0" anchor="ctr"/>
                </a:tc>
              </a:tr>
              <a:tr h="175260">
                <a:tc>
                  <a:txBody>
                    <a:bodyPr wrap="square"/>
                    <a:lstStyle/>
                    <a:p>
                      <a:pPr algn="l"/>
                      <a:r>
                        <a:rPr sz="1100" b="0" i="0">
                          <a:solidFill>
                            <a:srgbClr val="000000"/>
                          </a:solidFill>
                          <a:latin typeface="Calibri"/>
                        </a:rPr>
                        <a:t>20.1.1.</a:t>
                      </a:r>
                      <a:r>
                        <a:rPr sz="700" b="0" i="0">
                          <a:solidFill>
                            <a:srgbClr val="000000"/>
                          </a:solidFill>
                          <a:latin typeface="Times New Roman"/>
                        </a:rPr>
                        <a:t> </a:t>
                      </a:r>
                      <a:r>
                        <a:rPr sz="1100" b="0" i="0">
                          <a:solidFill>
                            <a:srgbClr val="000000"/>
                          </a:solidFill>
                          <a:latin typeface="Calibri"/>
                        </a:rPr>
                        <a:t>Joint Ventures, M&amp;A, Licensing &amp; Partnerships</a:t>
                      </a:r>
                      <a:endParaRPr sz="1100"/>
                    </a:p>
                  </a:txBody>
                  <a:tcPr marL="771525" marR="9525" marT="9525" marB="0" anchor="ctr"/>
                </a:tc>
              </a:tr>
              <a:tr h="175260">
                <a:tc>
                  <a:txBody>
                    <a:bodyPr wrap="square"/>
                    <a:lstStyle/>
                    <a:p>
                      <a:pPr algn="l"/>
                      <a:r>
                        <a:rPr sz="1100" b="0" i="0">
                          <a:solidFill>
                            <a:srgbClr val="000000"/>
                          </a:solidFill>
                          <a:latin typeface="Calibri"/>
                        </a:rPr>
                        <a:t>20.1.2.</a:t>
                      </a:r>
                      <a:r>
                        <a:rPr sz="700" b="0" i="0">
                          <a:solidFill>
                            <a:srgbClr val="000000"/>
                          </a:solidFill>
                          <a:latin typeface="Times New Roman"/>
                        </a:rPr>
                        <a:t> </a:t>
                      </a:r>
                      <a:r>
                        <a:rPr sz="1100" b="0" i="0">
                          <a:solidFill>
                            <a:srgbClr val="000000"/>
                          </a:solidFill>
                          <a:latin typeface="Calibri"/>
                        </a:rPr>
                        <a:t>Technology Collaboration</a:t>
                      </a:r>
                      <a:endParaRPr sz="1100"/>
                    </a:p>
                  </a:txBody>
                  <a:tcPr marL="771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0000"/>
                          </a:solidFill>
                          <a:latin typeface="Calibri"/>
                        </a:rPr>
                        <a:t>20.1.3.</a:t>
                      </a:r>
                      <a:r>
                        <a:rPr sz="700" b="0" i="0">
                          <a:solidFill>
                            <a:srgbClr val="000000"/>
                          </a:solidFill>
                          <a:latin typeface="Times New Roman"/>
                        </a:rPr>
                        <a:t> </a:t>
                      </a:r>
                      <a:r>
                        <a:rPr sz="1100" b="0" i="0">
                          <a:solidFill>
                            <a:srgbClr val="000000"/>
                          </a:solidFill>
                          <a:latin typeface="Calibri"/>
                        </a:rPr>
                        <a:t>Strategic Divestments/ Investments</a:t>
                      </a:r>
                      <a:endParaRPr sz="1100"/>
                    </a:p>
                  </a:txBody>
                  <a:tcPr marL="771525" marR="9525" marT="9525" marB="0" anchor="ctr"/>
                </a:tc>
              </a:tr>
              <a:tr h="175260">
                <a:tc>
                  <a:txBody>
                    <a:bodyPr wrap="square"/>
                    <a:lstStyle/>
                    <a:p>
                      <a:pPr algn="l"/>
                      <a:r>
                        <a:rPr sz="1100" b="0" i="0">
                          <a:solidFill>
                            <a:srgbClr val="0070C0"/>
                          </a:solidFill>
                          <a:latin typeface="Calibri"/>
                        </a:rPr>
                        <a:t>20.2.</a:t>
                      </a:r>
                      <a:r>
                        <a:rPr sz="700" b="0" i="0">
                          <a:solidFill>
                            <a:srgbClr val="0070C0"/>
                          </a:solidFill>
                          <a:latin typeface="Times New Roman"/>
                        </a:rPr>
                        <a:t>  </a:t>
                      </a:r>
                      <a:r>
                        <a:rPr sz="1100" b="0" i="0">
                          <a:solidFill>
                            <a:srgbClr val="0070C0"/>
                          </a:solidFill>
                          <a:latin typeface="Calibri"/>
                        </a:rPr>
                        <a:t>Product Launches, Clearances &amp; Development</a:t>
                      </a:r>
                      <a:endParaRPr sz="1100"/>
                    </a:p>
                  </a:txBody>
                  <a:tcPr marL="428625" marR="9525" marT="9525" marB="0" anchor="ctr"/>
                </a:tc>
              </a:tr>
              <a:tr h="175260">
                <a:tc>
                  <a:txBody>
                    <a:bodyPr wrap="square"/>
                    <a:lstStyle/>
                    <a:p>
                      <a:pPr algn="l"/>
                      <a:r>
                        <a:rPr sz="1100" b="1" i="0">
                          <a:solidFill>
                            <a:srgbClr val="000000"/>
                          </a:solidFill>
                          <a:latin typeface="Calibri"/>
                        </a:rPr>
                        <a:t>21.</a:t>
                      </a:r>
                      <a:r>
                        <a:rPr sz="700" b="1" i="0">
                          <a:solidFill>
                            <a:srgbClr val="000000"/>
                          </a:solidFill>
                          <a:latin typeface="Times New Roman"/>
                        </a:rPr>
                        <a:t>    </a:t>
                      </a:r>
                      <a:r>
                        <a:rPr sz="1100" b="1" i="0">
                          <a:solidFill>
                            <a:srgbClr val="000000"/>
                          </a:solidFill>
                          <a:latin typeface="Calibri"/>
                        </a:rPr>
                        <a:t>Stakeholder Perspectives – Manufacturer, Customer &amp; Distributor Insights</a:t>
                      </a:r>
                      <a:endParaRPr sz="1100"/>
                    </a:p>
                  </a:txBody>
                  <a:tcPr marL="171450" marR="9525" marT="9525" marB="0" anchor="ctr"/>
                </a:tc>
              </a:tr>
              <a:tr h="175260">
                <a:tc>
                  <a:txBody>
                    <a:bodyPr wrap="square"/>
                    <a:lstStyle/>
                    <a:p>
                      <a:pPr algn="l"/>
                      <a:r>
                        <a:rPr sz="1100" b="0" i="0">
                          <a:solidFill>
                            <a:srgbClr val="0070C0"/>
                          </a:solidFill>
                          <a:latin typeface="Calibri"/>
                        </a:rPr>
                        <a:t>21.1.</a:t>
                      </a:r>
                      <a:r>
                        <a:rPr sz="700" b="0" i="0">
                          <a:solidFill>
                            <a:srgbClr val="0070C0"/>
                          </a:solidFill>
                          <a:latin typeface="Times New Roman"/>
                        </a:rPr>
                        <a:t>  </a:t>
                      </a:r>
                      <a:r>
                        <a:rPr sz="1100" b="0" i="0">
                          <a:solidFill>
                            <a:srgbClr val="0070C0"/>
                          </a:solidFill>
                          <a:latin typeface="Calibri"/>
                        </a:rPr>
                        <a:t>Stakeholder Insights</a:t>
                      </a:r>
                      <a:endParaRPr sz="1100"/>
                    </a:p>
                  </a:txBody>
                  <a:tcPr marL="428625" marR="9525" marT="9525" marB="0" anchor="ctr"/>
                </a:tc>
              </a:tr>
              <a:tr h="175260">
                <a:tc>
                  <a:txBody>
                    <a:bodyPr wrap="square"/>
                    <a:lstStyle/>
                    <a:p>
                      <a:pPr algn="l"/>
                      <a:r>
                        <a:rPr sz="1100" b="0" i="0">
                          <a:solidFill>
                            <a:srgbClr val="000000"/>
                          </a:solidFill>
                          <a:latin typeface="Calibri"/>
                        </a:rPr>
                        <a:t>21.1.1.</a:t>
                      </a:r>
                      <a:r>
                        <a:rPr sz="700" b="0" i="0">
                          <a:solidFill>
                            <a:srgbClr val="000000"/>
                          </a:solidFill>
                          <a:latin typeface="Times New Roman"/>
                        </a:rPr>
                        <a:t> </a:t>
                      </a:r>
                      <a:r>
                        <a:rPr sz="1100" b="0" i="0">
                          <a:solidFill>
                            <a:srgbClr val="000000"/>
                          </a:solidFill>
                          <a:latin typeface="Calibri"/>
                        </a:rPr>
                        <a:t>Device Manufacturers</a:t>
                      </a:r>
                      <a:endParaRPr sz="1100"/>
                    </a:p>
                  </a:txBody>
                  <a:tcPr marL="771525" marR="9525" marT="9525" marB="0" anchor="ctr"/>
                </a:tc>
              </a:tr>
              <a:tr h="175260">
                <a:tc>
                  <a:txBody>
                    <a:bodyPr wrap="square"/>
                    <a:lstStyle/>
                    <a:p>
                      <a:pPr algn="l"/>
                      <a:r>
                        <a:rPr sz="1100" b="0" i="0">
                          <a:solidFill>
                            <a:srgbClr val="000000"/>
                          </a:solidFill>
                          <a:latin typeface="Calibri"/>
                        </a:rPr>
                        <a:t>21.1.2.</a:t>
                      </a:r>
                      <a:r>
                        <a:rPr sz="700" b="0" i="0">
                          <a:solidFill>
                            <a:srgbClr val="000000"/>
                          </a:solidFill>
                          <a:latin typeface="Times New Roman"/>
                        </a:rPr>
                        <a:t> </a:t>
                      </a:r>
                      <a:r>
                        <a:rPr sz="1100" b="0" i="0">
                          <a:solidFill>
                            <a:srgbClr val="000000"/>
                          </a:solidFill>
                          <a:latin typeface="Calibri"/>
                        </a:rPr>
                        <a:t>Hospitals, Transplant Centres &amp; Organ Procurement Organisations</a:t>
                      </a:r>
                      <a:endParaRPr sz="1100"/>
                    </a:p>
                  </a:txBody>
                  <a:tcPr marL="771525" marR="9525" marT="9525" marB="0" anchor="ctr"/>
                </a:tc>
              </a:tr>
              <a:tr h="175260">
                <a:tc>
                  <a:txBody>
                    <a:bodyPr wrap="square"/>
                    <a:lstStyle/>
                    <a:p>
                      <a:pPr algn="l"/>
                      <a:r>
                        <a:rPr sz="1100" b="0" i="0">
                          <a:solidFill>
                            <a:srgbClr val="000000"/>
                          </a:solidFill>
                          <a:latin typeface="Calibri"/>
                        </a:rPr>
                        <a:t>21.1.3.</a:t>
                      </a:r>
                      <a:r>
                        <a:rPr sz="700" b="0" i="0">
                          <a:solidFill>
                            <a:srgbClr val="000000"/>
                          </a:solidFill>
                          <a:latin typeface="Times New Roman"/>
                        </a:rPr>
                        <a:t> </a:t>
                      </a:r>
                      <a:r>
                        <a:rPr sz="1100" b="0" i="0">
                          <a:solidFill>
                            <a:srgbClr val="000000"/>
                          </a:solidFill>
                          <a:latin typeface="Calibri"/>
                        </a:rPr>
                        <a:t>Distributors &amp; Specialised Medical Logistics Providers</a:t>
                      </a:r>
                      <a:endParaRPr sz="1100"/>
                    </a:p>
                  </a:txBody>
                  <a:tcPr marL="771525" marR="9525" marT="9525" marB="0" anchor="ctr"/>
                </a:tc>
              </a:tr>
              <a:tr h="175260">
                <a:tc>
                  <a:txBody>
                    <a:bodyPr wrap="square"/>
                    <a:lstStyle/>
                    <a:p>
                      <a:pPr algn="l"/>
                      <a:r>
                        <a:rPr sz="1100" b="0" i="0">
                          <a:solidFill>
                            <a:srgbClr val="0070C0"/>
                          </a:solidFill>
                          <a:latin typeface="Calibri"/>
                        </a:rPr>
                        <a:t>21.2.</a:t>
                      </a:r>
                      <a:r>
                        <a:rPr sz="700" b="0" i="0">
                          <a:solidFill>
                            <a:srgbClr val="0070C0"/>
                          </a:solidFill>
                          <a:latin typeface="Times New Roman"/>
                        </a:rPr>
                        <a:t>  </a:t>
                      </a:r>
                      <a:r>
                        <a:rPr sz="1100" b="0" i="0">
                          <a:solidFill>
                            <a:srgbClr val="0070C0"/>
                          </a:solidFill>
                          <a:latin typeface="Calibri"/>
                        </a:rPr>
                        <a:t>Country- Level Market Drivers</a:t>
                      </a:r>
                      <a:endParaRPr sz="1100"/>
                    </a:p>
                  </a:txBody>
                  <a:tcPr marL="428625" marR="9525" marT="9525" marB="0" anchor="ctr"/>
                </a:tc>
              </a:tr>
              <a:tr h="175260">
                <a:tc>
                  <a:txBody>
                    <a:bodyPr wrap="square"/>
                    <a:lstStyle/>
                    <a:p>
                      <a:pPr algn="l"/>
                      <a:r>
                        <a:rPr sz="1100" b="0" i="0">
                          <a:solidFill>
                            <a:srgbClr val="000000"/>
                          </a:solidFill>
                          <a:latin typeface="Calibri"/>
                        </a:rPr>
                        <a:t>21.2.1.</a:t>
                      </a:r>
                      <a:r>
                        <a:rPr sz="700" b="0" i="0">
                          <a:solidFill>
                            <a:srgbClr val="000000"/>
                          </a:solidFill>
                          <a:latin typeface="Times New Roman"/>
                        </a:rPr>
                        <a:t> </a:t>
                      </a:r>
                      <a:r>
                        <a:rPr sz="1100" b="0" i="0">
                          <a:solidFill>
                            <a:srgbClr val="000000"/>
                          </a:solidFill>
                          <a:latin typeface="Calibri"/>
                        </a:rPr>
                        <a:t>Supply Side Drivers</a:t>
                      </a:r>
                      <a:endParaRPr sz="1100"/>
                    </a:p>
                  </a:txBody>
                  <a:tcPr marL="771525" marR="9525" marT="9525" marB="0" anchor="ctr"/>
                </a:tc>
              </a:tr>
              <a:tr h="175260">
                <a:tc>
                  <a:txBody>
                    <a:bodyPr wrap="square"/>
                    <a:lstStyle/>
                    <a:p>
                      <a:pPr algn="l"/>
                      <a:r>
                        <a:rPr sz="1100" b="0" i="0">
                          <a:solidFill>
                            <a:srgbClr val="000000"/>
                          </a:solidFill>
                          <a:latin typeface="Calibri"/>
                        </a:rPr>
                        <a:t>21.2.2.</a:t>
                      </a:r>
                      <a:r>
                        <a:rPr sz="700" b="0" i="0">
                          <a:solidFill>
                            <a:srgbClr val="000000"/>
                          </a:solidFill>
                          <a:latin typeface="Times New Roman"/>
                        </a:rPr>
                        <a:t> </a:t>
                      </a:r>
                      <a:r>
                        <a:rPr sz="1100" b="0" i="0">
                          <a:solidFill>
                            <a:srgbClr val="000000"/>
                          </a:solidFill>
                          <a:latin typeface="Calibri"/>
                        </a:rPr>
                        <a:t>Demand Side Drivers</a:t>
                      </a:r>
                      <a:endParaRPr sz="1100"/>
                    </a:p>
                  </a:txBody>
                  <a:tcPr marL="771525" marR="9525" marT="9525" marB="0" anchor="ctr"/>
                </a:tc>
              </a:tr>
              <a:tr h="175260">
                <a:tc>
                  <a:txBody>
                    <a:bodyPr wrap="square"/>
                    <a:lstStyle/>
                    <a:p>
                      <a:pPr algn="l"/>
                      <a:r>
                        <a:rPr sz="1100" b="0" i="0">
                          <a:solidFill>
                            <a:srgbClr val="000000"/>
                          </a:solidFill>
                          <a:latin typeface="Calibri"/>
                        </a:rPr>
                        <a:t>21.2.3.</a:t>
                      </a:r>
                      <a:r>
                        <a:rPr sz="700" b="0" i="0">
                          <a:solidFill>
                            <a:srgbClr val="000000"/>
                          </a:solidFill>
                          <a:latin typeface="Times New Roman"/>
                        </a:rPr>
                        <a:t> </a:t>
                      </a:r>
                      <a:r>
                        <a:rPr sz="1100" b="0" i="0">
                          <a:solidFill>
                            <a:srgbClr val="000000"/>
                          </a:solidFill>
                          <a:latin typeface="Calibri"/>
                        </a:rPr>
                        <a:t>Economic Side Drivers</a:t>
                      </a:r>
                      <a:endParaRPr sz="1100"/>
                    </a:p>
                  </a:txBody>
                  <a:tcPr marL="771525" marR="9525" marT="9525" marB="0" anchor="ctr"/>
                </a:tc>
              </a:tr>
              <a:tr h="175260">
                <a:tc>
                  <a:txBody>
                    <a:bodyPr wrap="square"/>
                    <a:lstStyle/>
                    <a:p>
                      <a:pPr algn="l"/>
                      <a:r>
                        <a:rPr sz="1100" b="0" i="0">
                          <a:solidFill>
                            <a:srgbClr val="0070C0"/>
                          </a:solidFill>
                          <a:latin typeface="Calibri"/>
                        </a:rPr>
                        <a:t>21.3.</a:t>
                      </a:r>
                      <a:r>
                        <a:rPr sz="700" b="0" i="0">
                          <a:solidFill>
                            <a:srgbClr val="0070C0"/>
                          </a:solidFill>
                          <a:latin typeface="Times New Roman"/>
                        </a:rPr>
                        <a:t>  </a:t>
                      </a:r>
                      <a:r>
                        <a:rPr sz="1100" b="0" i="0">
                          <a:solidFill>
                            <a:srgbClr val="0070C0"/>
                          </a:solidFill>
                          <a:latin typeface="Calibri"/>
                        </a:rPr>
                        <a:t>Country Level Restraints</a:t>
                      </a:r>
                      <a:endParaRPr sz="1100"/>
                    </a:p>
                  </a:txBody>
                  <a:tcPr marL="428625" marR="9525" marT="9525" marB="0" anchor="ctr"/>
                </a:tc>
              </a:tr>
              <a:tr h="175260">
                <a:tc>
                  <a:txBody>
                    <a:bodyPr wrap="square"/>
                    <a:lstStyle/>
                    <a:p>
                      <a:pPr algn="l"/>
                      <a:r>
                        <a:rPr sz="1100" b="0" i="0">
                          <a:solidFill>
                            <a:srgbClr val="0070C0"/>
                          </a:solidFill>
                          <a:latin typeface="Calibri"/>
                        </a:rPr>
                        <a:t>21.4.</a:t>
                      </a:r>
                      <a:r>
                        <a:rPr sz="700" b="0" i="0">
                          <a:solidFill>
                            <a:srgbClr val="0070C0"/>
                          </a:solidFill>
                          <a:latin typeface="Times New Roman"/>
                        </a:rPr>
                        <a:t>  </a:t>
                      </a:r>
                      <a:r>
                        <a:rPr sz="1100" b="0" i="0">
                          <a:solidFill>
                            <a:srgbClr val="0070C0"/>
                          </a:solidFill>
                          <a:latin typeface="Calibri"/>
                        </a:rPr>
                        <a:t>Country Level Opportunity</a:t>
                      </a:r>
                      <a:endParaRPr sz="1100"/>
                    </a:p>
                  </a:txBody>
                  <a:tcPr marL="428625" marR="9525" marT="9525" marB="0" anchor="ctr"/>
                </a:tc>
              </a:tr>
              <a:tr h="175260">
                <a:tc>
                  <a:txBody>
                    <a:bodyPr wrap="square"/>
                    <a:lstStyle/>
                    <a:p>
                      <a:pPr algn="l"/>
                      <a:r>
                        <a:rPr sz="1100" b="0" i="0">
                          <a:solidFill>
                            <a:srgbClr val="0070C0"/>
                          </a:solidFill>
                          <a:latin typeface="Calibri"/>
                        </a:rPr>
                        <a:t>21.5.</a:t>
                      </a:r>
                      <a:r>
                        <a:rPr sz="700" b="0" i="0">
                          <a:solidFill>
                            <a:srgbClr val="0070C0"/>
                          </a:solidFill>
                          <a:latin typeface="Times New Roman"/>
                        </a:rPr>
                        <a:t>  </a:t>
                      </a:r>
                      <a:r>
                        <a:rPr sz="1100" b="0" i="0">
                          <a:solidFill>
                            <a:srgbClr val="0070C0"/>
                          </a:solidFill>
                          <a:latin typeface="Calibri"/>
                        </a:rPr>
                        <a:t>Country Level Market Trends</a:t>
                      </a:r>
                      <a:endParaRPr sz="1100"/>
                    </a:p>
                  </a:txBody>
                  <a:tcPr marL="428625" marR="9525" marT="9525" marB="0" anchor="ctr"/>
                </a:tc>
              </a:tr>
              <a:tr h="175260">
                <a:tc>
                  <a:txBody>
                    <a:bodyPr wrap="square"/>
                    <a:lstStyle/>
                    <a:p>
                      <a:pPr algn="l"/>
                      <a:r>
                        <a:rPr sz="1100" b="0" i="0">
                          <a:solidFill>
                            <a:srgbClr val="0070C0"/>
                          </a:solidFill>
                          <a:latin typeface="Calibri"/>
                        </a:rPr>
                        <a:t>21.6.</a:t>
                      </a:r>
                      <a:r>
                        <a:rPr sz="700" b="0" i="0">
                          <a:solidFill>
                            <a:srgbClr val="0070C0"/>
                          </a:solidFill>
                          <a:latin typeface="Times New Roman"/>
                        </a:rPr>
                        <a:t>  </a:t>
                      </a:r>
                      <a:r>
                        <a:rPr sz="1100" b="0" i="0">
                          <a:solidFill>
                            <a:srgbClr val="0070C0"/>
                          </a:solidFill>
                          <a:latin typeface="Calibri"/>
                        </a:rPr>
                        <a:t>Regional Macro- &amp; Micro-Economic Indicators</a:t>
                      </a:r>
                      <a:endParaRPr sz="1100"/>
                    </a:p>
                  </a:txBody>
                  <a:tcPr marL="428625" marR="9525" marT="9525" marB="0" anchor="ctr"/>
                </a:tc>
              </a:tr>
              <a:tr h="175260">
                <a:tc>
                  <a:txBody>
                    <a:bodyPr wrap="square"/>
                    <a:lstStyle/>
                    <a:p>
                      <a:pPr algn="l"/>
                      <a:r>
                        <a:rPr sz="1100" b="1" i="0">
                          <a:solidFill>
                            <a:srgbClr val="000000"/>
                          </a:solidFill>
                          <a:latin typeface="Calibri"/>
                        </a:rPr>
                        <a:t>22.</a:t>
                      </a:r>
                      <a:r>
                        <a:rPr sz="700" b="1" i="0">
                          <a:solidFill>
                            <a:srgbClr val="000000"/>
                          </a:solidFill>
                          <a:latin typeface="Times New Roman"/>
                        </a:rPr>
                        <a:t>    </a:t>
                      </a:r>
                      <a:r>
                        <a:rPr sz="1100" b="1" i="0">
                          <a:solidFill>
                            <a:srgbClr val="000000"/>
                          </a:solidFill>
                          <a:latin typeface="Calibri"/>
                        </a:rPr>
                        <a:t>Regulatory, Compliance, and Access Landscape</a:t>
                      </a:r>
                      <a:endParaRPr sz="1100"/>
                    </a:p>
                  </a:txBody>
                  <a:tcPr marL="171450" marR="9525" marT="9525" marB="0" anchor="ctr"/>
                </a:tc>
              </a:tr>
              <a:tr h="175260">
                <a:tc>
                  <a:txBody>
                    <a:bodyPr wrap="square"/>
                    <a:lstStyle/>
                    <a:p>
                      <a:pPr algn="l"/>
                      <a:r>
                        <a:rPr sz="1100" b="0" i="0">
                          <a:solidFill>
                            <a:srgbClr val="0070C0"/>
                          </a:solidFill>
                          <a:latin typeface="Calibri"/>
                        </a:rPr>
                        <a:t>22.1.</a:t>
                      </a:r>
                      <a:r>
                        <a:rPr sz="700" b="0" i="0">
                          <a:solidFill>
                            <a:srgbClr val="0070C0"/>
                          </a:solidFill>
                          <a:latin typeface="Times New Roman"/>
                        </a:rPr>
                        <a:t>  </a:t>
                      </a:r>
                      <a:r>
                        <a:rPr sz="1100" b="0" i="0">
                          <a:solidFill>
                            <a:srgbClr val="0070C0"/>
                          </a:solidFill>
                          <a:latin typeface="Calibri"/>
                        </a:rPr>
                        <a:t>US FDA Device Clearance and Approval Requirements</a:t>
                      </a:r>
                      <a:endParaRPr sz="1100"/>
                    </a:p>
                  </a:txBody>
                  <a:tcPr marL="428625" marR="9525" marT="9525" marB="0" anchor="ctr"/>
                </a:tc>
              </a:tr>
              <a:tr h="175260">
                <a:tc>
                  <a:txBody>
                    <a:bodyPr wrap="square"/>
                    <a:lstStyle/>
                    <a:p>
                      <a:pPr algn="l"/>
                      <a:r>
                        <a:rPr sz="1100" b="0" i="0">
                          <a:solidFill>
                            <a:srgbClr val="0070C0"/>
                          </a:solidFill>
                          <a:latin typeface="Calibri"/>
                        </a:rPr>
                        <a:t>22.2.</a:t>
                      </a:r>
                      <a:r>
                        <a:rPr sz="700" b="0" i="0">
                          <a:solidFill>
                            <a:srgbClr val="0070C0"/>
                          </a:solidFill>
                          <a:latin typeface="Times New Roman"/>
                        </a:rPr>
                        <a:t>  </a:t>
                      </a:r>
                      <a:r>
                        <a:rPr sz="1100" b="0" i="0">
                          <a:solidFill>
                            <a:srgbClr val="0070C0"/>
                          </a:solidFill>
                          <a:latin typeface="Calibri"/>
                        </a:rPr>
                        <a:t>European MDR and CE-Marking Requirements</a:t>
                      </a:r>
                      <a:endParaRPr sz="1100"/>
                    </a:p>
                  </a:txBody>
                  <a:tcPr marL="428625" marR="9525" marT="9525" marB="0" anchor="ctr"/>
                </a:tc>
              </a:tr>
              <a:tr h="175260">
                <a:tc>
                  <a:txBody>
                    <a:bodyPr wrap="square"/>
                    <a:lstStyle/>
                    <a:p>
                      <a:pPr algn="l"/>
                      <a:r>
                        <a:rPr sz="1100" b="0" i="0">
                          <a:solidFill>
                            <a:srgbClr val="0070C0"/>
                          </a:solidFill>
                          <a:latin typeface="Calibri"/>
                        </a:rPr>
                        <a:t>22.3.</a:t>
                      </a:r>
                      <a:r>
                        <a:rPr sz="700" b="0" i="0">
                          <a:solidFill>
                            <a:srgbClr val="0070C0"/>
                          </a:solidFill>
                          <a:latin typeface="Times New Roman"/>
                        </a:rPr>
                        <a:t>  </a:t>
                      </a:r>
                      <a:r>
                        <a:rPr sz="1100" b="0" i="0">
                          <a:solidFill>
                            <a:srgbClr val="0070C0"/>
                          </a:solidFill>
                          <a:latin typeface="Calibri"/>
                        </a:rPr>
                        <a:t>Country-Specific Medical Device Registration Pathways</a:t>
                      </a:r>
                      <a:endParaRPr sz="1100"/>
                    </a:p>
                  </a:txBody>
                  <a:tcPr marL="428625" marR="9525" marT="9525" marB="0" anchor="ctr"/>
                </a:tc>
              </a:tr>
              <a:tr h="175260">
                <a:tc>
                  <a:txBody>
                    <a:bodyPr wrap="square"/>
                    <a:lstStyle/>
                    <a:p>
                      <a:pPr algn="l"/>
                      <a:r>
                        <a:rPr sz="1100" b="0" i="0">
                          <a:solidFill>
                            <a:srgbClr val="0070C0"/>
                          </a:solidFill>
                          <a:latin typeface="Calibri"/>
                        </a:rPr>
                        <a:t>22.4.</a:t>
                      </a:r>
                      <a:r>
                        <a:rPr sz="700" b="0" i="0">
                          <a:solidFill>
                            <a:srgbClr val="0070C0"/>
                          </a:solidFill>
                          <a:latin typeface="Times New Roman"/>
                        </a:rPr>
                        <a:t>  </a:t>
                      </a:r>
                      <a:r>
                        <a:rPr sz="1100" b="0" i="0">
                          <a:solidFill>
                            <a:srgbClr val="0070C0"/>
                          </a:solidFill>
                          <a:latin typeface="Calibri"/>
                        </a:rPr>
                        <a:t>Quality Management and ISO 13485 Compliance</a:t>
                      </a:r>
                      <a:endParaRPr sz="1100"/>
                    </a:p>
                  </a:txBody>
                  <a:tcPr marL="428625" marR="9525" marT="9525" marB="0" anchor="ctr"/>
                </a:tc>
              </a:tr>
              <a:tr h="175260">
                <a:tc>
                  <a:txBody>
                    <a:bodyPr wrap="square"/>
                    <a:lstStyle/>
                    <a:p>
                      <a:pPr algn="l"/>
                      <a:r>
                        <a:rPr sz="1100" b="0" i="0">
                          <a:solidFill>
                            <a:srgbClr val="0070C0"/>
                          </a:solidFill>
                          <a:latin typeface="Calibri"/>
                        </a:rPr>
                        <a:t>22.5.</a:t>
                      </a:r>
                      <a:r>
                        <a:rPr sz="700" b="0" i="0">
                          <a:solidFill>
                            <a:srgbClr val="0070C0"/>
                          </a:solidFill>
                          <a:latin typeface="Times New Roman"/>
                        </a:rPr>
                        <a:t>  </a:t>
                      </a:r>
                      <a:r>
                        <a:rPr sz="1100" b="0" i="0">
                          <a:solidFill>
                            <a:srgbClr val="0070C0"/>
                          </a:solidFill>
                          <a:latin typeface="Calibri"/>
                        </a:rPr>
                        <a:t>Organ Preservation Device Safety and Performance Requirements</a:t>
                      </a:r>
                      <a:endParaRPr sz="1100"/>
                    </a:p>
                  </a:txBody>
                  <a:tcPr marL="428625" marR="9525" marT="9525" marB="0" anchor="ctr"/>
                </a:tc>
              </a:tr>
              <a:tr h="175260">
                <a:tc>
                  <a:txBody>
                    <a:bodyPr wrap="square"/>
                    <a:lstStyle/>
                    <a:p>
                      <a:pPr algn="l"/>
                      <a:r>
                        <a:rPr sz="1100" b="0" i="0">
                          <a:solidFill>
                            <a:srgbClr val="0070C0"/>
                          </a:solidFill>
                          <a:latin typeface="Calibri"/>
                        </a:rPr>
                        <a:t>22.6.</a:t>
                      </a:r>
                      <a:r>
                        <a:rPr sz="700" b="0" i="0">
                          <a:solidFill>
                            <a:srgbClr val="0070C0"/>
                          </a:solidFill>
                          <a:latin typeface="Times New Roman"/>
                        </a:rPr>
                        <a:t>  </a:t>
                      </a:r>
                      <a:r>
                        <a:rPr sz="1100" b="0" i="0">
                          <a:solidFill>
                            <a:srgbClr val="0070C0"/>
                          </a:solidFill>
                          <a:latin typeface="Calibri"/>
                        </a:rPr>
                        <a:t>Clinical Evidence and Validation Requirements</a:t>
                      </a:r>
                      <a:endParaRPr sz="1100"/>
                    </a:p>
                  </a:txBody>
                  <a:tcPr marL="428625" marR="9525" marT="9525" marB="0" anchor="ctr"/>
                </a:tc>
              </a:tr>
              <a:tr h="175260">
                <a:tc>
                  <a:txBody>
                    <a:bodyPr wrap="square"/>
                    <a:lstStyle/>
                    <a:p>
                      <a:pPr algn="l"/>
                      <a:r>
                        <a:rPr sz="1100" b="0" i="0">
                          <a:solidFill>
                            <a:srgbClr val="0070C0"/>
                          </a:solidFill>
                          <a:latin typeface="Calibri"/>
                        </a:rPr>
                        <a:t>22.7.</a:t>
                      </a:r>
                      <a:r>
                        <a:rPr sz="700" b="0" i="0">
                          <a:solidFill>
                            <a:srgbClr val="0070C0"/>
                          </a:solidFill>
                          <a:latin typeface="Times New Roman"/>
                        </a:rPr>
                        <a:t>  </a:t>
                      </a:r>
                      <a:r>
                        <a:rPr sz="1100" b="0" i="0">
                          <a:solidFill>
                            <a:srgbClr val="0070C0"/>
                          </a:solidFill>
                          <a:latin typeface="Calibri"/>
                        </a:rPr>
                        <a:t>Organ Transport and Preservation Guidelines</a:t>
                      </a:r>
                      <a:endParaRPr sz="1100"/>
                    </a:p>
                  </a:txBody>
                  <a:tcPr marL="428625" marR="9525" marT="9525" marB="0" anchor="ctr"/>
                </a:tc>
              </a:tr>
              <a:tr h="175260">
                <a:tc>
                  <a:txBody>
                    <a:bodyPr wrap="square"/>
                    <a:lstStyle/>
                    <a:p>
                      <a:pPr algn="l"/>
                      <a:r>
                        <a:rPr sz="1100" b="0" i="0">
                          <a:solidFill>
                            <a:srgbClr val="0070C0"/>
                          </a:solidFill>
                          <a:latin typeface="Calibri"/>
                        </a:rPr>
                        <a:t>22.8.</a:t>
                      </a:r>
                      <a:r>
                        <a:rPr sz="700" b="0" i="0">
                          <a:solidFill>
                            <a:srgbClr val="0070C0"/>
                          </a:solidFill>
                          <a:latin typeface="Times New Roman"/>
                        </a:rPr>
                        <a:t>  </a:t>
                      </a:r>
                      <a:r>
                        <a:rPr sz="1100" b="0" i="0">
                          <a:solidFill>
                            <a:srgbClr val="0070C0"/>
                          </a:solidFill>
                          <a:latin typeface="Calibri"/>
                        </a:rPr>
                        <a:t>Reimbursement Policies and Market Access Considerations</a:t>
                      </a:r>
                      <a:endParaRPr sz="1100"/>
                    </a:p>
                  </a:txBody>
                  <a:tcPr marL="428625" marR="9525" marT="9525" marB="0" anchor="ctr"/>
                </a:tc>
              </a:tr>
              <a:tr h="175260">
                <a:tc>
                  <a:txBody>
                    <a:bodyPr wrap="square"/>
                    <a:lstStyle/>
                    <a:p>
                      <a:pPr algn="l"/>
                      <a:r>
                        <a:rPr sz="1100" b="0" i="0">
                          <a:solidFill>
                            <a:srgbClr val="0070C0"/>
                          </a:solidFill>
                          <a:latin typeface="Calibri"/>
                        </a:rPr>
                        <a:t>22.9.</a:t>
                      </a:r>
                      <a:r>
                        <a:rPr sz="700" b="0" i="0">
                          <a:solidFill>
                            <a:srgbClr val="0070C0"/>
                          </a:solidFill>
                          <a:latin typeface="Times New Roman"/>
                        </a:rPr>
                        <a:t>  </a:t>
                      </a:r>
                      <a:r>
                        <a:rPr sz="1100" b="0" i="0">
                          <a:solidFill>
                            <a:srgbClr val="0070C0"/>
                          </a:solidFill>
                          <a:latin typeface="Calibri"/>
                        </a:rPr>
                        <a:t>Intellectual Property, Patents, and Technology Ownership</a:t>
                      </a:r>
                      <a:endParaRPr sz="1100"/>
                    </a:p>
                  </a:txBody>
                  <a:tcPr marL="428625" marR="9525" marT="9525" marB="0" anchor="ctr"/>
                </a:tc>
              </a:tr>
              <a:tr h="175260">
                <a:tc>
                  <a:txBody>
                    <a:bodyPr wrap="square"/>
                    <a:lstStyle/>
                    <a:p>
                      <a:pPr algn="l"/>
                      <a:r>
                        <a:rPr sz="1100" b="1" i="0">
                          <a:solidFill>
                            <a:srgbClr val="000000"/>
                          </a:solidFill>
                          <a:latin typeface="Calibri"/>
                        </a:rPr>
                        <a:t>23.</a:t>
                      </a:r>
                      <a:r>
                        <a:rPr sz="700" b="1" i="0">
                          <a:solidFill>
                            <a:srgbClr val="000000"/>
                          </a:solidFill>
                          <a:latin typeface="Times New Roman"/>
                        </a:rPr>
                        <a:t>    </a:t>
                      </a:r>
                      <a:r>
                        <a:rPr sz="1100" b="1" i="0">
                          <a:solidFill>
                            <a:srgbClr val="000000"/>
                          </a:solidFill>
                          <a:latin typeface="Calibri"/>
                        </a:rPr>
                        <a:t>Strategic Opportunity and White Space Assessment</a:t>
                      </a:r>
                      <a:endParaRPr sz="1100"/>
                    </a:p>
                  </a:txBody>
                  <a:tcPr marL="171450" marR="9525" marT="9525" marB="0" anchor="ctr"/>
                </a:tc>
              </a:tr>
              <a:tr h="175260">
                <a:tc>
                  <a:txBody>
                    <a:bodyPr wrap="square"/>
                    <a:lstStyle/>
                    <a:p>
                      <a:pPr algn="l"/>
                      <a:r>
                        <a:rPr sz="1100" b="0" i="0">
                          <a:solidFill>
                            <a:srgbClr val="0070C0"/>
                          </a:solidFill>
                          <a:latin typeface="Calibri"/>
                        </a:rPr>
                        <a:t>23.1.</a:t>
                      </a:r>
                      <a:r>
                        <a:rPr sz="700" b="0" i="0">
                          <a:solidFill>
                            <a:srgbClr val="0070C0"/>
                          </a:solidFill>
                          <a:latin typeface="Times New Roman"/>
                        </a:rPr>
                        <a:t>  </a:t>
                      </a:r>
                      <a:r>
                        <a:rPr sz="1100" b="0" i="0">
                          <a:solidFill>
                            <a:srgbClr val="0070C0"/>
                          </a:solidFill>
                          <a:latin typeface="Calibri"/>
                        </a:rPr>
                        <a:t>High-Growth Opportunities in Normothermic and Hypothermic Machine Perfusion</a:t>
                      </a:r>
                      <a:endParaRPr sz="1100"/>
                    </a:p>
                  </a:txBody>
                  <a:tcPr marL="428625" marR="9525" marT="9525" marB="0" anchor="ctr"/>
                </a:tc>
              </a:tr>
              <a:tr h="175260">
                <a:tc>
                  <a:txBody>
                    <a:bodyPr wrap="square"/>
                    <a:lstStyle/>
                    <a:p>
                      <a:pPr algn="l"/>
                      <a:r>
                        <a:rPr sz="1100" b="0" i="0">
                          <a:solidFill>
                            <a:srgbClr val="0070C0"/>
                          </a:solidFill>
                          <a:latin typeface="Calibri"/>
                        </a:rPr>
                        <a:t>23.2.</a:t>
                      </a:r>
                      <a:r>
                        <a:rPr sz="700" b="0" i="0">
                          <a:solidFill>
                            <a:srgbClr val="0070C0"/>
                          </a:solidFill>
                          <a:latin typeface="Times New Roman"/>
                        </a:rPr>
                        <a:t>  </a:t>
                      </a:r>
                      <a:r>
                        <a:rPr sz="1100" b="0" i="0">
                          <a:solidFill>
                            <a:srgbClr val="0070C0"/>
                          </a:solidFill>
                          <a:latin typeface="Calibri"/>
                        </a:rPr>
                        <a:t>Organ-Specific Technology Adoption Gaps</a:t>
                      </a:r>
                      <a:endParaRPr sz="1100"/>
                    </a:p>
                  </a:txBody>
                  <a:tcPr marL="428625" marR="9525" marT="9525" marB="0" anchor="ctr"/>
                </a:tc>
              </a:tr>
              <a:tr h="175260">
                <a:tc>
                  <a:txBody>
                    <a:bodyPr wrap="square"/>
                    <a:lstStyle/>
                    <a:p>
                      <a:pPr algn="l"/>
                      <a:r>
                        <a:rPr sz="1100" b="0" i="0">
                          <a:solidFill>
                            <a:srgbClr val="0070C0"/>
                          </a:solidFill>
                          <a:latin typeface="Calibri"/>
                        </a:rPr>
                        <a:t>23.3.</a:t>
                      </a:r>
                      <a:r>
                        <a:rPr sz="700" b="0" i="0">
                          <a:solidFill>
                            <a:srgbClr val="0070C0"/>
                          </a:solidFill>
                          <a:latin typeface="Times New Roman"/>
                        </a:rPr>
                        <a:t>  </a:t>
                      </a:r>
                      <a:r>
                        <a:rPr sz="1100" b="0" i="0">
                          <a:solidFill>
                            <a:srgbClr val="0070C0"/>
                          </a:solidFill>
                          <a:latin typeface="Calibri"/>
                        </a:rPr>
                        <a:t>Opportunities in Portable Preservation and Transport Systems</a:t>
                      </a:r>
                      <a:endParaRPr sz="1100"/>
                    </a:p>
                  </a:txBody>
                  <a:tcPr marL="428625" marR="9525" marT="9525" marB="0" anchor="ctr"/>
                </a:tc>
              </a:tr>
              <a:tr h="175260">
                <a:tc>
                  <a:txBody>
                    <a:bodyPr wrap="square"/>
                    <a:lstStyle/>
                    <a:p>
                      <a:pPr algn="l"/>
                      <a:r>
                        <a:rPr sz="1100" b="0" i="0">
                          <a:solidFill>
                            <a:srgbClr val="0070C0"/>
                          </a:solidFill>
                          <a:latin typeface="Calibri"/>
                        </a:rPr>
                        <a:t>23.4.</a:t>
                      </a:r>
                      <a:r>
                        <a:rPr sz="700" b="0" i="0">
                          <a:solidFill>
                            <a:srgbClr val="0070C0"/>
                          </a:solidFill>
                          <a:latin typeface="Times New Roman"/>
                        </a:rPr>
                        <a:t>  </a:t>
                      </a:r>
                      <a:r>
                        <a:rPr sz="1100" b="0" i="0">
                          <a:solidFill>
                            <a:srgbClr val="0070C0"/>
                          </a:solidFill>
                          <a:latin typeface="Calibri"/>
                        </a:rPr>
                        <a:t>Recurring Revenue Potential from Perfusion Circuits and Consumables</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(6/7)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0" i="0">
                          <a:solidFill>
                            <a:srgbClr val="0070C0"/>
                          </a:solidFill>
                          <a:latin typeface="Calibri"/>
                        </a:rPr>
                        <a:t>23.5.</a:t>
                      </a:r>
                      <a:r>
                        <a:rPr sz="700" b="0" i="0">
                          <a:solidFill>
                            <a:srgbClr val="0070C0"/>
                          </a:solidFill>
                          <a:latin typeface="Times New Roman"/>
                        </a:rPr>
                        <a:t>  </a:t>
                      </a:r>
                      <a:r>
                        <a:rPr sz="1100" b="0" i="0">
                          <a:solidFill>
                            <a:srgbClr val="0070C0"/>
                          </a:solidFill>
                          <a:latin typeface="Calibri"/>
                        </a:rPr>
                        <a:t>Unmet Needs in Smaller and Emerging Transplant Centres</a:t>
                      </a:r>
                      <a:endParaRPr sz="1100"/>
                    </a:p>
                  </a:txBody>
                  <a:tcPr marL="428625" marR="9525" marT="9525" marB="0" anchor="ctr"/>
                </a:tc>
              </a:tr>
              <a:tr h="175260">
                <a:tc>
                  <a:txBody>
                    <a:bodyPr wrap="square"/>
                    <a:lstStyle/>
                    <a:p>
                      <a:pPr algn="l"/>
                      <a:r>
                        <a:rPr sz="1100" b="0" i="0">
                          <a:solidFill>
                            <a:srgbClr val="0070C0"/>
                          </a:solidFill>
                          <a:latin typeface="Calibri"/>
                        </a:rPr>
                        <a:t>23.6.</a:t>
                      </a:r>
                      <a:r>
                        <a:rPr sz="700" b="0" i="0">
                          <a:solidFill>
                            <a:srgbClr val="0070C0"/>
                          </a:solidFill>
                          <a:latin typeface="Times New Roman"/>
                        </a:rPr>
                        <a:t>  </a:t>
                      </a:r>
                      <a:r>
                        <a:rPr sz="1100" b="0" i="0">
                          <a:solidFill>
                            <a:srgbClr val="0070C0"/>
                          </a:solidFill>
                          <a:latin typeface="Calibri"/>
                        </a:rPr>
                        <a:t>Geographic Expansion Opportunities in Developing Transplant Markets</a:t>
                      </a:r>
                      <a:endParaRPr sz="1100"/>
                    </a:p>
                  </a:txBody>
                  <a:tcPr marL="428625" marR="9525" marT="9525" marB="0" anchor="ctr"/>
                </a:tc>
              </a:tr>
              <a:tr h="175260">
                <a:tc>
                  <a:txBody>
                    <a:bodyPr wrap="square"/>
                    <a:lstStyle/>
                    <a:p>
                      <a:pPr algn="l"/>
                      <a:r>
                        <a:rPr sz="1100" b="0" i="0">
                          <a:solidFill>
                            <a:srgbClr val="0070C0"/>
                          </a:solidFill>
                          <a:latin typeface="Calibri"/>
                        </a:rPr>
                        <a:t>23.7.</a:t>
                      </a:r>
                      <a:r>
                        <a:rPr sz="700" b="0" i="0">
                          <a:solidFill>
                            <a:srgbClr val="0070C0"/>
                          </a:solidFill>
                          <a:latin typeface="Times New Roman"/>
                        </a:rPr>
                        <a:t>  </a:t>
                      </a:r>
                      <a:r>
                        <a:rPr sz="1100" b="0" i="0">
                          <a:solidFill>
                            <a:srgbClr val="0070C0"/>
                          </a:solidFill>
                          <a:latin typeface="Calibri"/>
                        </a:rPr>
                        <a:t>Supplier and Distribution Partnership Opportunities</a:t>
                      </a:r>
                      <a:endParaRPr sz="1100"/>
                    </a:p>
                  </a:txBody>
                  <a:tcPr marL="428625" marR="9525" marT="9525" marB="0" anchor="ctr"/>
                </a:tc>
              </a:tr>
              <a:tr h="175260">
                <a:tc>
                  <a:txBody>
                    <a:bodyPr wrap="square"/>
                    <a:lstStyle/>
                    <a:p>
                      <a:pPr algn="l"/>
                      <a:r>
                        <a:rPr sz="1100" b="0" i="0">
                          <a:solidFill>
                            <a:srgbClr val="0070C0"/>
                          </a:solidFill>
                          <a:latin typeface="Calibri"/>
                        </a:rPr>
                        <a:t>23.8.</a:t>
                      </a:r>
                      <a:r>
                        <a:rPr sz="700" b="0" i="0">
                          <a:solidFill>
                            <a:srgbClr val="0070C0"/>
                          </a:solidFill>
                          <a:latin typeface="Times New Roman"/>
                        </a:rPr>
                        <a:t>  </a:t>
                      </a:r>
                      <a:r>
                        <a:rPr sz="1100" b="0" i="0">
                          <a:solidFill>
                            <a:srgbClr val="0070C0"/>
                          </a:solidFill>
                          <a:latin typeface="Calibri"/>
                        </a:rPr>
                        <a:t>Technology Licensing and Product Development Opportunities</a:t>
                      </a:r>
                      <a:endParaRPr sz="1100"/>
                    </a:p>
                  </a:txBody>
                  <a:tcPr marL="428625" marR="9525" marT="9525" marB="0" anchor="ctr"/>
                </a:tc>
              </a:tr>
              <a:tr h="175260">
                <a:tc>
                  <a:txBody>
                    <a:bodyPr wrap="square"/>
                    <a:lstStyle/>
                    <a:p>
                      <a:pPr algn="l"/>
                      <a:r>
                        <a:rPr sz="1100" b="0" i="0">
                          <a:solidFill>
                            <a:srgbClr val="0070C0"/>
                          </a:solidFill>
                          <a:latin typeface="Calibri"/>
                        </a:rPr>
                        <a:t>23.9.</a:t>
                      </a:r>
                      <a:r>
                        <a:rPr sz="700" b="0" i="0">
                          <a:solidFill>
                            <a:srgbClr val="0070C0"/>
                          </a:solidFill>
                          <a:latin typeface="Times New Roman"/>
                        </a:rPr>
                        <a:t>  </a:t>
                      </a:r>
                      <a:r>
                        <a:rPr sz="1100" b="0" i="0">
                          <a:solidFill>
                            <a:srgbClr val="0070C0"/>
                          </a:solidFill>
                          <a:latin typeface="Calibri"/>
                        </a:rPr>
                        <a:t>Competitive White Spaces by Organ Type, Technology, and Geography</a:t>
                      </a:r>
                      <a:endParaRPr sz="1100"/>
                    </a:p>
                  </a:txBody>
                  <a:tcPr marL="428625" marR="9525" marT="9525" marB="0" anchor="ctr"/>
                </a:tc>
              </a:tr>
              <a:tr h="175260">
                <a:tc>
                  <a:txBody>
                    <a:bodyPr wrap="square"/>
                    <a:lstStyle/>
                    <a:p>
                      <a:pPr algn="l"/>
                      <a:r>
                        <a:rPr sz="1100" b="1" i="0">
                          <a:solidFill>
                            <a:srgbClr val="000000"/>
                          </a:solidFill>
                          <a:latin typeface="Calibri"/>
                        </a:rPr>
                        <a:t>Section 5: Value Chain and Trade Outlook</a:t>
                      </a:r>
                      <a:endParaRPr sz="1100"/>
                    </a:p>
                  </a:txBody>
                  <a:tcPr marL="9525" marR="9525" marT="9525" marB="0" anchor="ctr"/>
                </a:tc>
              </a:tr>
              <a:tr h="175260">
                <a:tc>
                  <a:txBody>
                    <a:bodyPr wrap="square"/>
                    <a:lstStyle/>
                    <a:p>
                      <a:pPr algn="l"/>
                      <a:r>
                        <a:rPr sz="1100" b="1" i="0">
                          <a:solidFill>
                            <a:srgbClr val="000000"/>
                          </a:solidFill>
                          <a:latin typeface="Calibri"/>
                        </a:rPr>
                        <a:t>24.</a:t>
                      </a:r>
                      <a:r>
                        <a:rPr sz="700" b="1" i="0">
                          <a:solidFill>
                            <a:srgbClr val="000000"/>
                          </a:solidFill>
                          <a:latin typeface="Times New Roman"/>
                        </a:rPr>
                        <a:t>    </a:t>
                      </a:r>
                      <a:r>
                        <a:rPr sz="1100" b="1" i="0">
                          <a:solidFill>
                            <a:srgbClr val="000000"/>
                          </a:solidFill>
                          <a:latin typeface="Calibri"/>
                        </a:rPr>
                        <a:t>Global Trade Analysis</a:t>
                      </a:r>
                      <a:endParaRPr sz="1100"/>
                    </a:p>
                  </a:txBody>
                  <a:tcPr marL="171450" marR="9525" marT="9525" marB="0" anchor="ctr"/>
                </a:tc>
              </a:tr>
              <a:tr h="175260">
                <a:tc>
                  <a:txBody>
                    <a:bodyPr wrap="square"/>
                    <a:lstStyle/>
                    <a:p>
                      <a:pPr algn="l"/>
                      <a:r>
                        <a:rPr sz="1100" b="0" i="0">
                          <a:solidFill>
                            <a:srgbClr val="0070C0"/>
                          </a:solidFill>
                          <a:latin typeface="Calibri"/>
                        </a:rPr>
                        <a:t>24.1.</a:t>
                      </a:r>
                      <a:r>
                        <a:rPr sz="700" b="0" i="0">
                          <a:solidFill>
                            <a:srgbClr val="0070C0"/>
                          </a:solidFill>
                          <a:latin typeface="Times New Roman"/>
                        </a:rPr>
                        <a:t>  </a:t>
                      </a:r>
                      <a:r>
                        <a:rPr sz="1100" b="0" i="0">
                          <a:solidFill>
                            <a:srgbClr val="0070C0"/>
                          </a:solidFill>
                          <a:latin typeface="Calibri"/>
                        </a:rPr>
                        <a:t>Exports: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24.2.</a:t>
                      </a:r>
                      <a:r>
                        <a:rPr sz="700" b="0" i="0">
                          <a:solidFill>
                            <a:srgbClr val="0070C0"/>
                          </a:solidFill>
                          <a:latin typeface="Times New Roman"/>
                        </a:rPr>
                        <a:t>  </a:t>
                      </a:r>
                      <a:r>
                        <a:rPr sz="1100" b="0" i="0">
                          <a:solidFill>
                            <a:srgbClr val="0070C0"/>
                          </a:solidFill>
                          <a:latin typeface="Calibri"/>
                        </a:rPr>
                        <a:t>Imports: Key Countries, Share &amp; Value (US$ Mn / Units)</a:t>
                      </a:r>
                      <a:endParaRPr sz="1100"/>
                    </a:p>
                  </a:txBody>
                  <a:tcPr marL="428625" marR="9525" marT="9525" marB="0" anchor="ctr"/>
                </a:tc>
              </a:tr>
              <a:tr h="175260">
                <a:tc>
                  <a:txBody>
                    <a:bodyPr wrap="square"/>
                    <a:lstStyle/>
                    <a:p>
                      <a:pPr algn="l"/>
                      <a:r>
                        <a:rPr sz="1100" b="0" i="0">
                          <a:solidFill>
                            <a:srgbClr val="0070C0"/>
                          </a:solidFill>
                          <a:latin typeface="Calibri"/>
                        </a:rPr>
                        <a:t>24.3.</a:t>
                      </a:r>
                      <a:r>
                        <a:rPr sz="700" b="0" i="0">
                          <a:solidFill>
                            <a:srgbClr val="0070C0"/>
                          </a:solidFill>
                          <a:latin typeface="Times New Roman"/>
                        </a:rPr>
                        <a:t>  </a:t>
                      </a:r>
                      <a:r>
                        <a:rPr sz="1100" b="0" i="0">
                          <a:solidFill>
                            <a:srgbClr val="0070C0"/>
                          </a:solidFill>
                          <a:latin typeface="Calibri"/>
                        </a:rPr>
                        <a:t>Global Supply-Demand Overview (Sales, Import, Export)</a:t>
                      </a:r>
                      <a:endParaRPr sz="1100"/>
                    </a:p>
                  </a:txBody>
                  <a:tcPr marL="428625" marR="9525" marT="9525" marB="0" anchor="ctr"/>
                </a:tc>
              </a:tr>
              <a:tr h="175260">
                <a:tc>
                  <a:txBody>
                    <a:bodyPr wrap="square"/>
                    <a:lstStyle/>
                    <a:p>
                      <a:pPr algn="l"/>
                      <a:r>
                        <a:rPr sz="1100" b="1" i="0">
                          <a:solidFill>
                            <a:srgbClr val="000000"/>
                          </a:solidFill>
                          <a:latin typeface="Calibri"/>
                        </a:rPr>
                        <a:t>25.</a:t>
                      </a:r>
                      <a:r>
                        <a:rPr sz="700" b="1" i="0">
                          <a:solidFill>
                            <a:srgbClr val="000000"/>
                          </a:solidFill>
                          <a:latin typeface="Times New Roman"/>
                        </a:rPr>
                        <a:t>    </a:t>
                      </a:r>
                      <a:r>
                        <a:rPr sz="1100" b="1" i="0">
                          <a:solidFill>
                            <a:srgbClr val="000000"/>
                          </a:solidFill>
                          <a:latin typeface="Calibri"/>
                        </a:rPr>
                        <a:t>Value Chain Analysis</a:t>
                      </a:r>
                      <a:endParaRPr sz="1100"/>
                    </a:p>
                  </a:txBody>
                  <a:tcPr marL="171450" marR="9525" marT="9525" marB="0" anchor="ctr"/>
                </a:tc>
              </a:tr>
              <a:tr h="175260">
                <a:tc>
                  <a:txBody>
                    <a:bodyPr wrap="square"/>
                    <a:lstStyle/>
                    <a:p>
                      <a:pPr algn="l"/>
                      <a:r>
                        <a:rPr sz="1100" b="0" i="0">
                          <a:solidFill>
                            <a:srgbClr val="0070C0"/>
                          </a:solidFill>
                          <a:latin typeface="Calibri"/>
                        </a:rPr>
                        <a:t>25.1.</a:t>
                      </a:r>
                      <a:r>
                        <a:rPr sz="700" b="0" i="0">
                          <a:solidFill>
                            <a:srgbClr val="0070C0"/>
                          </a:solidFill>
                          <a:latin typeface="Times New Roman"/>
                        </a:rPr>
                        <a:t>  </a:t>
                      </a:r>
                      <a:r>
                        <a:rPr sz="1100" b="0" i="0">
                          <a:solidFill>
                            <a:srgbClr val="0070C0"/>
                          </a:solidFill>
                          <a:latin typeface="Calibri"/>
                        </a:rPr>
                        <a:t>Industry-Wide Operating Margin</a:t>
                      </a:r>
                      <a:endParaRPr sz="1100"/>
                    </a:p>
                  </a:txBody>
                  <a:tcPr marL="428625" marR="9525" marT="9525" marB="0" anchor="ctr"/>
                </a:tc>
              </a:tr>
              <a:tr h="175260">
                <a:tc>
                  <a:txBody>
                    <a:bodyPr wrap="square"/>
                    <a:lstStyle/>
                    <a:p>
                      <a:pPr algn="l"/>
                      <a:r>
                        <a:rPr sz="1100" b="0" i="0">
                          <a:solidFill>
                            <a:srgbClr val="000000"/>
                          </a:solidFill>
                          <a:latin typeface="Calibri"/>
                        </a:rPr>
                        <a:t>25.1.1.</a:t>
                      </a:r>
                      <a:r>
                        <a:rPr sz="700" b="0" i="0">
                          <a:solidFill>
                            <a:srgbClr val="000000"/>
                          </a:solidFill>
                          <a:latin typeface="Times New Roman"/>
                        </a:rPr>
                        <a:t> </a:t>
                      </a:r>
                      <a:r>
                        <a:rPr sz="1100" b="0" i="0">
                          <a:solidFill>
                            <a:srgbClr val="000000"/>
                          </a:solidFill>
                          <a:latin typeface="Calibri"/>
                        </a:rPr>
                        <a:t>Operating Margins at Each Node of Supply Chain</a:t>
                      </a:r>
                      <a:endParaRPr sz="1100"/>
                    </a:p>
                  </a:txBody>
                  <a:tcPr marL="771525" marR="9525" marT="9525" marB="0" anchor="ctr"/>
                </a:tc>
              </a:tr>
              <a:tr h="175260">
                <a:tc>
                  <a:txBody>
                    <a:bodyPr wrap="square"/>
                    <a:lstStyle/>
                    <a:p>
                      <a:pPr algn="l"/>
                      <a:r>
                        <a:rPr sz="1100" b="0" i="0">
                          <a:solidFill>
                            <a:srgbClr val="000000"/>
                          </a:solidFill>
                          <a:latin typeface="Calibri"/>
                        </a:rPr>
                        <a:t>25.1.2.</a:t>
                      </a:r>
                      <a:r>
                        <a:rPr sz="700" b="0" i="0">
                          <a:solidFill>
                            <a:srgbClr val="000000"/>
                          </a:solidFill>
                          <a:latin typeface="Times New Roman"/>
                        </a:rPr>
                        <a:t> </a:t>
                      </a:r>
                      <a:r>
                        <a:rPr sz="1100" b="0" i="0">
                          <a:solidFill>
                            <a:srgbClr val="000000"/>
                          </a:solidFill>
                          <a:latin typeface="Calibri"/>
                        </a:rPr>
                        <a:t>Operating Margins Comparison to Parent/Associated Market</a:t>
                      </a:r>
                      <a:endParaRPr sz="1100"/>
                    </a:p>
                  </a:txBody>
                  <a:tcPr marL="771525" marR="9525" marT="9525" marB="0" anchor="ctr"/>
                </a:tc>
              </a:tr>
              <a:tr h="175260">
                <a:tc>
                  <a:txBody>
                    <a:bodyPr wrap="square"/>
                    <a:lstStyle/>
                    <a:p>
                      <a:pPr algn="l"/>
                      <a:r>
                        <a:rPr sz="1100" b="0" i="0">
                          <a:solidFill>
                            <a:srgbClr val="0070C0"/>
                          </a:solidFill>
                          <a:latin typeface="Calibri"/>
                        </a:rPr>
                        <a:t>25.2.</a:t>
                      </a:r>
                      <a:r>
                        <a:rPr sz="700" b="0" i="0">
                          <a:solidFill>
                            <a:srgbClr val="0070C0"/>
                          </a:solidFill>
                          <a:latin typeface="Times New Roman"/>
                        </a:rPr>
                        <a:t>  </a:t>
                      </a:r>
                      <a:r>
                        <a:rPr sz="1100" b="0" i="0">
                          <a:solidFill>
                            <a:srgbClr val="0070C0"/>
                          </a:solidFill>
                          <a:latin typeface="Calibri"/>
                        </a:rPr>
                        <a:t>Margin Optimization Strategies</a:t>
                      </a:r>
                      <a:endParaRPr sz="1100"/>
                    </a:p>
                  </a:txBody>
                  <a:tcPr marL="428625" marR="9525" marT="9525" marB="0" anchor="ctr"/>
                </a:tc>
              </a:tr>
              <a:tr h="175260">
                <a:tc>
                  <a:txBody>
                    <a:bodyPr wrap="square"/>
                    <a:lstStyle/>
                    <a:p>
                      <a:pPr algn="l"/>
                      <a:r>
                        <a:rPr sz="1100" b="0" i="0">
                          <a:solidFill>
                            <a:srgbClr val="0070C0"/>
                          </a:solidFill>
                          <a:latin typeface="Calibri"/>
                        </a:rPr>
                        <a:t>25.3.</a:t>
                      </a:r>
                      <a:r>
                        <a:rPr sz="700" b="0" i="0">
                          <a:solidFill>
                            <a:srgbClr val="0070C0"/>
                          </a:solidFill>
                          <a:latin typeface="Times New Roman"/>
                        </a:rPr>
                        <a:t>  </a:t>
                      </a:r>
                      <a:r>
                        <a:rPr sz="1100" b="0" i="0">
                          <a:solidFill>
                            <a:srgbClr val="0070C0"/>
                          </a:solidFill>
                          <a:latin typeface="Calibri"/>
                        </a:rPr>
                        <a:t>List of Active Market Participants</a:t>
                      </a:r>
                      <a:endParaRPr sz="1100"/>
                    </a:p>
                  </a:txBody>
                  <a:tcPr marL="428625" marR="9525" marT="9525" marB="0" anchor="ctr"/>
                </a:tc>
              </a:tr>
              <a:tr h="175260">
                <a:tc>
                  <a:txBody>
                    <a:bodyPr wrap="square"/>
                    <a:lstStyle/>
                    <a:p>
                      <a:pPr algn="l"/>
                      <a:r>
                        <a:rPr sz="1100" b="0" i="0">
                          <a:solidFill>
                            <a:srgbClr val="000000"/>
                          </a:solidFill>
                          <a:latin typeface="Calibri"/>
                        </a:rPr>
                        <a:t>25.3.1.</a:t>
                      </a:r>
                      <a:r>
                        <a:rPr sz="700" b="0" i="0">
                          <a:solidFill>
                            <a:srgbClr val="000000"/>
                          </a:solidFill>
                          <a:latin typeface="Times New Roman"/>
                        </a:rPr>
                        <a:t> </a:t>
                      </a:r>
                      <a:r>
                        <a:rPr sz="1100" b="0" i="0">
                          <a:solidFill>
                            <a:srgbClr val="000000"/>
                          </a:solidFill>
                          <a:latin typeface="Calibri"/>
                        </a:rPr>
                        <a:t>Device Manufacturers/ Key Brands</a:t>
                      </a:r>
                      <a:endParaRPr sz="1100"/>
                    </a:p>
                  </a:txBody>
                  <a:tcPr marL="771525" marR="9525" marT="9525" marB="0" anchor="ctr"/>
                </a:tc>
              </a:tr>
              <a:tr h="175260">
                <a:tc>
                  <a:txBody>
                    <a:bodyPr wrap="square"/>
                    <a:lstStyle/>
                    <a:p>
                      <a:pPr algn="l"/>
                      <a:r>
                        <a:rPr sz="1100" b="0" i="0">
                          <a:solidFill>
                            <a:srgbClr val="000000"/>
                          </a:solidFill>
                          <a:latin typeface="Calibri"/>
                        </a:rPr>
                        <a:t>25.3.2.</a:t>
                      </a:r>
                      <a:r>
                        <a:rPr sz="700" b="0" i="0">
                          <a:solidFill>
                            <a:srgbClr val="000000"/>
                          </a:solidFill>
                          <a:latin typeface="Times New Roman"/>
                        </a:rPr>
                        <a:t> </a:t>
                      </a:r>
                      <a:r>
                        <a:rPr sz="1100" b="0" i="0">
                          <a:solidFill>
                            <a:srgbClr val="000000"/>
                          </a:solidFill>
                          <a:latin typeface="Calibri"/>
                        </a:rPr>
                        <a:t>Distributors/ Suppliers</a:t>
                      </a:r>
                      <a:endParaRPr sz="1100"/>
                    </a:p>
                  </a:txBody>
                  <a:tcPr marL="771525" marR="9525" marT="9525" marB="0" anchor="ctr"/>
                </a:tc>
              </a:tr>
              <a:tr h="175260">
                <a:tc>
                  <a:txBody>
                    <a:bodyPr wrap="square"/>
                    <a:lstStyle/>
                    <a:p>
                      <a:pPr algn="l"/>
                      <a:r>
                        <a:rPr sz="1100" b="0" i="0">
                          <a:solidFill>
                            <a:srgbClr val="000000"/>
                          </a:solidFill>
                          <a:latin typeface="Calibri"/>
                        </a:rPr>
                        <a:t>25.3.3.</a:t>
                      </a:r>
                      <a:r>
                        <a:rPr sz="700" b="0" i="0">
                          <a:solidFill>
                            <a:srgbClr val="000000"/>
                          </a:solidFill>
                          <a:latin typeface="Times New Roman"/>
                        </a:rPr>
                        <a:t> </a:t>
                      </a:r>
                      <a:r>
                        <a:rPr sz="1100" b="0" i="0">
                          <a:solidFill>
                            <a:srgbClr val="000000"/>
                          </a:solidFill>
                          <a:latin typeface="Calibri"/>
                        </a:rPr>
                        <a:t>Specialised Medical Logistics Providers</a:t>
                      </a:r>
                      <a:endParaRPr sz="1100"/>
                    </a:p>
                  </a:txBody>
                  <a:tcPr marL="771525" marR="9525" marT="9525" marB="0" anchor="ctr"/>
                </a:tc>
              </a:tr>
              <a:tr h="175260">
                <a:tc>
                  <a:txBody>
                    <a:bodyPr wrap="square"/>
                    <a:lstStyle/>
                    <a:p>
                      <a:pPr algn="l"/>
                      <a:r>
                        <a:rPr sz="1100" b="0" i="0">
                          <a:solidFill>
                            <a:srgbClr val="000000"/>
                          </a:solidFill>
                          <a:latin typeface="Calibri"/>
                        </a:rPr>
                        <a:t>25.3.4.</a:t>
                      </a:r>
                      <a:r>
                        <a:rPr sz="700" b="0" i="0">
                          <a:solidFill>
                            <a:srgbClr val="000000"/>
                          </a:solidFill>
                          <a:latin typeface="Times New Roman"/>
                        </a:rPr>
                        <a:t> </a:t>
                      </a:r>
                      <a:r>
                        <a:rPr sz="1100" b="0" i="0">
                          <a:solidFill>
                            <a:srgbClr val="000000"/>
                          </a:solidFill>
                          <a:latin typeface="Calibri"/>
                        </a:rPr>
                        <a:t>End Users (Hospitals, Transplant Centres &amp; OPOs)</a:t>
                      </a:r>
                      <a:endParaRPr sz="1100"/>
                    </a:p>
                  </a:txBody>
                  <a:tcPr marL="771525" marR="9525" marT="9525" marB="0" anchor="ctr"/>
                </a:tc>
              </a:tr>
              <a:tr h="350520">
                <a:tc>
                  <a:txBody>
                    <a:bodyPr wrap="square"/>
                    <a:lstStyle/>
                    <a:p>
                      <a:pPr algn="l"/>
                      <a:r>
                        <a:rPr sz="1100" b="0" i="1">
                          <a:solidFill>
                            <a:srgbClr val="FF0000"/>
                          </a:solidFill>
                          <a:latin typeface="Calibri"/>
                        </a:rPr>
                        <a:t>Note: The section lists 20-30 active market participants. For a comprehensive list, please contact the respective sales personnel</a:t>
                      </a:r>
                      <a:endParaRPr sz="1100"/>
                    </a:p>
                  </a:txBody>
                  <a:tcPr marL="9525" marR="9525" marT="9525" marB="0" anchor="ctr"/>
                </a:tc>
              </a:tr>
              <a:tr h="175260">
                <a:tc>
                  <a:txBody>
                    <a:bodyPr wrap="square"/>
                    <a:lstStyle/>
                    <a:p>
                      <a:pPr algn="l"/>
                      <a:r>
                        <a:rPr sz="1100" b="1" i="0">
                          <a:solidFill>
                            <a:srgbClr val="000000"/>
                          </a:solidFill>
                          <a:latin typeface="Calibri"/>
                        </a:rPr>
                        <a:t>Section 6: Technology Shifts — Future-Oriented Trends</a:t>
                      </a:r>
                      <a:endParaRPr sz="1100"/>
                    </a:p>
                  </a:txBody>
                  <a:tcPr marL="9525" marR="9525" marT="9525" marB="0" anchor="ctr"/>
                </a:tc>
              </a:tr>
              <a:tr h="175260">
                <a:tc>
                  <a:txBody>
                    <a:bodyPr wrap="square"/>
                    <a:lstStyle/>
                    <a:p>
                      <a:pPr algn="l"/>
                      <a:r>
                        <a:rPr sz="1100" b="1" i="0">
                          <a:solidFill>
                            <a:srgbClr val="000000"/>
                          </a:solidFill>
                          <a:latin typeface="Calibri"/>
                        </a:rPr>
                        <a:t>26.</a:t>
                      </a:r>
                      <a:r>
                        <a:rPr sz="700" b="1" i="0">
                          <a:solidFill>
                            <a:srgbClr val="000000"/>
                          </a:solidFill>
                          <a:latin typeface="Times New Roman"/>
                        </a:rPr>
                        <a:t>    </a:t>
                      </a:r>
                      <a:r>
                        <a:rPr sz="1100" b="1" i="0">
                          <a:solidFill>
                            <a:srgbClr val="000000"/>
                          </a:solidFill>
                          <a:latin typeface="Calibri"/>
                        </a:rPr>
                        <a:t>Emerging &amp; Deployable Technologies</a:t>
                      </a:r>
                      <a:endParaRPr sz="1100"/>
                    </a:p>
                  </a:txBody>
                  <a:tcPr marL="171450" marR="9525" marT="9525" marB="0" anchor="ctr"/>
                </a:tc>
              </a:tr>
              <a:tr h="175260">
                <a:tc>
                  <a:txBody>
                    <a:bodyPr wrap="square"/>
                    <a:lstStyle/>
                    <a:p>
                      <a:pPr algn="l"/>
                      <a:r>
                        <a:rPr sz="1100" b="0" i="0">
                          <a:solidFill>
                            <a:srgbClr val="0070C0"/>
                          </a:solidFill>
                          <a:latin typeface="Calibri"/>
                        </a:rPr>
                        <a:t>26.1.</a:t>
                      </a:r>
                      <a:r>
                        <a:rPr sz="700" b="0" i="0">
                          <a:solidFill>
                            <a:srgbClr val="0070C0"/>
                          </a:solidFill>
                          <a:latin typeface="Times New Roman"/>
                        </a:rPr>
                        <a:t>  </a:t>
                      </a:r>
                      <a:r>
                        <a:rPr sz="1100" b="0" i="0">
                          <a:solidFill>
                            <a:srgbClr val="0070C0"/>
                          </a:solidFill>
                          <a:latin typeface="Calibri"/>
                        </a:rPr>
                        <a:t>Normothermic Machine Perfusion (NMP)</a:t>
                      </a:r>
                      <a:endParaRPr sz="1100"/>
                    </a:p>
                  </a:txBody>
                  <a:tcPr marL="428625" marR="9525" marT="9525" marB="0" anchor="ctr"/>
                </a:tc>
              </a:tr>
              <a:tr h="175260">
                <a:tc>
                  <a:txBody>
                    <a:bodyPr wrap="square"/>
                    <a:lstStyle/>
                    <a:p>
                      <a:pPr algn="l"/>
                      <a:r>
                        <a:rPr sz="1100" b="0" i="0">
                          <a:solidFill>
                            <a:srgbClr val="0070C0"/>
                          </a:solidFill>
                          <a:latin typeface="Calibri"/>
                        </a:rPr>
                        <a:t>26.2.</a:t>
                      </a:r>
                      <a:r>
                        <a:rPr sz="700" b="0" i="0">
                          <a:solidFill>
                            <a:srgbClr val="0070C0"/>
                          </a:solidFill>
                          <a:latin typeface="Times New Roman"/>
                        </a:rPr>
                        <a:t>  </a:t>
                      </a:r>
                      <a:r>
                        <a:rPr sz="1100" b="0" i="0">
                          <a:solidFill>
                            <a:srgbClr val="0070C0"/>
                          </a:solidFill>
                          <a:latin typeface="Calibri"/>
                        </a:rPr>
                        <a:t>Hypothermic Oxygenated Perfusion (HOPE)</a:t>
                      </a:r>
                      <a:endParaRPr sz="1100"/>
                    </a:p>
                  </a:txBody>
                  <a:tcPr marL="428625" marR="9525" marT="9525" marB="0" anchor="ctr"/>
                </a:tc>
              </a:tr>
              <a:tr h="175260">
                <a:tc>
                  <a:txBody>
                    <a:bodyPr wrap="square"/>
                    <a:lstStyle/>
                    <a:p>
                      <a:pPr algn="l"/>
                      <a:r>
                        <a:rPr sz="1100" b="0" i="0">
                          <a:solidFill>
                            <a:srgbClr val="0070C0"/>
                          </a:solidFill>
                          <a:latin typeface="Calibri"/>
                        </a:rPr>
                        <a:t>26.3.</a:t>
                      </a:r>
                      <a:r>
                        <a:rPr sz="700" b="0" i="0">
                          <a:solidFill>
                            <a:srgbClr val="0070C0"/>
                          </a:solidFill>
                          <a:latin typeface="Times New Roman"/>
                        </a:rPr>
                        <a:t>  </a:t>
                      </a:r>
                      <a:r>
                        <a:rPr sz="1100" b="0" i="0">
                          <a:solidFill>
                            <a:srgbClr val="0070C0"/>
                          </a:solidFill>
                          <a:latin typeface="Calibri"/>
                        </a:rPr>
                        <a:t>Ex-Vivo Organ Assessment, Reconditioning &amp; Repair</a:t>
                      </a:r>
                      <a:endParaRPr sz="1100"/>
                    </a:p>
                  </a:txBody>
                  <a:tcPr marL="428625" marR="9525" marT="9525" marB="0" anchor="ctr"/>
                </a:tc>
              </a:tr>
              <a:tr h="175260">
                <a:tc>
                  <a:txBody>
                    <a:bodyPr wrap="square"/>
                    <a:lstStyle/>
                    <a:p>
                      <a:pPr algn="l"/>
                      <a:r>
                        <a:rPr sz="1100" b="0" i="0">
                          <a:solidFill>
                            <a:srgbClr val="0070C0"/>
                          </a:solidFill>
                          <a:latin typeface="Calibri"/>
                        </a:rPr>
                        <a:t>26.4.</a:t>
                      </a:r>
                      <a:r>
                        <a:rPr sz="700" b="0" i="0">
                          <a:solidFill>
                            <a:srgbClr val="0070C0"/>
                          </a:solidFill>
                          <a:latin typeface="Times New Roman"/>
                        </a:rPr>
                        <a:t>  </a:t>
                      </a:r>
                      <a:r>
                        <a:rPr sz="1100" b="0" i="0">
                          <a:solidFill>
                            <a:srgbClr val="0070C0"/>
                          </a:solidFill>
                          <a:latin typeface="Calibri"/>
                        </a:rPr>
                        <a:t>Real-Time Telemetry, GPS Tracking &amp; Cloud-Based Monitoring</a:t>
                      </a:r>
                      <a:endParaRPr sz="1100"/>
                    </a:p>
                  </a:txBody>
                  <a:tcPr marL="428625" marR="9525" marT="9525" marB="0" anchor="ctr"/>
                </a:tc>
              </a:tr>
              <a:tr h="175260">
                <a:tc>
                  <a:txBody>
                    <a:bodyPr wrap="square"/>
                    <a:lstStyle/>
                    <a:p>
                      <a:pPr algn="l"/>
                      <a:r>
                        <a:rPr sz="1100" b="0" i="0">
                          <a:solidFill>
                            <a:srgbClr val="0070C0"/>
                          </a:solidFill>
                          <a:latin typeface="Calibri"/>
                        </a:rPr>
                        <a:t>26.5.</a:t>
                      </a:r>
                      <a:r>
                        <a:rPr sz="700" b="0" i="0">
                          <a:solidFill>
                            <a:srgbClr val="0070C0"/>
                          </a:solidFill>
                          <a:latin typeface="Times New Roman"/>
                        </a:rPr>
                        <a:t>  </a:t>
                      </a:r>
                      <a:r>
                        <a:rPr sz="1100" b="0" i="0">
                          <a:solidFill>
                            <a:srgbClr val="0070C0"/>
                          </a:solidFill>
                          <a:latin typeface="Calibri"/>
                        </a:rPr>
                        <a:t>Subzero, Supercooling &amp; Cryopreservation Technologies</a:t>
                      </a:r>
                      <a:endParaRPr sz="1100"/>
                    </a:p>
                  </a:txBody>
                  <a:tcPr marL="428625" marR="9525" marT="9525" marB="0" anchor="ctr"/>
                </a:tc>
              </a:tr>
              <a:tr h="175260">
                <a:tc>
                  <a:txBody>
                    <a:bodyPr wrap="square"/>
                    <a:lstStyle/>
                    <a:p>
                      <a:pPr algn="l"/>
                      <a:r>
                        <a:rPr sz="1100" b="0" i="0">
                          <a:solidFill>
                            <a:srgbClr val="0070C0"/>
                          </a:solidFill>
                          <a:latin typeface="Calibri"/>
                        </a:rPr>
                        <a:t>26.6.</a:t>
                      </a:r>
                      <a:r>
                        <a:rPr sz="700" b="0" i="0">
                          <a:solidFill>
                            <a:srgbClr val="0070C0"/>
                          </a:solidFill>
                          <a:latin typeface="Times New Roman"/>
                        </a:rPr>
                        <a:t>  </a:t>
                      </a:r>
                      <a:r>
                        <a:rPr sz="1100" b="0" i="0">
                          <a:solidFill>
                            <a:srgbClr val="0070C0"/>
                          </a:solidFill>
                          <a:latin typeface="Calibri"/>
                        </a:rPr>
                        <a:t>AI-Enabled Organ Viability Assessment</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27.</a:t>
                      </a:r>
                      <a:r>
                        <a:rPr sz="700" b="1" i="0">
                          <a:solidFill>
                            <a:srgbClr val="000000"/>
                          </a:solidFill>
                          <a:latin typeface="Times New Roman"/>
                        </a:rPr>
                        <a:t>    </a:t>
                      </a:r>
                      <a:r>
                        <a:rPr sz="1100" b="1" i="0">
                          <a:solidFill>
                            <a:srgbClr val="000000"/>
                          </a:solidFill>
                          <a:latin typeface="Calibri"/>
                        </a:rPr>
                        <a:t>Technology Adoption Shifts- By Each Technology</a:t>
                      </a:r>
                      <a:endParaRPr sz="1100"/>
                    </a:p>
                  </a:txBody>
                  <a:tcPr marL="171450" marR="9525" marT="9525" marB="0" anchor="ctr"/>
                </a:tc>
              </a:tr>
              <a:tr h="175260">
                <a:tc>
                  <a:txBody>
                    <a:bodyPr wrap="square"/>
                    <a:lstStyle/>
                    <a:p>
                      <a:pPr algn="l"/>
                      <a:r>
                        <a:rPr sz="1100" b="0" i="0">
                          <a:solidFill>
                            <a:srgbClr val="0070C0"/>
                          </a:solidFill>
                          <a:latin typeface="Calibri"/>
                        </a:rPr>
                        <a:t>27.1.</a:t>
                      </a:r>
                      <a:r>
                        <a:rPr sz="700" b="0" i="0">
                          <a:solidFill>
                            <a:srgbClr val="0070C0"/>
                          </a:solidFill>
                          <a:latin typeface="Times New Roman"/>
                        </a:rPr>
                        <a:t>  </a:t>
                      </a:r>
                      <a:r>
                        <a:rPr sz="1100" b="0" i="0">
                          <a:solidFill>
                            <a:srgbClr val="0070C0"/>
                          </a:solidFill>
                          <a:latin typeface="Calibri"/>
                        </a:rPr>
                        <a:t>Technology Overview (short intro, deployable stage)</a:t>
                      </a:r>
                      <a:endParaRPr sz="1100"/>
                    </a:p>
                  </a:txBody>
                  <a:tcPr marL="428625" marR="9525" marT="9525" marB="0" anchor="ctr"/>
                </a:tc>
              </a:tr>
              <a:tr h="175260">
                <a:tc>
                  <a:txBody>
                    <a:bodyPr wrap="square"/>
                    <a:lstStyle/>
                    <a:p>
                      <a:pPr algn="l"/>
                      <a:r>
                        <a:rPr sz="1100" b="0" i="0">
                          <a:solidFill>
                            <a:srgbClr val="0070C0"/>
                          </a:solidFill>
                          <a:latin typeface="Calibri"/>
                        </a:rPr>
                        <a:t>27.2.</a:t>
                      </a:r>
                      <a:r>
                        <a:rPr sz="700" b="0" i="0">
                          <a:solidFill>
                            <a:srgbClr val="0070C0"/>
                          </a:solidFill>
                          <a:latin typeface="Times New Roman"/>
                        </a:rPr>
                        <a:t>  </a:t>
                      </a:r>
                      <a:r>
                        <a:rPr sz="1100" b="0" i="0">
                          <a:solidFill>
                            <a:srgbClr val="0070C0"/>
                          </a:solidFill>
                          <a:latin typeface="Calibri"/>
                        </a:rPr>
                        <a:t>Maturity Level (Early-stage, Emerging, Scaling, Mature)</a:t>
                      </a:r>
                      <a:endParaRPr sz="1100"/>
                    </a:p>
                  </a:txBody>
                  <a:tcPr marL="428625" marR="9525" marT="9525" marB="0" anchor="ctr"/>
                </a:tc>
              </a:tr>
              <a:tr h="175260">
                <a:tc>
                  <a:txBody>
                    <a:bodyPr wrap="square"/>
                    <a:lstStyle/>
                    <a:p>
                      <a:pPr algn="l"/>
                      <a:r>
                        <a:rPr sz="1100" b="0" i="0">
                          <a:solidFill>
                            <a:srgbClr val="0070C0"/>
                          </a:solidFill>
                          <a:latin typeface="Calibri"/>
                        </a:rPr>
                        <a:t>27.3.</a:t>
                      </a:r>
                      <a:r>
                        <a:rPr sz="700" b="0" i="0">
                          <a:solidFill>
                            <a:srgbClr val="0070C0"/>
                          </a:solidFill>
                          <a:latin typeface="Times New Roman"/>
                        </a:rPr>
                        <a:t>  </a:t>
                      </a:r>
                      <a:r>
                        <a:rPr sz="1100" b="0" i="0">
                          <a:solidFill>
                            <a:srgbClr val="0070C0"/>
                          </a:solidFill>
                          <a:latin typeface="Calibri"/>
                        </a:rPr>
                        <a:t>Scenario Forecasts</a:t>
                      </a:r>
                      <a:endParaRPr sz="1100"/>
                    </a:p>
                  </a:txBody>
                  <a:tcPr marL="428625" marR="9525" marT="9525" marB="0" anchor="ctr"/>
                </a:tc>
              </a:tr>
              <a:tr h="175260">
                <a:tc>
                  <a:txBody>
                    <a:bodyPr wrap="square"/>
                    <a:lstStyle/>
                    <a:p>
                      <a:pPr algn="l"/>
                      <a:r>
                        <a:rPr sz="1100" b="0" i="0">
                          <a:solidFill>
                            <a:srgbClr val="000000"/>
                          </a:solidFill>
                          <a:latin typeface="Calibri"/>
                        </a:rPr>
                        <a:t>27.3.1.</a:t>
                      </a:r>
                      <a:r>
                        <a:rPr sz="700" b="0" i="0">
                          <a:solidFill>
                            <a:srgbClr val="000000"/>
                          </a:solidFill>
                          <a:latin typeface="Times New Roman"/>
                        </a:rPr>
                        <a:t> </a:t>
                      </a:r>
                      <a:r>
                        <a:rPr sz="1100" b="0" i="0">
                          <a:solidFill>
                            <a:srgbClr val="000000"/>
                          </a:solidFill>
                          <a:latin typeface="Calibri"/>
                        </a:rPr>
                        <a:t>Likely Scenario (base case adoption curve)</a:t>
                      </a:r>
                      <a:endParaRPr sz="1100"/>
                    </a:p>
                  </a:txBody>
                  <a:tcPr marL="771525" marR="9525" marT="9525" marB="0" anchor="ctr"/>
                </a:tc>
              </a:tr>
              <a:tr h="350520">
                <a:tc>
                  <a:txBody>
                    <a:bodyPr wrap="square"/>
                    <a:lstStyle/>
                    <a:p>
                      <a:pPr algn="l"/>
                      <a:r>
                        <a:rPr sz="1100" b="0" i="0">
                          <a:solidFill>
                            <a:srgbClr val="000000"/>
                          </a:solidFill>
                          <a:latin typeface="Calibri"/>
                        </a:rPr>
                        <a:t>27.3.2.</a:t>
                      </a:r>
                      <a:r>
                        <a:rPr sz="700" b="0" i="0">
                          <a:solidFill>
                            <a:srgbClr val="000000"/>
                          </a:solidFill>
                          <a:latin typeface="Times New Roman"/>
                        </a:rPr>
                        <a:t> </a:t>
                      </a:r>
                      <a:r>
                        <a:rPr sz="1100" b="0" i="0">
                          <a:solidFill>
                            <a:srgbClr val="000000"/>
                          </a:solidFill>
                          <a:latin typeface="Calibri"/>
                        </a:rPr>
                        <a:t>Optimistic Scenario (faster adoption, higher reimbursement, stronger clinical evidence)</a:t>
                      </a:r>
                      <a:endParaRPr sz="1100"/>
                    </a:p>
                  </a:txBody>
                  <a:tcPr marL="771525" marR="9525" marT="9525" marB="0" anchor="ctr"/>
                </a:tc>
              </a:tr>
              <a:tr h="175260">
                <a:tc>
                  <a:txBody>
                    <a:bodyPr wrap="square"/>
                    <a:lstStyle/>
                    <a:p>
                      <a:pPr algn="l"/>
                      <a:r>
                        <a:rPr sz="1100" b="0" i="0">
                          <a:solidFill>
                            <a:srgbClr val="000000"/>
                          </a:solidFill>
                          <a:latin typeface="Calibri"/>
                        </a:rPr>
                        <a:t>27.3.3.</a:t>
                      </a:r>
                      <a:r>
                        <a:rPr sz="700" b="0" i="0">
                          <a:solidFill>
                            <a:srgbClr val="000000"/>
                          </a:solidFill>
                          <a:latin typeface="Times New Roman"/>
                        </a:rPr>
                        <a:t> </a:t>
                      </a:r>
                      <a:r>
                        <a:rPr sz="1100" b="0" i="0">
                          <a:solidFill>
                            <a:srgbClr val="000000"/>
                          </a:solidFill>
                          <a:latin typeface="Calibri"/>
                        </a:rPr>
                        <a:t>Scenario Forecast Factors &amp; Weightages</a:t>
                      </a:r>
                      <a:endParaRPr sz="1100"/>
                    </a:p>
                  </a:txBody>
                  <a:tcPr marL="771525" marR="9525" marT="9525" marB="0" anchor="ctr"/>
                </a:tc>
              </a:tr>
              <a:tr h="175260">
                <a:tc>
                  <a:txBody>
                    <a:bodyPr wrap="square"/>
                    <a:lstStyle/>
                    <a:p>
                      <a:pPr algn="l"/>
                      <a:r>
                        <a:rPr sz="1100" b="0" i="0">
                          <a:solidFill>
                            <a:srgbClr val="0070C0"/>
                          </a:solidFill>
                          <a:latin typeface="Calibri"/>
                        </a:rPr>
                        <a:t>27.4.</a:t>
                      </a:r>
                      <a:r>
                        <a:rPr sz="700" b="0" i="0">
                          <a:solidFill>
                            <a:srgbClr val="0070C0"/>
                          </a:solidFill>
                          <a:latin typeface="Times New Roman"/>
                        </a:rPr>
                        <a:t>  </a:t>
                      </a:r>
                      <a:r>
                        <a:rPr sz="1100" b="0" i="0">
                          <a:solidFill>
                            <a:srgbClr val="0070C0"/>
                          </a:solidFill>
                          <a:latin typeface="Calibri"/>
                        </a:rPr>
                        <a:t>Expected Shift Timeline</a:t>
                      </a:r>
                      <a:endParaRPr sz="1100"/>
                    </a:p>
                  </a:txBody>
                  <a:tcPr marL="428625" marR="9525" marT="9525" marB="0" anchor="ctr"/>
                </a:tc>
              </a:tr>
              <a:tr h="175260">
                <a:tc>
                  <a:txBody>
                    <a:bodyPr wrap="square"/>
                    <a:lstStyle/>
                    <a:p>
                      <a:pPr algn="l"/>
                      <a:r>
                        <a:rPr sz="1100" b="0" i="0">
                          <a:solidFill>
                            <a:srgbClr val="000000"/>
                          </a:solidFill>
                          <a:latin typeface="Calibri"/>
                        </a:rPr>
                        <a:t>27.4.1.</a:t>
                      </a:r>
                      <a:r>
                        <a:rPr sz="700" b="0" i="0">
                          <a:solidFill>
                            <a:srgbClr val="000000"/>
                          </a:solidFill>
                          <a:latin typeface="Times New Roman"/>
                        </a:rPr>
                        <a:t> </a:t>
                      </a:r>
                      <a:r>
                        <a:rPr sz="1100" b="0" i="0">
                          <a:solidFill>
                            <a:srgbClr val="000000"/>
                          </a:solidFill>
                          <a:latin typeface="Calibri"/>
                        </a:rPr>
                        <a:t>Short-Term (0–3 years)</a:t>
                      </a:r>
                      <a:endParaRPr sz="1100"/>
                    </a:p>
                  </a:txBody>
                  <a:tcPr marL="771525" marR="9525" marT="9525" marB="0" anchor="ctr"/>
                </a:tc>
              </a:tr>
              <a:tr h="175260">
                <a:tc>
                  <a:txBody>
                    <a:bodyPr wrap="square"/>
                    <a:lstStyle/>
                    <a:p>
                      <a:pPr algn="l"/>
                      <a:r>
                        <a:rPr sz="1100" b="0" i="0">
                          <a:solidFill>
                            <a:srgbClr val="000000"/>
                          </a:solidFill>
                          <a:latin typeface="Calibri"/>
                        </a:rPr>
                        <a:t>27.4.2.</a:t>
                      </a:r>
                      <a:r>
                        <a:rPr sz="700" b="0" i="0">
                          <a:solidFill>
                            <a:srgbClr val="000000"/>
                          </a:solidFill>
                          <a:latin typeface="Times New Roman"/>
                        </a:rPr>
                        <a:t> </a:t>
                      </a:r>
                      <a:r>
                        <a:rPr sz="1100" b="0" i="0">
                          <a:solidFill>
                            <a:srgbClr val="000000"/>
                          </a:solidFill>
                          <a:latin typeface="Calibri"/>
                        </a:rPr>
                        <a:t>Mid-Term (3–7 years)</a:t>
                      </a:r>
                      <a:endParaRPr sz="1100"/>
                    </a:p>
                  </a:txBody>
                  <a:tcPr marL="771525" marR="9525" marT="9525" marB="0" anchor="ctr"/>
                </a:tc>
              </a:tr>
              <a:tr h="175260">
                <a:tc>
                  <a:txBody>
                    <a:bodyPr wrap="square"/>
                    <a:lstStyle/>
                    <a:p>
                      <a:pPr algn="l"/>
                      <a:r>
                        <a:rPr sz="1100" b="0" i="0">
                          <a:solidFill>
                            <a:srgbClr val="000000"/>
                          </a:solidFill>
                          <a:latin typeface="Calibri"/>
                        </a:rPr>
                        <a:t>27.4.3.</a:t>
                      </a:r>
                      <a:r>
                        <a:rPr sz="700" b="0" i="0">
                          <a:solidFill>
                            <a:srgbClr val="000000"/>
                          </a:solidFill>
                          <a:latin typeface="Times New Roman"/>
                        </a:rPr>
                        <a:t> </a:t>
                      </a:r>
                      <a:r>
                        <a:rPr sz="1100" b="0" i="0">
                          <a:solidFill>
                            <a:srgbClr val="000000"/>
                          </a:solidFill>
                          <a:latin typeface="Calibri"/>
                        </a:rPr>
                        <a:t>Long-Term (7+ years)</a:t>
                      </a:r>
                      <a:endParaRPr sz="1100"/>
                    </a:p>
                  </a:txBody>
                  <a:tcPr marL="771525" marR="9525" marT="9525" marB="0" anchor="ctr"/>
                </a:tc>
              </a:tr>
              <a:tr h="175260">
                <a:tc>
                  <a:txBody>
                    <a:bodyPr wrap="square"/>
                    <a:lstStyle/>
                    <a:p>
                      <a:pPr algn="l"/>
                      <a:r>
                        <a:rPr sz="1100" b="0" i="0">
                          <a:solidFill>
                            <a:srgbClr val="0070C0"/>
                          </a:solidFill>
                          <a:latin typeface="Calibri"/>
                        </a:rPr>
                        <a:t>27.5.</a:t>
                      </a:r>
                      <a:r>
                        <a:rPr sz="700" b="0" i="0">
                          <a:solidFill>
                            <a:srgbClr val="0070C0"/>
                          </a:solidFill>
                          <a:latin typeface="Times New Roman"/>
                        </a:rPr>
                        <a:t>  </a:t>
                      </a:r>
                      <a:r>
                        <a:rPr sz="1100" b="0" i="0">
                          <a:solidFill>
                            <a:srgbClr val="0070C0"/>
                          </a:solidFill>
                          <a:latin typeface="Calibri"/>
                        </a:rPr>
                        <a:t>Regional Adoption Sequence</a:t>
                      </a:r>
                      <a:endParaRPr sz="1100"/>
                    </a:p>
                  </a:txBody>
                  <a:tcPr marL="428625" marR="9525" marT="9525" marB="0" anchor="ctr"/>
                </a:tc>
              </a:tr>
              <a:tr h="175260">
                <a:tc>
                  <a:txBody>
                    <a:bodyPr wrap="square"/>
                    <a:lstStyle/>
                    <a:p>
                      <a:pPr algn="l"/>
                      <a:r>
                        <a:rPr sz="1100" b="0" i="0">
                          <a:solidFill>
                            <a:srgbClr val="000000"/>
                          </a:solidFill>
                          <a:latin typeface="Calibri"/>
                        </a:rPr>
                        <a:t>27.5.1.</a:t>
                      </a:r>
                      <a:r>
                        <a:rPr sz="700" b="0" i="0">
                          <a:solidFill>
                            <a:srgbClr val="000000"/>
                          </a:solidFill>
                          <a:latin typeface="Times New Roman"/>
                        </a:rPr>
                        <a:t> </a:t>
                      </a:r>
                      <a:r>
                        <a:rPr sz="1100" b="0" i="0">
                          <a:solidFill>
                            <a:srgbClr val="000000"/>
                          </a:solidFill>
                          <a:latin typeface="Calibri"/>
                        </a:rPr>
                        <a:t>First Movers: North America, Western &amp; Northern Europe</a:t>
                      </a:r>
                      <a:endParaRPr sz="1100"/>
                    </a:p>
                  </a:txBody>
                  <a:tcPr marL="771525" marR="9525" marT="9525" marB="0" anchor="ctr"/>
                </a:tc>
              </a:tr>
              <a:tr h="175260">
                <a:tc>
                  <a:txBody>
                    <a:bodyPr wrap="square"/>
                    <a:lstStyle/>
                    <a:p>
                      <a:pPr algn="l"/>
                      <a:r>
                        <a:rPr sz="1100" b="0" i="0">
                          <a:solidFill>
                            <a:srgbClr val="000000"/>
                          </a:solidFill>
                          <a:latin typeface="Calibri"/>
                        </a:rPr>
                        <a:t>27.5.2.</a:t>
                      </a:r>
                      <a:r>
                        <a:rPr sz="700" b="0" i="0">
                          <a:solidFill>
                            <a:srgbClr val="000000"/>
                          </a:solidFill>
                          <a:latin typeface="Times New Roman"/>
                        </a:rPr>
                        <a:t> </a:t>
                      </a:r>
                      <a:r>
                        <a:rPr sz="1100" b="0" i="0">
                          <a:solidFill>
                            <a:srgbClr val="000000"/>
                          </a:solidFill>
                          <a:latin typeface="Calibri"/>
                        </a:rPr>
                        <a:t>Second Wave: East Asia, Australia &amp; New Zealand, Middle East</a:t>
                      </a:r>
                      <a:endParaRPr sz="1100"/>
                    </a:p>
                  </a:txBody>
                  <a:tcPr marL="771525" marR="9525" marT="9525" marB="0" anchor="ctr"/>
                </a:tc>
              </a:tr>
              <a:tr h="175260">
                <a:tc>
                  <a:txBody>
                    <a:bodyPr wrap="square"/>
                    <a:lstStyle/>
                    <a:p>
                      <a:pPr algn="l"/>
                      <a:r>
                        <a:rPr sz="1100" b="0" i="0">
                          <a:solidFill>
                            <a:srgbClr val="000000"/>
                          </a:solidFill>
                          <a:latin typeface="Calibri"/>
                        </a:rPr>
                        <a:t>27.5.3.</a:t>
                      </a:r>
                      <a:r>
                        <a:rPr sz="700" b="0" i="0">
                          <a:solidFill>
                            <a:srgbClr val="000000"/>
                          </a:solidFill>
                          <a:latin typeface="Times New Roman"/>
                        </a:rPr>
                        <a:t> </a:t>
                      </a:r>
                      <a:r>
                        <a:rPr sz="1100" b="0" i="0">
                          <a:solidFill>
                            <a:srgbClr val="000000"/>
                          </a:solidFill>
                          <a:latin typeface="Calibri"/>
                        </a:rPr>
                        <a:t>Third Wave: Latin America, South Asia, Africa</a:t>
                      </a:r>
                      <a:endParaRPr sz="1100"/>
                    </a:p>
                  </a:txBody>
                  <a:tcPr marL="771525" marR="9525" marT="9525" marB="0" anchor="ctr"/>
                </a:tc>
              </a:tr>
              <a:tr h="175260">
                <a:tc>
                  <a:txBody>
                    <a:bodyPr wrap="square"/>
                    <a:lstStyle/>
                    <a:p>
                      <a:pPr algn="l"/>
                      <a:r>
                        <a:rPr sz="1100" b="0" i="0">
                          <a:solidFill>
                            <a:srgbClr val="0070C0"/>
                          </a:solidFill>
                          <a:latin typeface="Calibri"/>
                        </a:rPr>
                        <a:t>27.6.</a:t>
                      </a:r>
                      <a:r>
                        <a:rPr sz="700" b="0" i="0">
                          <a:solidFill>
                            <a:srgbClr val="0070C0"/>
                          </a:solidFill>
                          <a:latin typeface="Times New Roman"/>
                        </a:rPr>
                        <a:t>  </a:t>
                      </a:r>
                      <a:r>
                        <a:rPr sz="1100" b="0" i="0">
                          <a:solidFill>
                            <a:srgbClr val="0070C0"/>
                          </a:solidFill>
                          <a:latin typeface="Calibri"/>
                        </a:rPr>
                        <a:t>Quantitative Forecast Output- By Emerging Technology</a:t>
                      </a:r>
                      <a:endParaRPr sz="1100"/>
                    </a:p>
                  </a:txBody>
                  <a:tcPr marL="428625" marR="9525" marT="9525" marB="0" anchor="ctr"/>
                </a:tc>
              </a:tr>
              <a:tr h="175260">
                <a:tc>
                  <a:txBody>
                    <a:bodyPr wrap="square"/>
                    <a:lstStyle/>
                    <a:p>
                      <a:pPr algn="l"/>
                      <a:r>
                        <a:rPr sz="1100" b="0" i="0">
                          <a:solidFill>
                            <a:srgbClr val="000000"/>
                          </a:solidFill>
                          <a:latin typeface="Calibri"/>
                        </a:rPr>
                        <a:t>27.6.1.</a:t>
                      </a:r>
                      <a:r>
                        <a:rPr sz="700" b="0" i="0">
                          <a:solidFill>
                            <a:srgbClr val="000000"/>
                          </a:solidFill>
                          <a:latin typeface="Times New Roman"/>
                        </a:rPr>
                        <a:t> </a:t>
                      </a:r>
                      <a:r>
                        <a:rPr sz="1100" b="0" i="0">
                          <a:solidFill>
                            <a:srgbClr val="000000"/>
                          </a:solidFill>
                          <a:latin typeface="Calibri"/>
                        </a:rPr>
                        <a:t>Market Size (US$ Mn) – Likely vs. Optimistic Scenarios</a:t>
                      </a:r>
                      <a:endParaRPr sz="1100"/>
                    </a:p>
                  </a:txBody>
                  <a:tcPr marL="771525" marR="9525" marT="9525" marB="0" anchor="ctr"/>
                </a:tc>
              </a:tr>
              <a:tr h="175260">
                <a:tc>
                  <a:txBody>
                    <a:bodyPr wrap="square"/>
                    <a:lstStyle/>
                    <a:p>
                      <a:pPr algn="l"/>
                      <a:r>
                        <a:rPr sz="1100" b="0" i="0">
                          <a:solidFill>
                            <a:srgbClr val="000000"/>
                          </a:solidFill>
                          <a:latin typeface="Calibri"/>
                        </a:rPr>
                        <a:t>27.6.2.</a:t>
                      </a:r>
                      <a:r>
                        <a:rPr sz="700" b="0" i="0">
                          <a:solidFill>
                            <a:srgbClr val="000000"/>
                          </a:solidFill>
                          <a:latin typeface="Times New Roman"/>
                        </a:rPr>
                        <a:t> </a:t>
                      </a:r>
                      <a:r>
                        <a:rPr sz="1100" b="0" i="0">
                          <a:solidFill>
                            <a:srgbClr val="000000"/>
                          </a:solidFill>
                          <a:latin typeface="Calibri"/>
                        </a:rPr>
                        <a:t>Adoption Rate (%) over 2026–2036</a:t>
                      </a:r>
                      <a:endParaRPr sz="1100"/>
                    </a:p>
                  </a:txBody>
                  <a:tcPr marL="771525" marR="9525" marT="9525" marB="0" anchor="ctr"/>
                </a:tc>
              </a:tr>
              <a:tr h="175260">
                <a:tc>
                  <a:txBody>
                    <a:bodyPr wrap="square"/>
                    <a:lstStyle/>
                    <a:p>
                      <a:pPr algn="l"/>
                      <a:r>
                        <a:rPr sz="1100" b="1" i="0">
                          <a:solidFill>
                            <a:srgbClr val="000000"/>
                          </a:solidFill>
                          <a:latin typeface="Calibri"/>
                        </a:rPr>
                        <a:t>Section 7: Competition Assessment</a:t>
                      </a:r>
                      <a:endParaRPr sz="1100"/>
                    </a:p>
                  </a:txBody>
                  <a:tcPr marL="9525" marR="9525" marT="9525" marB="0" anchor="ctr"/>
                </a:tc>
              </a:tr>
              <a:tr h="175260">
                <a:tc>
                  <a:txBody>
                    <a:bodyPr wrap="square"/>
                    <a:lstStyle/>
                    <a:p>
                      <a:pPr algn="l"/>
                      <a:r>
                        <a:rPr sz="1100" b="1" i="0">
                          <a:solidFill>
                            <a:srgbClr val="000000"/>
                          </a:solidFill>
                          <a:latin typeface="Calibri"/>
                        </a:rPr>
                        <a:t>28.</a:t>
                      </a:r>
                      <a:r>
                        <a:rPr sz="700" b="1" i="0">
                          <a:solidFill>
                            <a:srgbClr val="000000"/>
                          </a:solidFill>
                          <a:latin typeface="Times New Roman"/>
                        </a:rPr>
                        <a:t>    </a:t>
                      </a:r>
                      <a:r>
                        <a:rPr sz="1100" b="1" i="0">
                          <a:solidFill>
                            <a:srgbClr val="000000"/>
                          </a:solidFill>
                          <a:latin typeface="Calibri"/>
                        </a:rPr>
                        <a:t>Competition at a Glance- a Dashboard View</a:t>
                      </a:r>
                      <a:endParaRPr sz="1100"/>
                    </a:p>
                  </a:txBody>
                  <a:tcPr marL="171450" marR="9525" marT="9525" marB="0" anchor="ctr"/>
                </a:tc>
              </a:tr>
              <a:tr h="175260">
                <a:tc>
                  <a:txBody>
                    <a:bodyPr wrap="square"/>
                    <a:lstStyle/>
                    <a:p>
                      <a:pPr algn="l"/>
                      <a:r>
                        <a:rPr sz="1100" b="1" i="0">
                          <a:solidFill>
                            <a:srgbClr val="000000"/>
                          </a:solidFill>
                          <a:latin typeface="Calibri"/>
                        </a:rPr>
                        <a:t>29.</a:t>
                      </a:r>
                      <a:r>
                        <a:rPr sz="700" b="1" i="0">
                          <a:solidFill>
                            <a:srgbClr val="000000"/>
                          </a:solidFill>
                          <a:latin typeface="Times New Roman"/>
                        </a:rPr>
                        <a:t>    </a:t>
                      </a:r>
                      <a:r>
                        <a:rPr sz="1100" b="1" i="0">
                          <a:solidFill>
                            <a:srgbClr val="000000"/>
                          </a:solidFill>
                          <a:latin typeface="Calibri"/>
                        </a:rPr>
                        <a:t>Company Share (%) Analysis, 2023, 2025, 2026</a:t>
                      </a:r>
                      <a:endParaRPr sz="1100"/>
                    </a:p>
                  </a:txBody>
                  <a:tcPr marL="171450" marR="9525" marT="9525" marB="0" anchor="ctr"/>
                </a:tc>
              </a:tr>
              <a:tr h="175260">
                <a:tc>
                  <a:txBody>
                    <a:bodyPr wrap="square"/>
                    <a:lstStyle/>
                    <a:p>
                      <a:pPr algn="l"/>
                      <a:r>
                        <a:rPr sz="1100" b="0" i="0">
                          <a:solidFill>
                            <a:srgbClr val="0070C0"/>
                          </a:solidFill>
                          <a:latin typeface="Calibri"/>
                        </a:rPr>
                        <a:t>29.1.</a:t>
                      </a:r>
                      <a:r>
                        <a:rPr sz="700" b="0" i="0">
                          <a:solidFill>
                            <a:srgbClr val="0070C0"/>
                          </a:solidFill>
                          <a:latin typeface="Times New Roman"/>
                        </a:rPr>
                        <a:t>  </a:t>
                      </a:r>
                      <a:r>
                        <a:rPr sz="1100" b="0" i="0">
                          <a:solidFill>
                            <a:srgbClr val="0070C0"/>
                          </a:solidFill>
                          <a:latin typeface="Calibri"/>
                        </a:rPr>
                        <a:t>By Region</a:t>
                      </a:r>
                      <a:endParaRPr sz="1100"/>
                    </a:p>
                  </a:txBody>
                  <a:tcPr marL="428625" marR="9525" marT="9525" marB="0" anchor="ctr"/>
                </a:tc>
              </a:tr>
              <a:tr h="175260">
                <a:tc>
                  <a:txBody>
                    <a:bodyPr wrap="square"/>
                    <a:lstStyle/>
                    <a:p>
                      <a:pPr algn="l"/>
                      <a:r>
                        <a:rPr sz="1100" b="0" i="0">
                          <a:solidFill>
                            <a:srgbClr val="0070C0"/>
                          </a:solidFill>
                          <a:latin typeface="Calibri"/>
                        </a:rPr>
                        <a:t>29.2.</a:t>
                      </a:r>
                      <a:r>
                        <a:rPr sz="700" b="0" i="0">
                          <a:solidFill>
                            <a:srgbClr val="0070C0"/>
                          </a:solidFill>
                          <a:latin typeface="Times New Roman"/>
                        </a:rPr>
                        <a:t>  </a:t>
                      </a:r>
                      <a:r>
                        <a:rPr sz="1100" b="0" i="0">
                          <a:solidFill>
                            <a:srgbClr val="0070C0"/>
                          </a:solidFill>
                          <a:latin typeface="Calibri"/>
                        </a:rPr>
                        <a:t>By Device Technology</a:t>
                      </a:r>
                      <a:endParaRPr sz="1100"/>
                    </a:p>
                  </a:txBody>
                  <a:tcPr marL="428625" marR="9525" marT="9525" marB="0" anchor="ctr"/>
                </a:tc>
              </a:tr>
              <a:tr h="175260">
                <a:tc>
                  <a:txBody>
                    <a:bodyPr wrap="square"/>
                    <a:lstStyle/>
                    <a:p>
                      <a:pPr algn="l"/>
                      <a:r>
                        <a:rPr sz="1100" b="0" i="0">
                          <a:solidFill>
                            <a:srgbClr val="0070C0"/>
                          </a:solidFill>
                          <a:latin typeface="Calibri"/>
                        </a:rPr>
                        <a:t>29.3.</a:t>
                      </a:r>
                      <a:r>
                        <a:rPr sz="700" b="0" i="0">
                          <a:solidFill>
                            <a:srgbClr val="0070C0"/>
                          </a:solidFill>
                          <a:latin typeface="Times New Roman"/>
                        </a:rPr>
                        <a:t>  </a:t>
                      </a:r>
                      <a:r>
                        <a:rPr sz="1100" b="0" i="0">
                          <a:solidFill>
                            <a:srgbClr val="0070C0"/>
                          </a:solidFill>
                          <a:latin typeface="Calibri"/>
                        </a:rPr>
                        <a:t>By Organ Compatibility</a:t>
                      </a:r>
                      <a:endParaRPr sz="1100"/>
                    </a:p>
                  </a:txBody>
                  <a:tcPr marL="428625" marR="9525" marT="9525" marB="0" anchor="ctr"/>
                </a:tc>
              </a:tr>
              <a:tr h="175260">
                <a:tc>
                  <a:txBody>
                    <a:bodyPr wrap="square"/>
                    <a:lstStyle/>
                    <a:p>
                      <a:pPr algn="l"/>
                      <a:r>
                        <a:rPr sz="1100" b="0" i="0">
                          <a:solidFill>
                            <a:srgbClr val="0070C0"/>
                          </a:solidFill>
                          <a:latin typeface="Calibri"/>
                        </a:rPr>
                        <a:t>29.4.</a:t>
                      </a:r>
                      <a:r>
                        <a:rPr sz="700" b="0" i="0">
                          <a:solidFill>
                            <a:srgbClr val="0070C0"/>
                          </a:solidFill>
                          <a:latin typeface="Times New Roman"/>
                        </a:rPr>
                        <a:t>  </a:t>
                      </a:r>
                      <a:r>
                        <a:rPr sz="1100" b="0" i="0">
                          <a:solidFill>
                            <a:srgbClr val="0070C0"/>
                          </a:solidFill>
                          <a:latin typeface="Calibri"/>
                        </a:rPr>
                        <a:t>By Purchasing Organisation</a:t>
                      </a:r>
                      <a:endParaRPr sz="1100"/>
                    </a:p>
                  </a:txBody>
                  <a:tcPr marL="428625" marR="9525" marT="9525" marB="0" anchor="ctr"/>
                </a:tc>
              </a:tr>
              <a:tr h="175260">
                <a:tc>
                  <a:txBody>
                    <a:bodyPr wrap="square"/>
                    <a:lstStyle/>
                    <a:p>
                      <a:pPr algn="l"/>
                      <a:r>
                        <a:rPr sz="1100" b="1" i="0">
                          <a:solidFill>
                            <a:srgbClr val="000000"/>
                          </a:solidFill>
                          <a:latin typeface="Calibri"/>
                        </a:rPr>
                        <a:t>30.</a:t>
                      </a:r>
                      <a:r>
                        <a:rPr sz="700" b="1" i="0">
                          <a:solidFill>
                            <a:srgbClr val="000000"/>
                          </a:solidFill>
                          <a:latin typeface="Times New Roman"/>
                        </a:rPr>
                        <a:t>    </a:t>
                      </a:r>
                      <a:r>
                        <a:rPr sz="1100" b="1" i="0">
                          <a:solidFill>
                            <a:srgbClr val="000000"/>
                          </a:solidFill>
                          <a:latin typeface="Calibri"/>
                        </a:rPr>
                        <a:t>Company Share Breakdown (2026)</a:t>
                      </a:r>
                      <a:endParaRPr sz="1100"/>
                    </a:p>
                  </a:txBody>
                  <a:tcPr marL="171450" marR="9525" marT="9525" marB="0" anchor="ctr"/>
                </a:tc>
              </a:tr>
              <a:tr h="175260">
                <a:tc>
                  <a:txBody>
                    <a:bodyPr wrap="square"/>
                    <a:lstStyle/>
                    <a:p>
                      <a:pPr algn="l"/>
                      <a:r>
                        <a:rPr sz="1100" b="0" i="0">
                          <a:solidFill>
                            <a:srgbClr val="0070C0"/>
                          </a:solidFill>
                          <a:latin typeface="Calibri"/>
                        </a:rPr>
                        <a:t>30.1.</a:t>
                      </a:r>
                      <a:r>
                        <a:rPr sz="700" b="0" i="0">
                          <a:solidFill>
                            <a:srgbClr val="0070C0"/>
                          </a:solidFill>
                          <a:latin typeface="Times New Roman"/>
                        </a:rPr>
                        <a:t>  </a:t>
                      </a:r>
                      <a:r>
                        <a:rPr sz="1100" b="0" i="0">
                          <a:solidFill>
                            <a:srgbClr val="0070C0"/>
                          </a:solidFill>
                          <a:latin typeface="Calibri"/>
                        </a:rPr>
                        <a:t>Top Players (Tier 1)</a:t>
                      </a:r>
                      <a:endParaRPr sz="1100"/>
                    </a:p>
                  </a:txBody>
                  <a:tcPr marL="428625" marR="9525" marT="9525" marB="0" anchor="ctr"/>
                </a:tc>
              </a:tr>
              <a:tr h="175260">
                <a:tc>
                  <a:txBody>
                    <a:bodyPr wrap="square"/>
                    <a:lstStyle/>
                    <a:p>
                      <a:pPr algn="l"/>
                      <a:r>
                        <a:rPr sz="1100" b="0" i="0">
                          <a:solidFill>
                            <a:srgbClr val="0070C0"/>
                          </a:solidFill>
                          <a:latin typeface="Calibri"/>
                        </a:rPr>
                        <a:t>30.2.</a:t>
                      </a:r>
                      <a:r>
                        <a:rPr sz="700" b="0" i="0">
                          <a:solidFill>
                            <a:srgbClr val="0070C0"/>
                          </a:solidFill>
                          <a:latin typeface="Times New Roman"/>
                        </a:rPr>
                        <a:t>  </a:t>
                      </a:r>
                      <a:r>
                        <a:rPr sz="1100" b="0" i="0">
                          <a:solidFill>
                            <a:srgbClr val="0070C0"/>
                          </a:solidFill>
                          <a:latin typeface="Calibri"/>
                        </a:rPr>
                        <a:t>Mid-Sized Players (Tier 2)</a:t>
                      </a:r>
                      <a:endParaRPr sz="1100"/>
                    </a:p>
                  </a:txBody>
                  <a:tcPr marL="428625" marR="9525" marT="9525" marB="0" anchor="ctr"/>
                </a:tc>
              </a:tr>
              <a:tr h="175260">
                <a:tc>
                  <a:txBody>
                    <a:bodyPr wrap="square"/>
                    <a:lstStyle/>
                    <a:p>
                      <a:pPr algn="l"/>
                      <a:r>
                        <a:rPr sz="1100" b="0" i="0">
                          <a:solidFill>
                            <a:srgbClr val="0070C0"/>
                          </a:solidFill>
                          <a:latin typeface="Calibri"/>
                        </a:rPr>
                        <a:t>30.3.</a:t>
                      </a:r>
                      <a:r>
                        <a:rPr sz="700" b="0" i="0">
                          <a:solidFill>
                            <a:srgbClr val="0070C0"/>
                          </a:solidFill>
                          <a:latin typeface="Times New Roman"/>
                        </a:rPr>
                        <a:t>  </a:t>
                      </a:r>
                      <a:r>
                        <a:rPr sz="1100" b="0" i="0">
                          <a:solidFill>
                            <a:srgbClr val="0070C0"/>
                          </a:solidFill>
                          <a:latin typeface="Calibri"/>
                        </a:rPr>
                        <a:t>Emerging/Local Players (Tier 3)</a:t>
                      </a:r>
                      <a:endParaRPr sz="1100"/>
                    </a:p>
                  </a:txBody>
                  <a:tcPr marL="4286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Table of Contents (7/7)</a:t>
            </a:r>
          </a:p>
        </p:txBody>
      </p:sp>
      <p:graphicFrame>
        <p:nvGraphicFramePr>
          <p:cNvPr id="9" name="FMI Contents Table"/>
          <p:cNvGraphicFramePr>
            <a:graphicFrameLocks noGrp="1"/>
          </p:cNvGraphicFramePr>
          <p:nvPr/>
        </p:nvGraphicFramePr>
        <p:xfrm>
          <a:off x="142875" y="981075"/>
          <a:ext cx="5876925" cy="525780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31.</a:t>
                      </a:r>
                      <a:r>
                        <a:rPr sz="700" b="1" i="0">
                          <a:solidFill>
                            <a:srgbClr val="000000"/>
                          </a:solidFill>
                          <a:latin typeface="Times New Roman"/>
                        </a:rPr>
                        <a:t>    </a:t>
                      </a:r>
                      <a:r>
                        <a:rPr sz="1100" b="1" i="0">
                          <a:solidFill>
                            <a:srgbClr val="000000"/>
                          </a:solidFill>
                          <a:latin typeface="Calibri"/>
                        </a:rPr>
                        <a:t>Company Profiles</a:t>
                      </a:r>
                      <a:endParaRPr sz="1100"/>
                    </a:p>
                  </a:txBody>
                  <a:tcPr marL="171450" marR="9525" marT="9525" marB="0" anchor="ctr"/>
                </a:tc>
              </a:tr>
              <a:tr h="175260">
                <a:tc>
                  <a:txBody>
                    <a:bodyPr wrap="square"/>
                    <a:lstStyle/>
                    <a:p>
                      <a:pPr algn="l"/>
                      <a:r>
                        <a:rPr sz="1100" b="0" i="0">
                          <a:solidFill>
                            <a:srgbClr val="0070C0"/>
                          </a:solidFill>
                          <a:latin typeface="Calibri"/>
                        </a:rPr>
                        <a:t>31.1.</a:t>
                      </a:r>
                      <a:r>
                        <a:rPr sz="700" b="0" i="0">
                          <a:solidFill>
                            <a:srgbClr val="0070C0"/>
                          </a:solidFill>
                          <a:latin typeface="Times New Roman"/>
                        </a:rPr>
                        <a:t>  </a:t>
                      </a:r>
                      <a:r>
                        <a:rPr sz="1100" b="0" i="0">
                          <a:solidFill>
                            <a:srgbClr val="0070C0"/>
                          </a:solidFill>
                          <a:latin typeface="Calibri"/>
                        </a:rPr>
                        <a:t>TransMedics</a:t>
                      </a:r>
                      <a:endParaRPr sz="1100"/>
                    </a:p>
                  </a:txBody>
                  <a:tcPr marL="428625" marR="9525" marT="9525" marB="0" anchor="ctr"/>
                </a:tc>
              </a:tr>
              <a:tr h="175260">
                <a:tc>
                  <a:txBody>
                    <a:bodyPr wrap="square"/>
                    <a:lstStyle/>
                    <a:p>
                      <a:pPr algn="l"/>
                      <a:r>
                        <a:rPr sz="1100" b="0" i="0">
                          <a:solidFill>
                            <a:srgbClr val="000000"/>
                          </a:solidFill>
                          <a:latin typeface="Calibri"/>
                        </a:rPr>
                        <a:t>31.1.1.</a:t>
                      </a:r>
                      <a:r>
                        <a:rPr sz="700" b="0" i="0">
                          <a:solidFill>
                            <a:srgbClr val="000000"/>
                          </a:solidFill>
                          <a:latin typeface="Times New Roman"/>
                        </a:rPr>
                        <a:t> </a:t>
                      </a:r>
                      <a:r>
                        <a:rPr sz="1100" b="0" i="0">
                          <a:solidFill>
                            <a:srgbClr val="000000"/>
                          </a:solidFill>
                          <a:latin typeface="Calibri"/>
                        </a:rPr>
                        <a:t>Overview</a:t>
                      </a:r>
                      <a:endParaRPr sz="1100"/>
                    </a:p>
                  </a:txBody>
                  <a:tcPr marL="771525" marR="9525" marT="9525" marB="0" anchor="ctr"/>
                </a:tc>
              </a:tr>
              <a:tr h="175260">
                <a:tc>
                  <a:txBody>
                    <a:bodyPr wrap="square"/>
                    <a:lstStyle/>
                    <a:p>
                      <a:pPr algn="l"/>
                      <a:r>
                        <a:rPr sz="1100" b="0" i="0">
                          <a:solidFill>
                            <a:srgbClr val="000000"/>
                          </a:solidFill>
                          <a:latin typeface="Calibri"/>
                        </a:rPr>
                        <a:t>31.1.2.</a:t>
                      </a:r>
                      <a:r>
                        <a:rPr sz="700" b="0" i="0">
                          <a:solidFill>
                            <a:srgbClr val="000000"/>
                          </a:solidFill>
                          <a:latin typeface="Times New Roman"/>
                        </a:rPr>
                        <a:t> </a:t>
                      </a:r>
                      <a:r>
                        <a:rPr sz="1100" b="0" i="0">
                          <a:solidFill>
                            <a:srgbClr val="000000"/>
                          </a:solidFill>
                          <a:latin typeface="Calibri"/>
                        </a:rPr>
                        <a:t>Organ Transport and Preservation Product Portfolio</a:t>
                      </a:r>
                      <a:endParaRPr sz="1100"/>
                    </a:p>
                  </a:txBody>
                  <a:tcPr marL="771525" marR="9525" marT="9525" marB="0" anchor="ctr"/>
                </a:tc>
              </a:tr>
              <a:tr h="175260">
                <a:tc>
                  <a:txBody>
                    <a:bodyPr wrap="square"/>
                    <a:lstStyle/>
                    <a:p>
                      <a:pPr algn="l"/>
                      <a:r>
                        <a:rPr sz="1100" b="0" i="0">
                          <a:solidFill>
                            <a:srgbClr val="000000"/>
                          </a:solidFill>
                          <a:latin typeface="Calibri"/>
                        </a:rPr>
                        <a:t>31.1.3.</a:t>
                      </a:r>
                      <a:r>
                        <a:rPr sz="700" b="0" i="0">
                          <a:solidFill>
                            <a:srgbClr val="000000"/>
                          </a:solidFill>
                          <a:latin typeface="Times New Roman"/>
                        </a:rPr>
                        <a:t> </a:t>
                      </a:r>
                      <a:r>
                        <a:rPr sz="1100" b="0" i="0">
                          <a:solidFill>
                            <a:srgbClr val="000000"/>
                          </a:solidFill>
                          <a:latin typeface="Calibri"/>
                        </a:rPr>
                        <a:t>Key Financials, Where Publicly Available</a:t>
                      </a:r>
                      <a:endParaRPr sz="1100"/>
                    </a:p>
                  </a:txBody>
                  <a:tcPr marL="771525" marR="9525" marT="9525" marB="0" anchor="ctr"/>
                </a:tc>
              </a:tr>
              <a:tr h="175260">
                <a:tc>
                  <a:txBody>
                    <a:bodyPr wrap="square"/>
                    <a:lstStyle/>
                    <a:p>
                      <a:pPr algn="l"/>
                      <a:r>
                        <a:rPr sz="1100" b="0" i="0">
                          <a:solidFill>
                            <a:srgbClr val="000000"/>
                          </a:solidFill>
                          <a:latin typeface="Calibri"/>
                        </a:rPr>
                        <a:t>31.1.4.</a:t>
                      </a:r>
                      <a:r>
                        <a:rPr sz="700" b="0" i="0">
                          <a:solidFill>
                            <a:srgbClr val="000000"/>
                          </a:solidFill>
                          <a:latin typeface="Times New Roman"/>
                        </a:rPr>
                        <a:t> </a:t>
                      </a:r>
                      <a:r>
                        <a:rPr sz="1100" b="0" i="0">
                          <a:solidFill>
                            <a:srgbClr val="000000"/>
                          </a:solidFill>
                          <a:latin typeface="Calibri"/>
                        </a:rPr>
                        <a:t>SWOT Analysis</a:t>
                      </a:r>
                      <a:endParaRPr sz="1100"/>
                    </a:p>
                  </a:txBody>
                  <a:tcPr marL="771525" marR="9525" marT="9525" marB="0" anchor="ctr"/>
                </a:tc>
              </a:tr>
              <a:tr h="175260">
                <a:tc>
                  <a:txBody>
                    <a:bodyPr wrap="square"/>
                    <a:lstStyle/>
                    <a:p>
                      <a:pPr algn="l"/>
                      <a:r>
                        <a:rPr sz="1100" b="0" i="0">
                          <a:solidFill>
                            <a:srgbClr val="000000"/>
                          </a:solidFill>
                          <a:latin typeface="Calibri"/>
                        </a:rPr>
                        <a:t>31.1.5.</a:t>
                      </a:r>
                      <a:r>
                        <a:rPr sz="700" b="0" i="0">
                          <a:solidFill>
                            <a:srgbClr val="000000"/>
                          </a:solidFill>
                          <a:latin typeface="Times New Roman"/>
                        </a:rPr>
                        <a:t> </a:t>
                      </a:r>
                      <a:r>
                        <a:rPr sz="1100" b="0" i="0">
                          <a:solidFill>
                            <a:srgbClr val="000000"/>
                          </a:solidFill>
                          <a:latin typeface="Calibri"/>
                        </a:rPr>
                        <a:t>Key Developments</a:t>
                      </a:r>
                      <a:endParaRPr sz="1100"/>
                    </a:p>
                  </a:txBody>
                  <a:tcPr marL="771525" marR="9525" marT="9525" marB="0" anchor="ctr"/>
                </a:tc>
              </a:tr>
              <a:tr h="175260">
                <a:tc>
                  <a:txBody>
                    <a:bodyPr wrap="square"/>
                    <a:lstStyle/>
                    <a:p>
                      <a:pPr algn="l"/>
                      <a:r>
                        <a:rPr sz="1100" b="0" i="0">
                          <a:solidFill>
                            <a:srgbClr val="000000"/>
                          </a:solidFill>
                          <a:latin typeface="Calibri"/>
                        </a:rPr>
                        <a:t>31.1.6.</a:t>
                      </a:r>
                      <a:r>
                        <a:rPr sz="700" b="0" i="0">
                          <a:solidFill>
                            <a:srgbClr val="000000"/>
                          </a:solidFill>
                          <a:latin typeface="Times New Roman"/>
                        </a:rPr>
                        <a:t> </a:t>
                      </a:r>
                      <a:r>
                        <a:rPr sz="1100" b="0" i="0">
                          <a:solidFill>
                            <a:srgbClr val="000000"/>
                          </a:solidFill>
                          <a:latin typeface="Calibri"/>
                        </a:rPr>
                        <a:t>Sales Footprint</a:t>
                      </a:r>
                      <a:endParaRPr sz="1100"/>
                    </a:p>
                  </a:txBody>
                  <a:tcPr marL="771525" marR="9525" marT="9525" marB="0" anchor="ctr"/>
                </a:tc>
              </a:tr>
              <a:tr h="175260">
                <a:tc>
                  <a:txBody>
                    <a:bodyPr wrap="square"/>
                    <a:lstStyle/>
                    <a:p>
                      <a:pPr algn="l"/>
                      <a:r>
                        <a:rPr sz="1100" b="0" i="0">
                          <a:solidFill>
                            <a:srgbClr val="000000"/>
                          </a:solidFill>
                          <a:latin typeface="Calibri"/>
                        </a:rPr>
                        <a:t>31.1.7.</a:t>
                      </a:r>
                      <a:r>
                        <a:rPr sz="700" b="0" i="0">
                          <a:solidFill>
                            <a:srgbClr val="000000"/>
                          </a:solidFill>
                          <a:latin typeface="Times New Roman"/>
                        </a:rPr>
                        <a:t> </a:t>
                      </a:r>
                      <a:r>
                        <a:rPr sz="1100" b="0" i="0">
                          <a:solidFill>
                            <a:srgbClr val="000000"/>
                          </a:solidFill>
                          <a:latin typeface="Calibri"/>
                        </a:rPr>
                        <a:t>Strategy Overview</a:t>
                      </a:r>
                      <a:endParaRPr sz="1100"/>
                    </a:p>
                  </a:txBody>
                  <a:tcPr marL="771525" marR="9525" marT="9525" marB="0" anchor="ctr"/>
                </a:tc>
              </a:tr>
              <a:tr h="175260">
                <a:tc>
                  <a:txBody>
                    <a:bodyPr wrap="square"/>
                    <a:lstStyle/>
                    <a:p>
                      <a:pPr algn="l"/>
                      <a:r>
                        <a:rPr sz="1100" b="0" i="1">
                          <a:solidFill>
                            <a:srgbClr val="000000"/>
                          </a:solidFill>
                          <a:latin typeface="Calibri"/>
                        </a:rPr>
                        <a:t>31.1.7.1.</a:t>
                      </a:r>
                      <a:r>
                        <a:rPr sz="700" b="0" i="1">
                          <a:solidFill>
                            <a:srgbClr val="000000"/>
                          </a:solidFill>
                          <a:latin typeface="Times New Roman"/>
                        </a:rPr>
                        <a:t> </a:t>
                      </a:r>
                      <a:r>
                        <a:rPr sz="1100" b="0" i="1">
                          <a:solidFill>
                            <a:srgbClr val="000000"/>
                          </a:solidFill>
                          <a:latin typeface="Calibri"/>
                        </a:rPr>
                        <a:t>Marketing Strategy</a:t>
                      </a:r>
                      <a:endParaRPr sz="1100"/>
                    </a:p>
                  </a:txBody>
                  <a:tcPr marL="1028700" marR="9525" marT="9525" marB="0" anchor="ctr"/>
                </a:tc>
              </a:tr>
              <a:tr h="175260">
                <a:tc>
                  <a:txBody>
                    <a:bodyPr wrap="square"/>
                    <a:lstStyle/>
                    <a:p>
                      <a:pPr algn="l"/>
                      <a:r>
                        <a:rPr sz="1100" b="0" i="1">
                          <a:solidFill>
                            <a:srgbClr val="000000"/>
                          </a:solidFill>
                          <a:latin typeface="Calibri"/>
                        </a:rPr>
                        <a:t>31.1.7.2.</a:t>
                      </a:r>
                      <a:r>
                        <a:rPr sz="700" b="0" i="1">
                          <a:solidFill>
                            <a:srgbClr val="000000"/>
                          </a:solidFill>
                          <a:latin typeface="Times New Roman"/>
                        </a:rPr>
                        <a:t> </a:t>
                      </a:r>
                      <a:r>
                        <a:rPr sz="1100" b="0" i="1">
                          <a:solidFill>
                            <a:srgbClr val="000000"/>
                          </a:solidFill>
                          <a:latin typeface="Calibri"/>
                        </a:rPr>
                        <a:t>Product and Technology Strategy</a:t>
                      </a:r>
                      <a:endParaRPr sz="1100"/>
                    </a:p>
                  </a:txBody>
                  <a:tcPr marL="1028700" marR="9525" marT="9525" marB="0" anchor="ctr"/>
                </a:tc>
              </a:tr>
              <a:tr h="175260">
                <a:tc>
                  <a:txBody>
                    <a:bodyPr wrap="square"/>
                    <a:lstStyle/>
                    <a:p>
                      <a:pPr algn="l"/>
                      <a:r>
                        <a:rPr sz="1100" b="0" i="1">
                          <a:solidFill>
                            <a:srgbClr val="000000"/>
                          </a:solidFill>
                          <a:latin typeface="Calibri"/>
                        </a:rPr>
                        <a:t>31.1.7.3.</a:t>
                      </a:r>
                      <a:r>
                        <a:rPr sz="700" b="0" i="1">
                          <a:solidFill>
                            <a:srgbClr val="000000"/>
                          </a:solidFill>
                          <a:latin typeface="Times New Roman"/>
                        </a:rPr>
                        <a:t> </a:t>
                      </a:r>
                      <a:r>
                        <a:rPr sz="1100" b="0" i="1">
                          <a:solidFill>
                            <a:srgbClr val="000000"/>
                          </a:solidFill>
                          <a:latin typeface="Calibri"/>
                        </a:rPr>
                        <a:t>Channel Strategy</a:t>
                      </a:r>
                      <a:endParaRPr sz="1100"/>
                    </a:p>
                  </a:txBody>
                  <a:tcPr marL="1028700" marR="9525" marT="9525" marB="0" anchor="ctr"/>
                </a:tc>
              </a:tr>
              <a:tr h="175260">
                <a:tc>
                  <a:txBody>
                    <a:bodyPr wrap="square"/>
                    <a:lstStyle/>
                    <a:p>
                      <a:pPr algn="l"/>
                      <a:r>
                        <a:rPr sz="1100" b="0" i="1">
                          <a:solidFill>
                            <a:srgbClr val="FF0000"/>
                          </a:solidFill>
                          <a:latin typeface="Calibri"/>
                        </a:rPr>
                        <a:t>Note: All companies shall be indicated in similar manner</a:t>
                      </a:r>
                      <a:endParaRPr sz="1100"/>
                    </a:p>
                  </a:txBody>
                  <a:tcPr marL="9525" marR="9525" marT="9525" marB="0" anchor="ctr"/>
                </a:tc>
              </a:tr>
              <a:tr h="175260">
                <a:tc>
                  <a:txBody>
                    <a:bodyPr wrap="square"/>
                    <a:lstStyle/>
                    <a:p>
                      <a:pPr algn="l"/>
                      <a:r>
                        <a:rPr sz="1100" b="0" i="0">
                          <a:solidFill>
                            <a:srgbClr val="0070C0"/>
                          </a:solidFill>
                          <a:latin typeface="Calibri"/>
                        </a:rPr>
                        <a:t>31.2.</a:t>
                      </a:r>
                      <a:r>
                        <a:rPr sz="700" b="0" i="0">
                          <a:solidFill>
                            <a:srgbClr val="0070C0"/>
                          </a:solidFill>
                          <a:latin typeface="Times New Roman"/>
                        </a:rPr>
                        <a:t>  </a:t>
                      </a:r>
                      <a:r>
                        <a:rPr sz="1100" b="0" i="0">
                          <a:solidFill>
                            <a:srgbClr val="0070C0"/>
                          </a:solidFill>
                          <a:latin typeface="Calibri"/>
                        </a:rPr>
                        <a:t>OrganOx (Terumo)</a:t>
                      </a:r>
                      <a:endParaRPr sz="1100"/>
                    </a:p>
                  </a:txBody>
                  <a:tcPr marL="428625" marR="9525" marT="9525" marB="0" anchor="ctr"/>
                </a:tc>
              </a:tr>
              <a:tr h="175260">
                <a:tc>
                  <a:txBody>
                    <a:bodyPr wrap="square"/>
                    <a:lstStyle/>
                    <a:p>
                      <a:pPr algn="l"/>
                      <a:r>
                        <a:rPr sz="1100" b="0" i="0">
                          <a:solidFill>
                            <a:srgbClr val="0070C0"/>
                          </a:solidFill>
                          <a:latin typeface="Calibri"/>
                        </a:rPr>
                        <a:t>31.3.</a:t>
                      </a:r>
                      <a:r>
                        <a:rPr sz="700" b="0" i="0">
                          <a:solidFill>
                            <a:srgbClr val="0070C0"/>
                          </a:solidFill>
                          <a:latin typeface="Times New Roman"/>
                        </a:rPr>
                        <a:t>  </a:t>
                      </a:r>
                      <a:r>
                        <a:rPr sz="1100" b="0" i="0">
                          <a:solidFill>
                            <a:srgbClr val="0070C0"/>
                          </a:solidFill>
                          <a:latin typeface="Calibri"/>
                        </a:rPr>
                        <a:t>XVIVO Perfusion</a:t>
                      </a:r>
                      <a:endParaRPr sz="1100"/>
                    </a:p>
                  </a:txBody>
                  <a:tcPr marL="428625" marR="9525" marT="9525" marB="0" anchor="ctr"/>
                </a:tc>
              </a:tr>
              <a:tr h="175260">
                <a:tc>
                  <a:txBody>
                    <a:bodyPr wrap="square"/>
                    <a:lstStyle/>
                    <a:p>
                      <a:pPr algn="l"/>
                      <a:r>
                        <a:rPr sz="1100" b="0" i="0">
                          <a:solidFill>
                            <a:srgbClr val="0070C0"/>
                          </a:solidFill>
                          <a:latin typeface="Calibri"/>
                        </a:rPr>
                        <a:t>31.4.</a:t>
                      </a:r>
                      <a:r>
                        <a:rPr sz="700" b="0" i="0">
                          <a:solidFill>
                            <a:srgbClr val="0070C0"/>
                          </a:solidFill>
                          <a:latin typeface="Times New Roman"/>
                        </a:rPr>
                        <a:t>  </a:t>
                      </a:r>
                      <a:r>
                        <a:rPr sz="1100" b="0" i="0">
                          <a:solidFill>
                            <a:srgbClr val="0070C0"/>
                          </a:solidFill>
                          <a:latin typeface="Calibri"/>
                        </a:rPr>
                        <a:t>Paragonix Technologies (Getinge)</a:t>
                      </a:r>
                      <a:endParaRPr sz="1100"/>
                    </a:p>
                  </a:txBody>
                  <a:tcPr marL="428625" marR="9525" marT="9525" marB="0" anchor="ctr"/>
                </a:tc>
              </a:tr>
              <a:tr h="175260">
                <a:tc>
                  <a:txBody>
                    <a:bodyPr wrap="square"/>
                    <a:lstStyle/>
                    <a:p>
                      <a:pPr algn="l"/>
                      <a:r>
                        <a:rPr sz="1100" b="0" i="0">
                          <a:solidFill>
                            <a:srgbClr val="0070C0"/>
                          </a:solidFill>
                          <a:latin typeface="Calibri"/>
                        </a:rPr>
                        <a:t>31.5.</a:t>
                      </a:r>
                      <a:r>
                        <a:rPr sz="700" b="0" i="0">
                          <a:solidFill>
                            <a:srgbClr val="0070C0"/>
                          </a:solidFill>
                          <a:latin typeface="Times New Roman"/>
                        </a:rPr>
                        <a:t>  </a:t>
                      </a:r>
                      <a:r>
                        <a:rPr sz="1100" b="0" i="0">
                          <a:solidFill>
                            <a:srgbClr val="0070C0"/>
                          </a:solidFill>
                          <a:latin typeface="Calibri"/>
                        </a:rPr>
                        <a:t>Organ Recovery Systems</a:t>
                      </a:r>
                      <a:endParaRPr sz="1100"/>
                    </a:p>
                  </a:txBody>
                  <a:tcPr marL="428625" marR="9525" marT="9525" marB="0" anchor="ctr"/>
                </a:tc>
              </a:tr>
              <a:tr h="175260">
                <a:tc>
                  <a:txBody>
                    <a:bodyPr wrap="square"/>
                    <a:lstStyle/>
                    <a:p>
                      <a:pPr algn="l"/>
                      <a:r>
                        <a:rPr sz="1100" b="0" i="0">
                          <a:solidFill>
                            <a:srgbClr val="0070C0"/>
                          </a:solidFill>
                          <a:latin typeface="Calibri"/>
                        </a:rPr>
                        <a:t>31.6.</a:t>
                      </a:r>
                      <a:r>
                        <a:rPr sz="700" b="0" i="0">
                          <a:solidFill>
                            <a:srgbClr val="0070C0"/>
                          </a:solidFill>
                          <a:latin typeface="Times New Roman"/>
                        </a:rPr>
                        <a:t>  </a:t>
                      </a:r>
                      <a:r>
                        <a:rPr sz="1100" b="0" i="0">
                          <a:solidFill>
                            <a:srgbClr val="0070C0"/>
                          </a:solidFill>
                          <a:latin typeface="Calibri"/>
                        </a:rPr>
                        <a:t>IGL Group / Waters Medical Systems</a:t>
                      </a:r>
                      <a:endParaRPr sz="1100"/>
                    </a:p>
                  </a:txBody>
                  <a:tcPr marL="428625" marR="9525" marT="9525" marB="0" anchor="ctr"/>
                </a:tc>
              </a:tr>
              <a:tr h="175260">
                <a:tc>
                  <a:txBody>
                    <a:bodyPr wrap="square"/>
                    <a:lstStyle/>
                    <a:p>
                      <a:pPr algn="l"/>
                      <a:r>
                        <a:rPr sz="1100" b="0" i="0">
                          <a:solidFill>
                            <a:srgbClr val="0070C0"/>
                          </a:solidFill>
                          <a:latin typeface="Calibri"/>
                        </a:rPr>
                        <a:t>31.7.</a:t>
                      </a:r>
                      <a:r>
                        <a:rPr sz="700" b="0" i="0">
                          <a:solidFill>
                            <a:srgbClr val="0070C0"/>
                          </a:solidFill>
                          <a:latin typeface="Times New Roman"/>
                        </a:rPr>
                        <a:t>  </a:t>
                      </a:r>
                      <a:r>
                        <a:rPr sz="1100" b="0" i="0">
                          <a:solidFill>
                            <a:srgbClr val="0070C0"/>
                          </a:solidFill>
                          <a:latin typeface="Calibri"/>
                        </a:rPr>
                        <a:t>Aferetica</a:t>
                      </a:r>
                      <a:endParaRPr sz="1100"/>
                    </a:p>
                  </a:txBody>
                  <a:tcPr marL="428625" marR="9525" marT="9525" marB="0" anchor="ctr"/>
                </a:tc>
              </a:tr>
              <a:tr h="175260">
                <a:tc>
                  <a:txBody>
                    <a:bodyPr wrap="square"/>
                    <a:lstStyle/>
                    <a:p>
                      <a:pPr algn="l"/>
                      <a:r>
                        <a:rPr sz="1100" b="0" i="0">
                          <a:solidFill>
                            <a:srgbClr val="0070C0"/>
                          </a:solidFill>
                          <a:latin typeface="Calibri"/>
                        </a:rPr>
                        <a:t>31.8.</a:t>
                      </a:r>
                      <a:r>
                        <a:rPr sz="700" b="0" i="0">
                          <a:solidFill>
                            <a:srgbClr val="0070C0"/>
                          </a:solidFill>
                          <a:latin typeface="Times New Roman"/>
                        </a:rPr>
                        <a:t>  </a:t>
                      </a:r>
                      <a:r>
                        <a:rPr sz="1100" b="0" i="0">
                          <a:solidFill>
                            <a:srgbClr val="0070C0"/>
                          </a:solidFill>
                          <a:latin typeface="Calibri"/>
                        </a:rPr>
                        <a:t>EBERS Medical Technology</a:t>
                      </a:r>
                      <a:endParaRPr sz="1100"/>
                    </a:p>
                  </a:txBody>
                  <a:tcPr marL="428625" marR="9525" marT="9525" marB="0" anchor="ctr"/>
                </a:tc>
              </a:tr>
              <a:tr h="175260">
                <a:tc>
                  <a:txBody>
                    <a:bodyPr wrap="square"/>
                    <a:lstStyle/>
                    <a:p>
                      <a:pPr algn="l"/>
                      <a:r>
                        <a:rPr sz="1100" b="0" i="0">
                          <a:solidFill>
                            <a:srgbClr val="0070C0"/>
                          </a:solidFill>
                          <a:latin typeface="Calibri"/>
                        </a:rPr>
                        <a:t>31.9.</a:t>
                      </a:r>
                      <a:r>
                        <a:rPr sz="700" b="0" i="0">
                          <a:solidFill>
                            <a:srgbClr val="0070C0"/>
                          </a:solidFill>
                          <a:latin typeface="Times New Roman"/>
                        </a:rPr>
                        <a:t>  </a:t>
                      </a:r>
                      <a:r>
                        <a:rPr sz="1100" b="0" i="0">
                          <a:solidFill>
                            <a:srgbClr val="0070C0"/>
                          </a:solidFill>
                          <a:latin typeface="Calibri"/>
                        </a:rPr>
                        <a:t>Traferox Technologies</a:t>
                      </a:r>
                      <a:endParaRPr sz="1100"/>
                    </a:p>
                  </a:txBody>
                  <a:tcPr marL="428625" marR="9525" marT="9525" marB="0" anchor="ctr"/>
                </a:tc>
              </a:tr>
              <a:tr h="175260">
                <a:tc>
                  <a:txBody>
                    <a:bodyPr wrap="square"/>
                    <a:lstStyle/>
                    <a:p>
                      <a:pPr algn="l"/>
                      <a:r>
                        <a:rPr sz="1100" b="0" i="0">
                          <a:solidFill>
                            <a:srgbClr val="0070C0"/>
                          </a:solidFill>
                          <a:latin typeface="Calibri"/>
                        </a:rPr>
                        <a:t>31.10.</a:t>
                      </a:r>
                      <a:r>
                        <a:rPr sz="700" b="0" i="0">
                          <a:solidFill>
                            <a:srgbClr val="0070C0"/>
                          </a:solidFill>
                          <a:latin typeface="Times New Roman"/>
                        </a:rPr>
                        <a:t> </a:t>
                      </a:r>
                      <a:r>
                        <a:rPr sz="1100" b="0" i="0">
                          <a:solidFill>
                            <a:srgbClr val="0070C0"/>
                          </a:solidFill>
                          <a:latin typeface="Calibri"/>
                        </a:rPr>
                        <a:t>Hangzhou Life Perfusor Medical Technology</a:t>
                      </a:r>
                      <a:endParaRPr sz="1100"/>
                    </a:p>
                  </a:txBody>
                  <a:tcPr marL="428625" marR="9525" marT="9525" marB="0" anchor="ctr"/>
                </a:tc>
              </a:tr>
              <a:tr h="175260">
                <a:tc>
                  <a:txBody>
                    <a:bodyPr wrap="square"/>
                    <a:lstStyle/>
                    <a:p>
                      <a:pPr algn="l"/>
                      <a:r>
                        <a:rPr sz="1100" b="0" i="0">
                          <a:solidFill>
                            <a:srgbClr val="0070C0"/>
                          </a:solidFill>
                          <a:latin typeface="Calibri"/>
                        </a:rPr>
                        <a:t>31.11.</a:t>
                      </a:r>
                      <a:r>
                        <a:rPr sz="700" b="0" i="0">
                          <a:solidFill>
                            <a:srgbClr val="0070C0"/>
                          </a:solidFill>
                          <a:latin typeface="Times New Roman"/>
                        </a:rPr>
                        <a:t> </a:t>
                      </a:r>
                      <a:r>
                        <a:rPr sz="1100" b="0" i="0">
                          <a:solidFill>
                            <a:srgbClr val="0070C0"/>
                          </a:solidFill>
                          <a:latin typeface="Calibri"/>
                        </a:rPr>
                        <a:t>ALCIS</a:t>
                      </a:r>
                      <a:endParaRPr sz="1100"/>
                    </a:p>
                  </a:txBody>
                  <a:tcPr marL="428625" marR="9525" marT="9525" marB="0" anchor="ctr"/>
                </a:tc>
              </a:tr>
              <a:tr h="175260">
                <a:tc>
                  <a:txBody>
                    <a:bodyPr wrap="square"/>
                    <a:lstStyle/>
                    <a:p>
                      <a:pPr algn="l"/>
                      <a:r>
                        <a:rPr sz="1100" b="0" i="0">
                          <a:solidFill>
                            <a:srgbClr val="0070C0"/>
                          </a:solidFill>
                          <a:latin typeface="Calibri"/>
                        </a:rPr>
                        <a:t>31.12.</a:t>
                      </a:r>
                      <a:r>
                        <a:rPr sz="700" b="0" i="0">
                          <a:solidFill>
                            <a:srgbClr val="0070C0"/>
                          </a:solidFill>
                          <a:latin typeface="Times New Roman"/>
                        </a:rPr>
                        <a:t> </a:t>
                      </a:r>
                      <a:r>
                        <a:rPr sz="1100" b="0" i="0">
                          <a:solidFill>
                            <a:srgbClr val="0070C0"/>
                          </a:solidFill>
                          <a:latin typeface="Calibri"/>
                        </a:rPr>
                        <a:t>RipplePak</a:t>
                      </a:r>
                      <a:endParaRPr sz="1100"/>
                    </a:p>
                  </a:txBody>
                  <a:tcPr marL="428625" marR="9525" marT="9525" marB="0" anchor="ctr"/>
                </a:tc>
              </a:tr>
              <a:tr h="175260">
                <a:tc>
                  <a:txBody>
                    <a:bodyPr wrap="square"/>
                    <a:lstStyle/>
                    <a:p>
                      <a:pPr algn="l"/>
                      <a:r>
                        <a:rPr sz="1100" b="0" i="0">
                          <a:solidFill>
                            <a:srgbClr val="0070C0"/>
                          </a:solidFill>
                          <a:latin typeface="Calibri"/>
                        </a:rPr>
                        <a:t>31.13.</a:t>
                      </a:r>
                      <a:r>
                        <a:rPr sz="700" b="0" i="0">
                          <a:solidFill>
                            <a:srgbClr val="0070C0"/>
                          </a:solidFill>
                          <a:latin typeface="Times New Roman"/>
                        </a:rPr>
                        <a:t> </a:t>
                      </a:r>
                      <a:r>
                        <a:rPr sz="1100" b="0" i="0">
                          <a:solidFill>
                            <a:srgbClr val="0070C0"/>
                          </a:solidFill>
                          <a:latin typeface="Calibri"/>
                        </a:rPr>
                        <a:t>True Pack Ltd.</a:t>
                      </a:r>
                      <a:endParaRPr sz="1100"/>
                    </a:p>
                  </a:txBody>
                  <a:tcPr marL="428625" marR="9525" marT="9525" marB="0" anchor="ctr"/>
                </a:tc>
              </a:tr>
              <a:tr h="175260">
                <a:tc>
                  <a:txBody>
                    <a:bodyPr wrap="square"/>
                    <a:lstStyle/>
                    <a:p>
                      <a:pPr algn="l"/>
                      <a:r>
                        <a:rPr sz="1100" b="0" i="0">
                          <a:solidFill>
                            <a:srgbClr val="0070C0"/>
                          </a:solidFill>
                          <a:latin typeface="Calibri"/>
                        </a:rPr>
                        <a:t>31.14.</a:t>
                      </a:r>
                      <a:r>
                        <a:rPr sz="700" b="0" i="0">
                          <a:solidFill>
                            <a:srgbClr val="0070C0"/>
                          </a:solidFill>
                          <a:latin typeface="Times New Roman"/>
                        </a:rPr>
                        <a:t> </a:t>
                      </a:r>
                      <a:r>
                        <a:rPr sz="1100" b="0" i="0">
                          <a:solidFill>
                            <a:srgbClr val="0070C0"/>
                          </a:solidFill>
                          <a:latin typeface="Calibri"/>
                        </a:rPr>
                        <a:t>X-Therma</a:t>
                      </a:r>
                      <a:endParaRPr sz="1100"/>
                    </a:p>
                  </a:txBody>
                  <a:tcPr marL="428625" marR="9525" marT="9525" marB="0" anchor="ctr"/>
                </a:tc>
              </a:tr>
              <a:tr h="175260">
                <a:tc>
                  <a:txBody>
                    <a:bodyPr wrap="square"/>
                    <a:lstStyle/>
                    <a:p>
                      <a:pPr algn="l"/>
                      <a:r>
                        <a:rPr sz="1100" b="0" i="0">
                          <a:solidFill>
                            <a:srgbClr val="0070C0"/>
                          </a:solidFill>
                          <a:latin typeface="Calibri"/>
                        </a:rPr>
                        <a:t>31.15.</a:t>
                      </a:r>
                      <a:r>
                        <a:rPr sz="700" b="0" i="0">
                          <a:solidFill>
                            <a:srgbClr val="0070C0"/>
                          </a:solidFill>
                          <a:latin typeface="Times New Roman"/>
                        </a:rPr>
                        <a:t> </a:t>
                      </a:r>
                      <a:r>
                        <a:rPr sz="1100" b="0" i="0">
                          <a:solidFill>
                            <a:srgbClr val="0070C0"/>
                          </a:solidFill>
                          <a:latin typeface="Calibri"/>
                        </a:rPr>
                        <a:t>Vascular Perfusion Solutions</a:t>
                      </a:r>
                      <a:endParaRPr sz="1100"/>
                    </a:p>
                  </a:txBody>
                  <a:tcPr marL="428625" marR="9525" marT="9525" marB="0" anchor="ctr"/>
                </a:tc>
              </a:tr>
              <a:tr h="175260">
                <a:tc>
                  <a:txBody>
                    <a:bodyPr wrap="square"/>
                    <a:lstStyle/>
                    <a:p>
                      <a:pPr algn="l"/>
                      <a:r>
                        <a:rPr sz="1100" b="0" i="0">
                          <a:solidFill>
                            <a:srgbClr val="0070C0"/>
                          </a:solidFill>
                          <a:latin typeface="Calibri"/>
                        </a:rPr>
                        <a:t>31.16.</a:t>
                      </a:r>
                      <a:r>
                        <a:rPr sz="700" b="0" i="0">
                          <a:solidFill>
                            <a:srgbClr val="0070C0"/>
                          </a:solidFill>
                          <a:latin typeface="Times New Roman"/>
                        </a:rPr>
                        <a:t> </a:t>
                      </a:r>
                      <a:r>
                        <a:rPr sz="1100" b="0" i="0">
                          <a:solidFill>
                            <a:srgbClr val="0070C0"/>
                          </a:solidFill>
                          <a:latin typeface="Calibri"/>
                        </a:rPr>
                        <a:t>BioMedInnovations / BMI OrganBank</a:t>
                      </a:r>
                      <a:endParaRPr sz="1100"/>
                    </a:p>
                  </a:txBody>
                  <a:tcPr marL="428625" marR="9525" marT="9525" marB="0" anchor="ctr"/>
                </a:tc>
              </a:tr>
              <a:tr h="175260">
                <a:tc>
                  <a:txBody>
                    <a:bodyPr wrap="square"/>
                    <a:lstStyle/>
                    <a:p>
                      <a:pPr algn="l"/>
                      <a:r>
                        <a:rPr sz="1100" b="0" i="0">
                          <a:solidFill>
                            <a:srgbClr val="0070C0"/>
                          </a:solidFill>
                          <a:latin typeface="Calibri"/>
                        </a:rPr>
                        <a:t>31.17.</a:t>
                      </a:r>
                      <a:r>
                        <a:rPr sz="700" b="0" i="0">
                          <a:solidFill>
                            <a:srgbClr val="0070C0"/>
                          </a:solidFill>
                          <a:latin typeface="Times New Roman"/>
                        </a:rPr>
                        <a:t> </a:t>
                      </a:r>
                      <a:r>
                        <a:rPr sz="1100" b="0" i="0">
                          <a:solidFill>
                            <a:srgbClr val="0070C0"/>
                          </a:solidFill>
                          <a:latin typeface="Calibri"/>
                        </a:rPr>
                        <a:t>Bridge to Life</a:t>
                      </a:r>
                      <a:endParaRPr sz="1100"/>
                    </a:p>
                  </a:txBody>
                  <a:tcPr marL="428625" marR="9525" marT="9525" marB="0" anchor="ctr"/>
                </a:tc>
              </a:tr>
              <a:tr h="175260">
                <a:tc>
                  <a:txBody>
                    <a:bodyPr wrap="square"/>
                    <a:lstStyle/>
                    <a:p>
                      <a:pPr algn="l"/>
                      <a:r>
                        <a:rPr sz="1100" b="0" i="0">
                          <a:solidFill>
                            <a:srgbClr val="0070C0"/>
                          </a:solidFill>
                          <a:latin typeface="Calibri"/>
                        </a:rPr>
                        <a:t>31.18.</a:t>
                      </a:r>
                      <a:r>
                        <a:rPr sz="700" b="0" i="0">
                          <a:solidFill>
                            <a:srgbClr val="0070C0"/>
                          </a:solidFill>
                          <a:latin typeface="Times New Roman"/>
                        </a:rPr>
                        <a:t> </a:t>
                      </a:r>
                      <a:r>
                        <a:rPr sz="1100" b="0" i="0">
                          <a:solidFill>
                            <a:srgbClr val="0070C0"/>
                          </a:solidFill>
                          <a:latin typeface="Calibri"/>
                        </a:rPr>
                        <a:t>Others on request</a:t>
                      </a:r>
                      <a:endParaRPr sz="1100"/>
                    </a:p>
                  </a:txBody>
                  <a:tcPr marL="4286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350520"/>
        </p:xfrm>
        <a:graphic>
          <a:graphicData uri="http://schemas.openxmlformats.org/drawingml/2006/table">
            <a:tbl>
              <a:tblPr>
                <a:tableStyleId>{3B4B98B0-60AC-42C2-AFA5-B58CD77FA1E5}</a:tableStyleId>
              </a:tblPr>
              <a:tblGrid>
                <a:gridCol w="5876925"/>
              </a:tblGrid>
              <a:tr h="175260">
                <a:tc>
                  <a:txBody>
                    <a:bodyPr wrap="square"/>
                    <a:lstStyle/>
                    <a:p>
                      <a:pPr algn="l"/>
                      <a:r>
                        <a:rPr sz="1100" b="1" i="0">
                          <a:solidFill>
                            <a:srgbClr val="000000"/>
                          </a:solidFill>
                          <a:latin typeface="Calibri"/>
                        </a:rPr>
                        <a:t>32.</a:t>
                      </a:r>
                      <a:r>
                        <a:rPr sz="700" b="1" i="0">
                          <a:solidFill>
                            <a:srgbClr val="000000"/>
                          </a:solidFill>
                          <a:latin typeface="Times New Roman"/>
                        </a:rPr>
                        <a:t>    </a:t>
                      </a:r>
                      <a:r>
                        <a:rPr sz="1100" b="1" i="0">
                          <a:solidFill>
                            <a:srgbClr val="000000"/>
                          </a:solidFill>
                          <a:latin typeface="Calibri"/>
                        </a:rPr>
                        <a:t>Assumptions and Acronyms Used</a:t>
                      </a:r>
                      <a:endParaRPr sz="1100"/>
                    </a:p>
                  </a:txBody>
                  <a:tcPr marL="171450" marR="9525" marT="9525" marB="0" anchor="ctr"/>
                </a:tc>
              </a:tr>
              <a:tr h="175260">
                <a:tc>
                  <a:txBody>
                    <a:bodyPr wrap="square"/>
                    <a:lstStyle/>
                    <a:p>
                      <a:pPr algn="l"/>
                      <a:r>
                        <a:rPr sz="1100" b="1" i="0">
                          <a:solidFill>
                            <a:srgbClr val="000000"/>
                          </a:solidFill>
                          <a:latin typeface="Calibri"/>
                        </a:rPr>
                        <a:t>33.</a:t>
                      </a:r>
                      <a:r>
                        <a:rPr sz="700" b="1" i="0">
                          <a:solidFill>
                            <a:srgbClr val="000000"/>
                          </a:solidFill>
                          <a:latin typeface="Times New Roman"/>
                        </a:rPr>
                        <a:t>    </a:t>
                      </a:r>
                      <a:r>
                        <a:rPr sz="1100" b="1" i="0">
                          <a:solidFill>
                            <a:srgbClr val="000000"/>
                          </a:solidFill>
                          <a:latin typeface="Calibri"/>
                        </a:rPr>
                        <a:t>Research Methodology</a:t>
                      </a:r>
                      <a:endParaRPr sz="1100"/>
                    </a:p>
                  </a:txBody>
                  <a:tcPr marL="171450"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9495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292475"/>
            <a:ext cx="8572500" cy="514350"/>
          </a:xfrm>
          <a:prstGeom prst="rect">
            <a:avLst/>
          </a:prstGeom>
          <a:noFill/>
        </p:spPr>
        <p:txBody>
          <a:bodyPr wrap="square" lIns="0" rIns="0" tIns="0">
            <a:spAutoFit/>
          </a:bodyPr>
          <a:lstStyle/>
          <a:p>
            <a:r>
              <a:rPr sz="3000" b="1">
                <a:solidFill>
                  <a:srgbClr val="0B3C8C"/>
                </a:solidFill>
                <a:latin typeface="Calibri"/>
              </a:rPr>
              <a:t>List of Figures, List of Tables</a:t>
            </a:r>
          </a:p>
        </p:txBody>
      </p:sp>
      <p:sp>
        <p:nvSpPr>
          <p:cNvPr id="11" name="TextBox 10"/>
          <p:cNvSpPr txBox="1"/>
          <p:nvPr/>
        </p:nvSpPr>
        <p:spPr>
          <a:xfrm>
            <a:off x="914400" y="3978275"/>
            <a:ext cx="8458200" cy="8826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figure in the full study, by analysis block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Every table in the full study, by analysis block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(1/4)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 Global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2: Global Market Value Snapshot, US$ Mn, 2026 and 2036</a:t>
                      </a:r>
                      <a:endParaRPr sz="1050"/>
                    </a:p>
                  </a:txBody>
                  <a:tcPr marL="9525" marR="9525" marT="9525" marB="0" anchor="ctr"/>
                </a:tc>
              </a:tr>
              <a:tr h="169606">
                <a:tc>
                  <a:txBody>
                    <a:bodyPr wrap="square"/>
                    <a:lstStyle/>
                    <a:p>
                      <a:pPr algn="l"/>
                      <a:r>
                        <a:rPr sz="1050" b="0" i="0">
                          <a:solidFill>
                            <a:srgbClr val="000000"/>
                          </a:solidFill>
                          <a:latin typeface="Calibri"/>
                        </a:rPr>
                        <a:t>Figure 3: Global Market Taxonomy by Segment, 2026</a:t>
                      </a:r>
                      <a:endParaRPr sz="1050"/>
                    </a:p>
                  </a:txBody>
                  <a:tcPr marL="9525" marR="9525" marT="9525" marB="0" anchor="ctr"/>
                </a:tc>
              </a:tr>
              <a:tr h="169606">
                <a:tc>
                  <a:txBody>
                    <a:bodyPr wrap="square"/>
                    <a:lstStyle/>
                    <a:p>
                      <a:pPr algn="l"/>
                      <a:r>
                        <a:rPr sz="1050" b="0" i="0">
                          <a:solidFill>
                            <a:srgbClr val="000000"/>
                          </a:solidFill>
                          <a:latin typeface="Calibri"/>
                        </a:rPr>
                        <a:t>Figure 4: Global Market Share by Device Technology, %, 2026</a:t>
                      </a:r>
                      <a:endParaRPr sz="1050"/>
                    </a:p>
                  </a:txBody>
                  <a:tcPr marL="9525" marR="9525" marT="9525" marB="0" anchor="ctr"/>
                </a:tc>
              </a:tr>
              <a:tr h="169606">
                <a:tc>
                  <a:txBody>
                    <a:bodyPr wrap="square"/>
                    <a:lstStyle/>
                    <a:p>
                      <a:pPr algn="l"/>
                      <a:r>
                        <a:rPr sz="1050" b="0" i="0">
                          <a:solidFill>
                            <a:srgbClr val="000000"/>
                          </a:solidFill>
                          <a:latin typeface="Calibri"/>
                        </a:rPr>
                        <a:t>Figure 5: Global Market Share by Organ Compatibility, %, 2026</a:t>
                      </a:r>
                      <a:endParaRPr sz="1050"/>
                    </a:p>
                  </a:txBody>
                  <a:tcPr marL="9525" marR="9525" marT="9525" marB="0" anchor="ctr"/>
                </a:tc>
              </a:tr>
              <a:tr h="169606">
                <a:tc>
                  <a:txBody>
                    <a:bodyPr wrap="square"/>
                    <a:lstStyle/>
                    <a:p>
                      <a:pPr algn="l"/>
                      <a:r>
                        <a:rPr sz="1050" b="0" i="0">
                          <a:solidFill>
                            <a:srgbClr val="000000"/>
                          </a:solidFill>
                          <a:latin typeface="Calibri"/>
                        </a:rPr>
                        <a:t>Figure 6: Global Market Share by Device Reusability, %, 2026</a:t>
                      </a:r>
                      <a:endParaRPr sz="1050"/>
                    </a:p>
                  </a:txBody>
                  <a:tcPr marL="9525" marR="9525" marT="9525" marB="0" anchor="ctr"/>
                </a:tc>
              </a:tr>
              <a:tr h="169606">
                <a:tc>
                  <a:txBody>
                    <a:bodyPr wrap="square"/>
                    <a:lstStyle/>
                    <a:p>
                      <a:pPr algn="l"/>
                      <a:r>
                        <a:rPr sz="1050" b="0" i="0">
                          <a:solidFill>
                            <a:srgbClr val="000000"/>
                          </a:solidFill>
                          <a:latin typeface="Calibri"/>
                        </a:rPr>
                        <a:t>Figure 7: Global Market Share by Monitoring Capability, %, 2026</a:t>
                      </a:r>
                      <a:endParaRPr sz="1050"/>
                    </a:p>
                  </a:txBody>
                  <a:tcPr marL="9525" marR="9525" marT="9525" marB="0" anchor="ctr"/>
                </a:tc>
              </a:tr>
              <a:tr h="169606">
                <a:tc>
                  <a:txBody>
                    <a:bodyPr wrap="square"/>
                    <a:lstStyle/>
                    <a:p>
                      <a:pPr algn="l"/>
                      <a:r>
                        <a:rPr sz="1050" b="0" i="0">
                          <a:solidFill>
                            <a:srgbClr val="000000"/>
                          </a:solidFill>
                          <a:latin typeface="Calibri"/>
                        </a:rPr>
                        <a:t>Figure 8: Global Market Share by Purchasing Organisation, %, 2026</a:t>
                      </a:r>
                      <a:endParaRPr sz="1050"/>
                    </a:p>
                  </a:txBody>
                  <a:tcPr marL="9525" marR="9525" marT="9525" marB="0" anchor="ctr"/>
                </a:tc>
              </a:tr>
              <a:tr h="169606">
                <a:tc>
                  <a:txBody>
                    <a:bodyPr wrap="square"/>
                    <a:lstStyle/>
                    <a:p>
                      <a:pPr algn="l"/>
                      <a:r>
                        <a:rPr sz="1050" b="0" i="0">
                          <a:solidFill>
                            <a:srgbClr val="000000"/>
                          </a:solidFill>
                          <a:latin typeface="Calibri"/>
                        </a:rPr>
                        <a:t>Figure 9: Global Market Share by Sales Channel, %, 2026</a:t>
                      </a:r>
                      <a:endParaRPr sz="1050"/>
                    </a:p>
                  </a:txBody>
                  <a:tcPr marL="9525" marR="9525" marT="9525" marB="0" anchor="ctr"/>
                </a:tc>
              </a:tr>
              <a:tr h="169606">
                <a:tc>
                  <a:txBody>
                    <a:bodyPr wrap="square"/>
                    <a:lstStyle/>
                    <a:p>
                      <a:pPr algn="l"/>
                      <a:r>
                        <a:rPr sz="1050" b="0" i="0">
                          <a:solidFill>
                            <a:srgbClr val="000000"/>
                          </a:solidFill>
                          <a:latin typeface="Calibri"/>
                        </a:rPr>
                        <a:t>Figure 10: Global Market Historical Value, US$ Mn, 2021–2025</a:t>
                      </a:r>
                      <a:endParaRPr sz="1050"/>
                    </a:p>
                  </a:txBody>
                  <a:tcPr marL="9525" marR="9525" marT="9525" marB="0" anchor="ctr"/>
                </a:tc>
              </a:tr>
              <a:tr h="169606">
                <a:tc>
                  <a:txBody>
                    <a:bodyPr wrap="square"/>
                    <a:lstStyle/>
                    <a:p>
                      <a:pPr algn="l"/>
                      <a:r>
                        <a:rPr sz="1050" b="0" i="0">
                          <a:solidFill>
                            <a:srgbClr val="000000"/>
                          </a:solidFill>
                          <a:latin typeface="Calibri"/>
                        </a:rPr>
                        <a:t>Figure 11: Global Market Forecast Value, US$ Mn, 2026–2036</a:t>
                      </a:r>
                      <a:endParaRPr sz="1050"/>
                    </a:p>
                  </a:txBody>
                  <a:tcPr marL="9525" marR="9525" marT="9525" marB="0" anchor="ctr"/>
                </a:tc>
              </a:tr>
              <a:tr h="169606">
                <a:tc>
                  <a:txBody>
                    <a:bodyPr wrap="square"/>
                    <a:lstStyle/>
                    <a:p>
                      <a:pPr algn="l"/>
                      <a:r>
                        <a:rPr sz="1050" b="0" i="0">
                          <a:solidFill>
                            <a:srgbClr val="000000"/>
                          </a:solidFill>
                          <a:latin typeface="Calibri"/>
                        </a:rPr>
                        <a:t>Figure 12: Global Market YoY Growth, %, 2021–2036</a:t>
                      </a:r>
                      <a:endParaRPr sz="1050"/>
                    </a:p>
                  </a:txBody>
                  <a:tcPr marL="9525" marR="9525" marT="9525" marB="0" anchor="ctr"/>
                </a:tc>
              </a:tr>
              <a:tr h="169606">
                <a:tc>
                  <a:txBody>
                    <a:bodyPr wrap="square"/>
                    <a:lstStyle/>
                    <a:p>
                      <a:pPr algn="l"/>
                      <a:r>
                        <a:rPr sz="1050" b="0" i="0">
                          <a:solidFill>
                            <a:srgbClr val="000000"/>
                          </a:solidFill>
                          <a:latin typeface="Calibri"/>
                        </a:rPr>
                        <a:t>Figure 13: Global Market Volume and YoY Growth, Units and %, 2021–2036</a:t>
                      </a:r>
                      <a:endParaRPr sz="1050"/>
                    </a:p>
                  </a:txBody>
                  <a:tcPr marL="9525" marR="9525" marT="9525" marB="0" anchor="ctr"/>
                </a:tc>
              </a:tr>
              <a:tr h="169606">
                <a:tc>
                  <a:txBody>
                    <a:bodyPr wrap="square"/>
                    <a:lstStyle/>
                    <a:p>
                      <a:pPr algn="l"/>
                      <a:r>
                        <a:rPr sz="1050" b="0" i="0">
                          <a:solidFill>
                            <a:srgbClr val="000000"/>
                          </a:solidFill>
                          <a:latin typeface="Calibri"/>
                        </a:rPr>
                        <a:t>Figure 14: Global Market Volume vs Value CAGR Comparison, %, 2026–2036</a:t>
                      </a:r>
                      <a:endParaRPr sz="1050"/>
                    </a:p>
                  </a:txBody>
                  <a:tcPr marL="9525" marR="9525" marT="9525" marB="0" anchor="ctr"/>
                </a:tc>
              </a:tr>
              <a:tr h="169606">
                <a:tc>
                  <a:txBody>
                    <a:bodyPr wrap="square"/>
                    <a:lstStyle/>
                    <a:p>
                      <a:pPr algn="l"/>
                      <a:r>
                        <a:rPr sz="1050" b="0" i="0">
                          <a:solidFill>
                            <a:srgbClr val="000000"/>
                          </a:solidFill>
                          <a:latin typeface="Calibri"/>
                        </a:rPr>
                        <a:t>Figure 15: Global Market Average Selling Price, US$/Units, 2021–2036</a:t>
                      </a:r>
                      <a:endParaRPr sz="1050"/>
                    </a:p>
                  </a:txBody>
                  <a:tcPr marL="9525" marR="9525" marT="9525" marB="0" anchor="ctr"/>
                </a:tc>
              </a:tr>
              <a:tr h="169606">
                <a:tc>
                  <a:txBody>
                    <a:bodyPr wrap="square"/>
                    <a:lstStyle/>
                    <a:p>
                      <a:pPr algn="l"/>
                      <a:r>
                        <a:rPr sz="1050" b="0" i="0">
                          <a:solidFill>
                            <a:srgbClr val="000000"/>
                          </a:solidFill>
                          <a:latin typeface="Calibri"/>
                        </a:rPr>
                        <a:t>Figure 16: Global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17: Global Market Incremental Opportunity by Year, US$ Mn, 2026–2036</a:t>
                      </a:r>
                      <a:endParaRPr sz="1050"/>
                    </a:p>
                  </a:txBody>
                  <a:tcPr marL="9525" marR="9525" marT="9525" marB="0" anchor="ctr"/>
                </a:tc>
              </a:tr>
              <a:tr h="169606">
                <a:tc>
                  <a:txBody>
                    <a:bodyPr wrap="square"/>
                    <a:lstStyle/>
                    <a:p>
                      <a:pPr algn="l"/>
                      <a:r>
                        <a:rPr sz="1050" b="0" i="0">
                          <a:solidFill>
                            <a:srgbClr val="000000"/>
                          </a:solidFill>
                          <a:latin typeface="Calibri"/>
                        </a:rPr>
                        <a:t>Figure 18: Global Market Historical vs Forecast CAGR, %, 2021–2036</a:t>
                      </a:r>
                      <a:endParaRPr sz="1050"/>
                    </a:p>
                  </a:txBody>
                  <a:tcPr marL="9525" marR="9525" marT="9525" marB="0" anchor="ctr"/>
                </a:tc>
              </a:tr>
              <a:tr h="169606">
                <a:tc>
                  <a:txBody>
                    <a:bodyPr wrap="square"/>
                    <a:lstStyle/>
                    <a:p>
                      <a:pPr algn="l"/>
                      <a:r>
                        <a:rPr sz="1050" b="0" i="0">
                          <a:solidFill>
                            <a:srgbClr val="000000"/>
                          </a:solidFill>
                          <a:latin typeface="Calibri"/>
                        </a:rPr>
                        <a:t>Figure 19: Global Market Value by Scenario (Optimistic, Likely, Pessimistic), US$ Mn, 2026–2036</a:t>
                      </a:r>
                      <a:endParaRPr sz="1050"/>
                    </a:p>
                  </a:txBody>
                  <a:tcPr marL="9525" marR="9525" marT="9525" marB="0" anchor="ctr"/>
                </a:tc>
              </a:tr>
              <a:tr h="169606">
                <a:tc>
                  <a:txBody>
                    <a:bodyPr wrap="square"/>
                    <a:lstStyle/>
                    <a:p>
                      <a:pPr algn="l"/>
                      <a:r>
                        <a:rPr sz="1050" b="0" i="0">
                          <a:solidFill>
                            <a:srgbClr val="000000"/>
                          </a:solidFill>
                          <a:latin typeface="Calibri"/>
                        </a:rPr>
                        <a:t>Figure 20: Global Market Size Evolution Index, 2025=100, 2021–2036</a:t>
                      </a:r>
                      <a:endParaRPr sz="1050"/>
                    </a:p>
                  </a:txBody>
                  <a:tcPr marL="9525" marR="9525" marT="9525" marB="0" anchor="ctr"/>
                </a:tc>
              </a:tr>
              <a:tr h="169606">
                <a:tc>
                  <a:txBody>
                    <a:bodyPr wrap="square"/>
                    <a:lstStyle/>
                    <a:p>
                      <a:pPr algn="l"/>
                      <a:r>
                        <a:rPr sz="1050" b="0" i="0">
                          <a:solidFill>
                            <a:srgbClr val="000000"/>
                          </a:solidFill>
                          <a:latin typeface="Calibri"/>
                        </a:rPr>
                        <a:t>Figure 21: Global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Figure 22: Global Market Value by Organ Compatibility, US$ Mn, 2021–2036</a:t>
                      </a:r>
                      <a:endParaRPr sz="1050"/>
                    </a:p>
                  </a:txBody>
                  <a:tcPr marL="9525" marR="9525" marT="9525" marB="0" anchor="ctr"/>
                </a:tc>
              </a:tr>
              <a:tr h="169606">
                <a:tc>
                  <a:txBody>
                    <a:bodyPr wrap="square"/>
                    <a:lstStyle/>
                    <a:p>
                      <a:pPr algn="l"/>
                      <a:r>
                        <a:rPr sz="1050" b="0" i="0">
                          <a:solidFill>
                            <a:srgbClr val="000000"/>
                          </a:solidFill>
                          <a:latin typeface="Calibri"/>
                        </a:rPr>
                        <a:t>Figure 23: Global Market Value by Device Reusability, US$ Mn, 2021–2036</a:t>
                      </a:r>
                      <a:endParaRPr sz="1050"/>
                    </a:p>
                  </a:txBody>
                  <a:tcPr marL="9525" marR="9525" marT="9525" marB="0" anchor="ctr"/>
                </a:tc>
              </a:tr>
              <a:tr h="169606">
                <a:tc>
                  <a:txBody>
                    <a:bodyPr wrap="square"/>
                    <a:lstStyle/>
                    <a:p>
                      <a:pPr algn="l"/>
                      <a:r>
                        <a:rPr sz="1050" b="0" i="0">
                          <a:solidFill>
                            <a:srgbClr val="000000"/>
                          </a:solidFill>
                          <a:latin typeface="Calibri"/>
                        </a:rPr>
                        <a:t>Figure 24: Global Market Value by Monitoring Capability, US$ Mn, 2021–2036</a:t>
                      </a:r>
                      <a:endParaRPr sz="1050"/>
                    </a:p>
                  </a:txBody>
                  <a:tcPr marL="9525" marR="9525" marT="9525" marB="0" anchor="ctr"/>
                </a:tc>
              </a:tr>
              <a:tr h="169606">
                <a:tc>
                  <a:txBody>
                    <a:bodyPr wrap="square"/>
                    <a:lstStyle/>
                    <a:p>
                      <a:pPr algn="l"/>
                      <a:r>
                        <a:rPr sz="1050" b="0" i="0">
                          <a:solidFill>
                            <a:srgbClr val="000000"/>
                          </a:solidFill>
                          <a:latin typeface="Calibri"/>
                        </a:rPr>
                        <a:t>Figure 25: Global Market Value by Purchasing Organisation, US$ Mn, 2021–2036</a:t>
                      </a:r>
                      <a:endParaRPr sz="1050"/>
                    </a:p>
                  </a:txBody>
                  <a:tcPr marL="9525" marR="9525" marT="9525" marB="0" anchor="ctr"/>
                </a:tc>
              </a:tr>
              <a:tr h="169606">
                <a:tc>
                  <a:txBody>
                    <a:bodyPr wrap="square"/>
                    <a:lstStyle/>
                    <a:p>
                      <a:pPr algn="l"/>
                      <a:r>
                        <a:rPr sz="1050" b="0" i="0">
                          <a:solidFill>
                            <a:srgbClr val="000000"/>
                          </a:solidFill>
                          <a:latin typeface="Calibri"/>
                        </a:rPr>
                        <a:t>Figure 26: Global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Figure 27: Global Market Share by Device Technology, %, 2026 and 2036</a:t>
                      </a:r>
                      <a:endParaRPr sz="1050"/>
                    </a:p>
                  </a:txBody>
                  <a:tcPr marL="9525" marR="9525" marT="9525" marB="0" anchor="ctr"/>
                </a:tc>
              </a:tr>
              <a:tr h="169606">
                <a:tc>
                  <a:txBody>
                    <a:bodyPr wrap="square"/>
                    <a:lstStyle/>
                    <a:p>
                      <a:pPr algn="l"/>
                      <a:r>
                        <a:rPr sz="1050" b="0" i="0">
                          <a:solidFill>
                            <a:srgbClr val="000000"/>
                          </a:solidFill>
                          <a:latin typeface="Calibri"/>
                        </a:rPr>
                        <a:t>Figure 28: Global Market Share by Organ Compatibility, %, 2026 and 2036</a:t>
                      </a:r>
                      <a:endParaRPr sz="1050"/>
                    </a:p>
                  </a:txBody>
                  <a:tcPr marL="9525" marR="9525" marT="9525" marB="0" anchor="ctr"/>
                </a:tc>
              </a:tr>
              <a:tr h="169606">
                <a:tc>
                  <a:txBody>
                    <a:bodyPr wrap="square"/>
                    <a:lstStyle/>
                    <a:p>
                      <a:pPr algn="l"/>
                      <a:r>
                        <a:rPr sz="1050" b="0" i="0">
                          <a:solidFill>
                            <a:srgbClr val="000000"/>
                          </a:solidFill>
                          <a:latin typeface="Calibri"/>
                        </a:rPr>
                        <a:t>Figure 29: Global Market Share by Device Reusability, %, 2026 and 2036</a:t>
                      </a:r>
                      <a:endParaRPr sz="1050"/>
                    </a:p>
                  </a:txBody>
                  <a:tcPr marL="9525" marR="9525" marT="9525" marB="0" anchor="ctr"/>
                </a:tc>
              </a:tr>
              <a:tr h="169606">
                <a:tc>
                  <a:txBody>
                    <a:bodyPr wrap="square"/>
                    <a:lstStyle/>
                    <a:p>
                      <a:pPr algn="l"/>
                      <a:r>
                        <a:rPr sz="1050" b="0" i="0">
                          <a:solidFill>
                            <a:srgbClr val="000000"/>
                          </a:solidFill>
                          <a:latin typeface="Calibri"/>
                        </a:rPr>
                        <a:t>Figure 30: Global Market Share by Monitoring Capability, %, 2026 and 2036</a:t>
                      </a:r>
                      <a:endParaRPr sz="1050"/>
                    </a:p>
                  </a:txBody>
                  <a:tcPr marL="9525" marR="9525" marT="9525" marB="0" anchor="ctr"/>
                </a:tc>
              </a:tr>
              <a:tr h="169606">
                <a:tc>
                  <a:txBody>
                    <a:bodyPr wrap="square"/>
                    <a:lstStyle/>
                    <a:p>
                      <a:pPr algn="l"/>
                      <a:r>
                        <a:rPr sz="1050" b="0" i="0">
                          <a:solidFill>
                            <a:srgbClr val="000000"/>
                          </a:solidFill>
                          <a:latin typeface="Calibri"/>
                        </a:rPr>
                        <a:t>Figure 31: Global Market Share by Purchasing Organisation, %,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32: Global Market Share by Sales Channel, %, 2026 and 2036</a:t>
                      </a:r>
                      <a:endParaRPr sz="1050"/>
                    </a:p>
                  </a:txBody>
                  <a:tcPr marL="9525" marR="9525" marT="9525" marB="0" anchor="ctr"/>
                </a:tc>
              </a:tr>
              <a:tr h="169606">
                <a:tc>
                  <a:txBody>
                    <a:bodyPr wrap="square"/>
                    <a:lstStyle/>
                    <a:p>
                      <a:pPr algn="l"/>
                      <a:r>
                        <a:rPr sz="1050" b="0" i="0">
                          <a:solidFill>
                            <a:srgbClr val="000000"/>
                          </a:solidFill>
                          <a:latin typeface="Calibri"/>
                        </a:rPr>
                        <a:t>Figure 33: Global Market Absolute $ Opportunity by Device Technology, US$ Mn, 2026–2036</a:t>
                      </a:r>
                      <a:endParaRPr sz="1050"/>
                    </a:p>
                  </a:txBody>
                  <a:tcPr marL="9525" marR="9525" marT="9525" marB="0" anchor="ctr"/>
                </a:tc>
              </a:tr>
              <a:tr h="169606">
                <a:tc>
                  <a:txBody>
                    <a:bodyPr wrap="square"/>
                    <a:lstStyle/>
                    <a:p>
                      <a:pPr algn="l"/>
                      <a:r>
                        <a:rPr sz="1050" b="0" i="0">
                          <a:solidFill>
                            <a:srgbClr val="000000"/>
                          </a:solidFill>
                          <a:latin typeface="Calibri"/>
                        </a:rPr>
                        <a:t>Figure 34: Global Market Absolute $ Opportunity by Organ Compatibility, US$ Mn, 2026–2036</a:t>
                      </a:r>
                      <a:endParaRPr sz="1050"/>
                    </a:p>
                  </a:txBody>
                  <a:tcPr marL="9525" marR="9525" marT="9525" marB="0" anchor="ctr"/>
                </a:tc>
              </a:tr>
              <a:tr h="169606">
                <a:tc>
                  <a:txBody>
                    <a:bodyPr wrap="square"/>
                    <a:lstStyle/>
                    <a:p>
                      <a:pPr algn="l"/>
                      <a:r>
                        <a:rPr sz="1050" b="0" i="0">
                          <a:solidFill>
                            <a:srgbClr val="000000"/>
                          </a:solidFill>
                          <a:latin typeface="Calibri"/>
                        </a:rPr>
                        <a:t>Figure 35: Global Market Absolute $ Opportunity by Device Reusability, US$ Mn, 2026–2036</a:t>
                      </a:r>
                      <a:endParaRPr sz="1050"/>
                    </a:p>
                  </a:txBody>
                  <a:tcPr marL="9525" marR="9525" marT="9525" marB="0" anchor="ctr"/>
                </a:tc>
              </a:tr>
              <a:tr h="169606">
                <a:tc>
                  <a:txBody>
                    <a:bodyPr wrap="square"/>
                    <a:lstStyle/>
                    <a:p>
                      <a:pPr algn="l"/>
                      <a:r>
                        <a:rPr sz="1050" b="0" i="0">
                          <a:solidFill>
                            <a:srgbClr val="000000"/>
                          </a:solidFill>
                          <a:latin typeface="Calibri"/>
                        </a:rPr>
                        <a:t>Figure 36: Global Market Absolute $ Opportunity by Monitoring Capability, US$ Mn, 2026–2036</a:t>
                      </a:r>
                      <a:endParaRPr sz="1050"/>
                    </a:p>
                  </a:txBody>
                  <a:tcPr marL="9525" marR="9525" marT="9525" marB="0" anchor="ctr"/>
                </a:tc>
              </a:tr>
              <a:tr h="169606">
                <a:tc>
                  <a:txBody>
                    <a:bodyPr wrap="square"/>
                    <a:lstStyle/>
                    <a:p>
                      <a:pPr algn="l"/>
                      <a:r>
                        <a:rPr sz="1050" b="0" i="0">
                          <a:solidFill>
                            <a:srgbClr val="000000"/>
                          </a:solidFill>
                          <a:latin typeface="Calibri"/>
                        </a:rPr>
                        <a:t>Figure 37: Global Market Absolute $ Opportunity by Purchasing Organisation, US$ Mn, 2026–2036</a:t>
                      </a:r>
                      <a:endParaRPr sz="1050"/>
                    </a:p>
                  </a:txBody>
                  <a:tcPr marL="9525" marR="9525" marT="9525" marB="0" anchor="ctr"/>
                </a:tc>
              </a:tr>
              <a:tr h="169606">
                <a:tc>
                  <a:txBody>
                    <a:bodyPr wrap="square"/>
                    <a:lstStyle/>
                    <a:p>
                      <a:pPr algn="l"/>
                      <a:r>
                        <a:rPr sz="1050" b="0" i="0">
                          <a:solidFill>
                            <a:srgbClr val="000000"/>
                          </a:solidFill>
                          <a:latin typeface="Calibri"/>
                        </a:rPr>
                        <a:t>Figure 38: Global Market Absolute $ Opportunity by Sales Channel, US$ Mn, 2026–2036</a:t>
                      </a:r>
                      <a:endParaRPr sz="1050"/>
                    </a:p>
                  </a:txBody>
                  <a:tcPr marL="9525" marR="9525" marT="9525" marB="0" anchor="ctr"/>
                </a:tc>
              </a:tr>
              <a:tr h="169606">
                <a:tc>
                  <a:txBody>
                    <a:bodyPr wrap="square"/>
                    <a:lstStyle/>
                    <a:p>
                      <a:pPr algn="l"/>
                      <a:r>
                        <a:rPr sz="1050" b="0" i="0">
                          <a:solidFill>
                            <a:srgbClr val="000000"/>
                          </a:solidFill>
                          <a:latin typeface="Calibri"/>
                        </a:rPr>
                        <a:t>Figure 39: Global Market BPS Share Change by Device Technology, 2026–2036</a:t>
                      </a:r>
                      <a:endParaRPr sz="1050"/>
                    </a:p>
                  </a:txBody>
                  <a:tcPr marL="9525" marR="9525" marT="9525" marB="0" anchor="ctr"/>
                </a:tc>
              </a:tr>
              <a:tr h="169606">
                <a:tc>
                  <a:txBody>
                    <a:bodyPr wrap="square"/>
                    <a:lstStyle/>
                    <a:p>
                      <a:pPr algn="l"/>
                      <a:r>
                        <a:rPr sz="1050" b="0" i="0">
                          <a:solidFill>
                            <a:srgbClr val="000000"/>
                          </a:solidFill>
                          <a:latin typeface="Calibri"/>
                        </a:rPr>
                        <a:t>Figure 40: Global Market BPS Share Change by Organ Compatibility, 2026–2036</a:t>
                      </a:r>
                      <a:endParaRPr sz="1050"/>
                    </a:p>
                  </a:txBody>
                  <a:tcPr marL="9525" marR="9525" marT="9525" marB="0" anchor="ctr"/>
                </a:tc>
              </a:tr>
              <a:tr h="169606">
                <a:tc>
                  <a:txBody>
                    <a:bodyPr wrap="square"/>
                    <a:lstStyle/>
                    <a:p>
                      <a:pPr algn="l"/>
                      <a:r>
                        <a:rPr sz="1050" b="0" i="0">
                          <a:solidFill>
                            <a:srgbClr val="000000"/>
                          </a:solidFill>
                          <a:latin typeface="Calibri"/>
                        </a:rPr>
                        <a:t>Figure 41: Global Market BPS Share Change by Device Reusability, 2026–2036</a:t>
                      </a:r>
                      <a:endParaRPr sz="1050"/>
                    </a:p>
                  </a:txBody>
                  <a:tcPr marL="9525" marR="9525" marT="9525" marB="0" anchor="ctr"/>
                </a:tc>
              </a:tr>
              <a:tr h="169606">
                <a:tc>
                  <a:txBody>
                    <a:bodyPr wrap="square"/>
                    <a:lstStyle/>
                    <a:p>
                      <a:pPr algn="l"/>
                      <a:r>
                        <a:rPr sz="1050" b="0" i="0">
                          <a:solidFill>
                            <a:srgbClr val="000000"/>
                          </a:solidFill>
                          <a:latin typeface="Calibri"/>
                        </a:rPr>
                        <a:t>Figure 42: Global Market BPS Share Change by Monitoring Capability, 2026–2036</a:t>
                      </a:r>
                      <a:endParaRPr sz="1050"/>
                    </a:p>
                  </a:txBody>
                  <a:tcPr marL="9525" marR="9525" marT="9525" marB="0" anchor="ctr"/>
                </a:tc>
              </a:tr>
              <a:tr h="169606">
                <a:tc>
                  <a:txBody>
                    <a:bodyPr wrap="square"/>
                    <a:lstStyle/>
                    <a:p>
                      <a:pPr algn="l"/>
                      <a:r>
                        <a:rPr sz="1050" b="0" i="0">
                          <a:solidFill>
                            <a:srgbClr val="000000"/>
                          </a:solidFill>
                          <a:latin typeface="Calibri"/>
                        </a:rPr>
                        <a:t>Figure 43: Global Market BPS Share Change by Purchasing Organisation, 2026–2036</a:t>
                      </a:r>
                      <a:endParaRPr sz="1050"/>
                    </a:p>
                  </a:txBody>
                  <a:tcPr marL="9525" marR="9525" marT="9525" marB="0" anchor="ctr"/>
                </a:tc>
              </a:tr>
              <a:tr h="169606">
                <a:tc>
                  <a:txBody>
                    <a:bodyPr wrap="square"/>
                    <a:lstStyle/>
                    <a:p>
                      <a:pPr algn="l"/>
                      <a:r>
                        <a:rPr sz="1050" b="0" i="0">
                          <a:solidFill>
                            <a:srgbClr val="000000"/>
                          </a:solidFill>
                          <a:latin typeface="Calibri"/>
                        </a:rPr>
                        <a:t>Figure 44: Global Market BPS Share Change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45: Global Market YoY Growth by Device Technology, %, 2026–2036</a:t>
                      </a:r>
                      <a:endParaRPr sz="1050"/>
                    </a:p>
                  </a:txBody>
                  <a:tcPr marL="9525" marR="9525" marT="9525" marB="0" anchor="ctr"/>
                </a:tc>
              </a:tr>
              <a:tr h="169606">
                <a:tc>
                  <a:txBody>
                    <a:bodyPr wrap="square"/>
                    <a:lstStyle/>
                    <a:p>
                      <a:pPr algn="l"/>
                      <a:r>
                        <a:rPr sz="1050" b="0" i="0">
                          <a:solidFill>
                            <a:srgbClr val="000000"/>
                          </a:solidFill>
                          <a:latin typeface="Calibri"/>
                        </a:rPr>
                        <a:t>Figure 46: Global Market YoY Growth by Organ Compatibility, %, 2026–2036</a:t>
                      </a:r>
                      <a:endParaRPr sz="1050"/>
                    </a:p>
                  </a:txBody>
                  <a:tcPr marL="9525" marR="9525" marT="9525" marB="0" anchor="ctr"/>
                </a:tc>
              </a:tr>
              <a:tr h="169606">
                <a:tc>
                  <a:txBody>
                    <a:bodyPr wrap="square"/>
                    <a:lstStyle/>
                    <a:p>
                      <a:pPr algn="l"/>
                      <a:r>
                        <a:rPr sz="1050" b="0" i="0">
                          <a:solidFill>
                            <a:srgbClr val="000000"/>
                          </a:solidFill>
                          <a:latin typeface="Calibri"/>
                        </a:rPr>
                        <a:t>Figure 47: Global Market YoY Growth by Device Reusability, %, 2026–2036</a:t>
                      </a:r>
                      <a:endParaRPr sz="1050"/>
                    </a:p>
                  </a:txBody>
                  <a:tcPr marL="9525" marR="9525" marT="9525" marB="0" anchor="ctr"/>
                </a:tc>
              </a:tr>
              <a:tr h="169606">
                <a:tc>
                  <a:txBody>
                    <a:bodyPr wrap="square"/>
                    <a:lstStyle/>
                    <a:p>
                      <a:pPr algn="l"/>
                      <a:r>
                        <a:rPr sz="1050" b="0" i="0">
                          <a:solidFill>
                            <a:srgbClr val="000000"/>
                          </a:solidFill>
                          <a:latin typeface="Calibri"/>
                        </a:rPr>
                        <a:t>Figure 48: Global Market YoY Growth by Monitoring Capability, %, 2026–2036</a:t>
                      </a:r>
                      <a:endParaRPr sz="1050"/>
                    </a:p>
                  </a:txBody>
                  <a:tcPr marL="9525" marR="9525" marT="9525" marB="0" anchor="ctr"/>
                </a:tc>
              </a:tr>
              <a:tr h="169606">
                <a:tc>
                  <a:txBody>
                    <a:bodyPr wrap="square"/>
                    <a:lstStyle/>
                    <a:p>
                      <a:pPr algn="l"/>
                      <a:r>
                        <a:rPr sz="1050" b="0" i="0">
                          <a:solidFill>
                            <a:srgbClr val="000000"/>
                          </a:solidFill>
                          <a:latin typeface="Calibri"/>
                        </a:rPr>
                        <a:t>Figure 49: Global Market YoY Growth by Purchasing Organisation, %, 2026–2036</a:t>
                      </a:r>
                      <a:endParaRPr sz="1050"/>
                    </a:p>
                  </a:txBody>
                  <a:tcPr marL="9525" marR="9525" marT="9525" marB="0" anchor="ctr"/>
                </a:tc>
              </a:tr>
              <a:tr h="169606">
                <a:tc>
                  <a:txBody>
                    <a:bodyPr wrap="square"/>
                    <a:lstStyle/>
                    <a:p>
                      <a:pPr algn="l"/>
                      <a:r>
                        <a:rPr sz="1050" b="0" i="0">
                          <a:solidFill>
                            <a:srgbClr val="000000"/>
                          </a:solidFill>
                          <a:latin typeface="Calibri"/>
                        </a:rPr>
                        <a:t>Figure 50: Global Market YoY Growth by Sales Channel, %, 2026–2036</a:t>
                      </a:r>
                      <a:endParaRPr sz="1050"/>
                    </a:p>
                  </a:txBody>
                  <a:tcPr marL="9525" marR="9525" marT="9525" marB="0" anchor="ctr"/>
                </a:tc>
              </a:tr>
              <a:tr h="169606">
                <a:tc>
                  <a:txBody>
                    <a:bodyPr wrap="square"/>
                    <a:lstStyle/>
                    <a:p>
                      <a:pPr algn="l"/>
                      <a:r>
                        <a:rPr sz="1050" b="0" i="0">
                          <a:solidFill>
                            <a:srgbClr val="000000"/>
                          </a:solidFill>
                          <a:latin typeface="Calibri"/>
                        </a:rPr>
                        <a:t>Figure 51: Global Market Attractiveness by Device Technology, 2026–2036</a:t>
                      </a:r>
                      <a:endParaRPr sz="1050"/>
                    </a:p>
                  </a:txBody>
                  <a:tcPr marL="9525" marR="9525" marT="9525" marB="0" anchor="ctr"/>
                </a:tc>
              </a:tr>
              <a:tr h="169606">
                <a:tc>
                  <a:txBody>
                    <a:bodyPr wrap="square"/>
                    <a:lstStyle/>
                    <a:p>
                      <a:pPr algn="l"/>
                      <a:r>
                        <a:rPr sz="1050" b="0" i="0">
                          <a:solidFill>
                            <a:srgbClr val="000000"/>
                          </a:solidFill>
                          <a:latin typeface="Calibri"/>
                        </a:rPr>
                        <a:t>Figure 52: Global Market Attractiveness by Organ Compatibility, 2026–2036</a:t>
                      </a:r>
                      <a:endParaRPr sz="1050"/>
                    </a:p>
                  </a:txBody>
                  <a:tcPr marL="9525" marR="9525" marT="9525" marB="0" anchor="ctr"/>
                </a:tc>
              </a:tr>
              <a:tr h="169606">
                <a:tc>
                  <a:txBody>
                    <a:bodyPr wrap="square"/>
                    <a:lstStyle/>
                    <a:p>
                      <a:pPr algn="l"/>
                      <a:r>
                        <a:rPr sz="1050" b="0" i="0">
                          <a:solidFill>
                            <a:srgbClr val="000000"/>
                          </a:solidFill>
                          <a:latin typeface="Calibri"/>
                        </a:rPr>
                        <a:t>Figure 53: Global Market Attractiveness by Device Reusability, 2026–2036</a:t>
                      </a:r>
                      <a:endParaRPr sz="1050"/>
                    </a:p>
                  </a:txBody>
                  <a:tcPr marL="9525" marR="9525" marT="9525" marB="0" anchor="ctr"/>
                </a:tc>
              </a:tr>
              <a:tr h="169606">
                <a:tc>
                  <a:txBody>
                    <a:bodyPr wrap="square"/>
                    <a:lstStyle/>
                    <a:p>
                      <a:pPr algn="l"/>
                      <a:r>
                        <a:rPr sz="1050" b="0" i="0">
                          <a:solidFill>
                            <a:srgbClr val="000000"/>
                          </a:solidFill>
                          <a:latin typeface="Calibri"/>
                        </a:rPr>
                        <a:t>Figure 54: Global Market Attractiveness by Monitoring Capability, 2026–2036</a:t>
                      </a:r>
                      <a:endParaRPr sz="1050"/>
                    </a:p>
                  </a:txBody>
                  <a:tcPr marL="9525" marR="9525" marT="9525" marB="0" anchor="ctr"/>
                </a:tc>
              </a:tr>
              <a:tr h="169606">
                <a:tc>
                  <a:txBody>
                    <a:bodyPr wrap="square"/>
                    <a:lstStyle/>
                    <a:p>
                      <a:pPr algn="l"/>
                      <a:r>
                        <a:rPr sz="1050" b="0" i="0">
                          <a:solidFill>
                            <a:srgbClr val="000000"/>
                          </a:solidFill>
                          <a:latin typeface="Calibri"/>
                        </a:rPr>
                        <a:t>Figure 55: Global Market Attractiveness by Purchasing Organisation, 2026–2036</a:t>
                      </a:r>
                      <a:endParaRPr sz="1050"/>
                    </a:p>
                  </a:txBody>
                  <a:tcPr marL="9525" marR="9525" marT="9525" marB="0" anchor="ctr"/>
                </a:tc>
              </a:tr>
              <a:tr h="169606">
                <a:tc>
                  <a:txBody>
                    <a:bodyPr wrap="square"/>
                    <a:lstStyle/>
                    <a:p>
                      <a:pPr algn="l"/>
                      <a:r>
                        <a:rPr sz="1050" b="0" i="0">
                          <a:solidFill>
                            <a:srgbClr val="000000"/>
                          </a:solidFill>
                          <a:latin typeface="Calibri"/>
                        </a:rPr>
                        <a:t>Figure 56: Global Market Attractiveness by Sales Channel, 2026–2036</a:t>
                      </a:r>
                      <a:endParaRPr sz="1050"/>
                    </a:p>
                  </a:txBody>
                  <a:tcPr marL="9525" marR="9525" marT="9525" marB="0" anchor="ctr"/>
                </a:tc>
              </a:tr>
              <a:tr h="169606">
                <a:tc>
                  <a:txBody>
                    <a:bodyPr wrap="square"/>
                    <a:lstStyle/>
                    <a:p>
                      <a:pPr algn="l"/>
                      <a:r>
                        <a:rPr sz="1050" b="0" i="0">
                          <a:solidFill>
                            <a:srgbClr val="000000"/>
                          </a:solidFill>
                          <a:latin typeface="Calibri"/>
                        </a:rPr>
                        <a:t>Figure 57: Global Market Volume by Device Technology, Units, 2021–2036</a:t>
                      </a:r>
                      <a:endParaRPr sz="1050"/>
                    </a:p>
                  </a:txBody>
                  <a:tcPr marL="9525" marR="9525" marT="9525" marB="0" anchor="ctr"/>
                </a:tc>
              </a:tr>
              <a:tr h="169606">
                <a:tc>
                  <a:txBody>
                    <a:bodyPr wrap="square"/>
                    <a:lstStyle/>
                    <a:p>
                      <a:pPr algn="l"/>
                      <a:r>
                        <a:rPr sz="1050" b="0" i="0">
                          <a:solidFill>
                            <a:srgbClr val="000000"/>
                          </a:solidFill>
                          <a:latin typeface="Calibri"/>
                        </a:rPr>
                        <a:t>Figure 58: Global Market Volume by Organ Compatibility, Units, 2021–2036</a:t>
                      </a:r>
                      <a:endParaRPr sz="1050"/>
                    </a:p>
                  </a:txBody>
                  <a:tcPr marL="9525" marR="9525" marT="9525" marB="0" anchor="ctr"/>
                </a:tc>
              </a:tr>
              <a:tr h="169606">
                <a:tc>
                  <a:txBody>
                    <a:bodyPr wrap="square"/>
                    <a:lstStyle/>
                    <a:p>
                      <a:pPr algn="l"/>
                      <a:r>
                        <a:rPr sz="1050" b="0" i="0">
                          <a:solidFill>
                            <a:srgbClr val="000000"/>
                          </a:solidFill>
                          <a:latin typeface="Calibri"/>
                        </a:rPr>
                        <a:t>Figure 59: Global Market Volume by Device Reusability, Units, 2021–2036</a:t>
                      </a:r>
                      <a:endParaRPr sz="1050"/>
                    </a:p>
                  </a:txBody>
                  <a:tcPr marL="9525" marR="9525" marT="9525" marB="0" anchor="ctr"/>
                </a:tc>
              </a:tr>
              <a:tr h="169606">
                <a:tc>
                  <a:txBody>
                    <a:bodyPr wrap="square"/>
                    <a:lstStyle/>
                    <a:p>
                      <a:pPr algn="l"/>
                      <a:r>
                        <a:rPr sz="1050" b="0" i="0">
                          <a:solidFill>
                            <a:srgbClr val="000000"/>
                          </a:solidFill>
                          <a:latin typeface="Calibri"/>
                        </a:rPr>
                        <a:t>Figure 60: Global Market Volume by Monitoring Capability, Units, 2021–2036</a:t>
                      </a:r>
                      <a:endParaRPr sz="1050"/>
                    </a:p>
                  </a:txBody>
                  <a:tcPr marL="9525" marR="9525" marT="9525" marB="0" anchor="ctr"/>
                </a:tc>
              </a:tr>
              <a:tr h="169606">
                <a:tc>
                  <a:txBody>
                    <a:bodyPr wrap="square"/>
                    <a:lstStyle/>
                    <a:p>
                      <a:pPr algn="l"/>
                      <a:r>
                        <a:rPr sz="1050" b="0" i="0">
                          <a:solidFill>
                            <a:srgbClr val="000000"/>
                          </a:solidFill>
                          <a:latin typeface="Calibri"/>
                        </a:rPr>
                        <a:t>Figure 61: Global Market Volume by Purchasing Organisation, Units, 2021–2036</a:t>
                      </a:r>
                      <a:endParaRPr sz="1050"/>
                    </a:p>
                  </a:txBody>
                  <a:tcPr marL="9525" marR="9525" marT="9525" marB="0" anchor="ctr"/>
                </a:tc>
              </a:tr>
              <a:tr h="169606">
                <a:tc>
                  <a:txBody>
                    <a:bodyPr wrap="square"/>
                    <a:lstStyle/>
                    <a:p>
                      <a:pPr algn="l"/>
                      <a:r>
                        <a:rPr sz="1050" b="0" i="0">
                          <a:solidFill>
                            <a:srgbClr val="000000"/>
                          </a:solidFill>
                          <a:latin typeface="Calibri"/>
                        </a:rPr>
                        <a:t>Figure 62: Global Market Volume by Sales Channel, Units,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(2/4)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63: Global Market Average Selling Price by Device Technology, US$/Units, 2021–2036</a:t>
                      </a:r>
                      <a:endParaRPr sz="1050"/>
                    </a:p>
                  </a:txBody>
                  <a:tcPr marL="9525" marR="9525" marT="9525" marB="0" anchor="ctr"/>
                </a:tc>
              </a:tr>
              <a:tr h="169606">
                <a:tc>
                  <a:txBody>
                    <a:bodyPr wrap="square"/>
                    <a:lstStyle/>
                    <a:p>
                      <a:pPr algn="l"/>
                      <a:r>
                        <a:rPr sz="1050" b="0" i="0">
                          <a:solidFill>
                            <a:srgbClr val="000000"/>
                          </a:solidFill>
                          <a:latin typeface="Calibri"/>
                        </a:rPr>
                        <a:t>Figure 64: Device Technology × Organ Compatibility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65: Device Technology × Device Reusability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66: Device Technology × Monitoring Capability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67: Device Technology × Purchasing Organisation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68: Device Technology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69: Organ Compatibility × Device Reusability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70: Organ Compatibility × Monitoring Capability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71: Organ Compatibility × Purchasing Organisation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72: Organ Compatibility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73: Device Reusability × Monitoring Capability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74: Device Reusability × Purchasing Organisation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75: Device Reusability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76: Monitoring Capability × Purchasing Organisation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77: Monitoring Capability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78: Purchasing Organisation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79: Region × Device Technology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80: Region × Organ Compatibility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81: Region × Device Reusability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82: Region × Monitoring Capability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83: Region × Purchasing Organisation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84: Region × Sales Channel Opportunity Matrix, 2026–2036</a:t>
                      </a:r>
                      <a:endParaRPr sz="1050"/>
                    </a:p>
                  </a:txBody>
                  <a:tcPr marL="9525" marR="9525" marT="9525" marB="0" anchor="ctr"/>
                </a:tc>
              </a:tr>
              <a:tr h="169606">
                <a:tc>
                  <a:txBody>
                    <a:bodyPr wrap="square"/>
                    <a:lstStyle/>
                    <a:p>
                      <a:pPr algn="l"/>
                      <a:r>
                        <a:rPr sz="1050" b="0" i="0">
                          <a:solidFill>
                            <a:srgbClr val="000000"/>
                          </a:solidFill>
                          <a:latin typeface="Calibri"/>
                        </a:rPr>
                        <a:t>Figure 85: Global Market Value by Region, US$ Mn, 2021–2036</a:t>
                      </a:r>
                      <a:endParaRPr sz="1050"/>
                    </a:p>
                  </a:txBody>
                  <a:tcPr marL="9525" marR="9525" marT="9525" marB="0" anchor="ctr"/>
                </a:tc>
              </a:tr>
              <a:tr h="169606">
                <a:tc>
                  <a:txBody>
                    <a:bodyPr wrap="square"/>
                    <a:lstStyle/>
                    <a:p>
                      <a:pPr algn="l"/>
                      <a:r>
                        <a:rPr sz="1050" b="0" i="0">
                          <a:solidFill>
                            <a:srgbClr val="000000"/>
                          </a:solidFill>
                          <a:latin typeface="Calibri"/>
                        </a:rPr>
                        <a:t>Figure 86: Global Market Share by Region, %, 2026 and 2036</a:t>
                      </a:r>
                      <a:endParaRPr sz="1050"/>
                    </a:p>
                  </a:txBody>
                  <a:tcPr marL="9525" marR="9525" marT="9525" marB="0" anchor="ctr"/>
                </a:tc>
              </a:tr>
              <a:tr h="169606">
                <a:tc>
                  <a:txBody>
                    <a:bodyPr wrap="square"/>
                    <a:lstStyle/>
                    <a:p>
                      <a:pPr algn="l"/>
                      <a:r>
                        <a:rPr sz="1050" b="0" i="0">
                          <a:solidFill>
                            <a:srgbClr val="000000"/>
                          </a:solidFill>
                          <a:latin typeface="Calibri"/>
                        </a:rPr>
                        <a:t>Figure 87: Global Market CAGR by Region, %, 2026–2036</a:t>
                      </a:r>
                      <a:endParaRPr sz="1050"/>
                    </a:p>
                  </a:txBody>
                  <a:tcPr marL="9525" marR="9525" marT="9525" marB="0" anchor="ctr"/>
                </a:tc>
              </a:tr>
              <a:tr h="169606">
                <a:tc>
                  <a:txBody>
                    <a:bodyPr wrap="square"/>
                    <a:lstStyle/>
                    <a:p>
                      <a:pPr algn="l"/>
                      <a:r>
                        <a:rPr sz="1050" b="0" i="0">
                          <a:solidFill>
                            <a:srgbClr val="000000"/>
                          </a:solidFill>
                          <a:latin typeface="Calibri"/>
                        </a:rPr>
                        <a:t>Figure 88: Global Market Absolute $ Opportunity by Region, US$ Mn, 2026–2036</a:t>
                      </a:r>
                      <a:endParaRPr sz="1050"/>
                    </a:p>
                  </a:txBody>
                  <a:tcPr marL="9525" marR="9525" marT="9525" marB="0" anchor="ctr"/>
                </a:tc>
              </a:tr>
              <a:tr h="169606">
                <a:tc>
                  <a:txBody>
                    <a:bodyPr wrap="square"/>
                    <a:lstStyle/>
                    <a:p>
                      <a:pPr algn="l"/>
                      <a:r>
                        <a:rPr sz="1050" b="0" i="0">
                          <a:solidFill>
                            <a:srgbClr val="000000"/>
                          </a:solidFill>
                          <a:latin typeface="Calibri"/>
                        </a:rPr>
                        <a:t>Figure 89: Global Market Attractiveness by Region, 2026–2036</a:t>
                      </a:r>
                      <a:endParaRPr sz="1050"/>
                    </a:p>
                  </a:txBody>
                  <a:tcPr marL="9525" marR="9525" marT="9525" marB="0" anchor="ctr"/>
                </a:tc>
              </a:tr>
              <a:tr h="169606">
                <a:tc>
                  <a:txBody>
                    <a:bodyPr wrap="square"/>
                    <a:lstStyle/>
                    <a:p>
                      <a:pPr algn="l"/>
                      <a:r>
                        <a:rPr sz="1050" b="0" i="0">
                          <a:solidFill>
                            <a:srgbClr val="000000"/>
                          </a:solidFill>
                          <a:latin typeface="Calibri"/>
                        </a:rPr>
                        <a:t>Figure 90: Global Market BPS Share Change by Region, 2026–2036</a:t>
                      </a:r>
                      <a:endParaRPr sz="1050"/>
                    </a:p>
                  </a:txBody>
                  <a:tcPr marL="9525" marR="9525" marT="9525" marB="0" anchor="ctr"/>
                </a:tc>
              </a:tr>
              <a:tr h="169606">
                <a:tc>
                  <a:txBody>
                    <a:bodyPr wrap="square"/>
                    <a:lstStyle/>
                    <a:p>
                      <a:pPr algn="l"/>
                      <a:r>
                        <a:rPr sz="1050" b="0" i="0">
                          <a:solidFill>
                            <a:srgbClr val="000000"/>
                          </a:solidFill>
                          <a:latin typeface="Calibri"/>
                        </a:rPr>
                        <a:t>Figure 91: North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92: Latin America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93: Europe Market Value and YoY Growth, US$ Mn and %,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94: East Asia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95: South Asia &amp; Pacific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96: Middle East &amp; Africa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97: North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98: Latin America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99: Europe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100: East Asia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101: South Asia &amp; Pacific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102: Middle East &amp; Africa Market Share of Global Market, %, 2026 and 2036</a:t>
                      </a:r>
                      <a:endParaRPr sz="1050"/>
                    </a:p>
                  </a:txBody>
                  <a:tcPr marL="9525" marR="9525" marT="9525" marB="0" anchor="ctr"/>
                </a:tc>
              </a:tr>
              <a:tr h="169606">
                <a:tc>
                  <a:txBody>
                    <a:bodyPr wrap="square"/>
                    <a:lstStyle/>
                    <a:p>
                      <a:pPr algn="l"/>
                      <a:r>
                        <a:rPr sz="1050" b="0" i="0">
                          <a:solidFill>
                            <a:srgbClr val="000000"/>
                          </a:solidFill>
                          <a:latin typeface="Calibri"/>
                        </a:rPr>
                        <a:t>Figure 103: North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104: Latin America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105: Europe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106: East Asia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107: South Asia &amp; Pacific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108: Middle East &amp; Africa Market Value by Country,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109: North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110: Latin America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111: Europe Market Absolute $ Opportunity, US$ Mn, 2026–2036</a:t>
                      </a:r>
                      <a:endParaRPr sz="1050"/>
                    </a:p>
                  </a:txBody>
                  <a:tcPr marL="9525" marR="9525" marT="9525" marB="0" anchor="ctr"/>
                </a:tc>
              </a:tr>
              <a:tr h="169606">
                <a:tc>
                  <a:txBody>
                    <a:bodyPr wrap="square"/>
                    <a:lstStyle/>
                    <a:p>
                      <a:pPr algn="l"/>
                      <a:r>
                        <a:rPr sz="1050" b="0" i="0">
                          <a:solidFill>
                            <a:srgbClr val="000000"/>
                          </a:solidFill>
                          <a:latin typeface="Calibri"/>
                        </a:rPr>
                        <a:t>Figure 112: U.S.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113: U.S.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114: U.S.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115: U.S.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116: U.S. Market Value by Organ Compatibility,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117: U.S. Market Value by Device Reusability,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118: U.S. Market Value by Monitoring Capability,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119: U.S. Market Value by Purchasing Organisation,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120: Germany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121: Germany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122: Germany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123: Germany Market Share within Europe, %, 2026 and 2036</a:t>
                      </a:r>
                      <a:endParaRPr sz="1050"/>
                    </a:p>
                  </a:txBody>
                  <a:tcPr marL="9525" marR="9525" marT="9525" marB="0" anchor="ctr"/>
                </a:tc>
              </a:tr>
              <a:tr h="169606">
                <a:tc>
                  <a:txBody>
                    <a:bodyPr wrap="square"/>
                    <a:lstStyle/>
                    <a:p>
                      <a:pPr algn="l"/>
                      <a:r>
                        <a:rPr sz="1050" b="0" i="0">
                          <a:solidFill>
                            <a:srgbClr val="000000"/>
                          </a:solidFill>
                          <a:latin typeface="Calibri"/>
                        </a:rPr>
                        <a:t>Figure 124: Germany Market Value by Organ Compatibility, US$ Mn, 2026 and 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(3/4)</a:t>
            </a:r>
          </a:p>
        </p:txBody>
      </p:sp>
      <p:graphicFrame>
        <p:nvGraphicFramePr>
          <p:cNvPr id="9" name="FMI Contents Table"/>
          <p:cNvGraphicFramePr>
            <a:graphicFrameLocks noGrp="1"/>
          </p:cNvGraphicFramePr>
          <p:nvPr/>
        </p:nvGraphicFramePr>
        <p:xfrm>
          <a:off x="142875"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Figure 125: Germany Market Value by Device Reusability,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126: Germany Market Value by Monitoring Capability,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127: Germany Market Value by Purchasing Organisation,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128: Canada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129: Canada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130: Canada Market Value by Sales Channel,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131: Canada Market Share within North America, %, 2026 and 2036</a:t>
                      </a:r>
                      <a:endParaRPr sz="1050"/>
                    </a:p>
                  </a:txBody>
                  <a:tcPr marL="9525" marR="9525" marT="9525" marB="0" anchor="ctr"/>
                </a:tc>
              </a:tr>
              <a:tr h="169606">
                <a:tc>
                  <a:txBody>
                    <a:bodyPr wrap="square"/>
                    <a:lstStyle/>
                    <a:p>
                      <a:pPr algn="l"/>
                      <a:r>
                        <a:rPr sz="1050" b="0" i="0">
                          <a:solidFill>
                            <a:srgbClr val="000000"/>
                          </a:solidFill>
                          <a:latin typeface="Calibri"/>
                        </a:rPr>
                        <a:t>Figure 132: Canada Market Value by Organ Compatibility,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133: Canada Market Value by Device Reusability,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134: Canada Market Value by Monitoring Capability,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135: Canada Market Value by Purchasing Organisation,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136: China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137: China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138: India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139: India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140: Brazil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141: Brazil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142: U.K.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143: U.K.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144: Japan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145: Japan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146: France Market Value and YoY Growth, US$ Mn and %, 2021–2036</a:t>
                      </a:r>
                      <a:endParaRPr sz="1050"/>
                    </a:p>
                  </a:txBody>
                  <a:tcPr marL="9525" marR="9525" marT="9525" marB="0" anchor="ctr"/>
                </a:tc>
              </a:tr>
              <a:tr h="169606">
                <a:tc>
                  <a:txBody>
                    <a:bodyPr wrap="square"/>
                    <a:lstStyle/>
                    <a:p>
                      <a:pPr algn="l"/>
                      <a:r>
                        <a:rPr sz="1050" b="0" i="0">
                          <a:solidFill>
                            <a:srgbClr val="000000"/>
                          </a:solidFill>
                          <a:latin typeface="Calibri"/>
                        </a:rPr>
                        <a:t>Figure 147: France Market Value by Device Technology, US$ Mn, 2026 and 2036</a:t>
                      </a:r>
                      <a:endParaRPr sz="1050"/>
                    </a:p>
                  </a:txBody>
                  <a:tcPr marL="9525" marR="9525" marT="9525" marB="0" anchor="ctr"/>
                </a:tc>
              </a:tr>
              <a:tr h="169606">
                <a:tc>
                  <a:txBody>
                    <a:bodyPr wrap="square"/>
                    <a:lstStyle/>
                    <a:p>
                      <a:pPr algn="l"/>
                      <a:r>
                        <a:rPr sz="1050" b="0" i="0">
                          <a:solidFill>
                            <a:srgbClr val="000000"/>
                          </a:solidFill>
                          <a:latin typeface="Calibri"/>
                        </a:rPr>
                        <a:t>Figure 148: Global Market Average Selling Price Trend, US$/Units, 2021–2036</a:t>
                      </a:r>
                      <a:endParaRPr sz="1050"/>
                    </a:p>
                  </a:txBody>
                  <a:tcPr marL="9525" marR="9525" marT="9525" marB="0" anchor="ctr"/>
                </a:tc>
              </a:tr>
              <a:tr h="169606">
                <a:tc>
                  <a:txBody>
                    <a:bodyPr wrap="square"/>
                    <a:lstStyle/>
                    <a:p>
                      <a:pPr algn="l"/>
                      <a:r>
                        <a:rPr sz="1050" b="0" i="0">
                          <a:solidFill>
                            <a:srgbClr val="000000"/>
                          </a:solidFill>
                          <a:latin typeface="Calibri"/>
                        </a:rPr>
                        <a:t>Figure 149: Global Market Average Selling Price by Region,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150: Global Market Average Selling Price by Device Technology,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151: Global Market Average Selling Price by Organ Compatibility,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152: Global Market Average Selling Price by Device Reusability,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153: Global Market Average Selling Price by Monitoring Capability,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154: Global Market Average Selling Price by Purchasing Organisation, US$/Units, 2026 and 2036</a:t>
                      </a:r>
                      <a:endParaRPr sz="1050"/>
                    </a:p>
                  </a:txBody>
                  <a:tcPr marL="9525" marR="9525" marT="9525" marB="0" anchor="ctr"/>
                </a:tc>
              </a:tr>
              <a:tr h="169606">
                <a:tc>
                  <a:txBody>
                    <a:bodyPr wrap="square"/>
                    <a:lstStyle/>
                    <a:p>
                      <a:pPr algn="l"/>
                      <a:r>
                        <a:rPr sz="1050" b="0" i="0">
                          <a:solidFill>
                            <a:srgbClr val="000000"/>
                          </a:solidFill>
                          <a:latin typeface="Calibri"/>
                        </a:rPr>
                        <a:t>Figure 155: Global Market Average Selling Price by Sales Channel, US$/Units, 2026 and 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93"/>
        </p:xfrm>
        <a:graphic>
          <a:graphicData uri="http://schemas.openxmlformats.org/drawingml/2006/table">
            <a:tbl>
              <a:tblPr>
                <a:tableStyleId>{3B4B98B0-60AC-42C2-AFA5-B58CD77FA1E5}</a:tableStyleId>
              </a:tblPr>
              <a:tblGrid>
                <a:gridCol w="5876925"/>
              </a:tblGrid>
              <a:tr h="170045">
                <a:tc>
                  <a:txBody>
                    <a:bodyPr wrap="square"/>
                    <a:lstStyle/>
                    <a:p>
                      <a:pPr algn="l"/>
                      <a:r>
                        <a:rPr sz="1050" b="0" i="0">
                          <a:solidFill>
                            <a:srgbClr val="000000"/>
                          </a:solidFill>
                          <a:latin typeface="Calibri"/>
                        </a:rPr>
                        <a:t>Figure 156: Global Market Value Chain Structure, 2026</a:t>
                      </a:r>
                      <a:endParaRPr sz="1050"/>
                    </a:p>
                  </a:txBody>
                  <a:tcPr marL="9525" marR="9525" marT="9525" marB="0" anchor="ctr"/>
                </a:tc>
              </a:tr>
              <a:tr h="170045">
                <a:tc>
                  <a:txBody>
                    <a:bodyPr wrap="square"/>
                    <a:lstStyle/>
                    <a:p>
                      <a:pPr algn="l"/>
                      <a:r>
                        <a:rPr sz="1050" b="0" i="0">
                          <a:solidFill>
                            <a:srgbClr val="000000"/>
                          </a:solidFill>
                          <a:latin typeface="Calibri"/>
                        </a:rPr>
                        <a:t>Figure 157: Global Market Margin Distribution across the Value Chain, %, 2026</a:t>
                      </a:r>
                      <a:endParaRPr sz="1050"/>
                    </a:p>
                  </a:txBody>
                  <a:tcPr marL="9525" marR="9525" marT="9525" marB="0" anchor="ctr"/>
                </a:tc>
              </a:tr>
              <a:tr h="170045">
                <a:tc>
                  <a:txBody>
                    <a:bodyPr wrap="square"/>
                    <a:lstStyle/>
                    <a:p>
                      <a:pPr algn="l"/>
                      <a:r>
                        <a:rPr sz="1050" b="0" i="0">
                          <a:solidFill>
                            <a:srgbClr val="000000"/>
                          </a:solidFill>
                          <a:latin typeface="Calibri"/>
                        </a:rPr>
                        <a:t>Figure 158: Global Market Cost Structure Breakdown, %, 2026</a:t>
                      </a:r>
                      <a:endParaRPr sz="1050"/>
                    </a:p>
                  </a:txBody>
                  <a:tcPr marL="9525" marR="9525" marT="9525" marB="0" anchor="ctr"/>
                </a:tc>
              </a:tr>
              <a:tr h="170045">
                <a:tc>
                  <a:txBody>
                    <a:bodyPr wrap="square"/>
                    <a:lstStyle/>
                    <a:p>
                      <a:pPr algn="l"/>
                      <a:r>
                        <a:rPr sz="1050" b="0" i="0">
                          <a:solidFill>
                            <a:srgbClr val="000000"/>
                          </a:solidFill>
                          <a:latin typeface="Calibri"/>
                        </a:rPr>
                        <a:t>Figure 159: Global Market Pricing Pressure Assessment by Device Technology, 2026–2036</a:t>
                      </a:r>
                      <a:endParaRPr sz="1050"/>
                    </a:p>
                  </a:txBody>
                  <a:tcPr marL="9525" marR="9525" marT="9525" marB="0" anchor="ctr"/>
                </a:tc>
              </a:tr>
              <a:tr h="170045">
                <a:tc>
                  <a:txBody>
                    <a:bodyPr wrap="square"/>
                    <a:lstStyle/>
                    <a:p>
                      <a:pPr algn="l"/>
                      <a:r>
                        <a:rPr sz="1050" b="0" i="0">
                          <a:solidFill>
                            <a:srgbClr val="000000"/>
                          </a:solidFill>
                          <a:latin typeface="Calibri"/>
                        </a:rPr>
                        <a:t>Figure 160: Global Market Import and Export Share by Region, %, 2025</a:t>
                      </a:r>
                      <a:endParaRPr sz="1050"/>
                    </a:p>
                  </a:txBody>
                  <a:tcPr marL="9525" marR="9525" marT="9525" marB="0" anchor="ctr"/>
                </a:tc>
              </a:tr>
              <a:tr h="170045">
                <a:tc>
                  <a:txBody>
                    <a:bodyPr wrap="square"/>
                    <a:lstStyle/>
                    <a:p>
                      <a:pPr algn="l"/>
                      <a:r>
                        <a:rPr sz="1050" b="0" i="0">
                          <a:solidFill>
                            <a:srgbClr val="000000"/>
                          </a:solidFill>
                          <a:latin typeface="Calibri"/>
                        </a:rPr>
                        <a:t>Figure 161: Global Market Trade Balance by Leading Country, US$ Mn, 2025</a:t>
                      </a:r>
                      <a:endParaRPr sz="1050"/>
                    </a:p>
                  </a:txBody>
                  <a:tcPr marL="9525" marR="9525" marT="9525" marB="0" anchor="ctr"/>
                </a:tc>
              </a:tr>
              <a:tr h="170045">
                <a:tc>
                  <a:txBody>
                    <a:bodyPr wrap="square"/>
                    <a:lstStyle/>
                    <a:p>
                      <a:pPr algn="l"/>
                      <a:r>
                        <a:rPr sz="1050" b="0" i="0">
                          <a:solidFill>
                            <a:srgbClr val="000000"/>
                          </a:solidFill>
                          <a:latin typeface="Calibri"/>
                        </a:rPr>
                        <a:t>Figure 162: Company Market Share in the Global Market, %, 2026</a:t>
                      </a:r>
                      <a:endParaRPr sz="1050"/>
                    </a:p>
                  </a:txBody>
                  <a:tcPr marL="9525" marR="9525" marT="9525" marB="0" anchor="ctr"/>
                </a:tc>
              </a:tr>
              <a:tr h="170045">
                <a:tc>
                  <a:txBody>
                    <a:bodyPr wrap="square"/>
                    <a:lstStyle/>
                    <a:p>
                      <a:pPr algn="l"/>
                      <a:r>
                        <a:rPr sz="1050" b="0" i="0">
                          <a:solidFill>
                            <a:srgbClr val="000000"/>
                          </a:solidFill>
                          <a:latin typeface="Calibri"/>
                        </a:rPr>
                        <a:t>Figure 163: Competitive Positioning of Leading Organ Transport Devices Manufacturers, 2026</a:t>
                      </a:r>
                      <a:endParaRPr sz="1050"/>
                    </a:p>
                  </a:txBody>
                  <a:tcPr marL="9525" marR="9525" marT="9525" marB="0" anchor="ctr"/>
                </a:tc>
              </a:tr>
              <a:tr h="170045">
                <a:tc>
                  <a:txBody>
                    <a:bodyPr wrap="square"/>
                    <a:lstStyle/>
                    <a:p>
                      <a:pPr algn="l"/>
                      <a:r>
                        <a:rPr sz="1050" b="0" i="0">
                          <a:solidFill>
                            <a:srgbClr val="000000"/>
                          </a:solidFill>
                          <a:latin typeface="Calibri"/>
                        </a:rPr>
                        <a:t>Figure 164: Company Revenue from the Global Market, US$ Mn, 2026</a:t>
                      </a:r>
                      <a:endParaRPr sz="1050"/>
                    </a:p>
                  </a:txBody>
                  <a:tcPr marL="9525" marR="9525" marT="9525" marB="0" anchor="ctr"/>
                </a:tc>
              </a:tr>
              <a:tr h="170045">
                <a:tc>
                  <a:txBody>
                    <a:bodyPr wrap="square"/>
                    <a:lstStyle/>
                    <a:p>
                      <a:pPr algn="l"/>
                      <a:r>
                        <a:rPr sz="1050" b="0" i="0">
                          <a:solidFill>
                            <a:srgbClr val="000000"/>
                          </a:solidFill>
                          <a:latin typeface="Calibri"/>
                        </a:rPr>
                        <a:t>Figure 165: Global Market Concentration by Company Tier, %, 2026</a:t>
                      </a:r>
                      <a:endParaRPr sz="1050"/>
                    </a:p>
                  </a:txBody>
                  <a:tcPr marL="9525" marR="9525" marT="9525" marB="0" anchor="ctr"/>
                </a:tc>
              </a:tr>
              <a:tr h="170045">
                <a:tc>
                  <a:txBody>
                    <a:bodyPr wrap="square"/>
                    <a:lstStyle/>
                    <a:p>
                      <a:pPr algn="l"/>
                      <a:r>
                        <a:rPr sz="1050" b="0" i="0">
                          <a:solidFill>
                            <a:srgbClr val="000000"/>
                          </a:solidFill>
                          <a:latin typeface="Calibri"/>
                        </a:rPr>
                        <a:t>Figure 166: Global Market Competitive Intensity Assessment, 2026</a:t>
                      </a:r>
                      <a:endParaRPr sz="1050"/>
                    </a:p>
                  </a:txBody>
                  <a:tcPr marL="9525" marR="9525" marT="9525" marB="0" anchor="ctr"/>
                </a:tc>
              </a:tr>
              <a:tr h="170045">
                <a:tc>
                  <a:txBody>
                    <a:bodyPr wrap="square"/>
                    <a:lstStyle/>
                    <a:p>
                      <a:pPr algn="l"/>
                      <a:r>
                        <a:rPr sz="1050" b="0" i="0">
                          <a:solidFill>
                            <a:srgbClr val="000000"/>
                          </a:solidFill>
                          <a:latin typeface="Calibri"/>
                        </a:rPr>
                        <a:t>Figure 167: Company Market Share in the North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168: Company Market Share in the Latin America Market, %, 2026</a:t>
                      </a:r>
                      <a:endParaRPr sz="1050"/>
                    </a:p>
                  </a:txBody>
                  <a:tcPr marL="9525" marR="9525" marT="9525" marB="0" anchor="ctr"/>
                </a:tc>
              </a:tr>
              <a:tr h="170045">
                <a:tc>
                  <a:txBody>
                    <a:bodyPr wrap="square"/>
                    <a:lstStyle/>
                    <a:p>
                      <a:pPr algn="l"/>
                      <a:r>
                        <a:rPr sz="1050" b="0" i="0">
                          <a:solidFill>
                            <a:srgbClr val="000000"/>
                          </a:solidFill>
                          <a:latin typeface="Calibri"/>
                        </a:rPr>
                        <a:t>Figure 169: Company Market Share in the Europe Market, %, 2026</a:t>
                      </a:r>
                      <a:endParaRPr sz="1050"/>
                    </a:p>
                  </a:txBody>
                  <a:tcPr marL="9525" marR="9525" marT="9525" marB="0" anchor="ctr"/>
                </a:tc>
              </a:tr>
              <a:tr h="170045">
                <a:tc>
                  <a:txBody>
                    <a:bodyPr wrap="square"/>
                    <a:lstStyle/>
                    <a:p>
                      <a:pPr algn="l"/>
                      <a:r>
                        <a:rPr sz="1050" b="0" i="0">
                          <a:solidFill>
                            <a:srgbClr val="000000"/>
                          </a:solidFill>
                          <a:latin typeface="Calibri"/>
                        </a:rPr>
                        <a:t>Figure 170: Company Market Share in the East Asia Market, %, 2026</a:t>
                      </a:r>
                      <a:endParaRPr sz="1050"/>
                    </a:p>
                  </a:txBody>
                  <a:tcPr marL="9525" marR="9525" marT="9525" marB="0" anchor="ctr"/>
                </a:tc>
              </a:tr>
              <a:tr h="170045">
                <a:tc>
                  <a:txBody>
                    <a:bodyPr wrap="square"/>
                    <a:lstStyle/>
                    <a:p>
                      <a:pPr algn="l"/>
                      <a:r>
                        <a:rPr sz="1050" b="0" i="0">
                          <a:solidFill>
                            <a:srgbClr val="000000"/>
                          </a:solidFill>
                          <a:latin typeface="Calibri"/>
                        </a:rPr>
                        <a:t>Figure 171: Company Market Share in the South Asia &amp; Pacific Market, %, 2026</a:t>
                      </a:r>
                      <a:endParaRPr sz="1050"/>
                    </a:p>
                  </a:txBody>
                  <a:tcPr marL="9525" marR="9525" marT="9525" marB="0" anchor="ctr"/>
                </a:tc>
              </a:tr>
              <a:tr h="170045">
                <a:tc>
                  <a:txBody>
                    <a:bodyPr wrap="square"/>
                    <a:lstStyle/>
                    <a:p>
                      <a:pPr algn="l"/>
                      <a:r>
                        <a:rPr sz="1050" b="0" i="0">
                          <a:solidFill>
                            <a:srgbClr val="000000"/>
                          </a:solidFill>
                          <a:latin typeface="Calibri"/>
                        </a:rPr>
                        <a:t>Figure 172: Company Market Share in the Middle East &amp; Africa Market, %, 2026</a:t>
                      </a:r>
                      <a:endParaRPr sz="1050"/>
                    </a:p>
                  </a:txBody>
                  <a:tcPr marL="9525" marR="9525" marT="9525" marB="0" anchor="ctr"/>
                </a:tc>
              </a:tr>
              <a:tr h="170045">
                <a:tc>
                  <a:txBody>
                    <a:bodyPr wrap="square"/>
                    <a:lstStyle/>
                    <a:p>
                      <a:pPr algn="l"/>
                      <a:r>
                        <a:rPr sz="1050" b="0" i="0">
                          <a:solidFill>
                            <a:srgbClr val="000000"/>
                          </a:solidFill>
                          <a:latin typeface="Calibri"/>
                        </a:rPr>
                        <a:t>Figure 173: TransMedics: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174: OrganOx: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175: XVIVO Perfusion: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176: Paragonix Technologies: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177: Organ Recovery Systems: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178: IGL Group / Waters Medical Systems: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179: Bridge to Life: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180: Aferetica: Revenue from the Global Market and Share, US$ Mn and %, 2026</a:t>
                      </a:r>
                      <a:endParaRPr sz="1050"/>
                    </a:p>
                  </a:txBody>
                  <a:tcPr marL="9525" marR="9525" marT="9525" marB="0" anchor="ctr"/>
                </a:tc>
              </a:tr>
              <a:tr h="333289">
                <a:tc>
                  <a:txBody>
                    <a:bodyPr wrap="square"/>
                    <a:lstStyle/>
                    <a:p>
                      <a:pPr algn="l"/>
                      <a:r>
                        <a:rPr sz="1050" b="0" i="0">
                          <a:solidFill>
                            <a:srgbClr val="000000"/>
                          </a:solidFill>
                          <a:latin typeface="Calibri"/>
                        </a:rPr>
                        <a:t>Figure 181: EBERS Medical Technology: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182: Traferox Technologies: Revenue from the Global Market and Share, US$ Mn and %, 2026</a:t>
                      </a:r>
                      <a:endParaRPr sz="1050"/>
                    </a:p>
                  </a:txBody>
                  <a:tcPr marL="9525" marR="9525" marT="9525" marB="0" anchor="ctr"/>
                </a:tc>
              </a:tr>
              <a:tr h="170045">
                <a:tc>
                  <a:txBody>
                    <a:bodyPr wrap="square"/>
                    <a:lstStyle/>
                    <a:p>
                      <a:pPr algn="l"/>
                      <a:r>
                        <a:rPr sz="1050" b="0" i="0">
                          <a:solidFill>
                            <a:srgbClr val="000000"/>
                          </a:solidFill>
                          <a:latin typeface="Calibri"/>
                        </a:rPr>
                        <a:t>Figure 183: Global Market Strategic Developments by Type, %, 2025–2026</a:t>
                      </a:r>
                      <a:endParaRPr sz="1050"/>
                    </a:p>
                  </a:txBody>
                  <a:tcPr marL="9525" marR="9525" marT="9525" marB="0" anchor="ctr"/>
                </a:tc>
              </a:tr>
              <a:tr h="170045">
                <a:tc>
                  <a:txBody>
                    <a:bodyPr wrap="square"/>
                    <a:lstStyle/>
                    <a:p>
                      <a:pPr algn="l"/>
                      <a:r>
                        <a:rPr sz="1050" b="0" i="0">
                          <a:solidFill>
                            <a:srgbClr val="000000"/>
                          </a:solidFill>
                          <a:latin typeface="Calibri"/>
                        </a:rPr>
                        <a:t>Figure 184: Global Market Company Footprint by Region,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Figures (4/4)</a:t>
            </a:r>
          </a:p>
        </p:txBody>
      </p:sp>
      <p:graphicFrame>
        <p:nvGraphicFramePr>
          <p:cNvPr id="9" name="FMI Contents Table"/>
          <p:cNvGraphicFramePr>
            <a:graphicFrameLocks noGrp="1"/>
          </p:cNvGraphicFramePr>
          <p:nvPr/>
        </p:nvGraphicFramePr>
        <p:xfrm>
          <a:off x="142875" y="981075"/>
          <a:ext cx="5876925" cy="2667008"/>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Figure 185: Global Market Value Forecast by Scenario, US$ Mn, 2026–2036</a:t>
                      </a:r>
                      <a:endParaRPr sz="1050"/>
                    </a:p>
                  </a:txBody>
                  <a:tcPr marL="9525" marR="9525" marT="9525" marB="0" anchor="ctr"/>
                </a:tc>
              </a:tr>
              <a:tr h="166688">
                <a:tc>
                  <a:txBody>
                    <a:bodyPr wrap="square"/>
                    <a:lstStyle/>
                    <a:p>
                      <a:pPr algn="l"/>
                      <a:r>
                        <a:rPr sz="1050" b="0" i="0">
                          <a:solidFill>
                            <a:srgbClr val="000000"/>
                          </a:solidFill>
                          <a:latin typeface="Calibri"/>
                        </a:rPr>
                        <a:t>Figure 186: Global Market YoY Growth by Scenario, %, 2026–2036</a:t>
                      </a:r>
                      <a:endParaRPr sz="1050"/>
                    </a:p>
                  </a:txBody>
                  <a:tcPr marL="9525" marR="9525" marT="9525" marB="0" anchor="ctr"/>
                </a:tc>
              </a:tr>
              <a:tr h="166688">
                <a:tc>
                  <a:txBody>
                    <a:bodyPr wrap="square"/>
                    <a:lstStyle/>
                    <a:p>
                      <a:pPr algn="l"/>
                      <a:r>
                        <a:rPr sz="1050" b="0" i="0">
                          <a:solidFill>
                            <a:srgbClr val="000000"/>
                          </a:solidFill>
                          <a:latin typeface="Calibri"/>
                        </a:rPr>
                        <a:t>Figure 187: Global Market Key Trends Impact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188: Global Market Drivers, Restraints and Opportunities Impact, 2026–2036</a:t>
                      </a:r>
                      <a:endParaRPr sz="1050"/>
                    </a:p>
                  </a:txBody>
                  <a:tcPr marL="9525" marR="9525" marT="9525" marB="0" anchor="ctr"/>
                </a:tc>
              </a:tr>
              <a:tr h="166688">
                <a:tc>
                  <a:txBody>
                    <a:bodyPr wrap="square"/>
                    <a:lstStyle/>
                    <a:p>
                      <a:pPr algn="l"/>
                      <a:r>
                        <a:rPr sz="1050" b="0" i="0">
                          <a:solidFill>
                            <a:srgbClr val="000000"/>
                          </a:solidFill>
                          <a:latin typeface="Calibri"/>
                        </a:rPr>
                        <a:t>Figure 189: Global Market Opportunity Map by Region and Device Technology, 2026–2036</a:t>
                      </a:r>
                      <a:endParaRPr sz="1050"/>
                    </a:p>
                  </a:txBody>
                  <a:tcPr marL="9525" marR="9525" marT="9525" marB="0" anchor="ctr"/>
                </a:tc>
              </a:tr>
              <a:tr h="166688">
                <a:tc>
                  <a:txBody>
                    <a:bodyPr wrap="square"/>
                    <a:lstStyle/>
                    <a:p>
                      <a:pPr algn="l"/>
                      <a:r>
                        <a:rPr sz="1050" b="0" i="0">
                          <a:solidFill>
                            <a:srgbClr val="000000"/>
                          </a:solidFill>
                          <a:latin typeface="Calibri"/>
                        </a:rPr>
                        <a:t>Figure 190: Global Market Technology Adoption Roadmap, 2021–2036</a:t>
                      </a:r>
                      <a:endParaRPr sz="1050"/>
                    </a:p>
                  </a:txBody>
                  <a:tcPr marL="9525" marR="9525" marT="9525" marB="0" anchor="ctr"/>
                </a:tc>
              </a:tr>
              <a:tr h="166688">
                <a:tc>
                  <a:txBody>
                    <a:bodyPr wrap="square"/>
                    <a:lstStyle/>
                    <a:p>
                      <a:pPr algn="l"/>
                      <a:r>
                        <a:rPr sz="1050" b="0" i="0">
                          <a:solidFill>
                            <a:srgbClr val="000000"/>
                          </a:solidFill>
                          <a:latin typeface="Calibri"/>
                        </a:rPr>
                        <a:t>Figure 191: Global Market Emerging Opportunity Pockets by Device Technology, US$ Mn, 2026–2036</a:t>
                      </a:r>
                      <a:endParaRPr sz="1050"/>
                    </a:p>
                  </a:txBody>
                  <a:tcPr marL="9525" marR="9525" marT="9525" marB="0" anchor="ctr"/>
                </a:tc>
              </a:tr>
              <a:tr h="166688">
                <a:tc>
                  <a:txBody>
                    <a:bodyPr wrap="square"/>
                    <a:lstStyle/>
                    <a:p>
                      <a:pPr algn="l"/>
                      <a:r>
                        <a:rPr sz="1050" b="0" i="0">
                          <a:solidFill>
                            <a:srgbClr val="000000"/>
                          </a:solidFill>
                          <a:latin typeface="Calibri"/>
                        </a:rPr>
                        <a:t>Figure 192: Global Market Risk and Sensitivity Analysis, %, 2026–2036</a:t>
                      </a:r>
                      <a:endParaRPr sz="1050"/>
                    </a:p>
                  </a:txBody>
                  <a:tcPr marL="9525" marR="9525" marT="9525" marB="0" anchor="ctr"/>
                </a:tc>
              </a:tr>
              <a:tr h="166688">
                <a:tc>
                  <a:txBody>
                    <a:bodyPr wrap="square"/>
                    <a:lstStyle/>
                    <a:p>
                      <a:pPr algn="l"/>
                      <a:r>
                        <a:rPr sz="1050" b="0" i="0">
                          <a:solidFill>
                            <a:srgbClr val="000000"/>
                          </a:solidFill>
                          <a:latin typeface="Calibri"/>
                        </a:rPr>
                        <a:t>Figure 193: Global Market Regulatory Landscape Timeline, 2021–2036</a:t>
                      </a:r>
                      <a:endParaRPr sz="1050"/>
                    </a:p>
                  </a:txBody>
                  <a:tcPr marL="9525" marR="9525" marT="9525" marB="0" anchor="ctr"/>
                </a:tc>
              </a:tr>
              <a:tr h="166688">
                <a:tc>
                  <a:txBody>
                    <a:bodyPr wrap="square"/>
                    <a:lstStyle/>
                    <a:p>
                      <a:pPr algn="l"/>
                      <a:r>
                        <a:rPr sz="1050" b="0" i="0">
                          <a:solidFill>
                            <a:srgbClr val="000000"/>
                          </a:solidFill>
                          <a:latin typeface="Calibri"/>
                        </a:rPr>
                        <a:t>Figure 194: Global Market Investment Hotspots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195: Global Market Innovation Pipeline Assessment, 2026</a:t>
                      </a:r>
                      <a:endParaRPr sz="1050"/>
                    </a:p>
                  </a:txBody>
                  <a:tcPr marL="9525" marR="9525" marT="9525" marB="0" anchor="ctr"/>
                </a:tc>
              </a:tr>
              <a:tr h="166688">
                <a:tc>
                  <a:txBody>
                    <a:bodyPr wrap="square"/>
                    <a:lstStyle/>
                    <a:p>
                      <a:pPr algn="l"/>
                      <a:r>
                        <a:rPr sz="1050" b="0" i="0">
                          <a:solidFill>
                            <a:srgbClr val="000000"/>
                          </a:solidFill>
                          <a:latin typeface="Calibri"/>
                        </a:rPr>
                        <a:t>Figure 196: Global Market White-Space Opportunity Assessment, 2026–2036</a:t>
                      </a:r>
                      <a:endParaRPr sz="1050"/>
                    </a:p>
                  </a:txBody>
                  <a:tcPr marL="9525" marR="9525" marT="9525" marB="0" anchor="ctr"/>
                </a:tc>
              </a:tr>
              <a:tr h="166688">
                <a:tc>
                  <a:txBody>
                    <a:bodyPr wrap="square"/>
                    <a:lstStyle/>
                    <a:p>
                      <a:pPr algn="l"/>
                      <a:r>
                        <a:rPr sz="1050" b="0" i="0">
                          <a:solidFill>
                            <a:srgbClr val="000000"/>
                          </a:solidFill>
                          <a:latin typeface="Calibri"/>
                        </a:rPr>
                        <a:t>Figure 197: Global Market Customer Purchase Criteria Assessment, 2026</a:t>
                      </a:r>
                      <a:endParaRPr sz="1050"/>
                    </a:p>
                  </a:txBody>
                  <a:tcPr marL="9525" marR="9525" marT="9525" marB="0" anchor="ctr"/>
                </a:tc>
              </a:tr>
              <a:tr h="166688">
                <a:tc>
                  <a:txBody>
                    <a:bodyPr wrap="square"/>
                    <a:lstStyle/>
                    <a:p>
                      <a:pPr algn="l"/>
                      <a:r>
                        <a:rPr sz="1050" b="0" i="0">
                          <a:solidFill>
                            <a:srgbClr val="000000"/>
                          </a:solidFill>
                          <a:latin typeface="Calibri"/>
                        </a:rPr>
                        <a:t>Figure 198: Global Market Go-to-Market Priority by Region, 2026–2036</a:t>
                      </a:r>
                      <a:endParaRPr sz="1050"/>
                    </a:p>
                  </a:txBody>
                  <a:tcPr marL="9525" marR="9525" marT="9525" marB="0" anchor="ctr"/>
                </a:tc>
              </a:tr>
              <a:tr h="166688">
                <a:tc>
                  <a:txBody>
                    <a:bodyPr wrap="square"/>
                    <a:lstStyle/>
                    <a:p>
                      <a:pPr algn="l"/>
                      <a:r>
                        <a:rPr sz="1050" b="0" i="0">
                          <a:solidFill>
                            <a:srgbClr val="000000"/>
                          </a:solidFill>
                          <a:latin typeface="Calibri"/>
                        </a:rPr>
                        <a:t>Figure 199: Global Market Unmet Needs Analysis by Device Technology, 2026</a:t>
                      </a:r>
                      <a:endParaRPr sz="1050"/>
                    </a:p>
                  </a:txBody>
                  <a:tcPr marL="9525" marR="9525" marT="9525" marB="0" anchor="ctr"/>
                </a:tc>
              </a:tr>
              <a:tr h="166688">
                <a:tc>
                  <a:txBody>
                    <a:bodyPr wrap="square"/>
                    <a:lstStyle/>
                    <a:p>
                      <a:pPr algn="l"/>
                      <a:r>
                        <a:rPr sz="1050" b="0" i="0">
                          <a:solidFill>
                            <a:srgbClr val="000000"/>
                          </a:solidFill>
                          <a:latin typeface="Calibri"/>
                        </a:rPr>
                        <a:t>Figure 200: Global Market Right-to-Win Assessment, 2026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(1/4)</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5729">
                <a:tc>
                  <a:txBody>
                    <a:bodyPr wrap="square"/>
                    <a:lstStyle/>
                    <a:p>
                      <a:pPr algn="l"/>
                      <a:r>
                        <a:rPr sz="1050" b="0" i="0">
                          <a:solidFill>
                            <a:srgbClr val="000000"/>
                          </a:solidFill>
                          <a:latin typeface="Calibri"/>
                        </a:rPr>
                        <a:t>Table 1: Global Market Snapshot: Value, Volume and CAGR, US$ Mn, 2025–2036</a:t>
                      </a:r>
                      <a:endParaRPr sz="1050"/>
                    </a:p>
                  </a:txBody>
                  <a:tcPr marL="9525" marR="9525" marT="9525" marB="0" anchor="ctr"/>
                </a:tc>
              </a:tr>
              <a:tr h="175729">
                <a:tc>
                  <a:txBody>
                    <a:bodyPr wrap="square"/>
                    <a:lstStyle/>
                    <a:p>
                      <a:pPr algn="l"/>
                      <a:r>
                        <a:rPr sz="1050" b="0" i="0">
                          <a:solidFill>
                            <a:srgbClr val="000000"/>
                          </a:solidFill>
                          <a:latin typeface="Calibri"/>
                        </a:rPr>
                        <a:t>Table 2: Global Market Taxonomy by Segment, 2026</a:t>
                      </a:r>
                      <a:endParaRPr sz="1050"/>
                    </a:p>
                  </a:txBody>
                  <a:tcPr marL="9525" marR="9525" marT="9525" marB="0" anchor="ctr"/>
                </a:tc>
              </a:tr>
              <a:tr h="175729">
                <a:tc>
                  <a:txBody>
                    <a:bodyPr wrap="square"/>
                    <a:lstStyle/>
                    <a:p>
                      <a:pPr algn="l"/>
                      <a:r>
                        <a:rPr sz="1050" b="0" i="0">
                          <a:solidFill>
                            <a:srgbClr val="000000"/>
                          </a:solidFill>
                          <a:latin typeface="Calibri"/>
                        </a:rPr>
                        <a:t>Table 3: Global Market Scope: Inclusions and Exclusions by Segment, 2026</a:t>
                      </a:r>
                      <a:endParaRPr sz="1050"/>
                    </a:p>
                  </a:txBody>
                  <a:tcPr marL="9525" marR="9525" marT="9525" marB="0" anchor="ctr"/>
                </a:tc>
              </a:tr>
              <a:tr h="175729">
                <a:tc>
                  <a:txBody>
                    <a:bodyPr wrap="square"/>
                    <a:lstStyle/>
                    <a:p>
                      <a:pPr algn="l"/>
                      <a:r>
                        <a:rPr sz="1050" b="0" i="0">
                          <a:solidFill>
                            <a:srgbClr val="000000"/>
                          </a:solidFill>
                          <a:latin typeface="Calibri"/>
                        </a:rPr>
                        <a:t>Table 4: Global Market Key Demand Drivers and Impact Rating, 2026–2036</a:t>
                      </a:r>
                      <a:endParaRPr sz="1050"/>
                    </a:p>
                  </a:txBody>
                  <a:tcPr marL="9525" marR="9525" marT="9525" marB="0" anchor="ctr"/>
                </a:tc>
              </a:tr>
              <a:tr h="175729">
                <a:tc>
                  <a:txBody>
                    <a:bodyPr wrap="square"/>
                    <a:lstStyle/>
                    <a:p>
                      <a:pPr algn="l"/>
                      <a:r>
                        <a:rPr sz="1050" b="0" i="0">
                          <a:solidFill>
                            <a:srgbClr val="000000"/>
                          </a:solidFill>
                          <a:latin typeface="Calibri"/>
                        </a:rPr>
                        <a:t>Table 5: Global Market Key Restraints and Impact Rating, 2026–2036</a:t>
                      </a:r>
                      <a:endParaRPr sz="1050"/>
                    </a:p>
                  </a:txBody>
                  <a:tcPr marL="9525" marR="9525" marT="9525" marB="0" anchor="ctr"/>
                </a:tc>
              </a:tr>
              <a:tr h="175729">
                <a:tc>
                  <a:txBody>
                    <a:bodyPr wrap="square"/>
                    <a:lstStyle/>
                    <a:p>
                      <a:pPr algn="l"/>
                      <a:r>
                        <a:rPr sz="1050" b="0" i="0">
                          <a:solidFill>
                            <a:srgbClr val="000000"/>
                          </a:solidFill>
                          <a:latin typeface="Calibri"/>
                        </a:rPr>
                        <a:t>Table 6: Global Market Analyst Recommendations by Segment, 2026–2036</a:t>
                      </a:r>
                      <a:endParaRPr sz="1050"/>
                    </a:p>
                  </a:txBody>
                  <a:tcPr marL="9525" marR="9525" marT="9525" marB="0" anchor="ctr"/>
                </a:tc>
              </a:tr>
              <a:tr h="175729">
                <a:tc>
                  <a:txBody>
                    <a:bodyPr wrap="square"/>
                    <a:lstStyle/>
                    <a:p>
                      <a:pPr algn="l"/>
                      <a:r>
                        <a:rPr sz="1050" b="0" i="0">
                          <a:solidFill>
                            <a:srgbClr val="000000"/>
                          </a:solidFill>
                          <a:latin typeface="Calibri"/>
                        </a:rPr>
                        <a:t>Table 7: Global Market Key Market Signals and Data Points, 2026</a:t>
                      </a:r>
                      <a:endParaRPr sz="1050"/>
                    </a:p>
                  </a:txBody>
                  <a:tcPr marL="9525" marR="9525" marT="9525" marB="0" anchor="ctr"/>
                </a:tc>
              </a:tr>
              <a:tr h="175729">
                <a:tc>
                  <a:txBody>
                    <a:bodyPr wrap="square"/>
                    <a:lstStyle/>
                    <a:p>
                      <a:pPr algn="l"/>
                      <a:r>
                        <a:rPr sz="1050" b="0" i="0">
                          <a:solidFill>
                            <a:srgbClr val="000000"/>
                          </a:solidFill>
                          <a:latin typeface="Calibri"/>
                        </a:rPr>
                        <a:t>Table 8: Global Market Value and YoY Growth, US$ Mn and %, 2021–2036</a:t>
                      </a:r>
                      <a:endParaRPr sz="1050"/>
                    </a:p>
                  </a:txBody>
                  <a:tcPr marL="9525" marR="9525" marT="9525" marB="0" anchor="ctr"/>
                </a:tc>
              </a:tr>
              <a:tr h="175729">
                <a:tc>
                  <a:txBody>
                    <a:bodyPr wrap="square"/>
                    <a:lstStyle/>
                    <a:p>
                      <a:pPr algn="l"/>
                      <a:r>
                        <a:rPr sz="1050" b="0" i="0">
                          <a:solidFill>
                            <a:srgbClr val="000000"/>
                          </a:solidFill>
                          <a:latin typeface="Calibri"/>
                        </a:rPr>
                        <a:t>Table 9: Global Market Historical Value Analysis, US$ Mn, 2021–2025</a:t>
                      </a:r>
                      <a:endParaRPr sz="1050"/>
                    </a:p>
                  </a:txBody>
                  <a:tcPr marL="9525" marR="9525" marT="9525" marB="0" anchor="ctr"/>
                </a:tc>
              </a:tr>
              <a:tr h="175729">
                <a:tc>
                  <a:txBody>
                    <a:bodyPr wrap="square"/>
                    <a:lstStyle/>
                    <a:p>
                      <a:pPr algn="l"/>
                      <a:r>
                        <a:rPr sz="1050" b="0" i="0">
                          <a:solidFill>
                            <a:srgbClr val="000000"/>
                          </a:solidFill>
                          <a:latin typeface="Calibri"/>
                        </a:rPr>
                        <a:t>Table 10: Global Market Forecast Value Analysis, US$ Mn, 2026–2036</a:t>
                      </a:r>
                      <a:endParaRPr sz="1050"/>
                    </a:p>
                  </a:txBody>
                  <a:tcPr marL="9525" marR="9525" marT="9525" marB="0" anchor="ctr"/>
                </a:tc>
              </a:tr>
              <a:tr h="175729">
                <a:tc>
                  <a:txBody>
                    <a:bodyPr wrap="square"/>
                    <a:lstStyle/>
                    <a:p>
                      <a:pPr algn="l"/>
                      <a:r>
                        <a:rPr sz="1050" b="0" i="0">
                          <a:solidFill>
                            <a:srgbClr val="000000"/>
                          </a:solidFill>
                          <a:latin typeface="Calibri"/>
                        </a:rPr>
                        <a:t>Table 11: Global Market Volume and YoY Growth, Units and %, 2021–2036</a:t>
                      </a:r>
                      <a:endParaRPr sz="1050"/>
                    </a:p>
                  </a:txBody>
                  <a:tcPr marL="9525" marR="9525" marT="9525" marB="0" anchor="ctr"/>
                </a:tc>
              </a:tr>
              <a:tr h="175729">
                <a:tc>
                  <a:txBody>
                    <a:bodyPr wrap="square"/>
                    <a:lstStyle/>
                    <a:p>
                      <a:pPr algn="l"/>
                      <a:r>
                        <a:rPr sz="1050" b="0" i="0">
                          <a:solidFill>
                            <a:srgbClr val="000000"/>
                          </a:solidFill>
                          <a:latin typeface="Calibri"/>
                        </a:rPr>
                        <a:t>Table 12: Global Market Volume Forecast, Units, 2026–2036</a:t>
                      </a:r>
                      <a:endParaRPr sz="1050"/>
                    </a:p>
                  </a:txBody>
                  <a:tcPr marL="9525" marR="9525" marT="9525" marB="0" anchor="ctr"/>
                </a:tc>
              </a:tr>
              <a:tr h="175729">
                <a:tc>
                  <a:txBody>
                    <a:bodyPr wrap="square"/>
                    <a:lstStyle/>
                    <a:p>
                      <a:pPr algn="l"/>
                      <a:r>
                        <a:rPr sz="1050" b="0" i="0">
                          <a:solidFill>
                            <a:srgbClr val="000000"/>
                          </a:solidFill>
                          <a:latin typeface="Calibri"/>
                        </a:rPr>
                        <a:t>Table 13: Global Market Average Selling Price, US$/Units, 2021–2036</a:t>
                      </a:r>
                      <a:endParaRPr sz="1050"/>
                    </a:p>
                  </a:txBody>
                  <a:tcPr marL="9525" marR="9525" marT="9525" marB="0" anchor="ctr"/>
                </a:tc>
              </a:tr>
              <a:tr h="175729">
                <a:tc>
                  <a:txBody>
                    <a:bodyPr wrap="square"/>
                    <a:lstStyle/>
                    <a:p>
                      <a:pPr algn="l"/>
                      <a:r>
                        <a:rPr sz="1050" b="0" i="0">
                          <a:solidFill>
                            <a:srgbClr val="000000"/>
                          </a:solidFill>
                          <a:latin typeface="Calibri"/>
                        </a:rPr>
                        <a:t>Table 14: Global Market Average Selling Price YoY Change, %, 2026–2036</a:t>
                      </a:r>
                      <a:endParaRPr sz="1050"/>
                    </a:p>
                  </a:txBody>
                  <a:tcPr marL="9525" marR="9525" marT="9525" marB="0" anchor="ctr"/>
                </a:tc>
              </a:tr>
              <a:tr h="175729">
                <a:tc>
                  <a:txBody>
                    <a:bodyPr wrap="square"/>
                    <a:lstStyle/>
                    <a:p>
                      <a:pPr algn="l"/>
                      <a:r>
                        <a:rPr sz="1050" b="0" i="0">
                          <a:solidFill>
                            <a:srgbClr val="000000"/>
                          </a:solidFill>
                          <a:latin typeface="Calibri"/>
                        </a:rPr>
                        <a:t>Table 15: Global Market CAGR and Absolute $ Opportunity, %, US$ Mn, 2026–2036</a:t>
                      </a:r>
                      <a:endParaRPr sz="1050"/>
                    </a:p>
                  </a:txBody>
                  <a:tcPr marL="9525" marR="9525" marT="9525" marB="0" anchor="ctr"/>
                </a:tc>
              </a:tr>
              <a:tr h="175729">
                <a:tc>
                  <a:txBody>
                    <a:bodyPr wrap="square"/>
                    <a:lstStyle/>
                    <a:p>
                      <a:pPr algn="l"/>
                      <a:r>
                        <a:rPr sz="1050" b="0" i="0">
                          <a:solidFill>
                            <a:srgbClr val="000000"/>
                          </a:solidFill>
                          <a:latin typeface="Calibri"/>
                        </a:rPr>
                        <a:t>Table 16: Global Market Absolute $ Opportunity by Year, US$ Mn, 2026–2036</a:t>
                      </a:r>
                      <a:endParaRPr sz="1050"/>
                    </a:p>
                  </a:txBody>
                  <a:tcPr marL="9525" marR="9525" marT="9525" marB="0" anchor="ctr"/>
                </a:tc>
              </a:tr>
              <a:tr h="175729">
                <a:tc>
                  <a:txBody>
                    <a:bodyPr wrap="square"/>
                    <a:lstStyle/>
                    <a:p>
                      <a:pPr algn="l"/>
                      <a:r>
                        <a:rPr sz="1050" b="0" i="0">
                          <a:solidFill>
                            <a:srgbClr val="000000"/>
                          </a:solidFill>
                          <a:latin typeface="Calibri"/>
                        </a:rPr>
                        <a:t>Table 17: Global Market Value by Scenario (Optimistic, Likely, Pessimistic), US$ Mn, 2026–2036</a:t>
                      </a:r>
                      <a:endParaRPr sz="1050"/>
                    </a:p>
                  </a:txBody>
                  <a:tcPr marL="9525" marR="9525" marT="9525" marB="0" anchor="ctr"/>
                </a:tc>
              </a:tr>
              <a:tr h="175729">
                <a:tc>
                  <a:txBody>
                    <a:bodyPr wrap="square"/>
                    <a:lstStyle/>
                    <a:p>
                      <a:pPr algn="l"/>
                      <a:r>
                        <a:rPr sz="1050" b="0" i="0">
                          <a:solidFill>
                            <a:srgbClr val="000000"/>
                          </a:solidFill>
                          <a:latin typeface="Calibri"/>
                        </a:rPr>
                        <a:t>Table 18: Global Market Scenario CAGR Comparison, %, 2026–2036</a:t>
                      </a:r>
                      <a:endParaRPr sz="1050"/>
                    </a:p>
                  </a:txBody>
                  <a:tcPr marL="9525" marR="9525" marT="9525" marB="0" anchor="ctr"/>
                </a:tc>
              </a:tr>
              <a:tr h="175729">
                <a:tc>
                  <a:txBody>
                    <a:bodyPr wrap="square"/>
                    <a:lstStyle/>
                    <a:p>
                      <a:pPr algn="l"/>
                      <a:r>
                        <a:rPr sz="1050" b="0" i="0">
                          <a:solidFill>
                            <a:srgbClr val="000000"/>
                          </a:solidFill>
                          <a:latin typeface="Calibri"/>
                        </a:rPr>
                        <a:t>Table 19: Global Market Historical vs Forecast Growth Comparison, %, 2021–2036</a:t>
                      </a:r>
                      <a:endParaRPr sz="1050"/>
                    </a:p>
                  </a:txBody>
                  <a:tcPr marL="9525" marR="9525" marT="9525" marB="0" anchor="ctr"/>
                </a:tc>
              </a:tr>
              <a:tr h="175729">
                <a:tc>
                  <a:txBody>
                    <a:bodyPr wrap="square"/>
                    <a:lstStyle/>
                    <a:p>
                      <a:pPr algn="l"/>
                      <a:r>
                        <a:rPr sz="1050" b="0" i="0">
                          <a:solidFill>
                            <a:srgbClr val="000000"/>
                          </a:solidFill>
                          <a:latin typeface="Calibri"/>
                        </a:rPr>
                        <a:t>Table 20: Global Market Five-Year Block Value Summary, US$ Mn, 2021–2036</a:t>
                      </a:r>
                      <a:endParaRPr sz="1050"/>
                    </a:p>
                  </a:txBody>
                  <a:tcPr marL="9525" marR="9525" marT="9525" marB="0" anchor="ctr"/>
                </a:tc>
              </a:tr>
              <a:tr h="175729">
                <a:tc>
                  <a:txBody>
                    <a:bodyPr wrap="square"/>
                    <a:lstStyle/>
                    <a:p>
                      <a:pPr algn="l"/>
                      <a:r>
                        <a:rPr sz="1050" b="0" i="0">
                          <a:solidFill>
                            <a:srgbClr val="000000"/>
                          </a:solidFill>
                          <a:latin typeface="Calibri"/>
                        </a:rPr>
                        <a:t>Table 21: Global Market Value by Device Technology, US$ Mn, 2021–2036</a:t>
                      </a:r>
                      <a:endParaRPr sz="1050"/>
                    </a:p>
                  </a:txBody>
                  <a:tcPr marL="9525" marR="9525" marT="9525" marB="0" anchor="ctr"/>
                </a:tc>
              </a:tr>
              <a:tr h="175729">
                <a:tc>
                  <a:txBody>
                    <a:bodyPr wrap="square"/>
                    <a:lstStyle/>
                    <a:p>
                      <a:pPr algn="l"/>
                      <a:r>
                        <a:rPr sz="1050" b="0" i="0">
                          <a:solidFill>
                            <a:srgbClr val="000000"/>
                          </a:solidFill>
                          <a:latin typeface="Calibri"/>
                        </a:rPr>
                        <a:t>Table 22: Global Market Value by Organ Compatibility, US$ Mn, 2021–2036</a:t>
                      </a:r>
                      <a:endParaRPr sz="1050"/>
                    </a:p>
                  </a:txBody>
                  <a:tcPr marL="9525" marR="9525" marT="9525" marB="0" anchor="ctr"/>
                </a:tc>
              </a:tr>
              <a:tr h="175729">
                <a:tc>
                  <a:txBody>
                    <a:bodyPr wrap="square"/>
                    <a:lstStyle/>
                    <a:p>
                      <a:pPr algn="l"/>
                      <a:r>
                        <a:rPr sz="1050" b="0" i="0">
                          <a:solidFill>
                            <a:srgbClr val="000000"/>
                          </a:solidFill>
                          <a:latin typeface="Calibri"/>
                        </a:rPr>
                        <a:t>Table 23: Global Market Value by Device Reusability, US$ Mn, 2021–2036</a:t>
                      </a:r>
                      <a:endParaRPr sz="1050"/>
                    </a:p>
                  </a:txBody>
                  <a:tcPr marL="9525" marR="9525" marT="9525" marB="0" anchor="ctr"/>
                </a:tc>
              </a:tr>
              <a:tr h="175729">
                <a:tc>
                  <a:txBody>
                    <a:bodyPr wrap="square"/>
                    <a:lstStyle/>
                    <a:p>
                      <a:pPr algn="l"/>
                      <a:r>
                        <a:rPr sz="1050" b="0" i="0">
                          <a:solidFill>
                            <a:srgbClr val="000000"/>
                          </a:solidFill>
                          <a:latin typeface="Calibri"/>
                        </a:rPr>
                        <a:t>Table 24: Global Market Value by Monitoring Capability, US$ Mn, 2021–2036</a:t>
                      </a:r>
                      <a:endParaRPr sz="1050"/>
                    </a:p>
                  </a:txBody>
                  <a:tcPr marL="9525" marR="9525" marT="9525" marB="0" anchor="ctr"/>
                </a:tc>
              </a:tr>
              <a:tr h="175729">
                <a:tc>
                  <a:txBody>
                    <a:bodyPr wrap="square"/>
                    <a:lstStyle/>
                    <a:p>
                      <a:pPr algn="l"/>
                      <a:r>
                        <a:rPr sz="1050" b="0" i="0">
                          <a:solidFill>
                            <a:srgbClr val="000000"/>
                          </a:solidFill>
                          <a:latin typeface="Calibri"/>
                        </a:rPr>
                        <a:t>Table 25: Global Market Value by Purchasing Organisation, US$ Mn, 2021–2036</a:t>
                      </a:r>
                      <a:endParaRPr sz="1050"/>
                    </a:p>
                  </a:txBody>
                  <a:tcPr marL="9525" marR="9525" marT="9525" marB="0" anchor="ctr"/>
                </a:tc>
              </a:tr>
              <a:tr h="175729">
                <a:tc>
                  <a:txBody>
                    <a:bodyPr wrap="square"/>
                    <a:lstStyle/>
                    <a:p>
                      <a:pPr algn="l"/>
                      <a:r>
                        <a:rPr sz="1050" b="0" i="0">
                          <a:solidFill>
                            <a:srgbClr val="000000"/>
                          </a:solidFill>
                          <a:latin typeface="Calibri"/>
                        </a:rPr>
                        <a:t>Table 26: Global Market Value by Sales Channel, US$ Mn, 2021–2036</a:t>
                      </a:r>
                      <a:endParaRPr sz="1050"/>
                    </a:p>
                  </a:txBody>
                  <a:tcPr marL="9525" marR="9525" marT="9525" marB="0" anchor="ctr"/>
                </a:tc>
              </a:tr>
              <a:tr h="344428">
                <a:tc>
                  <a:txBody>
                    <a:bodyPr wrap="square"/>
                    <a:lstStyle/>
                    <a:p>
                      <a:pPr algn="l"/>
                      <a:r>
                        <a:rPr sz="1050" b="0" i="0">
                          <a:solidFill>
                            <a:srgbClr val="000000"/>
                          </a:solidFill>
                          <a:latin typeface="Calibri"/>
                        </a:rPr>
                        <a:t>Table 27: Global Market CAGR and Absolute $ Opportunity by Device Technology, %, US$ Mn, 2026–2036</a:t>
                      </a:r>
                      <a:endParaRPr sz="1050"/>
                    </a:p>
                  </a:txBody>
                  <a:tcPr marL="9525" marR="9525" marT="9525" marB="0" anchor="ctr"/>
                </a:tc>
              </a:tr>
              <a:tr h="344428">
                <a:tc>
                  <a:txBody>
                    <a:bodyPr wrap="square"/>
                    <a:lstStyle/>
                    <a:p>
                      <a:pPr algn="l"/>
                      <a:r>
                        <a:rPr sz="1050" b="0" i="0">
                          <a:solidFill>
                            <a:srgbClr val="000000"/>
                          </a:solidFill>
                          <a:latin typeface="Calibri"/>
                        </a:rPr>
                        <a:t>Table 28: Global Market CAGR and Absolute $ Opportunity by Organ Compatibility, %,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0"/>
        </p:xfrm>
        <a:graphic>
          <a:graphicData uri="http://schemas.openxmlformats.org/drawingml/2006/table">
            <a:tbl>
              <a:tblPr>
                <a:tableStyleId>{3B4B98B0-60AC-42C2-AFA5-B58CD77FA1E5}</a:tableStyleId>
              </a:tblPr>
              <a:tblGrid>
                <a:gridCol w="5876925"/>
              </a:tblGrid>
              <a:tr h="333720">
                <a:tc>
                  <a:txBody>
                    <a:bodyPr wrap="square"/>
                    <a:lstStyle/>
                    <a:p>
                      <a:pPr algn="l"/>
                      <a:r>
                        <a:rPr sz="1050" b="0" i="0">
                          <a:solidFill>
                            <a:srgbClr val="000000"/>
                          </a:solidFill>
                          <a:latin typeface="Calibri"/>
                        </a:rPr>
                        <a:t>Table 29: Global Market CAGR and Absolute $ Opportunity by Device Reusability, %, US$ Mn, 2026–2036</a:t>
                      </a:r>
                      <a:endParaRPr sz="1050"/>
                    </a:p>
                  </a:txBody>
                  <a:tcPr marL="9525" marR="9525" marT="9525" marB="0" anchor="ctr"/>
                </a:tc>
              </a:tr>
              <a:tr h="333720">
                <a:tc>
                  <a:txBody>
                    <a:bodyPr wrap="square"/>
                    <a:lstStyle/>
                    <a:p>
                      <a:pPr algn="l"/>
                      <a:r>
                        <a:rPr sz="1050" b="0" i="0">
                          <a:solidFill>
                            <a:srgbClr val="000000"/>
                          </a:solidFill>
                          <a:latin typeface="Calibri"/>
                        </a:rPr>
                        <a:t>Table 30: Global Market CAGR and Absolute $ Opportunity by Monitoring Capability, %, US$ Mn, 2026–2036</a:t>
                      </a:r>
                      <a:endParaRPr sz="1050"/>
                    </a:p>
                  </a:txBody>
                  <a:tcPr marL="9525" marR="9525" marT="9525" marB="0" anchor="ctr"/>
                </a:tc>
              </a:tr>
              <a:tr h="333720">
                <a:tc>
                  <a:txBody>
                    <a:bodyPr wrap="square"/>
                    <a:lstStyle/>
                    <a:p>
                      <a:pPr algn="l"/>
                      <a:r>
                        <a:rPr sz="1050" b="0" i="0">
                          <a:solidFill>
                            <a:srgbClr val="000000"/>
                          </a:solidFill>
                          <a:latin typeface="Calibri"/>
                        </a:rPr>
                        <a:t>Table 31: Global Market CAGR and Absolute $ Opportunity by Purchasing Organisation, %, US$ Mn, 2026–2036</a:t>
                      </a:r>
                      <a:endParaRPr sz="1050"/>
                    </a:p>
                  </a:txBody>
                  <a:tcPr marL="9525" marR="9525" marT="9525" marB="0" anchor="ctr"/>
                </a:tc>
              </a:tr>
              <a:tr h="170266">
                <a:tc>
                  <a:txBody>
                    <a:bodyPr wrap="square"/>
                    <a:lstStyle/>
                    <a:p>
                      <a:pPr algn="l"/>
                      <a:r>
                        <a:rPr sz="1050" b="0" i="0">
                          <a:solidFill>
                            <a:srgbClr val="000000"/>
                          </a:solidFill>
                          <a:latin typeface="Calibri"/>
                        </a:rPr>
                        <a:t>Table 32: Global Market CAGR and Absolute $ Opportunity by Sales Channel, %, US$ Mn, 2026–2036</a:t>
                      </a:r>
                      <a:endParaRPr sz="1050"/>
                    </a:p>
                  </a:txBody>
                  <a:tcPr marL="9525" marR="9525" marT="9525" marB="0" anchor="ctr"/>
                </a:tc>
              </a:tr>
              <a:tr h="170266">
                <a:tc>
                  <a:txBody>
                    <a:bodyPr wrap="square"/>
                    <a:lstStyle/>
                    <a:p>
                      <a:pPr algn="l"/>
                      <a:r>
                        <a:rPr sz="1050" b="0" i="0">
                          <a:solidFill>
                            <a:srgbClr val="000000"/>
                          </a:solidFill>
                          <a:latin typeface="Calibri"/>
                        </a:rPr>
                        <a:t>Table 33: Global Market Share and BPS Change by Device Technology, %, 2025, 2026 and 2036</a:t>
                      </a:r>
                      <a:endParaRPr sz="1050"/>
                    </a:p>
                  </a:txBody>
                  <a:tcPr marL="9525" marR="9525" marT="9525" marB="0" anchor="ctr"/>
                </a:tc>
              </a:tr>
              <a:tr h="170266">
                <a:tc>
                  <a:txBody>
                    <a:bodyPr wrap="square"/>
                    <a:lstStyle/>
                    <a:p>
                      <a:pPr algn="l"/>
                      <a:r>
                        <a:rPr sz="1050" b="0" i="0">
                          <a:solidFill>
                            <a:srgbClr val="000000"/>
                          </a:solidFill>
                          <a:latin typeface="Calibri"/>
                        </a:rPr>
                        <a:t>Table 34: Global Market Share and BPS Change by Organ Compatibility, %, 2025, 2026 and 2036</a:t>
                      </a:r>
                      <a:endParaRPr sz="1050"/>
                    </a:p>
                  </a:txBody>
                  <a:tcPr marL="9525" marR="9525" marT="9525" marB="0" anchor="ctr"/>
                </a:tc>
              </a:tr>
              <a:tr h="170266">
                <a:tc>
                  <a:txBody>
                    <a:bodyPr wrap="square"/>
                    <a:lstStyle/>
                    <a:p>
                      <a:pPr algn="l"/>
                      <a:r>
                        <a:rPr sz="1050" b="0" i="0">
                          <a:solidFill>
                            <a:srgbClr val="000000"/>
                          </a:solidFill>
                          <a:latin typeface="Calibri"/>
                        </a:rPr>
                        <a:t>Table 35: Global Market Share and BPS Change by Device Reusability, %, 2025, 2026 and 2036</a:t>
                      </a:r>
                      <a:endParaRPr sz="1050"/>
                    </a:p>
                  </a:txBody>
                  <a:tcPr marL="9525" marR="9525" marT="9525" marB="0" anchor="ctr"/>
                </a:tc>
              </a:tr>
              <a:tr h="170266">
                <a:tc>
                  <a:txBody>
                    <a:bodyPr wrap="square"/>
                    <a:lstStyle/>
                    <a:p>
                      <a:pPr algn="l"/>
                      <a:r>
                        <a:rPr sz="1050" b="0" i="0">
                          <a:solidFill>
                            <a:srgbClr val="000000"/>
                          </a:solidFill>
                          <a:latin typeface="Calibri"/>
                        </a:rPr>
                        <a:t>Table 36: Global Market Share and BPS Change by Monitoring Capability, %, 2025, 2026 and 2036</a:t>
                      </a:r>
                      <a:endParaRPr sz="1050"/>
                    </a:p>
                  </a:txBody>
                  <a:tcPr marL="9525" marR="9525" marT="9525" marB="0" anchor="ctr"/>
                </a:tc>
              </a:tr>
              <a:tr h="170266">
                <a:tc>
                  <a:txBody>
                    <a:bodyPr wrap="square"/>
                    <a:lstStyle/>
                    <a:p>
                      <a:pPr algn="l"/>
                      <a:r>
                        <a:rPr sz="1050" b="0" i="0">
                          <a:solidFill>
                            <a:srgbClr val="000000"/>
                          </a:solidFill>
                          <a:latin typeface="Calibri"/>
                        </a:rPr>
                        <a:t>Table 37: Global Market Share and BPS Change by Purchasing Organisation, %, 2025, 2026 and 2036</a:t>
                      </a:r>
                      <a:endParaRPr sz="1050"/>
                    </a:p>
                  </a:txBody>
                  <a:tcPr marL="9525" marR="9525" marT="9525" marB="0" anchor="ctr"/>
                </a:tc>
              </a:tr>
              <a:tr h="170266">
                <a:tc>
                  <a:txBody>
                    <a:bodyPr wrap="square"/>
                    <a:lstStyle/>
                    <a:p>
                      <a:pPr algn="l"/>
                      <a:r>
                        <a:rPr sz="1050" b="0" i="0">
                          <a:solidFill>
                            <a:srgbClr val="000000"/>
                          </a:solidFill>
                          <a:latin typeface="Calibri"/>
                        </a:rPr>
                        <a:t>Table 38: Global Market Share and BPS Change by Sales Channel, %, 2025, 2026 and 2036</a:t>
                      </a:r>
                      <a:endParaRPr sz="1050"/>
                    </a:p>
                  </a:txBody>
                  <a:tcPr marL="9525" marR="9525" marT="9525" marB="0" anchor="ctr"/>
                </a:tc>
              </a:tr>
              <a:tr h="170266">
                <a:tc>
                  <a:txBody>
                    <a:bodyPr wrap="square"/>
                    <a:lstStyle/>
                    <a:p>
                      <a:pPr algn="l"/>
                      <a:r>
                        <a:rPr sz="1050" b="0" i="0">
                          <a:solidFill>
                            <a:srgbClr val="000000"/>
                          </a:solidFill>
                          <a:latin typeface="Calibri"/>
                        </a:rPr>
                        <a:t>Table 39: Global Market YoY Growth by Device Technology, %, 2026–2036</a:t>
                      </a:r>
                      <a:endParaRPr sz="1050"/>
                    </a:p>
                  </a:txBody>
                  <a:tcPr marL="9525" marR="9525" marT="9525" marB="0" anchor="ctr"/>
                </a:tc>
              </a:tr>
              <a:tr h="170266">
                <a:tc>
                  <a:txBody>
                    <a:bodyPr wrap="square"/>
                    <a:lstStyle/>
                    <a:p>
                      <a:pPr algn="l"/>
                      <a:r>
                        <a:rPr sz="1050" b="0" i="0">
                          <a:solidFill>
                            <a:srgbClr val="000000"/>
                          </a:solidFill>
                          <a:latin typeface="Calibri"/>
                        </a:rPr>
                        <a:t>Table 40: Global Market YoY Growth by Organ Compatibility, %, 2026–2036</a:t>
                      </a:r>
                      <a:endParaRPr sz="1050"/>
                    </a:p>
                  </a:txBody>
                  <a:tcPr marL="9525" marR="9525" marT="9525" marB="0" anchor="ctr"/>
                </a:tc>
              </a:tr>
              <a:tr h="170266">
                <a:tc>
                  <a:txBody>
                    <a:bodyPr wrap="square"/>
                    <a:lstStyle/>
                    <a:p>
                      <a:pPr algn="l"/>
                      <a:r>
                        <a:rPr sz="1050" b="0" i="0">
                          <a:solidFill>
                            <a:srgbClr val="000000"/>
                          </a:solidFill>
                          <a:latin typeface="Calibri"/>
                        </a:rPr>
                        <a:t>Table 41: Global Market YoY Growth by Device Reusability, %, 2026–2036</a:t>
                      </a:r>
                      <a:endParaRPr sz="1050"/>
                    </a:p>
                  </a:txBody>
                  <a:tcPr marL="9525" marR="9525" marT="9525" marB="0" anchor="ctr"/>
                </a:tc>
              </a:tr>
              <a:tr h="170266">
                <a:tc>
                  <a:txBody>
                    <a:bodyPr wrap="square"/>
                    <a:lstStyle/>
                    <a:p>
                      <a:pPr algn="l"/>
                      <a:r>
                        <a:rPr sz="1050" b="0" i="0">
                          <a:solidFill>
                            <a:srgbClr val="000000"/>
                          </a:solidFill>
                          <a:latin typeface="Calibri"/>
                        </a:rPr>
                        <a:t>Table 42: Global Market YoY Growth by Monitoring Capability, %, 2026–2036</a:t>
                      </a:r>
                      <a:endParaRPr sz="1050"/>
                    </a:p>
                  </a:txBody>
                  <a:tcPr marL="9525" marR="9525" marT="9525" marB="0" anchor="ctr"/>
                </a:tc>
              </a:tr>
              <a:tr h="170266">
                <a:tc>
                  <a:txBody>
                    <a:bodyPr wrap="square"/>
                    <a:lstStyle/>
                    <a:p>
                      <a:pPr algn="l"/>
                      <a:r>
                        <a:rPr sz="1050" b="0" i="0">
                          <a:solidFill>
                            <a:srgbClr val="000000"/>
                          </a:solidFill>
                          <a:latin typeface="Calibri"/>
                        </a:rPr>
                        <a:t>Table 43: Global Market YoY Growth by Purchasing Organisation, %, 2026–2036</a:t>
                      </a:r>
                      <a:endParaRPr sz="1050"/>
                    </a:p>
                  </a:txBody>
                  <a:tcPr marL="9525" marR="9525" marT="9525" marB="0" anchor="ctr"/>
                </a:tc>
              </a:tr>
              <a:tr h="170266">
                <a:tc>
                  <a:txBody>
                    <a:bodyPr wrap="square"/>
                    <a:lstStyle/>
                    <a:p>
                      <a:pPr algn="l"/>
                      <a:r>
                        <a:rPr sz="1050" b="0" i="0">
                          <a:solidFill>
                            <a:srgbClr val="000000"/>
                          </a:solidFill>
                          <a:latin typeface="Calibri"/>
                        </a:rPr>
                        <a:t>Table 44: Global Market YoY Growth by Sales Channel, %, 2026–2036</a:t>
                      </a:r>
                      <a:endParaRPr sz="1050"/>
                    </a:p>
                  </a:txBody>
                  <a:tcPr marL="9525" marR="9525" marT="9525" marB="0" anchor="ctr"/>
                </a:tc>
              </a:tr>
              <a:tr h="170266">
                <a:tc>
                  <a:txBody>
                    <a:bodyPr wrap="square"/>
                    <a:lstStyle/>
                    <a:p>
                      <a:pPr algn="l"/>
                      <a:r>
                        <a:rPr sz="1050" b="0" i="0">
                          <a:solidFill>
                            <a:srgbClr val="000000"/>
                          </a:solidFill>
                          <a:latin typeface="Calibri"/>
                        </a:rPr>
                        <a:t>Table 45: Global Market Volume by Device Technology, Units, 2021–2036</a:t>
                      </a:r>
                      <a:endParaRPr sz="1050"/>
                    </a:p>
                  </a:txBody>
                  <a:tcPr marL="9525" marR="9525" marT="9525" marB="0" anchor="ctr"/>
                </a:tc>
              </a:tr>
              <a:tr h="170266">
                <a:tc>
                  <a:txBody>
                    <a:bodyPr wrap="square"/>
                    <a:lstStyle/>
                    <a:p>
                      <a:pPr algn="l"/>
                      <a:r>
                        <a:rPr sz="1050" b="0" i="0">
                          <a:solidFill>
                            <a:srgbClr val="000000"/>
                          </a:solidFill>
                          <a:latin typeface="Calibri"/>
                        </a:rPr>
                        <a:t>Table 46: Global Market Volume by Organ Compatibility, Units, 2021–2036</a:t>
                      </a:r>
                      <a:endParaRPr sz="1050"/>
                    </a:p>
                  </a:txBody>
                  <a:tcPr marL="9525" marR="9525" marT="9525" marB="0" anchor="ctr"/>
                </a:tc>
              </a:tr>
              <a:tr h="170266">
                <a:tc>
                  <a:txBody>
                    <a:bodyPr wrap="square"/>
                    <a:lstStyle/>
                    <a:p>
                      <a:pPr algn="l"/>
                      <a:r>
                        <a:rPr sz="1050" b="0" i="0">
                          <a:solidFill>
                            <a:srgbClr val="000000"/>
                          </a:solidFill>
                          <a:latin typeface="Calibri"/>
                        </a:rPr>
                        <a:t>Table 47: Global Market Volume by Device Reusability, Units, 2021–2036</a:t>
                      </a:r>
                      <a:endParaRPr sz="1050"/>
                    </a:p>
                  </a:txBody>
                  <a:tcPr marL="9525" marR="9525" marT="9525" marB="0" anchor="ctr"/>
                </a:tc>
              </a:tr>
              <a:tr h="170266">
                <a:tc>
                  <a:txBody>
                    <a:bodyPr wrap="square"/>
                    <a:lstStyle/>
                    <a:p>
                      <a:pPr algn="l"/>
                      <a:r>
                        <a:rPr sz="1050" b="0" i="0">
                          <a:solidFill>
                            <a:srgbClr val="000000"/>
                          </a:solidFill>
                          <a:latin typeface="Calibri"/>
                        </a:rPr>
                        <a:t>Table 48: Global Market Volume by Monitoring Capability, Units, 2021–2036</a:t>
                      </a:r>
                      <a:endParaRPr sz="1050"/>
                    </a:p>
                  </a:txBody>
                  <a:tcPr marL="9525" marR="9525" marT="9525" marB="0" anchor="ctr"/>
                </a:tc>
              </a:tr>
              <a:tr h="170266">
                <a:tc>
                  <a:txBody>
                    <a:bodyPr wrap="square"/>
                    <a:lstStyle/>
                    <a:p>
                      <a:pPr algn="l"/>
                      <a:r>
                        <a:rPr sz="1050" b="0" i="0">
                          <a:solidFill>
                            <a:srgbClr val="000000"/>
                          </a:solidFill>
                          <a:latin typeface="Calibri"/>
                        </a:rPr>
                        <a:t>Table 49: Global Market Volume by Purchasing Organisation, Units, 2021–2036</a:t>
                      </a:r>
                      <a:endParaRPr sz="1050"/>
                    </a:p>
                  </a:txBody>
                  <a:tcPr marL="9525" marR="9525" marT="9525" marB="0" anchor="ctr"/>
                </a:tc>
              </a:tr>
              <a:tr h="170266">
                <a:tc>
                  <a:txBody>
                    <a:bodyPr wrap="square"/>
                    <a:lstStyle/>
                    <a:p>
                      <a:pPr algn="l"/>
                      <a:r>
                        <a:rPr sz="1050" b="0" i="0">
                          <a:solidFill>
                            <a:srgbClr val="000000"/>
                          </a:solidFill>
                          <a:latin typeface="Calibri"/>
                        </a:rPr>
                        <a:t>Table 50: Global Market Volume by Sales Channel, Units, 2021–2036</a:t>
                      </a:r>
                      <a:endParaRPr sz="1050"/>
                    </a:p>
                  </a:txBody>
                  <a:tcPr marL="9525" marR="9525" marT="9525" marB="0" anchor="ctr"/>
                </a:tc>
              </a:tr>
              <a:tr h="170266">
                <a:tc>
                  <a:txBody>
                    <a:bodyPr wrap="square"/>
                    <a:lstStyle/>
                    <a:p>
                      <a:pPr algn="l"/>
                      <a:r>
                        <a:rPr sz="1050" b="0" i="0">
                          <a:solidFill>
                            <a:srgbClr val="000000"/>
                          </a:solidFill>
                          <a:latin typeface="Calibri"/>
                        </a:rPr>
                        <a:t>Table 51: Global Market Average Selling Price by Device Technology, US$/Units, 2021–2036</a:t>
                      </a:r>
                      <a:endParaRPr sz="1050"/>
                    </a:p>
                  </a:txBody>
                  <a:tcPr marL="9525" marR="9525" marT="9525" marB="0" anchor="ctr"/>
                </a:tc>
              </a:tr>
              <a:tr h="170266">
                <a:tc>
                  <a:txBody>
                    <a:bodyPr wrap="square"/>
                    <a:lstStyle/>
                    <a:p>
                      <a:pPr algn="l"/>
                      <a:r>
                        <a:rPr sz="1050" b="0" i="0">
                          <a:solidFill>
                            <a:srgbClr val="000000"/>
                          </a:solidFill>
                          <a:latin typeface="Calibri"/>
                        </a:rPr>
                        <a:t>Table 52: Global Market Average Selling Price by Organ Compatibility, US$/Units, 2021–2036</a:t>
                      </a:r>
                      <a:endParaRPr sz="1050"/>
                    </a:p>
                  </a:txBody>
                  <a:tcPr marL="9525" marR="9525" marT="9525" marB="0" anchor="ctr"/>
                </a:tc>
              </a:tr>
              <a:tr h="170266">
                <a:tc>
                  <a:txBody>
                    <a:bodyPr wrap="square"/>
                    <a:lstStyle/>
                    <a:p>
                      <a:pPr algn="l"/>
                      <a:r>
                        <a:rPr sz="1050" b="0" i="0">
                          <a:solidFill>
                            <a:srgbClr val="000000"/>
                          </a:solidFill>
                          <a:latin typeface="Calibri"/>
                        </a:rPr>
                        <a:t>Table 53: Global Market Average Selling Price by Device Reusability, US$/Units, 2021–2036</a:t>
                      </a:r>
                      <a:endParaRPr sz="1050"/>
                    </a:p>
                  </a:txBody>
                  <a:tcPr marL="9525" marR="9525" marT="9525" marB="0" anchor="ctr"/>
                </a:tc>
              </a:tr>
              <a:tr h="170266">
                <a:tc>
                  <a:txBody>
                    <a:bodyPr wrap="square"/>
                    <a:lstStyle/>
                    <a:p>
                      <a:pPr algn="l"/>
                      <a:r>
                        <a:rPr sz="1050" b="0" i="0">
                          <a:solidFill>
                            <a:srgbClr val="000000"/>
                          </a:solidFill>
                          <a:latin typeface="Calibri"/>
                        </a:rPr>
                        <a:t>Table 54: Global Market Average Selling Price by Monitoring Capability, US$/Units, 2021–2036</a:t>
                      </a:r>
                      <a:endParaRPr sz="1050"/>
                    </a:p>
                  </a:txBody>
                  <a:tcPr marL="9525" marR="9525" marT="9525" marB="0" anchor="ctr"/>
                </a:tc>
              </a:tr>
              <a:tr h="170266">
                <a:tc>
                  <a:txBody>
                    <a:bodyPr wrap="square"/>
                    <a:lstStyle/>
                    <a:p>
                      <a:pPr algn="l"/>
                      <a:r>
                        <a:rPr sz="1050" b="0" i="0">
                          <a:solidFill>
                            <a:srgbClr val="000000"/>
                          </a:solidFill>
                          <a:latin typeface="Calibri"/>
                        </a:rPr>
                        <a:t>Table 55: Global Market Average Selling Price by Purchasing Organisation, US$/Units, 2021–2036</a:t>
                      </a:r>
                      <a:endParaRPr sz="1050"/>
                    </a:p>
                  </a:txBody>
                  <a:tcPr marL="9525" marR="9525" marT="9525" marB="0" anchor="ctr"/>
                </a:tc>
              </a:tr>
              <a:tr h="170266">
                <a:tc>
                  <a:txBody>
                    <a:bodyPr wrap="square"/>
                    <a:lstStyle/>
                    <a:p>
                      <a:pPr algn="l"/>
                      <a:r>
                        <a:rPr sz="1050" b="0" i="0">
                          <a:solidFill>
                            <a:srgbClr val="000000"/>
                          </a:solidFill>
                          <a:latin typeface="Calibri"/>
                        </a:rPr>
                        <a:t>Table 56: Global Market Average Selling Price by Sales Channel, US$/Units,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(2/4)</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170266">
                <a:tc>
                  <a:txBody>
                    <a:bodyPr wrap="square"/>
                    <a:lstStyle/>
                    <a:p>
                      <a:pPr algn="l"/>
                      <a:r>
                        <a:rPr sz="1050" b="0" i="0">
                          <a:solidFill>
                            <a:srgbClr val="000000"/>
                          </a:solidFill>
                          <a:latin typeface="Calibri"/>
                        </a:rPr>
                        <a:t>Table 57: Global Market Attractiveness Index by Device Technology, 2026–2036</a:t>
                      </a:r>
                      <a:endParaRPr sz="1050"/>
                    </a:p>
                  </a:txBody>
                  <a:tcPr marL="9525" marR="9525" marT="9525" marB="0" anchor="ctr"/>
                </a:tc>
              </a:tr>
              <a:tr h="170266">
                <a:tc>
                  <a:txBody>
                    <a:bodyPr wrap="square"/>
                    <a:lstStyle/>
                    <a:p>
                      <a:pPr algn="l"/>
                      <a:r>
                        <a:rPr sz="1050" b="0" i="0">
                          <a:solidFill>
                            <a:srgbClr val="000000"/>
                          </a:solidFill>
                          <a:latin typeface="Calibri"/>
                        </a:rPr>
                        <a:t>Table 58: Global Market Attractiveness Index by Organ Compatibility, 2026–2036</a:t>
                      </a:r>
                      <a:endParaRPr sz="1050"/>
                    </a:p>
                  </a:txBody>
                  <a:tcPr marL="9525" marR="9525" marT="9525" marB="0" anchor="ctr"/>
                </a:tc>
              </a:tr>
              <a:tr h="170266">
                <a:tc>
                  <a:txBody>
                    <a:bodyPr wrap="square"/>
                    <a:lstStyle/>
                    <a:p>
                      <a:pPr algn="l"/>
                      <a:r>
                        <a:rPr sz="1050" b="0" i="0">
                          <a:solidFill>
                            <a:srgbClr val="000000"/>
                          </a:solidFill>
                          <a:latin typeface="Calibri"/>
                        </a:rPr>
                        <a:t>Table 59: Global Market Attractiveness Index by Device Reusability, 2026–2036</a:t>
                      </a:r>
                      <a:endParaRPr sz="1050"/>
                    </a:p>
                  </a:txBody>
                  <a:tcPr marL="9525" marR="9525" marT="9525" marB="0" anchor="ctr"/>
                </a:tc>
              </a:tr>
              <a:tr h="170266">
                <a:tc>
                  <a:txBody>
                    <a:bodyPr wrap="square"/>
                    <a:lstStyle/>
                    <a:p>
                      <a:pPr algn="l"/>
                      <a:r>
                        <a:rPr sz="1050" b="0" i="0">
                          <a:solidFill>
                            <a:srgbClr val="000000"/>
                          </a:solidFill>
                          <a:latin typeface="Calibri"/>
                        </a:rPr>
                        <a:t>Table 60: Global Market Attractiveness Index by Monitoring Capability, 2026–2036</a:t>
                      </a:r>
                      <a:endParaRPr sz="1050"/>
                    </a:p>
                  </a:txBody>
                  <a:tcPr marL="9525" marR="9525" marT="9525" marB="0" anchor="ctr"/>
                </a:tc>
              </a:tr>
              <a:tr h="170266">
                <a:tc>
                  <a:txBody>
                    <a:bodyPr wrap="square"/>
                    <a:lstStyle/>
                    <a:p>
                      <a:pPr algn="l"/>
                      <a:r>
                        <a:rPr sz="1050" b="0" i="0">
                          <a:solidFill>
                            <a:srgbClr val="000000"/>
                          </a:solidFill>
                          <a:latin typeface="Calibri"/>
                        </a:rPr>
                        <a:t>Table 61: Global Market Attractiveness Index by Purchasing Organisation, 2026–2036</a:t>
                      </a:r>
                      <a:endParaRPr sz="1050"/>
                    </a:p>
                  </a:txBody>
                  <a:tcPr marL="9525" marR="9525" marT="9525" marB="0" anchor="ctr"/>
                </a:tc>
              </a:tr>
              <a:tr h="170266">
                <a:tc>
                  <a:txBody>
                    <a:bodyPr wrap="square"/>
                    <a:lstStyle/>
                    <a:p>
                      <a:pPr algn="l"/>
                      <a:r>
                        <a:rPr sz="1050" b="0" i="0">
                          <a:solidFill>
                            <a:srgbClr val="000000"/>
                          </a:solidFill>
                          <a:latin typeface="Calibri"/>
                        </a:rPr>
                        <a:t>Table 62: Global Market Attractiveness Index by Sales Channel, 2026–2036</a:t>
                      </a:r>
                      <a:endParaRPr sz="1050"/>
                    </a:p>
                  </a:txBody>
                  <a:tcPr marL="9525" marR="9525" marT="9525" marB="0" anchor="ctr"/>
                </a:tc>
              </a:tr>
              <a:tr h="170266">
                <a:tc>
                  <a:txBody>
                    <a:bodyPr wrap="square"/>
                    <a:lstStyle/>
                    <a:p>
                      <a:pPr algn="l"/>
                      <a:r>
                        <a:rPr sz="1050" b="0" i="0">
                          <a:solidFill>
                            <a:srgbClr val="000000"/>
                          </a:solidFill>
                          <a:latin typeface="Calibri"/>
                        </a:rPr>
                        <a:t>Table 63: Global Market Value of Static Cold Storage Devices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64: Global Market Value of Organ-Specific Devices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65: Global Market Value of Single-Use Transport Devices by Region, US$ Mn, 2021–2036</a:t>
                      </a:r>
                      <a:endParaRPr sz="1050"/>
                    </a:p>
                  </a:txBody>
                  <a:tcPr marL="9525" marR="9525" marT="9525" marB="0" anchor="ctr"/>
                </a:tc>
              </a:tr>
              <a:tr h="333720">
                <a:tc>
                  <a:txBody>
                    <a:bodyPr wrap="square"/>
                    <a:lstStyle/>
                    <a:p>
                      <a:pPr algn="l"/>
                      <a:r>
                        <a:rPr sz="1050" b="0" i="0">
                          <a:solidFill>
                            <a:srgbClr val="000000"/>
                          </a:solidFill>
                          <a:latin typeface="Calibri"/>
                        </a:rPr>
                        <a:t>Table 66: Global Market Value of Devices without Integrated Monitoring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67: Global Market Value of Hospitals and Transplant Centres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68: Global Market Value of Direct Sales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69: Global Market Value of Portable Machine Perfusion Devices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70: Global Market Value of Multi-Organ Compatible Devices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71: Global Market Value of Reusable Transport Devices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72: Global Market Value of Devices with Integrated Monitoring by Region, US$ Mn, 2021–2036</a:t>
                      </a:r>
                      <a:endParaRPr sz="1050"/>
                    </a:p>
                  </a:txBody>
                  <a:tcPr marL="9525" marR="9525" marT="9525" marB="0" anchor="ctr"/>
                </a:tc>
              </a:tr>
              <a:tr h="333720">
                <a:tc>
                  <a:txBody>
                    <a:bodyPr wrap="square"/>
                    <a:lstStyle/>
                    <a:p>
                      <a:pPr algn="l"/>
                      <a:r>
                        <a:rPr sz="1050" b="0" i="0">
                          <a:solidFill>
                            <a:srgbClr val="000000"/>
                          </a:solidFill>
                          <a:latin typeface="Calibri"/>
                        </a:rPr>
                        <a:t>Table 73: Global Market Value of Organ Procurement Organisations and Organ Retrieval Agencies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74: Global Market Value of Distributor Sales by Region, US$ Mn, 2021–2036</a:t>
                      </a:r>
                      <a:endParaRPr sz="1050"/>
                    </a:p>
                  </a:txBody>
                  <a:tcPr marL="9525" marR="9525" marT="9525" marB="0" anchor="ctr"/>
                </a:tc>
              </a:tr>
              <a:tr h="170266">
                <a:tc>
                  <a:txBody>
                    <a:bodyPr wrap="square"/>
                    <a:lstStyle/>
                    <a:p>
                      <a:pPr algn="l"/>
                      <a:r>
                        <a:rPr sz="1050" b="0" i="0">
                          <a:solidFill>
                            <a:srgbClr val="000000"/>
                          </a:solidFill>
                          <a:latin typeface="Calibri"/>
                        </a:rPr>
                        <a:t>Table 75: Global Market Value by Device Technology by Scenario, US$ Mn, 2036</a:t>
                      </a:r>
                      <a:endParaRPr sz="1050"/>
                    </a:p>
                  </a:txBody>
                  <a:tcPr marL="9525" marR="9525" marT="9525" marB="0" anchor="ctr"/>
                </a:tc>
              </a:tr>
              <a:tr h="170266">
                <a:tc>
                  <a:txBody>
                    <a:bodyPr wrap="square"/>
                    <a:lstStyle/>
                    <a:p>
                      <a:pPr algn="l"/>
                      <a:r>
                        <a:rPr sz="1050" b="0" i="0">
                          <a:solidFill>
                            <a:srgbClr val="000000"/>
                          </a:solidFill>
                          <a:latin typeface="Calibri"/>
                        </a:rPr>
                        <a:t>Table 76: Global Market Value by Device Technology and Organ Compatibility, US$ Mn, 2026–2036</a:t>
                      </a:r>
                      <a:endParaRPr sz="1050"/>
                    </a:p>
                  </a:txBody>
                  <a:tcPr marL="9525" marR="9525" marT="9525" marB="0" anchor="ctr"/>
                </a:tc>
              </a:tr>
              <a:tr h="170266">
                <a:tc>
                  <a:txBody>
                    <a:bodyPr wrap="square"/>
                    <a:lstStyle/>
                    <a:p>
                      <a:pPr algn="l"/>
                      <a:r>
                        <a:rPr sz="1050" b="0" i="0">
                          <a:solidFill>
                            <a:srgbClr val="000000"/>
                          </a:solidFill>
                          <a:latin typeface="Calibri"/>
                        </a:rPr>
                        <a:t>Table 77: Global Market Value by Device Technology and Device Reusability, US$ Mn, 2026–2036</a:t>
                      </a:r>
                      <a:endParaRPr sz="1050"/>
                    </a:p>
                  </a:txBody>
                  <a:tcPr marL="9525" marR="9525" marT="9525" marB="0" anchor="ctr"/>
                </a:tc>
              </a:tr>
              <a:tr h="170266">
                <a:tc>
                  <a:txBody>
                    <a:bodyPr wrap="square"/>
                    <a:lstStyle/>
                    <a:p>
                      <a:pPr algn="l"/>
                      <a:r>
                        <a:rPr sz="1050" b="0" i="0">
                          <a:solidFill>
                            <a:srgbClr val="000000"/>
                          </a:solidFill>
                          <a:latin typeface="Calibri"/>
                        </a:rPr>
                        <a:t>Table 78: Global Market Value by Device Technology and Monitoring Capability, US$ Mn, 2026–2036</a:t>
                      </a:r>
                      <a:endParaRPr sz="1050"/>
                    </a:p>
                  </a:txBody>
                  <a:tcPr marL="9525" marR="9525" marT="9525" marB="0" anchor="ctr"/>
                </a:tc>
              </a:tr>
              <a:tr h="170266">
                <a:tc>
                  <a:txBody>
                    <a:bodyPr wrap="square"/>
                    <a:lstStyle/>
                    <a:p>
                      <a:pPr algn="l"/>
                      <a:r>
                        <a:rPr sz="1050" b="0" i="0">
                          <a:solidFill>
                            <a:srgbClr val="000000"/>
                          </a:solidFill>
                          <a:latin typeface="Calibri"/>
                        </a:rPr>
                        <a:t>Table 79: Global Market Value by Device Technology and Purchasing Organisation, US$ Mn, 2026–2036</a:t>
                      </a:r>
                      <a:endParaRPr sz="1050"/>
                    </a:p>
                  </a:txBody>
                  <a:tcPr marL="9525" marR="9525" marT="9525" marB="0" anchor="ctr"/>
                </a:tc>
              </a:tr>
              <a:tr h="170266">
                <a:tc>
                  <a:txBody>
                    <a:bodyPr wrap="square"/>
                    <a:lstStyle/>
                    <a:p>
                      <a:pPr algn="l"/>
                      <a:r>
                        <a:rPr sz="1050" b="0" i="0">
                          <a:solidFill>
                            <a:srgbClr val="000000"/>
                          </a:solidFill>
                          <a:latin typeface="Calibri"/>
                        </a:rPr>
                        <a:t>Table 80: Global Market Value by Device Technology and Sales Channel, US$ Mn, 2026–2036</a:t>
                      </a:r>
                      <a:endParaRPr sz="1050"/>
                    </a:p>
                  </a:txBody>
                  <a:tcPr marL="9525" marR="9525" marT="9525" marB="0" anchor="ctr"/>
                </a:tc>
              </a:tr>
              <a:tr h="170266">
                <a:tc>
                  <a:txBody>
                    <a:bodyPr wrap="square"/>
                    <a:lstStyle/>
                    <a:p>
                      <a:pPr algn="l"/>
                      <a:r>
                        <a:rPr sz="1050" b="0" i="0">
                          <a:solidFill>
                            <a:srgbClr val="000000"/>
                          </a:solidFill>
                          <a:latin typeface="Calibri"/>
                        </a:rPr>
                        <a:t>Table 81: Global Market Value by Organ Compatibility and Device Reusability, US$ Mn, 2026–2036</a:t>
                      </a:r>
                      <a:endParaRPr sz="1050"/>
                    </a:p>
                  </a:txBody>
                  <a:tcPr marL="9525" marR="9525" marT="9525" marB="0" anchor="ctr"/>
                </a:tc>
              </a:tr>
              <a:tr h="170266">
                <a:tc>
                  <a:txBody>
                    <a:bodyPr wrap="square"/>
                    <a:lstStyle/>
                    <a:p>
                      <a:pPr algn="l"/>
                      <a:r>
                        <a:rPr sz="1050" b="0" i="0">
                          <a:solidFill>
                            <a:srgbClr val="000000"/>
                          </a:solidFill>
                          <a:latin typeface="Calibri"/>
                        </a:rPr>
                        <a:t>Table 82: Global Market Value by Organ Compatibility and Monitoring Capability, US$ Mn, 2026–2036</a:t>
                      </a:r>
                      <a:endParaRPr sz="1050"/>
                    </a:p>
                  </a:txBody>
                  <a:tcPr marL="9525" marR="9525" marT="9525" marB="0" anchor="ctr"/>
                </a:tc>
              </a:tr>
              <a:tr h="333720">
                <a:tc>
                  <a:txBody>
                    <a:bodyPr wrap="square"/>
                    <a:lstStyle/>
                    <a:p>
                      <a:pPr algn="l"/>
                      <a:r>
                        <a:rPr sz="1050" b="0" i="0">
                          <a:solidFill>
                            <a:srgbClr val="000000"/>
                          </a:solidFill>
                          <a:latin typeface="Calibri"/>
                        </a:rPr>
                        <a:t>Table 83: Global Market Value by Organ Compatibility and Purchasing Organisation, US$ Mn, 2026–2036</a:t>
                      </a:r>
                      <a:endParaRPr sz="1050"/>
                    </a:p>
                  </a:txBody>
                  <a:tcPr marL="9525" marR="9525" marT="9525" marB="0" anchor="ctr"/>
                </a:tc>
              </a:tr>
              <a:tr h="170266">
                <a:tc>
                  <a:txBody>
                    <a:bodyPr wrap="square"/>
                    <a:lstStyle/>
                    <a:p>
                      <a:pPr algn="l"/>
                      <a:r>
                        <a:rPr sz="1050" b="0" i="0">
                          <a:solidFill>
                            <a:srgbClr val="000000"/>
                          </a:solidFill>
                          <a:latin typeface="Calibri"/>
                        </a:rPr>
                        <a:t>Table 84: Global Market Value by Organ Compatibility and Sales Channel, US$ Mn, 2026–2036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812"/>
        </p:xfrm>
        <a:graphic>
          <a:graphicData uri="http://schemas.openxmlformats.org/drawingml/2006/table">
            <a:tbl>
              <a:tblPr>
                <a:tableStyleId>{3B4B98B0-60AC-42C2-AFA5-B58CD77FA1E5}</a:tableStyleId>
              </a:tblPr>
              <a:tblGrid>
                <a:gridCol w="5876925"/>
              </a:tblGrid>
              <a:tr h="169826">
                <a:tc>
                  <a:txBody>
                    <a:bodyPr wrap="square"/>
                    <a:lstStyle/>
                    <a:p>
                      <a:pPr algn="l"/>
                      <a:r>
                        <a:rPr sz="1050" b="0" i="0">
                          <a:solidFill>
                            <a:srgbClr val="000000"/>
                          </a:solidFill>
                          <a:latin typeface="Calibri"/>
                        </a:rPr>
                        <a:t>Table 85: Global Market Value by Device Reusability and Monitoring Capability, US$ Mn, 2026–2036</a:t>
                      </a:r>
                      <a:endParaRPr sz="1050"/>
                    </a:p>
                  </a:txBody>
                  <a:tcPr marL="9525" marR="9525" marT="9525" marB="0" anchor="ctr"/>
                </a:tc>
              </a:tr>
              <a:tr h="169826">
                <a:tc>
                  <a:txBody>
                    <a:bodyPr wrap="square"/>
                    <a:lstStyle/>
                    <a:p>
                      <a:pPr algn="l"/>
                      <a:r>
                        <a:rPr sz="1050" b="0" i="0">
                          <a:solidFill>
                            <a:srgbClr val="000000"/>
                          </a:solidFill>
                          <a:latin typeface="Calibri"/>
                        </a:rPr>
                        <a:t>Table 86: Global Market Value by Device Reusability and Purchasing Organisation, US$ Mn, 2026–2036</a:t>
                      </a:r>
                      <a:endParaRPr sz="1050"/>
                    </a:p>
                  </a:txBody>
                  <a:tcPr marL="9525" marR="9525" marT="9525" marB="0" anchor="ctr"/>
                </a:tc>
              </a:tr>
              <a:tr h="169826">
                <a:tc>
                  <a:txBody>
                    <a:bodyPr wrap="square"/>
                    <a:lstStyle/>
                    <a:p>
                      <a:pPr algn="l"/>
                      <a:r>
                        <a:rPr sz="1050" b="0" i="0">
                          <a:solidFill>
                            <a:srgbClr val="000000"/>
                          </a:solidFill>
                          <a:latin typeface="Calibri"/>
                        </a:rPr>
                        <a:t>Table 87: Global Market Value by Device Reusability and Sales Channel, US$ Mn, 2026–2036</a:t>
                      </a:r>
                      <a:endParaRPr sz="1050"/>
                    </a:p>
                  </a:txBody>
                  <a:tcPr marL="9525" marR="9525" marT="9525" marB="0" anchor="ctr"/>
                </a:tc>
              </a:tr>
              <a:tr h="332858">
                <a:tc>
                  <a:txBody>
                    <a:bodyPr wrap="square"/>
                    <a:lstStyle/>
                    <a:p>
                      <a:pPr algn="l"/>
                      <a:r>
                        <a:rPr sz="1050" b="0" i="0">
                          <a:solidFill>
                            <a:srgbClr val="000000"/>
                          </a:solidFill>
                          <a:latin typeface="Calibri"/>
                        </a:rPr>
                        <a:t>Table 88: Global Market Value by Monitoring Capability and Purchasing Organisation, US$ Mn, 2026–2036</a:t>
                      </a:r>
                      <a:endParaRPr sz="1050"/>
                    </a:p>
                  </a:txBody>
                  <a:tcPr marL="9525" marR="9525" marT="9525" marB="0" anchor="ctr"/>
                </a:tc>
              </a:tr>
              <a:tr h="169826">
                <a:tc>
                  <a:txBody>
                    <a:bodyPr wrap="square"/>
                    <a:lstStyle/>
                    <a:p>
                      <a:pPr algn="l"/>
                      <a:r>
                        <a:rPr sz="1050" b="0" i="0">
                          <a:solidFill>
                            <a:srgbClr val="000000"/>
                          </a:solidFill>
                          <a:latin typeface="Calibri"/>
                        </a:rPr>
                        <a:t>Table 89: Global Market Value by Monitoring Capability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90: Global Market Value by Purchasing Organisation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91: Global Market Value by Region and Device Technology, US$ Mn, 2026–2036</a:t>
                      </a:r>
                      <a:endParaRPr sz="1050"/>
                    </a:p>
                  </a:txBody>
                  <a:tcPr marL="9525" marR="9525" marT="9525" marB="0" anchor="ctr"/>
                </a:tc>
              </a:tr>
              <a:tr h="169826">
                <a:tc>
                  <a:txBody>
                    <a:bodyPr wrap="square"/>
                    <a:lstStyle/>
                    <a:p>
                      <a:pPr algn="l"/>
                      <a:r>
                        <a:rPr sz="1050" b="0" i="0">
                          <a:solidFill>
                            <a:srgbClr val="000000"/>
                          </a:solidFill>
                          <a:latin typeface="Calibri"/>
                        </a:rPr>
                        <a:t>Table 92: Global Market Value by Region and Organ Compatibility, US$ Mn, 2026–2036</a:t>
                      </a:r>
                      <a:endParaRPr sz="1050"/>
                    </a:p>
                  </a:txBody>
                  <a:tcPr marL="9525" marR="9525" marT="9525" marB="0" anchor="ctr"/>
                </a:tc>
              </a:tr>
              <a:tr h="169826">
                <a:tc>
                  <a:txBody>
                    <a:bodyPr wrap="square"/>
                    <a:lstStyle/>
                    <a:p>
                      <a:pPr algn="l"/>
                      <a:r>
                        <a:rPr sz="1050" b="0" i="0">
                          <a:solidFill>
                            <a:srgbClr val="000000"/>
                          </a:solidFill>
                          <a:latin typeface="Calibri"/>
                        </a:rPr>
                        <a:t>Table 93: Global Market Value by Region and Device Reusability, US$ Mn, 2026–2036</a:t>
                      </a:r>
                      <a:endParaRPr sz="1050"/>
                    </a:p>
                  </a:txBody>
                  <a:tcPr marL="9525" marR="9525" marT="9525" marB="0" anchor="ctr"/>
                </a:tc>
              </a:tr>
              <a:tr h="169826">
                <a:tc>
                  <a:txBody>
                    <a:bodyPr wrap="square"/>
                    <a:lstStyle/>
                    <a:p>
                      <a:pPr algn="l"/>
                      <a:r>
                        <a:rPr sz="1050" b="0" i="0">
                          <a:solidFill>
                            <a:srgbClr val="000000"/>
                          </a:solidFill>
                          <a:latin typeface="Calibri"/>
                        </a:rPr>
                        <a:t>Table 94: Global Market Value by Region and Monitoring Capability, US$ Mn, 2026–2036</a:t>
                      </a:r>
                      <a:endParaRPr sz="1050"/>
                    </a:p>
                  </a:txBody>
                  <a:tcPr marL="9525" marR="9525" marT="9525" marB="0" anchor="ctr"/>
                </a:tc>
              </a:tr>
              <a:tr h="169826">
                <a:tc>
                  <a:txBody>
                    <a:bodyPr wrap="square"/>
                    <a:lstStyle/>
                    <a:p>
                      <a:pPr algn="l"/>
                      <a:r>
                        <a:rPr sz="1050" b="0" i="0">
                          <a:solidFill>
                            <a:srgbClr val="000000"/>
                          </a:solidFill>
                          <a:latin typeface="Calibri"/>
                        </a:rPr>
                        <a:t>Table 95: Global Market Value by Region and Purchasing Organisation, US$ Mn, 2026–2036</a:t>
                      </a:r>
                      <a:endParaRPr sz="1050"/>
                    </a:p>
                  </a:txBody>
                  <a:tcPr marL="9525" marR="9525" marT="9525" marB="0" anchor="ctr"/>
                </a:tc>
              </a:tr>
              <a:tr h="169826">
                <a:tc>
                  <a:txBody>
                    <a:bodyPr wrap="square"/>
                    <a:lstStyle/>
                    <a:p>
                      <a:pPr algn="l"/>
                      <a:r>
                        <a:rPr sz="1050" b="0" i="0">
                          <a:solidFill>
                            <a:srgbClr val="000000"/>
                          </a:solidFill>
                          <a:latin typeface="Calibri"/>
                        </a:rPr>
                        <a:t>Table 96: Global Market Value by Region and Sales Channel, US$ Mn, 2026–2036</a:t>
                      </a:r>
                      <a:endParaRPr sz="1050"/>
                    </a:p>
                  </a:txBody>
                  <a:tcPr marL="9525" marR="9525" marT="9525" marB="0" anchor="ctr"/>
                </a:tc>
              </a:tr>
              <a:tr h="169826">
                <a:tc>
                  <a:txBody>
                    <a:bodyPr wrap="square"/>
                    <a:lstStyle/>
                    <a:p>
                      <a:pPr algn="l"/>
                      <a:r>
                        <a:rPr sz="1050" b="0" i="0">
                          <a:solidFill>
                            <a:srgbClr val="000000"/>
                          </a:solidFill>
                          <a:latin typeface="Calibri"/>
                        </a:rPr>
                        <a:t>Table 97: Global Market CAGR by Device Technology and Organ Compatibility, %, 2026–2036</a:t>
                      </a:r>
                      <a:endParaRPr sz="1050"/>
                    </a:p>
                  </a:txBody>
                  <a:tcPr marL="9525" marR="9525" marT="9525" marB="0" anchor="ctr"/>
                </a:tc>
              </a:tr>
              <a:tr h="169826">
                <a:tc>
                  <a:txBody>
                    <a:bodyPr wrap="square"/>
                    <a:lstStyle/>
                    <a:p>
                      <a:pPr algn="l"/>
                      <a:r>
                        <a:rPr sz="1050" b="0" i="0">
                          <a:solidFill>
                            <a:srgbClr val="000000"/>
                          </a:solidFill>
                          <a:latin typeface="Calibri"/>
                        </a:rPr>
                        <a:t>Table 98: Global Market CAGR by Device Technology and Device Reusability, %, 2026–2036</a:t>
                      </a:r>
                      <a:endParaRPr sz="1050"/>
                    </a:p>
                  </a:txBody>
                  <a:tcPr marL="9525" marR="9525" marT="9525" marB="0" anchor="ctr"/>
                </a:tc>
              </a:tr>
              <a:tr h="169826">
                <a:tc>
                  <a:txBody>
                    <a:bodyPr wrap="square"/>
                    <a:lstStyle/>
                    <a:p>
                      <a:pPr algn="l"/>
                      <a:r>
                        <a:rPr sz="1050" b="0" i="0">
                          <a:solidFill>
                            <a:srgbClr val="000000"/>
                          </a:solidFill>
                          <a:latin typeface="Calibri"/>
                        </a:rPr>
                        <a:t>Table 99: Global Market CAGR by Device Technology and Monitoring Capability, %, 2026–2036</a:t>
                      </a:r>
                      <a:endParaRPr sz="1050"/>
                    </a:p>
                  </a:txBody>
                  <a:tcPr marL="9525" marR="9525" marT="9525" marB="0" anchor="ctr"/>
                </a:tc>
              </a:tr>
              <a:tr h="169826">
                <a:tc>
                  <a:txBody>
                    <a:bodyPr wrap="square"/>
                    <a:lstStyle/>
                    <a:p>
                      <a:pPr algn="l"/>
                      <a:r>
                        <a:rPr sz="1050" b="0" i="0">
                          <a:solidFill>
                            <a:srgbClr val="000000"/>
                          </a:solidFill>
                          <a:latin typeface="Calibri"/>
                        </a:rPr>
                        <a:t>Table 100: Global Market CAGR by Device Technology and Purchasing Organisation, %, 2026–2036</a:t>
                      </a:r>
                      <a:endParaRPr sz="1050"/>
                    </a:p>
                  </a:txBody>
                  <a:tcPr marL="9525" marR="9525" marT="9525" marB="0" anchor="ctr"/>
                </a:tc>
              </a:tr>
              <a:tr h="169826">
                <a:tc>
                  <a:txBody>
                    <a:bodyPr wrap="square"/>
                    <a:lstStyle/>
                    <a:p>
                      <a:pPr algn="l"/>
                      <a:r>
                        <a:rPr sz="1050" b="0" i="0">
                          <a:solidFill>
                            <a:srgbClr val="000000"/>
                          </a:solidFill>
                          <a:latin typeface="Calibri"/>
                        </a:rPr>
                        <a:t>Table 101: Global Market CAGR by Device Technology and Sales Channel, %, 2026–2036</a:t>
                      </a:r>
                      <a:endParaRPr sz="1050"/>
                    </a:p>
                  </a:txBody>
                  <a:tcPr marL="9525" marR="9525" marT="9525" marB="0" anchor="ctr"/>
                </a:tc>
              </a:tr>
              <a:tr h="169826">
                <a:tc>
                  <a:txBody>
                    <a:bodyPr wrap="square"/>
                    <a:lstStyle/>
                    <a:p>
                      <a:pPr algn="l"/>
                      <a:r>
                        <a:rPr sz="1050" b="0" i="0">
                          <a:solidFill>
                            <a:srgbClr val="000000"/>
                          </a:solidFill>
                          <a:latin typeface="Calibri"/>
                        </a:rPr>
                        <a:t>Table 102: Global Market CAGR by Organ Compatibility and Device Reusability, %, 2026–2036</a:t>
                      </a:r>
                      <a:endParaRPr sz="1050"/>
                    </a:p>
                  </a:txBody>
                  <a:tcPr marL="9525" marR="9525" marT="9525" marB="0" anchor="ctr"/>
                </a:tc>
              </a:tr>
              <a:tr h="169826">
                <a:tc>
                  <a:txBody>
                    <a:bodyPr wrap="square"/>
                    <a:lstStyle/>
                    <a:p>
                      <a:pPr algn="l"/>
                      <a:r>
                        <a:rPr sz="1050" b="0" i="0">
                          <a:solidFill>
                            <a:srgbClr val="000000"/>
                          </a:solidFill>
                          <a:latin typeface="Calibri"/>
                        </a:rPr>
                        <a:t>Table 103: Global Market CAGR by Organ Compatibility and Monitoring Capability, %, 2026–2036</a:t>
                      </a:r>
                      <a:endParaRPr sz="1050"/>
                    </a:p>
                  </a:txBody>
                  <a:tcPr marL="9525" marR="9525" marT="9525" marB="0" anchor="ctr"/>
                </a:tc>
              </a:tr>
              <a:tr h="169826">
                <a:tc>
                  <a:txBody>
                    <a:bodyPr wrap="square"/>
                    <a:lstStyle/>
                    <a:p>
                      <a:pPr algn="l"/>
                      <a:r>
                        <a:rPr sz="1050" b="0" i="0">
                          <a:solidFill>
                            <a:srgbClr val="000000"/>
                          </a:solidFill>
                          <a:latin typeface="Calibri"/>
                        </a:rPr>
                        <a:t>Table 104: Global Market CAGR by Organ Compatibility and Purchasing Organisation, %, 2026–2036</a:t>
                      </a:r>
                      <a:endParaRPr sz="1050"/>
                    </a:p>
                  </a:txBody>
                  <a:tcPr marL="9525" marR="9525" marT="9525" marB="0" anchor="ctr"/>
                </a:tc>
              </a:tr>
              <a:tr h="169826">
                <a:tc>
                  <a:txBody>
                    <a:bodyPr wrap="square"/>
                    <a:lstStyle/>
                    <a:p>
                      <a:pPr algn="l"/>
                      <a:r>
                        <a:rPr sz="1050" b="0" i="0">
                          <a:solidFill>
                            <a:srgbClr val="000000"/>
                          </a:solidFill>
                          <a:latin typeface="Calibri"/>
                        </a:rPr>
                        <a:t>Table 105: Global Market Value by Region, US$ Mn, 2021–2036</a:t>
                      </a:r>
                      <a:endParaRPr sz="1050"/>
                    </a:p>
                  </a:txBody>
                  <a:tcPr marL="9525" marR="9525" marT="9525" marB="0" anchor="ctr"/>
                </a:tc>
              </a:tr>
              <a:tr h="169826">
                <a:tc>
                  <a:txBody>
                    <a:bodyPr wrap="square"/>
                    <a:lstStyle/>
                    <a:p>
                      <a:pPr algn="l"/>
                      <a:r>
                        <a:rPr sz="1050" b="0" i="0">
                          <a:solidFill>
                            <a:srgbClr val="000000"/>
                          </a:solidFill>
                          <a:latin typeface="Calibri"/>
                        </a:rPr>
                        <a:t>Table 106: Global Market CAGR and Absolute $ Opportunity by Region, %, US$ Mn, 2026–2036</a:t>
                      </a:r>
                      <a:endParaRPr sz="1050"/>
                    </a:p>
                  </a:txBody>
                  <a:tcPr marL="9525" marR="9525" marT="9525" marB="0" anchor="ctr"/>
                </a:tc>
              </a:tr>
              <a:tr h="169826">
                <a:tc>
                  <a:txBody>
                    <a:bodyPr wrap="square"/>
                    <a:lstStyle/>
                    <a:p>
                      <a:pPr algn="l"/>
                      <a:r>
                        <a:rPr sz="1050" b="0" i="0">
                          <a:solidFill>
                            <a:srgbClr val="000000"/>
                          </a:solidFill>
                          <a:latin typeface="Calibri"/>
                        </a:rPr>
                        <a:t>Table 107: Global Market Share and BPS Change by Region, %, 2026 and 2036</a:t>
                      </a:r>
                      <a:endParaRPr sz="1050"/>
                    </a:p>
                  </a:txBody>
                  <a:tcPr marL="9525" marR="9525" marT="9525" marB="0" anchor="ctr"/>
                </a:tc>
              </a:tr>
              <a:tr h="169826">
                <a:tc>
                  <a:txBody>
                    <a:bodyPr wrap="square"/>
                    <a:lstStyle/>
                    <a:p>
                      <a:pPr algn="l"/>
                      <a:r>
                        <a:rPr sz="1050" b="0" i="0">
                          <a:solidFill>
                            <a:srgbClr val="000000"/>
                          </a:solidFill>
                          <a:latin typeface="Calibri"/>
                        </a:rPr>
                        <a:t>Table 108: Global Market Volume by Region, Units, 2021–2036</a:t>
                      </a:r>
                      <a:endParaRPr sz="1050"/>
                    </a:p>
                  </a:txBody>
                  <a:tcPr marL="9525" marR="9525" marT="9525" marB="0" anchor="ctr"/>
                </a:tc>
              </a:tr>
              <a:tr h="169826">
                <a:tc>
                  <a:txBody>
                    <a:bodyPr wrap="square"/>
                    <a:lstStyle/>
                    <a:p>
                      <a:pPr algn="l"/>
                      <a:r>
                        <a:rPr sz="1050" b="0" i="0">
                          <a:solidFill>
                            <a:srgbClr val="000000"/>
                          </a:solidFill>
                          <a:latin typeface="Calibri"/>
                        </a:rPr>
                        <a:t>Table 109: North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110: Latin America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111: Europe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112: East Asia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113: South Asia &amp; Pacific Market Value by Country, US$ Mn, 2021–2036</a:t>
                      </a:r>
                      <a:endParaRPr sz="1050"/>
                    </a:p>
                  </a:txBody>
                  <a:tcPr marL="9525" marR="9525" marT="9525" marB="0" anchor="ctr"/>
                </a:tc>
              </a:tr>
              <a:tr h="169826">
                <a:tc>
                  <a:txBody>
                    <a:bodyPr wrap="square"/>
                    <a:lstStyle/>
                    <a:p>
                      <a:pPr algn="l"/>
                      <a:r>
                        <a:rPr sz="1050" b="0" i="0">
                          <a:solidFill>
                            <a:srgbClr val="000000"/>
                          </a:solidFill>
                          <a:latin typeface="Calibri"/>
                        </a:rPr>
                        <a:t>Table 114: Middle East &amp; Africa Market Value by Country, US$ Mn, 2021–2036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(3/4)</a:t>
            </a:r>
          </a:p>
        </p:txBody>
      </p:sp>
      <p:graphicFrame>
        <p:nvGraphicFramePr>
          <p:cNvPr id="9" name="FMI Contents Table"/>
          <p:cNvGraphicFramePr>
            <a:graphicFrameLocks noGrp="1"/>
          </p:cNvGraphicFramePr>
          <p:nvPr/>
        </p:nvGraphicFramePr>
        <p:xfrm>
          <a:off x="142875" y="981075"/>
          <a:ext cx="5876925" cy="5257810"/>
        </p:xfrm>
        <a:graphic>
          <a:graphicData uri="http://schemas.openxmlformats.org/drawingml/2006/table">
            <a:tbl>
              <a:tblPr>
                <a:tableStyleId>{3B4B98B0-60AC-42C2-AFA5-B58CD77FA1E5}</a:tableStyleId>
              </a:tblPr>
              <a:tblGrid>
                <a:gridCol w="5876925"/>
              </a:tblGrid>
              <a:tr h="333720">
                <a:tc>
                  <a:txBody>
                    <a:bodyPr wrap="square"/>
                    <a:lstStyle/>
                    <a:p>
                      <a:pPr algn="l"/>
                      <a:r>
                        <a:rPr sz="1050" b="0" i="0">
                          <a:solidFill>
                            <a:srgbClr val="000000"/>
                          </a:solidFill>
                          <a:latin typeface="Calibri"/>
                        </a:rPr>
                        <a:t>Table 115: North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116: Latin America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117: Europe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118: East Asia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119: South Asia &amp; Pacific Market CAGR and Absolute $ Opportunity by Country, %, US$ Mn, 2026–2036</a:t>
                      </a:r>
                      <a:endParaRPr sz="1050"/>
                    </a:p>
                  </a:txBody>
                  <a:tcPr marL="9525" marR="9525" marT="9525" marB="0" anchor="ctr"/>
                </a:tc>
              </a:tr>
              <a:tr h="333720">
                <a:tc>
                  <a:txBody>
                    <a:bodyPr wrap="square"/>
                    <a:lstStyle/>
                    <a:p>
                      <a:pPr algn="l"/>
                      <a:r>
                        <a:rPr sz="1050" b="0" i="0">
                          <a:solidFill>
                            <a:srgbClr val="000000"/>
                          </a:solidFill>
                          <a:latin typeface="Calibri"/>
                        </a:rPr>
                        <a:t>Table 120: Middle East &amp; Africa Market CAGR and Absolute $ Opportunity by Country, %, US$ Mn, 2026–2036</a:t>
                      </a:r>
                      <a:endParaRPr sz="1050"/>
                    </a:p>
                  </a:txBody>
                  <a:tcPr marL="9525" marR="9525" marT="9525" marB="0" anchor="ctr"/>
                </a:tc>
              </a:tr>
              <a:tr h="170266">
                <a:tc>
                  <a:txBody>
                    <a:bodyPr wrap="square"/>
                    <a:lstStyle/>
                    <a:p>
                      <a:pPr algn="l"/>
                      <a:r>
                        <a:rPr sz="1050" b="0" i="0">
                          <a:solidFill>
                            <a:srgbClr val="000000"/>
                          </a:solidFill>
                          <a:latin typeface="Calibri"/>
                        </a:rPr>
                        <a:t>Table 121: North America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122: Latin America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123: Europe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124: East Asia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125: South Asia &amp; Pacific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126: Middle East &amp; Africa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127: North America Market Value by Organ Compatibility,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128: Latin America Market Value by Organ Compatibility,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129: Europe Market Value by Organ Compatibility,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130: U.S.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131: U.S. Market Historical and Forecast Growth, %, 2021–2036</a:t>
                      </a:r>
                      <a:endParaRPr sz="1050"/>
                    </a:p>
                  </a:txBody>
                  <a:tcPr marL="9525" marR="9525" marT="9525" marB="0" anchor="ctr"/>
                </a:tc>
              </a:tr>
              <a:tr h="170266">
                <a:tc>
                  <a:txBody>
                    <a:bodyPr wrap="square"/>
                    <a:lstStyle/>
                    <a:p>
                      <a:pPr algn="l"/>
                      <a:r>
                        <a:rPr sz="1050" b="0" i="0">
                          <a:solidFill>
                            <a:srgbClr val="000000"/>
                          </a:solidFill>
                          <a:latin typeface="Calibri"/>
                        </a:rPr>
                        <a:t>Table 132: U.S. Market Value by Sales Channel, US$ Mn, 2021–2036</a:t>
                      </a:r>
                      <a:endParaRPr sz="1050"/>
                    </a:p>
                  </a:txBody>
                  <a:tcPr marL="9525" marR="9525" marT="9525" marB="0" anchor="ctr"/>
                </a:tc>
              </a:tr>
              <a:tr h="170266">
                <a:tc>
                  <a:txBody>
                    <a:bodyPr wrap="square"/>
                    <a:lstStyle/>
                    <a:p>
                      <a:pPr algn="l"/>
                      <a:r>
                        <a:rPr sz="1050" b="0" i="0">
                          <a:solidFill>
                            <a:srgbClr val="000000"/>
                          </a:solidFill>
                          <a:latin typeface="Calibri"/>
                        </a:rPr>
                        <a:t>Table 133: U.S. Market Share within North America, %, 2025, 2026 and 2036</a:t>
                      </a:r>
                      <a:endParaRPr sz="1050"/>
                    </a:p>
                  </a:txBody>
                  <a:tcPr marL="9525" marR="9525" marT="9525" marB="0" anchor="ctr"/>
                </a:tc>
              </a:tr>
              <a:tr h="170266">
                <a:tc>
                  <a:txBody>
                    <a:bodyPr wrap="square"/>
                    <a:lstStyle/>
                    <a:p>
                      <a:pPr algn="l"/>
                      <a:r>
                        <a:rPr sz="1050" b="0" i="0">
                          <a:solidFill>
                            <a:srgbClr val="000000"/>
                          </a:solidFill>
                          <a:latin typeface="Calibri"/>
                        </a:rPr>
                        <a:t>Table 134: U.S. Market Value by Organ Compatibility,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135: U.S. Market Value by Device Reusability,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136: U.S. Market Value by Monitoring Capability, US$ Mn, 2021–2036</a:t>
                      </a:r>
                      <a:endParaRPr sz="1050"/>
                    </a:p>
                  </a:txBody>
                  <a:tcPr marL="9525" marR="9525" marT="9525" marB="0" anchor="ctr"/>
                </a:tc>
              </a:tr>
              <a:tr h="170266">
                <a:tc>
                  <a:txBody>
                    <a:bodyPr wrap="square"/>
                    <a:lstStyle/>
                    <a:p>
                      <a:pPr algn="l"/>
                      <a:r>
                        <a:rPr sz="1050" b="0" i="0">
                          <a:solidFill>
                            <a:srgbClr val="000000"/>
                          </a:solidFill>
                          <a:latin typeface="Calibri"/>
                        </a:rPr>
                        <a:t>Table 137: U.S. Market Value by Purchasing Organisation, US$ Mn, 2021–2036</a:t>
                      </a:r>
                      <a:endParaRPr sz="1050"/>
                    </a:p>
                  </a:txBody>
                  <a:tcPr marL="9525" marR="9525" marT="9525" marB="0" anchor="ctr"/>
                </a:tc>
              </a:tr>
              <a:tr h="170266">
                <a:tc>
                  <a:txBody>
                    <a:bodyPr wrap="square"/>
                    <a:lstStyle/>
                    <a:p>
                      <a:pPr algn="l"/>
                      <a:r>
                        <a:rPr sz="1050" b="0" i="0">
                          <a:solidFill>
                            <a:srgbClr val="000000"/>
                          </a:solidFill>
                          <a:latin typeface="Calibri"/>
                        </a:rPr>
                        <a:t>Table 138: Germany Market Value by Device Technology, US$ Mn, 2021–2036</a:t>
                      </a:r>
                      <a:endParaRPr sz="1050"/>
                    </a:p>
                  </a:txBody>
                  <a:tcPr marL="9525" marR="9525" marT="9525" marB="0" anchor="ctr"/>
                </a:tc>
              </a:tr>
              <a:tr h="170266">
                <a:tc>
                  <a:txBody>
                    <a:bodyPr wrap="square"/>
                    <a:lstStyle/>
                    <a:p>
                      <a:pPr algn="l"/>
                      <a:r>
                        <a:rPr sz="1050" b="0" i="0">
                          <a:solidFill>
                            <a:srgbClr val="000000"/>
                          </a:solidFill>
                          <a:latin typeface="Calibri"/>
                        </a:rPr>
                        <a:t>Table 139: Germany Market Historical and Forecast Growth, %, 2021–2036</a:t>
                      </a:r>
                      <a:endParaRPr sz="1050"/>
                    </a:p>
                  </a:txBody>
                  <a:tcPr marL="9525" marR="9525" marT="9525" marB="0" anchor="ctr"/>
                </a:tc>
              </a:tr>
              <a:tr h="170266">
                <a:tc>
                  <a:txBody>
                    <a:bodyPr wrap="square"/>
                    <a:lstStyle/>
                    <a:p>
                      <a:pPr algn="l"/>
                      <a:r>
                        <a:rPr sz="1050" b="0" i="0">
                          <a:solidFill>
                            <a:srgbClr val="000000"/>
                          </a:solidFill>
                          <a:latin typeface="Calibri"/>
                        </a:rPr>
                        <a:t>Table 140: Germany Market Value by Sales Channel, US$ Mn, 2021–2036</a:t>
                      </a:r>
                      <a:endParaRPr sz="1050"/>
                    </a:p>
                  </a:txBody>
                  <a:tcPr marL="9525" marR="9525" marT="9525" marB="0" anchor="ctr"/>
                </a:tc>
              </a:tr>
              <a:tr h="170266">
                <a:tc>
                  <a:txBody>
                    <a:bodyPr wrap="square"/>
                    <a:lstStyle/>
                    <a:p>
                      <a:pPr algn="l"/>
                      <a:r>
                        <a:rPr sz="1050" b="0" i="0">
                          <a:solidFill>
                            <a:srgbClr val="000000"/>
                          </a:solidFill>
                          <a:latin typeface="Calibri"/>
                        </a:rPr>
                        <a:t>Table 141: Germany Market Share within Europe, %, 2025, 2026 and 2036</a:t>
                      </a:r>
                      <a:endParaRPr sz="1050"/>
                    </a:p>
                  </a:txBody>
                  <a:tcPr marL="9525" marR="9525" marT="9525" marB="0" anchor="ctr"/>
                </a:tc>
              </a:tr>
              <a:tr h="170266">
                <a:tc>
                  <a:txBody>
                    <a:bodyPr wrap="square"/>
                    <a:lstStyle/>
                    <a:p>
                      <a:pPr algn="l"/>
                      <a:r>
                        <a:rPr sz="1050" b="0" i="0">
                          <a:solidFill>
                            <a:srgbClr val="000000"/>
                          </a:solidFill>
                          <a:latin typeface="Calibri"/>
                        </a:rPr>
                        <a:t>Table 142: Germany Market Value by Organ Compatibility, US$ Mn, 2021–2036</a:t>
                      </a:r>
                      <a:endParaRPr sz="1050"/>
                    </a:p>
                  </a:txBody>
                  <a:tcPr marL="9525" marR="9525" marT="9525" marB="0" anchor="ctr"/>
                </a:tc>
              </a:tr>
            </a:tbl>
          </a:graphicData>
        </a:graphic>
      </p:graphicFrame>
      <p:graphicFrame>
        <p:nvGraphicFramePr>
          <p:cNvPr id="10" name="FMI Contents Table"/>
          <p:cNvGraphicFramePr>
            <a:graphicFrameLocks noGrp="1"/>
          </p:cNvGraphicFramePr>
          <p:nvPr/>
        </p:nvGraphicFramePr>
        <p:xfrm>
          <a:off x="6172200" y="981075"/>
          <a:ext cx="5876925" cy="5257786"/>
        </p:xfrm>
        <a:graphic>
          <a:graphicData uri="http://schemas.openxmlformats.org/drawingml/2006/table">
            <a:tbl>
              <a:tblPr>
                <a:tableStyleId>{3B4B98B0-60AC-42C2-AFA5-B58CD77FA1E5}</a:tableStyleId>
              </a:tblPr>
              <a:tblGrid>
                <a:gridCol w="5876925"/>
              </a:tblGrid>
              <a:tr h="169606">
                <a:tc>
                  <a:txBody>
                    <a:bodyPr wrap="square"/>
                    <a:lstStyle/>
                    <a:p>
                      <a:pPr algn="l"/>
                      <a:r>
                        <a:rPr sz="1050" b="0" i="0">
                          <a:solidFill>
                            <a:srgbClr val="000000"/>
                          </a:solidFill>
                          <a:latin typeface="Calibri"/>
                        </a:rPr>
                        <a:t>Table 143: Germany Market Value by Device Reusability, US$ Mn, 2021–2036</a:t>
                      </a:r>
                      <a:endParaRPr sz="1050"/>
                    </a:p>
                  </a:txBody>
                  <a:tcPr marL="9525" marR="9525" marT="9525" marB="0" anchor="ctr"/>
                </a:tc>
              </a:tr>
              <a:tr h="169606">
                <a:tc>
                  <a:txBody>
                    <a:bodyPr wrap="square"/>
                    <a:lstStyle/>
                    <a:p>
                      <a:pPr algn="l"/>
                      <a:r>
                        <a:rPr sz="1050" b="0" i="0">
                          <a:solidFill>
                            <a:srgbClr val="000000"/>
                          </a:solidFill>
                          <a:latin typeface="Calibri"/>
                        </a:rPr>
                        <a:t>Table 144: Germany Market Value by Monitoring Capability, US$ Mn, 2021–2036</a:t>
                      </a:r>
                      <a:endParaRPr sz="1050"/>
                    </a:p>
                  </a:txBody>
                  <a:tcPr marL="9525" marR="9525" marT="9525" marB="0" anchor="ctr"/>
                </a:tc>
              </a:tr>
              <a:tr h="169606">
                <a:tc>
                  <a:txBody>
                    <a:bodyPr wrap="square"/>
                    <a:lstStyle/>
                    <a:p>
                      <a:pPr algn="l"/>
                      <a:r>
                        <a:rPr sz="1050" b="0" i="0">
                          <a:solidFill>
                            <a:srgbClr val="000000"/>
                          </a:solidFill>
                          <a:latin typeface="Calibri"/>
                        </a:rPr>
                        <a:t>Table 145: Germany Market Value by Purchasing Organisation, US$ Mn, 2021–2036</a:t>
                      </a:r>
                      <a:endParaRPr sz="1050"/>
                    </a:p>
                  </a:txBody>
                  <a:tcPr marL="9525" marR="9525" marT="9525" marB="0" anchor="ctr"/>
                </a:tc>
              </a:tr>
              <a:tr h="169606">
                <a:tc>
                  <a:txBody>
                    <a:bodyPr wrap="square"/>
                    <a:lstStyle/>
                    <a:p>
                      <a:pPr algn="l"/>
                      <a:r>
                        <a:rPr sz="1050" b="0" i="0">
                          <a:solidFill>
                            <a:srgbClr val="000000"/>
                          </a:solidFill>
                          <a:latin typeface="Calibri"/>
                        </a:rPr>
                        <a:t>Table 146: Canada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147: Canada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148: Canada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149: Canada Market Share within North America, %, 2025, 2026 and 2036</a:t>
                      </a:r>
                      <a:endParaRPr sz="1050"/>
                    </a:p>
                  </a:txBody>
                  <a:tcPr marL="9525" marR="9525" marT="9525" marB="0" anchor="ctr"/>
                </a:tc>
              </a:tr>
              <a:tr h="169606">
                <a:tc>
                  <a:txBody>
                    <a:bodyPr wrap="square"/>
                    <a:lstStyle/>
                    <a:p>
                      <a:pPr algn="l"/>
                      <a:r>
                        <a:rPr sz="1050" b="0" i="0">
                          <a:solidFill>
                            <a:srgbClr val="000000"/>
                          </a:solidFill>
                          <a:latin typeface="Calibri"/>
                        </a:rPr>
                        <a:t>Table 150: Canada Market Value by Organ Compatibility, US$ Mn, 2021–2036</a:t>
                      </a:r>
                      <a:endParaRPr sz="1050"/>
                    </a:p>
                  </a:txBody>
                  <a:tcPr marL="9525" marR="9525" marT="9525" marB="0" anchor="ctr"/>
                </a:tc>
              </a:tr>
              <a:tr h="169606">
                <a:tc>
                  <a:txBody>
                    <a:bodyPr wrap="square"/>
                    <a:lstStyle/>
                    <a:p>
                      <a:pPr algn="l"/>
                      <a:r>
                        <a:rPr sz="1050" b="0" i="0">
                          <a:solidFill>
                            <a:srgbClr val="000000"/>
                          </a:solidFill>
                          <a:latin typeface="Calibri"/>
                        </a:rPr>
                        <a:t>Table 151: Canada Market Value by Device Reusability, US$ Mn, 2021–2036</a:t>
                      </a:r>
                      <a:endParaRPr sz="1050"/>
                    </a:p>
                  </a:txBody>
                  <a:tcPr marL="9525" marR="9525" marT="9525" marB="0" anchor="ctr"/>
                </a:tc>
              </a:tr>
              <a:tr h="169606">
                <a:tc>
                  <a:txBody>
                    <a:bodyPr wrap="square"/>
                    <a:lstStyle/>
                    <a:p>
                      <a:pPr algn="l"/>
                      <a:r>
                        <a:rPr sz="1050" b="0" i="0">
                          <a:solidFill>
                            <a:srgbClr val="000000"/>
                          </a:solidFill>
                          <a:latin typeface="Calibri"/>
                        </a:rPr>
                        <a:t>Table 152: Canada Market Value by Monitoring Capability, US$ Mn, 2021–2036</a:t>
                      </a:r>
                      <a:endParaRPr sz="1050"/>
                    </a:p>
                  </a:txBody>
                  <a:tcPr marL="9525" marR="9525" marT="9525" marB="0" anchor="ctr"/>
                </a:tc>
              </a:tr>
              <a:tr h="169606">
                <a:tc>
                  <a:txBody>
                    <a:bodyPr wrap="square"/>
                    <a:lstStyle/>
                    <a:p>
                      <a:pPr algn="l"/>
                      <a:r>
                        <a:rPr sz="1050" b="0" i="0">
                          <a:solidFill>
                            <a:srgbClr val="000000"/>
                          </a:solidFill>
                          <a:latin typeface="Calibri"/>
                        </a:rPr>
                        <a:t>Table 153: Canada Market Value by Purchasing Organisation, US$ Mn, 2021–2036</a:t>
                      </a:r>
                      <a:endParaRPr sz="1050"/>
                    </a:p>
                  </a:txBody>
                  <a:tcPr marL="9525" marR="9525" marT="9525" marB="0" anchor="ctr"/>
                </a:tc>
              </a:tr>
              <a:tr h="169606">
                <a:tc>
                  <a:txBody>
                    <a:bodyPr wrap="square"/>
                    <a:lstStyle/>
                    <a:p>
                      <a:pPr algn="l"/>
                      <a:r>
                        <a:rPr sz="1050" b="0" i="0">
                          <a:solidFill>
                            <a:srgbClr val="000000"/>
                          </a:solidFill>
                          <a:latin typeface="Calibri"/>
                        </a:rPr>
                        <a:t>Table 154: China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155: China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156: China Market Value by Sales Channel, US$ Mn, 2021–2036</a:t>
                      </a:r>
                      <a:endParaRPr sz="1050"/>
                    </a:p>
                  </a:txBody>
                  <a:tcPr marL="9525" marR="9525" marT="9525" marB="0" anchor="ctr"/>
                </a:tc>
              </a:tr>
              <a:tr h="169606">
                <a:tc>
                  <a:txBody>
                    <a:bodyPr wrap="square"/>
                    <a:lstStyle/>
                    <a:p>
                      <a:pPr algn="l"/>
                      <a:r>
                        <a:rPr sz="1050" b="0" i="0">
                          <a:solidFill>
                            <a:srgbClr val="000000"/>
                          </a:solidFill>
                          <a:latin typeface="Calibri"/>
                        </a:rPr>
                        <a:t>Table 157: India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158: India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159: Brazil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160: Brazil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161: U.K. Market Value by Device Technology, US$ Mn, 2021–2036</a:t>
                      </a:r>
                      <a:endParaRPr sz="1050"/>
                    </a:p>
                  </a:txBody>
                  <a:tcPr marL="9525" marR="9525" marT="9525" marB="0" anchor="ctr"/>
                </a:tc>
              </a:tr>
              <a:tr h="169606">
                <a:tc>
                  <a:txBody>
                    <a:bodyPr wrap="square"/>
                    <a:lstStyle/>
                    <a:p>
                      <a:pPr algn="l"/>
                      <a:r>
                        <a:rPr sz="1050" b="0" i="0">
                          <a:solidFill>
                            <a:srgbClr val="000000"/>
                          </a:solidFill>
                          <a:latin typeface="Calibri"/>
                        </a:rPr>
                        <a:t>Table 162: U.K. Market Historical and Forecast Growth, %, 2021–2036</a:t>
                      </a:r>
                      <a:endParaRPr sz="1050"/>
                    </a:p>
                  </a:txBody>
                  <a:tcPr marL="9525" marR="9525" marT="9525" marB="0" anchor="ctr"/>
                </a:tc>
              </a:tr>
              <a:tr h="169606">
                <a:tc>
                  <a:txBody>
                    <a:bodyPr wrap="square"/>
                    <a:lstStyle/>
                    <a:p>
                      <a:pPr algn="l"/>
                      <a:r>
                        <a:rPr sz="1050" b="0" i="0">
                          <a:solidFill>
                            <a:srgbClr val="000000"/>
                          </a:solidFill>
                          <a:latin typeface="Calibri"/>
                        </a:rPr>
                        <a:t>Table 163: Market Product Price Comparison by Company and Device Technology, US$/Units, 2026</a:t>
                      </a:r>
                      <a:endParaRPr sz="1050"/>
                    </a:p>
                  </a:txBody>
                  <a:tcPr marL="9525" marR="9525" marT="9525" marB="0" anchor="ctr"/>
                </a:tc>
              </a:tr>
              <a:tr h="169606">
                <a:tc>
                  <a:txBody>
                    <a:bodyPr wrap="square"/>
                    <a:lstStyle/>
                    <a:p>
                      <a:pPr algn="l"/>
                      <a:r>
                        <a:rPr sz="1050" b="0" i="0">
                          <a:solidFill>
                            <a:srgbClr val="000000"/>
                          </a:solidFill>
                          <a:latin typeface="Calibri"/>
                        </a:rPr>
                        <a:t>Table 164: Global Market Average Selling Price by Region, US$/Units, 2021–2036</a:t>
                      </a:r>
                      <a:endParaRPr sz="1050"/>
                    </a:p>
                  </a:txBody>
                  <a:tcPr marL="9525" marR="9525" marT="9525" marB="0" anchor="ctr"/>
                </a:tc>
              </a:tr>
              <a:tr h="169606">
                <a:tc>
                  <a:txBody>
                    <a:bodyPr wrap="square"/>
                    <a:lstStyle/>
                    <a:p>
                      <a:pPr algn="l"/>
                      <a:r>
                        <a:rPr sz="1050" b="0" i="0">
                          <a:solidFill>
                            <a:srgbClr val="000000"/>
                          </a:solidFill>
                          <a:latin typeface="Calibri"/>
                        </a:rPr>
                        <a:t>Table 165: Global Market Average Selling Price by Device Technology, US$/Units, 2021–2036</a:t>
                      </a:r>
                      <a:endParaRPr sz="1050"/>
                    </a:p>
                  </a:txBody>
                  <a:tcPr marL="9525" marR="9525" marT="9525" marB="0" anchor="ctr"/>
                </a:tc>
              </a:tr>
              <a:tr h="169606">
                <a:tc>
                  <a:txBody>
                    <a:bodyPr wrap="square"/>
                    <a:lstStyle/>
                    <a:p>
                      <a:pPr algn="l"/>
                      <a:r>
                        <a:rPr sz="1050" b="0" i="0">
                          <a:solidFill>
                            <a:srgbClr val="000000"/>
                          </a:solidFill>
                          <a:latin typeface="Calibri"/>
                        </a:rPr>
                        <a:t>Table 166: Global Market Average Selling Price by Organ Compatibility, US$/Units, 2021–2036</a:t>
                      </a:r>
                      <a:endParaRPr sz="1050"/>
                    </a:p>
                  </a:txBody>
                  <a:tcPr marL="9525" marR="9525" marT="9525" marB="0" anchor="ctr"/>
                </a:tc>
              </a:tr>
              <a:tr h="169606">
                <a:tc>
                  <a:txBody>
                    <a:bodyPr wrap="square"/>
                    <a:lstStyle/>
                    <a:p>
                      <a:pPr algn="l"/>
                      <a:r>
                        <a:rPr sz="1050" b="0" i="0">
                          <a:solidFill>
                            <a:srgbClr val="000000"/>
                          </a:solidFill>
                          <a:latin typeface="Calibri"/>
                        </a:rPr>
                        <a:t>Table 167: Global Market Average Selling Price by Device Reusability, US$/Units, 2021–2036</a:t>
                      </a:r>
                      <a:endParaRPr sz="1050"/>
                    </a:p>
                  </a:txBody>
                  <a:tcPr marL="9525" marR="9525" marT="9525" marB="0" anchor="ctr"/>
                </a:tc>
              </a:tr>
              <a:tr h="169606">
                <a:tc>
                  <a:txBody>
                    <a:bodyPr wrap="square"/>
                    <a:lstStyle/>
                    <a:p>
                      <a:pPr algn="l"/>
                      <a:r>
                        <a:rPr sz="1050" b="0" i="0">
                          <a:solidFill>
                            <a:srgbClr val="000000"/>
                          </a:solidFill>
                          <a:latin typeface="Calibri"/>
                        </a:rPr>
                        <a:t>Table 168: Global Market Average Selling Price by Monitoring Capability, US$/Units, 2021–2036</a:t>
                      </a:r>
                      <a:endParaRPr sz="1050"/>
                    </a:p>
                  </a:txBody>
                  <a:tcPr marL="9525" marR="9525" marT="9525" marB="0" anchor="ctr"/>
                </a:tc>
              </a:tr>
              <a:tr h="169606">
                <a:tc>
                  <a:txBody>
                    <a:bodyPr wrap="square"/>
                    <a:lstStyle/>
                    <a:p>
                      <a:pPr algn="l"/>
                      <a:r>
                        <a:rPr sz="1050" b="0" i="0">
                          <a:solidFill>
                            <a:srgbClr val="000000"/>
                          </a:solidFill>
                          <a:latin typeface="Calibri"/>
                        </a:rPr>
                        <a:t>Table 169: Global Market Average Selling Price by Purchasing Organisation, US$/Units, 2021–2036</a:t>
                      </a:r>
                      <a:endParaRPr sz="1050"/>
                    </a:p>
                  </a:txBody>
                  <a:tcPr marL="9525" marR="9525" marT="9525" marB="0" anchor="ctr"/>
                </a:tc>
              </a:tr>
              <a:tr h="169606">
                <a:tc>
                  <a:txBody>
                    <a:bodyPr wrap="square"/>
                    <a:lstStyle/>
                    <a:p>
                      <a:pPr algn="l"/>
                      <a:r>
                        <a:rPr sz="1050" b="0" i="0">
                          <a:solidFill>
                            <a:srgbClr val="000000"/>
                          </a:solidFill>
                          <a:latin typeface="Calibri"/>
                        </a:rPr>
                        <a:t>Table 170: Global Market Average Selling Price by Sales Channel, US$/Units, 2021–2036</a:t>
                      </a:r>
                      <a:endParaRPr sz="1050"/>
                    </a:p>
                  </a:txBody>
                  <a:tcPr marL="9525" marR="9525" marT="9525" marB="0" anchor="ctr"/>
                </a:tc>
              </a:tr>
              <a:tr h="169606">
                <a:tc>
                  <a:txBody>
                    <a:bodyPr wrap="square"/>
                    <a:lstStyle/>
                    <a:p>
                      <a:pPr algn="l"/>
                      <a:r>
                        <a:rPr sz="1050" b="0" i="0">
                          <a:solidFill>
                            <a:srgbClr val="000000"/>
                          </a:solidFill>
                          <a:latin typeface="Calibri"/>
                        </a:rPr>
                        <a:t>Table 171: Supplier-to-Customer Relationship Mapping in U.S., 2026</a:t>
                      </a:r>
                      <a:endParaRPr sz="1050"/>
                    </a:p>
                  </a:txBody>
                  <a:tcPr marL="9525" marR="9525" marT="9525" marB="0" anchor="ctr"/>
                </a:tc>
              </a:tr>
              <a:tr h="169606">
                <a:tc>
                  <a:txBody>
                    <a:bodyPr wrap="square"/>
                    <a:lstStyle/>
                    <a:p>
                      <a:pPr algn="l"/>
                      <a:r>
                        <a:rPr sz="1050" b="0" i="0">
                          <a:solidFill>
                            <a:srgbClr val="000000"/>
                          </a:solidFill>
                          <a:latin typeface="Calibri"/>
                        </a:rPr>
                        <a:t>Table 172: Global Market Value Chain Participants by Stage, 2026</a:t>
                      </a:r>
                      <a:endParaRPr sz="1050"/>
                    </a:p>
                  </a:txBody>
                  <a:tcPr marL="9525" marR="9525" marT="9525" marB="0" anchor="ctr"/>
                </a:tc>
              </a:tr>
              <a:tr h="169606">
                <a:tc>
                  <a:txBody>
                    <a:bodyPr wrap="square"/>
                    <a:lstStyle/>
                    <a:p>
                      <a:pPr algn="l"/>
                      <a:r>
                        <a:rPr sz="1050" b="0" i="0">
                          <a:solidFill>
                            <a:srgbClr val="000000"/>
                          </a:solidFill>
                          <a:latin typeface="Calibri"/>
                        </a:rPr>
                        <a:t>Table 173: Global Market Margin Analysis by Value Chain Stage, %, 2026</a:t>
                      </a:r>
                      <a:endParaRPr sz="1050"/>
                    </a:p>
                  </a:txBody>
                  <a:tcPr marL="9525" marR="9525" marT="9525" marB="0" anchor="ctr"/>
                </a:tc>
              </a:tr>
            </a:tbl>
          </a:graphicData>
        </a:graphic>
      </p:graphicFrame>
      <p:sp>
        <p:nvSpPr>
          <p:cNvPr id="11" name="TextBox 1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76200"/>
            <a:ext cx="10506075" cy="762000"/>
          </a:xfrm>
          <a:prstGeom prst="rect">
            <a:avLst/>
          </a:prstGeom>
          <a:noFill/>
        </p:spPr>
        <p:txBody>
          <a:bodyPr wrap="square" lIns="28575" rIns="28575" tIns="0" bIns="0" anchor="ctr">
            <a:spAutoFit/>
          </a:bodyPr>
          <a:lstStyle/>
          <a:p>
            <a:pPr algn="l">
              <a:lnSpc>
                <a:spcPct val="90000"/>
              </a:lnSpc>
            </a:pPr>
            <a:r>
              <a:rPr sz="2100" b="1">
                <a:solidFill>
                  <a:srgbClr val="000000"/>
                </a:solidFill>
                <a:latin typeface="Calibri"/>
              </a:rPr>
              <a:t>List of Tables (4/4)</a:t>
            </a:r>
          </a:p>
        </p:txBody>
      </p:sp>
      <p:graphicFrame>
        <p:nvGraphicFramePr>
          <p:cNvPr id="9" name="FMI Contents Table"/>
          <p:cNvGraphicFramePr>
            <a:graphicFrameLocks noGrp="1"/>
          </p:cNvGraphicFramePr>
          <p:nvPr/>
        </p:nvGraphicFramePr>
        <p:xfrm>
          <a:off x="142875" y="981075"/>
          <a:ext cx="5876925" cy="4660596"/>
        </p:xfrm>
        <a:graphic>
          <a:graphicData uri="http://schemas.openxmlformats.org/drawingml/2006/table">
            <a:tbl>
              <a:tblPr>
                <a:tableStyleId>{3B4B98B0-60AC-42C2-AFA5-B58CD77FA1E5}</a:tableStyleId>
              </a:tblPr>
              <a:tblGrid>
                <a:gridCol w="5876925"/>
              </a:tblGrid>
              <a:tr h="166688">
                <a:tc>
                  <a:txBody>
                    <a:bodyPr wrap="square"/>
                    <a:lstStyle/>
                    <a:p>
                      <a:pPr algn="l"/>
                      <a:r>
                        <a:rPr sz="1050" b="0" i="0">
                          <a:solidFill>
                            <a:srgbClr val="000000"/>
                          </a:solidFill>
                          <a:latin typeface="Calibri"/>
                        </a:rPr>
                        <a:t>Table 174: Global Market Cost Structure by Component, %, 2026</a:t>
                      </a:r>
                      <a:endParaRPr sz="1050"/>
                    </a:p>
                  </a:txBody>
                  <a:tcPr marL="9525" marR="9525" marT="9525" marB="0" anchor="ctr"/>
                </a:tc>
              </a:tr>
              <a:tr h="166688">
                <a:tc>
                  <a:txBody>
                    <a:bodyPr wrap="square"/>
                    <a:lstStyle/>
                    <a:p>
                      <a:pPr algn="l"/>
                      <a:r>
                        <a:rPr sz="1050" b="0" i="0">
                          <a:solidFill>
                            <a:srgbClr val="000000"/>
                          </a:solidFill>
                          <a:latin typeface="Calibri"/>
                        </a:rPr>
                        <a:t>Table 175: Global Market Import Value by Leading Country, US$ Mn, 2021–2025</a:t>
                      </a:r>
                      <a:endParaRPr sz="1050"/>
                    </a:p>
                  </a:txBody>
                  <a:tcPr marL="9525" marR="9525" marT="9525" marB="0" anchor="ctr"/>
                </a:tc>
              </a:tr>
              <a:tr h="166688">
                <a:tc>
                  <a:txBody>
                    <a:bodyPr wrap="square"/>
                    <a:lstStyle/>
                    <a:p>
                      <a:pPr algn="l"/>
                      <a:r>
                        <a:rPr sz="1050" b="0" i="0">
                          <a:solidFill>
                            <a:srgbClr val="000000"/>
                          </a:solidFill>
                          <a:latin typeface="Calibri"/>
                        </a:rPr>
                        <a:t>Table 176: Global Market Export Value by Leading Country, US$ Mn, 2021–2025</a:t>
                      </a:r>
                      <a:endParaRPr sz="1050"/>
                    </a:p>
                  </a:txBody>
                  <a:tcPr marL="9525" marR="9525" marT="9525" marB="0" anchor="ctr"/>
                </a:tc>
              </a:tr>
              <a:tr h="166688">
                <a:tc>
                  <a:txBody>
                    <a:bodyPr wrap="square"/>
                    <a:lstStyle/>
                    <a:p>
                      <a:pPr algn="l"/>
                      <a:r>
                        <a:rPr sz="1050" b="0" i="0">
                          <a:solidFill>
                            <a:srgbClr val="000000"/>
                          </a:solidFill>
                          <a:latin typeface="Calibri"/>
                        </a:rPr>
                        <a:t>Table 177: Global Market Trade Flow Matrix by Region, US$ Mn, 2025</a:t>
                      </a:r>
                      <a:endParaRPr sz="1050"/>
                    </a:p>
                  </a:txBody>
                  <a:tcPr marL="9525" marR="9525" marT="9525" marB="0" anchor="ctr"/>
                </a:tc>
              </a:tr>
              <a:tr h="166688">
                <a:tc>
                  <a:txBody>
                    <a:bodyPr wrap="square"/>
                    <a:lstStyle/>
                    <a:p>
                      <a:pPr algn="l"/>
                      <a:r>
                        <a:rPr sz="1050" b="0" i="0">
                          <a:solidFill>
                            <a:srgbClr val="000000"/>
                          </a:solidFill>
                          <a:latin typeface="Calibri"/>
                        </a:rPr>
                        <a:t>Table 178: Global Market Pricing Factors and Impact Rating, 2026–2036</a:t>
                      </a:r>
                      <a:endParaRPr sz="1050"/>
                    </a:p>
                  </a:txBody>
                  <a:tcPr marL="9525" marR="9525" marT="9525" marB="0" anchor="ctr"/>
                </a:tc>
              </a:tr>
              <a:tr h="326708">
                <a:tc>
                  <a:txBody>
                    <a:bodyPr wrap="square"/>
                    <a:lstStyle/>
                    <a:p>
                      <a:pPr algn="l"/>
                      <a:r>
                        <a:rPr sz="1050" b="0" i="0">
                          <a:solidFill>
                            <a:srgbClr val="000000"/>
                          </a:solidFill>
                          <a:latin typeface="Calibri"/>
                        </a:rPr>
                        <a:t>Table 179: Leading Organ Transport Devices Manufacturers: Product Portfolio and Geographic Presence, 2026</a:t>
                      </a:r>
                      <a:endParaRPr sz="1050"/>
                    </a:p>
                  </a:txBody>
                  <a:tcPr marL="9525" marR="9525" marT="9525" marB="0" anchor="ctr"/>
                </a:tc>
              </a:tr>
              <a:tr h="166688">
                <a:tc>
                  <a:txBody>
                    <a:bodyPr wrap="square"/>
                    <a:lstStyle/>
                    <a:p>
                      <a:pPr algn="l"/>
                      <a:r>
                        <a:rPr sz="1050" b="0" i="0">
                          <a:solidFill>
                            <a:srgbClr val="000000"/>
                          </a:solidFill>
                          <a:latin typeface="Calibri"/>
                        </a:rPr>
                        <a:t>Table 180: Company Revenue from the Global Market, US$ Mn, 2025–2026</a:t>
                      </a:r>
                      <a:endParaRPr sz="1050"/>
                    </a:p>
                  </a:txBody>
                  <a:tcPr marL="9525" marR="9525" marT="9525" marB="0" anchor="ctr"/>
                </a:tc>
              </a:tr>
              <a:tr h="166688">
                <a:tc>
                  <a:txBody>
                    <a:bodyPr wrap="square"/>
                    <a:lstStyle/>
                    <a:p>
                      <a:pPr algn="l"/>
                      <a:r>
                        <a:rPr sz="1050" b="0" i="0">
                          <a:solidFill>
                            <a:srgbClr val="000000"/>
                          </a:solidFill>
                          <a:latin typeface="Calibri"/>
                        </a:rPr>
                        <a:t>Table 181: Company Market Share in the Global Market by Region, %, 2026</a:t>
                      </a:r>
                      <a:endParaRPr sz="1050"/>
                    </a:p>
                  </a:txBody>
                  <a:tcPr marL="9525" marR="9525" marT="9525" marB="0" anchor="ctr"/>
                </a:tc>
              </a:tr>
              <a:tr h="166688">
                <a:tc>
                  <a:txBody>
                    <a:bodyPr wrap="square"/>
                    <a:lstStyle/>
                    <a:p>
                      <a:pPr algn="l"/>
                      <a:r>
                        <a:rPr sz="1050" b="0" i="0">
                          <a:solidFill>
                            <a:srgbClr val="000000"/>
                          </a:solidFill>
                          <a:latin typeface="Calibri"/>
                        </a:rPr>
                        <a:t>Table 182: Global Market Competitive Benchmarking Matrix, 2026</a:t>
                      </a:r>
                      <a:endParaRPr sz="1050"/>
                    </a:p>
                  </a:txBody>
                  <a:tcPr marL="9525" marR="9525" marT="9525" marB="0" anchor="ctr"/>
                </a:tc>
              </a:tr>
              <a:tr h="166688">
                <a:tc>
                  <a:txBody>
                    <a:bodyPr wrap="square"/>
                    <a:lstStyle/>
                    <a:p>
                      <a:pPr algn="l"/>
                      <a:r>
                        <a:rPr sz="1050" b="0" i="0">
                          <a:solidFill>
                            <a:srgbClr val="000000"/>
                          </a:solidFill>
                          <a:latin typeface="Calibri"/>
                        </a:rPr>
                        <a:t>Table 183: Global Market Mergers, Acquisitions and Partnerships, 2021–2026</a:t>
                      </a:r>
                      <a:endParaRPr sz="1050"/>
                    </a:p>
                  </a:txBody>
                  <a:tcPr marL="9525" marR="9525" marT="9525" marB="0" anchor="ctr"/>
                </a:tc>
              </a:tr>
              <a:tr h="166688">
                <a:tc>
                  <a:txBody>
                    <a:bodyPr wrap="square"/>
                    <a:lstStyle/>
                    <a:p>
                      <a:pPr algn="l"/>
                      <a:r>
                        <a:rPr sz="1050" b="0" i="0">
                          <a:solidFill>
                            <a:srgbClr val="000000"/>
                          </a:solidFill>
                          <a:latin typeface="Calibri"/>
                        </a:rPr>
                        <a:t>Table 184: TransMedics: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185: OrganOx: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186: XVIVO Perfusion: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187: Paragonix Technologies: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188: Organ Recovery Systems: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189: IGL Group / Waters Medical Systems: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190: Bridge to Life: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191: Aferetica: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192: EBERS Medical Technology: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193: Traferox Technologies: Company Overview, Products and Strategy, 2026</a:t>
                      </a:r>
                      <a:endParaRPr sz="1050"/>
                    </a:p>
                  </a:txBody>
                  <a:tcPr marL="9525" marR="9525" marT="9525" marB="0" anchor="ctr"/>
                </a:tc>
              </a:tr>
              <a:tr h="166688">
                <a:tc>
                  <a:txBody>
                    <a:bodyPr wrap="square"/>
                    <a:lstStyle/>
                    <a:p>
                      <a:pPr algn="l"/>
                      <a:r>
                        <a:rPr sz="1050" b="0" i="0">
                          <a:solidFill>
                            <a:srgbClr val="000000"/>
                          </a:solidFill>
                          <a:latin typeface="Calibri"/>
                        </a:rPr>
                        <a:t>Table 194: Global Market Value by Scenario and Region, US$ Mn, 2026–2036</a:t>
                      </a:r>
                      <a:endParaRPr sz="1050"/>
                    </a:p>
                  </a:txBody>
                  <a:tcPr marL="9525" marR="9525" marT="9525" marB="0" anchor="ctr"/>
                </a:tc>
              </a:tr>
              <a:tr h="166688">
                <a:tc>
                  <a:txBody>
                    <a:bodyPr wrap="square"/>
                    <a:lstStyle/>
                    <a:p>
                      <a:pPr algn="l"/>
                      <a:r>
                        <a:rPr sz="1050" b="0" i="0">
                          <a:solidFill>
                            <a:srgbClr val="000000"/>
                          </a:solidFill>
                          <a:latin typeface="Calibri"/>
                        </a:rPr>
                        <a:t>Table 195: Global Market Key Trends and Impact Rating, 2026–2036</a:t>
                      </a:r>
                      <a:endParaRPr sz="1050"/>
                    </a:p>
                  </a:txBody>
                  <a:tcPr marL="9525" marR="9525" marT="9525" marB="0" anchor="ctr"/>
                </a:tc>
              </a:tr>
              <a:tr h="166688">
                <a:tc>
                  <a:txBody>
                    <a:bodyPr wrap="square"/>
                    <a:lstStyle/>
                    <a:p>
                      <a:pPr algn="l"/>
                      <a:r>
                        <a:rPr sz="1050" b="0" i="0">
                          <a:solidFill>
                            <a:srgbClr val="000000"/>
                          </a:solidFill>
                          <a:latin typeface="Calibri"/>
                        </a:rPr>
                        <a:t>Table 196: Global Market Opportunity Assessment by Device Technology, US$ Mn, 2026–2036</a:t>
                      </a:r>
                      <a:endParaRPr sz="1050"/>
                    </a:p>
                  </a:txBody>
                  <a:tcPr marL="9525" marR="9525" marT="9525" marB="0" anchor="ctr"/>
                </a:tc>
              </a:tr>
              <a:tr h="166688">
                <a:tc>
                  <a:txBody>
                    <a:bodyPr wrap="square"/>
                    <a:lstStyle/>
                    <a:p>
                      <a:pPr algn="l"/>
                      <a:r>
                        <a:rPr sz="1050" b="0" i="0">
                          <a:solidFill>
                            <a:srgbClr val="000000"/>
                          </a:solidFill>
                          <a:latin typeface="Calibri"/>
                        </a:rPr>
                        <a:t>Table 197: Global Market Scenario Assumptions, 2026–2036</a:t>
                      </a:r>
                      <a:endParaRPr sz="1050"/>
                    </a:p>
                  </a:txBody>
                  <a:tcPr marL="9525" marR="9525" marT="9525" marB="0" anchor="ctr"/>
                </a:tc>
              </a:tr>
              <a:tr h="166688">
                <a:tc>
                  <a:txBody>
                    <a:bodyPr wrap="square"/>
                    <a:lstStyle/>
                    <a:p>
                      <a:pPr algn="l"/>
                      <a:r>
                        <a:rPr sz="1050" b="0" i="0">
                          <a:solidFill>
                            <a:srgbClr val="000000"/>
                          </a:solidFill>
                          <a:latin typeface="Calibri"/>
                        </a:rPr>
                        <a:t>Table 198: Global Market Client Opportunity Prioritisation by Device Technology, 2026–2036</a:t>
                      </a:r>
                      <a:endParaRPr sz="1050"/>
                    </a:p>
                  </a:txBody>
                  <a:tcPr marL="9525" marR="9525" marT="9525" marB="0" anchor="ctr"/>
                </a:tc>
              </a:tr>
              <a:tr h="166688">
                <a:tc>
                  <a:txBody>
                    <a:bodyPr wrap="square"/>
                    <a:lstStyle/>
                    <a:p>
                      <a:pPr algn="l"/>
                      <a:r>
                        <a:rPr sz="1050" b="0" i="0">
                          <a:solidFill>
                            <a:srgbClr val="000000"/>
                          </a:solidFill>
                          <a:latin typeface="Calibri"/>
                        </a:rPr>
                        <a:t>Table 199: Global Market Customer Purchase Criteria by Device Technology, 2026</a:t>
                      </a:r>
                      <a:endParaRPr sz="1050"/>
                    </a:p>
                  </a:txBody>
                  <a:tcPr marL="9525" marR="9525" marT="9525" marB="0" anchor="ctr"/>
                </a:tc>
              </a:tr>
              <a:tr h="166688">
                <a:tc>
                  <a:txBody>
                    <a:bodyPr wrap="square"/>
                    <a:lstStyle/>
                    <a:p>
                      <a:pPr algn="l"/>
                      <a:r>
                        <a:rPr sz="1050" b="0" i="0">
                          <a:solidFill>
                            <a:srgbClr val="000000"/>
                          </a:solidFill>
                          <a:latin typeface="Calibri"/>
                        </a:rPr>
                        <a:t>Table 200: Global Market Strategic Recommendations and Action Plan, 2026–2036</a:t>
                      </a:r>
                      <a:endParaRPr sz="1050"/>
                    </a:p>
                  </a:txBody>
                  <a:tcPr marL="9525" marR="9525" marT="9525" marB="0" anchor="ctr"/>
                </a:tc>
              </a:tr>
            </a:tbl>
          </a:graphicData>
        </a:graphic>
      </p:graphicFrame>
      <p:sp>
        <p:nvSpPr>
          <p:cNvPr id="10" name="TextBox 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56730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2872105"/>
            <a:ext cx="7239000" cy="514350"/>
          </a:xfrm>
          <a:prstGeom prst="rect">
            <a:avLst/>
          </a:prstGeom>
          <a:noFill/>
        </p:spPr>
        <p:txBody>
          <a:bodyPr wrap="square" lIns="0" rIns="0" tIns="0">
            <a:spAutoFit/>
          </a:bodyPr>
          <a:lstStyle/>
          <a:p>
            <a:r>
              <a:rPr sz="3000" b="1" cap="all" spc="400">
                <a:solidFill>
                  <a:srgbClr val="FFFFFF"/>
                </a:solidFill>
                <a:latin typeface="Calibri"/>
              </a:rPr>
              <a:t>Global Market Outlook</a:t>
            </a:r>
          </a:p>
        </p:txBody>
      </p:sp>
      <p:sp>
        <p:nvSpPr>
          <p:cNvPr id="7" name="TextBox 6"/>
          <p:cNvSpPr txBox="1"/>
          <p:nvPr/>
        </p:nvSpPr>
        <p:spPr>
          <a:xfrm>
            <a:off x="914400" y="3576955"/>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Region</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Global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Device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Organ Compatibility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Device Reusability</a:t>
            </a:r>
          </a:p>
        </p:txBody>
      </p:sp>
      <p:sp>
        <p:nvSpPr>
          <p:cNvPr id="8" name="TextBox 7"/>
          <p:cNvSpPr txBox="1"/>
          <p:nvPr/>
        </p:nvSpPr>
        <p:spPr>
          <a:xfrm>
            <a:off x="6096000" y="3576955"/>
            <a:ext cx="5067300" cy="214249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Monitoring Capability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Purchasing Organisation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Technology x Organ Compatibility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Monitoring Capability x Purchasing Organisation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Reusability x Sales Channel</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Global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578522" cy="186689"/>
          </a:xfrm>
          <a:prstGeom prst="rect">
            <a:avLst/>
          </a:prstGeom>
          <a:noFill/>
        </p:spPr>
        <p:txBody>
          <a:bodyPr wrap="none" lIns="0" rIns="0" tIns="0" bIns="0">
            <a:spAutoFit/>
          </a:bodyPr>
          <a:lstStyle/>
          <a:p>
            <a:r>
              <a:rPr sz="1100" b="0">
                <a:solidFill>
                  <a:srgbClr val="2E2E2E"/>
                </a:solidFill>
                <a:latin typeface="Calibri"/>
              </a:rPr>
              <a:t>Global organ transport devices market is projected to register</a:t>
            </a:r>
          </a:p>
        </p:txBody>
      </p:sp>
      <p:pic>
        <p:nvPicPr>
          <p:cNvPr id="35" name="Picture 34" descr="lock.png"/>
          <p:cNvPicPr>
            <a:picLocks noChangeAspect="1"/>
          </p:cNvPicPr>
          <p:nvPr/>
        </p:nvPicPr>
        <p:blipFill>
          <a:blip r:embed="rId6"/>
          <a:stretch>
            <a:fillRect/>
          </a:stretch>
        </p:blipFill>
        <p:spPr>
          <a:xfrm>
            <a:off x="11575199" y="2037208"/>
            <a:ext cx="128699" cy="187198"/>
          </a:xfrm>
          <a:prstGeom prst="rect">
            <a:avLst/>
          </a:prstGeom>
        </p:spPr>
      </p:pic>
      <p:sp>
        <p:nvSpPr>
          <p:cNvPr id="36" name="TextBox 35"/>
          <p:cNvSpPr txBox="1"/>
          <p:nvPr/>
        </p:nvSpPr>
        <p:spPr>
          <a:xfrm>
            <a:off x="11742695" y="2046987"/>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37" name="TextBox 36"/>
          <p:cNvSpPr txBox="1"/>
          <p:nvPr/>
        </p:nvSpPr>
        <p:spPr>
          <a:xfrm>
            <a:off x="8048625" y="2214627"/>
            <a:ext cx="3608809" cy="186689"/>
          </a:xfrm>
          <a:prstGeom prst="rect">
            <a:avLst/>
          </a:prstGeom>
          <a:noFill/>
        </p:spPr>
        <p:txBody>
          <a:bodyPr wrap="none" lIns="0" rIns="0" tIns="0" bIns="0">
            <a:spAutoFit/>
          </a:bodyPr>
          <a:lstStyle/>
          <a:p>
            <a:r>
              <a:rPr sz="1100" b="0">
                <a:solidFill>
                  <a:srgbClr val="2E2E2E"/>
                </a:solidFill>
                <a:latin typeface="Calibri"/>
              </a:rPr>
              <a:t>increase in volume by the end of forecast period, 2036. Global</a:t>
            </a:r>
          </a:p>
        </p:txBody>
      </p:sp>
      <p:sp>
        <p:nvSpPr>
          <p:cNvPr id="38" name="TextBox 37"/>
          <p:cNvSpPr txBox="1"/>
          <p:nvPr/>
        </p:nvSpPr>
        <p:spPr>
          <a:xfrm>
            <a:off x="8048625" y="2382267"/>
            <a:ext cx="2816448" cy="186689"/>
          </a:xfrm>
          <a:prstGeom prst="rect">
            <a:avLst/>
          </a:prstGeom>
          <a:noFill/>
        </p:spPr>
        <p:txBody>
          <a:bodyPr wrap="none" lIns="0" rIns="0" tIns="0" bIns="0">
            <a:spAutoFit/>
          </a:bodyPr>
          <a:lstStyle/>
          <a:p>
            <a:r>
              <a:rPr sz="1100" b="0">
                <a:solidFill>
                  <a:srgbClr val="2E2E2E"/>
                </a:solidFill>
                <a:latin typeface="Calibri"/>
              </a:rPr>
              <a:t>organ transport devices market volume stood at</a:t>
            </a:r>
          </a:p>
        </p:txBody>
      </p:sp>
      <p:pic>
        <p:nvPicPr>
          <p:cNvPr id="39" name="Picture 38" descr="lock.png"/>
          <p:cNvPicPr>
            <a:picLocks noChangeAspect="1"/>
          </p:cNvPicPr>
          <p:nvPr/>
        </p:nvPicPr>
        <p:blipFill>
          <a:blip r:embed="rId6"/>
          <a:stretch>
            <a:fillRect/>
          </a:stretch>
        </p:blipFill>
        <p:spPr>
          <a:xfrm>
            <a:off x="10813124" y="2372488"/>
            <a:ext cx="128699" cy="187198"/>
          </a:xfrm>
          <a:prstGeom prst="rect">
            <a:avLst/>
          </a:prstGeom>
        </p:spPr>
      </p:pic>
      <p:sp>
        <p:nvSpPr>
          <p:cNvPr id="40" name="TextBox 39"/>
          <p:cNvSpPr txBox="1"/>
          <p:nvPr/>
        </p:nvSpPr>
        <p:spPr>
          <a:xfrm>
            <a:off x="10980620" y="2382267"/>
            <a:ext cx="825723" cy="186689"/>
          </a:xfrm>
          <a:prstGeom prst="rect">
            <a:avLst/>
          </a:prstGeom>
          <a:noFill/>
        </p:spPr>
        <p:txBody>
          <a:bodyPr wrap="none" lIns="0" rIns="0" tIns="0" bIns="0">
            <a:spAutoFit/>
          </a:bodyPr>
          <a:lstStyle/>
          <a:p>
            <a:r>
              <a:rPr sz="1100" b="0">
                <a:solidFill>
                  <a:srgbClr val="2E2E2E"/>
                </a:solidFill>
                <a:latin typeface="Calibri"/>
              </a:rPr>
              <a:t>Units in 2025</a:t>
            </a:r>
          </a:p>
        </p:txBody>
      </p:sp>
      <p:sp>
        <p:nvSpPr>
          <p:cNvPr id="41" name="TextBox 40"/>
          <p:cNvSpPr txBox="1"/>
          <p:nvPr/>
        </p:nvSpPr>
        <p:spPr>
          <a:xfrm>
            <a:off x="8048625" y="2549907"/>
            <a:ext cx="1463923" cy="186689"/>
          </a:xfrm>
          <a:prstGeom prst="rect">
            <a:avLst/>
          </a:prstGeom>
          <a:noFill/>
        </p:spPr>
        <p:txBody>
          <a:bodyPr wrap="none" lIns="0" rIns="0" tIns="0" bIns="0">
            <a:spAutoFit/>
          </a:bodyPr>
          <a:lstStyle/>
          <a:p>
            <a:r>
              <a:rPr sz="1100" b="0">
                <a:solidFill>
                  <a:srgbClr val="2E2E2E"/>
                </a:solidFill>
                <a:latin typeface="Calibri"/>
              </a:rPr>
              <a:t>and is expected to reach</a:t>
            </a:r>
          </a:p>
        </p:txBody>
      </p:sp>
      <p:pic>
        <p:nvPicPr>
          <p:cNvPr id="42" name="Picture 41" descr="lock.png"/>
          <p:cNvPicPr>
            <a:picLocks noChangeAspect="1"/>
          </p:cNvPicPr>
          <p:nvPr/>
        </p:nvPicPr>
        <p:blipFill>
          <a:blip r:embed="rId6"/>
          <a:stretch>
            <a:fillRect/>
          </a:stretch>
        </p:blipFill>
        <p:spPr>
          <a:xfrm>
            <a:off x="9460599" y="2540128"/>
            <a:ext cx="128699" cy="187198"/>
          </a:xfrm>
          <a:prstGeom prst="rect">
            <a:avLst/>
          </a:prstGeom>
        </p:spPr>
      </p:pic>
      <p:sp>
        <p:nvSpPr>
          <p:cNvPr id="43" name="TextBox 42"/>
          <p:cNvSpPr txBox="1"/>
          <p:nvPr/>
        </p:nvSpPr>
        <p:spPr>
          <a:xfrm>
            <a:off x="9628095" y="2549907"/>
            <a:ext cx="1882460" cy="186689"/>
          </a:xfrm>
          <a:prstGeom prst="rect">
            <a:avLst/>
          </a:prstGeom>
          <a:noFill/>
        </p:spPr>
        <p:txBody>
          <a:bodyPr wrap="none" lIns="0" rIns="0" tIns="0" bIns="0">
            <a:spAutoFit/>
          </a:bodyPr>
          <a:lstStyle/>
          <a:p>
            <a:r>
              <a:rPr sz="1100" b="0">
                <a:solidFill>
                  <a:srgbClr val="2E2E2E"/>
                </a:solidFill>
                <a:latin typeface="Calibri"/>
              </a:rPr>
              <a:t>Units by 2036 end, at a CAGR of</a:t>
            </a:r>
          </a:p>
        </p:txBody>
      </p:sp>
      <p:pic>
        <p:nvPicPr>
          <p:cNvPr id="44" name="Picture 43" descr="lock.png"/>
          <p:cNvPicPr>
            <a:picLocks noChangeAspect="1"/>
          </p:cNvPicPr>
          <p:nvPr/>
        </p:nvPicPr>
        <p:blipFill>
          <a:blip r:embed="rId6"/>
          <a:stretch>
            <a:fillRect/>
          </a:stretch>
        </p:blipFill>
        <p:spPr>
          <a:xfrm>
            <a:off x="11458607" y="2540128"/>
            <a:ext cx="128699" cy="187198"/>
          </a:xfrm>
          <a:prstGeom prst="rect">
            <a:avLst/>
          </a:prstGeom>
        </p:spPr>
      </p:pic>
      <p:sp>
        <p:nvSpPr>
          <p:cNvPr id="45" name="TextBox 44"/>
          <p:cNvSpPr txBox="1"/>
          <p:nvPr/>
        </p:nvSpPr>
        <p:spPr>
          <a:xfrm>
            <a:off x="11626103" y="254990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767838"/>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7" name="TextBox 46"/>
          <p:cNvSpPr txBox="1"/>
          <p:nvPr/>
        </p:nvSpPr>
        <p:spPr>
          <a:xfrm>
            <a:off x="8048625" y="293547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8" name="TextBox 47"/>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9" name="Picture 48" descr="lock.png"/>
          <p:cNvPicPr>
            <a:picLocks noChangeAspect="1"/>
          </p:cNvPicPr>
          <p:nvPr/>
        </p:nvPicPr>
        <p:blipFill>
          <a:blip r:embed="rId6"/>
          <a:stretch>
            <a:fillRect/>
          </a:stretch>
        </p:blipFill>
        <p:spPr>
          <a:xfrm>
            <a:off x="10866614" y="4446251"/>
            <a:ext cx="134549" cy="195707"/>
          </a:xfrm>
          <a:prstGeom prst="rect">
            <a:avLst/>
          </a:prstGeom>
        </p:spPr>
      </p:pic>
      <p:sp>
        <p:nvSpPr>
          <p:cNvPr id="50" name="TextBox 49"/>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1" name="TextBox 50"/>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'Portable Machine Perfusion Devices'</a:t>
            </a:r>
          </a:p>
        </p:txBody>
      </p:sp>
      <p:sp>
        <p:nvSpPr>
          <p:cNvPr id="52" name="TextBox 51"/>
          <p:cNvSpPr txBox="1"/>
          <p:nvPr/>
        </p:nvSpPr>
        <p:spPr>
          <a:xfrm>
            <a:off x="8048625" y="4859572"/>
            <a:ext cx="1632260" cy="194310"/>
          </a:xfrm>
          <a:prstGeom prst="rect">
            <a:avLst/>
          </a:prstGeom>
          <a:noFill/>
        </p:spPr>
        <p:txBody>
          <a:bodyPr wrap="none" lIns="0" rIns="0" tIns="0" bIns="0">
            <a:spAutoFit/>
          </a:bodyPr>
          <a:lstStyle/>
          <a:p>
            <a:r>
              <a:rPr sz="1150" b="0">
                <a:solidFill>
                  <a:srgbClr val="2E2E2E"/>
                </a:solidFill>
                <a:latin typeface="Calibri"/>
              </a:rPr>
              <a:t>within Device Technology.</a:t>
            </a:r>
          </a:p>
        </p:txBody>
      </p:sp>
      <p:sp>
        <p:nvSpPr>
          <p:cNvPr id="53" name="TextBox 52"/>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4" name="TextBox 53"/>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region,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Device Technology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2409825" y="1670329"/>
            <a:ext cx="0" cy="64111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2311445"/>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190750" y="1829417"/>
            <a:ext cx="438150" cy="320659"/>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2190750" y="198935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5915025" y="2632326"/>
            <a:ext cx="0" cy="487226"/>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83580" y="2632326"/>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695950" y="2748954"/>
            <a:ext cx="438150" cy="243860"/>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695950" y="2869198"/>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62425" y="2479926"/>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8" name="TextBox 37"/>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Static Cold Storage D…</a:t>
            </a:r>
          </a:p>
        </p:txBody>
      </p:sp>
      <p:sp>
        <p:nvSpPr>
          <p:cNvPr id="39" name="TextBox 38"/>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Portable Machine Perf…</a:t>
            </a:r>
          </a:p>
        </p:txBody>
      </p:sp>
      <p:sp>
        <p:nvSpPr>
          <p:cNvPr id="40" name="Rounded Rectangle 39"/>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cxnSp>
        <p:nvCxnSpPr>
          <p:cNvPr id="42" name="Connector 41"/>
          <p:cNvCxnSpPr/>
          <p:nvPr/>
        </p:nvCxnSpPr>
        <p:spPr>
          <a:xfrm>
            <a:off x="619125" y="43173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47285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1397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55097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596217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317376"/>
            <a:ext cx="0" cy="1644799"/>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3173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47285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1397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55097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596217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3" name="FMI Scale tick"/>
          <p:cNvSpPr txBox="1"/>
          <p:nvPr/>
        </p:nvSpPr>
        <p:spPr>
          <a:xfrm>
            <a:off x="219075" y="4250701"/>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sp>
        <p:nvSpPr>
          <p:cNvPr id="54" name="FMI Scale tick"/>
          <p:cNvSpPr txBox="1"/>
          <p:nvPr/>
        </p:nvSpPr>
        <p:spPr>
          <a:xfrm>
            <a:off x="219075" y="4661901"/>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55" name="FMI Scale tick"/>
          <p:cNvSpPr txBox="1"/>
          <p:nvPr/>
        </p:nvSpPr>
        <p:spPr>
          <a:xfrm>
            <a:off x="107156" y="5073101"/>
            <a:ext cx="473869" cy="133350"/>
          </a:xfrm>
          <a:prstGeom prst="rect">
            <a:avLst/>
          </a:prstGeom>
          <a:noFill/>
        </p:spPr>
        <p:txBody>
          <a:bodyPr wrap="square" lIns="28575" rIns="28575" tIns="9525" bIns="9525" anchor="ctr">
            <a:spAutoFit/>
          </a:bodyPr>
          <a:lstStyle/>
          <a:p>
            <a:pPr algn="r"/>
            <a:r>
              <a:rPr sz="1100" b="1">
                <a:solidFill>
                  <a:srgbClr val="6C7A89"/>
                </a:solidFill>
                <a:latin typeface="Calibri"/>
              </a:rPr>
              <a:t>Global</a:t>
            </a:r>
          </a:p>
        </p:txBody>
      </p:sp>
      <p:sp>
        <p:nvSpPr>
          <p:cNvPr id="56" name="FMI Scale tick"/>
          <p:cNvSpPr txBox="1"/>
          <p:nvPr/>
        </p:nvSpPr>
        <p:spPr>
          <a:xfrm>
            <a:off x="219075" y="5484301"/>
            <a:ext cx="361950" cy="133350"/>
          </a:xfrm>
          <a:prstGeom prst="rect">
            <a:avLst/>
          </a:prstGeom>
          <a:noFill/>
        </p:spPr>
        <p:txBody>
          <a:bodyPr wrap="none" lIns="0" rIns="0" tIns="0" bIns="0" anchor="ctr">
            <a:spAutoFit/>
          </a:bodyPr>
          <a:lstStyle/>
          <a:p>
            <a:pPr algn="r"/>
            <a:r>
              <a:rPr sz="1100" b="0">
                <a:solidFill>
                  <a:srgbClr val="6C7A89"/>
                </a:solidFill>
                <a:latin typeface="Calibri"/>
              </a:rPr>
              <a:t>-25%</a:t>
            </a:r>
          </a:p>
        </p:txBody>
      </p:sp>
      <p:sp>
        <p:nvSpPr>
          <p:cNvPr id="57" name="FMI Scale tick"/>
          <p:cNvSpPr txBox="1"/>
          <p:nvPr/>
        </p:nvSpPr>
        <p:spPr>
          <a:xfrm>
            <a:off x="219075" y="5895500"/>
            <a:ext cx="361950" cy="133350"/>
          </a:xfrm>
          <a:prstGeom prst="rect">
            <a:avLst/>
          </a:prstGeom>
          <a:noFill/>
        </p:spPr>
        <p:txBody>
          <a:bodyPr wrap="none" lIns="0" rIns="0" tIns="0" bIns="0" anchor="ctr">
            <a:spAutoFit/>
          </a:bodyPr>
          <a:lstStyle/>
          <a:p>
            <a:pPr algn="r"/>
            <a:r>
              <a:rPr sz="1100" b="0">
                <a:solidFill>
                  <a:srgbClr val="6C7A89"/>
                </a:solidFill>
                <a:latin typeface="Calibri"/>
              </a:rPr>
              <a:t>-49%</a:t>
            </a:r>
          </a:p>
        </p:txBody>
      </p:sp>
      <p:cxnSp>
        <p:nvCxnSpPr>
          <p:cNvPr id="58" name="Connector 57"/>
          <p:cNvCxnSpPr/>
          <p:nvPr/>
        </p:nvCxnSpPr>
        <p:spPr>
          <a:xfrm>
            <a:off x="619125" y="513977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77900" y="4423458"/>
            <a:ext cx="457200" cy="716318"/>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619125" y="428058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1" name="Rectangle 60"/>
          <p:cNvSpPr/>
          <p:nvPr/>
        </p:nvSpPr>
        <p:spPr>
          <a:xfrm>
            <a:off x="2152650" y="5139776"/>
            <a:ext cx="457200" cy="7101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1793875" y="522031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3" name="Rectangle 62"/>
          <p:cNvSpPr/>
          <p:nvPr/>
        </p:nvSpPr>
        <p:spPr>
          <a:xfrm>
            <a:off x="3327400" y="4706181"/>
            <a:ext cx="457200" cy="43359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MI Data Label"/>
          <p:cNvSpPr txBox="1"/>
          <p:nvPr/>
        </p:nvSpPr>
        <p:spPr>
          <a:xfrm>
            <a:off x="2968625" y="4563306"/>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5" name="Rectangle 64"/>
          <p:cNvSpPr/>
          <p:nvPr/>
        </p:nvSpPr>
        <p:spPr>
          <a:xfrm>
            <a:off x="4502150" y="5139776"/>
            <a:ext cx="457200" cy="517618"/>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MI Data Label"/>
          <p:cNvSpPr txBox="1"/>
          <p:nvPr/>
        </p:nvSpPr>
        <p:spPr>
          <a:xfrm>
            <a:off x="4143375" y="5666919"/>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7" name="Rectangle 66"/>
          <p:cNvSpPr/>
          <p:nvPr/>
        </p:nvSpPr>
        <p:spPr>
          <a:xfrm>
            <a:off x="5676900" y="5139776"/>
            <a:ext cx="457200" cy="66776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MI Data Label"/>
          <p:cNvSpPr txBox="1"/>
          <p:nvPr/>
        </p:nvSpPr>
        <p:spPr>
          <a:xfrm>
            <a:off x="5318125" y="5817060"/>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9" name="Rectangle 68"/>
          <p:cNvSpPr/>
          <p:nvPr/>
        </p:nvSpPr>
        <p:spPr>
          <a:xfrm>
            <a:off x="6851650" y="5139776"/>
            <a:ext cx="457200" cy="13884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MI Data Label"/>
          <p:cNvSpPr txBox="1"/>
          <p:nvPr/>
        </p:nvSpPr>
        <p:spPr>
          <a:xfrm>
            <a:off x="6492875" y="5288145"/>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71" name="TextBox 70"/>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72" name="TextBox 71"/>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73" name="TextBox 72"/>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74" name="TextBox 73"/>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75" name="TextBox 74"/>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76" name="TextBox 75"/>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77" name="Rounded Rectangle 76"/>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9" name="Rectangle 78"/>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81" name="TextBox 8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2" name="Picture 81" descr="lock.png"/>
          <p:cNvPicPr>
            <a:picLocks noChangeAspect="1"/>
          </p:cNvPicPr>
          <p:nvPr/>
        </p:nvPicPr>
        <p:blipFill>
          <a:blip r:embed="rId4"/>
          <a:stretch>
            <a:fillRect/>
          </a:stretch>
        </p:blipFill>
        <p:spPr>
          <a:xfrm>
            <a:off x="2345475" y="1491005"/>
            <a:ext cx="128699" cy="187198"/>
          </a:xfrm>
          <a:prstGeom prst="rect">
            <a:avLst/>
          </a:prstGeom>
        </p:spPr>
      </p:pic>
      <p:pic>
        <p:nvPicPr>
          <p:cNvPr id="83" name="Picture 82" descr="lock.png"/>
          <p:cNvPicPr>
            <a:picLocks noChangeAspect="1"/>
          </p:cNvPicPr>
          <p:nvPr/>
        </p:nvPicPr>
        <p:blipFill>
          <a:blip r:embed="rId4"/>
          <a:stretch>
            <a:fillRect/>
          </a:stretch>
        </p:blipFill>
        <p:spPr>
          <a:xfrm>
            <a:off x="5850675" y="2453002"/>
            <a:ext cx="128699" cy="187198"/>
          </a:xfrm>
          <a:prstGeom prst="rect">
            <a:avLst/>
          </a:prstGeom>
        </p:spPr>
      </p:pic>
      <p:pic>
        <p:nvPicPr>
          <p:cNvPr id="84" name="Picture 83" descr="lock.png"/>
          <p:cNvPicPr>
            <a:picLocks noChangeAspect="1"/>
          </p:cNvPicPr>
          <p:nvPr/>
        </p:nvPicPr>
        <p:blipFill>
          <a:blip r:embed="rId4"/>
          <a:stretch>
            <a:fillRect/>
          </a:stretch>
        </p:blipFill>
        <p:spPr>
          <a:xfrm>
            <a:off x="1142150" y="4253659"/>
            <a:ext cx="128699" cy="187198"/>
          </a:xfrm>
          <a:prstGeom prst="rect">
            <a:avLst/>
          </a:prstGeom>
        </p:spPr>
      </p:pic>
      <p:pic>
        <p:nvPicPr>
          <p:cNvPr id="85" name="Picture 84" descr="lock.png"/>
          <p:cNvPicPr>
            <a:picLocks noChangeAspect="1"/>
          </p:cNvPicPr>
          <p:nvPr/>
        </p:nvPicPr>
        <p:blipFill>
          <a:blip r:embed="rId4"/>
          <a:stretch>
            <a:fillRect/>
          </a:stretch>
        </p:blipFill>
        <p:spPr>
          <a:xfrm>
            <a:off x="2316900" y="5193394"/>
            <a:ext cx="128699" cy="187198"/>
          </a:xfrm>
          <a:prstGeom prst="rect">
            <a:avLst/>
          </a:prstGeom>
        </p:spPr>
      </p:pic>
      <p:pic>
        <p:nvPicPr>
          <p:cNvPr id="86" name="Picture 85" descr="lock.png"/>
          <p:cNvPicPr>
            <a:picLocks noChangeAspect="1"/>
          </p:cNvPicPr>
          <p:nvPr/>
        </p:nvPicPr>
        <p:blipFill>
          <a:blip r:embed="rId4"/>
          <a:stretch>
            <a:fillRect/>
          </a:stretch>
        </p:blipFill>
        <p:spPr>
          <a:xfrm>
            <a:off x="3491650" y="4536382"/>
            <a:ext cx="128699" cy="187198"/>
          </a:xfrm>
          <a:prstGeom prst="rect">
            <a:avLst/>
          </a:prstGeom>
        </p:spPr>
      </p:pic>
      <p:pic>
        <p:nvPicPr>
          <p:cNvPr id="87" name="Picture 86" descr="lock.png"/>
          <p:cNvPicPr>
            <a:picLocks noChangeAspect="1"/>
          </p:cNvPicPr>
          <p:nvPr/>
        </p:nvPicPr>
        <p:blipFill>
          <a:blip r:embed="rId4"/>
          <a:stretch>
            <a:fillRect/>
          </a:stretch>
        </p:blipFill>
        <p:spPr>
          <a:xfrm>
            <a:off x="4666400" y="5639995"/>
            <a:ext cx="128699" cy="187198"/>
          </a:xfrm>
          <a:prstGeom prst="rect">
            <a:avLst/>
          </a:prstGeom>
        </p:spPr>
      </p:pic>
      <p:pic>
        <p:nvPicPr>
          <p:cNvPr id="88" name="Picture 87" descr="lock.png"/>
          <p:cNvPicPr>
            <a:picLocks noChangeAspect="1"/>
          </p:cNvPicPr>
          <p:nvPr/>
        </p:nvPicPr>
        <p:blipFill>
          <a:blip r:embed="rId4"/>
          <a:stretch>
            <a:fillRect/>
          </a:stretch>
        </p:blipFill>
        <p:spPr>
          <a:xfrm>
            <a:off x="5841150" y="5790136"/>
            <a:ext cx="128699" cy="187198"/>
          </a:xfrm>
          <a:prstGeom prst="rect">
            <a:avLst/>
          </a:prstGeom>
        </p:spPr>
      </p:pic>
      <p:pic>
        <p:nvPicPr>
          <p:cNvPr id="89" name="Picture 88" descr="lock.png"/>
          <p:cNvPicPr>
            <a:picLocks noChangeAspect="1"/>
          </p:cNvPicPr>
          <p:nvPr/>
        </p:nvPicPr>
        <p:blipFill>
          <a:blip r:embed="rId4"/>
          <a:stretch>
            <a:fillRect/>
          </a:stretch>
        </p:blipFill>
        <p:spPr>
          <a:xfrm>
            <a:off x="7015900" y="5261220"/>
            <a:ext cx="128699" cy="187198"/>
          </a:xfrm>
          <a:prstGeom prst="rect">
            <a:avLst/>
          </a:prstGeom>
        </p:spPr>
      </p:pic>
      <p:sp>
        <p:nvSpPr>
          <p:cNvPr id="90" name="TextBox 89"/>
          <p:cNvSpPr txBox="1"/>
          <p:nvPr/>
        </p:nvSpPr>
        <p:spPr>
          <a:xfrm>
            <a:off x="8048625" y="1471995"/>
            <a:ext cx="3848100" cy="194310"/>
          </a:xfrm>
          <a:prstGeom prst="rect">
            <a:avLst/>
          </a:prstGeom>
          <a:noFill/>
        </p:spPr>
        <p:txBody>
          <a:bodyPr wrap="none" lIns="0" rIns="0" tIns="0" bIns="0">
            <a:spAutoFit/>
          </a:bodyPr>
          <a:lstStyle/>
          <a:p>
            <a:r>
              <a:rPr sz="1150" b="0">
                <a:solidFill>
                  <a:srgbClr val="2E2E2E"/>
                </a:solidFill>
                <a:latin typeface="Calibri"/>
              </a:rPr>
              <a:t>Static cold storage devices segment is expected to command the</a:t>
            </a:r>
          </a:p>
        </p:txBody>
      </p:sp>
      <p:sp>
        <p:nvSpPr>
          <p:cNvPr id="91" name="TextBox 90"/>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92" name="Picture 91" descr="lock.png"/>
          <p:cNvPicPr>
            <a:picLocks noChangeAspect="1"/>
          </p:cNvPicPr>
          <p:nvPr/>
        </p:nvPicPr>
        <p:blipFill>
          <a:blip r:embed="rId4"/>
          <a:stretch>
            <a:fillRect/>
          </a:stretch>
        </p:blipFill>
        <p:spPr>
          <a:xfrm>
            <a:off x="9764678" y="1637031"/>
            <a:ext cx="134549" cy="195707"/>
          </a:xfrm>
          <a:prstGeom prst="rect">
            <a:avLst/>
          </a:prstGeom>
        </p:spPr>
      </p:pic>
      <p:sp>
        <p:nvSpPr>
          <p:cNvPr id="93" name="TextBox 92"/>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94" name="TextBox 93"/>
          <p:cNvSpPr txBox="1"/>
          <p:nvPr/>
        </p:nvSpPr>
        <p:spPr>
          <a:xfrm>
            <a:off x="8048625" y="1822515"/>
            <a:ext cx="3552018" cy="194310"/>
          </a:xfrm>
          <a:prstGeom prst="rect">
            <a:avLst/>
          </a:prstGeom>
          <a:noFill/>
        </p:spPr>
        <p:txBody>
          <a:bodyPr wrap="none" lIns="0" rIns="0" tIns="0" bIns="0">
            <a:spAutoFit/>
          </a:bodyPr>
          <a:lstStyle/>
          <a:p>
            <a:r>
              <a:rPr sz="1150" b="0">
                <a:solidFill>
                  <a:srgbClr val="2E2E2E"/>
                </a:solidFill>
                <a:latin typeface="Calibri"/>
              </a:rPr>
              <a:t>selling price of organ transport devices is estimated at US$</a:t>
            </a:r>
          </a:p>
        </p:txBody>
      </p:sp>
      <p:pic>
        <p:nvPicPr>
          <p:cNvPr id="95" name="Picture 94" descr="lock.png"/>
          <p:cNvPicPr>
            <a:picLocks noChangeAspect="1"/>
          </p:cNvPicPr>
          <p:nvPr/>
        </p:nvPicPr>
        <p:blipFill>
          <a:blip r:embed="rId4"/>
          <a:stretch>
            <a:fillRect/>
          </a:stretch>
        </p:blipFill>
        <p:spPr>
          <a:xfrm>
            <a:off x="11549797" y="1812291"/>
            <a:ext cx="134549" cy="195707"/>
          </a:xfrm>
          <a:prstGeom prst="rect">
            <a:avLst/>
          </a:prstGeom>
        </p:spPr>
      </p:pic>
      <p:sp>
        <p:nvSpPr>
          <p:cNvPr id="96" name="TextBox 95"/>
          <p:cNvSpPr txBox="1"/>
          <p:nvPr/>
        </p:nvSpPr>
        <p:spPr>
          <a:xfrm>
            <a:off x="8048625" y="1997775"/>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97" name="Picture 96" descr="lock.png"/>
          <p:cNvPicPr>
            <a:picLocks noChangeAspect="1"/>
          </p:cNvPicPr>
          <p:nvPr/>
        </p:nvPicPr>
        <p:blipFill>
          <a:blip r:embed="rId4"/>
          <a:stretch>
            <a:fillRect/>
          </a:stretch>
        </p:blipFill>
        <p:spPr>
          <a:xfrm>
            <a:off x="11135894" y="1987551"/>
            <a:ext cx="134549" cy="195707"/>
          </a:xfrm>
          <a:prstGeom prst="rect">
            <a:avLst/>
          </a:prstGeom>
        </p:spPr>
      </p:pic>
      <p:sp>
        <p:nvSpPr>
          <p:cNvPr id="98" name="TextBox 97"/>
          <p:cNvSpPr txBox="1"/>
          <p:nvPr/>
        </p:nvSpPr>
        <p:spPr>
          <a:xfrm>
            <a:off x="11311003" y="199777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99" name="TextBox 98"/>
          <p:cNvSpPr txBox="1"/>
          <p:nvPr/>
        </p:nvSpPr>
        <p:spPr>
          <a:xfrm>
            <a:off x="8048625" y="2173035"/>
            <a:ext cx="872058" cy="194310"/>
          </a:xfrm>
          <a:prstGeom prst="rect">
            <a:avLst/>
          </a:prstGeom>
          <a:noFill/>
        </p:spPr>
        <p:txBody>
          <a:bodyPr wrap="none" lIns="0" rIns="0" tIns="0" bIns="0">
            <a:spAutoFit/>
          </a:bodyPr>
          <a:lstStyle/>
          <a:p>
            <a:r>
              <a:rPr sz="1150" b="0">
                <a:solidFill>
                  <a:srgbClr val="2E2E2E"/>
                </a:solidFill>
                <a:latin typeface="Calibri"/>
              </a:rPr>
              <a:t>Unit by 2036.</a:t>
            </a:r>
          </a:p>
        </p:txBody>
      </p:sp>
      <p:sp>
        <p:nvSpPr>
          <p:cNvPr id="100" name="TextBox 99"/>
          <p:cNvSpPr txBox="1"/>
          <p:nvPr/>
        </p:nvSpPr>
        <p:spPr>
          <a:xfrm>
            <a:off x="8048625" y="2400873"/>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101" name="TextBox 100"/>
          <p:cNvSpPr txBox="1"/>
          <p:nvPr/>
        </p:nvSpPr>
        <p:spPr>
          <a:xfrm>
            <a:off x="8048625" y="2576133"/>
            <a:ext cx="382158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Against the global</a:t>
            </a:r>
          </a:p>
        </p:txBody>
      </p:sp>
      <p:sp>
        <p:nvSpPr>
          <p:cNvPr id="102" name="TextBox 101"/>
          <p:cNvSpPr txBox="1"/>
          <p:nvPr/>
        </p:nvSpPr>
        <p:spPr>
          <a:xfrm>
            <a:off x="8048625" y="2751393"/>
            <a:ext cx="526901" cy="194310"/>
          </a:xfrm>
          <a:prstGeom prst="rect">
            <a:avLst/>
          </a:prstGeom>
          <a:noFill/>
        </p:spPr>
        <p:txBody>
          <a:bodyPr wrap="none" lIns="0" rIns="0" tIns="0" bIns="0">
            <a:spAutoFit/>
          </a:bodyPr>
          <a:lstStyle/>
          <a:p>
            <a:r>
              <a:rPr sz="1150" b="0">
                <a:solidFill>
                  <a:srgbClr val="2E2E2E"/>
                </a:solidFill>
                <a:latin typeface="Calibri"/>
              </a:rPr>
              <a:t>price of</a:t>
            </a:r>
          </a:p>
        </p:txBody>
      </p:sp>
      <p:pic>
        <p:nvPicPr>
          <p:cNvPr id="103" name="Picture 102" descr="lock.png"/>
          <p:cNvPicPr>
            <a:picLocks noChangeAspect="1"/>
          </p:cNvPicPr>
          <p:nvPr/>
        </p:nvPicPr>
        <p:blipFill>
          <a:blip r:embed="rId4"/>
          <a:stretch>
            <a:fillRect/>
          </a:stretch>
        </p:blipFill>
        <p:spPr>
          <a:xfrm>
            <a:off x="8524680" y="2741169"/>
            <a:ext cx="134549" cy="195707"/>
          </a:xfrm>
          <a:prstGeom prst="rect">
            <a:avLst/>
          </a:prstGeom>
        </p:spPr>
      </p:pic>
      <p:sp>
        <p:nvSpPr>
          <p:cNvPr id="104" name="TextBox 103"/>
          <p:cNvSpPr txBox="1"/>
          <p:nvPr/>
        </p:nvSpPr>
        <p:spPr>
          <a:xfrm>
            <a:off x="8699789" y="2751393"/>
            <a:ext cx="3076500" cy="194310"/>
          </a:xfrm>
          <a:prstGeom prst="rect">
            <a:avLst/>
          </a:prstGeom>
          <a:noFill/>
        </p:spPr>
        <p:txBody>
          <a:bodyPr wrap="none" lIns="0" rIns="0" tIns="0" bIns="0">
            <a:spAutoFit/>
          </a:bodyPr>
          <a:lstStyle/>
          <a:p>
            <a:r>
              <a:rPr sz="1150" b="0">
                <a:solidFill>
                  <a:srgbClr val="2E2E2E"/>
                </a:solidFill>
                <a:latin typeface="Calibri"/>
              </a:rPr>
              <a:t>US$/Units, 2 of 6 regions price above and 4 below.</a:t>
            </a:r>
          </a:p>
        </p:txBody>
      </p:sp>
      <p:sp>
        <p:nvSpPr>
          <p:cNvPr id="105" name="TextBox 104"/>
          <p:cNvSpPr txBox="1"/>
          <p:nvPr/>
        </p:nvSpPr>
        <p:spPr>
          <a:xfrm>
            <a:off x="8048625" y="2979230"/>
            <a:ext cx="2108063" cy="194310"/>
          </a:xfrm>
          <a:prstGeom prst="rect">
            <a:avLst/>
          </a:prstGeom>
          <a:noFill/>
        </p:spPr>
        <p:txBody>
          <a:bodyPr wrap="none" lIns="0" rIns="0" tIns="0" bIns="0">
            <a:spAutoFit/>
          </a:bodyPr>
          <a:lstStyle/>
          <a:p>
            <a:r>
              <a:rPr sz="1150" b="0">
                <a:solidFill>
                  <a:srgbClr val="2E2E2E"/>
                </a:solidFill>
                <a:latin typeface="Calibri"/>
              </a:rPr>
              <a:t>'North America' is the dearest at +</a:t>
            </a:r>
          </a:p>
        </p:txBody>
      </p:sp>
      <p:pic>
        <p:nvPicPr>
          <p:cNvPr id="106" name="Picture 105" descr="lock.png"/>
          <p:cNvPicPr>
            <a:picLocks noChangeAspect="1"/>
          </p:cNvPicPr>
          <p:nvPr/>
        </p:nvPicPr>
        <p:blipFill>
          <a:blip r:embed="rId4"/>
          <a:stretch>
            <a:fillRect/>
          </a:stretch>
        </p:blipFill>
        <p:spPr>
          <a:xfrm>
            <a:off x="10105842" y="2969007"/>
            <a:ext cx="134549" cy="195707"/>
          </a:xfrm>
          <a:prstGeom prst="rect">
            <a:avLst/>
          </a:prstGeom>
        </p:spPr>
      </p:pic>
      <p:sp>
        <p:nvSpPr>
          <p:cNvPr id="107" name="TextBox 106"/>
          <p:cNvSpPr txBox="1"/>
          <p:nvPr/>
        </p:nvSpPr>
        <p:spPr>
          <a:xfrm>
            <a:off x="10280951" y="2979230"/>
            <a:ext cx="1599455" cy="194310"/>
          </a:xfrm>
          <a:prstGeom prst="rect">
            <a:avLst/>
          </a:prstGeom>
          <a:noFill/>
        </p:spPr>
        <p:txBody>
          <a:bodyPr wrap="none" lIns="0" rIns="0" tIns="0" bIns="0">
            <a:spAutoFit/>
          </a:bodyPr>
          <a:lstStyle/>
          <a:p>
            <a:r>
              <a:rPr sz="1150" b="0">
                <a:solidFill>
                  <a:srgbClr val="2E2E2E"/>
                </a:solidFill>
                <a:latin typeface="Calibri"/>
              </a:rPr>
              <a:t>versus Global, 'South Asia</a:t>
            </a:r>
          </a:p>
        </p:txBody>
      </p:sp>
      <p:sp>
        <p:nvSpPr>
          <p:cNvPr id="108" name="TextBox 107"/>
          <p:cNvSpPr txBox="1"/>
          <p:nvPr/>
        </p:nvSpPr>
        <p:spPr>
          <a:xfrm>
            <a:off x="8048625" y="3154490"/>
            <a:ext cx="1653654" cy="194310"/>
          </a:xfrm>
          <a:prstGeom prst="rect">
            <a:avLst/>
          </a:prstGeom>
          <a:noFill/>
        </p:spPr>
        <p:txBody>
          <a:bodyPr wrap="none" lIns="0" rIns="0" tIns="0" bIns="0">
            <a:spAutoFit/>
          </a:bodyPr>
          <a:lstStyle/>
          <a:p>
            <a:r>
              <a:rPr sz="1150" b="0">
                <a:solidFill>
                  <a:srgbClr val="2E2E2E"/>
                </a:solidFill>
                <a:latin typeface="Calibri"/>
              </a:rPr>
              <a:t>&amp; Pacific' the cheapest at -</a:t>
            </a:r>
          </a:p>
        </p:txBody>
      </p:sp>
      <p:pic>
        <p:nvPicPr>
          <p:cNvPr id="109" name="Picture 108" descr="lock.png"/>
          <p:cNvPicPr>
            <a:picLocks noChangeAspect="1"/>
          </p:cNvPicPr>
          <p:nvPr/>
        </p:nvPicPr>
        <p:blipFill>
          <a:blip r:embed="rId4"/>
          <a:stretch>
            <a:fillRect/>
          </a:stretch>
        </p:blipFill>
        <p:spPr>
          <a:xfrm>
            <a:off x="9651433" y="3144267"/>
            <a:ext cx="134549" cy="195707"/>
          </a:xfrm>
          <a:prstGeom prst="rect">
            <a:avLst/>
          </a:prstGeom>
        </p:spPr>
      </p:pic>
      <p:sp>
        <p:nvSpPr>
          <p:cNvPr id="110" name="TextBox 109"/>
          <p:cNvSpPr txBox="1"/>
          <p:nvPr/>
        </p:nvSpPr>
        <p:spPr>
          <a:xfrm>
            <a:off x="9826542" y="3154490"/>
            <a:ext cx="1702147" cy="194310"/>
          </a:xfrm>
          <a:prstGeom prst="rect">
            <a:avLst/>
          </a:prstGeom>
          <a:noFill/>
        </p:spPr>
        <p:txBody>
          <a:bodyPr wrap="none" lIns="0" rIns="0" tIns="0" bIns="0">
            <a:spAutoFit/>
          </a:bodyPr>
          <a:lstStyle/>
          <a:p>
            <a:r>
              <a:rPr sz="1150" b="0">
                <a:solidFill>
                  <a:srgbClr val="2E2E2E"/>
                </a:solidFill>
                <a:latin typeface="Calibri"/>
              </a:rPr>
              <a:t>pointing to premiumisation</a:t>
            </a:r>
          </a:p>
        </p:txBody>
      </p:sp>
      <p:sp>
        <p:nvSpPr>
          <p:cNvPr id="111" name="TextBox 110"/>
          <p:cNvSpPr txBox="1"/>
          <p:nvPr/>
        </p:nvSpPr>
        <p:spPr>
          <a:xfrm>
            <a:off x="8048625" y="3329750"/>
            <a:ext cx="2365647" cy="194310"/>
          </a:xfrm>
          <a:prstGeom prst="rect">
            <a:avLst/>
          </a:prstGeom>
          <a:noFill/>
        </p:spPr>
        <p:txBody>
          <a:bodyPr wrap="none" lIns="0" rIns="0" tIns="0" bIns="0">
            <a:spAutoFit/>
          </a:bodyPr>
          <a:lstStyle/>
          <a:p>
            <a:r>
              <a:rPr sz="1150" b="0">
                <a:solidFill>
                  <a:srgbClr val="2E2E2E"/>
                </a:solidFill>
                <a:latin typeface="Calibri"/>
              </a:rPr>
              <a:t>headroom in the lower-priced regions.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global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341216" cy="194310"/>
          </a:xfrm>
          <a:prstGeom prst="rect">
            <a:avLst/>
          </a:prstGeom>
          <a:noFill/>
        </p:spPr>
        <p:txBody>
          <a:bodyPr wrap="none" lIns="0" rIns="0" tIns="0" bIns="0">
            <a:spAutoFit/>
          </a:bodyPr>
          <a:lstStyle/>
          <a:p>
            <a:r>
              <a:rPr sz="1150" b="0">
                <a:solidFill>
                  <a:srgbClr val="2E2E2E"/>
                </a:solidFill>
                <a:latin typeface="Calibri"/>
              </a:rPr>
              <a:t>Organ transport devices market is projected to register</a:t>
            </a:r>
          </a:p>
        </p:txBody>
      </p:sp>
      <p:pic>
        <p:nvPicPr>
          <p:cNvPr id="35" name="Picture 34" descr="lock.png"/>
          <p:cNvPicPr>
            <a:picLocks noChangeAspect="1"/>
          </p:cNvPicPr>
          <p:nvPr/>
        </p:nvPicPr>
        <p:blipFill>
          <a:blip r:embed="rId6"/>
          <a:stretch>
            <a:fillRect/>
          </a:stretch>
        </p:blipFill>
        <p:spPr>
          <a:xfrm>
            <a:off x="11338995" y="2036763"/>
            <a:ext cx="134549" cy="195707"/>
          </a:xfrm>
          <a:prstGeom prst="rect">
            <a:avLst/>
          </a:prstGeom>
        </p:spPr>
      </p:pic>
      <p:sp>
        <p:nvSpPr>
          <p:cNvPr id="36" name="TextBox 35"/>
          <p:cNvSpPr txBox="1"/>
          <p:nvPr/>
        </p:nvSpPr>
        <p:spPr>
          <a:xfrm>
            <a:off x="11514104" y="2046987"/>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37" name="TextBox 36"/>
          <p:cNvSpPr txBox="1"/>
          <p:nvPr/>
        </p:nvSpPr>
        <p:spPr>
          <a:xfrm>
            <a:off x="8048625" y="2222247"/>
            <a:ext cx="3571986" cy="194310"/>
          </a:xfrm>
          <a:prstGeom prst="rect">
            <a:avLst/>
          </a:prstGeom>
          <a:noFill/>
        </p:spPr>
        <p:txBody>
          <a:bodyPr wrap="none" lIns="0" rIns="0" tIns="0" bIns="0">
            <a:spAutoFit/>
          </a:bodyPr>
          <a:lstStyle/>
          <a:p>
            <a:r>
              <a:rPr sz="1150" b="0">
                <a:solidFill>
                  <a:srgbClr val="2E2E2E"/>
                </a:solidFill>
                <a:latin typeface="Calibri"/>
              </a:rPr>
              <a:t>increase in its revenue by the end of forecast period, 2036.</a:t>
            </a:r>
          </a:p>
        </p:txBody>
      </p:sp>
      <p:sp>
        <p:nvSpPr>
          <p:cNvPr id="38" name="TextBox 37"/>
          <p:cNvSpPr txBox="1"/>
          <p:nvPr/>
        </p:nvSpPr>
        <p:spPr>
          <a:xfrm>
            <a:off x="8048625" y="2397507"/>
            <a:ext cx="3832708" cy="194310"/>
          </a:xfrm>
          <a:prstGeom prst="rect">
            <a:avLst/>
          </a:prstGeom>
          <a:noFill/>
        </p:spPr>
        <p:txBody>
          <a:bodyPr wrap="none" lIns="0" rIns="0" tIns="0" bIns="0">
            <a:spAutoFit/>
          </a:bodyPr>
          <a:lstStyle/>
          <a:p>
            <a:r>
              <a:rPr sz="1150" b="0">
                <a:solidFill>
                  <a:srgbClr val="2E2E2E"/>
                </a:solidFill>
                <a:latin typeface="Calibri"/>
              </a:rPr>
              <a:t>Global organ transport devices market is expected to be valued</a:t>
            </a:r>
          </a:p>
        </p:txBody>
      </p:sp>
      <p:sp>
        <p:nvSpPr>
          <p:cNvPr id="39" name="TextBox 38"/>
          <p:cNvSpPr txBox="1"/>
          <p:nvPr/>
        </p:nvSpPr>
        <p:spPr>
          <a:xfrm>
            <a:off x="8048625" y="2572767"/>
            <a:ext cx="463289" cy="194310"/>
          </a:xfrm>
          <a:prstGeom prst="rect">
            <a:avLst/>
          </a:prstGeom>
          <a:noFill/>
        </p:spPr>
        <p:txBody>
          <a:bodyPr wrap="none" lIns="0" rIns="0" tIns="0" bIns="0">
            <a:spAutoFit/>
          </a:bodyPr>
          <a:lstStyle/>
          <a:p>
            <a:r>
              <a:rPr sz="1150" b="0">
                <a:solidFill>
                  <a:srgbClr val="2E2E2E"/>
                </a:solidFill>
                <a:latin typeface="Calibri"/>
              </a:rPr>
              <a:t>at US$</a:t>
            </a:r>
          </a:p>
        </p:txBody>
      </p:sp>
      <p:pic>
        <p:nvPicPr>
          <p:cNvPr id="40" name="Picture 39" descr="lock.png"/>
          <p:cNvPicPr>
            <a:picLocks noChangeAspect="1"/>
          </p:cNvPicPr>
          <p:nvPr/>
        </p:nvPicPr>
        <p:blipFill>
          <a:blip r:embed="rId6"/>
          <a:stretch>
            <a:fillRect/>
          </a:stretch>
        </p:blipFill>
        <p:spPr>
          <a:xfrm>
            <a:off x="8461068" y="2562543"/>
            <a:ext cx="134549" cy="195707"/>
          </a:xfrm>
          <a:prstGeom prst="rect">
            <a:avLst/>
          </a:prstGeom>
        </p:spPr>
      </p:pic>
      <p:sp>
        <p:nvSpPr>
          <p:cNvPr id="41" name="TextBox 40"/>
          <p:cNvSpPr txBox="1"/>
          <p:nvPr/>
        </p:nvSpPr>
        <p:spPr>
          <a:xfrm>
            <a:off x="8636177" y="2572767"/>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42" name="TextBox 41"/>
          <p:cNvSpPr txBox="1"/>
          <p:nvPr/>
        </p:nvSpPr>
        <p:spPr>
          <a:xfrm>
            <a:off x="8048625" y="2800604"/>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43" name="Picture 42" descr="lock.png"/>
          <p:cNvPicPr>
            <a:picLocks noChangeAspect="1"/>
          </p:cNvPicPr>
          <p:nvPr/>
        </p:nvPicPr>
        <p:blipFill>
          <a:blip r:embed="rId6"/>
          <a:stretch>
            <a:fillRect/>
          </a:stretch>
        </p:blipFill>
        <p:spPr>
          <a:xfrm>
            <a:off x="8034545" y="2965641"/>
            <a:ext cx="134549" cy="195707"/>
          </a:xfrm>
          <a:prstGeom prst="rect">
            <a:avLst/>
          </a:prstGeom>
        </p:spPr>
      </p:pic>
      <p:sp>
        <p:nvSpPr>
          <p:cNvPr id="44" name="TextBox 43"/>
          <p:cNvSpPr txBox="1"/>
          <p:nvPr/>
        </p:nvSpPr>
        <p:spPr>
          <a:xfrm>
            <a:off x="8209654" y="2975864"/>
            <a:ext cx="1455687" cy="194310"/>
          </a:xfrm>
          <a:prstGeom prst="rect">
            <a:avLst/>
          </a:prstGeom>
          <a:noFill/>
        </p:spPr>
        <p:txBody>
          <a:bodyPr wrap="none" lIns="0" rIns="0" tIns="0" bIns="0">
            <a:spAutoFit/>
          </a:bodyPr>
          <a:lstStyle/>
          <a:p>
            <a:r>
              <a:rPr sz="1150" b="0">
                <a:solidFill>
                  <a:srgbClr val="2E2E2E"/>
                </a:solidFill>
                <a:latin typeface="Calibri"/>
              </a:rPr>
              <a:t>Mn from 2025 to 2036.</a:t>
            </a:r>
          </a:p>
        </p:txBody>
      </p:sp>
      <p:sp>
        <p:nvSpPr>
          <p:cNvPr id="45" name="TextBox 44"/>
          <p:cNvSpPr txBox="1"/>
          <p:nvPr/>
        </p:nvSpPr>
        <p:spPr>
          <a:xfrm>
            <a:off x="8048625" y="4456475"/>
            <a:ext cx="2868835" cy="194310"/>
          </a:xfrm>
          <a:prstGeom prst="rect">
            <a:avLst/>
          </a:prstGeom>
          <a:noFill/>
        </p:spPr>
        <p:txBody>
          <a:bodyPr wrap="none" lIns="0" rIns="0" tIns="0" bIns="0">
            <a:spAutoFit/>
          </a:bodyPr>
          <a:lstStyle/>
          <a:p>
            <a:r>
              <a:rPr sz="1150" b="0">
                <a:solidFill>
                  <a:srgbClr val="2E2E2E"/>
                </a:solidFill>
                <a:latin typeface="Calibri"/>
              </a:rPr>
              <a:t>▪ 'South Asia &amp; Pacific' leads regional growth at</a:t>
            </a:r>
          </a:p>
        </p:txBody>
      </p:sp>
      <p:pic>
        <p:nvPicPr>
          <p:cNvPr id="46" name="Picture 45" descr="lock.png"/>
          <p:cNvPicPr>
            <a:picLocks noChangeAspect="1"/>
          </p:cNvPicPr>
          <p:nvPr/>
        </p:nvPicPr>
        <p:blipFill>
          <a:blip r:embed="rId6"/>
          <a:stretch>
            <a:fillRect/>
          </a:stretch>
        </p:blipFill>
        <p:spPr>
          <a:xfrm>
            <a:off x="10866614" y="4446251"/>
            <a:ext cx="134549" cy="195707"/>
          </a:xfrm>
          <a:prstGeom prst="rect">
            <a:avLst/>
          </a:prstGeom>
        </p:spPr>
      </p:pic>
      <p:sp>
        <p:nvSpPr>
          <p:cNvPr id="47" name="TextBox 46"/>
          <p:cNvSpPr txBox="1"/>
          <p:nvPr/>
        </p:nvSpPr>
        <p:spPr>
          <a:xfrm>
            <a:off x="11041723"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48" name="TextBox 47"/>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'Portable Machine Perfusion Devices'</a:t>
            </a:r>
          </a:p>
        </p:txBody>
      </p:sp>
      <p:sp>
        <p:nvSpPr>
          <p:cNvPr id="49" name="TextBox 48"/>
          <p:cNvSpPr txBox="1"/>
          <p:nvPr/>
        </p:nvSpPr>
        <p:spPr>
          <a:xfrm>
            <a:off x="8048625" y="4859572"/>
            <a:ext cx="1632260" cy="194310"/>
          </a:xfrm>
          <a:prstGeom prst="rect">
            <a:avLst/>
          </a:prstGeom>
          <a:noFill/>
        </p:spPr>
        <p:txBody>
          <a:bodyPr wrap="none" lIns="0" rIns="0" tIns="0" bIns="0">
            <a:spAutoFit/>
          </a:bodyPr>
          <a:lstStyle/>
          <a:p>
            <a:r>
              <a:rPr sz="1150" b="0">
                <a:solidFill>
                  <a:srgbClr val="2E2E2E"/>
                </a:solidFill>
                <a:latin typeface="Calibri"/>
              </a:rPr>
              <a:t>within Device Technology.</a:t>
            </a:r>
          </a:p>
        </p:txBody>
      </p:sp>
      <p:sp>
        <p:nvSpPr>
          <p:cNvPr id="50" name="TextBox 49"/>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1" name="TextBox 50"/>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2"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global market and the incremental $ opportunity it creates, 2021–2036</a:t>
            </a:r>
          </a:p>
        </p:txBody>
      </p:sp>
      <p:sp>
        <p:nvSpPr>
          <p:cNvPr id="10" name="Rounded Rectangle 9"/>
          <p:cNvSpPr/>
          <p:nvPr/>
        </p:nvSpPr>
        <p:spPr>
          <a:xfrm>
            <a:off x="142875" y="981075"/>
            <a:ext cx="4695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2" name="Chart 11"/>
          <p:cNvGraphicFramePr>
            <a:graphicFrameLocks noGrp="1"/>
          </p:cNvGraphicFramePr>
          <p:nvPr/>
        </p:nvGraphicFramePr>
        <p:xfrm>
          <a:off x="238125" y="1266825"/>
          <a:ext cx="4505325" cy="2228850"/>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5" name="Chart 14"/>
          <p:cNvGraphicFramePr>
            <a:graphicFrameLocks noGrp="1"/>
          </p:cNvGraphicFramePr>
          <p:nvPr/>
        </p:nvGraphicFramePr>
        <p:xfrm>
          <a:off x="5086350" y="1266825"/>
          <a:ext cx="6858000" cy="222885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86175"/>
            <a:ext cx="25146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86175"/>
            <a:ext cx="3200400" cy="7334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55295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386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2" name="Rectangle 21"/>
          <p:cNvSpPr/>
          <p:nvPr/>
        </p:nvSpPr>
        <p:spPr>
          <a:xfrm>
            <a:off x="276225" y="48768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96252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3894" y="2050946"/>
            <a:ext cx="205327" cy="298657"/>
          </a:xfrm>
          <a:prstGeom prst="rect">
            <a:avLst/>
          </a:prstGeom>
        </p:spPr>
      </p:pic>
      <p:pic>
        <p:nvPicPr>
          <p:cNvPr id="26" name="Picture 25" descr="lock.png"/>
          <p:cNvPicPr>
            <a:picLocks noChangeAspect="1"/>
          </p:cNvPicPr>
          <p:nvPr/>
        </p:nvPicPr>
        <p:blipFill>
          <a:blip r:embed="rId6"/>
          <a:stretch>
            <a:fillRect/>
          </a:stretch>
        </p:blipFill>
        <p:spPr>
          <a:xfrm>
            <a:off x="8530846" y="2011501"/>
            <a:ext cx="259564" cy="377547"/>
          </a:xfrm>
          <a:prstGeom prst="rect">
            <a:avLst/>
          </a:prstGeom>
        </p:spPr>
      </p:pic>
      <p:pic>
        <p:nvPicPr>
          <p:cNvPr id="27" name="Picture 26" descr="lock.png"/>
          <p:cNvPicPr>
            <a:picLocks noChangeAspect="1"/>
          </p:cNvPicPr>
          <p:nvPr/>
        </p:nvPicPr>
        <p:blipFill>
          <a:blip r:embed="rId6"/>
          <a:stretch>
            <a:fillRect/>
          </a:stretch>
        </p:blipFill>
        <p:spPr>
          <a:xfrm>
            <a:off x="1321594" y="4022407"/>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4022407"/>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4022407"/>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4022407"/>
            <a:ext cx="157162" cy="228600"/>
          </a:xfrm>
          <a:prstGeom prst="rect">
            <a:avLst/>
          </a:prstGeom>
        </p:spPr>
      </p:pic>
      <p:sp>
        <p:nvSpPr>
          <p:cNvPr id="31" name="TextBox 30"/>
          <p:cNvSpPr txBox="1"/>
          <p:nvPr/>
        </p:nvSpPr>
        <p:spPr>
          <a:xfrm>
            <a:off x="276225" y="4972050"/>
            <a:ext cx="3341216" cy="194310"/>
          </a:xfrm>
          <a:prstGeom prst="rect">
            <a:avLst/>
          </a:prstGeom>
          <a:noFill/>
        </p:spPr>
        <p:txBody>
          <a:bodyPr wrap="none" lIns="0" rIns="0" tIns="0" bIns="0">
            <a:spAutoFit/>
          </a:bodyPr>
          <a:lstStyle/>
          <a:p>
            <a:r>
              <a:rPr sz="1150" b="0">
                <a:solidFill>
                  <a:srgbClr val="2E2E2E"/>
                </a:solidFill>
                <a:latin typeface="Calibri"/>
              </a:rPr>
              <a:t>Organ transport devices market is projected to register</a:t>
            </a:r>
          </a:p>
        </p:txBody>
      </p:sp>
      <p:pic>
        <p:nvPicPr>
          <p:cNvPr id="32" name="Picture 31" descr="lock.png"/>
          <p:cNvPicPr>
            <a:picLocks noChangeAspect="1"/>
          </p:cNvPicPr>
          <p:nvPr/>
        </p:nvPicPr>
        <p:blipFill>
          <a:blip r:embed="rId6"/>
          <a:stretch>
            <a:fillRect/>
          </a:stretch>
        </p:blipFill>
        <p:spPr>
          <a:xfrm>
            <a:off x="3566595" y="4961826"/>
            <a:ext cx="134549" cy="195707"/>
          </a:xfrm>
          <a:prstGeom prst="rect">
            <a:avLst/>
          </a:prstGeom>
        </p:spPr>
      </p:pic>
      <p:sp>
        <p:nvSpPr>
          <p:cNvPr id="33" name="TextBox 32"/>
          <p:cNvSpPr txBox="1"/>
          <p:nvPr/>
        </p:nvSpPr>
        <p:spPr>
          <a:xfrm>
            <a:off x="3741704" y="4972050"/>
            <a:ext cx="7890730" cy="194310"/>
          </a:xfrm>
          <a:prstGeom prst="rect">
            <a:avLst/>
          </a:prstGeom>
          <a:noFill/>
        </p:spPr>
        <p:txBody>
          <a:bodyPr wrap="none" lIns="0" rIns="0" tIns="0" bIns="0">
            <a:spAutoFit/>
          </a:bodyPr>
          <a:lstStyle/>
          <a:p>
            <a:r>
              <a:rPr sz="1150" b="0">
                <a:solidFill>
                  <a:srgbClr val="2E2E2E"/>
                </a:solidFill>
                <a:latin typeface="Calibri"/>
              </a:rPr>
              <a:t>X increase in its revenue by the end of forecast period, 2036. Global organ transport devices market is expected to be valued at US$</a:t>
            </a:r>
          </a:p>
        </p:txBody>
      </p:sp>
      <p:pic>
        <p:nvPicPr>
          <p:cNvPr id="34" name="Picture 33" descr="lock.png"/>
          <p:cNvPicPr>
            <a:picLocks noChangeAspect="1"/>
          </p:cNvPicPr>
          <p:nvPr/>
        </p:nvPicPr>
        <p:blipFill>
          <a:blip r:embed="rId6"/>
          <a:stretch>
            <a:fillRect/>
          </a:stretch>
        </p:blipFill>
        <p:spPr>
          <a:xfrm>
            <a:off x="262145" y="5137086"/>
            <a:ext cx="134549" cy="195707"/>
          </a:xfrm>
          <a:prstGeom prst="rect">
            <a:avLst/>
          </a:prstGeom>
        </p:spPr>
      </p:pic>
      <p:sp>
        <p:nvSpPr>
          <p:cNvPr id="35" name="TextBox 34"/>
          <p:cNvSpPr txBox="1"/>
          <p:nvPr/>
        </p:nvSpPr>
        <p:spPr>
          <a:xfrm>
            <a:off x="437254" y="5147310"/>
            <a:ext cx="1079723" cy="194310"/>
          </a:xfrm>
          <a:prstGeom prst="rect">
            <a:avLst/>
          </a:prstGeom>
          <a:noFill/>
        </p:spPr>
        <p:txBody>
          <a:bodyPr wrap="none" lIns="0" rIns="0" tIns="0" bIns="0">
            <a:spAutoFit/>
          </a:bodyPr>
          <a:lstStyle/>
          <a:p>
            <a:r>
              <a:rPr sz="1150" b="0">
                <a:solidFill>
                  <a:srgbClr val="2E2E2E"/>
                </a:solidFill>
                <a:latin typeface="Calibri"/>
              </a:rPr>
              <a:t>Mn by 2036 end.</a:t>
            </a:r>
          </a:p>
        </p:txBody>
      </p:sp>
      <p:sp>
        <p:nvSpPr>
          <p:cNvPr id="36" name="TextBox 35"/>
          <p:cNvSpPr txBox="1"/>
          <p:nvPr/>
        </p:nvSpPr>
        <p:spPr>
          <a:xfrm>
            <a:off x="276225" y="5375147"/>
            <a:ext cx="3812455" cy="194310"/>
          </a:xfrm>
          <a:prstGeom prst="rect">
            <a:avLst/>
          </a:prstGeom>
          <a:noFill/>
        </p:spPr>
        <p:txBody>
          <a:bodyPr wrap="none" lIns="0" rIns="0" tIns="0" bIns="0">
            <a:spAutoFit/>
          </a:bodyPr>
          <a:lstStyle/>
          <a:p>
            <a:r>
              <a:rPr sz="1150" b="0">
                <a:solidFill>
                  <a:srgbClr val="2E2E2E"/>
                </a:solidFill>
                <a:latin typeface="Calibri"/>
              </a:rPr>
              <a:t>It is projected to create overall incremental opportunity of US$</a:t>
            </a:r>
          </a:p>
        </p:txBody>
      </p:sp>
      <p:pic>
        <p:nvPicPr>
          <p:cNvPr id="37" name="Picture 36" descr="lock.png"/>
          <p:cNvPicPr>
            <a:picLocks noChangeAspect="1"/>
          </p:cNvPicPr>
          <p:nvPr/>
        </p:nvPicPr>
        <p:blipFill>
          <a:blip r:embed="rId6"/>
          <a:stretch>
            <a:fillRect/>
          </a:stretch>
        </p:blipFill>
        <p:spPr>
          <a:xfrm>
            <a:off x="4037834" y="5364924"/>
            <a:ext cx="134549" cy="195707"/>
          </a:xfrm>
          <a:prstGeom prst="rect">
            <a:avLst/>
          </a:prstGeom>
        </p:spPr>
      </p:pic>
      <p:sp>
        <p:nvSpPr>
          <p:cNvPr id="38" name="TextBox 37"/>
          <p:cNvSpPr txBox="1"/>
          <p:nvPr/>
        </p:nvSpPr>
        <p:spPr>
          <a:xfrm>
            <a:off x="4212943" y="5375147"/>
            <a:ext cx="5150296" cy="194310"/>
          </a:xfrm>
          <a:prstGeom prst="rect">
            <a:avLst/>
          </a:prstGeom>
          <a:noFill/>
        </p:spPr>
        <p:txBody>
          <a:bodyPr wrap="none" lIns="0" rIns="0" tIns="0" bIns="0">
            <a:spAutoFit/>
          </a:bodyPr>
          <a:lstStyle/>
          <a:p>
            <a:r>
              <a:rPr sz="1150" b="0">
                <a:solidFill>
                  <a:srgbClr val="2E2E2E"/>
                </a:solidFill>
                <a:latin typeface="Calibri"/>
              </a:rPr>
              <a:t>Mn from 2025 to 2036. Global organ transport devices market is projected to register</a:t>
            </a:r>
          </a:p>
        </p:txBody>
      </p:sp>
      <p:pic>
        <p:nvPicPr>
          <p:cNvPr id="39" name="Picture 38" descr="lock.png"/>
          <p:cNvPicPr>
            <a:picLocks noChangeAspect="1"/>
          </p:cNvPicPr>
          <p:nvPr/>
        </p:nvPicPr>
        <p:blipFill>
          <a:blip r:embed="rId6"/>
          <a:stretch>
            <a:fillRect/>
          </a:stretch>
        </p:blipFill>
        <p:spPr>
          <a:xfrm>
            <a:off x="9312394" y="5364924"/>
            <a:ext cx="134549" cy="195707"/>
          </a:xfrm>
          <a:prstGeom prst="rect">
            <a:avLst/>
          </a:prstGeom>
        </p:spPr>
      </p:pic>
      <p:sp>
        <p:nvSpPr>
          <p:cNvPr id="40" name="TextBox 39"/>
          <p:cNvSpPr txBox="1"/>
          <p:nvPr/>
        </p:nvSpPr>
        <p:spPr>
          <a:xfrm>
            <a:off x="9487503" y="5375147"/>
            <a:ext cx="2121755" cy="194310"/>
          </a:xfrm>
          <a:prstGeom prst="rect">
            <a:avLst/>
          </a:prstGeom>
          <a:noFill/>
        </p:spPr>
        <p:txBody>
          <a:bodyPr wrap="none" lIns="0" rIns="0" tIns="0" bIns="0">
            <a:spAutoFit/>
          </a:bodyPr>
          <a:lstStyle/>
          <a:p>
            <a:r>
              <a:rPr sz="1150" b="0">
                <a:solidFill>
                  <a:srgbClr val="2E2E2E"/>
                </a:solidFill>
                <a:latin typeface="Calibri"/>
              </a:rPr>
              <a:t>X increase in volume by the end of</a:t>
            </a:r>
          </a:p>
        </p:txBody>
      </p:sp>
      <p:sp>
        <p:nvSpPr>
          <p:cNvPr id="41" name="TextBox 40"/>
          <p:cNvSpPr txBox="1"/>
          <p:nvPr/>
        </p:nvSpPr>
        <p:spPr>
          <a:xfrm>
            <a:off x="276225" y="5550407"/>
            <a:ext cx="1383518" cy="194310"/>
          </a:xfrm>
          <a:prstGeom prst="rect">
            <a:avLst/>
          </a:prstGeom>
          <a:noFill/>
        </p:spPr>
        <p:txBody>
          <a:bodyPr wrap="none" lIns="0" rIns="0" tIns="0" bIns="0">
            <a:spAutoFit/>
          </a:bodyPr>
          <a:lstStyle/>
          <a:p>
            <a:r>
              <a:rPr sz="1150" b="0">
                <a:solidFill>
                  <a:srgbClr val="2E2E2E"/>
                </a:solidFill>
                <a:latin typeface="Calibri"/>
              </a:rPr>
              <a:t>forecast period, 2036.</a:t>
            </a:r>
          </a:p>
        </p:txBody>
      </p:sp>
      <p:sp>
        <p:nvSpPr>
          <p:cNvPr id="42" name="TextBox 41"/>
          <p:cNvSpPr txBox="1"/>
          <p:nvPr/>
        </p:nvSpPr>
        <p:spPr>
          <a:xfrm>
            <a:off x="276225" y="5778245"/>
            <a:ext cx="3357190" cy="194310"/>
          </a:xfrm>
          <a:prstGeom prst="rect">
            <a:avLst/>
          </a:prstGeom>
          <a:noFill/>
        </p:spPr>
        <p:txBody>
          <a:bodyPr wrap="none" lIns="0" rIns="0" tIns="0" bIns="0">
            <a:spAutoFit/>
          </a:bodyPr>
          <a:lstStyle/>
          <a:p>
            <a:r>
              <a:rPr sz="1150" b="0">
                <a:solidFill>
                  <a:srgbClr val="2E2E2E"/>
                </a:solidFill>
                <a:latin typeface="Calibri"/>
              </a:rPr>
              <a:t>Global organ transport devices market volume stood at</a:t>
            </a:r>
          </a:p>
        </p:txBody>
      </p:sp>
      <p:pic>
        <p:nvPicPr>
          <p:cNvPr id="43" name="Picture 42" descr="lock.png"/>
          <p:cNvPicPr>
            <a:picLocks noChangeAspect="1"/>
          </p:cNvPicPr>
          <p:nvPr/>
        </p:nvPicPr>
        <p:blipFill>
          <a:blip r:embed="rId6"/>
          <a:stretch>
            <a:fillRect/>
          </a:stretch>
        </p:blipFill>
        <p:spPr>
          <a:xfrm>
            <a:off x="3582569" y="5768022"/>
            <a:ext cx="134549" cy="195707"/>
          </a:xfrm>
          <a:prstGeom prst="rect">
            <a:avLst/>
          </a:prstGeom>
        </p:spPr>
      </p:pic>
      <p:sp>
        <p:nvSpPr>
          <p:cNvPr id="44" name="TextBox 43"/>
          <p:cNvSpPr txBox="1"/>
          <p:nvPr/>
        </p:nvSpPr>
        <p:spPr>
          <a:xfrm>
            <a:off x="3757678" y="577824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45" name="Picture 44" descr="lock.png"/>
          <p:cNvPicPr>
            <a:picLocks noChangeAspect="1"/>
          </p:cNvPicPr>
          <p:nvPr/>
        </p:nvPicPr>
        <p:blipFill>
          <a:blip r:embed="rId6"/>
          <a:stretch>
            <a:fillRect/>
          </a:stretch>
        </p:blipFill>
        <p:spPr>
          <a:xfrm>
            <a:off x="6050515" y="5768022"/>
            <a:ext cx="134549" cy="195707"/>
          </a:xfrm>
          <a:prstGeom prst="rect">
            <a:avLst/>
          </a:prstGeom>
        </p:spPr>
      </p:pic>
      <p:sp>
        <p:nvSpPr>
          <p:cNvPr id="46" name="TextBox 45"/>
          <p:cNvSpPr txBox="1"/>
          <p:nvPr/>
        </p:nvSpPr>
        <p:spPr>
          <a:xfrm>
            <a:off x="6225625" y="577824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47" name="Picture 46" descr="lock.png"/>
          <p:cNvPicPr>
            <a:picLocks noChangeAspect="1"/>
          </p:cNvPicPr>
          <p:nvPr/>
        </p:nvPicPr>
        <p:blipFill>
          <a:blip r:embed="rId6"/>
          <a:stretch>
            <a:fillRect/>
          </a:stretch>
        </p:blipFill>
        <p:spPr>
          <a:xfrm>
            <a:off x="8139342" y="5768022"/>
            <a:ext cx="134549" cy="195707"/>
          </a:xfrm>
          <a:prstGeom prst="rect">
            <a:avLst/>
          </a:prstGeom>
        </p:spPr>
      </p:pic>
      <p:sp>
        <p:nvSpPr>
          <p:cNvPr id="48" name="TextBox 47"/>
          <p:cNvSpPr txBox="1"/>
          <p:nvPr/>
        </p:nvSpPr>
        <p:spPr>
          <a:xfrm>
            <a:off x="8314451" y="5778245"/>
            <a:ext cx="3164073" cy="194310"/>
          </a:xfrm>
          <a:prstGeom prst="rect">
            <a:avLst/>
          </a:prstGeom>
          <a:noFill/>
        </p:spPr>
        <p:txBody>
          <a:bodyPr wrap="none" lIns="0" rIns="0" tIns="0" bIns="0">
            <a:spAutoFit/>
          </a:bodyPr>
          <a:lstStyle/>
          <a:p>
            <a:r>
              <a:rPr sz="1150" b="0">
                <a:solidFill>
                  <a:srgbClr val="2E2E2E"/>
                </a:solidFill>
                <a:latin typeface="Calibri"/>
              </a:rPr>
              <a:t>. Value is projected to grow faster than volume over</a:t>
            </a:r>
          </a:p>
        </p:txBody>
      </p:sp>
      <p:sp>
        <p:nvSpPr>
          <p:cNvPr id="49" name="TextBox 48"/>
          <p:cNvSpPr txBox="1"/>
          <p:nvPr/>
        </p:nvSpPr>
        <p:spPr>
          <a:xfrm>
            <a:off x="276225" y="5953505"/>
            <a:ext cx="3932832" cy="194310"/>
          </a:xfrm>
          <a:prstGeom prst="rect">
            <a:avLst/>
          </a:prstGeom>
          <a:noFill/>
        </p:spPr>
        <p:txBody>
          <a:bodyPr wrap="none" lIns="0" rIns="0" tIns="0" bIns="0">
            <a:spAutoFit/>
          </a:bodyPr>
          <a:lstStyle/>
          <a:p>
            <a:r>
              <a:rPr sz="1150" b="0">
                <a:solidFill>
                  <a:srgbClr val="2E2E2E"/>
                </a:solidFill>
                <a:latin typeface="Calibri"/>
              </a:rPr>
              <a:t>the forecast period, owing to an increase in average selling price.</a:t>
            </a:r>
          </a:p>
        </p:txBody>
      </p:sp>
      <p:sp>
        <p:nvSpPr>
          <p:cNvPr id="50" name="lockshield_12"/>
          <p:cNvSpPr/>
          <p:nvPr/>
        </p:nvSpPr>
        <p:spPr>
          <a:xfrm>
            <a:off x="238125" y="1266825"/>
            <a:ext cx="4505325"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ockshield_15"/>
          <p:cNvSpPr/>
          <p:nvPr/>
        </p:nvSpPr>
        <p:spPr>
          <a:xfrm>
            <a:off x="5086350" y="1266825"/>
            <a:ext cx="6858000" cy="22288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Summary Country Indices (Value)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14776" cy="2132071"/>
        </p:xfrm>
        <a:graphic>
          <a:graphicData uri="http://schemas.openxmlformats.org/drawingml/2006/table">
            <a:tbl>
              <a:tblPr>
                <a:tableStyleId>{5C22544A-7EE6-4342-B048-85BDC9FD1C3A}</a:tableStyleId>
              </a:tblPr>
              <a:tblGrid>
                <a:gridCol w="1013910"/>
                <a:gridCol w="969873"/>
                <a:gridCol w="661933"/>
                <a:gridCol w="1269060"/>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77189">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Netherlands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77189">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77189">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2374032" cy="2003629"/>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6584082" y="1293011"/>
            <a:ext cx="1369293" cy="200362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20" name="Rectangle 19"/>
          <p:cNvSpPr/>
          <p:nvPr/>
        </p:nvSpPr>
        <p:spPr>
          <a:xfrm>
            <a:off x="4210050" y="3296640"/>
            <a:ext cx="1574532" cy="145951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1" name="Rectangle 20"/>
          <p:cNvSpPr/>
          <p:nvPr/>
        </p:nvSpPr>
        <p:spPr>
          <a:xfrm>
            <a:off x="4210050" y="4756156"/>
            <a:ext cx="1574532" cy="1122453"/>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22" name="Rectangle 21"/>
          <p:cNvSpPr/>
          <p:nvPr/>
        </p:nvSpPr>
        <p:spPr>
          <a:xfrm>
            <a:off x="5784582" y="3296640"/>
            <a:ext cx="1190178" cy="1131390"/>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23" name="Rectangle 22"/>
          <p:cNvSpPr/>
          <p:nvPr/>
        </p:nvSpPr>
        <p:spPr>
          <a:xfrm>
            <a:off x="6974760" y="3296640"/>
            <a:ext cx="978615" cy="1131390"/>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24" name="Rectangle 23"/>
          <p:cNvSpPr/>
          <p:nvPr/>
        </p:nvSpPr>
        <p:spPr>
          <a:xfrm>
            <a:off x="5784582" y="4428030"/>
            <a:ext cx="1185260" cy="809388"/>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25" name="Rectangle 24"/>
          <p:cNvSpPr/>
          <p:nvPr/>
        </p:nvSpPr>
        <p:spPr>
          <a:xfrm>
            <a:off x="5784582" y="5237418"/>
            <a:ext cx="1185260" cy="64119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6" name="Rectangle 25"/>
          <p:cNvSpPr/>
          <p:nvPr/>
        </p:nvSpPr>
        <p:spPr>
          <a:xfrm>
            <a:off x="6969841" y="4428030"/>
            <a:ext cx="983534" cy="759239"/>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7" name="Rectangle 26"/>
          <p:cNvSpPr/>
          <p:nvPr/>
        </p:nvSpPr>
        <p:spPr>
          <a:xfrm>
            <a:off x="6969841" y="5187269"/>
            <a:ext cx="983534" cy="691340"/>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8" name="Rounded Rectangle 27"/>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0" name="Chart 29"/>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31" name="Rounded Rectangle 30"/>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2" name="Table 31"/>
          <p:cNvGraphicFramePr>
            <a:graphicFrameLocks noGrp="1"/>
          </p:cNvGraphicFramePr>
          <p:nvPr/>
        </p:nvGraphicFramePr>
        <p:xfrm>
          <a:off x="8096250" y="3547710"/>
          <a:ext cx="3927746" cy="2159451"/>
        </p:xfrm>
        <a:graphic>
          <a:graphicData uri="http://schemas.openxmlformats.org/drawingml/2006/table">
            <a:tbl>
              <a:tblPr>
                <a:tableStyleId>{5C22544A-7EE6-4342-B048-85BDC9FD1C3A}</a:tableStyleId>
              </a:tblPr>
              <a:tblGrid>
                <a:gridCol w="710293"/>
                <a:gridCol w="1068161"/>
                <a:gridCol w="1068161"/>
                <a:gridCol w="10811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382665">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Germany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82665">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82665">
                <a:tc>
                  <a:txBody>
                    <a:bodyPr wrap="none"/>
                    <a:lstStyle/>
                    <a:p>
                      <a:pPr algn="l"/>
                      <a:r>
                        <a:rPr sz="1100" b="1">
                          <a:solidFill>
                            <a:srgbClr val="2E2E2E"/>
                          </a:solidFill>
                          <a:latin typeface="Calibri"/>
                        </a:rPr>
                        <a:t>India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33" name="TextBox 32"/>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34" name="Rounded Rectangle 33"/>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6"/>
          <a:stretch>
            <a:fillRect/>
          </a:stretch>
        </p:blipFill>
        <p:spPr>
          <a:xfrm>
            <a:off x="3188017" y="2125483"/>
            <a:ext cx="183356" cy="266700"/>
          </a:xfrm>
          <a:prstGeom prst="rect">
            <a:avLst/>
          </a:prstGeom>
        </p:spPr>
      </p:pic>
      <p:pic>
        <p:nvPicPr>
          <p:cNvPr id="37" name="Picture 36" descr="lock.png"/>
          <p:cNvPicPr>
            <a:picLocks noChangeAspect="1"/>
          </p:cNvPicPr>
          <p:nvPr/>
        </p:nvPicPr>
        <p:blipFill>
          <a:blip r:embed="rId6"/>
          <a:stretch>
            <a:fillRect/>
          </a:stretch>
        </p:blipFill>
        <p:spPr>
          <a:xfrm>
            <a:off x="2447283" y="4512977"/>
            <a:ext cx="332867" cy="484170"/>
          </a:xfrm>
          <a:prstGeom prst="rect">
            <a:avLst/>
          </a:prstGeom>
        </p:spPr>
      </p:pic>
      <p:pic>
        <p:nvPicPr>
          <p:cNvPr id="38" name="Picture 37" descr="lock.png"/>
          <p:cNvPicPr>
            <a:picLocks noChangeAspect="1"/>
          </p:cNvPicPr>
          <p:nvPr/>
        </p:nvPicPr>
        <p:blipFill>
          <a:blip r:embed="rId6"/>
          <a:stretch>
            <a:fillRect/>
          </a:stretch>
        </p:blipFill>
        <p:spPr>
          <a:xfrm>
            <a:off x="5339440" y="2294825"/>
            <a:ext cx="115252" cy="167639"/>
          </a:xfrm>
          <a:prstGeom prst="rect">
            <a:avLst/>
          </a:prstGeom>
        </p:spPr>
      </p:pic>
      <p:pic>
        <p:nvPicPr>
          <p:cNvPr id="39" name="Picture 38" descr="lock.png"/>
          <p:cNvPicPr>
            <a:picLocks noChangeAspect="1"/>
          </p:cNvPicPr>
          <p:nvPr/>
        </p:nvPicPr>
        <p:blipFill>
          <a:blip r:embed="rId6"/>
          <a:stretch>
            <a:fillRect/>
          </a:stretch>
        </p:blipFill>
        <p:spPr>
          <a:xfrm>
            <a:off x="7211102" y="2294825"/>
            <a:ext cx="115252" cy="167639"/>
          </a:xfrm>
          <a:prstGeom prst="rect">
            <a:avLst/>
          </a:prstGeom>
        </p:spPr>
      </p:pic>
      <p:pic>
        <p:nvPicPr>
          <p:cNvPr id="40" name="Picture 39" descr="lock.png"/>
          <p:cNvPicPr>
            <a:picLocks noChangeAspect="1"/>
          </p:cNvPicPr>
          <p:nvPr/>
        </p:nvPicPr>
        <p:blipFill>
          <a:blip r:embed="rId6"/>
          <a:stretch>
            <a:fillRect/>
          </a:stretch>
        </p:blipFill>
        <p:spPr>
          <a:xfrm>
            <a:off x="4939690" y="4026398"/>
            <a:ext cx="115252" cy="167639"/>
          </a:xfrm>
          <a:prstGeom prst="rect">
            <a:avLst/>
          </a:prstGeom>
        </p:spPr>
      </p:pic>
      <p:pic>
        <p:nvPicPr>
          <p:cNvPr id="41" name="Picture 40" descr="lock.png"/>
          <p:cNvPicPr>
            <a:picLocks noChangeAspect="1"/>
          </p:cNvPicPr>
          <p:nvPr/>
        </p:nvPicPr>
        <p:blipFill>
          <a:blip r:embed="rId6"/>
          <a:stretch>
            <a:fillRect/>
          </a:stretch>
        </p:blipFill>
        <p:spPr>
          <a:xfrm>
            <a:off x="4939690" y="5317382"/>
            <a:ext cx="115252" cy="167639"/>
          </a:xfrm>
          <a:prstGeom prst="rect">
            <a:avLst/>
          </a:prstGeom>
        </p:spPr>
      </p:pic>
      <p:pic>
        <p:nvPicPr>
          <p:cNvPr id="42" name="Picture 41" descr="lock.png"/>
          <p:cNvPicPr>
            <a:picLocks noChangeAspect="1"/>
          </p:cNvPicPr>
          <p:nvPr/>
        </p:nvPicPr>
        <p:blipFill>
          <a:blip r:embed="rId6"/>
          <a:stretch>
            <a:fillRect/>
          </a:stretch>
        </p:blipFill>
        <p:spPr>
          <a:xfrm>
            <a:off x="6322045" y="3862335"/>
            <a:ext cx="115252" cy="167639"/>
          </a:xfrm>
          <a:prstGeom prst="rect">
            <a:avLst/>
          </a:prstGeom>
        </p:spPr>
      </p:pic>
      <p:pic>
        <p:nvPicPr>
          <p:cNvPr id="43" name="Picture 42" descr="lock.png"/>
          <p:cNvPicPr>
            <a:picLocks noChangeAspect="1"/>
          </p:cNvPicPr>
          <p:nvPr/>
        </p:nvPicPr>
        <p:blipFill>
          <a:blip r:embed="rId6"/>
          <a:stretch>
            <a:fillRect/>
          </a:stretch>
        </p:blipFill>
        <p:spPr>
          <a:xfrm>
            <a:off x="7406441" y="3862335"/>
            <a:ext cx="115252" cy="167639"/>
          </a:xfrm>
          <a:prstGeom prst="rect">
            <a:avLst/>
          </a:prstGeom>
        </p:spPr>
      </p:pic>
      <p:pic>
        <p:nvPicPr>
          <p:cNvPr id="44" name="Picture 43" descr="lock.png"/>
          <p:cNvPicPr>
            <a:picLocks noChangeAspect="1"/>
          </p:cNvPicPr>
          <p:nvPr/>
        </p:nvPicPr>
        <p:blipFill>
          <a:blip r:embed="rId6"/>
          <a:stretch>
            <a:fillRect/>
          </a:stretch>
        </p:blipFill>
        <p:spPr>
          <a:xfrm>
            <a:off x="6319586" y="4832724"/>
            <a:ext cx="115252" cy="167639"/>
          </a:xfrm>
          <a:prstGeom prst="rect">
            <a:avLst/>
          </a:prstGeom>
        </p:spPr>
      </p:pic>
      <p:pic>
        <p:nvPicPr>
          <p:cNvPr id="45" name="Picture 44" descr="lock.png"/>
          <p:cNvPicPr>
            <a:picLocks noChangeAspect="1"/>
          </p:cNvPicPr>
          <p:nvPr/>
        </p:nvPicPr>
        <p:blipFill>
          <a:blip r:embed="rId6"/>
          <a:stretch>
            <a:fillRect/>
          </a:stretch>
        </p:blipFill>
        <p:spPr>
          <a:xfrm>
            <a:off x="6319586" y="5558013"/>
            <a:ext cx="115252" cy="167639"/>
          </a:xfrm>
          <a:prstGeom prst="rect">
            <a:avLst/>
          </a:prstGeom>
        </p:spPr>
      </p:pic>
      <p:pic>
        <p:nvPicPr>
          <p:cNvPr id="46" name="Picture 45" descr="lock.png"/>
          <p:cNvPicPr>
            <a:picLocks noChangeAspect="1"/>
          </p:cNvPicPr>
          <p:nvPr/>
        </p:nvPicPr>
        <p:blipFill>
          <a:blip r:embed="rId6"/>
          <a:stretch>
            <a:fillRect/>
          </a:stretch>
        </p:blipFill>
        <p:spPr>
          <a:xfrm>
            <a:off x="7403982" y="4807649"/>
            <a:ext cx="115252" cy="167639"/>
          </a:xfrm>
          <a:prstGeom prst="rect">
            <a:avLst/>
          </a:prstGeom>
        </p:spPr>
      </p:pic>
      <p:pic>
        <p:nvPicPr>
          <p:cNvPr id="47" name="Picture 46" descr="lock.png"/>
          <p:cNvPicPr>
            <a:picLocks noChangeAspect="1"/>
          </p:cNvPicPr>
          <p:nvPr/>
        </p:nvPicPr>
        <p:blipFill>
          <a:blip r:embed="rId6"/>
          <a:stretch>
            <a:fillRect/>
          </a:stretch>
        </p:blipFill>
        <p:spPr>
          <a:xfrm>
            <a:off x="7403982" y="5532939"/>
            <a:ext cx="115252" cy="167639"/>
          </a:xfrm>
          <a:prstGeom prst="rect">
            <a:avLst/>
          </a:prstGeom>
        </p:spPr>
      </p:pic>
      <p:pic>
        <p:nvPicPr>
          <p:cNvPr id="48" name="Picture 47" descr="lock.png"/>
          <p:cNvPicPr>
            <a:picLocks noChangeAspect="1"/>
          </p:cNvPicPr>
          <p:nvPr/>
        </p:nvPicPr>
        <p:blipFill>
          <a:blip r:embed="rId6"/>
          <a:stretch>
            <a:fillRect/>
          </a:stretch>
        </p:blipFill>
        <p:spPr>
          <a:xfrm>
            <a:off x="11131867" y="2120920"/>
            <a:ext cx="183356" cy="266700"/>
          </a:xfrm>
          <a:prstGeom prst="rect">
            <a:avLst/>
          </a:prstGeom>
        </p:spPr>
      </p:pic>
      <p:pic>
        <p:nvPicPr>
          <p:cNvPr id="49" name="Picture 48" descr="lock.png"/>
          <p:cNvPicPr>
            <a:picLocks noChangeAspect="1"/>
          </p:cNvPicPr>
          <p:nvPr/>
        </p:nvPicPr>
        <p:blipFill>
          <a:blip r:embed="rId6"/>
          <a:stretch>
            <a:fillRect/>
          </a:stretch>
        </p:blipFill>
        <p:spPr>
          <a:xfrm>
            <a:off x="10208848" y="4492667"/>
            <a:ext cx="354517" cy="515661"/>
          </a:xfrm>
          <a:prstGeom prst="rect">
            <a:avLst/>
          </a:prstGeom>
        </p:spPr>
      </p:pic>
      <p:sp>
        <p:nvSpPr>
          <p:cNvPr id="50" name="TextBox 49"/>
          <p:cNvSpPr txBox="1"/>
          <p:nvPr/>
        </p:nvSpPr>
        <p:spPr>
          <a:xfrm>
            <a:off x="257175" y="6160574"/>
            <a:ext cx="3679204" cy="186689"/>
          </a:xfrm>
          <a:prstGeom prst="rect">
            <a:avLst/>
          </a:prstGeom>
          <a:noFill/>
        </p:spPr>
        <p:txBody>
          <a:bodyPr wrap="none" lIns="0" rIns="0" tIns="0" bIns="0">
            <a:spAutoFit/>
          </a:bodyPr>
          <a:lstStyle/>
          <a:p>
            <a:r>
              <a:rPr sz="1100" b="0">
                <a:solidFill>
                  <a:srgbClr val="2E2E2E"/>
                </a:solidFill>
                <a:latin typeface="Calibri"/>
              </a:rPr>
              <a:t>The U.S. organ transport devices market is projected to register</a:t>
            </a:r>
          </a:p>
        </p:txBody>
      </p:sp>
      <p:pic>
        <p:nvPicPr>
          <p:cNvPr id="51" name="Picture 50" descr="lock.png"/>
          <p:cNvPicPr>
            <a:picLocks noChangeAspect="1"/>
          </p:cNvPicPr>
          <p:nvPr/>
        </p:nvPicPr>
        <p:blipFill>
          <a:blip r:embed="rId6"/>
          <a:stretch>
            <a:fillRect/>
          </a:stretch>
        </p:blipFill>
        <p:spPr>
          <a:xfrm>
            <a:off x="3884431" y="6150795"/>
            <a:ext cx="128699" cy="187198"/>
          </a:xfrm>
          <a:prstGeom prst="rect">
            <a:avLst/>
          </a:prstGeom>
        </p:spPr>
      </p:pic>
      <p:sp>
        <p:nvSpPr>
          <p:cNvPr id="52" name="TextBox 51"/>
          <p:cNvSpPr txBox="1"/>
          <p:nvPr/>
        </p:nvSpPr>
        <p:spPr>
          <a:xfrm>
            <a:off x="4051927" y="6160574"/>
            <a:ext cx="4298833" cy="186689"/>
          </a:xfrm>
          <a:prstGeom prst="rect">
            <a:avLst/>
          </a:prstGeom>
          <a:noFill/>
        </p:spPr>
        <p:txBody>
          <a:bodyPr wrap="none" lIns="0" rIns="0" tIns="0" bIns="0">
            <a:spAutoFit/>
          </a:bodyPr>
          <a:lstStyle/>
          <a:p>
            <a:r>
              <a:rPr sz="1100" b="0">
                <a:solidFill>
                  <a:srgbClr val="2E2E2E"/>
                </a:solidFill>
                <a:latin typeface="Calibri"/>
              </a:rPr>
              <a:t>X higher value than Germany in 2036. India posts the highest CAGR Index (</a:t>
            </a:r>
          </a:p>
        </p:txBody>
      </p:sp>
      <p:pic>
        <p:nvPicPr>
          <p:cNvPr id="53" name="Picture 52" descr="lock.png"/>
          <p:cNvPicPr>
            <a:picLocks noChangeAspect="1"/>
          </p:cNvPicPr>
          <p:nvPr/>
        </p:nvPicPr>
        <p:blipFill>
          <a:blip r:embed="rId6"/>
          <a:stretch>
            <a:fillRect/>
          </a:stretch>
        </p:blipFill>
        <p:spPr>
          <a:xfrm>
            <a:off x="8298812" y="6150795"/>
            <a:ext cx="128699" cy="187198"/>
          </a:xfrm>
          <a:prstGeom prst="rect">
            <a:avLst/>
          </a:prstGeom>
        </p:spPr>
      </p:pic>
      <p:sp>
        <p:nvSpPr>
          <p:cNvPr id="54" name="TextBox 53"/>
          <p:cNvSpPr txBox="1"/>
          <p:nvPr/>
        </p:nvSpPr>
        <p:spPr>
          <a:xfrm>
            <a:off x="8466308"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55" name="Picture 54" descr="lock.png"/>
          <p:cNvPicPr>
            <a:picLocks noChangeAspect="1"/>
          </p:cNvPicPr>
          <p:nvPr/>
        </p:nvPicPr>
        <p:blipFill>
          <a:blip r:embed="rId6"/>
          <a:stretch>
            <a:fillRect/>
          </a:stretch>
        </p:blipFill>
        <p:spPr>
          <a:xfrm>
            <a:off x="9204339" y="6150795"/>
            <a:ext cx="128699" cy="187198"/>
          </a:xfrm>
          <a:prstGeom prst="rect">
            <a:avLst/>
          </a:prstGeom>
        </p:spPr>
      </p:pic>
      <p:sp>
        <p:nvSpPr>
          <p:cNvPr id="56" name="TextBox 55"/>
          <p:cNvSpPr txBox="1"/>
          <p:nvPr/>
        </p:nvSpPr>
        <p:spPr>
          <a:xfrm>
            <a:off x="9371835" y="6160574"/>
            <a:ext cx="1080020" cy="186689"/>
          </a:xfrm>
          <a:prstGeom prst="rect">
            <a:avLst/>
          </a:prstGeom>
          <a:noFill/>
        </p:spPr>
        <p:txBody>
          <a:bodyPr wrap="none" lIns="0" rIns="0" tIns="0" bIns="0">
            <a:spAutoFit/>
          </a:bodyPr>
          <a:lstStyle/>
          <a:p>
            <a:r>
              <a:rPr sz="1100" b="0">
                <a:solidFill>
                  <a:srgbClr val="2E2E2E"/>
                </a:solidFill>
                <a:latin typeface="Calibri"/>
              </a:rPr>
              <a:t>against the global</a:t>
            </a:r>
          </a:p>
        </p:txBody>
      </p:sp>
      <p:sp>
        <p:nvSpPr>
          <p:cNvPr id="57" name="TextBox 56"/>
          <p:cNvSpPr txBox="1"/>
          <p:nvPr/>
        </p:nvSpPr>
        <p:spPr>
          <a:xfrm>
            <a:off x="257175" y="6328214"/>
            <a:ext cx="3580159" cy="186689"/>
          </a:xfrm>
          <a:prstGeom prst="rect">
            <a:avLst/>
          </a:prstGeom>
          <a:noFill/>
        </p:spPr>
        <p:txBody>
          <a:bodyPr wrap="none" lIns="0" rIns="0" tIns="0" bIns="0">
            <a:spAutoFit/>
          </a:bodyPr>
          <a:lstStyle/>
          <a:p>
            <a:r>
              <a:rPr sz="1100" b="0">
                <a:solidFill>
                  <a:srgbClr val="2E2E2E"/>
                </a:solidFill>
                <a:latin typeface="Calibri"/>
              </a:rPr>
              <a:t>benchmark, while U.S. offers the largest absolute opportunity</a:t>
            </a:r>
          </a:p>
        </p:txBody>
      </p:sp>
      <p:pic>
        <p:nvPicPr>
          <p:cNvPr id="58" name="Picture 57" descr="lock.png"/>
          <p:cNvPicPr>
            <a:picLocks noChangeAspect="1"/>
          </p:cNvPicPr>
          <p:nvPr/>
        </p:nvPicPr>
        <p:blipFill>
          <a:blip r:embed="rId6"/>
          <a:stretch>
            <a:fillRect/>
          </a:stretch>
        </p:blipFill>
        <p:spPr>
          <a:xfrm>
            <a:off x="3785386" y="6318435"/>
            <a:ext cx="128699" cy="187198"/>
          </a:xfrm>
          <a:prstGeom prst="rect">
            <a:avLst/>
          </a:prstGeom>
        </p:spPr>
      </p:pic>
      <p:sp>
        <p:nvSpPr>
          <p:cNvPr id="59" name="TextBox 58"/>
          <p:cNvSpPr txBox="1"/>
          <p:nvPr/>
        </p:nvSpPr>
        <p:spPr>
          <a:xfrm>
            <a:off x="3952882"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60" name="Picture 59" descr="lock.png"/>
          <p:cNvPicPr>
            <a:picLocks noChangeAspect="1"/>
          </p:cNvPicPr>
          <p:nvPr/>
        </p:nvPicPr>
        <p:blipFill>
          <a:blip r:embed="rId6"/>
          <a:stretch>
            <a:fillRect/>
          </a:stretch>
        </p:blipFill>
        <p:spPr>
          <a:xfrm>
            <a:off x="7212880" y="6318435"/>
            <a:ext cx="128699" cy="187198"/>
          </a:xfrm>
          <a:prstGeom prst="rect">
            <a:avLst/>
          </a:prstGeom>
        </p:spPr>
      </p:pic>
      <p:sp>
        <p:nvSpPr>
          <p:cNvPr id="61" name="TextBox 60"/>
          <p:cNvSpPr txBox="1"/>
          <p:nvPr/>
        </p:nvSpPr>
        <p:spPr>
          <a:xfrm>
            <a:off x="7380376" y="6328214"/>
            <a:ext cx="1483568" cy="186689"/>
          </a:xfrm>
          <a:prstGeom prst="rect">
            <a:avLst/>
          </a:prstGeom>
          <a:noFill/>
        </p:spPr>
        <p:txBody>
          <a:bodyPr wrap="none" lIns="0" rIns="0" tIns="0" bIns="0">
            <a:spAutoFit/>
          </a:bodyPr>
          <a:lstStyle/>
          <a:p>
            <a:r>
              <a:rPr sz="1100" b="0">
                <a:solidFill>
                  <a:srgbClr val="2E2E2E"/>
                </a:solidFill>
                <a:latin typeface="Calibri"/>
              </a:rPr>
              <a:t>of the global increment).</a:t>
            </a:r>
          </a:p>
        </p:txBody>
      </p:sp>
      <p:sp>
        <p:nvSpPr>
          <p:cNvPr id="62"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ockshield_30"/>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Summary Country Indices (Value)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9810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152400" y="1057275"/>
          <a:ext cx="11887199" cy="1485896"/>
        </p:xfrm>
        <a:graphic>
          <a:graphicData uri="http://schemas.openxmlformats.org/drawingml/2006/table">
            <a:tbl>
              <a:tblPr>
                <a:tableStyleId>{5C22544A-7EE6-4342-B048-85BDC9FD1C3A}</a:tableStyleId>
              </a:tblPr>
              <a:tblGrid>
                <a:gridCol w="1994456"/>
                <a:gridCol w="3297581"/>
                <a:gridCol w="3297581"/>
                <a:gridCol w="329758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Thailand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Spain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Malaysia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China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Mexico</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2" name="TextBox 11"/>
          <p:cNvSpPr txBox="1"/>
          <p:nvPr/>
        </p:nvSpPr>
        <p:spPr>
          <a:xfrm>
            <a:off x="219075" y="25527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3" name="Rounded Rectangle 12"/>
          <p:cNvSpPr/>
          <p:nvPr/>
        </p:nvSpPr>
        <p:spPr>
          <a:xfrm>
            <a:off x="142875" y="290512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2981325"/>
          <a:ext cx="11887200" cy="1485896"/>
        </p:xfrm>
        <a:graphic>
          <a:graphicData uri="http://schemas.openxmlformats.org/drawingml/2006/table">
            <a:tbl>
              <a:tblPr>
                <a:tableStyleId>{5C22544A-7EE6-4342-B048-85BDC9FD1C3A}</a:tableStyleId>
              </a:tblPr>
              <a:tblGrid>
                <a:gridCol w="1846407"/>
                <a:gridCol w="3346931"/>
                <a:gridCol w="3346931"/>
                <a:gridCol w="334693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247954">
                <a:tc>
                  <a:txBody>
                    <a:bodyPr wrap="none"/>
                    <a:lstStyle/>
                    <a:p>
                      <a:pPr algn="l"/>
                      <a:r>
                        <a:rPr sz="1100" b="1">
                          <a:solidFill>
                            <a:srgbClr val="2E2E2E"/>
                          </a:solidFill>
                          <a:latin typeface="Calibri"/>
                        </a:rPr>
                        <a:t>Brazil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France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U.K.</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954">
                <a:tc>
                  <a:txBody>
                    <a:bodyPr wrap="none"/>
                    <a:lstStyle/>
                    <a:p>
                      <a:pPr algn="l"/>
                      <a:r>
                        <a:rPr sz="1100" b="1">
                          <a:solidFill>
                            <a:srgbClr val="2E2E2E"/>
                          </a:solidFill>
                          <a:latin typeface="Calibri"/>
                        </a:rPr>
                        <a:t>Japan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954">
                <a:tc>
                  <a:txBody>
                    <a:bodyPr wrap="none"/>
                    <a:lstStyle/>
                    <a:p>
                      <a:pPr algn="l"/>
                      <a:r>
                        <a:rPr sz="1100" b="1">
                          <a:solidFill>
                            <a:srgbClr val="2E2E2E"/>
                          </a:solidFill>
                          <a:latin typeface="Calibri"/>
                        </a:rPr>
                        <a:t>Turkey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5" name="TextBox 14"/>
          <p:cNvSpPr txBox="1"/>
          <p:nvPr/>
        </p:nvSpPr>
        <p:spPr>
          <a:xfrm>
            <a:off x="219075" y="4476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4"/>
          <a:stretch>
            <a:fillRect/>
          </a:stretch>
        </p:blipFill>
        <p:spPr>
          <a:xfrm>
            <a:off x="6906537" y="1656588"/>
            <a:ext cx="366712" cy="533400"/>
          </a:xfrm>
          <a:prstGeom prst="rect">
            <a:avLst/>
          </a:prstGeom>
        </p:spPr>
      </p:pic>
      <p:pic>
        <p:nvPicPr>
          <p:cNvPr id="18" name="Picture 17" descr="lock.png"/>
          <p:cNvPicPr>
            <a:picLocks noChangeAspect="1"/>
          </p:cNvPicPr>
          <p:nvPr/>
        </p:nvPicPr>
        <p:blipFill>
          <a:blip r:embed="rId4"/>
          <a:stretch>
            <a:fillRect/>
          </a:stretch>
        </p:blipFill>
        <p:spPr>
          <a:xfrm>
            <a:off x="6832513" y="3580638"/>
            <a:ext cx="366712" cy="5334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809750"/>
          </a:xfrm>
          <a:prstGeom prst="roundRect">
            <a:avLst>
              <a:gd name="adj" fmla="val 421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3239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924175"/>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009900"/>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248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333750"/>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62475"/>
            <a:ext cx="39433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64820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8632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72050"/>
            <a:ext cx="36766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62475"/>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64820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8632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62475"/>
            <a:ext cx="3819525"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64820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8632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72050"/>
            <a:ext cx="3552825" cy="1571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'Static Cold Storage Devices'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South Asia &amp; Pacific outpacing the global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2 device technology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705200" cy="194310"/>
          </a:xfrm>
          <a:prstGeom prst="rect">
            <a:avLst/>
          </a:prstGeom>
          <a:noFill/>
        </p:spPr>
        <p:txBody>
          <a:bodyPr wrap="none" lIns="0" rIns="0" tIns="0" bIns="0">
            <a:spAutoFit/>
          </a:bodyPr>
          <a:lstStyle/>
          <a:p>
            <a:r>
              <a:rPr sz="1150" b="0">
                <a:solidFill>
                  <a:srgbClr val="2E2E2E"/>
                </a:solidFill>
                <a:latin typeface="Calibri"/>
              </a:rPr>
              <a:t>Global organ transport devices market is expected to witness</a:t>
            </a:r>
          </a:p>
        </p:txBody>
      </p:sp>
      <p:pic>
        <p:nvPicPr>
          <p:cNvPr id="32" name="Picture 31" descr="lock.png"/>
          <p:cNvPicPr>
            <a:picLocks noChangeAspect="1"/>
          </p:cNvPicPr>
          <p:nvPr/>
        </p:nvPicPr>
        <p:blipFill>
          <a:blip r:embed="rId4"/>
          <a:stretch>
            <a:fillRect/>
          </a:stretch>
        </p:blipFill>
        <p:spPr>
          <a:xfrm>
            <a:off x="3930579" y="1389951"/>
            <a:ext cx="134549" cy="195707"/>
          </a:xfrm>
          <a:prstGeom prst="rect">
            <a:avLst/>
          </a:prstGeom>
        </p:spPr>
      </p:pic>
      <p:sp>
        <p:nvSpPr>
          <p:cNvPr id="33" name="TextBox 32"/>
          <p:cNvSpPr txBox="1"/>
          <p:nvPr/>
        </p:nvSpPr>
        <p:spPr>
          <a:xfrm>
            <a:off x="4105688" y="1400175"/>
            <a:ext cx="5593866" cy="194310"/>
          </a:xfrm>
          <a:prstGeom prst="rect">
            <a:avLst/>
          </a:prstGeom>
          <a:noFill/>
        </p:spPr>
        <p:txBody>
          <a:bodyPr wrap="none" lIns="0" rIns="0" tIns="0" bIns="0">
            <a:spAutoFit/>
          </a:bodyPr>
          <a:lstStyle/>
          <a:p>
            <a:r>
              <a:rPr sz="1150" b="0">
                <a:solidFill>
                  <a:srgbClr val="2E2E2E"/>
                </a:solidFill>
                <a:latin typeface="Calibri"/>
              </a:rPr>
              <a:t>X increase in revenue by 2036 end. Global organ transport devices market accounted for US$</a:t>
            </a:r>
          </a:p>
        </p:txBody>
      </p:sp>
      <p:pic>
        <p:nvPicPr>
          <p:cNvPr id="34" name="Picture 33" descr="lock.png"/>
          <p:cNvPicPr>
            <a:picLocks noChangeAspect="1"/>
          </p:cNvPicPr>
          <p:nvPr/>
        </p:nvPicPr>
        <p:blipFill>
          <a:blip r:embed="rId4"/>
          <a:stretch>
            <a:fillRect/>
          </a:stretch>
        </p:blipFill>
        <p:spPr>
          <a:xfrm>
            <a:off x="9648708" y="1389951"/>
            <a:ext cx="134549" cy="195707"/>
          </a:xfrm>
          <a:prstGeom prst="rect">
            <a:avLst/>
          </a:prstGeom>
        </p:spPr>
      </p:pic>
      <p:sp>
        <p:nvSpPr>
          <p:cNvPr id="35" name="TextBox 34"/>
          <p:cNvSpPr txBox="1"/>
          <p:nvPr/>
        </p:nvSpPr>
        <p:spPr>
          <a:xfrm>
            <a:off x="9823817" y="1400175"/>
            <a:ext cx="1877007" cy="194310"/>
          </a:xfrm>
          <a:prstGeom prst="rect">
            <a:avLst/>
          </a:prstGeom>
          <a:noFill/>
        </p:spPr>
        <p:txBody>
          <a:bodyPr wrap="none" lIns="0" rIns="0" tIns="0" bIns="0">
            <a:spAutoFit/>
          </a:bodyPr>
          <a:lstStyle/>
          <a:p>
            <a:r>
              <a:rPr sz="1150" b="0">
                <a:solidFill>
                  <a:srgbClr val="2E2E2E"/>
                </a:solidFill>
                <a:latin typeface="Calibri"/>
              </a:rPr>
              <a:t>Mn in 2025, which is expected</a:t>
            </a:r>
          </a:p>
        </p:txBody>
      </p:sp>
      <p:sp>
        <p:nvSpPr>
          <p:cNvPr id="36" name="TextBox 35"/>
          <p:cNvSpPr txBox="1"/>
          <p:nvPr/>
        </p:nvSpPr>
        <p:spPr>
          <a:xfrm>
            <a:off x="276225" y="1575435"/>
            <a:ext cx="1158453" cy="194310"/>
          </a:xfrm>
          <a:prstGeom prst="rect">
            <a:avLst/>
          </a:prstGeom>
          <a:noFill/>
        </p:spPr>
        <p:txBody>
          <a:bodyPr wrap="none" lIns="0" rIns="0" tIns="0" bIns="0">
            <a:spAutoFit/>
          </a:bodyPr>
          <a:lstStyle/>
          <a:p>
            <a:r>
              <a:rPr sz="1150" b="0">
                <a:solidFill>
                  <a:srgbClr val="2E2E2E"/>
                </a:solidFill>
                <a:latin typeface="Calibri"/>
              </a:rPr>
              <a:t>to increase to US$</a:t>
            </a:r>
          </a:p>
        </p:txBody>
      </p:sp>
      <p:pic>
        <p:nvPicPr>
          <p:cNvPr id="37" name="Picture 36" descr="lock.png"/>
          <p:cNvPicPr>
            <a:picLocks noChangeAspect="1"/>
          </p:cNvPicPr>
          <p:nvPr/>
        </p:nvPicPr>
        <p:blipFill>
          <a:blip r:embed="rId4"/>
          <a:stretch>
            <a:fillRect/>
          </a:stretch>
        </p:blipFill>
        <p:spPr>
          <a:xfrm>
            <a:off x="1383832" y="1565211"/>
            <a:ext cx="134549" cy="195707"/>
          </a:xfrm>
          <a:prstGeom prst="rect">
            <a:avLst/>
          </a:prstGeom>
        </p:spPr>
      </p:pic>
      <p:sp>
        <p:nvSpPr>
          <p:cNvPr id="38" name="TextBox 37"/>
          <p:cNvSpPr txBox="1"/>
          <p:nvPr/>
        </p:nvSpPr>
        <p:spPr>
          <a:xfrm>
            <a:off x="1558941"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035649" y="1565211"/>
            <a:ext cx="134549" cy="195707"/>
          </a:xfrm>
          <a:prstGeom prst="rect">
            <a:avLst/>
          </a:prstGeom>
        </p:spPr>
      </p:pic>
      <p:sp>
        <p:nvSpPr>
          <p:cNvPr id="40" name="TextBox 39"/>
          <p:cNvSpPr txBox="1"/>
          <p:nvPr/>
        </p:nvSpPr>
        <p:spPr>
          <a:xfrm>
            <a:off x="3210758"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20500" cy="194310"/>
          </a:xfrm>
          <a:prstGeom prst="rect">
            <a:avLst/>
          </a:prstGeom>
          <a:noFill/>
        </p:spPr>
        <p:txBody>
          <a:bodyPr wrap="none" lIns="0" rIns="0" tIns="0" bIns="0">
            <a:spAutoFit/>
          </a:bodyPr>
          <a:lstStyle/>
          <a:p>
            <a:r>
              <a:rPr sz="1150" b="0">
                <a:solidFill>
                  <a:srgbClr val="2E2E2E"/>
                </a:solidFill>
                <a:latin typeface="Calibri"/>
              </a:rPr>
              <a:t>The global organ transport devices market has been analysed on the basis of device technology, organ compatibility, device reusability and monitoring capability across the globe. North America is</a:t>
            </a:r>
          </a:p>
        </p:txBody>
      </p:sp>
      <p:sp>
        <p:nvSpPr>
          <p:cNvPr id="42" name="TextBox 41"/>
          <p:cNvSpPr txBox="1"/>
          <p:nvPr/>
        </p:nvSpPr>
        <p:spPr>
          <a:xfrm>
            <a:off x="276225" y="1978533"/>
            <a:ext cx="9060253" cy="194310"/>
          </a:xfrm>
          <a:prstGeom prst="rect">
            <a:avLst/>
          </a:prstGeom>
          <a:noFill/>
        </p:spPr>
        <p:txBody>
          <a:bodyPr wrap="none" lIns="0" rIns="0" tIns="0" bIns="0">
            <a:spAutoFit/>
          </a:bodyPr>
          <a:lstStyle/>
          <a:p>
            <a:r>
              <a:rPr sz="1150" b="0">
                <a:solidFill>
                  <a:srgbClr val="2E2E2E"/>
                </a:solidFill>
                <a:latin typeface="Calibri"/>
              </a:rPr>
              <a:t>expected to remain the largest market for organ transport devices, while demand in South Asia &amp; Pacific is projected to increase at the highest CAGR of</a:t>
            </a:r>
          </a:p>
        </p:txBody>
      </p:sp>
      <p:pic>
        <p:nvPicPr>
          <p:cNvPr id="43" name="Picture 42" descr="lock.png"/>
          <p:cNvPicPr>
            <a:picLocks noChangeAspect="1"/>
          </p:cNvPicPr>
          <p:nvPr/>
        </p:nvPicPr>
        <p:blipFill>
          <a:blip r:embed="rId4"/>
          <a:stretch>
            <a:fillRect/>
          </a:stretch>
        </p:blipFill>
        <p:spPr>
          <a:xfrm>
            <a:off x="9285632" y="1968309"/>
            <a:ext cx="134549" cy="195707"/>
          </a:xfrm>
          <a:prstGeom prst="rect">
            <a:avLst/>
          </a:prstGeom>
        </p:spPr>
      </p:pic>
      <p:sp>
        <p:nvSpPr>
          <p:cNvPr id="44" name="TextBox 43"/>
          <p:cNvSpPr txBox="1"/>
          <p:nvPr/>
        </p:nvSpPr>
        <p:spPr>
          <a:xfrm>
            <a:off x="9460742"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343275"/>
            <a:ext cx="6747433" cy="194310"/>
          </a:xfrm>
          <a:prstGeom prst="rect">
            <a:avLst/>
          </a:prstGeom>
          <a:noFill/>
        </p:spPr>
        <p:txBody>
          <a:bodyPr wrap="none" lIns="0" rIns="0" tIns="0" bIns="0">
            <a:spAutoFit/>
          </a:bodyPr>
          <a:lstStyle/>
          <a:p>
            <a:r>
              <a:rPr sz="1150" b="0">
                <a:solidFill>
                  <a:srgbClr val="2E2E2E"/>
                </a:solidFill>
                <a:latin typeface="Calibri"/>
              </a:rPr>
              <a:t>▪ The market is consolidated: the leading device technology category 'Portable Machine Perfusion Devices' holds</a:t>
            </a:r>
          </a:p>
        </p:txBody>
      </p:sp>
      <p:pic>
        <p:nvPicPr>
          <p:cNvPr id="46" name="Picture 45" descr="lock.png"/>
          <p:cNvPicPr>
            <a:picLocks noChangeAspect="1"/>
          </p:cNvPicPr>
          <p:nvPr/>
        </p:nvPicPr>
        <p:blipFill>
          <a:blip r:embed="rId4"/>
          <a:stretch>
            <a:fillRect/>
          </a:stretch>
        </p:blipFill>
        <p:spPr>
          <a:xfrm>
            <a:off x="6972812" y="3333051"/>
            <a:ext cx="134549" cy="195707"/>
          </a:xfrm>
          <a:prstGeom prst="rect">
            <a:avLst/>
          </a:prstGeom>
        </p:spPr>
      </p:pic>
      <p:sp>
        <p:nvSpPr>
          <p:cNvPr id="47" name="TextBox 46"/>
          <p:cNvSpPr txBox="1"/>
          <p:nvPr/>
        </p:nvSpPr>
        <p:spPr>
          <a:xfrm>
            <a:off x="7147921" y="334327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571112"/>
            <a:ext cx="5220468" cy="194310"/>
          </a:xfrm>
          <a:prstGeom prst="rect">
            <a:avLst/>
          </a:prstGeom>
          <a:noFill/>
        </p:spPr>
        <p:txBody>
          <a:bodyPr wrap="none" lIns="0" rIns="0" tIns="0" bIns="0">
            <a:spAutoFit/>
          </a:bodyPr>
          <a:lstStyle/>
          <a:p>
            <a:r>
              <a:rPr sz="1150" b="0">
                <a:solidFill>
                  <a:srgbClr val="2E2E2E"/>
                </a:solidFill>
                <a:latin typeface="Calibri"/>
              </a:rPr>
              <a:t>▪ Demand spans 6 regions and 9 segmentation lenses (2 device technology categories).</a:t>
            </a:r>
          </a:p>
        </p:txBody>
      </p:sp>
      <p:sp>
        <p:nvSpPr>
          <p:cNvPr id="49" name="TextBox 48"/>
          <p:cNvSpPr txBox="1"/>
          <p:nvPr/>
        </p:nvSpPr>
        <p:spPr>
          <a:xfrm>
            <a:off x="276225" y="3798950"/>
            <a:ext cx="2950988" cy="194310"/>
          </a:xfrm>
          <a:prstGeom prst="rect">
            <a:avLst/>
          </a:prstGeom>
          <a:noFill/>
        </p:spPr>
        <p:txBody>
          <a:bodyPr wrap="none" lIns="0" rIns="0" tIns="0" bIns="0">
            <a:spAutoFit/>
          </a:bodyPr>
          <a:lstStyle/>
          <a:p>
            <a:r>
              <a:rPr sz="1150" b="0">
                <a:solidFill>
                  <a:srgbClr val="2E2E2E"/>
                </a:solidFill>
                <a:latin typeface="Calibri"/>
              </a:rPr>
              <a:t>▪ North America is the largest regional market at</a:t>
            </a:r>
          </a:p>
        </p:txBody>
      </p:sp>
      <p:pic>
        <p:nvPicPr>
          <p:cNvPr id="50" name="Picture 49" descr="lock.png"/>
          <p:cNvPicPr>
            <a:picLocks noChangeAspect="1"/>
          </p:cNvPicPr>
          <p:nvPr/>
        </p:nvPicPr>
        <p:blipFill>
          <a:blip r:embed="rId4"/>
          <a:stretch>
            <a:fillRect/>
          </a:stretch>
        </p:blipFill>
        <p:spPr>
          <a:xfrm>
            <a:off x="3176367" y="3788727"/>
            <a:ext cx="134549" cy="195707"/>
          </a:xfrm>
          <a:prstGeom prst="rect">
            <a:avLst/>
          </a:prstGeom>
        </p:spPr>
      </p:pic>
      <p:sp>
        <p:nvSpPr>
          <p:cNvPr id="51" name="TextBox 50"/>
          <p:cNvSpPr txBox="1"/>
          <p:nvPr/>
        </p:nvSpPr>
        <p:spPr>
          <a:xfrm>
            <a:off x="3351477" y="37989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81575"/>
            <a:ext cx="3276178" cy="194310"/>
          </a:xfrm>
          <a:prstGeom prst="rect">
            <a:avLst/>
          </a:prstGeom>
          <a:noFill/>
        </p:spPr>
        <p:txBody>
          <a:bodyPr wrap="none" lIns="0" rIns="0" tIns="0" bIns="0">
            <a:spAutoFit/>
          </a:bodyPr>
          <a:lstStyle/>
          <a:p>
            <a:r>
              <a:rPr sz="1150" b="0">
                <a:solidFill>
                  <a:srgbClr val="2E2E2E"/>
                </a:solidFill>
                <a:latin typeface="Calibri"/>
              </a:rPr>
              <a:t>▪ Accelerating uptake of 'Static Cold Storage Devices' (</a:t>
            </a:r>
          </a:p>
        </p:txBody>
      </p:sp>
      <p:pic>
        <p:nvPicPr>
          <p:cNvPr id="53" name="Picture 52" descr="lock.png"/>
          <p:cNvPicPr>
            <a:picLocks noChangeAspect="1"/>
          </p:cNvPicPr>
          <p:nvPr/>
        </p:nvPicPr>
        <p:blipFill>
          <a:blip r:embed="rId4"/>
          <a:stretch>
            <a:fillRect/>
          </a:stretch>
        </p:blipFill>
        <p:spPr>
          <a:xfrm>
            <a:off x="3501557" y="4971351"/>
            <a:ext cx="134549" cy="195707"/>
          </a:xfrm>
          <a:prstGeom prst="rect">
            <a:avLst/>
          </a:prstGeom>
        </p:spPr>
      </p:pic>
      <p:sp>
        <p:nvSpPr>
          <p:cNvPr id="54" name="TextBox 53"/>
          <p:cNvSpPr txBox="1"/>
          <p:nvPr/>
        </p:nvSpPr>
        <p:spPr>
          <a:xfrm>
            <a:off x="276225" y="515683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84672"/>
            <a:ext cx="2877045" cy="194310"/>
          </a:xfrm>
          <a:prstGeom prst="rect">
            <a:avLst/>
          </a:prstGeom>
          <a:noFill/>
        </p:spPr>
        <p:txBody>
          <a:bodyPr wrap="none" lIns="0" rIns="0" tIns="0" bIns="0">
            <a:spAutoFit/>
          </a:bodyPr>
          <a:lstStyle/>
          <a:p>
            <a:r>
              <a:rPr sz="1150" b="0">
                <a:solidFill>
                  <a:srgbClr val="2E2E2E"/>
                </a:solidFill>
                <a:latin typeface="Calibri"/>
              </a:rPr>
              <a:t>▪ Fast-growing demand in South Asia &amp; Pacific (</a:t>
            </a:r>
          </a:p>
        </p:txBody>
      </p:sp>
      <p:pic>
        <p:nvPicPr>
          <p:cNvPr id="56" name="Picture 55" descr="lock.png"/>
          <p:cNvPicPr>
            <a:picLocks noChangeAspect="1"/>
          </p:cNvPicPr>
          <p:nvPr/>
        </p:nvPicPr>
        <p:blipFill>
          <a:blip r:embed="rId4"/>
          <a:stretch>
            <a:fillRect/>
          </a:stretch>
        </p:blipFill>
        <p:spPr>
          <a:xfrm>
            <a:off x="3102424" y="5374449"/>
            <a:ext cx="134549" cy="195707"/>
          </a:xfrm>
          <a:prstGeom prst="rect">
            <a:avLst/>
          </a:prstGeom>
        </p:spPr>
      </p:pic>
      <p:sp>
        <p:nvSpPr>
          <p:cNvPr id="57" name="TextBox 56"/>
          <p:cNvSpPr txBox="1"/>
          <p:nvPr/>
        </p:nvSpPr>
        <p:spPr>
          <a:xfrm>
            <a:off x="3277533" y="538467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612510"/>
            <a:ext cx="3336081" cy="194310"/>
          </a:xfrm>
          <a:prstGeom prst="rect">
            <a:avLst/>
          </a:prstGeom>
          <a:noFill/>
        </p:spPr>
        <p:txBody>
          <a:bodyPr wrap="none" lIns="0" rIns="0" tIns="0" bIns="0">
            <a:spAutoFit/>
          </a:bodyPr>
          <a:lstStyle/>
          <a:p>
            <a:r>
              <a:rPr sz="1150" b="0">
                <a:solidFill>
                  <a:srgbClr val="2E2E2E"/>
                </a:solidFill>
                <a:latin typeface="Calibri"/>
              </a:rPr>
              <a:t>▪ Momentum in Distributor Sales within sales channel (</a:t>
            </a:r>
          </a:p>
        </p:txBody>
      </p:sp>
      <p:pic>
        <p:nvPicPr>
          <p:cNvPr id="59" name="Picture 58" descr="lock.png"/>
          <p:cNvPicPr>
            <a:picLocks noChangeAspect="1"/>
          </p:cNvPicPr>
          <p:nvPr/>
        </p:nvPicPr>
        <p:blipFill>
          <a:blip r:embed="rId4"/>
          <a:stretch>
            <a:fillRect/>
          </a:stretch>
        </p:blipFill>
        <p:spPr>
          <a:xfrm>
            <a:off x="3561460" y="5602287"/>
            <a:ext cx="134549" cy="195707"/>
          </a:xfrm>
          <a:prstGeom prst="rect">
            <a:avLst/>
          </a:prstGeom>
        </p:spPr>
      </p:pic>
      <p:sp>
        <p:nvSpPr>
          <p:cNvPr id="60" name="TextBox 59"/>
          <p:cNvSpPr txBox="1"/>
          <p:nvPr/>
        </p:nvSpPr>
        <p:spPr>
          <a:xfrm>
            <a:off x="3736569" y="561251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81575"/>
            <a:ext cx="3164644" cy="194310"/>
          </a:xfrm>
          <a:prstGeom prst="rect">
            <a:avLst/>
          </a:prstGeom>
          <a:noFill/>
        </p:spPr>
        <p:txBody>
          <a:bodyPr wrap="none" lIns="0" rIns="0" tIns="0" bIns="0">
            <a:spAutoFit/>
          </a:bodyPr>
          <a:lstStyle/>
          <a:p>
            <a:r>
              <a:rPr sz="1150" b="0">
                <a:solidFill>
                  <a:srgbClr val="2E2E2E"/>
                </a:solidFill>
                <a:latin typeface="Calibri"/>
              </a:rPr>
              <a:t>▪ Slower momentum in 'Portable Machine Perfusion</a:t>
            </a:r>
          </a:p>
        </p:txBody>
      </p:sp>
      <p:sp>
        <p:nvSpPr>
          <p:cNvPr id="62" name="TextBox 61"/>
          <p:cNvSpPr txBox="1"/>
          <p:nvPr/>
        </p:nvSpPr>
        <p:spPr>
          <a:xfrm>
            <a:off x="4371975" y="5156835"/>
            <a:ext cx="639576" cy="194310"/>
          </a:xfrm>
          <a:prstGeom prst="rect">
            <a:avLst/>
          </a:prstGeom>
          <a:noFill/>
        </p:spPr>
        <p:txBody>
          <a:bodyPr wrap="none" lIns="0" rIns="0" tIns="0" bIns="0">
            <a:spAutoFit/>
          </a:bodyPr>
          <a:lstStyle/>
          <a:p>
            <a:r>
              <a:rPr sz="1150" b="0">
                <a:solidFill>
                  <a:srgbClr val="2E2E2E"/>
                </a:solidFill>
                <a:latin typeface="Calibri"/>
              </a:rPr>
              <a:t>Devices' (</a:t>
            </a:r>
          </a:p>
        </p:txBody>
      </p:sp>
      <p:pic>
        <p:nvPicPr>
          <p:cNvPr id="63" name="Picture 62" descr="lock.png"/>
          <p:cNvPicPr>
            <a:picLocks noChangeAspect="1"/>
          </p:cNvPicPr>
          <p:nvPr/>
        </p:nvPicPr>
        <p:blipFill>
          <a:blip r:embed="rId4"/>
          <a:stretch>
            <a:fillRect/>
          </a:stretch>
        </p:blipFill>
        <p:spPr>
          <a:xfrm>
            <a:off x="4960705" y="5146611"/>
            <a:ext cx="134549" cy="195707"/>
          </a:xfrm>
          <a:prstGeom prst="rect">
            <a:avLst/>
          </a:prstGeom>
        </p:spPr>
      </p:pic>
      <p:sp>
        <p:nvSpPr>
          <p:cNvPr id="64" name="TextBox 63"/>
          <p:cNvSpPr txBox="1"/>
          <p:nvPr/>
        </p:nvSpPr>
        <p:spPr>
          <a:xfrm>
            <a:off x="5135814" y="515683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38467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55993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549709"/>
            <a:ext cx="134549" cy="195707"/>
          </a:xfrm>
          <a:prstGeom prst="rect">
            <a:avLst/>
          </a:prstGeom>
        </p:spPr>
      </p:pic>
      <p:sp>
        <p:nvSpPr>
          <p:cNvPr id="68" name="TextBox 67"/>
          <p:cNvSpPr txBox="1"/>
          <p:nvPr/>
        </p:nvSpPr>
        <p:spPr>
          <a:xfrm>
            <a:off x="5058510" y="555993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787770"/>
            <a:ext cx="3225973" cy="194310"/>
          </a:xfrm>
          <a:prstGeom prst="rect">
            <a:avLst/>
          </a:prstGeom>
          <a:noFill/>
        </p:spPr>
        <p:txBody>
          <a:bodyPr wrap="none" lIns="0" rIns="0" tIns="0" bIns="0">
            <a:spAutoFit/>
          </a:bodyPr>
          <a:lstStyle/>
          <a:p>
            <a:r>
              <a:rPr sz="1150" b="0">
                <a:solidFill>
                  <a:srgbClr val="2E2E2E"/>
                </a:solidFill>
                <a:latin typeface="Calibri"/>
              </a:rPr>
              <a:t>▪ Value concentration in 'Portable Machine Perfusion</a:t>
            </a:r>
          </a:p>
        </p:txBody>
      </p:sp>
      <p:sp>
        <p:nvSpPr>
          <p:cNvPr id="70" name="TextBox 69"/>
          <p:cNvSpPr txBox="1"/>
          <p:nvPr/>
        </p:nvSpPr>
        <p:spPr>
          <a:xfrm>
            <a:off x="4371975" y="5963030"/>
            <a:ext cx="2498005" cy="194310"/>
          </a:xfrm>
          <a:prstGeom prst="rect">
            <a:avLst/>
          </a:prstGeom>
          <a:noFill/>
        </p:spPr>
        <p:txBody>
          <a:bodyPr wrap="none" lIns="0" rIns="0" tIns="0" bIns="0">
            <a:spAutoFit/>
          </a:bodyPr>
          <a:lstStyle/>
          <a:p>
            <a:r>
              <a:rPr sz="1150" b="0">
                <a:solidFill>
                  <a:srgbClr val="2E2E2E"/>
                </a:solidFill>
                <a:latin typeface="Calibri"/>
              </a:rPr>
              <a:t>Devices' raises barriers for new entrants.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'Static Cold Storage Devices' and South Asia &amp; Pacific.</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device technology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North America and South Asia &amp; Pacific.</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device technology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3092301" cy="186689"/>
          </a:xfrm>
          <a:prstGeom prst="rect">
            <a:avLst/>
          </a:prstGeom>
          <a:noFill/>
        </p:spPr>
        <p:txBody>
          <a:bodyPr wrap="none" lIns="0" rIns="0" tIns="0" bIns="0">
            <a:spAutoFit/>
          </a:bodyPr>
          <a:lstStyle/>
          <a:p>
            <a:r>
              <a:rPr sz="1100" b="0">
                <a:solidFill>
                  <a:srgbClr val="2E2E2E"/>
                </a:solidFill>
                <a:latin typeface="Calibri"/>
              </a:rPr>
              <a:t>▪ Lead category 'Portable Machine Perfusion Devices'</a:t>
            </a:r>
          </a:p>
        </p:txBody>
      </p:sp>
      <p:pic>
        <p:nvPicPr>
          <p:cNvPr id="41" name="Picture 40" descr="lock.png"/>
          <p:cNvPicPr>
            <a:picLocks noChangeAspect="1"/>
          </p:cNvPicPr>
          <p:nvPr/>
        </p:nvPicPr>
        <p:blipFill>
          <a:blip r:embed="rId5"/>
          <a:stretch>
            <a:fillRect/>
          </a:stretch>
        </p:blipFill>
        <p:spPr>
          <a:xfrm>
            <a:off x="9345902" y="1826260"/>
            <a:ext cx="128699" cy="187198"/>
          </a:xfrm>
          <a:prstGeom prst="rect">
            <a:avLst/>
          </a:prstGeom>
        </p:spPr>
      </p:pic>
      <p:sp>
        <p:nvSpPr>
          <p:cNvPr id="42" name="TextBox 41"/>
          <p:cNvSpPr txBox="1"/>
          <p:nvPr/>
        </p:nvSpPr>
        <p:spPr>
          <a:xfrm>
            <a:off x="9513398"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686297" cy="186689"/>
          </a:xfrm>
          <a:prstGeom prst="rect">
            <a:avLst/>
          </a:prstGeom>
          <a:noFill/>
        </p:spPr>
        <p:txBody>
          <a:bodyPr wrap="none" lIns="0" rIns="0" tIns="0" bIns="0">
            <a:spAutoFit/>
          </a:bodyPr>
          <a:lstStyle/>
          <a:p>
            <a:r>
              <a:rPr sz="1100" b="0">
                <a:solidFill>
                  <a:srgbClr val="2E2E2E"/>
                </a:solidFill>
                <a:latin typeface="Calibri"/>
              </a:rPr>
              <a:t>▪ Lead region North America</a:t>
            </a:r>
          </a:p>
        </p:txBody>
      </p:sp>
      <p:pic>
        <p:nvPicPr>
          <p:cNvPr id="44" name="Picture 43" descr="lock.png"/>
          <p:cNvPicPr>
            <a:picLocks noChangeAspect="1"/>
          </p:cNvPicPr>
          <p:nvPr/>
        </p:nvPicPr>
        <p:blipFill>
          <a:blip r:embed="rId5"/>
          <a:stretch>
            <a:fillRect/>
          </a:stretch>
        </p:blipFill>
        <p:spPr>
          <a:xfrm>
            <a:off x="7939898" y="2044192"/>
            <a:ext cx="128699" cy="187198"/>
          </a:xfrm>
          <a:prstGeom prst="rect">
            <a:avLst/>
          </a:prstGeom>
        </p:spPr>
      </p:pic>
      <p:sp>
        <p:nvSpPr>
          <p:cNvPr id="45" name="TextBox 44"/>
          <p:cNvSpPr txBox="1"/>
          <p:nvPr/>
        </p:nvSpPr>
        <p:spPr>
          <a:xfrm>
            <a:off x="8107394"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881116"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'Static Cold Storage Devices' (</a:t>
            </a:r>
          </a:p>
        </p:txBody>
      </p:sp>
      <p:pic>
        <p:nvPicPr>
          <p:cNvPr id="50" name="Picture 49" descr="lock.png"/>
          <p:cNvPicPr>
            <a:picLocks noChangeAspect="1"/>
          </p:cNvPicPr>
          <p:nvPr/>
        </p:nvPicPr>
        <p:blipFill>
          <a:blip r:embed="rId5"/>
          <a:stretch>
            <a:fillRect/>
          </a:stretch>
        </p:blipFill>
        <p:spPr>
          <a:xfrm>
            <a:off x="5105392" y="3304921"/>
            <a:ext cx="128699" cy="187198"/>
          </a:xfrm>
          <a:prstGeom prst="rect">
            <a:avLst/>
          </a:prstGeom>
        </p:spPr>
      </p:pic>
      <p:sp>
        <p:nvSpPr>
          <p:cNvPr id="51" name="TextBox 50"/>
          <p:cNvSpPr txBox="1"/>
          <p:nvPr/>
        </p:nvSpPr>
        <p:spPr>
          <a:xfrm>
            <a:off x="5272888"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2" name="TextBox 51"/>
          <p:cNvSpPr txBox="1"/>
          <p:nvPr/>
        </p:nvSpPr>
        <p:spPr>
          <a:xfrm>
            <a:off x="276225" y="3532632"/>
            <a:ext cx="1351781" cy="186689"/>
          </a:xfrm>
          <a:prstGeom prst="rect">
            <a:avLst/>
          </a:prstGeom>
          <a:noFill/>
        </p:spPr>
        <p:txBody>
          <a:bodyPr wrap="none" lIns="0" rIns="0" tIns="0" bIns="0">
            <a:spAutoFit/>
          </a:bodyPr>
          <a:lstStyle/>
          <a:p>
            <a:r>
              <a:rPr sz="1100" b="0">
                <a:solidFill>
                  <a:srgbClr val="2E2E2E"/>
                </a:solidFill>
                <a:latin typeface="Calibri"/>
              </a:rPr>
              <a:t>▪ South Asia &amp; Pacific (</a:t>
            </a:r>
          </a:p>
        </p:txBody>
      </p:sp>
      <p:pic>
        <p:nvPicPr>
          <p:cNvPr id="53" name="Picture 52" descr="lock.png"/>
          <p:cNvPicPr>
            <a:picLocks noChangeAspect="1"/>
          </p:cNvPicPr>
          <p:nvPr/>
        </p:nvPicPr>
        <p:blipFill>
          <a:blip r:embed="rId5"/>
          <a:stretch>
            <a:fillRect/>
          </a:stretch>
        </p:blipFill>
        <p:spPr>
          <a:xfrm>
            <a:off x="1576057" y="3522853"/>
            <a:ext cx="128699" cy="187198"/>
          </a:xfrm>
          <a:prstGeom prst="rect">
            <a:avLst/>
          </a:prstGeom>
        </p:spPr>
      </p:pic>
      <p:sp>
        <p:nvSpPr>
          <p:cNvPr id="54" name="TextBox 53"/>
          <p:cNvSpPr txBox="1"/>
          <p:nvPr/>
        </p:nvSpPr>
        <p:spPr>
          <a:xfrm>
            <a:off x="1743553" y="3532632"/>
            <a:ext cx="2187525" cy="186689"/>
          </a:xfrm>
          <a:prstGeom prst="rect">
            <a:avLst/>
          </a:prstGeom>
          <a:noFill/>
        </p:spPr>
        <p:txBody>
          <a:bodyPr wrap="none" lIns="0" rIns="0" tIns="0" bIns="0">
            <a:spAutoFit/>
          </a:bodyPr>
          <a:lstStyle/>
          <a:p>
            <a:r>
              <a:rPr sz="1100" b="0">
                <a:solidFill>
                  <a:srgbClr val="2E2E2E"/>
                </a:solidFill>
                <a:latin typeface="Calibri"/>
              </a:rPr>
              <a:t>) is a priority region for new capacity.</a:t>
            </a:r>
          </a:p>
        </p:txBody>
      </p:sp>
      <p:sp>
        <p:nvSpPr>
          <p:cNvPr id="55" name="TextBox 54"/>
          <p:cNvSpPr txBox="1"/>
          <p:nvPr/>
        </p:nvSpPr>
        <p:spPr>
          <a:xfrm>
            <a:off x="276225" y="3750564"/>
            <a:ext cx="3972520" cy="186689"/>
          </a:xfrm>
          <a:prstGeom prst="rect">
            <a:avLst/>
          </a:prstGeom>
          <a:noFill/>
        </p:spPr>
        <p:txBody>
          <a:bodyPr wrap="none" lIns="0" rIns="0" tIns="0" bIns="0">
            <a:spAutoFit/>
          </a:bodyPr>
          <a:lstStyle/>
          <a:p>
            <a:r>
              <a:rPr sz="1100" b="0">
                <a:solidFill>
                  <a:srgbClr val="2E2E2E"/>
                </a:solidFill>
                <a:latin typeface="Calibri"/>
              </a:rPr>
              <a:t>▪ Scale players anchor around 'Portable Machine Perfusion Devices' (</a:t>
            </a:r>
          </a:p>
        </p:txBody>
      </p:sp>
      <p:pic>
        <p:nvPicPr>
          <p:cNvPr id="56" name="Picture 55" descr="lock.png"/>
          <p:cNvPicPr>
            <a:picLocks noChangeAspect="1"/>
          </p:cNvPicPr>
          <p:nvPr/>
        </p:nvPicPr>
        <p:blipFill>
          <a:blip r:embed="rId5"/>
          <a:stretch>
            <a:fillRect/>
          </a:stretch>
        </p:blipFill>
        <p:spPr>
          <a:xfrm>
            <a:off x="4196796" y="3740785"/>
            <a:ext cx="128699" cy="187198"/>
          </a:xfrm>
          <a:prstGeom prst="rect">
            <a:avLst/>
          </a:prstGeom>
        </p:spPr>
      </p:pic>
      <p:sp>
        <p:nvSpPr>
          <p:cNvPr id="57" name="TextBox 56"/>
          <p:cNvSpPr txBox="1"/>
          <p:nvPr/>
        </p:nvSpPr>
        <p:spPr>
          <a:xfrm>
            <a:off x="4364292"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8" name="TextBox 57"/>
          <p:cNvSpPr txBox="1"/>
          <p:nvPr/>
        </p:nvSpPr>
        <p:spPr>
          <a:xfrm>
            <a:off x="6305550" y="3314700"/>
            <a:ext cx="5277842" cy="186689"/>
          </a:xfrm>
          <a:prstGeom prst="rect">
            <a:avLst/>
          </a:prstGeom>
          <a:noFill/>
        </p:spPr>
        <p:txBody>
          <a:bodyPr wrap="none" lIns="0" rIns="0" tIns="0" bIns="0">
            <a:spAutoFit/>
          </a:bodyPr>
          <a:lstStyle/>
          <a:p>
            <a:r>
              <a:rPr sz="1100" b="0">
                <a:solidFill>
                  <a:srgbClr val="2E2E2E"/>
                </a:solidFill>
                <a:latin typeface="Calibri"/>
              </a:rPr>
              <a:t>▪ R&amp;D aligns with the migration to 'Static Cold Storage Devices' and adjacent premium tiers.</a:t>
            </a:r>
          </a:p>
        </p:txBody>
      </p:sp>
      <p:sp>
        <p:nvSpPr>
          <p:cNvPr id="59" name="TextBox 58"/>
          <p:cNvSpPr txBox="1"/>
          <p:nvPr/>
        </p:nvSpPr>
        <p:spPr>
          <a:xfrm>
            <a:off x="6305550" y="3532632"/>
            <a:ext cx="4702398" cy="186689"/>
          </a:xfrm>
          <a:prstGeom prst="rect">
            <a:avLst/>
          </a:prstGeom>
          <a:noFill/>
        </p:spPr>
        <p:txBody>
          <a:bodyPr wrap="none" lIns="0" rIns="0" tIns="0" bIns="0">
            <a:spAutoFit/>
          </a:bodyPr>
          <a:lstStyle/>
          <a:p>
            <a:r>
              <a:rPr sz="1100" b="0">
                <a:solidFill>
                  <a:srgbClr val="2E2E2E"/>
                </a:solidFill>
                <a:latin typeface="Calibri"/>
              </a:rPr>
              <a:t>▪ Development spend targets device technology categories gaining share to 2036.</a:t>
            </a:r>
          </a:p>
        </p:txBody>
      </p:sp>
      <p:sp>
        <p:nvSpPr>
          <p:cNvPr id="60" name="TextBox 59"/>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740785"/>
            <a:ext cx="128699" cy="187198"/>
          </a:xfrm>
          <a:prstGeom prst="rect">
            <a:avLst/>
          </a:prstGeom>
        </p:spPr>
      </p:pic>
      <p:sp>
        <p:nvSpPr>
          <p:cNvPr id="62" name="TextBox 61"/>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'Static Cold Storage Devices' tier and Distributor Sales within sales channel.</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3203" cy="194310"/>
          </a:xfrm>
          <a:prstGeom prst="rect">
            <a:avLst/>
          </a:prstGeom>
          <a:noFill/>
        </p:spPr>
        <p:txBody>
          <a:bodyPr wrap="none" lIns="0" rIns="0" tIns="0" bIns="0">
            <a:spAutoFit/>
          </a:bodyPr>
          <a:lstStyle/>
          <a:p>
            <a:r>
              <a:rPr sz="1150" b="0">
                <a:solidFill>
                  <a:srgbClr val="2E2E2E"/>
                </a:solidFill>
                <a:latin typeface="Calibri"/>
              </a:rPr>
              <a:t>▪ Balance scale in 'Portable Machine Perfusion Devices' with targeted growth in 'Static Cold</a:t>
            </a:r>
          </a:p>
        </p:txBody>
      </p:sp>
      <p:sp>
        <p:nvSpPr>
          <p:cNvPr id="32" name="TextBox 31"/>
          <p:cNvSpPr txBox="1"/>
          <p:nvPr/>
        </p:nvSpPr>
        <p:spPr>
          <a:xfrm>
            <a:off x="276225" y="1575435"/>
            <a:ext cx="1869591" cy="194310"/>
          </a:xfrm>
          <a:prstGeom prst="rect">
            <a:avLst/>
          </a:prstGeom>
          <a:noFill/>
        </p:spPr>
        <p:txBody>
          <a:bodyPr wrap="none" lIns="0" rIns="0" tIns="0" bIns="0">
            <a:spAutoFit/>
          </a:bodyPr>
          <a:lstStyle/>
          <a:p>
            <a:r>
              <a:rPr sz="1150" b="0">
                <a:solidFill>
                  <a:srgbClr val="2E2E2E"/>
                </a:solidFill>
                <a:latin typeface="Calibri"/>
              </a:rPr>
              <a:t>Storage Devices', pursuing the</a:t>
            </a:r>
          </a:p>
        </p:txBody>
      </p:sp>
      <p:pic>
        <p:nvPicPr>
          <p:cNvPr id="33" name="Picture 32" descr="lock.png"/>
          <p:cNvPicPr>
            <a:picLocks noChangeAspect="1"/>
          </p:cNvPicPr>
          <p:nvPr/>
        </p:nvPicPr>
        <p:blipFill>
          <a:blip r:embed="rId4"/>
          <a:stretch>
            <a:fillRect/>
          </a:stretch>
        </p:blipFill>
        <p:spPr>
          <a:xfrm>
            <a:off x="2094970" y="1565211"/>
            <a:ext cx="134549" cy="195707"/>
          </a:xfrm>
          <a:prstGeom prst="rect">
            <a:avLst/>
          </a:prstGeom>
        </p:spPr>
      </p:pic>
      <p:sp>
        <p:nvSpPr>
          <p:cNvPr id="34" name="TextBox 33"/>
          <p:cNvSpPr txBox="1"/>
          <p:nvPr/>
        </p:nvSpPr>
        <p:spPr>
          <a:xfrm>
            <a:off x="2270079"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474900" cy="194310"/>
          </a:xfrm>
          <a:prstGeom prst="rect">
            <a:avLst/>
          </a:prstGeom>
          <a:noFill/>
        </p:spPr>
        <p:txBody>
          <a:bodyPr wrap="none" lIns="0" rIns="0" tIns="0" bIns="0">
            <a:spAutoFit/>
          </a:bodyPr>
          <a:lstStyle/>
          <a:p>
            <a:r>
              <a:rPr sz="1150" b="0">
                <a:solidFill>
                  <a:srgbClr val="2E2E2E"/>
                </a:solidFill>
                <a:latin typeface="Calibri"/>
              </a:rPr>
              <a:t>▪ Prioritise 'Static Cold Storage Devices' (</a:t>
            </a:r>
          </a:p>
        </p:txBody>
      </p:sp>
      <p:pic>
        <p:nvPicPr>
          <p:cNvPr id="36" name="Picture 35" descr="lock.png"/>
          <p:cNvPicPr>
            <a:picLocks noChangeAspect="1"/>
          </p:cNvPicPr>
          <p:nvPr/>
        </p:nvPicPr>
        <p:blipFill>
          <a:blip r:embed="rId4"/>
          <a:stretch>
            <a:fillRect/>
          </a:stretch>
        </p:blipFill>
        <p:spPr>
          <a:xfrm>
            <a:off x="2700279" y="3209226"/>
            <a:ext cx="134549" cy="195707"/>
          </a:xfrm>
          <a:prstGeom prst="rect">
            <a:avLst/>
          </a:prstGeom>
        </p:spPr>
      </p:pic>
      <p:sp>
        <p:nvSpPr>
          <p:cNvPr id="37" name="TextBox 36"/>
          <p:cNvSpPr txBox="1"/>
          <p:nvPr/>
        </p:nvSpPr>
        <p:spPr>
          <a:xfrm>
            <a:off x="2875388" y="3219450"/>
            <a:ext cx="2901069" cy="194310"/>
          </a:xfrm>
          <a:prstGeom prst="rect">
            <a:avLst/>
          </a:prstGeom>
          <a:noFill/>
        </p:spPr>
        <p:txBody>
          <a:bodyPr wrap="none" lIns="0" rIns="0" tIns="0" bIns="0">
            <a:spAutoFit/>
          </a:bodyPr>
          <a:lstStyle/>
          <a:p>
            <a:r>
              <a:rPr sz="1150" b="0">
                <a:solidFill>
                  <a:srgbClr val="2E2E2E"/>
                </a:solidFill>
                <a:latin typeface="Calibri"/>
              </a:rPr>
              <a:t>); 'Portable Machine Perfusion Devices' anchors</a:t>
            </a:r>
          </a:p>
        </p:txBody>
      </p:sp>
      <p:pic>
        <p:nvPicPr>
          <p:cNvPr id="38" name="Picture 37" descr="lock.png"/>
          <p:cNvPicPr>
            <a:picLocks noChangeAspect="1"/>
          </p:cNvPicPr>
          <p:nvPr/>
        </p:nvPicPr>
        <p:blipFill>
          <a:blip r:embed="rId4"/>
          <a:stretch>
            <a:fillRect/>
          </a:stretch>
        </p:blipFill>
        <p:spPr>
          <a:xfrm>
            <a:off x="262145" y="3384486"/>
            <a:ext cx="134549" cy="195707"/>
          </a:xfrm>
          <a:prstGeom prst="rect">
            <a:avLst/>
          </a:prstGeom>
        </p:spPr>
      </p:pic>
      <p:sp>
        <p:nvSpPr>
          <p:cNvPr id="39" name="TextBox 38"/>
          <p:cNvSpPr txBox="1"/>
          <p:nvPr/>
        </p:nvSpPr>
        <p:spPr>
          <a:xfrm>
            <a:off x="437254"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720688" cy="194310"/>
          </a:xfrm>
          <a:prstGeom prst="rect">
            <a:avLst/>
          </a:prstGeom>
          <a:noFill/>
        </p:spPr>
        <p:txBody>
          <a:bodyPr wrap="none" lIns="0" rIns="0" tIns="0" bIns="0">
            <a:spAutoFit/>
          </a:bodyPr>
          <a:lstStyle/>
          <a:p>
            <a:r>
              <a:rPr sz="1150" b="0">
                <a:solidFill>
                  <a:srgbClr val="2E2E2E"/>
                </a:solidFill>
                <a:latin typeface="Calibri"/>
              </a:rPr>
              <a:t>▪ Lead with North America (</a:t>
            </a:r>
          </a:p>
        </p:txBody>
      </p:sp>
      <p:pic>
        <p:nvPicPr>
          <p:cNvPr id="41" name="Picture 40" descr="lock.png"/>
          <p:cNvPicPr>
            <a:picLocks noChangeAspect="1"/>
          </p:cNvPicPr>
          <p:nvPr/>
        </p:nvPicPr>
        <p:blipFill>
          <a:blip r:embed="rId4"/>
          <a:stretch>
            <a:fillRect/>
          </a:stretch>
        </p:blipFill>
        <p:spPr>
          <a:xfrm>
            <a:off x="7975392" y="3209226"/>
            <a:ext cx="134549" cy="195707"/>
          </a:xfrm>
          <a:prstGeom prst="rect">
            <a:avLst/>
          </a:prstGeom>
        </p:spPr>
      </p:pic>
      <p:sp>
        <p:nvSpPr>
          <p:cNvPr id="42" name="TextBox 41"/>
          <p:cNvSpPr txBox="1"/>
          <p:nvPr/>
        </p:nvSpPr>
        <p:spPr>
          <a:xfrm>
            <a:off x="8150501" y="3219450"/>
            <a:ext cx="2502854" cy="194310"/>
          </a:xfrm>
          <a:prstGeom prst="rect">
            <a:avLst/>
          </a:prstGeom>
          <a:noFill/>
        </p:spPr>
        <p:txBody>
          <a:bodyPr wrap="none" lIns="0" rIns="0" tIns="0" bIns="0">
            <a:spAutoFit/>
          </a:bodyPr>
          <a:lstStyle/>
          <a:p>
            <a:r>
              <a:rPr sz="1150" b="0">
                <a:solidFill>
                  <a:srgbClr val="2E2E2E"/>
                </a:solidFill>
                <a:latin typeface="Calibri"/>
              </a:rPr>
              <a:t>); capture upside in South Asia &amp; Pacific (</a:t>
            </a:r>
          </a:p>
        </p:txBody>
      </p:sp>
      <p:pic>
        <p:nvPicPr>
          <p:cNvPr id="43" name="Picture 42" descr="lock.png"/>
          <p:cNvPicPr>
            <a:picLocks noChangeAspect="1"/>
          </p:cNvPicPr>
          <p:nvPr/>
        </p:nvPicPr>
        <p:blipFill>
          <a:blip r:embed="rId4"/>
          <a:stretch>
            <a:fillRect/>
          </a:stretch>
        </p:blipFill>
        <p:spPr>
          <a:xfrm>
            <a:off x="10602510" y="3209226"/>
            <a:ext cx="134549" cy="195707"/>
          </a:xfrm>
          <a:prstGeom prst="rect">
            <a:avLst/>
          </a:prstGeom>
        </p:spPr>
      </p:pic>
      <p:sp>
        <p:nvSpPr>
          <p:cNvPr id="44" name="TextBox 43"/>
          <p:cNvSpPr txBox="1"/>
          <p:nvPr/>
        </p:nvSpPr>
        <p:spPr>
          <a:xfrm>
            <a:off x="10777620"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937481" cy="194310"/>
          </a:xfrm>
          <a:prstGeom prst="rect">
            <a:avLst/>
          </a:prstGeom>
          <a:noFill/>
        </p:spPr>
        <p:txBody>
          <a:bodyPr wrap="none" lIns="0" rIns="0" tIns="0" bIns="0">
            <a:spAutoFit/>
          </a:bodyPr>
          <a:lstStyle/>
          <a:p>
            <a:r>
              <a:rPr sz="1150" b="0">
                <a:solidFill>
                  <a:srgbClr val="2E2E2E"/>
                </a:solidFill>
                <a:latin typeface="Calibri"/>
              </a:rPr>
              <a:t>▪ Organ Transport Devices adds</a:t>
            </a:r>
          </a:p>
        </p:txBody>
      </p:sp>
      <p:pic>
        <p:nvPicPr>
          <p:cNvPr id="46" name="Picture 45" descr="lock.png"/>
          <p:cNvPicPr>
            <a:picLocks noChangeAspect="1"/>
          </p:cNvPicPr>
          <p:nvPr/>
        </p:nvPicPr>
        <p:blipFill>
          <a:blip r:embed="rId4"/>
          <a:stretch>
            <a:fillRect/>
          </a:stretch>
        </p:blipFill>
        <p:spPr>
          <a:xfrm>
            <a:off x="2162860" y="5028501"/>
            <a:ext cx="134549" cy="195707"/>
          </a:xfrm>
          <a:prstGeom prst="rect">
            <a:avLst/>
          </a:prstGeom>
        </p:spPr>
      </p:pic>
      <p:sp>
        <p:nvSpPr>
          <p:cNvPr id="47" name="TextBox 46"/>
          <p:cNvSpPr txBox="1"/>
          <p:nvPr/>
        </p:nvSpPr>
        <p:spPr>
          <a:xfrm>
            <a:off x="2337969"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4102231" y="5028501"/>
            <a:ext cx="134549" cy="195707"/>
          </a:xfrm>
          <a:prstGeom prst="rect">
            <a:avLst/>
          </a:prstGeom>
        </p:spPr>
      </p:pic>
      <p:sp>
        <p:nvSpPr>
          <p:cNvPr id="49" name="TextBox 48"/>
          <p:cNvSpPr txBox="1"/>
          <p:nvPr/>
        </p:nvSpPr>
        <p:spPr>
          <a:xfrm>
            <a:off x="4277340"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26563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segment/region while seeding the fastest-growing pockets early.</a:t>
            </a:r>
          </a:p>
        </p:txBody>
      </p:sp>
      <p:sp>
        <p:nvSpPr>
          <p:cNvPr id="51" name="TextBox 50"/>
          <p:cNvSpPr txBox="1"/>
          <p:nvPr/>
        </p:nvSpPr>
        <p:spPr>
          <a:xfrm>
            <a:off x="276225" y="5494400"/>
            <a:ext cx="5502299" cy="194310"/>
          </a:xfrm>
          <a:prstGeom prst="rect">
            <a:avLst/>
          </a:prstGeom>
          <a:noFill/>
        </p:spPr>
        <p:txBody>
          <a:bodyPr wrap="none" lIns="0" rIns="0" tIns="0" bIns="0">
            <a:spAutoFit/>
          </a:bodyPr>
          <a:lstStyle/>
          <a:p>
            <a:r>
              <a:rPr sz="1150" b="0">
                <a:solidFill>
                  <a:srgbClr val="2E2E2E"/>
                </a:solidFill>
                <a:latin typeface="Calibri"/>
              </a:rPr>
              <a:t>▪ Defend share in 'Portable Machine Perfusion Devices' as the value anchor of the portfolio.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Organ Transport Devices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71071"/>
            <a:ext cx="635826" cy="834229"/>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66431"/>
            <a:ext cx="635826" cy="1238869"/>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896258"/>
            <a:ext cx="635826" cy="140904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705100"/>
            <a:ext cx="635826" cy="1600200"/>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33081"/>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28306"/>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75906"/>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71131"/>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18731"/>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13956"/>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Organ Transport Devices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6267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54457"/>
            <a:ext cx="108107" cy="157246"/>
          </a:xfrm>
          <a:prstGeom prst="rect">
            <a:avLst/>
          </a:prstGeom>
        </p:spPr>
      </p:pic>
      <p:sp>
        <p:nvSpPr>
          <p:cNvPr id="56" name="TextBox 55"/>
          <p:cNvSpPr txBox="1"/>
          <p:nvPr/>
        </p:nvSpPr>
        <p:spPr>
          <a:xfrm>
            <a:off x="2032418" y="260549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597282"/>
            <a:ext cx="108107" cy="157246"/>
          </a:xfrm>
          <a:prstGeom prst="rect">
            <a:avLst/>
          </a:prstGeom>
        </p:spPr>
      </p:pic>
      <p:sp>
        <p:nvSpPr>
          <p:cNvPr id="58" name="TextBox 57"/>
          <p:cNvSpPr txBox="1"/>
          <p:nvPr/>
        </p:nvSpPr>
        <p:spPr>
          <a:xfrm>
            <a:off x="2032418" y="234832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40107"/>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Global Market Analysis By Region</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Organ Transport Devices – Regional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Region</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 Regional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6 regions,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157162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157162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2" name="Rectangle 21"/>
          <p:cNvSpPr/>
          <p:nvPr/>
        </p:nvSpPr>
        <p:spPr>
          <a:xfrm>
            <a:off x="18669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490788"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3552825" y="1773916"/>
            <a:ext cx="157162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52825" y="1992961"/>
            <a:ext cx="157162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909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Europe</a:t>
            </a:r>
          </a:p>
        </p:txBody>
      </p:sp>
      <p:sp>
        <p:nvSpPr>
          <p:cNvPr id="29" name="Rectangle 28"/>
          <p:cNvSpPr/>
          <p:nvPr/>
        </p:nvSpPr>
        <p:spPr>
          <a:xfrm>
            <a:off x="35528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35528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35528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4176712"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5238750" y="1773916"/>
            <a:ext cx="1571625"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38750" y="1992961"/>
            <a:ext cx="1571625"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7685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6" name="Rectangle 35"/>
          <p:cNvSpPr/>
          <p:nvPr/>
        </p:nvSpPr>
        <p:spPr>
          <a:xfrm>
            <a:off x="523875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523875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523875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5862638"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6924675" y="1773916"/>
            <a:ext cx="1571625"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24675" y="1992961"/>
            <a:ext cx="1571625"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6277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South Asia &amp; Pacific</a:t>
            </a:r>
          </a:p>
        </p:txBody>
      </p:sp>
      <p:sp>
        <p:nvSpPr>
          <p:cNvPr id="43" name="Rectangle 42"/>
          <p:cNvSpPr/>
          <p:nvPr/>
        </p:nvSpPr>
        <p:spPr>
          <a:xfrm>
            <a:off x="692467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692467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692467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7548562"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8610600" y="1773916"/>
            <a:ext cx="1571625" cy="438089"/>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10600" y="1992961"/>
            <a:ext cx="1571625" cy="21904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8700"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50" name="Rectangle 49"/>
          <p:cNvSpPr/>
          <p:nvPr/>
        </p:nvSpPr>
        <p:spPr>
          <a:xfrm>
            <a:off x="8610600"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1" name="Rectangle 50"/>
          <p:cNvSpPr/>
          <p:nvPr/>
        </p:nvSpPr>
        <p:spPr>
          <a:xfrm>
            <a:off x="8610600"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2" name="Rectangle 51"/>
          <p:cNvSpPr/>
          <p:nvPr/>
        </p:nvSpPr>
        <p:spPr>
          <a:xfrm>
            <a:off x="8610600"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
            </a:r>
          </a:p>
        </p:txBody>
      </p:sp>
      <p:sp>
        <p:nvSpPr>
          <p:cNvPr id="53" name="Oval 52"/>
          <p:cNvSpPr/>
          <p:nvPr/>
        </p:nvSpPr>
        <p:spPr>
          <a:xfrm>
            <a:off x="9234488" y="1445350"/>
            <a:ext cx="323850" cy="310313"/>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4" name="Rounded Rectangle 53"/>
          <p:cNvSpPr/>
          <p:nvPr/>
        </p:nvSpPr>
        <p:spPr>
          <a:xfrm>
            <a:off x="10296525" y="1773916"/>
            <a:ext cx="1571625" cy="438089"/>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296525" y="1992961"/>
            <a:ext cx="1571625" cy="21904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334625" y="1773916"/>
            <a:ext cx="1495425" cy="438089"/>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57" name="Rectangle 56"/>
          <p:cNvSpPr/>
          <p:nvPr/>
        </p:nvSpPr>
        <p:spPr>
          <a:xfrm>
            <a:off x="10296525" y="22302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8" name="Rectangle 57"/>
          <p:cNvSpPr/>
          <p:nvPr/>
        </p:nvSpPr>
        <p:spPr>
          <a:xfrm>
            <a:off x="10296525" y="2723109"/>
            <a:ext cx="157162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59" name="Rectangle 58"/>
          <p:cNvSpPr/>
          <p:nvPr/>
        </p:nvSpPr>
        <p:spPr>
          <a:xfrm>
            <a:off x="10296525" y="3215959"/>
            <a:ext cx="157162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
            </a:r>
          </a:p>
        </p:txBody>
      </p:sp>
      <p:sp>
        <p:nvSpPr>
          <p:cNvPr id="60" name="Oval 59"/>
          <p:cNvSpPr/>
          <p:nvPr/>
        </p:nvSpPr>
        <p:spPr>
          <a:xfrm>
            <a:off x="10920412" y="1445350"/>
            <a:ext cx="323850" cy="310313"/>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1" name="Rounded Rectangle 60"/>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3" name="Rectangle 62"/>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65" name="Rounded Rectangle 64"/>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Region Insights</a:t>
            </a:r>
          </a:p>
        </p:txBody>
      </p:sp>
      <p:sp>
        <p:nvSpPr>
          <p:cNvPr id="67" name="Rectangle 66"/>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86F00"/>
                </a:solidFill>
                <a:latin typeface="Calibri"/>
              </a:rPr>
              <a:t/>
            </a:r>
            <a:r>
              <a:rPr sz="1100" b="1">
                <a:solidFill>
                  <a:srgbClr val="A86F00"/>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A35313"/>
                </a:solidFill>
                <a:latin typeface="Calibri"/>
              </a:rPr>
              <a:t/>
            </a:r>
            <a:r>
              <a:rPr sz="1100" b="1">
                <a:solidFill>
                  <a:srgbClr val="A35313"/>
                </a:solidFill>
                <a:latin typeface="Calibri"/>
              </a:rPr>
              <a:t/>
            </a:r>
            <a:r>
              <a:rPr sz="1100" b="0">
                <a:solidFill>
                  <a:srgbClr val="2E2E2E"/>
                </a:solidFill>
                <a:latin typeface="Calibri"/>
              </a:rPr>
              <a:t/>
            </a:r>
          </a:p>
        </p:txBody>
      </p:sp>
      <p:sp>
        <p:nvSpPr>
          <p:cNvPr id="69" name="Rounded Rectangle 68"/>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Region Overview</a:t>
            </a:r>
          </a:p>
        </p:txBody>
      </p:sp>
      <p:sp>
        <p:nvSpPr>
          <p:cNvPr id="71" name="Rectangle 70"/>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73" name="Rectangle 72"/>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75" name="TextBox 74"/>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76" name="TextBox 7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7" name="Picture 76" descr="3_597_605E5C.png"/>
          <p:cNvPicPr>
            <a:picLocks noChangeAspect="1"/>
          </p:cNvPicPr>
          <p:nvPr/>
        </p:nvPicPr>
        <p:blipFill>
          <a:blip r:embed="rId4"/>
          <a:stretch>
            <a:fillRect/>
          </a:stretch>
        </p:blipFill>
        <p:spPr>
          <a:xfrm>
            <a:off x="2054848" y="2286582"/>
            <a:ext cx="1195728" cy="361950"/>
          </a:xfrm>
          <a:prstGeom prst="rect">
            <a:avLst/>
          </a:prstGeom>
        </p:spPr>
      </p:pic>
      <p:pic>
        <p:nvPicPr>
          <p:cNvPr id="78" name="Picture 77" descr="5_353_605E5C.png"/>
          <p:cNvPicPr>
            <a:picLocks noChangeAspect="1"/>
          </p:cNvPicPr>
          <p:nvPr/>
        </p:nvPicPr>
        <p:blipFill>
          <a:blip r:embed="rId5"/>
          <a:stretch>
            <a:fillRect/>
          </a:stretch>
        </p:blipFill>
        <p:spPr>
          <a:xfrm>
            <a:off x="2054848" y="2779432"/>
            <a:ext cx="1195728" cy="361950"/>
          </a:xfrm>
          <a:prstGeom prst="rect">
            <a:avLst/>
          </a:prstGeom>
        </p:spPr>
      </p:pic>
      <p:pic>
        <p:nvPicPr>
          <p:cNvPr id="79" name="Picture 78" descr="4_1__605E5C.png"/>
          <p:cNvPicPr>
            <a:picLocks noChangeAspect="1"/>
          </p:cNvPicPr>
          <p:nvPr/>
        </p:nvPicPr>
        <p:blipFill>
          <a:blip r:embed="rId6"/>
          <a:stretch>
            <a:fillRect/>
          </a:stretch>
        </p:blipFill>
        <p:spPr>
          <a:xfrm>
            <a:off x="2161494" y="3272281"/>
            <a:ext cx="982436" cy="361950"/>
          </a:xfrm>
          <a:prstGeom prst="rect">
            <a:avLst/>
          </a:prstGeom>
        </p:spPr>
      </p:pic>
      <p:pic>
        <p:nvPicPr>
          <p:cNvPr id="80" name="Picture 79" descr="2_943_605E5C.png"/>
          <p:cNvPicPr>
            <a:picLocks noChangeAspect="1"/>
          </p:cNvPicPr>
          <p:nvPr/>
        </p:nvPicPr>
        <p:blipFill>
          <a:blip r:embed="rId7"/>
          <a:stretch>
            <a:fillRect/>
          </a:stretch>
        </p:blipFill>
        <p:spPr>
          <a:xfrm>
            <a:off x="3740773" y="2286582"/>
            <a:ext cx="1195728" cy="361950"/>
          </a:xfrm>
          <a:prstGeom prst="rect">
            <a:avLst/>
          </a:prstGeom>
        </p:spPr>
      </p:pic>
      <p:pic>
        <p:nvPicPr>
          <p:cNvPr id="81" name="Picture 80" descr="5_063_605E5C.png"/>
          <p:cNvPicPr>
            <a:picLocks noChangeAspect="1"/>
          </p:cNvPicPr>
          <p:nvPr/>
        </p:nvPicPr>
        <p:blipFill>
          <a:blip r:embed="rId8"/>
          <a:stretch>
            <a:fillRect/>
          </a:stretch>
        </p:blipFill>
        <p:spPr>
          <a:xfrm>
            <a:off x="3740773" y="2779432"/>
            <a:ext cx="1195728" cy="361950"/>
          </a:xfrm>
          <a:prstGeom prst="rect">
            <a:avLst/>
          </a:prstGeom>
        </p:spPr>
      </p:pic>
      <p:pic>
        <p:nvPicPr>
          <p:cNvPr id="82" name="Picture 81" descr="5_6__605E5C.png"/>
          <p:cNvPicPr>
            <a:picLocks noChangeAspect="1"/>
          </p:cNvPicPr>
          <p:nvPr/>
        </p:nvPicPr>
        <p:blipFill>
          <a:blip r:embed="rId9"/>
          <a:stretch>
            <a:fillRect/>
          </a:stretch>
        </p:blipFill>
        <p:spPr>
          <a:xfrm>
            <a:off x="3847419" y="3272281"/>
            <a:ext cx="982436" cy="361950"/>
          </a:xfrm>
          <a:prstGeom prst="rect">
            <a:avLst/>
          </a:prstGeom>
        </p:spPr>
      </p:pic>
      <p:pic>
        <p:nvPicPr>
          <p:cNvPr id="83" name="Picture 82" descr="1_417_605E5C.png"/>
          <p:cNvPicPr>
            <a:picLocks noChangeAspect="1"/>
          </p:cNvPicPr>
          <p:nvPr/>
        </p:nvPicPr>
        <p:blipFill>
          <a:blip r:embed="rId10"/>
          <a:stretch>
            <a:fillRect/>
          </a:stretch>
        </p:blipFill>
        <p:spPr>
          <a:xfrm>
            <a:off x="5426698" y="2286582"/>
            <a:ext cx="1195728" cy="361950"/>
          </a:xfrm>
          <a:prstGeom prst="rect">
            <a:avLst/>
          </a:prstGeom>
        </p:spPr>
      </p:pic>
      <p:pic>
        <p:nvPicPr>
          <p:cNvPr id="84" name="Picture 83" descr="2_264_605E5C.png"/>
          <p:cNvPicPr>
            <a:picLocks noChangeAspect="1"/>
          </p:cNvPicPr>
          <p:nvPr/>
        </p:nvPicPr>
        <p:blipFill>
          <a:blip r:embed="rId11"/>
          <a:stretch>
            <a:fillRect/>
          </a:stretch>
        </p:blipFill>
        <p:spPr>
          <a:xfrm>
            <a:off x="5426698" y="2779432"/>
            <a:ext cx="1195728" cy="361950"/>
          </a:xfrm>
          <a:prstGeom prst="rect">
            <a:avLst/>
          </a:prstGeom>
        </p:spPr>
      </p:pic>
      <p:pic>
        <p:nvPicPr>
          <p:cNvPr id="85" name="Picture 84" descr="4_8__605E5C.png"/>
          <p:cNvPicPr>
            <a:picLocks noChangeAspect="1"/>
          </p:cNvPicPr>
          <p:nvPr/>
        </p:nvPicPr>
        <p:blipFill>
          <a:blip r:embed="rId12"/>
          <a:stretch>
            <a:fillRect/>
          </a:stretch>
        </p:blipFill>
        <p:spPr>
          <a:xfrm>
            <a:off x="5533344" y="3272281"/>
            <a:ext cx="982436" cy="361950"/>
          </a:xfrm>
          <a:prstGeom prst="rect">
            <a:avLst/>
          </a:prstGeom>
        </p:spPr>
      </p:pic>
      <p:pic>
        <p:nvPicPr>
          <p:cNvPr id="86" name="Picture 85" descr="1_308_605E5C.png"/>
          <p:cNvPicPr>
            <a:picLocks noChangeAspect="1"/>
          </p:cNvPicPr>
          <p:nvPr/>
        </p:nvPicPr>
        <p:blipFill>
          <a:blip r:embed="rId13"/>
          <a:stretch>
            <a:fillRect/>
          </a:stretch>
        </p:blipFill>
        <p:spPr>
          <a:xfrm>
            <a:off x="7112623" y="2286582"/>
            <a:ext cx="1195728" cy="361950"/>
          </a:xfrm>
          <a:prstGeom prst="rect">
            <a:avLst/>
          </a:prstGeom>
        </p:spPr>
      </p:pic>
      <p:pic>
        <p:nvPicPr>
          <p:cNvPr id="87" name="Picture 86" descr="2_310_605E5C.png"/>
          <p:cNvPicPr>
            <a:picLocks noChangeAspect="1"/>
          </p:cNvPicPr>
          <p:nvPr/>
        </p:nvPicPr>
        <p:blipFill>
          <a:blip r:embed="rId14"/>
          <a:stretch>
            <a:fillRect/>
          </a:stretch>
        </p:blipFill>
        <p:spPr>
          <a:xfrm>
            <a:off x="7112623" y="2779432"/>
            <a:ext cx="1195728" cy="361950"/>
          </a:xfrm>
          <a:prstGeom prst="rect">
            <a:avLst/>
          </a:prstGeom>
        </p:spPr>
      </p:pic>
      <p:pic>
        <p:nvPicPr>
          <p:cNvPr id="88" name="Picture 87" descr="5_9__605E5C.png"/>
          <p:cNvPicPr>
            <a:picLocks noChangeAspect="1"/>
          </p:cNvPicPr>
          <p:nvPr/>
        </p:nvPicPr>
        <p:blipFill>
          <a:blip r:embed="rId15"/>
          <a:stretch>
            <a:fillRect/>
          </a:stretch>
        </p:blipFill>
        <p:spPr>
          <a:xfrm>
            <a:off x="7219269" y="3272281"/>
            <a:ext cx="982436" cy="361950"/>
          </a:xfrm>
          <a:prstGeom prst="rect">
            <a:avLst/>
          </a:prstGeom>
        </p:spPr>
      </p:pic>
      <p:pic>
        <p:nvPicPr>
          <p:cNvPr id="89" name="Picture 88" descr="872_0_605E5C.png"/>
          <p:cNvPicPr>
            <a:picLocks noChangeAspect="1"/>
          </p:cNvPicPr>
          <p:nvPr/>
        </p:nvPicPr>
        <p:blipFill>
          <a:blip r:embed="rId16"/>
          <a:stretch>
            <a:fillRect/>
          </a:stretch>
        </p:blipFill>
        <p:spPr>
          <a:xfrm>
            <a:off x="8798548" y="2286582"/>
            <a:ext cx="1195728" cy="361950"/>
          </a:xfrm>
          <a:prstGeom prst="rect">
            <a:avLst/>
          </a:prstGeom>
        </p:spPr>
      </p:pic>
      <p:pic>
        <p:nvPicPr>
          <p:cNvPr id="90" name="Picture 89" descr="1_470_605E5C.png"/>
          <p:cNvPicPr>
            <a:picLocks noChangeAspect="1"/>
          </p:cNvPicPr>
          <p:nvPr/>
        </p:nvPicPr>
        <p:blipFill>
          <a:blip r:embed="rId17"/>
          <a:stretch>
            <a:fillRect/>
          </a:stretch>
        </p:blipFill>
        <p:spPr>
          <a:xfrm>
            <a:off x="8798548" y="2779432"/>
            <a:ext cx="1195728" cy="361950"/>
          </a:xfrm>
          <a:prstGeom prst="rect">
            <a:avLst/>
          </a:prstGeom>
        </p:spPr>
      </p:pic>
      <p:pic>
        <p:nvPicPr>
          <p:cNvPr id="91" name="Picture 90" descr="5_4__605E5C.png"/>
          <p:cNvPicPr>
            <a:picLocks noChangeAspect="1"/>
          </p:cNvPicPr>
          <p:nvPr/>
        </p:nvPicPr>
        <p:blipFill>
          <a:blip r:embed="rId18"/>
          <a:stretch>
            <a:fillRect/>
          </a:stretch>
        </p:blipFill>
        <p:spPr>
          <a:xfrm>
            <a:off x="8905194" y="3272281"/>
            <a:ext cx="982436" cy="361950"/>
          </a:xfrm>
          <a:prstGeom prst="rect">
            <a:avLst/>
          </a:prstGeom>
        </p:spPr>
      </p:pic>
      <p:pic>
        <p:nvPicPr>
          <p:cNvPr id="92" name="Picture 91" descr="763_0_605E5C.png"/>
          <p:cNvPicPr>
            <a:picLocks noChangeAspect="1"/>
          </p:cNvPicPr>
          <p:nvPr/>
        </p:nvPicPr>
        <p:blipFill>
          <a:blip r:embed="rId19"/>
          <a:stretch>
            <a:fillRect/>
          </a:stretch>
        </p:blipFill>
        <p:spPr>
          <a:xfrm>
            <a:off x="10484473" y="2286582"/>
            <a:ext cx="1195728" cy="361950"/>
          </a:xfrm>
          <a:prstGeom prst="rect">
            <a:avLst/>
          </a:prstGeom>
        </p:spPr>
      </p:pic>
      <p:pic>
        <p:nvPicPr>
          <p:cNvPr id="93" name="Picture 92" descr="1_225_605E5C.png"/>
          <p:cNvPicPr>
            <a:picLocks noChangeAspect="1"/>
          </p:cNvPicPr>
          <p:nvPr/>
        </p:nvPicPr>
        <p:blipFill>
          <a:blip r:embed="rId20"/>
          <a:stretch>
            <a:fillRect/>
          </a:stretch>
        </p:blipFill>
        <p:spPr>
          <a:xfrm>
            <a:off x="10484473" y="2779432"/>
            <a:ext cx="1195728" cy="361950"/>
          </a:xfrm>
          <a:prstGeom prst="rect">
            <a:avLst/>
          </a:prstGeom>
        </p:spPr>
      </p:pic>
      <p:pic>
        <p:nvPicPr>
          <p:cNvPr id="94" name="Picture 93" descr="4_9__605E5C.png"/>
          <p:cNvPicPr>
            <a:picLocks noChangeAspect="1"/>
          </p:cNvPicPr>
          <p:nvPr/>
        </p:nvPicPr>
        <p:blipFill>
          <a:blip r:embed="rId21"/>
          <a:stretch>
            <a:fillRect/>
          </a:stretch>
        </p:blipFill>
        <p:spPr>
          <a:xfrm>
            <a:off x="10591119" y="3272281"/>
            <a:ext cx="982436" cy="361950"/>
          </a:xfrm>
          <a:prstGeom prst="rect">
            <a:avLst/>
          </a:prstGeom>
        </p:spPr>
      </p:pic>
      <p:pic>
        <p:nvPicPr>
          <p:cNvPr id="95" name="Picture 94" descr="lock.png"/>
          <p:cNvPicPr>
            <a:picLocks noChangeAspect="1"/>
          </p:cNvPicPr>
          <p:nvPr/>
        </p:nvPicPr>
        <p:blipFill>
          <a:blip r:embed="rId22"/>
          <a:stretch>
            <a:fillRect/>
          </a:stretch>
        </p:blipFill>
        <p:spPr>
          <a:xfrm>
            <a:off x="2559367" y="2827057"/>
            <a:ext cx="183356" cy="266700"/>
          </a:xfrm>
          <a:prstGeom prst="rect">
            <a:avLst/>
          </a:prstGeom>
        </p:spPr>
      </p:pic>
      <p:pic>
        <p:nvPicPr>
          <p:cNvPr id="96" name="Picture 95" descr="lock.png"/>
          <p:cNvPicPr>
            <a:picLocks noChangeAspect="1"/>
          </p:cNvPicPr>
          <p:nvPr/>
        </p:nvPicPr>
        <p:blipFill>
          <a:blip r:embed="rId22"/>
          <a:stretch>
            <a:fillRect/>
          </a:stretch>
        </p:blipFill>
        <p:spPr>
          <a:xfrm>
            <a:off x="4245292" y="2827057"/>
            <a:ext cx="183356" cy="266700"/>
          </a:xfrm>
          <a:prstGeom prst="rect">
            <a:avLst/>
          </a:prstGeom>
        </p:spPr>
      </p:pic>
      <p:pic>
        <p:nvPicPr>
          <p:cNvPr id="97" name="Picture 96" descr="lock.png"/>
          <p:cNvPicPr>
            <a:picLocks noChangeAspect="1"/>
          </p:cNvPicPr>
          <p:nvPr/>
        </p:nvPicPr>
        <p:blipFill>
          <a:blip r:embed="rId22"/>
          <a:stretch>
            <a:fillRect/>
          </a:stretch>
        </p:blipFill>
        <p:spPr>
          <a:xfrm>
            <a:off x="5931217" y="2827057"/>
            <a:ext cx="183356" cy="266700"/>
          </a:xfrm>
          <a:prstGeom prst="rect">
            <a:avLst/>
          </a:prstGeom>
        </p:spPr>
      </p:pic>
      <p:pic>
        <p:nvPicPr>
          <p:cNvPr id="98" name="Picture 97" descr="lock.png"/>
          <p:cNvPicPr>
            <a:picLocks noChangeAspect="1"/>
          </p:cNvPicPr>
          <p:nvPr/>
        </p:nvPicPr>
        <p:blipFill>
          <a:blip r:embed="rId22"/>
          <a:stretch>
            <a:fillRect/>
          </a:stretch>
        </p:blipFill>
        <p:spPr>
          <a:xfrm>
            <a:off x="7617142" y="2827057"/>
            <a:ext cx="183356" cy="266700"/>
          </a:xfrm>
          <a:prstGeom prst="rect">
            <a:avLst/>
          </a:prstGeom>
        </p:spPr>
      </p:pic>
      <p:pic>
        <p:nvPicPr>
          <p:cNvPr id="99" name="Picture 98" descr="lock.png"/>
          <p:cNvPicPr>
            <a:picLocks noChangeAspect="1"/>
          </p:cNvPicPr>
          <p:nvPr/>
        </p:nvPicPr>
        <p:blipFill>
          <a:blip r:embed="rId22"/>
          <a:stretch>
            <a:fillRect/>
          </a:stretch>
        </p:blipFill>
        <p:spPr>
          <a:xfrm>
            <a:off x="9303067" y="2827057"/>
            <a:ext cx="183356" cy="266700"/>
          </a:xfrm>
          <a:prstGeom prst="rect">
            <a:avLst/>
          </a:prstGeom>
        </p:spPr>
      </p:pic>
      <p:pic>
        <p:nvPicPr>
          <p:cNvPr id="100" name="Picture 99" descr="lock.png"/>
          <p:cNvPicPr>
            <a:picLocks noChangeAspect="1"/>
          </p:cNvPicPr>
          <p:nvPr/>
        </p:nvPicPr>
        <p:blipFill>
          <a:blip r:embed="rId22"/>
          <a:stretch>
            <a:fillRect/>
          </a:stretch>
        </p:blipFill>
        <p:spPr>
          <a:xfrm>
            <a:off x="10988992" y="2827057"/>
            <a:ext cx="183356" cy="266700"/>
          </a:xfrm>
          <a:prstGeom prst="rect">
            <a:avLst/>
          </a:prstGeom>
        </p:spPr>
      </p:pic>
      <p:sp>
        <p:nvSpPr>
          <p:cNvPr id="101" name="TextBox 100"/>
          <p:cNvSpPr txBox="1"/>
          <p:nvPr/>
        </p:nvSpPr>
        <p:spPr>
          <a:xfrm>
            <a:off x="485775" y="4229437"/>
            <a:ext cx="2845916" cy="186689"/>
          </a:xfrm>
          <a:prstGeom prst="rect">
            <a:avLst/>
          </a:prstGeom>
          <a:noFill/>
        </p:spPr>
        <p:txBody>
          <a:bodyPr wrap="none" lIns="0" rIns="0" tIns="0" bIns="0">
            <a:spAutoFit/>
          </a:bodyPr>
          <a:lstStyle/>
          <a:p>
            <a:r>
              <a:rPr sz="1100" b="0">
                <a:solidFill>
                  <a:srgbClr val="2E2E2E"/>
                </a:solidFill>
                <a:latin typeface="Calibri"/>
              </a:rPr>
              <a:t>North America organ transport devices market is</a:t>
            </a:r>
          </a:p>
        </p:txBody>
      </p:sp>
      <p:sp>
        <p:nvSpPr>
          <p:cNvPr id="102" name="TextBox 101"/>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103" name="Picture 102" descr="lock.png"/>
          <p:cNvPicPr>
            <a:picLocks noChangeAspect="1"/>
          </p:cNvPicPr>
          <p:nvPr/>
        </p:nvPicPr>
        <p:blipFill>
          <a:blip r:embed="rId22"/>
          <a:stretch>
            <a:fillRect/>
          </a:stretch>
        </p:blipFill>
        <p:spPr>
          <a:xfrm>
            <a:off x="1678376" y="4387298"/>
            <a:ext cx="128699" cy="187198"/>
          </a:xfrm>
          <a:prstGeom prst="rect">
            <a:avLst/>
          </a:prstGeom>
        </p:spPr>
      </p:pic>
      <p:sp>
        <p:nvSpPr>
          <p:cNvPr id="104" name="TextBox 103"/>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105" name="TextBox 104"/>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Europe in 2036. Among organ transport devices by</a:t>
            </a:r>
          </a:p>
        </p:txBody>
      </p:sp>
      <p:sp>
        <p:nvSpPr>
          <p:cNvPr id="106" name="TextBox 105"/>
          <p:cNvSpPr txBox="1"/>
          <p:nvPr/>
        </p:nvSpPr>
        <p:spPr>
          <a:xfrm>
            <a:off x="485775" y="4732357"/>
            <a:ext cx="2914129" cy="186689"/>
          </a:xfrm>
          <a:prstGeom prst="rect">
            <a:avLst/>
          </a:prstGeom>
          <a:noFill/>
        </p:spPr>
        <p:txBody>
          <a:bodyPr wrap="none" lIns="0" rIns="0" tIns="0" bIns="0">
            <a:spAutoFit/>
          </a:bodyPr>
          <a:lstStyle/>
          <a:p>
            <a:r>
              <a:rPr sz="1100" b="0">
                <a:solidFill>
                  <a:srgbClr val="2E2E2E"/>
                </a:solidFill>
                <a:latin typeface="Calibri"/>
              </a:rPr>
              <a:t>region, South Asia &amp; Pacific is expected to witness</a:t>
            </a:r>
          </a:p>
        </p:txBody>
      </p:sp>
      <p:sp>
        <p:nvSpPr>
          <p:cNvPr id="107" name="TextBox 106"/>
          <p:cNvSpPr txBox="1"/>
          <p:nvPr/>
        </p:nvSpPr>
        <p:spPr>
          <a:xfrm>
            <a:off x="485775" y="489999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108" name="Picture 107" descr="lock.png"/>
          <p:cNvPicPr>
            <a:picLocks noChangeAspect="1"/>
          </p:cNvPicPr>
          <p:nvPr/>
        </p:nvPicPr>
        <p:blipFill>
          <a:blip r:embed="rId22"/>
          <a:stretch>
            <a:fillRect/>
          </a:stretch>
        </p:blipFill>
        <p:spPr>
          <a:xfrm>
            <a:off x="1646163" y="4890217"/>
            <a:ext cx="128699" cy="187198"/>
          </a:xfrm>
          <a:prstGeom prst="rect">
            <a:avLst/>
          </a:prstGeom>
        </p:spPr>
      </p:pic>
      <p:sp>
        <p:nvSpPr>
          <p:cNvPr id="109" name="TextBox 108"/>
          <p:cNvSpPr txBox="1"/>
          <p:nvPr/>
        </p:nvSpPr>
        <p:spPr>
          <a:xfrm>
            <a:off x="1813659"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110" name="TextBox 109"/>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region, North America is</a:t>
            </a:r>
          </a:p>
        </p:txBody>
      </p:sp>
      <p:sp>
        <p:nvSpPr>
          <p:cNvPr id="111" name="TextBox 110"/>
          <p:cNvSpPr txBox="1"/>
          <p:nvPr/>
        </p:nvSpPr>
        <p:spPr>
          <a:xfrm>
            <a:off x="485775" y="5285569"/>
            <a:ext cx="2388889" cy="186689"/>
          </a:xfrm>
          <a:prstGeom prst="rect">
            <a:avLst/>
          </a:prstGeom>
          <a:noFill/>
        </p:spPr>
        <p:txBody>
          <a:bodyPr wrap="none" lIns="0" rIns="0" tIns="0" bIns="0">
            <a:spAutoFit/>
          </a:bodyPr>
          <a:lstStyle/>
          <a:p>
            <a:r>
              <a:rPr sz="1100" b="0">
                <a:solidFill>
                  <a:srgbClr val="2E2E2E"/>
                </a:solidFill>
                <a:latin typeface="Calibri"/>
              </a:rPr>
              <a:t>expected to dominate the market, losing</a:t>
            </a:r>
          </a:p>
        </p:txBody>
      </p:sp>
      <p:pic>
        <p:nvPicPr>
          <p:cNvPr id="112" name="Picture 111" descr="lock.png"/>
          <p:cNvPicPr>
            <a:picLocks noChangeAspect="1"/>
          </p:cNvPicPr>
          <p:nvPr/>
        </p:nvPicPr>
        <p:blipFill>
          <a:blip r:embed="rId22"/>
          <a:stretch>
            <a:fillRect/>
          </a:stretch>
        </p:blipFill>
        <p:spPr>
          <a:xfrm>
            <a:off x="2822716" y="5275790"/>
            <a:ext cx="128699" cy="187198"/>
          </a:xfrm>
          <a:prstGeom prst="rect">
            <a:avLst/>
          </a:prstGeom>
        </p:spPr>
      </p:pic>
      <p:sp>
        <p:nvSpPr>
          <p:cNvPr id="113" name="TextBox 112"/>
          <p:cNvSpPr txBox="1"/>
          <p:nvPr/>
        </p:nvSpPr>
        <p:spPr>
          <a:xfrm>
            <a:off x="2990212" y="5285569"/>
            <a:ext cx="288751"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14" name="TextBox 113"/>
          <p:cNvSpPr txBox="1"/>
          <p:nvPr/>
        </p:nvSpPr>
        <p:spPr>
          <a:xfrm>
            <a:off x="485775" y="5453209"/>
            <a:ext cx="1142231" cy="186689"/>
          </a:xfrm>
          <a:prstGeom prst="rect">
            <a:avLst/>
          </a:prstGeom>
          <a:noFill/>
        </p:spPr>
        <p:txBody>
          <a:bodyPr wrap="none" lIns="0" rIns="0" tIns="0" bIns="0">
            <a:spAutoFit/>
          </a:bodyPr>
          <a:lstStyle/>
          <a:p>
            <a:r>
              <a:rPr sz="1100" b="0">
                <a:solidFill>
                  <a:srgbClr val="2E2E2E"/>
                </a:solidFill>
                <a:latin typeface="Calibri"/>
              </a:rPr>
              <a:t>and accounting for</a:t>
            </a:r>
          </a:p>
        </p:txBody>
      </p:sp>
      <p:pic>
        <p:nvPicPr>
          <p:cNvPr id="115" name="Picture 114" descr="lock.png"/>
          <p:cNvPicPr>
            <a:picLocks noChangeAspect="1"/>
          </p:cNvPicPr>
          <p:nvPr/>
        </p:nvPicPr>
        <p:blipFill>
          <a:blip r:embed="rId22"/>
          <a:stretch>
            <a:fillRect/>
          </a:stretch>
        </p:blipFill>
        <p:spPr>
          <a:xfrm>
            <a:off x="1576057" y="5443430"/>
            <a:ext cx="128699" cy="187198"/>
          </a:xfrm>
          <a:prstGeom prst="rect">
            <a:avLst/>
          </a:prstGeom>
        </p:spPr>
      </p:pic>
      <p:sp>
        <p:nvSpPr>
          <p:cNvPr id="116" name="TextBox 115"/>
          <p:cNvSpPr txBox="1"/>
          <p:nvPr/>
        </p:nvSpPr>
        <p:spPr>
          <a:xfrm>
            <a:off x="1743553"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117" name="TextBox 116"/>
          <p:cNvSpPr txBox="1"/>
          <p:nvPr/>
        </p:nvSpPr>
        <p:spPr>
          <a:xfrm>
            <a:off x="3838575" y="4229437"/>
            <a:ext cx="1063376" cy="186689"/>
          </a:xfrm>
          <a:prstGeom prst="rect">
            <a:avLst/>
          </a:prstGeom>
          <a:noFill/>
        </p:spPr>
        <p:txBody>
          <a:bodyPr wrap="none" lIns="0" rIns="0" tIns="0" bIns="0">
            <a:spAutoFit/>
          </a:bodyPr>
          <a:lstStyle/>
          <a:p>
            <a:r>
              <a:rPr sz="1100" b="0">
                <a:solidFill>
                  <a:srgbClr val="2E2E2E"/>
                </a:solidFill>
                <a:latin typeface="Calibri"/>
              </a:rPr>
              <a:t>● North America:</a:t>
            </a:r>
          </a:p>
        </p:txBody>
      </p:sp>
      <p:pic>
        <p:nvPicPr>
          <p:cNvPr id="118" name="Picture 117" descr="lock.png"/>
          <p:cNvPicPr>
            <a:picLocks noChangeAspect="1"/>
          </p:cNvPicPr>
          <p:nvPr/>
        </p:nvPicPr>
        <p:blipFill>
          <a:blip r:embed="rId22"/>
          <a:stretch>
            <a:fillRect/>
          </a:stretch>
        </p:blipFill>
        <p:spPr>
          <a:xfrm>
            <a:off x="4850003" y="4219658"/>
            <a:ext cx="128699" cy="187198"/>
          </a:xfrm>
          <a:prstGeom prst="rect">
            <a:avLst/>
          </a:prstGeom>
        </p:spPr>
      </p:pic>
      <p:sp>
        <p:nvSpPr>
          <p:cNvPr id="119" name="TextBox 118"/>
          <p:cNvSpPr txBox="1"/>
          <p:nvPr/>
        </p:nvSpPr>
        <p:spPr>
          <a:xfrm>
            <a:off x="50174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0" name="Picture 119" descr="lock.png"/>
          <p:cNvPicPr>
            <a:picLocks noChangeAspect="1"/>
          </p:cNvPicPr>
          <p:nvPr/>
        </p:nvPicPr>
        <p:blipFill>
          <a:blip r:embed="rId22"/>
          <a:stretch>
            <a:fillRect/>
          </a:stretch>
        </p:blipFill>
        <p:spPr>
          <a:xfrm>
            <a:off x="5876949" y="4219658"/>
            <a:ext cx="128699" cy="187198"/>
          </a:xfrm>
          <a:prstGeom prst="rect">
            <a:avLst/>
          </a:prstGeom>
        </p:spPr>
      </p:pic>
      <p:sp>
        <p:nvSpPr>
          <p:cNvPr id="121" name="TextBox 120"/>
          <p:cNvSpPr txBox="1"/>
          <p:nvPr/>
        </p:nvSpPr>
        <p:spPr>
          <a:xfrm>
            <a:off x="604444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122" name="TextBox 121"/>
          <p:cNvSpPr txBox="1"/>
          <p:nvPr/>
        </p:nvSpPr>
        <p:spPr>
          <a:xfrm>
            <a:off x="3838575" y="4447369"/>
            <a:ext cx="636637" cy="186689"/>
          </a:xfrm>
          <a:prstGeom prst="rect">
            <a:avLst/>
          </a:prstGeom>
          <a:noFill/>
        </p:spPr>
        <p:txBody>
          <a:bodyPr wrap="none" lIns="0" rIns="0" tIns="0" bIns="0">
            <a:spAutoFit/>
          </a:bodyPr>
          <a:lstStyle/>
          <a:p>
            <a:r>
              <a:rPr sz="1100" b="0">
                <a:solidFill>
                  <a:srgbClr val="2E2E2E"/>
                </a:solidFill>
                <a:latin typeface="Calibri"/>
              </a:rPr>
              <a:t>● Europe:</a:t>
            </a:r>
          </a:p>
        </p:txBody>
      </p:sp>
      <p:pic>
        <p:nvPicPr>
          <p:cNvPr id="123" name="Picture 122" descr="lock.png"/>
          <p:cNvPicPr>
            <a:picLocks noChangeAspect="1"/>
          </p:cNvPicPr>
          <p:nvPr/>
        </p:nvPicPr>
        <p:blipFill>
          <a:blip r:embed="rId22"/>
          <a:stretch>
            <a:fillRect/>
          </a:stretch>
        </p:blipFill>
        <p:spPr>
          <a:xfrm>
            <a:off x="4423263" y="4437590"/>
            <a:ext cx="128699" cy="187198"/>
          </a:xfrm>
          <a:prstGeom prst="rect">
            <a:avLst/>
          </a:prstGeom>
        </p:spPr>
      </p:pic>
      <p:sp>
        <p:nvSpPr>
          <p:cNvPr id="124" name="TextBox 123"/>
          <p:cNvSpPr txBox="1"/>
          <p:nvPr/>
        </p:nvSpPr>
        <p:spPr>
          <a:xfrm>
            <a:off x="4590759"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25" name="Picture 124" descr="lock.png"/>
          <p:cNvPicPr>
            <a:picLocks noChangeAspect="1"/>
          </p:cNvPicPr>
          <p:nvPr/>
        </p:nvPicPr>
        <p:blipFill>
          <a:blip r:embed="rId22"/>
          <a:stretch>
            <a:fillRect/>
          </a:stretch>
        </p:blipFill>
        <p:spPr>
          <a:xfrm>
            <a:off x="5450209" y="4437590"/>
            <a:ext cx="128699" cy="187198"/>
          </a:xfrm>
          <a:prstGeom prst="rect">
            <a:avLst/>
          </a:prstGeom>
        </p:spPr>
      </p:pic>
      <p:sp>
        <p:nvSpPr>
          <p:cNvPr id="126" name="TextBox 125"/>
          <p:cNvSpPr txBox="1"/>
          <p:nvPr/>
        </p:nvSpPr>
        <p:spPr>
          <a:xfrm>
            <a:off x="5617705" y="4447369"/>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27" name="TextBox 126"/>
          <p:cNvSpPr txBox="1"/>
          <p:nvPr/>
        </p:nvSpPr>
        <p:spPr>
          <a:xfrm>
            <a:off x="3838575" y="4665301"/>
            <a:ext cx="732101" cy="186689"/>
          </a:xfrm>
          <a:prstGeom prst="rect">
            <a:avLst/>
          </a:prstGeom>
          <a:noFill/>
        </p:spPr>
        <p:txBody>
          <a:bodyPr wrap="none" lIns="0" rIns="0" tIns="0" bIns="0">
            <a:spAutoFit/>
          </a:bodyPr>
          <a:lstStyle/>
          <a:p>
            <a:r>
              <a:rPr sz="1100" b="0">
                <a:solidFill>
                  <a:srgbClr val="2E2E2E"/>
                </a:solidFill>
                <a:latin typeface="Calibri"/>
              </a:rPr>
              <a:t>● East Asia:</a:t>
            </a:r>
          </a:p>
        </p:txBody>
      </p:sp>
      <p:pic>
        <p:nvPicPr>
          <p:cNvPr id="128" name="Picture 127" descr="lock.png"/>
          <p:cNvPicPr>
            <a:picLocks noChangeAspect="1"/>
          </p:cNvPicPr>
          <p:nvPr/>
        </p:nvPicPr>
        <p:blipFill>
          <a:blip r:embed="rId22"/>
          <a:stretch>
            <a:fillRect/>
          </a:stretch>
        </p:blipFill>
        <p:spPr>
          <a:xfrm>
            <a:off x="4518727" y="4655522"/>
            <a:ext cx="128699" cy="187198"/>
          </a:xfrm>
          <a:prstGeom prst="rect">
            <a:avLst/>
          </a:prstGeom>
        </p:spPr>
      </p:pic>
      <p:sp>
        <p:nvSpPr>
          <p:cNvPr id="129" name="TextBox 128"/>
          <p:cNvSpPr txBox="1"/>
          <p:nvPr/>
        </p:nvSpPr>
        <p:spPr>
          <a:xfrm>
            <a:off x="4686223" y="466530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0" name="Picture 129" descr="lock.png"/>
          <p:cNvPicPr>
            <a:picLocks noChangeAspect="1"/>
          </p:cNvPicPr>
          <p:nvPr/>
        </p:nvPicPr>
        <p:blipFill>
          <a:blip r:embed="rId22"/>
          <a:stretch>
            <a:fillRect/>
          </a:stretch>
        </p:blipFill>
        <p:spPr>
          <a:xfrm>
            <a:off x="5545673" y="4655522"/>
            <a:ext cx="128699" cy="187198"/>
          </a:xfrm>
          <a:prstGeom prst="rect">
            <a:avLst/>
          </a:prstGeom>
        </p:spPr>
      </p:pic>
      <p:sp>
        <p:nvSpPr>
          <p:cNvPr id="131" name="TextBox 130"/>
          <p:cNvSpPr txBox="1"/>
          <p:nvPr/>
        </p:nvSpPr>
        <p:spPr>
          <a:xfrm>
            <a:off x="5713169" y="4665301"/>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32" name="TextBox 131"/>
          <p:cNvSpPr txBox="1"/>
          <p:nvPr/>
        </p:nvSpPr>
        <p:spPr>
          <a:xfrm>
            <a:off x="3838575" y="4883233"/>
            <a:ext cx="1350143" cy="186689"/>
          </a:xfrm>
          <a:prstGeom prst="rect">
            <a:avLst/>
          </a:prstGeom>
          <a:noFill/>
        </p:spPr>
        <p:txBody>
          <a:bodyPr wrap="none" lIns="0" rIns="0" tIns="0" bIns="0">
            <a:spAutoFit/>
          </a:bodyPr>
          <a:lstStyle/>
          <a:p>
            <a:r>
              <a:rPr sz="1100" b="0">
                <a:solidFill>
                  <a:srgbClr val="2E2E2E"/>
                </a:solidFill>
                <a:latin typeface="Calibri"/>
              </a:rPr>
              <a:t>● South Asia &amp; Pacific:</a:t>
            </a:r>
          </a:p>
        </p:txBody>
      </p:sp>
      <p:pic>
        <p:nvPicPr>
          <p:cNvPr id="133" name="Picture 132" descr="lock.png"/>
          <p:cNvPicPr>
            <a:picLocks noChangeAspect="1"/>
          </p:cNvPicPr>
          <p:nvPr/>
        </p:nvPicPr>
        <p:blipFill>
          <a:blip r:embed="rId22"/>
          <a:stretch>
            <a:fillRect/>
          </a:stretch>
        </p:blipFill>
        <p:spPr>
          <a:xfrm>
            <a:off x="5136770" y="4873454"/>
            <a:ext cx="128699" cy="187198"/>
          </a:xfrm>
          <a:prstGeom prst="rect">
            <a:avLst/>
          </a:prstGeom>
        </p:spPr>
      </p:pic>
      <p:sp>
        <p:nvSpPr>
          <p:cNvPr id="134" name="TextBox 133"/>
          <p:cNvSpPr txBox="1"/>
          <p:nvPr/>
        </p:nvSpPr>
        <p:spPr>
          <a:xfrm>
            <a:off x="5304266" y="488323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35" name="Picture 134" descr="lock.png"/>
          <p:cNvPicPr>
            <a:picLocks noChangeAspect="1"/>
          </p:cNvPicPr>
          <p:nvPr/>
        </p:nvPicPr>
        <p:blipFill>
          <a:blip r:embed="rId22"/>
          <a:stretch>
            <a:fillRect/>
          </a:stretch>
        </p:blipFill>
        <p:spPr>
          <a:xfrm>
            <a:off x="6163716" y="4873454"/>
            <a:ext cx="128699" cy="187198"/>
          </a:xfrm>
          <a:prstGeom prst="rect">
            <a:avLst/>
          </a:prstGeom>
        </p:spPr>
      </p:pic>
      <p:sp>
        <p:nvSpPr>
          <p:cNvPr id="136" name="TextBox 135"/>
          <p:cNvSpPr txBox="1"/>
          <p:nvPr/>
        </p:nvSpPr>
        <p:spPr>
          <a:xfrm>
            <a:off x="6331212" y="4883233"/>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137" name="TextBox 136"/>
          <p:cNvSpPr txBox="1"/>
          <p:nvPr/>
        </p:nvSpPr>
        <p:spPr>
          <a:xfrm>
            <a:off x="3838575" y="5101165"/>
            <a:ext cx="1008260" cy="186689"/>
          </a:xfrm>
          <a:prstGeom prst="rect">
            <a:avLst/>
          </a:prstGeom>
          <a:noFill/>
        </p:spPr>
        <p:txBody>
          <a:bodyPr wrap="none" lIns="0" rIns="0" tIns="0" bIns="0">
            <a:spAutoFit/>
          </a:bodyPr>
          <a:lstStyle/>
          <a:p>
            <a:r>
              <a:rPr sz="1100" b="0">
                <a:solidFill>
                  <a:srgbClr val="2E2E2E"/>
                </a:solidFill>
                <a:latin typeface="Calibri"/>
              </a:rPr>
              <a:t>● Latin America:</a:t>
            </a:r>
          </a:p>
        </p:txBody>
      </p:sp>
      <p:pic>
        <p:nvPicPr>
          <p:cNvPr id="138" name="Picture 137" descr="lock.png"/>
          <p:cNvPicPr>
            <a:picLocks noChangeAspect="1"/>
          </p:cNvPicPr>
          <p:nvPr/>
        </p:nvPicPr>
        <p:blipFill>
          <a:blip r:embed="rId22"/>
          <a:stretch>
            <a:fillRect/>
          </a:stretch>
        </p:blipFill>
        <p:spPr>
          <a:xfrm>
            <a:off x="4794887" y="5091385"/>
            <a:ext cx="128699" cy="187198"/>
          </a:xfrm>
          <a:prstGeom prst="rect">
            <a:avLst/>
          </a:prstGeom>
        </p:spPr>
      </p:pic>
      <p:sp>
        <p:nvSpPr>
          <p:cNvPr id="139" name="TextBox 138"/>
          <p:cNvSpPr txBox="1"/>
          <p:nvPr/>
        </p:nvSpPr>
        <p:spPr>
          <a:xfrm>
            <a:off x="4962383" y="5101165"/>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0" name="Picture 139" descr="lock.png"/>
          <p:cNvPicPr>
            <a:picLocks noChangeAspect="1"/>
          </p:cNvPicPr>
          <p:nvPr/>
        </p:nvPicPr>
        <p:blipFill>
          <a:blip r:embed="rId22"/>
          <a:stretch>
            <a:fillRect/>
          </a:stretch>
        </p:blipFill>
        <p:spPr>
          <a:xfrm>
            <a:off x="5821833" y="5091385"/>
            <a:ext cx="128699" cy="187198"/>
          </a:xfrm>
          <a:prstGeom prst="rect">
            <a:avLst/>
          </a:prstGeom>
        </p:spPr>
      </p:pic>
      <p:sp>
        <p:nvSpPr>
          <p:cNvPr id="141" name="TextBox 140"/>
          <p:cNvSpPr txBox="1"/>
          <p:nvPr/>
        </p:nvSpPr>
        <p:spPr>
          <a:xfrm>
            <a:off x="5989329" y="5101165"/>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2" name="TextBox 141"/>
          <p:cNvSpPr txBox="1"/>
          <p:nvPr/>
        </p:nvSpPr>
        <p:spPr>
          <a:xfrm>
            <a:off x="3838575" y="5319097"/>
            <a:ext cx="1386944" cy="186689"/>
          </a:xfrm>
          <a:prstGeom prst="rect">
            <a:avLst/>
          </a:prstGeom>
          <a:noFill/>
        </p:spPr>
        <p:txBody>
          <a:bodyPr wrap="none" lIns="0" rIns="0" tIns="0" bIns="0">
            <a:spAutoFit/>
          </a:bodyPr>
          <a:lstStyle/>
          <a:p>
            <a:r>
              <a:rPr sz="1100" b="0">
                <a:solidFill>
                  <a:srgbClr val="2E2E2E"/>
                </a:solidFill>
                <a:latin typeface="Calibri"/>
              </a:rPr>
              <a:t>● Middle East &amp; Africa:</a:t>
            </a:r>
          </a:p>
        </p:txBody>
      </p:sp>
      <p:pic>
        <p:nvPicPr>
          <p:cNvPr id="143" name="Picture 142" descr="lock.png"/>
          <p:cNvPicPr>
            <a:picLocks noChangeAspect="1"/>
          </p:cNvPicPr>
          <p:nvPr/>
        </p:nvPicPr>
        <p:blipFill>
          <a:blip r:embed="rId22"/>
          <a:stretch>
            <a:fillRect/>
          </a:stretch>
        </p:blipFill>
        <p:spPr>
          <a:xfrm>
            <a:off x="5173571" y="5309317"/>
            <a:ext cx="128699" cy="187198"/>
          </a:xfrm>
          <a:prstGeom prst="rect">
            <a:avLst/>
          </a:prstGeom>
        </p:spPr>
      </p:pic>
      <p:sp>
        <p:nvSpPr>
          <p:cNvPr id="144" name="TextBox 143"/>
          <p:cNvSpPr txBox="1"/>
          <p:nvPr/>
        </p:nvSpPr>
        <p:spPr>
          <a:xfrm>
            <a:off x="5341067" y="531909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45" name="Picture 144" descr="lock.png"/>
          <p:cNvPicPr>
            <a:picLocks noChangeAspect="1"/>
          </p:cNvPicPr>
          <p:nvPr/>
        </p:nvPicPr>
        <p:blipFill>
          <a:blip r:embed="rId22"/>
          <a:stretch>
            <a:fillRect/>
          </a:stretch>
        </p:blipFill>
        <p:spPr>
          <a:xfrm>
            <a:off x="6200517" y="5309317"/>
            <a:ext cx="128699" cy="187198"/>
          </a:xfrm>
          <a:prstGeom prst="rect">
            <a:avLst/>
          </a:prstGeom>
        </p:spPr>
      </p:pic>
      <p:sp>
        <p:nvSpPr>
          <p:cNvPr id="146" name="TextBox 145"/>
          <p:cNvSpPr txBox="1"/>
          <p:nvPr/>
        </p:nvSpPr>
        <p:spPr>
          <a:xfrm>
            <a:off x="6368013" y="5319097"/>
            <a:ext cx="1415611" cy="186689"/>
          </a:xfrm>
          <a:prstGeom prst="rect">
            <a:avLst/>
          </a:prstGeom>
          <a:noFill/>
        </p:spPr>
        <p:txBody>
          <a:bodyPr wrap="none" lIns="0" rIns="0" tIns="0" bIns="0">
            <a:spAutoFit/>
          </a:bodyPr>
          <a:lstStyle/>
          <a:p>
            <a:r>
              <a:rPr sz="1100" b="0">
                <a:solidFill>
                  <a:srgbClr val="2E2E2E"/>
                </a:solidFill>
                <a:latin typeface="Calibri"/>
              </a:rPr>
              <a:t>CAGR a smaller market.</a:t>
            </a:r>
          </a:p>
        </p:txBody>
      </p:sp>
      <p:sp>
        <p:nvSpPr>
          <p:cNvPr id="147" name="TextBox 146"/>
          <p:cNvSpPr txBox="1"/>
          <p:nvPr/>
        </p:nvSpPr>
        <p:spPr>
          <a:xfrm>
            <a:off x="8524875" y="5842641"/>
            <a:ext cx="3081608" cy="194310"/>
          </a:xfrm>
          <a:prstGeom prst="rect">
            <a:avLst/>
          </a:prstGeom>
          <a:noFill/>
        </p:spPr>
        <p:txBody>
          <a:bodyPr wrap="none" lIns="0" rIns="0" tIns="0" bIns="0">
            <a:spAutoFit/>
          </a:bodyPr>
          <a:lstStyle/>
          <a:p>
            <a:r>
              <a:rPr sz="1150" b="1">
                <a:solidFill>
                  <a:srgbClr val="0B2E4A"/>
                </a:solidFill>
                <a:latin typeface="Calibri"/>
              </a:rPr>
              <a:t>The Global market is projected to grow at a CAGR</a:t>
            </a:r>
          </a:p>
        </p:txBody>
      </p:sp>
      <p:sp>
        <p:nvSpPr>
          <p:cNvPr id="148" name="TextBox 147"/>
          <p:cNvSpPr txBox="1"/>
          <p:nvPr/>
        </p:nvSpPr>
        <p:spPr>
          <a:xfrm>
            <a:off x="8524875" y="6017901"/>
            <a:ext cx="200855" cy="194310"/>
          </a:xfrm>
          <a:prstGeom prst="rect">
            <a:avLst/>
          </a:prstGeom>
          <a:noFill/>
        </p:spPr>
        <p:txBody>
          <a:bodyPr wrap="none" lIns="0" rIns="0" tIns="0" bIns="0">
            <a:spAutoFit/>
          </a:bodyPr>
          <a:lstStyle/>
          <a:p>
            <a:r>
              <a:rPr sz="1150" b="1">
                <a:solidFill>
                  <a:srgbClr val="0B2E4A"/>
                </a:solidFill>
                <a:latin typeface="Calibri"/>
              </a:rPr>
              <a:t>of</a:t>
            </a:r>
          </a:p>
        </p:txBody>
      </p:sp>
      <p:pic>
        <p:nvPicPr>
          <p:cNvPr id="149" name="Picture 148" descr="lock.png"/>
          <p:cNvPicPr>
            <a:picLocks noChangeAspect="1"/>
          </p:cNvPicPr>
          <p:nvPr/>
        </p:nvPicPr>
        <p:blipFill>
          <a:blip r:embed="rId22"/>
          <a:stretch>
            <a:fillRect/>
          </a:stretch>
        </p:blipFill>
        <p:spPr>
          <a:xfrm>
            <a:off x="8674884" y="6007677"/>
            <a:ext cx="134549" cy="195707"/>
          </a:xfrm>
          <a:prstGeom prst="rect">
            <a:avLst/>
          </a:prstGeom>
        </p:spPr>
      </p:pic>
      <p:sp>
        <p:nvSpPr>
          <p:cNvPr id="150" name="TextBox 149"/>
          <p:cNvSpPr txBox="1"/>
          <p:nvPr/>
        </p:nvSpPr>
        <p:spPr>
          <a:xfrm>
            <a:off x="8849994"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601312"/>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159654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2034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8226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1899281"/>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9451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818319"/>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8023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40717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4712970" y="240241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326216"/>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38812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551045" y="3128629"/>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4712970" y="312386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304766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0" name="BPS Value 4"/>
          <p:cNvSpPr txBox="1"/>
          <p:nvPr/>
        </p:nvSpPr>
        <p:spPr>
          <a:xfrm>
            <a:off x="6305550" y="310957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FMI Legend Chip"/>
          <p:cNvSpPr/>
          <p:nvPr/>
        </p:nvSpPr>
        <p:spPr>
          <a:xfrm>
            <a:off x="4551045" y="390506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rot="10800000">
            <a:off x="4712970" y="390030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82410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886012"/>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5" name="FMI Legend Chip"/>
          <p:cNvSpPr/>
          <p:nvPr/>
        </p:nvSpPr>
        <p:spPr>
          <a:xfrm>
            <a:off x="4551045" y="471920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a:off x="4712970" y="47144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638242"/>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8" name="BPS Value 6"/>
          <p:cNvSpPr txBox="1"/>
          <p:nvPr/>
        </p:nvSpPr>
        <p:spPr>
          <a:xfrm>
            <a:off x="6305550" y="470015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2_658_537_605E5C.png"/>
          <p:cNvPicPr>
            <a:picLocks noChangeAspect="1"/>
          </p:cNvPicPr>
          <p:nvPr/>
        </p:nvPicPr>
        <p:blipFill>
          <a:blip r:embed="rId6"/>
          <a:stretch>
            <a:fillRect/>
          </a:stretch>
        </p:blipFill>
        <p:spPr>
          <a:xfrm>
            <a:off x="744310" y="5897562"/>
            <a:ext cx="2740473" cy="482599"/>
          </a:xfrm>
          <a:prstGeom prst="rect">
            <a:avLst/>
          </a:prstGeom>
        </p:spPr>
      </p:pic>
      <p:pic>
        <p:nvPicPr>
          <p:cNvPr id="49" name="Picture 48" descr="4_077_021_605E5C.png"/>
          <p:cNvPicPr>
            <a:picLocks noChangeAspect="1"/>
          </p:cNvPicPr>
          <p:nvPr/>
        </p:nvPicPr>
        <p:blipFill>
          <a:blip r:embed="rId7"/>
          <a:stretch>
            <a:fillRect/>
          </a:stretch>
        </p:blipFill>
        <p:spPr>
          <a:xfrm>
            <a:off x="4778148" y="5897562"/>
            <a:ext cx="2740473" cy="482599"/>
          </a:xfrm>
          <a:prstGeom prst="rect">
            <a:avLst/>
          </a:prstGeom>
        </p:spPr>
      </p:pic>
      <p:pic>
        <p:nvPicPr>
          <p:cNvPr id="50" name="Picture 49" descr="4_4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526160" cy="194310"/>
          </a:xfrm>
          <a:prstGeom prst="rect">
            <a:avLst/>
          </a:prstGeom>
          <a:noFill/>
        </p:spPr>
        <p:txBody>
          <a:bodyPr wrap="none" lIns="0" rIns="0" tIns="0" bIns="0">
            <a:spAutoFit/>
          </a:bodyPr>
          <a:lstStyle/>
          <a:p>
            <a:r>
              <a:rPr sz="1150" b="0">
                <a:solidFill>
                  <a:srgbClr val="2E2E2E"/>
                </a:solidFill>
                <a:latin typeface="Calibri"/>
              </a:rPr>
              <a:t>South Asia &amp; Pacific organ transport devices market is projected to register</a:t>
            </a:r>
          </a:p>
        </p:txBody>
      </p:sp>
      <p:pic>
        <p:nvPicPr>
          <p:cNvPr id="53" name="Picture 52" descr="lock.png"/>
          <p:cNvPicPr>
            <a:picLocks noChangeAspect="1"/>
          </p:cNvPicPr>
          <p:nvPr/>
        </p:nvPicPr>
        <p:blipFill>
          <a:blip r:embed="rId5"/>
          <a:stretch>
            <a:fillRect/>
          </a:stretch>
        </p:blipFill>
        <p:spPr>
          <a:xfrm>
            <a:off x="7224920" y="1565211"/>
            <a:ext cx="134549" cy="195707"/>
          </a:xfrm>
          <a:prstGeom prst="rect">
            <a:avLst/>
          </a:prstGeom>
        </p:spPr>
      </p:pic>
      <p:sp>
        <p:nvSpPr>
          <p:cNvPr id="54" name="TextBox 53"/>
          <p:cNvSpPr txBox="1"/>
          <p:nvPr/>
        </p:nvSpPr>
        <p:spPr>
          <a:xfrm>
            <a:off x="7400029" y="1575435"/>
            <a:ext cx="4388668" cy="194310"/>
          </a:xfrm>
          <a:prstGeom prst="rect">
            <a:avLst/>
          </a:prstGeom>
          <a:noFill/>
        </p:spPr>
        <p:txBody>
          <a:bodyPr wrap="none" lIns="0" rIns="0" tIns="0" bIns="0">
            <a:spAutoFit/>
          </a:bodyPr>
          <a:lstStyle/>
          <a:p>
            <a:r>
              <a:rPr sz="1150" b="0">
                <a:solidFill>
                  <a:srgbClr val="2E2E2E"/>
                </a:solidFill>
                <a:latin typeface="Calibri"/>
              </a:rPr>
              <a:t>X higher volume than Europe in 2036. Among organ transport devices by</a:t>
            </a:r>
          </a:p>
        </p:txBody>
      </p:sp>
      <p:sp>
        <p:nvSpPr>
          <p:cNvPr id="55" name="TextBox 54"/>
          <p:cNvSpPr txBox="1"/>
          <p:nvPr/>
        </p:nvSpPr>
        <p:spPr>
          <a:xfrm>
            <a:off x="7239000" y="1750695"/>
            <a:ext cx="4263994" cy="194310"/>
          </a:xfrm>
          <a:prstGeom prst="rect">
            <a:avLst/>
          </a:prstGeom>
          <a:noFill/>
        </p:spPr>
        <p:txBody>
          <a:bodyPr wrap="none" lIns="0" rIns="0" tIns="0" bIns="0">
            <a:spAutoFit/>
          </a:bodyPr>
          <a:lstStyle/>
          <a:p>
            <a:r>
              <a:rPr sz="1150" b="0">
                <a:solidFill>
                  <a:srgbClr val="2E2E2E"/>
                </a:solidFill>
                <a:latin typeface="Calibri"/>
              </a:rPr>
              <a:t>region, South Asia &amp; Pacific is expected to witness the highest CAGR of</a:t>
            </a:r>
          </a:p>
        </p:txBody>
      </p:sp>
      <p:pic>
        <p:nvPicPr>
          <p:cNvPr id="56" name="Picture 55" descr="lock.png"/>
          <p:cNvPicPr>
            <a:picLocks noChangeAspect="1"/>
          </p:cNvPicPr>
          <p:nvPr/>
        </p:nvPicPr>
        <p:blipFill>
          <a:blip r:embed="rId5"/>
          <a:stretch>
            <a:fillRect/>
          </a:stretch>
        </p:blipFill>
        <p:spPr>
          <a:xfrm>
            <a:off x="11452148" y="1740471"/>
            <a:ext cx="134549" cy="195707"/>
          </a:xfrm>
          <a:prstGeom prst="rect">
            <a:avLst/>
          </a:prstGeom>
        </p:spPr>
      </p:pic>
      <p:sp>
        <p:nvSpPr>
          <p:cNvPr id="57" name="TextBox 56"/>
          <p:cNvSpPr txBox="1"/>
          <p:nvPr/>
        </p:nvSpPr>
        <p:spPr>
          <a:xfrm>
            <a:off x="7239000" y="192595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58" name="TextBox 57"/>
          <p:cNvSpPr txBox="1"/>
          <p:nvPr/>
        </p:nvSpPr>
        <p:spPr>
          <a:xfrm>
            <a:off x="7239000" y="2153793"/>
            <a:ext cx="4252602"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a:t>
            </a:r>
          </a:p>
        </p:txBody>
      </p:sp>
      <p:sp>
        <p:nvSpPr>
          <p:cNvPr id="59" name="TextBox 58"/>
          <p:cNvSpPr txBox="1"/>
          <p:nvPr/>
        </p:nvSpPr>
        <p:spPr>
          <a:xfrm>
            <a:off x="7239000" y="2329053"/>
            <a:ext cx="1837072" cy="194310"/>
          </a:xfrm>
          <a:prstGeom prst="rect">
            <a:avLst/>
          </a:prstGeom>
          <a:noFill/>
        </p:spPr>
        <p:txBody>
          <a:bodyPr wrap="none" lIns="0" rIns="0" tIns="0" bIns="0">
            <a:spAutoFit/>
          </a:bodyPr>
          <a:lstStyle/>
          <a:p>
            <a:r>
              <a:rPr sz="1150" b="0">
                <a:solidFill>
                  <a:srgbClr val="2E2E2E"/>
                </a:solidFill>
                <a:latin typeface="Calibri"/>
              </a:rPr>
              <a:t>dominate the market, gaining</a:t>
            </a:r>
          </a:p>
        </p:txBody>
      </p:sp>
      <p:pic>
        <p:nvPicPr>
          <p:cNvPr id="60" name="Picture 59" descr="lock.png"/>
          <p:cNvPicPr>
            <a:picLocks noChangeAspect="1"/>
          </p:cNvPicPr>
          <p:nvPr/>
        </p:nvPicPr>
        <p:blipFill>
          <a:blip r:embed="rId5"/>
          <a:stretch>
            <a:fillRect/>
          </a:stretch>
        </p:blipFill>
        <p:spPr>
          <a:xfrm>
            <a:off x="9025226" y="2318829"/>
            <a:ext cx="134549" cy="195707"/>
          </a:xfrm>
          <a:prstGeom prst="rect">
            <a:avLst/>
          </a:prstGeom>
        </p:spPr>
      </p:pic>
      <p:sp>
        <p:nvSpPr>
          <p:cNvPr id="61" name="TextBox 60"/>
          <p:cNvSpPr txBox="1"/>
          <p:nvPr/>
        </p:nvSpPr>
        <p:spPr>
          <a:xfrm>
            <a:off x="9200335"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2" name="Picture 61" descr="lock.png"/>
          <p:cNvPicPr>
            <a:picLocks noChangeAspect="1"/>
          </p:cNvPicPr>
          <p:nvPr/>
        </p:nvPicPr>
        <p:blipFill>
          <a:blip r:embed="rId5"/>
          <a:stretch>
            <a:fillRect/>
          </a:stretch>
        </p:blipFill>
        <p:spPr>
          <a:xfrm>
            <a:off x="10595478" y="2318829"/>
            <a:ext cx="134549" cy="195707"/>
          </a:xfrm>
          <a:prstGeom prst="rect">
            <a:avLst/>
          </a:prstGeom>
        </p:spPr>
      </p:pic>
      <p:sp>
        <p:nvSpPr>
          <p:cNvPr id="63" name="TextBox 62"/>
          <p:cNvSpPr txBox="1"/>
          <p:nvPr/>
        </p:nvSpPr>
        <p:spPr>
          <a:xfrm>
            <a:off x="10770588"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4" name="TextBox 63"/>
          <p:cNvSpPr txBox="1"/>
          <p:nvPr/>
        </p:nvSpPr>
        <p:spPr>
          <a:xfrm>
            <a:off x="7239000" y="2504313"/>
            <a:ext cx="2083531" cy="194310"/>
          </a:xfrm>
          <a:prstGeom prst="rect">
            <a:avLst/>
          </a:prstGeom>
          <a:noFill/>
        </p:spPr>
        <p:txBody>
          <a:bodyPr wrap="none" lIns="0" rIns="0" tIns="0" bIns="0">
            <a:spAutoFit/>
          </a:bodyPr>
          <a:lstStyle/>
          <a:p>
            <a:r>
              <a:rPr sz="1150" b="0">
                <a:solidFill>
                  <a:srgbClr val="2E2E2E"/>
                </a:solidFill>
                <a:latin typeface="Calibri"/>
              </a:rPr>
              <a:t>North America is expected to lose</a:t>
            </a:r>
          </a:p>
        </p:txBody>
      </p:sp>
      <p:pic>
        <p:nvPicPr>
          <p:cNvPr id="65" name="Picture 64" descr="lock.png"/>
          <p:cNvPicPr>
            <a:picLocks noChangeAspect="1"/>
          </p:cNvPicPr>
          <p:nvPr/>
        </p:nvPicPr>
        <p:blipFill>
          <a:blip r:embed="rId5"/>
          <a:stretch>
            <a:fillRect/>
          </a:stretch>
        </p:blipFill>
        <p:spPr>
          <a:xfrm>
            <a:off x="9271685" y="2494089"/>
            <a:ext cx="134549" cy="195707"/>
          </a:xfrm>
          <a:prstGeom prst="rect">
            <a:avLst/>
          </a:prstGeom>
        </p:spPr>
      </p:pic>
      <p:sp>
        <p:nvSpPr>
          <p:cNvPr id="66" name="TextBox 65"/>
          <p:cNvSpPr txBox="1"/>
          <p:nvPr/>
        </p:nvSpPr>
        <p:spPr>
          <a:xfrm>
            <a:off x="9446794" y="2504313"/>
            <a:ext cx="1926356" cy="194310"/>
          </a:xfrm>
          <a:prstGeom prst="rect">
            <a:avLst/>
          </a:prstGeom>
          <a:noFill/>
        </p:spPr>
        <p:txBody>
          <a:bodyPr wrap="none" lIns="0" rIns="0" tIns="0" bIns="0">
            <a:spAutoFit/>
          </a:bodyPr>
          <a:lstStyle/>
          <a:p>
            <a:r>
              <a:rPr sz="1150" b="0">
                <a:solidFill>
                  <a:srgbClr val="2E2E2E"/>
                </a:solidFill>
                <a:latin typeface="Calibri"/>
              </a:rPr>
              <a:t>BPS over the forecast period to</a:t>
            </a:r>
          </a:p>
        </p:txBody>
      </p:sp>
      <p:sp>
        <p:nvSpPr>
          <p:cNvPr id="67" name="TextBox 66"/>
          <p:cNvSpPr txBox="1"/>
          <p:nvPr/>
        </p:nvSpPr>
        <p:spPr>
          <a:xfrm>
            <a:off x="7239000" y="2679573"/>
            <a:ext cx="755104" cy="194310"/>
          </a:xfrm>
          <a:prstGeom prst="rect">
            <a:avLst/>
          </a:prstGeom>
          <a:noFill/>
        </p:spPr>
        <p:txBody>
          <a:bodyPr wrap="none" lIns="0" rIns="0" tIns="0" bIns="0">
            <a:spAutoFit/>
          </a:bodyPr>
          <a:lstStyle/>
          <a:p>
            <a:r>
              <a:rPr sz="1150" b="0">
                <a:solidFill>
                  <a:srgbClr val="2E2E2E"/>
                </a:solidFill>
                <a:latin typeface="Calibri"/>
              </a:rPr>
              <a:t>account for</a:t>
            </a:r>
          </a:p>
        </p:txBody>
      </p:sp>
      <p:pic>
        <p:nvPicPr>
          <p:cNvPr id="68" name="Picture 67" descr="lock.png"/>
          <p:cNvPicPr>
            <a:picLocks noChangeAspect="1"/>
          </p:cNvPicPr>
          <p:nvPr/>
        </p:nvPicPr>
        <p:blipFill>
          <a:blip r:embed="rId5"/>
          <a:stretch>
            <a:fillRect/>
          </a:stretch>
        </p:blipFill>
        <p:spPr>
          <a:xfrm>
            <a:off x="7943258" y="2669349"/>
            <a:ext cx="134549" cy="195707"/>
          </a:xfrm>
          <a:prstGeom prst="rect">
            <a:avLst/>
          </a:prstGeom>
        </p:spPr>
      </p:pic>
      <p:sp>
        <p:nvSpPr>
          <p:cNvPr id="69" name="TextBox 68"/>
          <p:cNvSpPr txBox="1"/>
          <p:nvPr/>
        </p:nvSpPr>
        <p:spPr>
          <a:xfrm>
            <a:off x="8118367" y="267957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70"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region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1589120"/>
            <a:ext cx="85725" cy="85725"/>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4712970" y="158435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508157"/>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Middle East &amp; Africa</a:t>
            </a:r>
          </a:p>
        </p:txBody>
      </p:sp>
      <p:sp>
        <p:nvSpPr>
          <p:cNvPr id="18" name="BPS Value 1"/>
          <p:cNvSpPr txBox="1"/>
          <p:nvPr/>
        </p:nvSpPr>
        <p:spPr>
          <a:xfrm>
            <a:off x="6305550" y="157007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551045" y="1868604"/>
            <a:ext cx="85725" cy="85725"/>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4712970" y="186384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178764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Latin America</a:t>
            </a:r>
          </a:p>
        </p:txBody>
      </p:sp>
      <p:sp>
        <p:nvSpPr>
          <p:cNvPr id="22" name="BPS Value 2"/>
          <p:cNvSpPr txBox="1"/>
          <p:nvPr/>
        </p:nvSpPr>
        <p:spPr>
          <a:xfrm>
            <a:off x="6305550" y="18495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551045" y="2255733"/>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10800000">
            <a:off x="4712970" y="225097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4855845" y="2174770"/>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East Asia</a:t>
            </a:r>
          </a:p>
        </p:txBody>
      </p:sp>
      <p:sp>
        <p:nvSpPr>
          <p:cNvPr id="26" name="BPS Value 3"/>
          <p:cNvSpPr txBox="1"/>
          <p:nvPr/>
        </p:nvSpPr>
        <p:spPr>
          <a:xfrm>
            <a:off x="6305550" y="223668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7" name="FMI Legend Chip"/>
          <p:cNvSpPr/>
          <p:nvPr/>
        </p:nvSpPr>
        <p:spPr>
          <a:xfrm>
            <a:off x="4551045" y="2729877"/>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a:off x="4712970" y="272511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4855845" y="264891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South Asia &amp; Pacific</a:t>
            </a:r>
          </a:p>
        </p:txBody>
      </p:sp>
      <p:sp>
        <p:nvSpPr>
          <p:cNvPr id="30" name="BPS Value 4"/>
          <p:cNvSpPr txBox="1"/>
          <p:nvPr/>
        </p:nvSpPr>
        <p:spPr>
          <a:xfrm>
            <a:off x="6305550" y="2710827"/>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1" name="FMI Legend Chip"/>
          <p:cNvSpPr/>
          <p:nvPr/>
        </p:nvSpPr>
        <p:spPr>
          <a:xfrm>
            <a:off x="4551045" y="3494266"/>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Isosceles Triangle 31"/>
          <p:cNvSpPr/>
          <p:nvPr/>
        </p:nvSpPr>
        <p:spPr>
          <a:xfrm>
            <a:off x="4712970" y="3489504"/>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PS Name 5"/>
          <p:cNvSpPr txBox="1"/>
          <p:nvPr/>
        </p:nvSpPr>
        <p:spPr>
          <a:xfrm>
            <a:off x="4855845" y="341330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Europe</a:t>
            </a:r>
          </a:p>
        </p:txBody>
      </p:sp>
      <p:sp>
        <p:nvSpPr>
          <p:cNvPr id="34" name="BPS Value 5"/>
          <p:cNvSpPr txBox="1"/>
          <p:nvPr/>
        </p:nvSpPr>
        <p:spPr>
          <a:xfrm>
            <a:off x="6305550" y="3475216"/>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35" name="FMI Legend Chip"/>
          <p:cNvSpPr/>
          <p:nvPr/>
        </p:nvSpPr>
        <p:spPr>
          <a:xfrm>
            <a:off x="4551045" y="457420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Isosceles Triangle 35"/>
          <p:cNvSpPr/>
          <p:nvPr/>
        </p:nvSpPr>
        <p:spPr>
          <a:xfrm rot="10800000">
            <a:off x="4712970" y="456943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PS Name 6"/>
          <p:cNvSpPr txBox="1"/>
          <p:nvPr/>
        </p:nvSpPr>
        <p:spPr>
          <a:xfrm>
            <a:off x="4855845" y="4493238"/>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North America</a:t>
            </a:r>
          </a:p>
        </p:txBody>
      </p:sp>
      <p:sp>
        <p:nvSpPr>
          <p:cNvPr id="38" name="BPS Value 6"/>
          <p:cNvSpPr txBox="1"/>
          <p:nvPr/>
        </p:nvSpPr>
        <p:spPr>
          <a:xfrm>
            <a:off x="6305550" y="455515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9" name="Rounded Rectangle 38"/>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41" name="Rectangle 40"/>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3" name="Rounded Rectangle 42"/>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r>
          </a:p>
        </p:txBody>
      </p:sp>
      <p:sp>
        <p:nvSpPr>
          <p:cNvPr id="44" name="Rounded Rectangle 43"/>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r>
          </a:p>
        </p:txBody>
      </p:sp>
      <p:sp>
        <p:nvSpPr>
          <p:cNvPr id="45" name="Rounded Rectangle 44"/>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r>
          </a:p>
        </p:txBody>
      </p:sp>
      <p:sp>
        <p:nvSpPr>
          <p:cNvPr id="46" name="TextBox 4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7" name="Picture 46" descr="lock.png"/>
          <p:cNvPicPr>
            <a:picLocks noChangeAspect="1"/>
          </p:cNvPicPr>
          <p:nvPr/>
        </p:nvPicPr>
        <p:blipFill>
          <a:blip r:embed="rId5"/>
          <a:stretch>
            <a:fillRect/>
          </a:stretch>
        </p:blipFill>
        <p:spPr>
          <a:xfrm>
            <a:off x="2333863" y="3121818"/>
            <a:ext cx="343793" cy="500062"/>
          </a:xfrm>
          <a:prstGeom prst="rect">
            <a:avLst/>
          </a:prstGeom>
        </p:spPr>
      </p:pic>
      <p:pic>
        <p:nvPicPr>
          <p:cNvPr id="48" name="Picture 47" descr="10_900_605E5C.png"/>
          <p:cNvPicPr>
            <a:picLocks noChangeAspect="1"/>
          </p:cNvPicPr>
          <p:nvPr/>
        </p:nvPicPr>
        <p:blipFill>
          <a:blip r:embed="rId6"/>
          <a:stretch>
            <a:fillRect/>
          </a:stretch>
        </p:blipFill>
        <p:spPr>
          <a:xfrm>
            <a:off x="1175203" y="5897562"/>
            <a:ext cx="1878689" cy="482599"/>
          </a:xfrm>
          <a:prstGeom prst="rect">
            <a:avLst/>
          </a:prstGeom>
        </p:spPr>
      </p:pic>
      <p:pic>
        <p:nvPicPr>
          <p:cNvPr id="49" name="Picture 48" descr="17_685_605E5C.png"/>
          <p:cNvPicPr>
            <a:picLocks noChangeAspect="1"/>
          </p:cNvPicPr>
          <p:nvPr/>
        </p:nvPicPr>
        <p:blipFill>
          <a:blip r:embed="rId7"/>
          <a:stretch>
            <a:fillRect/>
          </a:stretch>
        </p:blipFill>
        <p:spPr>
          <a:xfrm>
            <a:off x="5209041" y="5897562"/>
            <a:ext cx="1878689" cy="482599"/>
          </a:xfrm>
          <a:prstGeom prst="rect">
            <a:avLst/>
          </a:prstGeom>
        </p:spPr>
      </p:pic>
      <p:pic>
        <p:nvPicPr>
          <p:cNvPr id="50" name="Picture 49" descr="5_0__605E5C.png"/>
          <p:cNvPicPr>
            <a:picLocks noChangeAspect="1"/>
          </p:cNvPicPr>
          <p:nvPr/>
        </p:nvPicPr>
        <p:blipFill>
          <a:blip r:embed="rId8"/>
          <a:stretch>
            <a:fillRect/>
          </a:stretch>
        </p:blipFill>
        <p:spPr>
          <a:xfrm>
            <a:off x="9465355" y="5897562"/>
            <a:ext cx="1309912" cy="482599"/>
          </a:xfrm>
          <a:prstGeom prst="rect">
            <a:avLst/>
          </a:prstGeom>
        </p:spPr>
      </p:pic>
      <p:pic>
        <p:nvPicPr>
          <p:cNvPr id="51" name="Picture 50" descr="lock.png"/>
          <p:cNvPicPr>
            <a:picLocks noChangeAspect="1"/>
          </p:cNvPicPr>
          <p:nvPr/>
        </p:nvPicPr>
        <p:blipFill>
          <a:blip r:embed="rId5"/>
          <a:stretch>
            <a:fillRect/>
          </a:stretch>
        </p:blipFill>
        <p:spPr>
          <a:xfrm>
            <a:off x="5914657" y="5893409"/>
            <a:ext cx="337498" cy="490906"/>
          </a:xfrm>
          <a:prstGeom prst="rect">
            <a:avLst/>
          </a:prstGeom>
        </p:spPr>
      </p:pic>
      <p:sp>
        <p:nvSpPr>
          <p:cNvPr id="52" name="TextBox 51"/>
          <p:cNvSpPr txBox="1"/>
          <p:nvPr/>
        </p:nvSpPr>
        <p:spPr>
          <a:xfrm>
            <a:off x="7239000" y="1400175"/>
            <a:ext cx="4226359" cy="194310"/>
          </a:xfrm>
          <a:prstGeom prst="rect">
            <a:avLst/>
          </a:prstGeom>
          <a:noFill/>
        </p:spPr>
        <p:txBody>
          <a:bodyPr wrap="none" lIns="0" rIns="0" tIns="0" bIns="0">
            <a:spAutoFit/>
          </a:bodyPr>
          <a:lstStyle/>
          <a:p>
            <a:r>
              <a:rPr sz="1150" b="0">
                <a:solidFill>
                  <a:srgbClr val="2E2E2E"/>
                </a:solidFill>
                <a:latin typeface="Calibri"/>
              </a:rPr>
              <a:t>North America organ transport devices market is projected to register</a:t>
            </a:r>
          </a:p>
        </p:txBody>
      </p:sp>
      <p:pic>
        <p:nvPicPr>
          <p:cNvPr id="53" name="Picture 52" descr="lock.png"/>
          <p:cNvPicPr>
            <a:picLocks noChangeAspect="1"/>
          </p:cNvPicPr>
          <p:nvPr/>
        </p:nvPicPr>
        <p:blipFill>
          <a:blip r:embed="rId5"/>
          <a:stretch>
            <a:fillRect/>
          </a:stretch>
        </p:blipFill>
        <p:spPr>
          <a:xfrm>
            <a:off x="11414513" y="1389951"/>
            <a:ext cx="134549" cy="195707"/>
          </a:xfrm>
          <a:prstGeom prst="rect">
            <a:avLst/>
          </a:prstGeom>
        </p:spPr>
      </p:pic>
      <p:sp>
        <p:nvSpPr>
          <p:cNvPr id="54" name="TextBox 53"/>
          <p:cNvSpPr txBox="1"/>
          <p:nvPr/>
        </p:nvSpPr>
        <p:spPr>
          <a:xfrm>
            <a:off x="11589622" y="1400175"/>
            <a:ext cx="152077" cy="194310"/>
          </a:xfrm>
          <a:prstGeom prst="rect">
            <a:avLst/>
          </a:prstGeom>
          <a:noFill/>
        </p:spPr>
        <p:txBody>
          <a:bodyPr wrap="none" lIns="0" rIns="0" tIns="0" bIns="0">
            <a:spAutoFit/>
          </a:bodyPr>
          <a:lstStyle/>
          <a:p>
            <a:r>
              <a:rPr sz="1150" b="0">
                <a:solidFill>
                  <a:srgbClr val="2E2E2E"/>
                </a:solidFill>
                <a:latin typeface="Calibri"/>
              </a:rPr>
              <a:t>X</a:t>
            </a:r>
          </a:p>
        </p:txBody>
      </p:sp>
      <p:sp>
        <p:nvSpPr>
          <p:cNvPr id="55" name="TextBox 54"/>
          <p:cNvSpPr txBox="1"/>
          <p:nvPr/>
        </p:nvSpPr>
        <p:spPr>
          <a:xfrm>
            <a:off x="7239000" y="1575435"/>
            <a:ext cx="4605461" cy="194310"/>
          </a:xfrm>
          <a:prstGeom prst="rect">
            <a:avLst/>
          </a:prstGeom>
          <a:noFill/>
        </p:spPr>
        <p:txBody>
          <a:bodyPr wrap="none" lIns="0" rIns="0" tIns="0" bIns="0">
            <a:spAutoFit/>
          </a:bodyPr>
          <a:lstStyle/>
          <a:p>
            <a:r>
              <a:rPr sz="1150" b="0">
                <a:solidFill>
                  <a:srgbClr val="2E2E2E"/>
                </a:solidFill>
                <a:latin typeface="Calibri"/>
              </a:rPr>
              <a:t>higher value than Europe in 2036. Among organ transport devices by region,</a:t>
            </a:r>
          </a:p>
        </p:txBody>
      </p:sp>
      <p:sp>
        <p:nvSpPr>
          <p:cNvPr id="56" name="TextBox 55"/>
          <p:cNvSpPr txBox="1"/>
          <p:nvPr/>
        </p:nvSpPr>
        <p:spPr>
          <a:xfrm>
            <a:off x="7239000" y="1750695"/>
            <a:ext cx="3814434" cy="194310"/>
          </a:xfrm>
          <a:prstGeom prst="rect">
            <a:avLst/>
          </a:prstGeom>
          <a:noFill/>
        </p:spPr>
        <p:txBody>
          <a:bodyPr wrap="none" lIns="0" rIns="0" tIns="0" bIns="0">
            <a:spAutoFit/>
          </a:bodyPr>
          <a:lstStyle/>
          <a:p>
            <a:r>
              <a:rPr sz="1150" b="0">
                <a:solidFill>
                  <a:srgbClr val="2E2E2E"/>
                </a:solidFill>
                <a:latin typeface="Calibri"/>
              </a:rPr>
              <a:t>South Asia &amp; Pacific is expected to witness the highest CAGR of</a:t>
            </a:r>
          </a:p>
        </p:txBody>
      </p:sp>
      <p:pic>
        <p:nvPicPr>
          <p:cNvPr id="57" name="Picture 56" descr="lock.png"/>
          <p:cNvPicPr>
            <a:picLocks noChangeAspect="1"/>
          </p:cNvPicPr>
          <p:nvPr/>
        </p:nvPicPr>
        <p:blipFill>
          <a:blip r:embed="rId5"/>
          <a:stretch>
            <a:fillRect/>
          </a:stretch>
        </p:blipFill>
        <p:spPr>
          <a:xfrm>
            <a:off x="11002588" y="1740471"/>
            <a:ext cx="134549" cy="195707"/>
          </a:xfrm>
          <a:prstGeom prst="rect">
            <a:avLst/>
          </a:prstGeom>
        </p:spPr>
      </p:pic>
      <p:sp>
        <p:nvSpPr>
          <p:cNvPr id="58" name="TextBox 57"/>
          <p:cNvSpPr txBox="1"/>
          <p:nvPr/>
        </p:nvSpPr>
        <p:spPr>
          <a:xfrm>
            <a:off x="11177697" y="175069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59" name="TextBox 58"/>
          <p:cNvSpPr txBox="1"/>
          <p:nvPr/>
        </p:nvSpPr>
        <p:spPr>
          <a:xfrm>
            <a:off x="7239000" y="192595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60" name="TextBox 59"/>
          <p:cNvSpPr txBox="1"/>
          <p:nvPr/>
        </p:nvSpPr>
        <p:spPr>
          <a:xfrm>
            <a:off x="7239000" y="2153793"/>
            <a:ext cx="4648200"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a:t>
            </a:r>
          </a:p>
        </p:txBody>
      </p:sp>
      <p:sp>
        <p:nvSpPr>
          <p:cNvPr id="61" name="TextBox 60"/>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62" name="Picture 61" descr="lock.png"/>
          <p:cNvPicPr>
            <a:picLocks noChangeAspect="1"/>
          </p:cNvPicPr>
          <p:nvPr/>
        </p:nvPicPr>
        <p:blipFill>
          <a:blip r:embed="rId5"/>
          <a:stretch>
            <a:fillRect/>
          </a:stretch>
        </p:blipFill>
        <p:spPr>
          <a:xfrm>
            <a:off x="8106708" y="2318829"/>
            <a:ext cx="134549" cy="195707"/>
          </a:xfrm>
          <a:prstGeom prst="rect">
            <a:avLst/>
          </a:prstGeom>
        </p:spPr>
      </p:pic>
      <p:sp>
        <p:nvSpPr>
          <p:cNvPr id="63" name="TextBox 62"/>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64" name="Picture 63" descr="lock.png"/>
          <p:cNvPicPr>
            <a:picLocks noChangeAspect="1"/>
          </p:cNvPicPr>
          <p:nvPr/>
        </p:nvPicPr>
        <p:blipFill>
          <a:blip r:embed="rId5"/>
          <a:stretch>
            <a:fillRect/>
          </a:stretch>
        </p:blipFill>
        <p:spPr>
          <a:xfrm>
            <a:off x="9676961" y="2318829"/>
            <a:ext cx="134549" cy="195707"/>
          </a:xfrm>
          <a:prstGeom prst="rect">
            <a:avLst/>
          </a:prstGeom>
        </p:spPr>
      </p:pic>
      <p:sp>
        <p:nvSpPr>
          <p:cNvPr id="65" name="TextBox 64"/>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66"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Share Analysis, By Region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region, 2021–2036, highlighting the geographies gaining and ceding ground</a:t>
            </a:r>
          </a:p>
        </p:txBody>
      </p:sp>
      <p:sp>
        <p:nvSpPr>
          <p:cNvPr id="10" name="Rounded Rectangle 9"/>
          <p:cNvSpPr/>
          <p:nvPr/>
        </p:nvSpPr>
        <p:spPr>
          <a:xfrm>
            <a:off x="142875" y="981075"/>
            <a:ext cx="11906250" cy="3019425"/>
          </a:xfrm>
          <a:prstGeom prst="roundRect">
            <a:avLst>
              <a:gd name="adj" fmla="val 25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12" name="Table 11"/>
          <p:cNvGraphicFramePr>
            <a:graphicFrameLocks noGrp="1"/>
          </p:cNvGraphicFramePr>
          <p:nvPr/>
        </p:nvGraphicFramePr>
        <p:xfrm>
          <a:off x="152400" y="1238250"/>
          <a:ext cx="11892680" cy="2552698"/>
        </p:xfrm>
        <a:graphic>
          <a:graphicData uri="http://schemas.openxmlformats.org/drawingml/2006/table">
            <a:tbl>
              <a:tblPr>
                <a:tableStyleId>{5C22544A-7EE6-4342-B048-85BDC9FD1C3A}</a:tableStyleId>
              </a:tblPr>
              <a:tblGrid>
                <a:gridCol w="1388836"/>
                <a:gridCol w="632064"/>
                <a:gridCol w="632064"/>
                <a:gridCol w="632064"/>
                <a:gridCol w="632064"/>
                <a:gridCol w="632064"/>
                <a:gridCol w="632064"/>
                <a:gridCol w="632064"/>
                <a:gridCol w="632064"/>
                <a:gridCol w="632064"/>
                <a:gridCol w="632064"/>
                <a:gridCol w="632064"/>
                <a:gridCol w="632064"/>
                <a:gridCol w="632064"/>
                <a:gridCol w="632064"/>
                <a:gridCol w="632064"/>
                <a:gridCol w="632064"/>
                <a:gridCol w="390820"/>
              </a:tblGrid>
              <a:tr h="438912">
                <a:tc>
                  <a:txBody>
                    <a:bodyPr wrap="none"/>
                    <a:lstStyle/>
                    <a:p>
                      <a:pPr algn="l"/>
                      <a:r>
                        <a:rPr sz="1100" b="1">
                          <a:solidFill>
                            <a:srgbClr val="0B2E4A"/>
                          </a:solidFill>
                          <a:latin typeface="Calibri"/>
                        </a:rPr>
                        <a:t>Region</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2021A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2022A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2023A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2024A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2025A</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2026E</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2027F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2028F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2029F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2030F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2031F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2032F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2033F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2034F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2035F</a:t>
                      </a:r>
                      <a:endParaRPr sz="1100"/>
                    </a:p>
                  </a:txBody>
                  <a:tcPr marL="19050" marR="14288" marT="19050" marB="19050" anchor="ctr">
                    <a:solidFill>
                      <a:srgbClr val="E0E8EF"/>
                    </a:solidFill>
                  </a:tcPr>
                </a:tc>
                <a:tc>
                  <a:txBody>
                    <a:bodyPr wrap="none"/>
                    <a:lstStyle/>
                    <a:p>
                      <a:pPr algn="ctr"/>
                      <a:r>
                        <a:rPr sz="1100" b="1">
                          <a:solidFill>
                            <a:srgbClr val="0B2E4A"/>
                          </a:solidFill>
                          <a:latin typeface="Calibri"/>
                        </a:rPr>
                        <a:t>2036F</a:t>
                      </a:r>
                      <a:endParaRPr sz="1100"/>
                    </a:p>
                  </a:txBody>
                  <a:tcPr marL="19050" marR="14288" marT="19050" marB="19050" anchor="ctr">
                    <a:solidFill>
                      <a:srgbClr val="E0E8EF"/>
                    </a:solidFill>
                  </a:tcPr>
                </a:tc>
                <a:tc>
                  <a:txBody>
                    <a:bodyPr wrap="square"/>
                    <a:lstStyle/>
                    <a:p>
                      <a:pPr algn="ctr"/>
                      <a:r>
                        <a:rPr sz="1100" b="1">
                          <a:solidFill>
                            <a:srgbClr val="0B2E4A"/>
                          </a:solidFill>
                          <a:latin typeface="Calibri"/>
                        </a:rPr>
                        <a:t>F-CAGR</a:t>
                      </a:r>
                      <a:endParaRPr sz="1100"/>
                    </a:p>
                  </a:txBody>
                  <a:tcPr marL="19050" marR="14288" marT="19050" marB="19050" anchor="ctr">
                    <a:solidFill>
                      <a:srgbClr val="E0E8EF"/>
                    </a:solidFill>
                  </a:tcPr>
                </a:tc>
              </a:tr>
              <a:tr h="246888">
                <a:tc>
                  <a:txBody>
                    <a:bodyPr wrap="none"/>
                    <a:lstStyle/>
                    <a:p>
                      <a:pPr algn="l"/>
                      <a:r>
                        <a:rPr sz="1100" b="1">
                          <a:solidFill>
                            <a:srgbClr val="2E2E2E"/>
                          </a:solidFill>
                          <a:latin typeface="Calibri"/>
                        </a:rPr>
                        <a:t>North America</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Latin America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Europe</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246888">
                <a:tc>
                  <a:txBody>
                    <a:bodyPr wrap="none"/>
                    <a:lstStyle/>
                    <a:p>
                      <a:pPr algn="l"/>
                      <a:r>
                        <a:rPr sz="1100" b="1">
                          <a:solidFill>
                            <a:srgbClr val="2E2E2E"/>
                          </a:solidFill>
                          <a:latin typeface="Calibri"/>
                        </a:rPr>
                        <a:t>East Asia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439673">
                <a:tc>
                  <a:txBody>
                    <a:bodyPr wrap="none"/>
                    <a:lstStyle/>
                    <a:p>
                      <a:pPr algn="l"/>
                      <a:r>
                        <a:rPr sz="1100" b="1">
                          <a:solidFill>
                            <a:srgbClr val="2E2E2E"/>
                          </a:solidFill>
                          <a:latin typeface="Calibri"/>
                        </a:rPr>
                        <a:t>South Asia &amp;</a:t>
                      </a:r>
                      <a:endParaRPr sz="1100"/>
                    </a:p>
                    <a:p>
                      <a:pPr algn="l"/>
                      <a:r>
                        <a:rPr sz="1100" b="1">
                          <a:solidFill>
                            <a:srgbClr val="2E2E2E"/>
                          </a:solidFill>
                          <a:latin typeface="Calibri"/>
                        </a:rPr>
                        <a:t>Pacific</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c>
                  <a:txBody>
                    <a:bodyPr wrap="none"/>
                    <a:lstStyle/>
                    <a:p>
                      <a:pPr algn="ctr"/>
                      <a:r>
                        <a:rPr sz="1100"/>
                        <a:t> </a:t>
                      </a:r>
                      <a:endParaRPr sz="1100"/>
                    </a:p>
                  </a:txBody>
                  <a:tcPr marL="19050" marR="14288" marT="19050" marB="19050" anchor="ctr">
                    <a:solidFill>
                      <a:srgbClr val="FFFFFF"/>
                    </a:solidFill>
                  </a:tcPr>
                </a:tc>
              </a:tr>
              <a:tr h="439673">
                <a:tc>
                  <a:txBody>
                    <a:bodyPr wrap="none"/>
                    <a:lstStyle/>
                    <a:p>
                      <a:pPr algn="l"/>
                      <a:r>
                        <a:rPr sz="1100" b="1">
                          <a:solidFill>
                            <a:srgbClr val="2E2E2E"/>
                          </a:solidFill>
                          <a:latin typeface="Calibri"/>
                        </a:rPr>
                        <a:t>Middle East &amp;</a:t>
                      </a:r>
                      <a:endParaRPr sz="1100"/>
                    </a:p>
                    <a:p>
                      <a:pPr algn="l"/>
                      <a:r>
                        <a:rPr sz="1100" b="1">
                          <a:solidFill>
                            <a:srgbClr val="2E2E2E"/>
                          </a:solidFill>
                          <a:latin typeface="Calibri"/>
                        </a:rPr>
                        <a:t>Africa</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c>
                  <a:txBody>
                    <a:bodyPr wrap="none"/>
                    <a:lstStyle/>
                    <a:p>
                      <a:pPr algn="ctr"/>
                      <a:r>
                        <a:rPr sz="1100"/>
                        <a:t> </a:t>
                      </a:r>
                      <a:endParaRPr sz="1100"/>
                    </a:p>
                  </a:txBody>
                  <a:tcPr marL="19050" marR="14288" marT="19050" marB="19050" anchor="ctr">
                    <a:solidFill>
                      <a:srgbClr val="F5F8FA"/>
                    </a:solidFill>
                  </a:tcPr>
                </a:tc>
              </a:tr>
              <a:tr h="246888">
                <a:tc>
                  <a:txBody>
                    <a:bodyPr wrap="none"/>
                    <a:lstStyle/>
                    <a:p>
                      <a:pPr algn="l"/>
                      <a:r>
                        <a:rPr sz="1100" b="1">
                          <a:solidFill>
                            <a:srgbClr val="2E2E2E"/>
                          </a:solidFill>
                          <a:latin typeface="Calibri"/>
                        </a:rPr>
                        <a:t>Total</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c>
                  <a:txBody>
                    <a:bodyPr wrap="none"/>
                    <a:lstStyle/>
                    <a:p>
                      <a:pPr algn="ctr"/>
                      <a:r>
                        <a:rPr sz="1100"/>
                        <a:t> </a:t>
                      </a:r>
                      <a:endParaRPr sz="1100"/>
                    </a:p>
                  </a:txBody>
                  <a:tcPr marL="19050" marR="14288" marT="19050" marB="19050" anchor="ctr">
                    <a:solidFill>
                      <a:srgbClr val="E0E8EF"/>
                    </a:solidFill>
                  </a:tcPr>
                </a:tc>
              </a:tr>
            </a:tbl>
          </a:graphicData>
        </a:graphic>
      </p:graphicFrame>
      <p:sp>
        <p:nvSpPr>
          <p:cNvPr id="13" name="TextBox 12"/>
          <p:cNvSpPr txBox="1"/>
          <p:nvPr/>
        </p:nvSpPr>
        <p:spPr>
          <a:xfrm>
            <a:off x="219075" y="38004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133850"/>
            <a:ext cx="11906250" cy="2495550"/>
          </a:xfrm>
          <a:prstGeom prst="roundRect">
            <a:avLst>
              <a:gd name="adj" fmla="val 305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2195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6" name="Rectangle 15"/>
          <p:cNvSpPr/>
          <p:nvPr/>
        </p:nvSpPr>
        <p:spPr>
          <a:xfrm>
            <a:off x="276225" y="4457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543425"/>
            <a:ext cx="11639550" cy="20097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29244" y="2467355"/>
            <a:ext cx="366712" cy="533400"/>
          </a:xfrm>
          <a:prstGeom prst="rect">
            <a:avLst/>
          </a:prstGeom>
        </p:spPr>
      </p:pic>
      <p:sp>
        <p:nvSpPr>
          <p:cNvPr id="20" name="TextBox 19"/>
          <p:cNvSpPr txBox="1"/>
          <p:nvPr/>
        </p:nvSpPr>
        <p:spPr>
          <a:xfrm>
            <a:off x="276225" y="4552950"/>
            <a:ext cx="4526160" cy="194310"/>
          </a:xfrm>
          <a:prstGeom prst="rect">
            <a:avLst/>
          </a:prstGeom>
          <a:noFill/>
        </p:spPr>
        <p:txBody>
          <a:bodyPr wrap="none" lIns="0" rIns="0" tIns="0" bIns="0">
            <a:spAutoFit/>
          </a:bodyPr>
          <a:lstStyle/>
          <a:p>
            <a:r>
              <a:rPr sz="1150" b="0">
                <a:solidFill>
                  <a:srgbClr val="2E2E2E"/>
                </a:solidFill>
                <a:latin typeface="Calibri"/>
              </a:rPr>
              <a:t>South Asia &amp; Pacific organ transport devices market is projected to register</a:t>
            </a:r>
          </a:p>
        </p:txBody>
      </p:sp>
      <p:pic>
        <p:nvPicPr>
          <p:cNvPr id="21" name="Picture 20" descr="lock.png"/>
          <p:cNvPicPr>
            <a:picLocks noChangeAspect="1"/>
          </p:cNvPicPr>
          <p:nvPr/>
        </p:nvPicPr>
        <p:blipFill>
          <a:blip r:embed="rId4"/>
          <a:stretch>
            <a:fillRect/>
          </a:stretch>
        </p:blipFill>
        <p:spPr>
          <a:xfrm>
            <a:off x="4751539" y="4542726"/>
            <a:ext cx="134549" cy="195707"/>
          </a:xfrm>
          <a:prstGeom prst="rect">
            <a:avLst/>
          </a:prstGeom>
        </p:spPr>
      </p:pic>
      <p:sp>
        <p:nvSpPr>
          <p:cNvPr id="22" name="TextBox 21"/>
          <p:cNvSpPr txBox="1"/>
          <p:nvPr/>
        </p:nvSpPr>
        <p:spPr>
          <a:xfrm>
            <a:off x="4926649" y="4552950"/>
            <a:ext cx="6904893" cy="194310"/>
          </a:xfrm>
          <a:prstGeom prst="rect">
            <a:avLst/>
          </a:prstGeom>
          <a:noFill/>
        </p:spPr>
        <p:txBody>
          <a:bodyPr wrap="none" lIns="0" rIns="0" tIns="0" bIns="0">
            <a:spAutoFit/>
          </a:bodyPr>
          <a:lstStyle/>
          <a:p>
            <a:r>
              <a:rPr sz="1150" b="0">
                <a:solidFill>
                  <a:srgbClr val="2E2E2E"/>
                </a:solidFill>
                <a:latin typeface="Calibri"/>
              </a:rPr>
              <a:t>X higher volume than Europe in 2036. Among organ transport devices by region, South Asia &amp; Pacific is expected to</a:t>
            </a:r>
          </a:p>
        </p:txBody>
      </p:sp>
      <p:sp>
        <p:nvSpPr>
          <p:cNvPr id="23" name="TextBox 22"/>
          <p:cNvSpPr txBox="1"/>
          <p:nvPr/>
        </p:nvSpPr>
        <p:spPr>
          <a:xfrm>
            <a:off x="276225" y="47282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717986"/>
            <a:ext cx="134549" cy="195707"/>
          </a:xfrm>
          <a:prstGeom prst="rect">
            <a:avLst/>
          </a:prstGeom>
        </p:spPr>
      </p:pic>
      <p:sp>
        <p:nvSpPr>
          <p:cNvPr id="25" name="TextBox 24"/>
          <p:cNvSpPr txBox="1"/>
          <p:nvPr/>
        </p:nvSpPr>
        <p:spPr>
          <a:xfrm>
            <a:off x="2148258" y="47282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956047"/>
            <a:ext cx="6046564" cy="194310"/>
          </a:xfrm>
          <a:prstGeom prst="rect">
            <a:avLst/>
          </a:prstGeom>
          <a:noFill/>
        </p:spPr>
        <p:txBody>
          <a:bodyPr wrap="none" lIns="0" rIns="0" tIns="0" bIns="0">
            <a:spAutoFit/>
          </a:bodyPr>
          <a:lstStyle/>
          <a:p>
            <a:r>
              <a:rPr sz="1150" b="0">
                <a:solidFill>
                  <a:srgbClr val="2E2E2E"/>
                </a:solidFill>
                <a:latin typeface="Calibri"/>
              </a:rPr>
              <a:t>In terms of volume share by region, South Asia &amp; Pacific is expected to dominate the market, gaining</a:t>
            </a:r>
          </a:p>
        </p:txBody>
      </p:sp>
      <p:pic>
        <p:nvPicPr>
          <p:cNvPr id="27" name="Picture 26" descr="lock.png"/>
          <p:cNvPicPr>
            <a:picLocks noChangeAspect="1"/>
          </p:cNvPicPr>
          <p:nvPr/>
        </p:nvPicPr>
        <p:blipFill>
          <a:blip r:embed="rId4"/>
          <a:stretch>
            <a:fillRect/>
          </a:stretch>
        </p:blipFill>
        <p:spPr>
          <a:xfrm>
            <a:off x="6271943" y="4945824"/>
            <a:ext cx="134549" cy="195707"/>
          </a:xfrm>
          <a:prstGeom prst="rect">
            <a:avLst/>
          </a:prstGeom>
        </p:spPr>
      </p:pic>
      <p:sp>
        <p:nvSpPr>
          <p:cNvPr id="28" name="TextBox 27"/>
          <p:cNvSpPr txBox="1"/>
          <p:nvPr/>
        </p:nvSpPr>
        <p:spPr>
          <a:xfrm>
            <a:off x="6447052" y="49560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842195" y="4945824"/>
            <a:ext cx="134549" cy="195707"/>
          </a:xfrm>
          <a:prstGeom prst="rect">
            <a:avLst/>
          </a:prstGeom>
        </p:spPr>
      </p:pic>
      <p:sp>
        <p:nvSpPr>
          <p:cNvPr id="30" name="TextBox 29"/>
          <p:cNvSpPr txBox="1"/>
          <p:nvPr/>
        </p:nvSpPr>
        <p:spPr>
          <a:xfrm>
            <a:off x="8017304" y="4956047"/>
            <a:ext cx="2986645" cy="194310"/>
          </a:xfrm>
          <a:prstGeom prst="rect">
            <a:avLst/>
          </a:prstGeom>
          <a:noFill/>
        </p:spPr>
        <p:txBody>
          <a:bodyPr wrap="none" lIns="0" rIns="0" tIns="0" bIns="0">
            <a:spAutoFit/>
          </a:bodyPr>
          <a:lstStyle/>
          <a:p>
            <a:r>
              <a:rPr sz="1150" b="0">
                <a:solidFill>
                  <a:srgbClr val="2E2E2E"/>
                </a:solidFill>
                <a:latin typeface="Calibri"/>
              </a:rPr>
              <a:t>share by 2036. North America is expected to lose</a:t>
            </a:r>
          </a:p>
        </p:txBody>
      </p:sp>
      <p:pic>
        <p:nvPicPr>
          <p:cNvPr id="31" name="Picture 30" descr="lock.png"/>
          <p:cNvPicPr>
            <a:picLocks noChangeAspect="1"/>
          </p:cNvPicPr>
          <p:nvPr/>
        </p:nvPicPr>
        <p:blipFill>
          <a:blip r:embed="rId4"/>
          <a:stretch>
            <a:fillRect/>
          </a:stretch>
        </p:blipFill>
        <p:spPr>
          <a:xfrm>
            <a:off x="10953104" y="4945824"/>
            <a:ext cx="134549" cy="195707"/>
          </a:xfrm>
          <a:prstGeom prst="rect">
            <a:avLst/>
          </a:prstGeom>
        </p:spPr>
      </p:pic>
      <p:sp>
        <p:nvSpPr>
          <p:cNvPr id="32" name="TextBox 31"/>
          <p:cNvSpPr txBox="1"/>
          <p:nvPr/>
        </p:nvSpPr>
        <p:spPr>
          <a:xfrm>
            <a:off x="11128213" y="4956047"/>
            <a:ext cx="298412" cy="194310"/>
          </a:xfrm>
          <a:prstGeom prst="rect">
            <a:avLst/>
          </a:prstGeom>
          <a:noFill/>
        </p:spPr>
        <p:txBody>
          <a:bodyPr wrap="none" lIns="0" rIns="0" tIns="0" bIns="0">
            <a:spAutoFit/>
          </a:bodyPr>
          <a:lstStyle/>
          <a:p>
            <a:r>
              <a:rPr sz="1150" b="0">
                <a:solidFill>
                  <a:srgbClr val="2E2E2E"/>
                </a:solidFill>
                <a:latin typeface="Calibri"/>
              </a:rPr>
              <a:t>BPS</a:t>
            </a:r>
          </a:p>
        </p:txBody>
      </p:sp>
      <p:sp>
        <p:nvSpPr>
          <p:cNvPr id="33" name="TextBox 32"/>
          <p:cNvSpPr txBox="1"/>
          <p:nvPr/>
        </p:nvSpPr>
        <p:spPr>
          <a:xfrm>
            <a:off x="276225" y="5131307"/>
            <a:ext cx="2383048" cy="194310"/>
          </a:xfrm>
          <a:prstGeom prst="rect">
            <a:avLst/>
          </a:prstGeom>
          <a:noFill/>
        </p:spPr>
        <p:txBody>
          <a:bodyPr wrap="none" lIns="0" rIns="0" tIns="0" bIns="0">
            <a:spAutoFit/>
          </a:bodyPr>
          <a:lstStyle/>
          <a:p>
            <a:r>
              <a:rPr sz="1150" b="0">
                <a:solidFill>
                  <a:srgbClr val="2E2E2E"/>
                </a:solidFill>
                <a:latin typeface="Calibri"/>
              </a:rPr>
              <a:t>over the forecast period to account for</a:t>
            </a:r>
          </a:p>
        </p:txBody>
      </p:sp>
      <p:pic>
        <p:nvPicPr>
          <p:cNvPr id="34" name="Picture 33" descr="lock.png"/>
          <p:cNvPicPr>
            <a:picLocks noChangeAspect="1"/>
          </p:cNvPicPr>
          <p:nvPr/>
        </p:nvPicPr>
        <p:blipFill>
          <a:blip r:embed="rId4"/>
          <a:stretch>
            <a:fillRect/>
          </a:stretch>
        </p:blipFill>
        <p:spPr>
          <a:xfrm>
            <a:off x="2608427" y="5121084"/>
            <a:ext cx="134549" cy="195707"/>
          </a:xfrm>
          <a:prstGeom prst="rect">
            <a:avLst/>
          </a:prstGeom>
        </p:spPr>
      </p:pic>
      <p:sp>
        <p:nvSpPr>
          <p:cNvPr id="35" name="TextBox 34"/>
          <p:cNvSpPr txBox="1"/>
          <p:nvPr/>
        </p:nvSpPr>
        <p:spPr>
          <a:xfrm>
            <a:off x="2783536" y="513130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Share Analysis, By Region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region, 2021–2036, highlighting the geographies gaining and ceding ground</a:t>
            </a:r>
          </a:p>
        </p:txBody>
      </p:sp>
      <p:sp>
        <p:nvSpPr>
          <p:cNvPr id="10" name="Rounded Rectangle 9"/>
          <p:cNvSpPr/>
          <p:nvPr/>
        </p:nvSpPr>
        <p:spPr>
          <a:xfrm>
            <a:off x="142875" y="981075"/>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2" name="Table 11"/>
          <p:cNvGraphicFramePr>
            <a:graphicFrameLocks noGrp="1"/>
          </p:cNvGraphicFramePr>
          <p:nvPr/>
        </p:nvGraphicFramePr>
        <p:xfrm>
          <a:off x="152400" y="1238250"/>
          <a:ext cx="11887195" cy="1971675"/>
        </p:xfrm>
        <a:graphic>
          <a:graphicData uri="http://schemas.openxmlformats.org/drawingml/2006/table">
            <a:tbl>
              <a:tblPr>
                <a:tableStyleId>{5C22544A-7EE6-4342-B048-85BDC9FD1C3A}</a:tableStyleId>
              </a:tblPr>
              <a:tblGrid>
                <a:gridCol w="1475375"/>
                <a:gridCol w="612460"/>
                <a:gridCol w="612460"/>
                <a:gridCol w="612460"/>
                <a:gridCol w="612460"/>
                <a:gridCol w="612460"/>
                <a:gridCol w="612460"/>
                <a:gridCol w="612460"/>
                <a:gridCol w="612460"/>
                <a:gridCol w="612460"/>
                <a:gridCol w="612460"/>
                <a:gridCol w="612460"/>
                <a:gridCol w="612460"/>
                <a:gridCol w="612460"/>
                <a:gridCol w="612460"/>
                <a:gridCol w="612460"/>
                <a:gridCol w="612460"/>
                <a:gridCol w="61246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2194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55282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6385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6" name="Rectangle 15"/>
          <p:cNvSpPr/>
          <p:nvPr/>
        </p:nvSpPr>
        <p:spPr>
          <a:xfrm>
            <a:off x="276225" y="38766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962400"/>
            <a:ext cx="11639550" cy="259080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646995" y="2080450"/>
            <a:ext cx="366712" cy="533400"/>
          </a:xfrm>
          <a:prstGeom prst="rect">
            <a:avLst/>
          </a:prstGeom>
        </p:spPr>
      </p:pic>
      <p:sp>
        <p:nvSpPr>
          <p:cNvPr id="20" name="TextBox 19"/>
          <p:cNvSpPr txBox="1"/>
          <p:nvPr/>
        </p:nvSpPr>
        <p:spPr>
          <a:xfrm>
            <a:off x="276225" y="3971925"/>
            <a:ext cx="4226359" cy="194310"/>
          </a:xfrm>
          <a:prstGeom prst="rect">
            <a:avLst/>
          </a:prstGeom>
          <a:noFill/>
        </p:spPr>
        <p:txBody>
          <a:bodyPr wrap="none" lIns="0" rIns="0" tIns="0" bIns="0">
            <a:spAutoFit/>
          </a:bodyPr>
          <a:lstStyle/>
          <a:p>
            <a:r>
              <a:rPr sz="1150" b="0">
                <a:solidFill>
                  <a:srgbClr val="2E2E2E"/>
                </a:solidFill>
                <a:latin typeface="Calibri"/>
              </a:rPr>
              <a:t>North America organ transport devices market is projected to register</a:t>
            </a:r>
          </a:p>
        </p:txBody>
      </p:sp>
      <p:pic>
        <p:nvPicPr>
          <p:cNvPr id="21" name="Picture 20" descr="lock.png"/>
          <p:cNvPicPr>
            <a:picLocks noChangeAspect="1"/>
          </p:cNvPicPr>
          <p:nvPr/>
        </p:nvPicPr>
        <p:blipFill>
          <a:blip r:embed="rId4"/>
          <a:stretch>
            <a:fillRect/>
          </a:stretch>
        </p:blipFill>
        <p:spPr>
          <a:xfrm>
            <a:off x="4451738" y="3961701"/>
            <a:ext cx="134549" cy="195707"/>
          </a:xfrm>
          <a:prstGeom prst="rect">
            <a:avLst/>
          </a:prstGeom>
        </p:spPr>
      </p:pic>
      <p:sp>
        <p:nvSpPr>
          <p:cNvPr id="22" name="TextBox 21"/>
          <p:cNvSpPr txBox="1"/>
          <p:nvPr/>
        </p:nvSpPr>
        <p:spPr>
          <a:xfrm>
            <a:off x="4626847" y="3971925"/>
            <a:ext cx="6781093" cy="194310"/>
          </a:xfrm>
          <a:prstGeom prst="rect">
            <a:avLst/>
          </a:prstGeom>
          <a:noFill/>
        </p:spPr>
        <p:txBody>
          <a:bodyPr wrap="none" lIns="0" rIns="0" tIns="0" bIns="0">
            <a:spAutoFit/>
          </a:bodyPr>
          <a:lstStyle/>
          <a:p>
            <a:r>
              <a:rPr sz="1150" b="0">
                <a:solidFill>
                  <a:srgbClr val="2E2E2E"/>
                </a:solidFill>
                <a:latin typeface="Calibri"/>
              </a:rPr>
              <a:t>X higher value than Europe in 2036. Among organ transport devices by region, South Asia &amp; Pacific is expected to</a:t>
            </a:r>
          </a:p>
        </p:txBody>
      </p:sp>
      <p:sp>
        <p:nvSpPr>
          <p:cNvPr id="23" name="TextBox 22"/>
          <p:cNvSpPr txBox="1"/>
          <p:nvPr/>
        </p:nvSpPr>
        <p:spPr>
          <a:xfrm>
            <a:off x="276225" y="414718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4136961"/>
            <a:ext cx="134549" cy="195707"/>
          </a:xfrm>
          <a:prstGeom prst="rect">
            <a:avLst/>
          </a:prstGeom>
        </p:spPr>
      </p:pic>
      <p:sp>
        <p:nvSpPr>
          <p:cNvPr id="25" name="TextBox 24"/>
          <p:cNvSpPr txBox="1"/>
          <p:nvPr/>
        </p:nvSpPr>
        <p:spPr>
          <a:xfrm>
            <a:off x="2148258" y="414718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375022"/>
            <a:ext cx="5541664" cy="194310"/>
          </a:xfrm>
          <a:prstGeom prst="rect">
            <a:avLst/>
          </a:prstGeom>
          <a:noFill/>
        </p:spPr>
        <p:txBody>
          <a:bodyPr wrap="none" lIns="0" rIns="0" tIns="0" bIns="0">
            <a:spAutoFit/>
          </a:bodyPr>
          <a:lstStyle/>
          <a:p>
            <a:r>
              <a:rPr sz="1150" b="0">
                <a:solidFill>
                  <a:srgbClr val="2E2E2E"/>
                </a:solidFill>
                <a:latin typeface="Calibri"/>
              </a:rPr>
              <a:t>In terms of value share by region, North America is expected to dominate the market, losing</a:t>
            </a:r>
          </a:p>
        </p:txBody>
      </p:sp>
      <p:pic>
        <p:nvPicPr>
          <p:cNvPr id="27" name="Picture 26" descr="lock.png"/>
          <p:cNvPicPr>
            <a:picLocks noChangeAspect="1"/>
          </p:cNvPicPr>
          <p:nvPr/>
        </p:nvPicPr>
        <p:blipFill>
          <a:blip r:embed="rId4"/>
          <a:stretch>
            <a:fillRect/>
          </a:stretch>
        </p:blipFill>
        <p:spPr>
          <a:xfrm>
            <a:off x="5767043" y="4364799"/>
            <a:ext cx="134549" cy="195707"/>
          </a:xfrm>
          <a:prstGeom prst="rect">
            <a:avLst/>
          </a:prstGeom>
        </p:spPr>
      </p:pic>
      <p:sp>
        <p:nvSpPr>
          <p:cNvPr id="28" name="TextBox 27"/>
          <p:cNvSpPr txBox="1"/>
          <p:nvPr/>
        </p:nvSpPr>
        <p:spPr>
          <a:xfrm>
            <a:off x="5942153" y="437502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7337296" y="4364799"/>
            <a:ext cx="134549" cy="195707"/>
          </a:xfrm>
          <a:prstGeom prst="rect">
            <a:avLst/>
          </a:prstGeom>
        </p:spPr>
      </p:pic>
      <p:sp>
        <p:nvSpPr>
          <p:cNvPr id="30" name="TextBox 29"/>
          <p:cNvSpPr txBox="1"/>
          <p:nvPr/>
        </p:nvSpPr>
        <p:spPr>
          <a:xfrm>
            <a:off x="7512405" y="437502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Trends,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regional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12" name="Chart 11"/>
          <p:cNvGraphicFramePr>
            <a:graphicFrameLocks noGrp="1"/>
          </p:cNvGraphicFramePr>
          <p:nvPr/>
        </p:nvGraphicFramePr>
        <p:xfrm>
          <a:off x="238125" y="1266825"/>
          <a:ext cx="944880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9763125" y="1304925"/>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MI Dense Legend"/>
          <p:cNvSpPr txBox="1"/>
          <p:nvPr/>
        </p:nvSpPr>
        <p:spPr>
          <a:xfrm>
            <a:off x="9839325" y="1362075"/>
            <a:ext cx="2057400" cy="171450"/>
          </a:xfrm>
          <a:prstGeom prst="rect">
            <a:avLst/>
          </a:prstGeom>
          <a:noFill/>
        </p:spPr>
        <p:txBody>
          <a:bodyPr wrap="none">
            <a:spAutoFit/>
          </a:bodyPr>
          <a:lstStyle/>
          <a:p>
            <a:pPr/>
            <a:r>
              <a:rPr sz="850" b="1">
                <a:solidFill>
                  <a:srgbClr val="6C7A89"/>
                </a:solidFill>
                <a:latin typeface="Calibri"/>
              </a:rPr>
              <a:t/>
            </a:r>
          </a:p>
        </p:txBody>
      </p:sp>
      <p:sp>
        <p:nvSpPr>
          <p:cNvPr id="15" name="FMI Dense Legend"/>
          <p:cNvSpPr txBox="1"/>
          <p:nvPr/>
        </p:nvSpPr>
        <p:spPr>
          <a:xfrm>
            <a:off x="9839325" y="1533525"/>
            <a:ext cx="2057400" cy="2047875"/>
          </a:xfrm>
          <a:prstGeom prst="rect">
            <a:avLst/>
          </a:prstGeom>
          <a:noFill/>
        </p:spPr>
        <p:txBody>
          <a:bodyPr wrap="square">
            <a:spAutoFit/>
          </a:bodyPr>
          <a:lstStyle/>
          <a:p>
            <a:pPr>
              <a:spcBef>
                <a:spcPts val="500"/>
              </a:spcBef>
            </a:pPr>
            <a:r>
              <a:rPr sz="900">
                <a:solidFill>
                  <a:srgbClr val="008189"/>
                </a:solidFill>
                <a:latin typeface="Calibri"/>
              </a:rPr>
              <a:t>■  </a:t>
            </a:r>
            <a:r>
              <a:rPr sz="750">
                <a:solidFill>
                  <a:srgbClr val="2E2E2E"/>
                </a:solidFill>
                <a:latin typeface="Calibri"/>
              </a:rPr>
              <a:t>   South Asia &amp; Pacific</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40315E"/>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16" name="Rounded Rectangle 15"/>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18" name="Chart 17"/>
          <p:cNvGraphicFramePr>
            <a:graphicFrameLocks noGrp="1"/>
          </p:cNvGraphicFramePr>
          <p:nvPr/>
        </p:nvGraphicFramePr>
        <p:xfrm>
          <a:off x="238125" y="4152900"/>
          <a:ext cx="9448800" cy="2409825"/>
        </p:xfrm>
        <a:graphic>
          <a:graphicData uri="http://schemas.openxmlformats.org/drawingml/2006/chart">
            <c:chart xmlns:c="http://schemas.openxmlformats.org/drawingml/2006/chart" r:id="rId4"/>
          </a:graphicData>
        </a:graphic>
      </p:graphicFrame>
      <p:sp>
        <p:nvSpPr>
          <p:cNvPr id="19" name="Rounded Rectangle 18"/>
          <p:cNvSpPr/>
          <p:nvPr/>
        </p:nvSpPr>
        <p:spPr>
          <a:xfrm>
            <a:off x="9763125" y="4191000"/>
            <a:ext cx="2190750" cy="2333625"/>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MI Dense Legend"/>
          <p:cNvSpPr txBox="1"/>
          <p:nvPr/>
        </p:nvSpPr>
        <p:spPr>
          <a:xfrm>
            <a:off x="9839325" y="4248150"/>
            <a:ext cx="2057400" cy="171450"/>
          </a:xfrm>
          <a:prstGeom prst="rect">
            <a:avLst/>
          </a:prstGeom>
          <a:noFill/>
        </p:spPr>
        <p:txBody>
          <a:bodyPr wrap="none">
            <a:spAutoFit/>
          </a:bodyPr>
          <a:lstStyle/>
          <a:p>
            <a:pPr/>
            <a:r>
              <a:rPr sz="850" b="1">
                <a:solidFill>
                  <a:srgbClr val="6C7A89"/>
                </a:solidFill>
                <a:latin typeface="Calibri"/>
              </a:rPr>
              <a:t/>
            </a:r>
          </a:p>
        </p:txBody>
      </p:sp>
      <p:sp>
        <p:nvSpPr>
          <p:cNvPr id="21" name="FMI Dense Legend"/>
          <p:cNvSpPr txBox="1"/>
          <p:nvPr/>
        </p:nvSpPr>
        <p:spPr>
          <a:xfrm>
            <a:off x="9839325" y="4419600"/>
            <a:ext cx="2057400" cy="2047875"/>
          </a:xfrm>
          <a:prstGeom prst="rect">
            <a:avLst/>
          </a:prstGeom>
          <a:noFill/>
        </p:spPr>
        <p:txBody>
          <a:bodyPr wrap="square">
            <a:spAutoFit/>
          </a:bodyPr>
          <a:lstStyle/>
          <a:p>
            <a:pPr>
              <a:spcBef>
                <a:spcPts val="500"/>
              </a:spcBef>
            </a:pPr>
            <a:r>
              <a:rPr sz="900">
                <a:solidFill>
                  <a:srgbClr val="3D85C6"/>
                </a:solidFill>
                <a:latin typeface="Calibri"/>
              </a:rPr>
              <a:t>■  </a:t>
            </a:r>
            <a:r>
              <a:rPr sz="750">
                <a:solidFill>
                  <a:srgbClr val="2E2E2E"/>
                </a:solidFill>
                <a:latin typeface="Calibri"/>
              </a:rPr>
              <a:t>   North America</a:t>
            </a:r>
          </a:p>
          <a:p>
            <a:pPr>
              <a:spcBef>
                <a:spcPts val="500"/>
              </a:spcBef>
            </a:pPr>
            <a:r>
              <a:rPr sz="900">
                <a:solidFill>
                  <a:srgbClr val="9E7E0A"/>
                </a:solidFill>
                <a:latin typeface="Calibri"/>
              </a:rPr>
              <a:t>■  </a:t>
            </a:r>
            <a:r>
              <a:rPr sz="750">
                <a:solidFill>
                  <a:srgbClr val="2E2E2E"/>
                </a:solidFill>
                <a:latin typeface="Calibri"/>
              </a:rPr>
              <a:t>   Europe</a:t>
            </a:r>
          </a:p>
          <a:p>
            <a:pPr>
              <a:spcBef>
                <a:spcPts val="500"/>
              </a:spcBef>
            </a:pPr>
            <a:r>
              <a:rPr sz="900">
                <a:solidFill>
                  <a:srgbClr val="40315E"/>
                </a:solidFill>
                <a:latin typeface="Calibri"/>
              </a:rPr>
              <a:t>■  </a:t>
            </a:r>
            <a:r>
              <a:rPr sz="750">
                <a:solidFill>
                  <a:srgbClr val="2E2E2E"/>
                </a:solidFill>
                <a:latin typeface="Calibri"/>
              </a:rPr>
              <a:t>   South Asia &amp; Pacific</a:t>
            </a:r>
          </a:p>
          <a:p>
            <a:pPr>
              <a:spcBef>
                <a:spcPts val="500"/>
              </a:spcBef>
            </a:pPr>
            <a:r>
              <a:rPr sz="900">
                <a:solidFill>
                  <a:srgbClr val="008189"/>
                </a:solidFill>
                <a:latin typeface="Calibri"/>
              </a:rPr>
              <a:t>■  </a:t>
            </a:r>
            <a:r>
              <a:rPr sz="750">
                <a:solidFill>
                  <a:srgbClr val="2E2E2E"/>
                </a:solidFill>
                <a:latin typeface="Calibri"/>
              </a:rPr>
              <a:t>   East Asia</a:t>
            </a:r>
          </a:p>
          <a:p>
            <a:pPr>
              <a:spcBef>
                <a:spcPts val="500"/>
              </a:spcBef>
            </a:pPr>
            <a:r>
              <a:rPr sz="900">
                <a:solidFill>
                  <a:srgbClr val="A35313"/>
                </a:solidFill>
                <a:latin typeface="Calibri"/>
              </a:rPr>
              <a:t>■  </a:t>
            </a:r>
            <a:r>
              <a:rPr sz="750">
                <a:solidFill>
                  <a:srgbClr val="2E2E2E"/>
                </a:solidFill>
                <a:latin typeface="Calibri"/>
              </a:rPr>
              <a:t>   Latin America</a:t>
            </a:r>
          </a:p>
          <a:p>
            <a:pPr>
              <a:spcBef>
                <a:spcPts val="500"/>
              </a:spcBef>
            </a:pPr>
            <a:r>
              <a:rPr sz="900">
                <a:solidFill>
                  <a:srgbClr val="808080"/>
                </a:solidFill>
                <a:latin typeface="Calibri"/>
              </a:rPr>
              <a:t>■  </a:t>
            </a:r>
            <a:r>
              <a:rPr sz="750">
                <a:solidFill>
                  <a:srgbClr val="2E2E2E"/>
                </a:solidFill>
                <a:latin typeface="Calibri"/>
              </a:rPr>
              <a:t>   Middle East &amp; Africa</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3" name="TextBox 22"/>
          <p:cNvSpPr txBox="1"/>
          <p:nvPr/>
        </p:nvSpPr>
        <p:spPr>
          <a:xfrm>
            <a:off x="9930765" y="1407795"/>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4" name="TextBox 23"/>
          <p:cNvSpPr txBox="1"/>
          <p:nvPr/>
        </p:nvSpPr>
        <p:spPr>
          <a:xfrm>
            <a:off x="9930765" y="4293870"/>
            <a:ext cx="452511" cy="112318"/>
          </a:xfrm>
          <a:prstGeom prst="rect">
            <a:avLst/>
          </a:prstGeom>
          <a:noFill/>
        </p:spPr>
        <p:txBody>
          <a:bodyPr wrap="none" lIns="0" rIns="0" tIns="0" bIns="0">
            <a:spAutoFit/>
          </a:bodyPr>
          <a:lstStyle/>
          <a:p>
            <a:r>
              <a:rPr sz="611" b="1">
                <a:solidFill>
                  <a:srgbClr val="6C7A89"/>
                </a:solidFill>
                <a:latin typeface="Calibri"/>
              </a:rPr>
              <a:t>By segment</a:t>
            </a:r>
          </a:p>
        </p:txBody>
      </p:sp>
      <p:sp>
        <p:nvSpPr>
          <p:cNvPr id="25" name="lockshield_12"/>
          <p:cNvSpPr/>
          <p:nvPr/>
        </p:nvSpPr>
        <p:spPr>
          <a:xfrm>
            <a:off x="238125" y="1266825"/>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ockshield_18"/>
          <p:cNvSpPr/>
          <p:nvPr/>
        </p:nvSpPr>
        <p:spPr>
          <a:xfrm>
            <a:off x="238125" y="4152900"/>
            <a:ext cx="944880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Top 10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global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2" name="Rectangle 11"/>
          <p:cNvSpPr/>
          <p:nvPr/>
        </p:nvSpPr>
        <p:spPr>
          <a:xfrm>
            <a:off x="238125" y="1266825"/>
            <a:ext cx="3246537"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3484662" y="1266825"/>
            <a:ext cx="3441009" cy="2887119"/>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Germany</a:t>
            </a:r>
          </a:p>
          <a:p>
            <a:pPr algn="ctr"/>
            <a:r>
              <a:rPr sz="1100" b="0">
                <a:solidFill>
                  <a:srgbClr val="FFFFFF"/>
                </a:solidFill>
                <a:latin typeface="Calibri"/>
              </a:rPr>
              <a:t> </a:t>
            </a:r>
          </a:p>
        </p:txBody>
      </p:sp>
      <p:sp>
        <p:nvSpPr>
          <p:cNvPr id="14" name="Rectangle 13"/>
          <p:cNvSpPr/>
          <p:nvPr/>
        </p:nvSpPr>
        <p:spPr>
          <a:xfrm>
            <a:off x="3484662" y="4153944"/>
            <a:ext cx="3441009" cy="241830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5" name="Rectangle 14"/>
          <p:cNvSpPr/>
          <p:nvPr/>
        </p:nvSpPr>
        <p:spPr>
          <a:xfrm>
            <a:off x="6925671" y="1266825"/>
            <a:ext cx="2853834" cy="2242475"/>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China</a:t>
            </a:r>
          </a:p>
          <a:p>
            <a:pPr algn="ctr"/>
            <a:r>
              <a:rPr sz="1100" b="0">
                <a:solidFill>
                  <a:srgbClr val="FFFFFF"/>
                </a:solidFill>
                <a:latin typeface="Calibri"/>
              </a:rPr>
              <a:t> </a:t>
            </a:r>
          </a:p>
        </p:txBody>
      </p:sp>
      <p:sp>
        <p:nvSpPr>
          <p:cNvPr id="16" name="Rectangle 15"/>
          <p:cNvSpPr/>
          <p:nvPr/>
        </p:nvSpPr>
        <p:spPr>
          <a:xfrm>
            <a:off x="9779505" y="1266825"/>
            <a:ext cx="2174370" cy="2242475"/>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India</a:t>
            </a:r>
          </a:p>
          <a:p>
            <a:pPr algn="ctr"/>
            <a:r>
              <a:rPr sz="1100" b="0">
                <a:solidFill>
                  <a:srgbClr val="FFFFFF"/>
                </a:solidFill>
                <a:latin typeface="Calibri"/>
              </a:rPr>
              <a:t> </a:t>
            </a:r>
          </a:p>
        </p:txBody>
      </p:sp>
      <p:sp>
        <p:nvSpPr>
          <p:cNvPr id="17" name="Rectangle 16"/>
          <p:cNvSpPr/>
          <p:nvPr/>
        </p:nvSpPr>
        <p:spPr>
          <a:xfrm>
            <a:off x="6925671" y="3509300"/>
            <a:ext cx="2443085" cy="1641052"/>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Brazil</a:t>
            </a:r>
          </a:p>
          <a:p>
            <a:pPr algn="ctr"/>
            <a:r>
              <a:rPr sz="1100" b="0">
                <a:solidFill>
                  <a:srgbClr val="FFFFFF"/>
                </a:solidFill>
                <a:latin typeface="Calibri"/>
              </a:rPr>
              <a:t> </a:t>
            </a:r>
          </a:p>
        </p:txBody>
      </p:sp>
      <p:sp>
        <p:nvSpPr>
          <p:cNvPr id="18" name="Rectangle 17"/>
          <p:cNvSpPr/>
          <p:nvPr/>
        </p:nvSpPr>
        <p:spPr>
          <a:xfrm>
            <a:off x="6925671" y="5150353"/>
            <a:ext cx="2443085" cy="1421897"/>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U.K.</a:t>
            </a:r>
          </a:p>
          <a:p>
            <a:pPr algn="ctr"/>
            <a:r>
              <a:rPr sz="1100" b="0">
                <a:solidFill>
                  <a:srgbClr val="FFFFFF"/>
                </a:solidFill>
                <a:latin typeface="Calibri"/>
              </a:rPr>
              <a:t> </a:t>
            </a:r>
          </a:p>
        </p:txBody>
      </p:sp>
      <p:sp>
        <p:nvSpPr>
          <p:cNvPr id="19" name="Rectangle 18"/>
          <p:cNvSpPr/>
          <p:nvPr/>
        </p:nvSpPr>
        <p:spPr>
          <a:xfrm>
            <a:off x="9368756" y="3509300"/>
            <a:ext cx="1303919" cy="2110510"/>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Japan</a:t>
            </a:r>
          </a:p>
          <a:p>
            <a:pPr algn="ctr"/>
            <a:r>
              <a:rPr sz="1100" b="0">
                <a:solidFill>
                  <a:srgbClr val="FFFFFF"/>
                </a:solidFill>
                <a:latin typeface="Calibri"/>
              </a:rPr>
              <a:t> </a:t>
            </a:r>
          </a:p>
        </p:txBody>
      </p:sp>
      <p:sp>
        <p:nvSpPr>
          <p:cNvPr id="20" name="Rectangle 19"/>
          <p:cNvSpPr/>
          <p:nvPr/>
        </p:nvSpPr>
        <p:spPr>
          <a:xfrm>
            <a:off x="10672675" y="3509300"/>
            <a:ext cx="1281200" cy="2110510"/>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France</a:t>
            </a:r>
          </a:p>
          <a:p>
            <a:pPr algn="ctr"/>
            <a:r>
              <a:rPr sz="1100" b="0">
                <a:solidFill>
                  <a:srgbClr val="FFFFFF"/>
                </a:solidFill>
                <a:latin typeface="Calibri"/>
              </a:rPr>
              <a:t> </a:t>
            </a:r>
          </a:p>
        </p:txBody>
      </p:sp>
      <p:sp>
        <p:nvSpPr>
          <p:cNvPr id="21" name="Rectangle 20"/>
          <p:cNvSpPr/>
          <p:nvPr/>
        </p:nvSpPr>
        <p:spPr>
          <a:xfrm>
            <a:off x="9368756" y="5619811"/>
            <a:ext cx="2585119" cy="952439"/>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Turkey</a:t>
            </a:r>
          </a:p>
          <a:p>
            <a:pPr algn="ctr"/>
            <a:r>
              <a:rPr sz="1100" b="0">
                <a:solidFill>
                  <a:srgbClr val="FFFFFF"/>
                </a:solidFill>
                <a:latin typeface="Calibri"/>
              </a:rPr>
              <a:t> </a:t>
            </a:r>
          </a:p>
        </p:txBody>
      </p:sp>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4"/>
          <a:stretch>
            <a:fillRect/>
          </a:stretch>
        </p:blipFill>
        <p:spPr>
          <a:xfrm>
            <a:off x="1706954" y="3919537"/>
            <a:ext cx="308877" cy="449275"/>
          </a:xfrm>
          <a:prstGeom prst="rect">
            <a:avLst/>
          </a:prstGeom>
        </p:spPr>
      </p:pic>
      <p:pic>
        <p:nvPicPr>
          <p:cNvPr id="24" name="Picture 23" descr="lock.png"/>
          <p:cNvPicPr>
            <a:picLocks noChangeAspect="1"/>
          </p:cNvPicPr>
          <p:nvPr/>
        </p:nvPicPr>
        <p:blipFill>
          <a:blip r:embed="rId4"/>
          <a:stretch>
            <a:fillRect/>
          </a:stretch>
        </p:blipFill>
        <p:spPr>
          <a:xfrm>
            <a:off x="5050728" y="2710384"/>
            <a:ext cx="308877" cy="449275"/>
          </a:xfrm>
          <a:prstGeom prst="rect">
            <a:avLst/>
          </a:prstGeom>
        </p:spPr>
      </p:pic>
      <p:pic>
        <p:nvPicPr>
          <p:cNvPr id="25" name="Picture 24" descr="lock.png"/>
          <p:cNvPicPr>
            <a:picLocks noChangeAspect="1"/>
          </p:cNvPicPr>
          <p:nvPr/>
        </p:nvPicPr>
        <p:blipFill>
          <a:blip r:embed="rId4"/>
          <a:stretch>
            <a:fillRect/>
          </a:stretch>
        </p:blipFill>
        <p:spPr>
          <a:xfrm>
            <a:off x="5050728" y="5363097"/>
            <a:ext cx="308877" cy="449275"/>
          </a:xfrm>
          <a:prstGeom prst="rect">
            <a:avLst/>
          </a:prstGeom>
        </p:spPr>
      </p:pic>
      <p:pic>
        <p:nvPicPr>
          <p:cNvPr id="26" name="Picture 25" descr="lock.png"/>
          <p:cNvPicPr>
            <a:picLocks noChangeAspect="1"/>
          </p:cNvPicPr>
          <p:nvPr/>
        </p:nvPicPr>
        <p:blipFill>
          <a:blip r:embed="rId4"/>
          <a:stretch>
            <a:fillRect/>
          </a:stretch>
        </p:blipFill>
        <p:spPr>
          <a:xfrm>
            <a:off x="8198149" y="2388062"/>
            <a:ext cx="308877" cy="449275"/>
          </a:xfrm>
          <a:prstGeom prst="rect">
            <a:avLst/>
          </a:prstGeom>
        </p:spPr>
      </p:pic>
      <p:pic>
        <p:nvPicPr>
          <p:cNvPr id="27" name="Picture 26" descr="lock.png"/>
          <p:cNvPicPr>
            <a:picLocks noChangeAspect="1"/>
          </p:cNvPicPr>
          <p:nvPr/>
        </p:nvPicPr>
        <p:blipFill>
          <a:blip r:embed="rId4"/>
          <a:stretch>
            <a:fillRect/>
          </a:stretch>
        </p:blipFill>
        <p:spPr>
          <a:xfrm>
            <a:off x="10712251" y="2388062"/>
            <a:ext cx="308877" cy="449275"/>
          </a:xfrm>
          <a:prstGeom prst="rect">
            <a:avLst/>
          </a:prstGeom>
        </p:spPr>
      </p:pic>
      <p:pic>
        <p:nvPicPr>
          <p:cNvPr id="28" name="Picture 27" descr="lock.png"/>
          <p:cNvPicPr>
            <a:picLocks noChangeAspect="1"/>
          </p:cNvPicPr>
          <p:nvPr/>
        </p:nvPicPr>
        <p:blipFill>
          <a:blip r:embed="rId4"/>
          <a:stretch>
            <a:fillRect/>
          </a:stretch>
        </p:blipFill>
        <p:spPr>
          <a:xfrm>
            <a:off x="7992775" y="4329826"/>
            <a:ext cx="308877" cy="449275"/>
          </a:xfrm>
          <a:prstGeom prst="rect">
            <a:avLst/>
          </a:prstGeom>
        </p:spPr>
      </p:pic>
      <p:pic>
        <p:nvPicPr>
          <p:cNvPr id="29" name="Picture 28" descr="lock.png"/>
          <p:cNvPicPr>
            <a:picLocks noChangeAspect="1"/>
          </p:cNvPicPr>
          <p:nvPr/>
        </p:nvPicPr>
        <p:blipFill>
          <a:blip r:embed="rId4"/>
          <a:stretch>
            <a:fillRect/>
          </a:stretch>
        </p:blipFill>
        <p:spPr>
          <a:xfrm>
            <a:off x="7992775" y="5861301"/>
            <a:ext cx="308877" cy="449275"/>
          </a:xfrm>
          <a:prstGeom prst="rect">
            <a:avLst/>
          </a:prstGeom>
        </p:spPr>
      </p:pic>
      <p:pic>
        <p:nvPicPr>
          <p:cNvPr id="30" name="Picture 29" descr="lock.png"/>
          <p:cNvPicPr>
            <a:picLocks noChangeAspect="1"/>
          </p:cNvPicPr>
          <p:nvPr/>
        </p:nvPicPr>
        <p:blipFill>
          <a:blip r:embed="rId4"/>
          <a:stretch>
            <a:fillRect/>
          </a:stretch>
        </p:blipFill>
        <p:spPr>
          <a:xfrm>
            <a:off x="9866277" y="4564555"/>
            <a:ext cx="308877" cy="449275"/>
          </a:xfrm>
          <a:prstGeom prst="rect">
            <a:avLst/>
          </a:prstGeom>
        </p:spPr>
      </p:pic>
      <p:pic>
        <p:nvPicPr>
          <p:cNvPr id="31" name="Picture 30" descr="lock.png"/>
          <p:cNvPicPr>
            <a:picLocks noChangeAspect="1"/>
          </p:cNvPicPr>
          <p:nvPr/>
        </p:nvPicPr>
        <p:blipFill>
          <a:blip r:embed="rId4"/>
          <a:stretch>
            <a:fillRect/>
          </a:stretch>
        </p:blipFill>
        <p:spPr>
          <a:xfrm>
            <a:off x="11158836" y="4564555"/>
            <a:ext cx="308877" cy="449275"/>
          </a:xfrm>
          <a:prstGeom prst="rect">
            <a:avLst/>
          </a:prstGeom>
        </p:spPr>
      </p:pic>
      <p:pic>
        <p:nvPicPr>
          <p:cNvPr id="32" name="Picture 31" descr="lock.png"/>
          <p:cNvPicPr>
            <a:picLocks noChangeAspect="1"/>
          </p:cNvPicPr>
          <p:nvPr/>
        </p:nvPicPr>
        <p:blipFill>
          <a:blip r:embed="rId4"/>
          <a:stretch>
            <a:fillRect/>
          </a:stretch>
        </p:blipFill>
        <p:spPr>
          <a:xfrm>
            <a:off x="10506877" y="6096030"/>
            <a:ext cx="308877" cy="449275"/>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Global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Reusability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Monitoring Capability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Device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Device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Device Technology,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Device Technology segment categorizes the market by device technology.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Portable Machine Perfusion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Static Cold Storage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Device Technology split shows how demand is distributed across device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8_374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3_528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4_9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2_526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4_158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5_1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26816" cy="186689"/>
          </a:xfrm>
          <a:prstGeom prst="rect">
            <a:avLst/>
          </a:prstGeom>
          <a:noFill/>
        </p:spPr>
        <p:txBody>
          <a:bodyPr wrap="none" lIns="0" rIns="0" tIns="0" bIns="0">
            <a:spAutoFit/>
          </a:bodyPr>
          <a:lstStyle/>
          <a:p>
            <a:r>
              <a:rPr sz="1100" b="0">
                <a:solidFill>
                  <a:srgbClr val="2E2E2E"/>
                </a:solidFill>
                <a:latin typeface="Calibri"/>
              </a:rPr>
              <a:t>Among organ transport devices by device</a:t>
            </a:r>
          </a:p>
        </p:txBody>
      </p:sp>
      <p:sp>
        <p:nvSpPr>
          <p:cNvPr id="58" name="TextBox 57"/>
          <p:cNvSpPr txBox="1"/>
          <p:nvPr/>
        </p:nvSpPr>
        <p:spPr>
          <a:xfrm>
            <a:off x="485775" y="4397077"/>
            <a:ext cx="2903215" cy="186689"/>
          </a:xfrm>
          <a:prstGeom prst="rect">
            <a:avLst/>
          </a:prstGeom>
          <a:noFill/>
        </p:spPr>
        <p:txBody>
          <a:bodyPr wrap="none" lIns="0" rIns="0" tIns="0" bIns="0">
            <a:spAutoFit/>
          </a:bodyPr>
          <a:lstStyle/>
          <a:p>
            <a:r>
              <a:rPr sz="1100" b="0">
                <a:solidFill>
                  <a:srgbClr val="2E2E2E"/>
                </a:solidFill>
                <a:latin typeface="Calibri"/>
              </a:rPr>
              <a:t>technology, static cold storage devices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device technology, the portable machine perfusion</a:t>
            </a:r>
          </a:p>
        </p:txBody>
      </p:sp>
      <p:sp>
        <p:nvSpPr>
          <p:cNvPr id="64" name="TextBox 63"/>
          <p:cNvSpPr txBox="1"/>
          <p:nvPr/>
        </p:nvSpPr>
        <p:spPr>
          <a:xfrm>
            <a:off x="485775" y="5067637"/>
            <a:ext cx="2646188" cy="186689"/>
          </a:xfrm>
          <a:prstGeom prst="rect">
            <a:avLst/>
          </a:prstGeom>
          <a:noFill/>
        </p:spPr>
        <p:txBody>
          <a:bodyPr wrap="none" lIns="0" rIns="0" tIns="0" bIns="0">
            <a:spAutoFit/>
          </a:bodyPr>
          <a:lstStyle/>
          <a:p>
            <a:r>
              <a:rPr sz="1100" b="0">
                <a:solidFill>
                  <a:srgbClr val="2E2E2E"/>
                </a:solidFill>
                <a:latin typeface="Calibri"/>
              </a:rPr>
              <a:t>devices segment is expected to dominate the</a:t>
            </a:r>
          </a:p>
        </p:txBody>
      </p:sp>
      <p:sp>
        <p:nvSpPr>
          <p:cNvPr id="65" name="TextBox 64"/>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66" name="Picture 65" descr="lock.png"/>
          <p:cNvPicPr>
            <a:picLocks noChangeAspect="1"/>
          </p:cNvPicPr>
          <p:nvPr/>
        </p:nvPicPr>
        <p:blipFill>
          <a:blip r:embed="rId10"/>
          <a:stretch>
            <a:fillRect/>
          </a:stretch>
        </p:blipFill>
        <p:spPr>
          <a:xfrm>
            <a:off x="1315757" y="5225498"/>
            <a:ext cx="128699" cy="187198"/>
          </a:xfrm>
          <a:prstGeom prst="rect">
            <a:avLst/>
          </a:prstGeom>
        </p:spPr>
      </p:pic>
      <p:sp>
        <p:nvSpPr>
          <p:cNvPr id="67" name="TextBox 66"/>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817737" y="5225498"/>
            <a:ext cx="128699" cy="187198"/>
          </a:xfrm>
          <a:prstGeom prst="rect">
            <a:avLst/>
          </a:prstGeom>
        </p:spPr>
      </p:pic>
      <p:sp>
        <p:nvSpPr>
          <p:cNvPr id="69" name="TextBox 68"/>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620849"/>
            <a:ext cx="2745779" cy="186689"/>
          </a:xfrm>
          <a:prstGeom prst="rect">
            <a:avLst/>
          </a:prstGeom>
          <a:noFill/>
        </p:spPr>
        <p:txBody>
          <a:bodyPr wrap="none" lIns="0" rIns="0" tIns="0" bIns="0">
            <a:spAutoFit/>
          </a:bodyPr>
          <a:lstStyle/>
          <a:p>
            <a:r>
              <a:rPr sz="1100" b="0">
                <a:solidFill>
                  <a:srgbClr val="2E2E2E"/>
                </a:solidFill>
                <a:latin typeface="Calibri"/>
              </a:rPr>
              <a:t>Portable machine perfusion devices segment is</a:t>
            </a:r>
          </a:p>
        </p:txBody>
      </p:sp>
      <p:sp>
        <p:nvSpPr>
          <p:cNvPr id="71" name="TextBox 70"/>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72" name="Picture 71" descr="lock.png"/>
          <p:cNvPicPr>
            <a:picLocks noChangeAspect="1"/>
          </p:cNvPicPr>
          <p:nvPr/>
        </p:nvPicPr>
        <p:blipFill>
          <a:blip r:embed="rId10"/>
          <a:stretch>
            <a:fillRect/>
          </a:stretch>
        </p:blipFill>
        <p:spPr>
          <a:xfrm>
            <a:off x="1678376" y="5778710"/>
            <a:ext cx="128699" cy="187198"/>
          </a:xfrm>
          <a:prstGeom prst="rect">
            <a:avLst/>
          </a:prstGeom>
        </p:spPr>
      </p:pic>
      <p:sp>
        <p:nvSpPr>
          <p:cNvPr id="73" name="TextBox 72"/>
          <p:cNvSpPr txBox="1"/>
          <p:nvPr/>
        </p:nvSpPr>
        <p:spPr>
          <a:xfrm>
            <a:off x="1845872" y="5788489"/>
            <a:ext cx="1510853" cy="186689"/>
          </a:xfrm>
          <a:prstGeom prst="rect">
            <a:avLst/>
          </a:prstGeom>
          <a:noFill/>
        </p:spPr>
        <p:txBody>
          <a:bodyPr wrap="none" lIns="0" rIns="0" tIns="0" bIns="0">
            <a:spAutoFit/>
          </a:bodyPr>
          <a:lstStyle/>
          <a:p>
            <a:r>
              <a:rPr sz="1100" b="0">
                <a:solidFill>
                  <a:srgbClr val="2E2E2E"/>
                </a:solidFill>
                <a:latin typeface="Calibri"/>
              </a:rPr>
              <a:t>X higher value than static</a:t>
            </a:r>
          </a:p>
        </p:txBody>
      </p:sp>
      <p:sp>
        <p:nvSpPr>
          <p:cNvPr id="74" name="TextBox 73"/>
          <p:cNvSpPr txBox="1"/>
          <p:nvPr/>
        </p:nvSpPr>
        <p:spPr>
          <a:xfrm>
            <a:off x="485775" y="5956129"/>
            <a:ext cx="2236638" cy="186689"/>
          </a:xfrm>
          <a:prstGeom prst="rect">
            <a:avLst/>
          </a:prstGeom>
          <a:noFill/>
        </p:spPr>
        <p:txBody>
          <a:bodyPr wrap="none" lIns="0" rIns="0" tIns="0" bIns="0">
            <a:spAutoFit/>
          </a:bodyPr>
          <a:lstStyle/>
          <a:p>
            <a:r>
              <a:rPr sz="1100" b="0">
                <a:solidFill>
                  <a:srgbClr val="2E2E2E"/>
                </a:solidFill>
                <a:latin typeface="Calibri"/>
              </a:rPr>
              <a:t>cold storage devices segment in 2036.</a:t>
            </a:r>
          </a:p>
        </p:txBody>
      </p:sp>
      <p:sp>
        <p:nvSpPr>
          <p:cNvPr id="75" name="TextBox 74"/>
          <p:cNvSpPr txBox="1"/>
          <p:nvPr/>
        </p:nvSpPr>
        <p:spPr>
          <a:xfrm>
            <a:off x="3838575" y="4229437"/>
            <a:ext cx="2277020" cy="186689"/>
          </a:xfrm>
          <a:prstGeom prst="rect">
            <a:avLst/>
          </a:prstGeom>
          <a:noFill/>
        </p:spPr>
        <p:txBody>
          <a:bodyPr wrap="none" lIns="0" rIns="0" tIns="0" bIns="0">
            <a:spAutoFit/>
          </a:bodyPr>
          <a:lstStyle/>
          <a:p>
            <a:r>
              <a:rPr sz="1100" b="0">
                <a:solidFill>
                  <a:srgbClr val="2E2E2E"/>
                </a:solidFill>
                <a:latin typeface="Calibri"/>
              </a:rPr>
              <a:t>● Portable Machine Perfusion Devices:</a:t>
            </a:r>
          </a:p>
        </p:txBody>
      </p:sp>
      <p:pic>
        <p:nvPicPr>
          <p:cNvPr id="76" name="Picture 75" descr="lock.png"/>
          <p:cNvPicPr>
            <a:picLocks noChangeAspect="1"/>
          </p:cNvPicPr>
          <p:nvPr/>
        </p:nvPicPr>
        <p:blipFill>
          <a:blip r:embed="rId10"/>
          <a:stretch>
            <a:fillRect/>
          </a:stretch>
        </p:blipFill>
        <p:spPr>
          <a:xfrm>
            <a:off x="6063647" y="4219658"/>
            <a:ext cx="128699" cy="187198"/>
          </a:xfrm>
          <a:prstGeom prst="rect">
            <a:avLst/>
          </a:prstGeom>
        </p:spPr>
      </p:pic>
      <p:sp>
        <p:nvSpPr>
          <p:cNvPr id="77" name="TextBox 76"/>
          <p:cNvSpPr txBox="1"/>
          <p:nvPr/>
        </p:nvSpPr>
        <p:spPr>
          <a:xfrm>
            <a:off x="623114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7090593" y="4219658"/>
            <a:ext cx="128699" cy="187198"/>
          </a:xfrm>
          <a:prstGeom prst="rect">
            <a:avLst/>
          </a:prstGeom>
        </p:spPr>
      </p:pic>
      <p:sp>
        <p:nvSpPr>
          <p:cNvPr id="79" name="TextBox 78"/>
          <p:cNvSpPr txBox="1"/>
          <p:nvPr/>
        </p:nvSpPr>
        <p:spPr>
          <a:xfrm>
            <a:off x="7258089"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0" name="TextBox 79"/>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81" name="TextBox 80"/>
          <p:cNvSpPr txBox="1"/>
          <p:nvPr/>
        </p:nvSpPr>
        <p:spPr>
          <a:xfrm>
            <a:off x="3838575" y="4615009"/>
            <a:ext cx="1764332" cy="186689"/>
          </a:xfrm>
          <a:prstGeom prst="rect">
            <a:avLst/>
          </a:prstGeom>
          <a:noFill/>
        </p:spPr>
        <p:txBody>
          <a:bodyPr wrap="none" lIns="0" rIns="0" tIns="0" bIns="0">
            <a:spAutoFit/>
          </a:bodyPr>
          <a:lstStyle/>
          <a:p>
            <a:r>
              <a:rPr sz="1100" b="0">
                <a:solidFill>
                  <a:srgbClr val="2E2E2E"/>
                </a:solidFill>
                <a:latin typeface="Calibri"/>
              </a:rPr>
              <a:t>● Static Cold Storage Devices:</a:t>
            </a:r>
          </a:p>
        </p:txBody>
      </p:sp>
      <p:pic>
        <p:nvPicPr>
          <p:cNvPr id="82" name="Picture 81" descr="lock.png"/>
          <p:cNvPicPr>
            <a:picLocks noChangeAspect="1"/>
          </p:cNvPicPr>
          <p:nvPr/>
        </p:nvPicPr>
        <p:blipFill>
          <a:blip r:embed="rId10"/>
          <a:stretch>
            <a:fillRect/>
          </a:stretch>
        </p:blipFill>
        <p:spPr>
          <a:xfrm>
            <a:off x="5550959" y="4605230"/>
            <a:ext cx="128699" cy="187198"/>
          </a:xfrm>
          <a:prstGeom prst="rect">
            <a:avLst/>
          </a:prstGeom>
        </p:spPr>
      </p:pic>
      <p:sp>
        <p:nvSpPr>
          <p:cNvPr id="83" name="TextBox 82"/>
          <p:cNvSpPr txBox="1"/>
          <p:nvPr/>
        </p:nvSpPr>
        <p:spPr>
          <a:xfrm>
            <a:off x="571845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577905" y="4605230"/>
            <a:ext cx="128699" cy="187198"/>
          </a:xfrm>
          <a:prstGeom prst="rect">
            <a:avLst/>
          </a:prstGeom>
        </p:spPr>
      </p:pic>
      <p:sp>
        <p:nvSpPr>
          <p:cNvPr id="85" name="TextBox 84"/>
          <p:cNvSpPr txBox="1"/>
          <p:nvPr/>
        </p:nvSpPr>
        <p:spPr>
          <a:xfrm>
            <a:off x="6745401"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86" name="TextBox 85"/>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87" name="TextBox 86"/>
          <p:cNvSpPr txBox="1"/>
          <p:nvPr/>
        </p:nvSpPr>
        <p:spPr>
          <a:xfrm>
            <a:off x="8524875" y="5842641"/>
            <a:ext cx="2929880" cy="194310"/>
          </a:xfrm>
          <a:prstGeom prst="rect">
            <a:avLst/>
          </a:prstGeom>
          <a:noFill/>
        </p:spPr>
        <p:txBody>
          <a:bodyPr wrap="none" lIns="0" rIns="0" tIns="0" bIns="0">
            <a:spAutoFit/>
          </a:bodyPr>
          <a:lstStyle/>
          <a:p>
            <a:r>
              <a:rPr sz="1150" b="1">
                <a:solidFill>
                  <a:srgbClr val="0B2E4A"/>
                </a:solidFill>
                <a:latin typeface="Calibri"/>
              </a:rPr>
              <a:t>The Device Technology segment is projected to</a:t>
            </a:r>
          </a:p>
        </p:txBody>
      </p:sp>
      <p:sp>
        <p:nvSpPr>
          <p:cNvPr id="88" name="TextBox 8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9" name="Picture 88" descr="lock.png"/>
          <p:cNvPicPr>
            <a:picLocks noChangeAspect="1"/>
          </p:cNvPicPr>
          <p:nvPr/>
        </p:nvPicPr>
        <p:blipFill>
          <a:blip r:embed="rId10"/>
          <a:stretch>
            <a:fillRect/>
          </a:stretch>
        </p:blipFill>
        <p:spPr>
          <a:xfrm>
            <a:off x="9651852" y="6007677"/>
            <a:ext cx="134549" cy="195707"/>
          </a:xfrm>
          <a:prstGeom prst="rect">
            <a:avLst/>
          </a:prstGeom>
        </p:spPr>
      </p:pic>
      <p:sp>
        <p:nvSpPr>
          <p:cNvPr id="90" name="TextBox 8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Device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Device Technology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Technology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Device Technology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29008" cy="186689"/>
          </a:xfrm>
          <a:prstGeom prst="rect">
            <a:avLst/>
          </a:prstGeom>
          <a:noFill/>
        </p:spPr>
        <p:txBody>
          <a:bodyPr wrap="none" lIns="0" rIns="0" tIns="0" bIns="0">
            <a:spAutoFit/>
          </a:bodyPr>
          <a:lstStyle/>
          <a:p>
            <a:r>
              <a:rPr sz="1100" b="0">
                <a:solidFill>
                  <a:srgbClr val="2E2E2E"/>
                </a:solidFill>
                <a:latin typeface="Calibri"/>
              </a:rPr>
              <a:t>Portable machine perfusion devices followed by static cold storage devices are expected to be the two most attractive device technology segments in the global organ transport devices market in terms of</a:t>
            </a:r>
          </a:p>
        </p:txBody>
      </p:sp>
      <p:sp>
        <p:nvSpPr>
          <p:cNvPr id="20" name="TextBox 19"/>
          <p:cNvSpPr txBox="1"/>
          <p:nvPr/>
        </p:nvSpPr>
        <p:spPr>
          <a:xfrm>
            <a:off x="257175" y="5945505"/>
            <a:ext cx="7003884" cy="186689"/>
          </a:xfrm>
          <a:prstGeom prst="rect">
            <a:avLst/>
          </a:prstGeom>
          <a:noFill/>
        </p:spPr>
        <p:txBody>
          <a:bodyPr wrap="none" lIns="0" rIns="0" tIns="0" bIns="0">
            <a:spAutoFit/>
          </a:bodyPr>
          <a:lstStyle/>
          <a:p>
            <a:r>
              <a:rPr sz="1100" b="0">
                <a:solidFill>
                  <a:srgbClr val="2E2E2E"/>
                </a:solidFill>
                <a:latin typeface="Calibri"/>
              </a:rPr>
              <a:t>value over the forecast period. Portable machine perfusion devices and static cold storage devices exhibit a CAGR index of</a:t>
            </a:r>
          </a:p>
        </p:txBody>
      </p:sp>
      <p:pic>
        <p:nvPicPr>
          <p:cNvPr id="21" name="Picture 20" descr="lock.png"/>
          <p:cNvPicPr>
            <a:picLocks noChangeAspect="1"/>
          </p:cNvPicPr>
          <p:nvPr/>
        </p:nvPicPr>
        <p:blipFill>
          <a:blip r:embed="rId6"/>
          <a:stretch>
            <a:fillRect/>
          </a:stretch>
        </p:blipFill>
        <p:spPr>
          <a:xfrm>
            <a:off x="7209110" y="5935726"/>
            <a:ext cx="128699" cy="187198"/>
          </a:xfrm>
          <a:prstGeom prst="rect">
            <a:avLst/>
          </a:prstGeom>
        </p:spPr>
      </p:pic>
      <p:sp>
        <p:nvSpPr>
          <p:cNvPr id="22" name="TextBox 21"/>
          <p:cNvSpPr txBox="1"/>
          <p:nvPr/>
        </p:nvSpPr>
        <p:spPr>
          <a:xfrm>
            <a:off x="737660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614500" y="5935726"/>
            <a:ext cx="128699" cy="187198"/>
          </a:xfrm>
          <a:prstGeom prst="rect">
            <a:avLst/>
          </a:prstGeom>
        </p:spPr>
      </p:pic>
      <p:sp>
        <p:nvSpPr>
          <p:cNvPr id="24" name="TextBox 23"/>
          <p:cNvSpPr txBox="1"/>
          <p:nvPr/>
        </p:nvSpPr>
        <p:spPr>
          <a:xfrm>
            <a:off x="7781996"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390970" y="5935726"/>
            <a:ext cx="128699" cy="187198"/>
          </a:xfrm>
          <a:prstGeom prst="rect">
            <a:avLst/>
          </a:prstGeom>
        </p:spPr>
      </p:pic>
      <p:sp>
        <p:nvSpPr>
          <p:cNvPr id="26" name="TextBox 25"/>
          <p:cNvSpPr txBox="1"/>
          <p:nvPr/>
        </p:nvSpPr>
        <p:spPr>
          <a:xfrm>
            <a:off x="955846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796360" y="5935726"/>
            <a:ext cx="128699" cy="187198"/>
          </a:xfrm>
          <a:prstGeom prst="rect">
            <a:avLst/>
          </a:prstGeom>
        </p:spPr>
      </p:pic>
      <p:sp>
        <p:nvSpPr>
          <p:cNvPr id="28" name="TextBox 27"/>
          <p:cNvSpPr txBox="1"/>
          <p:nvPr/>
        </p:nvSpPr>
        <p:spPr>
          <a:xfrm>
            <a:off x="9963856" y="5945505"/>
            <a:ext cx="1453281" cy="186689"/>
          </a:xfrm>
          <a:prstGeom prst="rect">
            <a:avLst/>
          </a:prstGeom>
          <a:noFill/>
        </p:spPr>
        <p:txBody>
          <a:bodyPr wrap="none" lIns="0" rIns="0" tIns="0" bIns="0">
            <a:spAutoFit/>
          </a:bodyPr>
          <a:lstStyle/>
          <a:p>
            <a:r>
              <a:rPr sz="1100" b="0">
                <a:solidFill>
                  <a:srgbClr val="2E2E2E"/>
                </a:solidFill>
                <a:latin typeface="Calibri"/>
              </a:rPr>
              <a:t>respectively, against the</a:t>
            </a:r>
          </a:p>
        </p:txBody>
      </p:sp>
      <p:sp>
        <p:nvSpPr>
          <p:cNvPr id="29" name="TextBox 28"/>
          <p:cNvSpPr txBox="1"/>
          <p:nvPr/>
        </p:nvSpPr>
        <p:spPr>
          <a:xfrm>
            <a:off x="257175" y="6113145"/>
            <a:ext cx="1197619" cy="186689"/>
          </a:xfrm>
          <a:prstGeom prst="rect">
            <a:avLst/>
          </a:prstGeom>
          <a:noFill/>
        </p:spPr>
        <p:txBody>
          <a:bodyPr wrap="none" lIns="0" rIns="0" tIns="0" bIns="0">
            <a:spAutoFit/>
          </a:bodyPr>
          <a:lstStyle/>
          <a:p>
            <a:r>
              <a:rPr sz="1100" b="0">
                <a:solidFill>
                  <a:srgbClr val="2E2E2E"/>
                </a:solidFill>
                <a:latin typeface="Calibri"/>
              </a:rPr>
              <a:t>segment average of</a:t>
            </a:r>
          </a:p>
        </p:txBody>
      </p:sp>
      <p:pic>
        <p:nvPicPr>
          <p:cNvPr id="30" name="Picture 29" descr="lock.png"/>
          <p:cNvPicPr>
            <a:picLocks noChangeAspect="1"/>
          </p:cNvPicPr>
          <p:nvPr/>
        </p:nvPicPr>
        <p:blipFill>
          <a:blip r:embed="rId6"/>
          <a:stretch>
            <a:fillRect/>
          </a:stretch>
        </p:blipFill>
        <p:spPr>
          <a:xfrm>
            <a:off x="1402846" y="6103366"/>
            <a:ext cx="128699" cy="187198"/>
          </a:xfrm>
          <a:prstGeom prst="rect">
            <a:avLst/>
          </a:prstGeom>
        </p:spPr>
      </p:pic>
      <p:sp>
        <p:nvSpPr>
          <p:cNvPr id="31" name="TextBox 30"/>
          <p:cNvSpPr txBox="1"/>
          <p:nvPr/>
        </p:nvSpPr>
        <p:spPr>
          <a:xfrm>
            <a:off x="1570342"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Device Technology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Static Cold Storage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Portable Machine Perfusion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Device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Device Technology,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Device Technology (US$ Mn)</a:t>
            </a:r>
          </a:p>
        </p:txBody>
      </p:sp>
      <p:graphicFrame>
        <p:nvGraphicFramePr>
          <p:cNvPr id="12" name="Table 11"/>
          <p:cNvGraphicFramePr>
            <a:graphicFrameLocks noGrp="1"/>
          </p:cNvGraphicFramePr>
          <p:nvPr/>
        </p:nvGraphicFramePr>
        <p:xfrm>
          <a:off x="152400" y="1238250"/>
          <a:ext cx="11887198" cy="2714626"/>
        </p:xfrm>
        <a:graphic>
          <a:graphicData uri="http://schemas.openxmlformats.org/drawingml/2006/table">
            <a:tbl>
              <a:tblPr>
                <a:tableStyleId>{5C22544A-7EE6-4342-B048-85BDC9FD1C3A}</a:tableStyleId>
              </a:tblPr>
              <a:tblGrid>
                <a:gridCol w="3209522"/>
                <a:gridCol w="489585"/>
                <a:gridCol w="489585"/>
                <a:gridCol w="489585"/>
                <a:gridCol w="511758"/>
                <a:gridCol w="511758"/>
                <a:gridCol w="511758"/>
                <a:gridCol w="511758"/>
                <a:gridCol w="511758"/>
                <a:gridCol w="511758"/>
                <a:gridCol w="511758"/>
                <a:gridCol w="511758"/>
                <a:gridCol w="511758"/>
                <a:gridCol w="511758"/>
                <a:gridCol w="511758"/>
                <a:gridCol w="511758"/>
                <a:gridCol w="511758"/>
                <a:gridCol w="556067"/>
              </a:tblGrid>
              <a:tr h="246126">
                <a:tc>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Passive Insulated Transport Containers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Active Temperature-Controlled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Portable Machine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Device Technology</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514070" y="2451926"/>
            <a:ext cx="366712" cy="533400"/>
          </a:xfrm>
          <a:prstGeom prst="rect">
            <a:avLst/>
          </a:prstGeom>
        </p:spPr>
      </p:pic>
      <p:sp>
        <p:nvSpPr>
          <p:cNvPr id="20" name="TextBox 19"/>
          <p:cNvSpPr txBox="1"/>
          <p:nvPr/>
        </p:nvSpPr>
        <p:spPr>
          <a:xfrm>
            <a:off x="276225" y="4714875"/>
            <a:ext cx="4121670" cy="194310"/>
          </a:xfrm>
          <a:prstGeom prst="rect">
            <a:avLst/>
          </a:prstGeom>
          <a:noFill/>
        </p:spPr>
        <p:txBody>
          <a:bodyPr wrap="none" lIns="0" rIns="0" tIns="0" bIns="0">
            <a:spAutoFit/>
          </a:bodyPr>
          <a:lstStyle/>
          <a:p>
            <a:r>
              <a:rPr sz="1150" b="0">
                <a:solidFill>
                  <a:srgbClr val="2E2E2E"/>
                </a:solidFill>
                <a:latin typeface="Calibri"/>
              </a:rPr>
              <a:t>Portable machine perfusion devices segment is projected to register</a:t>
            </a:r>
          </a:p>
        </p:txBody>
      </p:sp>
      <p:pic>
        <p:nvPicPr>
          <p:cNvPr id="21" name="Picture 20" descr="lock.png"/>
          <p:cNvPicPr>
            <a:picLocks noChangeAspect="1"/>
          </p:cNvPicPr>
          <p:nvPr/>
        </p:nvPicPr>
        <p:blipFill>
          <a:blip r:embed="rId4"/>
          <a:stretch>
            <a:fillRect/>
          </a:stretch>
        </p:blipFill>
        <p:spPr>
          <a:xfrm>
            <a:off x="4347049" y="4704651"/>
            <a:ext cx="134549" cy="195707"/>
          </a:xfrm>
          <a:prstGeom prst="rect">
            <a:avLst/>
          </a:prstGeom>
        </p:spPr>
      </p:pic>
      <p:sp>
        <p:nvSpPr>
          <p:cNvPr id="22" name="TextBox 21"/>
          <p:cNvSpPr txBox="1"/>
          <p:nvPr/>
        </p:nvSpPr>
        <p:spPr>
          <a:xfrm>
            <a:off x="4522159" y="4714875"/>
            <a:ext cx="7087741" cy="194310"/>
          </a:xfrm>
          <a:prstGeom prst="rect">
            <a:avLst/>
          </a:prstGeom>
          <a:noFill/>
        </p:spPr>
        <p:txBody>
          <a:bodyPr wrap="none" lIns="0" rIns="0" tIns="0" bIns="0">
            <a:spAutoFit/>
          </a:bodyPr>
          <a:lstStyle/>
          <a:p>
            <a:r>
              <a:rPr sz="1150" b="0">
                <a:solidFill>
                  <a:srgbClr val="2E2E2E"/>
                </a:solidFill>
                <a:latin typeface="Calibri"/>
              </a:rPr>
              <a:t>X higher value than static cold storage devices segment in 2036. Among organ transport devices by device technology,</a:t>
            </a:r>
          </a:p>
        </p:txBody>
      </p:sp>
      <p:sp>
        <p:nvSpPr>
          <p:cNvPr id="23" name="TextBox 22"/>
          <p:cNvSpPr txBox="1"/>
          <p:nvPr/>
        </p:nvSpPr>
        <p:spPr>
          <a:xfrm>
            <a:off x="276225" y="4890135"/>
            <a:ext cx="4745218" cy="194310"/>
          </a:xfrm>
          <a:prstGeom prst="rect">
            <a:avLst/>
          </a:prstGeom>
          <a:noFill/>
        </p:spPr>
        <p:txBody>
          <a:bodyPr wrap="none" lIns="0" rIns="0" tIns="0" bIns="0">
            <a:spAutoFit/>
          </a:bodyPr>
          <a:lstStyle/>
          <a:p>
            <a:r>
              <a:rPr sz="1150" b="0">
                <a:solidFill>
                  <a:srgbClr val="2E2E2E"/>
                </a:solidFill>
                <a:latin typeface="Calibri"/>
              </a:rPr>
              <a:t>static cold storage devices segment is expected to witness the highest CAGR of</a:t>
            </a:r>
          </a:p>
        </p:txBody>
      </p:sp>
      <p:pic>
        <p:nvPicPr>
          <p:cNvPr id="24" name="Picture 23" descr="lock.png"/>
          <p:cNvPicPr>
            <a:picLocks noChangeAspect="1"/>
          </p:cNvPicPr>
          <p:nvPr/>
        </p:nvPicPr>
        <p:blipFill>
          <a:blip r:embed="rId4"/>
          <a:stretch>
            <a:fillRect/>
          </a:stretch>
        </p:blipFill>
        <p:spPr>
          <a:xfrm>
            <a:off x="4970597" y="4879911"/>
            <a:ext cx="134549" cy="195707"/>
          </a:xfrm>
          <a:prstGeom prst="rect">
            <a:avLst/>
          </a:prstGeom>
        </p:spPr>
      </p:pic>
      <p:sp>
        <p:nvSpPr>
          <p:cNvPr id="25" name="TextBox 24"/>
          <p:cNvSpPr txBox="1"/>
          <p:nvPr/>
        </p:nvSpPr>
        <p:spPr>
          <a:xfrm>
            <a:off x="5145706"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8266410" cy="194310"/>
          </a:xfrm>
          <a:prstGeom prst="rect">
            <a:avLst/>
          </a:prstGeom>
          <a:noFill/>
        </p:spPr>
        <p:txBody>
          <a:bodyPr wrap="none" lIns="0" rIns="0" tIns="0" bIns="0">
            <a:spAutoFit/>
          </a:bodyPr>
          <a:lstStyle/>
          <a:p>
            <a:r>
              <a:rPr sz="1150" b="0">
                <a:solidFill>
                  <a:srgbClr val="2E2E2E"/>
                </a:solidFill>
                <a:latin typeface="Calibri"/>
              </a:rPr>
              <a:t>In terms of value share by device technology, the portable machine perfusion devices segment is expected to dominate the market, losing</a:t>
            </a:r>
          </a:p>
        </p:txBody>
      </p:sp>
      <p:pic>
        <p:nvPicPr>
          <p:cNvPr id="27" name="Picture 26" descr="lock.png"/>
          <p:cNvPicPr>
            <a:picLocks noChangeAspect="1"/>
          </p:cNvPicPr>
          <p:nvPr/>
        </p:nvPicPr>
        <p:blipFill>
          <a:blip r:embed="rId4"/>
          <a:stretch>
            <a:fillRect/>
          </a:stretch>
        </p:blipFill>
        <p:spPr>
          <a:xfrm>
            <a:off x="8491789" y="5107749"/>
            <a:ext cx="134549" cy="195707"/>
          </a:xfrm>
          <a:prstGeom prst="rect">
            <a:avLst/>
          </a:prstGeom>
        </p:spPr>
      </p:pic>
      <p:sp>
        <p:nvSpPr>
          <p:cNvPr id="28" name="TextBox 27"/>
          <p:cNvSpPr txBox="1"/>
          <p:nvPr/>
        </p:nvSpPr>
        <p:spPr>
          <a:xfrm>
            <a:off x="8666898"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062041" y="5107749"/>
            <a:ext cx="134549" cy="195707"/>
          </a:xfrm>
          <a:prstGeom prst="rect">
            <a:avLst/>
          </a:prstGeom>
        </p:spPr>
      </p:pic>
      <p:sp>
        <p:nvSpPr>
          <p:cNvPr id="30" name="TextBox 29"/>
          <p:cNvSpPr txBox="1"/>
          <p:nvPr/>
        </p:nvSpPr>
        <p:spPr>
          <a:xfrm>
            <a:off x="10237150" y="51179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Device Technology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Device Technology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20871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20395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12775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Static Cold Storage Devices</a:t>
            </a:r>
          </a:p>
        </p:txBody>
      </p:sp>
      <p:sp>
        <p:nvSpPr>
          <p:cNvPr id="18" name="BPS Value 1"/>
          <p:cNvSpPr txBox="1"/>
          <p:nvPr/>
        </p:nvSpPr>
        <p:spPr>
          <a:xfrm>
            <a:off x="6896100" y="218966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49490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49014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41394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Portable Machine Perfusion Devices</a:t>
            </a:r>
          </a:p>
        </p:txBody>
      </p:sp>
      <p:sp>
        <p:nvSpPr>
          <p:cNvPr id="22" name="BPS Value 2"/>
          <p:cNvSpPr txBox="1"/>
          <p:nvPr/>
        </p:nvSpPr>
        <p:spPr>
          <a:xfrm>
            <a:off x="6896100" y="447585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Device Technology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99172" cy="194310"/>
          </a:xfrm>
          <a:prstGeom prst="rect">
            <a:avLst/>
          </a:prstGeom>
          <a:noFill/>
        </p:spPr>
        <p:txBody>
          <a:bodyPr wrap="none" lIns="0" rIns="0" tIns="0" bIns="0">
            <a:spAutoFit/>
          </a:bodyPr>
          <a:lstStyle/>
          <a:p>
            <a:r>
              <a:rPr sz="1150" b="0">
                <a:solidFill>
                  <a:srgbClr val="2E2E2E"/>
                </a:solidFill>
                <a:latin typeface="Calibri"/>
              </a:rPr>
              <a:t>Among organ transport devices by device technology, static cold</a:t>
            </a:r>
          </a:p>
        </p:txBody>
      </p:sp>
      <p:sp>
        <p:nvSpPr>
          <p:cNvPr id="30" name="TextBox 29"/>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storage devices segment is expected to witness the highest CAGR of</a:t>
            </a:r>
          </a:p>
        </p:txBody>
      </p:sp>
      <p:pic>
        <p:nvPicPr>
          <p:cNvPr id="31" name="Picture 30" descr="lock.png"/>
          <p:cNvPicPr>
            <a:picLocks noChangeAspect="1"/>
          </p:cNvPicPr>
          <p:nvPr/>
        </p:nvPicPr>
        <p:blipFill>
          <a:blip r:embed="rId5"/>
          <a:stretch>
            <a:fillRect/>
          </a:stretch>
        </p:blipFill>
        <p:spPr>
          <a:xfrm>
            <a:off x="7815470" y="1740471"/>
            <a:ext cx="134549" cy="195707"/>
          </a:xfrm>
          <a:prstGeom prst="rect">
            <a:avLst/>
          </a:prstGeom>
        </p:spPr>
      </p:pic>
      <p:sp>
        <p:nvSpPr>
          <p:cNvPr id="32" name="TextBox 31"/>
          <p:cNvSpPr txBox="1"/>
          <p:nvPr/>
        </p:nvSpPr>
        <p:spPr>
          <a:xfrm>
            <a:off x="7990579"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3" name="TextBox 32"/>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device technology, the portable machine</a:t>
            </a:r>
          </a:p>
        </p:txBody>
      </p:sp>
      <p:sp>
        <p:nvSpPr>
          <p:cNvPr id="34" name="TextBox 33"/>
          <p:cNvSpPr txBox="1"/>
          <p:nvPr/>
        </p:nvSpPr>
        <p:spPr>
          <a:xfrm>
            <a:off x="7829550" y="2153793"/>
            <a:ext cx="3857811" cy="194310"/>
          </a:xfrm>
          <a:prstGeom prst="rect">
            <a:avLst/>
          </a:prstGeom>
          <a:noFill/>
        </p:spPr>
        <p:txBody>
          <a:bodyPr wrap="none" lIns="0" rIns="0" tIns="0" bIns="0">
            <a:spAutoFit/>
          </a:bodyPr>
          <a:lstStyle/>
          <a:p>
            <a:r>
              <a:rPr sz="1150" b="0">
                <a:solidFill>
                  <a:srgbClr val="2E2E2E"/>
                </a:solidFill>
                <a:latin typeface="Calibri"/>
              </a:rPr>
              <a:t>perfusion devices segment is expected to dominate the market,</a:t>
            </a:r>
          </a:p>
        </p:txBody>
      </p:sp>
      <p:sp>
        <p:nvSpPr>
          <p:cNvPr id="35" name="TextBox 34"/>
          <p:cNvSpPr txBox="1"/>
          <p:nvPr/>
        </p:nvSpPr>
        <p:spPr>
          <a:xfrm>
            <a:off x="782955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36" name="Picture 35" descr="lock.png"/>
          <p:cNvPicPr>
            <a:picLocks noChangeAspect="1"/>
          </p:cNvPicPr>
          <p:nvPr/>
        </p:nvPicPr>
        <p:blipFill>
          <a:blip r:embed="rId5"/>
          <a:stretch>
            <a:fillRect/>
          </a:stretch>
        </p:blipFill>
        <p:spPr>
          <a:xfrm>
            <a:off x="8201772" y="2318829"/>
            <a:ext cx="134549" cy="195707"/>
          </a:xfrm>
          <a:prstGeom prst="rect">
            <a:avLst/>
          </a:prstGeom>
        </p:spPr>
      </p:pic>
      <p:sp>
        <p:nvSpPr>
          <p:cNvPr id="37" name="TextBox 36"/>
          <p:cNvSpPr txBox="1"/>
          <p:nvPr/>
        </p:nvSpPr>
        <p:spPr>
          <a:xfrm>
            <a:off x="837688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772025" y="2318829"/>
            <a:ext cx="134549" cy="195707"/>
          </a:xfrm>
          <a:prstGeom prst="rect">
            <a:avLst/>
          </a:prstGeom>
        </p:spPr>
      </p:pic>
      <p:sp>
        <p:nvSpPr>
          <p:cNvPr id="39" name="TextBox 38"/>
          <p:cNvSpPr txBox="1"/>
          <p:nvPr/>
        </p:nvSpPr>
        <p:spPr>
          <a:xfrm>
            <a:off x="994713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Organ Compatibility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Organ Compatibility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Organ Compatibility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Organ Compatibility,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Organ Compatibility segment categorizes the market by organ compatibility.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Organ-Specific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Multi-Organ Compatible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Organ Compatibility split shows how demand is distributed across organ compatibility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10_283_605E5C.png"/>
          <p:cNvPicPr>
            <a:picLocks noChangeAspect="1"/>
          </p:cNvPicPr>
          <p:nvPr/>
        </p:nvPicPr>
        <p:blipFill>
          <a:blip r:embed="rId4"/>
          <a:stretch>
            <a:fillRect/>
          </a:stretch>
        </p:blipFill>
        <p:spPr>
          <a:xfrm>
            <a:off x="3634127" y="2286582"/>
            <a:ext cx="1409020" cy="361950"/>
          </a:xfrm>
          <a:prstGeom prst="rect">
            <a:avLst/>
          </a:prstGeom>
        </p:spPr>
      </p:pic>
      <p:pic>
        <p:nvPicPr>
          <p:cNvPr id="50" name="Picture 49" descr="16_684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5_0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616_8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1_002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5_0__605E5C.png"/>
          <p:cNvPicPr>
            <a:picLocks noChangeAspect="1"/>
          </p:cNvPicPr>
          <p:nvPr/>
        </p:nvPicPr>
        <p:blipFill>
          <a:blip r:embed="rId6"/>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9"/>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9"/>
          <a:stretch>
            <a:fillRect/>
          </a:stretch>
        </p:blipFill>
        <p:spPr>
          <a:xfrm>
            <a:off x="9288268" y="2805915"/>
            <a:ext cx="212425" cy="308982"/>
          </a:xfrm>
          <a:prstGeom prst="rect">
            <a:avLst/>
          </a:prstGeom>
        </p:spPr>
      </p:pic>
      <p:sp>
        <p:nvSpPr>
          <p:cNvPr id="57" name="TextBox 56"/>
          <p:cNvSpPr txBox="1"/>
          <p:nvPr/>
        </p:nvSpPr>
        <p:spPr>
          <a:xfrm>
            <a:off x="485775" y="4229437"/>
            <a:ext cx="2388344" cy="186689"/>
          </a:xfrm>
          <a:prstGeom prst="rect">
            <a:avLst/>
          </a:prstGeom>
          <a:noFill/>
        </p:spPr>
        <p:txBody>
          <a:bodyPr wrap="none" lIns="0" rIns="0" tIns="0" bIns="0">
            <a:spAutoFit/>
          </a:bodyPr>
          <a:lstStyle/>
          <a:p>
            <a:r>
              <a:rPr sz="1100" b="0">
                <a:solidFill>
                  <a:srgbClr val="2E2E2E"/>
                </a:solidFill>
                <a:latin typeface="Calibri"/>
              </a:rPr>
              <a:t>Among organ transport devices by organ</a:t>
            </a:r>
          </a:p>
        </p:txBody>
      </p:sp>
      <p:sp>
        <p:nvSpPr>
          <p:cNvPr id="58" name="TextBox 57"/>
          <p:cNvSpPr txBox="1"/>
          <p:nvPr/>
        </p:nvSpPr>
        <p:spPr>
          <a:xfrm>
            <a:off x="485775" y="4397077"/>
            <a:ext cx="2678385" cy="186689"/>
          </a:xfrm>
          <a:prstGeom prst="rect">
            <a:avLst/>
          </a:prstGeom>
          <a:noFill/>
        </p:spPr>
        <p:txBody>
          <a:bodyPr wrap="none" lIns="0" rIns="0" tIns="0" bIns="0">
            <a:spAutoFit/>
          </a:bodyPr>
          <a:lstStyle/>
          <a:p>
            <a:r>
              <a:rPr sz="1100" b="0">
                <a:solidFill>
                  <a:srgbClr val="2E2E2E"/>
                </a:solidFill>
                <a:latin typeface="Calibri"/>
              </a:rPr>
              <a:t>compatibility, multi-organ compatible devices</a:t>
            </a:r>
          </a:p>
        </p:txBody>
      </p:sp>
      <p:sp>
        <p:nvSpPr>
          <p:cNvPr id="59" name="TextBox 58"/>
          <p:cNvSpPr txBox="1"/>
          <p:nvPr/>
        </p:nvSpPr>
        <p:spPr>
          <a:xfrm>
            <a:off x="485775" y="4564717"/>
            <a:ext cx="2874821" cy="186689"/>
          </a:xfrm>
          <a:prstGeom prst="rect">
            <a:avLst/>
          </a:prstGeom>
          <a:noFill/>
        </p:spPr>
        <p:txBody>
          <a:bodyPr wrap="none" lIns="0" rIns="0" tIns="0" bIns="0">
            <a:spAutoFit/>
          </a:bodyPr>
          <a:lstStyle/>
          <a:p>
            <a:r>
              <a:rPr sz="1100" b="0">
                <a:solidFill>
                  <a:srgbClr val="2E2E2E"/>
                </a:solidFill>
                <a:latin typeface="Calibri"/>
              </a:rPr>
              <a:t>segment is expected to witness the highest CAGR</a:t>
            </a:r>
          </a:p>
        </p:txBody>
      </p:sp>
      <p:sp>
        <p:nvSpPr>
          <p:cNvPr id="60" name="TextBox 59"/>
          <p:cNvSpPr txBox="1"/>
          <p:nvPr/>
        </p:nvSpPr>
        <p:spPr>
          <a:xfrm>
            <a:off x="485775" y="4732357"/>
            <a:ext cx="192434" cy="186689"/>
          </a:xfrm>
          <a:prstGeom prst="rect">
            <a:avLst/>
          </a:prstGeom>
          <a:noFill/>
        </p:spPr>
        <p:txBody>
          <a:bodyPr wrap="none" lIns="0" rIns="0" tIns="0" bIns="0">
            <a:spAutoFit/>
          </a:bodyPr>
          <a:lstStyle/>
          <a:p>
            <a:r>
              <a:rPr sz="1100" b="0">
                <a:solidFill>
                  <a:srgbClr val="2E2E2E"/>
                </a:solidFill>
                <a:latin typeface="Calibri"/>
              </a:rPr>
              <a:t>of</a:t>
            </a:r>
          </a:p>
        </p:txBody>
      </p:sp>
      <p:pic>
        <p:nvPicPr>
          <p:cNvPr id="61" name="Picture 60" descr="lock.png"/>
          <p:cNvPicPr>
            <a:picLocks noChangeAspect="1"/>
          </p:cNvPicPr>
          <p:nvPr/>
        </p:nvPicPr>
        <p:blipFill>
          <a:blip r:embed="rId9"/>
          <a:stretch>
            <a:fillRect/>
          </a:stretch>
        </p:blipFill>
        <p:spPr>
          <a:xfrm>
            <a:off x="626261" y="4722578"/>
            <a:ext cx="128699" cy="187198"/>
          </a:xfrm>
          <a:prstGeom prst="rect">
            <a:avLst/>
          </a:prstGeom>
        </p:spPr>
      </p:pic>
      <p:sp>
        <p:nvSpPr>
          <p:cNvPr id="62" name="TextBox 61"/>
          <p:cNvSpPr txBox="1"/>
          <p:nvPr/>
        </p:nvSpPr>
        <p:spPr>
          <a:xfrm>
            <a:off x="793757" y="4732357"/>
            <a:ext cx="2472655" cy="186689"/>
          </a:xfrm>
          <a:prstGeom prst="rect">
            <a:avLst/>
          </a:prstGeom>
          <a:noFill/>
        </p:spPr>
        <p:txBody>
          <a:bodyPr wrap="none" lIns="0" rIns="0" tIns="0" bIns="0">
            <a:spAutoFit/>
          </a:bodyPr>
          <a:lstStyle/>
          <a:p>
            <a:r>
              <a:rPr sz="1100" b="0">
                <a:solidFill>
                  <a:srgbClr val="2E2E2E"/>
                </a:solidFill>
                <a:latin typeface="Calibri"/>
              </a:rPr>
              <a:t>over the forecast period. In terms of value</a:t>
            </a:r>
          </a:p>
        </p:txBody>
      </p:sp>
      <p:sp>
        <p:nvSpPr>
          <p:cNvPr id="63" name="TextBox 62"/>
          <p:cNvSpPr txBox="1"/>
          <p:nvPr/>
        </p:nvSpPr>
        <p:spPr>
          <a:xfrm>
            <a:off x="485775" y="4899997"/>
            <a:ext cx="2776066" cy="186689"/>
          </a:xfrm>
          <a:prstGeom prst="rect">
            <a:avLst/>
          </a:prstGeom>
          <a:noFill/>
        </p:spPr>
        <p:txBody>
          <a:bodyPr wrap="none" lIns="0" rIns="0" tIns="0" bIns="0">
            <a:spAutoFit/>
          </a:bodyPr>
          <a:lstStyle/>
          <a:p>
            <a:r>
              <a:rPr sz="1100" b="0">
                <a:solidFill>
                  <a:srgbClr val="2E2E2E"/>
                </a:solidFill>
                <a:latin typeface="Calibri"/>
              </a:rPr>
              <a:t>share by organ compatibility, the organ-specific</a:t>
            </a:r>
          </a:p>
        </p:txBody>
      </p:sp>
      <p:sp>
        <p:nvSpPr>
          <p:cNvPr id="64" name="TextBox 63"/>
          <p:cNvSpPr txBox="1"/>
          <p:nvPr/>
        </p:nvSpPr>
        <p:spPr>
          <a:xfrm>
            <a:off x="485775" y="5067637"/>
            <a:ext cx="2646188" cy="186689"/>
          </a:xfrm>
          <a:prstGeom prst="rect">
            <a:avLst/>
          </a:prstGeom>
          <a:noFill/>
        </p:spPr>
        <p:txBody>
          <a:bodyPr wrap="none" lIns="0" rIns="0" tIns="0" bIns="0">
            <a:spAutoFit/>
          </a:bodyPr>
          <a:lstStyle/>
          <a:p>
            <a:r>
              <a:rPr sz="1100" b="0">
                <a:solidFill>
                  <a:srgbClr val="2E2E2E"/>
                </a:solidFill>
                <a:latin typeface="Calibri"/>
              </a:rPr>
              <a:t>devices segment is expected to dominate the</a:t>
            </a:r>
          </a:p>
        </p:txBody>
      </p:sp>
      <p:sp>
        <p:nvSpPr>
          <p:cNvPr id="65" name="TextBox 64"/>
          <p:cNvSpPr txBox="1"/>
          <p:nvPr/>
        </p:nvSpPr>
        <p:spPr>
          <a:xfrm>
            <a:off x="485775" y="5235277"/>
            <a:ext cx="2832819" cy="186689"/>
          </a:xfrm>
          <a:prstGeom prst="rect">
            <a:avLst/>
          </a:prstGeom>
          <a:noFill/>
        </p:spPr>
        <p:txBody>
          <a:bodyPr wrap="none" lIns="0" rIns="0" tIns="0" bIns="0">
            <a:spAutoFit/>
          </a:bodyPr>
          <a:lstStyle/>
          <a:p>
            <a:r>
              <a:rPr sz="1100" b="0">
                <a:solidFill>
                  <a:srgbClr val="2E2E2E"/>
                </a:solidFill>
                <a:latin typeface="Calibri"/>
              </a:rPr>
              <a:t>market, maintaining its share and accounting for</a:t>
            </a:r>
          </a:p>
        </p:txBody>
      </p:sp>
      <p:pic>
        <p:nvPicPr>
          <p:cNvPr id="66" name="Picture 65" descr="lock.png"/>
          <p:cNvPicPr>
            <a:picLocks noChangeAspect="1"/>
          </p:cNvPicPr>
          <p:nvPr/>
        </p:nvPicPr>
        <p:blipFill>
          <a:blip r:embed="rId9"/>
          <a:stretch>
            <a:fillRect/>
          </a:stretch>
        </p:blipFill>
        <p:spPr>
          <a:xfrm>
            <a:off x="472307" y="5393138"/>
            <a:ext cx="128699" cy="187198"/>
          </a:xfrm>
          <a:prstGeom prst="rect">
            <a:avLst/>
          </a:prstGeom>
        </p:spPr>
      </p:pic>
      <p:sp>
        <p:nvSpPr>
          <p:cNvPr id="67" name="TextBox 66"/>
          <p:cNvSpPr txBox="1"/>
          <p:nvPr/>
        </p:nvSpPr>
        <p:spPr>
          <a:xfrm>
            <a:off x="639803"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68" name="TextBox 67"/>
          <p:cNvSpPr txBox="1"/>
          <p:nvPr/>
        </p:nvSpPr>
        <p:spPr>
          <a:xfrm>
            <a:off x="485775" y="5620849"/>
            <a:ext cx="2716038" cy="186689"/>
          </a:xfrm>
          <a:prstGeom prst="rect">
            <a:avLst/>
          </a:prstGeom>
          <a:noFill/>
        </p:spPr>
        <p:txBody>
          <a:bodyPr wrap="none" lIns="0" rIns="0" tIns="0" bIns="0">
            <a:spAutoFit/>
          </a:bodyPr>
          <a:lstStyle/>
          <a:p>
            <a:r>
              <a:rPr sz="1100" b="0">
                <a:solidFill>
                  <a:srgbClr val="2E2E2E"/>
                </a:solidFill>
                <a:latin typeface="Calibri"/>
              </a:rPr>
              <a:t>Organ-specific devices segment is projected to</a:t>
            </a:r>
          </a:p>
        </p:txBody>
      </p:sp>
      <p:sp>
        <p:nvSpPr>
          <p:cNvPr id="69" name="TextBox 68"/>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0" name="Picture 69" descr="lock.png"/>
          <p:cNvPicPr>
            <a:picLocks noChangeAspect="1"/>
          </p:cNvPicPr>
          <p:nvPr/>
        </p:nvPicPr>
        <p:blipFill>
          <a:blip r:embed="rId9"/>
          <a:stretch>
            <a:fillRect/>
          </a:stretch>
        </p:blipFill>
        <p:spPr>
          <a:xfrm>
            <a:off x="946316" y="5778710"/>
            <a:ext cx="128699" cy="187198"/>
          </a:xfrm>
          <a:prstGeom prst="rect">
            <a:avLst/>
          </a:prstGeom>
        </p:spPr>
      </p:pic>
      <p:sp>
        <p:nvSpPr>
          <p:cNvPr id="71" name="TextBox 70"/>
          <p:cNvSpPr txBox="1"/>
          <p:nvPr/>
        </p:nvSpPr>
        <p:spPr>
          <a:xfrm>
            <a:off x="1113812" y="5788489"/>
            <a:ext cx="1871836" cy="186689"/>
          </a:xfrm>
          <a:prstGeom prst="rect">
            <a:avLst/>
          </a:prstGeom>
          <a:noFill/>
        </p:spPr>
        <p:txBody>
          <a:bodyPr wrap="none" lIns="0" rIns="0" tIns="0" bIns="0">
            <a:spAutoFit/>
          </a:bodyPr>
          <a:lstStyle/>
          <a:p>
            <a:r>
              <a:rPr sz="1100" b="0">
                <a:solidFill>
                  <a:srgbClr val="2E2E2E"/>
                </a:solidFill>
                <a:latin typeface="Calibri"/>
              </a:rPr>
              <a:t>X higher value than multi-organ</a:t>
            </a:r>
          </a:p>
        </p:txBody>
      </p:sp>
      <p:sp>
        <p:nvSpPr>
          <p:cNvPr id="72" name="TextBox 71"/>
          <p:cNvSpPr txBox="1"/>
          <p:nvPr/>
        </p:nvSpPr>
        <p:spPr>
          <a:xfrm>
            <a:off x="485775" y="5956129"/>
            <a:ext cx="2179339" cy="186689"/>
          </a:xfrm>
          <a:prstGeom prst="rect">
            <a:avLst/>
          </a:prstGeom>
          <a:noFill/>
        </p:spPr>
        <p:txBody>
          <a:bodyPr wrap="none" lIns="0" rIns="0" tIns="0" bIns="0">
            <a:spAutoFit/>
          </a:bodyPr>
          <a:lstStyle/>
          <a:p>
            <a:r>
              <a:rPr sz="1100" b="0">
                <a:solidFill>
                  <a:srgbClr val="2E2E2E"/>
                </a:solidFill>
                <a:latin typeface="Calibri"/>
              </a:rPr>
              <a:t>compatible devices segment in 2036.</a:t>
            </a:r>
          </a:p>
        </p:txBody>
      </p:sp>
      <p:sp>
        <p:nvSpPr>
          <p:cNvPr id="73" name="TextBox 72"/>
          <p:cNvSpPr txBox="1"/>
          <p:nvPr/>
        </p:nvSpPr>
        <p:spPr>
          <a:xfrm>
            <a:off x="3838575" y="4229437"/>
            <a:ext cx="1517947" cy="186689"/>
          </a:xfrm>
          <a:prstGeom prst="rect">
            <a:avLst/>
          </a:prstGeom>
          <a:noFill/>
        </p:spPr>
        <p:txBody>
          <a:bodyPr wrap="none" lIns="0" rIns="0" tIns="0" bIns="0">
            <a:spAutoFit/>
          </a:bodyPr>
          <a:lstStyle/>
          <a:p>
            <a:r>
              <a:rPr sz="1100" b="0">
                <a:solidFill>
                  <a:srgbClr val="2E2E2E"/>
                </a:solidFill>
                <a:latin typeface="Calibri"/>
              </a:rPr>
              <a:t>● Organ-Specific Devices:</a:t>
            </a:r>
          </a:p>
        </p:txBody>
      </p:sp>
      <p:pic>
        <p:nvPicPr>
          <p:cNvPr id="74" name="Picture 73" descr="lock.png"/>
          <p:cNvPicPr>
            <a:picLocks noChangeAspect="1"/>
          </p:cNvPicPr>
          <p:nvPr/>
        </p:nvPicPr>
        <p:blipFill>
          <a:blip r:embed="rId9"/>
          <a:stretch>
            <a:fillRect/>
          </a:stretch>
        </p:blipFill>
        <p:spPr>
          <a:xfrm>
            <a:off x="5304574" y="4219658"/>
            <a:ext cx="128699" cy="187198"/>
          </a:xfrm>
          <a:prstGeom prst="rect">
            <a:avLst/>
          </a:prstGeom>
        </p:spPr>
      </p:pic>
      <p:sp>
        <p:nvSpPr>
          <p:cNvPr id="75" name="TextBox 74"/>
          <p:cNvSpPr txBox="1"/>
          <p:nvPr/>
        </p:nvSpPr>
        <p:spPr>
          <a:xfrm>
            <a:off x="547207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6" name="Picture 75" descr="lock.png"/>
          <p:cNvPicPr>
            <a:picLocks noChangeAspect="1"/>
          </p:cNvPicPr>
          <p:nvPr/>
        </p:nvPicPr>
        <p:blipFill>
          <a:blip r:embed="rId9"/>
          <a:stretch>
            <a:fillRect/>
          </a:stretch>
        </p:blipFill>
        <p:spPr>
          <a:xfrm>
            <a:off x="6331520" y="4219658"/>
            <a:ext cx="128699" cy="187198"/>
          </a:xfrm>
          <a:prstGeom prst="rect">
            <a:avLst/>
          </a:prstGeom>
        </p:spPr>
      </p:pic>
      <p:sp>
        <p:nvSpPr>
          <p:cNvPr id="77" name="TextBox 76"/>
          <p:cNvSpPr txBox="1"/>
          <p:nvPr/>
        </p:nvSpPr>
        <p:spPr>
          <a:xfrm>
            <a:off x="649901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8" name="TextBox 77"/>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79" name="TextBox 78"/>
          <p:cNvSpPr txBox="1"/>
          <p:nvPr/>
        </p:nvSpPr>
        <p:spPr>
          <a:xfrm>
            <a:off x="3838575" y="4615009"/>
            <a:ext cx="2075656" cy="186689"/>
          </a:xfrm>
          <a:prstGeom prst="rect">
            <a:avLst/>
          </a:prstGeom>
          <a:noFill/>
        </p:spPr>
        <p:txBody>
          <a:bodyPr wrap="none" lIns="0" rIns="0" tIns="0" bIns="0">
            <a:spAutoFit/>
          </a:bodyPr>
          <a:lstStyle/>
          <a:p>
            <a:r>
              <a:rPr sz="1100" b="0">
                <a:solidFill>
                  <a:srgbClr val="2E2E2E"/>
                </a:solidFill>
                <a:latin typeface="Calibri"/>
              </a:rPr>
              <a:t>● Multi-Organ Compatible Devices:</a:t>
            </a:r>
          </a:p>
        </p:txBody>
      </p:sp>
      <p:pic>
        <p:nvPicPr>
          <p:cNvPr id="80" name="Picture 79" descr="lock.png"/>
          <p:cNvPicPr>
            <a:picLocks noChangeAspect="1"/>
          </p:cNvPicPr>
          <p:nvPr/>
        </p:nvPicPr>
        <p:blipFill>
          <a:blip r:embed="rId9"/>
          <a:stretch>
            <a:fillRect/>
          </a:stretch>
        </p:blipFill>
        <p:spPr>
          <a:xfrm>
            <a:off x="5862282" y="4605230"/>
            <a:ext cx="128699" cy="187198"/>
          </a:xfrm>
          <a:prstGeom prst="rect">
            <a:avLst/>
          </a:prstGeom>
        </p:spPr>
      </p:pic>
      <p:sp>
        <p:nvSpPr>
          <p:cNvPr id="81" name="TextBox 80"/>
          <p:cNvSpPr txBox="1"/>
          <p:nvPr/>
        </p:nvSpPr>
        <p:spPr>
          <a:xfrm>
            <a:off x="602977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2" name="Picture 81" descr="lock.png"/>
          <p:cNvPicPr>
            <a:picLocks noChangeAspect="1"/>
          </p:cNvPicPr>
          <p:nvPr/>
        </p:nvPicPr>
        <p:blipFill>
          <a:blip r:embed="rId9"/>
          <a:stretch>
            <a:fillRect/>
          </a:stretch>
        </p:blipFill>
        <p:spPr>
          <a:xfrm>
            <a:off x="6889228" y="4605230"/>
            <a:ext cx="128699" cy="187198"/>
          </a:xfrm>
          <a:prstGeom prst="rect">
            <a:avLst/>
          </a:prstGeom>
        </p:spPr>
      </p:pic>
      <p:sp>
        <p:nvSpPr>
          <p:cNvPr id="83" name="TextBox 82"/>
          <p:cNvSpPr txBox="1"/>
          <p:nvPr/>
        </p:nvSpPr>
        <p:spPr>
          <a:xfrm>
            <a:off x="7056724"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84" name="TextBox 83"/>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85" name="TextBox 84"/>
          <p:cNvSpPr txBox="1"/>
          <p:nvPr/>
        </p:nvSpPr>
        <p:spPr>
          <a:xfrm>
            <a:off x="8524875" y="5842641"/>
            <a:ext cx="3018023" cy="194310"/>
          </a:xfrm>
          <a:prstGeom prst="rect">
            <a:avLst/>
          </a:prstGeom>
          <a:noFill/>
        </p:spPr>
        <p:txBody>
          <a:bodyPr wrap="none" lIns="0" rIns="0" tIns="0" bIns="0">
            <a:spAutoFit/>
          </a:bodyPr>
          <a:lstStyle/>
          <a:p>
            <a:r>
              <a:rPr sz="1150" b="1">
                <a:solidFill>
                  <a:srgbClr val="0B2E4A"/>
                </a:solidFill>
                <a:latin typeface="Calibri"/>
              </a:rPr>
              <a:t>The Organ Compatibility segment is projected to</a:t>
            </a:r>
          </a:p>
        </p:txBody>
      </p:sp>
      <p:sp>
        <p:nvSpPr>
          <p:cNvPr id="86" name="TextBox 85"/>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7" name="Picture 86" descr="lock.png"/>
          <p:cNvPicPr>
            <a:picLocks noChangeAspect="1"/>
          </p:cNvPicPr>
          <p:nvPr/>
        </p:nvPicPr>
        <p:blipFill>
          <a:blip r:embed="rId9"/>
          <a:stretch>
            <a:fillRect/>
          </a:stretch>
        </p:blipFill>
        <p:spPr>
          <a:xfrm>
            <a:off x="9651852" y="6007677"/>
            <a:ext cx="134549" cy="195707"/>
          </a:xfrm>
          <a:prstGeom prst="rect">
            <a:avLst/>
          </a:prstGeom>
        </p:spPr>
      </p:pic>
      <p:sp>
        <p:nvSpPr>
          <p:cNvPr id="88" name="TextBox 87"/>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Organ Compatibility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Organ Compatibility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Organ Compatibility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Organ Compatibility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82077" cy="186689"/>
          </a:xfrm>
          <a:prstGeom prst="rect">
            <a:avLst/>
          </a:prstGeom>
          <a:noFill/>
        </p:spPr>
        <p:txBody>
          <a:bodyPr wrap="none" lIns="0" rIns="0" tIns="0" bIns="0">
            <a:spAutoFit/>
          </a:bodyPr>
          <a:lstStyle/>
          <a:p>
            <a:r>
              <a:rPr sz="1100" b="0">
                <a:solidFill>
                  <a:srgbClr val="2E2E2E"/>
                </a:solidFill>
                <a:latin typeface="Calibri"/>
              </a:rPr>
              <a:t>Organ-specific devices followed by multi-organ compatible devices are expected to be the two most attractive organ compatibility segments in the global organ transport devices market in terms of value</a:t>
            </a:r>
          </a:p>
        </p:txBody>
      </p:sp>
      <p:sp>
        <p:nvSpPr>
          <p:cNvPr id="20" name="TextBox 19"/>
          <p:cNvSpPr txBox="1"/>
          <p:nvPr/>
        </p:nvSpPr>
        <p:spPr>
          <a:xfrm>
            <a:off x="257175" y="5945505"/>
            <a:ext cx="6245356" cy="186689"/>
          </a:xfrm>
          <a:prstGeom prst="rect">
            <a:avLst/>
          </a:prstGeom>
          <a:noFill/>
        </p:spPr>
        <p:txBody>
          <a:bodyPr wrap="none" lIns="0" rIns="0" tIns="0" bIns="0">
            <a:spAutoFit/>
          </a:bodyPr>
          <a:lstStyle/>
          <a:p>
            <a:r>
              <a:rPr sz="1100" b="0">
                <a:solidFill>
                  <a:srgbClr val="2E2E2E"/>
                </a:solidFill>
                <a:latin typeface="Calibri"/>
              </a:rPr>
              <a:t>over the forecast period. Organ-Specific devices and Multi-Organ compatible devices exhibit a CAGR index of</a:t>
            </a:r>
          </a:p>
        </p:txBody>
      </p:sp>
      <p:pic>
        <p:nvPicPr>
          <p:cNvPr id="21" name="Picture 20" descr="lock.png"/>
          <p:cNvPicPr>
            <a:picLocks noChangeAspect="1"/>
          </p:cNvPicPr>
          <p:nvPr/>
        </p:nvPicPr>
        <p:blipFill>
          <a:blip r:embed="rId6"/>
          <a:stretch>
            <a:fillRect/>
          </a:stretch>
        </p:blipFill>
        <p:spPr>
          <a:xfrm>
            <a:off x="6450583" y="5935726"/>
            <a:ext cx="128699" cy="187198"/>
          </a:xfrm>
          <a:prstGeom prst="rect">
            <a:avLst/>
          </a:prstGeom>
        </p:spPr>
      </p:pic>
      <p:sp>
        <p:nvSpPr>
          <p:cNvPr id="22" name="TextBox 21"/>
          <p:cNvSpPr txBox="1"/>
          <p:nvPr/>
        </p:nvSpPr>
        <p:spPr>
          <a:xfrm>
            <a:off x="6618079"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855973" y="5935726"/>
            <a:ext cx="128699" cy="187198"/>
          </a:xfrm>
          <a:prstGeom prst="rect">
            <a:avLst/>
          </a:prstGeom>
        </p:spPr>
      </p:pic>
      <p:sp>
        <p:nvSpPr>
          <p:cNvPr id="24" name="TextBox 23"/>
          <p:cNvSpPr txBox="1"/>
          <p:nvPr/>
        </p:nvSpPr>
        <p:spPr>
          <a:xfrm>
            <a:off x="7023469"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632442" y="5935726"/>
            <a:ext cx="128699" cy="187198"/>
          </a:xfrm>
          <a:prstGeom prst="rect">
            <a:avLst/>
          </a:prstGeom>
        </p:spPr>
      </p:pic>
      <p:sp>
        <p:nvSpPr>
          <p:cNvPr id="26" name="TextBox 25"/>
          <p:cNvSpPr txBox="1"/>
          <p:nvPr/>
        </p:nvSpPr>
        <p:spPr>
          <a:xfrm>
            <a:off x="879993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037833" y="5935726"/>
            <a:ext cx="128699" cy="187198"/>
          </a:xfrm>
          <a:prstGeom prst="rect">
            <a:avLst/>
          </a:prstGeom>
        </p:spPr>
      </p:pic>
      <p:sp>
        <p:nvSpPr>
          <p:cNvPr id="28" name="TextBox 27"/>
          <p:cNvSpPr txBox="1"/>
          <p:nvPr/>
        </p:nvSpPr>
        <p:spPr>
          <a:xfrm>
            <a:off x="9205328"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103366"/>
            <a:ext cx="128699" cy="187198"/>
          </a:xfrm>
          <a:prstGeom prst="rect">
            <a:avLst/>
          </a:prstGeom>
        </p:spPr>
      </p:pic>
      <p:sp>
        <p:nvSpPr>
          <p:cNvPr id="31" name="TextBox 30"/>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Organ Compatibility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Organ-Specific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Multi-Organ Compatible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Organ Compatibility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Organ Compatibility,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Organ Compatibility (US$ Mn)</a:t>
            </a:r>
          </a:p>
        </p:txBody>
      </p:sp>
      <p:graphicFrame>
        <p:nvGraphicFramePr>
          <p:cNvPr id="12" name="Table 11"/>
          <p:cNvGraphicFramePr>
            <a:graphicFrameLocks noGrp="1"/>
          </p:cNvGraphicFramePr>
          <p:nvPr/>
        </p:nvGraphicFramePr>
        <p:xfrm>
          <a:off x="152400" y="1238250"/>
          <a:ext cx="11887208" cy="2219326"/>
        </p:xfrm>
        <a:graphic>
          <a:graphicData uri="http://schemas.openxmlformats.org/drawingml/2006/table">
            <a:tbl>
              <a:tblPr>
                <a:tableStyleId>{5C22544A-7EE6-4342-B048-85BDC9FD1C3A}</a:tableStyleId>
              </a:tblPr>
              <a:tblGrid>
                <a:gridCol w="2132319"/>
                <a:gridCol w="573817"/>
                <a:gridCol w="573817"/>
                <a:gridCol w="573817"/>
                <a:gridCol w="573817"/>
                <a:gridCol w="573817"/>
                <a:gridCol w="573817"/>
                <a:gridCol w="573817"/>
                <a:gridCol w="573817"/>
                <a:gridCol w="573817"/>
                <a:gridCol w="573817"/>
                <a:gridCol w="573817"/>
                <a:gridCol w="573817"/>
                <a:gridCol w="573817"/>
                <a:gridCol w="573817"/>
                <a:gridCol w="573817"/>
                <a:gridCol w="573817"/>
                <a:gridCol w="573817"/>
              </a:tblGrid>
              <a:tr h="246126">
                <a:tc>
                  <a:txBody>
                    <a:bodyPr wrap="none"/>
                    <a:lstStyle/>
                    <a:p>
                      <a:pPr algn="l"/>
                      <a:r>
                        <a:rPr sz="1100" b="1">
                          <a:solidFill>
                            <a:srgbClr val="0B2E4A"/>
                          </a:solidFill>
                          <a:latin typeface="Calibri"/>
                        </a:rPr>
                        <a:t>Organ Compatibility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Organ-Specific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Kidney-Specific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Liver-Specific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Heart-Specific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Lung-Specific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Other Organ-Specific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Multi-Organ Compatible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Organ Compatibility</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975473" y="2204276"/>
            <a:ext cx="366712" cy="533400"/>
          </a:xfrm>
          <a:prstGeom prst="rect">
            <a:avLst/>
          </a:prstGeom>
        </p:spPr>
      </p:pic>
      <p:sp>
        <p:nvSpPr>
          <p:cNvPr id="20" name="TextBox 19"/>
          <p:cNvSpPr txBox="1"/>
          <p:nvPr/>
        </p:nvSpPr>
        <p:spPr>
          <a:xfrm>
            <a:off x="276225" y="4219575"/>
            <a:ext cx="3325241" cy="194310"/>
          </a:xfrm>
          <a:prstGeom prst="rect">
            <a:avLst/>
          </a:prstGeom>
          <a:noFill/>
        </p:spPr>
        <p:txBody>
          <a:bodyPr wrap="none" lIns="0" rIns="0" tIns="0" bIns="0">
            <a:spAutoFit/>
          </a:bodyPr>
          <a:lstStyle/>
          <a:p>
            <a:r>
              <a:rPr sz="1150" b="0">
                <a:solidFill>
                  <a:srgbClr val="2E2E2E"/>
                </a:solidFill>
                <a:latin typeface="Calibri"/>
              </a:rPr>
              <a:t>Organ-specific devices segment is projected to register</a:t>
            </a:r>
          </a:p>
        </p:txBody>
      </p:sp>
      <p:pic>
        <p:nvPicPr>
          <p:cNvPr id="21" name="Picture 20" descr="lock.png"/>
          <p:cNvPicPr>
            <a:picLocks noChangeAspect="1"/>
          </p:cNvPicPr>
          <p:nvPr/>
        </p:nvPicPr>
        <p:blipFill>
          <a:blip r:embed="rId4"/>
          <a:stretch>
            <a:fillRect/>
          </a:stretch>
        </p:blipFill>
        <p:spPr>
          <a:xfrm>
            <a:off x="3550620" y="4209351"/>
            <a:ext cx="134549" cy="195707"/>
          </a:xfrm>
          <a:prstGeom prst="rect">
            <a:avLst/>
          </a:prstGeom>
        </p:spPr>
      </p:pic>
      <p:sp>
        <p:nvSpPr>
          <p:cNvPr id="22" name="TextBox 21"/>
          <p:cNvSpPr txBox="1"/>
          <p:nvPr/>
        </p:nvSpPr>
        <p:spPr>
          <a:xfrm>
            <a:off x="3725730" y="4219575"/>
            <a:ext cx="7483102" cy="194310"/>
          </a:xfrm>
          <a:prstGeom prst="rect">
            <a:avLst/>
          </a:prstGeom>
          <a:noFill/>
        </p:spPr>
        <p:txBody>
          <a:bodyPr wrap="none" lIns="0" rIns="0" tIns="0" bIns="0">
            <a:spAutoFit/>
          </a:bodyPr>
          <a:lstStyle/>
          <a:p>
            <a:r>
              <a:rPr sz="1150" b="0">
                <a:solidFill>
                  <a:srgbClr val="2E2E2E"/>
                </a:solidFill>
                <a:latin typeface="Calibri"/>
              </a:rPr>
              <a:t>X higher value than multi-organ compatible devices segment in 2036. Among organ transport devices by organ compatibility,</a:t>
            </a:r>
          </a:p>
        </p:txBody>
      </p:sp>
      <p:sp>
        <p:nvSpPr>
          <p:cNvPr id="23" name="TextBox 22"/>
          <p:cNvSpPr txBox="1"/>
          <p:nvPr/>
        </p:nvSpPr>
        <p:spPr>
          <a:xfrm>
            <a:off x="276225" y="4394835"/>
            <a:ext cx="5062705" cy="194310"/>
          </a:xfrm>
          <a:prstGeom prst="rect">
            <a:avLst/>
          </a:prstGeom>
          <a:noFill/>
        </p:spPr>
        <p:txBody>
          <a:bodyPr wrap="none" lIns="0" rIns="0" tIns="0" bIns="0">
            <a:spAutoFit/>
          </a:bodyPr>
          <a:lstStyle/>
          <a:p>
            <a:r>
              <a:rPr sz="1150" b="0">
                <a:solidFill>
                  <a:srgbClr val="2E2E2E"/>
                </a:solidFill>
                <a:latin typeface="Calibri"/>
              </a:rPr>
              <a:t>multi-organ compatible devices segment is expected to witness the highest CAGR of</a:t>
            </a:r>
          </a:p>
        </p:txBody>
      </p:sp>
      <p:pic>
        <p:nvPicPr>
          <p:cNvPr id="24" name="Picture 23" descr="lock.png"/>
          <p:cNvPicPr>
            <a:picLocks noChangeAspect="1"/>
          </p:cNvPicPr>
          <p:nvPr/>
        </p:nvPicPr>
        <p:blipFill>
          <a:blip r:embed="rId4"/>
          <a:stretch>
            <a:fillRect/>
          </a:stretch>
        </p:blipFill>
        <p:spPr>
          <a:xfrm>
            <a:off x="5288084" y="4384611"/>
            <a:ext cx="134549" cy="195707"/>
          </a:xfrm>
          <a:prstGeom prst="rect">
            <a:avLst/>
          </a:prstGeom>
        </p:spPr>
      </p:pic>
      <p:sp>
        <p:nvSpPr>
          <p:cNvPr id="25" name="TextBox 24"/>
          <p:cNvSpPr txBox="1"/>
          <p:nvPr/>
        </p:nvSpPr>
        <p:spPr>
          <a:xfrm>
            <a:off x="5463193"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9566597" cy="194310"/>
          </a:xfrm>
          <a:prstGeom prst="rect">
            <a:avLst/>
          </a:prstGeom>
          <a:noFill/>
        </p:spPr>
        <p:txBody>
          <a:bodyPr wrap="none" lIns="0" rIns="0" tIns="0" bIns="0">
            <a:spAutoFit/>
          </a:bodyPr>
          <a:lstStyle/>
          <a:p>
            <a:r>
              <a:rPr sz="1150" b="0">
                <a:solidFill>
                  <a:srgbClr val="2E2E2E"/>
                </a:solidFill>
                <a:latin typeface="Calibri"/>
              </a:rPr>
              <a:t>In terms of value share by organ compatibility, the organ-specific devices segment is expected to dominate the market, maintaining its share and accounting for</a:t>
            </a:r>
          </a:p>
        </p:txBody>
      </p:sp>
      <p:pic>
        <p:nvPicPr>
          <p:cNvPr id="27" name="Picture 26" descr="lock.png"/>
          <p:cNvPicPr>
            <a:picLocks noChangeAspect="1"/>
          </p:cNvPicPr>
          <p:nvPr/>
        </p:nvPicPr>
        <p:blipFill>
          <a:blip r:embed="rId4"/>
          <a:stretch>
            <a:fillRect/>
          </a:stretch>
        </p:blipFill>
        <p:spPr>
          <a:xfrm>
            <a:off x="9791976" y="4612449"/>
            <a:ext cx="134549" cy="195707"/>
          </a:xfrm>
          <a:prstGeom prst="rect">
            <a:avLst/>
          </a:prstGeom>
        </p:spPr>
      </p:pic>
      <p:sp>
        <p:nvSpPr>
          <p:cNvPr id="28" name="TextBox 27"/>
          <p:cNvSpPr txBox="1"/>
          <p:nvPr/>
        </p:nvSpPr>
        <p:spPr>
          <a:xfrm>
            <a:off x="9967085" y="46226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Organ Compatibility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Organ Compatibility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80073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179597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197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Multi-Organ Compatible Devices</a:t>
            </a:r>
          </a:p>
        </p:txBody>
      </p:sp>
      <p:sp>
        <p:nvSpPr>
          <p:cNvPr id="18" name="BPS Value 1"/>
          <p:cNvSpPr txBox="1"/>
          <p:nvPr/>
        </p:nvSpPr>
        <p:spPr>
          <a:xfrm>
            <a:off x="6896100" y="178168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08692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08216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00596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Organ-Specific Devices</a:t>
            </a:r>
          </a:p>
        </p:txBody>
      </p:sp>
      <p:sp>
        <p:nvSpPr>
          <p:cNvPr id="22" name="BPS Value 2"/>
          <p:cNvSpPr txBox="1"/>
          <p:nvPr/>
        </p:nvSpPr>
        <p:spPr>
          <a:xfrm>
            <a:off x="6896100" y="406787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Organ Compatibility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4057650" cy="194310"/>
          </a:xfrm>
          <a:prstGeom prst="rect">
            <a:avLst/>
          </a:prstGeom>
          <a:noFill/>
        </p:spPr>
        <p:txBody>
          <a:bodyPr wrap="none" lIns="0" rIns="0" tIns="0" bIns="0">
            <a:spAutoFit/>
          </a:bodyPr>
          <a:lstStyle/>
          <a:p>
            <a:r>
              <a:rPr sz="1150" b="0">
                <a:solidFill>
                  <a:srgbClr val="2E2E2E"/>
                </a:solidFill>
                <a:latin typeface="Calibri"/>
              </a:rPr>
              <a:t>Among organ transport devices by organ compatibility, multi-organ</a:t>
            </a:r>
          </a:p>
        </p:txBody>
      </p:sp>
      <p:sp>
        <p:nvSpPr>
          <p:cNvPr id="30" name="TextBox 29"/>
          <p:cNvSpPr txBox="1"/>
          <p:nvPr/>
        </p:nvSpPr>
        <p:spPr>
          <a:xfrm>
            <a:off x="7829550" y="1575435"/>
            <a:ext cx="3810173" cy="194310"/>
          </a:xfrm>
          <a:prstGeom prst="rect">
            <a:avLst/>
          </a:prstGeom>
          <a:noFill/>
        </p:spPr>
        <p:txBody>
          <a:bodyPr wrap="none" lIns="0" rIns="0" tIns="0" bIns="0">
            <a:spAutoFit/>
          </a:bodyPr>
          <a:lstStyle/>
          <a:p>
            <a:r>
              <a:rPr sz="1150" b="0">
                <a:solidFill>
                  <a:srgbClr val="2E2E2E"/>
                </a:solidFill>
                <a:latin typeface="Calibri"/>
              </a:rPr>
              <a:t>compatible devices segment is expected to witness the highest</a:t>
            </a:r>
          </a:p>
        </p:txBody>
      </p:sp>
      <p:sp>
        <p:nvSpPr>
          <p:cNvPr id="31" name="TextBox 3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2" name="Picture 31" descr="lock.png"/>
          <p:cNvPicPr>
            <a:picLocks noChangeAspect="1"/>
          </p:cNvPicPr>
          <p:nvPr/>
        </p:nvPicPr>
        <p:blipFill>
          <a:blip r:embed="rId5"/>
          <a:stretch>
            <a:fillRect/>
          </a:stretch>
        </p:blipFill>
        <p:spPr>
          <a:xfrm>
            <a:off x="8343240" y="1740471"/>
            <a:ext cx="134549" cy="195707"/>
          </a:xfrm>
          <a:prstGeom prst="rect">
            <a:avLst/>
          </a:prstGeom>
        </p:spPr>
      </p:pic>
      <p:sp>
        <p:nvSpPr>
          <p:cNvPr id="33" name="TextBox 32"/>
          <p:cNvSpPr txBox="1"/>
          <p:nvPr/>
        </p:nvSpPr>
        <p:spPr>
          <a:xfrm>
            <a:off x="85183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4" name="TextBox 33"/>
          <p:cNvSpPr txBox="1"/>
          <p:nvPr/>
        </p:nvSpPr>
        <p:spPr>
          <a:xfrm>
            <a:off x="7829550" y="1978533"/>
            <a:ext cx="3931691" cy="194310"/>
          </a:xfrm>
          <a:prstGeom prst="rect">
            <a:avLst/>
          </a:prstGeom>
          <a:noFill/>
        </p:spPr>
        <p:txBody>
          <a:bodyPr wrap="none" lIns="0" rIns="0" tIns="0" bIns="0">
            <a:spAutoFit/>
          </a:bodyPr>
          <a:lstStyle/>
          <a:p>
            <a:r>
              <a:rPr sz="1150" b="0">
                <a:solidFill>
                  <a:srgbClr val="2E2E2E"/>
                </a:solidFill>
                <a:latin typeface="Calibri"/>
              </a:rPr>
              <a:t>In terms of value share by organ compatibility, the organ-specific</a:t>
            </a:r>
          </a:p>
        </p:txBody>
      </p:sp>
      <p:sp>
        <p:nvSpPr>
          <p:cNvPr id="35" name="TextBox 34"/>
          <p:cNvSpPr txBox="1"/>
          <p:nvPr/>
        </p:nvSpPr>
        <p:spPr>
          <a:xfrm>
            <a:off x="7829550" y="2153793"/>
            <a:ext cx="3997014" cy="194310"/>
          </a:xfrm>
          <a:prstGeom prst="rect">
            <a:avLst/>
          </a:prstGeom>
          <a:noFill/>
        </p:spPr>
        <p:txBody>
          <a:bodyPr wrap="none" lIns="0" rIns="0" tIns="0" bIns="0">
            <a:spAutoFit/>
          </a:bodyPr>
          <a:lstStyle/>
          <a:p>
            <a:r>
              <a:rPr sz="1150" b="0">
                <a:solidFill>
                  <a:srgbClr val="2E2E2E"/>
                </a:solidFill>
                <a:latin typeface="Calibri"/>
              </a:rPr>
              <a:t>devices segment is expected to dominate the market, maintaining</a:t>
            </a:r>
          </a:p>
        </p:txBody>
      </p:sp>
      <p:sp>
        <p:nvSpPr>
          <p:cNvPr id="36" name="TextBox 35"/>
          <p:cNvSpPr txBox="1"/>
          <p:nvPr/>
        </p:nvSpPr>
        <p:spPr>
          <a:xfrm>
            <a:off x="7829550" y="2329053"/>
            <a:ext cx="1724111" cy="194310"/>
          </a:xfrm>
          <a:prstGeom prst="rect">
            <a:avLst/>
          </a:prstGeom>
          <a:noFill/>
        </p:spPr>
        <p:txBody>
          <a:bodyPr wrap="none" lIns="0" rIns="0" tIns="0" bIns="0">
            <a:spAutoFit/>
          </a:bodyPr>
          <a:lstStyle/>
          <a:p>
            <a:r>
              <a:rPr sz="1150" b="0">
                <a:solidFill>
                  <a:srgbClr val="2E2E2E"/>
                </a:solidFill>
                <a:latin typeface="Calibri"/>
              </a:rPr>
              <a:t>its share and accounting for</a:t>
            </a:r>
          </a:p>
        </p:txBody>
      </p:sp>
      <p:pic>
        <p:nvPicPr>
          <p:cNvPr id="37" name="Picture 36" descr="lock.png"/>
          <p:cNvPicPr>
            <a:picLocks noChangeAspect="1"/>
          </p:cNvPicPr>
          <p:nvPr/>
        </p:nvPicPr>
        <p:blipFill>
          <a:blip r:embed="rId5"/>
          <a:stretch>
            <a:fillRect/>
          </a:stretch>
        </p:blipFill>
        <p:spPr>
          <a:xfrm>
            <a:off x="9502815" y="2318829"/>
            <a:ext cx="134549" cy="195707"/>
          </a:xfrm>
          <a:prstGeom prst="rect">
            <a:avLst/>
          </a:prstGeom>
        </p:spPr>
      </p:pic>
      <p:sp>
        <p:nvSpPr>
          <p:cNvPr id="38" name="TextBox 37"/>
          <p:cNvSpPr txBox="1"/>
          <p:nvPr/>
        </p:nvSpPr>
        <p:spPr>
          <a:xfrm>
            <a:off x="9677925"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Device Reusability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Reusability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Device Reusability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Device Reusability,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Device Reusability segment categorizes the market by device reusability.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Single-Use Transport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Reusable Transport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Device Reusability split shows how demand is distributed across device reusability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7_232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1_086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4_4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3_668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6_599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6_0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26816" cy="186689"/>
          </a:xfrm>
          <a:prstGeom prst="rect">
            <a:avLst/>
          </a:prstGeom>
          <a:noFill/>
        </p:spPr>
        <p:txBody>
          <a:bodyPr wrap="none" lIns="0" rIns="0" tIns="0" bIns="0">
            <a:spAutoFit/>
          </a:bodyPr>
          <a:lstStyle/>
          <a:p>
            <a:r>
              <a:rPr sz="1100" b="0">
                <a:solidFill>
                  <a:srgbClr val="2E2E2E"/>
                </a:solidFill>
                <a:latin typeface="Calibri"/>
              </a:rPr>
              <a:t>Among organ transport devices by device</a:t>
            </a:r>
          </a:p>
        </p:txBody>
      </p:sp>
      <p:sp>
        <p:nvSpPr>
          <p:cNvPr id="58" name="TextBox 57"/>
          <p:cNvSpPr txBox="1"/>
          <p:nvPr/>
        </p:nvSpPr>
        <p:spPr>
          <a:xfrm>
            <a:off x="485775" y="4397077"/>
            <a:ext cx="2884388" cy="186689"/>
          </a:xfrm>
          <a:prstGeom prst="rect">
            <a:avLst/>
          </a:prstGeom>
          <a:noFill/>
        </p:spPr>
        <p:txBody>
          <a:bodyPr wrap="none" lIns="0" rIns="0" tIns="0" bIns="0">
            <a:spAutoFit/>
          </a:bodyPr>
          <a:lstStyle/>
          <a:p>
            <a:r>
              <a:rPr sz="1100" b="0">
                <a:solidFill>
                  <a:srgbClr val="2E2E2E"/>
                </a:solidFill>
                <a:latin typeface="Calibri"/>
              </a:rPr>
              <a:t>reusability, reusable transport devices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device reusability, the single-use transport devices</a:t>
            </a:r>
          </a:p>
        </p:txBody>
      </p:sp>
      <p:sp>
        <p:nvSpPr>
          <p:cNvPr id="64" name="TextBox 63"/>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65" name="TextBox 64"/>
          <p:cNvSpPr txBox="1"/>
          <p:nvPr/>
        </p:nvSpPr>
        <p:spPr>
          <a:xfrm>
            <a:off x="485775" y="523527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6" name="Picture 65" descr="lock.png"/>
          <p:cNvPicPr>
            <a:picLocks noChangeAspect="1"/>
          </p:cNvPicPr>
          <p:nvPr/>
        </p:nvPicPr>
        <p:blipFill>
          <a:blip r:embed="rId10"/>
          <a:stretch>
            <a:fillRect/>
          </a:stretch>
        </p:blipFill>
        <p:spPr>
          <a:xfrm>
            <a:off x="841814" y="5225498"/>
            <a:ext cx="128699" cy="187198"/>
          </a:xfrm>
          <a:prstGeom prst="rect">
            <a:avLst/>
          </a:prstGeom>
        </p:spPr>
      </p:pic>
      <p:sp>
        <p:nvSpPr>
          <p:cNvPr id="67" name="TextBox 66"/>
          <p:cNvSpPr txBox="1"/>
          <p:nvPr/>
        </p:nvSpPr>
        <p:spPr>
          <a:xfrm>
            <a:off x="1009309"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343794" y="5225498"/>
            <a:ext cx="128699" cy="187198"/>
          </a:xfrm>
          <a:prstGeom prst="rect">
            <a:avLst/>
          </a:prstGeom>
        </p:spPr>
      </p:pic>
      <p:sp>
        <p:nvSpPr>
          <p:cNvPr id="69" name="TextBox 68"/>
          <p:cNvSpPr txBox="1"/>
          <p:nvPr/>
        </p:nvSpPr>
        <p:spPr>
          <a:xfrm>
            <a:off x="2511290"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70" name="TextBox 69"/>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1" name="TextBox 70"/>
          <p:cNvSpPr txBox="1"/>
          <p:nvPr/>
        </p:nvSpPr>
        <p:spPr>
          <a:xfrm>
            <a:off x="485775" y="5620849"/>
            <a:ext cx="2893392" cy="186689"/>
          </a:xfrm>
          <a:prstGeom prst="rect">
            <a:avLst/>
          </a:prstGeom>
          <a:noFill/>
        </p:spPr>
        <p:txBody>
          <a:bodyPr wrap="none" lIns="0" rIns="0" tIns="0" bIns="0">
            <a:spAutoFit/>
          </a:bodyPr>
          <a:lstStyle/>
          <a:p>
            <a:r>
              <a:rPr sz="1100" b="0">
                <a:solidFill>
                  <a:srgbClr val="2E2E2E"/>
                </a:solidFill>
                <a:latin typeface="Calibri"/>
              </a:rPr>
              <a:t>Single-use transport devices segment is projected</a:t>
            </a:r>
          </a:p>
        </p:txBody>
      </p:sp>
      <p:sp>
        <p:nvSpPr>
          <p:cNvPr id="72" name="TextBox 71"/>
          <p:cNvSpPr txBox="1"/>
          <p:nvPr/>
        </p:nvSpPr>
        <p:spPr>
          <a:xfrm>
            <a:off x="485775" y="578848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73" name="Picture 72" descr="lock.png"/>
          <p:cNvPicPr>
            <a:picLocks noChangeAspect="1"/>
          </p:cNvPicPr>
          <p:nvPr/>
        </p:nvPicPr>
        <p:blipFill>
          <a:blip r:embed="rId10"/>
          <a:stretch>
            <a:fillRect/>
          </a:stretch>
        </p:blipFill>
        <p:spPr>
          <a:xfrm>
            <a:off x="1098567" y="5778710"/>
            <a:ext cx="128699" cy="187198"/>
          </a:xfrm>
          <a:prstGeom prst="rect">
            <a:avLst/>
          </a:prstGeom>
        </p:spPr>
      </p:pic>
      <p:sp>
        <p:nvSpPr>
          <p:cNvPr id="74" name="TextBox 73"/>
          <p:cNvSpPr txBox="1"/>
          <p:nvPr/>
        </p:nvSpPr>
        <p:spPr>
          <a:xfrm>
            <a:off x="1266063" y="5788489"/>
            <a:ext cx="1692572" cy="186689"/>
          </a:xfrm>
          <a:prstGeom prst="rect">
            <a:avLst/>
          </a:prstGeom>
          <a:noFill/>
        </p:spPr>
        <p:txBody>
          <a:bodyPr wrap="none" lIns="0" rIns="0" tIns="0" bIns="0">
            <a:spAutoFit/>
          </a:bodyPr>
          <a:lstStyle/>
          <a:p>
            <a:r>
              <a:rPr sz="1100" b="0">
                <a:solidFill>
                  <a:srgbClr val="2E2E2E"/>
                </a:solidFill>
                <a:latin typeface="Calibri"/>
              </a:rPr>
              <a:t>X higher value than reusable</a:t>
            </a:r>
          </a:p>
        </p:txBody>
      </p:sp>
      <p:sp>
        <p:nvSpPr>
          <p:cNvPr id="75" name="TextBox 74"/>
          <p:cNvSpPr txBox="1"/>
          <p:nvPr/>
        </p:nvSpPr>
        <p:spPr>
          <a:xfrm>
            <a:off x="485775" y="5956129"/>
            <a:ext cx="2073746" cy="186689"/>
          </a:xfrm>
          <a:prstGeom prst="rect">
            <a:avLst/>
          </a:prstGeom>
          <a:noFill/>
        </p:spPr>
        <p:txBody>
          <a:bodyPr wrap="none" lIns="0" rIns="0" tIns="0" bIns="0">
            <a:spAutoFit/>
          </a:bodyPr>
          <a:lstStyle/>
          <a:p>
            <a:r>
              <a:rPr sz="1100" b="0">
                <a:solidFill>
                  <a:srgbClr val="2E2E2E"/>
                </a:solidFill>
                <a:latin typeface="Calibri"/>
              </a:rPr>
              <a:t>transport devices segment in 2036.</a:t>
            </a:r>
          </a:p>
        </p:txBody>
      </p:sp>
      <p:sp>
        <p:nvSpPr>
          <p:cNvPr id="76" name="TextBox 75"/>
          <p:cNvSpPr txBox="1"/>
          <p:nvPr/>
        </p:nvSpPr>
        <p:spPr>
          <a:xfrm>
            <a:off x="3838575" y="4229437"/>
            <a:ext cx="1875656" cy="186689"/>
          </a:xfrm>
          <a:prstGeom prst="rect">
            <a:avLst/>
          </a:prstGeom>
          <a:noFill/>
        </p:spPr>
        <p:txBody>
          <a:bodyPr wrap="none" lIns="0" rIns="0" tIns="0" bIns="0">
            <a:spAutoFit/>
          </a:bodyPr>
          <a:lstStyle/>
          <a:p>
            <a:r>
              <a:rPr sz="1100" b="0">
                <a:solidFill>
                  <a:srgbClr val="2E2E2E"/>
                </a:solidFill>
                <a:latin typeface="Calibri"/>
              </a:rPr>
              <a:t>● Single-Use Transport Devices:</a:t>
            </a:r>
          </a:p>
        </p:txBody>
      </p:sp>
      <p:pic>
        <p:nvPicPr>
          <p:cNvPr id="77" name="Picture 76" descr="lock.png"/>
          <p:cNvPicPr>
            <a:picLocks noChangeAspect="1"/>
          </p:cNvPicPr>
          <p:nvPr/>
        </p:nvPicPr>
        <p:blipFill>
          <a:blip r:embed="rId10"/>
          <a:stretch>
            <a:fillRect/>
          </a:stretch>
        </p:blipFill>
        <p:spPr>
          <a:xfrm>
            <a:off x="5662282" y="4219658"/>
            <a:ext cx="128699" cy="187198"/>
          </a:xfrm>
          <a:prstGeom prst="rect">
            <a:avLst/>
          </a:prstGeom>
        </p:spPr>
      </p:pic>
      <p:sp>
        <p:nvSpPr>
          <p:cNvPr id="78" name="TextBox 77"/>
          <p:cNvSpPr txBox="1"/>
          <p:nvPr/>
        </p:nvSpPr>
        <p:spPr>
          <a:xfrm>
            <a:off x="582977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9" name="Picture 78" descr="lock.png"/>
          <p:cNvPicPr>
            <a:picLocks noChangeAspect="1"/>
          </p:cNvPicPr>
          <p:nvPr/>
        </p:nvPicPr>
        <p:blipFill>
          <a:blip r:embed="rId10"/>
          <a:stretch>
            <a:fillRect/>
          </a:stretch>
        </p:blipFill>
        <p:spPr>
          <a:xfrm>
            <a:off x="6689228" y="4219658"/>
            <a:ext cx="128699" cy="187198"/>
          </a:xfrm>
          <a:prstGeom prst="rect">
            <a:avLst/>
          </a:prstGeom>
        </p:spPr>
      </p:pic>
      <p:sp>
        <p:nvSpPr>
          <p:cNvPr id="80" name="TextBox 79"/>
          <p:cNvSpPr txBox="1"/>
          <p:nvPr/>
        </p:nvSpPr>
        <p:spPr>
          <a:xfrm>
            <a:off x="685672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1" name="TextBox 8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2" name="TextBox 81"/>
          <p:cNvSpPr txBox="1"/>
          <p:nvPr/>
        </p:nvSpPr>
        <p:spPr>
          <a:xfrm>
            <a:off x="3838575" y="4615009"/>
            <a:ext cx="1797074" cy="186689"/>
          </a:xfrm>
          <a:prstGeom prst="rect">
            <a:avLst/>
          </a:prstGeom>
          <a:noFill/>
        </p:spPr>
        <p:txBody>
          <a:bodyPr wrap="none" lIns="0" rIns="0" tIns="0" bIns="0">
            <a:spAutoFit/>
          </a:bodyPr>
          <a:lstStyle/>
          <a:p>
            <a:r>
              <a:rPr sz="1100" b="0">
                <a:solidFill>
                  <a:srgbClr val="2E2E2E"/>
                </a:solidFill>
                <a:latin typeface="Calibri"/>
              </a:rPr>
              <a:t>● Reusable Transport Devices:</a:t>
            </a:r>
          </a:p>
        </p:txBody>
      </p:sp>
      <p:pic>
        <p:nvPicPr>
          <p:cNvPr id="83" name="Picture 82" descr="lock.png"/>
          <p:cNvPicPr>
            <a:picLocks noChangeAspect="1"/>
          </p:cNvPicPr>
          <p:nvPr/>
        </p:nvPicPr>
        <p:blipFill>
          <a:blip r:embed="rId10"/>
          <a:stretch>
            <a:fillRect/>
          </a:stretch>
        </p:blipFill>
        <p:spPr>
          <a:xfrm>
            <a:off x="5583701" y="4605230"/>
            <a:ext cx="128699" cy="187198"/>
          </a:xfrm>
          <a:prstGeom prst="rect">
            <a:avLst/>
          </a:prstGeom>
        </p:spPr>
      </p:pic>
      <p:sp>
        <p:nvSpPr>
          <p:cNvPr id="84" name="TextBox 83"/>
          <p:cNvSpPr txBox="1"/>
          <p:nvPr/>
        </p:nvSpPr>
        <p:spPr>
          <a:xfrm>
            <a:off x="575119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0"/>
          <a:stretch>
            <a:fillRect/>
          </a:stretch>
        </p:blipFill>
        <p:spPr>
          <a:xfrm>
            <a:off x="6610647" y="4605230"/>
            <a:ext cx="128699" cy="187198"/>
          </a:xfrm>
          <a:prstGeom prst="rect">
            <a:avLst/>
          </a:prstGeom>
        </p:spPr>
      </p:pic>
      <p:sp>
        <p:nvSpPr>
          <p:cNvPr id="86" name="TextBox 85"/>
          <p:cNvSpPr txBox="1"/>
          <p:nvPr/>
        </p:nvSpPr>
        <p:spPr>
          <a:xfrm>
            <a:off x="6778143"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87" name="TextBox 86"/>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88" name="TextBox 87"/>
          <p:cNvSpPr txBox="1"/>
          <p:nvPr/>
        </p:nvSpPr>
        <p:spPr>
          <a:xfrm>
            <a:off x="8524875" y="5842641"/>
            <a:ext cx="2905348" cy="194310"/>
          </a:xfrm>
          <a:prstGeom prst="rect">
            <a:avLst/>
          </a:prstGeom>
          <a:noFill/>
        </p:spPr>
        <p:txBody>
          <a:bodyPr wrap="none" lIns="0" rIns="0" tIns="0" bIns="0">
            <a:spAutoFit/>
          </a:bodyPr>
          <a:lstStyle/>
          <a:p>
            <a:r>
              <a:rPr sz="1150" b="1">
                <a:solidFill>
                  <a:srgbClr val="0B2E4A"/>
                </a:solidFill>
                <a:latin typeface="Calibri"/>
              </a:rPr>
              <a:t>The Device Reusability segment is projected to</a:t>
            </a:r>
          </a:p>
        </p:txBody>
      </p:sp>
      <p:sp>
        <p:nvSpPr>
          <p:cNvPr id="89" name="TextBox 88"/>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90" name="Picture 89" descr="lock.png"/>
          <p:cNvPicPr>
            <a:picLocks noChangeAspect="1"/>
          </p:cNvPicPr>
          <p:nvPr/>
        </p:nvPicPr>
        <p:blipFill>
          <a:blip r:embed="rId10"/>
          <a:stretch>
            <a:fillRect/>
          </a:stretch>
        </p:blipFill>
        <p:spPr>
          <a:xfrm>
            <a:off x="9651852" y="6007677"/>
            <a:ext cx="134549" cy="195707"/>
          </a:xfrm>
          <a:prstGeom prst="rect">
            <a:avLst/>
          </a:prstGeom>
        </p:spPr>
      </p:pic>
      <p:sp>
        <p:nvSpPr>
          <p:cNvPr id="91" name="TextBox 90"/>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Device Reusability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Device Reusability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Reusability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Device Reusability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14683" cy="186689"/>
          </a:xfrm>
          <a:prstGeom prst="rect">
            <a:avLst/>
          </a:prstGeom>
          <a:noFill/>
        </p:spPr>
        <p:txBody>
          <a:bodyPr wrap="none" lIns="0" rIns="0" tIns="0" bIns="0">
            <a:spAutoFit/>
          </a:bodyPr>
          <a:lstStyle/>
          <a:p>
            <a:r>
              <a:rPr sz="1100" b="0">
                <a:solidFill>
                  <a:srgbClr val="2E2E2E"/>
                </a:solidFill>
                <a:latin typeface="Calibri"/>
              </a:rPr>
              <a:t>Single-use transport devices followed by reusable transport devices are expected to be the two most attractive device reusability segments in the global organ transport devices market in terms of value</a:t>
            </a:r>
          </a:p>
        </p:txBody>
      </p:sp>
      <p:sp>
        <p:nvSpPr>
          <p:cNvPr id="20" name="TextBox 19"/>
          <p:cNvSpPr txBox="1"/>
          <p:nvPr/>
        </p:nvSpPr>
        <p:spPr>
          <a:xfrm>
            <a:off x="257175" y="5945505"/>
            <a:ext cx="6270186" cy="186689"/>
          </a:xfrm>
          <a:prstGeom prst="rect">
            <a:avLst/>
          </a:prstGeom>
          <a:noFill/>
        </p:spPr>
        <p:txBody>
          <a:bodyPr wrap="none" lIns="0" rIns="0" tIns="0" bIns="0">
            <a:spAutoFit/>
          </a:bodyPr>
          <a:lstStyle/>
          <a:p>
            <a:r>
              <a:rPr sz="1100" b="0">
                <a:solidFill>
                  <a:srgbClr val="2E2E2E"/>
                </a:solidFill>
                <a:latin typeface="Calibri"/>
              </a:rPr>
              <a:t>over the forecast period. Single-Use transport devices and reusable transport devices exhibit a CAGR index of</a:t>
            </a:r>
          </a:p>
        </p:txBody>
      </p:sp>
      <p:pic>
        <p:nvPicPr>
          <p:cNvPr id="21" name="Picture 20" descr="lock.png"/>
          <p:cNvPicPr>
            <a:picLocks noChangeAspect="1"/>
          </p:cNvPicPr>
          <p:nvPr/>
        </p:nvPicPr>
        <p:blipFill>
          <a:blip r:embed="rId6"/>
          <a:stretch>
            <a:fillRect/>
          </a:stretch>
        </p:blipFill>
        <p:spPr>
          <a:xfrm>
            <a:off x="6475412" y="5935726"/>
            <a:ext cx="128699" cy="187198"/>
          </a:xfrm>
          <a:prstGeom prst="rect">
            <a:avLst/>
          </a:prstGeom>
        </p:spPr>
      </p:pic>
      <p:sp>
        <p:nvSpPr>
          <p:cNvPr id="22" name="TextBox 21"/>
          <p:cNvSpPr txBox="1"/>
          <p:nvPr/>
        </p:nvSpPr>
        <p:spPr>
          <a:xfrm>
            <a:off x="664290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6880803" y="5935726"/>
            <a:ext cx="128699" cy="187198"/>
          </a:xfrm>
          <a:prstGeom prst="rect">
            <a:avLst/>
          </a:prstGeom>
        </p:spPr>
      </p:pic>
      <p:sp>
        <p:nvSpPr>
          <p:cNvPr id="24" name="TextBox 23"/>
          <p:cNvSpPr txBox="1"/>
          <p:nvPr/>
        </p:nvSpPr>
        <p:spPr>
          <a:xfrm>
            <a:off x="704829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657272" y="5935726"/>
            <a:ext cx="128699" cy="187198"/>
          </a:xfrm>
          <a:prstGeom prst="rect">
            <a:avLst/>
          </a:prstGeom>
        </p:spPr>
      </p:pic>
      <p:sp>
        <p:nvSpPr>
          <p:cNvPr id="26" name="TextBox 25"/>
          <p:cNvSpPr txBox="1"/>
          <p:nvPr/>
        </p:nvSpPr>
        <p:spPr>
          <a:xfrm>
            <a:off x="882476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062662" y="5935726"/>
            <a:ext cx="128699" cy="187198"/>
          </a:xfrm>
          <a:prstGeom prst="rect">
            <a:avLst/>
          </a:prstGeom>
        </p:spPr>
      </p:pic>
      <p:sp>
        <p:nvSpPr>
          <p:cNvPr id="28" name="TextBox 27"/>
          <p:cNvSpPr txBox="1"/>
          <p:nvPr/>
        </p:nvSpPr>
        <p:spPr>
          <a:xfrm>
            <a:off x="9230158"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103366"/>
            <a:ext cx="128699" cy="187198"/>
          </a:xfrm>
          <a:prstGeom prst="rect">
            <a:avLst/>
          </a:prstGeom>
        </p:spPr>
      </p:pic>
      <p:sp>
        <p:nvSpPr>
          <p:cNvPr id="31" name="TextBox 30"/>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Device Reusability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Single-Use Transport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Reusable Transport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Device Reusability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Device Reusability,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Device Reusability (US$ Mn)</a:t>
            </a:r>
          </a:p>
        </p:txBody>
      </p:sp>
      <p:graphicFrame>
        <p:nvGraphicFramePr>
          <p:cNvPr id="12" name="Table 11"/>
          <p:cNvGraphicFramePr>
            <a:graphicFrameLocks noGrp="1"/>
          </p:cNvGraphicFramePr>
          <p:nvPr/>
        </p:nvGraphicFramePr>
        <p:xfrm>
          <a:off x="152400" y="1238250"/>
          <a:ext cx="11887197" cy="990600"/>
        </p:xfrm>
        <a:graphic>
          <a:graphicData uri="http://schemas.openxmlformats.org/drawingml/2006/table">
            <a:tbl>
              <a:tblPr>
                <a:tableStyleId>{5C22544A-7EE6-4342-B048-85BDC9FD1C3A}</a:tableStyleId>
              </a:tblPr>
              <a:tblGrid>
                <a:gridCol w="1951700"/>
                <a:gridCol w="584441"/>
                <a:gridCol w="584441"/>
                <a:gridCol w="584441"/>
                <a:gridCol w="584441"/>
                <a:gridCol w="584441"/>
                <a:gridCol w="584441"/>
                <a:gridCol w="584441"/>
                <a:gridCol w="584441"/>
                <a:gridCol w="584441"/>
                <a:gridCol w="584441"/>
                <a:gridCol w="584441"/>
                <a:gridCol w="584441"/>
                <a:gridCol w="584441"/>
                <a:gridCol w="584441"/>
                <a:gridCol w="584441"/>
                <a:gridCol w="584441"/>
                <a:gridCol w="58444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Device Reusability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85158" y="1589913"/>
            <a:ext cx="366712" cy="533400"/>
          </a:xfrm>
          <a:prstGeom prst="rect">
            <a:avLst/>
          </a:prstGeom>
        </p:spPr>
      </p:pic>
      <p:sp>
        <p:nvSpPr>
          <p:cNvPr id="20" name="TextBox 19"/>
          <p:cNvSpPr txBox="1"/>
          <p:nvPr/>
        </p:nvSpPr>
        <p:spPr>
          <a:xfrm>
            <a:off x="276225" y="2990850"/>
            <a:ext cx="3669828" cy="194310"/>
          </a:xfrm>
          <a:prstGeom prst="rect">
            <a:avLst/>
          </a:prstGeom>
          <a:noFill/>
        </p:spPr>
        <p:txBody>
          <a:bodyPr wrap="none" lIns="0" rIns="0" tIns="0" bIns="0">
            <a:spAutoFit/>
          </a:bodyPr>
          <a:lstStyle/>
          <a:p>
            <a:r>
              <a:rPr sz="1150" b="0">
                <a:solidFill>
                  <a:srgbClr val="2E2E2E"/>
                </a:solidFill>
                <a:latin typeface="Calibri"/>
              </a:rPr>
              <a:t>Single-use transport devices segment is projected to register</a:t>
            </a:r>
          </a:p>
        </p:txBody>
      </p:sp>
      <p:pic>
        <p:nvPicPr>
          <p:cNvPr id="21" name="Picture 20" descr="lock.png"/>
          <p:cNvPicPr>
            <a:picLocks noChangeAspect="1"/>
          </p:cNvPicPr>
          <p:nvPr/>
        </p:nvPicPr>
        <p:blipFill>
          <a:blip r:embed="rId4"/>
          <a:stretch>
            <a:fillRect/>
          </a:stretch>
        </p:blipFill>
        <p:spPr>
          <a:xfrm>
            <a:off x="3895207" y="2980626"/>
            <a:ext cx="134549" cy="195707"/>
          </a:xfrm>
          <a:prstGeom prst="rect">
            <a:avLst/>
          </a:prstGeom>
        </p:spPr>
      </p:pic>
      <p:sp>
        <p:nvSpPr>
          <p:cNvPr id="22" name="TextBox 21"/>
          <p:cNvSpPr txBox="1"/>
          <p:nvPr/>
        </p:nvSpPr>
        <p:spPr>
          <a:xfrm>
            <a:off x="4070316" y="2990850"/>
            <a:ext cx="7611752" cy="194310"/>
          </a:xfrm>
          <a:prstGeom prst="rect">
            <a:avLst/>
          </a:prstGeom>
          <a:noFill/>
        </p:spPr>
        <p:txBody>
          <a:bodyPr wrap="none" lIns="0" rIns="0" tIns="0" bIns="0">
            <a:spAutoFit/>
          </a:bodyPr>
          <a:lstStyle/>
          <a:p>
            <a:r>
              <a:rPr sz="1150" b="0">
                <a:solidFill>
                  <a:srgbClr val="2E2E2E"/>
                </a:solidFill>
                <a:latin typeface="Calibri"/>
              </a:rPr>
              <a:t>X higher value than reusable transport devices segment in 2036. Among organ transport devices by device reusability, reusable</a:t>
            </a:r>
          </a:p>
        </p:txBody>
      </p:sp>
      <p:sp>
        <p:nvSpPr>
          <p:cNvPr id="23" name="TextBox 22"/>
          <p:cNvSpPr txBox="1"/>
          <p:nvPr/>
        </p:nvSpPr>
        <p:spPr>
          <a:xfrm>
            <a:off x="276225" y="3166110"/>
            <a:ext cx="4221206" cy="194310"/>
          </a:xfrm>
          <a:prstGeom prst="rect">
            <a:avLst/>
          </a:prstGeom>
          <a:noFill/>
        </p:spPr>
        <p:txBody>
          <a:bodyPr wrap="none" lIns="0" rIns="0" tIns="0" bIns="0">
            <a:spAutoFit/>
          </a:bodyPr>
          <a:lstStyle/>
          <a:p>
            <a:r>
              <a:rPr sz="1150" b="0">
                <a:solidFill>
                  <a:srgbClr val="2E2E2E"/>
                </a:solidFill>
                <a:latin typeface="Calibri"/>
              </a:rPr>
              <a:t>transport devices segment is expected to witness the highest CAGR of</a:t>
            </a:r>
          </a:p>
        </p:txBody>
      </p:sp>
      <p:pic>
        <p:nvPicPr>
          <p:cNvPr id="24" name="Picture 23" descr="lock.png"/>
          <p:cNvPicPr>
            <a:picLocks noChangeAspect="1"/>
          </p:cNvPicPr>
          <p:nvPr/>
        </p:nvPicPr>
        <p:blipFill>
          <a:blip r:embed="rId4"/>
          <a:stretch>
            <a:fillRect/>
          </a:stretch>
        </p:blipFill>
        <p:spPr>
          <a:xfrm>
            <a:off x="4446585" y="3155886"/>
            <a:ext cx="134549" cy="195707"/>
          </a:xfrm>
          <a:prstGeom prst="rect">
            <a:avLst/>
          </a:prstGeom>
        </p:spPr>
      </p:pic>
      <p:sp>
        <p:nvSpPr>
          <p:cNvPr id="25" name="TextBox 24"/>
          <p:cNvSpPr txBox="1"/>
          <p:nvPr/>
        </p:nvSpPr>
        <p:spPr>
          <a:xfrm>
            <a:off x="462169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764078" cy="194310"/>
          </a:xfrm>
          <a:prstGeom prst="rect">
            <a:avLst/>
          </a:prstGeom>
          <a:noFill/>
        </p:spPr>
        <p:txBody>
          <a:bodyPr wrap="none" lIns="0" rIns="0" tIns="0" bIns="0">
            <a:spAutoFit/>
          </a:bodyPr>
          <a:lstStyle/>
          <a:p>
            <a:r>
              <a:rPr sz="1150" b="0">
                <a:solidFill>
                  <a:srgbClr val="2E2E2E"/>
                </a:solidFill>
                <a:latin typeface="Calibri"/>
              </a:rPr>
              <a:t>In terms of value share by device reusability, the single-use transport devices segment is expected to dominate the market, losing</a:t>
            </a:r>
          </a:p>
        </p:txBody>
      </p:sp>
      <p:pic>
        <p:nvPicPr>
          <p:cNvPr id="27" name="Picture 26" descr="lock.png"/>
          <p:cNvPicPr>
            <a:picLocks noChangeAspect="1"/>
          </p:cNvPicPr>
          <p:nvPr/>
        </p:nvPicPr>
        <p:blipFill>
          <a:blip r:embed="rId4"/>
          <a:stretch>
            <a:fillRect/>
          </a:stretch>
        </p:blipFill>
        <p:spPr>
          <a:xfrm>
            <a:off x="7989456" y="3383724"/>
            <a:ext cx="134549" cy="195707"/>
          </a:xfrm>
          <a:prstGeom prst="rect">
            <a:avLst/>
          </a:prstGeom>
        </p:spPr>
      </p:pic>
      <p:sp>
        <p:nvSpPr>
          <p:cNvPr id="28" name="TextBox 27"/>
          <p:cNvSpPr txBox="1"/>
          <p:nvPr/>
        </p:nvSpPr>
        <p:spPr>
          <a:xfrm>
            <a:off x="816456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559709" y="3383724"/>
            <a:ext cx="134549" cy="195707"/>
          </a:xfrm>
          <a:prstGeom prst="rect">
            <a:avLst/>
          </a:prstGeom>
        </p:spPr>
      </p:pic>
      <p:sp>
        <p:nvSpPr>
          <p:cNvPr id="30" name="TextBox 29"/>
          <p:cNvSpPr txBox="1"/>
          <p:nvPr/>
        </p:nvSpPr>
        <p:spPr>
          <a:xfrm>
            <a:off x="973481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Device Reusability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Device Reusability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524332"/>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51957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44337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Reusable Transport Devices</a:t>
            </a:r>
          </a:p>
        </p:txBody>
      </p:sp>
      <p:sp>
        <p:nvSpPr>
          <p:cNvPr id="18" name="BPS Value 1"/>
          <p:cNvSpPr txBox="1"/>
          <p:nvPr/>
        </p:nvSpPr>
        <p:spPr>
          <a:xfrm>
            <a:off x="6896100" y="2505282"/>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81052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805760"/>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72956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Single-Use Transport Devices</a:t>
            </a:r>
          </a:p>
        </p:txBody>
      </p:sp>
      <p:sp>
        <p:nvSpPr>
          <p:cNvPr id="22" name="BPS Value 2"/>
          <p:cNvSpPr txBox="1"/>
          <p:nvPr/>
        </p:nvSpPr>
        <p:spPr>
          <a:xfrm>
            <a:off x="6896100" y="479147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Device Reusability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767385" cy="194310"/>
          </a:xfrm>
          <a:prstGeom prst="rect">
            <a:avLst/>
          </a:prstGeom>
          <a:noFill/>
        </p:spPr>
        <p:txBody>
          <a:bodyPr wrap="none" lIns="0" rIns="0" tIns="0" bIns="0">
            <a:spAutoFit/>
          </a:bodyPr>
          <a:lstStyle/>
          <a:p>
            <a:r>
              <a:rPr sz="1150" b="0">
                <a:solidFill>
                  <a:srgbClr val="2E2E2E"/>
                </a:solidFill>
                <a:latin typeface="Calibri"/>
              </a:rPr>
              <a:t>Among organ transport devices by device reusability, reusable</a:t>
            </a:r>
          </a:p>
        </p:txBody>
      </p:sp>
      <p:sp>
        <p:nvSpPr>
          <p:cNvPr id="30" name="TextBox 29"/>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transport devices segment is expected to witness the highest CAGR</a:t>
            </a:r>
          </a:p>
        </p:txBody>
      </p:sp>
      <p:sp>
        <p:nvSpPr>
          <p:cNvPr id="31" name="TextBox 30"/>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32" name="Picture 31" descr="lock.png"/>
          <p:cNvPicPr>
            <a:picLocks noChangeAspect="1"/>
          </p:cNvPicPr>
          <p:nvPr/>
        </p:nvPicPr>
        <p:blipFill>
          <a:blip r:embed="rId5"/>
          <a:stretch>
            <a:fillRect/>
          </a:stretch>
        </p:blipFill>
        <p:spPr>
          <a:xfrm>
            <a:off x="7976422" y="1740471"/>
            <a:ext cx="134549" cy="195707"/>
          </a:xfrm>
          <a:prstGeom prst="rect">
            <a:avLst/>
          </a:prstGeom>
        </p:spPr>
      </p:pic>
      <p:sp>
        <p:nvSpPr>
          <p:cNvPr id="33" name="TextBox 32"/>
          <p:cNvSpPr txBox="1"/>
          <p:nvPr/>
        </p:nvSpPr>
        <p:spPr>
          <a:xfrm>
            <a:off x="8151531"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4" name="TextBox 33"/>
          <p:cNvSpPr txBox="1"/>
          <p:nvPr/>
        </p:nvSpPr>
        <p:spPr>
          <a:xfrm>
            <a:off x="7829550" y="1978533"/>
            <a:ext cx="3577976" cy="194310"/>
          </a:xfrm>
          <a:prstGeom prst="rect">
            <a:avLst/>
          </a:prstGeom>
          <a:noFill/>
        </p:spPr>
        <p:txBody>
          <a:bodyPr wrap="none" lIns="0" rIns="0" tIns="0" bIns="0">
            <a:spAutoFit/>
          </a:bodyPr>
          <a:lstStyle/>
          <a:p>
            <a:r>
              <a:rPr sz="1150" b="0">
                <a:solidFill>
                  <a:srgbClr val="2E2E2E"/>
                </a:solidFill>
                <a:latin typeface="Calibri"/>
              </a:rPr>
              <a:t>In terms of value share by device reusability, the single-use</a:t>
            </a:r>
          </a:p>
        </p:txBody>
      </p:sp>
      <p:sp>
        <p:nvSpPr>
          <p:cNvPr id="35" name="TextBox 34"/>
          <p:cNvSpPr txBox="1"/>
          <p:nvPr/>
        </p:nvSpPr>
        <p:spPr>
          <a:xfrm>
            <a:off x="7829550" y="2153793"/>
            <a:ext cx="3849253" cy="194310"/>
          </a:xfrm>
          <a:prstGeom prst="rect">
            <a:avLst/>
          </a:prstGeom>
          <a:noFill/>
        </p:spPr>
        <p:txBody>
          <a:bodyPr wrap="none" lIns="0" rIns="0" tIns="0" bIns="0">
            <a:spAutoFit/>
          </a:bodyPr>
          <a:lstStyle/>
          <a:p>
            <a:r>
              <a:rPr sz="1150" b="0">
                <a:solidFill>
                  <a:srgbClr val="2E2E2E"/>
                </a:solidFill>
                <a:latin typeface="Calibri"/>
              </a:rPr>
              <a:t>transport devices segment is expected to dominate the market,</a:t>
            </a:r>
          </a:p>
        </p:txBody>
      </p:sp>
      <p:sp>
        <p:nvSpPr>
          <p:cNvPr id="36" name="TextBox 35"/>
          <p:cNvSpPr txBox="1"/>
          <p:nvPr/>
        </p:nvSpPr>
        <p:spPr>
          <a:xfrm>
            <a:off x="782955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37" name="Picture 36" descr="lock.png"/>
          <p:cNvPicPr>
            <a:picLocks noChangeAspect="1"/>
          </p:cNvPicPr>
          <p:nvPr/>
        </p:nvPicPr>
        <p:blipFill>
          <a:blip r:embed="rId5"/>
          <a:stretch>
            <a:fillRect/>
          </a:stretch>
        </p:blipFill>
        <p:spPr>
          <a:xfrm>
            <a:off x="8201772" y="2318829"/>
            <a:ext cx="134549" cy="195707"/>
          </a:xfrm>
          <a:prstGeom prst="rect">
            <a:avLst/>
          </a:prstGeom>
        </p:spPr>
      </p:pic>
      <p:sp>
        <p:nvSpPr>
          <p:cNvPr id="38" name="TextBox 37"/>
          <p:cNvSpPr txBox="1"/>
          <p:nvPr/>
        </p:nvSpPr>
        <p:spPr>
          <a:xfrm>
            <a:off x="837688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9" name="Picture 38" descr="lock.png"/>
          <p:cNvPicPr>
            <a:picLocks noChangeAspect="1"/>
          </p:cNvPicPr>
          <p:nvPr/>
        </p:nvPicPr>
        <p:blipFill>
          <a:blip r:embed="rId5"/>
          <a:stretch>
            <a:fillRect/>
          </a:stretch>
        </p:blipFill>
        <p:spPr>
          <a:xfrm>
            <a:off x="9772025" y="2318829"/>
            <a:ext cx="134549" cy="195707"/>
          </a:xfrm>
          <a:prstGeom prst="rect">
            <a:avLst/>
          </a:prstGeom>
        </p:spPr>
      </p:pic>
      <p:sp>
        <p:nvSpPr>
          <p:cNvPr id="40" name="TextBox 39"/>
          <p:cNvSpPr txBox="1"/>
          <p:nvPr/>
        </p:nvSpPr>
        <p:spPr>
          <a:xfrm>
            <a:off x="994713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Monitoring Capability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Monitoring Capability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Monitoring Capability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Monitoring Capability,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Monitoring Capability segment categorizes the market by monitoring capability.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with Integrated Monitoring</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without Integrated Monitoring</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Monitoring Capability split shows how demand is distributed across monitoring capability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9_251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5_159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5_1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_649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2_527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4_4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586870" cy="179984"/>
          </a:xfrm>
          <a:prstGeom prst="rect">
            <a:avLst/>
          </a:prstGeom>
          <a:noFill/>
        </p:spPr>
        <p:txBody>
          <a:bodyPr wrap="none" lIns="0" rIns="0" tIns="0" bIns="0">
            <a:spAutoFit/>
          </a:bodyPr>
          <a:lstStyle/>
          <a:p>
            <a:r>
              <a:rPr sz="1055" b="0">
                <a:solidFill>
                  <a:srgbClr val="2E2E2E"/>
                </a:solidFill>
                <a:latin typeface="Calibri"/>
              </a:rPr>
              <a:t>Among organ transport devices by monitoring</a:t>
            </a:r>
          </a:p>
        </p:txBody>
      </p:sp>
      <p:sp>
        <p:nvSpPr>
          <p:cNvPr id="58" name="TextBox 57"/>
          <p:cNvSpPr txBox="1"/>
          <p:nvPr/>
        </p:nvSpPr>
        <p:spPr>
          <a:xfrm>
            <a:off x="485775" y="4390371"/>
            <a:ext cx="2579012" cy="179984"/>
          </a:xfrm>
          <a:prstGeom prst="rect">
            <a:avLst/>
          </a:prstGeom>
          <a:noFill/>
        </p:spPr>
        <p:txBody>
          <a:bodyPr wrap="none" lIns="0" rIns="0" tIns="0" bIns="0">
            <a:spAutoFit/>
          </a:bodyPr>
          <a:lstStyle/>
          <a:p>
            <a:r>
              <a:rPr sz="1055" b="0">
                <a:solidFill>
                  <a:srgbClr val="2E2E2E"/>
                </a:solidFill>
                <a:latin typeface="Calibri"/>
              </a:rPr>
              <a:t>capability, devices with integrated monitoring</a:t>
            </a:r>
          </a:p>
        </p:txBody>
      </p:sp>
      <p:sp>
        <p:nvSpPr>
          <p:cNvPr id="59" name="TextBox 58"/>
          <p:cNvSpPr txBox="1"/>
          <p:nvPr/>
        </p:nvSpPr>
        <p:spPr>
          <a:xfrm>
            <a:off x="485775" y="4551305"/>
            <a:ext cx="2904846" cy="179984"/>
          </a:xfrm>
          <a:prstGeom prst="rect">
            <a:avLst/>
          </a:prstGeom>
          <a:noFill/>
        </p:spPr>
        <p:txBody>
          <a:bodyPr wrap="none" lIns="0" rIns="0" tIns="0" bIns="0">
            <a:spAutoFit/>
          </a:bodyPr>
          <a:lstStyle/>
          <a:p>
            <a:r>
              <a:rPr sz="1055" b="0">
                <a:solidFill>
                  <a:srgbClr val="2E2E2E"/>
                </a:solidFill>
                <a:latin typeface="Calibri"/>
              </a:rPr>
              <a:t>segment is expected to witness the highest CAGR of</a:t>
            </a:r>
          </a:p>
        </p:txBody>
      </p:sp>
      <p:pic>
        <p:nvPicPr>
          <p:cNvPr id="60" name="Picture 59" descr="lock.png"/>
          <p:cNvPicPr>
            <a:picLocks noChangeAspect="1"/>
          </p:cNvPicPr>
          <p:nvPr/>
        </p:nvPicPr>
        <p:blipFill>
          <a:blip r:embed="rId10"/>
          <a:stretch>
            <a:fillRect/>
          </a:stretch>
        </p:blipFill>
        <p:spPr>
          <a:xfrm>
            <a:off x="472846" y="4702852"/>
            <a:ext cx="123551" cy="179710"/>
          </a:xfrm>
          <a:prstGeom prst="rect">
            <a:avLst/>
          </a:prstGeom>
        </p:spPr>
      </p:pic>
      <p:sp>
        <p:nvSpPr>
          <p:cNvPr id="61" name="TextBox 60"/>
          <p:cNvSpPr txBox="1"/>
          <p:nvPr/>
        </p:nvSpPr>
        <p:spPr>
          <a:xfrm>
            <a:off x="633642" y="4712240"/>
            <a:ext cx="2707886" cy="179984"/>
          </a:xfrm>
          <a:prstGeom prst="rect">
            <a:avLst/>
          </a:prstGeom>
          <a:noFill/>
        </p:spPr>
        <p:txBody>
          <a:bodyPr wrap="none" lIns="0" rIns="0" tIns="0" bIns="0">
            <a:spAutoFit/>
          </a:bodyPr>
          <a:lstStyle/>
          <a:p>
            <a:r>
              <a:rPr sz="1055" b="0">
                <a:solidFill>
                  <a:srgbClr val="2E2E2E"/>
                </a:solidFill>
                <a:latin typeface="Calibri"/>
              </a:rPr>
              <a:t>over the forecast period. In terms of value share</a:t>
            </a:r>
          </a:p>
        </p:txBody>
      </p:sp>
      <p:sp>
        <p:nvSpPr>
          <p:cNvPr id="62" name="TextBox 61"/>
          <p:cNvSpPr txBox="1"/>
          <p:nvPr/>
        </p:nvSpPr>
        <p:spPr>
          <a:xfrm>
            <a:off x="485775" y="4873174"/>
            <a:ext cx="2914650" cy="179984"/>
          </a:xfrm>
          <a:prstGeom prst="rect">
            <a:avLst/>
          </a:prstGeom>
          <a:noFill/>
        </p:spPr>
        <p:txBody>
          <a:bodyPr wrap="none" lIns="0" rIns="0" tIns="0" bIns="0">
            <a:spAutoFit/>
          </a:bodyPr>
          <a:lstStyle/>
          <a:p>
            <a:r>
              <a:rPr sz="1055" b="0">
                <a:solidFill>
                  <a:srgbClr val="2E2E2E"/>
                </a:solidFill>
                <a:latin typeface="Calibri"/>
              </a:rPr>
              <a:t>by monitoring capability, the devices with integrated</a:t>
            </a:r>
          </a:p>
        </p:txBody>
      </p:sp>
      <p:sp>
        <p:nvSpPr>
          <p:cNvPr id="63" name="TextBox 62"/>
          <p:cNvSpPr txBox="1"/>
          <p:nvPr/>
        </p:nvSpPr>
        <p:spPr>
          <a:xfrm>
            <a:off x="485775" y="5034109"/>
            <a:ext cx="2745081" cy="179984"/>
          </a:xfrm>
          <a:prstGeom prst="rect">
            <a:avLst/>
          </a:prstGeom>
          <a:noFill/>
        </p:spPr>
        <p:txBody>
          <a:bodyPr wrap="none" lIns="0" rIns="0" tIns="0" bIns="0">
            <a:spAutoFit/>
          </a:bodyPr>
          <a:lstStyle/>
          <a:p>
            <a:r>
              <a:rPr sz="1055" b="0">
                <a:solidFill>
                  <a:srgbClr val="2E2E2E"/>
                </a:solidFill>
                <a:latin typeface="Calibri"/>
              </a:rPr>
              <a:t>monitoring segment is expected to dominate the</a:t>
            </a:r>
          </a:p>
        </p:txBody>
      </p:sp>
      <p:sp>
        <p:nvSpPr>
          <p:cNvPr id="64" name="TextBox 63"/>
          <p:cNvSpPr txBox="1"/>
          <p:nvPr/>
        </p:nvSpPr>
        <p:spPr>
          <a:xfrm>
            <a:off x="485775" y="5195043"/>
            <a:ext cx="924353" cy="179984"/>
          </a:xfrm>
          <a:prstGeom prst="rect">
            <a:avLst/>
          </a:prstGeom>
          <a:noFill/>
        </p:spPr>
        <p:txBody>
          <a:bodyPr wrap="none" lIns="0" rIns="0" tIns="0" bIns="0">
            <a:spAutoFit/>
          </a:bodyPr>
          <a:lstStyle/>
          <a:p>
            <a:r>
              <a:rPr sz="1055" b="0">
                <a:solidFill>
                  <a:srgbClr val="2E2E2E"/>
                </a:solidFill>
                <a:latin typeface="Calibri"/>
              </a:rPr>
              <a:t>market, gaining</a:t>
            </a:r>
          </a:p>
        </p:txBody>
      </p:sp>
      <p:pic>
        <p:nvPicPr>
          <p:cNvPr id="65" name="Picture 64" descr="lock.png"/>
          <p:cNvPicPr>
            <a:picLocks noChangeAspect="1"/>
          </p:cNvPicPr>
          <p:nvPr/>
        </p:nvPicPr>
        <p:blipFill>
          <a:blip r:embed="rId10"/>
          <a:stretch>
            <a:fillRect/>
          </a:stretch>
        </p:blipFill>
        <p:spPr>
          <a:xfrm>
            <a:off x="1357210" y="5185655"/>
            <a:ext cx="123551" cy="179710"/>
          </a:xfrm>
          <a:prstGeom prst="rect">
            <a:avLst/>
          </a:prstGeom>
        </p:spPr>
      </p:pic>
      <p:sp>
        <p:nvSpPr>
          <p:cNvPr id="66" name="TextBox 65"/>
          <p:cNvSpPr txBox="1"/>
          <p:nvPr/>
        </p:nvSpPr>
        <p:spPr>
          <a:xfrm>
            <a:off x="1518006"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799111" y="5185655"/>
            <a:ext cx="123551" cy="179710"/>
          </a:xfrm>
          <a:prstGeom prst="rect">
            <a:avLst/>
          </a:prstGeom>
        </p:spPr>
      </p:pic>
      <p:sp>
        <p:nvSpPr>
          <p:cNvPr id="68" name="TextBox 67"/>
          <p:cNvSpPr txBox="1"/>
          <p:nvPr/>
        </p:nvSpPr>
        <p:spPr>
          <a:xfrm>
            <a:off x="485775"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69" name="TextBox 68"/>
          <p:cNvSpPr txBox="1"/>
          <p:nvPr/>
        </p:nvSpPr>
        <p:spPr>
          <a:xfrm>
            <a:off x="485775" y="5565192"/>
            <a:ext cx="2618303" cy="179984"/>
          </a:xfrm>
          <a:prstGeom prst="rect">
            <a:avLst/>
          </a:prstGeom>
          <a:noFill/>
        </p:spPr>
        <p:txBody>
          <a:bodyPr wrap="none" lIns="0" rIns="0" tIns="0" bIns="0">
            <a:spAutoFit/>
          </a:bodyPr>
          <a:lstStyle/>
          <a:p>
            <a:r>
              <a:rPr sz="1055" b="0">
                <a:solidFill>
                  <a:srgbClr val="2E2E2E"/>
                </a:solidFill>
                <a:latin typeface="Calibri"/>
              </a:rPr>
              <a:t>Devices with integrated monitoring segment is</a:t>
            </a:r>
          </a:p>
        </p:txBody>
      </p:sp>
      <p:sp>
        <p:nvSpPr>
          <p:cNvPr id="70" name="TextBox 69"/>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71" name="Picture 70" descr="lock.png"/>
          <p:cNvPicPr>
            <a:picLocks noChangeAspect="1"/>
          </p:cNvPicPr>
          <p:nvPr/>
        </p:nvPicPr>
        <p:blipFill>
          <a:blip r:embed="rId10"/>
          <a:stretch>
            <a:fillRect/>
          </a:stretch>
        </p:blipFill>
        <p:spPr>
          <a:xfrm>
            <a:off x="1630672" y="5716739"/>
            <a:ext cx="123551" cy="179710"/>
          </a:xfrm>
          <a:prstGeom prst="rect">
            <a:avLst/>
          </a:prstGeom>
        </p:spPr>
      </p:pic>
      <p:sp>
        <p:nvSpPr>
          <p:cNvPr id="72" name="TextBox 71"/>
          <p:cNvSpPr txBox="1"/>
          <p:nvPr/>
        </p:nvSpPr>
        <p:spPr>
          <a:xfrm>
            <a:off x="1791468" y="5726126"/>
            <a:ext cx="1563743" cy="179984"/>
          </a:xfrm>
          <a:prstGeom prst="rect">
            <a:avLst/>
          </a:prstGeom>
          <a:noFill/>
        </p:spPr>
        <p:txBody>
          <a:bodyPr wrap="none" lIns="0" rIns="0" tIns="0" bIns="0">
            <a:spAutoFit/>
          </a:bodyPr>
          <a:lstStyle/>
          <a:p>
            <a:r>
              <a:rPr sz="1055" b="0">
                <a:solidFill>
                  <a:srgbClr val="2E2E2E"/>
                </a:solidFill>
                <a:latin typeface="Calibri"/>
              </a:rPr>
              <a:t>X higher value than devices</a:t>
            </a:r>
          </a:p>
        </p:txBody>
      </p:sp>
      <p:sp>
        <p:nvSpPr>
          <p:cNvPr id="73" name="TextBox 72"/>
          <p:cNvSpPr txBox="1"/>
          <p:nvPr/>
        </p:nvSpPr>
        <p:spPr>
          <a:xfrm>
            <a:off x="485775" y="5887061"/>
            <a:ext cx="2712077" cy="179984"/>
          </a:xfrm>
          <a:prstGeom prst="rect">
            <a:avLst/>
          </a:prstGeom>
          <a:noFill/>
        </p:spPr>
        <p:txBody>
          <a:bodyPr wrap="none" lIns="0" rIns="0" tIns="0" bIns="0">
            <a:spAutoFit/>
          </a:bodyPr>
          <a:lstStyle/>
          <a:p>
            <a:r>
              <a:rPr sz="1055" b="0">
                <a:solidFill>
                  <a:srgbClr val="2E2E2E"/>
                </a:solidFill>
                <a:latin typeface="Calibri"/>
              </a:rPr>
              <a:t>without integrated monitoring segment in 2036.</a:t>
            </a:r>
          </a:p>
        </p:txBody>
      </p:sp>
      <p:sp>
        <p:nvSpPr>
          <p:cNvPr id="74" name="TextBox 73"/>
          <p:cNvSpPr txBox="1"/>
          <p:nvPr/>
        </p:nvSpPr>
        <p:spPr>
          <a:xfrm>
            <a:off x="3838575" y="4229437"/>
            <a:ext cx="2247007" cy="186689"/>
          </a:xfrm>
          <a:prstGeom prst="rect">
            <a:avLst/>
          </a:prstGeom>
          <a:noFill/>
        </p:spPr>
        <p:txBody>
          <a:bodyPr wrap="none" lIns="0" rIns="0" tIns="0" bIns="0">
            <a:spAutoFit/>
          </a:bodyPr>
          <a:lstStyle/>
          <a:p>
            <a:r>
              <a:rPr sz="1100" b="0">
                <a:solidFill>
                  <a:srgbClr val="2E2E2E"/>
                </a:solidFill>
                <a:latin typeface="Calibri"/>
              </a:rPr>
              <a:t>● Devices with Integrated Monitoring:</a:t>
            </a:r>
          </a:p>
        </p:txBody>
      </p:sp>
      <p:pic>
        <p:nvPicPr>
          <p:cNvPr id="75" name="Picture 74" descr="lock.png"/>
          <p:cNvPicPr>
            <a:picLocks noChangeAspect="1"/>
          </p:cNvPicPr>
          <p:nvPr/>
        </p:nvPicPr>
        <p:blipFill>
          <a:blip r:embed="rId10"/>
          <a:stretch>
            <a:fillRect/>
          </a:stretch>
        </p:blipFill>
        <p:spPr>
          <a:xfrm>
            <a:off x="6033633" y="4219658"/>
            <a:ext cx="128699" cy="187198"/>
          </a:xfrm>
          <a:prstGeom prst="rect">
            <a:avLst/>
          </a:prstGeom>
        </p:spPr>
      </p:pic>
      <p:sp>
        <p:nvSpPr>
          <p:cNvPr id="76" name="TextBox 75"/>
          <p:cNvSpPr txBox="1"/>
          <p:nvPr/>
        </p:nvSpPr>
        <p:spPr>
          <a:xfrm>
            <a:off x="620112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7060579" y="4219658"/>
            <a:ext cx="128699" cy="187198"/>
          </a:xfrm>
          <a:prstGeom prst="rect">
            <a:avLst/>
          </a:prstGeom>
        </p:spPr>
      </p:pic>
      <p:sp>
        <p:nvSpPr>
          <p:cNvPr id="78" name="TextBox 77"/>
          <p:cNvSpPr txBox="1"/>
          <p:nvPr/>
        </p:nvSpPr>
        <p:spPr>
          <a:xfrm>
            <a:off x="7228075"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79" name="TextBox 78"/>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80" name="TextBox 79"/>
          <p:cNvSpPr txBox="1"/>
          <p:nvPr/>
        </p:nvSpPr>
        <p:spPr>
          <a:xfrm>
            <a:off x="3838575" y="4615009"/>
            <a:ext cx="2441004" cy="186689"/>
          </a:xfrm>
          <a:prstGeom prst="rect">
            <a:avLst/>
          </a:prstGeom>
          <a:noFill/>
        </p:spPr>
        <p:txBody>
          <a:bodyPr wrap="none" lIns="0" rIns="0" tIns="0" bIns="0">
            <a:spAutoFit/>
          </a:bodyPr>
          <a:lstStyle/>
          <a:p>
            <a:r>
              <a:rPr sz="1100" b="0">
                <a:solidFill>
                  <a:srgbClr val="2E2E2E"/>
                </a:solidFill>
                <a:latin typeface="Calibri"/>
              </a:rPr>
              <a:t>● Devices without Integrated Monitoring:</a:t>
            </a:r>
          </a:p>
        </p:txBody>
      </p:sp>
      <p:pic>
        <p:nvPicPr>
          <p:cNvPr id="81" name="Picture 80" descr="lock.png"/>
          <p:cNvPicPr>
            <a:picLocks noChangeAspect="1"/>
          </p:cNvPicPr>
          <p:nvPr/>
        </p:nvPicPr>
        <p:blipFill>
          <a:blip r:embed="rId10"/>
          <a:stretch>
            <a:fillRect/>
          </a:stretch>
        </p:blipFill>
        <p:spPr>
          <a:xfrm>
            <a:off x="6227631" y="4605230"/>
            <a:ext cx="128699" cy="187198"/>
          </a:xfrm>
          <a:prstGeom prst="rect">
            <a:avLst/>
          </a:prstGeom>
        </p:spPr>
      </p:pic>
      <p:sp>
        <p:nvSpPr>
          <p:cNvPr id="82" name="TextBox 81"/>
          <p:cNvSpPr txBox="1"/>
          <p:nvPr/>
        </p:nvSpPr>
        <p:spPr>
          <a:xfrm>
            <a:off x="639512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10"/>
          <a:stretch>
            <a:fillRect/>
          </a:stretch>
        </p:blipFill>
        <p:spPr>
          <a:xfrm>
            <a:off x="7254577" y="4605230"/>
            <a:ext cx="128699" cy="187198"/>
          </a:xfrm>
          <a:prstGeom prst="rect">
            <a:avLst/>
          </a:prstGeom>
        </p:spPr>
      </p:pic>
      <p:sp>
        <p:nvSpPr>
          <p:cNvPr id="84" name="TextBox 83"/>
          <p:cNvSpPr txBox="1"/>
          <p:nvPr/>
        </p:nvSpPr>
        <p:spPr>
          <a:xfrm>
            <a:off x="7422072"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5" name="TextBox 84"/>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86" name="TextBox 85"/>
          <p:cNvSpPr txBox="1"/>
          <p:nvPr/>
        </p:nvSpPr>
        <p:spPr>
          <a:xfrm>
            <a:off x="8524875" y="5842641"/>
            <a:ext cx="3121000" cy="194310"/>
          </a:xfrm>
          <a:prstGeom prst="rect">
            <a:avLst/>
          </a:prstGeom>
          <a:noFill/>
        </p:spPr>
        <p:txBody>
          <a:bodyPr wrap="none" lIns="0" rIns="0" tIns="0" bIns="0">
            <a:spAutoFit/>
          </a:bodyPr>
          <a:lstStyle/>
          <a:p>
            <a:r>
              <a:rPr sz="1150" b="1">
                <a:solidFill>
                  <a:srgbClr val="0B2E4A"/>
                </a:solidFill>
                <a:latin typeface="Calibri"/>
              </a:rPr>
              <a:t>The Monitoring Capability segment is projected to</a:t>
            </a:r>
          </a:p>
        </p:txBody>
      </p:sp>
      <p:sp>
        <p:nvSpPr>
          <p:cNvPr id="87" name="TextBox 8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8" name="Picture 87" descr="lock.png"/>
          <p:cNvPicPr>
            <a:picLocks noChangeAspect="1"/>
          </p:cNvPicPr>
          <p:nvPr/>
        </p:nvPicPr>
        <p:blipFill>
          <a:blip r:embed="rId10"/>
          <a:stretch>
            <a:fillRect/>
          </a:stretch>
        </p:blipFill>
        <p:spPr>
          <a:xfrm>
            <a:off x="9651852" y="6007677"/>
            <a:ext cx="134549" cy="195707"/>
          </a:xfrm>
          <a:prstGeom prst="rect">
            <a:avLst/>
          </a:prstGeom>
        </p:spPr>
      </p:pic>
      <p:sp>
        <p:nvSpPr>
          <p:cNvPr id="89" name="TextBox 8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Monitoring Capability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Monitoring Capability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Monitoring Capability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Monitoring Capability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00358" cy="186689"/>
          </a:xfrm>
          <a:prstGeom prst="rect">
            <a:avLst/>
          </a:prstGeom>
          <a:noFill/>
        </p:spPr>
        <p:txBody>
          <a:bodyPr wrap="none" lIns="0" rIns="0" tIns="0" bIns="0">
            <a:spAutoFit/>
          </a:bodyPr>
          <a:lstStyle/>
          <a:p>
            <a:r>
              <a:rPr sz="1100" b="0">
                <a:solidFill>
                  <a:srgbClr val="2E2E2E"/>
                </a:solidFill>
                <a:latin typeface="Calibri"/>
              </a:rPr>
              <a:t>Devices with integrated monitoring followed by devices without integrated monitoring are expected to be the two most attractive monitoring capability segments in the global organ transport devices</a:t>
            </a:r>
          </a:p>
        </p:txBody>
      </p:sp>
      <p:sp>
        <p:nvSpPr>
          <p:cNvPr id="20" name="TextBox 19"/>
          <p:cNvSpPr txBox="1"/>
          <p:nvPr/>
        </p:nvSpPr>
        <p:spPr>
          <a:xfrm>
            <a:off x="257175" y="5945505"/>
            <a:ext cx="8769779" cy="186689"/>
          </a:xfrm>
          <a:prstGeom prst="rect">
            <a:avLst/>
          </a:prstGeom>
          <a:noFill/>
        </p:spPr>
        <p:txBody>
          <a:bodyPr wrap="none" lIns="0" rIns="0" tIns="0" bIns="0">
            <a:spAutoFit/>
          </a:bodyPr>
          <a:lstStyle/>
          <a:p>
            <a:r>
              <a:rPr sz="1100" b="0">
                <a:solidFill>
                  <a:srgbClr val="2E2E2E"/>
                </a:solidFill>
                <a:latin typeface="Calibri"/>
              </a:rPr>
              <a:t>market in terms of value over the forecast period. Devices with integrated monitoring and devices without integrated monitoring exhibit a CAGR index of</a:t>
            </a:r>
          </a:p>
        </p:txBody>
      </p:sp>
      <p:pic>
        <p:nvPicPr>
          <p:cNvPr id="21" name="Picture 20" descr="lock.png"/>
          <p:cNvPicPr>
            <a:picLocks noChangeAspect="1"/>
          </p:cNvPicPr>
          <p:nvPr/>
        </p:nvPicPr>
        <p:blipFill>
          <a:blip r:embed="rId6"/>
          <a:stretch>
            <a:fillRect/>
          </a:stretch>
        </p:blipFill>
        <p:spPr>
          <a:xfrm>
            <a:off x="8975006" y="5935726"/>
            <a:ext cx="128699" cy="187198"/>
          </a:xfrm>
          <a:prstGeom prst="rect">
            <a:avLst/>
          </a:prstGeom>
        </p:spPr>
      </p:pic>
      <p:sp>
        <p:nvSpPr>
          <p:cNvPr id="22" name="TextBox 21"/>
          <p:cNvSpPr txBox="1"/>
          <p:nvPr/>
        </p:nvSpPr>
        <p:spPr>
          <a:xfrm>
            <a:off x="914250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9380396" y="5935726"/>
            <a:ext cx="128699" cy="187198"/>
          </a:xfrm>
          <a:prstGeom prst="rect">
            <a:avLst/>
          </a:prstGeom>
        </p:spPr>
      </p:pic>
      <p:sp>
        <p:nvSpPr>
          <p:cNvPr id="24" name="TextBox 23"/>
          <p:cNvSpPr txBox="1"/>
          <p:nvPr/>
        </p:nvSpPr>
        <p:spPr>
          <a:xfrm>
            <a:off x="9547892"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11156865" y="5935726"/>
            <a:ext cx="128699" cy="187198"/>
          </a:xfrm>
          <a:prstGeom prst="rect">
            <a:avLst/>
          </a:prstGeom>
        </p:spPr>
      </p:pic>
      <p:sp>
        <p:nvSpPr>
          <p:cNvPr id="26" name="TextBox 25"/>
          <p:cNvSpPr txBox="1"/>
          <p:nvPr/>
        </p:nvSpPr>
        <p:spPr>
          <a:xfrm>
            <a:off x="11324361"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243707" y="6103366"/>
            <a:ext cx="128699" cy="187198"/>
          </a:xfrm>
          <a:prstGeom prst="rect">
            <a:avLst/>
          </a:prstGeom>
        </p:spPr>
      </p:pic>
      <p:sp>
        <p:nvSpPr>
          <p:cNvPr id="28" name="TextBox 27"/>
          <p:cNvSpPr txBox="1"/>
          <p:nvPr/>
        </p:nvSpPr>
        <p:spPr>
          <a:xfrm>
            <a:off x="411203" y="611314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2965607" y="6103366"/>
            <a:ext cx="128699" cy="187198"/>
          </a:xfrm>
          <a:prstGeom prst="rect">
            <a:avLst/>
          </a:prstGeom>
        </p:spPr>
      </p:pic>
      <p:sp>
        <p:nvSpPr>
          <p:cNvPr id="30" name="TextBox 29"/>
          <p:cNvSpPr txBox="1"/>
          <p:nvPr/>
        </p:nvSpPr>
        <p:spPr>
          <a:xfrm>
            <a:off x="3133103"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1"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Monitoring Capability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Devices without Integrated Monitoring</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Devices with Integrated Monitoring</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Monitoring Capability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Monitoring Capability,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Monitoring Capability (US$ Mn)</a:t>
            </a:r>
          </a:p>
        </p:txBody>
      </p:sp>
      <p:graphicFrame>
        <p:nvGraphicFramePr>
          <p:cNvPr id="12" name="Table 11"/>
          <p:cNvGraphicFramePr>
            <a:graphicFrameLocks noGrp="1"/>
          </p:cNvGraphicFramePr>
          <p:nvPr/>
        </p:nvGraphicFramePr>
        <p:xfrm>
          <a:off x="152400" y="1238250"/>
          <a:ext cx="11887199" cy="1724022"/>
        </p:xfrm>
        <a:graphic>
          <a:graphicData uri="http://schemas.openxmlformats.org/drawingml/2006/table">
            <a:tbl>
              <a:tblPr>
                <a:tableStyleId>{5C22544A-7EE6-4342-B048-85BDC9FD1C3A}</a:tableStyleId>
              </a:tblPr>
              <a:tblGrid>
                <a:gridCol w="3236416"/>
                <a:gridCol w="488068"/>
                <a:gridCol w="488068"/>
                <a:gridCol w="488068"/>
                <a:gridCol w="510172"/>
                <a:gridCol w="510172"/>
                <a:gridCol w="510172"/>
                <a:gridCol w="510172"/>
                <a:gridCol w="510172"/>
                <a:gridCol w="510172"/>
                <a:gridCol w="510172"/>
                <a:gridCol w="510172"/>
                <a:gridCol w="510172"/>
                <a:gridCol w="510172"/>
                <a:gridCol w="510172"/>
                <a:gridCol w="510172"/>
                <a:gridCol w="510172"/>
                <a:gridCol w="554343"/>
              </a:tblGrid>
              <a:tr h="246126">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Devices with Integrated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Temperature Monitoring Only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Temperature and Location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Physiological and Perfusion Parameter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Monitoring Capability</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527517" y="1956623"/>
            <a:ext cx="366712" cy="533400"/>
          </a:xfrm>
          <a:prstGeom prst="rect">
            <a:avLst/>
          </a:prstGeom>
        </p:spPr>
      </p:pic>
      <p:sp>
        <p:nvSpPr>
          <p:cNvPr id="20" name="TextBox 19"/>
          <p:cNvSpPr txBox="1"/>
          <p:nvPr/>
        </p:nvSpPr>
        <p:spPr>
          <a:xfrm>
            <a:off x="276225" y="3724275"/>
            <a:ext cx="4099135" cy="194310"/>
          </a:xfrm>
          <a:prstGeom prst="rect">
            <a:avLst/>
          </a:prstGeom>
          <a:noFill/>
        </p:spPr>
        <p:txBody>
          <a:bodyPr wrap="none" lIns="0" rIns="0" tIns="0" bIns="0">
            <a:spAutoFit/>
          </a:bodyPr>
          <a:lstStyle/>
          <a:p>
            <a:r>
              <a:rPr sz="1150" b="0">
                <a:solidFill>
                  <a:srgbClr val="2E2E2E"/>
                </a:solidFill>
                <a:latin typeface="Calibri"/>
              </a:rPr>
              <a:t>Devices with integrated monitoring segment is projected to register</a:t>
            </a:r>
          </a:p>
        </p:txBody>
      </p:sp>
      <p:pic>
        <p:nvPicPr>
          <p:cNvPr id="21" name="Picture 20" descr="lock.png"/>
          <p:cNvPicPr>
            <a:picLocks noChangeAspect="1"/>
          </p:cNvPicPr>
          <p:nvPr/>
        </p:nvPicPr>
        <p:blipFill>
          <a:blip r:embed="rId4"/>
          <a:stretch>
            <a:fillRect/>
          </a:stretch>
        </p:blipFill>
        <p:spPr>
          <a:xfrm>
            <a:off x="4324514" y="3714051"/>
            <a:ext cx="134549" cy="195707"/>
          </a:xfrm>
          <a:prstGeom prst="rect">
            <a:avLst/>
          </a:prstGeom>
        </p:spPr>
      </p:pic>
      <p:sp>
        <p:nvSpPr>
          <p:cNvPr id="22" name="TextBox 21"/>
          <p:cNvSpPr txBox="1"/>
          <p:nvPr/>
        </p:nvSpPr>
        <p:spPr>
          <a:xfrm>
            <a:off x="4499624" y="3724275"/>
            <a:ext cx="7367004" cy="194310"/>
          </a:xfrm>
          <a:prstGeom prst="rect">
            <a:avLst/>
          </a:prstGeom>
          <a:noFill/>
        </p:spPr>
        <p:txBody>
          <a:bodyPr wrap="none" lIns="0" rIns="0" tIns="0" bIns="0">
            <a:spAutoFit/>
          </a:bodyPr>
          <a:lstStyle/>
          <a:p>
            <a:r>
              <a:rPr sz="1150" b="0">
                <a:solidFill>
                  <a:srgbClr val="2E2E2E"/>
                </a:solidFill>
                <a:latin typeface="Calibri"/>
              </a:rPr>
              <a:t>X higher value than devices without integrated monitoring segment in 2036. Among organ transport devices by monitoring</a:t>
            </a:r>
          </a:p>
        </p:txBody>
      </p:sp>
      <p:sp>
        <p:nvSpPr>
          <p:cNvPr id="23" name="TextBox 22"/>
          <p:cNvSpPr txBox="1"/>
          <p:nvPr/>
        </p:nvSpPr>
        <p:spPr>
          <a:xfrm>
            <a:off x="276225" y="3899535"/>
            <a:ext cx="5915329" cy="194310"/>
          </a:xfrm>
          <a:prstGeom prst="rect">
            <a:avLst/>
          </a:prstGeom>
          <a:noFill/>
        </p:spPr>
        <p:txBody>
          <a:bodyPr wrap="none" lIns="0" rIns="0" tIns="0" bIns="0">
            <a:spAutoFit/>
          </a:bodyPr>
          <a:lstStyle/>
          <a:p>
            <a:r>
              <a:rPr sz="1150" b="0">
                <a:solidFill>
                  <a:srgbClr val="2E2E2E"/>
                </a:solidFill>
                <a:latin typeface="Calibri"/>
              </a:rPr>
              <a:t>capability, devices with integrated monitoring segment is expected to witness the highest CAGR of</a:t>
            </a:r>
          </a:p>
        </p:txBody>
      </p:sp>
      <p:pic>
        <p:nvPicPr>
          <p:cNvPr id="24" name="Picture 23" descr="lock.png"/>
          <p:cNvPicPr>
            <a:picLocks noChangeAspect="1"/>
          </p:cNvPicPr>
          <p:nvPr/>
        </p:nvPicPr>
        <p:blipFill>
          <a:blip r:embed="rId4"/>
          <a:stretch>
            <a:fillRect/>
          </a:stretch>
        </p:blipFill>
        <p:spPr>
          <a:xfrm>
            <a:off x="6140708" y="3889311"/>
            <a:ext cx="134549" cy="195707"/>
          </a:xfrm>
          <a:prstGeom prst="rect">
            <a:avLst/>
          </a:prstGeom>
        </p:spPr>
      </p:pic>
      <p:sp>
        <p:nvSpPr>
          <p:cNvPr id="25" name="TextBox 24"/>
          <p:cNvSpPr txBox="1"/>
          <p:nvPr/>
        </p:nvSpPr>
        <p:spPr>
          <a:xfrm>
            <a:off x="6315817"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8499177" cy="194310"/>
          </a:xfrm>
          <a:prstGeom prst="rect">
            <a:avLst/>
          </a:prstGeom>
          <a:noFill/>
        </p:spPr>
        <p:txBody>
          <a:bodyPr wrap="none" lIns="0" rIns="0" tIns="0" bIns="0">
            <a:spAutoFit/>
          </a:bodyPr>
          <a:lstStyle/>
          <a:p>
            <a:r>
              <a:rPr sz="1150" b="0">
                <a:solidFill>
                  <a:srgbClr val="2E2E2E"/>
                </a:solidFill>
                <a:latin typeface="Calibri"/>
              </a:rPr>
              <a:t>In terms of value share by monitoring capability, the devices with integrated monitoring segment is expected to dominate the market, gaining</a:t>
            </a:r>
          </a:p>
        </p:txBody>
      </p:sp>
      <p:pic>
        <p:nvPicPr>
          <p:cNvPr id="27" name="Picture 26" descr="lock.png"/>
          <p:cNvPicPr>
            <a:picLocks noChangeAspect="1"/>
          </p:cNvPicPr>
          <p:nvPr/>
        </p:nvPicPr>
        <p:blipFill>
          <a:blip r:embed="rId4"/>
          <a:stretch>
            <a:fillRect/>
          </a:stretch>
        </p:blipFill>
        <p:spPr>
          <a:xfrm>
            <a:off x="8724556" y="4117149"/>
            <a:ext cx="134549" cy="195707"/>
          </a:xfrm>
          <a:prstGeom prst="rect">
            <a:avLst/>
          </a:prstGeom>
        </p:spPr>
      </p:pic>
      <p:sp>
        <p:nvSpPr>
          <p:cNvPr id="28" name="TextBox 27"/>
          <p:cNvSpPr txBox="1"/>
          <p:nvPr/>
        </p:nvSpPr>
        <p:spPr>
          <a:xfrm>
            <a:off x="8899665"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294808" y="4117149"/>
            <a:ext cx="134549" cy="195707"/>
          </a:xfrm>
          <a:prstGeom prst="rect">
            <a:avLst/>
          </a:prstGeom>
        </p:spPr>
      </p:pic>
      <p:sp>
        <p:nvSpPr>
          <p:cNvPr id="30" name="TextBox 29"/>
          <p:cNvSpPr txBox="1"/>
          <p:nvPr/>
        </p:nvSpPr>
        <p:spPr>
          <a:xfrm>
            <a:off x="10469918"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4302632"/>
            <a:ext cx="4046078" cy="194310"/>
          </a:xfrm>
          <a:prstGeom prst="rect">
            <a:avLst/>
          </a:prstGeom>
          <a:noFill/>
        </p:spPr>
        <p:txBody>
          <a:bodyPr wrap="none" lIns="0" rIns="0" tIns="0" bIns="0">
            <a:spAutoFit/>
          </a:bodyPr>
          <a:lstStyle/>
          <a:p>
            <a:r>
              <a:rPr sz="1150" b="0">
                <a:solidFill>
                  <a:srgbClr val="2E2E2E"/>
                </a:solidFill>
                <a:latin typeface="Calibri"/>
              </a:rPr>
              <a:t>devices without integrated monitoring segment is expected to lose</a:t>
            </a:r>
          </a:p>
        </p:txBody>
      </p:sp>
      <p:pic>
        <p:nvPicPr>
          <p:cNvPr id="32" name="Picture 31" descr="lock.png"/>
          <p:cNvPicPr>
            <a:picLocks noChangeAspect="1"/>
          </p:cNvPicPr>
          <p:nvPr/>
        </p:nvPicPr>
        <p:blipFill>
          <a:blip r:embed="rId4"/>
          <a:stretch>
            <a:fillRect/>
          </a:stretch>
        </p:blipFill>
        <p:spPr>
          <a:xfrm>
            <a:off x="4271457" y="4292409"/>
            <a:ext cx="134549" cy="195707"/>
          </a:xfrm>
          <a:prstGeom prst="rect">
            <a:avLst/>
          </a:prstGeom>
        </p:spPr>
      </p:pic>
      <p:sp>
        <p:nvSpPr>
          <p:cNvPr id="33" name="TextBox 32"/>
          <p:cNvSpPr txBox="1"/>
          <p:nvPr/>
        </p:nvSpPr>
        <p:spPr>
          <a:xfrm>
            <a:off x="444656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7034071" y="4292409"/>
            <a:ext cx="134549" cy="195707"/>
          </a:xfrm>
          <a:prstGeom prst="rect">
            <a:avLst/>
          </a:prstGeom>
        </p:spPr>
      </p:pic>
      <p:sp>
        <p:nvSpPr>
          <p:cNvPr id="35" name="TextBox 34"/>
          <p:cNvSpPr txBox="1"/>
          <p:nvPr/>
        </p:nvSpPr>
        <p:spPr>
          <a:xfrm>
            <a:off x="720918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Monitoring Capability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Monitoring Capability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9786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9310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91690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without Integrated Monitoring</a:t>
            </a:r>
          </a:p>
        </p:txBody>
      </p:sp>
      <p:sp>
        <p:nvSpPr>
          <p:cNvPr id="18" name="BPS Value 1"/>
          <p:cNvSpPr txBox="1"/>
          <p:nvPr/>
        </p:nvSpPr>
        <p:spPr>
          <a:xfrm>
            <a:off x="6896100" y="197881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28406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27929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2030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with Integrated Monitoring</a:t>
            </a:r>
          </a:p>
        </p:txBody>
      </p:sp>
      <p:sp>
        <p:nvSpPr>
          <p:cNvPr id="22" name="BPS Value 2"/>
          <p:cNvSpPr txBox="1"/>
          <p:nvPr/>
        </p:nvSpPr>
        <p:spPr>
          <a:xfrm>
            <a:off x="6896100" y="426501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Monitoring Capability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25130" cy="194310"/>
          </a:xfrm>
          <a:prstGeom prst="rect">
            <a:avLst/>
          </a:prstGeom>
          <a:noFill/>
        </p:spPr>
        <p:txBody>
          <a:bodyPr wrap="none" lIns="0" rIns="0" tIns="0" bIns="0">
            <a:spAutoFit/>
          </a:bodyPr>
          <a:lstStyle/>
          <a:p>
            <a:r>
              <a:rPr sz="1150" b="0">
                <a:solidFill>
                  <a:srgbClr val="2E2E2E"/>
                </a:solidFill>
                <a:latin typeface="Calibri"/>
              </a:rPr>
              <a:t>Among organ transport devices by monitoring capability, devices</a:t>
            </a:r>
          </a:p>
        </p:txBody>
      </p:sp>
      <p:sp>
        <p:nvSpPr>
          <p:cNvPr id="30" name="TextBox 29"/>
          <p:cNvSpPr txBox="1"/>
          <p:nvPr/>
        </p:nvSpPr>
        <p:spPr>
          <a:xfrm>
            <a:off x="7829550" y="1575435"/>
            <a:ext cx="3811314" cy="194310"/>
          </a:xfrm>
          <a:prstGeom prst="rect">
            <a:avLst/>
          </a:prstGeom>
          <a:noFill/>
        </p:spPr>
        <p:txBody>
          <a:bodyPr wrap="none" lIns="0" rIns="0" tIns="0" bIns="0">
            <a:spAutoFit/>
          </a:bodyPr>
          <a:lstStyle/>
          <a:p>
            <a:r>
              <a:rPr sz="1150" b="0">
                <a:solidFill>
                  <a:srgbClr val="2E2E2E"/>
                </a:solidFill>
                <a:latin typeface="Calibri"/>
              </a:rPr>
              <a:t>with integrated monitoring segment is expected to witness the</a:t>
            </a:r>
          </a:p>
        </p:txBody>
      </p:sp>
      <p:sp>
        <p:nvSpPr>
          <p:cNvPr id="31" name="TextBox 30"/>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2" name="Picture 31" descr="lock.png"/>
          <p:cNvPicPr>
            <a:picLocks noChangeAspect="1"/>
          </p:cNvPicPr>
          <p:nvPr/>
        </p:nvPicPr>
        <p:blipFill>
          <a:blip r:embed="rId5"/>
          <a:stretch>
            <a:fillRect/>
          </a:stretch>
        </p:blipFill>
        <p:spPr>
          <a:xfrm>
            <a:off x="8811057" y="1740471"/>
            <a:ext cx="134549" cy="195707"/>
          </a:xfrm>
          <a:prstGeom prst="rect">
            <a:avLst/>
          </a:prstGeom>
        </p:spPr>
      </p:pic>
      <p:sp>
        <p:nvSpPr>
          <p:cNvPr id="33" name="TextBox 32"/>
          <p:cNvSpPr txBox="1"/>
          <p:nvPr/>
        </p:nvSpPr>
        <p:spPr>
          <a:xfrm>
            <a:off x="8986166"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4" name="TextBox 33"/>
          <p:cNvSpPr txBox="1"/>
          <p:nvPr/>
        </p:nvSpPr>
        <p:spPr>
          <a:xfrm>
            <a:off x="7829550" y="1925955"/>
            <a:ext cx="3569989" cy="194310"/>
          </a:xfrm>
          <a:prstGeom prst="rect">
            <a:avLst/>
          </a:prstGeom>
          <a:noFill/>
        </p:spPr>
        <p:txBody>
          <a:bodyPr wrap="none" lIns="0" rIns="0" tIns="0" bIns="0">
            <a:spAutoFit/>
          </a:bodyPr>
          <a:lstStyle/>
          <a:p>
            <a:r>
              <a:rPr sz="1150" b="0">
                <a:solidFill>
                  <a:srgbClr val="2E2E2E"/>
                </a:solidFill>
                <a:latin typeface="Calibri"/>
              </a:rPr>
              <a:t>share by monitoring capability, the devices with integrated</a:t>
            </a:r>
          </a:p>
        </p:txBody>
      </p:sp>
      <p:sp>
        <p:nvSpPr>
          <p:cNvPr id="35" name="TextBox 34"/>
          <p:cNvSpPr txBox="1"/>
          <p:nvPr/>
        </p:nvSpPr>
        <p:spPr>
          <a:xfrm>
            <a:off x="7829550" y="2101215"/>
            <a:ext cx="3939393" cy="194310"/>
          </a:xfrm>
          <a:prstGeom prst="rect">
            <a:avLst/>
          </a:prstGeom>
          <a:noFill/>
        </p:spPr>
        <p:txBody>
          <a:bodyPr wrap="none" lIns="0" rIns="0" tIns="0" bIns="0">
            <a:spAutoFit/>
          </a:bodyPr>
          <a:lstStyle/>
          <a:p>
            <a:r>
              <a:rPr sz="1150" b="0">
                <a:solidFill>
                  <a:srgbClr val="2E2E2E"/>
                </a:solidFill>
                <a:latin typeface="Calibri"/>
              </a:rPr>
              <a:t>monitoring segment is expected to dominate the market, gaining</a:t>
            </a:r>
          </a:p>
        </p:txBody>
      </p:sp>
      <p:pic>
        <p:nvPicPr>
          <p:cNvPr id="36" name="Picture 35" descr="lock.png"/>
          <p:cNvPicPr>
            <a:picLocks noChangeAspect="1"/>
          </p:cNvPicPr>
          <p:nvPr/>
        </p:nvPicPr>
        <p:blipFill>
          <a:blip r:embed="rId5"/>
          <a:stretch>
            <a:fillRect/>
          </a:stretch>
        </p:blipFill>
        <p:spPr>
          <a:xfrm>
            <a:off x="7815470" y="2266251"/>
            <a:ext cx="134549" cy="195707"/>
          </a:xfrm>
          <a:prstGeom prst="rect">
            <a:avLst/>
          </a:prstGeom>
        </p:spPr>
      </p:pic>
      <p:sp>
        <p:nvSpPr>
          <p:cNvPr id="37" name="TextBox 36"/>
          <p:cNvSpPr txBox="1"/>
          <p:nvPr/>
        </p:nvSpPr>
        <p:spPr>
          <a:xfrm>
            <a:off x="7990579" y="227647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385722" y="2266251"/>
            <a:ext cx="134549" cy="195707"/>
          </a:xfrm>
          <a:prstGeom prst="rect">
            <a:avLst/>
          </a:prstGeom>
        </p:spPr>
      </p:pic>
      <p:sp>
        <p:nvSpPr>
          <p:cNvPr id="39" name="TextBox 38"/>
          <p:cNvSpPr txBox="1"/>
          <p:nvPr/>
        </p:nvSpPr>
        <p:spPr>
          <a:xfrm>
            <a:off x="9560832"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504313"/>
            <a:ext cx="4026396" cy="194310"/>
          </a:xfrm>
          <a:prstGeom prst="rect">
            <a:avLst/>
          </a:prstGeom>
          <a:noFill/>
        </p:spPr>
        <p:txBody>
          <a:bodyPr wrap="none" lIns="0" rIns="0" tIns="0" bIns="0">
            <a:spAutoFit/>
          </a:bodyPr>
          <a:lstStyle/>
          <a:p>
            <a:r>
              <a:rPr sz="1150" b="0">
                <a:solidFill>
                  <a:srgbClr val="2E2E2E"/>
                </a:solidFill>
                <a:latin typeface="Calibri"/>
              </a:rPr>
              <a:t>The devices without integrated monitoring segment is expected to</a:t>
            </a:r>
          </a:p>
        </p:txBody>
      </p:sp>
      <p:sp>
        <p:nvSpPr>
          <p:cNvPr id="41" name="TextBox 40"/>
          <p:cNvSpPr txBox="1"/>
          <p:nvPr/>
        </p:nvSpPr>
        <p:spPr>
          <a:xfrm>
            <a:off x="7829550" y="2679573"/>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42" name="Picture 41" descr="lock.png"/>
          <p:cNvPicPr>
            <a:picLocks noChangeAspect="1"/>
          </p:cNvPicPr>
          <p:nvPr/>
        </p:nvPicPr>
        <p:blipFill>
          <a:blip r:embed="rId5"/>
          <a:stretch>
            <a:fillRect/>
          </a:stretch>
        </p:blipFill>
        <p:spPr>
          <a:xfrm>
            <a:off x="8095372" y="2669349"/>
            <a:ext cx="134549" cy="195707"/>
          </a:xfrm>
          <a:prstGeom prst="rect">
            <a:avLst/>
          </a:prstGeom>
        </p:spPr>
      </p:pic>
      <p:sp>
        <p:nvSpPr>
          <p:cNvPr id="43" name="TextBox 42"/>
          <p:cNvSpPr txBox="1"/>
          <p:nvPr/>
        </p:nvSpPr>
        <p:spPr>
          <a:xfrm>
            <a:off x="8270482"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4" name="Picture 43" descr="lock.png"/>
          <p:cNvPicPr>
            <a:picLocks noChangeAspect="1"/>
          </p:cNvPicPr>
          <p:nvPr/>
        </p:nvPicPr>
        <p:blipFill>
          <a:blip r:embed="rId5"/>
          <a:stretch>
            <a:fillRect/>
          </a:stretch>
        </p:blipFill>
        <p:spPr>
          <a:xfrm>
            <a:off x="10857986" y="2669349"/>
            <a:ext cx="134549" cy="195707"/>
          </a:xfrm>
          <a:prstGeom prst="rect">
            <a:avLst/>
          </a:prstGeom>
        </p:spPr>
      </p:pic>
      <p:sp>
        <p:nvSpPr>
          <p:cNvPr id="45" name="TextBox 44"/>
          <p:cNvSpPr txBox="1"/>
          <p:nvPr/>
        </p:nvSpPr>
        <p:spPr>
          <a:xfrm>
            <a:off x="11033096" y="2679573"/>
            <a:ext cx="579673" cy="194310"/>
          </a:xfrm>
          <a:prstGeom prst="rect">
            <a:avLst/>
          </a:prstGeom>
          <a:noFill/>
        </p:spPr>
        <p:txBody>
          <a:bodyPr wrap="none" lIns="0" rIns="0" tIns="0" bIns="0">
            <a:spAutoFit/>
          </a:bodyPr>
          <a:lstStyle/>
          <a:p>
            <a:r>
              <a:rPr sz="1150" b="0">
                <a:solidFill>
                  <a:srgbClr val="2E2E2E"/>
                </a:solidFill>
                <a:latin typeface="Calibri"/>
              </a:rPr>
              <a:t>share by</a:t>
            </a:r>
          </a:p>
        </p:txBody>
      </p:sp>
      <p:sp>
        <p:nvSpPr>
          <p:cNvPr id="46" name="TextBox 45"/>
          <p:cNvSpPr txBox="1"/>
          <p:nvPr/>
        </p:nvSpPr>
        <p:spPr>
          <a:xfrm>
            <a:off x="7829550" y="2854832"/>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4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Purchasing Organisation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Purchasing Organisation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Purchasing Organisation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Purchasing Organisation,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Purchasing Organisation segment categorizes the market by purchasing organisation.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Hospitals and Transplant Centres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 Procurement Organisations a…</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Specialised Medical Logistics Pro…</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Purchasing Organisations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Purchasing Organisation split shows how demand is distributed across purchasing organisation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4_408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6_448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3_9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3_100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5_360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5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1_801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3_679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7_4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1_590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2_198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3_3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76655" cy="179984"/>
          </a:xfrm>
          <a:prstGeom prst="rect">
            <a:avLst/>
          </a:prstGeom>
          <a:noFill/>
        </p:spPr>
        <p:txBody>
          <a:bodyPr wrap="none" lIns="0" rIns="0" tIns="0" bIns="0">
            <a:spAutoFit/>
          </a:bodyPr>
          <a:lstStyle/>
          <a:p>
            <a:r>
              <a:rPr sz="1055" b="0">
                <a:solidFill>
                  <a:srgbClr val="2E2E2E"/>
                </a:solidFill>
                <a:latin typeface="Calibri"/>
              </a:rPr>
              <a:t>Among organ transport devices by purchasing</a:t>
            </a:r>
          </a:p>
        </p:txBody>
      </p:sp>
      <p:sp>
        <p:nvSpPr>
          <p:cNvPr id="80" name="TextBox 79"/>
          <p:cNvSpPr txBox="1"/>
          <p:nvPr/>
        </p:nvSpPr>
        <p:spPr>
          <a:xfrm>
            <a:off x="485775" y="4390371"/>
            <a:ext cx="2880764" cy="179984"/>
          </a:xfrm>
          <a:prstGeom prst="rect">
            <a:avLst/>
          </a:prstGeom>
          <a:noFill/>
        </p:spPr>
        <p:txBody>
          <a:bodyPr wrap="none" lIns="0" rIns="0" tIns="0" bIns="0">
            <a:spAutoFit/>
          </a:bodyPr>
          <a:lstStyle/>
          <a:p>
            <a:r>
              <a:rPr sz="1055" b="0">
                <a:solidFill>
                  <a:srgbClr val="2E2E2E"/>
                </a:solidFill>
                <a:latin typeface="Calibri"/>
              </a:rPr>
              <a:t>organisation, specialised medical logistics providers</a:t>
            </a:r>
          </a:p>
        </p:txBody>
      </p:sp>
      <p:sp>
        <p:nvSpPr>
          <p:cNvPr id="81" name="TextBox 80"/>
          <p:cNvSpPr txBox="1"/>
          <p:nvPr/>
        </p:nvSpPr>
        <p:spPr>
          <a:xfrm>
            <a:off x="485775" y="4551305"/>
            <a:ext cx="2904846" cy="179984"/>
          </a:xfrm>
          <a:prstGeom prst="rect">
            <a:avLst/>
          </a:prstGeom>
          <a:noFill/>
        </p:spPr>
        <p:txBody>
          <a:bodyPr wrap="none" lIns="0" rIns="0" tIns="0" bIns="0">
            <a:spAutoFit/>
          </a:bodyPr>
          <a:lstStyle/>
          <a:p>
            <a:r>
              <a:rPr sz="1055" b="0">
                <a:solidFill>
                  <a:srgbClr val="2E2E2E"/>
                </a:solidFill>
                <a:latin typeface="Calibri"/>
              </a:rPr>
              <a:t>segment is expected to witness the highest CAGR of</a:t>
            </a:r>
          </a:p>
        </p:txBody>
      </p:sp>
      <p:pic>
        <p:nvPicPr>
          <p:cNvPr id="82" name="Picture 81" descr="lock.png"/>
          <p:cNvPicPr>
            <a:picLocks noChangeAspect="1"/>
          </p:cNvPicPr>
          <p:nvPr/>
        </p:nvPicPr>
        <p:blipFill>
          <a:blip r:embed="rId16"/>
          <a:stretch>
            <a:fillRect/>
          </a:stretch>
        </p:blipFill>
        <p:spPr>
          <a:xfrm>
            <a:off x="472846" y="4702852"/>
            <a:ext cx="123551" cy="179710"/>
          </a:xfrm>
          <a:prstGeom prst="rect">
            <a:avLst/>
          </a:prstGeom>
        </p:spPr>
      </p:pic>
      <p:sp>
        <p:nvSpPr>
          <p:cNvPr id="83" name="TextBox 82"/>
          <p:cNvSpPr txBox="1"/>
          <p:nvPr/>
        </p:nvSpPr>
        <p:spPr>
          <a:xfrm>
            <a:off x="633642" y="4712240"/>
            <a:ext cx="2707886" cy="179984"/>
          </a:xfrm>
          <a:prstGeom prst="rect">
            <a:avLst/>
          </a:prstGeom>
          <a:noFill/>
        </p:spPr>
        <p:txBody>
          <a:bodyPr wrap="none" lIns="0" rIns="0" tIns="0" bIns="0">
            <a:spAutoFit/>
          </a:bodyPr>
          <a:lstStyle/>
          <a:p>
            <a:r>
              <a:rPr sz="1055" b="0">
                <a:solidFill>
                  <a:srgbClr val="2E2E2E"/>
                </a:solidFill>
                <a:latin typeface="Calibri"/>
              </a:rPr>
              <a:t>over the forecast period. In terms of value share</a:t>
            </a:r>
          </a:p>
        </p:txBody>
      </p:sp>
      <p:sp>
        <p:nvSpPr>
          <p:cNvPr id="84" name="TextBox 83"/>
          <p:cNvSpPr txBox="1"/>
          <p:nvPr/>
        </p:nvSpPr>
        <p:spPr>
          <a:xfrm>
            <a:off x="485775" y="4873174"/>
            <a:ext cx="2543913" cy="179984"/>
          </a:xfrm>
          <a:prstGeom prst="rect">
            <a:avLst/>
          </a:prstGeom>
          <a:noFill/>
        </p:spPr>
        <p:txBody>
          <a:bodyPr wrap="none" lIns="0" rIns="0" tIns="0" bIns="0">
            <a:spAutoFit/>
          </a:bodyPr>
          <a:lstStyle/>
          <a:p>
            <a:r>
              <a:rPr sz="1055" b="0">
                <a:solidFill>
                  <a:srgbClr val="2E2E2E"/>
                </a:solidFill>
                <a:latin typeface="Calibri"/>
              </a:rPr>
              <a:t>by purchasing organisation, the hospitals and</a:t>
            </a:r>
          </a:p>
        </p:txBody>
      </p:sp>
      <p:sp>
        <p:nvSpPr>
          <p:cNvPr id="85" name="TextBox 84"/>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transplant centres segment is expected to dominate</a:t>
            </a:r>
          </a:p>
        </p:txBody>
      </p:sp>
      <p:sp>
        <p:nvSpPr>
          <p:cNvPr id="86" name="TextBox 85"/>
          <p:cNvSpPr txBox="1"/>
          <p:nvPr/>
        </p:nvSpPr>
        <p:spPr>
          <a:xfrm>
            <a:off x="485775" y="5195043"/>
            <a:ext cx="1062394" cy="179984"/>
          </a:xfrm>
          <a:prstGeom prst="rect">
            <a:avLst/>
          </a:prstGeom>
          <a:noFill/>
        </p:spPr>
        <p:txBody>
          <a:bodyPr wrap="none" lIns="0" rIns="0" tIns="0" bIns="0">
            <a:spAutoFit/>
          </a:bodyPr>
          <a:lstStyle/>
          <a:p>
            <a:r>
              <a:rPr sz="1055" b="0">
                <a:solidFill>
                  <a:srgbClr val="2E2E2E"/>
                </a:solidFill>
                <a:latin typeface="Calibri"/>
              </a:rPr>
              <a:t>the market, losing</a:t>
            </a:r>
          </a:p>
        </p:txBody>
      </p:sp>
      <p:pic>
        <p:nvPicPr>
          <p:cNvPr id="87" name="Picture 86" descr="lock.png"/>
          <p:cNvPicPr>
            <a:picLocks noChangeAspect="1"/>
          </p:cNvPicPr>
          <p:nvPr/>
        </p:nvPicPr>
        <p:blipFill>
          <a:blip r:embed="rId16"/>
          <a:stretch>
            <a:fillRect/>
          </a:stretch>
        </p:blipFill>
        <p:spPr>
          <a:xfrm>
            <a:off x="1495251" y="5185655"/>
            <a:ext cx="123551" cy="179710"/>
          </a:xfrm>
          <a:prstGeom prst="rect">
            <a:avLst/>
          </a:prstGeom>
        </p:spPr>
      </p:pic>
      <p:sp>
        <p:nvSpPr>
          <p:cNvPr id="88" name="TextBox 87"/>
          <p:cNvSpPr txBox="1"/>
          <p:nvPr/>
        </p:nvSpPr>
        <p:spPr>
          <a:xfrm>
            <a:off x="1656047"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89" name="Picture 88" descr="lock.png"/>
          <p:cNvPicPr>
            <a:picLocks noChangeAspect="1"/>
          </p:cNvPicPr>
          <p:nvPr/>
        </p:nvPicPr>
        <p:blipFill>
          <a:blip r:embed="rId16"/>
          <a:stretch>
            <a:fillRect/>
          </a:stretch>
        </p:blipFill>
        <p:spPr>
          <a:xfrm>
            <a:off x="2937152" y="5185655"/>
            <a:ext cx="123551" cy="179710"/>
          </a:xfrm>
          <a:prstGeom prst="rect">
            <a:avLst/>
          </a:prstGeom>
        </p:spPr>
      </p:pic>
      <p:sp>
        <p:nvSpPr>
          <p:cNvPr id="90" name="TextBox 89"/>
          <p:cNvSpPr txBox="1"/>
          <p:nvPr/>
        </p:nvSpPr>
        <p:spPr>
          <a:xfrm>
            <a:off x="485775"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1" name="TextBox 90"/>
          <p:cNvSpPr txBox="1"/>
          <p:nvPr/>
        </p:nvSpPr>
        <p:spPr>
          <a:xfrm>
            <a:off x="485775" y="5565192"/>
            <a:ext cx="2454068" cy="179984"/>
          </a:xfrm>
          <a:prstGeom prst="rect">
            <a:avLst/>
          </a:prstGeom>
          <a:noFill/>
        </p:spPr>
        <p:txBody>
          <a:bodyPr wrap="none" lIns="0" rIns="0" tIns="0" bIns="0">
            <a:spAutoFit/>
          </a:bodyPr>
          <a:lstStyle/>
          <a:p>
            <a:r>
              <a:rPr sz="1055" b="0">
                <a:solidFill>
                  <a:srgbClr val="2E2E2E"/>
                </a:solidFill>
                <a:latin typeface="Calibri"/>
              </a:rPr>
              <a:t>Hospitals and transplant centres segment is</a:t>
            </a:r>
          </a:p>
        </p:txBody>
      </p:sp>
      <p:sp>
        <p:nvSpPr>
          <p:cNvPr id="92" name="TextBox 91"/>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93" name="Picture 92" descr="lock.png"/>
          <p:cNvPicPr>
            <a:picLocks noChangeAspect="1"/>
          </p:cNvPicPr>
          <p:nvPr/>
        </p:nvPicPr>
        <p:blipFill>
          <a:blip r:embed="rId16"/>
          <a:stretch>
            <a:fillRect/>
          </a:stretch>
        </p:blipFill>
        <p:spPr>
          <a:xfrm>
            <a:off x="1630672" y="5716739"/>
            <a:ext cx="123551" cy="179710"/>
          </a:xfrm>
          <a:prstGeom prst="rect">
            <a:avLst/>
          </a:prstGeom>
        </p:spPr>
      </p:pic>
      <p:sp>
        <p:nvSpPr>
          <p:cNvPr id="94" name="TextBox 93"/>
          <p:cNvSpPr txBox="1"/>
          <p:nvPr/>
        </p:nvSpPr>
        <p:spPr>
          <a:xfrm>
            <a:off x="1791468" y="5726126"/>
            <a:ext cx="1474422" cy="179984"/>
          </a:xfrm>
          <a:prstGeom prst="rect">
            <a:avLst/>
          </a:prstGeom>
          <a:noFill/>
        </p:spPr>
        <p:txBody>
          <a:bodyPr wrap="none" lIns="0" rIns="0" tIns="0" bIns="0">
            <a:spAutoFit/>
          </a:bodyPr>
          <a:lstStyle/>
          <a:p>
            <a:r>
              <a:rPr sz="1055" b="0">
                <a:solidFill>
                  <a:srgbClr val="2E2E2E"/>
                </a:solidFill>
                <a:latin typeface="Calibri"/>
              </a:rPr>
              <a:t>X higher value than organ</a:t>
            </a:r>
          </a:p>
        </p:txBody>
      </p:sp>
      <p:sp>
        <p:nvSpPr>
          <p:cNvPr id="95" name="TextBox 94"/>
          <p:cNvSpPr txBox="1"/>
          <p:nvPr/>
        </p:nvSpPr>
        <p:spPr>
          <a:xfrm>
            <a:off x="485775" y="5887061"/>
            <a:ext cx="2627995" cy="179984"/>
          </a:xfrm>
          <a:prstGeom prst="rect">
            <a:avLst/>
          </a:prstGeom>
          <a:noFill/>
        </p:spPr>
        <p:txBody>
          <a:bodyPr wrap="none" lIns="0" rIns="0" tIns="0" bIns="0">
            <a:spAutoFit/>
          </a:bodyPr>
          <a:lstStyle/>
          <a:p>
            <a:r>
              <a:rPr sz="1055" b="0">
                <a:solidFill>
                  <a:srgbClr val="2E2E2E"/>
                </a:solidFill>
                <a:latin typeface="Calibri"/>
              </a:rPr>
              <a:t>procurement organisations and organ retrieval</a:t>
            </a:r>
          </a:p>
        </p:txBody>
      </p:sp>
      <p:sp>
        <p:nvSpPr>
          <p:cNvPr id="96" name="TextBox 95"/>
          <p:cNvSpPr txBox="1"/>
          <p:nvPr/>
        </p:nvSpPr>
        <p:spPr>
          <a:xfrm>
            <a:off x="485775" y="6047995"/>
            <a:ext cx="1518165" cy="179984"/>
          </a:xfrm>
          <a:prstGeom prst="rect">
            <a:avLst/>
          </a:prstGeom>
          <a:noFill/>
        </p:spPr>
        <p:txBody>
          <a:bodyPr wrap="none" lIns="0" rIns="0" tIns="0" bIns="0">
            <a:spAutoFit/>
          </a:bodyPr>
          <a:lstStyle/>
          <a:p>
            <a:r>
              <a:rPr sz="1055" b="0">
                <a:solidFill>
                  <a:srgbClr val="2E2E2E"/>
                </a:solidFill>
                <a:latin typeface="Calibri"/>
              </a:rPr>
              <a:t>agencies segment in 2036.</a:t>
            </a:r>
          </a:p>
        </p:txBody>
      </p:sp>
      <p:sp>
        <p:nvSpPr>
          <p:cNvPr id="97" name="TextBox 96"/>
          <p:cNvSpPr txBox="1"/>
          <p:nvPr/>
        </p:nvSpPr>
        <p:spPr>
          <a:xfrm>
            <a:off x="3838575" y="4229437"/>
            <a:ext cx="2101577" cy="186689"/>
          </a:xfrm>
          <a:prstGeom prst="rect">
            <a:avLst/>
          </a:prstGeom>
          <a:noFill/>
        </p:spPr>
        <p:txBody>
          <a:bodyPr wrap="none" lIns="0" rIns="0" tIns="0" bIns="0">
            <a:spAutoFit/>
          </a:bodyPr>
          <a:lstStyle/>
          <a:p>
            <a:r>
              <a:rPr sz="1100" b="0">
                <a:solidFill>
                  <a:srgbClr val="2E2E2E"/>
                </a:solidFill>
                <a:latin typeface="Calibri"/>
              </a:rPr>
              <a:t>● Hospitals and Transplant Centres:</a:t>
            </a:r>
          </a:p>
        </p:txBody>
      </p:sp>
      <p:pic>
        <p:nvPicPr>
          <p:cNvPr id="98" name="Picture 97" descr="lock.png"/>
          <p:cNvPicPr>
            <a:picLocks noChangeAspect="1"/>
          </p:cNvPicPr>
          <p:nvPr/>
        </p:nvPicPr>
        <p:blipFill>
          <a:blip r:embed="rId16"/>
          <a:stretch>
            <a:fillRect/>
          </a:stretch>
        </p:blipFill>
        <p:spPr>
          <a:xfrm>
            <a:off x="5888203" y="4219658"/>
            <a:ext cx="128699" cy="187198"/>
          </a:xfrm>
          <a:prstGeom prst="rect">
            <a:avLst/>
          </a:prstGeom>
        </p:spPr>
      </p:pic>
      <p:sp>
        <p:nvSpPr>
          <p:cNvPr id="99" name="TextBox 98"/>
          <p:cNvSpPr txBox="1"/>
          <p:nvPr/>
        </p:nvSpPr>
        <p:spPr>
          <a:xfrm>
            <a:off x="60556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915149" y="4219658"/>
            <a:ext cx="128699" cy="187198"/>
          </a:xfrm>
          <a:prstGeom prst="rect">
            <a:avLst/>
          </a:prstGeom>
        </p:spPr>
      </p:pic>
      <p:sp>
        <p:nvSpPr>
          <p:cNvPr id="101" name="TextBox 100"/>
          <p:cNvSpPr txBox="1"/>
          <p:nvPr/>
        </p:nvSpPr>
        <p:spPr>
          <a:xfrm>
            <a:off x="7082645"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2" name="TextBox 10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3" name="TextBox 102"/>
          <p:cNvSpPr txBox="1"/>
          <p:nvPr/>
        </p:nvSpPr>
        <p:spPr>
          <a:xfrm>
            <a:off x="3838575" y="4615009"/>
            <a:ext cx="3947690" cy="186689"/>
          </a:xfrm>
          <a:prstGeom prst="rect">
            <a:avLst/>
          </a:prstGeom>
          <a:noFill/>
        </p:spPr>
        <p:txBody>
          <a:bodyPr wrap="none" lIns="0" rIns="0" tIns="0" bIns="0">
            <a:spAutoFit/>
          </a:bodyPr>
          <a:lstStyle/>
          <a:p>
            <a:r>
              <a:rPr sz="1100" b="1">
                <a:solidFill>
                  <a:srgbClr val="0E72AE"/>
                </a:solidFill>
                <a:latin typeface="Calibri"/>
              </a:rPr>
              <a:t>● Organ Procurement Organisations and Organ Retrieval Agencies:</a:t>
            </a:r>
          </a:p>
        </p:txBody>
      </p:sp>
      <p:pic>
        <p:nvPicPr>
          <p:cNvPr id="104" name="Picture 103" descr="lock.png"/>
          <p:cNvPicPr>
            <a:picLocks noChangeAspect="1"/>
          </p:cNvPicPr>
          <p:nvPr/>
        </p:nvPicPr>
        <p:blipFill>
          <a:blip r:embed="rId16"/>
          <a:stretch>
            <a:fillRect/>
          </a:stretch>
        </p:blipFill>
        <p:spPr>
          <a:xfrm>
            <a:off x="7734317" y="4605230"/>
            <a:ext cx="128699" cy="187198"/>
          </a:xfrm>
          <a:prstGeom prst="rect">
            <a:avLst/>
          </a:prstGeom>
        </p:spPr>
      </p:pic>
      <p:sp>
        <p:nvSpPr>
          <p:cNvPr id="105" name="TextBox 104"/>
          <p:cNvSpPr txBox="1"/>
          <p:nvPr/>
        </p:nvSpPr>
        <p:spPr>
          <a:xfrm>
            <a:off x="3838575" y="4782649"/>
            <a:ext cx="926405" cy="186689"/>
          </a:xfrm>
          <a:prstGeom prst="rect">
            <a:avLst/>
          </a:prstGeom>
          <a:noFill/>
        </p:spPr>
        <p:txBody>
          <a:bodyPr wrap="none" lIns="0" rIns="0" tIns="0" bIns="0">
            <a:spAutoFit/>
          </a:bodyPr>
          <a:lstStyle/>
          <a:p>
            <a:r>
              <a:rPr sz="1100" b="1">
                <a:solidFill>
                  <a:srgbClr val="0E72AE"/>
                </a:solidFill>
                <a:latin typeface="Calibri"/>
              </a:rPr>
              <a:t>of 2026 value ·</a:t>
            </a:r>
          </a:p>
        </p:txBody>
      </p:sp>
      <p:pic>
        <p:nvPicPr>
          <p:cNvPr id="106" name="Picture 105" descr="lock.png"/>
          <p:cNvPicPr>
            <a:picLocks noChangeAspect="1"/>
          </p:cNvPicPr>
          <p:nvPr/>
        </p:nvPicPr>
        <p:blipFill>
          <a:blip r:embed="rId16"/>
          <a:stretch>
            <a:fillRect/>
          </a:stretch>
        </p:blipFill>
        <p:spPr>
          <a:xfrm>
            <a:off x="4713032" y="4772870"/>
            <a:ext cx="128699" cy="187198"/>
          </a:xfrm>
          <a:prstGeom prst="rect">
            <a:avLst/>
          </a:prstGeom>
        </p:spPr>
      </p:pic>
      <p:sp>
        <p:nvSpPr>
          <p:cNvPr id="107" name="TextBox 106"/>
          <p:cNvSpPr txBox="1"/>
          <p:nvPr/>
        </p:nvSpPr>
        <p:spPr>
          <a:xfrm>
            <a:off x="4880527" y="4782649"/>
            <a:ext cx="1284633" cy="186689"/>
          </a:xfrm>
          <a:prstGeom prst="rect">
            <a:avLst/>
          </a:prstGeom>
          <a:noFill/>
        </p:spPr>
        <p:txBody>
          <a:bodyPr wrap="none" lIns="0" rIns="0" tIns="0" bIns="0">
            <a:spAutoFit/>
          </a:bodyPr>
          <a:lstStyle/>
          <a:p>
            <a:r>
              <a:rPr sz="1100" b="1">
                <a:solidFill>
                  <a:srgbClr val="0E72AE"/>
                </a:solidFill>
                <a:latin typeface="Calibri"/>
              </a:rPr>
              <a:t>CAGR serves a niche.</a:t>
            </a:r>
          </a:p>
        </p:txBody>
      </p:sp>
      <p:sp>
        <p:nvSpPr>
          <p:cNvPr id="108" name="TextBox 107"/>
          <p:cNvSpPr txBox="1"/>
          <p:nvPr/>
        </p:nvSpPr>
        <p:spPr>
          <a:xfrm>
            <a:off x="3838575" y="5000581"/>
            <a:ext cx="2418903" cy="186689"/>
          </a:xfrm>
          <a:prstGeom prst="rect">
            <a:avLst/>
          </a:prstGeom>
          <a:noFill/>
        </p:spPr>
        <p:txBody>
          <a:bodyPr wrap="none" lIns="0" rIns="0" tIns="0" bIns="0">
            <a:spAutoFit/>
          </a:bodyPr>
          <a:lstStyle/>
          <a:p>
            <a:r>
              <a:rPr sz="1100" b="0">
                <a:solidFill>
                  <a:srgbClr val="2E2E2E"/>
                </a:solidFill>
                <a:latin typeface="Calibri"/>
              </a:rPr>
              <a:t>● Specialised Medical Logistics Providers:</a:t>
            </a:r>
          </a:p>
        </p:txBody>
      </p:sp>
      <p:pic>
        <p:nvPicPr>
          <p:cNvPr id="109" name="Picture 108" descr="lock.png"/>
          <p:cNvPicPr>
            <a:picLocks noChangeAspect="1"/>
          </p:cNvPicPr>
          <p:nvPr/>
        </p:nvPicPr>
        <p:blipFill>
          <a:blip r:embed="rId16"/>
          <a:stretch>
            <a:fillRect/>
          </a:stretch>
        </p:blipFill>
        <p:spPr>
          <a:xfrm>
            <a:off x="6205530" y="4990801"/>
            <a:ext cx="128699" cy="187198"/>
          </a:xfrm>
          <a:prstGeom prst="rect">
            <a:avLst/>
          </a:prstGeom>
        </p:spPr>
      </p:pic>
      <p:sp>
        <p:nvSpPr>
          <p:cNvPr id="110" name="TextBox 109"/>
          <p:cNvSpPr txBox="1"/>
          <p:nvPr/>
        </p:nvSpPr>
        <p:spPr>
          <a:xfrm>
            <a:off x="6373025"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6"/>
          <a:stretch>
            <a:fillRect/>
          </a:stretch>
        </p:blipFill>
        <p:spPr>
          <a:xfrm>
            <a:off x="7232476" y="4990801"/>
            <a:ext cx="128699" cy="187198"/>
          </a:xfrm>
          <a:prstGeom prst="rect">
            <a:avLst/>
          </a:prstGeom>
        </p:spPr>
      </p:pic>
      <p:sp>
        <p:nvSpPr>
          <p:cNvPr id="112" name="TextBox 111"/>
          <p:cNvSpPr txBox="1"/>
          <p:nvPr/>
        </p:nvSpPr>
        <p:spPr>
          <a:xfrm>
            <a:off x="7399971"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3" name="TextBox 112"/>
          <p:cNvSpPr txBox="1"/>
          <p:nvPr/>
        </p:nvSpPr>
        <p:spPr>
          <a:xfrm>
            <a:off x="3838575" y="5168221"/>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14" name="TextBox 113"/>
          <p:cNvSpPr txBox="1"/>
          <p:nvPr/>
        </p:nvSpPr>
        <p:spPr>
          <a:xfrm>
            <a:off x="3838575" y="5386153"/>
            <a:ext cx="2025724" cy="186689"/>
          </a:xfrm>
          <a:prstGeom prst="rect">
            <a:avLst/>
          </a:prstGeom>
          <a:noFill/>
        </p:spPr>
        <p:txBody>
          <a:bodyPr wrap="none" lIns="0" rIns="0" tIns="0" bIns="0">
            <a:spAutoFit/>
          </a:bodyPr>
          <a:lstStyle/>
          <a:p>
            <a:r>
              <a:rPr sz="1100" b="0">
                <a:solidFill>
                  <a:srgbClr val="2E2E2E"/>
                </a:solidFill>
                <a:latin typeface="Calibri"/>
              </a:rPr>
              <a:t>● Other Purchasing Organisations:</a:t>
            </a:r>
          </a:p>
        </p:txBody>
      </p:sp>
      <p:pic>
        <p:nvPicPr>
          <p:cNvPr id="115" name="Picture 114" descr="lock.png"/>
          <p:cNvPicPr>
            <a:picLocks noChangeAspect="1"/>
          </p:cNvPicPr>
          <p:nvPr/>
        </p:nvPicPr>
        <p:blipFill>
          <a:blip r:embed="rId16"/>
          <a:stretch>
            <a:fillRect/>
          </a:stretch>
        </p:blipFill>
        <p:spPr>
          <a:xfrm>
            <a:off x="5812351" y="5376373"/>
            <a:ext cx="128699" cy="187198"/>
          </a:xfrm>
          <a:prstGeom prst="rect">
            <a:avLst/>
          </a:prstGeom>
        </p:spPr>
      </p:pic>
      <p:sp>
        <p:nvSpPr>
          <p:cNvPr id="116" name="TextBox 115"/>
          <p:cNvSpPr txBox="1"/>
          <p:nvPr/>
        </p:nvSpPr>
        <p:spPr>
          <a:xfrm>
            <a:off x="5979846"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7" name="Picture 116" descr="lock.png"/>
          <p:cNvPicPr>
            <a:picLocks noChangeAspect="1"/>
          </p:cNvPicPr>
          <p:nvPr/>
        </p:nvPicPr>
        <p:blipFill>
          <a:blip r:embed="rId16"/>
          <a:stretch>
            <a:fillRect/>
          </a:stretch>
        </p:blipFill>
        <p:spPr>
          <a:xfrm>
            <a:off x="6839297" y="5376373"/>
            <a:ext cx="128699" cy="187198"/>
          </a:xfrm>
          <a:prstGeom prst="rect">
            <a:avLst/>
          </a:prstGeom>
        </p:spPr>
      </p:pic>
      <p:sp>
        <p:nvSpPr>
          <p:cNvPr id="118" name="TextBox 117"/>
          <p:cNvSpPr txBox="1"/>
          <p:nvPr/>
        </p:nvSpPr>
        <p:spPr>
          <a:xfrm>
            <a:off x="7006792" y="5386153"/>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19" name="TextBox 118"/>
          <p:cNvSpPr txBox="1"/>
          <p:nvPr/>
        </p:nvSpPr>
        <p:spPr>
          <a:xfrm>
            <a:off x="3838575" y="555379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20" name="TextBox 119"/>
          <p:cNvSpPr txBox="1"/>
          <p:nvPr/>
        </p:nvSpPr>
        <p:spPr>
          <a:xfrm>
            <a:off x="8524875" y="5842641"/>
            <a:ext cx="3109019" cy="194310"/>
          </a:xfrm>
          <a:prstGeom prst="rect">
            <a:avLst/>
          </a:prstGeom>
          <a:noFill/>
        </p:spPr>
        <p:txBody>
          <a:bodyPr wrap="none" lIns="0" rIns="0" tIns="0" bIns="0">
            <a:spAutoFit/>
          </a:bodyPr>
          <a:lstStyle/>
          <a:p>
            <a:r>
              <a:rPr sz="1150" b="1">
                <a:solidFill>
                  <a:srgbClr val="0B2E4A"/>
                </a:solidFill>
                <a:latin typeface="Calibri"/>
              </a:rPr>
              <a:t>The Purchasing Organisation segment is projected</a:t>
            </a:r>
          </a:p>
        </p:txBody>
      </p:sp>
      <p:sp>
        <p:nvSpPr>
          <p:cNvPr id="121" name="TextBox 120"/>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22" name="Picture 121" descr="lock.png"/>
          <p:cNvPicPr>
            <a:picLocks noChangeAspect="1"/>
          </p:cNvPicPr>
          <p:nvPr/>
        </p:nvPicPr>
        <p:blipFill>
          <a:blip r:embed="rId16"/>
          <a:stretch>
            <a:fillRect/>
          </a:stretch>
        </p:blipFill>
        <p:spPr>
          <a:xfrm>
            <a:off x="9814162" y="6007677"/>
            <a:ext cx="134549" cy="195707"/>
          </a:xfrm>
          <a:prstGeom prst="rect">
            <a:avLst/>
          </a:prstGeom>
        </p:spPr>
      </p:pic>
      <p:sp>
        <p:nvSpPr>
          <p:cNvPr id="123" name="TextBox 122"/>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Purchasing Organisation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Purchasing Organisation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Purchasing Organisation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Purchasing Organisation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694045"/>
            <a:ext cx="11677650" cy="186689"/>
          </a:xfrm>
          <a:prstGeom prst="rect">
            <a:avLst/>
          </a:prstGeom>
          <a:noFill/>
        </p:spPr>
        <p:txBody>
          <a:bodyPr wrap="none" lIns="0" rIns="0" tIns="0" bIns="0">
            <a:spAutoFit/>
          </a:bodyPr>
          <a:lstStyle/>
          <a:p>
            <a:r>
              <a:rPr sz="1100" b="0">
                <a:solidFill>
                  <a:srgbClr val="2E2E2E"/>
                </a:solidFill>
                <a:latin typeface="Calibri"/>
              </a:rPr>
              <a:t>Hospitals and transplant centres followed by organ procurement organisations and organ retrieval agencies are expected to be the two most attractive purchasing organisation segments in the global organ</a:t>
            </a:r>
          </a:p>
        </p:txBody>
      </p:sp>
      <p:sp>
        <p:nvSpPr>
          <p:cNvPr id="20" name="TextBox 19"/>
          <p:cNvSpPr txBox="1"/>
          <p:nvPr/>
        </p:nvSpPr>
        <p:spPr>
          <a:xfrm>
            <a:off x="257175" y="5861685"/>
            <a:ext cx="10970054" cy="186689"/>
          </a:xfrm>
          <a:prstGeom prst="rect">
            <a:avLst/>
          </a:prstGeom>
          <a:noFill/>
        </p:spPr>
        <p:txBody>
          <a:bodyPr wrap="none" lIns="0" rIns="0" tIns="0" bIns="0">
            <a:spAutoFit/>
          </a:bodyPr>
          <a:lstStyle/>
          <a:p>
            <a:r>
              <a:rPr sz="1100" b="0">
                <a:solidFill>
                  <a:srgbClr val="2E2E2E"/>
                </a:solidFill>
                <a:latin typeface="Calibri"/>
              </a:rPr>
              <a:t>transport devices market in terms of value over the forecast period. Hospitals and transplant centres and organ procurement organisations and organ retrieval agencies exhibit a CAGR index of</a:t>
            </a:r>
          </a:p>
        </p:txBody>
      </p:sp>
      <p:pic>
        <p:nvPicPr>
          <p:cNvPr id="21" name="Picture 20" descr="lock.png"/>
          <p:cNvPicPr>
            <a:picLocks noChangeAspect="1"/>
          </p:cNvPicPr>
          <p:nvPr/>
        </p:nvPicPr>
        <p:blipFill>
          <a:blip r:embed="rId6"/>
          <a:stretch>
            <a:fillRect/>
          </a:stretch>
        </p:blipFill>
        <p:spPr>
          <a:xfrm>
            <a:off x="11175281" y="5851905"/>
            <a:ext cx="128699" cy="187198"/>
          </a:xfrm>
          <a:prstGeom prst="rect">
            <a:avLst/>
          </a:prstGeom>
        </p:spPr>
      </p:pic>
      <p:sp>
        <p:nvSpPr>
          <p:cNvPr id="22" name="TextBox 21"/>
          <p:cNvSpPr txBox="1"/>
          <p:nvPr/>
        </p:nvSpPr>
        <p:spPr>
          <a:xfrm>
            <a:off x="11342776" y="586168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243707" y="6019545"/>
            <a:ext cx="128699" cy="187198"/>
          </a:xfrm>
          <a:prstGeom prst="rect">
            <a:avLst/>
          </a:prstGeom>
        </p:spPr>
      </p:pic>
      <p:sp>
        <p:nvSpPr>
          <p:cNvPr id="24" name="TextBox 23"/>
          <p:cNvSpPr txBox="1"/>
          <p:nvPr/>
        </p:nvSpPr>
        <p:spPr>
          <a:xfrm>
            <a:off x="411203" y="602932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2020176" y="6019545"/>
            <a:ext cx="128699" cy="187198"/>
          </a:xfrm>
          <a:prstGeom prst="rect">
            <a:avLst/>
          </a:prstGeom>
        </p:spPr>
      </p:pic>
      <p:sp>
        <p:nvSpPr>
          <p:cNvPr id="26" name="TextBox 25"/>
          <p:cNvSpPr txBox="1"/>
          <p:nvPr/>
        </p:nvSpPr>
        <p:spPr>
          <a:xfrm>
            <a:off x="2187672" y="602932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2425567" y="6019545"/>
            <a:ext cx="128699" cy="187198"/>
          </a:xfrm>
          <a:prstGeom prst="rect">
            <a:avLst/>
          </a:prstGeom>
        </p:spPr>
      </p:pic>
      <p:sp>
        <p:nvSpPr>
          <p:cNvPr id="28" name="TextBox 27"/>
          <p:cNvSpPr txBox="1"/>
          <p:nvPr/>
        </p:nvSpPr>
        <p:spPr>
          <a:xfrm>
            <a:off x="2593062" y="602932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5147467" y="6019545"/>
            <a:ext cx="128699" cy="187198"/>
          </a:xfrm>
          <a:prstGeom prst="rect">
            <a:avLst/>
          </a:prstGeom>
        </p:spPr>
      </p:pic>
      <p:sp>
        <p:nvSpPr>
          <p:cNvPr id="30" name="TextBox 29"/>
          <p:cNvSpPr txBox="1"/>
          <p:nvPr/>
        </p:nvSpPr>
        <p:spPr>
          <a:xfrm>
            <a:off x="5314962" y="6029325"/>
            <a:ext cx="5746874" cy="186689"/>
          </a:xfrm>
          <a:prstGeom prst="rect">
            <a:avLst/>
          </a:prstGeom>
          <a:noFill/>
        </p:spPr>
        <p:txBody>
          <a:bodyPr wrap="none" lIns="0" rIns="0" tIns="0" bIns="0">
            <a:spAutoFit/>
          </a:bodyPr>
          <a:lstStyle/>
          <a:p>
            <a:r>
              <a:rPr sz="1100" b="0">
                <a:solidFill>
                  <a:srgbClr val="2E2E2E"/>
                </a:solidFill>
                <a:latin typeface="Calibri"/>
              </a:rPr>
              <a:t>. The other purchasing organisations segment is expected to be less attractive as compared to other</a:t>
            </a:r>
          </a:p>
        </p:txBody>
      </p:sp>
      <p:sp>
        <p:nvSpPr>
          <p:cNvPr id="31" name="TextBox 30"/>
          <p:cNvSpPr txBox="1"/>
          <p:nvPr/>
        </p:nvSpPr>
        <p:spPr>
          <a:xfrm>
            <a:off x="257175" y="6196965"/>
            <a:ext cx="9501823" cy="186689"/>
          </a:xfrm>
          <a:prstGeom prst="rect">
            <a:avLst/>
          </a:prstGeom>
          <a:noFill/>
        </p:spPr>
        <p:txBody>
          <a:bodyPr wrap="none" lIns="0" rIns="0" tIns="0" bIns="0">
            <a:spAutoFit/>
          </a:bodyPr>
          <a:lstStyle/>
          <a:p>
            <a:r>
              <a:rPr sz="1100" b="0">
                <a:solidFill>
                  <a:srgbClr val="2E2E2E"/>
                </a:solidFill>
                <a:latin typeface="Calibri"/>
              </a:rPr>
              <a:t>segments over the forecast period, owing to its lower CAGR and incremental opportunity.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Purchasing Organisation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Hospitals and Transplant Centres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Organ Procurement Organisations and Organ Retrieval Agencies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Specialised Medical Logistics Providers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Other Purchasing Organisations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Purchasing Organisation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Purchasing Organisation, 2021–2036, highlighting the sub-segments driving growth</a:t>
            </a:r>
          </a:p>
        </p:txBody>
      </p:sp>
      <p:sp>
        <p:nvSpPr>
          <p:cNvPr id="10" name="Rounded Rectangle 9"/>
          <p:cNvSpPr/>
          <p:nvPr/>
        </p:nvSpPr>
        <p:spPr>
          <a:xfrm>
            <a:off x="142875" y="9810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Purchasing Organisation (US$ Mn)</a:t>
            </a:r>
          </a:p>
        </p:txBody>
      </p:sp>
      <p:graphicFrame>
        <p:nvGraphicFramePr>
          <p:cNvPr id="12" name="Table 11"/>
          <p:cNvGraphicFramePr>
            <a:graphicFrameLocks noGrp="1"/>
          </p:cNvGraphicFramePr>
          <p:nvPr/>
        </p:nvGraphicFramePr>
        <p:xfrm>
          <a:off x="152400" y="1238250"/>
          <a:ext cx="11887193" cy="1676402"/>
        </p:xfrm>
        <a:graphic>
          <a:graphicData uri="http://schemas.openxmlformats.org/drawingml/2006/table">
            <a:tbl>
              <a:tblPr>
                <a:tableStyleId>{5C22544A-7EE6-4342-B048-85BDC9FD1C3A}</a:tableStyleId>
              </a:tblPr>
              <a:tblGrid>
                <a:gridCol w="3917394"/>
                <a:gridCol w="449294"/>
                <a:gridCol w="449294"/>
                <a:gridCol w="449294"/>
                <a:gridCol w="471368"/>
                <a:gridCol w="471368"/>
                <a:gridCol w="471368"/>
                <a:gridCol w="471368"/>
                <a:gridCol w="471368"/>
                <a:gridCol w="471368"/>
                <a:gridCol w="471368"/>
                <a:gridCol w="471368"/>
                <a:gridCol w="471368"/>
                <a:gridCol w="471368"/>
                <a:gridCol w="471368"/>
                <a:gridCol w="471368"/>
                <a:gridCol w="471368"/>
                <a:gridCol w="494133"/>
              </a:tblGrid>
              <a:tr h="438912">
                <a:tc>
                  <a:txBody>
                    <a:bodyPr wrap="none"/>
                    <a:lstStyle/>
                    <a:p>
                      <a:pPr algn="l"/>
                      <a:r>
                        <a:rPr sz="1100" b="1">
                          <a:solidFill>
                            <a:srgbClr val="0B2E4A"/>
                          </a:solidFill>
                          <a:latin typeface="Calibri"/>
                        </a:rPr>
                        <a:t>Purchasing Organisation</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2021A</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2022A</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2023A</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2024A</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2025A</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2026E</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2027F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2028F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2029F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2030F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2031F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2032F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2033F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2034F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2035F</a:t>
                      </a:r>
                      <a:endParaRPr sz="1100"/>
                    </a:p>
                  </a:txBody>
                  <a:tcPr marL="28575" marR="19050" marT="19050" marB="19050" anchor="ctr">
                    <a:solidFill>
                      <a:srgbClr val="E0E8EF"/>
                    </a:solidFill>
                  </a:tcPr>
                </a:tc>
                <a:tc>
                  <a:txBody>
                    <a:bodyPr wrap="none"/>
                    <a:lstStyle/>
                    <a:p>
                      <a:pPr algn="ctr"/>
                      <a:r>
                        <a:rPr sz="1100" b="1">
                          <a:solidFill>
                            <a:srgbClr val="0B2E4A"/>
                          </a:solidFill>
                          <a:latin typeface="Calibri"/>
                        </a:rPr>
                        <a:t>2036F</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F-CAGR</a:t>
                      </a:r>
                      <a:endParaRPr sz="1100"/>
                    </a:p>
                  </a:txBody>
                  <a:tcPr marL="28575" marR="19050" marT="19050" marB="19050" anchor="ctr">
                    <a:solidFill>
                      <a:srgbClr val="E0E8EF"/>
                    </a:solidFill>
                  </a:tcPr>
                </a:tc>
              </a:tr>
              <a:tr h="247498">
                <a:tc>
                  <a:txBody>
                    <a:bodyPr wrap="none"/>
                    <a:lstStyle/>
                    <a:p>
                      <a:pPr algn="l"/>
                      <a:r>
                        <a:rPr sz="1100" b="1">
                          <a:solidFill>
                            <a:srgbClr val="2E2E2E"/>
                          </a:solidFill>
                          <a:latin typeface="Calibri"/>
                        </a:rPr>
                        <a:t>Hospitals and Transplant Centres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Organ Procurement Organisations and Organ Retrieval Agencies</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r>
              <a:tr h="247498">
                <a:tc>
                  <a:txBody>
                    <a:bodyPr wrap="none"/>
                    <a:lstStyle/>
                    <a:p>
                      <a:pPr algn="l"/>
                      <a:r>
                        <a:rPr sz="1100" b="1">
                          <a:solidFill>
                            <a:srgbClr val="2E2E2E"/>
                          </a:solidFill>
                          <a:latin typeface="Calibri"/>
                        </a:rPr>
                        <a:t>Specialised Medical Logistics Providers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247498">
                <a:tc>
                  <a:txBody>
                    <a:bodyPr wrap="none"/>
                    <a:lstStyle/>
                    <a:p>
                      <a:pPr algn="l"/>
                      <a:r>
                        <a:rPr sz="1100" b="1">
                          <a:solidFill>
                            <a:srgbClr val="2E2E2E"/>
                          </a:solidFill>
                          <a:latin typeface="Calibri"/>
                        </a:rPr>
                        <a:t>Other Purchasing Organisations</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r>
              <a:tr h="247498">
                <a:tc>
                  <a:txBody>
                    <a:bodyPr wrap="none"/>
                    <a:lstStyle/>
                    <a:p>
                      <a:pPr algn="l"/>
                      <a:r>
                        <a:rPr sz="1100" b="1">
                          <a:solidFill>
                            <a:srgbClr val="2E2E2E"/>
                          </a:solidFill>
                          <a:latin typeface="Calibri"/>
                        </a:rPr>
                        <a:t>Total</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c>
                  <a:txBody>
                    <a:bodyPr wrap="none"/>
                    <a:lstStyle/>
                    <a:p>
                      <a:pPr algn="ctr"/>
                      <a:r>
                        <a:rPr sz="1100"/>
                        <a:t> </a:t>
                      </a:r>
                      <a:endParaRPr sz="1100"/>
                    </a:p>
                  </a:txBody>
                  <a:tcPr marL="28575" marR="19050" marT="19050" marB="19050" anchor="ctr">
                    <a:solidFill>
                      <a:srgbClr val="E0E8EF"/>
                    </a:solidFill>
                  </a:tcPr>
                </a:tc>
              </a:tr>
            </a:tbl>
          </a:graphicData>
        </a:graphic>
      </p:graphicFrame>
      <p:sp>
        <p:nvSpPr>
          <p:cNvPr id="13" name="TextBox 12"/>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257550"/>
            <a:ext cx="1190625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432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Purchasing Organisation</a:t>
            </a:r>
          </a:p>
        </p:txBody>
      </p:sp>
      <p:sp>
        <p:nvSpPr>
          <p:cNvPr id="16" name="Rectangle 15"/>
          <p:cNvSpPr/>
          <p:nvPr/>
        </p:nvSpPr>
        <p:spPr>
          <a:xfrm>
            <a:off x="276225" y="3581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667125"/>
            <a:ext cx="1163955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868003" y="2029206"/>
            <a:ext cx="366712" cy="533400"/>
          </a:xfrm>
          <a:prstGeom prst="rect">
            <a:avLst/>
          </a:prstGeom>
        </p:spPr>
      </p:pic>
      <p:sp>
        <p:nvSpPr>
          <p:cNvPr id="20" name="TextBox 19"/>
          <p:cNvSpPr txBox="1"/>
          <p:nvPr/>
        </p:nvSpPr>
        <p:spPr>
          <a:xfrm>
            <a:off x="276225" y="3676650"/>
            <a:ext cx="3920281" cy="194310"/>
          </a:xfrm>
          <a:prstGeom prst="rect">
            <a:avLst/>
          </a:prstGeom>
          <a:noFill/>
        </p:spPr>
        <p:txBody>
          <a:bodyPr wrap="none" lIns="0" rIns="0" tIns="0" bIns="0">
            <a:spAutoFit/>
          </a:bodyPr>
          <a:lstStyle/>
          <a:p>
            <a:r>
              <a:rPr sz="1150" b="0">
                <a:solidFill>
                  <a:srgbClr val="2E2E2E"/>
                </a:solidFill>
                <a:latin typeface="Calibri"/>
              </a:rPr>
              <a:t>Hospitals and transplant centres segment is projected to register</a:t>
            </a:r>
          </a:p>
        </p:txBody>
      </p:sp>
      <p:pic>
        <p:nvPicPr>
          <p:cNvPr id="21" name="Picture 20" descr="lock.png"/>
          <p:cNvPicPr>
            <a:picLocks noChangeAspect="1"/>
          </p:cNvPicPr>
          <p:nvPr/>
        </p:nvPicPr>
        <p:blipFill>
          <a:blip r:embed="rId4"/>
          <a:stretch>
            <a:fillRect/>
          </a:stretch>
        </p:blipFill>
        <p:spPr>
          <a:xfrm>
            <a:off x="4145660" y="3666426"/>
            <a:ext cx="134549" cy="195707"/>
          </a:xfrm>
          <a:prstGeom prst="rect">
            <a:avLst/>
          </a:prstGeom>
        </p:spPr>
      </p:pic>
      <p:sp>
        <p:nvSpPr>
          <p:cNvPr id="22" name="TextBox 21"/>
          <p:cNvSpPr txBox="1"/>
          <p:nvPr/>
        </p:nvSpPr>
        <p:spPr>
          <a:xfrm>
            <a:off x="4320769" y="3676650"/>
            <a:ext cx="7438318" cy="194310"/>
          </a:xfrm>
          <a:prstGeom prst="rect">
            <a:avLst/>
          </a:prstGeom>
          <a:noFill/>
        </p:spPr>
        <p:txBody>
          <a:bodyPr wrap="none" lIns="0" rIns="0" tIns="0" bIns="0">
            <a:spAutoFit/>
          </a:bodyPr>
          <a:lstStyle/>
          <a:p>
            <a:r>
              <a:rPr sz="1150" b="0">
                <a:solidFill>
                  <a:srgbClr val="2E2E2E"/>
                </a:solidFill>
                <a:latin typeface="Calibri"/>
              </a:rPr>
              <a:t>X higher value than organ procurement organisations and organ retrieval agencies segment in 2036. Among organ transport</a:t>
            </a:r>
          </a:p>
        </p:txBody>
      </p:sp>
      <p:sp>
        <p:nvSpPr>
          <p:cNvPr id="23" name="TextBox 22"/>
          <p:cNvSpPr txBox="1"/>
          <p:nvPr/>
        </p:nvSpPr>
        <p:spPr>
          <a:xfrm>
            <a:off x="276225" y="3851910"/>
            <a:ext cx="7576077" cy="194310"/>
          </a:xfrm>
          <a:prstGeom prst="rect">
            <a:avLst/>
          </a:prstGeom>
          <a:noFill/>
        </p:spPr>
        <p:txBody>
          <a:bodyPr wrap="none" lIns="0" rIns="0" tIns="0" bIns="0">
            <a:spAutoFit/>
          </a:bodyPr>
          <a:lstStyle/>
          <a:p>
            <a:r>
              <a:rPr sz="1150" b="0">
                <a:solidFill>
                  <a:srgbClr val="2E2E2E"/>
                </a:solidFill>
                <a:latin typeface="Calibri"/>
              </a:rPr>
              <a:t>devices by purchasing organisation, specialised medical logistics providers segment is expected to witness the highest CAGR of</a:t>
            </a:r>
          </a:p>
        </p:txBody>
      </p:sp>
      <p:pic>
        <p:nvPicPr>
          <p:cNvPr id="24" name="Picture 23" descr="lock.png"/>
          <p:cNvPicPr>
            <a:picLocks noChangeAspect="1"/>
          </p:cNvPicPr>
          <p:nvPr/>
        </p:nvPicPr>
        <p:blipFill>
          <a:blip r:embed="rId4"/>
          <a:stretch>
            <a:fillRect/>
          </a:stretch>
        </p:blipFill>
        <p:spPr>
          <a:xfrm>
            <a:off x="7801456" y="3841686"/>
            <a:ext cx="134549" cy="195707"/>
          </a:xfrm>
          <a:prstGeom prst="rect">
            <a:avLst/>
          </a:prstGeom>
        </p:spPr>
      </p:pic>
      <p:sp>
        <p:nvSpPr>
          <p:cNvPr id="25" name="TextBox 24"/>
          <p:cNvSpPr txBox="1"/>
          <p:nvPr/>
        </p:nvSpPr>
        <p:spPr>
          <a:xfrm>
            <a:off x="7976566" y="38519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079747"/>
            <a:ext cx="8395915" cy="194310"/>
          </a:xfrm>
          <a:prstGeom prst="rect">
            <a:avLst/>
          </a:prstGeom>
          <a:noFill/>
        </p:spPr>
        <p:txBody>
          <a:bodyPr wrap="none" lIns="0" rIns="0" tIns="0" bIns="0">
            <a:spAutoFit/>
          </a:bodyPr>
          <a:lstStyle/>
          <a:p>
            <a:r>
              <a:rPr sz="1150" b="0">
                <a:solidFill>
                  <a:srgbClr val="2E2E2E"/>
                </a:solidFill>
                <a:latin typeface="Calibri"/>
              </a:rPr>
              <a:t>In terms of value share by purchasing organisation, the hospitals and transplant centres segment is expected to dominate the market, losing</a:t>
            </a:r>
          </a:p>
        </p:txBody>
      </p:sp>
      <p:pic>
        <p:nvPicPr>
          <p:cNvPr id="27" name="Picture 26" descr="lock.png"/>
          <p:cNvPicPr>
            <a:picLocks noChangeAspect="1"/>
          </p:cNvPicPr>
          <p:nvPr/>
        </p:nvPicPr>
        <p:blipFill>
          <a:blip r:embed="rId4"/>
          <a:stretch>
            <a:fillRect/>
          </a:stretch>
        </p:blipFill>
        <p:spPr>
          <a:xfrm>
            <a:off x="8621294" y="4069524"/>
            <a:ext cx="134549" cy="195707"/>
          </a:xfrm>
          <a:prstGeom prst="rect">
            <a:avLst/>
          </a:prstGeom>
        </p:spPr>
      </p:pic>
      <p:sp>
        <p:nvSpPr>
          <p:cNvPr id="28" name="TextBox 27"/>
          <p:cNvSpPr txBox="1"/>
          <p:nvPr/>
        </p:nvSpPr>
        <p:spPr>
          <a:xfrm>
            <a:off x="8796403" y="40797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191546" y="4069524"/>
            <a:ext cx="134549" cy="195707"/>
          </a:xfrm>
          <a:prstGeom prst="rect">
            <a:avLst/>
          </a:prstGeom>
        </p:spPr>
      </p:pic>
      <p:sp>
        <p:nvSpPr>
          <p:cNvPr id="30" name="TextBox 29"/>
          <p:cNvSpPr txBox="1"/>
          <p:nvPr/>
        </p:nvSpPr>
        <p:spPr>
          <a:xfrm>
            <a:off x="10366656" y="40797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Purchasing Organisation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Purchasing Organisation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55418"/>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5065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7445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Purchasing Organisations</a:t>
            </a:r>
          </a:p>
        </p:txBody>
      </p:sp>
      <p:sp>
        <p:nvSpPr>
          <p:cNvPr id="18" name="BPS Value 1"/>
          <p:cNvSpPr txBox="1"/>
          <p:nvPr/>
        </p:nvSpPr>
        <p:spPr>
          <a:xfrm>
            <a:off x="6896100" y="193636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715151"/>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71038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63418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Specialised Medical Logistics Providers</a:t>
            </a:r>
          </a:p>
        </p:txBody>
      </p:sp>
      <p:sp>
        <p:nvSpPr>
          <p:cNvPr id="22" name="BPS Value 2"/>
          <p:cNvSpPr txBox="1"/>
          <p:nvPr/>
        </p:nvSpPr>
        <p:spPr>
          <a:xfrm>
            <a:off x="6896100" y="269610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883601"/>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878839"/>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802639"/>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 Procurement Organisations and Organ Retrieval Agencies</a:t>
            </a:r>
          </a:p>
        </p:txBody>
      </p:sp>
      <p:sp>
        <p:nvSpPr>
          <p:cNvPr id="26" name="BPS Value 3"/>
          <p:cNvSpPr txBox="1"/>
          <p:nvPr/>
        </p:nvSpPr>
        <p:spPr>
          <a:xfrm>
            <a:off x="6896100" y="3864551"/>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41005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4052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3290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Hospitals and Transplant Centres</a:t>
            </a:r>
          </a:p>
        </p:txBody>
      </p:sp>
      <p:sp>
        <p:nvSpPr>
          <p:cNvPr id="30" name="BPS Value 4"/>
          <p:cNvSpPr txBox="1"/>
          <p:nvPr/>
        </p:nvSpPr>
        <p:spPr>
          <a:xfrm>
            <a:off x="6896100" y="53910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Purchasing Organisation</a:t>
            </a:r>
          </a:p>
        </p:txBody>
      </p:sp>
      <p:sp>
        <p:nvSpPr>
          <p:cNvPr id="33" name="Rectangle 32"/>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400175"/>
            <a:ext cx="3609354" cy="194310"/>
          </a:xfrm>
          <a:prstGeom prst="rect">
            <a:avLst/>
          </a:prstGeom>
          <a:noFill/>
        </p:spPr>
        <p:txBody>
          <a:bodyPr wrap="none" lIns="0" rIns="0" tIns="0" bIns="0">
            <a:spAutoFit/>
          </a:bodyPr>
          <a:lstStyle/>
          <a:p>
            <a:r>
              <a:rPr sz="1150" b="0">
                <a:solidFill>
                  <a:srgbClr val="2E2E2E"/>
                </a:solidFill>
                <a:latin typeface="Calibri"/>
              </a:rPr>
              <a:t>Among organ transport devices by purchasing organisation,</a:t>
            </a:r>
          </a:p>
        </p:txBody>
      </p:sp>
      <p:sp>
        <p:nvSpPr>
          <p:cNvPr id="38" name="TextBox 37"/>
          <p:cNvSpPr txBox="1"/>
          <p:nvPr/>
        </p:nvSpPr>
        <p:spPr>
          <a:xfrm>
            <a:off x="7829550" y="1575435"/>
            <a:ext cx="3729161" cy="194310"/>
          </a:xfrm>
          <a:prstGeom prst="rect">
            <a:avLst/>
          </a:prstGeom>
          <a:noFill/>
        </p:spPr>
        <p:txBody>
          <a:bodyPr wrap="none" lIns="0" rIns="0" tIns="0" bIns="0">
            <a:spAutoFit/>
          </a:bodyPr>
          <a:lstStyle/>
          <a:p>
            <a:r>
              <a:rPr sz="1150" b="0">
                <a:solidFill>
                  <a:srgbClr val="2E2E2E"/>
                </a:solidFill>
                <a:latin typeface="Calibri"/>
              </a:rPr>
              <a:t>specialised medical logistics providers segment is expected to</a:t>
            </a:r>
          </a:p>
        </p:txBody>
      </p:sp>
      <p:sp>
        <p:nvSpPr>
          <p:cNvPr id="39" name="TextBox 38"/>
          <p:cNvSpPr txBox="1"/>
          <p:nvPr/>
        </p:nvSpPr>
        <p:spPr>
          <a:xfrm>
            <a:off x="7829550" y="175069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0" name="Picture 39" descr="lock.png"/>
          <p:cNvPicPr>
            <a:picLocks noChangeAspect="1"/>
          </p:cNvPicPr>
          <p:nvPr/>
        </p:nvPicPr>
        <p:blipFill>
          <a:blip r:embed="rId5"/>
          <a:stretch>
            <a:fillRect/>
          </a:stretch>
        </p:blipFill>
        <p:spPr>
          <a:xfrm>
            <a:off x="9526474" y="1740471"/>
            <a:ext cx="134549" cy="195707"/>
          </a:xfrm>
          <a:prstGeom prst="rect">
            <a:avLst/>
          </a:prstGeom>
        </p:spPr>
      </p:pic>
      <p:sp>
        <p:nvSpPr>
          <p:cNvPr id="41" name="TextBox 40"/>
          <p:cNvSpPr txBox="1"/>
          <p:nvPr/>
        </p:nvSpPr>
        <p:spPr>
          <a:xfrm>
            <a:off x="9701583"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829550" y="1978533"/>
            <a:ext cx="3900599" cy="194310"/>
          </a:xfrm>
          <a:prstGeom prst="rect">
            <a:avLst/>
          </a:prstGeom>
          <a:noFill/>
        </p:spPr>
        <p:txBody>
          <a:bodyPr wrap="none" lIns="0" rIns="0" tIns="0" bIns="0">
            <a:spAutoFit/>
          </a:bodyPr>
          <a:lstStyle/>
          <a:p>
            <a:r>
              <a:rPr sz="1150" b="0">
                <a:solidFill>
                  <a:srgbClr val="2E2E2E"/>
                </a:solidFill>
                <a:latin typeface="Calibri"/>
              </a:rPr>
              <a:t>In terms of value share by purchasing organisation, the hospitals</a:t>
            </a:r>
          </a:p>
        </p:txBody>
      </p:sp>
      <p:sp>
        <p:nvSpPr>
          <p:cNvPr id="43" name="TextBox 42"/>
          <p:cNvSpPr txBox="1"/>
          <p:nvPr/>
        </p:nvSpPr>
        <p:spPr>
          <a:xfrm>
            <a:off x="7829550" y="2153793"/>
            <a:ext cx="3662982" cy="194310"/>
          </a:xfrm>
          <a:prstGeom prst="rect">
            <a:avLst/>
          </a:prstGeom>
          <a:noFill/>
        </p:spPr>
        <p:txBody>
          <a:bodyPr wrap="none" lIns="0" rIns="0" tIns="0" bIns="0">
            <a:spAutoFit/>
          </a:bodyPr>
          <a:lstStyle/>
          <a:p>
            <a:r>
              <a:rPr sz="1150" b="0">
                <a:solidFill>
                  <a:srgbClr val="2E2E2E"/>
                </a:solidFill>
                <a:latin typeface="Calibri"/>
              </a:rPr>
              <a:t>and transplant centres segment is expected to dominate the</a:t>
            </a:r>
          </a:p>
        </p:txBody>
      </p:sp>
      <p:sp>
        <p:nvSpPr>
          <p:cNvPr id="44" name="TextBox 43"/>
          <p:cNvSpPr txBox="1"/>
          <p:nvPr/>
        </p:nvSpPr>
        <p:spPr>
          <a:xfrm>
            <a:off x="782955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5" name="Picture 44" descr="lock.png"/>
          <p:cNvPicPr>
            <a:picLocks noChangeAspect="1"/>
          </p:cNvPicPr>
          <p:nvPr/>
        </p:nvPicPr>
        <p:blipFill>
          <a:blip r:embed="rId5"/>
          <a:stretch>
            <a:fillRect/>
          </a:stretch>
        </p:blipFill>
        <p:spPr>
          <a:xfrm>
            <a:off x="8697258" y="2318829"/>
            <a:ext cx="134549" cy="195707"/>
          </a:xfrm>
          <a:prstGeom prst="rect">
            <a:avLst/>
          </a:prstGeom>
        </p:spPr>
      </p:pic>
      <p:sp>
        <p:nvSpPr>
          <p:cNvPr id="46" name="TextBox 45"/>
          <p:cNvSpPr txBox="1"/>
          <p:nvPr/>
        </p:nvSpPr>
        <p:spPr>
          <a:xfrm>
            <a:off x="887236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10267511" y="2318829"/>
            <a:ext cx="134549" cy="195707"/>
          </a:xfrm>
          <a:prstGeom prst="rect">
            <a:avLst/>
          </a:prstGeom>
        </p:spPr>
      </p:pic>
      <p:sp>
        <p:nvSpPr>
          <p:cNvPr id="48" name="TextBox 47"/>
          <p:cNvSpPr txBox="1"/>
          <p:nvPr/>
        </p:nvSpPr>
        <p:spPr>
          <a:xfrm>
            <a:off x="1044262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7.6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 Sales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6_745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10_353_605E5C.png"/>
          <p:cNvPicPr>
            <a:picLocks noChangeAspect="1"/>
          </p:cNvPicPr>
          <p:nvPr/>
        </p:nvPicPr>
        <p:blipFill>
          <a:blip r:embed="rId5"/>
          <a:stretch>
            <a:fillRect/>
          </a:stretch>
        </p:blipFill>
        <p:spPr>
          <a:xfrm>
            <a:off x="3634127" y="2779432"/>
            <a:ext cx="1409020" cy="361950"/>
          </a:xfrm>
          <a:prstGeom prst="rect">
            <a:avLst/>
          </a:prstGeom>
        </p:spPr>
      </p:pic>
      <p:pic>
        <p:nvPicPr>
          <p:cNvPr id="51" name="Picture 50" descr="4_4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4_155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7_332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5_8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52191" cy="186689"/>
          </a:xfrm>
          <a:prstGeom prst="rect">
            <a:avLst/>
          </a:prstGeom>
          <a:noFill/>
        </p:spPr>
        <p:txBody>
          <a:bodyPr wrap="none" lIns="0" rIns="0" tIns="0" bIns="0">
            <a:spAutoFit/>
          </a:bodyPr>
          <a:lstStyle/>
          <a:p>
            <a:r>
              <a:rPr sz="1100" b="0">
                <a:solidFill>
                  <a:srgbClr val="2E2E2E"/>
                </a:solidFill>
                <a:latin typeface="Calibri"/>
              </a:rPr>
              <a:t>Among organ transport devices by sales channel,</a:t>
            </a:r>
          </a:p>
        </p:txBody>
      </p:sp>
      <p:sp>
        <p:nvSpPr>
          <p:cNvPr id="58" name="TextBox 57"/>
          <p:cNvSpPr txBox="1"/>
          <p:nvPr/>
        </p:nvSpPr>
        <p:spPr>
          <a:xfrm>
            <a:off x="485775" y="4397077"/>
            <a:ext cx="2800350" cy="186689"/>
          </a:xfrm>
          <a:prstGeom prst="rect">
            <a:avLst/>
          </a:prstGeom>
          <a:noFill/>
        </p:spPr>
        <p:txBody>
          <a:bodyPr wrap="none" lIns="0" rIns="0" tIns="0" bIns="0">
            <a:spAutoFit/>
          </a:bodyPr>
          <a:lstStyle/>
          <a:p>
            <a:r>
              <a:rPr sz="1100" b="0">
                <a:solidFill>
                  <a:srgbClr val="2E2E2E"/>
                </a:solidFill>
                <a:latin typeface="Calibri"/>
              </a:rPr>
              <a:t>distributor sales segment is expected to witness</a:t>
            </a:r>
          </a:p>
        </p:txBody>
      </p:sp>
      <p:sp>
        <p:nvSpPr>
          <p:cNvPr id="59" name="TextBox 5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0" name="Picture 59" descr="lock.png"/>
          <p:cNvPicPr>
            <a:picLocks noChangeAspect="1"/>
          </p:cNvPicPr>
          <p:nvPr/>
        </p:nvPicPr>
        <p:blipFill>
          <a:blip r:embed="rId10"/>
          <a:stretch>
            <a:fillRect/>
          </a:stretch>
        </p:blipFill>
        <p:spPr>
          <a:xfrm>
            <a:off x="1646163" y="4554938"/>
            <a:ext cx="128699" cy="187198"/>
          </a:xfrm>
          <a:prstGeom prst="rect">
            <a:avLst/>
          </a:prstGeom>
        </p:spPr>
      </p:pic>
      <p:sp>
        <p:nvSpPr>
          <p:cNvPr id="61" name="TextBox 6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In terms of value share by sales channel, the direct</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sales segment is expected to dominate the market,</a:t>
            </a:r>
          </a:p>
        </p:txBody>
      </p:sp>
      <p:sp>
        <p:nvSpPr>
          <p:cNvPr id="64" name="TextBox 63"/>
          <p:cNvSpPr txBox="1"/>
          <p:nvPr/>
        </p:nvSpPr>
        <p:spPr>
          <a:xfrm>
            <a:off x="485775" y="506763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5" name="Picture 64" descr="lock.png"/>
          <p:cNvPicPr>
            <a:picLocks noChangeAspect="1"/>
          </p:cNvPicPr>
          <p:nvPr/>
        </p:nvPicPr>
        <p:blipFill>
          <a:blip r:embed="rId10"/>
          <a:stretch>
            <a:fillRect/>
          </a:stretch>
        </p:blipFill>
        <p:spPr>
          <a:xfrm>
            <a:off x="841814" y="5057858"/>
            <a:ext cx="128699" cy="187198"/>
          </a:xfrm>
          <a:prstGeom prst="rect">
            <a:avLst/>
          </a:prstGeom>
        </p:spPr>
      </p:pic>
      <p:sp>
        <p:nvSpPr>
          <p:cNvPr id="66" name="TextBox 65"/>
          <p:cNvSpPr txBox="1"/>
          <p:nvPr/>
        </p:nvSpPr>
        <p:spPr>
          <a:xfrm>
            <a:off x="1009309"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343794" y="5057858"/>
            <a:ext cx="128699" cy="187198"/>
          </a:xfrm>
          <a:prstGeom prst="rect">
            <a:avLst/>
          </a:prstGeom>
        </p:spPr>
      </p:pic>
      <p:sp>
        <p:nvSpPr>
          <p:cNvPr id="68" name="TextBox 67"/>
          <p:cNvSpPr txBox="1"/>
          <p:nvPr/>
        </p:nvSpPr>
        <p:spPr>
          <a:xfrm>
            <a:off x="2511290"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69" name="TextBox 68"/>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0" name="TextBox 69"/>
          <p:cNvSpPr txBox="1"/>
          <p:nvPr/>
        </p:nvSpPr>
        <p:spPr>
          <a:xfrm>
            <a:off x="485775" y="5453209"/>
            <a:ext cx="2569790" cy="186689"/>
          </a:xfrm>
          <a:prstGeom prst="rect">
            <a:avLst/>
          </a:prstGeom>
          <a:noFill/>
        </p:spPr>
        <p:txBody>
          <a:bodyPr wrap="none" lIns="0" rIns="0" tIns="0" bIns="0">
            <a:spAutoFit/>
          </a:bodyPr>
          <a:lstStyle/>
          <a:p>
            <a:r>
              <a:rPr sz="1100" b="0">
                <a:solidFill>
                  <a:srgbClr val="2E2E2E"/>
                </a:solidFill>
                <a:latin typeface="Calibri"/>
              </a:rPr>
              <a:t>Direct sales segment is projected to register</a:t>
            </a:r>
          </a:p>
        </p:txBody>
      </p:sp>
      <p:pic>
        <p:nvPicPr>
          <p:cNvPr id="71" name="Picture 70" descr="lock.png"/>
          <p:cNvPicPr>
            <a:picLocks noChangeAspect="1"/>
          </p:cNvPicPr>
          <p:nvPr/>
        </p:nvPicPr>
        <p:blipFill>
          <a:blip r:embed="rId10"/>
          <a:stretch>
            <a:fillRect/>
          </a:stretch>
        </p:blipFill>
        <p:spPr>
          <a:xfrm>
            <a:off x="3003617" y="5443430"/>
            <a:ext cx="128699" cy="187198"/>
          </a:xfrm>
          <a:prstGeom prst="rect">
            <a:avLst/>
          </a:prstGeom>
        </p:spPr>
      </p:pic>
      <p:sp>
        <p:nvSpPr>
          <p:cNvPr id="72" name="TextBox 71"/>
          <p:cNvSpPr txBox="1"/>
          <p:nvPr/>
        </p:nvSpPr>
        <p:spPr>
          <a:xfrm>
            <a:off x="3171112"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73" name="TextBox 72"/>
          <p:cNvSpPr txBox="1"/>
          <p:nvPr/>
        </p:nvSpPr>
        <p:spPr>
          <a:xfrm>
            <a:off x="485775" y="5620849"/>
            <a:ext cx="2674019" cy="186689"/>
          </a:xfrm>
          <a:prstGeom prst="rect">
            <a:avLst/>
          </a:prstGeom>
          <a:noFill/>
        </p:spPr>
        <p:txBody>
          <a:bodyPr wrap="none" lIns="0" rIns="0" tIns="0" bIns="0">
            <a:spAutoFit/>
          </a:bodyPr>
          <a:lstStyle/>
          <a:p>
            <a:r>
              <a:rPr sz="1100" b="0">
                <a:solidFill>
                  <a:srgbClr val="2E2E2E"/>
                </a:solidFill>
                <a:latin typeface="Calibri"/>
              </a:rPr>
              <a:t>higher value than distributor sales segment in</a:t>
            </a:r>
          </a:p>
        </p:txBody>
      </p:sp>
      <p:sp>
        <p:nvSpPr>
          <p:cNvPr id="74" name="TextBox 73"/>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5" name="TextBox 74"/>
          <p:cNvSpPr txBox="1"/>
          <p:nvPr/>
        </p:nvSpPr>
        <p:spPr>
          <a:xfrm>
            <a:off x="3838575" y="4229437"/>
            <a:ext cx="891207" cy="186689"/>
          </a:xfrm>
          <a:prstGeom prst="rect">
            <a:avLst/>
          </a:prstGeom>
          <a:noFill/>
        </p:spPr>
        <p:txBody>
          <a:bodyPr wrap="none" lIns="0" rIns="0" tIns="0" bIns="0">
            <a:spAutoFit/>
          </a:bodyPr>
          <a:lstStyle/>
          <a:p>
            <a:r>
              <a:rPr sz="1100" b="0">
                <a:solidFill>
                  <a:srgbClr val="2E2E2E"/>
                </a:solidFill>
                <a:latin typeface="Calibri"/>
              </a:rPr>
              <a:t>● Direct Sales:</a:t>
            </a:r>
          </a:p>
        </p:txBody>
      </p:sp>
      <p:pic>
        <p:nvPicPr>
          <p:cNvPr id="76" name="Picture 75" descr="lock.png"/>
          <p:cNvPicPr>
            <a:picLocks noChangeAspect="1"/>
          </p:cNvPicPr>
          <p:nvPr/>
        </p:nvPicPr>
        <p:blipFill>
          <a:blip r:embed="rId10"/>
          <a:stretch>
            <a:fillRect/>
          </a:stretch>
        </p:blipFill>
        <p:spPr>
          <a:xfrm>
            <a:off x="4677834" y="4219658"/>
            <a:ext cx="128699" cy="187198"/>
          </a:xfrm>
          <a:prstGeom prst="rect">
            <a:avLst/>
          </a:prstGeom>
        </p:spPr>
      </p:pic>
      <p:sp>
        <p:nvSpPr>
          <p:cNvPr id="77" name="TextBox 76"/>
          <p:cNvSpPr txBox="1"/>
          <p:nvPr/>
        </p:nvSpPr>
        <p:spPr>
          <a:xfrm>
            <a:off x="484533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5704780" y="4219658"/>
            <a:ext cx="128699" cy="187198"/>
          </a:xfrm>
          <a:prstGeom prst="rect">
            <a:avLst/>
          </a:prstGeom>
        </p:spPr>
      </p:pic>
      <p:sp>
        <p:nvSpPr>
          <p:cNvPr id="79" name="TextBox 78"/>
          <p:cNvSpPr txBox="1"/>
          <p:nvPr/>
        </p:nvSpPr>
        <p:spPr>
          <a:xfrm>
            <a:off x="587227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0" name="TextBox 79"/>
          <p:cNvSpPr txBox="1"/>
          <p:nvPr/>
        </p:nvSpPr>
        <p:spPr>
          <a:xfrm>
            <a:off x="3838575" y="4447369"/>
            <a:ext cx="1165423" cy="186689"/>
          </a:xfrm>
          <a:prstGeom prst="rect">
            <a:avLst/>
          </a:prstGeom>
          <a:noFill/>
        </p:spPr>
        <p:txBody>
          <a:bodyPr wrap="none" lIns="0" rIns="0" tIns="0" bIns="0">
            <a:spAutoFit/>
          </a:bodyPr>
          <a:lstStyle/>
          <a:p>
            <a:r>
              <a:rPr sz="1100" b="0">
                <a:solidFill>
                  <a:srgbClr val="2E2E2E"/>
                </a:solidFill>
                <a:latin typeface="Calibri"/>
              </a:rPr>
              <a:t>● Distributor Sales:</a:t>
            </a:r>
          </a:p>
        </p:txBody>
      </p:sp>
      <p:pic>
        <p:nvPicPr>
          <p:cNvPr id="81" name="Picture 80" descr="lock.png"/>
          <p:cNvPicPr>
            <a:picLocks noChangeAspect="1"/>
          </p:cNvPicPr>
          <p:nvPr/>
        </p:nvPicPr>
        <p:blipFill>
          <a:blip r:embed="rId10"/>
          <a:stretch>
            <a:fillRect/>
          </a:stretch>
        </p:blipFill>
        <p:spPr>
          <a:xfrm>
            <a:off x="4952050" y="4437590"/>
            <a:ext cx="128699" cy="187198"/>
          </a:xfrm>
          <a:prstGeom prst="rect">
            <a:avLst/>
          </a:prstGeom>
        </p:spPr>
      </p:pic>
      <p:sp>
        <p:nvSpPr>
          <p:cNvPr id="82" name="TextBox 81"/>
          <p:cNvSpPr txBox="1"/>
          <p:nvPr/>
        </p:nvSpPr>
        <p:spPr>
          <a:xfrm>
            <a:off x="511954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10"/>
          <a:stretch>
            <a:fillRect/>
          </a:stretch>
        </p:blipFill>
        <p:spPr>
          <a:xfrm>
            <a:off x="5978996" y="4437590"/>
            <a:ext cx="128699" cy="187198"/>
          </a:xfrm>
          <a:prstGeom prst="rect">
            <a:avLst/>
          </a:prstGeom>
        </p:spPr>
      </p:pic>
      <p:sp>
        <p:nvSpPr>
          <p:cNvPr id="84" name="TextBox 83"/>
          <p:cNvSpPr txBox="1"/>
          <p:nvPr/>
        </p:nvSpPr>
        <p:spPr>
          <a:xfrm>
            <a:off x="6146491"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5" name="TextBox 84"/>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6" name="TextBox 8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7" name="Picture 86" descr="lock.png"/>
          <p:cNvPicPr>
            <a:picLocks noChangeAspect="1"/>
          </p:cNvPicPr>
          <p:nvPr/>
        </p:nvPicPr>
        <p:blipFill>
          <a:blip r:embed="rId10"/>
          <a:stretch>
            <a:fillRect/>
          </a:stretch>
        </p:blipFill>
        <p:spPr>
          <a:xfrm>
            <a:off x="9048826" y="6007677"/>
            <a:ext cx="134549" cy="195707"/>
          </a:xfrm>
          <a:prstGeom prst="rect">
            <a:avLst/>
          </a:prstGeom>
        </p:spPr>
      </p:pic>
      <p:sp>
        <p:nvSpPr>
          <p:cNvPr id="88" name="TextBox 8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region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region (share of 2036 value) · row label = region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557793" cy="186689"/>
          </a:xfrm>
          <a:prstGeom prst="rect">
            <a:avLst/>
          </a:prstGeom>
          <a:noFill/>
        </p:spPr>
        <p:txBody>
          <a:bodyPr wrap="none" lIns="0" rIns="0" tIns="0" bIns="0">
            <a:spAutoFit/>
          </a:bodyPr>
          <a:lstStyle/>
          <a:p>
            <a:r>
              <a:rPr sz="1100" b="0">
                <a:solidFill>
                  <a:srgbClr val="2E2E2E"/>
                </a:solidFill>
                <a:latin typeface="Calibri"/>
              </a:rPr>
              <a:t>Direct sales followed by distributor sales are expected to be the two most attractive sales channel segments in the global organ transport devices market in terms of value over the forecast period. Direct</a:t>
            </a:r>
          </a:p>
        </p:txBody>
      </p:sp>
      <p:sp>
        <p:nvSpPr>
          <p:cNvPr id="20" name="TextBox 19"/>
          <p:cNvSpPr txBox="1"/>
          <p:nvPr/>
        </p:nvSpPr>
        <p:spPr>
          <a:xfrm>
            <a:off x="257175" y="5945505"/>
            <a:ext cx="2902652" cy="186689"/>
          </a:xfrm>
          <a:prstGeom prst="rect">
            <a:avLst/>
          </a:prstGeom>
          <a:noFill/>
        </p:spPr>
        <p:txBody>
          <a:bodyPr wrap="none" lIns="0" rIns="0" tIns="0" bIns="0">
            <a:spAutoFit/>
          </a:bodyPr>
          <a:lstStyle/>
          <a:p>
            <a:r>
              <a:rPr sz="1100" b="0">
                <a:solidFill>
                  <a:srgbClr val="2E2E2E"/>
                </a:solidFill>
                <a:latin typeface="Calibri"/>
              </a:rPr>
              <a:t>sales and distributor sales exhibit a CAGR index of</a:t>
            </a:r>
          </a:p>
        </p:txBody>
      </p:sp>
      <p:pic>
        <p:nvPicPr>
          <p:cNvPr id="21" name="Picture 20" descr="lock.png"/>
          <p:cNvPicPr>
            <a:picLocks noChangeAspect="1"/>
          </p:cNvPicPr>
          <p:nvPr/>
        </p:nvPicPr>
        <p:blipFill>
          <a:blip r:embed="rId6"/>
          <a:stretch>
            <a:fillRect/>
          </a:stretch>
        </p:blipFill>
        <p:spPr>
          <a:xfrm>
            <a:off x="3107878" y="5935726"/>
            <a:ext cx="128699" cy="187198"/>
          </a:xfrm>
          <a:prstGeom prst="rect">
            <a:avLst/>
          </a:prstGeom>
        </p:spPr>
      </p:pic>
      <p:sp>
        <p:nvSpPr>
          <p:cNvPr id="22" name="TextBox 21"/>
          <p:cNvSpPr txBox="1"/>
          <p:nvPr/>
        </p:nvSpPr>
        <p:spPr>
          <a:xfrm>
            <a:off x="327537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513269" y="5935726"/>
            <a:ext cx="128699" cy="187198"/>
          </a:xfrm>
          <a:prstGeom prst="rect">
            <a:avLst/>
          </a:prstGeom>
        </p:spPr>
      </p:pic>
      <p:sp>
        <p:nvSpPr>
          <p:cNvPr id="24" name="TextBox 23"/>
          <p:cNvSpPr txBox="1"/>
          <p:nvPr/>
        </p:nvSpPr>
        <p:spPr>
          <a:xfrm>
            <a:off x="3680764"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289738" y="5935726"/>
            <a:ext cx="128699" cy="187198"/>
          </a:xfrm>
          <a:prstGeom prst="rect">
            <a:avLst/>
          </a:prstGeom>
        </p:spPr>
      </p:pic>
      <p:sp>
        <p:nvSpPr>
          <p:cNvPr id="26" name="TextBox 25"/>
          <p:cNvSpPr txBox="1"/>
          <p:nvPr/>
        </p:nvSpPr>
        <p:spPr>
          <a:xfrm>
            <a:off x="5457234"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5695128" y="5935726"/>
            <a:ext cx="128699" cy="187198"/>
          </a:xfrm>
          <a:prstGeom prst="rect">
            <a:avLst/>
          </a:prstGeom>
        </p:spPr>
      </p:pic>
      <p:sp>
        <p:nvSpPr>
          <p:cNvPr id="28" name="TextBox 27"/>
          <p:cNvSpPr txBox="1"/>
          <p:nvPr/>
        </p:nvSpPr>
        <p:spPr>
          <a:xfrm>
            <a:off x="5862624"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417028" y="5935726"/>
            <a:ext cx="128699" cy="187198"/>
          </a:xfrm>
          <a:prstGeom prst="rect">
            <a:avLst/>
          </a:prstGeom>
        </p:spPr>
      </p:pic>
      <p:sp>
        <p:nvSpPr>
          <p:cNvPr id="30" name="TextBox 29"/>
          <p:cNvSpPr txBox="1"/>
          <p:nvPr/>
        </p:nvSpPr>
        <p:spPr>
          <a:xfrm>
            <a:off x="8584524" y="5945505"/>
            <a:ext cx="2889555"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a:t>
            </a:r>
          </a:p>
        </p:txBody>
      </p:sp>
      <p:sp>
        <p:nvSpPr>
          <p:cNvPr id="31" name="TextBox 30"/>
          <p:cNvSpPr txBox="1"/>
          <p:nvPr/>
        </p:nvSpPr>
        <p:spPr>
          <a:xfrm>
            <a:off x="257175" y="6113145"/>
            <a:ext cx="1598711" cy="186689"/>
          </a:xfrm>
          <a:prstGeom prst="rect">
            <a:avLst/>
          </a:prstGeom>
          <a:noFill/>
        </p:spPr>
        <p:txBody>
          <a:bodyPr wrap="none" lIns="0" rIns="0" tIns="0" bIns="0">
            <a:spAutoFit/>
          </a:bodyPr>
          <a:lstStyle/>
          <a:p>
            <a:r>
              <a:rPr sz="1100" b="0">
                <a:solidFill>
                  <a:srgbClr val="2E2E2E"/>
                </a:solidFill>
                <a:latin typeface="Calibri"/>
              </a:rPr>
              <a:t>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Analysis,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Direct Sales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Incremental $ Opportunity (US$ Mn), 2026-2036, By Distributor Sales</a:t>
            </a:r>
          </a:p>
        </p:txBody>
      </p:sp>
      <p:graphicFrame>
        <p:nvGraphicFramePr>
          <p:cNvPr id="15" name="Chart 14"/>
          <p:cNvGraphicFramePr>
            <a:graphicFrameLocks noGrp="1"/>
          </p:cNvGraphicFramePr>
          <p:nvPr/>
        </p:nvGraphicFramePr>
        <p:xfrm>
          <a:off x="6267450" y="1266825"/>
          <a:ext cx="5686425" cy="53054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3384" y="3583939"/>
            <a:ext cx="402511" cy="58547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Sales Channel (US$ Mn)</a:t>
            </a:r>
          </a:p>
        </p:txBody>
      </p:sp>
      <p:graphicFrame>
        <p:nvGraphicFramePr>
          <p:cNvPr id="12" name="Table 11"/>
          <p:cNvGraphicFramePr>
            <a:graphicFrameLocks noGrp="1"/>
          </p:cNvGraphicFramePr>
          <p:nvPr/>
        </p:nvGraphicFramePr>
        <p:xfrm>
          <a:off x="152400" y="1238250"/>
          <a:ext cx="11887208" cy="990600"/>
        </p:xfrm>
        <a:graphic>
          <a:graphicData uri="http://schemas.openxmlformats.org/drawingml/2006/table">
            <a:tbl>
              <a:tblPr>
                <a:tableStyleId>{5C22544A-7EE6-4342-B048-85BDC9FD1C3A}</a:tableStyleId>
              </a:tblPr>
              <a:tblGrid>
                <a:gridCol w="1242131"/>
                <a:gridCol w="626181"/>
                <a:gridCol w="626181"/>
                <a:gridCol w="626181"/>
                <a:gridCol w="626181"/>
                <a:gridCol w="626181"/>
                <a:gridCol w="626181"/>
                <a:gridCol w="626181"/>
                <a:gridCol w="626181"/>
                <a:gridCol w="626181"/>
                <a:gridCol w="626181"/>
                <a:gridCol w="626181"/>
                <a:gridCol w="626181"/>
                <a:gridCol w="626181"/>
                <a:gridCol w="626181"/>
                <a:gridCol w="626181"/>
                <a:gridCol w="626181"/>
                <a:gridCol w="626181"/>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Sales Channel</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30379" y="1589913"/>
            <a:ext cx="366712" cy="533400"/>
          </a:xfrm>
          <a:prstGeom prst="rect">
            <a:avLst/>
          </a:prstGeom>
        </p:spPr>
      </p:pic>
      <p:sp>
        <p:nvSpPr>
          <p:cNvPr id="20" name="TextBox 19"/>
          <p:cNvSpPr txBox="1"/>
          <p:nvPr/>
        </p:nvSpPr>
        <p:spPr>
          <a:xfrm>
            <a:off x="276225" y="2990850"/>
            <a:ext cx="2683135" cy="194310"/>
          </a:xfrm>
          <a:prstGeom prst="rect">
            <a:avLst/>
          </a:prstGeom>
          <a:noFill/>
        </p:spPr>
        <p:txBody>
          <a:bodyPr wrap="none" lIns="0" rIns="0" tIns="0" bIns="0">
            <a:spAutoFit/>
          </a:bodyPr>
          <a:lstStyle/>
          <a:p>
            <a:r>
              <a:rPr sz="1150" b="0">
                <a:solidFill>
                  <a:srgbClr val="2E2E2E"/>
                </a:solidFill>
                <a:latin typeface="Calibri"/>
              </a:rPr>
              <a:t>Direct sales segment is projected to register</a:t>
            </a:r>
          </a:p>
        </p:txBody>
      </p:sp>
      <p:pic>
        <p:nvPicPr>
          <p:cNvPr id="21" name="Picture 20" descr="lock.png"/>
          <p:cNvPicPr>
            <a:picLocks noChangeAspect="1"/>
          </p:cNvPicPr>
          <p:nvPr/>
        </p:nvPicPr>
        <p:blipFill>
          <a:blip r:embed="rId4"/>
          <a:stretch>
            <a:fillRect/>
          </a:stretch>
        </p:blipFill>
        <p:spPr>
          <a:xfrm>
            <a:off x="2908514" y="2980626"/>
            <a:ext cx="134549" cy="195707"/>
          </a:xfrm>
          <a:prstGeom prst="rect">
            <a:avLst/>
          </a:prstGeom>
        </p:spPr>
      </p:pic>
      <p:sp>
        <p:nvSpPr>
          <p:cNvPr id="22" name="TextBox 21"/>
          <p:cNvSpPr txBox="1"/>
          <p:nvPr/>
        </p:nvSpPr>
        <p:spPr>
          <a:xfrm>
            <a:off x="3083623" y="2990850"/>
            <a:ext cx="8600157" cy="194310"/>
          </a:xfrm>
          <a:prstGeom prst="rect">
            <a:avLst/>
          </a:prstGeom>
          <a:noFill/>
        </p:spPr>
        <p:txBody>
          <a:bodyPr wrap="none" lIns="0" rIns="0" tIns="0" bIns="0">
            <a:spAutoFit/>
          </a:bodyPr>
          <a:lstStyle/>
          <a:p>
            <a:r>
              <a:rPr sz="1150" b="0">
                <a:solidFill>
                  <a:srgbClr val="2E2E2E"/>
                </a:solidFill>
                <a:latin typeface="Calibri"/>
              </a:rPr>
              <a:t>X higher value than distributor sales segment in 2036. Among organ transport devices by sales channel, distributor sales segment is expected to</a:t>
            </a:r>
          </a:p>
        </p:txBody>
      </p:sp>
      <p:sp>
        <p:nvSpPr>
          <p:cNvPr id="23" name="TextBox 22"/>
          <p:cNvSpPr txBox="1"/>
          <p:nvPr/>
        </p:nvSpPr>
        <p:spPr>
          <a:xfrm>
            <a:off x="276225" y="31661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155886"/>
            <a:ext cx="134549" cy="195707"/>
          </a:xfrm>
          <a:prstGeom prst="rect">
            <a:avLst/>
          </a:prstGeom>
        </p:spPr>
      </p:pic>
      <p:sp>
        <p:nvSpPr>
          <p:cNvPr id="25" name="TextBox 24"/>
          <p:cNvSpPr txBox="1"/>
          <p:nvPr/>
        </p:nvSpPr>
        <p:spPr>
          <a:xfrm>
            <a:off x="2148258"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528928"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sales segment is expected to dominate the market, losing</a:t>
            </a:r>
          </a:p>
        </p:txBody>
      </p:sp>
      <p:pic>
        <p:nvPicPr>
          <p:cNvPr id="27" name="Picture 26" descr="lock.png"/>
          <p:cNvPicPr>
            <a:picLocks noChangeAspect="1"/>
          </p:cNvPicPr>
          <p:nvPr/>
        </p:nvPicPr>
        <p:blipFill>
          <a:blip r:embed="rId4"/>
          <a:stretch>
            <a:fillRect/>
          </a:stretch>
        </p:blipFill>
        <p:spPr>
          <a:xfrm>
            <a:off x="6754307" y="3383724"/>
            <a:ext cx="134549" cy="195707"/>
          </a:xfrm>
          <a:prstGeom prst="rect">
            <a:avLst/>
          </a:prstGeom>
        </p:spPr>
      </p:pic>
      <p:sp>
        <p:nvSpPr>
          <p:cNvPr id="28" name="TextBox 27"/>
          <p:cNvSpPr txBox="1"/>
          <p:nvPr/>
        </p:nvSpPr>
        <p:spPr>
          <a:xfrm>
            <a:off x="692941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324560" y="3383724"/>
            <a:ext cx="134549" cy="195707"/>
          </a:xfrm>
          <a:prstGeom prst="rect">
            <a:avLst/>
          </a:prstGeom>
        </p:spPr>
      </p:pic>
      <p:sp>
        <p:nvSpPr>
          <p:cNvPr id="30" name="TextBox 29"/>
          <p:cNvSpPr txBox="1"/>
          <p:nvPr/>
        </p:nvSpPr>
        <p:spPr>
          <a:xfrm>
            <a:off x="8499669"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61910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61434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53814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 Sales</a:t>
            </a:r>
          </a:p>
        </p:txBody>
      </p:sp>
      <p:sp>
        <p:nvSpPr>
          <p:cNvPr id="18" name="BPS Value 1"/>
          <p:cNvSpPr txBox="1"/>
          <p:nvPr/>
        </p:nvSpPr>
        <p:spPr>
          <a:xfrm>
            <a:off x="6896100" y="260005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905295"/>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900532"/>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82433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a:t>
            </a:r>
          </a:p>
        </p:txBody>
      </p:sp>
      <p:sp>
        <p:nvSpPr>
          <p:cNvPr id="22" name="BPS Value 2"/>
          <p:cNvSpPr txBox="1"/>
          <p:nvPr/>
        </p:nvSpPr>
        <p:spPr>
          <a:xfrm>
            <a:off x="6896100" y="4886245"/>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Sales Channel</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66778" cy="194310"/>
          </a:xfrm>
          <a:prstGeom prst="rect">
            <a:avLst/>
          </a:prstGeom>
          <a:noFill/>
        </p:spPr>
        <p:txBody>
          <a:bodyPr wrap="none" lIns="0" rIns="0" tIns="0" bIns="0">
            <a:spAutoFit/>
          </a:bodyPr>
          <a:lstStyle/>
          <a:p>
            <a:r>
              <a:rPr sz="1150" b="0">
                <a:solidFill>
                  <a:srgbClr val="2E2E2E"/>
                </a:solidFill>
                <a:latin typeface="Calibri"/>
              </a:rPr>
              <a:t>Among organ transport devices by sales channel, distributor sales</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4" name="TextBox 33"/>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sales segment is</a:t>
            </a:r>
          </a:p>
        </p:txBody>
      </p:sp>
      <p:sp>
        <p:nvSpPr>
          <p:cNvPr id="35" name="TextBox 34"/>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36" name="Picture 35" descr="lock.png"/>
          <p:cNvPicPr>
            <a:picLocks noChangeAspect="1"/>
          </p:cNvPicPr>
          <p:nvPr/>
        </p:nvPicPr>
        <p:blipFill>
          <a:blip r:embed="rId5"/>
          <a:stretch>
            <a:fillRect/>
          </a:stretch>
        </p:blipFill>
        <p:spPr>
          <a:xfrm>
            <a:off x="10272716" y="2143569"/>
            <a:ext cx="134549" cy="195707"/>
          </a:xfrm>
          <a:prstGeom prst="rect">
            <a:avLst/>
          </a:prstGeom>
        </p:spPr>
      </p:pic>
      <p:sp>
        <p:nvSpPr>
          <p:cNvPr id="37" name="TextBox 36"/>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38" name="TextBox 37"/>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39" name="Picture 38" descr="lock.png"/>
          <p:cNvPicPr>
            <a:picLocks noChangeAspect="1"/>
          </p:cNvPicPr>
          <p:nvPr/>
        </p:nvPicPr>
        <p:blipFill>
          <a:blip r:embed="rId5"/>
          <a:stretch>
            <a:fillRect/>
          </a:stretch>
        </p:blipFill>
        <p:spPr>
          <a:xfrm>
            <a:off x="8027482" y="2318829"/>
            <a:ext cx="134549" cy="195707"/>
          </a:xfrm>
          <a:prstGeom prst="rect">
            <a:avLst/>
          </a:prstGeom>
        </p:spPr>
      </p:pic>
      <p:sp>
        <p:nvSpPr>
          <p:cNvPr id="40" name="TextBox 39"/>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Technology x 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Monitoring Capability x 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Reusability x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Technology × Organ Compatibility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Device Technology × Organ Compatibility,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device technology sub-segment across organ compatibility sub-segments</a:t>
            </a:r>
          </a:p>
        </p:txBody>
      </p:sp>
      <p:sp>
        <p:nvSpPr>
          <p:cNvPr id="10" name="Rounded Rectangle 9"/>
          <p:cNvSpPr/>
          <p:nvPr/>
        </p:nvSpPr>
        <p:spPr>
          <a:xfrm>
            <a:off x="142875" y="981075"/>
            <a:ext cx="11906250" cy="3124200"/>
          </a:xfrm>
          <a:prstGeom prst="roundRect">
            <a:avLst>
              <a:gd name="adj" fmla="val 24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Device Technology × Organ Compatibility, 2026E and 2036F (US$ Mn)</a:t>
            </a:r>
          </a:p>
        </p:txBody>
      </p:sp>
      <p:graphicFrame>
        <p:nvGraphicFramePr>
          <p:cNvPr id="12" name="Table 11"/>
          <p:cNvGraphicFramePr>
            <a:graphicFrameLocks noGrp="1"/>
          </p:cNvGraphicFramePr>
          <p:nvPr/>
        </p:nvGraphicFramePr>
        <p:xfrm>
          <a:off x="152400" y="1238250"/>
          <a:ext cx="11887200" cy="2657475"/>
        </p:xfrm>
        <a:graphic>
          <a:graphicData uri="http://schemas.openxmlformats.org/drawingml/2006/table">
            <a:tbl>
              <a:tblPr>
                <a:tableStyleId>{5C22544A-7EE6-4342-B048-85BDC9FD1C3A}</a:tableStyleId>
              </a:tblPr>
              <a:tblGrid>
                <a:gridCol w="5977758"/>
                <a:gridCol w="984907"/>
                <a:gridCol w="984907"/>
                <a:gridCol w="984907"/>
                <a:gridCol w="984907"/>
                <a:gridCol w="984907"/>
                <a:gridCol w="984907"/>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05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8898189" y="2642997"/>
            <a:ext cx="366712" cy="5334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Device Technology × Organ Compatibility,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device technology sub-segment across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Device Technology → Organ Compatibility, 2036F (US$ Mn)</a:t>
            </a:r>
          </a:p>
        </p:txBody>
      </p:sp>
      <p:sp>
        <p:nvSpPr>
          <p:cNvPr id="12" name="Freeform 11"/>
          <p:cNvSpPr/>
          <p:nvPr/>
        </p:nvSpPr>
        <p:spPr>
          <a:xfrm>
            <a:off x="2057400" y="1304925"/>
            <a:ext cx="3743325" cy="714375"/>
          </a:xfrm>
          <a:custGeom>
            <a:avLst/>
            <a:gdLst/>
            <a:ahLst/>
            <a:cxnLst/>
            <a:rect l="l" t="t" r="r" b="b"/>
            <a:pathLst>
              <a:path w="393" h="75">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7"/>
                </a:lnTo>
                <a:lnTo>
                  <a:pt x="213" y="8"/>
                </a:lnTo>
                <a:lnTo>
                  <a:pt x="229" y="9"/>
                </a:lnTo>
                <a:lnTo>
                  <a:pt x="246" y="10"/>
                </a:lnTo>
                <a:lnTo>
                  <a:pt x="262" y="11"/>
                </a:lnTo>
                <a:lnTo>
                  <a:pt x="278" y="12"/>
                </a:lnTo>
                <a:lnTo>
                  <a:pt x="295" y="13"/>
                </a:lnTo>
                <a:lnTo>
                  <a:pt x="311" y="13"/>
                </a:lnTo>
                <a:lnTo>
                  <a:pt x="327" y="14"/>
                </a:lnTo>
                <a:lnTo>
                  <a:pt x="344" y="14"/>
                </a:lnTo>
                <a:lnTo>
                  <a:pt x="360" y="15"/>
                </a:lnTo>
                <a:lnTo>
                  <a:pt x="377" y="15"/>
                </a:lnTo>
                <a:lnTo>
                  <a:pt x="393" y="15"/>
                </a:lnTo>
                <a:lnTo>
                  <a:pt x="393" y="75"/>
                </a:lnTo>
                <a:lnTo>
                  <a:pt x="377" y="75"/>
                </a:lnTo>
                <a:lnTo>
                  <a:pt x="360" y="74"/>
                </a:lnTo>
                <a:lnTo>
                  <a:pt x="344" y="74"/>
                </a:lnTo>
                <a:lnTo>
                  <a:pt x="327" y="74"/>
                </a:lnTo>
                <a:lnTo>
                  <a:pt x="311" y="73"/>
                </a:lnTo>
                <a:lnTo>
                  <a:pt x="295" y="72"/>
                </a:lnTo>
                <a:lnTo>
                  <a:pt x="278" y="72"/>
                </a:lnTo>
                <a:lnTo>
                  <a:pt x="262" y="71"/>
                </a:lnTo>
                <a:lnTo>
                  <a:pt x="246" y="70"/>
                </a:lnTo>
                <a:lnTo>
                  <a:pt x="229" y="69"/>
                </a:lnTo>
                <a:lnTo>
                  <a:pt x="213" y="68"/>
                </a:lnTo>
                <a:lnTo>
                  <a:pt x="196" y="67"/>
                </a:lnTo>
                <a:lnTo>
                  <a:pt x="180" y="66"/>
                </a:lnTo>
                <a:lnTo>
                  <a:pt x="164" y="65"/>
                </a:lnTo>
                <a:lnTo>
                  <a:pt x="147" y="64"/>
                </a:lnTo>
                <a:lnTo>
                  <a:pt x="131" y="64"/>
                </a:lnTo>
                <a:lnTo>
                  <a:pt x="114" y="63"/>
                </a:lnTo>
                <a:lnTo>
                  <a:pt x="98" y="62"/>
                </a:lnTo>
                <a:lnTo>
                  <a:pt x="82" y="61"/>
                </a:lnTo>
                <a:lnTo>
                  <a:pt x="65" y="61"/>
                </a:lnTo>
                <a:lnTo>
                  <a:pt x="49" y="60"/>
                </a:lnTo>
                <a:lnTo>
                  <a:pt x="33" y="60"/>
                </a:lnTo>
                <a:lnTo>
                  <a:pt x="16" y="60"/>
                </a:lnTo>
                <a:lnTo>
                  <a:pt x="0" y="6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876425"/>
            <a:ext cx="3743325" cy="3733800"/>
          </a:xfrm>
          <a:custGeom>
            <a:avLst/>
            <a:gdLst/>
            <a:ahLst/>
            <a:cxnLst/>
            <a:rect l="l" t="t" r="r" b="b"/>
            <a:pathLst>
              <a:path w="393" h="392">
                <a:moveTo>
                  <a:pt x="0" y="0"/>
                </a:moveTo>
                <a:lnTo>
                  <a:pt x="16" y="2"/>
                </a:lnTo>
                <a:lnTo>
                  <a:pt x="33" y="7"/>
                </a:lnTo>
                <a:lnTo>
                  <a:pt x="49" y="16"/>
                </a:lnTo>
                <a:lnTo>
                  <a:pt x="65" y="28"/>
                </a:lnTo>
                <a:lnTo>
                  <a:pt x="82" y="42"/>
                </a:lnTo>
                <a:lnTo>
                  <a:pt x="98" y="59"/>
                </a:lnTo>
                <a:lnTo>
                  <a:pt x="114" y="78"/>
                </a:lnTo>
                <a:lnTo>
                  <a:pt x="131" y="98"/>
                </a:lnTo>
                <a:lnTo>
                  <a:pt x="147" y="120"/>
                </a:lnTo>
                <a:lnTo>
                  <a:pt x="164" y="142"/>
                </a:lnTo>
                <a:lnTo>
                  <a:pt x="180" y="166"/>
                </a:lnTo>
                <a:lnTo>
                  <a:pt x="196" y="189"/>
                </a:lnTo>
                <a:lnTo>
                  <a:pt x="213" y="213"/>
                </a:lnTo>
                <a:lnTo>
                  <a:pt x="229" y="236"/>
                </a:lnTo>
                <a:lnTo>
                  <a:pt x="246" y="259"/>
                </a:lnTo>
                <a:lnTo>
                  <a:pt x="262" y="281"/>
                </a:lnTo>
                <a:lnTo>
                  <a:pt x="278" y="301"/>
                </a:lnTo>
                <a:lnTo>
                  <a:pt x="295" y="320"/>
                </a:lnTo>
                <a:lnTo>
                  <a:pt x="311" y="336"/>
                </a:lnTo>
                <a:lnTo>
                  <a:pt x="327" y="351"/>
                </a:lnTo>
                <a:lnTo>
                  <a:pt x="344" y="363"/>
                </a:lnTo>
                <a:lnTo>
                  <a:pt x="360" y="371"/>
                </a:lnTo>
                <a:lnTo>
                  <a:pt x="377" y="377"/>
                </a:lnTo>
                <a:lnTo>
                  <a:pt x="393" y="379"/>
                </a:lnTo>
                <a:lnTo>
                  <a:pt x="393" y="392"/>
                </a:lnTo>
                <a:lnTo>
                  <a:pt x="377" y="390"/>
                </a:lnTo>
                <a:lnTo>
                  <a:pt x="360" y="385"/>
                </a:lnTo>
                <a:lnTo>
                  <a:pt x="344" y="376"/>
                </a:lnTo>
                <a:lnTo>
                  <a:pt x="327" y="364"/>
                </a:lnTo>
                <a:lnTo>
                  <a:pt x="311" y="350"/>
                </a:lnTo>
                <a:lnTo>
                  <a:pt x="295" y="333"/>
                </a:lnTo>
                <a:lnTo>
                  <a:pt x="278" y="314"/>
                </a:lnTo>
                <a:lnTo>
                  <a:pt x="262" y="294"/>
                </a:lnTo>
                <a:lnTo>
                  <a:pt x="246" y="272"/>
                </a:lnTo>
                <a:lnTo>
                  <a:pt x="229" y="250"/>
                </a:lnTo>
                <a:lnTo>
                  <a:pt x="213" y="226"/>
                </a:lnTo>
                <a:lnTo>
                  <a:pt x="196" y="203"/>
                </a:lnTo>
                <a:lnTo>
                  <a:pt x="180" y="179"/>
                </a:lnTo>
                <a:lnTo>
                  <a:pt x="164" y="156"/>
                </a:lnTo>
                <a:lnTo>
                  <a:pt x="147" y="133"/>
                </a:lnTo>
                <a:lnTo>
                  <a:pt x="131" y="112"/>
                </a:lnTo>
                <a:lnTo>
                  <a:pt x="114" y="91"/>
                </a:lnTo>
                <a:lnTo>
                  <a:pt x="98" y="73"/>
                </a:lnTo>
                <a:lnTo>
                  <a:pt x="82" y="56"/>
                </a:lnTo>
                <a:lnTo>
                  <a:pt x="65" y="41"/>
                </a:lnTo>
                <a:lnTo>
                  <a:pt x="49" y="30"/>
                </a:lnTo>
                <a:lnTo>
                  <a:pt x="33" y="21"/>
                </a:lnTo>
                <a:lnTo>
                  <a:pt x="16" y="15"/>
                </a:lnTo>
                <a:lnTo>
                  <a:pt x="0" y="1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019300"/>
            <a:ext cx="3743325" cy="609600"/>
          </a:xfrm>
          <a:custGeom>
            <a:avLst/>
            <a:gdLst/>
            <a:ahLst/>
            <a:cxnLst/>
            <a:rect l="l" t="t" r="r" b="b"/>
            <a:pathLst>
              <a:path w="393" h="64">
                <a:moveTo>
                  <a:pt x="0" y="4"/>
                </a:moveTo>
                <a:lnTo>
                  <a:pt x="16" y="4"/>
                </a:lnTo>
                <a:lnTo>
                  <a:pt x="33" y="4"/>
                </a:lnTo>
                <a:lnTo>
                  <a:pt x="49" y="4"/>
                </a:lnTo>
                <a:lnTo>
                  <a:pt x="65" y="4"/>
                </a:lnTo>
                <a:lnTo>
                  <a:pt x="82" y="4"/>
                </a:lnTo>
                <a:lnTo>
                  <a:pt x="98" y="4"/>
                </a:lnTo>
                <a:lnTo>
                  <a:pt x="114" y="3"/>
                </a:lnTo>
                <a:lnTo>
                  <a:pt x="131" y="3"/>
                </a:lnTo>
                <a:lnTo>
                  <a:pt x="147" y="3"/>
                </a:lnTo>
                <a:lnTo>
                  <a:pt x="164" y="3"/>
                </a:lnTo>
                <a:lnTo>
                  <a:pt x="180" y="2"/>
                </a:lnTo>
                <a:lnTo>
                  <a:pt x="196" y="2"/>
                </a:lnTo>
                <a:lnTo>
                  <a:pt x="213" y="2"/>
                </a:lnTo>
                <a:lnTo>
                  <a:pt x="229" y="1"/>
                </a:lnTo>
                <a:lnTo>
                  <a:pt x="246" y="1"/>
                </a:lnTo>
                <a:lnTo>
                  <a:pt x="262" y="1"/>
                </a:lnTo>
                <a:lnTo>
                  <a:pt x="278" y="1"/>
                </a:lnTo>
                <a:lnTo>
                  <a:pt x="295" y="0"/>
                </a:lnTo>
                <a:lnTo>
                  <a:pt x="311" y="0"/>
                </a:lnTo>
                <a:lnTo>
                  <a:pt x="327" y="0"/>
                </a:lnTo>
                <a:lnTo>
                  <a:pt x="344" y="0"/>
                </a:lnTo>
                <a:lnTo>
                  <a:pt x="360" y="0"/>
                </a:lnTo>
                <a:lnTo>
                  <a:pt x="377" y="0"/>
                </a:lnTo>
                <a:lnTo>
                  <a:pt x="393" y="0"/>
                </a:lnTo>
                <a:lnTo>
                  <a:pt x="393" y="59"/>
                </a:lnTo>
                <a:lnTo>
                  <a:pt x="377" y="59"/>
                </a:lnTo>
                <a:lnTo>
                  <a:pt x="360" y="59"/>
                </a:lnTo>
                <a:lnTo>
                  <a:pt x="344" y="60"/>
                </a:lnTo>
                <a:lnTo>
                  <a:pt x="327" y="60"/>
                </a:lnTo>
                <a:lnTo>
                  <a:pt x="311" y="60"/>
                </a:lnTo>
                <a:lnTo>
                  <a:pt x="295" y="60"/>
                </a:lnTo>
                <a:lnTo>
                  <a:pt x="278" y="60"/>
                </a:lnTo>
                <a:lnTo>
                  <a:pt x="262" y="61"/>
                </a:lnTo>
                <a:lnTo>
                  <a:pt x="246" y="61"/>
                </a:lnTo>
                <a:lnTo>
                  <a:pt x="229" y="61"/>
                </a:lnTo>
                <a:lnTo>
                  <a:pt x="213" y="61"/>
                </a:lnTo>
                <a:lnTo>
                  <a:pt x="196" y="62"/>
                </a:lnTo>
                <a:lnTo>
                  <a:pt x="180" y="62"/>
                </a:lnTo>
                <a:lnTo>
                  <a:pt x="164" y="62"/>
                </a:lnTo>
                <a:lnTo>
                  <a:pt x="147" y="63"/>
                </a:lnTo>
                <a:lnTo>
                  <a:pt x="131" y="63"/>
                </a:lnTo>
                <a:lnTo>
                  <a:pt x="114" y="63"/>
                </a:lnTo>
                <a:lnTo>
                  <a:pt x="98" y="63"/>
                </a:lnTo>
                <a:lnTo>
                  <a:pt x="82" y="63"/>
                </a:lnTo>
                <a:lnTo>
                  <a:pt x="65" y="64"/>
                </a:lnTo>
                <a:lnTo>
                  <a:pt x="49" y="64"/>
                </a:lnTo>
                <a:lnTo>
                  <a:pt x="33" y="64"/>
                </a:lnTo>
                <a:lnTo>
                  <a:pt x="16" y="64"/>
                </a:lnTo>
                <a:lnTo>
                  <a:pt x="0" y="6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628900"/>
            <a:ext cx="3743325" cy="3114675"/>
          </a:xfrm>
          <a:custGeom>
            <a:avLst/>
            <a:gdLst/>
            <a:ahLst/>
            <a:cxnLst/>
            <a:rect l="l" t="t" r="r" b="b"/>
            <a:pathLst>
              <a:path w="393" h="327">
                <a:moveTo>
                  <a:pt x="0" y="0"/>
                </a:moveTo>
                <a:lnTo>
                  <a:pt x="16" y="2"/>
                </a:lnTo>
                <a:lnTo>
                  <a:pt x="33" y="6"/>
                </a:lnTo>
                <a:lnTo>
                  <a:pt x="49" y="13"/>
                </a:lnTo>
                <a:lnTo>
                  <a:pt x="65" y="23"/>
                </a:lnTo>
                <a:lnTo>
                  <a:pt x="82" y="35"/>
                </a:lnTo>
                <a:lnTo>
                  <a:pt x="98" y="49"/>
                </a:lnTo>
                <a:lnTo>
                  <a:pt x="114" y="64"/>
                </a:lnTo>
                <a:lnTo>
                  <a:pt x="131" y="81"/>
                </a:lnTo>
                <a:lnTo>
                  <a:pt x="147" y="99"/>
                </a:lnTo>
                <a:lnTo>
                  <a:pt x="164" y="118"/>
                </a:lnTo>
                <a:lnTo>
                  <a:pt x="180" y="137"/>
                </a:lnTo>
                <a:lnTo>
                  <a:pt x="196" y="157"/>
                </a:lnTo>
                <a:lnTo>
                  <a:pt x="213" y="176"/>
                </a:lnTo>
                <a:lnTo>
                  <a:pt x="229" y="196"/>
                </a:lnTo>
                <a:lnTo>
                  <a:pt x="246" y="214"/>
                </a:lnTo>
                <a:lnTo>
                  <a:pt x="262" y="232"/>
                </a:lnTo>
                <a:lnTo>
                  <a:pt x="278" y="249"/>
                </a:lnTo>
                <a:lnTo>
                  <a:pt x="295" y="264"/>
                </a:lnTo>
                <a:lnTo>
                  <a:pt x="311" y="278"/>
                </a:lnTo>
                <a:lnTo>
                  <a:pt x="327" y="290"/>
                </a:lnTo>
                <a:lnTo>
                  <a:pt x="344" y="300"/>
                </a:lnTo>
                <a:lnTo>
                  <a:pt x="360" y="307"/>
                </a:lnTo>
                <a:lnTo>
                  <a:pt x="377" y="312"/>
                </a:lnTo>
                <a:lnTo>
                  <a:pt x="393" y="313"/>
                </a:lnTo>
                <a:lnTo>
                  <a:pt x="393" y="327"/>
                </a:lnTo>
                <a:lnTo>
                  <a:pt x="377" y="325"/>
                </a:lnTo>
                <a:lnTo>
                  <a:pt x="360" y="321"/>
                </a:lnTo>
                <a:lnTo>
                  <a:pt x="344" y="314"/>
                </a:lnTo>
                <a:lnTo>
                  <a:pt x="327" y="304"/>
                </a:lnTo>
                <a:lnTo>
                  <a:pt x="311" y="292"/>
                </a:lnTo>
                <a:lnTo>
                  <a:pt x="295" y="278"/>
                </a:lnTo>
                <a:lnTo>
                  <a:pt x="278" y="263"/>
                </a:lnTo>
                <a:lnTo>
                  <a:pt x="262" y="246"/>
                </a:lnTo>
                <a:lnTo>
                  <a:pt x="246" y="228"/>
                </a:lnTo>
                <a:lnTo>
                  <a:pt x="229" y="209"/>
                </a:lnTo>
                <a:lnTo>
                  <a:pt x="213" y="190"/>
                </a:lnTo>
                <a:lnTo>
                  <a:pt x="196" y="170"/>
                </a:lnTo>
                <a:lnTo>
                  <a:pt x="180" y="151"/>
                </a:lnTo>
                <a:lnTo>
                  <a:pt x="164" y="131"/>
                </a:lnTo>
                <a:lnTo>
                  <a:pt x="147" y="113"/>
                </a:lnTo>
                <a:lnTo>
                  <a:pt x="131" y="95"/>
                </a:lnTo>
                <a:lnTo>
                  <a:pt x="114" y="78"/>
                </a:lnTo>
                <a:lnTo>
                  <a:pt x="98" y="63"/>
                </a:lnTo>
                <a:lnTo>
                  <a:pt x="82" y="49"/>
                </a:lnTo>
                <a:lnTo>
                  <a:pt x="65" y="37"/>
                </a:lnTo>
                <a:lnTo>
                  <a:pt x="49" y="27"/>
                </a:lnTo>
                <a:lnTo>
                  <a:pt x="33" y="20"/>
                </a:lnTo>
                <a:lnTo>
                  <a:pt x="16" y="15"/>
                </a:lnTo>
                <a:lnTo>
                  <a:pt x="0" y="1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581275"/>
            <a:ext cx="3743325" cy="800100"/>
          </a:xfrm>
          <a:custGeom>
            <a:avLst/>
            <a:gdLst/>
            <a:ahLst/>
            <a:cxnLst/>
            <a:rect l="l" t="t" r="r" b="b"/>
            <a:pathLst>
              <a:path w="393" h="84">
                <a:moveTo>
                  <a:pt x="0" y="25"/>
                </a:moveTo>
                <a:lnTo>
                  <a:pt x="16" y="24"/>
                </a:lnTo>
                <a:lnTo>
                  <a:pt x="33" y="24"/>
                </a:lnTo>
                <a:lnTo>
                  <a:pt x="49" y="24"/>
                </a:lnTo>
                <a:lnTo>
                  <a:pt x="65" y="23"/>
                </a:lnTo>
                <a:lnTo>
                  <a:pt x="82" y="22"/>
                </a:lnTo>
                <a:lnTo>
                  <a:pt x="98" y="21"/>
                </a:lnTo>
                <a:lnTo>
                  <a:pt x="114" y="20"/>
                </a:lnTo>
                <a:lnTo>
                  <a:pt x="131" y="18"/>
                </a:lnTo>
                <a:lnTo>
                  <a:pt x="147" y="17"/>
                </a:lnTo>
                <a:lnTo>
                  <a:pt x="164" y="15"/>
                </a:lnTo>
                <a:lnTo>
                  <a:pt x="180" y="14"/>
                </a:lnTo>
                <a:lnTo>
                  <a:pt x="196" y="12"/>
                </a:lnTo>
                <a:lnTo>
                  <a:pt x="213" y="11"/>
                </a:lnTo>
                <a:lnTo>
                  <a:pt x="229" y="9"/>
                </a:lnTo>
                <a:lnTo>
                  <a:pt x="246" y="8"/>
                </a:lnTo>
                <a:lnTo>
                  <a:pt x="262" y="7"/>
                </a:lnTo>
                <a:lnTo>
                  <a:pt x="278" y="5"/>
                </a:lnTo>
                <a:lnTo>
                  <a:pt x="295" y="4"/>
                </a:lnTo>
                <a:lnTo>
                  <a:pt x="311" y="3"/>
                </a:lnTo>
                <a:lnTo>
                  <a:pt x="327" y="2"/>
                </a:lnTo>
                <a:lnTo>
                  <a:pt x="344" y="1"/>
                </a:lnTo>
                <a:lnTo>
                  <a:pt x="360" y="1"/>
                </a:lnTo>
                <a:lnTo>
                  <a:pt x="377" y="0"/>
                </a:lnTo>
                <a:lnTo>
                  <a:pt x="393" y="0"/>
                </a:lnTo>
                <a:lnTo>
                  <a:pt x="393" y="60"/>
                </a:lnTo>
                <a:lnTo>
                  <a:pt x="377" y="60"/>
                </a:lnTo>
                <a:lnTo>
                  <a:pt x="360" y="61"/>
                </a:lnTo>
                <a:lnTo>
                  <a:pt x="344" y="61"/>
                </a:lnTo>
                <a:lnTo>
                  <a:pt x="327" y="62"/>
                </a:lnTo>
                <a:lnTo>
                  <a:pt x="311" y="63"/>
                </a:lnTo>
                <a:lnTo>
                  <a:pt x="295" y="64"/>
                </a:lnTo>
                <a:lnTo>
                  <a:pt x="278" y="65"/>
                </a:lnTo>
                <a:lnTo>
                  <a:pt x="262" y="66"/>
                </a:lnTo>
                <a:lnTo>
                  <a:pt x="246" y="68"/>
                </a:lnTo>
                <a:lnTo>
                  <a:pt x="229" y="69"/>
                </a:lnTo>
                <a:lnTo>
                  <a:pt x="213" y="71"/>
                </a:lnTo>
                <a:lnTo>
                  <a:pt x="196" y="72"/>
                </a:lnTo>
                <a:lnTo>
                  <a:pt x="180" y="74"/>
                </a:lnTo>
                <a:lnTo>
                  <a:pt x="164" y="75"/>
                </a:lnTo>
                <a:lnTo>
                  <a:pt x="147" y="77"/>
                </a:lnTo>
                <a:lnTo>
                  <a:pt x="131" y="78"/>
                </a:lnTo>
                <a:lnTo>
                  <a:pt x="114" y="79"/>
                </a:lnTo>
                <a:lnTo>
                  <a:pt x="98" y="80"/>
                </a:lnTo>
                <a:lnTo>
                  <a:pt x="82" y="82"/>
                </a:lnTo>
                <a:lnTo>
                  <a:pt x="65" y="82"/>
                </a:lnTo>
                <a:lnTo>
                  <a:pt x="49" y="83"/>
                </a:lnTo>
                <a:lnTo>
                  <a:pt x="33" y="84"/>
                </a:lnTo>
                <a:lnTo>
                  <a:pt x="16" y="84"/>
                </a:lnTo>
                <a:lnTo>
                  <a:pt x="0" y="8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381375"/>
            <a:ext cx="3743325" cy="2495550"/>
          </a:xfrm>
          <a:custGeom>
            <a:avLst/>
            <a:gdLst/>
            <a:ahLst/>
            <a:cxnLst/>
            <a:rect l="l" t="t" r="r" b="b"/>
            <a:pathLst>
              <a:path w="393" h="262">
                <a:moveTo>
                  <a:pt x="0" y="0"/>
                </a:moveTo>
                <a:lnTo>
                  <a:pt x="16" y="2"/>
                </a:lnTo>
                <a:lnTo>
                  <a:pt x="33" y="5"/>
                </a:lnTo>
                <a:lnTo>
                  <a:pt x="49" y="11"/>
                </a:lnTo>
                <a:lnTo>
                  <a:pt x="65" y="19"/>
                </a:lnTo>
                <a:lnTo>
                  <a:pt x="82" y="28"/>
                </a:lnTo>
                <a:lnTo>
                  <a:pt x="98" y="39"/>
                </a:lnTo>
                <a:lnTo>
                  <a:pt x="114" y="51"/>
                </a:lnTo>
                <a:lnTo>
                  <a:pt x="131" y="64"/>
                </a:lnTo>
                <a:lnTo>
                  <a:pt x="147" y="79"/>
                </a:lnTo>
                <a:lnTo>
                  <a:pt x="164" y="93"/>
                </a:lnTo>
                <a:lnTo>
                  <a:pt x="180" y="109"/>
                </a:lnTo>
                <a:lnTo>
                  <a:pt x="196" y="124"/>
                </a:lnTo>
                <a:lnTo>
                  <a:pt x="213" y="140"/>
                </a:lnTo>
                <a:lnTo>
                  <a:pt x="229" y="155"/>
                </a:lnTo>
                <a:lnTo>
                  <a:pt x="246" y="170"/>
                </a:lnTo>
                <a:lnTo>
                  <a:pt x="262" y="184"/>
                </a:lnTo>
                <a:lnTo>
                  <a:pt x="278" y="197"/>
                </a:lnTo>
                <a:lnTo>
                  <a:pt x="295" y="209"/>
                </a:lnTo>
                <a:lnTo>
                  <a:pt x="311" y="220"/>
                </a:lnTo>
                <a:lnTo>
                  <a:pt x="327" y="230"/>
                </a:lnTo>
                <a:lnTo>
                  <a:pt x="344" y="237"/>
                </a:lnTo>
                <a:lnTo>
                  <a:pt x="360" y="243"/>
                </a:lnTo>
                <a:lnTo>
                  <a:pt x="377" y="247"/>
                </a:lnTo>
                <a:lnTo>
                  <a:pt x="393" y="248"/>
                </a:lnTo>
                <a:lnTo>
                  <a:pt x="393" y="262"/>
                </a:lnTo>
                <a:lnTo>
                  <a:pt x="377" y="260"/>
                </a:lnTo>
                <a:lnTo>
                  <a:pt x="360" y="257"/>
                </a:lnTo>
                <a:lnTo>
                  <a:pt x="344" y="251"/>
                </a:lnTo>
                <a:lnTo>
                  <a:pt x="327" y="243"/>
                </a:lnTo>
                <a:lnTo>
                  <a:pt x="311" y="234"/>
                </a:lnTo>
                <a:lnTo>
                  <a:pt x="295" y="223"/>
                </a:lnTo>
                <a:lnTo>
                  <a:pt x="278" y="211"/>
                </a:lnTo>
                <a:lnTo>
                  <a:pt x="262" y="197"/>
                </a:lnTo>
                <a:lnTo>
                  <a:pt x="246" y="183"/>
                </a:lnTo>
                <a:lnTo>
                  <a:pt x="229" y="168"/>
                </a:lnTo>
                <a:lnTo>
                  <a:pt x="213" y="153"/>
                </a:lnTo>
                <a:lnTo>
                  <a:pt x="196" y="138"/>
                </a:lnTo>
                <a:lnTo>
                  <a:pt x="180" y="122"/>
                </a:lnTo>
                <a:lnTo>
                  <a:pt x="164" y="107"/>
                </a:lnTo>
                <a:lnTo>
                  <a:pt x="147" y="92"/>
                </a:lnTo>
                <a:lnTo>
                  <a:pt x="131" y="78"/>
                </a:lnTo>
                <a:lnTo>
                  <a:pt x="114" y="65"/>
                </a:lnTo>
                <a:lnTo>
                  <a:pt x="98" y="53"/>
                </a:lnTo>
                <a:lnTo>
                  <a:pt x="82" y="42"/>
                </a:lnTo>
                <a:lnTo>
                  <a:pt x="65" y="32"/>
                </a:lnTo>
                <a:lnTo>
                  <a:pt x="49" y="25"/>
                </a:lnTo>
                <a:lnTo>
                  <a:pt x="33" y="19"/>
                </a:lnTo>
                <a:lnTo>
                  <a:pt x="16" y="15"/>
                </a:lnTo>
                <a:lnTo>
                  <a:pt x="0" y="1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152775"/>
            <a:ext cx="3743325" cy="990600"/>
          </a:xfrm>
          <a:custGeom>
            <a:avLst/>
            <a:gdLst/>
            <a:ahLst/>
            <a:cxnLst/>
            <a:rect l="l" t="t" r="r" b="b"/>
            <a:pathLst>
              <a:path w="393" h="104">
                <a:moveTo>
                  <a:pt x="0" y="44"/>
                </a:moveTo>
                <a:lnTo>
                  <a:pt x="16" y="44"/>
                </a:lnTo>
                <a:lnTo>
                  <a:pt x="33" y="43"/>
                </a:lnTo>
                <a:lnTo>
                  <a:pt x="49" y="42"/>
                </a:lnTo>
                <a:lnTo>
                  <a:pt x="65" y="41"/>
                </a:lnTo>
                <a:lnTo>
                  <a:pt x="82" y="39"/>
                </a:lnTo>
                <a:lnTo>
                  <a:pt x="98" y="37"/>
                </a:lnTo>
                <a:lnTo>
                  <a:pt x="114" y="35"/>
                </a:lnTo>
                <a:lnTo>
                  <a:pt x="131" y="33"/>
                </a:lnTo>
                <a:lnTo>
                  <a:pt x="147" y="30"/>
                </a:lnTo>
                <a:lnTo>
                  <a:pt x="164" y="27"/>
                </a:lnTo>
                <a:lnTo>
                  <a:pt x="180" y="25"/>
                </a:lnTo>
                <a:lnTo>
                  <a:pt x="196" y="22"/>
                </a:lnTo>
                <a:lnTo>
                  <a:pt x="213" y="19"/>
                </a:lnTo>
                <a:lnTo>
                  <a:pt x="229" y="17"/>
                </a:lnTo>
                <a:lnTo>
                  <a:pt x="246" y="14"/>
                </a:lnTo>
                <a:lnTo>
                  <a:pt x="262" y="11"/>
                </a:lnTo>
                <a:lnTo>
                  <a:pt x="278" y="9"/>
                </a:lnTo>
                <a:lnTo>
                  <a:pt x="295" y="7"/>
                </a:lnTo>
                <a:lnTo>
                  <a:pt x="311" y="5"/>
                </a:lnTo>
                <a:lnTo>
                  <a:pt x="327" y="3"/>
                </a:lnTo>
                <a:lnTo>
                  <a:pt x="344" y="2"/>
                </a:lnTo>
                <a:lnTo>
                  <a:pt x="360" y="1"/>
                </a:lnTo>
                <a:lnTo>
                  <a:pt x="377" y="0"/>
                </a:lnTo>
                <a:lnTo>
                  <a:pt x="393" y="0"/>
                </a:lnTo>
                <a:lnTo>
                  <a:pt x="393" y="60"/>
                </a:lnTo>
                <a:lnTo>
                  <a:pt x="377" y="60"/>
                </a:lnTo>
                <a:lnTo>
                  <a:pt x="360" y="61"/>
                </a:lnTo>
                <a:lnTo>
                  <a:pt x="344" y="62"/>
                </a:lnTo>
                <a:lnTo>
                  <a:pt x="327" y="63"/>
                </a:lnTo>
                <a:lnTo>
                  <a:pt x="311" y="65"/>
                </a:lnTo>
                <a:lnTo>
                  <a:pt x="295" y="67"/>
                </a:lnTo>
                <a:lnTo>
                  <a:pt x="278" y="69"/>
                </a:lnTo>
                <a:lnTo>
                  <a:pt x="262" y="71"/>
                </a:lnTo>
                <a:lnTo>
                  <a:pt x="246" y="74"/>
                </a:lnTo>
                <a:lnTo>
                  <a:pt x="229" y="76"/>
                </a:lnTo>
                <a:lnTo>
                  <a:pt x="213" y="79"/>
                </a:lnTo>
                <a:lnTo>
                  <a:pt x="196" y="82"/>
                </a:lnTo>
                <a:lnTo>
                  <a:pt x="180" y="84"/>
                </a:lnTo>
                <a:lnTo>
                  <a:pt x="164" y="87"/>
                </a:lnTo>
                <a:lnTo>
                  <a:pt x="147" y="90"/>
                </a:lnTo>
                <a:lnTo>
                  <a:pt x="131" y="92"/>
                </a:lnTo>
                <a:lnTo>
                  <a:pt x="114" y="95"/>
                </a:lnTo>
                <a:lnTo>
                  <a:pt x="98" y="97"/>
                </a:lnTo>
                <a:lnTo>
                  <a:pt x="82" y="99"/>
                </a:lnTo>
                <a:lnTo>
                  <a:pt x="65" y="100"/>
                </a:lnTo>
                <a:lnTo>
                  <a:pt x="49" y="102"/>
                </a:lnTo>
                <a:lnTo>
                  <a:pt x="33" y="103"/>
                </a:lnTo>
                <a:lnTo>
                  <a:pt x="16" y="103"/>
                </a:lnTo>
                <a:lnTo>
                  <a:pt x="0" y="10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143375"/>
            <a:ext cx="3743325" cy="1857375"/>
          </a:xfrm>
          <a:custGeom>
            <a:avLst/>
            <a:gdLst/>
            <a:ahLst/>
            <a:cxnLst/>
            <a:rect l="l" t="t" r="r" b="b"/>
            <a:pathLst>
              <a:path w="393" h="195">
                <a:moveTo>
                  <a:pt x="0" y="0"/>
                </a:moveTo>
                <a:lnTo>
                  <a:pt x="16" y="0"/>
                </a:lnTo>
                <a:lnTo>
                  <a:pt x="33" y="3"/>
                </a:lnTo>
                <a:lnTo>
                  <a:pt x="49" y="7"/>
                </a:lnTo>
                <a:lnTo>
                  <a:pt x="65" y="13"/>
                </a:lnTo>
                <a:lnTo>
                  <a:pt x="82" y="20"/>
                </a:lnTo>
                <a:lnTo>
                  <a:pt x="98" y="28"/>
                </a:lnTo>
                <a:lnTo>
                  <a:pt x="114" y="37"/>
                </a:lnTo>
                <a:lnTo>
                  <a:pt x="131" y="47"/>
                </a:lnTo>
                <a:lnTo>
                  <a:pt x="147" y="57"/>
                </a:lnTo>
                <a:lnTo>
                  <a:pt x="164" y="68"/>
                </a:lnTo>
                <a:lnTo>
                  <a:pt x="180" y="79"/>
                </a:lnTo>
                <a:lnTo>
                  <a:pt x="196" y="91"/>
                </a:lnTo>
                <a:lnTo>
                  <a:pt x="213" y="102"/>
                </a:lnTo>
                <a:lnTo>
                  <a:pt x="229" y="113"/>
                </a:lnTo>
                <a:lnTo>
                  <a:pt x="246" y="124"/>
                </a:lnTo>
                <a:lnTo>
                  <a:pt x="262" y="134"/>
                </a:lnTo>
                <a:lnTo>
                  <a:pt x="278" y="144"/>
                </a:lnTo>
                <a:lnTo>
                  <a:pt x="295" y="153"/>
                </a:lnTo>
                <a:lnTo>
                  <a:pt x="311" y="161"/>
                </a:lnTo>
                <a:lnTo>
                  <a:pt x="327" y="168"/>
                </a:lnTo>
                <a:lnTo>
                  <a:pt x="344" y="174"/>
                </a:lnTo>
                <a:lnTo>
                  <a:pt x="360" y="178"/>
                </a:lnTo>
                <a:lnTo>
                  <a:pt x="377" y="181"/>
                </a:lnTo>
                <a:lnTo>
                  <a:pt x="393" y="182"/>
                </a:lnTo>
                <a:lnTo>
                  <a:pt x="393" y="195"/>
                </a:lnTo>
                <a:lnTo>
                  <a:pt x="377" y="194"/>
                </a:lnTo>
                <a:lnTo>
                  <a:pt x="360" y="192"/>
                </a:lnTo>
                <a:lnTo>
                  <a:pt x="344" y="187"/>
                </a:lnTo>
                <a:lnTo>
                  <a:pt x="327" y="182"/>
                </a:lnTo>
                <a:lnTo>
                  <a:pt x="311" y="175"/>
                </a:lnTo>
                <a:lnTo>
                  <a:pt x="295" y="167"/>
                </a:lnTo>
                <a:lnTo>
                  <a:pt x="278" y="158"/>
                </a:lnTo>
                <a:lnTo>
                  <a:pt x="262" y="148"/>
                </a:lnTo>
                <a:lnTo>
                  <a:pt x="246" y="138"/>
                </a:lnTo>
                <a:lnTo>
                  <a:pt x="229" y="127"/>
                </a:lnTo>
                <a:lnTo>
                  <a:pt x="213" y="116"/>
                </a:lnTo>
                <a:lnTo>
                  <a:pt x="196" y="104"/>
                </a:lnTo>
                <a:lnTo>
                  <a:pt x="180" y="93"/>
                </a:lnTo>
                <a:lnTo>
                  <a:pt x="164" y="82"/>
                </a:lnTo>
                <a:lnTo>
                  <a:pt x="147" y="71"/>
                </a:lnTo>
                <a:lnTo>
                  <a:pt x="131" y="60"/>
                </a:lnTo>
                <a:lnTo>
                  <a:pt x="114" y="51"/>
                </a:lnTo>
                <a:lnTo>
                  <a:pt x="98" y="42"/>
                </a:lnTo>
                <a:lnTo>
                  <a:pt x="82" y="34"/>
                </a:lnTo>
                <a:lnTo>
                  <a:pt x="65" y="27"/>
                </a:lnTo>
                <a:lnTo>
                  <a:pt x="49" y="21"/>
                </a:lnTo>
                <a:lnTo>
                  <a:pt x="33" y="17"/>
                </a:lnTo>
                <a:lnTo>
                  <a:pt x="16" y="14"/>
                </a:lnTo>
                <a:lnTo>
                  <a:pt x="0" y="1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3724275"/>
            <a:ext cx="3743325" cy="1171575"/>
          </a:xfrm>
          <a:custGeom>
            <a:avLst/>
            <a:gdLst/>
            <a:ahLst/>
            <a:cxnLst/>
            <a:rect l="l" t="t" r="r" b="b"/>
            <a:pathLst>
              <a:path w="393" h="123">
                <a:moveTo>
                  <a:pt x="0" y="63"/>
                </a:moveTo>
                <a:lnTo>
                  <a:pt x="16" y="63"/>
                </a:lnTo>
                <a:lnTo>
                  <a:pt x="33" y="62"/>
                </a:lnTo>
                <a:lnTo>
                  <a:pt x="49" y="60"/>
                </a:lnTo>
                <a:lnTo>
                  <a:pt x="65" y="58"/>
                </a:lnTo>
                <a:lnTo>
                  <a:pt x="82" y="56"/>
                </a:lnTo>
                <a:lnTo>
                  <a:pt x="98" y="53"/>
                </a:lnTo>
                <a:lnTo>
                  <a:pt x="114" y="50"/>
                </a:lnTo>
                <a:lnTo>
                  <a:pt x="131" y="47"/>
                </a:lnTo>
                <a:lnTo>
                  <a:pt x="147" y="43"/>
                </a:lnTo>
                <a:lnTo>
                  <a:pt x="164" y="39"/>
                </a:lnTo>
                <a:lnTo>
                  <a:pt x="180" y="35"/>
                </a:lnTo>
                <a:lnTo>
                  <a:pt x="196" y="31"/>
                </a:lnTo>
                <a:lnTo>
                  <a:pt x="213" y="27"/>
                </a:lnTo>
                <a:lnTo>
                  <a:pt x="229" y="24"/>
                </a:lnTo>
                <a:lnTo>
                  <a:pt x="246" y="20"/>
                </a:lnTo>
                <a:lnTo>
                  <a:pt x="262" y="16"/>
                </a:lnTo>
                <a:lnTo>
                  <a:pt x="278" y="13"/>
                </a:lnTo>
                <a:lnTo>
                  <a:pt x="295" y="10"/>
                </a:lnTo>
                <a:lnTo>
                  <a:pt x="311" y="7"/>
                </a:lnTo>
                <a:lnTo>
                  <a:pt x="327" y="4"/>
                </a:lnTo>
                <a:lnTo>
                  <a:pt x="344" y="2"/>
                </a:lnTo>
                <a:lnTo>
                  <a:pt x="360" y="1"/>
                </a:lnTo>
                <a:lnTo>
                  <a:pt x="377" y="0"/>
                </a:lnTo>
                <a:lnTo>
                  <a:pt x="393" y="0"/>
                </a:lnTo>
                <a:lnTo>
                  <a:pt x="393" y="59"/>
                </a:lnTo>
                <a:lnTo>
                  <a:pt x="377" y="60"/>
                </a:lnTo>
                <a:lnTo>
                  <a:pt x="360" y="61"/>
                </a:lnTo>
                <a:lnTo>
                  <a:pt x="344" y="62"/>
                </a:lnTo>
                <a:lnTo>
                  <a:pt x="327" y="64"/>
                </a:lnTo>
                <a:lnTo>
                  <a:pt x="311" y="67"/>
                </a:lnTo>
                <a:lnTo>
                  <a:pt x="295" y="69"/>
                </a:lnTo>
                <a:lnTo>
                  <a:pt x="278" y="72"/>
                </a:lnTo>
                <a:lnTo>
                  <a:pt x="262" y="76"/>
                </a:lnTo>
                <a:lnTo>
                  <a:pt x="246" y="79"/>
                </a:lnTo>
                <a:lnTo>
                  <a:pt x="229" y="83"/>
                </a:lnTo>
                <a:lnTo>
                  <a:pt x="213" y="87"/>
                </a:lnTo>
                <a:lnTo>
                  <a:pt x="196" y="91"/>
                </a:lnTo>
                <a:lnTo>
                  <a:pt x="180" y="95"/>
                </a:lnTo>
                <a:lnTo>
                  <a:pt x="164" y="99"/>
                </a:lnTo>
                <a:lnTo>
                  <a:pt x="147" y="103"/>
                </a:lnTo>
                <a:lnTo>
                  <a:pt x="131" y="106"/>
                </a:lnTo>
                <a:lnTo>
                  <a:pt x="114" y="110"/>
                </a:lnTo>
                <a:lnTo>
                  <a:pt x="98" y="113"/>
                </a:lnTo>
                <a:lnTo>
                  <a:pt x="82" y="116"/>
                </a:lnTo>
                <a:lnTo>
                  <a:pt x="65" y="118"/>
                </a:lnTo>
                <a:lnTo>
                  <a:pt x="49" y="120"/>
                </a:lnTo>
                <a:lnTo>
                  <a:pt x="33" y="122"/>
                </a:lnTo>
                <a:lnTo>
                  <a:pt x="16" y="123"/>
                </a:lnTo>
                <a:lnTo>
                  <a:pt x="0" y="12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895850"/>
            <a:ext cx="3743325" cy="1238250"/>
          </a:xfrm>
          <a:custGeom>
            <a:avLst/>
            <a:gdLst/>
            <a:ahLst/>
            <a:cxnLst/>
            <a:rect l="l" t="t" r="r" b="b"/>
            <a:pathLst>
              <a:path w="393" h="130">
                <a:moveTo>
                  <a:pt x="0" y="0"/>
                </a:moveTo>
                <a:lnTo>
                  <a:pt x="16" y="0"/>
                </a:lnTo>
                <a:lnTo>
                  <a:pt x="33" y="2"/>
                </a:lnTo>
                <a:lnTo>
                  <a:pt x="49" y="5"/>
                </a:lnTo>
                <a:lnTo>
                  <a:pt x="65" y="8"/>
                </a:lnTo>
                <a:lnTo>
                  <a:pt x="82" y="13"/>
                </a:lnTo>
                <a:lnTo>
                  <a:pt x="98" y="18"/>
                </a:lnTo>
                <a:lnTo>
                  <a:pt x="114" y="24"/>
                </a:lnTo>
                <a:lnTo>
                  <a:pt x="131" y="30"/>
                </a:lnTo>
                <a:lnTo>
                  <a:pt x="147" y="37"/>
                </a:lnTo>
                <a:lnTo>
                  <a:pt x="164" y="44"/>
                </a:lnTo>
                <a:lnTo>
                  <a:pt x="180" y="51"/>
                </a:lnTo>
                <a:lnTo>
                  <a:pt x="196" y="58"/>
                </a:lnTo>
                <a:lnTo>
                  <a:pt x="213" y="65"/>
                </a:lnTo>
                <a:lnTo>
                  <a:pt x="229" y="72"/>
                </a:lnTo>
                <a:lnTo>
                  <a:pt x="246" y="79"/>
                </a:lnTo>
                <a:lnTo>
                  <a:pt x="262" y="86"/>
                </a:lnTo>
                <a:lnTo>
                  <a:pt x="278" y="92"/>
                </a:lnTo>
                <a:lnTo>
                  <a:pt x="295" y="98"/>
                </a:lnTo>
                <a:lnTo>
                  <a:pt x="311" y="103"/>
                </a:lnTo>
                <a:lnTo>
                  <a:pt x="327" y="108"/>
                </a:lnTo>
                <a:lnTo>
                  <a:pt x="344" y="111"/>
                </a:lnTo>
                <a:lnTo>
                  <a:pt x="360" y="114"/>
                </a:lnTo>
                <a:lnTo>
                  <a:pt x="377" y="116"/>
                </a:lnTo>
                <a:lnTo>
                  <a:pt x="393" y="116"/>
                </a:lnTo>
                <a:lnTo>
                  <a:pt x="393" y="130"/>
                </a:lnTo>
                <a:lnTo>
                  <a:pt x="377" y="129"/>
                </a:lnTo>
                <a:lnTo>
                  <a:pt x="360" y="128"/>
                </a:lnTo>
                <a:lnTo>
                  <a:pt x="344" y="125"/>
                </a:lnTo>
                <a:lnTo>
                  <a:pt x="327" y="121"/>
                </a:lnTo>
                <a:lnTo>
                  <a:pt x="311" y="117"/>
                </a:lnTo>
                <a:lnTo>
                  <a:pt x="295" y="112"/>
                </a:lnTo>
                <a:lnTo>
                  <a:pt x="278" y="106"/>
                </a:lnTo>
                <a:lnTo>
                  <a:pt x="262" y="100"/>
                </a:lnTo>
                <a:lnTo>
                  <a:pt x="246" y="93"/>
                </a:lnTo>
                <a:lnTo>
                  <a:pt x="229" y="86"/>
                </a:lnTo>
                <a:lnTo>
                  <a:pt x="213" y="79"/>
                </a:lnTo>
                <a:lnTo>
                  <a:pt x="196" y="72"/>
                </a:lnTo>
                <a:lnTo>
                  <a:pt x="180" y="64"/>
                </a:lnTo>
                <a:lnTo>
                  <a:pt x="164" y="57"/>
                </a:lnTo>
                <a:lnTo>
                  <a:pt x="147" y="50"/>
                </a:lnTo>
                <a:lnTo>
                  <a:pt x="131" y="44"/>
                </a:lnTo>
                <a:lnTo>
                  <a:pt x="114" y="37"/>
                </a:lnTo>
                <a:lnTo>
                  <a:pt x="98" y="32"/>
                </a:lnTo>
                <a:lnTo>
                  <a:pt x="82" y="26"/>
                </a:lnTo>
                <a:lnTo>
                  <a:pt x="65" y="22"/>
                </a:lnTo>
                <a:lnTo>
                  <a:pt x="49" y="18"/>
                </a:lnTo>
                <a:lnTo>
                  <a:pt x="33" y="16"/>
                </a:lnTo>
                <a:lnTo>
                  <a:pt x="16" y="14"/>
                </a:lnTo>
                <a:lnTo>
                  <a:pt x="0" y="13"/>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286250"/>
            <a:ext cx="3743325" cy="1362075"/>
          </a:xfrm>
          <a:custGeom>
            <a:avLst/>
            <a:gdLst/>
            <a:ahLst/>
            <a:cxnLst/>
            <a:rect l="l" t="t" r="r" b="b"/>
            <a:pathLst>
              <a:path w="393" h="143">
                <a:moveTo>
                  <a:pt x="0" y="83"/>
                </a:moveTo>
                <a:lnTo>
                  <a:pt x="16" y="83"/>
                </a:lnTo>
                <a:lnTo>
                  <a:pt x="33" y="82"/>
                </a:lnTo>
                <a:lnTo>
                  <a:pt x="49" y="80"/>
                </a:lnTo>
                <a:lnTo>
                  <a:pt x="65" y="77"/>
                </a:lnTo>
                <a:lnTo>
                  <a:pt x="82" y="74"/>
                </a:lnTo>
                <a:lnTo>
                  <a:pt x="98" y="70"/>
                </a:lnTo>
                <a:lnTo>
                  <a:pt x="114" y="66"/>
                </a:lnTo>
                <a:lnTo>
                  <a:pt x="131" y="62"/>
                </a:lnTo>
                <a:lnTo>
                  <a:pt x="147" y="57"/>
                </a:lnTo>
                <a:lnTo>
                  <a:pt x="164" y="52"/>
                </a:lnTo>
                <a:lnTo>
                  <a:pt x="180" y="47"/>
                </a:lnTo>
                <a:lnTo>
                  <a:pt x="196" y="42"/>
                </a:lnTo>
                <a:lnTo>
                  <a:pt x="213" y="37"/>
                </a:lnTo>
                <a:lnTo>
                  <a:pt x="229" y="32"/>
                </a:lnTo>
                <a:lnTo>
                  <a:pt x="246" y="27"/>
                </a:lnTo>
                <a:lnTo>
                  <a:pt x="262" y="22"/>
                </a:lnTo>
                <a:lnTo>
                  <a:pt x="278" y="17"/>
                </a:lnTo>
                <a:lnTo>
                  <a:pt x="295" y="13"/>
                </a:lnTo>
                <a:lnTo>
                  <a:pt x="311" y="10"/>
                </a:lnTo>
                <a:lnTo>
                  <a:pt x="327" y="7"/>
                </a:lnTo>
                <a:lnTo>
                  <a:pt x="344" y="4"/>
                </a:lnTo>
                <a:lnTo>
                  <a:pt x="360" y="2"/>
                </a:lnTo>
                <a:lnTo>
                  <a:pt x="377" y="1"/>
                </a:lnTo>
                <a:lnTo>
                  <a:pt x="393" y="0"/>
                </a:lnTo>
                <a:lnTo>
                  <a:pt x="393" y="60"/>
                </a:lnTo>
                <a:lnTo>
                  <a:pt x="377" y="61"/>
                </a:lnTo>
                <a:lnTo>
                  <a:pt x="360" y="62"/>
                </a:lnTo>
                <a:lnTo>
                  <a:pt x="344" y="64"/>
                </a:lnTo>
                <a:lnTo>
                  <a:pt x="327" y="66"/>
                </a:lnTo>
                <a:lnTo>
                  <a:pt x="311" y="69"/>
                </a:lnTo>
                <a:lnTo>
                  <a:pt x="295" y="73"/>
                </a:lnTo>
                <a:lnTo>
                  <a:pt x="278" y="77"/>
                </a:lnTo>
                <a:lnTo>
                  <a:pt x="262" y="82"/>
                </a:lnTo>
                <a:lnTo>
                  <a:pt x="246" y="86"/>
                </a:lnTo>
                <a:lnTo>
                  <a:pt x="229" y="91"/>
                </a:lnTo>
                <a:lnTo>
                  <a:pt x="213" y="96"/>
                </a:lnTo>
                <a:lnTo>
                  <a:pt x="196" y="102"/>
                </a:lnTo>
                <a:lnTo>
                  <a:pt x="180" y="107"/>
                </a:lnTo>
                <a:lnTo>
                  <a:pt x="164" y="112"/>
                </a:lnTo>
                <a:lnTo>
                  <a:pt x="147" y="117"/>
                </a:lnTo>
                <a:lnTo>
                  <a:pt x="131" y="122"/>
                </a:lnTo>
                <a:lnTo>
                  <a:pt x="114" y="126"/>
                </a:lnTo>
                <a:lnTo>
                  <a:pt x="98" y="130"/>
                </a:lnTo>
                <a:lnTo>
                  <a:pt x="82" y="134"/>
                </a:lnTo>
                <a:lnTo>
                  <a:pt x="65" y="137"/>
                </a:lnTo>
                <a:lnTo>
                  <a:pt x="49" y="140"/>
                </a:lnTo>
                <a:lnTo>
                  <a:pt x="33" y="141"/>
                </a:lnTo>
                <a:lnTo>
                  <a:pt x="16" y="143"/>
                </a:lnTo>
                <a:lnTo>
                  <a:pt x="0" y="143"/>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648325"/>
            <a:ext cx="3743325" cy="609600"/>
          </a:xfrm>
          <a:custGeom>
            <a:avLst/>
            <a:gdLst/>
            <a:ahLst/>
            <a:cxnLst/>
            <a:rect l="l" t="t" r="r" b="b"/>
            <a:pathLst>
              <a:path w="393" h="64">
                <a:moveTo>
                  <a:pt x="0" y="0"/>
                </a:moveTo>
                <a:lnTo>
                  <a:pt x="16" y="0"/>
                </a:lnTo>
                <a:lnTo>
                  <a:pt x="33" y="1"/>
                </a:lnTo>
                <a:lnTo>
                  <a:pt x="49" y="2"/>
                </a:lnTo>
                <a:lnTo>
                  <a:pt x="65" y="4"/>
                </a:lnTo>
                <a:lnTo>
                  <a:pt x="82" y="6"/>
                </a:lnTo>
                <a:lnTo>
                  <a:pt x="98" y="8"/>
                </a:lnTo>
                <a:lnTo>
                  <a:pt x="114" y="11"/>
                </a:lnTo>
                <a:lnTo>
                  <a:pt x="131" y="13"/>
                </a:lnTo>
                <a:lnTo>
                  <a:pt x="147" y="16"/>
                </a:lnTo>
                <a:lnTo>
                  <a:pt x="164" y="19"/>
                </a:lnTo>
                <a:lnTo>
                  <a:pt x="180" y="22"/>
                </a:lnTo>
                <a:lnTo>
                  <a:pt x="196" y="25"/>
                </a:lnTo>
                <a:lnTo>
                  <a:pt x="213" y="29"/>
                </a:lnTo>
                <a:lnTo>
                  <a:pt x="229" y="32"/>
                </a:lnTo>
                <a:lnTo>
                  <a:pt x="246" y="35"/>
                </a:lnTo>
                <a:lnTo>
                  <a:pt x="262" y="38"/>
                </a:lnTo>
                <a:lnTo>
                  <a:pt x="278" y="40"/>
                </a:lnTo>
                <a:lnTo>
                  <a:pt x="295" y="43"/>
                </a:lnTo>
                <a:lnTo>
                  <a:pt x="311" y="45"/>
                </a:lnTo>
                <a:lnTo>
                  <a:pt x="327" y="47"/>
                </a:lnTo>
                <a:lnTo>
                  <a:pt x="344" y="49"/>
                </a:lnTo>
                <a:lnTo>
                  <a:pt x="360" y="50"/>
                </a:lnTo>
                <a:lnTo>
                  <a:pt x="377" y="51"/>
                </a:lnTo>
                <a:lnTo>
                  <a:pt x="393" y="51"/>
                </a:lnTo>
                <a:lnTo>
                  <a:pt x="393" y="64"/>
                </a:lnTo>
                <a:lnTo>
                  <a:pt x="377" y="64"/>
                </a:lnTo>
                <a:lnTo>
                  <a:pt x="360" y="63"/>
                </a:lnTo>
                <a:lnTo>
                  <a:pt x="344" y="62"/>
                </a:lnTo>
                <a:lnTo>
                  <a:pt x="327" y="61"/>
                </a:lnTo>
                <a:lnTo>
                  <a:pt x="311" y="59"/>
                </a:lnTo>
                <a:lnTo>
                  <a:pt x="295" y="56"/>
                </a:lnTo>
                <a:lnTo>
                  <a:pt x="278" y="54"/>
                </a:lnTo>
                <a:lnTo>
                  <a:pt x="262" y="51"/>
                </a:lnTo>
                <a:lnTo>
                  <a:pt x="246" y="48"/>
                </a:lnTo>
                <a:lnTo>
                  <a:pt x="229" y="45"/>
                </a:lnTo>
                <a:lnTo>
                  <a:pt x="213" y="42"/>
                </a:lnTo>
                <a:lnTo>
                  <a:pt x="196" y="39"/>
                </a:lnTo>
                <a:lnTo>
                  <a:pt x="180" y="36"/>
                </a:lnTo>
                <a:lnTo>
                  <a:pt x="164" y="33"/>
                </a:lnTo>
                <a:lnTo>
                  <a:pt x="147" y="30"/>
                </a:lnTo>
                <a:lnTo>
                  <a:pt x="131" y="27"/>
                </a:lnTo>
                <a:lnTo>
                  <a:pt x="114" y="24"/>
                </a:lnTo>
                <a:lnTo>
                  <a:pt x="98" y="22"/>
                </a:lnTo>
                <a:lnTo>
                  <a:pt x="82" y="19"/>
                </a:lnTo>
                <a:lnTo>
                  <a:pt x="65" y="17"/>
                </a:lnTo>
                <a:lnTo>
                  <a:pt x="49" y="16"/>
                </a:lnTo>
                <a:lnTo>
                  <a:pt x="33" y="15"/>
                </a:lnTo>
                <a:lnTo>
                  <a:pt x="16" y="14"/>
                </a:lnTo>
                <a:lnTo>
                  <a:pt x="0" y="14"/>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857750"/>
            <a:ext cx="3743325" cy="1543050"/>
          </a:xfrm>
          <a:custGeom>
            <a:avLst/>
            <a:gdLst/>
            <a:ahLst/>
            <a:cxnLst/>
            <a:rect l="l" t="t" r="r" b="b"/>
            <a:pathLst>
              <a:path w="393" h="162">
                <a:moveTo>
                  <a:pt x="0" y="103"/>
                </a:moveTo>
                <a:lnTo>
                  <a:pt x="16" y="102"/>
                </a:lnTo>
                <a:lnTo>
                  <a:pt x="33" y="101"/>
                </a:lnTo>
                <a:lnTo>
                  <a:pt x="49" y="98"/>
                </a:lnTo>
                <a:lnTo>
                  <a:pt x="65" y="95"/>
                </a:lnTo>
                <a:lnTo>
                  <a:pt x="82" y="91"/>
                </a:lnTo>
                <a:lnTo>
                  <a:pt x="98" y="87"/>
                </a:lnTo>
                <a:lnTo>
                  <a:pt x="114" y="82"/>
                </a:lnTo>
                <a:lnTo>
                  <a:pt x="131" y="76"/>
                </a:lnTo>
                <a:lnTo>
                  <a:pt x="147" y="70"/>
                </a:lnTo>
                <a:lnTo>
                  <a:pt x="164" y="64"/>
                </a:lnTo>
                <a:lnTo>
                  <a:pt x="180" y="58"/>
                </a:lnTo>
                <a:lnTo>
                  <a:pt x="196" y="51"/>
                </a:lnTo>
                <a:lnTo>
                  <a:pt x="213" y="45"/>
                </a:lnTo>
                <a:lnTo>
                  <a:pt x="229" y="39"/>
                </a:lnTo>
                <a:lnTo>
                  <a:pt x="246" y="33"/>
                </a:lnTo>
                <a:lnTo>
                  <a:pt x="262" y="27"/>
                </a:lnTo>
                <a:lnTo>
                  <a:pt x="278" y="21"/>
                </a:lnTo>
                <a:lnTo>
                  <a:pt x="295" y="16"/>
                </a:lnTo>
                <a:lnTo>
                  <a:pt x="311" y="12"/>
                </a:lnTo>
                <a:lnTo>
                  <a:pt x="327" y="8"/>
                </a:lnTo>
                <a:lnTo>
                  <a:pt x="344" y="5"/>
                </a:lnTo>
                <a:lnTo>
                  <a:pt x="360" y="2"/>
                </a:lnTo>
                <a:lnTo>
                  <a:pt x="377" y="1"/>
                </a:lnTo>
                <a:lnTo>
                  <a:pt x="393" y="0"/>
                </a:lnTo>
                <a:lnTo>
                  <a:pt x="393" y="60"/>
                </a:lnTo>
                <a:lnTo>
                  <a:pt x="377" y="60"/>
                </a:lnTo>
                <a:lnTo>
                  <a:pt x="360" y="62"/>
                </a:lnTo>
                <a:lnTo>
                  <a:pt x="344" y="64"/>
                </a:lnTo>
                <a:lnTo>
                  <a:pt x="327" y="67"/>
                </a:lnTo>
                <a:lnTo>
                  <a:pt x="311" y="71"/>
                </a:lnTo>
                <a:lnTo>
                  <a:pt x="295" y="76"/>
                </a:lnTo>
                <a:lnTo>
                  <a:pt x="278" y="81"/>
                </a:lnTo>
                <a:lnTo>
                  <a:pt x="262" y="86"/>
                </a:lnTo>
                <a:lnTo>
                  <a:pt x="246" y="92"/>
                </a:lnTo>
                <a:lnTo>
                  <a:pt x="229" y="98"/>
                </a:lnTo>
                <a:lnTo>
                  <a:pt x="213" y="105"/>
                </a:lnTo>
                <a:lnTo>
                  <a:pt x="196" y="111"/>
                </a:lnTo>
                <a:lnTo>
                  <a:pt x="180" y="118"/>
                </a:lnTo>
                <a:lnTo>
                  <a:pt x="164" y="124"/>
                </a:lnTo>
                <a:lnTo>
                  <a:pt x="147" y="130"/>
                </a:lnTo>
                <a:lnTo>
                  <a:pt x="131" y="136"/>
                </a:lnTo>
                <a:lnTo>
                  <a:pt x="114" y="141"/>
                </a:lnTo>
                <a:lnTo>
                  <a:pt x="98" y="146"/>
                </a:lnTo>
                <a:lnTo>
                  <a:pt x="82" y="151"/>
                </a:lnTo>
                <a:lnTo>
                  <a:pt x="65" y="155"/>
                </a:lnTo>
                <a:lnTo>
                  <a:pt x="49" y="158"/>
                </a:lnTo>
                <a:lnTo>
                  <a:pt x="33" y="160"/>
                </a:lnTo>
                <a:lnTo>
                  <a:pt x="16" y="162"/>
                </a:lnTo>
                <a:lnTo>
                  <a:pt x="0" y="162"/>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6257925"/>
            <a:ext cx="3743325" cy="276225"/>
          </a:xfrm>
          <a:custGeom>
            <a:avLst/>
            <a:gdLst/>
            <a:ahLst/>
            <a:cxnLst/>
            <a:rect l="l" t="t" r="r" b="b"/>
            <a:pathLst>
              <a:path w="393" h="29">
                <a:moveTo>
                  <a:pt x="0" y="15"/>
                </a:moveTo>
                <a:lnTo>
                  <a:pt x="16" y="15"/>
                </a:lnTo>
                <a:lnTo>
                  <a:pt x="33" y="15"/>
                </a:lnTo>
                <a:lnTo>
                  <a:pt x="49" y="15"/>
                </a:lnTo>
                <a:lnTo>
                  <a:pt x="65" y="14"/>
                </a:lnTo>
                <a:lnTo>
                  <a:pt x="82" y="14"/>
                </a:lnTo>
                <a:lnTo>
                  <a:pt x="98" y="13"/>
                </a:lnTo>
                <a:lnTo>
                  <a:pt x="114" y="12"/>
                </a:lnTo>
                <a:lnTo>
                  <a:pt x="131" y="12"/>
                </a:lnTo>
                <a:lnTo>
                  <a:pt x="147" y="11"/>
                </a:lnTo>
                <a:lnTo>
                  <a:pt x="164" y="10"/>
                </a:lnTo>
                <a:lnTo>
                  <a:pt x="180" y="9"/>
                </a:lnTo>
                <a:lnTo>
                  <a:pt x="196" y="8"/>
                </a:lnTo>
                <a:lnTo>
                  <a:pt x="213" y="7"/>
                </a:lnTo>
                <a:lnTo>
                  <a:pt x="229" y="6"/>
                </a:lnTo>
                <a:lnTo>
                  <a:pt x="246" y="5"/>
                </a:lnTo>
                <a:lnTo>
                  <a:pt x="262" y="4"/>
                </a:lnTo>
                <a:lnTo>
                  <a:pt x="278" y="3"/>
                </a:lnTo>
                <a:lnTo>
                  <a:pt x="295" y="3"/>
                </a:lnTo>
                <a:lnTo>
                  <a:pt x="311" y="2"/>
                </a:lnTo>
                <a:lnTo>
                  <a:pt x="327" y="2"/>
                </a:lnTo>
                <a:lnTo>
                  <a:pt x="344" y="1"/>
                </a:lnTo>
                <a:lnTo>
                  <a:pt x="360" y="1"/>
                </a:lnTo>
                <a:lnTo>
                  <a:pt x="377" y="0"/>
                </a:lnTo>
                <a:lnTo>
                  <a:pt x="393" y="0"/>
                </a:lnTo>
                <a:lnTo>
                  <a:pt x="393" y="14"/>
                </a:lnTo>
                <a:lnTo>
                  <a:pt x="377" y="14"/>
                </a:lnTo>
                <a:lnTo>
                  <a:pt x="360" y="14"/>
                </a:lnTo>
                <a:lnTo>
                  <a:pt x="344" y="15"/>
                </a:lnTo>
                <a:lnTo>
                  <a:pt x="327" y="15"/>
                </a:lnTo>
                <a:lnTo>
                  <a:pt x="311" y="16"/>
                </a:lnTo>
                <a:lnTo>
                  <a:pt x="295" y="16"/>
                </a:lnTo>
                <a:lnTo>
                  <a:pt x="278" y="17"/>
                </a:lnTo>
                <a:lnTo>
                  <a:pt x="262" y="18"/>
                </a:lnTo>
                <a:lnTo>
                  <a:pt x="246" y="19"/>
                </a:lnTo>
                <a:lnTo>
                  <a:pt x="229" y="20"/>
                </a:lnTo>
                <a:lnTo>
                  <a:pt x="213" y="21"/>
                </a:lnTo>
                <a:lnTo>
                  <a:pt x="196" y="21"/>
                </a:lnTo>
                <a:lnTo>
                  <a:pt x="180" y="22"/>
                </a:lnTo>
                <a:lnTo>
                  <a:pt x="164" y="23"/>
                </a:lnTo>
                <a:lnTo>
                  <a:pt x="147" y="24"/>
                </a:lnTo>
                <a:lnTo>
                  <a:pt x="131" y="25"/>
                </a:lnTo>
                <a:lnTo>
                  <a:pt x="114" y="26"/>
                </a:lnTo>
                <a:lnTo>
                  <a:pt x="98" y="27"/>
                </a:lnTo>
                <a:lnTo>
                  <a:pt x="82" y="27"/>
                </a:lnTo>
                <a:lnTo>
                  <a:pt x="65" y="28"/>
                </a:lnTo>
                <a:lnTo>
                  <a:pt x="49" y="28"/>
                </a:lnTo>
                <a:lnTo>
                  <a:pt x="33" y="29"/>
                </a:lnTo>
                <a:lnTo>
                  <a:pt x="16" y="29"/>
                </a:lnTo>
                <a:lnTo>
                  <a:pt x="0" y="29"/>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1304925"/>
            <a:ext cx="114300" cy="69804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41195" y="2060121"/>
            <a:ext cx="114300" cy="698046"/>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41195" y="2815318"/>
            <a:ext cx="114300" cy="698046"/>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1195" y="3570514"/>
            <a:ext cx="114300" cy="698046"/>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4325711"/>
            <a:ext cx="114300" cy="698046"/>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41195" y="5080907"/>
            <a:ext cx="114300" cy="69804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5836104"/>
            <a:ext cx="114300" cy="698046"/>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1447800"/>
            <a:ext cx="114300" cy="397963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5484587"/>
            <a:ext cx="114300" cy="90668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175" y="153012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257175" y="228532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7" name="TextBox 36"/>
          <p:cNvSpPr txBox="1"/>
          <p:nvPr/>
        </p:nvSpPr>
        <p:spPr>
          <a:xfrm>
            <a:off x="257175" y="3040516"/>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8" name="TextBox 37"/>
          <p:cNvSpPr txBox="1"/>
          <p:nvPr/>
        </p:nvSpPr>
        <p:spPr>
          <a:xfrm>
            <a:off x="257175" y="379571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9" name="TextBox 38"/>
          <p:cNvSpPr txBox="1"/>
          <p:nvPr/>
        </p:nvSpPr>
        <p:spPr>
          <a:xfrm>
            <a:off x="257175" y="4550909"/>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5358493"/>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6061302"/>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5972175" y="336618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5972175" y="581410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4" name="Rounded Rectangle 43"/>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6" name="Rectangle 45"/>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49" name="TextBox 48"/>
          <p:cNvSpPr txBox="1"/>
          <p:nvPr/>
        </p:nvSpPr>
        <p:spPr>
          <a:xfrm>
            <a:off x="715547" y="1533247"/>
            <a:ext cx="1149447" cy="139750"/>
          </a:xfrm>
          <a:prstGeom prst="rect">
            <a:avLst/>
          </a:prstGeom>
          <a:noFill/>
        </p:spPr>
        <p:txBody>
          <a:bodyPr wrap="none" lIns="0" rIns="0" tIns="0" bIns="0">
            <a:spAutoFit/>
          </a:bodyPr>
          <a:lstStyle/>
          <a:p>
            <a:r>
              <a:rPr sz="791" b="1">
                <a:solidFill>
                  <a:srgbClr val="2E2E2E"/>
                </a:solidFill>
                <a:latin typeface="Calibri"/>
              </a:rPr>
              <a:t>Passive Insulated Transport</a:t>
            </a:r>
          </a:p>
        </p:txBody>
      </p:sp>
      <p:sp>
        <p:nvSpPr>
          <p:cNvPr id="50" name="TextBox 49"/>
          <p:cNvSpPr txBox="1"/>
          <p:nvPr/>
        </p:nvSpPr>
        <p:spPr>
          <a:xfrm>
            <a:off x="1302841" y="1653948"/>
            <a:ext cx="527452" cy="139750"/>
          </a:xfrm>
          <a:prstGeom prst="rect">
            <a:avLst/>
          </a:prstGeom>
          <a:noFill/>
        </p:spPr>
        <p:txBody>
          <a:bodyPr wrap="none" lIns="0" rIns="0" tIns="0" bIns="0">
            <a:spAutoFit/>
          </a:bodyPr>
          <a:lstStyle/>
          <a:p>
            <a:r>
              <a:rPr sz="791" b="1">
                <a:solidFill>
                  <a:srgbClr val="2E2E2E"/>
                </a:solidFill>
                <a:latin typeface="Calibri"/>
              </a:rPr>
              <a:t>Containers</a:t>
            </a:r>
          </a:p>
        </p:txBody>
      </p:sp>
      <p:pic>
        <p:nvPicPr>
          <p:cNvPr id="51" name="Picture 50" descr="lock.png"/>
          <p:cNvPicPr>
            <a:picLocks noChangeAspect="1"/>
          </p:cNvPicPr>
          <p:nvPr/>
        </p:nvPicPr>
        <p:blipFill>
          <a:blip r:embed="rId4"/>
          <a:stretch>
            <a:fillRect/>
          </a:stretch>
        </p:blipFill>
        <p:spPr>
          <a:xfrm>
            <a:off x="1771555" y="1646907"/>
            <a:ext cx="92663" cy="134782"/>
          </a:xfrm>
          <a:prstGeom prst="rect">
            <a:avLst/>
          </a:prstGeom>
        </p:spPr>
      </p:pic>
      <p:sp>
        <p:nvSpPr>
          <p:cNvPr id="52" name="TextBox 51"/>
          <p:cNvSpPr txBox="1"/>
          <p:nvPr/>
        </p:nvSpPr>
        <p:spPr>
          <a:xfrm>
            <a:off x="562117" y="2288444"/>
            <a:ext cx="1302877" cy="139750"/>
          </a:xfrm>
          <a:prstGeom prst="rect">
            <a:avLst/>
          </a:prstGeom>
          <a:noFill/>
        </p:spPr>
        <p:txBody>
          <a:bodyPr wrap="none" lIns="0" rIns="0" tIns="0" bIns="0">
            <a:spAutoFit/>
          </a:bodyPr>
          <a:lstStyle/>
          <a:p>
            <a:r>
              <a:rPr sz="791" b="1">
                <a:solidFill>
                  <a:srgbClr val="2E2E2E"/>
                </a:solidFill>
                <a:latin typeface="Calibri"/>
              </a:rPr>
              <a:t>Active Temperature-Controlled</a:t>
            </a:r>
          </a:p>
        </p:txBody>
      </p:sp>
      <p:sp>
        <p:nvSpPr>
          <p:cNvPr id="53" name="TextBox 52"/>
          <p:cNvSpPr txBox="1"/>
          <p:nvPr/>
        </p:nvSpPr>
        <p:spPr>
          <a:xfrm>
            <a:off x="1003840" y="2409145"/>
            <a:ext cx="826454" cy="139750"/>
          </a:xfrm>
          <a:prstGeom prst="rect">
            <a:avLst/>
          </a:prstGeom>
          <a:noFill/>
        </p:spPr>
        <p:txBody>
          <a:bodyPr wrap="none" lIns="0" rIns="0" tIns="0" bIns="0">
            <a:spAutoFit/>
          </a:bodyPr>
          <a:lstStyle/>
          <a:p>
            <a:r>
              <a:rPr sz="791" b="1">
                <a:solidFill>
                  <a:srgbClr val="2E2E2E"/>
                </a:solidFill>
                <a:latin typeface="Calibri"/>
              </a:rPr>
              <a:t>Transport Devices</a:t>
            </a:r>
          </a:p>
        </p:txBody>
      </p:sp>
      <p:pic>
        <p:nvPicPr>
          <p:cNvPr id="54" name="Picture 53" descr="lock.png"/>
          <p:cNvPicPr>
            <a:picLocks noChangeAspect="1"/>
          </p:cNvPicPr>
          <p:nvPr/>
        </p:nvPicPr>
        <p:blipFill>
          <a:blip r:embed="rId4"/>
          <a:stretch>
            <a:fillRect/>
          </a:stretch>
        </p:blipFill>
        <p:spPr>
          <a:xfrm>
            <a:off x="1771555" y="2402104"/>
            <a:ext cx="92663" cy="134782"/>
          </a:xfrm>
          <a:prstGeom prst="rect">
            <a:avLst/>
          </a:prstGeom>
        </p:spPr>
      </p:pic>
      <p:sp>
        <p:nvSpPr>
          <p:cNvPr id="55" name="TextBox 54"/>
          <p:cNvSpPr txBox="1"/>
          <p:nvPr/>
        </p:nvSpPr>
        <p:spPr>
          <a:xfrm>
            <a:off x="590023" y="3043640"/>
            <a:ext cx="1274971" cy="139750"/>
          </a:xfrm>
          <a:prstGeom prst="rect">
            <a:avLst/>
          </a:prstGeom>
          <a:noFill/>
        </p:spPr>
        <p:txBody>
          <a:bodyPr wrap="none" lIns="0" rIns="0" tIns="0" bIns="0">
            <a:spAutoFit/>
          </a:bodyPr>
          <a:lstStyle/>
          <a:p>
            <a:r>
              <a:rPr sz="791" b="1">
                <a:solidFill>
                  <a:srgbClr val="2E2E2E"/>
                </a:solidFill>
                <a:latin typeface="Calibri"/>
              </a:rPr>
              <a:t>Hypothermic Non-Oxygenated</a:t>
            </a:r>
          </a:p>
        </p:txBody>
      </p:sp>
      <p:sp>
        <p:nvSpPr>
          <p:cNvPr id="56" name="TextBox 55"/>
          <p:cNvSpPr txBox="1"/>
          <p:nvPr/>
        </p:nvSpPr>
        <p:spPr>
          <a:xfrm>
            <a:off x="1013269" y="3164341"/>
            <a:ext cx="817024" cy="139750"/>
          </a:xfrm>
          <a:prstGeom prst="rect">
            <a:avLst/>
          </a:prstGeom>
          <a:noFill/>
        </p:spPr>
        <p:txBody>
          <a:bodyPr wrap="none" lIns="0" rIns="0" tIns="0" bIns="0">
            <a:spAutoFit/>
          </a:bodyPr>
          <a:lstStyle/>
          <a:p>
            <a:r>
              <a:rPr sz="791" b="1">
                <a:solidFill>
                  <a:srgbClr val="2E2E2E"/>
                </a:solidFill>
                <a:latin typeface="Calibri"/>
              </a:rPr>
              <a:t>Perfusion Devices</a:t>
            </a:r>
          </a:p>
        </p:txBody>
      </p:sp>
      <p:pic>
        <p:nvPicPr>
          <p:cNvPr id="57" name="Picture 56" descr="lock.png"/>
          <p:cNvPicPr>
            <a:picLocks noChangeAspect="1"/>
          </p:cNvPicPr>
          <p:nvPr/>
        </p:nvPicPr>
        <p:blipFill>
          <a:blip r:embed="rId4"/>
          <a:stretch>
            <a:fillRect/>
          </a:stretch>
        </p:blipFill>
        <p:spPr>
          <a:xfrm>
            <a:off x="1771555" y="3157300"/>
            <a:ext cx="92663" cy="134782"/>
          </a:xfrm>
          <a:prstGeom prst="rect">
            <a:avLst/>
          </a:prstGeom>
        </p:spPr>
      </p:pic>
      <p:sp>
        <p:nvSpPr>
          <p:cNvPr id="58" name="TextBox 57"/>
          <p:cNvSpPr txBox="1"/>
          <p:nvPr/>
        </p:nvSpPr>
        <p:spPr>
          <a:xfrm>
            <a:off x="373532" y="3798837"/>
            <a:ext cx="1491462" cy="139750"/>
          </a:xfrm>
          <a:prstGeom prst="rect">
            <a:avLst/>
          </a:prstGeom>
          <a:noFill/>
        </p:spPr>
        <p:txBody>
          <a:bodyPr wrap="none" lIns="0" rIns="0" tIns="0" bIns="0">
            <a:spAutoFit/>
          </a:bodyPr>
          <a:lstStyle/>
          <a:p>
            <a:r>
              <a:rPr sz="791" b="1">
                <a:solidFill>
                  <a:srgbClr val="2E2E2E"/>
                </a:solidFill>
                <a:latin typeface="Calibri"/>
              </a:rPr>
              <a:t>Hypothermic Oxygenated Perfusion</a:t>
            </a:r>
          </a:p>
        </p:txBody>
      </p:sp>
      <p:sp>
        <p:nvSpPr>
          <p:cNvPr id="59" name="TextBox 58"/>
          <p:cNvSpPr txBox="1"/>
          <p:nvPr/>
        </p:nvSpPr>
        <p:spPr>
          <a:xfrm>
            <a:off x="1434858" y="3919538"/>
            <a:ext cx="395436" cy="139750"/>
          </a:xfrm>
          <a:prstGeom prst="rect">
            <a:avLst/>
          </a:prstGeom>
          <a:noFill/>
        </p:spPr>
        <p:txBody>
          <a:bodyPr wrap="none" lIns="0" rIns="0" tIns="0" bIns="0">
            <a:spAutoFit/>
          </a:bodyPr>
          <a:lstStyle/>
          <a:p>
            <a:r>
              <a:rPr sz="791" b="1">
                <a:solidFill>
                  <a:srgbClr val="2E2E2E"/>
                </a:solidFill>
                <a:latin typeface="Calibri"/>
              </a:rPr>
              <a:t>Devices</a:t>
            </a:r>
          </a:p>
        </p:txBody>
      </p:sp>
      <p:pic>
        <p:nvPicPr>
          <p:cNvPr id="60" name="Picture 59" descr="lock.png"/>
          <p:cNvPicPr>
            <a:picLocks noChangeAspect="1"/>
          </p:cNvPicPr>
          <p:nvPr/>
        </p:nvPicPr>
        <p:blipFill>
          <a:blip r:embed="rId4"/>
          <a:stretch>
            <a:fillRect/>
          </a:stretch>
        </p:blipFill>
        <p:spPr>
          <a:xfrm>
            <a:off x="1771555" y="3912497"/>
            <a:ext cx="92663" cy="134782"/>
          </a:xfrm>
          <a:prstGeom prst="rect">
            <a:avLst/>
          </a:prstGeom>
        </p:spPr>
      </p:pic>
      <p:sp>
        <p:nvSpPr>
          <p:cNvPr id="61" name="TextBox 60"/>
          <p:cNvSpPr txBox="1"/>
          <p:nvPr/>
        </p:nvSpPr>
        <p:spPr>
          <a:xfrm>
            <a:off x="341893" y="4554033"/>
            <a:ext cx="1523101" cy="139750"/>
          </a:xfrm>
          <a:prstGeom prst="rect">
            <a:avLst/>
          </a:prstGeom>
          <a:noFill/>
        </p:spPr>
        <p:txBody>
          <a:bodyPr wrap="none" lIns="0" rIns="0" tIns="0" bIns="0">
            <a:spAutoFit/>
          </a:bodyPr>
          <a:lstStyle/>
          <a:p>
            <a:r>
              <a:rPr sz="791" b="1">
                <a:solidFill>
                  <a:srgbClr val="2E2E2E"/>
                </a:solidFill>
                <a:latin typeface="Calibri"/>
              </a:rPr>
              <a:t>Subnormothermic Perfusion Devices</a:t>
            </a:r>
          </a:p>
        </p:txBody>
      </p:sp>
      <p:pic>
        <p:nvPicPr>
          <p:cNvPr id="62" name="Picture 61" descr="lock.png"/>
          <p:cNvPicPr>
            <a:picLocks noChangeAspect="1"/>
          </p:cNvPicPr>
          <p:nvPr/>
        </p:nvPicPr>
        <p:blipFill>
          <a:blip r:embed="rId4"/>
          <a:stretch>
            <a:fillRect/>
          </a:stretch>
        </p:blipFill>
        <p:spPr>
          <a:xfrm>
            <a:off x="1771555" y="4667693"/>
            <a:ext cx="92663" cy="134782"/>
          </a:xfrm>
          <a:prstGeom prst="rect">
            <a:avLst/>
          </a:prstGeom>
        </p:spPr>
      </p:pic>
      <p:sp>
        <p:nvSpPr>
          <p:cNvPr id="63" name="TextBox 62"/>
          <p:cNvSpPr txBox="1"/>
          <p:nvPr/>
        </p:nvSpPr>
        <p:spPr>
          <a:xfrm>
            <a:off x="374404" y="5369580"/>
            <a:ext cx="1455890" cy="139750"/>
          </a:xfrm>
          <a:prstGeom prst="rect">
            <a:avLst/>
          </a:prstGeom>
          <a:noFill/>
        </p:spPr>
        <p:txBody>
          <a:bodyPr wrap="none" lIns="0" rIns="0" tIns="0" bIns="0">
            <a:spAutoFit/>
          </a:bodyPr>
          <a:lstStyle/>
          <a:p>
            <a:r>
              <a:rPr sz="791" b="1">
                <a:solidFill>
                  <a:srgbClr val="2E2E2E"/>
                </a:solidFill>
                <a:latin typeface="Calibri"/>
              </a:rPr>
              <a:t>Normothermic Perfusion Devices</a:t>
            </a:r>
          </a:p>
        </p:txBody>
      </p:sp>
      <p:pic>
        <p:nvPicPr>
          <p:cNvPr id="64" name="Picture 63" descr="lock.png"/>
          <p:cNvPicPr>
            <a:picLocks noChangeAspect="1"/>
          </p:cNvPicPr>
          <p:nvPr/>
        </p:nvPicPr>
        <p:blipFill>
          <a:blip r:embed="rId4"/>
          <a:stretch>
            <a:fillRect/>
          </a:stretch>
        </p:blipFill>
        <p:spPr>
          <a:xfrm>
            <a:off x="1771555" y="5362539"/>
            <a:ext cx="92663" cy="134782"/>
          </a:xfrm>
          <a:prstGeom prst="rect">
            <a:avLst/>
          </a:prstGeom>
        </p:spPr>
      </p:pic>
      <p:sp>
        <p:nvSpPr>
          <p:cNvPr id="65" name="TextBox 64"/>
          <p:cNvSpPr txBox="1"/>
          <p:nvPr/>
        </p:nvSpPr>
        <p:spPr>
          <a:xfrm>
            <a:off x="295923" y="6064426"/>
            <a:ext cx="1569071" cy="139750"/>
          </a:xfrm>
          <a:prstGeom prst="rect">
            <a:avLst/>
          </a:prstGeom>
          <a:noFill/>
        </p:spPr>
        <p:txBody>
          <a:bodyPr wrap="none" lIns="0" rIns="0" tIns="0" bIns="0">
            <a:spAutoFit/>
          </a:bodyPr>
          <a:lstStyle/>
          <a:p>
            <a:r>
              <a:rPr sz="791" b="1">
                <a:solidFill>
                  <a:srgbClr val="2E2E2E"/>
                </a:solidFill>
                <a:latin typeface="Calibri"/>
              </a:rPr>
              <a:t>Multi-Temperature Perfusion Devices</a:t>
            </a:r>
          </a:p>
        </p:txBody>
      </p:sp>
      <p:pic>
        <p:nvPicPr>
          <p:cNvPr id="66" name="Picture 65" descr="lock.png"/>
          <p:cNvPicPr>
            <a:picLocks noChangeAspect="1"/>
          </p:cNvPicPr>
          <p:nvPr/>
        </p:nvPicPr>
        <p:blipFill>
          <a:blip r:embed="rId4"/>
          <a:stretch>
            <a:fillRect/>
          </a:stretch>
        </p:blipFill>
        <p:spPr>
          <a:xfrm>
            <a:off x="1771555" y="6178086"/>
            <a:ext cx="92663" cy="134782"/>
          </a:xfrm>
          <a:prstGeom prst="rect">
            <a:avLst/>
          </a:prstGeom>
        </p:spPr>
      </p:pic>
      <p:sp>
        <p:nvSpPr>
          <p:cNvPr id="67" name="TextBox 66"/>
          <p:cNvSpPr txBox="1"/>
          <p:nvPr/>
        </p:nvSpPr>
        <p:spPr>
          <a:xfrm>
            <a:off x="5972175" y="3377268"/>
            <a:ext cx="1021925" cy="139750"/>
          </a:xfrm>
          <a:prstGeom prst="rect">
            <a:avLst/>
          </a:prstGeom>
          <a:noFill/>
        </p:spPr>
        <p:txBody>
          <a:bodyPr wrap="none" lIns="0" rIns="0" tIns="0" bIns="0">
            <a:spAutoFit/>
          </a:bodyPr>
          <a:lstStyle/>
          <a:p>
            <a:r>
              <a:rPr sz="791" b="1">
                <a:solidFill>
                  <a:srgbClr val="2E2E2E"/>
                </a:solidFill>
                <a:latin typeface="Calibri"/>
              </a:rPr>
              <a:t>Organ-Specific Devices</a:t>
            </a:r>
          </a:p>
        </p:txBody>
      </p:sp>
      <p:pic>
        <p:nvPicPr>
          <p:cNvPr id="68" name="Picture 67" descr="lock.png"/>
          <p:cNvPicPr>
            <a:picLocks noChangeAspect="1"/>
          </p:cNvPicPr>
          <p:nvPr/>
        </p:nvPicPr>
        <p:blipFill>
          <a:blip r:embed="rId4"/>
          <a:stretch>
            <a:fillRect/>
          </a:stretch>
        </p:blipFill>
        <p:spPr>
          <a:xfrm>
            <a:off x="6935361" y="3370227"/>
            <a:ext cx="92663" cy="134782"/>
          </a:xfrm>
          <a:prstGeom prst="rect">
            <a:avLst/>
          </a:prstGeom>
        </p:spPr>
      </p:pic>
      <p:sp>
        <p:nvSpPr>
          <p:cNvPr id="69" name="TextBox 68"/>
          <p:cNvSpPr txBox="1"/>
          <p:nvPr/>
        </p:nvSpPr>
        <p:spPr>
          <a:xfrm>
            <a:off x="5972175" y="5817230"/>
            <a:ext cx="1362075" cy="139750"/>
          </a:xfrm>
          <a:prstGeom prst="rect">
            <a:avLst/>
          </a:prstGeom>
          <a:noFill/>
        </p:spPr>
        <p:txBody>
          <a:bodyPr wrap="none" lIns="0" rIns="0" tIns="0" bIns="0">
            <a:spAutoFit/>
          </a:bodyPr>
          <a:lstStyle/>
          <a:p>
            <a:r>
              <a:rPr sz="791" b="1">
                <a:solidFill>
                  <a:srgbClr val="2E2E2E"/>
                </a:solidFill>
                <a:latin typeface="Calibri"/>
              </a:rPr>
              <a:t>Multi-Organ Compatible Devices</a:t>
            </a:r>
          </a:p>
        </p:txBody>
      </p:sp>
      <p:pic>
        <p:nvPicPr>
          <p:cNvPr id="70" name="Picture 69" descr="lock.png"/>
          <p:cNvPicPr>
            <a:picLocks noChangeAspect="1"/>
          </p:cNvPicPr>
          <p:nvPr/>
        </p:nvPicPr>
        <p:blipFill>
          <a:blip r:embed="rId4"/>
          <a:stretch>
            <a:fillRect/>
          </a:stretch>
        </p:blipFill>
        <p:spPr>
          <a:xfrm>
            <a:off x="5962478" y="5930890"/>
            <a:ext cx="92663" cy="134782"/>
          </a:xfrm>
          <a:prstGeom prst="rect">
            <a:avLst/>
          </a:prstGeom>
        </p:spPr>
      </p:pic>
      <p:sp>
        <p:nvSpPr>
          <p:cNvPr id="71" name="TextBox 70"/>
          <p:cNvSpPr txBox="1"/>
          <p:nvPr/>
        </p:nvSpPr>
        <p:spPr>
          <a:xfrm>
            <a:off x="7715250" y="1400175"/>
            <a:ext cx="3773090" cy="194310"/>
          </a:xfrm>
          <a:prstGeom prst="rect">
            <a:avLst/>
          </a:prstGeom>
          <a:noFill/>
        </p:spPr>
        <p:txBody>
          <a:bodyPr wrap="none" lIns="0" rIns="0" tIns="0" bIns="0">
            <a:spAutoFit/>
          </a:bodyPr>
          <a:lstStyle/>
          <a:p>
            <a:r>
              <a:rPr sz="1150" b="0">
                <a:solidFill>
                  <a:srgbClr val="2E2E2E"/>
                </a:solidFill>
                <a:latin typeface="Calibri"/>
              </a:rPr>
              <a:t>Passive insulated transport containers segment is projected to</a:t>
            </a:r>
          </a:p>
        </p:txBody>
      </p:sp>
      <p:sp>
        <p:nvSpPr>
          <p:cNvPr id="72" name="TextBox 71"/>
          <p:cNvSpPr txBox="1"/>
          <p:nvPr/>
        </p:nvSpPr>
        <p:spPr>
          <a:xfrm>
            <a:off x="7715250" y="1575435"/>
            <a:ext cx="4002720" cy="194310"/>
          </a:xfrm>
          <a:prstGeom prst="rect">
            <a:avLst/>
          </a:prstGeom>
          <a:noFill/>
        </p:spPr>
        <p:txBody>
          <a:bodyPr wrap="none" lIns="0" rIns="0" tIns="0" bIns="0">
            <a:spAutoFit/>
          </a:bodyPr>
          <a:lstStyle/>
          <a:p>
            <a:r>
              <a:rPr sz="1150" b="0">
                <a:solidFill>
                  <a:srgbClr val="2E2E2E"/>
                </a:solidFill>
                <a:latin typeface="Calibri"/>
              </a:rPr>
              <a:t>account for the largest share of the global organ transport devices</a:t>
            </a:r>
          </a:p>
        </p:txBody>
      </p:sp>
      <p:sp>
        <p:nvSpPr>
          <p:cNvPr id="73" name="TextBox 72"/>
          <p:cNvSpPr txBox="1"/>
          <p:nvPr/>
        </p:nvSpPr>
        <p:spPr>
          <a:xfrm>
            <a:off x="7715250" y="1750695"/>
            <a:ext cx="2688270" cy="194310"/>
          </a:xfrm>
          <a:prstGeom prst="rect">
            <a:avLst/>
          </a:prstGeom>
          <a:noFill/>
        </p:spPr>
        <p:txBody>
          <a:bodyPr wrap="none" lIns="0" rIns="0" tIns="0" bIns="0">
            <a:spAutoFit/>
          </a:bodyPr>
          <a:lstStyle/>
          <a:p>
            <a:r>
              <a:rPr sz="1150" b="0">
                <a:solidFill>
                  <a:srgbClr val="2E2E2E"/>
                </a:solidFill>
                <a:latin typeface="Calibri"/>
              </a:rPr>
              <a:t>market, led by organ-specific devices at US$</a:t>
            </a:r>
          </a:p>
        </p:txBody>
      </p:sp>
      <p:pic>
        <p:nvPicPr>
          <p:cNvPr id="74" name="Picture 73" descr="lock.png"/>
          <p:cNvPicPr>
            <a:picLocks noChangeAspect="1"/>
          </p:cNvPicPr>
          <p:nvPr/>
        </p:nvPicPr>
        <p:blipFill>
          <a:blip r:embed="rId4"/>
          <a:stretch>
            <a:fillRect/>
          </a:stretch>
        </p:blipFill>
        <p:spPr>
          <a:xfrm>
            <a:off x="10352673" y="1740471"/>
            <a:ext cx="134549" cy="195707"/>
          </a:xfrm>
          <a:prstGeom prst="rect">
            <a:avLst/>
          </a:prstGeom>
        </p:spPr>
      </p:pic>
      <p:sp>
        <p:nvSpPr>
          <p:cNvPr id="75" name="TextBox 74"/>
          <p:cNvSpPr txBox="1"/>
          <p:nvPr/>
        </p:nvSpPr>
        <p:spPr>
          <a:xfrm>
            <a:off x="10527783" y="1750695"/>
            <a:ext cx="1285106" cy="194310"/>
          </a:xfrm>
          <a:prstGeom prst="rect">
            <a:avLst/>
          </a:prstGeom>
          <a:noFill/>
        </p:spPr>
        <p:txBody>
          <a:bodyPr wrap="none" lIns="0" rIns="0" tIns="0" bIns="0">
            <a:spAutoFit/>
          </a:bodyPr>
          <a:lstStyle/>
          <a:p>
            <a:r>
              <a:rPr sz="1150" b="0">
                <a:solidFill>
                  <a:srgbClr val="2E2E2E"/>
                </a:solidFill>
                <a:latin typeface="Calibri"/>
              </a:rPr>
              <a:t>Mn in 2036. 'Passive</a:t>
            </a:r>
          </a:p>
        </p:txBody>
      </p:sp>
      <p:sp>
        <p:nvSpPr>
          <p:cNvPr id="76" name="TextBox 75"/>
          <p:cNvSpPr txBox="1"/>
          <p:nvPr/>
        </p:nvSpPr>
        <p:spPr>
          <a:xfrm>
            <a:off x="7715250" y="1925955"/>
            <a:ext cx="4162747" cy="194310"/>
          </a:xfrm>
          <a:prstGeom prst="rect">
            <a:avLst/>
          </a:prstGeom>
          <a:noFill/>
        </p:spPr>
        <p:txBody>
          <a:bodyPr wrap="none" lIns="0" rIns="0" tIns="0" bIns="0">
            <a:spAutoFit/>
          </a:bodyPr>
          <a:lstStyle/>
          <a:p>
            <a:r>
              <a:rPr sz="1150" b="0">
                <a:solidFill>
                  <a:srgbClr val="2E2E2E"/>
                </a:solidFill>
                <a:latin typeface="Calibri"/>
              </a:rPr>
              <a:t>Insulated Transport Containers × Organ-Specific Devices' is the single</a:t>
            </a:r>
          </a:p>
        </p:txBody>
      </p:sp>
      <p:sp>
        <p:nvSpPr>
          <p:cNvPr id="77" name="TextBox 76"/>
          <p:cNvSpPr txBox="1"/>
          <p:nvPr/>
        </p:nvSpPr>
        <p:spPr>
          <a:xfrm>
            <a:off x="7715250" y="2101215"/>
            <a:ext cx="1704429" cy="194310"/>
          </a:xfrm>
          <a:prstGeom prst="rect">
            <a:avLst/>
          </a:prstGeom>
          <a:noFill/>
        </p:spPr>
        <p:txBody>
          <a:bodyPr wrap="none" lIns="0" rIns="0" tIns="0" bIns="0">
            <a:spAutoFit/>
          </a:bodyPr>
          <a:lstStyle/>
          <a:p>
            <a:r>
              <a:rPr sz="1150" b="0">
                <a:solidFill>
                  <a:srgbClr val="2E2E2E"/>
                </a:solidFill>
                <a:latin typeface="Calibri"/>
              </a:rPr>
              <a:t>largest cross-sectional cell (</a:t>
            </a:r>
          </a:p>
        </p:txBody>
      </p:sp>
      <p:pic>
        <p:nvPicPr>
          <p:cNvPr id="78" name="Picture 77" descr="lock.png"/>
          <p:cNvPicPr>
            <a:picLocks noChangeAspect="1"/>
          </p:cNvPicPr>
          <p:nvPr/>
        </p:nvPicPr>
        <p:blipFill>
          <a:blip r:embed="rId4"/>
          <a:stretch>
            <a:fillRect/>
          </a:stretch>
        </p:blipFill>
        <p:spPr>
          <a:xfrm>
            <a:off x="9368833" y="2090991"/>
            <a:ext cx="134549" cy="195707"/>
          </a:xfrm>
          <a:prstGeom prst="rect">
            <a:avLst/>
          </a:prstGeom>
        </p:spPr>
      </p:pic>
      <p:sp>
        <p:nvSpPr>
          <p:cNvPr id="79" name="TextBox 78"/>
          <p:cNvSpPr txBox="1"/>
          <p:nvPr/>
        </p:nvSpPr>
        <p:spPr>
          <a:xfrm>
            <a:off x="9543942" y="2101215"/>
            <a:ext cx="1915802" cy="194310"/>
          </a:xfrm>
          <a:prstGeom prst="rect">
            <a:avLst/>
          </a:prstGeom>
          <a:noFill/>
        </p:spPr>
        <p:txBody>
          <a:bodyPr wrap="none" lIns="0" rIns="0" tIns="0" bIns="0">
            <a:spAutoFit/>
          </a:bodyPr>
          <a:lstStyle/>
          <a:p>
            <a:r>
              <a:rPr sz="1150" b="0">
                <a:solidFill>
                  <a:srgbClr val="2E2E2E"/>
                </a:solidFill>
                <a:latin typeface="Calibri"/>
              </a:rPr>
              <a:t>US$ Mn, 2026E), while 'Passive</a:t>
            </a:r>
          </a:p>
        </p:txBody>
      </p:sp>
      <p:sp>
        <p:nvSpPr>
          <p:cNvPr id="80" name="TextBox 79"/>
          <p:cNvSpPr txBox="1"/>
          <p:nvPr/>
        </p:nvSpPr>
        <p:spPr>
          <a:xfrm>
            <a:off x="7715250" y="2276475"/>
            <a:ext cx="4014700" cy="194310"/>
          </a:xfrm>
          <a:prstGeom prst="rect">
            <a:avLst/>
          </a:prstGeom>
          <a:noFill/>
        </p:spPr>
        <p:txBody>
          <a:bodyPr wrap="none" lIns="0" rIns="0" tIns="0" bIns="0">
            <a:spAutoFit/>
          </a:bodyPr>
          <a:lstStyle/>
          <a:p>
            <a:r>
              <a:rPr sz="1150" b="0">
                <a:solidFill>
                  <a:srgbClr val="2E2E2E"/>
                </a:solidFill>
                <a:latin typeface="Calibri"/>
              </a:rPr>
              <a:t>Insulated Transport Containers × Multi-Organ Compatible Devices'</a:t>
            </a:r>
          </a:p>
        </p:txBody>
      </p:sp>
      <p:sp>
        <p:nvSpPr>
          <p:cNvPr id="81" name="TextBox 80"/>
          <p:cNvSpPr txBox="1"/>
          <p:nvPr/>
        </p:nvSpPr>
        <p:spPr>
          <a:xfrm>
            <a:off x="7715250" y="2451735"/>
            <a:ext cx="2424392" cy="194310"/>
          </a:xfrm>
          <a:prstGeom prst="rect">
            <a:avLst/>
          </a:prstGeom>
          <a:noFill/>
        </p:spPr>
        <p:txBody>
          <a:bodyPr wrap="none" lIns="0" rIns="0" tIns="0" bIns="0">
            <a:spAutoFit/>
          </a:bodyPr>
          <a:lstStyle/>
          <a:p>
            <a:r>
              <a:rPr sz="1150" b="0">
                <a:solidFill>
                  <a:srgbClr val="2E2E2E"/>
                </a:solidFill>
                <a:latin typeface="Calibri"/>
              </a:rPr>
              <a:t>records the fastest growth at a CAGR of</a:t>
            </a:r>
          </a:p>
        </p:txBody>
      </p:sp>
      <p:pic>
        <p:nvPicPr>
          <p:cNvPr id="82" name="Picture 81" descr="lock.png"/>
          <p:cNvPicPr>
            <a:picLocks noChangeAspect="1"/>
          </p:cNvPicPr>
          <p:nvPr/>
        </p:nvPicPr>
        <p:blipFill>
          <a:blip r:embed="rId4"/>
          <a:stretch>
            <a:fillRect/>
          </a:stretch>
        </p:blipFill>
        <p:spPr>
          <a:xfrm>
            <a:off x="10088796" y="2441511"/>
            <a:ext cx="134549" cy="195707"/>
          </a:xfrm>
          <a:prstGeom prst="rect">
            <a:avLst/>
          </a:prstGeom>
        </p:spPr>
      </p:pic>
      <p:sp>
        <p:nvSpPr>
          <p:cNvPr id="83" name="TextBox 82"/>
          <p:cNvSpPr txBox="1"/>
          <p:nvPr/>
        </p:nvSpPr>
        <p:spPr>
          <a:xfrm>
            <a:off x="10263905" y="2451735"/>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84" name="TextBox 83"/>
          <p:cNvSpPr txBox="1"/>
          <p:nvPr/>
        </p:nvSpPr>
        <p:spPr>
          <a:xfrm>
            <a:off x="7715250" y="2679573"/>
            <a:ext cx="4171950" cy="194310"/>
          </a:xfrm>
          <a:prstGeom prst="rect">
            <a:avLst/>
          </a:prstGeom>
          <a:noFill/>
        </p:spPr>
        <p:txBody>
          <a:bodyPr wrap="none" lIns="0" rIns="0" tIns="0" bIns="0">
            <a:spAutoFit/>
          </a:bodyPr>
          <a:lstStyle/>
          <a:p>
            <a:r>
              <a:rPr sz="1150" b="0">
                <a:solidFill>
                  <a:srgbClr val="2E2E2E"/>
                </a:solidFill>
                <a:latin typeface="Calibri"/>
              </a:rPr>
              <a:t>Combined, the top three device technology × organ compatibility cells</a:t>
            </a:r>
          </a:p>
        </p:txBody>
      </p:sp>
      <p:sp>
        <p:nvSpPr>
          <p:cNvPr id="85" name="TextBox 84"/>
          <p:cNvSpPr txBox="1"/>
          <p:nvPr/>
        </p:nvSpPr>
        <p:spPr>
          <a:xfrm>
            <a:off x="7715250" y="285483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86" name="Picture 85" descr="lock.png"/>
          <p:cNvPicPr>
            <a:picLocks noChangeAspect="1"/>
          </p:cNvPicPr>
          <p:nvPr/>
        </p:nvPicPr>
        <p:blipFill>
          <a:blip r:embed="rId4"/>
          <a:stretch>
            <a:fillRect/>
          </a:stretch>
        </p:blipFill>
        <p:spPr>
          <a:xfrm>
            <a:off x="10004949" y="2844609"/>
            <a:ext cx="134549" cy="195707"/>
          </a:xfrm>
          <a:prstGeom prst="rect">
            <a:avLst/>
          </a:prstGeom>
        </p:spPr>
      </p:pic>
      <p:sp>
        <p:nvSpPr>
          <p:cNvPr id="87" name="TextBox 86"/>
          <p:cNvSpPr txBox="1"/>
          <p:nvPr/>
        </p:nvSpPr>
        <p:spPr>
          <a:xfrm>
            <a:off x="10180058" y="285483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Device Technology × Organ Compatibility,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organ compatibility sub-segments</a:t>
            </a:r>
          </a:p>
        </p:txBody>
      </p:sp>
      <p:sp>
        <p:nvSpPr>
          <p:cNvPr id="10" name="Rounded Rectangle 9"/>
          <p:cNvSpPr/>
          <p:nvPr/>
        </p:nvSpPr>
        <p:spPr>
          <a:xfrm>
            <a:off x="142875" y="981075"/>
            <a:ext cx="11906250" cy="3514725"/>
          </a:xfrm>
          <a:prstGeom prst="roundRect">
            <a:avLst>
              <a:gd name="adj" fmla="val 21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Device Technology × Organ Compatibility, 2026E (% of each row)</a:t>
            </a:r>
          </a:p>
        </p:txBody>
      </p:sp>
      <p:graphicFrame>
        <p:nvGraphicFramePr>
          <p:cNvPr id="12" name="Table 11"/>
          <p:cNvGraphicFramePr>
            <a:graphicFrameLocks noGrp="1"/>
          </p:cNvGraphicFramePr>
          <p:nvPr/>
        </p:nvGraphicFramePr>
        <p:xfrm>
          <a:off x="152400" y="1238250"/>
          <a:ext cx="11887199" cy="3047997"/>
        </p:xfrm>
        <a:graphic>
          <a:graphicData uri="http://schemas.openxmlformats.org/drawingml/2006/table">
            <a:tbl>
              <a:tblPr>
                <a:tableStyleId>{5C22544A-7EE6-4342-B048-85BDC9FD1C3A}</a:tableStyleId>
              </a:tblPr>
              <a:tblGrid>
                <a:gridCol w="3092148"/>
                <a:gridCol w="1294619"/>
                <a:gridCol w="1200222"/>
                <a:gridCol w="1236093"/>
                <a:gridCol w="1198334"/>
                <a:gridCol w="1555152"/>
                <a:gridCol w="1766825"/>
                <a:gridCol w="543806"/>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5">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2629">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Kidney-Specific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Liver-Specific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Heart-Specific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Lung-Specific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Organ-Specific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705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295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55383" y="3031318"/>
            <a:ext cx="366712" cy="5334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Device Technology × Organ Compatibility,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Organ Compatibility Mix by Device Technology,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733715" y="2686119"/>
            <a:ext cx="393072" cy="571741"/>
          </a:xfrm>
          <a:prstGeom prst="rect">
            <a:avLst/>
          </a:prstGeom>
        </p:spPr>
      </p:pic>
      <p:sp>
        <p:nvSpPr>
          <p:cNvPr id="19" name="TextBox 18"/>
          <p:cNvSpPr txBox="1"/>
          <p:nvPr/>
        </p:nvSpPr>
        <p:spPr>
          <a:xfrm>
            <a:off x="7715250" y="1400175"/>
            <a:ext cx="4017838" cy="194310"/>
          </a:xfrm>
          <a:prstGeom prst="rect">
            <a:avLst/>
          </a:prstGeom>
          <a:noFill/>
        </p:spPr>
        <p:txBody>
          <a:bodyPr wrap="none" lIns="0" rIns="0" tIns="0" bIns="0">
            <a:spAutoFit/>
          </a:bodyPr>
          <a:lstStyle/>
          <a:p>
            <a:r>
              <a:rPr sz="1150" b="0">
                <a:solidFill>
                  <a:srgbClr val="2E2E2E"/>
                </a:solidFill>
                <a:latin typeface="Calibri"/>
              </a:rPr>
              <a:t>▪ 'Other Organ-Specific Devices' holds the highest share of 'Passive</a:t>
            </a:r>
          </a:p>
        </p:txBody>
      </p:sp>
      <p:sp>
        <p:nvSpPr>
          <p:cNvPr id="20" name="TextBox 19"/>
          <p:cNvSpPr txBox="1"/>
          <p:nvPr/>
        </p:nvSpPr>
        <p:spPr>
          <a:xfrm>
            <a:off x="7715250" y="1575435"/>
            <a:ext cx="2097794" cy="194310"/>
          </a:xfrm>
          <a:prstGeom prst="rect">
            <a:avLst/>
          </a:prstGeom>
          <a:noFill/>
        </p:spPr>
        <p:txBody>
          <a:bodyPr wrap="none" lIns="0" rIns="0" tIns="0" bIns="0">
            <a:spAutoFit/>
          </a:bodyPr>
          <a:lstStyle/>
          <a:p>
            <a:r>
              <a:rPr sz="1150" b="0">
                <a:solidFill>
                  <a:srgbClr val="2E2E2E"/>
                </a:solidFill>
                <a:latin typeface="Calibri"/>
              </a:rPr>
              <a:t>Insulated Transport Containers' at</a:t>
            </a:r>
          </a:p>
        </p:txBody>
      </p:sp>
      <p:pic>
        <p:nvPicPr>
          <p:cNvPr id="21" name="Picture 20" descr="lock.png"/>
          <p:cNvPicPr>
            <a:picLocks noChangeAspect="1"/>
          </p:cNvPicPr>
          <p:nvPr/>
        </p:nvPicPr>
        <p:blipFill>
          <a:blip r:embed="rId5"/>
          <a:stretch>
            <a:fillRect/>
          </a:stretch>
        </p:blipFill>
        <p:spPr>
          <a:xfrm>
            <a:off x="9762198" y="1565211"/>
            <a:ext cx="134549" cy="195707"/>
          </a:xfrm>
          <a:prstGeom prst="rect">
            <a:avLst/>
          </a:prstGeom>
        </p:spPr>
      </p:pic>
      <p:sp>
        <p:nvSpPr>
          <p:cNvPr id="22" name="TextBox 21"/>
          <p:cNvSpPr txBox="1"/>
          <p:nvPr/>
        </p:nvSpPr>
        <p:spPr>
          <a:xfrm>
            <a:off x="9937307"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4044652" cy="194310"/>
          </a:xfrm>
          <a:prstGeom prst="rect">
            <a:avLst/>
          </a:prstGeom>
          <a:noFill/>
        </p:spPr>
        <p:txBody>
          <a:bodyPr wrap="none" lIns="0" rIns="0" tIns="0" bIns="0">
            <a:spAutoFit/>
          </a:bodyPr>
          <a:lstStyle/>
          <a:p>
            <a:r>
              <a:rPr sz="1150" b="0">
                <a:solidFill>
                  <a:srgbClr val="2E2E2E"/>
                </a:solidFill>
                <a:latin typeface="Calibri"/>
              </a:rPr>
              <a:t>▪ 'Passive Insulated Transport Containers' is the most concentrated</a:t>
            </a:r>
          </a:p>
        </p:txBody>
      </p:sp>
      <p:sp>
        <p:nvSpPr>
          <p:cNvPr id="24" name="TextBox 23"/>
          <p:cNvSpPr txBox="1"/>
          <p:nvPr/>
        </p:nvSpPr>
        <p:spPr>
          <a:xfrm>
            <a:off x="7715250" y="1978533"/>
            <a:ext cx="2288344" cy="194310"/>
          </a:xfrm>
          <a:prstGeom prst="rect">
            <a:avLst/>
          </a:prstGeom>
          <a:noFill/>
        </p:spPr>
        <p:txBody>
          <a:bodyPr wrap="none" lIns="0" rIns="0" tIns="0" bIns="0">
            <a:spAutoFit/>
          </a:bodyPr>
          <a:lstStyle/>
          <a:p>
            <a:r>
              <a:rPr sz="1150" b="0">
                <a:solidFill>
                  <a:srgbClr val="2E2E2E"/>
                </a:solidFill>
                <a:latin typeface="Calibri"/>
              </a:rPr>
              <a:t>device technology sub-segment, with</a:t>
            </a:r>
          </a:p>
        </p:txBody>
      </p:sp>
      <p:pic>
        <p:nvPicPr>
          <p:cNvPr id="25" name="Picture 24" descr="lock.png"/>
          <p:cNvPicPr>
            <a:picLocks noChangeAspect="1"/>
          </p:cNvPicPr>
          <p:nvPr/>
        </p:nvPicPr>
        <p:blipFill>
          <a:blip r:embed="rId5"/>
          <a:stretch>
            <a:fillRect/>
          </a:stretch>
        </p:blipFill>
        <p:spPr>
          <a:xfrm>
            <a:off x="9952747" y="1968309"/>
            <a:ext cx="134549" cy="195707"/>
          </a:xfrm>
          <a:prstGeom prst="rect">
            <a:avLst/>
          </a:prstGeom>
        </p:spPr>
      </p:pic>
      <p:sp>
        <p:nvSpPr>
          <p:cNvPr id="26" name="TextBox 25"/>
          <p:cNvSpPr txBox="1"/>
          <p:nvPr/>
        </p:nvSpPr>
        <p:spPr>
          <a:xfrm>
            <a:off x="10127857" y="1978533"/>
            <a:ext cx="1336737" cy="194310"/>
          </a:xfrm>
          <a:prstGeom prst="rect">
            <a:avLst/>
          </a:prstGeom>
          <a:noFill/>
        </p:spPr>
        <p:txBody>
          <a:bodyPr wrap="none" lIns="0" rIns="0" tIns="0" bIns="0">
            <a:spAutoFit/>
          </a:bodyPr>
          <a:lstStyle/>
          <a:p>
            <a:r>
              <a:rPr sz="1150" b="0">
                <a:solidFill>
                  <a:srgbClr val="2E2E2E"/>
                </a:solidFill>
                <a:latin typeface="Calibri"/>
              </a:rPr>
              <a:t>of its value via 'Other</a:t>
            </a:r>
          </a:p>
        </p:txBody>
      </p:sp>
      <p:sp>
        <p:nvSpPr>
          <p:cNvPr id="27" name="TextBox 26"/>
          <p:cNvSpPr txBox="1"/>
          <p:nvPr/>
        </p:nvSpPr>
        <p:spPr>
          <a:xfrm>
            <a:off x="7715250" y="2153793"/>
            <a:ext cx="1492200" cy="194310"/>
          </a:xfrm>
          <a:prstGeom prst="rect">
            <a:avLst/>
          </a:prstGeom>
          <a:noFill/>
        </p:spPr>
        <p:txBody>
          <a:bodyPr wrap="none" lIns="0" rIns="0" tIns="0" bIns="0">
            <a:spAutoFit/>
          </a:bodyPr>
          <a:lstStyle/>
          <a:p>
            <a:r>
              <a:rPr sz="1150" b="0">
                <a:solidFill>
                  <a:srgbClr val="2E2E2E"/>
                </a:solidFill>
                <a:latin typeface="Calibri"/>
              </a:rPr>
              <a:t>Organ-Specific Devices'.</a:t>
            </a:r>
          </a:p>
        </p:txBody>
      </p:sp>
      <p:sp>
        <p:nvSpPr>
          <p:cNvPr id="28" name="TextBox 27"/>
          <p:cNvSpPr txBox="1"/>
          <p:nvPr/>
        </p:nvSpPr>
        <p:spPr>
          <a:xfrm>
            <a:off x="7715250" y="2381631"/>
            <a:ext cx="1937766" cy="194310"/>
          </a:xfrm>
          <a:prstGeom prst="rect">
            <a:avLst/>
          </a:prstGeom>
          <a:noFill/>
        </p:spPr>
        <p:txBody>
          <a:bodyPr wrap="none" lIns="0" rIns="0" tIns="0" bIns="0">
            <a:spAutoFit/>
          </a:bodyPr>
          <a:lstStyle/>
          <a:p>
            <a:r>
              <a:rPr sz="1150" b="0">
                <a:solidFill>
                  <a:srgbClr val="2E2E2E"/>
                </a:solidFill>
                <a:latin typeface="Calibri"/>
              </a:rPr>
              <a:t>▪ 'Lung-Specific Devices' gains +</a:t>
            </a:r>
          </a:p>
        </p:txBody>
      </p:sp>
      <p:pic>
        <p:nvPicPr>
          <p:cNvPr id="29" name="Picture 28" descr="lock.png"/>
          <p:cNvPicPr>
            <a:picLocks noChangeAspect="1"/>
          </p:cNvPicPr>
          <p:nvPr/>
        </p:nvPicPr>
        <p:blipFill>
          <a:blip r:embed="rId5"/>
          <a:stretch>
            <a:fillRect/>
          </a:stretch>
        </p:blipFill>
        <p:spPr>
          <a:xfrm>
            <a:off x="9602170" y="2371407"/>
            <a:ext cx="134549" cy="195707"/>
          </a:xfrm>
          <a:prstGeom prst="rect">
            <a:avLst/>
          </a:prstGeom>
        </p:spPr>
      </p:pic>
      <p:sp>
        <p:nvSpPr>
          <p:cNvPr id="30" name="TextBox 29"/>
          <p:cNvSpPr txBox="1"/>
          <p:nvPr/>
        </p:nvSpPr>
        <p:spPr>
          <a:xfrm>
            <a:off x="9777280" y="2381631"/>
            <a:ext cx="1616000" cy="194310"/>
          </a:xfrm>
          <a:prstGeom prst="rect">
            <a:avLst/>
          </a:prstGeom>
          <a:noFill/>
        </p:spPr>
        <p:txBody>
          <a:bodyPr wrap="none" lIns="0" rIns="0" tIns="0" bIns="0">
            <a:spAutoFit/>
          </a:bodyPr>
          <a:lstStyle/>
          <a:p>
            <a:r>
              <a:rPr sz="1150" b="0">
                <a:solidFill>
                  <a:srgbClr val="2E2E2E"/>
                </a:solidFill>
                <a:latin typeface="Calibri"/>
              </a:rPr>
              <a:t>BPS of share of the Global</a:t>
            </a:r>
          </a:p>
        </p:txBody>
      </p:sp>
      <p:sp>
        <p:nvSpPr>
          <p:cNvPr id="31" name="TextBox 30"/>
          <p:cNvSpPr txBox="1"/>
          <p:nvPr/>
        </p:nvSpPr>
        <p:spPr>
          <a:xfrm>
            <a:off x="7715250" y="255689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Device Technology × Organ Compatibility,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Technology × Organ Compatibility, 2026E–2036F</a:t>
            </a:r>
          </a:p>
        </p:txBody>
      </p:sp>
      <p:graphicFrame>
        <p:nvGraphicFramePr>
          <p:cNvPr id="12" name="Table 11"/>
          <p:cNvGraphicFramePr>
            <a:graphicFrameLocks noGrp="1"/>
          </p:cNvGraphicFramePr>
          <p:nvPr/>
        </p:nvGraphicFramePr>
        <p:xfrm>
          <a:off x="152400" y="1238250"/>
          <a:ext cx="11887200" cy="2466975"/>
        </p:xfrm>
        <a:graphic>
          <a:graphicData uri="http://schemas.openxmlformats.org/drawingml/2006/table">
            <a:tbl>
              <a:tblPr>
                <a:tableStyleId>{5C22544A-7EE6-4342-B048-85BDC9FD1C3A}</a:tableStyleId>
              </a:tblPr>
              <a:tblGrid>
                <a:gridCol w="5589798"/>
                <a:gridCol w="1049567"/>
                <a:gridCol w="1049567"/>
                <a:gridCol w="1049567"/>
                <a:gridCol w="1049567"/>
                <a:gridCol w="1049567"/>
                <a:gridCol w="1049567"/>
              </a:tblGrid>
              <a:tr h="246126">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5600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719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5334000" cy="20955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'Active Temperature-Controlled Transport Devices × Organ-Specific Devices' ranks highest (5/5); 'Passive Insulated Transport Containers × Organ-Specific Devices'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8704209" y="2451481"/>
            <a:ext cx="366712" cy="533400"/>
          </a:xfrm>
          <a:prstGeom prst="rect">
            <a:avLst/>
          </a:prstGeom>
        </p:spPr>
      </p:pic>
      <p:sp>
        <p:nvSpPr>
          <p:cNvPr id="32" name="TextBox 31"/>
          <p:cNvSpPr txBox="1"/>
          <p:nvPr/>
        </p:nvSpPr>
        <p:spPr>
          <a:xfrm>
            <a:off x="276225" y="4467225"/>
            <a:ext cx="4588333" cy="186689"/>
          </a:xfrm>
          <a:prstGeom prst="rect">
            <a:avLst/>
          </a:prstGeom>
          <a:noFill/>
        </p:spPr>
        <p:txBody>
          <a:bodyPr wrap="none" lIns="0" rIns="0" tIns="0" bIns="0">
            <a:spAutoFit/>
          </a:bodyPr>
          <a:lstStyle/>
          <a:p>
            <a:r>
              <a:rPr sz="1100" b="0">
                <a:solidFill>
                  <a:srgbClr val="2E2E2E"/>
                </a:solidFill>
                <a:latin typeface="Calibri"/>
              </a:rPr>
              <a:t>▪ 1. Hypothermic Non-Oxygenated Perfusion Devices × Organ-Specific Devices –</a:t>
            </a:r>
          </a:p>
        </p:txBody>
      </p:sp>
      <p:pic>
        <p:nvPicPr>
          <p:cNvPr id="33" name="Picture 32" descr="lock.png"/>
          <p:cNvPicPr>
            <a:picLocks noChangeAspect="1"/>
          </p:cNvPicPr>
          <p:nvPr/>
        </p:nvPicPr>
        <p:blipFill>
          <a:blip r:embed="rId4"/>
          <a:stretch>
            <a:fillRect/>
          </a:stretch>
        </p:blipFill>
        <p:spPr>
          <a:xfrm>
            <a:off x="4812610" y="4457446"/>
            <a:ext cx="128699" cy="187198"/>
          </a:xfrm>
          <a:prstGeom prst="rect">
            <a:avLst/>
          </a:prstGeom>
        </p:spPr>
      </p:pic>
      <p:sp>
        <p:nvSpPr>
          <p:cNvPr id="34" name="TextBox 33"/>
          <p:cNvSpPr txBox="1"/>
          <p:nvPr/>
        </p:nvSpPr>
        <p:spPr>
          <a:xfrm>
            <a:off x="4980105" y="4467225"/>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5039555" y="4457446"/>
            <a:ext cx="128699" cy="187198"/>
          </a:xfrm>
          <a:prstGeom prst="rect">
            <a:avLst/>
          </a:prstGeom>
        </p:spPr>
      </p:pic>
      <p:sp>
        <p:nvSpPr>
          <p:cNvPr id="36" name="TextBox 35"/>
          <p:cNvSpPr txBox="1"/>
          <p:nvPr/>
        </p:nvSpPr>
        <p:spPr>
          <a:xfrm>
            <a:off x="5207051" y="446722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37" name="TextBox 36"/>
          <p:cNvSpPr txBox="1"/>
          <p:nvPr/>
        </p:nvSpPr>
        <p:spPr>
          <a:xfrm>
            <a:off x="276225" y="4634865"/>
            <a:ext cx="272107" cy="186689"/>
          </a:xfrm>
          <a:prstGeom prst="rect">
            <a:avLst/>
          </a:prstGeom>
          <a:noFill/>
        </p:spPr>
        <p:txBody>
          <a:bodyPr wrap="none" lIns="0" rIns="0" tIns="0" bIns="0">
            <a:spAutoFit/>
          </a:bodyPr>
          <a:lstStyle/>
          <a:p>
            <a:r>
              <a:rPr sz="1100" b="0">
                <a:solidFill>
                  <a:srgbClr val="2E2E2E"/>
                </a:solidFill>
                <a:latin typeface="Calibri"/>
              </a:rPr>
              <a:t>5/5</a:t>
            </a:r>
          </a:p>
        </p:txBody>
      </p:sp>
      <p:sp>
        <p:nvSpPr>
          <p:cNvPr id="38" name="TextBox 37"/>
          <p:cNvSpPr txBox="1"/>
          <p:nvPr/>
        </p:nvSpPr>
        <p:spPr>
          <a:xfrm>
            <a:off x="276225" y="4852797"/>
            <a:ext cx="4641006" cy="186689"/>
          </a:xfrm>
          <a:prstGeom prst="rect">
            <a:avLst/>
          </a:prstGeom>
          <a:noFill/>
        </p:spPr>
        <p:txBody>
          <a:bodyPr wrap="none" lIns="0" rIns="0" tIns="0" bIns="0">
            <a:spAutoFit/>
          </a:bodyPr>
          <a:lstStyle/>
          <a:p>
            <a:r>
              <a:rPr sz="1100" b="0">
                <a:solidFill>
                  <a:srgbClr val="2E2E2E"/>
                </a:solidFill>
                <a:latin typeface="Calibri"/>
              </a:rPr>
              <a:t>▪ 2. Active Temperature-Controlled Transport Devices × Organ-Specific Devices –</a:t>
            </a:r>
          </a:p>
        </p:txBody>
      </p:sp>
      <p:pic>
        <p:nvPicPr>
          <p:cNvPr id="39" name="Picture 38" descr="lock.png"/>
          <p:cNvPicPr>
            <a:picLocks noChangeAspect="1"/>
          </p:cNvPicPr>
          <p:nvPr/>
        </p:nvPicPr>
        <p:blipFill>
          <a:blip r:embed="rId4"/>
          <a:stretch>
            <a:fillRect/>
          </a:stretch>
        </p:blipFill>
        <p:spPr>
          <a:xfrm>
            <a:off x="4865283" y="4843018"/>
            <a:ext cx="128699" cy="187198"/>
          </a:xfrm>
          <a:prstGeom prst="rect">
            <a:avLst/>
          </a:prstGeom>
        </p:spPr>
      </p:pic>
      <p:sp>
        <p:nvSpPr>
          <p:cNvPr id="40" name="TextBox 39"/>
          <p:cNvSpPr txBox="1"/>
          <p:nvPr/>
        </p:nvSpPr>
        <p:spPr>
          <a:xfrm>
            <a:off x="5032779" y="4852797"/>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1" name="Picture 40" descr="lock.png"/>
          <p:cNvPicPr>
            <a:picLocks noChangeAspect="1"/>
          </p:cNvPicPr>
          <p:nvPr/>
        </p:nvPicPr>
        <p:blipFill>
          <a:blip r:embed="rId4"/>
          <a:stretch>
            <a:fillRect/>
          </a:stretch>
        </p:blipFill>
        <p:spPr>
          <a:xfrm>
            <a:off x="5092228" y="4843018"/>
            <a:ext cx="128699" cy="187198"/>
          </a:xfrm>
          <a:prstGeom prst="rect">
            <a:avLst/>
          </a:prstGeom>
        </p:spPr>
      </p:pic>
      <p:sp>
        <p:nvSpPr>
          <p:cNvPr id="42" name="TextBox 41"/>
          <p:cNvSpPr txBox="1"/>
          <p:nvPr/>
        </p:nvSpPr>
        <p:spPr>
          <a:xfrm>
            <a:off x="5259724" y="485279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3" name="TextBox 42"/>
          <p:cNvSpPr txBox="1"/>
          <p:nvPr/>
        </p:nvSpPr>
        <p:spPr>
          <a:xfrm>
            <a:off x="276225" y="5020437"/>
            <a:ext cx="272107" cy="186689"/>
          </a:xfrm>
          <a:prstGeom prst="rect">
            <a:avLst/>
          </a:prstGeom>
          <a:noFill/>
        </p:spPr>
        <p:txBody>
          <a:bodyPr wrap="none" lIns="0" rIns="0" tIns="0" bIns="0">
            <a:spAutoFit/>
          </a:bodyPr>
          <a:lstStyle/>
          <a:p>
            <a:r>
              <a:rPr sz="1100" b="0">
                <a:solidFill>
                  <a:srgbClr val="2E2E2E"/>
                </a:solidFill>
                <a:latin typeface="Calibri"/>
              </a:rPr>
              <a:t>5/5</a:t>
            </a:r>
          </a:p>
        </p:txBody>
      </p:sp>
      <p:sp>
        <p:nvSpPr>
          <p:cNvPr id="44" name="TextBox 43"/>
          <p:cNvSpPr txBox="1"/>
          <p:nvPr/>
        </p:nvSpPr>
        <p:spPr>
          <a:xfrm>
            <a:off x="276225" y="5238369"/>
            <a:ext cx="3695303" cy="186689"/>
          </a:xfrm>
          <a:prstGeom prst="rect">
            <a:avLst/>
          </a:prstGeom>
          <a:noFill/>
        </p:spPr>
        <p:txBody>
          <a:bodyPr wrap="none" lIns="0" rIns="0" tIns="0" bIns="0">
            <a:spAutoFit/>
          </a:bodyPr>
          <a:lstStyle/>
          <a:p>
            <a:r>
              <a:rPr sz="1100" b="0">
                <a:solidFill>
                  <a:srgbClr val="2E2E2E"/>
                </a:solidFill>
                <a:latin typeface="Calibri"/>
              </a:rPr>
              <a:t>▪ 3. Normothermic Perfusion Devices × Organ-Specific Devices –</a:t>
            </a:r>
          </a:p>
        </p:txBody>
      </p:sp>
      <p:pic>
        <p:nvPicPr>
          <p:cNvPr id="45" name="Picture 44" descr="lock.png"/>
          <p:cNvPicPr>
            <a:picLocks noChangeAspect="1"/>
          </p:cNvPicPr>
          <p:nvPr/>
        </p:nvPicPr>
        <p:blipFill>
          <a:blip r:embed="rId4"/>
          <a:stretch>
            <a:fillRect/>
          </a:stretch>
        </p:blipFill>
        <p:spPr>
          <a:xfrm>
            <a:off x="3919579" y="5228589"/>
            <a:ext cx="128699" cy="187198"/>
          </a:xfrm>
          <a:prstGeom prst="rect">
            <a:avLst/>
          </a:prstGeom>
        </p:spPr>
      </p:pic>
      <p:sp>
        <p:nvSpPr>
          <p:cNvPr id="46" name="TextBox 45"/>
          <p:cNvSpPr txBox="1"/>
          <p:nvPr/>
        </p:nvSpPr>
        <p:spPr>
          <a:xfrm>
            <a:off x="4087075" y="5238369"/>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7" name="Picture 46" descr="lock.png"/>
          <p:cNvPicPr>
            <a:picLocks noChangeAspect="1"/>
          </p:cNvPicPr>
          <p:nvPr/>
        </p:nvPicPr>
        <p:blipFill>
          <a:blip r:embed="rId4"/>
          <a:stretch>
            <a:fillRect/>
          </a:stretch>
        </p:blipFill>
        <p:spPr>
          <a:xfrm>
            <a:off x="4146524" y="5228589"/>
            <a:ext cx="128699" cy="187198"/>
          </a:xfrm>
          <a:prstGeom prst="rect">
            <a:avLst/>
          </a:prstGeom>
        </p:spPr>
      </p:pic>
      <p:sp>
        <p:nvSpPr>
          <p:cNvPr id="48" name="TextBox 47"/>
          <p:cNvSpPr txBox="1"/>
          <p:nvPr/>
        </p:nvSpPr>
        <p:spPr>
          <a:xfrm>
            <a:off x="4314020" y="5238369"/>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9" name="TextBox 48"/>
          <p:cNvSpPr txBox="1"/>
          <p:nvPr/>
        </p:nvSpPr>
        <p:spPr>
          <a:xfrm>
            <a:off x="276225" y="5456301"/>
            <a:ext cx="3949327" cy="186689"/>
          </a:xfrm>
          <a:prstGeom prst="rect">
            <a:avLst/>
          </a:prstGeom>
          <a:noFill/>
        </p:spPr>
        <p:txBody>
          <a:bodyPr wrap="none" lIns="0" rIns="0" tIns="0" bIns="0">
            <a:spAutoFit/>
          </a:bodyPr>
          <a:lstStyle/>
          <a:p>
            <a:r>
              <a:rPr sz="1100" b="0">
                <a:solidFill>
                  <a:srgbClr val="2E2E2E"/>
                </a:solidFill>
                <a:latin typeface="Calibri"/>
              </a:rPr>
              <a:t>▪ 4. Multi-Temperature Perfusion Devices × Organ-Specific Devices –</a:t>
            </a:r>
          </a:p>
        </p:txBody>
      </p:sp>
      <p:pic>
        <p:nvPicPr>
          <p:cNvPr id="50" name="Picture 49" descr="lock.png"/>
          <p:cNvPicPr>
            <a:picLocks noChangeAspect="1"/>
          </p:cNvPicPr>
          <p:nvPr/>
        </p:nvPicPr>
        <p:blipFill>
          <a:blip r:embed="rId4"/>
          <a:stretch>
            <a:fillRect/>
          </a:stretch>
        </p:blipFill>
        <p:spPr>
          <a:xfrm>
            <a:off x="4173604" y="5446521"/>
            <a:ext cx="128699" cy="187198"/>
          </a:xfrm>
          <a:prstGeom prst="rect">
            <a:avLst/>
          </a:prstGeom>
        </p:spPr>
      </p:pic>
      <p:sp>
        <p:nvSpPr>
          <p:cNvPr id="51" name="TextBox 50"/>
          <p:cNvSpPr txBox="1"/>
          <p:nvPr/>
        </p:nvSpPr>
        <p:spPr>
          <a:xfrm>
            <a:off x="4341100" y="5456301"/>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4400549" y="5446521"/>
            <a:ext cx="128699" cy="187198"/>
          </a:xfrm>
          <a:prstGeom prst="rect">
            <a:avLst/>
          </a:prstGeom>
        </p:spPr>
      </p:pic>
      <p:sp>
        <p:nvSpPr>
          <p:cNvPr id="53" name="TextBox 52"/>
          <p:cNvSpPr txBox="1"/>
          <p:nvPr/>
        </p:nvSpPr>
        <p:spPr>
          <a:xfrm>
            <a:off x="4568045" y="5456301"/>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4" name="TextBox 53"/>
          <p:cNvSpPr txBox="1"/>
          <p:nvPr/>
        </p:nvSpPr>
        <p:spPr>
          <a:xfrm>
            <a:off x="276225" y="5674233"/>
            <a:ext cx="3889300" cy="186689"/>
          </a:xfrm>
          <a:prstGeom prst="rect">
            <a:avLst/>
          </a:prstGeom>
          <a:noFill/>
        </p:spPr>
        <p:txBody>
          <a:bodyPr wrap="none" lIns="0" rIns="0" tIns="0" bIns="0">
            <a:spAutoFit/>
          </a:bodyPr>
          <a:lstStyle/>
          <a:p>
            <a:r>
              <a:rPr sz="1100" b="0">
                <a:solidFill>
                  <a:srgbClr val="2E2E2E"/>
                </a:solidFill>
                <a:latin typeface="Calibri"/>
              </a:rPr>
              <a:t>▪ 5. Subnormothermic Perfusion Devices × Organ-Specific Devices –</a:t>
            </a:r>
          </a:p>
        </p:txBody>
      </p:sp>
      <p:pic>
        <p:nvPicPr>
          <p:cNvPr id="55" name="Picture 54" descr="lock.png"/>
          <p:cNvPicPr>
            <a:picLocks noChangeAspect="1"/>
          </p:cNvPicPr>
          <p:nvPr/>
        </p:nvPicPr>
        <p:blipFill>
          <a:blip r:embed="rId4"/>
          <a:stretch>
            <a:fillRect/>
          </a:stretch>
        </p:blipFill>
        <p:spPr>
          <a:xfrm>
            <a:off x="4113577" y="5664453"/>
            <a:ext cx="128699" cy="187198"/>
          </a:xfrm>
          <a:prstGeom prst="rect">
            <a:avLst/>
          </a:prstGeom>
        </p:spPr>
      </p:pic>
      <p:sp>
        <p:nvSpPr>
          <p:cNvPr id="56" name="TextBox 55"/>
          <p:cNvSpPr txBox="1"/>
          <p:nvPr/>
        </p:nvSpPr>
        <p:spPr>
          <a:xfrm>
            <a:off x="4281073" y="5674233"/>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4340522" y="5664453"/>
            <a:ext cx="128699" cy="187198"/>
          </a:xfrm>
          <a:prstGeom prst="rect">
            <a:avLst/>
          </a:prstGeom>
        </p:spPr>
      </p:pic>
      <p:sp>
        <p:nvSpPr>
          <p:cNvPr id="58" name="TextBox 57"/>
          <p:cNvSpPr txBox="1"/>
          <p:nvPr/>
        </p:nvSpPr>
        <p:spPr>
          <a:xfrm>
            <a:off x="4508018" y="5674233"/>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9" name="TextBox 58"/>
          <p:cNvSpPr txBox="1"/>
          <p:nvPr/>
        </p:nvSpPr>
        <p:spPr>
          <a:xfrm>
            <a:off x="6029325" y="4467225"/>
            <a:ext cx="560846" cy="194310"/>
          </a:xfrm>
          <a:prstGeom prst="rect">
            <a:avLst/>
          </a:prstGeom>
          <a:noFill/>
        </p:spPr>
        <p:txBody>
          <a:bodyPr wrap="none" lIns="0" rIns="0" tIns="0" bIns="0">
            <a:spAutoFit/>
          </a:bodyPr>
          <a:lstStyle/>
          <a:p>
            <a:r>
              <a:rPr sz="1150" b="0">
                <a:solidFill>
                  <a:srgbClr val="2E2E2E"/>
                </a:solidFill>
                <a:latin typeface="Calibri"/>
              </a:rPr>
              <a:t>▪ 'Active</a:t>
            </a:r>
          </a:p>
        </p:txBody>
      </p:sp>
      <p:sp>
        <p:nvSpPr>
          <p:cNvPr id="60" name="TextBox 59"/>
          <p:cNvSpPr txBox="1"/>
          <p:nvPr/>
        </p:nvSpPr>
        <p:spPr>
          <a:xfrm>
            <a:off x="6029325" y="4642485"/>
            <a:ext cx="1527286" cy="194310"/>
          </a:xfrm>
          <a:prstGeom prst="rect">
            <a:avLst/>
          </a:prstGeom>
          <a:noFill/>
        </p:spPr>
        <p:txBody>
          <a:bodyPr wrap="none" lIns="0" rIns="0" tIns="0" bIns="0">
            <a:spAutoFit/>
          </a:bodyPr>
          <a:lstStyle/>
          <a:p>
            <a:r>
              <a:rPr sz="1150" b="0">
                <a:solidFill>
                  <a:srgbClr val="2E2E2E"/>
                </a:solidFill>
                <a:latin typeface="Calibri"/>
              </a:rPr>
              <a:t>Temperature-Controlled</a:t>
            </a:r>
          </a:p>
        </p:txBody>
      </p:sp>
      <p:sp>
        <p:nvSpPr>
          <p:cNvPr id="61" name="TextBox 60"/>
          <p:cNvSpPr txBox="1"/>
          <p:nvPr/>
        </p:nvSpPr>
        <p:spPr>
          <a:xfrm>
            <a:off x="6029325" y="4817745"/>
            <a:ext cx="1248878" cy="194310"/>
          </a:xfrm>
          <a:prstGeom prst="rect">
            <a:avLst/>
          </a:prstGeom>
          <a:noFill/>
        </p:spPr>
        <p:txBody>
          <a:bodyPr wrap="none" lIns="0" rIns="0" tIns="0" bIns="0">
            <a:spAutoFit/>
          </a:bodyPr>
          <a:lstStyle/>
          <a:p>
            <a:r>
              <a:rPr sz="1150" b="0">
                <a:solidFill>
                  <a:srgbClr val="2E2E2E"/>
                </a:solidFill>
                <a:latin typeface="Calibri"/>
              </a:rPr>
              <a:t>Transport Devices ×</a:t>
            </a:r>
          </a:p>
        </p:txBody>
      </p:sp>
      <p:sp>
        <p:nvSpPr>
          <p:cNvPr id="62" name="TextBox 61"/>
          <p:cNvSpPr txBox="1"/>
          <p:nvPr/>
        </p:nvSpPr>
        <p:spPr>
          <a:xfrm>
            <a:off x="6029325" y="4993004"/>
            <a:ext cx="1455402" cy="194310"/>
          </a:xfrm>
          <a:prstGeom prst="rect">
            <a:avLst/>
          </a:prstGeom>
          <a:noFill/>
        </p:spPr>
        <p:txBody>
          <a:bodyPr wrap="none" lIns="0" rIns="0" tIns="0" bIns="0">
            <a:spAutoFit/>
          </a:bodyPr>
          <a:lstStyle/>
          <a:p>
            <a:r>
              <a:rPr sz="1150" b="0">
                <a:solidFill>
                  <a:srgbClr val="2E2E2E"/>
                </a:solidFill>
                <a:latin typeface="Calibri"/>
              </a:rPr>
              <a:t>Organ-Specific Devices'</a:t>
            </a:r>
          </a:p>
        </p:txBody>
      </p:sp>
      <p:sp>
        <p:nvSpPr>
          <p:cNvPr id="63" name="TextBox 62"/>
          <p:cNvSpPr txBox="1"/>
          <p:nvPr/>
        </p:nvSpPr>
        <p:spPr>
          <a:xfrm>
            <a:off x="6029325" y="5168264"/>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4" name="Picture 63" descr="lock.png"/>
          <p:cNvPicPr>
            <a:picLocks noChangeAspect="1"/>
          </p:cNvPicPr>
          <p:nvPr/>
        </p:nvPicPr>
        <p:blipFill>
          <a:blip r:embed="rId4"/>
          <a:stretch>
            <a:fillRect/>
          </a:stretch>
        </p:blipFill>
        <p:spPr>
          <a:xfrm>
            <a:off x="6335083" y="5158041"/>
            <a:ext cx="134549" cy="195707"/>
          </a:xfrm>
          <a:prstGeom prst="rect">
            <a:avLst/>
          </a:prstGeom>
        </p:spPr>
      </p:pic>
      <p:sp>
        <p:nvSpPr>
          <p:cNvPr id="65" name="TextBox 64"/>
          <p:cNvSpPr txBox="1"/>
          <p:nvPr/>
        </p:nvSpPr>
        <p:spPr>
          <a:xfrm>
            <a:off x="6510192" y="5168264"/>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6" name="TextBox 65"/>
          <p:cNvSpPr txBox="1"/>
          <p:nvPr/>
        </p:nvSpPr>
        <p:spPr>
          <a:xfrm>
            <a:off x="6029325" y="534352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7" name="Picture 66" descr="lock.png"/>
          <p:cNvPicPr>
            <a:picLocks noChangeAspect="1"/>
          </p:cNvPicPr>
          <p:nvPr/>
        </p:nvPicPr>
        <p:blipFill>
          <a:blip r:embed="rId4"/>
          <a:stretch>
            <a:fillRect/>
          </a:stretch>
        </p:blipFill>
        <p:spPr>
          <a:xfrm>
            <a:off x="6127418" y="5333301"/>
            <a:ext cx="134549" cy="195707"/>
          </a:xfrm>
          <a:prstGeom prst="rect">
            <a:avLst/>
          </a:prstGeom>
        </p:spPr>
      </p:pic>
      <p:sp>
        <p:nvSpPr>
          <p:cNvPr id="68" name="TextBox 67"/>
          <p:cNvSpPr txBox="1"/>
          <p:nvPr/>
        </p:nvSpPr>
        <p:spPr>
          <a:xfrm>
            <a:off x="6302527" y="534352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9" name="TextBox 68"/>
          <p:cNvSpPr txBox="1"/>
          <p:nvPr/>
        </p:nvSpPr>
        <p:spPr>
          <a:xfrm>
            <a:off x="6029325" y="551878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70" name="TextBox 69"/>
          <p:cNvSpPr txBox="1"/>
          <p:nvPr/>
        </p:nvSpPr>
        <p:spPr>
          <a:xfrm>
            <a:off x="8124825" y="4467225"/>
            <a:ext cx="1207516" cy="194310"/>
          </a:xfrm>
          <a:prstGeom prst="rect">
            <a:avLst/>
          </a:prstGeom>
          <a:noFill/>
        </p:spPr>
        <p:txBody>
          <a:bodyPr wrap="none" lIns="0" rIns="0" tIns="0" bIns="0">
            <a:spAutoFit/>
          </a:bodyPr>
          <a:lstStyle/>
          <a:p>
            <a:r>
              <a:rPr sz="1150" b="0">
                <a:solidFill>
                  <a:srgbClr val="2E2E2E"/>
                </a:solidFill>
                <a:latin typeface="Calibri"/>
              </a:rPr>
              <a:t>▪ 'Passive Insulated</a:t>
            </a:r>
          </a:p>
        </p:txBody>
      </p:sp>
      <p:sp>
        <p:nvSpPr>
          <p:cNvPr id="71" name="TextBox 70"/>
          <p:cNvSpPr txBox="1"/>
          <p:nvPr/>
        </p:nvSpPr>
        <p:spPr>
          <a:xfrm>
            <a:off x="8124825" y="4642485"/>
            <a:ext cx="1436861" cy="194310"/>
          </a:xfrm>
          <a:prstGeom prst="rect">
            <a:avLst/>
          </a:prstGeom>
          <a:noFill/>
        </p:spPr>
        <p:txBody>
          <a:bodyPr wrap="none" lIns="0" rIns="0" tIns="0" bIns="0">
            <a:spAutoFit/>
          </a:bodyPr>
          <a:lstStyle/>
          <a:p>
            <a:r>
              <a:rPr sz="1150" b="0">
                <a:solidFill>
                  <a:srgbClr val="2E2E2E"/>
                </a:solidFill>
                <a:latin typeface="Calibri"/>
              </a:rPr>
              <a:t>Transport Containers ×</a:t>
            </a:r>
          </a:p>
        </p:txBody>
      </p:sp>
      <p:sp>
        <p:nvSpPr>
          <p:cNvPr id="72" name="TextBox 71"/>
          <p:cNvSpPr txBox="1"/>
          <p:nvPr/>
        </p:nvSpPr>
        <p:spPr>
          <a:xfrm>
            <a:off x="8124825" y="4817745"/>
            <a:ext cx="1519299" cy="194310"/>
          </a:xfrm>
          <a:prstGeom prst="rect">
            <a:avLst/>
          </a:prstGeom>
          <a:noFill/>
        </p:spPr>
        <p:txBody>
          <a:bodyPr wrap="none" lIns="0" rIns="0" tIns="0" bIns="0">
            <a:spAutoFit/>
          </a:bodyPr>
          <a:lstStyle/>
          <a:p>
            <a:r>
              <a:rPr sz="1150" b="0">
                <a:solidFill>
                  <a:srgbClr val="2E2E2E"/>
                </a:solidFill>
                <a:latin typeface="Calibri"/>
              </a:rPr>
              <a:t>Multi-Organ Compatible</a:t>
            </a:r>
          </a:p>
        </p:txBody>
      </p:sp>
      <p:sp>
        <p:nvSpPr>
          <p:cNvPr id="73" name="TextBox 72"/>
          <p:cNvSpPr txBox="1"/>
          <p:nvPr/>
        </p:nvSpPr>
        <p:spPr>
          <a:xfrm>
            <a:off x="8124825" y="4993004"/>
            <a:ext cx="1208658" cy="194310"/>
          </a:xfrm>
          <a:prstGeom prst="rect">
            <a:avLst/>
          </a:prstGeom>
          <a:noFill/>
        </p:spPr>
        <p:txBody>
          <a:bodyPr wrap="none" lIns="0" rIns="0" tIns="0" bIns="0">
            <a:spAutoFit/>
          </a:bodyPr>
          <a:lstStyle/>
          <a:p>
            <a:r>
              <a:rPr sz="1150" b="0">
                <a:solidFill>
                  <a:srgbClr val="2E2E2E"/>
                </a:solidFill>
                <a:latin typeface="Calibri"/>
              </a:rPr>
              <a:t>Devices' grows at a</a:t>
            </a:r>
          </a:p>
        </p:txBody>
      </p:sp>
      <p:pic>
        <p:nvPicPr>
          <p:cNvPr id="74" name="Picture 73" descr="lock.png"/>
          <p:cNvPicPr>
            <a:picLocks noChangeAspect="1"/>
          </p:cNvPicPr>
          <p:nvPr/>
        </p:nvPicPr>
        <p:blipFill>
          <a:blip r:embed="rId4"/>
          <a:stretch>
            <a:fillRect/>
          </a:stretch>
        </p:blipFill>
        <p:spPr>
          <a:xfrm>
            <a:off x="9282636" y="4982781"/>
            <a:ext cx="134549" cy="195707"/>
          </a:xfrm>
          <a:prstGeom prst="rect">
            <a:avLst/>
          </a:prstGeom>
        </p:spPr>
      </p:pic>
      <p:sp>
        <p:nvSpPr>
          <p:cNvPr id="75" name="TextBox 74"/>
          <p:cNvSpPr txBox="1"/>
          <p:nvPr/>
        </p:nvSpPr>
        <p:spPr>
          <a:xfrm>
            <a:off x="8124825" y="5168264"/>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6" name="Picture 75" descr="lock.png"/>
          <p:cNvPicPr>
            <a:picLocks noChangeAspect="1"/>
          </p:cNvPicPr>
          <p:nvPr/>
        </p:nvPicPr>
        <p:blipFill>
          <a:blip r:embed="rId4"/>
          <a:stretch>
            <a:fillRect/>
          </a:stretch>
        </p:blipFill>
        <p:spPr>
          <a:xfrm>
            <a:off x="8520420" y="5158041"/>
            <a:ext cx="134549" cy="195707"/>
          </a:xfrm>
          <a:prstGeom prst="rect">
            <a:avLst/>
          </a:prstGeom>
        </p:spPr>
      </p:pic>
      <p:sp>
        <p:nvSpPr>
          <p:cNvPr id="77" name="TextBox 76"/>
          <p:cNvSpPr txBox="1"/>
          <p:nvPr/>
        </p:nvSpPr>
        <p:spPr>
          <a:xfrm>
            <a:off x="8695529" y="516826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8" name="TextBox 77"/>
          <p:cNvSpPr txBox="1"/>
          <p:nvPr/>
        </p:nvSpPr>
        <p:spPr>
          <a:xfrm>
            <a:off x="8124825" y="534352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Monitoring Capability × Purchasing Organisation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Monitoring Capability × Purchasing Organisation,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monitoring capability sub-segment across purchasing organisation sub-segments</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Monitoring Capability × Purchasing Organisation, 2026E and 2036F (US$ Mn)</a:t>
            </a:r>
          </a:p>
        </p:txBody>
      </p:sp>
      <p:graphicFrame>
        <p:nvGraphicFramePr>
          <p:cNvPr id="12" name="Table 11"/>
          <p:cNvGraphicFramePr>
            <a:graphicFrameLocks noGrp="1"/>
          </p:cNvGraphicFramePr>
          <p:nvPr/>
        </p:nvGraphicFramePr>
        <p:xfrm>
          <a:off x="152400" y="1238250"/>
          <a:ext cx="11887203" cy="2305050"/>
        </p:xfrm>
        <a:graphic>
          <a:graphicData uri="http://schemas.openxmlformats.org/drawingml/2006/table">
            <a:tbl>
              <a:tblPr>
                <a:tableStyleId>{5C22544A-7EE6-4342-B048-85BDC9FD1C3A}</a:tableStyleId>
              </a:tblPr>
              <a:tblGrid>
                <a:gridCol w="4522863"/>
                <a:gridCol w="736434"/>
                <a:gridCol w="736434"/>
                <a:gridCol w="736434"/>
                <a:gridCol w="736434"/>
                <a:gridCol w="736434"/>
                <a:gridCol w="736434"/>
                <a:gridCol w="736434"/>
                <a:gridCol w="736434"/>
                <a:gridCol w="736434"/>
                <a:gridCol w="736434"/>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7286625"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433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Monitoring Capability → Purchasing Organisation, 2036F (US$ Mn)</a:t>
            </a:r>
          </a:p>
        </p:txBody>
      </p:sp>
      <p:sp>
        <p:nvSpPr>
          <p:cNvPr id="16" name="Freeform 15"/>
          <p:cNvSpPr/>
          <p:nvPr/>
        </p:nvSpPr>
        <p:spPr>
          <a:xfrm>
            <a:off x="2057400" y="4210050"/>
            <a:ext cx="3743325" cy="209550"/>
          </a:xfrm>
          <a:custGeom>
            <a:avLst/>
            <a:gdLst/>
            <a:ahLst/>
            <a:cxnLst/>
            <a:rect l="l" t="t" r="r" b="b"/>
            <a:pathLst>
              <a:path w="393" h="22">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22"/>
                </a:lnTo>
                <a:lnTo>
                  <a:pt x="377" y="22"/>
                </a:lnTo>
                <a:lnTo>
                  <a:pt x="360" y="22"/>
                </a:lnTo>
                <a:lnTo>
                  <a:pt x="344" y="22"/>
                </a:lnTo>
                <a:lnTo>
                  <a:pt x="327" y="22"/>
                </a:lnTo>
                <a:lnTo>
                  <a:pt x="311" y="22"/>
                </a:lnTo>
                <a:lnTo>
                  <a:pt x="295" y="22"/>
                </a:lnTo>
                <a:lnTo>
                  <a:pt x="278" y="22"/>
                </a:lnTo>
                <a:lnTo>
                  <a:pt x="262" y="22"/>
                </a:lnTo>
                <a:lnTo>
                  <a:pt x="246" y="22"/>
                </a:lnTo>
                <a:lnTo>
                  <a:pt x="229" y="22"/>
                </a:lnTo>
                <a:lnTo>
                  <a:pt x="213" y="22"/>
                </a:lnTo>
                <a:lnTo>
                  <a:pt x="196" y="22"/>
                </a:lnTo>
                <a:lnTo>
                  <a:pt x="180" y="22"/>
                </a:lnTo>
                <a:lnTo>
                  <a:pt x="164" y="22"/>
                </a:lnTo>
                <a:lnTo>
                  <a:pt x="147" y="22"/>
                </a:lnTo>
                <a:lnTo>
                  <a:pt x="131" y="22"/>
                </a:lnTo>
                <a:lnTo>
                  <a:pt x="114" y="22"/>
                </a:lnTo>
                <a:lnTo>
                  <a:pt x="98" y="22"/>
                </a:lnTo>
                <a:lnTo>
                  <a:pt x="82" y="22"/>
                </a:lnTo>
                <a:lnTo>
                  <a:pt x="65" y="22"/>
                </a:lnTo>
                <a:lnTo>
                  <a:pt x="49" y="22"/>
                </a:lnTo>
                <a:lnTo>
                  <a:pt x="33" y="22"/>
                </a:lnTo>
                <a:lnTo>
                  <a:pt x="16" y="22"/>
                </a:lnTo>
                <a:lnTo>
                  <a:pt x="0" y="2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19600"/>
            <a:ext cx="3743325" cy="857250"/>
          </a:xfrm>
          <a:custGeom>
            <a:avLst/>
            <a:gdLst/>
            <a:ahLst/>
            <a:cxnLst/>
            <a:rect l="l" t="t" r="r" b="b"/>
            <a:pathLst>
              <a:path w="393" h="90">
                <a:moveTo>
                  <a:pt x="0" y="0"/>
                </a:moveTo>
                <a:lnTo>
                  <a:pt x="16" y="0"/>
                </a:lnTo>
                <a:lnTo>
                  <a:pt x="33" y="1"/>
                </a:lnTo>
                <a:lnTo>
                  <a:pt x="49" y="3"/>
                </a:lnTo>
                <a:lnTo>
                  <a:pt x="65" y="5"/>
                </a:lnTo>
                <a:lnTo>
                  <a:pt x="82" y="8"/>
                </a:lnTo>
                <a:lnTo>
                  <a:pt x="98" y="11"/>
                </a:lnTo>
                <a:lnTo>
                  <a:pt x="114" y="14"/>
                </a:lnTo>
                <a:lnTo>
                  <a:pt x="131" y="18"/>
                </a:lnTo>
                <a:lnTo>
                  <a:pt x="147" y="22"/>
                </a:lnTo>
                <a:lnTo>
                  <a:pt x="164" y="26"/>
                </a:lnTo>
                <a:lnTo>
                  <a:pt x="180" y="31"/>
                </a:lnTo>
                <a:lnTo>
                  <a:pt x="196" y="35"/>
                </a:lnTo>
                <a:lnTo>
                  <a:pt x="213" y="40"/>
                </a:lnTo>
                <a:lnTo>
                  <a:pt x="229" y="44"/>
                </a:lnTo>
                <a:lnTo>
                  <a:pt x="246" y="48"/>
                </a:lnTo>
                <a:lnTo>
                  <a:pt x="262" y="52"/>
                </a:lnTo>
                <a:lnTo>
                  <a:pt x="278" y="56"/>
                </a:lnTo>
                <a:lnTo>
                  <a:pt x="295" y="59"/>
                </a:lnTo>
                <a:lnTo>
                  <a:pt x="311" y="63"/>
                </a:lnTo>
                <a:lnTo>
                  <a:pt x="327" y="65"/>
                </a:lnTo>
                <a:lnTo>
                  <a:pt x="344" y="68"/>
                </a:lnTo>
                <a:lnTo>
                  <a:pt x="360" y="69"/>
                </a:lnTo>
                <a:lnTo>
                  <a:pt x="377" y="70"/>
                </a:lnTo>
                <a:lnTo>
                  <a:pt x="393" y="71"/>
                </a:lnTo>
                <a:lnTo>
                  <a:pt x="393" y="90"/>
                </a:lnTo>
                <a:lnTo>
                  <a:pt x="377" y="90"/>
                </a:lnTo>
                <a:lnTo>
                  <a:pt x="360" y="89"/>
                </a:lnTo>
                <a:lnTo>
                  <a:pt x="344" y="87"/>
                </a:lnTo>
                <a:lnTo>
                  <a:pt x="327" y="85"/>
                </a:lnTo>
                <a:lnTo>
                  <a:pt x="311" y="82"/>
                </a:lnTo>
                <a:lnTo>
                  <a:pt x="295" y="79"/>
                </a:lnTo>
                <a:lnTo>
                  <a:pt x="278" y="76"/>
                </a:lnTo>
                <a:lnTo>
                  <a:pt x="262" y="72"/>
                </a:lnTo>
                <a:lnTo>
                  <a:pt x="246" y="68"/>
                </a:lnTo>
                <a:lnTo>
                  <a:pt x="229" y="64"/>
                </a:lnTo>
                <a:lnTo>
                  <a:pt x="213" y="59"/>
                </a:lnTo>
                <a:lnTo>
                  <a:pt x="196" y="55"/>
                </a:lnTo>
                <a:lnTo>
                  <a:pt x="180" y="50"/>
                </a:lnTo>
                <a:lnTo>
                  <a:pt x="164" y="46"/>
                </a:lnTo>
                <a:lnTo>
                  <a:pt x="147" y="42"/>
                </a:lnTo>
                <a:lnTo>
                  <a:pt x="131" y="38"/>
                </a:lnTo>
                <a:lnTo>
                  <a:pt x="114" y="34"/>
                </a:lnTo>
                <a:lnTo>
                  <a:pt x="98" y="30"/>
                </a:lnTo>
                <a:lnTo>
                  <a:pt x="82" y="27"/>
                </a:lnTo>
                <a:lnTo>
                  <a:pt x="65" y="25"/>
                </a:lnTo>
                <a:lnTo>
                  <a:pt x="49" y="22"/>
                </a:lnTo>
                <a:lnTo>
                  <a:pt x="33" y="21"/>
                </a:lnTo>
                <a:lnTo>
                  <a:pt x="16" y="20"/>
                </a:lnTo>
                <a:lnTo>
                  <a:pt x="0" y="1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00575"/>
            <a:ext cx="3743325" cy="1390650"/>
          </a:xfrm>
          <a:custGeom>
            <a:avLst/>
            <a:gdLst/>
            <a:ahLst/>
            <a:cxnLst/>
            <a:rect l="l" t="t" r="r" b="b"/>
            <a:pathLst>
              <a:path w="393" h="146">
                <a:moveTo>
                  <a:pt x="0" y="0"/>
                </a:moveTo>
                <a:lnTo>
                  <a:pt x="16" y="1"/>
                </a:lnTo>
                <a:lnTo>
                  <a:pt x="33" y="3"/>
                </a:lnTo>
                <a:lnTo>
                  <a:pt x="49" y="6"/>
                </a:lnTo>
                <a:lnTo>
                  <a:pt x="65" y="10"/>
                </a:lnTo>
                <a:lnTo>
                  <a:pt x="82" y="16"/>
                </a:lnTo>
                <a:lnTo>
                  <a:pt x="98" y="22"/>
                </a:lnTo>
                <a:lnTo>
                  <a:pt x="114" y="28"/>
                </a:lnTo>
                <a:lnTo>
                  <a:pt x="131" y="36"/>
                </a:lnTo>
                <a:lnTo>
                  <a:pt x="147" y="43"/>
                </a:lnTo>
                <a:lnTo>
                  <a:pt x="164" y="52"/>
                </a:lnTo>
                <a:lnTo>
                  <a:pt x="180" y="60"/>
                </a:lnTo>
                <a:lnTo>
                  <a:pt x="196" y="68"/>
                </a:lnTo>
                <a:lnTo>
                  <a:pt x="213" y="77"/>
                </a:lnTo>
                <a:lnTo>
                  <a:pt x="229" y="85"/>
                </a:lnTo>
                <a:lnTo>
                  <a:pt x="246" y="93"/>
                </a:lnTo>
                <a:lnTo>
                  <a:pt x="262" y="101"/>
                </a:lnTo>
                <a:lnTo>
                  <a:pt x="278" y="109"/>
                </a:lnTo>
                <a:lnTo>
                  <a:pt x="295" y="115"/>
                </a:lnTo>
                <a:lnTo>
                  <a:pt x="311" y="121"/>
                </a:lnTo>
                <a:lnTo>
                  <a:pt x="327" y="126"/>
                </a:lnTo>
                <a:lnTo>
                  <a:pt x="344" y="131"/>
                </a:lnTo>
                <a:lnTo>
                  <a:pt x="360" y="134"/>
                </a:lnTo>
                <a:lnTo>
                  <a:pt x="377" y="136"/>
                </a:lnTo>
                <a:lnTo>
                  <a:pt x="393" y="137"/>
                </a:lnTo>
                <a:lnTo>
                  <a:pt x="393" y="146"/>
                </a:lnTo>
                <a:lnTo>
                  <a:pt x="377" y="146"/>
                </a:lnTo>
                <a:lnTo>
                  <a:pt x="360" y="144"/>
                </a:lnTo>
                <a:lnTo>
                  <a:pt x="344" y="140"/>
                </a:lnTo>
                <a:lnTo>
                  <a:pt x="327" y="136"/>
                </a:lnTo>
                <a:lnTo>
                  <a:pt x="311" y="131"/>
                </a:lnTo>
                <a:lnTo>
                  <a:pt x="295" y="125"/>
                </a:lnTo>
                <a:lnTo>
                  <a:pt x="278" y="118"/>
                </a:lnTo>
                <a:lnTo>
                  <a:pt x="262" y="111"/>
                </a:lnTo>
                <a:lnTo>
                  <a:pt x="246" y="103"/>
                </a:lnTo>
                <a:lnTo>
                  <a:pt x="229" y="95"/>
                </a:lnTo>
                <a:lnTo>
                  <a:pt x="213" y="87"/>
                </a:lnTo>
                <a:lnTo>
                  <a:pt x="196" y="78"/>
                </a:lnTo>
                <a:lnTo>
                  <a:pt x="180" y="70"/>
                </a:lnTo>
                <a:lnTo>
                  <a:pt x="164" y="61"/>
                </a:lnTo>
                <a:lnTo>
                  <a:pt x="147" y="53"/>
                </a:lnTo>
                <a:lnTo>
                  <a:pt x="131" y="45"/>
                </a:lnTo>
                <a:lnTo>
                  <a:pt x="114" y="38"/>
                </a:lnTo>
                <a:lnTo>
                  <a:pt x="98" y="31"/>
                </a:lnTo>
                <a:lnTo>
                  <a:pt x="82" y="25"/>
                </a:lnTo>
                <a:lnTo>
                  <a:pt x="65" y="20"/>
                </a:lnTo>
                <a:lnTo>
                  <a:pt x="49" y="16"/>
                </a:lnTo>
                <a:lnTo>
                  <a:pt x="33" y="13"/>
                </a:lnTo>
                <a:lnTo>
                  <a:pt x="16" y="11"/>
                </a:lnTo>
                <a:lnTo>
                  <a:pt x="0" y="10"/>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695825"/>
            <a:ext cx="3743325" cy="1685925"/>
          </a:xfrm>
          <a:custGeom>
            <a:avLst/>
            <a:gdLst/>
            <a:ahLst/>
            <a:cxnLst/>
            <a:rect l="l" t="t" r="r" b="b"/>
            <a:pathLst>
              <a:path w="393" h="177">
                <a:moveTo>
                  <a:pt x="0" y="0"/>
                </a:moveTo>
                <a:lnTo>
                  <a:pt x="16" y="1"/>
                </a:lnTo>
                <a:lnTo>
                  <a:pt x="33" y="4"/>
                </a:lnTo>
                <a:lnTo>
                  <a:pt x="49" y="8"/>
                </a:lnTo>
                <a:lnTo>
                  <a:pt x="65" y="13"/>
                </a:lnTo>
                <a:lnTo>
                  <a:pt x="82" y="19"/>
                </a:lnTo>
                <a:lnTo>
                  <a:pt x="98" y="27"/>
                </a:lnTo>
                <a:lnTo>
                  <a:pt x="114" y="35"/>
                </a:lnTo>
                <a:lnTo>
                  <a:pt x="131" y="45"/>
                </a:lnTo>
                <a:lnTo>
                  <a:pt x="147" y="54"/>
                </a:lnTo>
                <a:lnTo>
                  <a:pt x="164" y="65"/>
                </a:lnTo>
                <a:lnTo>
                  <a:pt x="180" y="75"/>
                </a:lnTo>
                <a:lnTo>
                  <a:pt x="196" y="86"/>
                </a:lnTo>
                <a:lnTo>
                  <a:pt x="213" y="97"/>
                </a:lnTo>
                <a:lnTo>
                  <a:pt x="229" y="107"/>
                </a:lnTo>
                <a:lnTo>
                  <a:pt x="246" y="117"/>
                </a:lnTo>
                <a:lnTo>
                  <a:pt x="262" y="127"/>
                </a:lnTo>
                <a:lnTo>
                  <a:pt x="278" y="136"/>
                </a:lnTo>
                <a:lnTo>
                  <a:pt x="295" y="145"/>
                </a:lnTo>
                <a:lnTo>
                  <a:pt x="311" y="152"/>
                </a:lnTo>
                <a:lnTo>
                  <a:pt x="327" y="159"/>
                </a:lnTo>
                <a:lnTo>
                  <a:pt x="344" y="164"/>
                </a:lnTo>
                <a:lnTo>
                  <a:pt x="360" y="168"/>
                </a:lnTo>
                <a:lnTo>
                  <a:pt x="377" y="171"/>
                </a:lnTo>
                <a:lnTo>
                  <a:pt x="393" y="172"/>
                </a:lnTo>
                <a:lnTo>
                  <a:pt x="393" y="177"/>
                </a:lnTo>
                <a:lnTo>
                  <a:pt x="377" y="176"/>
                </a:lnTo>
                <a:lnTo>
                  <a:pt x="360" y="174"/>
                </a:lnTo>
                <a:lnTo>
                  <a:pt x="344" y="170"/>
                </a:lnTo>
                <a:lnTo>
                  <a:pt x="327" y="164"/>
                </a:lnTo>
                <a:lnTo>
                  <a:pt x="311" y="158"/>
                </a:lnTo>
                <a:lnTo>
                  <a:pt x="295" y="150"/>
                </a:lnTo>
                <a:lnTo>
                  <a:pt x="278" y="142"/>
                </a:lnTo>
                <a:lnTo>
                  <a:pt x="262" y="133"/>
                </a:lnTo>
                <a:lnTo>
                  <a:pt x="246" y="123"/>
                </a:lnTo>
                <a:lnTo>
                  <a:pt x="229" y="112"/>
                </a:lnTo>
                <a:lnTo>
                  <a:pt x="213" y="102"/>
                </a:lnTo>
                <a:lnTo>
                  <a:pt x="196" y="91"/>
                </a:lnTo>
                <a:lnTo>
                  <a:pt x="180" y="81"/>
                </a:lnTo>
                <a:lnTo>
                  <a:pt x="164" y="70"/>
                </a:lnTo>
                <a:lnTo>
                  <a:pt x="147" y="60"/>
                </a:lnTo>
                <a:lnTo>
                  <a:pt x="131" y="50"/>
                </a:lnTo>
                <a:lnTo>
                  <a:pt x="114" y="41"/>
                </a:lnTo>
                <a:lnTo>
                  <a:pt x="98" y="32"/>
                </a:lnTo>
                <a:lnTo>
                  <a:pt x="82" y="25"/>
                </a:lnTo>
                <a:lnTo>
                  <a:pt x="65" y="18"/>
                </a:lnTo>
                <a:lnTo>
                  <a:pt x="49" y="13"/>
                </a:lnTo>
                <a:lnTo>
                  <a:pt x="33" y="9"/>
                </a:lnTo>
                <a:lnTo>
                  <a:pt x="16" y="6"/>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419600"/>
            <a:ext cx="3743325" cy="590550"/>
          </a:xfrm>
          <a:custGeom>
            <a:avLst/>
            <a:gdLst/>
            <a:ahLst/>
            <a:cxnLst/>
            <a:rect l="l" t="t" r="r" b="b"/>
            <a:pathLst>
              <a:path w="393" h="62">
                <a:moveTo>
                  <a:pt x="0" y="41"/>
                </a:moveTo>
                <a:lnTo>
                  <a:pt x="16" y="40"/>
                </a:lnTo>
                <a:lnTo>
                  <a:pt x="33" y="40"/>
                </a:lnTo>
                <a:lnTo>
                  <a:pt x="49" y="39"/>
                </a:lnTo>
                <a:lnTo>
                  <a:pt x="65" y="37"/>
                </a:lnTo>
                <a:lnTo>
                  <a:pt x="82" y="36"/>
                </a:lnTo>
                <a:lnTo>
                  <a:pt x="98" y="34"/>
                </a:lnTo>
                <a:lnTo>
                  <a:pt x="114" y="32"/>
                </a:lnTo>
                <a:lnTo>
                  <a:pt x="131" y="30"/>
                </a:lnTo>
                <a:lnTo>
                  <a:pt x="147" y="28"/>
                </a:lnTo>
                <a:lnTo>
                  <a:pt x="164" y="25"/>
                </a:lnTo>
                <a:lnTo>
                  <a:pt x="180" y="23"/>
                </a:lnTo>
                <a:lnTo>
                  <a:pt x="196" y="20"/>
                </a:lnTo>
                <a:lnTo>
                  <a:pt x="213" y="18"/>
                </a:lnTo>
                <a:lnTo>
                  <a:pt x="229" y="15"/>
                </a:lnTo>
                <a:lnTo>
                  <a:pt x="246" y="13"/>
                </a:lnTo>
                <a:lnTo>
                  <a:pt x="262" y="10"/>
                </a:lnTo>
                <a:lnTo>
                  <a:pt x="278" y="8"/>
                </a:lnTo>
                <a:lnTo>
                  <a:pt x="295" y="6"/>
                </a:lnTo>
                <a:lnTo>
                  <a:pt x="311" y="4"/>
                </a:lnTo>
                <a:lnTo>
                  <a:pt x="327" y="3"/>
                </a:lnTo>
                <a:lnTo>
                  <a:pt x="344" y="1"/>
                </a:lnTo>
                <a:lnTo>
                  <a:pt x="360" y="0"/>
                </a:lnTo>
                <a:lnTo>
                  <a:pt x="377" y="0"/>
                </a:lnTo>
                <a:lnTo>
                  <a:pt x="393" y="0"/>
                </a:lnTo>
                <a:lnTo>
                  <a:pt x="393" y="21"/>
                </a:lnTo>
                <a:lnTo>
                  <a:pt x="377" y="21"/>
                </a:lnTo>
                <a:lnTo>
                  <a:pt x="360" y="22"/>
                </a:lnTo>
                <a:lnTo>
                  <a:pt x="344" y="23"/>
                </a:lnTo>
                <a:lnTo>
                  <a:pt x="327" y="24"/>
                </a:lnTo>
                <a:lnTo>
                  <a:pt x="311" y="26"/>
                </a:lnTo>
                <a:lnTo>
                  <a:pt x="295" y="28"/>
                </a:lnTo>
                <a:lnTo>
                  <a:pt x="278" y="30"/>
                </a:lnTo>
                <a:lnTo>
                  <a:pt x="262" y="32"/>
                </a:lnTo>
                <a:lnTo>
                  <a:pt x="246" y="34"/>
                </a:lnTo>
                <a:lnTo>
                  <a:pt x="229" y="37"/>
                </a:lnTo>
                <a:lnTo>
                  <a:pt x="213" y="39"/>
                </a:lnTo>
                <a:lnTo>
                  <a:pt x="196" y="42"/>
                </a:lnTo>
                <a:lnTo>
                  <a:pt x="180" y="44"/>
                </a:lnTo>
                <a:lnTo>
                  <a:pt x="164" y="47"/>
                </a:lnTo>
                <a:lnTo>
                  <a:pt x="147" y="49"/>
                </a:lnTo>
                <a:lnTo>
                  <a:pt x="131" y="52"/>
                </a:lnTo>
                <a:lnTo>
                  <a:pt x="114" y="54"/>
                </a:lnTo>
                <a:lnTo>
                  <a:pt x="98" y="56"/>
                </a:lnTo>
                <a:lnTo>
                  <a:pt x="82" y="58"/>
                </a:lnTo>
                <a:lnTo>
                  <a:pt x="65" y="59"/>
                </a:lnTo>
                <a:lnTo>
                  <a:pt x="49" y="60"/>
                </a:lnTo>
                <a:lnTo>
                  <a:pt x="33" y="61"/>
                </a:lnTo>
                <a:lnTo>
                  <a:pt x="16" y="62"/>
                </a:lnTo>
                <a:lnTo>
                  <a:pt x="0" y="6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010150"/>
            <a:ext cx="3743325" cy="457200"/>
          </a:xfrm>
          <a:custGeom>
            <a:avLst/>
            <a:gdLst/>
            <a:ahLst/>
            <a:cxnLst/>
            <a:rect l="l" t="t" r="r" b="b"/>
            <a:pathLst>
              <a:path w="393" h="48">
                <a:moveTo>
                  <a:pt x="0" y="0"/>
                </a:moveTo>
                <a:lnTo>
                  <a:pt x="16" y="0"/>
                </a:lnTo>
                <a:lnTo>
                  <a:pt x="33" y="1"/>
                </a:lnTo>
                <a:lnTo>
                  <a:pt x="49" y="1"/>
                </a:lnTo>
                <a:lnTo>
                  <a:pt x="65" y="2"/>
                </a:lnTo>
                <a:lnTo>
                  <a:pt x="82" y="3"/>
                </a:lnTo>
                <a:lnTo>
                  <a:pt x="98" y="5"/>
                </a:lnTo>
                <a:lnTo>
                  <a:pt x="114" y="6"/>
                </a:lnTo>
                <a:lnTo>
                  <a:pt x="131" y="7"/>
                </a:lnTo>
                <a:lnTo>
                  <a:pt x="147" y="9"/>
                </a:lnTo>
                <a:lnTo>
                  <a:pt x="164" y="11"/>
                </a:lnTo>
                <a:lnTo>
                  <a:pt x="180" y="12"/>
                </a:lnTo>
                <a:lnTo>
                  <a:pt x="196" y="14"/>
                </a:lnTo>
                <a:lnTo>
                  <a:pt x="213" y="16"/>
                </a:lnTo>
                <a:lnTo>
                  <a:pt x="229" y="18"/>
                </a:lnTo>
                <a:lnTo>
                  <a:pt x="246" y="19"/>
                </a:lnTo>
                <a:lnTo>
                  <a:pt x="262" y="21"/>
                </a:lnTo>
                <a:lnTo>
                  <a:pt x="278" y="23"/>
                </a:lnTo>
                <a:lnTo>
                  <a:pt x="295" y="24"/>
                </a:lnTo>
                <a:lnTo>
                  <a:pt x="311" y="25"/>
                </a:lnTo>
                <a:lnTo>
                  <a:pt x="327" y="26"/>
                </a:lnTo>
                <a:lnTo>
                  <a:pt x="344" y="27"/>
                </a:lnTo>
                <a:lnTo>
                  <a:pt x="360" y="28"/>
                </a:lnTo>
                <a:lnTo>
                  <a:pt x="377" y="28"/>
                </a:lnTo>
                <a:lnTo>
                  <a:pt x="393" y="28"/>
                </a:lnTo>
                <a:lnTo>
                  <a:pt x="393" y="48"/>
                </a:lnTo>
                <a:lnTo>
                  <a:pt x="377" y="48"/>
                </a:lnTo>
                <a:lnTo>
                  <a:pt x="360" y="48"/>
                </a:lnTo>
                <a:lnTo>
                  <a:pt x="344" y="47"/>
                </a:lnTo>
                <a:lnTo>
                  <a:pt x="327" y="46"/>
                </a:lnTo>
                <a:lnTo>
                  <a:pt x="311" y="45"/>
                </a:lnTo>
                <a:lnTo>
                  <a:pt x="295" y="44"/>
                </a:lnTo>
                <a:lnTo>
                  <a:pt x="278" y="42"/>
                </a:lnTo>
                <a:lnTo>
                  <a:pt x="262" y="41"/>
                </a:lnTo>
                <a:lnTo>
                  <a:pt x="246" y="39"/>
                </a:lnTo>
                <a:lnTo>
                  <a:pt x="229" y="37"/>
                </a:lnTo>
                <a:lnTo>
                  <a:pt x="213" y="36"/>
                </a:lnTo>
                <a:lnTo>
                  <a:pt x="196" y="34"/>
                </a:lnTo>
                <a:lnTo>
                  <a:pt x="180" y="32"/>
                </a:lnTo>
                <a:lnTo>
                  <a:pt x="164" y="30"/>
                </a:lnTo>
                <a:lnTo>
                  <a:pt x="147" y="29"/>
                </a:lnTo>
                <a:lnTo>
                  <a:pt x="131" y="27"/>
                </a:lnTo>
                <a:lnTo>
                  <a:pt x="114" y="26"/>
                </a:lnTo>
                <a:lnTo>
                  <a:pt x="98" y="24"/>
                </a:lnTo>
                <a:lnTo>
                  <a:pt x="82" y="23"/>
                </a:lnTo>
                <a:lnTo>
                  <a:pt x="65" y="22"/>
                </a:lnTo>
                <a:lnTo>
                  <a:pt x="49" y="21"/>
                </a:lnTo>
                <a:lnTo>
                  <a:pt x="33" y="20"/>
                </a:lnTo>
                <a:lnTo>
                  <a:pt x="16" y="20"/>
                </a:lnTo>
                <a:lnTo>
                  <a:pt x="0" y="2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200650"/>
            <a:ext cx="3743325" cy="885825"/>
          </a:xfrm>
          <a:custGeom>
            <a:avLst/>
            <a:gdLst/>
            <a:ahLst/>
            <a:cxnLst/>
            <a:rect l="l" t="t" r="r" b="b"/>
            <a:pathLst>
              <a:path w="393" h="93">
                <a:moveTo>
                  <a:pt x="0" y="0"/>
                </a:moveTo>
                <a:lnTo>
                  <a:pt x="16" y="0"/>
                </a:lnTo>
                <a:lnTo>
                  <a:pt x="33" y="2"/>
                </a:lnTo>
                <a:lnTo>
                  <a:pt x="49" y="3"/>
                </a:lnTo>
                <a:lnTo>
                  <a:pt x="65" y="6"/>
                </a:lnTo>
                <a:lnTo>
                  <a:pt x="82" y="9"/>
                </a:lnTo>
                <a:lnTo>
                  <a:pt x="98" y="13"/>
                </a:lnTo>
                <a:lnTo>
                  <a:pt x="114" y="17"/>
                </a:lnTo>
                <a:lnTo>
                  <a:pt x="131" y="22"/>
                </a:lnTo>
                <a:lnTo>
                  <a:pt x="147" y="26"/>
                </a:lnTo>
                <a:lnTo>
                  <a:pt x="164" y="31"/>
                </a:lnTo>
                <a:lnTo>
                  <a:pt x="180" y="36"/>
                </a:lnTo>
                <a:lnTo>
                  <a:pt x="196" y="42"/>
                </a:lnTo>
                <a:lnTo>
                  <a:pt x="213" y="47"/>
                </a:lnTo>
                <a:lnTo>
                  <a:pt x="229" y="52"/>
                </a:lnTo>
                <a:lnTo>
                  <a:pt x="246" y="57"/>
                </a:lnTo>
                <a:lnTo>
                  <a:pt x="262" y="62"/>
                </a:lnTo>
                <a:lnTo>
                  <a:pt x="278" y="66"/>
                </a:lnTo>
                <a:lnTo>
                  <a:pt x="295" y="70"/>
                </a:lnTo>
                <a:lnTo>
                  <a:pt x="311" y="74"/>
                </a:lnTo>
                <a:lnTo>
                  <a:pt x="327" y="77"/>
                </a:lnTo>
                <a:lnTo>
                  <a:pt x="344" y="80"/>
                </a:lnTo>
                <a:lnTo>
                  <a:pt x="360" y="82"/>
                </a:lnTo>
                <a:lnTo>
                  <a:pt x="377" y="83"/>
                </a:lnTo>
                <a:lnTo>
                  <a:pt x="393" y="83"/>
                </a:lnTo>
                <a:lnTo>
                  <a:pt x="393" y="93"/>
                </a:lnTo>
                <a:lnTo>
                  <a:pt x="377" y="93"/>
                </a:lnTo>
                <a:lnTo>
                  <a:pt x="360" y="91"/>
                </a:lnTo>
                <a:lnTo>
                  <a:pt x="344" y="90"/>
                </a:lnTo>
                <a:lnTo>
                  <a:pt x="327" y="87"/>
                </a:lnTo>
                <a:lnTo>
                  <a:pt x="311" y="84"/>
                </a:lnTo>
                <a:lnTo>
                  <a:pt x="295" y="80"/>
                </a:lnTo>
                <a:lnTo>
                  <a:pt x="278" y="76"/>
                </a:lnTo>
                <a:lnTo>
                  <a:pt x="262" y="71"/>
                </a:lnTo>
                <a:lnTo>
                  <a:pt x="246" y="67"/>
                </a:lnTo>
                <a:lnTo>
                  <a:pt x="229" y="62"/>
                </a:lnTo>
                <a:lnTo>
                  <a:pt x="213" y="57"/>
                </a:lnTo>
                <a:lnTo>
                  <a:pt x="196" y="51"/>
                </a:lnTo>
                <a:lnTo>
                  <a:pt x="180" y="46"/>
                </a:lnTo>
                <a:lnTo>
                  <a:pt x="164" y="41"/>
                </a:lnTo>
                <a:lnTo>
                  <a:pt x="147" y="36"/>
                </a:lnTo>
                <a:lnTo>
                  <a:pt x="131" y="31"/>
                </a:lnTo>
                <a:lnTo>
                  <a:pt x="114" y="27"/>
                </a:lnTo>
                <a:lnTo>
                  <a:pt x="98" y="23"/>
                </a:lnTo>
                <a:lnTo>
                  <a:pt x="82" y="19"/>
                </a:lnTo>
                <a:lnTo>
                  <a:pt x="65" y="16"/>
                </a:lnTo>
                <a:lnTo>
                  <a:pt x="49" y="13"/>
                </a:lnTo>
                <a:lnTo>
                  <a:pt x="33" y="11"/>
                </a:lnTo>
                <a:lnTo>
                  <a:pt x="16" y="10"/>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95900"/>
            <a:ext cx="3743325" cy="1133475"/>
          </a:xfrm>
          <a:custGeom>
            <a:avLst/>
            <a:gdLst/>
            <a:ahLst/>
            <a:cxnLst/>
            <a:rect l="l" t="t" r="r" b="b"/>
            <a:pathLst>
              <a:path w="393" h="119">
                <a:moveTo>
                  <a:pt x="0" y="0"/>
                </a:moveTo>
                <a:lnTo>
                  <a:pt x="16" y="0"/>
                </a:lnTo>
                <a:lnTo>
                  <a:pt x="33" y="2"/>
                </a:lnTo>
                <a:lnTo>
                  <a:pt x="49" y="5"/>
                </a:lnTo>
                <a:lnTo>
                  <a:pt x="65" y="8"/>
                </a:lnTo>
                <a:lnTo>
                  <a:pt x="82" y="12"/>
                </a:lnTo>
                <a:lnTo>
                  <a:pt x="98" y="18"/>
                </a:lnTo>
                <a:lnTo>
                  <a:pt x="114" y="23"/>
                </a:lnTo>
                <a:lnTo>
                  <a:pt x="131" y="29"/>
                </a:lnTo>
                <a:lnTo>
                  <a:pt x="147" y="36"/>
                </a:lnTo>
                <a:lnTo>
                  <a:pt x="164" y="43"/>
                </a:lnTo>
                <a:lnTo>
                  <a:pt x="180" y="50"/>
                </a:lnTo>
                <a:lnTo>
                  <a:pt x="196" y="57"/>
                </a:lnTo>
                <a:lnTo>
                  <a:pt x="213" y="64"/>
                </a:lnTo>
                <a:lnTo>
                  <a:pt x="229" y="71"/>
                </a:lnTo>
                <a:lnTo>
                  <a:pt x="246" y="78"/>
                </a:lnTo>
                <a:lnTo>
                  <a:pt x="262" y="84"/>
                </a:lnTo>
                <a:lnTo>
                  <a:pt x="278" y="90"/>
                </a:lnTo>
                <a:lnTo>
                  <a:pt x="295" y="96"/>
                </a:lnTo>
                <a:lnTo>
                  <a:pt x="311" y="101"/>
                </a:lnTo>
                <a:lnTo>
                  <a:pt x="327" y="106"/>
                </a:lnTo>
                <a:lnTo>
                  <a:pt x="344" y="109"/>
                </a:lnTo>
                <a:lnTo>
                  <a:pt x="360" y="112"/>
                </a:lnTo>
                <a:lnTo>
                  <a:pt x="377" y="113"/>
                </a:lnTo>
                <a:lnTo>
                  <a:pt x="393" y="114"/>
                </a:lnTo>
                <a:lnTo>
                  <a:pt x="393" y="119"/>
                </a:lnTo>
                <a:lnTo>
                  <a:pt x="377" y="119"/>
                </a:lnTo>
                <a:lnTo>
                  <a:pt x="360" y="117"/>
                </a:lnTo>
                <a:lnTo>
                  <a:pt x="344" y="114"/>
                </a:lnTo>
                <a:lnTo>
                  <a:pt x="327" y="111"/>
                </a:lnTo>
                <a:lnTo>
                  <a:pt x="311" y="107"/>
                </a:lnTo>
                <a:lnTo>
                  <a:pt x="295" y="101"/>
                </a:lnTo>
                <a:lnTo>
                  <a:pt x="278" y="96"/>
                </a:lnTo>
                <a:lnTo>
                  <a:pt x="262" y="90"/>
                </a:lnTo>
                <a:lnTo>
                  <a:pt x="246" y="83"/>
                </a:lnTo>
                <a:lnTo>
                  <a:pt x="229" y="76"/>
                </a:lnTo>
                <a:lnTo>
                  <a:pt x="213" y="69"/>
                </a:lnTo>
                <a:lnTo>
                  <a:pt x="196" y="62"/>
                </a:lnTo>
                <a:lnTo>
                  <a:pt x="180" y="55"/>
                </a:lnTo>
                <a:lnTo>
                  <a:pt x="164" y="48"/>
                </a:lnTo>
                <a:lnTo>
                  <a:pt x="147" y="41"/>
                </a:lnTo>
                <a:lnTo>
                  <a:pt x="131" y="35"/>
                </a:lnTo>
                <a:lnTo>
                  <a:pt x="114" y="29"/>
                </a:lnTo>
                <a:lnTo>
                  <a:pt x="98" y="23"/>
                </a:lnTo>
                <a:lnTo>
                  <a:pt x="82" y="18"/>
                </a:lnTo>
                <a:lnTo>
                  <a:pt x="65" y="13"/>
                </a:lnTo>
                <a:lnTo>
                  <a:pt x="49" y="10"/>
                </a:lnTo>
                <a:lnTo>
                  <a:pt x="33" y="7"/>
                </a:lnTo>
                <a:lnTo>
                  <a:pt x="16" y="6"/>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619625"/>
            <a:ext cx="3743325" cy="990600"/>
          </a:xfrm>
          <a:custGeom>
            <a:avLst/>
            <a:gdLst/>
            <a:ahLst/>
            <a:cxnLst/>
            <a:rect l="l" t="t" r="r" b="b"/>
            <a:pathLst>
              <a:path w="393" h="104">
                <a:moveTo>
                  <a:pt x="0" y="82"/>
                </a:moveTo>
                <a:lnTo>
                  <a:pt x="16" y="82"/>
                </a:lnTo>
                <a:lnTo>
                  <a:pt x="33" y="80"/>
                </a:lnTo>
                <a:lnTo>
                  <a:pt x="49" y="78"/>
                </a:lnTo>
                <a:lnTo>
                  <a:pt x="65" y="76"/>
                </a:lnTo>
                <a:lnTo>
                  <a:pt x="82" y="73"/>
                </a:lnTo>
                <a:lnTo>
                  <a:pt x="98" y="69"/>
                </a:lnTo>
                <a:lnTo>
                  <a:pt x="114" y="65"/>
                </a:lnTo>
                <a:lnTo>
                  <a:pt x="131" y="61"/>
                </a:lnTo>
                <a:lnTo>
                  <a:pt x="147" y="56"/>
                </a:lnTo>
                <a:lnTo>
                  <a:pt x="164" y="51"/>
                </a:lnTo>
                <a:lnTo>
                  <a:pt x="180" y="46"/>
                </a:lnTo>
                <a:lnTo>
                  <a:pt x="196" y="41"/>
                </a:lnTo>
                <a:lnTo>
                  <a:pt x="213" y="36"/>
                </a:lnTo>
                <a:lnTo>
                  <a:pt x="229" y="31"/>
                </a:lnTo>
                <a:lnTo>
                  <a:pt x="246" y="26"/>
                </a:lnTo>
                <a:lnTo>
                  <a:pt x="262" y="21"/>
                </a:lnTo>
                <a:lnTo>
                  <a:pt x="278" y="17"/>
                </a:lnTo>
                <a:lnTo>
                  <a:pt x="295" y="13"/>
                </a:lnTo>
                <a:lnTo>
                  <a:pt x="311" y="9"/>
                </a:lnTo>
                <a:lnTo>
                  <a:pt x="327" y="6"/>
                </a:lnTo>
                <a:lnTo>
                  <a:pt x="344" y="4"/>
                </a:lnTo>
                <a:lnTo>
                  <a:pt x="360" y="2"/>
                </a:lnTo>
                <a:lnTo>
                  <a:pt x="377" y="1"/>
                </a:lnTo>
                <a:lnTo>
                  <a:pt x="393" y="0"/>
                </a:lnTo>
                <a:lnTo>
                  <a:pt x="393" y="22"/>
                </a:lnTo>
                <a:lnTo>
                  <a:pt x="377" y="22"/>
                </a:lnTo>
                <a:lnTo>
                  <a:pt x="360" y="24"/>
                </a:lnTo>
                <a:lnTo>
                  <a:pt x="344" y="25"/>
                </a:lnTo>
                <a:lnTo>
                  <a:pt x="327" y="28"/>
                </a:lnTo>
                <a:lnTo>
                  <a:pt x="311" y="31"/>
                </a:lnTo>
                <a:lnTo>
                  <a:pt x="295" y="35"/>
                </a:lnTo>
                <a:lnTo>
                  <a:pt x="278" y="39"/>
                </a:lnTo>
                <a:lnTo>
                  <a:pt x="262" y="43"/>
                </a:lnTo>
                <a:lnTo>
                  <a:pt x="246" y="48"/>
                </a:lnTo>
                <a:lnTo>
                  <a:pt x="229" y="53"/>
                </a:lnTo>
                <a:lnTo>
                  <a:pt x="213" y="58"/>
                </a:lnTo>
                <a:lnTo>
                  <a:pt x="196" y="63"/>
                </a:lnTo>
                <a:lnTo>
                  <a:pt x="180" y="68"/>
                </a:lnTo>
                <a:lnTo>
                  <a:pt x="164" y="73"/>
                </a:lnTo>
                <a:lnTo>
                  <a:pt x="147" y="78"/>
                </a:lnTo>
                <a:lnTo>
                  <a:pt x="131" y="82"/>
                </a:lnTo>
                <a:lnTo>
                  <a:pt x="114" y="87"/>
                </a:lnTo>
                <a:lnTo>
                  <a:pt x="98" y="91"/>
                </a:lnTo>
                <a:lnTo>
                  <a:pt x="82" y="94"/>
                </a:lnTo>
                <a:lnTo>
                  <a:pt x="65" y="98"/>
                </a:lnTo>
                <a:lnTo>
                  <a:pt x="49" y="100"/>
                </a:lnTo>
                <a:lnTo>
                  <a:pt x="33" y="102"/>
                </a:lnTo>
                <a:lnTo>
                  <a:pt x="16" y="103"/>
                </a:lnTo>
                <a:lnTo>
                  <a:pt x="0" y="10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67350"/>
            <a:ext cx="3743325" cy="323850"/>
          </a:xfrm>
          <a:custGeom>
            <a:avLst/>
            <a:gdLst/>
            <a:ahLst/>
            <a:cxnLst/>
            <a:rect l="l" t="t" r="r" b="b"/>
            <a:pathLst>
              <a:path w="393" h="34">
                <a:moveTo>
                  <a:pt x="0" y="15"/>
                </a:moveTo>
                <a:lnTo>
                  <a:pt x="16" y="15"/>
                </a:lnTo>
                <a:lnTo>
                  <a:pt x="33" y="14"/>
                </a:lnTo>
                <a:lnTo>
                  <a:pt x="49" y="14"/>
                </a:lnTo>
                <a:lnTo>
                  <a:pt x="65" y="14"/>
                </a:lnTo>
                <a:lnTo>
                  <a:pt x="82" y="13"/>
                </a:lnTo>
                <a:lnTo>
                  <a:pt x="98" y="12"/>
                </a:lnTo>
                <a:lnTo>
                  <a:pt x="114" y="12"/>
                </a:lnTo>
                <a:lnTo>
                  <a:pt x="131" y="11"/>
                </a:lnTo>
                <a:lnTo>
                  <a:pt x="147" y="10"/>
                </a:lnTo>
                <a:lnTo>
                  <a:pt x="164" y="9"/>
                </a:lnTo>
                <a:lnTo>
                  <a:pt x="180" y="8"/>
                </a:lnTo>
                <a:lnTo>
                  <a:pt x="196" y="7"/>
                </a:lnTo>
                <a:lnTo>
                  <a:pt x="213" y="6"/>
                </a:lnTo>
                <a:lnTo>
                  <a:pt x="229" y="6"/>
                </a:lnTo>
                <a:lnTo>
                  <a:pt x="246" y="5"/>
                </a:lnTo>
                <a:lnTo>
                  <a:pt x="262" y="4"/>
                </a:lnTo>
                <a:lnTo>
                  <a:pt x="278" y="3"/>
                </a:lnTo>
                <a:lnTo>
                  <a:pt x="295" y="2"/>
                </a:lnTo>
                <a:lnTo>
                  <a:pt x="311" y="2"/>
                </a:lnTo>
                <a:lnTo>
                  <a:pt x="327" y="1"/>
                </a:lnTo>
                <a:lnTo>
                  <a:pt x="344" y="1"/>
                </a:lnTo>
                <a:lnTo>
                  <a:pt x="360" y="0"/>
                </a:lnTo>
                <a:lnTo>
                  <a:pt x="377" y="0"/>
                </a:lnTo>
                <a:lnTo>
                  <a:pt x="393" y="0"/>
                </a:lnTo>
                <a:lnTo>
                  <a:pt x="393" y="20"/>
                </a:lnTo>
                <a:lnTo>
                  <a:pt x="377" y="20"/>
                </a:lnTo>
                <a:lnTo>
                  <a:pt x="360" y="20"/>
                </a:lnTo>
                <a:lnTo>
                  <a:pt x="344" y="20"/>
                </a:lnTo>
                <a:lnTo>
                  <a:pt x="327" y="21"/>
                </a:lnTo>
                <a:lnTo>
                  <a:pt x="311" y="21"/>
                </a:lnTo>
                <a:lnTo>
                  <a:pt x="295" y="22"/>
                </a:lnTo>
                <a:lnTo>
                  <a:pt x="278" y="23"/>
                </a:lnTo>
                <a:lnTo>
                  <a:pt x="262" y="24"/>
                </a:lnTo>
                <a:lnTo>
                  <a:pt x="246" y="24"/>
                </a:lnTo>
                <a:lnTo>
                  <a:pt x="229" y="25"/>
                </a:lnTo>
                <a:lnTo>
                  <a:pt x="213" y="26"/>
                </a:lnTo>
                <a:lnTo>
                  <a:pt x="196" y="27"/>
                </a:lnTo>
                <a:lnTo>
                  <a:pt x="180" y="28"/>
                </a:lnTo>
                <a:lnTo>
                  <a:pt x="164" y="29"/>
                </a:lnTo>
                <a:lnTo>
                  <a:pt x="147" y="30"/>
                </a:lnTo>
                <a:lnTo>
                  <a:pt x="131" y="31"/>
                </a:lnTo>
                <a:lnTo>
                  <a:pt x="114" y="31"/>
                </a:lnTo>
                <a:lnTo>
                  <a:pt x="98" y="32"/>
                </a:lnTo>
                <a:lnTo>
                  <a:pt x="82" y="33"/>
                </a:lnTo>
                <a:lnTo>
                  <a:pt x="65" y="33"/>
                </a:lnTo>
                <a:lnTo>
                  <a:pt x="49" y="34"/>
                </a:lnTo>
                <a:lnTo>
                  <a:pt x="33" y="34"/>
                </a:lnTo>
                <a:lnTo>
                  <a:pt x="16" y="34"/>
                </a:lnTo>
                <a:lnTo>
                  <a:pt x="0" y="34"/>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791200"/>
            <a:ext cx="3743325" cy="390525"/>
          </a:xfrm>
          <a:custGeom>
            <a:avLst/>
            <a:gdLst/>
            <a:ahLst/>
            <a:cxnLst/>
            <a:rect l="l" t="t" r="r" b="b"/>
            <a:pathLst>
              <a:path w="393" h="41">
                <a:moveTo>
                  <a:pt x="0" y="0"/>
                </a:moveTo>
                <a:lnTo>
                  <a:pt x="16" y="1"/>
                </a:lnTo>
                <a:lnTo>
                  <a:pt x="33" y="1"/>
                </a:lnTo>
                <a:lnTo>
                  <a:pt x="49" y="2"/>
                </a:lnTo>
                <a:lnTo>
                  <a:pt x="65" y="3"/>
                </a:lnTo>
                <a:lnTo>
                  <a:pt x="82" y="4"/>
                </a:lnTo>
                <a:lnTo>
                  <a:pt x="98" y="5"/>
                </a:lnTo>
                <a:lnTo>
                  <a:pt x="114" y="7"/>
                </a:lnTo>
                <a:lnTo>
                  <a:pt x="131" y="8"/>
                </a:lnTo>
                <a:lnTo>
                  <a:pt x="147" y="10"/>
                </a:lnTo>
                <a:lnTo>
                  <a:pt x="164" y="12"/>
                </a:lnTo>
                <a:lnTo>
                  <a:pt x="180" y="14"/>
                </a:lnTo>
                <a:lnTo>
                  <a:pt x="196" y="16"/>
                </a:lnTo>
                <a:lnTo>
                  <a:pt x="213" y="18"/>
                </a:lnTo>
                <a:lnTo>
                  <a:pt x="229" y="20"/>
                </a:lnTo>
                <a:lnTo>
                  <a:pt x="246" y="21"/>
                </a:lnTo>
                <a:lnTo>
                  <a:pt x="262" y="23"/>
                </a:lnTo>
                <a:lnTo>
                  <a:pt x="278" y="25"/>
                </a:lnTo>
                <a:lnTo>
                  <a:pt x="295" y="26"/>
                </a:lnTo>
                <a:lnTo>
                  <a:pt x="311" y="28"/>
                </a:lnTo>
                <a:lnTo>
                  <a:pt x="327" y="29"/>
                </a:lnTo>
                <a:lnTo>
                  <a:pt x="344" y="30"/>
                </a:lnTo>
                <a:lnTo>
                  <a:pt x="360" y="31"/>
                </a:lnTo>
                <a:lnTo>
                  <a:pt x="377" y="31"/>
                </a:lnTo>
                <a:lnTo>
                  <a:pt x="393" y="31"/>
                </a:lnTo>
                <a:lnTo>
                  <a:pt x="393" y="41"/>
                </a:lnTo>
                <a:lnTo>
                  <a:pt x="377" y="41"/>
                </a:lnTo>
                <a:lnTo>
                  <a:pt x="360" y="40"/>
                </a:lnTo>
                <a:lnTo>
                  <a:pt x="344" y="40"/>
                </a:lnTo>
                <a:lnTo>
                  <a:pt x="327" y="39"/>
                </a:lnTo>
                <a:lnTo>
                  <a:pt x="311" y="37"/>
                </a:lnTo>
                <a:lnTo>
                  <a:pt x="295" y="36"/>
                </a:lnTo>
                <a:lnTo>
                  <a:pt x="278" y="35"/>
                </a:lnTo>
                <a:lnTo>
                  <a:pt x="262" y="33"/>
                </a:lnTo>
                <a:lnTo>
                  <a:pt x="246" y="31"/>
                </a:lnTo>
                <a:lnTo>
                  <a:pt x="229" y="29"/>
                </a:lnTo>
                <a:lnTo>
                  <a:pt x="213" y="27"/>
                </a:lnTo>
                <a:lnTo>
                  <a:pt x="196" y="26"/>
                </a:lnTo>
                <a:lnTo>
                  <a:pt x="180" y="24"/>
                </a:lnTo>
                <a:lnTo>
                  <a:pt x="164" y="22"/>
                </a:lnTo>
                <a:lnTo>
                  <a:pt x="147" y="20"/>
                </a:lnTo>
                <a:lnTo>
                  <a:pt x="131" y="18"/>
                </a:lnTo>
                <a:lnTo>
                  <a:pt x="114" y="16"/>
                </a:lnTo>
                <a:lnTo>
                  <a:pt x="98" y="15"/>
                </a:lnTo>
                <a:lnTo>
                  <a:pt x="82" y="14"/>
                </a:lnTo>
                <a:lnTo>
                  <a:pt x="65" y="12"/>
                </a:lnTo>
                <a:lnTo>
                  <a:pt x="49" y="11"/>
                </a:lnTo>
                <a:lnTo>
                  <a:pt x="33" y="11"/>
                </a:lnTo>
                <a:lnTo>
                  <a:pt x="16" y="10"/>
                </a:lnTo>
                <a:lnTo>
                  <a:pt x="0" y="10"/>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86450"/>
            <a:ext cx="3743325" cy="600075"/>
          </a:xfrm>
          <a:custGeom>
            <a:avLst/>
            <a:gdLst/>
            <a:ahLst/>
            <a:cxnLst/>
            <a:rect l="l" t="t" r="r" b="b"/>
            <a:pathLst>
              <a:path w="393" h="63">
                <a:moveTo>
                  <a:pt x="0" y="0"/>
                </a:moveTo>
                <a:lnTo>
                  <a:pt x="16" y="0"/>
                </a:lnTo>
                <a:lnTo>
                  <a:pt x="33" y="1"/>
                </a:lnTo>
                <a:lnTo>
                  <a:pt x="49" y="3"/>
                </a:lnTo>
                <a:lnTo>
                  <a:pt x="65" y="4"/>
                </a:lnTo>
                <a:lnTo>
                  <a:pt x="82" y="7"/>
                </a:lnTo>
                <a:lnTo>
                  <a:pt x="98" y="9"/>
                </a:lnTo>
                <a:lnTo>
                  <a:pt x="114" y="12"/>
                </a:lnTo>
                <a:lnTo>
                  <a:pt x="131" y="15"/>
                </a:lnTo>
                <a:lnTo>
                  <a:pt x="147" y="18"/>
                </a:lnTo>
                <a:lnTo>
                  <a:pt x="164" y="22"/>
                </a:lnTo>
                <a:lnTo>
                  <a:pt x="180" y="25"/>
                </a:lnTo>
                <a:lnTo>
                  <a:pt x="196" y="29"/>
                </a:lnTo>
                <a:lnTo>
                  <a:pt x="213" y="32"/>
                </a:lnTo>
                <a:lnTo>
                  <a:pt x="229" y="36"/>
                </a:lnTo>
                <a:lnTo>
                  <a:pt x="246" y="39"/>
                </a:lnTo>
                <a:lnTo>
                  <a:pt x="262" y="43"/>
                </a:lnTo>
                <a:lnTo>
                  <a:pt x="278" y="46"/>
                </a:lnTo>
                <a:lnTo>
                  <a:pt x="295" y="48"/>
                </a:lnTo>
                <a:lnTo>
                  <a:pt x="311" y="51"/>
                </a:lnTo>
                <a:lnTo>
                  <a:pt x="327" y="53"/>
                </a:lnTo>
                <a:lnTo>
                  <a:pt x="344" y="55"/>
                </a:lnTo>
                <a:lnTo>
                  <a:pt x="360" y="56"/>
                </a:lnTo>
                <a:lnTo>
                  <a:pt x="377" y="57"/>
                </a:lnTo>
                <a:lnTo>
                  <a:pt x="393" y="57"/>
                </a:lnTo>
                <a:lnTo>
                  <a:pt x="393" y="63"/>
                </a:lnTo>
                <a:lnTo>
                  <a:pt x="377" y="62"/>
                </a:lnTo>
                <a:lnTo>
                  <a:pt x="360" y="62"/>
                </a:lnTo>
                <a:lnTo>
                  <a:pt x="344" y="60"/>
                </a:lnTo>
                <a:lnTo>
                  <a:pt x="327" y="58"/>
                </a:lnTo>
                <a:lnTo>
                  <a:pt x="311" y="56"/>
                </a:lnTo>
                <a:lnTo>
                  <a:pt x="295" y="54"/>
                </a:lnTo>
                <a:lnTo>
                  <a:pt x="278" y="51"/>
                </a:lnTo>
                <a:lnTo>
                  <a:pt x="262" y="48"/>
                </a:lnTo>
                <a:lnTo>
                  <a:pt x="246" y="45"/>
                </a:lnTo>
                <a:lnTo>
                  <a:pt x="229" y="41"/>
                </a:lnTo>
                <a:lnTo>
                  <a:pt x="213" y="38"/>
                </a:lnTo>
                <a:lnTo>
                  <a:pt x="196" y="34"/>
                </a:lnTo>
                <a:lnTo>
                  <a:pt x="180" y="31"/>
                </a:lnTo>
                <a:lnTo>
                  <a:pt x="164" y="27"/>
                </a:lnTo>
                <a:lnTo>
                  <a:pt x="147" y="24"/>
                </a:lnTo>
                <a:lnTo>
                  <a:pt x="131" y="20"/>
                </a:lnTo>
                <a:lnTo>
                  <a:pt x="114" y="17"/>
                </a:lnTo>
                <a:lnTo>
                  <a:pt x="98" y="14"/>
                </a:lnTo>
                <a:lnTo>
                  <a:pt x="82" y="12"/>
                </a:lnTo>
                <a:lnTo>
                  <a:pt x="65" y="10"/>
                </a:lnTo>
                <a:lnTo>
                  <a:pt x="49" y="8"/>
                </a:lnTo>
                <a:lnTo>
                  <a:pt x="33" y="7"/>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829175"/>
            <a:ext cx="3743325" cy="1371600"/>
          </a:xfrm>
          <a:custGeom>
            <a:avLst/>
            <a:gdLst/>
            <a:ahLst/>
            <a:cxnLst/>
            <a:rect l="l" t="t" r="r" b="b"/>
            <a:pathLst>
              <a:path w="393" h="144">
                <a:moveTo>
                  <a:pt x="0" y="123"/>
                </a:moveTo>
                <a:lnTo>
                  <a:pt x="16" y="122"/>
                </a:lnTo>
                <a:lnTo>
                  <a:pt x="33" y="120"/>
                </a:lnTo>
                <a:lnTo>
                  <a:pt x="49" y="117"/>
                </a:lnTo>
                <a:lnTo>
                  <a:pt x="65" y="113"/>
                </a:lnTo>
                <a:lnTo>
                  <a:pt x="82" y="109"/>
                </a:lnTo>
                <a:lnTo>
                  <a:pt x="98" y="103"/>
                </a:lnTo>
                <a:lnTo>
                  <a:pt x="114" y="97"/>
                </a:lnTo>
                <a:lnTo>
                  <a:pt x="131" y="91"/>
                </a:lnTo>
                <a:lnTo>
                  <a:pt x="147" y="84"/>
                </a:lnTo>
                <a:lnTo>
                  <a:pt x="164" y="76"/>
                </a:lnTo>
                <a:lnTo>
                  <a:pt x="180" y="69"/>
                </a:lnTo>
                <a:lnTo>
                  <a:pt x="196" y="61"/>
                </a:lnTo>
                <a:lnTo>
                  <a:pt x="213" y="54"/>
                </a:lnTo>
                <a:lnTo>
                  <a:pt x="229" y="46"/>
                </a:lnTo>
                <a:lnTo>
                  <a:pt x="246" y="39"/>
                </a:lnTo>
                <a:lnTo>
                  <a:pt x="262" y="32"/>
                </a:lnTo>
                <a:lnTo>
                  <a:pt x="278" y="25"/>
                </a:lnTo>
                <a:lnTo>
                  <a:pt x="295" y="19"/>
                </a:lnTo>
                <a:lnTo>
                  <a:pt x="311" y="14"/>
                </a:lnTo>
                <a:lnTo>
                  <a:pt x="327" y="9"/>
                </a:lnTo>
                <a:lnTo>
                  <a:pt x="344" y="5"/>
                </a:lnTo>
                <a:lnTo>
                  <a:pt x="360" y="2"/>
                </a:lnTo>
                <a:lnTo>
                  <a:pt x="377" y="1"/>
                </a:lnTo>
                <a:lnTo>
                  <a:pt x="393" y="0"/>
                </a:lnTo>
                <a:lnTo>
                  <a:pt x="393" y="22"/>
                </a:lnTo>
                <a:lnTo>
                  <a:pt x="377" y="22"/>
                </a:lnTo>
                <a:lnTo>
                  <a:pt x="360" y="24"/>
                </a:lnTo>
                <a:lnTo>
                  <a:pt x="344" y="27"/>
                </a:lnTo>
                <a:lnTo>
                  <a:pt x="327" y="31"/>
                </a:lnTo>
                <a:lnTo>
                  <a:pt x="311" y="35"/>
                </a:lnTo>
                <a:lnTo>
                  <a:pt x="295" y="41"/>
                </a:lnTo>
                <a:lnTo>
                  <a:pt x="278" y="47"/>
                </a:lnTo>
                <a:lnTo>
                  <a:pt x="262" y="53"/>
                </a:lnTo>
                <a:lnTo>
                  <a:pt x="246" y="60"/>
                </a:lnTo>
                <a:lnTo>
                  <a:pt x="229" y="68"/>
                </a:lnTo>
                <a:lnTo>
                  <a:pt x="213" y="75"/>
                </a:lnTo>
                <a:lnTo>
                  <a:pt x="196" y="83"/>
                </a:lnTo>
                <a:lnTo>
                  <a:pt x="180" y="90"/>
                </a:lnTo>
                <a:lnTo>
                  <a:pt x="164" y="98"/>
                </a:lnTo>
                <a:lnTo>
                  <a:pt x="147" y="105"/>
                </a:lnTo>
                <a:lnTo>
                  <a:pt x="131" y="112"/>
                </a:lnTo>
                <a:lnTo>
                  <a:pt x="114" y="119"/>
                </a:lnTo>
                <a:lnTo>
                  <a:pt x="98" y="125"/>
                </a:lnTo>
                <a:lnTo>
                  <a:pt x="82" y="130"/>
                </a:lnTo>
                <a:lnTo>
                  <a:pt x="65" y="135"/>
                </a:lnTo>
                <a:lnTo>
                  <a:pt x="49" y="139"/>
                </a:lnTo>
                <a:lnTo>
                  <a:pt x="33" y="142"/>
                </a:lnTo>
                <a:lnTo>
                  <a:pt x="16" y="144"/>
                </a:lnTo>
                <a:lnTo>
                  <a:pt x="0" y="14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657850"/>
            <a:ext cx="3743325" cy="733425"/>
          </a:xfrm>
          <a:custGeom>
            <a:avLst/>
            <a:gdLst/>
            <a:ahLst/>
            <a:cxnLst/>
            <a:rect l="l" t="t" r="r" b="b"/>
            <a:pathLst>
              <a:path w="393" h="77">
                <a:moveTo>
                  <a:pt x="0" y="57"/>
                </a:moveTo>
                <a:lnTo>
                  <a:pt x="16" y="57"/>
                </a:lnTo>
                <a:lnTo>
                  <a:pt x="33" y="56"/>
                </a:lnTo>
                <a:lnTo>
                  <a:pt x="49" y="55"/>
                </a:lnTo>
                <a:lnTo>
                  <a:pt x="65" y="53"/>
                </a:lnTo>
                <a:lnTo>
                  <a:pt x="82" y="51"/>
                </a:lnTo>
                <a:lnTo>
                  <a:pt x="98" y="48"/>
                </a:lnTo>
                <a:lnTo>
                  <a:pt x="114" y="45"/>
                </a:lnTo>
                <a:lnTo>
                  <a:pt x="131" y="42"/>
                </a:lnTo>
                <a:lnTo>
                  <a:pt x="147" y="39"/>
                </a:lnTo>
                <a:lnTo>
                  <a:pt x="164" y="36"/>
                </a:lnTo>
                <a:lnTo>
                  <a:pt x="180" y="32"/>
                </a:lnTo>
                <a:lnTo>
                  <a:pt x="196" y="28"/>
                </a:lnTo>
                <a:lnTo>
                  <a:pt x="213" y="25"/>
                </a:lnTo>
                <a:lnTo>
                  <a:pt x="229" y="21"/>
                </a:lnTo>
                <a:lnTo>
                  <a:pt x="246" y="18"/>
                </a:lnTo>
                <a:lnTo>
                  <a:pt x="262" y="15"/>
                </a:lnTo>
                <a:lnTo>
                  <a:pt x="278" y="12"/>
                </a:lnTo>
                <a:lnTo>
                  <a:pt x="295" y="9"/>
                </a:lnTo>
                <a:lnTo>
                  <a:pt x="311" y="6"/>
                </a:lnTo>
                <a:lnTo>
                  <a:pt x="327" y="4"/>
                </a:lnTo>
                <a:lnTo>
                  <a:pt x="344" y="2"/>
                </a:lnTo>
                <a:lnTo>
                  <a:pt x="360" y="1"/>
                </a:lnTo>
                <a:lnTo>
                  <a:pt x="377" y="0"/>
                </a:lnTo>
                <a:lnTo>
                  <a:pt x="393" y="0"/>
                </a:lnTo>
                <a:lnTo>
                  <a:pt x="393" y="20"/>
                </a:lnTo>
                <a:lnTo>
                  <a:pt x="377" y="20"/>
                </a:lnTo>
                <a:lnTo>
                  <a:pt x="360" y="21"/>
                </a:lnTo>
                <a:lnTo>
                  <a:pt x="344" y="22"/>
                </a:lnTo>
                <a:lnTo>
                  <a:pt x="327" y="24"/>
                </a:lnTo>
                <a:lnTo>
                  <a:pt x="311" y="26"/>
                </a:lnTo>
                <a:lnTo>
                  <a:pt x="295" y="29"/>
                </a:lnTo>
                <a:lnTo>
                  <a:pt x="278" y="31"/>
                </a:lnTo>
                <a:lnTo>
                  <a:pt x="262" y="34"/>
                </a:lnTo>
                <a:lnTo>
                  <a:pt x="246" y="38"/>
                </a:lnTo>
                <a:lnTo>
                  <a:pt x="229" y="41"/>
                </a:lnTo>
                <a:lnTo>
                  <a:pt x="213" y="45"/>
                </a:lnTo>
                <a:lnTo>
                  <a:pt x="196" y="48"/>
                </a:lnTo>
                <a:lnTo>
                  <a:pt x="180" y="52"/>
                </a:lnTo>
                <a:lnTo>
                  <a:pt x="164" y="55"/>
                </a:lnTo>
                <a:lnTo>
                  <a:pt x="147" y="59"/>
                </a:lnTo>
                <a:lnTo>
                  <a:pt x="131" y="62"/>
                </a:lnTo>
                <a:lnTo>
                  <a:pt x="114" y="65"/>
                </a:lnTo>
                <a:lnTo>
                  <a:pt x="98" y="68"/>
                </a:lnTo>
                <a:lnTo>
                  <a:pt x="82" y="70"/>
                </a:lnTo>
                <a:lnTo>
                  <a:pt x="65" y="73"/>
                </a:lnTo>
                <a:lnTo>
                  <a:pt x="49" y="74"/>
                </a:lnTo>
                <a:lnTo>
                  <a:pt x="33" y="76"/>
                </a:lnTo>
                <a:lnTo>
                  <a:pt x="16" y="77"/>
                </a:lnTo>
                <a:lnTo>
                  <a:pt x="0" y="7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6181725"/>
            <a:ext cx="3743325" cy="304800"/>
          </a:xfrm>
          <a:custGeom>
            <a:avLst/>
            <a:gdLst/>
            <a:ahLst/>
            <a:cxnLst/>
            <a:rect l="l" t="t" r="r" b="b"/>
            <a:pathLst>
              <a:path w="393" h="32">
                <a:moveTo>
                  <a:pt x="0" y="22"/>
                </a:moveTo>
                <a:lnTo>
                  <a:pt x="16" y="22"/>
                </a:lnTo>
                <a:lnTo>
                  <a:pt x="33" y="21"/>
                </a:lnTo>
                <a:lnTo>
                  <a:pt x="49" y="21"/>
                </a:lnTo>
                <a:lnTo>
                  <a:pt x="65" y="20"/>
                </a:lnTo>
                <a:lnTo>
                  <a:pt x="82" y="19"/>
                </a:lnTo>
                <a:lnTo>
                  <a:pt x="98" y="18"/>
                </a:lnTo>
                <a:lnTo>
                  <a:pt x="114" y="17"/>
                </a:lnTo>
                <a:lnTo>
                  <a:pt x="131" y="16"/>
                </a:lnTo>
                <a:lnTo>
                  <a:pt x="147" y="15"/>
                </a:lnTo>
                <a:lnTo>
                  <a:pt x="164" y="14"/>
                </a:lnTo>
                <a:lnTo>
                  <a:pt x="180" y="12"/>
                </a:lnTo>
                <a:lnTo>
                  <a:pt x="196" y="11"/>
                </a:lnTo>
                <a:lnTo>
                  <a:pt x="213" y="10"/>
                </a:lnTo>
                <a:lnTo>
                  <a:pt x="229" y="8"/>
                </a:lnTo>
                <a:lnTo>
                  <a:pt x="246" y="7"/>
                </a:lnTo>
                <a:lnTo>
                  <a:pt x="262" y="6"/>
                </a:lnTo>
                <a:lnTo>
                  <a:pt x="278" y="4"/>
                </a:lnTo>
                <a:lnTo>
                  <a:pt x="295" y="3"/>
                </a:lnTo>
                <a:lnTo>
                  <a:pt x="311" y="2"/>
                </a:lnTo>
                <a:lnTo>
                  <a:pt x="327" y="2"/>
                </a:lnTo>
                <a:lnTo>
                  <a:pt x="344" y="1"/>
                </a:lnTo>
                <a:lnTo>
                  <a:pt x="360" y="0"/>
                </a:lnTo>
                <a:lnTo>
                  <a:pt x="377" y="0"/>
                </a:lnTo>
                <a:lnTo>
                  <a:pt x="393" y="0"/>
                </a:lnTo>
                <a:lnTo>
                  <a:pt x="393" y="10"/>
                </a:lnTo>
                <a:lnTo>
                  <a:pt x="377" y="10"/>
                </a:lnTo>
                <a:lnTo>
                  <a:pt x="360" y="10"/>
                </a:lnTo>
                <a:lnTo>
                  <a:pt x="344" y="11"/>
                </a:lnTo>
                <a:lnTo>
                  <a:pt x="327" y="11"/>
                </a:lnTo>
                <a:lnTo>
                  <a:pt x="311" y="12"/>
                </a:lnTo>
                <a:lnTo>
                  <a:pt x="295" y="13"/>
                </a:lnTo>
                <a:lnTo>
                  <a:pt x="278" y="14"/>
                </a:lnTo>
                <a:lnTo>
                  <a:pt x="262" y="15"/>
                </a:lnTo>
                <a:lnTo>
                  <a:pt x="246" y="17"/>
                </a:lnTo>
                <a:lnTo>
                  <a:pt x="229" y="18"/>
                </a:lnTo>
                <a:lnTo>
                  <a:pt x="213" y="19"/>
                </a:lnTo>
                <a:lnTo>
                  <a:pt x="196" y="21"/>
                </a:lnTo>
                <a:lnTo>
                  <a:pt x="180" y="22"/>
                </a:lnTo>
                <a:lnTo>
                  <a:pt x="164" y="23"/>
                </a:lnTo>
                <a:lnTo>
                  <a:pt x="147" y="25"/>
                </a:lnTo>
                <a:lnTo>
                  <a:pt x="131" y="26"/>
                </a:lnTo>
                <a:lnTo>
                  <a:pt x="114" y="27"/>
                </a:lnTo>
                <a:lnTo>
                  <a:pt x="98" y="28"/>
                </a:lnTo>
                <a:lnTo>
                  <a:pt x="82" y="29"/>
                </a:lnTo>
                <a:lnTo>
                  <a:pt x="65" y="30"/>
                </a:lnTo>
                <a:lnTo>
                  <a:pt x="49" y="31"/>
                </a:lnTo>
                <a:lnTo>
                  <a:pt x="33" y="31"/>
                </a:lnTo>
                <a:lnTo>
                  <a:pt x="16" y="32"/>
                </a:lnTo>
                <a:lnTo>
                  <a:pt x="0" y="3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486525"/>
            <a:ext cx="3743325" cy="47625"/>
          </a:xfrm>
          <a:custGeom>
            <a:avLst/>
            <a:gdLst/>
            <a:ahLst/>
            <a:cxnLst/>
            <a:rect l="l" t="t" r="r" b="b"/>
            <a:pathLst>
              <a:path w="393" h="5">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5"/>
                </a:lnTo>
                <a:lnTo>
                  <a:pt x="377" y="5"/>
                </a:lnTo>
                <a:lnTo>
                  <a:pt x="360" y="5"/>
                </a:lnTo>
                <a:lnTo>
                  <a:pt x="344" y="5"/>
                </a:lnTo>
                <a:lnTo>
                  <a:pt x="327" y="5"/>
                </a:lnTo>
                <a:lnTo>
                  <a:pt x="311" y="5"/>
                </a:lnTo>
                <a:lnTo>
                  <a:pt x="295" y="5"/>
                </a:lnTo>
                <a:lnTo>
                  <a:pt x="278" y="5"/>
                </a:lnTo>
                <a:lnTo>
                  <a:pt x="262" y="5"/>
                </a:lnTo>
                <a:lnTo>
                  <a:pt x="246" y="5"/>
                </a:lnTo>
                <a:lnTo>
                  <a:pt x="229" y="5"/>
                </a:lnTo>
                <a:lnTo>
                  <a:pt x="213" y="5"/>
                </a:lnTo>
                <a:lnTo>
                  <a:pt x="196" y="5"/>
                </a:lnTo>
                <a:lnTo>
                  <a:pt x="180" y="5"/>
                </a:lnTo>
                <a:lnTo>
                  <a:pt x="164" y="5"/>
                </a:lnTo>
                <a:lnTo>
                  <a:pt x="147" y="5"/>
                </a:lnTo>
                <a:lnTo>
                  <a:pt x="131" y="5"/>
                </a:lnTo>
                <a:lnTo>
                  <a:pt x="114" y="5"/>
                </a:lnTo>
                <a:lnTo>
                  <a:pt x="98" y="5"/>
                </a:lnTo>
                <a:lnTo>
                  <a:pt x="82" y="5"/>
                </a:lnTo>
                <a:lnTo>
                  <a:pt x="65" y="5"/>
                </a:lnTo>
                <a:lnTo>
                  <a:pt x="49" y="5"/>
                </a:lnTo>
                <a:lnTo>
                  <a:pt x="33" y="5"/>
                </a:lnTo>
                <a:lnTo>
                  <a:pt x="16" y="5"/>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4210050"/>
            <a:ext cx="114300" cy="538164"/>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4805364"/>
            <a:ext cx="114300" cy="538162"/>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5400676"/>
            <a:ext cx="114300" cy="53816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995988"/>
            <a:ext cx="114300" cy="538162"/>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0725" y="4210050"/>
            <a:ext cx="114300" cy="82457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5091778"/>
            <a:ext cx="114300" cy="75243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5901363"/>
            <a:ext cx="114300" cy="37226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0725" y="6330773"/>
            <a:ext cx="114300" cy="20337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7175" y="435530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5003007"/>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5545932"/>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6141244"/>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5972175" y="4498514"/>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5972175" y="5291783"/>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5963668"/>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Rounded Rectangle 47"/>
          <p:cNvSpPr/>
          <p:nvPr/>
        </p:nvSpPr>
        <p:spPr>
          <a:xfrm>
            <a:off x="7581900" y="3886200"/>
            <a:ext cx="4457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5250" y="39719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0" name="Rectangle 49"/>
          <p:cNvSpPr/>
          <p:nvPr/>
        </p:nvSpPr>
        <p:spPr>
          <a:xfrm>
            <a:off x="7715250" y="42100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5250" y="4295775"/>
            <a:ext cx="41910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8170743" y="2659697"/>
            <a:ext cx="366712" cy="533400"/>
          </a:xfrm>
          <a:prstGeom prst="rect">
            <a:avLst/>
          </a:prstGeom>
        </p:spPr>
      </p:pic>
      <p:sp>
        <p:nvSpPr>
          <p:cNvPr id="54" name="TextBox 53"/>
          <p:cNvSpPr txBox="1"/>
          <p:nvPr/>
        </p:nvSpPr>
        <p:spPr>
          <a:xfrm>
            <a:off x="728906" y="4358431"/>
            <a:ext cx="1136088" cy="139750"/>
          </a:xfrm>
          <a:prstGeom prst="rect">
            <a:avLst/>
          </a:prstGeom>
          <a:noFill/>
        </p:spPr>
        <p:txBody>
          <a:bodyPr wrap="none" lIns="0" rIns="0" tIns="0" bIns="0">
            <a:spAutoFit/>
          </a:bodyPr>
          <a:lstStyle/>
          <a:p>
            <a:r>
              <a:rPr sz="791" b="1">
                <a:solidFill>
                  <a:srgbClr val="2E2E2E"/>
                </a:solidFill>
                <a:latin typeface="Calibri"/>
              </a:rPr>
              <a:t>Devices without Integrated</a:t>
            </a:r>
          </a:p>
        </p:txBody>
      </p:sp>
      <p:sp>
        <p:nvSpPr>
          <p:cNvPr id="55" name="TextBox 54"/>
          <p:cNvSpPr txBox="1"/>
          <p:nvPr/>
        </p:nvSpPr>
        <p:spPr>
          <a:xfrm>
            <a:off x="1282017" y="4479132"/>
            <a:ext cx="548276" cy="139750"/>
          </a:xfrm>
          <a:prstGeom prst="rect">
            <a:avLst/>
          </a:prstGeom>
          <a:noFill/>
        </p:spPr>
        <p:txBody>
          <a:bodyPr wrap="none" lIns="0" rIns="0" tIns="0" bIns="0">
            <a:spAutoFit/>
          </a:bodyPr>
          <a:lstStyle/>
          <a:p>
            <a:r>
              <a:rPr sz="791" b="1">
                <a:solidFill>
                  <a:srgbClr val="2E2E2E"/>
                </a:solidFill>
                <a:latin typeface="Calibri"/>
              </a:rPr>
              <a:t>Monitoring</a:t>
            </a:r>
          </a:p>
        </p:txBody>
      </p:sp>
      <p:pic>
        <p:nvPicPr>
          <p:cNvPr id="56" name="Picture 55" descr="lock.png"/>
          <p:cNvPicPr>
            <a:picLocks noChangeAspect="1"/>
          </p:cNvPicPr>
          <p:nvPr/>
        </p:nvPicPr>
        <p:blipFill>
          <a:blip r:embed="rId4"/>
          <a:stretch>
            <a:fillRect/>
          </a:stretch>
        </p:blipFill>
        <p:spPr>
          <a:xfrm>
            <a:off x="1771555" y="4472091"/>
            <a:ext cx="92663" cy="134782"/>
          </a:xfrm>
          <a:prstGeom prst="rect">
            <a:avLst/>
          </a:prstGeom>
        </p:spPr>
      </p:pic>
      <p:sp>
        <p:nvSpPr>
          <p:cNvPr id="57" name="TextBox 56"/>
          <p:cNvSpPr txBox="1"/>
          <p:nvPr/>
        </p:nvSpPr>
        <p:spPr>
          <a:xfrm>
            <a:off x="493847" y="5014094"/>
            <a:ext cx="1336446" cy="139750"/>
          </a:xfrm>
          <a:prstGeom prst="rect">
            <a:avLst/>
          </a:prstGeom>
          <a:noFill/>
        </p:spPr>
        <p:txBody>
          <a:bodyPr wrap="none" lIns="0" rIns="0" tIns="0" bIns="0">
            <a:spAutoFit/>
          </a:bodyPr>
          <a:lstStyle/>
          <a:p>
            <a:r>
              <a:rPr sz="791" b="1">
                <a:solidFill>
                  <a:srgbClr val="2E2E2E"/>
                </a:solidFill>
                <a:latin typeface="Calibri"/>
              </a:rPr>
              <a:t>Temperature Monitoring Only</a:t>
            </a:r>
          </a:p>
        </p:txBody>
      </p:sp>
      <p:pic>
        <p:nvPicPr>
          <p:cNvPr id="58" name="Picture 57" descr="lock.png"/>
          <p:cNvPicPr>
            <a:picLocks noChangeAspect="1"/>
          </p:cNvPicPr>
          <p:nvPr/>
        </p:nvPicPr>
        <p:blipFill>
          <a:blip r:embed="rId4"/>
          <a:stretch>
            <a:fillRect/>
          </a:stretch>
        </p:blipFill>
        <p:spPr>
          <a:xfrm>
            <a:off x="1771555" y="5007053"/>
            <a:ext cx="92663" cy="134782"/>
          </a:xfrm>
          <a:prstGeom prst="rect">
            <a:avLst/>
          </a:prstGeom>
        </p:spPr>
      </p:pic>
      <p:sp>
        <p:nvSpPr>
          <p:cNvPr id="59" name="TextBox 58"/>
          <p:cNvSpPr txBox="1"/>
          <p:nvPr/>
        </p:nvSpPr>
        <p:spPr>
          <a:xfrm>
            <a:off x="262526" y="5549056"/>
            <a:ext cx="1602468" cy="139750"/>
          </a:xfrm>
          <a:prstGeom prst="rect">
            <a:avLst/>
          </a:prstGeom>
          <a:noFill/>
        </p:spPr>
        <p:txBody>
          <a:bodyPr wrap="none" lIns="0" rIns="0" tIns="0" bIns="0">
            <a:spAutoFit/>
          </a:bodyPr>
          <a:lstStyle/>
          <a:p>
            <a:r>
              <a:rPr sz="791" b="1">
                <a:solidFill>
                  <a:srgbClr val="2E2E2E"/>
                </a:solidFill>
                <a:latin typeface="Calibri"/>
              </a:rPr>
              <a:t>Temperature and Location Monitoring</a:t>
            </a:r>
          </a:p>
        </p:txBody>
      </p:sp>
      <p:pic>
        <p:nvPicPr>
          <p:cNvPr id="60" name="Picture 59" descr="lock.png"/>
          <p:cNvPicPr>
            <a:picLocks noChangeAspect="1"/>
          </p:cNvPicPr>
          <p:nvPr/>
        </p:nvPicPr>
        <p:blipFill>
          <a:blip r:embed="rId4"/>
          <a:stretch>
            <a:fillRect/>
          </a:stretch>
        </p:blipFill>
        <p:spPr>
          <a:xfrm>
            <a:off x="1771555" y="5662716"/>
            <a:ext cx="92663" cy="134782"/>
          </a:xfrm>
          <a:prstGeom prst="rect">
            <a:avLst/>
          </a:prstGeom>
        </p:spPr>
      </p:pic>
      <p:sp>
        <p:nvSpPr>
          <p:cNvPr id="61" name="TextBox 60"/>
          <p:cNvSpPr txBox="1"/>
          <p:nvPr/>
        </p:nvSpPr>
        <p:spPr>
          <a:xfrm>
            <a:off x="720852" y="6144368"/>
            <a:ext cx="1144142" cy="139750"/>
          </a:xfrm>
          <a:prstGeom prst="rect">
            <a:avLst/>
          </a:prstGeom>
          <a:noFill/>
        </p:spPr>
        <p:txBody>
          <a:bodyPr wrap="none" lIns="0" rIns="0" tIns="0" bIns="0">
            <a:spAutoFit/>
          </a:bodyPr>
          <a:lstStyle/>
          <a:p>
            <a:r>
              <a:rPr sz="791" b="1">
                <a:solidFill>
                  <a:srgbClr val="2E2E2E"/>
                </a:solidFill>
                <a:latin typeface="Calibri"/>
              </a:rPr>
              <a:t>Physiological and Perfusion</a:t>
            </a:r>
          </a:p>
        </p:txBody>
      </p:sp>
      <p:sp>
        <p:nvSpPr>
          <p:cNvPr id="62" name="TextBox 61"/>
          <p:cNvSpPr txBox="1"/>
          <p:nvPr/>
        </p:nvSpPr>
        <p:spPr>
          <a:xfrm>
            <a:off x="816423" y="6265069"/>
            <a:ext cx="1013870" cy="139750"/>
          </a:xfrm>
          <a:prstGeom prst="rect">
            <a:avLst/>
          </a:prstGeom>
          <a:noFill/>
        </p:spPr>
        <p:txBody>
          <a:bodyPr wrap="none" lIns="0" rIns="0" tIns="0" bIns="0">
            <a:spAutoFit/>
          </a:bodyPr>
          <a:lstStyle/>
          <a:p>
            <a:r>
              <a:rPr sz="791" b="1">
                <a:solidFill>
                  <a:srgbClr val="2E2E2E"/>
                </a:solidFill>
                <a:latin typeface="Calibri"/>
              </a:rPr>
              <a:t>Parameter Monitoring</a:t>
            </a:r>
          </a:p>
        </p:txBody>
      </p:sp>
      <p:pic>
        <p:nvPicPr>
          <p:cNvPr id="63" name="Picture 62" descr="lock.png"/>
          <p:cNvPicPr>
            <a:picLocks noChangeAspect="1"/>
          </p:cNvPicPr>
          <p:nvPr/>
        </p:nvPicPr>
        <p:blipFill>
          <a:blip r:embed="rId4"/>
          <a:stretch>
            <a:fillRect/>
          </a:stretch>
        </p:blipFill>
        <p:spPr>
          <a:xfrm>
            <a:off x="1771555" y="6258028"/>
            <a:ext cx="92663" cy="134782"/>
          </a:xfrm>
          <a:prstGeom prst="rect">
            <a:avLst/>
          </a:prstGeom>
        </p:spPr>
      </p:pic>
      <p:sp>
        <p:nvSpPr>
          <p:cNvPr id="64" name="TextBox 63"/>
          <p:cNvSpPr txBox="1"/>
          <p:nvPr/>
        </p:nvSpPr>
        <p:spPr>
          <a:xfrm>
            <a:off x="5972175" y="4501638"/>
            <a:ext cx="1112293" cy="139750"/>
          </a:xfrm>
          <a:prstGeom prst="rect">
            <a:avLst/>
          </a:prstGeom>
          <a:noFill/>
        </p:spPr>
        <p:txBody>
          <a:bodyPr wrap="none" lIns="0" rIns="0" tIns="0" bIns="0">
            <a:spAutoFit/>
          </a:bodyPr>
          <a:lstStyle/>
          <a:p>
            <a:r>
              <a:rPr sz="791" b="1">
                <a:solidFill>
                  <a:srgbClr val="2E2E2E"/>
                </a:solidFill>
                <a:latin typeface="Calibri"/>
              </a:rPr>
              <a:t>Hospitals and Transplant</a:t>
            </a:r>
          </a:p>
        </p:txBody>
      </p:sp>
      <p:sp>
        <p:nvSpPr>
          <p:cNvPr id="65" name="TextBox 64"/>
          <p:cNvSpPr txBox="1"/>
          <p:nvPr/>
        </p:nvSpPr>
        <p:spPr>
          <a:xfrm>
            <a:off x="5972175" y="4622339"/>
            <a:ext cx="395632" cy="139750"/>
          </a:xfrm>
          <a:prstGeom prst="rect">
            <a:avLst/>
          </a:prstGeom>
          <a:noFill/>
        </p:spPr>
        <p:txBody>
          <a:bodyPr wrap="none" lIns="0" rIns="0" tIns="0" bIns="0">
            <a:spAutoFit/>
          </a:bodyPr>
          <a:lstStyle/>
          <a:p>
            <a:r>
              <a:rPr sz="791" b="1">
                <a:solidFill>
                  <a:srgbClr val="2E2E2E"/>
                </a:solidFill>
                <a:latin typeface="Calibri"/>
              </a:rPr>
              <a:t>Centres</a:t>
            </a:r>
          </a:p>
        </p:txBody>
      </p:sp>
      <p:pic>
        <p:nvPicPr>
          <p:cNvPr id="66" name="Picture 65" descr="lock.png"/>
          <p:cNvPicPr>
            <a:picLocks noChangeAspect="1"/>
          </p:cNvPicPr>
          <p:nvPr/>
        </p:nvPicPr>
        <p:blipFill>
          <a:blip r:embed="rId4"/>
          <a:stretch>
            <a:fillRect/>
          </a:stretch>
        </p:blipFill>
        <p:spPr>
          <a:xfrm>
            <a:off x="6309068" y="4615298"/>
            <a:ext cx="92663" cy="134782"/>
          </a:xfrm>
          <a:prstGeom prst="rect">
            <a:avLst/>
          </a:prstGeom>
        </p:spPr>
      </p:pic>
      <p:sp>
        <p:nvSpPr>
          <p:cNvPr id="67" name="TextBox 66"/>
          <p:cNvSpPr txBox="1"/>
          <p:nvPr/>
        </p:nvSpPr>
        <p:spPr>
          <a:xfrm>
            <a:off x="5972175" y="5291782"/>
            <a:ext cx="901696" cy="139750"/>
          </a:xfrm>
          <a:prstGeom prst="rect">
            <a:avLst/>
          </a:prstGeom>
          <a:noFill/>
        </p:spPr>
        <p:txBody>
          <a:bodyPr wrap="none" lIns="0" rIns="0" tIns="0" bIns="0">
            <a:spAutoFit/>
          </a:bodyPr>
          <a:lstStyle/>
          <a:p>
            <a:r>
              <a:rPr sz="791" b="1">
                <a:solidFill>
                  <a:srgbClr val="2E2E2E"/>
                </a:solidFill>
                <a:latin typeface="Calibri"/>
              </a:rPr>
              <a:t>Organ Procurement</a:t>
            </a:r>
          </a:p>
        </p:txBody>
      </p:sp>
      <p:sp>
        <p:nvSpPr>
          <p:cNvPr id="68" name="TextBox 67"/>
          <p:cNvSpPr txBox="1"/>
          <p:nvPr/>
        </p:nvSpPr>
        <p:spPr>
          <a:xfrm>
            <a:off x="5972175" y="5412483"/>
            <a:ext cx="1112293" cy="139750"/>
          </a:xfrm>
          <a:prstGeom prst="rect">
            <a:avLst/>
          </a:prstGeom>
          <a:noFill/>
        </p:spPr>
        <p:txBody>
          <a:bodyPr wrap="none" lIns="0" rIns="0" tIns="0" bIns="0">
            <a:spAutoFit/>
          </a:bodyPr>
          <a:lstStyle/>
          <a:p>
            <a:r>
              <a:rPr sz="791" b="1">
                <a:solidFill>
                  <a:srgbClr val="2E2E2E"/>
                </a:solidFill>
                <a:latin typeface="Calibri"/>
              </a:rPr>
              <a:t>Organisations and Organ</a:t>
            </a:r>
          </a:p>
        </p:txBody>
      </p:sp>
      <p:sp>
        <p:nvSpPr>
          <p:cNvPr id="69" name="TextBox 68"/>
          <p:cNvSpPr txBox="1"/>
          <p:nvPr/>
        </p:nvSpPr>
        <p:spPr>
          <a:xfrm>
            <a:off x="5972175" y="5533184"/>
            <a:ext cx="845313" cy="139750"/>
          </a:xfrm>
          <a:prstGeom prst="rect">
            <a:avLst/>
          </a:prstGeom>
          <a:noFill/>
        </p:spPr>
        <p:txBody>
          <a:bodyPr wrap="none" lIns="0" rIns="0" tIns="0" bIns="0">
            <a:spAutoFit/>
          </a:bodyPr>
          <a:lstStyle/>
          <a:p>
            <a:r>
              <a:rPr sz="791" b="1">
                <a:solidFill>
                  <a:srgbClr val="2E2E2E"/>
                </a:solidFill>
                <a:latin typeface="Calibri"/>
              </a:rPr>
              <a:t>Retrieval Agencies</a:t>
            </a:r>
          </a:p>
        </p:txBody>
      </p:sp>
      <p:pic>
        <p:nvPicPr>
          <p:cNvPr id="70" name="Picture 69" descr="lock.png"/>
          <p:cNvPicPr>
            <a:picLocks noChangeAspect="1"/>
          </p:cNvPicPr>
          <p:nvPr/>
        </p:nvPicPr>
        <p:blipFill>
          <a:blip r:embed="rId4"/>
          <a:stretch>
            <a:fillRect/>
          </a:stretch>
        </p:blipFill>
        <p:spPr>
          <a:xfrm>
            <a:off x="6758750" y="5526143"/>
            <a:ext cx="92663" cy="134782"/>
          </a:xfrm>
          <a:prstGeom prst="rect">
            <a:avLst/>
          </a:prstGeom>
        </p:spPr>
      </p:pic>
      <p:sp>
        <p:nvSpPr>
          <p:cNvPr id="71" name="TextBox 70"/>
          <p:cNvSpPr txBox="1"/>
          <p:nvPr/>
        </p:nvSpPr>
        <p:spPr>
          <a:xfrm>
            <a:off x="5972175" y="5966792"/>
            <a:ext cx="1269849" cy="139750"/>
          </a:xfrm>
          <a:prstGeom prst="rect">
            <a:avLst/>
          </a:prstGeom>
          <a:noFill/>
        </p:spPr>
        <p:txBody>
          <a:bodyPr wrap="none" lIns="0" rIns="0" tIns="0" bIns="0">
            <a:spAutoFit/>
          </a:bodyPr>
          <a:lstStyle/>
          <a:p>
            <a:r>
              <a:rPr sz="791" b="1">
                <a:solidFill>
                  <a:srgbClr val="2E2E2E"/>
                </a:solidFill>
                <a:latin typeface="Calibri"/>
              </a:rPr>
              <a:t>Specialised Medical Logistics</a:t>
            </a:r>
          </a:p>
        </p:txBody>
      </p:sp>
      <p:sp>
        <p:nvSpPr>
          <p:cNvPr id="72" name="TextBox 71"/>
          <p:cNvSpPr txBox="1"/>
          <p:nvPr/>
        </p:nvSpPr>
        <p:spPr>
          <a:xfrm>
            <a:off x="5972175" y="6087493"/>
            <a:ext cx="472445" cy="139750"/>
          </a:xfrm>
          <a:prstGeom prst="rect">
            <a:avLst/>
          </a:prstGeom>
          <a:noFill/>
        </p:spPr>
        <p:txBody>
          <a:bodyPr wrap="none" lIns="0" rIns="0" tIns="0" bIns="0">
            <a:spAutoFit/>
          </a:bodyPr>
          <a:lstStyle/>
          <a:p>
            <a:r>
              <a:rPr sz="791" b="1">
                <a:solidFill>
                  <a:srgbClr val="2E2E2E"/>
                </a:solidFill>
                <a:latin typeface="Calibri"/>
              </a:rPr>
              <a:t>Providers</a:t>
            </a:r>
          </a:p>
        </p:txBody>
      </p:sp>
      <p:pic>
        <p:nvPicPr>
          <p:cNvPr id="73" name="Picture 72" descr="lock.png"/>
          <p:cNvPicPr>
            <a:picLocks noChangeAspect="1"/>
          </p:cNvPicPr>
          <p:nvPr/>
        </p:nvPicPr>
        <p:blipFill>
          <a:blip r:embed="rId4"/>
          <a:stretch>
            <a:fillRect/>
          </a:stretch>
        </p:blipFill>
        <p:spPr>
          <a:xfrm>
            <a:off x="6385882" y="6080452"/>
            <a:ext cx="92663" cy="134782"/>
          </a:xfrm>
          <a:prstGeom prst="rect">
            <a:avLst/>
          </a:prstGeom>
        </p:spPr>
      </p:pic>
      <p:sp>
        <p:nvSpPr>
          <p:cNvPr id="74" name="TextBox 73"/>
          <p:cNvSpPr txBox="1"/>
          <p:nvPr/>
        </p:nvSpPr>
        <p:spPr>
          <a:xfrm>
            <a:off x="5972175" y="6289624"/>
            <a:ext cx="1362075" cy="139750"/>
          </a:xfrm>
          <a:prstGeom prst="rect">
            <a:avLst/>
          </a:prstGeom>
          <a:noFill/>
        </p:spPr>
        <p:txBody>
          <a:bodyPr wrap="none" lIns="0" rIns="0" tIns="0" bIns="0">
            <a:spAutoFit/>
          </a:bodyPr>
          <a:lstStyle/>
          <a:p>
            <a:r>
              <a:rPr sz="791" b="1">
                <a:solidFill>
                  <a:srgbClr val="2E2E2E"/>
                </a:solidFill>
                <a:latin typeface="Calibri"/>
              </a:rPr>
              <a:t>Other Purchasing Organisations</a:t>
            </a:r>
          </a:p>
        </p:txBody>
      </p:sp>
      <p:pic>
        <p:nvPicPr>
          <p:cNvPr id="75" name="Picture 74" descr="lock.png"/>
          <p:cNvPicPr>
            <a:picLocks noChangeAspect="1"/>
          </p:cNvPicPr>
          <p:nvPr/>
        </p:nvPicPr>
        <p:blipFill>
          <a:blip r:embed="rId4"/>
          <a:stretch>
            <a:fillRect/>
          </a:stretch>
        </p:blipFill>
        <p:spPr>
          <a:xfrm>
            <a:off x="5962478" y="6403284"/>
            <a:ext cx="92663" cy="134782"/>
          </a:xfrm>
          <a:prstGeom prst="rect">
            <a:avLst/>
          </a:prstGeom>
        </p:spPr>
      </p:pic>
      <p:sp>
        <p:nvSpPr>
          <p:cNvPr id="76" name="TextBox 75"/>
          <p:cNvSpPr txBox="1"/>
          <p:nvPr/>
        </p:nvSpPr>
        <p:spPr>
          <a:xfrm>
            <a:off x="7715250" y="4305300"/>
            <a:ext cx="4134594" cy="186689"/>
          </a:xfrm>
          <a:prstGeom prst="rect">
            <a:avLst/>
          </a:prstGeom>
          <a:noFill/>
        </p:spPr>
        <p:txBody>
          <a:bodyPr wrap="none" lIns="0" rIns="0" tIns="0" bIns="0">
            <a:spAutoFit/>
          </a:bodyPr>
          <a:lstStyle/>
          <a:p>
            <a:r>
              <a:rPr sz="1100" b="0">
                <a:solidFill>
                  <a:srgbClr val="2E2E2E"/>
                </a:solidFill>
                <a:latin typeface="Calibri"/>
              </a:rPr>
              <a:t>Devices without integrated monitoring segment is projected to account</a:t>
            </a:r>
          </a:p>
        </p:txBody>
      </p:sp>
      <p:sp>
        <p:nvSpPr>
          <p:cNvPr id="77" name="TextBox 76"/>
          <p:cNvSpPr txBox="1"/>
          <p:nvPr/>
        </p:nvSpPr>
        <p:spPr>
          <a:xfrm>
            <a:off x="7715250" y="4472940"/>
            <a:ext cx="4171950" cy="186689"/>
          </a:xfrm>
          <a:prstGeom prst="rect">
            <a:avLst/>
          </a:prstGeom>
          <a:noFill/>
        </p:spPr>
        <p:txBody>
          <a:bodyPr wrap="none" lIns="0" rIns="0" tIns="0" bIns="0">
            <a:spAutoFit/>
          </a:bodyPr>
          <a:lstStyle/>
          <a:p>
            <a:r>
              <a:rPr sz="1100" b="0">
                <a:solidFill>
                  <a:srgbClr val="2E2E2E"/>
                </a:solidFill>
                <a:latin typeface="Calibri"/>
              </a:rPr>
              <a:t>for the largest share of the global organ transport devices market, led by</a:t>
            </a:r>
          </a:p>
        </p:txBody>
      </p:sp>
      <p:sp>
        <p:nvSpPr>
          <p:cNvPr id="78" name="TextBox 77"/>
          <p:cNvSpPr txBox="1"/>
          <p:nvPr/>
        </p:nvSpPr>
        <p:spPr>
          <a:xfrm>
            <a:off x="7715250" y="4640580"/>
            <a:ext cx="2299940" cy="186689"/>
          </a:xfrm>
          <a:prstGeom prst="rect">
            <a:avLst/>
          </a:prstGeom>
          <a:noFill/>
        </p:spPr>
        <p:txBody>
          <a:bodyPr wrap="none" lIns="0" rIns="0" tIns="0" bIns="0">
            <a:spAutoFit/>
          </a:bodyPr>
          <a:lstStyle/>
          <a:p>
            <a:r>
              <a:rPr sz="1100" b="0">
                <a:solidFill>
                  <a:srgbClr val="2E2E2E"/>
                </a:solidFill>
                <a:latin typeface="Calibri"/>
              </a:rPr>
              <a:t>hospitals and transplant centres at US$</a:t>
            </a:r>
          </a:p>
        </p:txBody>
      </p:sp>
      <p:pic>
        <p:nvPicPr>
          <p:cNvPr id="79" name="Picture 78" descr="lock.png"/>
          <p:cNvPicPr>
            <a:picLocks noChangeAspect="1"/>
          </p:cNvPicPr>
          <p:nvPr/>
        </p:nvPicPr>
        <p:blipFill>
          <a:blip r:embed="rId4"/>
          <a:stretch>
            <a:fillRect/>
          </a:stretch>
        </p:blipFill>
        <p:spPr>
          <a:xfrm>
            <a:off x="9963241" y="4630801"/>
            <a:ext cx="128699" cy="187198"/>
          </a:xfrm>
          <a:prstGeom prst="rect">
            <a:avLst/>
          </a:prstGeom>
        </p:spPr>
      </p:pic>
      <p:sp>
        <p:nvSpPr>
          <p:cNvPr id="80" name="TextBox 79"/>
          <p:cNvSpPr txBox="1"/>
          <p:nvPr/>
        </p:nvSpPr>
        <p:spPr>
          <a:xfrm>
            <a:off x="10130737" y="4640580"/>
            <a:ext cx="1566242" cy="186689"/>
          </a:xfrm>
          <a:prstGeom prst="rect">
            <a:avLst/>
          </a:prstGeom>
          <a:noFill/>
        </p:spPr>
        <p:txBody>
          <a:bodyPr wrap="none" lIns="0" rIns="0" tIns="0" bIns="0">
            <a:spAutoFit/>
          </a:bodyPr>
          <a:lstStyle/>
          <a:p>
            <a:r>
              <a:rPr sz="1100" b="0">
                <a:solidFill>
                  <a:srgbClr val="2E2E2E"/>
                </a:solidFill>
                <a:latin typeface="Calibri"/>
              </a:rPr>
              <a:t>Mn in 2036. 'Temperature</a:t>
            </a:r>
          </a:p>
        </p:txBody>
      </p:sp>
      <p:sp>
        <p:nvSpPr>
          <p:cNvPr id="81" name="TextBox 80"/>
          <p:cNvSpPr txBox="1"/>
          <p:nvPr/>
        </p:nvSpPr>
        <p:spPr>
          <a:xfrm>
            <a:off x="7715250" y="4808220"/>
            <a:ext cx="4160242" cy="186689"/>
          </a:xfrm>
          <a:prstGeom prst="rect">
            <a:avLst/>
          </a:prstGeom>
          <a:noFill/>
        </p:spPr>
        <p:txBody>
          <a:bodyPr wrap="none" lIns="0" rIns="0" tIns="0" bIns="0">
            <a:spAutoFit/>
          </a:bodyPr>
          <a:lstStyle/>
          <a:p>
            <a:r>
              <a:rPr sz="1100" b="0">
                <a:solidFill>
                  <a:srgbClr val="2E2E2E"/>
                </a:solidFill>
                <a:latin typeface="Calibri"/>
              </a:rPr>
              <a:t>Monitoring Only × Hospitals and Transplant Centres' is the single largest</a:t>
            </a:r>
          </a:p>
        </p:txBody>
      </p:sp>
      <p:sp>
        <p:nvSpPr>
          <p:cNvPr id="82" name="TextBox 81"/>
          <p:cNvSpPr txBox="1"/>
          <p:nvPr/>
        </p:nvSpPr>
        <p:spPr>
          <a:xfrm>
            <a:off x="7715250" y="4975860"/>
            <a:ext cx="1217265" cy="186689"/>
          </a:xfrm>
          <a:prstGeom prst="rect">
            <a:avLst/>
          </a:prstGeom>
          <a:noFill/>
        </p:spPr>
        <p:txBody>
          <a:bodyPr wrap="none" lIns="0" rIns="0" tIns="0" bIns="0">
            <a:spAutoFit/>
          </a:bodyPr>
          <a:lstStyle/>
          <a:p>
            <a:r>
              <a:rPr sz="1100" b="0">
                <a:solidFill>
                  <a:srgbClr val="2E2E2E"/>
                </a:solidFill>
                <a:latin typeface="Calibri"/>
              </a:rPr>
              <a:t>cross-sectional cell (</a:t>
            </a:r>
          </a:p>
        </p:txBody>
      </p:sp>
      <p:pic>
        <p:nvPicPr>
          <p:cNvPr id="83" name="Picture 82" descr="lock.png"/>
          <p:cNvPicPr>
            <a:picLocks noChangeAspect="1"/>
          </p:cNvPicPr>
          <p:nvPr/>
        </p:nvPicPr>
        <p:blipFill>
          <a:blip r:embed="rId4"/>
          <a:stretch>
            <a:fillRect/>
          </a:stretch>
        </p:blipFill>
        <p:spPr>
          <a:xfrm>
            <a:off x="8880566" y="4966081"/>
            <a:ext cx="128699" cy="187198"/>
          </a:xfrm>
          <a:prstGeom prst="rect">
            <a:avLst/>
          </a:prstGeom>
        </p:spPr>
      </p:pic>
      <p:sp>
        <p:nvSpPr>
          <p:cNvPr id="84" name="TextBox 83"/>
          <p:cNvSpPr txBox="1"/>
          <p:nvPr/>
        </p:nvSpPr>
        <p:spPr>
          <a:xfrm>
            <a:off x="9048062" y="4975860"/>
            <a:ext cx="2334865" cy="186689"/>
          </a:xfrm>
          <a:prstGeom prst="rect">
            <a:avLst/>
          </a:prstGeom>
          <a:noFill/>
        </p:spPr>
        <p:txBody>
          <a:bodyPr wrap="none" lIns="0" rIns="0" tIns="0" bIns="0">
            <a:spAutoFit/>
          </a:bodyPr>
          <a:lstStyle/>
          <a:p>
            <a:r>
              <a:rPr sz="1100" b="0">
                <a:solidFill>
                  <a:srgbClr val="2E2E2E"/>
                </a:solidFill>
                <a:latin typeface="Calibri"/>
              </a:rPr>
              <a:t>US$ Mn, 2026E), while 'Devices without</a:t>
            </a:r>
          </a:p>
        </p:txBody>
      </p:sp>
      <p:sp>
        <p:nvSpPr>
          <p:cNvPr id="85" name="TextBox 84"/>
          <p:cNvSpPr txBox="1"/>
          <p:nvPr/>
        </p:nvSpPr>
        <p:spPr>
          <a:xfrm>
            <a:off x="7715250" y="5143500"/>
            <a:ext cx="3985071" cy="186689"/>
          </a:xfrm>
          <a:prstGeom prst="rect">
            <a:avLst/>
          </a:prstGeom>
          <a:noFill/>
        </p:spPr>
        <p:txBody>
          <a:bodyPr wrap="none" lIns="0" rIns="0" tIns="0" bIns="0">
            <a:spAutoFit/>
          </a:bodyPr>
          <a:lstStyle/>
          <a:p>
            <a:r>
              <a:rPr sz="1100" b="0">
                <a:solidFill>
                  <a:srgbClr val="2E2E2E"/>
                </a:solidFill>
                <a:latin typeface="Calibri"/>
              </a:rPr>
              <a:t>Integrated Monitoring × Other Purchasing Organisations' records the</a:t>
            </a:r>
          </a:p>
        </p:txBody>
      </p:sp>
      <p:sp>
        <p:nvSpPr>
          <p:cNvPr id="86" name="TextBox 85"/>
          <p:cNvSpPr txBox="1"/>
          <p:nvPr/>
        </p:nvSpPr>
        <p:spPr>
          <a:xfrm>
            <a:off x="7715250" y="5311140"/>
            <a:ext cx="1640986" cy="186689"/>
          </a:xfrm>
          <a:prstGeom prst="rect">
            <a:avLst/>
          </a:prstGeom>
          <a:noFill/>
        </p:spPr>
        <p:txBody>
          <a:bodyPr wrap="none" lIns="0" rIns="0" tIns="0" bIns="0">
            <a:spAutoFit/>
          </a:bodyPr>
          <a:lstStyle/>
          <a:p>
            <a:r>
              <a:rPr sz="1100" b="0">
                <a:solidFill>
                  <a:srgbClr val="2E2E2E"/>
                </a:solidFill>
                <a:latin typeface="Calibri"/>
              </a:rPr>
              <a:t>fastest growth at a CAGR of</a:t>
            </a:r>
          </a:p>
        </p:txBody>
      </p:sp>
      <p:pic>
        <p:nvPicPr>
          <p:cNvPr id="87" name="Picture 86" descr="lock.png"/>
          <p:cNvPicPr>
            <a:picLocks noChangeAspect="1"/>
          </p:cNvPicPr>
          <p:nvPr/>
        </p:nvPicPr>
        <p:blipFill>
          <a:blip r:embed="rId4"/>
          <a:stretch>
            <a:fillRect/>
          </a:stretch>
        </p:blipFill>
        <p:spPr>
          <a:xfrm>
            <a:off x="9304288" y="5301361"/>
            <a:ext cx="128699" cy="187198"/>
          </a:xfrm>
          <a:prstGeom prst="rect">
            <a:avLst/>
          </a:prstGeom>
        </p:spPr>
      </p:pic>
      <p:sp>
        <p:nvSpPr>
          <p:cNvPr id="88" name="TextBox 87"/>
          <p:cNvSpPr txBox="1"/>
          <p:nvPr/>
        </p:nvSpPr>
        <p:spPr>
          <a:xfrm>
            <a:off x="9471784" y="5311140"/>
            <a:ext cx="1167401" cy="186689"/>
          </a:xfrm>
          <a:prstGeom prst="rect">
            <a:avLst/>
          </a:prstGeom>
          <a:noFill/>
        </p:spPr>
        <p:txBody>
          <a:bodyPr wrap="none" lIns="0" rIns="0" tIns="0" bIns="0">
            <a:spAutoFit/>
          </a:bodyPr>
          <a:lstStyle/>
          <a:p>
            <a:r>
              <a:rPr sz="1100" b="0">
                <a:solidFill>
                  <a:srgbClr val="2E2E2E"/>
                </a:solidFill>
                <a:latin typeface="Calibri"/>
              </a:rPr>
              <a:t>over 2026E–2036F.</a:t>
            </a:r>
          </a:p>
        </p:txBody>
      </p:sp>
      <p:sp>
        <p:nvSpPr>
          <p:cNvPr id="89" name="TextBox 88"/>
          <p:cNvSpPr txBox="1"/>
          <p:nvPr/>
        </p:nvSpPr>
        <p:spPr>
          <a:xfrm>
            <a:off x="7715250" y="5529072"/>
            <a:ext cx="4171950" cy="186689"/>
          </a:xfrm>
          <a:prstGeom prst="rect">
            <a:avLst/>
          </a:prstGeom>
          <a:noFill/>
        </p:spPr>
        <p:txBody>
          <a:bodyPr wrap="none" lIns="0" rIns="0" tIns="0" bIns="0">
            <a:spAutoFit/>
          </a:bodyPr>
          <a:lstStyle/>
          <a:p>
            <a:r>
              <a:rPr sz="1100" b="0">
                <a:solidFill>
                  <a:srgbClr val="2E2E2E"/>
                </a:solidFill>
                <a:latin typeface="Calibri"/>
              </a:rPr>
              <a:t>Combined, the top three monitoring capability × purchasing organisation</a:t>
            </a:r>
          </a:p>
        </p:txBody>
      </p:sp>
      <p:sp>
        <p:nvSpPr>
          <p:cNvPr id="90" name="TextBox 89"/>
          <p:cNvSpPr txBox="1"/>
          <p:nvPr/>
        </p:nvSpPr>
        <p:spPr>
          <a:xfrm>
            <a:off x="7715250" y="5696712"/>
            <a:ext cx="2521495" cy="186689"/>
          </a:xfrm>
          <a:prstGeom prst="rect">
            <a:avLst/>
          </a:prstGeom>
          <a:noFill/>
        </p:spPr>
        <p:txBody>
          <a:bodyPr wrap="none" lIns="0" rIns="0" tIns="0" bIns="0">
            <a:spAutoFit/>
          </a:bodyPr>
          <a:lstStyle/>
          <a:p>
            <a:r>
              <a:rPr sz="1100" b="0">
                <a:solidFill>
                  <a:srgbClr val="2E2E2E"/>
                </a:solidFill>
                <a:latin typeface="Calibri"/>
              </a:rPr>
              <a:t>cells generate an absolute $ opportunity of</a:t>
            </a:r>
          </a:p>
        </p:txBody>
      </p:sp>
      <p:pic>
        <p:nvPicPr>
          <p:cNvPr id="91" name="Picture 90" descr="lock.png"/>
          <p:cNvPicPr>
            <a:picLocks noChangeAspect="1"/>
          </p:cNvPicPr>
          <p:nvPr/>
        </p:nvPicPr>
        <p:blipFill>
          <a:blip r:embed="rId4"/>
          <a:stretch>
            <a:fillRect/>
          </a:stretch>
        </p:blipFill>
        <p:spPr>
          <a:xfrm>
            <a:off x="10184797" y="5686933"/>
            <a:ext cx="128699" cy="187198"/>
          </a:xfrm>
          <a:prstGeom prst="rect">
            <a:avLst/>
          </a:prstGeom>
        </p:spPr>
      </p:pic>
      <p:sp>
        <p:nvSpPr>
          <p:cNvPr id="92" name="TextBox 91"/>
          <p:cNvSpPr txBox="1"/>
          <p:nvPr/>
        </p:nvSpPr>
        <p:spPr>
          <a:xfrm>
            <a:off x="10352293" y="5696712"/>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Monitoring Capability × Purchasing Organisation,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purchasing organisation sub-segments</a:t>
            </a:r>
          </a:p>
        </p:txBody>
      </p:sp>
      <p:sp>
        <p:nvSpPr>
          <p:cNvPr id="10" name="Rounded Rectangle 9"/>
          <p:cNvSpPr/>
          <p:nvPr/>
        </p:nvSpPr>
        <p:spPr>
          <a:xfrm>
            <a:off x="142875" y="9810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Monitoring Capability × Purchasing Organisation, 2026E (% of each row)</a:t>
            </a:r>
          </a:p>
        </p:txBody>
      </p:sp>
      <p:graphicFrame>
        <p:nvGraphicFramePr>
          <p:cNvPr id="12" name="Table 11"/>
          <p:cNvGraphicFramePr>
            <a:graphicFrameLocks noGrp="1"/>
          </p:cNvGraphicFramePr>
          <p:nvPr/>
        </p:nvGraphicFramePr>
        <p:xfrm>
          <a:off x="152400" y="1238250"/>
          <a:ext cx="11887200" cy="1676402"/>
        </p:xfrm>
        <a:graphic>
          <a:graphicData uri="http://schemas.openxmlformats.org/drawingml/2006/table">
            <a:tbl>
              <a:tblPr>
                <a:tableStyleId>{5C22544A-7EE6-4342-B048-85BDC9FD1C3A}</a:tableStyleId>
              </a:tblPr>
              <a:tblGrid>
                <a:gridCol w="3128939"/>
                <a:gridCol w="1659150"/>
                <a:gridCol w="2991894"/>
                <a:gridCol w="1897425"/>
                <a:gridCol w="1665986"/>
                <a:gridCol w="543806"/>
              </a:tblGrid>
              <a:tr h="438912">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Hospitals and Transplant Centres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Organ Procurement Organisations and Organ Retrieval Agencies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Specialised Medical Logistics Providers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Purchasing Organisations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7498">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257550"/>
            <a:ext cx="7286625"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147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Purchasing Organisation Mix by Monitoring Capability, 2026E (% share)</a:t>
            </a:r>
          </a:p>
        </p:txBody>
      </p:sp>
      <p:graphicFrame>
        <p:nvGraphicFramePr>
          <p:cNvPr id="16" name="Chart 15"/>
          <p:cNvGraphicFramePr>
            <a:graphicFrameLocks noGrp="1"/>
          </p:cNvGraphicFramePr>
          <p:nvPr/>
        </p:nvGraphicFramePr>
        <p:xfrm>
          <a:off x="238125" y="3543300"/>
          <a:ext cx="7096125" cy="30289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257550"/>
            <a:ext cx="445770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432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5814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667125"/>
            <a:ext cx="419100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473779" y="2029206"/>
            <a:ext cx="366712" cy="533400"/>
          </a:xfrm>
          <a:prstGeom prst="rect">
            <a:avLst/>
          </a:prstGeom>
        </p:spPr>
      </p:pic>
      <p:pic>
        <p:nvPicPr>
          <p:cNvPr id="23" name="Picture 22" descr="lock.png"/>
          <p:cNvPicPr>
            <a:picLocks noChangeAspect="1"/>
          </p:cNvPicPr>
          <p:nvPr/>
        </p:nvPicPr>
        <p:blipFill>
          <a:blip r:embed="rId5"/>
          <a:stretch>
            <a:fillRect/>
          </a:stretch>
        </p:blipFill>
        <p:spPr>
          <a:xfrm>
            <a:off x="3737844" y="4194492"/>
            <a:ext cx="384961" cy="559943"/>
          </a:xfrm>
          <a:prstGeom prst="rect">
            <a:avLst/>
          </a:prstGeom>
        </p:spPr>
      </p:pic>
      <p:sp>
        <p:nvSpPr>
          <p:cNvPr id="24" name="TextBox 23"/>
          <p:cNvSpPr txBox="1"/>
          <p:nvPr/>
        </p:nvSpPr>
        <p:spPr>
          <a:xfrm>
            <a:off x="7715250" y="3676650"/>
            <a:ext cx="3751411" cy="194310"/>
          </a:xfrm>
          <a:prstGeom prst="rect">
            <a:avLst/>
          </a:prstGeom>
          <a:noFill/>
        </p:spPr>
        <p:txBody>
          <a:bodyPr wrap="none" lIns="0" rIns="0" tIns="0" bIns="0">
            <a:spAutoFit/>
          </a:bodyPr>
          <a:lstStyle/>
          <a:p>
            <a:r>
              <a:rPr sz="1150" b="0">
                <a:solidFill>
                  <a:srgbClr val="2E2E2E"/>
                </a:solidFill>
                <a:latin typeface="Calibri"/>
              </a:rPr>
              <a:t>▪ 'Hospitals and Transplant Centres' holds the highest share of</a:t>
            </a:r>
          </a:p>
        </p:txBody>
      </p:sp>
      <p:sp>
        <p:nvSpPr>
          <p:cNvPr id="25" name="TextBox 24"/>
          <p:cNvSpPr txBox="1"/>
          <p:nvPr/>
        </p:nvSpPr>
        <p:spPr>
          <a:xfrm>
            <a:off x="7715250" y="3851910"/>
            <a:ext cx="2081534" cy="194310"/>
          </a:xfrm>
          <a:prstGeom prst="rect">
            <a:avLst/>
          </a:prstGeom>
          <a:noFill/>
        </p:spPr>
        <p:txBody>
          <a:bodyPr wrap="none" lIns="0" rIns="0" tIns="0" bIns="0">
            <a:spAutoFit/>
          </a:bodyPr>
          <a:lstStyle/>
          <a:p>
            <a:r>
              <a:rPr sz="1150" b="0">
                <a:solidFill>
                  <a:srgbClr val="2E2E2E"/>
                </a:solidFill>
                <a:latin typeface="Calibri"/>
              </a:rPr>
              <a:t>'Temperature Monitoring Only' at</a:t>
            </a:r>
          </a:p>
        </p:txBody>
      </p:sp>
      <p:pic>
        <p:nvPicPr>
          <p:cNvPr id="26" name="Picture 25" descr="lock.png"/>
          <p:cNvPicPr>
            <a:picLocks noChangeAspect="1"/>
          </p:cNvPicPr>
          <p:nvPr/>
        </p:nvPicPr>
        <p:blipFill>
          <a:blip r:embed="rId5"/>
          <a:stretch>
            <a:fillRect/>
          </a:stretch>
        </p:blipFill>
        <p:spPr>
          <a:xfrm>
            <a:off x="9745938" y="3841686"/>
            <a:ext cx="134549" cy="195707"/>
          </a:xfrm>
          <a:prstGeom prst="rect">
            <a:avLst/>
          </a:prstGeom>
        </p:spPr>
      </p:pic>
      <p:sp>
        <p:nvSpPr>
          <p:cNvPr id="27" name="TextBox 26"/>
          <p:cNvSpPr txBox="1"/>
          <p:nvPr/>
        </p:nvSpPr>
        <p:spPr>
          <a:xfrm>
            <a:off x="9921048" y="38519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079747"/>
            <a:ext cx="4171950" cy="194310"/>
          </a:xfrm>
          <a:prstGeom prst="rect">
            <a:avLst/>
          </a:prstGeom>
          <a:noFill/>
        </p:spPr>
        <p:txBody>
          <a:bodyPr wrap="none" lIns="0" rIns="0" tIns="0" bIns="0">
            <a:spAutoFit/>
          </a:bodyPr>
          <a:lstStyle/>
          <a:p>
            <a:r>
              <a:rPr sz="1150" b="0">
                <a:solidFill>
                  <a:srgbClr val="2E2E2E"/>
                </a:solidFill>
                <a:latin typeface="Calibri"/>
              </a:rPr>
              <a:t>▪ 'Temperature Monitoring Only' is the most concentrated monitoring</a:t>
            </a:r>
          </a:p>
        </p:txBody>
      </p:sp>
      <p:sp>
        <p:nvSpPr>
          <p:cNvPr id="29" name="TextBox 28"/>
          <p:cNvSpPr txBox="1"/>
          <p:nvPr/>
        </p:nvSpPr>
        <p:spPr>
          <a:xfrm>
            <a:off x="7715250" y="4255007"/>
            <a:ext cx="1783159" cy="194310"/>
          </a:xfrm>
          <a:prstGeom prst="rect">
            <a:avLst/>
          </a:prstGeom>
          <a:noFill/>
        </p:spPr>
        <p:txBody>
          <a:bodyPr wrap="none" lIns="0" rIns="0" tIns="0" bIns="0">
            <a:spAutoFit/>
          </a:bodyPr>
          <a:lstStyle/>
          <a:p>
            <a:r>
              <a:rPr sz="1150" b="0">
                <a:solidFill>
                  <a:srgbClr val="2E2E2E"/>
                </a:solidFill>
                <a:latin typeface="Calibri"/>
              </a:rPr>
              <a:t>capability sub-segment, with</a:t>
            </a:r>
          </a:p>
        </p:txBody>
      </p:sp>
      <p:pic>
        <p:nvPicPr>
          <p:cNvPr id="30" name="Picture 29" descr="lock.png"/>
          <p:cNvPicPr>
            <a:picLocks noChangeAspect="1"/>
          </p:cNvPicPr>
          <p:nvPr/>
        </p:nvPicPr>
        <p:blipFill>
          <a:blip r:embed="rId5"/>
          <a:stretch>
            <a:fillRect/>
          </a:stretch>
        </p:blipFill>
        <p:spPr>
          <a:xfrm>
            <a:off x="9447563" y="4244784"/>
            <a:ext cx="134549" cy="195707"/>
          </a:xfrm>
          <a:prstGeom prst="rect">
            <a:avLst/>
          </a:prstGeom>
        </p:spPr>
      </p:pic>
      <p:sp>
        <p:nvSpPr>
          <p:cNvPr id="31" name="TextBox 30"/>
          <p:cNvSpPr txBox="1"/>
          <p:nvPr/>
        </p:nvSpPr>
        <p:spPr>
          <a:xfrm>
            <a:off x="9622672" y="4255007"/>
            <a:ext cx="1792002" cy="194310"/>
          </a:xfrm>
          <a:prstGeom prst="rect">
            <a:avLst/>
          </a:prstGeom>
          <a:noFill/>
        </p:spPr>
        <p:txBody>
          <a:bodyPr wrap="none" lIns="0" rIns="0" tIns="0" bIns="0">
            <a:spAutoFit/>
          </a:bodyPr>
          <a:lstStyle/>
          <a:p>
            <a:r>
              <a:rPr sz="1150" b="0">
                <a:solidFill>
                  <a:srgbClr val="2E2E2E"/>
                </a:solidFill>
                <a:latin typeface="Calibri"/>
              </a:rPr>
              <a:t>of its value via 'Hospitals and</a:t>
            </a:r>
          </a:p>
        </p:txBody>
      </p:sp>
      <p:sp>
        <p:nvSpPr>
          <p:cNvPr id="32" name="TextBox 31"/>
          <p:cNvSpPr txBox="1"/>
          <p:nvPr/>
        </p:nvSpPr>
        <p:spPr>
          <a:xfrm>
            <a:off x="7715250" y="4430267"/>
            <a:ext cx="1267705" cy="194310"/>
          </a:xfrm>
          <a:prstGeom prst="rect">
            <a:avLst/>
          </a:prstGeom>
          <a:noFill/>
        </p:spPr>
        <p:txBody>
          <a:bodyPr wrap="none" lIns="0" rIns="0" tIns="0" bIns="0">
            <a:spAutoFit/>
          </a:bodyPr>
          <a:lstStyle/>
          <a:p>
            <a:r>
              <a:rPr sz="1150" b="0">
                <a:solidFill>
                  <a:srgbClr val="2E2E2E"/>
                </a:solidFill>
                <a:latin typeface="Calibri"/>
              </a:rPr>
              <a:t>Transplant Centres'.</a:t>
            </a:r>
          </a:p>
        </p:txBody>
      </p:sp>
      <p:sp>
        <p:nvSpPr>
          <p:cNvPr id="33" name="TextBox 32"/>
          <p:cNvSpPr txBox="1"/>
          <p:nvPr/>
        </p:nvSpPr>
        <p:spPr>
          <a:xfrm>
            <a:off x="7715250" y="4658105"/>
            <a:ext cx="4028107" cy="194310"/>
          </a:xfrm>
          <a:prstGeom prst="rect">
            <a:avLst/>
          </a:prstGeom>
          <a:noFill/>
        </p:spPr>
        <p:txBody>
          <a:bodyPr wrap="none" lIns="0" rIns="0" tIns="0" bIns="0">
            <a:spAutoFit/>
          </a:bodyPr>
          <a:lstStyle/>
          <a:p>
            <a:r>
              <a:rPr sz="1150" b="0">
                <a:solidFill>
                  <a:srgbClr val="2E2E2E"/>
                </a:solidFill>
                <a:latin typeface="Calibri"/>
              </a:rPr>
              <a:t>▪ 'Organ Procurement Organisations and Organ Retrieval Agencies'</a:t>
            </a:r>
          </a:p>
        </p:txBody>
      </p:sp>
      <p:sp>
        <p:nvSpPr>
          <p:cNvPr id="34" name="TextBox 33"/>
          <p:cNvSpPr txBox="1"/>
          <p:nvPr/>
        </p:nvSpPr>
        <p:spPr>
          <a:xfrm>
            <a:off x="7715250" y="4833365"/>
            <a:ext cx="488106" cy="194310"/>
          </a:xfrm>
          <a:prstGeom prst="rect">
            <a:avLst/>
          </a:prstGeom>
          <a:noFill/>
        </p:spPr>
        <p:txBody>
          <a:bodyPr wrap="none" lIns="0" rIns="0" tIns="0" bIns="0">
            <a:spAutoFit/>
          </a:bodyPr>
          <a:lstStyle/>
          <a:p>
            <a:r>
              <a:rPr sz="1150" b="0">
                <a:solidFill>
                  <a:srgbClr val="2E2E2E"/>
                </a:solidFill>
                <a:latin typeface="Calibri"/>
              </a:rPr>
              <a:t>gains +</a:t>
            </a:r>
          </a:p>
        </p:txBody>
      </p:sp>
      <p:pic>
        <p:nvPicPr>
          <p:cNvPr id="35" name="Picture 34" descr="lock.png"/>
          <p:cNvPicPr>
            <a:picLocks noChangeAspect="1"/>
          </p:cNvPicPr>
          <p:nvPr/>
        </p:nvPicPr>
        <p:blipFill>
          <a:blip r:embed="rId5"/>
          <a:stretch>
            <a:fillRect/>
          </a:stretch>
        </p:blipFill>
        <p:spPr>
          <a:xfrm>
            <a:off x="8152510" y="4823142"/>
            <a:ext cx="134549" cy="195707"/>
          </a:xfrm>
          <a:prstGeom prst="rect">
            <a:avLst/>
          </a:prstGeom>
        </p:spPr>
      </p:pic>
      <p:sp>
        <p:nvSpPr>
          <p:cNvPr id="36" name="TextBox 35"/>
          <p:cNvSpPr txBox="1"/>
          <p:nvPr/>
        </p:nvSpPr>
        <p:spPr>
          <a:xfrm>
            <a:off x="8327619" y="4833365"/>
            <a:ext cx="3035495" cy="194310"/>
          </a:xfrm>
          <a:prstGeom prst="rect">
            <a:avLst/>
          </a:prstGeom>
          <a:noFill/>
        </p:spPr>
        <p:txBody>
          <a:bodyPr wrap="none" lIns="0" rIns="0" tIns="0" bIns="0">
            <a:spAutoFit/>
          </a:bodyPr>
          <a:lstStyle/>
          <a:p>
            <a:r>
              <a:rPr sz="1150" b="0">
                <a:solidFill>
                  <a:srgbClr val="2E2E2E"/>
                </a:solidFill>
                <a:latin typeface="Calibri"/>
              </a:rPr>
              <a:t>BPS of share of the Global cross-section by 2036F.</a:t>
            </a:r>
          </a:p>
        </p:txBody>
      </p:sp>
      <p:sp>
        <p:nvSpPr>
          <p:cNvPr id="37" name="lockshield_16"/>
          <p:cNvSpPr/>
          <p:nvPr/>
        </p:nvSpPr>
        <p:spPr>
          <a:xfrm>
            <a:off x="238125" y="3543300"/>
            <a:ext cx="7096125" cy="30289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Monitoring Capability × Purchasing Organisation,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Monitoring Capability × Purchasing Organisation, 2026E–2036F</a:t>
            </a:r>
          </a:p>
        </p:txBody>
      </p:sp>
      <p:graphicFrame>
        <p:nvGraphicFramePr>
          <p:cNvPr id="12" name="Table 11"/>
          <p:cNvGraphicFramePr>
            <a:graphicFrameLocks noGrp="1"/>
          </p:cNvGraphicFramePr>
          <p:nvPr/>
        </p:nvGraphicFramePr>
        <p:xfrm>
          <a:off x="152400" y="1238250"/>
          <a:ext cx="11887202" cy="2305050"/>
        </p:xfrm>
        <a:graphic>
          <a:graphicData uri="http://schemas.openxmlformats.org/drawingml/2006/table">
            <a:tbl>
              <a:tblPr>
                <a:tableStyleId>{5C22544A-7EE6-4342-B048-85BDC9FD1C3A}</a:tableStyleId>
              </a:tblPr>
              <a:tblGrid>
                <a:gridCol w="4162812"/>
                <a:gridCol w="772439"/>
                <a:gridCol w="772439"/>
                <a:gridCol w="772439"/>
                <a:gridCol w="772439"/>
                <a:gridCol w="772439"/>
                <a:gridCol w="772439"/>
                <a:gridCol w="772439"/>
                <a:gridCol w="772439"/>
                <a:gridCol w="772439"/>
                <a:gridCol w="772439"/>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5600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9719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2100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95775"/>
            <a:ext cx="53340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295775"/>
            <a:ext cx="1676400" cy="2257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'Temperature Monitoring Only × Organ Procurement Organisations and Organ Retrieval Agencies' ranks highest (5/5); 'Devices without Integrated Monitoring × Specialised Medical Logistics Providers'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90717" y="2659697"/>
            <a:ext cx="366712" cy="533400"/>
          </a:xfrm>
          <a:prstGeom prst="rect">
            <a:avLst/>
          </a:prstGeom>
        </p:spPr>
      </p:pic>
      <p:sp>
        <p:nvSpPr>
          <p:cNvPr id="32" name="TextBox 31"/>
          <p:cNvSpPr txBox="1"/>
          <p:nvPr/>
        </p:nvSpPr>
        <p:spPr>
          <a:xfrm>
            <a:off x="276225" y="4305300"/>
            <a:ext cx="5239642" cy="186689"/>
          </a:xfrm>
          <a:prstGeom prst="rect">
            <a:avLst/>
          </a:prstGeom>
          <a:noFill/>
        </p:spPr>
        <p:txBody>
          <a:bodyPr wrap="none" lIns="0" rIns="0" tIns="0" bIns="0">
            <a:spAutoFit/>
          </a:bodyPr>
          <a:lstStyle/>
          <a:p>
            <a:r>
              <a:rPr sz="1100" b="0">
                <a:solidFill>
                  <a:srgbClr val="2E2E2E"/>
                </a:solidFill>
                <a:latin typeface="Calibri"/>
              </a:rPr>
              <a:t>▪ 1. Temperature Monitoring Only × Organ Procurement Organisations and Organ Retrieval</a:t>
            </a:r>
          </a:p>
        </p:txBody>
      </p:sp>
      <p:sp>
        <p:nvSpPr>
          <p:cNvPr id="33" name="TextBox 32"/>
          <p:cNvSpPr txBox="1"/>
          <p:nvPr/>
        </p:nvSpPr>
        <p:spPr>
          <a:xfrm>
            <a:off x="276225" y="4472940"/>
            <a:ext cx="682476" cy="186689"/>
          </a:xfrm>
          <a:prstGeom prst="rect">
            <a:avLst/>
          </a:prstGeom>
          <a:noFill/>
        </p:spPr>
        <p:txBody>
          <a:bodyPr wrap="none" lIns="0" rIns="0" tIns="0" bIns="0">
            <a:spAutoFit/>
          </a:bodyPr>
          <a:lstStyle/>
          <a:p>
            <a:r>
              <a:rPr sz="1100" b="0">
                <a:solidFill>
                  <a:srgbClr val="2E2E2E"/>
                </a:solidFill>
                <a:latin typeface="Calibri"/>
              </a:rPr>
              <a:t>Agencies –</a:t>
            </a:r>
          </a:p>
        </p:txBody>
      </p:sp>
      <p:pic>
        <p:nvPicPr>
          <p:cNvPr id="34" name="Picture 33" descr="lock.png"/>
          <p:cNvPicPr>
            <a:picLocks noChangeAspect="1"/>
          </p:cNvPicPr>
          <p:nvPr/>
        </p:nvPicPr>
        <p:blipFill>
          <a:blip r:embed="rId4"/>
          <a:stretch>
            <a:fillRect/>
          </a:stretch>
        </p:blipFill>
        <p:spPr>
          <a:xfrm>
            <a:off x="906752" y="4463161"/>
            <a:ext cx="128699" cy="187198"/>
          </a:xfrm>
          <a:prstGeom prst="rect">
            <a:avLst/>
          </a:prstGeom>
        </p:spPr>
      </p:pic>
      <p:sp>
        <p:nvSpPr>
          <p:cNvPr id="35" name="TextBox 34"/>
          <p:cNvSpPr txBox="1"/>
          <p:nvPr/>
        </p:nvSpPr>
        <p:spPr>
          <a:xfrm>
            <a:off x="1074248" y="447294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1133698" y="4463161"/>
            <a:ext cx="128699" cy="187198"/>
          </a:xfrm>
          <a:prstGeom prst="rect">
            <a:avLst/>
          </a:prstGeom>
        </p:spPr>
      </p:pic>
      <p:sp>
        <p:nvSpPr>
          <p:cNvPr id="37" name="TextBox 36"/>
          <p:cNvSpPr txBox="1"/>
          <p:nvPr/>
        </p:nvSpPr>
        <p:spPr>
          <a:xfrm>
            <a:off x="1301193" y="447294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8" name="TextBox 37"/>
          <p:cNvSpPr txBox="1"/>
          <p:nvPr/>
        </p:nvSpPr>
        <p:spPr>
          <a:xfrm>
            <a:off x="276225" y="4690872"/>
            <a:ext cx="5171430" cy="186689"/>
          </a:xfrm>
          <a:prstGeom prst="rect">
            <a:avLst/>
          </a:prstGeom>
          <a:noFill/>
        </p:spPr>
        <p:txBody>
          <a:bodyPr wrap="none" lIns="0" rIns="0" tIns="0" bIns="0">
            <a:spAutoFit/>
          </a:bodyPr>
          <a:lstStyle/>
          <a:p>
            <a:r>
              <a:rPr sz="1100" b="0">
                <a:solidFill>
                  <a:srgbClr val="2E2E2E"/>
                </a:solidFill>
                <a:latin typeface="Calibri"/>
              </a:rPr>
              <a:t>▪ 2. Temperature and Location Monitoring × Organ Procurement Organisations and Organ</a:t>
            </a:r>
          </a:p>
        </p:txBody>
      </p:sp>
      <p:sp>
        <p:nvSpPr>
          <p:cNvPr id="39" name="TextBox 38"/>
          <p:cNvSpPr txBox="1"/>
          <p:nvPr/>
        </p:nvSpPr>
        <p:spPr>
          <a:xfrm>
            <a:off x="276225" y="4858512"/>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40" name="Picture 39" descr="lock.png"/>
          <p:cNvPicPr>
            <a:picLocks noChangeAspect="1"/>
          </p:cNvPicPr>
          <p:nvPr/>
        </p:nvPicPr>
        <p:blipFill>
          <a:blip r:embed="rId4"/>
          <a:stretch>
            <a:fillRect/>
          </a:stretch>
        </p:blipFill>
        <p:spPr>
          <a:xfrm>
            <a:off x="1443451" y="4848733"/>
            <a:ext cx="128699" cy="187198"/>
          </a:xfrm>
          <a:prstGeom prst="rect">
            <a:avLst/>
          </a:prstGeom>
        </p:spPr>
      </p:pic>
      <p:sp>
        <p:nvSpPr>
          <p:cNvPr id="41" name="TextBox 40"/>
          <p:cNvSpPr txBox="1"/>
          <p:nvPr/>
        </p:nvSpPr>
        <p:spPr>
          <a:xfrm>
            <a:off x="1610947" y="485851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2" name="Picture 41" descr="lock.png"/>
          <p:cNvPicPr>
            <a:picLocks noChangeAspect="1"/>
          </p:cNvPicPr>
          <p:nvPr/>
        </p:nvPicPr>
        <p:blipFill>
          <a:blip r:embed="rId4"/>
          <a:stretch>
            <a:fillRect/>
          </a:stretch>
        </p:blipFill>
        <p:spPr>
          <a:xfrm>
            <a:off x="1670397" y="4848733"/>
            <a:ext cx="128699" cy="187198"/>
          </a:xfrm>
          <a:prstGeom prst="rect">
            <a:avLst/>
          </a:prstGeom>
        </p:spPr>
      </p:pic>
      <p:sp>
        <p:nvSpPr>
          <p:cNvPr id="43" name="TextBox 42"/>
          <p:cNvSpPr txBox="1"/>
          <p:nvPr/>
        </p:nvSpPr>
        <p:spPr>
          <a:xfrm>
            <a:off x="1837892" y="4858512"/>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44" name="TextBox 43"/>
          <p:cNvSpPr txBox="1"/>
          <p:nvPr/>
        </p:nvSpPr>
        <p:spPr>
          <a:xfrm>
            <a:off x="276225" y="5076444"/>
            <a:ext cx="5220816" cy="186689"/>
          </a:xfrm>
          <a:prstGeom prst="rect">
            <a:avLst/>
          </a:prstGeom>
          <a:noFill/>
        </p:spPr>
        <p:txBody>
          <a:bodyPr wrap="none" lIns="0" rIns="0" tIns="0" bIns="0">
            <a:spAutoFit/>
          </a:bodyPr>
          <a:lstStyle/>
          <a:p>
            <a:r>
              <a:rPr sz="1100" b="0">
                <a:solidFill>
                  <a:srgbClr val="2E2E2E"/>
                </a:solidFill>
                <a:latin typeface="Calibri"/>
              </a:rPr>
              <a:t>▪ 3. Physiological and Perfusion Parameter Monitoring × Organ Procurement Organisations</a:t>
            </a:r>
          </a:p>
        </p:txBody>
      </p:sp>
      <p:sp>
        <p:nvSpPr>
          <p:cNvPr id="45" name="TextBox 44"/>
          <p:cNvSpPr txBox="1"/>
          <p:nvPr/>
        </p:nvSpPr>
        <p:spPr>
          <a:xfrm>
            <a:off x="276225" y="5244084"/>
            <a:ext cx="1843459" cy="186689"/>
          </a:xfrm>
          <a:prstGeom prst="rect">
            <a:avLst/>
          </a:prstGeom>
          <a:noFill/>
        </p:spPr>
        <p:txBody>
          <a:bodyPr wrap="none" lIns="0" rIns="0" tIns="0" bIns="0">
            <a:spAutoFit/>
          </a:bodyPr>
          <a:lstStyle/>
          <a:p>
            <a:r>
              <a:rPr sz="1100" b="0">
                <a:solidFill>
                  <a:srgbClr val="2E2E2E"/>
                </a:solidFill>
                <a:latin typeface="Calibri"/>
              </a:rPr>
              <a:t>and Organ Retrieval Agencies –</a:t>
            </a:r>
          </a:p>
        </p:txBody>
      </p:sp>
      <p:pic>
        <p:nvPicPr>
          <p:cNvPr id="46" name="Picture 45" descr="lock.png"/>
          <p:cNvPicPr>
            <a:picLocks noChangeAspect="1"/>
          </p:cNvPicPr>
          <p:nvPr/>
        </p:nvPicPr>
        <p:blipFill>
          <a:blip r:embed="rId4"/>
          <a:stretch>
            <a:fillRect/>
          </a:stretch>
        </p:blipFill>
        <p:spPr>
          <a:xfrm>
            <a:off x="2067736" y="5234305"/>
            <a:ext cx="128699" cy="187198"/>
          </a:xfrm>
          <a:prstGeom prst="rect">
            <a:avLst/>
          </a:prstGeom>
        </p:spPr>
      </p:pic>
      <p:sp>
        <p:nvSpPr>
          <p:cNvPr id="47" name="TextBox 46"/>
          <p:cNvSpPr txBox="1"/>
          <p:nvPr/>
        </p:nvSpPr>
        <p:spPr>
          <a:xfrm>
            <a:off x="2235231" y="524408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2294681" y="5234305"/>
            <a:ext cx="128699" cy="187198"/>
          </a:xfrm>
          <a:prstGeom prst="rect">
            <a:avLst/>
          </a:prstGeom>
        </p:spPr>
      </p:pic>
      <p:sp>
        <p:nvSpPr>
          <p:cNvPr id="49" name="TextBox 48"/>
          <p:cNvSpPr txBox="1"/>
          <p:nvPr/>
        </p:nvSpPr>
        <p:spPr>
          <a:xfrm>
            <a:off x="2462177" y="5244084"/>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50" name="TextBox 49"/>
          <p:cNvSpPr txBox="1"/>
          <p:nvPr/>
        </p:nvSpPr>
        <p:spPr>
          <a:xfrm>
            <a:off x="276225" y="5462016"/>
            <a:ext cx="5203353" cy="186689"/>
          </a:xfrm>
          <a:prstGeom prst="rect">
            <a:avLst/>
          </a:prstGeom>
          <a:noFill/>
        </p:spPr>
        <p:txBody>
          <a:bodyPr wrap="none" lIns="0" rIns="0" tIns="0" bIns="0">
            <a:spAutoFit/>
          </a:bodyPr>
          <a:lstStyle/>
          <a:p>
            <a:r>
              <a:rPr sz="1100" b="0">
                <a:solidFill>
                  <a:srgbClr val="2E2E2E"/>
                </a:solidFill>
                <a:latin typeface="Calibri"/>
              </a:rPr>
              <a:t>▪ 4. Devices without Integrated Monitoring × Organ Procurement Organisations and Organ</a:t>
            </a:r>
          </a:p>
        </p:txBody>
      </p:sp>
      <p:sp>
        <p:nvSpPr>
          <p:cNvPr id="51" name="TextBox 50"/>
          <p:cNvSpPr txBox="1"/>
          <p:nvPr/>
        </p:nvSpPr>
        <p:spPr>
          <a:xfrm>
            <a:off x="276225" y="5629656"/>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52" name="Picture 51" descr="lock.png"/>
          <p:cNvPicPr>
            <a:picLocks noChangeAspect="1"/>
          </p:cNvPicPr>
          <p:nvPr/>
        </p:nvPicPr>
        <p:blipFill>
          <a:blip r:embed="rId4"/>
          <a:stretch>
            <a:fillRect/>
          </a:stretch>
        </p:blipFill>
        <p:spPr>
          <a:xfrm>
            <a:off x="1443451" y="5619877"/>
            <a:ext cx="128699" cy="187198"/>
          </a:xfrm>
          <a:prstGeom prst="rect">
            <a:avLst/>
          </a:prstGeom>
        </p:spPr>
      </p:pic>
      <p:sp>
        <p:nvSpPr>
          <p:cNvPr id="53" name="TextBox 52"/>
          <p:cNvSpPr txBox="1"/>
          <p:nvPr/>
        </p:nvSpPr>
        <p:spPr>
          <a:xfrm>
            <a:off x="1610947" y="562965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4" name="Picture 53" descr="lock.png"/>
          <p:cNvPicPr>
            <a:picLocks noChangeAspect="1"/>
          </p:cNvPicPr>
          <p:nvPr/>
        </p:nvPicPr>
        <p:blipFill>
          <a:blip r:embed="rId4"/>
          <a:stretch>
            <a:fillRect/>
          </a:stretch>
        </p:blipFill>
        <p:spPr>
          <a:xfrm>
            <a:off x="1670397" y="5619877"/>
            <a:ext cx="128699" cy="187198"/>
          </a:xfrm>
          <a:prstGeom prst="rect">
            <a:avLst/>
          </a:prstGeom>
        </p:spPr>
      </p:pic>
      <p:sp>
        <p:nvSpPr>
          <p:cNvPr id="55" name="TextBox 54"/>
          <p:cNvSpPr txBox="1"/>
          <p:nvPr/>
        </p:nvSpPr>
        <p:spPr>
          <a:xfrm>
            <a:off x="1837892" y="5629656"/>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6" name="TextBox 55"/>
          <p:cNvSpPr txBox="1"/>
          <p:nvPr/>
        </p:nvSpPr>
        <p:spPr>
          <a:xfrm>
            <a:off x="276225" y="5847588"/>
            <a:ext cx="4612630" cy="186689"/>
          </a:xfrm>
          <a:prstGeom prst="rect">
            <a:avLst/>
          </a:prstGeom>
          <a:noFill/>
        </p:spPr>
        <p:txBody>
          <a:bodyPr wrap="none" lIns="0" rIns="0" tIns="0" bIns="0">
            <a:spAutoFit/>
          </a:bodyPr>
          <a:lstStyle/>
          <a:p>
            <a:r>
              <a:rPr sz="1100" b="0">
                <a:solidFill>
                  <a:srgbClr val="2E2E2E"/>
                </a:solidFill>
                <a:latin typeface="Calibri"/>
              </a:rPr>
              <a:t>▪ 5. Devices without Integrated Monitoring × Hospitals and Transplant Centres –</a:t>
            </a:r>
          </a:p>
        </p:txBody>
      </p:sp>
      <p:pic>
        <p:nvPicPr>
          <p:cNvPr id="57" name="Picture 56" descr="lock.png"/>
          <p:cNvPicPr>
            <a:picLocks noChangeAspect="1"/>
          </p:cNvPicPr>
          <p:nvPr/>
        </p:nvPicPr>
        <p:blipFill>
          <a:blip r:embed="rId4"/>
          <a:stretch>
            <a:fillRect/>
          </a:stretch>
        </p:blipFill>
        <p:spPr>
          <a:xfrm>
            <a:off x="4836906" y="5837809"/>
            <a:ext cx="128699" cy="187198"/>
          </a:xfrm>
          <a:prstGeom prst="rect">
            <a:avLst/>
          </a:prstGeom>
        </p:spPr>
      </p:pic>
      <p:sp>
        <p:nvSpPr>
          <p:cNvPr id="58" name="TextBox 57"/>
          <p:cNvSpPr txBox="1"/>
          <p:nvPr/>
        </p:nvSpPr>
        <p:spPr>
          <a:xfrm>
            <a:off x="5004402"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9" name="Picture 58" descr="lock.png"/>
          <p:cNvPicPr>
            <a:picLocks noChangeAspect="1"/>
          </p:cNvPicPr>
          <p:nvPr/>
        </p:nvPicPr>
        <p:blipFill>
          <a:blip r:embed="rId4"/>
          <a:stretch>
            <a:fillRect/>
          </a:stretch>
        </p:blipFill>
        <p:spPr>
          <a:xfrm>
            <a:off x="5063851" y="5837809"/>
            <a:ext cx="128699" cy="187198"/>
          </a:xfrm>
          <a:prstGeom prst="rect">
            <a:avLst/>
          </a:prstGeom>
        </p:spPr>
      </p:pic>
      <p:sp>
        <p:nvSpPr>
          <p:cNvPr id="60" name="TextBox 59"/>
          <p:cNvSpPr txBox="1"/>
          <p:nvPr/>
        </p:nvSpPr>
        <p:spPr>
          <a:xfrm>
            <a:off x="5231347"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1" name="TextBox 60"/>
          <p:cNvSpPr txBox="1"/>
          <p:nvPr/>
        </p:nvSpPr>
        <p:spPr>
          <a:xfrm>
            <a:off x="276225" y="6015228"/>
            <a:ext cx="272107" cy="186689"/>
          </a:xfrm>
          <a:prstGeom prst="rect">
            <a:avLst/>
          </a:prstGeom>
          <a:noFill/>
        </p:spPr>
        <p:txBody>
          <a:bodyPr wrap="none" lIns="0" rIns="0" tIns="0" bIns="0">
            <a:spAutoFit/>
          </a:bodyPr>
          <a:lstStyle/>
          <a:p>
            <a:r>
              <a:rPr sz="1100" b="0">
                <a:solidFill>
                  <a:srgbClr val="2E2E2E"/>
                </a:solidFill>
                <a:latin typeface="Calibri"/>
              </a:rPr>
              <a:t>4/5</a:t>
            </a:r>
          </a:p>
        </p:txBody>
      </p:sp>
      <p:sp>
        <p:nvSpPr>
          <p:cNvPr id="62" name="TextBox 61"/>
          <p:cNvSpPr txBox="1"/>
          <p:nvPr/>
        </p:nvSpPr>
        <p:spPr>
          <a:xfrm>
            <a:off x="6029325" y="4305300"/>
            <a:ext cx="1657350" cy="194310"/>
          </a:xfrm>
          <a:prstGeom prst="rect">
            <a:avLst/>
          </a:prstGeom>
          <a:noFill/>
        </p:spPr>
        <p:txBody>
          <a:bodyPr wrap="none" lIns="0" rIns="0" tIns="0" bIns="0">
            <a:spAutoFit/>
          </a:bodyPr>
          <a:lstStyle/>
          <a:p>
            <a:r>
              <a:rPr sz="1150" b="0">
                <a:solidFill>
                  <a:srgbClr val="2E2E2E"/>
                </a:solidFill>
                <a:latin typeface="Calibri"/>
              </a:rPr>
              <a:t>▪ 'Temperature Monitoring</a:t>
            </a:r>
          </a:p>
        </p:txBody>
      </p:sp>
      <p:sp>
        <p:nvSpPr>
          <p:cNvPr id="63" name="TextBox 62"/>
          <p:cNvSpPr txBox="1"/>
          <p:nvPr/>
        </p:nvSpPr>
        <p:spPr>
          <a:xfrm>
            <a:off x="6029325" y="4480560"/>
            <a:ext cx="1657350" cy="194310"/>
          </a:xfrm>
          <a:prstGeom prst="rect">
            <a:avLst/>
          </a:prstGeom>
          <a:noFill/>
        </p:spPr>
        <p:txBody>
          <a:bodyPr wrap="none" lIns="0" rIns="0" tIns="0" bIns="0">
            <a:spAutoFit/>
          </a:bodyPr>
          <a:lstStyle/>
          <a:p>
            <a:r>
              <a:rPr sz="1150" b="0">
                <a:solidFill>
                  <a:srgbClr val="2E2E2E"/>
                </a:solidFill>
                <a:latin typeface="Calibri"/>
              </a:rPr>
              <a:t>Only × Organ Procurement</a:t>
            </a:r>
          </a:p>
        </p:txBody>
      </p:sp>
      <p:sp>
        <p:nvSpPr>
          <p:cNvPr id="64" name="TextBox 63"/>
          <p:cNvSpPr txBox="1"/>
          <p:nvPr/>
        </p:nvSpPr>
        <p:spPr>
          <a:xfrm>
            <a:off x="6029325" y="4655820"/>
            <a:ext cx="1546113" cy="194310"/>
          </a:xfrm>
          <a:prstGeom prst="rect">
            <a:avLst/>
          </a:prstGeom>
          <a:noFill/>
        </p:spPr>
        <p:txBody>
          <a:bodyPr wrap="none" lIns="0" rIns="0" tIns="0" bIns="0">
            <a:spAutoFit/>
          </a:bodyPr>
          <a:lstStyle/>
          <a:p>
            <a:r>
              <a:rPr sz="1150" b="0">
                <a:solidFill>
                  <a:srgbClr val="2E2E2E"/>
                </a:solidFill>
                <a:latin typeface="Calibri"/>
              </a:rPr>
              <a:t>Organisations and Organ</a:t>
            </a:r>
          </a:p>
        </p:txBody>
      </p:sp>
      <p:sp>
        <p:nvSpPr>
          <p:cNvPr id="65" name="TextBox 64"/>
          <p:cNvSpPr txBox="1"/>
          <p:nvPr/>
        </p:nvSpPr>
        <p:spPr>
          <a:xfrm>
            <a:off x="6029325" y="4831079"/>
            <a:ext cx="1511027" cy="194310"/>
          </a:xfrm>
          <a:prstGeom prst="rect">
            <a:avLst/>
          </a:prstGeom>
          <a:noFill/>
        </p:spPr>
        <p:txBody>
          <a:bodyPr wrap="none" lIns="0" rIns="0" tIns="0" bIns="0">
            <a:spAutoFit/>
          </a:bodyPr>
          <a:lstStyle/>
          <a:p>
            <a:r>
              <a:rPr sz="1150" b="0">
                <a:solidFill>
                  <a:srgbClr val="2E2E2E"/>
                </a:solidFill>
                <a:latin typeface="Calibri"/>
              </a:rPr>
              <a:t>Retrieval Agencies' adds</a:t>
            </a:r>
          </a:p>
        </p:txBody>
      </p:sp>
      <p:pic>
        <p:nvPicPr>
          <p:cNvPr id="66" name="Picture 65" descr="lock.png"/>
          <p:cNvPicPr>
            <a:picLocks noChangeAspect="1"/>
          </p:cNvPicPr>
          <p:nvPr/>
        </p:nvPicPr>
        <p:blipFill>
          <a:blip r:embed="rId4"/>
          <a:stretch>
            <a:fillRect/>
          </a:stretch>
        </p:blipFill>
        <p:spPr>
          <a:xfrm>
            <a:off x="6015245" y="4996116"/>
            <a:ext cx="134549" cy="195707"/>
          </a:xfrm>
          <a:prstGeom prst="rect">
            <a:avLst/>
          </a:prstGeom>
        </p:spPr>
      </p:pic>
      <p:sp>
        <p:nvSpPr>
          <p:cNvPr id="67" name="TextBox 66"/>
          <p:cNvSpPr txBox="1"/>
          <p:nvPr/>
        </p:nvSpPr>
        <p:spPr>
          <a:xfrm>
            <a:off x="6190354" y="500633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8" name="Picture 67" descr="lock.png"/>
          <p:cNvPicPr>
            <a:picLocks noChangeAspect="1"/>
          </p:cNvPicPr>
          <p:nvPr/>
        </p:nvPicPr>
        <p:blipFill>
          <a:blip r:embed="rId4"/>
          <a:stretch>
            <a:fillRect/>
          </a:stretch>
        </p:blipFill>
        <p:spPr>
          <a:xfrm>
            <a:off x="6015245" y="5171376"/>
            <a:ext cx="134549" cy="195707"/>
          </a:xfrm>
          <a:prstGeom prst="rect">
            <a:avLst/>
          </a:prstGeom>
        </p:spPr>
      </p:pic>
      <p:sp>
        <p:nvSpPr>
          <p:cNvPr id="69" name="TextBox 68"/>
          <p:cNvSpPr txBox="1"/>
          <p:nvPr/>
        </p:nvSpPr>
        <p:spPr>
          <a:xfrm>
            <a:off x="6190354" y="518159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70" name="TextBox 69"/>
          <p:cNvSpPr txBox="1"/>
          <p:nvPr/>
        </p:nvSpPr>
        <p:spPr>
          <a:xfrm>
            <a:off x="6029325" y="535685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71" name="TextBox 70"/>
          <p:cNvSpPr txBox="1"/>
          <p:nvPr/>
        </p:nvSpPr>
        <p:spPr>
          <a:xfrm>
            <a:off x="8124825" y="4305300"/>
            <a:ext cx="1146757" cy="194310"/>
          </a:xfrm>
          <a:prstGeom prst="rect">
            <a:avLst/>
          </a:prstGeom>
          <a:noFill/>
        </p:spPr>
        <p:txBody>
          <a:bodyPr wrap="none" lIns="0" rIns="0" tIns="0" bIns="0">
            <a:spAutoFit/>
          </a:bodyPr>
          <a:lstStyle/>
          <a:p>
            <a:r>
              <a:rPr sz="1150" b="0">
                <a:solidFill>
                  <a:srgbClr val="2E2E2E"/>
                </a:solidFill>
                <a:latin typeface="Calibri"/>
              </a:rPr>
              <a:t>▪ 'Devices without</a:t>
            </a:r>
          </a:p>
        </p:txBody>
      </p:sp>
      <p:sp>
        <p:nvSpPr>
          <p:cNvPr id="72" name="TextBox 71"/>
          <p:cNvSpPr txBox="1"/>
          <p:nvPr/>
        </p:nvSpPr>
        <p:spPr>
          <a:xfrm>
            <a:off x="8124825" y="4480560"/>
            <a:ext cx="1507318" cy="194310"/>
          </a:xfrm>
          <a:prstGeom prst="rect">
            <a:avLst/>
          </a:prstGeom>
          <a:noFill/>
        </p:spPr>
        <p:txBody>
          <a:bodyPr wrap="none" lIns="0" rIns="0" tIns="0" bIns="0">
            <a:spAutoFit/>
          </a:bodyPr>
          <a:lstStyle/>
          <a:p>
            <a:r>
              <a:rPr sz="1150" b="0">
                <a:solidFill>
                  <a:srgbClr val="2E2E2E"/>
                </a:solidFill>
                <a:latin typeface="Calibri"/>
              </a:rPr>
              <a:t>Integrated Monitoring ×</a:t>
            </a:r>
          </a:p>
        </p:txBody>
      </p:sp>
      <p:sp>
        <p:nvSpPr>
          <p:cNvPr id="73" name="TextBox 72"/>
          <p:cNvSpPr txBox="1"/>
          <p:nvPr/>
        </p:nvSpPr>
        <p:spPr>
          <a:xfrm>
            <a:off x="8124825" y="4655820"/>
            <a:ext cx="1103684" cy="194310"/>
          </a:xfrm>
          <a:prstGeom prst="rect">
            <a:avLst/>
          </a:prstGeom>
          <a:noFill/>
        </p:spPr>
        <p:txBody>
          <a:bodyPr wrap="none" lIns="0" rIns="0" tIns="0" bIns="0">
            <a:spAutoFit/>
          </a:bodyPr>
          <a:lstStyle/>
          <a:p>
            <a:r>
              <a:rPr sz="1150" b="0">
                <a:solidFill>
                  <a:srgbClr val="2E2E2E"/>
                </a:solidFill>
                <a:latin typeface="Calibri"/>
              </a:rPr>
              <a:t>Other Purchasing</a:t>
            </a:r>
          </a:p>
        </p:txBody>
      </p:sp>
      <p:sp>
        <p:nvSpPr>
          <p:cNvPr id="74" name="TextBox 73"/>
          <p:cNvSpPr txBox="1"/>
          <p:nvPr/>
        </p:nvSpPr>
        <p:spPr>
          <a:xfrm>
            <a:off x="8124825" y="4831079"/>
            <a:ext cx="1572071" cy="194310"/>
          </a:xfrm>
          <a:prstGeom prst="rect">
            <a:avLst/>
          </a:prstGeom>
          <a:noFill/>
        </p:spPr>
        <p:txBody>
          <a:bodyPr wrap="none" lIns="0" rIns="0" tIns="0" bIns="0">
            <a:spAutoFit/>
          </a:bodyPr>
          <a:lstStyle/>
          <a:p>
            <a:r>
              <a:rPr sz="1150" b="0">
                <a:solidFill>
                  <a:srgbClr val="2E2E2E"/>
                </a:solidFill>
                <a:latin typeface="Calibri"/>
              </a:rPr>
              <a:t>Organisations' grows at a</a:t>
            </a:r>
          </a:p>
        </p:txBody>
      </p:sp>
      <p:pic>
        <p:nvPicPr>
          <p:cNvPr id="75" name="Picture 74" descr="lock.png"/>
          <p:cNvPicPr>
            <a:picLocks noChangeAspect="1"/>
          </p:cNvPicPr>
          <p:nvPr/>
        </p:nvPicPr>
        <p:blipFill>
          <a:blip r:embed="rId4"/>
          <a:stretch>
            <a:fillRect/>
          </a:stretch>
        </p:blipFill>
        <p:spPr>
          <a:xfrm>
            <a:off x="8110745" y="4996116"/>
            <a:ext cx="134549" cy="195707"/>
          </a:xfrm>
          <a:prstGeom prst="rect">
            <a:avLst/>
          </a:prstGeom>
        </p:spPr>
      </p:pic>
      <p:sp>
        <p:nvSpPr>
          <p:cNvPr id="76" name="TextBox 75"/>
          <p:cNvSpPr txBox="1"/>
          <p:nvPr/>
        </p:nvSpPr>
        <p:spPr>
          <a:xfrm>
            <a:off x="8285854" y="500633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7" name="Picture 76" descr="lock.png"/>
          <p:cNvPicPr>
            <a:picLocks noChangeAspect="1"/>
          </p:cNvPicPr>
          <p:nvPr/>
        </p:nvPicPr>
        <p:blipFill>
          <a:blip r:embed="rId4"/>
          <a:stretch>
            <a:fillRect/>
          </a:stretch>
        </p:blipFill>
        <p:spPr>
          <a:xfrm>
            <a:off x="8681450" y="4996116"/>
            <a:ext cx="134549" cy="195707"/>
          </a:xfrm>
          <a:prstGeom prst="rect">
            <a:avLst/>
          </a:prstGeom>
        </p:spPr>
      </p:pic>
      <p:sp>
        <p:nvSpPr>
          <p:cNvPr id="78" name="TextBox 77"/>
          <p:cNvSpPr txBox="1"/>
          <p:nvPr/>
        </p:nvSpPr>
        <p:spPr>
          <a:xfrm>
            <a:off x="8856559" y="5006339"/>
            <a:ext cx="693774" cy="194310"/>
          </a:xfrm>
          <a:prstGeom prst="rect">
            <a:avLst/>
          </a:prstGeom>
          <a:noFill/>
        </p:spPr>
        <p:txBody>
          <a:bodyPr wrap="none" lIns="0" rIns="0" tIns="0" bIns="0">
            <a:spAutoFit/>
          </a:bodyPr>
          <a:lstStyle/>
          <a:p>
            <a:r>
              <a:rPr sz="1150" b="0">
                <a:solidFill>
                  <a:srgbClr val="2E2E2E"/>
                </a:solidFill>
                <a:latin typeface="Calibri"/>
              </a:rPr>
              <a:t>BPS above</a:t>
            </a:r>
          </a:p>
        </p:txBody>
      </p:sp>
      <p:sp>
        <p:nvSpPr>
          <p:cNvPr id="79" name="TextBox 78"/>
          <p:cNvSpPr txBox="1"/>
          <p:nvPr/>
        </p:nvSpPr>
        <p:spPr>
          <a:xfrm>
            <a:off x="8124825" y="5181599"/>
            <a:ext cx="1121655" cy="194310"/>
          </a:xfrm>
          <a:prstGeom prst="rect">
            <a:avLst/>
          </a:prstGeom>
          <a:noFill/>
        </p:spPr>
        <p:txBody>
          <a:bodyPr wrap="none" lIns="0" rIns="0" tIns="0" bIns="0">
            <a:spAutoFit/>
          </a:bodyPr>
          <a:lstStyle/>
          <a:p>
            <a:r>
              <a:rPr sz="1150" b="0">
                <a:solidFill>
                  <a:srgbClr val="2E2E2E"/>
                </a:solidFill>
                <a:latin typeface="Calibri"/>
              </a:rPr>
              <a:t>the cross-section.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8.3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Reusability × 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Snapshot: Device Reusability × Sales Channel,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Global market value (US$ Mn) for each device reusability sub-segment across sales channel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Value, Device Reusability × Sales Channel, 2026E and 2036F (US$ Mn)</a:t>
            </a:r>
          </a:p>
        </p:txBody>
      </p:sp>
      <p:graphicFrame>
        <p:nvGraphicFramePr>
          <p:cNvPr id="12" name="Table 11"/>
          <p:cNvGraphicFramePr>
            <a:graphicFrameLocks noGrp="1"/>
          </p:cNvGraphicFramePr>
          <p:nvPr/>
        </p:nvGraphicFramePr>
        <p:xfrm>
          <a:off x="152400" y="1238250"/>
          <a:ext cx="11887198" cy="1238250"/>
        </p:xfrm>
        <a:graphic>
          <a:graphicData uri="http://schemas.openxmlformats.org/drawingml/2006/table">
            <a:tbl>
              <a:tblPr>
                <a:tableStyleId>{5C22544A-7EE6-4342-B048-85BDC9FD1C3A}</a:tableStyleId>
              </a:tblPr>
              <a:tblGrid>
                <a:gridCol w="4479736"/>
                <a:gridCol w="1234577"/>
                <a:gridCol w="1234577"/>
                <a:gridCol w="1234577"/>
                <a:gridCol w="1234577"/>
                <a:gridCol w="1234577"/>
                <a:gridCol w="1234577"/>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Flow, Device Reusability → Sales Channel, 2036F (US$ Mn)</a:t>
            </a:r>
          </a:p>
        </p:txBody>
      </p:sp>
      <p:sp>
        <p:nvSpPr>
          <p:cNvPr id="16" name="Freeform 15"/>
          <p:cNvSpPr/>
          <p:nvPr/>
        </p:nvSpPr>
        <p:spPr>
          <a:xfrm>
            <a:off x="2057400" y="3143250"/>
            <a:ext cx="3743325" cy="1314450"/>
          </a:xfrm>
          <a:custGeom>
            <a:avLst/>
            <a:gdLst/>
            <a:ahLst/>
            <a:cxnLst/>
            <a:rect l="l" t="t" r="r" b="b"/>
            <a:pathLst>
              <a:path w="393" h="138">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38"/>
                </a:lnTo>
                <a:lnTo>
                  <a:pt x="377" y="138"/>
                </a:lnTo>
                <a:lnTo>
                  <a:pt x="360" y="138"/>
                </a:lnTo>
                <a:lnTo>
                  <a:pt x="344" y="138"/>
                </a:lnTo>
                <a:lnTo>
                  <a:pt x="327" y="138"/>
                </a:lnTo>
                <a:lnTo>
                  <a:pt x="311" y="138"/>
                </a:lnTo>
                <a:lnTo>
                  <a:pt x="295" y="138"/>
                </a:lnTo>
                <a:lnTo>
                  <a:pt x="278" y="138"/>
                </a:lnTo>
                <a:lnTo>
                  <a:pt x="262" y="138"/>
                </a:lnTo>
                <a:lnTo>
                  <a:pt x="246" y="138"/>
                </a:lnTo>
                <a:lnTo>
                  <a:pt x="229" y="138"/>
                </a:lnTo>
                <a:lnTo>
                  <a:pt x="213" y="138"/>
                </a:lnTo>
                <a:lnTo>
                  <a:pt x="196" y="138"/>
                </a:lnTo>
                <a:lnTo>
                  <a:pt x="180" y="138"/>
                </a:lnTo>
                <a:lnTo>
                  <a:pt x="164" y="138"/>
                </a:lnTo>
                <a:lnTo>
                  <a:pt x="147" y="138"/>
                </a:lnTo>
                <a:lnTo>
                  <a:pt x="131" y="138"/>
                </a:lnTo>
                <a:lnTo>
                  <a:pt x="114" y="138"/>
                </a:lnTo>
                <a:lnTo>
                  <a:pt x="98" y="138"/>
                </a:lnTo>
                <a:lnTo>
                  <a:pt x="82" y="138"/>
                </a:lnTo>
                <a:lnTo>
                  <a:pt x="65" y="138"/>
                </a:lnTo>
                <a:lnTo>
                  <a:pt x="49" y="138"/>
                </a:lnTo>
                <a:lnTo>
                  <a:pt x="33" y="138"/>
                </a:lnTo>
                <a:lnTo>
                  <a:pt x="16" y="138"/>
                </a:lnTo>
                <a:lnTo>
                  <a:pt x="0" y="13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57700"/>
            <a:ext cx="3743325" cy="1724025"/>
          </a:xfrm>
          <a:custGeom>
            <a:avLst/>
            <a:gdLst/>
            <a:ahLst/>
            <a:cxnLst/>
            <a:rect l="l" t="t" r="r" b="b"/>
            <a:pathLst>
              <a:path w="393" h="181">
                <a:moveTo>
                  <a:pt x="0" y="0"/>
                </a:moveTo>
                <a:lnTo>
                  <a:pt x="16" y="1"/>
                </a:lnTo>
                <a:lnTo>
                  <a:pt x="33" y="3"/>
                </a:lnTo>
                <a:lnTo>
                  <a:pt x="49" y="7"/>
                </a:lnTo>
                <a:lnTo>
                  <a:pt x="65" y="11"/>
                </a:lnTo>
                <a:lnTo>
                  <a:pt x="82" y="17"/>
                </a:lnTo>
                <a:lnTo>
                  <a:pt x="98" y="23"/>
                </a:lnTo>
                <a:lnTo>
                  <a:pt x="114" y="30"/>
                </a:lnTo>
                <a:lnTo>
                  <a:pt x="131" y="38"/>
                </a:lnTo>
                <a:lnTo>
                  <a:pt x="147" y="46"/>
                </a:lnTo>
                <a:lnTo>
                  <a:pt x="164" y="55"/>
                </a:lnTo>
                <a:lnTo>
                  <a:pt x="180" y="64"/>
                </a:lnTo>
                <a:lnTo>
                  <a:pt x="196" y="73"/>
                </a:lnTo>
                <a:lnTo>
                  <a:pt x="213" y="82"/>
                </a:lnTo>
                <a:lnTo>
                  <a:pt x="229" y="90"/>
                </a:lnTo>
                <a:lnTo>
                  <a:pt x="246" y="99"/>
                </a:lnTo>
                <a:lnTo>
                  <a:pt x="262" y="107"/>
                </a:lnTo>
                <a:lnTo>
                  <a:pt x="278" y="115"/>
                </a:lnTo>
                <a:lnTo>
                  <a:pt x="295" y="122"/>
                </a:lnTo>
                <a:lnTo>
                  <a:pt x="311" y="129"/>
                </a:lnTo>
                <a:lnTo>
                  <a:pt x="327" y="134"/>
                </a:lnTo>
                <a:lnTo>
                  <a:pt x="344" y="139"/>
                </a:lnTo>
                <a:lnTo>
                  <a:pt x="360" y="142"/>
                </a:lnTo>
                <a:lnTo>
                  <a:pt x="377" y="144"/>
                </a:lnTo>
                <a:lnTo>
                  <a:pt x="393" y="145"/>
                </a:lnTo>
                <a:lnTo>
                  <a:pt x="393" y="181"/>
                </a:lnTo>
                <a:lnTo>
                  <a:pt x="377" y="181"/>
                </a:lnTo>
                <a:lnTo>
                  <a:pt x="360" y="179"/>
                </a:lnTo>
                <a:lnTo>
                  <a:pt x="344" y="175"/>
                </a:lnTo>
                <a:lnTo>
                  <a:pt x="327" y="171"/>
                </a:lnTo>
                <a:lnTo>
                  <a:pt x="311" y="165"/>
                </a:lnTo>
                <a:lnTo>
                  <a:pt x="295" y="159"/>
                </a:lnTo>
                <a:lnTo>
                  <a:pt x="278" y="152"/>
                </a:lnTo>
                <a:lnTo>
                  <a:pt x="262" y="144"/>
                </a:lnTo>
                <a:lnTo>
                  <a:pt x="246" y="136"/>
                </a:lnTo>
                <a:lnTo>
                  <a:pt x="229" y="127"/>
                </a:lnTo>
                <a:lnTo>
                  <a:pt x="213" y="118"/>
                </a:lnTo>
                <a:lnTo>
                  <a:pt x="196" y="109"/>
                </a:lnTo>
                <a:lnTo>
                  <a:pt x="180" y="100"/>
                </a:lnTo>
                <a:lnTo>
                  <a:pt x="164" y="91"/>
                </a:lnTo>
                <a:lnTo>
                  <a:pt x="147" y="83"/>
                </a:lnTo>
                <a:lnTo>
                  <a:pt x="131" y="74"/>
                </a:lnTo>
                <a:lnTo>
                  <a:pt x="114" y="67"/>
                </a:lnTo>
                <a:lnTo>
                  <a:pt x="98" y="60"/>
                </a:lnTo>
                <a:lnTo>
                  <a:pt x="82" y="53"/>
                </a:lnTo>
                <a:lnTo>
                  <a:pt x="65" y="48"/>
                </a:lnTo>
                <a:lnTo>
                  <a:pt x="49" y="43"/>
                </a:lnTo>
                <a:lnTo>
                  <a:pt x="33" y="40"/>
                </a:lnTo>
                <a:lnTo>
                  <a:pt x="16" y="38"/>
                </a:lnTo>
                <a:lnTo>
                  <a:pt x="0" y="37"/>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57700"/>
            <a:ext cx="3743325" cy="1724025"/>
          </a:xfrm>
          <a:custGeom>
            <a:avLst/>
            <a:gdLst/>
            <a:ahLst/>
            <a:cxnLst/>
            <a:rect l="l" t="t" r="r" b="b"/>
            <a:pathLst>
              <a:path w="393" h="181">
                <a:moveTo>
                  <a:pt x="0" y="43"/>
                </a:moveTo>
                <a:lnTo>
                  <a:pt x="16" y="43"/>
                </a:lnTo>
                <a:lnTo>
                  <a:pt x="33" y="42"/>
                </a:lnTo>
                <a:lnTo>
                  <a:pt x="49" y="41"/>
                </a:lnTo>
                <a:lnTo>
                  <a:pt x="65" y="40"/>
                </a:lnTo>
                <a:lnTo>
                  <a:pt x="82" y="38"/>
                </a:lnTo>
                <a:lnTo>
                  <a:pt x="98" y="36"/>
                </a:lnTo>
                <a:lnTo>
                  <a:pt x="114" y="34"/>
                </a:lnTo>
                <a:lnTo>
                  <a:pt x="131" y="32"/>
                </a:lnTo>
                <a:lnTo>
                  <a:pt x="147" y="30"/>
                </a:lnTo>
                <a:lnTo>
                  <a:pt x="164" y="27"/>
                </a:lnTo>
                <a:lnTo>
                  <a:pt x="180" y="24"/>
                </a:lnTo>
                <a:lnTo>
                  <a:pt x="196" y="22"/>
                </a:lnTo>
                <a:lnTo>
                  <a:pt x="213" y="19"/>
                </a:lnTo>
                <a:lnTo>
                  <a:pt x="229" y="16"/>
                </a:lnTo>
                <a:lnTo>
                  <a:pt x="246" y="14"/>
                </a:lnTo>
                <a:lnTo>
                  <a:pt x="262" y="11"/>
                </a:lnTo>
                <a:lnTo>
                  <a:pt x="278" y="9"/>
                </a:lnTo>
                <a:lnTo>
                  <a:pt x="295" y="7"/>
                </a:lnTo>
                <a:lnTo>
                  <a:pt x="311" y="5"/>
                </a:lnTo>
                <a:lnTo>
                  <a:pt x="327" y="4"/>
                </a:lnTo>
                <a:lnTo>
                  <a:pt x="344" y="2"/>
                </a:lnTo>
                <a:lnTo>
                  <a:pt x="360" y="1"/>
                </a:lnTo>
                <a:lnTo>
                  <a:pt x="377" y="1"/>
                </a:lnTo>
                <a:lnTo>
                  <a:pt x="393" y="0"/>
                </a:lnTo>
                <a:lnTo>
                  <a:pt x="393" y="139"/>
                </a:lnTo>
                <a:lnTo>
                  <a:pt x="377" y="139"/>
                </a:lnTo>
                <a:lnTo>
                  <a:pt x="360" y="140"/>
                </a:lnTo>
                <a:lnTo>
                  <a:pt x="344" y="141"/>
                </a:lnTo>
                <a:lnTo>
                  <a:pt x="327" y="142"/>
                </a:lnTo>
                <a:lnTo>
                  <a:pt x="311" y="144"/>
                </a:lnTo>
                <a:lnTo>
                  <a:pt x="295" y="145"/>
                </a:lnTo>
                <a:lnTo>
                  <a:pt x="278" y="148"/>
                </a:lnTo>
                <a:lnTo>
                  <a:pt x="262" y="150"/>
                </a:lnTo>
                <a:lnTo>
                  <a:pt x="246" y="152"/>
                </a:lnTo>
                <a:lnTo>
                  <a:pt x="229" y="155"/>
                </a:lnTo>
                <a:lnTo>
                  <a:pt x="213" y="157"/>
                </a:lnTo>
                <a:lnTo>
                  <a:pt x="196" y="160"/>
                </a:lnTo>
                <a:lnTo>
                  <a:pt x="180" y="163"/>
                </a:lnTo>
                <a:lnTo>
                  <a:pt x="164" y="165"/>
                </a:lnTo>
                <a:lnTo>
                  <a:pt x="147" y="168"/>
                </a:lnTo>
                <a:lnTo>
                  <a:pt x="131" y="170"/>
                </a:lnTo>
                <a:lnTo>
                  <a:pt x="114" y="173"/>
                </a:lnTo>
                <a:lnTo>
                  <a:pt x="98" y="175"/>
                </a:lnTo>
                <a:lnTo>
                  <a:pt x="82" y="177"/>
                </a:lnTo>
                <a:lnTo>
                  <a:pt x="65" y="178"/>
                </a:lnTo>
                <a:lnTo>
                  <a:pt x="49" y="180"/>
                </a:lnTo>
                <a:lnTo>
                  <a:pt x="33" y="181"/>
                </a:lnTo>
                <a:lnTo>
                  <a:pt x="16" y="181"/>
                </a:lnTo>
                <a:lnTo>
                  <a:pt x="0" y="18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6181725"/>
            <a:ext cx="3743325" cy="352425"/>
          </a:xfrm>
          <a:custGeom>
            <a:avLst/>
            <a:gdLst/>
            <a:ahLst/>
            <a:cxnLst/>
            <a:rect l="l" t="t" r="r" b="b"/>
            <a:pathLst>
              <a:path w="393" h="37">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37"/>
                </a:lnTo>
                <a:lnTo>
                  <a:pt x="377" y="37"/>
                </a:lnTo>
                <a:lnTo>
                  <a:pt x="360" y="37"/>
                </a:lnTo>
                <a:lnTo>
                  <a:pt x="344" y="37"/>
                </a:lnTo>
                <a:lnTo>
                  <a:pt x="327" y="37"/>
                </a:lnTo>
                <a:lnTo>
                  <a:pt x="311" y="37"/>
                </a:lnTo>
                <a:lnTo>
                  <a:pt x="295" y="37"/>
                </a:lnTo>
                <a:lnTo>
                  <a:pt x="278" y="37"/>
                </a:lnTo>
                <a:lnTo>
                  <a:pt x="262" y="37"/>
                </a:lnTo>
                <a:lnTo>
                  <a:pt x="246" y="37"/>
                </a:lnTo>
                <a:lnTo>
                  <a:pt x="229" y="37"/>
                </a:lnTo>
                <a:lnTo>
                  <a:pt x="213" y="37"/>
                </a:lnTo>
                <a:lnTo>
                  <a:pt x="196" y="37"/>
                </a:lnTo>
                <a:lnTo>
                  <a:pt x="180" y="37"/>
                </a:lnTo>
                <a:lnTo>
                  <a:pt x="164" y="37"/>
                </a:lnTo>
                <a:lnTo>
                  <a:pt x="147" y="37"/>
                </a:lnTo>
                <a:lnTo>
                  <a:pt x="131" y="37"/>
                </a:lnTo>
                <a:lnTo>
                  <a:pt x="114" y="37"/>
                </a:lnTo>
                <a:lnTo>
                  <a:pt x="98" y="37"/>
                </a:lnTo>
                <a:lnTo>
                  <a:pt x="82" y="37"/>
                </a:lnTo>
                <a:lnTo>
                  <a:pt x="65" y="37"/>
                </a:lnTo>
                <a:lnTo>
                  <a:pt x="49" y="37"/>
                </a:lnTo>
                <a:lnTo>
                  <a:pt x="33" y="37"/>
                </a:lnTo>
                <a:lnTo>
                  <a:pt x="16" y="37"/>
                </a:lnTo>
                <a:lnTo>
                  <a:pt x="0" y="37"/>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41195" y="3143250"/>
            <a:ext cx="114300" cy="166687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4867275"/>
            <a:ext cx="114300" cy="16668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0725" y="3143250"/>
            <a:ext cx="114300" cy="263654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0725" y="5836948"/>
            <a:ext cx="114300" cy="69720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39052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5" name="TextBox 24"/>
          <p:cNvSpPr txBox="1"/>
          <p:nvPr/>
        </p:nvSpPr>
        <p:spPr>
          <a:xfrm>
            <a:off x="257175" y="5629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6" name="TextBox 25"/>
          <p:cNvSpPr txBox="1"/>
          <p:nvPr/>
        </p:nvSpPr>
        <p:spPr>
          <a:xfrm>
            <a:off x="5972175" y="4390086"/>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7" name="TextBox 26"/>
          <p:cNvSpPr txBox="1"/>
          <p:nvPr/>
        </p:nvSpPr>
        <p:spPr>
          <a:xfrm>
            <a:off x="5972175" y="6114111"/>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8" name="Rounded Rectangle 27"/>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30" name="Rectangle 29"/>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4"/>
          <a:stretch>
            <a:fillRect/>
          </a:stretch>
        </p:blipFill>
        <p:spPr>
          <a:xfrm>
            <a:off x="8165773" y="1861463"/>
            <a:ext cx="334111" cy="485980"/>
          </a:xfrm>
          <a:prstGeom prst="rect">
            <a:avLst/>
          </a:prstGeom>
        </p:spPr>
      </p:pic>
      <p:sp>
        <p:nvSpPr>
          <p:cNvPr id="34" name="TextBox 33"/>
          <p:cNvSpPr txBox="1"/>
          <p:nvPr/>
        </p:nvSpPr>
        <p:spPr>
          <a:xfrm>
            <a:off x="600521" y="3916337"/>
            <a:ext cx="1229772" cy="139750"/>
          </a:xfrm>
          <a:prstGeom prst="rect">
            <a:avLst/>
          </a:prstGeom>
          <a:noFill/>
        </p:spPr>
        <p:txBody>
          <a:bodyPr wrap="none" lIns="0" rIns="0" tIns="0" bIns="0">
            <a:spAutoFit/>
          </a:bodyPr>
          <a:lstStyle/>
          <a:p>
            <a:r>
              <a:rPr sz="791" b="1">
                <a:solidFill>
                  <a:srgbClr val="2E2E2E"/>
                </a:solidFill>
                <a:latin typeface="Calibri"/>
              </a:rPr>
              <a:t>Reusable Transport Devices</a:t>
            </a:r>
          </a:p>
        </p:txBody>
      </p:sp>
      <p:pic>
        <p:nvPicPr>
          <p:cNvPr id="35" name="Picture 34" descr="lock.png"/>
          <p:cNvPicPr>
            <a:picLocks noChangeAspect="1"/>
          </p:cNvPicPr>
          <p:nvPr/>
        </p:nvPicPr>
        <p:blipFill>
          <a:blip r:embed="rId4"/>
          <a:stretch>
            <a:fillRect/>
          </a:stretch>
        </p:blipFill>
        <p:spPr>
          <a:xfrm>
            <a:off x="1771555" y="3909296"/>
            <a:ext cx="92663" cy="134782"/>
          </a:xfrm>
          <a:prstGeom prst="rect">
            <a:avLst/>
          </a:prstGeom>
        </p:spPr>
      </p:pic>
      <p:sp>
        <p:nvSpPr>
          <p:cNvPr id="36" name="TextBox 35"/>
          <p:cNvSpPr txBox="1"/>
          <p:nvPr/>
        </p:nvSpPr>
        <p:spPr>
          <a:xfrm>
            <a:off x="544336" y="5640362"/>
            <a:ext cx="1285958" cy="139750"/>
          </a:xfrm>
          <a:prstGeom prst="rect">
            <a:avLst/>
          </a:prstGeom>
          <a:noFill/>
        </p:spPr>
        <p:txBody>
          <a:bodyPr wrap="none" lIns="0" rIns="0" tIns="0" bIns="0">
            <a:spAutoFit/>
          </a:bodyPr>
          <a:lstStyle/>
          <a:p>
            <a:r>
              <a:rPr sz="791" b="1">
                <a:solidFill>
                  <a:srgbClr val="2E2E2E"/>
                </a:solidFill>
                <a:latin typeface="Calibri"/>
              </a:rPr>
              <a:t>Single-Use Transport Devices</a:t>
            </a:r>
          </a:p>
        </p:txBody>
      </p:sp>
      <p:pic>
        <p:nvPicPr>
          <p:cNvPr id="37" name="Picture 36" descr="lock.png"/>
          <p:cNvPicPr>
            <a:picLocks noChangeAspect="1"/>
          </p:cNvPicPr>
          <p:nvPr/>
        </p:nvPicPr>
        <p:blipFill>
          <a:blip r:embed="rId4"/>
          <a:stretch>
            <a:fillRect/>
          </a:stretch>
        </p:blipFill>
        <p:spPr>
          <a:xfrm>
            <a:off x="1771555" y="5633321"/>
            <a:ext cx="92663" cy="134782"/>
          </a:xfrm>
          <a:prstGeom prst="rect">
            <a:avLst/>
          </a:prstGeom>
        </p:spPr>
      </p:pic>
      <p:sp>
        <p:nvSpPr>
          <p:cNvPr id="38" name="TextBox 37"/>
          <p:cNvSpPr txBox="1"/>
          <p:nvPr/>
        </p:nvSpPr>
        <p:spPr>
          <a:xfrm>
            <a:off x="5972175" y="4401173"/>
            <a:ext cx="563403" cy="139750"/>
          </a:xfrm>
          <a:prstGeom prst="rect">
            <a:avLst/>
          </a:prstGeom>
          <a:noFill/>
        </p:spPr>
        <p:txBody>
          <a:bodyPr wrap="none" lIns="0" rIns="0" tIns="0" bIns="0">
            <a:spAutoFit/>
          </a:bodyPr>
          <a:lstStyle/>
          <a:p>
            <a:r>
              <a:rPr sz="791" b="1">
                <a:solidFill>
                  <a:srgbClr val="2E2E2E"/>
                </a:solidFill>
                <a:latin typeface="Calibri"/>
              </a:rPr>
              <a:t>Direct Sales</a:t>
            </a:r>
          </a:p>
        </p:txBody>
      </p:sp>
      <p:pic>
        <p:nvPicPr>
          <p:cNvPr id="39" name="Picture 38" descr="lock.png"/>
          <p:cNvPicPr>
            <a:picLocks noChangeAspect="1"/>
          </p:cNvPicPr>
          <p:nvPr/>
        </p:nvPicPr>
        <p:blipFill>
          <a:blip r:embed="rId4"/>
          <a:stretch>
            <a:fillRect/>
          </a:stretch>
        </p:blipFill>
        <p:spPr>
          <a:xfrm>
            <a:off x="6476839" y="4394132"/>
            <a:ext cx="92663" cy="134782"/>
          </a:xfrm>
          <a:prstGeom prst="rect">
            <a:avLst/>
          </a:prstGeom>
        </p:spPr>
      </p:pic>
      <p:sp>
        <p:nvSpPr>
          <p:cNvPr id="40" name="TextBox 39"/>
          <p:cNvSpPr txBox="1"/>
          <p:nvPr/>
        </p:nvSpPr>
        <p:spPr>
          <a:xfrm>
            <a:off x="5972175" y="6125198"/>
            <a:ext cx="768304" cy="139750"/>
          </a:xfrm>
          <a:prstGeom prst="rect">
            <a:avLst/>
          </a:prstGeom>
          <a:noFill/>
        </p:spPr>
        <p:txBody>
          <a:bodyPr wrap="none" lIns="0" rIns="0" tIns="0" bIns="0">
            <a:spAutoFit/>
          </a:bodyPr>
          <a:lstStyle/>
          <a:p>
            <a:r>
              <a:rPr sz="791" b="1">
                <a:solidFill>
                  <a:srgbClr val="2E2E2E"/>
                </a:solidFill>
                <a:latin typeface="Calibri"/>
              </a:rPr>
              <a:t>Distributor Sales</a:t>
            </a:r>
          </a:p>
        </p:txBody>
      </p:sp>
      <p:pic>
        <p:nvPicPr>
          <p:cNvPr id="41" name="Picture 40" descr="lock.png"/>
          <p:cNvPicPr>
            <a:picLocks noChangeAspect="1"/>
          </p:cNvPicPr>
          <p:nvPr/>
        </p:nvPicPr>
        <p:blipFill>
          <a:blip r:embed="rId4"/>
          <a:stretch>
            <a:fillRect/>
          </a:stretch>
        </p:blipFill>
        <p:spPr>
          <a:xfrm>
            <a:off x="6681740" y="6118157"/>
            <a:ext cx="92663" cy="134782"/>
          </a:xfrm>
          <a:prstGeom prst="rect">
            <a:avLst/>
          </a:prstGeom>
        </p:spPr>
      </p:pic>
      <p:sp>
        <p:nvSpPr>
          <p:cNvPr id="42" name="TextBox 41"/>
          <p:cNvSpPr txBox="1"/>
          <p:nvPr/>
        </p:nvSpPr>
        <p:spPr>
          <a:xfrm>
            <a:off x="7715250" y="3238500"/>
            <a:ext cx="4059200" cy="194310"/>
          </a:xfrm>
          <a:prstGeom prst="rect">
            <a:avLst/>
          </a:prstGeom>
          <a:noFill/>
        </p:spPr>
        <p:txBody>
          <a:bodyPr wrap="none" lIns="0" rIns="0" tIns="0" bIns="0">
            <a:spAutoFit/>
          </a:bodyPr>
          <a:lstStyle/>
          <a:p>
            <a:r>
              <a:rPr sz="1150" b="0">
                <a:solidFill>
                  <a:srgbClr val="2E2E2E"/>
                </a:solidFill>
                <a:latin typeface="Calibri"/>
              </a:rPr>
              <a:t>Reusable transport devices segment is projected to account for the</a:t>
            </a:r>
          </a:p>
        </p:txBody>
      </p:sp>
      <p:sp>
        <p:nvSpPr>
          <p:cNvPr id="43" name="TextBox 42"/>
          <p:cNvSpPr txBox="1"/>
          <p:nvPr/>
        </p:nvSpPr>
        <p:spPr>
          <a:xfrm>
            <a:off x="7715250" y="3413760"/>
            <a:ext cx="3946810" cy="194310"/>
          </a:xfrm>
          <a:prstGeom prst="rect">
            <a:avLst/>
          </a:prstGeom>
          <a:noFill/>
        </p:spPr>
        <p:txBody>
          <a:bodyPr wrap="none" lIns="0" rIns="0" tIns="0" bIns="0">
            <a:spAutoFit/>
          </a:bodyPr>
          <a:lstStyle/>
          <a:p>
            <a:r>
              <a:rPr sz="1150" b="0">
                <a:solidFill>
                  <a:srgbClr val="2E2E2E"/>
                </a:solidFill>
                <a:latin typeface="Calibri"/>
              </a:rPr>
              <a:t>largest share of the global organ transport devices market, led by</a:t>
            </a:r>
          </a:p>
        </p:txBody>
      </p:sp>
      <p:sp>
        <p:nvSpPr>
          <p:cNvPr id="44" name="TextBox 43"/>
          <p:cNvSpPr txBox="1"/>
          <p:nvPr/>
        </p:nvSpPr>
        <p:spPr>
          <a:xfrm>
            <a:off x="7715250" y="3589019"/>
            <a:ext cx="1165014" cy="194310"/>
          </a:xfrm>
          <a:prstGeom prst="rect">
            <a:avLst/>
          </a:prstGeom>
          <a:noFill/>
        </p:spPr>
        <p:txBody>
          <a:bodyPr wrap="none" lIns="0" rIns="0" tIns="0" bIns="0">
            <a:spAutoFit/>
          </a:bodyPr>
          <a:lstStyle/>
          <a:p>
            <a:r>
              <a:rPr sz="1150" b="0">
                <a:solidFill>
                  <a:srgbClr val="2E2E2E"/>
                </a:solidFill>
                <a:latin typeface="Calibri"/>
              </a:rPr>
              <a:t>direct sales at US$</a:t>
            </a:r>
          </a:p>
        </p:txBody>
      </p:sp>
      <p:pic>
        <p:nvPicPr>
          <p:cNvPr id="45" name="Picture 44" descr="lock.png"/>
          <p:cNvPicPr>
            <a:picLocks noChangeAspect="1"/>
          </p:cNvPicPr>
          <p:nvPr/>
        </p:nvPicPr>
        <p:blipFill>
          <a:blip r:embed="rId4"/>
          <a:stretch>
            <a:fillRect/>
          </a:stretch>
        </p:blipFill>
        <p:spPr>
          <a:xfrm>
            <a:off x="8829418" y="3578796"/>
            <a:ext cx="134549" cy="195707"/>
          </a:xfrm>
          <a:prstGeom prst="rect">
            <a:avLst/>
          </a:prstGeom>
        </p:spPr>
      </p:pic>
      <p:sp>
        <p:nvSpPr>
          <p:cNvPr id="46" name="TextBox 45"/>
          <p:cNvSpPr txBox="1"/>
          <p:nvPr/>
        </p:nvSpPr>
        <p:spPr>
          <a:xfrm>
            <a:off x="9004527" y="3589019"/>
            <a:ext cx="2597844" cy="194310"/>
          </a:xfrm>
          <a:prstGeom prst="rect">
            <a:avLst/>
          </a:prstGeom>
          <a:noFill/>
        </p:spPr>
        <p:txBody>
          <a:bodyPr wrap="none" lIns="0" rIns="0" tIns="0" bIns="0">
            <a:spAutoFit/>
          </a:bodyPr>
          <a:lstStyle/>
          <a:p>
            <a:r>
              <a:rPr sz="1150" b="0">
                <a:solidFill>
                  <a:srgbClr val="2E2E2E"/>
                </a:solidFill>
                <a:latin typeface="Calibri"/>
              </a:rPr>
              <a:t>Mn in 2036. 'Reusable Transport Devices ×</a:t>
            </a:r>
          </a:p>
        </p:txBody>
      </p:sp>
      <p:sp>
        <p:nvSpPr>
          <p:cNvPr id="47" name="TextBox 46"/>
          <p:cNvSpPr txBox="1"/>
          <p:nvPr/>
        </p:nvSpPr>
        <p:spPr>
          <a:xfrm>
            <a:off x="7715250" y="3764279"/>
            <a:ext cx="3192598" cy="194310"/>
          </a:xfrm>
          <a:prstGeom prst="rect">
            <a:avLst/>
          </a:prstGeom>
          <a:noFill/>
        </p:spPr>
        <p:txBody>
          <a:bodyPr wrap="none" lIns="0" rIns="0" tIns="0" bIns="0">
            <a:spAutoFit/>
          </a:bodyPr>
          <a:lstStyle/>
          <a:p>
            <a:r>
              <a:rPr sz="1150" b="0">
                <a:solidFill>
                  <a:srgbClr val="2E2E2E"/>
                </a:solidFill>
                <a:latin typeface="Calibri"/>
              </a:rPr>
              <a:t>Direct Sales' is the single largest cross-sectional cell (</a:t>
            </a:r>
          </a:p>
        </p:txBody>
      </p:sp>
      <p:pic>
        <p:nvPicPr>
          <p:cNvPr id="48" name="Picture 47" descr="lock.png"/>
          <p:cNvPicPr>
            <a:picLocks noChangeAspect="1"/>
          </p:cNvPicPr>
          <p:nvPr/>
        </p:nvPicPr>
        <p:blipFill>
          <a:blip r:embed="rId4"/>
          <a:stretch>
            <a:fillRect/>
          </a:stretch>
        </p:blipFill>
        <p:spPr>
          <a:xfrm>
            <a:off x="10857002" y="3754056"/>
            <a:ext cx="134549" cy="195707"/>
          </a:xfrm>
          <a:prstGeom prst="rect">
            <a:avLst/>
          </a:prstGeom>
        </p:spPr>
      </p:pic>
      <p:sp>
        <p:nvSpPr>
          <p:cNvPr id="49" name="TextBox 48"/>
          <p:cNvSpPr txBox="1"/>
          <p:nvPr/>
        </p:nvSpPr>
        <p:spPr>
          <a:xfrm>
            <a:off x="11032112" y="3764279"/>
            <a:ext cx="582525" cy="194310"/>
          </a:xfrm>
          <a:prstGeom prst="rect">
            <a:avLst/>
          </a:prstGeom>
          <a:noFill/>
        </p:spPr>
        <p:txBody>
          <a:bodyPr wrap="none" lIns="0" rIns="0" tIns="0" bIns="0">
            <a:spAutoFit/>
          </a:bodyPr>
          <a:lstStyle/>
          <a:p>
            <a:r>
              <a:rPr sz="1150" b="0">
                <a:solidFill>
                  <a:srgbClr val="2E2E2E"/>
                </a:solidFill>
                <a:latin typeface="Calibri"/>
              </a:rPr>
              <a:t>US$ Mn,</a:t>
            </a:r>
          </a:p>
        </p:txBody>
      </p:sp>
      <p:sp>
        <p:nvSpPr>
          <p:cNvPr id="50" name="TextBox 49"/>
          <p:cNvSpPr txBox="1"/>
          <p:nvPr/>
        </p:nvSpPr>
        <p:spPr>
          <a:xfrm>
            <a:off x="7715250" y="3939539"/>
            <a:ext cx="4171950" cy="194310"/>
          </a:xfrm>
          <a:prstGeom prst="rect">
            <a:avLst/>
          </a:prstGeom>
          <a:noFill/>
        </p:spPr>
        <p:txBody>
          <a:bodyPr wrap="none" lIns="0" rIns="0" tIns="0" bIns="0">
            <a:spAutoFit/>
          </a:bodyPr>
          <a:lstStyle/>
          <a:p>
            <a:r>
              <a:rPr sz="1150" b="0">
                <a:solidFill>
                  <a:srgbClr val="2E2E2E"/>
                </a:solidFill>
                <a:latin typeface="Calibri"/>
              </a:rPr>
              <a:t>2026E), while 'Single-Use Transport Devices × Direct Sales' records the</a:t>
            </a:r>
          </a:p>
        </p:txBody>
      </p:sp>
      <p:sp>
        <p:nvSpPr>
          <p:cNvPr id="51" name="TextBox 50"/>
          <p:cNvSpPr txBox="1"/>
          <p:nvPr/>
        </p:nvSpPr>
        <p:spPr>
          <a:xfrm>
            <a:off x="7715250" y="4114799"/>
            <a:ext cx="1712113" cy="194310"/>
          </a:xfrm>
          <a:prstGeom prst="rect">
            <a:avLst/>
          </a:prstGeom>
          <a:noFill/>
        </p:spPr>
        <p:txBody>
          <a:bodyPr wrap="none" lIns="0" rIns="0" tIns="0" bIns="0">
            <a:spAutoFit/>
          </a:bodyPr>
          <a:lstStyle/>
          <a:p>
            <a:r>
              <a:rPr sz="1150" b="0">
                <a:solidFill>
                  <a:srgbClr val="2E2E2E"/>
                </a:solidFill>
                <a:latin typeface="Calibri"/>
              </a:rPr>
              <a:t>fastest growth at a CAGR of</a:t>
            </a:r>
          </a:p>
        </p:txBody>
      </p:sp>
      <p:pic>
        <p:nvPicPr>
          <p:cNvPr id="52" name="Picture 51" descr="lock.png"/>
          <p:cNvPicPr>
            <a:picLocks noChangeAspect="1"/>
          </p:cNvPicPr>
          <p:nvPr/>
        </p:nvPicPr>
        <p:blipFill>
          <a:blip r:embed="rId4"/>
          <a:stretch>
            <a:fillRect/>
          </a:stretch>
        </p:blipFill>
        <p:spPr>
          <a:xfrm>
            <a:off x="9376517" y="4104576"/>
            <a:ext cx="134549" cy="195707"/>
          </a:xfrm>
          <a:prstGeom prst="rect">
            <a:avLst/>
          </a:prstGeom>
        </p:spPr>
      </p:pic>
      <p:sp>
        <p:nvSpPr>
          <p:cNvPr id="53" name="TextBox 52"/>
          <p:cNvSpPr txBox="1"/>
          <p:nvPr/>
        </p:nvSpPr>
        <p:spPr>
          <a:xfrm>
            <a:off x="9551626" y="411479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54" name="TextBox 53"/>
          <p:cNvSpPr txBox="1"/>
          <p:nvPr/>
        </p:nvSpPr>
        <p:spPr>
          <a:xfrm>
            <a:off x="7715250" y="4342637"/>
            <a:ext cx="3836987" cy="194310"/>
          </a:xfrm>
          <a:prstGeom prst="rect">
            <a:avLst/>
          </a:prstGeom>
          <a:noFill/>
        </p:spPr>
        <p:txBody>
          <a:bodyPr wrap="none" lIns="0" rIns="0" tIns="0" bIns="0">
            <a:spAutoFit/>
          </a:bodyPr>
          <a:lstStyle/>
          <a:p>
            <a:r>
              <a:rPr sz="1150" b="0">
                <a:solidFill>
                  <a:srgbClr val="2E2E2E"/>
                </a:solidFill>
                <a:latin typeface="Calibri"/>
              </a:rPr>
              <a:t>Combined, the top three device reusability × sales channel cells</a:t>
            </a:r>
          </a:p>
        </p:txBody>
      </p:sp>
      <p:sp>
        <p:nvSpPr>
          <p:cNvPr id="55" name="TextBox 54"/>
          <p:cNvSpPr txBox="1"/>
          <p:nvPr/>
        </p:nvSpPr>
        <p:spPr>
          <a:xfrm>
            <a:off x="7715250" y="4517897"/>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56" name="Picture 55" descr="lock.png"/>
          <p:cNvPicPr>
            <a:picLocks noChangeAspect="1"/>
          </p:cNvPicPr>
          <p:nvPr/>
        </p:nvPicPr>
        <p:blipFill>
          <a:blip r:embed="rId4"/>
          <a:stretch>
            <a:fillRect/>
          </a:stretch>
        </p:blipFill>
        <p:spPr>
          <a:xfrm>
            <a:off x="10004949" y="4507674"/>
            <a:ext cx="134549" cy="195707"/>
          </a:xfrm>
          <a:prstGeom prst="rect">
            <a:avLst/>
          </a:prstGeom>
        </p:spPr>
      </p:pic>
      <p:sp>
        <p:nvSpPr>
          <p:cNvPr id="57" name="TextBox 56"/>
          <p:cNvSpPr txBox="1"/>
          <p:nvPr/>
        </p:nvSpPr>
        <p:spPr>
          <a:xfrm>
            <a:off x="10180058" y="451789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Market Share Analysis: Device Reusability × Sales Channel,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global market value, each row split across all sales channel sub-segments</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Device Reusability × Sales Channel, 2026E (% of each row)</a:t>
            </a:r>
          </a:p>
        </p:txBody>
      </p:sp>
      <p:graphicFrame>
        <p:nvGraphicFramePr>
          <p:cNvPr id="12" name="Table 11"/>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4272838"/>
                <a:gridCol w="2538121"/>
                <a:gridCol w="2538121"/>
                <a:gridCol w="253812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7286625"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6289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Sales Channel Mix by Device Reusability, 2026E (% share)</a:t>
            </a:r>
          </a:p>
        </p:txBody>
      </p:sp>
      <p:graphicFrame>
        <p:nvGraphicFramePr>
          <p:cNvPr id="16" name="Chart 15"/>
          <p:cNvGraphicFramePr>
            <a:graphicFrameLocks noGrp="1"/>
          </p:cNvGraphicFramePr>
          <p:nvPr/>
        </p:nvGraphicFramePr>
        <p:xfrm>
          <a:off x="238125" y="2857500"/>
          <a:ext cx="7096125" cy="37147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571750"/>
            <a:ext cx="445770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6574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28956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2981325"/>
            <a:ext cx="419100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8059923" y="1610189"/>
            <a:ext cx="338832" cy="492846"/>
          </a:xfrm>
          <a:prstGeom prst="rect">
            <a:avLst/>
          </a:prstGeom>
        </p:spPr>
      </p:pic>
      <p:pic>
        <p:nvPicPr>
          <p:cNvPr id="23" name="Picture 22" descr="lock.png"/>
          <p:cNvPicPr>
            <a:picLocks noChangeAspect="1"/>
          </p:cNvPicPr>
          <p:nvPr/>
        </p:nvPicPr>
        <p:blipFill>
          <a:blip r:embed="rId5"/>
          <a:stretch>
            <a:fillRect/>
          </a:stretch>
        </p:blipFill>
        <p:spPr>
          <a:xfrm>
            <a:off x="3709408" y="3701240"/>
            <a:ext cx="440818" cy="641190"/>
          </a:xfrm>
          <a:prstGeom prst="rect">
            <a:avLst/>
          </a:prstGeom>
        </p:spPr>
      </p:pic>
      <p:sp>
        <p:nvSpPr>
          <p:cNvPr id="24" name="TextBox 23"/>
          <p:cNvSpPr txBox="1"/>
          <p:nvPr/>
        </p:nvSpPr>
        <p:spPr>
          <a:xfrm>
            <a:off x="7715250" y="2990850"/>
            <a:ext cx="4171950" cy="194310"/>
          </a:xfrm>
          <a:prstGeom prst="rect">
            <a:avLst/>
          </a:prstGeom>
          <a:noFill/>
        </p:spPr>
        <p:txBody>
          <a:bodyPr wrap="none" lIns="0" rIns="0" tIns="0" bIns="0">
            <a:spAutoFit/>
          </a:bodyPr>
          <a:lstStyle/>
          <a:p>
            <a:r>
              <a:rPr sz="1150" b="0">
                <a:solidFill>
                  <a:srgbClr val="2E2E2E"/>
                </a:solidFill>
                <a:latin typeface="Calibri"/>
              </a:rPr>
              <a:t>▪ 'Direct Sales' holds the highest share of 'Reusable Transport Devices'</a:t>
            </a:r>
          </a:p>
        </p:txBody>
      </p:sp>
      <p:sp>
        <p:nvSpPr>
          <p:cNvPr id="25" name="TextBox 24"/>
          <p:cNvSpPr txBox="1"/>
          <p:nvPr/>
        </p:nvSpPr>
        <p:spPr>
          <a:xfrm>
            <a:off x="7715250" y="3166110"/>
            <a:ext cx="195150" cy="194310"/>
          </a:xfrm>
          <a:prstGeom prst="rect">
            <a:avLst/>
          </a:prstGeom>
          <a:noFill/>
        </p:spPr>
        <p:txBody>
          <a:bodyPr wrap="none" lIns="0" rIns="0" tIns="0" bIns="0">
            <a:spAutoFit/>
          </a:bodyPr>
          <a:lstStyle/>
          <a:p>
            <a:r>
              <a:rPr sz="1150" b="0">
                <a:solidFill>
                  <a:srgbClr val="2E2E2E"/>
                </a:solidFill>
                <a:latin typeface="Calibri"/>
              </a:rPr>
              <a:t>at</a:t>
            </a:r>
          </a:p>
        </p:txBody>
      </p:sp>
      <p:pic>
        <p:nvPicPr>
          <p:cNvPr id="26" name="Picture 25" descr="lock.png"/>
          <p:cNvPicPr>
            <a:picLocks noChangeAspect="1"/>
          </p:cNvPicPr>
          <p:nvPr/>
        </p:nvPicPr>
        <p:blipFill>
          <a:blip r:embed="rId5"/>
          <a:stretch>
            <a:fillRect/>
          </a:stretch>
        </p:blipFill>
        <p:spPr>
          <a:xfrm>
            <a:off x="7859554" y="3155886"/>
            <a:ext cx="134549" cy="195707"/>
          </a:xfrm>
          <a:prstGeom prst="rect">
            <a:avLst/>
          </a:prstGeom>
        </p:spPr>
      </p:pic>
      <p:sp>
        <p:nvSpPr>
          <p:cNvPr id="27" name="TextBox 26"/>
          <p:cNvSpPr txBox="1"/>
          <p:nvPr/>
        </p:nvSpPr>
        <p:spPr>
          <a:xfrm>
            <a:off x="8034664" y="31661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3393947"/>
            <a:ext cx="3797907" cy="194310"/>
          </a:xfrm>
          <a:prstGeom prst="rect">
            <a:avLst/>
          </a:prstGeom>
          <a:noFill/>
        </p:spPr>
        <p:txBody>
          <a:bodyPr wrap="none" lIns="0" rIns="0" tIns="0" bIns="0">
            <a:spAutoFit/>
          </a:bodyPr>
          <a:lstStyle/>
          <a:p>
            <a:r>
              <a:rPr sz="1150" b="0">
                <a:solidFill>
                  <a:srgbClr val="2E2E2E"/>
                </a:solidFill>
                <a:latin typeface="Calibri"/>
              </a:rPr>
              <a:t>▪ 'Reusable Transport Devices' is the most concentrated device</a:t>
            </a:r>
          </a:p>
        </p:txBody>
      </p:sp>
      <p:sp>
        <p:nvSpPr>
          <p:cNvPr id="29" name="TextBox 28"/>
          <p:cNvSpPr txBox="1"/>
          <p:nvPr/>
        </p:nvSpPr>
        <p:spPr>
          <a:xfrm>
            <a:off x="7715250" y="3569207"/>
            <a:ext cx="1832223" cy="194310"/>
          </a:xfrm>
          <a:prstGeom prst="rect">
            <a:avLst/>
          </a:prstGeom>
          <a:noFill/>
        </p:spPr>
        <p:txBody>
          <a:bodyPr wrap="none" lIns="0" rIns="0" tIns="0" bIns="0">
            <a:spAutoFit/>
          </a:bodyPr>
          <a:lstStyle/>
          <a:p>
            <a:r>
              <a:rPr sz="1150" b="0">
                <a:solidFill>
                  <a:srgbClr val="2E2E2E"/>
                </a:solidFill>
                <a:latin typeface="Calibri"/>
              </a:rPr>
              <a:t>reusability sub-segment, with</a:t>
            </a:r>
          </a:p>
        </p:txBody>
      </p:sp>
      <p:pic>
        <p:nvPicPr>
          <p:cNvPr id="30" name="Picture 29" descr="lock.png"/>
          <p:cNvPicPr>
            <a:picLocks noChangeAspect="1"/>
          </p:cNvPicPr>
          <p:nvPr/>
        </p:nvPicPr>
        <p:blipFill>
          <a:blip r:embed="rId5"/>
          <a:stretch>
            <a:fillRect/>
          </a:stretch>
        </p:blipFill>
        <p:spPr>
          <a:xfrm>
            <a:off x="9496626" y="3558984"/>
            <a:ext cx="134549" cy="195707"/>
          </a:xfrm>
          <a:prstGeom prst="rect">
            <a:avLst/>
          </a:prstGeom>
        </p:spPr>
      </p:pic>
      <p:sp>
        <p:nvSpPr>
          <p:cNvPr id="31" name="TextBox 30"/>
          <p:cNvSpPr txBox="1"/>
          <p:nvPr/>
        </p:nvSpPr>
        <p:spPr>
          <a:xfrm>
            <a:off x="9671736" y="3569207"/>
            <a:ext cx="1751210" cy="194310"/>
          </a:xfrm>
          <a:prstGeom prst="rect">
            <a:avLst/>
          </a:prstGeom>
          <a:noFill/>
        </p:spPr>
        <p:txBody>
          <a:bodyPr wrap="none" lIns="0" rIns="0" tIns="0" bIns="0">
            <a:spAutoFit/>
          </a:bodyPr>
          <a:lstStyle/>
          <a:p>
            <a:r>
              <a:rPr sz="1150" b="0">
                <a:solidFill>
                  <a:srgbClr val="2E2E2E"/>
                </a:solidFill>
                <a:latin typeface="Calibri"/>
              </a:rPr>
              <a:t>of its value via 'Direct Sales'.</a:t>
            </a:r>
          </a:p>
        </p:txBody>
      </p:sp>
      <p:sp>
        <p:nvSpPr>
          <p:cNvPr id="32" name="TextBox 31"/>
          <p:cNvSpPr txBox="1"/>
          <p:nvPr/>
        </p:nvSpPr>
        <p:spPr>
          <a:xfrm>
            <a:off x="7715250" y="3797045"/>
            <a:ext cx="1362124" cy="194310"/>
          </a:xfrm>
          <a:prstGeom prst="rect">
            <a:avLst/>
          </a:prstGeom>
          <a:noFill/>
        </p:spPr>
        <p:txBody>
          <a:bodyPr wrap="none" lIns="0" rIns="0" tIns="0" bIns="0">
            <a:spAutoFit/>
          </a:bodyPr>
          <a:lstStyle/>
          <a:p>
            <a:r>
              <a:rPr sz="1150" b="0">
                <a:solidFill>
                  <a:srgbClr val="2E2E2E"/>
                </a:solidFill>
                <a:latin typeface="Calibri"/>
              </a:rPr>
              <a:t>▪ 'Direct Sales' gains +</a:t>
            </a:r>
          </a:p>
        </p:txBody>
      </p:sp>
      <p:pic>
        <p:nvPicPr>
          <p:cNvPr id="33" name="Picture 32" descr="lock.png"/>
          <p:cNvPicPr>
            <a:picLocks noChangeAspect="1"/>
          </p:cNvPicPr>
          <p:nvPr/>
        </p:nvPicPr>
        <p:blipFill>
          <a:blip r:embed="rId5"/>
          <a:stretch>
            <a:fillRect/>
          </a:stretch>
        </p:blipFill>
        <p:spPr>
          <a:xfrm>
            <a:off x="9026528" y="3786822"/>
            <a:ext cx="134549" cy="195707"/>
          </a:xfrm>
          <a:prstGeom prst="rect">
            <a:avLst/>
          </a:prstGeom>
        </p:spPr>
      </p:pic>
      <p:sp>
        <p:nvSpPr>
          <p:cNvPr id="34" name="TextBox 33"/>
          <p:cNvSpPr txBox="1"/>
          <p:nvPr/>
        </p:nvSpPr>
        <p:spPr>
          <a:xfrm>
            <a:off x="9201637" y="3797045"/>
            <a:ext cx="2602123" cy="194310"/>
          </a:xfrm>
          <a:prstGeom prst="rect">
            <a:avLst/>
          </a:prstGeom>
          <a:noFill/>
        </p:spPr>
        <p:txBody>
          <a:bodyPr wrap="none" lIns="0" rIns="0" tIns="0" bIns="0">
            <a:spAutoFit/>
          </a:bodyPr>
          <a:lstStyle/>
          <a:p>
            <a:r>
              <a:rPr sz="1150" b="0">
                <a:solidFill>
                  <a:srgbClr val="2E2E2E"/>
                </a:solidFill>
                <a:latin typeface="Calibri"/>
              </a:rPr>
              <a:t>BPS of share of the Global cross-section by</a:t>
            </a:r>
          </a:p>
        </p:txBody>
      </p:sp>
      <p:sp>
        <p:nvSpPr>
          <p:cNvPr id="35" name="TextBox 34"/>
          <p:cNvSpPr txBox="1"/>
          <p:nvPr/>
        </p:nvSpPr>
        <p:spPr>
          <a:xfrm>
            <a:off x="7715250" y="3972305"/>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6" name="lockshield_16"/>
          <p:cNvSpPr/>
          <p:nvPr/>
        </p:nvSpPr>
        <p:spPr>
          <a:xfrm>
            <a:off x="238125" y="2857500"/>
            <a:ext cx="7096125" cy="3714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Absolute $ Opportunity &amp; Attractiveness: Device Reusability × Sales Channel,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Reusability × Sales Channel, 2026E–2036F</a:t>
            </a:r>
          </a:p>
        </p:txBody>
      </p:sp>
      <p:graphicFrame>
        <p:nvGraphicFramePr>
          <p:cNvPr id="12" name="Table 11"/>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4121197"/>
                <a:gridCol w="1294334"/>
                <a:gridCol w="1294334"/>
                <a:gridCol w="1294334"/>
                <a:gridCol w="1294334"/>
                <a:gridCol w="1294334"/>
                <a:gridCol w="1294334"/>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5600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1432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5334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'Single-Use Transport Devices × Direct Sales' ranks highest (5/5); 'Single-Use Transport Devices × Distributor Sales'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82438" y="1855652"/>
            <a:ext cx="342101" cy="497602"/>
          </a:xfrm>
          <a:prstGeom prst="rect">
            <a:avLst/>
          </a:prstGeom>
        </p:spPr>
      </p:pic>
      <p:sp>
        <p:nvSpPr>
          <p:cNvPr id="32" name="TextBox 31"/>
          <p:cNvSpPr txBox="1"/>
          <p:nvPr/>
        </p:nvSpPr>
        <p:spPr>
          <a:xfrm>
            <a:off x="276225" y="3238500"/>
            <a:ext cx="2962399" cy="194310"/>
          </a:xfrm>
          <a:prstGeom prst="rect">
            <a:avLst/>
          </a:prstGeom>
          <a:noFill/>
        </p:spPr>
        <p:txBody>
          <a:bodyPr wrap="none" lIns="0" rIns="0" tIns="0" bIns="0">
            <a:spAutoFit/>
          </a:bodyPr>
          <a:lstStyle/>
          <a:p>
            <a:r>
              <a:rPr sz="1150" b="0">
                <a:solidFill>
                  <a:srgbClr val="2E2E2E"/>
                </a:solidFill>
                <a:latin typeface="Calibri"/>
              </a:rPr>
              <a:t>▪ 1. Single-Use Transport Devices × Direct Sales –</a:t>
            </a:r>
          </a:p>
        </p:txBody>
      </p:sp>
      <p:pic>
        <p:nvPicPr>
          <p:cNvPr id="33" name="Picture 32" descr="lock.png"/>
          <p:cNvPicPr>
            <a:picLocks noChangeAspect="1"/>
          </p:cNvPicPr>
          <p:nvPr/>
        </p:nvPicPr>
        <p:blipFill>
          <a:blip r:embed="rId4"/>
          <a:stretch>
            <a:fillRect/>
          </a:stretch>
        </p:blipFill>
        <p:spPr>
          <a:xfrm>
            <a:off x="3187777" y="3228276"/>
            <a:ext cx="134549" cy="195707"/>
          </a:xfrm>
          <a:prstGeom prst="rect">
            <a:avLst/>
          </a:prstGeom>
        </p:spPr>
      </p:pic>
      <p:sp>
        <p:nvSpPr>
          <p:cNvPr id="34" name="TextBox 33"/>
          <p:cNvSpPr txBox="1"/>
          <p:nvPr/>
        </p:nvSpPr>
        <p:spPr>
          <a:xfrm>
            <a:off x="3362887" y="32385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425038" y="3228276"/>
            <a:ext cx="134549" cy="195707"/>
          </a:xfrm>
          <a:prstGeom prst="rect">
            <a:avLst/>
          </a:prstGeom>
        </p:spPr>
      </p:pic>
      <p:sp>
        <p:nvSpPr>
          <p:cNvPr id="36" name="TextBox 35"/>
          <p:cNvSpPr txBox="1"/>
          <p:nvPr/>
        </p:nvSpPr>
        <p:spPr>
          <a:xfrm>
            <a:off x="3600148" y="32385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3466337"/>
            <a:ext cx="2880245" cy="194310"/>
          </a:xfrm>
          <a:prstGeom prst="rect">
            <a:avLst/>
          </a:prstGeom>
          <a:noFill/>
        </p:spPr>
        <p:txBody>
          <a:bodyPr wrap="none" lIns="0" rIns="0" tIns="0" bIns="0">
            <a:spAutoFit/>
          </a:bodyPr>
          <a:lstStyle/>
          <a:p>
            <a:r>
              <a:rPr sz="1150" b="0">
                <a:solidFill>
                  <a:srgbClr val="2E2E2E"/>
                </a:solidFill>
                <a:latin typeface="Calibri"/>
              </a:rPr>
              <a:t>▪ 2. Reusable Transport Devices × Direct Sales –</a:t>
            </a:r>
          </a:p>
        </p:txBody>
      </p:sp>
      <p:pic>
        <p:nvPicPr>
          <p:cNvPr id="38" name="Picture 37" descr="lock.png"/>
          <p:cNvPicPr>
            <a:picLocks noChangeAspect="1"/>
          </p:cNvPicPr>
          <p:nvPr/>
        </p:nvPicPr>
        <p:blipFill>
          <a:blip r:embed="rId4"/>
          <a:stretch>
            <a:fillRect/>
          </a:stretch>
        </p:blipFill>
        <p:spPr>
          <a:xfrm>
            <a:off x="3105624" y="3456114"/>
            <a:ext cx="134549" cy="195707"/>
          </a:xfrm>
          <a:prstGeom prst="rect">
            <a:avLst/>
          </a:prstGeom>
        </p:spPr>
      </p:pic>
      <p:sp>
        <p:nvSpPr>
          <p:cNvPr id="39" name="TextBox 38"/>
          <p:cNvSpPr txBox="1"/>
          <p:nvPr/>
        </p:nvSpPr>
        <p:spPr>
          <a:xfrm>
            <a:off x="3280734" y="346633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342885" y="3456114"/>
            <a:ext cx="134549" cy="195707"/>
          </a:xfrm>
          <a:prstGeom prst="rect">
            <a:avLst/>
          </a:prstGeom>
        </p:spPr>
      </p:pic>
      <p:sp>
        <p:nvSpPr>
          <p:cNvPr id="41" name="TextBox 40"/>
          <p:cNvSpPr txBox="1"/>
          <p:nvPr/>
        </p:nvSpPr>
        <p:spPr>
          <a:xfrm>
            <a:off x="3517995" y="3466337"/>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42" name="TextBox 41"/>
          <p:cNvSpPr txBox="1"/>
          <p:nvPr/>
        </p:nvSpPr>
        <p:spPr>
          <a:xfrm>
            <a:off x="276225" y="3694175"/>
            <a:ext cx="3249079" cy="194310"/>
          </a:xfrm>
          <a:prstGeom prst="rect">
            <a:avLst/>
          </a:prstGeom>
          <a:noFill/>
        </p:spPr>
        <p:txBody>
          <a:bodyPr wrap="none" lIns="0" rIns="0" tIns="0" bIns="0">
            <a:spAutoFit/>
          </a:bodyPr>
          <a:lstStyle/>
          <a:p>
            <a:r>
              <a:rPr sz="1150" b="0">
                <a:solidFill>
                  <a:srgbClr val="2E2E2E"/>
                </a:solidFill>
                <a:latin typeface="Calibri"/>
              </a:rPr>
              <a:t>▪ 3. Single-Use Transport Devices × Distributor Sales –</a:t>
            </a:r>
          </a:p>
        </p:txBody>
      </p:sp>
      <p:pic>
        <p:nvPicPr>
          <p:cNvPr id="43" name="Picture 42" descr="lock.png"/>
          <p:cNvPicPr>
            <a:picLocks noChangeAspect="1"/>
          </p:cNvPicPr>
          <p:nvPr/>
        </p:nvPicPr>
        <p:blipFill>
          <a:blip r:embed="rId4"/>
          <a:stretch>
            <a:fillRect/>
          </a:stretch>
        </p:blipFill>
        <p:spPr>
          <a:xfrm>
            <a:off x="3474458" y="3683952"/>
            <a:ext cx="134549" cy="195707"/>
          </a:xfrm>
          <a:prstGeom prst="rect">
            <a:avLst/>
          </a:prstGeom>
        </p:spPr>
      </p:pic>
      <p:sp>
        <p:nvSpPr>
          <p:cNvPr id="44" name="TextBox 43"/>
          <p:cNvSpPr txBox="1"/>
          <p:nvPr/>
        </p:nvSpPr>
        <p:spPr>
          <a:xfrm>
            <a:off x="3649567" y="3694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711719" y="3683952"/>
            <a:ext cx="134549" cy="195707"/>
          </a:xfrm>
          <a:prstGeom prst="rect">
            <a:avLst/>
          </a:prstGeom>
        </p:spPr>
      </p:pic>
      <p:sp>
        <p:nvSpPr>
          <p:cNvPr id="46" name="TextBox 45"/>
          <p:cNvSpPr txBox="1"/>
          <p:nvPr/>
        </p:nvSpPr>
        <p:spPr>
          <a:xfrm>
            <a:off x="3886828" y="3694175"/>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47" name="TextBox 46"/>
          <p:cNvSpPr txBox="1"/>
          <p:nvPr/>
        </p:nvSpPr>
        <p:spPr>
          <a:xfrm>
            <a:off x="276225" y="3922013"/>
            <a:ext cx="3166926" cy="194310"/>
          </a:xfrm>
          <a:prstGeom prst="rect">
            <a:avLst/>
          </a:prstGeom>
          <a:noFill/>
        </p:spPr>
        <p:txBody>
          <a:bodyPr wrap="none" lIns="0" rIns="0" tIns="0" bIns="0">
            <a:spAutoFit/>
          </a:bodyPr>
          <a:lstStyle/>
          <a:p>
            <a:r>
              <a:rPr sz="1150" b="0">
                <a:solidFill>
                  <a:srgbClr val="2E2E2E"/>
                </a:solidFill>
                <a:latin typeface="Calibri"/>
              </a:rPr>
              <a:t>▪ 4. Reusable Transport Devices × Distributor Sales –</a:t>
            </a:r>
          </a:p>
        </p:txBody>
      </p:sp>
      <p:pic>
        <p:nvPicPr>
          <p:cNvPr id="48" name="Picture 47" descr="lock.png"/>
          <p:cNvPicPr>
            <a:picLocks noChangeAspect="1"/>
          </p:cNvPicPr>
          <p:nvPr/>
        </p:nvPicPr>
        <p:blipFill>
          <a:blip r:embed="rId4"/>
          <a:stretch>
            <a:fillRect/>
          </a:stretch>
        </p:blipFill>
        <p:spPr>
          <a:xfrm>
            <a:off x="3392305" y="3911790"/>
            <a:ext cx="134549" cy="195707"/>
          </a:xfrm>
          <a:prstGeom prst="rect">
            <a:avLst/>
          </a:prstGeom>
        </p:spPr>
      </p:pic>
      <p:sp>
        <p:nvSpPr>
          <p:cNvPr id="49" name="TextBox 48"/>
          <p:cNvSpPr txBox="1"/>
          <p:nvPr/>
        </p:nvSpPr>
        <p:spPr>
          <a:xfrm>
            <a:off x="3567414" y="3922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629565" y="3911790"/>
            <a:ext cx="134549" cy="195707"/>
          </a:xfrm>
          <a:prstGeom prst="rect">
            <a:avLst/>
          </a:prstGeom>
        </p:spPr>
      </p:pic>
      <p:sp>
        <p:nvSpPr>
          <p:cNvPr id="51" name="TextBox 50"/>
          <p:cNvSpPr txBox="1"/>
          <p:nvPr/>
        </p:nvSpPr>
        <p:spPr>
          <a:xfrm>
            <a:off x="3804675" y="3922013"/>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52" name="TextBox 51"/>
          <p:cNvSpPr txBox="1"/>
          <p:nvPr/>
        </p:nvSpPr>
        <p:spPr>
          <a:xfrm>
            <a:off x="6029325" y="3238500"/>
            <a:ext cx="1427162" cy="194310"/>
          </a:xfrm>
          <a:prstGeom prst="rect">
            <a:avLst/>
          </a:prstGeom>
          <a:noFill/>
        </p:spPr>
        <p:txBody>
          <a:bodyPr wrap="none" lIns="0" rIns="0" tIns="0" bIns="0">
            <a:spAutoFit/>
          </a:bodyPr>
          <a:lstStyle/>
          <a:p>
            <a:r>
              <a:rPr sz="1150" b="0">
                <a:solidFill>
                  <a:srgbClr val="2E2E2E"/>
                </a:solidFill>
                <a:latin typeface="Calibri"/>
              </a:rPr>
              <a:t>▪ 'Single-Use Transport</a:t>
            </a:r>
          </a:p>
        </p:txBody>
      </p:sp>
      <p:sp>
        <p:nvSpPr>
          <p:cNvPr id="53" name="TextBox 52"/>
          <p:cNvSpPr txBox="1"/>
          <p:nvPr/>
        </p:nvSpPr>
        <p:spPr>
          <a:xfrm>
            <a:off x="6029325" y="3413760"/>
            <a:ext cx="1657350" cy="194310"/>
          </a:xfrm>
          <a:prstGeom prst="rect">
            <a:avLst/>
          </a:prstGeom>
          <a:noFill/>
        </p:spPr>
        <p:txBody>
          <a:bodyPr wrap="none" lIns="0" rIns="0" tIns="0" bIns="0">
            <a:spAutoFit/>
          </a:bodyPr>
          <a:lstStyle/>
          <a:p>
            <a:r>
              <a:rPr sz="1150" b="0">
                <a:solidFill>
                  <a:srgbClr val="2E2E2E"/>
                </a:solidFill>
                <a:latin typeface="Calibri"/>
              </a:rPr>
              <a:t>Devices × Direct Sales' adds</a:t>
            </a:r>
          </a:p>
        </p:txBody>
      </p:sp>
      <p:pic>
        <p:nvPicPr>
          <p:cNvPr id="54" name="Picture 53" descr="lock.png"/>
          <p:cNvPicPr>
            <a:picLocks noChangeAspect="1"/>
          </p:cNvPicPr>
          <p:nvPr/>
        </p:nvPicPr>
        <p:blipFill>
          <a:blip r:embed="rId4"/>
          <a:stretch>
            <a:fillRect/>
          </a:stretch>
        </p:blipFill>
        <p:spPr>
          <a:xfrm>
            <a:off x="6015245" y="3578796"/>
            <a:ext cx="134549" cy="195707"/>
          </a:xfrm>
          <a:prstGeom prst="rect">
            <a:avLst/>
          </a:prstGeom>
        </p:spPr>
      </p:pic>
      <p:sp>
        <p:nvSpPr>
          <p:cNvPr id="55" name="TextBox 54"/>
          <p:cNvSpPr txBox="1"/>
          <p:nvPr/>
        </p:nvSpPr>
        <p:spPr>
          <a:xfrm>
            <a:off x="6190354" y="358901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6015245" y="3754056"/>
            <a:ext cx="134549" cy="195707"/>
          </a:xfrm>
          <a:prstGeom prst="rect">
            <a:avLst/>
          </a:prstGeom>
        </p:spPr>
      </p:pic>
      <p:sp>
        <p:nvSpPr>
          <p:cNvPr id="57" name="TextBox 56"/>
          <p:cNvSpPr txBox="1"/>
          <p:nvPr/>
        </p:nvSpPr>
        <p:spPr>
          <a:xfrm>
            <a:off x="6190354" y="376427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393953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3238500"/>
            <a:ext cx="1427162" cy="194310"/>
          </a:xfrm>
          <a:prstGeom prst="rect">
            <a:avLst/>
          </a:prstGeom>
          <a:noFill/>
        </p:spPr>
        <p:txBody>
          <a:bodyPr wrap="none" lIns="0" rIns="0" tIns="0" bIns="0">
            <a:spAutoFit/>
          </a:bodyPr>
          <a:lstStyle/>
          <a:p>
            <a:r>
              <a:rPr sz="1150" b="0">
                <a:solidFill>
                  <a:srgbClr val="2E2E2E"/>
                </a:solidFill>
                <a:latin typeface="Calibri"/>
              </a:rPr>
              <a:t>▪ 'Single-Use Transport</a:t>
            </a:r>
          </a:p>
        </p:txBody>
      </p:sp>
      <p:sp>
        <p:nvSpPr>
          <p:cNvPr id="60" name="TextBox 59"/>
          <p:cNvSpPr txBox="1"/>
          <p:nvPr/>
        </p:nvSpPr>
        <p:spPr>
          <a:xfrm>
            <a:off x="8124825" y="3413760"/>
            <a:ext cx="1392932" cy="194310"/>
          </a:xfrm>
          <a:prstGeom prst="rect">
            <a:avLst/>
          </a:prstGeom>
          <a:noFill/>
        </p:spPr>
        <p:txBody>
          <a:bodyPr wrap="none" lIns="0" rIns="0" tIns="0" bIns="0">
            <a:spAutoFit/>
          </a:bodyPr>
          <a:lstStyle/>
          <a:p>
            <a:r>
              <a:rPr sz="1150" b="0">
                <a:solidFill>
                  <a:srgbClr val="2E2E2E"/>
                </a:solidFill>
                <a:latin typeface="Calibri"/>
              </a:rPr>
              <a:t>Devices × Direct Sales'</a:t>
            </a:r>
          </a:p>
        </p:txBody>
      </p:sp>
      <p:sp>
        <p:nvSpPr>
          <p:cNvPr id="61" name="TextBox 60"/>
          <p:cNvSpPr txBox="1"/>
          <p:nvPr/>
        </p:nvSpPr>
        <p:spPr>
          <a:xfrm>
            <a:off x="8124825" y="3589019"/>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2" name="Picture 61" descr="lock.png"/>
          <p:cNvPicPr>
            <a:picLocks noChangeAspect="1"/>
          </p:cNvPicPr>
          <p:nvPr/>
        </p:nvPicPr>
        <p:blipFill>
          <a:blip r:embed="rId4"/>
          <a:stretch>
            <a:fillRect/>
          </a:stretch>
        </p:blipFill>
        <p:spPr>
          <a:xfrm>
            <a:off x="8763474" y="3578796"/>
            <a:ext cx="134549" cy="195707"/>
          </a:xfrm>
          <a:prstGeom prst="rect">
            <a:avLst/>
          </a:prstGeom>
        </p:spPr>
      </p:pic>
      <p:sp>
        <p:nvSpPr>
          <p:cNvPr id="63" name="TextBox 62"/>
          <p:cNvSpPr txBox="1"/>
          <p:nvPr/>
        </p:nvSpPr>
        <p:spPr>
          <a:xfrm>
            <a:off x="8938584" y="358901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9334179" y="3578796"/>
            <a:ext cx="134549" cy="195707"/>
          </a:xfrm>
          <a:prstGeom prst="rect">
            <a:avLst/>
          </a:prstGeom>
        </p:spPr>
      </p:pic>
      <p:sp>
        <p:nvSpPr>
          <p:cNvPr id="65" name="TextBox 64"/>
          <p:cNvSpPr txBox="1"/>
          <p:nvPr/>
        </p:nvSpPr>
        <p:spPr>
          <a:xfrm>
            <a:off x="8124825" y="376427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6" name="TextBox 65"/>
          <p:cNvSpPr txBox="1"/>
          <p:nvPr/>
        </p:nvSpPr>
        <p:spPr>
          <a:xfrm>
            <a:off x="8124825" y="393953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3870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2643505"/>
            <a:ext cx="7239000" cy="971550"/>
          </a:xfrm>
          <a:prstGeom prst="rect">
            <a:avLst/>
          </a:prstGeom>
          <a:noFill/>
        </p:spPr>
        <p:txBody>
          <a:bodyPr wrap="square" lIns="0" rIns="0" tIns="0">
            <a:spAutoFit/>
          </a:bodyPr>
          <a:lstStyle/>
          <a:p>
            <a:r>
              <a:rPr sz="3000" b="1" cap="all" spc="400">
                <a:solidFill>
                  <a:srgbClr val="FFFFFF"/>
                </a:solidFill>
                <a:latin typeface="Calibri"/>
              </a:rPr>
              <a:t>North America Market Outlook</a:t>
            </a:r>
          </a:p>
        </p:txBody>
      </p:sp>
      <p:sp>
        <p:nvSpPr>
          <p:cNvPr id="7" name="TextBox 6"/>
          <p:cNvSpPr txBox="1"/>
          <p:nvPr/>
        </p:nvSpPr>
        <p:spPr>
          <a:xfrm>
            <a:off x="914400" y="3805555"/>
            <a:ext cx="5067300" cy="210312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Overview</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Country</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North America Market Analysis By Segments</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Device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Organ Compatibility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Device Reusability</a:t>
            </a:r>
          </a:p>
        </p:txBody>
      </p:sp>
      <p:sp>
        <p:nvSpPr>
          <p:cNvPr id="8" name="TextBox 7"/>
          <p:cNvSpPr txBox="1"/>
          <p:nvPr/>
        </p:nvSpPr>
        <p:spPr>
          <a:xfrm>
            <a:off x="6096000" y="3805555"/>
            <a:ext cx="5067300" cy="2142490"/>
          </a:xfrm>
          <a:prstGeom prst="rect">
            <a:avLst/>
          </a:prstGeom>
          <a:noFill/>
        </p:spPr>
        <p:txBody>
          <a:bodyPr wrap="square" lIns="0" rIns="0" tIns="0" bIns="0">
            <a:spAutoFit/>
          </a:bodyPr>
          <a:lstStyle/>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Monitoring Capability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Purchasing Organisation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By Sales Channel</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Cross-sectional Assessment</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Technology x Organ Compatibility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Monitoring Capability x Purchasing Organisation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Reusability x Sales Channel</a:t>
            </a:r>
          </a:p>
        </p:txBody>
      </p:sp>
      <p:sp>
        <p:nvSpPr>
          <p:cNvPr id="9" name="TextBox 8"/>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North America Overview</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Pricing &amp; Price Index</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Market Summary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Volume &amp; Value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Country Outlook</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Summary, By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volume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(UNITS)</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24" name="Rounded Rectangle 23"/>
          <p:cNvSpPr/>
          <p:nvPr/>
        </p:nvSpPr>
        <p:spPr>
          <a:xfrm>
            <a:off x="7915275" y="4037375"/>
            <a:ext cx="413385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123100"/>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43612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446950"/>
            <a:ext cx="3867150" cy="20332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577976" cy="186689"/>
          </a:xfrm>
          <a:prstGeom prst="rect">
            <a:avLst/>
          </a:prstGeom>
          <a:noFill/>
        </p:spPr>
        <p:txBody>
          <a:bodyPr wrap="none" lIns="0" rIns="0" tIns="0" bIns="0">
            <a:spAutoFit/>
          </a:bodyPr>
          <a:lstStyle/>
          <a:p>
            <a:r>
              <a:rPr sz="1100" b="0">
                <a:solidFill>
                  <a:srgbClr val="2E2E2E"/>
                </a:solidFill>
                <a:latin typeface="Calibri"/>
              </a:rPr>
              <a:t>North America organ transport devices market is projected to</a:t>
            </a:r>
          </a:p>
        </p:txBody>
      </p:sp>
      <p:sp>
        <p:nvSpPr>
          <p:cNvPr id="35" name="TextBox 34"/>
          <p:cNvSpPr txBox="1"/>
          <p:nvPr/>
        </p:nvSpPr>
        <p:spPr>
          <a:xfrm>
            <a:off x="8048625" y="2214627"/>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36" name="Picture 35" descr="lock.png"/>
          <p:cNvPicPr>
            <a:picLocks noChangeAspect="1"/>
          </p:cNvPicPr>
          <p:nvPr/>
        </p:nvPicPr>
        <p:blipFill>
          <a:blip r:embed="rId6"/>
          <a:stretch>
            <a:fillRect/>
          </a:stretch>
        </p:blipFill>
        <p:spPr>
          <a:xfrm>
            <a:off x="8509166" y="2204848"/>
            <a:ext cx="128699" cy="187198"/>
          </a:xfrm>
          <a:prstGeom prst="rect">
            <a:avLst/>
          </a:prstGeom>
        </p:spPr>
      </p:pic>
      <p:sp>
        <p:nvSpPr>
          <p:cNvPr id="37" name="TextBox 36"/>
          <p:cNvSpPr txBox="1"/>
          <p:nvPr/>
        </p:nvSpPr>
        <p:spPr>
          <a:xfrm>
            <a:off x="8676662" y="2214627"/>
            <a:ext cx="2964333" cy="186689"/>
          </a:xfrm>
          <a:prstGeom prst="rect">
            <a:avLst/>
          </a:prstGeom>
          <a:noFill/>
        </p:spPr>
        <p:txBody>
          <a:bodyPr wrap="none" lIns="0" rIns="0" tIns="0" bIns="0">
            <a:spAutoFit/>
          </a:bodyPr>
          <a:lstStyle/>
          <a:p>
            <a:r>
              <a:rPr sz="1100" b="0">
                <a:solidFill>
                  <a:srgbClr val="2E2E2E"/>
                </a:solidFill>
                <a:latin typeface="Calibri"/>
              </a:rPr>
              <a:t>X increase in volume by the end of forecast period,</a:t>
            </a:r>
          </a:p>
        </p:txBody>
      </p:sp>
      <p:sp>
        <p:nvSpPr>
          <p:cNvPr id="38" name="TextBox 37"/>
          <p:cNvSpPr txBox="1"/>
          <p:nvPr/>
        </p:nvSpPr>
        <p:spPr>
          <a:xfrm>
            <a:off x="8048625" y="2382267"/>
            <a:ext cx="3848100" cy="186689"/>
          </a:xfrm>
          <a:prstGeom prst="rect">
            <a:avLst/>
          </a:prstGeom>
          <a:noFill/>
        </p:spPr>
        <p:txBody>
          <a:bodyPr wrap="none" lIns="0" rIns="0" tIns="0" bIns="0">
            <a:spAutoFit/>
          </a:bodyPr>
          <a:lstStyle/>
          <a:p>
            <a:r>
              <a:rPr sz="1100" b="0">
                <a:solidFill>
                  <a:srgbClr val="2E2E2E"/>
                </a:solidFill>
                <a:latin typeface="Calibri"/>
              </a:rPr>
              <a:t>2036. North America organ transport devices market volume stood</a:t>
            </a:r>
          </a:p>
        </p:txBody>
      </p:sp>
      <p:sp>
        <p:nvSpPr>
          <p:cNvPr id="39" name="TextBox 38"/>
          <p:cNvSpPr txBox="1"/>
          <p:nvPr/>
        </p:nvSpPr>
        <p:spPr>
          <a:xfrm>
            <a:off x="8048625" y="2549907"/>
            <a:ext cx="189979" cy="186689"/>
          </a:xfrm>
          <a:prstGeom prst="rect">
            <a:avLst/>
          </a:prstGeom>
          <a:noFill/>
        </p:spPr>
        <p:txBody>
          <a:bodyPr wrap="none" lIns="0" rIns="0" tIns="0" bIns="0">
            <a:spAutoFit/>
          </a:bodyPr>
          <a:lstStyle/>
          <a:p>
            <a:r>
              <a:rPr sz="1100" b="0">
                <a:solidFill>
                  <a:srgbClr val="2E2E2E"/>
                </a:solidFill>
                <a:latin typeface="Calibri"/>
              </a:rPr>
              <a:t>at</a:t>
            </a:r>
          </a:p>
        </p:txBody>
      </p:sp>
      <p:pic>
        <p:nvPicPr>
          <p:cNvPr id="40" name="Picture 39" descr="lock.png"/>
          <p:cNvPicPr>
            <a:picLocks noChangeAspect="1"/>
          </p:cNvPicPr>
          <p:nvPr/>
        </p:nvPicPr>
        <p:blipFill>
          <a:blip r:embed="rId6"/>
          <a:stretch>
            <a:fillRect/>
          </a:stretch>
        </p:blipFill>
        <p:spPr>
          <a:xfrm>
            <a:off x="8186655" y="2540128"/>
            <a:ext cx="128699" cy="187198"/>
          </a:xfrm>
          <a:prstGeom prst="rect">
            <a:avLst/>
          </a:prstGeom>
        </p:spPr>
      </p:pic>
      <p:sp>
        <p:nvSpPr>
          <p:cNvPr id="41" name="TextBox 40"/>
          <p:cNvSpPr txBox="1"/>
          <p:nvPr/>
        </p:nvSpPr>
        <p:spPr>
          <a:xfrm>
            <a:off x="8354151" y="2549907"/>
            <a:ext cx="2245097" cy="186689"/>
          </a:xfrm>
          <a:prstGeom prst="rect">
            <a:avLst/>
          </a:prstGeom>
          <a:noFill/>
        </p:spPr>
        <p:txBody>
          <a:bodyPr wrap="none" lIns="0" rIns="0" tIns="0" bIns="0">
            <a:spAutoFit/>
          </a:bodyPr>
          <a:lstStyle/>
          <a:p>
            <a:r>
              <a:rPr sz="1100" b="0">
                <a:solidFill>
                  <a:srgbClr val="2E2E2E"/>
                </a:solidFill>
                <a:latin typeface="Calibri"/>
              </a:rPr>
              <a:t>Units in 2025 and is expected to reach</a:t>
            </a:r>
          </a:p>
        </p:txBody>
      </p:sp>
      <p:pic>
        <p:nvPicPr>
          <p:cNvPr id="42" name="Picture 41" descr="lock.png"/>
          <p:cNvPicPr>
            <a:picLocks noChangeAspect="1"/>
          </p:cNvPicPr>
          <p:nvPr/>
        </p:nvPicPr>
        <p:blipFill>
          <a:blip r:embed="rId6"/>
          <a:stretch>
            <a:fillRect/>
          </a:stretch>
        </p:blipFill>
        <p:spPr>
          <a:xfrm>
            <a:off x="10547300" y="2540128"/>
            <a:ext cx="128699" cy="187198"/>
          </a:xfrm>
          <a:prstGeom prst="rect">
            <a:avLst/>
          </a:prstGeom>
        </p:spPr>
      </p:pic>
      <p:sp>
        <p:nvSpPr>
          <p:cNvPr id="43" name="TextBox 42"/>
          <p:cNvSpPr txBox="1"/>
          <p:nvPr/>
        </p:nvSpPr>
        <p:spPr>
          <a:xfrm>
            <a:off x="10714796" y="2549907"/>
            <a:ext cx="856828" cy="186689"/>
          </a:xfrm>
          <a:prstGeom prst="rect">
            <a:avLst/>
          </a:prstGeom>
          <a:noFill/>
        </p:spPr>
        <p:txBody>
          <a:bodyPr wrap="none" lIns="0" rIns="0" tIns="0" bIns="0">
            <a:spAutoFit/>
          </a:bodyPr>
          <a:lstStyle/>
          <a:p>
            <a:r>
              <a:rPr sz="1100" b="0">
                <a:solidFill>
                  <a:srgbClr val="2E2E2E"/>
                </a:solidFill>
                <a:latin typeface="Calibri"/>
              </a:rPr>
              <a:t>Units by 2036</a:t>
            </a:r>
          </a:p>
        </p:txBody>
      </p:sp>
      <p:sp>
        <p:nvSpPr>
          <p:cNvPr id="44" name="TextBox 43"/>
          <p:cNvSpPr txBox="1"/>
          <p:nvPr/>
        </p:nvSpPr>
        <p:spPr>
          <a:xfrm>
            <a:off x="8048625" y="2717547"/>
            <a:ext cx="1070181" cy="186689"/>
          </a:xfrm>
          <a:prstGeom prst="rect">
            <a:avLst/>
          </a:prstGeom>
          <a:noFill/>
        </p:spPr>
        <p:txBody>
          <a:bodyPr wrap="none" lIns="0" rIns="0" tIns="0" bIns="0">
            <a:spAutoFit/>
          </a:bodyPr>
          <a:lstStyle/>
          <a:p>
            <a:r>
              <a:rPr sz="1100" b="0">
                <a:solidFill>
                  <a:srgbClr val="2E2E2E"/>
                </a:solidFill>
                <a:latin typeface="Calibri"/>
              </a:rPr>
              <a:t>end, at a CAGR of</a:t>
            </a:r>
          </a:p>
        </p:txBody>
      </p:sp>
      <p:pic>
        <p:nvPicPr>
          <p:cNvPr id="45" name="Picture 44" descr="lock.png"/>
          <p:cNvPicPr>
            <a:picLocks noChangeAspect="1"/>
          </p:cNvPicPr>
          <p:nvPr/>
        </p:nvPicPr>
        <p:blipFill>
          <a:blip r:embed="rId6"/>
          <a:stretch>
            <a:fillRect/>
          </a:stretch>
        </p:blipFill>
        <p:spPr>
          <a:xfrm>
            <a:off x="9066857" y="2707768"/>
            <a:ext cx="128699" cy="187198"/>
          </a:xfrm>
          <a:prstGeom prst="rect">
            <a:avLst/>
          </a:prstGeom>
        </p:spPr>
      </p:pic>
      <p:sp>
        <p:nvSpPr>
          <p:cNvPr id="46" name="TextBox 45"/>
          <p:cNvSpPr txBox="1"/>
          <p:nvPr/>
        </p:nvSpPr>
        <p:spPr>
          <a:xfrm>
            <a:off x="923435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7" name="TextBox 46"/>
          <p:cNvSpPr txBox="1"/>
          <p:nvPr/>
        </p:nvSpPr>
        <p:spPr>
          <a:xfrm>
            <a:off x="8048625" y="2935479"/>
            <a:ext cx="3678386" cy="186689"/>
          </a:xfrm>
          <a:prstGeom prst="rect">
            <a:avLst/>
          </a:prstGeom>
          <a:noFill/>
        </p:spPr>
        <p:txBody>
          <a:bodyPr wrap="none" lIns="0" rIns="0" tIns="0" bIns="0">
            <a:spAutoFit/>
          </a:bodyPr>
          <a:lstStyle/>
          <a:p>
            <a:r>
              <a:rPr sz="1100" b="0">
                <a:solidFill>
                  <a:srgbClr val="2E2E2E"/>
                </a:solidFill>
                <a:latin typeface="Calibri"/>
              </a:rPr>
              <a:t>Value is projected to grow faster than volume over the forecast</a:t>
            </a:r>
          </a:p>
        </p:txBody>
      </p:sp>
      <p:sp>
        <p:nvSpPr>
          <p:cNvPr id="48" name="TextBox 47"/>
          <p:cNvSpPr txBox="1"/>
          <p:nvPr/>
        </p:nvSpPr>
        <p:spPr>
          <a:xfrm>
            <a:off x="8048625" y="3103119"/>
            <a:ext cx="3049736" cy="186689"/>
          </a:xfrm>
          <a:prstGeom prst="rect">
            <a:avLst/>
          </a:prstGeom>
          <a:noFill/>
        </p:spPr>
        <p:txBody>
          <a:bodyPr wrap="none" lIns="0" rIns="0" tIns="0" bIns="0">
            <a:spAutoFit/>
          </a:bodyPr>
          <a:lstStyle/>
          <a:p>
            <a:r>
              <a:rPr sz="1100" b="0">
                <a:solidFill>
                  <a:srgbClr val="2E2E2E"/>
                </a:solidFill>
                <a:latin typeface="Calibri"/>
              </a:rPr>
              <a:t>period, owing to an increase in average selling price.</a:t>
            </a:r>
          </a:p>
        </p:txBody>
      </p:sp>
      <p:sp>
        <p:nvSpPr>
          <p:cNvPr id="49" name="TextBox 48"/>
          <p:cNvSpPr txBox="1"/>
          <p:nvPr/>
        </p:nvSpPr>
        <p:spPr>
          <a:xfrm>
            <a:off x="8048625" y="4456475"/>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0" name="Picture 49" descr="lock.png"/>
          <p:cNvPicPr>
            <a:picLocks noChangeAspect="1"/>
          </p:cNvPicPr>
          <p:nvPr/>
        </p:nvPicPr>
        <p:blipFill>
          <a:blip r:embed="rId6"/>
          <a:stretch>
            <a:fillRect/>
          </a:stretch>
        </p:blipFill>
        <p:spPr>
          <a:xfrm>
            <a:off x="10136079" y="4446251"/>
            <a:ext cx="134549" cy="195707"/>
          </a:xfrm>
          <a:prstGeom prst="rect">
            <a:avLst/>
          </a:prstGeom>
        </p:spPr>
      </p:pic>
      <p:sp>
        <p:nvSpPr>
          <p:cNvPr id="51" name="TextBox 50"/>
          <p:cNvSpPr txBox="1"/>
          <p:nvPr/>
        </p:nvSpPr>
        <p:spPr>
          <a:xfrm>
            <a:off x="10311188" y="44564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2" name="TextBox 51"/>
          <p:cNvSpPr txBox="1"/>
          <p:nvPr/>
        </p:nvSpPr>
        <p:spPr>
          <a:xfrm>
            <a:off x="8048625" y="4684312"/>
            <a:ext cx="3848100" cy="194310"/>
          </a:xfrm>
          <a:prstGeom prst="rect">
            <a:avLst/>
          </a:prstGeom>
          <a:noFill/>
        </p:spPr>
        <p:txBody>
          <a:bodyPr wrap="none" lIns="0" rIns="0" tIns="0" bIns="0">
            <a:spAutoFit/>
          </a:bodyPr>
          <a:lstStyle/>
          <a:p>
            <a:r>
              <a:rPr sz="1150" b="0">
                <a:solidFill>
                  <a:srgbClr val="2E2E2E"/>
                </a:solidFill>
                <a:latin typeface="Calibri"/>
              </a:rPr>
              <a:t>▪ Demand concentrates in 'Portable Machine Perfusion Devices'</a:t>
            </a:r>
          </a:p>
        </p:txBody>
      </p:sp>
      <p:sp>
        <p:nvSpPr>
          <p:cNvPr id="53" name="TextBox 52"/>
          <p:cNvSpPr txBox="1"/>
          <p:nvPr/>
        </p:nvSpPr>
        <p:spPr>
          <a:xfrm>
            <a:off x="8048625" y="4859572"/>
            <a:ext cx="1632260" cy="194310"/>
          </a:xfrm>
          <a:prstGeom prst="rect">
            <a:avLst/>
          </a:prstGeom>
          <a:noFill/>
        </p:spPr>
        <p:txBody>
          <a:bodyPr wrap="none" lIns="0" rIns="0" tIns="0" bIns="0">
            <a:spAutoFit/>
          </a:bodyPr>
          <a:lstStyle/>
          <a:p>
            <a:r>
              <a:rPr sz="1150" b="0">
                <a:solidFill>
                  <a:srgbClr val="2E2E2E"/>
                </a:solidFill>
                <a:latin typeface="Calibri"/>
              </a:rPr>
              <a:t>within Device Technology.</a:t>
            </a:r>
          </a:p>
        </p:txBody>
      </p:sp>
      <p:sp>
        <p:nvSpPr>
          <p:cNvPr id="54" name="TextBox 53"/>
          <p:cNvSpPr txBox="1"/>
          <p:nvPr/>
        </p:nvSpPr>
        <p:spPr>
          <a:xfrm>
            <a:off x="8048625" y="5087410"/>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55" name="TextBox 54"/>
          <p:cNvSpPr txBox="1"/>
          <p:nvPr/>
        </p:nvSpPr>
        <p:spPr>
          <a:xfrm>
            <a:off x="8048625" y="5315248"/>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56"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Pricing &amp; Regional Price Index</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average price by sub-segment and price variation by country, highlighting where pricing power sits</a:t>
            </a:r>
          </a:p>
        </p:txBody>
      </p:sp>
      <p:sp>
        <p:nvSpPr>
          <p:cNvPr id="10" name="Rounded Rectangle 9"/>
          <p:cNvSpPr/>
          <p:nvPr/>
        </p:nvSpPr>
        <p:spPr>
          <a:xfrm>
            <a:off x="142875" y="1052895"/>
            <a:ext cx="7696200" cy="2665040"/>
          </a:xfrm>
          <a:prstGeom prst="roundRect">
            <a:avLst>
              <a:gd name="adj" fmla="val 28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1004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Device Technology  ·  range across 2021–2036 (US$/Units)</a:t>
            </a:r>
          </a:p>
        </p:txBody>
      </p:sp>
      <p:cxnSp>
        <p:nvCxnSpPr>
          <p:cNvPr id="12" name="Connector 11"/>
          <p:cNvCxnSpPr/>
          <p:nvPr/>
        </p:nvCxnSpPr>
        <p:spPr>
          <a:xfrm>
            <a:off x="657225" y="333693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57225" y="2865938"/>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57225" y="2394940"/>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7225" y="1923943"/>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7225" y="1452945"/>
            <a:ext cx="70104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7225" y="1452945"/>
            <a:ext cx="0" cy="188399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8650" y="333693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28650" y="286593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28650" y="239494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28650" y="1923943"/>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650" y="14529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23" name="FMI Scale tick"/>
          <p:cNvSpPr txBox="1"/>
          <p:nvPr/>
        </p:nvSpPr>
        <p:spPr>
          <a:xfrm>
            <a:off x="219075" y="327026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4" name="FMI Scale tick"/>
          <p:cNvSpPr txBox="1"/>
          <p:nvPr/>
        </p:nvSpPr>
        <p:spPr>
          <a:xfrm>
            <a:off x="219075" y="2328265"/>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sp>
        <p:nvSpPr>
          <p:cNvPr id="25" name="FMI Scale tick"/>
          <p:cNvSpPr txBox="1"/>
          <p:nvPr/>
        </p:nvSpPr>
        <p:spPr>
          <a:xfrm>
            <a:off x="219075" y="1386270"/>
            <a:ext cx="381000" cy="133350"/>
          </a:xfrm>
          <a:prstGeom prst="rect">
            <a:avLst/>
          </a:prstGeom>
          <a:noFill/>
        </p:spPr>
        <p:txBody>
          <a:bodyPr wrap="square" lIns="28575" rIns="28575" tIns="9525" bIns="9525" anchor="ctr">
            <a:spAutoFit/>
          </a:bodyPr>
          <a:lstStyle/>
          <a:p>
            <a:pPr algn="r"/>
            <a:r>
              <a:rPr sz="1100" b="0">
                <a:solidFill>
                  <a:srgbClr val="6C7A89"/>
                </a:solidFill>
                <a:latin typeface="Calibri"/>
              </a:rPr>
              <a:t/>
            </a:r>
          </a:p>
        </p:txBody>
      </p:sp>
      <p:cxnSp>
        <p:nvCxnSpPr>
          <p:cNvPr id="26" name="Connector 25"/>
          <p:cNvCxnSpPr/>
          <p:nvPr/>
        </p:nvCxnSpPr>
        <p:spPr>
          <a:xfrm flipV="1">
            <a:off x="2409825" y="1670329"/>
            <a:ext cx="0" cy="92343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278380" y="259376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278380" y="1670329"/>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2190750" y="1921379"/>
            <a:ext cx="438150" cy="460914"/>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2190750" y="2158425"/>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7225" y="1517929"/>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cxnSp>
        <p:nvCxnSpPr>
          <p:cNvPr id="32" name="Connector 31"/>
          <p:cNvCxnSpPr/>
          <p:nvPr/>
        </p:nvCxnSpPr>
        <p:spPr>
          <a:xfrm flipV="1">
            <a:off x="5915025" y="2369694"/>
            <a:ext cx="0" cy="749858"/>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3580" y="3119552"/>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83580" y="236969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695950" y="2572238"/>
            <a:ext cx="438150" cy="37441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5695950" y="2764382"/>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62425" y="2217294"/>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38" name="TextBox 37"/>
          <p:cNvSpPr txBox="1"/>
          <p:nvPr/>
        </p:nvSpPr>
        <p:spPr>
          <a:xfrm>
            <a:off x="657225" y="3365510"/>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Static Cold Storage D…</a:t>
            </a:r>
          </a:p>
        </p:txBody>
      </p:sp>
      <p:sp>
        <p:nvSpPr>
          <p:cNvPr id="39" name="TextBox 38"/>
          <p:cNvSpPr txBox="1"/>
          <p:nvPr/>
        </p:nvSpPr>
        <p:spPr>
          <a:xfrm>
            <a:off x="4162425" y="3365510"/>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Portable Machine Perf…</a:t>
            </a:r>
          </a:p>
        </p:txBody>
      </p:sp>
      <p:sp>
        <p:nvSpPr>
          <p:cNvPr id="40" name="Rounded Rectangle 39"/>
          <p:cNvSpPr/>
          <p:nvPr/>
        </p:nvSpPr>
        <p:spPr>
          <a:xfrm>
            <a:off x="142875" y="3772696"/>
            <a:ext cx="7696200" cy="2783689"/>
          </a:xfrm>
          <a:prstGeom prst="roundRect">
            <a:avLst>
              <a:gd name="adj" fmla="val 27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3829846"/>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Country vs North America  ·  2026–2036</a:t>
            </a:r>
          </a:p>
        </p:txBody>
      </p:sp>
      <p:cxnSp>
        <p:nvCxnSpPr>
          <p:cNvPr id="42" name="Connector 41"/>
          <p:cNvCxnSpPr/>
          <p:nvPr/>
        </p:nvCxnSpPr>
        <p:spPr>
          <a:xfrm>
            <a:off x="619125" y="432457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9125" y="4758845"/>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9125" y="519311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9125" y="562738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9125" y="606165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9125" y="4324575"/>
            <a:ext cx="0" cy="1737082"/>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90550" y="432457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90550" y="4758845"/>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90550" y="519311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90550" y="562738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90550" y="606165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53" name="FMI Scale tick"/>
          <p:cNvSpPr txBox="1"/>
          <p:nvPr/>
        </p:nvSpPr>
        <p:spPr>
          <a:xfrm>
            <a:off x="138112" y="425790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sp>
        <p:nvSpPr>
          <p:cNvPr id="54" name="FMI Scale tick"/>
          <p:cNvSpPr txBox="1"/>
          <p:nvPr/>
        </p:nvSpPr>
        <p:spPr>
          <a:xfrm>
            <a:off x="138112" y="4692170"/>
            <a:ext cx="442912"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55" name="FMI Scale tick"/>
          <p:cNvSpPr txBox="1"/>
          <p:nvPr/>
        </p:nvSpPr>
        <p:spPr>
          <a:xfrm>
            <a:off x="219075" y="5126441"/>
            <a:ext cx="361950" cy="133350"/>
          </a:xfrm>
          <a:prstGeom prst="rect">
            <a:avLst/>
          </a:prstGeom>
          <a:noFill/>
        </p:spPr>
        <p:txBody>
          <a:bodyPr wrap="square" lIns="28575" rIns="28575" tIns="9525" bIns="9525" anchor="ctr">
            <a:spAutoFit/>
          </a:bodyPr>
          <a:lstStyle/>
          <a:p>
            <a:pPr algn="r"/>
            <a:r>
              <a:rPr sz="1100" b="1">
                <a:solidFill>
                  <a:srgbClr val="6C7A89"/>
                </a:solidFill>
                <a:latin typeface="Calibri"/>
              </a:rPr>
              <a:t>North America</a:t>
            </a:r>
          </a:p>
        </p:txBody>
      </p:sp>
      <p:sp>
        <p:nvSpPr>
          <p:cNvPr id="56" name="FMI Scale tick"/>
          <p:cNvSpPr txBox="1"/>
          <p:nvPr/>
        </p:nvSpPr>
        <p:spPr>
          <a:xfrm>
            <a:off x="164306" y="5560711"/>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-2.5%</a:t>
            </a:r>
          </a:p>
        </p:txBody>
      </p:sp>
      <p:sp>
        <p:nvSpPr>
          <p:cNvPr id="57" name="FMI Scale tick"/>
          <p:cNvSpPr txBox="1"/>
          <p:nvPr/>
        </p:nvSpPr>
        <p:spPr>
          <a:xfrm>
            <a:off x="164306" y="5994982"/>
            <a:ext cx="416719" cy="133350"/>
          </a:xfrm>
          <a:prstGeom prst="rect">
            <a:avLst/>
          </a:prstGeom>
          <a:noFill/>
        </p:spPr>
        <p:txBody>
          <a:bodyPr wrap="square" lIns="28575" rIns="28575" tIns="9525" bIns="9525" anchor="ctr">
            <a:spAutoFit/>
          </a:bodyPr>
          <a:lstStyle/>
          <a:p>
            <a:pPr algn="r"/>
            <a:r>
              <a:rPr sz="1100" b="0">
                <a:solidFill>
                  <a:srgbClr val="6C7A89"/>
                </a:solidFill>
                <a:latin typeface="Calibri"/>
              </a:rPr>
              <a:t>-4.9%</a:t>
            </a:r>
          </a:p>
        </p:txBody>
      </p:sp>
      <p:cxnSp>
        <p:nvCxnSpPr>
          <p:cNvPr id="58" name="Connector 57"/>
          <p:cNvCxnSpPr/>
          <p:nvPr/>
        </p:nvCxnSpPr>
        <p:spPr>
          <a:xfrm>
            <a:off x="619125" y="5193116"/>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152650" y="5193116"/>
            <a:ext cx="457200" cy="33283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MI Data Label"/>
          <p:cNvSpPr txBox="1"/>
          <p:nvPr/>
        </p:nvSpPr>
        <p:spPr>
          <a:xfrm>
            <a:off x="619125" y="5535476"/>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1" name="Rectangle 60"/>
          <p:cNvSpPr/>
          <p:nvPr/>
        </p:nvSpPr>
        <p:spPr>
          <a:xfrm>
            <a:off x="5676900" y="4437287"/>
            <a:ext cx="457200" cy="75582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MI Data Label"/>
          <p:cNvSpPr txBox="1"/>
          <p:nvPr/>
        </p:nvSpPr>
        <p:spPr>
          <a:xfrm>
            <a:off x="4143375" y="4294412"/>
            <a:ext cx="35242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63" name="TextBox 62"/>
          <p:cNvSpPr txBox="1"/>
          <p:nvPr/>
        </p:nvSpPr>
        <p:spPr>
          <a:xfrm>
            <a:off x="61912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U.S.</a:t>
            </a:r>
          </a:p>
        </p:txBody>
      </p:sp>
      <p:sp>
        <p:nvSpPr>
          <p:cNvPr id="64" name="TextBox 63"/>
          <p:cNvSpPr txBox="1"/>
          <p:nvPr/>
        </p:nvSpPr>
        <p:spPr>
          <a:xfrm>
            <a:off x="4143375" y="6242060"/>
            <a:ext cx="3524250" cy="247650"/>
          </a:xfrm>
          <a:prstGeom prst="rect">
            <a:avLst/>
          </a:prstGeom>
          <a:noFill/>
        </p:spPr>
        <p:txBody>
          <a:bodyPr wrap="square" lIns="28575" rIns="28575" tIns="9525" bIns="9525">
            <a:spAutoFit/>
          </a:bodyPr>
          <a:lstStyle/>
          <a:p>
            <a:pPr algn="ctr"/>
            <a:r>
              <a:rPr sz="1100" b="0">
                <a:solidFill>
                  <a:srgbClr val="2E2E2E"/>
                </a:solidFill>
                <a:latin typeface="Calibri"/>
              </a:rPr>
              <a:t>Canada</a:t>
            </a:r>
          </a:p>
        </p:txBody>
      </p:sp>
      <p:sp>
        <p:nvSpPr>
          <p:cNvPr id="65" name="Rounded Rectangle 64"/>
          <p:cNvSpPr/>
          <p:nvPr/>
        </p:nvSpPr>
        <p:spPr>
          <a:xfrm>
            <a:off x="7915275" y="1052895"/>
            <a:ext cx="4133850" cy="550349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48625" y="113862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67" name="Rectangle 66"/>
          <p:cNvSpPr/>
          <p:nvPr/>
        </p:nvSpPr>
        <p:spPr>
          <a:xfrm>
            <a:off x="8048625" y="137674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048625" y="1462470"/>
            <a:ext cx="3867150" cy="501771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69" name="TextBox 6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70" name="Picture 69" descr="lock.png"/>
          <p:cNvPicPr>
            <a:picLocks noChangeAspect="1"/>
          </p:cNvPicPr>
          <p:nvPr/>
        </p:nvPicPr>
        <p:blipFill>
          <a:blip r:embed="rId4"/>
          <a:stretch>
            <a:fillRect/>
          </a:stretch>
        </p:blipFill>
        <p:spPr>
          <a:xfrm>
            <a:off x="2345475" y="1491005"/>
            <a:ext cx="128699" cy="187198"/>
          </a:xfrm>
          <a:prstGeom prst="rect">
            <a:avLst/>
          </a:prstGeom>
        </p:spPr>
      </p:pic>
      <p:pic>
        <p:nvPicPr>
          <p:cNvPr id="71" name="Picture 70" descr="lock.png"/>
          <p:cNvPicPr>
            <a:picLocks noChangeAspect="1"/>
          </p:cNvPicPr>
          <p:nvPr/>
        </p:nvPicPr>
        <p:blipFill>
          <a:blip r:embed="rId4"/>
          <a:stretch>
            <a:fillRect/>
          </a:stretch>
        </p:blipFill>
        <p:spPr>
          <a:xfrm>
            <a:off x="5850675" y="2190370"/>
            <a:ext cx="128699" cy="187198"/>
          </a:xfrm>
          <a:prstGeom prst="rect">
            <a:avLst/>
          </a:prstGeom>
        </p:spPr>
      </p:pic>
      <p:pic>
        <p:nvPicPr>
          <p:cNvPr id="72" name="Picture 71" descr="lock.png"/>
          <p:cNvPicPr>
            <a:picLocks noChangeAspect="1"/>
          </p:cNvPicPr>
          <p:nvPr/>
        </p:nvPicPr>
        <p:blipFill>
          <a:blip r:embed="rId4"/>
          <a:stretch>
            <a:fillRect/>
          </a:stretch>
        </p:blipFill>
        <p:spPr>
          <a:xfrm>
            <a:off x="2316900" y="5508551"/>
            <a:ext cx="128699" cy="187198"/>
          </a:xfrm>
          <a:prstGeom prst="rect">
            <a:avLst/>
          </a:prstGeom>
        </p:spPr>
      </p:pic>
      <p:pic>
        <p:nvPicPr>
          <p:cNvPr id="73" name="Picture 72" descr="lock.png"/>
          <p:cNvPicPr>
            <a:picLocks noChangeAspect="1"/>
          </p:cNvPicPr>
          <p:nvPr/>
        </p:nvPicPr>
        <p:blipFill>
          <a:blip r:embed="rId4"/>
          <a:stretch>
            <a:fillRect/>
          </a:stretch>
        </p:blipFill>
        <p:spPr>
          <a:xfrm>
            <a:off x="5841150" y="4267488"/>
            <a:ext cx="128699" cy="187198"/>
          </a:xfrm>
          <a:prstGeom prst="rect">
            <a:avLst/>
          </a:prstGeom>
        </p:spPr>
      </p:pic>
      <p:sp>
        <p:nvSpPr>
          <p:cNvPr id="74" name="TextBox 73"/>
          <p:cNvSpPr txBox="1"/>
          <p:nvPr/>
        </p:nvSpPr>
        <p:spPr>
          <a:xfrm>
            <a:off x="8048625" y="1471995"/>
            <a:ext cx="3848100" cy="194310"/>
          </a:xfrm>
          <a:prstGeom prst="rect">
            <a:avLst/>
          </a:prstGeom>
          <a:noFill/>
        </p:spPr>
        <p:txBody>
          <a:bodyPr wrap="none" lIns="0" rIns="0" tIns="0" bIns="0">
            <a:spAutoFit/>
          </a:bodyPr>
          <a:lstStyle/>
          <a:p>
            <a:r>
              <a:rPr sz="1150" b="0">
                <a:solidFill>
                  <a:srgbClr val="2E2E2E"/>
                </a:solidFill>
                <a:latin typeface="Calibri"/>
              </a:rPr>
              <a:t>Static cold storage devices segment is expected to command the</a:t>
            </a:r>
          </a:p>
        </p:txBody>
      </p:sp>
      <p:sp>
        <p:nvSpPr>
          <p:cNvPr id="75" name="TextBox 74"/>
          <p:cNvSpPr txBox="1"/>
          <p:nvPr/>
        </p:nvSpPr>
        <p:spPr>
          <a:xfrm>
            <a:off x="8048625" y="1647255"/>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76" name="Picture 75" descr="lock.png"/>
          <p:cNvPicPr>
            <a:picLocks noChangeAspect="1"/>
          </p:cNvPicPr>
          <p:nvPr/>
        </p:nvPicPr>
        <p:blipFill>
          <a:blip r:embed="rId4"/>
          <a:stretch>
            <a:fillRect/>
          </a:stretch>
        </p:blipFill>
        <p:spPr>
          <a:xfrm>
            <a:off x="9764678" y="1637031"/>
            <a:ext cx="134549" cy="195707"/>
          </a:xfrm>
          <a:prstGeom prst="rect">
            <a:avLst/>
          </a:prstGeom>
        </p:spPr>
      </p:pic>
      <p:sp>
        <p:nvSpPr>
          <p:cNvPr id="77" name="TextBox 76"/>
          <p:cNvSpPr txBox="1"/>
          <p:nvPr/>
        </p:nvSpPr>
        <p:spPr>
          <a:xfrm>
            <a:off x="9939788" y="1647255"/>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78" name="TextBox 77"/>
          <p:cNvSpPr txBox="1"/>
          <p:nvPr/>
        </p:nvSpPr>
        <p:spPr>
          <a:xfrm>
            <a:off x="8048625" y="1822515"/>
            <a:ext cx="3552018" cy="194310"/>
          </a:xfrm>
          <a:prstGeom prst="rect">
            <a:avLst/>
          </a:prstGeom>
          <a:noFill/>
        </p:spPr>
        <p:txBody>
          <a:bodyPr wrap="none" lIns="0" rIns="0" tIns="0" bIns="0">
            <a:spAutoFit/>
          </a:bodyPr>
          <a:lstStyle/>
          <a:p>
            <a:r>
              <a:rPr sz="1150" b="0">
                <a:solidFill>
                  <a:srgbClr val="2E2E2E"/>
                </a:solidFill>
                <a:latin typeface="Calibri"/>
              </a:rPr>
              <a:t>selling price of organ transport devices is estimated at US$</a:t>
            </a:r>
          </a:p>
        </p:txBody>
      </p:sp>
      <p:pic>
        <p:nvPicPr>
          <p:cNvPr id="79" name="Picture 78" descr="lock.png"/>
          <p:cNvPicPr>
            <a:picLocks noChangeAspect="1"/>
          </p:cNvPicPr>
          <p:nvPr/>
        </p:nvPicPr>
        <p:blipFill>
          <a:blip r:embed="rId4"/>
          <a:stretch>
            <a:fillRect/>
          </a:stretch>
        </p:blipFill>
        <p:spPr>
          <a:xfrm>
            <a:off x="11549797" y="1812291"/>
            <a:ext cx="134549" cy="195707"/>
          </a:xfrm>
          <a:prstGeom prst="rect">
            <a:avLst/>
          </a:prstGeom>
        </p:spPr>
      </p:pic>
      <p:sp>
        <p:nvSpPr>
          <p:cNvPr id="80" name="TextBox 79"/>
          <p:cNvSpPr txBox="1"/>
          <p:nvPr/>
        </p:nvSpPr>
        <p:spPr>
          <a:xfrm>
            <a:off x="8048625" y="1997775"/>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81" name="Picture 80" descr="lock.png"/>
          <p:cNvPicPr>
            <a:picLocks noChangeAspect="1"/>
          </p:cNvPicPr>
          <p:nvPr/>
        </p:nvPicPr>
        <p:blipFill>
          <a:blip r:embed="rId4"/>
          <a:stretch>
            <a:fillRect/>
          </a:stretch>
        </p:blipFill>
        <p:spPr>
          <a:xfrm>
            <a:off x="11135894" y="1987551"/>
            <a:ext cx="134549" cy="195707"/>
          </a:xfrm>
          <a:prstGeom prst="rect">
            <a:avLst/>
          </a:prstGeom>
        </p:spPr>
      </p:pic>
      <p:sp>
        <p:nvSpPr>
          <p:cNvPr id="82" name="TextBox 81"/>
          <p:cNvSpPr txBox="1"/>
          <p:nvPr/>
        </p:nvSpPr>
        <p:spPr>
          <a:xfrm>
            <a:off x="11311003" y="1997775"/>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83" name="TextBox 82"/>
          <p:cNvSpPr txBox="1"/>
          <p:nvPr/>
        </p:nvSpPr>
        <p:spPr>
          <a:xfrm>
            <a:off x="8048625" y="2173035"/>
            <a:ext cx="872058" cy="194310"/>
          </a:xfrm>
          <a:prstGeom prst="rect">
            <a:avLst/>
          </a:prstGeom>
          <a:noFill/>
        </p:spPr>
        <p:txBody>
          <a:bodyPr wrap="none" lIns="0" rIns="0" tIns="0" bIns="0">
            <a:spAutoFit/>
          </a:bodyPr>
          <a:lstStyle/>
          <a:p>
            <a:r>
              <a:rPr sz="1150" b="0">
                <a:solidFill>
                  <a:srgbClr val="2E2E2E"/>
                </a:solidFill>
                <a:latin typeface="Calibri"/>
              </a:rPr>
              <a:t>Unit by 2036.</a:t>
            </a:r>
          </a:p>
        </p:txBody>
      </p:sp>
      <p:sp>
        <p:nvSpPr>
          <p:cNvPr id="84" name="TextBox 83"/>
          <p:cNvSpPr txBox="1"/>
          <p:nvPr/>
        </p:nvSpPr>
        <p:spPr>
          <a:xfrm>
            <a:off x="8048625" y="2400873"/>
            <a:ext cx="3596518" cy="194310"/>
          </a:xfrm>
          <a:prstGeom prst="rect">
            <a:avLst/>
          </a:prstGeom>
          <a:noFill/>
        </p:spPr>
        <p:txBody>
          <a:bodyPr wrap="none" lIns="0" rIns="0" tIns="0" bIns="0">
            <a:spAutoFit/>
          </a:bodyPr>
          <a:lstStyle/>
          <a:p>
            <a:r>
              <a:rPr sz="1150" b="0">
                <a:solidFill>
                  <a:srgbClr val="2E2E2E"/>
                </a:solidFill>
                <a:latin typeface="Calibri"/>
              </a:rPr>
              <a:t>Canada is the highest-priced country, while U.S. is the most</a:t>
            </a:r>
          </a:p>
        </p:txBody>
      </p:sp>
      <p:sp>
        <p:nvSpPr>
          <p:cNvPr id="85" name="TextBox 84"/>
          <p:cNvSpPr txBox="1"/>
          <p:nvPr/>
        </p:nvSpPr>
        <p:spPr>
          <a:xfrm>
            <a:off x="8048625" y="2576133"/>
            <a:ext cx="3714898" cy="194310"/>
          </a:xfrm>
          <a:prstGeom prst="rect">
            <a:avLst/>
          </a:prstGeom>
          <a:noFill/>
        </p:spPr>
        <p:txBody>
          <a:bodyPr wrap="none" lIns="0" rIns="0" tIns="0" bIns="0">
            <a:spAutoFit/>
          </a:bodyPr>
          <a:lstStyle/>
          <a:p>
            <a:r>
              <a:rPr sz="1150" b="0">
                <a:solidFill>
                  <a:srgbClr val="2E2E2E"/>
                </a:solidFill>
                <a:latin typeface="Calibri"/>
              </a:rPr>
              <a:t>price-competitive market. Against the North America price of</a:t>
            </a:r>
          </a:p>
        </p:txBody>
      </p:sp>
      <p:pic>
        <p:nvPicPr>
          <p:cNvPr id="86" name="Picture 85" descr="lock.png"/>
          <p:cNvPicPr>
            <a:picLocks noChangeAspect="1"/>
          </p:cNvPicPr>
          <p:nvPr/>
        </p:nvPicPr>
        <p:blipFill>
          <a:blip r:embed="rId4"/>
          <a:stretch>
            <a:fillRect/>
          </a:stretch>
        </p:blipFill>
        <p:spPr>
          <a:xfrm>
            <a:off x="8034545" y="2741169"/>
            <a:ext cx="134549" cy="195707"/>
          </a:xfrm>
          <a:prstGeom prst="rect">
            <a:avLst/>
          </a:prstGeom>
        </p:spPr>
      </p:pic>
      <p:sp>
        <p:nvSpPr>
          <p:cNvPr id="87" name="TextBox 86"/>
          <p:cNvSpPr txBox="1"/>
          <p:nvPr/>
        </p:nvSpPr>
        <p:spPr>
          <a:xfrm>
            <a:off x="8209654" y="2751393"/>
            <a:ext cx="3195451" cy="194310"/>
          </a:xfrm>
          <a:prstGeom prst="rect">
            <a:avLst/>
          </a:prstGeom>
          <a:noFill/>
        </p:spPr>
        <p:txBody>
          <a:bodyPr wrap="none" lIns="0" rIns="0" tIns="0" bIns="0">
            <a:spAutoFit/>
          </a:bodyPr>
          <a:lstStyle/>
          <a:p>
            <a:r>
              <a:rPr sz="1150" b="0">
                <a:solidFill>
                  <a:srgbClr val="2E2E2E"/>
                </a:solidFill>
                <a:latin typeface="Calibri"/>
              </a:rPr>
              <a:t>US$/Units, 1 of 2 countries price above and 1 below.</a:t>
            </a:r>
          </a:p>
        </p:txBody>
      </p:sp>
      <p:sp>
        <p:nvSpPr>
          <p:cNvPr id="88" name="TextBox 87"/>
          <p:cNvSpPr txBox="1"/>
          <p:nvPr/>
        </p:nvSpPr>
        <p:spPr>
          <a:xfrm>
            <a:off x="8048625" y="2979230"/>
            <a:ext cx="1677330" cy="194310"/>
          </a:xfrm>
          <a:prstGeom prst="rect">
            <a:avLst/>
          </a:prstGeom>
          <a:noFill/>
        </p:spPr>
        <p:txBody>
          <a:bodyPr wrap="none" lIns="0" rIns="0" tIns="0" bIns="0">
            <a:spAutoFit/>
          </a:bodyPr>
          <a:lstStyle/>
          <a:p>
            <a:r>
              <a:rPr sz="1150" b="0">
                <a:solidFill>
                  <a:srgbClr val="2E2E2E"/>
                </a:solidFill>
                <a:latin typeface="Calibri"/>
              </a:rPr>
              <a:t>'Canada' is the dearest at +</a:t>
            </a:r>
          </a:p>
        </p:txBody>
      </p:sp>
      <p:pic>
        <p:nvPicPr>
          <p:cNvPr id="89" name="Picture 88" descr="lock.png"/>
          <p:cNvPicPr>
            <a:picLocks noChangeAspect="1"/>
          </p:cNvPicPr>
          <p:nvPr/>
        </p:nvPicPr>
        <p:blipFill>
          <a:blip r:embed="rId4"/>
          <a:stretch>
            <a:fillRect/>
          </a:stretch>
        </p:blipFill>
        <p:spPr>
          <a:xfrm>
            <a:off x="9675109" y="2969007"/>
            <a:ext cx="134549" cy="195707"/>
          </a:xfrm>
          <a:prstGeom prst="rect">
            <a:avLst/>
          </a:prstGeom>
        </p:spPr>
      </p:pic>
      <p:sp>
        <p:nvSpPr>
          <p:cNvPr id="90" name="TextBox 89"/>
          <p:cNvSpPr txBox="1"/>
          <p:nvPr/>
        </p:nvSpPr>
        <p:spPr>
          <a:xfrm>
            <a:off x="9850218" y="2979230"/>
            <a:ext cx="1961728" cy="194310"/>
          </a:xfrm>
          <a:prstGeom prst="rect">
            <a:avLst/>
          </a:prstGeom>
          <a:noFill/>
        </p:spPr>
        <p:txBody>
          <a:bodyPr wrap="none" lIns="0" rIns="0" tIns="0" bIns="0">
            <a:spAutoFit/>
          </a:bodyPr>
          <a:lstStyle/>
          <a:p>
            <a:r>
              <a:rPr sz="1150" b="0">
                <a:solidFill>
                  <a:srgbClr val="2E2E2E"/>
                </a:solidFill>
                <a:latin typeface="Calibri"/>
              </a:rPr>
              <a:t>versus North America, 'U.S.' the</a:t>
            </a:r>
          </a:p>
        </p:txBody>
      </p:sp>
      <p:sp>
        <p:nvSpPr>
          <p:cNvPr id="91" name="TextBox 90"/>
          <p:cNvSpPr txBox="1"/>
          <p:nvPr/>
        </p:nvSpPr>
        <p:spPr>
          <a:xfrm>
            <a:off x="8048625" y="3154490"/>
            <a:ext cx="842962" cy="194310"/>
          </a:xfrm>
          <a:prstGeom prst="rect">
            <a:avLst/>
          </a:prstGeom>
          <a:noFill/>
        </p:spPr>
        <p:txBody>
          <a:bodyPr wrap="none" lIns="0" rIns="0" tIns="0" bIns="0">
            <a:spAutoFit/>
          </a:bodyPr>
          <a:lstStyle/>
          <a:p>
            <a:r>
              <a:rPr sz="1150" b="0">
                <a:solidFill>
                  <a:srgbClr val="2E2E2E"/>
                </a:solidFill>
                <a:latin typeface="Calibri"/>
              </a:rPr>
              <a:t>cheapest at -</a:t>
            </a:r>
          </a:p>
        </p:txBody>
      </p:sp>
      <p:pic>
        <p:nvPicPr>
          <p:cNvPr id="92" name="Picture 91" descr="lock.png"/>
          <p:cNvPicPr>
            <a:picLocks noChangeAspect="1"/>
          </p:cNvPicPr>
          <p:nvPr/>
        </p:nvPicPr>
        <p:blipFill>
          <a:blip r:embed="rId4"/>
          <a:stretch>
            <a:fillRect/>
          </a:stretch>
        </p:blipFill>
        <p:spPr>
          <a:xfrm>
            <a:off x="8840741" y="3144267"/>
            <a:ext cx="134549" cy="195707"/>
          </a:xfrm>
          <a:prstGeom prst="rect">
            <a:avLst/>
          </a:prstGeom>
        </p:spPr>
      </p:pic>
      <p:sp>
        <p:nvSpPr>
          <p:cNvPr id="93" name="TextBox 92"/>
          <p:cNvSpPr txBox="1"/>
          <p:nvPr/>
        </p:nvSpPr>
        <p:spPr>
          <a:xfrm>
            <a:off x="9015850" y="3154490"/>
            <a:ext cx="2728205" cy="194310"/>
          </a:xfrm>
          <a:prstGeom prst="rect">
            <a:avLst/>
          </a:prstGeom>
          <a:noFill/>
        </p:spPr>
        <p:txBody>
          <a:bodyPr wrap="none" lIns="0" rIns="0" tIns="0" bIns="0">
            <a:spAutoFit/>
          </a:bodyPr>
          <a:lstStyle/>
          <a:p>
            <a:r>
              <a:rPr sz="1150" b="0">
                <a:solidFill>
                  <a:srgbClr val="2E2E2E"/>
                </a:solidFill>
                <a:latin typeface="Calibri"/>
              </a:rPr>
              <a:t>pointing to premiumisation headroom in the</a:t>
            </a:r>
          </a:p>
        </p:txBody>
      </p:sp>
      <p:sp>
        <p:nvSpPr>
          <p:cNvPr id="94" name="TextBox 93"/>
          <p:cNvSpPr txBox="1"/>
          <p:nvPr/>
        </p:nvSpPr>
        <p:spPr>
          <a:xfrm>
            <a:off x="8048625" y="3329750"/>
            <a:ext cx="1458540" cy="194310"/>
          </a:xfrm>
          <a:prstGeom prst="rect">
            <a:avLst/>
          </a:prstGeom>
          <a:noFill/>
        </p:spPr>
        <p:txBody>
          <a:bodyPr wrap="none" lIns="0" rIns="0" tIns="0" bIns="0">
            <a:spAutoFit/>
          </a:bodyPr>
          <a:lstStyle/>
          <a:p>
            <a:r>
              <a:rPr sz="1150" b="0">
                <a:solidFill>
                  <a:srgbClr val="2E2E2E"/>
                </a:solidFill>
                <a:latin typeface="Calibri"/>
              </a:rPr>
              <a:t>lower-priced countries.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Summary, By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North America market value growth, incremental opportunity and the geographies driving it, 2021–2036</a:t>
            </a:r>
          </a:p>
        </p:txBody>
      </p:sp>
      <p:sp>
        <p:nvSpPr>
          <p:cNvPr id="10" name="Rounded Rectangle 9"/>
          <p:cNvSpPr/>
          <p:nvPr/>
        </p:nvSpPr>
        <p:spPr>
          <a:xfrm>
            <a:off x="142875"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MARKET SIZE (US$ MN)</a:t>
            </a:r>
          </a:p>
          <a:p>
            <a:pPr algn="ctr">
              <a:lnSpc>
                <a:spcPct val="95000"/>
              </a:lnSpc>
            </a:pPr>
            <a:r>
              <a:rPr sz="1500" b="1">
                <a:solidFill>
                  <a:srgbClr val="0E72AE"/>
                </a:solidFill>
                <a:latin typeface="Calibri"/>
              </a:rPr>
              <a:t> </a:t>
            </a:r>
          </a:p>
        </p:txBody>
      </p:sp>
      <p:sp>
        <p:nvSpPr>
          <p:cNvPr id="11" name="Rounded Rectangle 10"/>
          <p:cNvSpPr/>
          <p:nvPr/>
        </p:nvSpPr>
        <p:spPr>
          <a:xfrm>
            <a:off x="31432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p:txBody>
      </p:sp>
      <p:sp>
        <p:nvSpPr>
          <p:cNvPr id="12" name="Rounded Rectangle 11"/>
          <p:cNvSpPr/>
          <p:nvPr/>
        </p:nvSpPr>
        <p:spPr>
          <a:xfrm>
            <a:off x="61531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2021–2025</a:t>
            </a:r>
          </a:p>
          <a:p>
            <a:pPr algn="ctr">
              <a:lnSpc>
                <a:spcPct val="95000"/>
              </a:lnSpc>
            </a:pPr>
            <a:r>
              <a:rPr sz="1500" b="1">
                <a:solidFill>
                  <a:srgbClr val="0E72AE"/>
                </a:solidFill>
                <a:latin typeface="Calibri"/>
              </a:rPr>
              <a:t> </a:t>
            </a:r>
          </a:p>
        </p:txBody>
      </p:sp>
      <p:sp>
        <p:nvSpPr>
          <p:cNvPr id="13" name="Rounded Rectangle 12"/>
          <p:cNvSpPr/>
          <p:nvPr/>
        </p:nvSpPr>
        <p:spPr>
          <a:xfrm>
            <a:off x="9163050" y="1025515"/>
            <a:ext cx="2876550" cy="511104"/>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627887"/>
            <a:ext cx="769620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685037"/>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6" name="Chart 15"/>
          <p:cNvGraphicFramePr>
            <a:graphicFrameLocks noGrp="1"/>
          </p:cNvGraphicFramePr>
          <p:nvPr/>
        </p:nvGraphicFramePr>
        <p:xfrm>
          <a:off x="238125" y="1913637"/>
          <a:ext cx="7505700" cy="2011827"/>
        </p:xfrm>
        <a:graphic>
          <a:graphicData uri="http://schemas.openxmlformats.org/drawingml/2006/chart">
            <c:chart xmlns:c="http://schemas.openxmlformats.org/drawingml/2006/chart" r:id="rId3"/>
          </a:graphicData>
        </a:graphic>
      </p:graphicFrame>
      <p:sp>
        <p:nvSpPr>
          <p:cNvPr id="17" name="Rounded Rectangle 16"/>
          <p:cNvSpPr/>
          <p:nvPr/>
        </p:nvSpPr>
        <p:spPr>
          <a:xfrm>
            <a:off x="142875" y="4037375"/>
            <a:ext cx="7696200" cy="2519010"/>
          </a:xfrm>
          <a:prstGeom prst="roundRect">
            <a:avLst>
              <a:gd name="adj" fmla="val 30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40945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19" name="Chart 18"/>
          <p:cNvGraphicFramePr>
            <a:graphicFrameLocks noGrp="1"/>
          </p:cNvGraphicFramePr>
          <p:nvPr/>
        </p:nvGraphicFramePr>
        <p:xfrm>
          <a:off x="238125" y="4323125"/>
          <a:ext cx="7505700" cy="2176110"/>
        </p:xfrm>
        <a:graphic>
          <a:graphicData uri="http://schemas.openxmlformats.org/drawingml/2006/chart">
            <c:chart xmlns:c="http://schemas.openxmlformats.org/drawingml/2006/chart" r:id="rId4"/>
          </a:graphicData>
        </a:graphic>
      </p:graphicFrame>
      <p:sp>
        <p:nvSpPr>
          <p:cNvPr id="20" name="Rounded Rectangle 19"/>
          <p:cNvSpPr/>
          <p:nvPr/>
        </p:nvSpPr>
        <p:spPr>
          <a:xfrm>
            <a:off x="7915275" y="1627887"/>
            <a:ext cx="4133850" cy="3051231"/>
          </a:xfrm>
          <a:prstGeom prst="roundRect">
            <a:avLst>
              <a:gd name="adj" fmla="val 24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8625" y="1713612"/>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2" name="Rectangle 21"/>
          <p:cNvSpPr/>
          <p:nvPr/>
        </p:nvSpPr>
        <p:spPr>
          <a:xfrm>
            <a:off x="8048625" y="1951737"/>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2037462"/>
            <a:ext cx="3867150" cy="2565456"/>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24" name="Rounded Rectangle 23"/>
          <p:cNvSpPr/>
          <p:nvPr/>
        </p:nvSpPr>
        <p:spPr>
          <a:xfrm>
            <a:off x="7915275" y="4733879"/>
            <a:ext cx="4133850" cy="1822506"/>
          </a:xfrm>
          <a:prstGeom prst="roundRect">
            <a:avLst>
              <a:gd name="adj" fmla="val 41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4819604"/>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6" name="Rectangle 25"/>
          <p:cNvSpPr/>
          <p:nvPr/>
        </p:nvSpPr>
        <p:spPr>
          <a:xfrm>
            <a:off x="8048625" y="5057729"/>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5143454"/>
            <a:ext cx="3867150" cy="133673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8" name="TextBox 2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9" name="Picture 28" descr="lock.png"/>
          <p:cNvPicPr>
            <a:picLocks noChangeAspect="1"/>
          </p:cNvPicPr>
          <p:nvPr/>
        </p:nvPicPr>
        <p:blipFill>
          <a:blip r:embed="rId6"/>
          <a:stretch>
            <a:fillRect/>
          </a:stretch>
        </p:blipFill>
        <p:spPr>
          <a:xfrm>
            <a:off x="1502569" y="1250587"/>
            <a:ext cx="157162" cy="228600"/>
          </a:xfrm>
          <a:prstGeom prst="rect">
            <a:avLst/>
          </a:prstGeom>
        </p:spPr>
      </p:pic>
      <p:pic>
        <p:nvPicPr>
          <p:cNvPr id="30" name="Picture 29" descr="lock.png"/>
          <p:cNvPicPr>
            <a:picLocks noChangeAspect="1"/>
          </p:cNvPicPr>
          <p:nvPr/>
        </p:nvPicPr>
        <p:blipFill>
          <a:blip r:embed="rId6"/>
          <a:stretch>
            <a:fillRect/>
          </a:stretch>
        </p:blipFill>
        <p:spPr>
          <a:xfrm>
            <a:off x="4502944" y="1250587"/>
            <a:ext cx="157162" cy="228600"/>
          </a:xfrm>
          <a:prstGeom prst="rect">
            <a:avLst/>
          </a:prstGeom>
        </p:spPr>
      </p:pic>
      <p:pic>
        <p:nvPicPr>
          <p:cNvPr id="31" name="Picture 30" descr="lock.png"/>
          <p:cNvPicPr>
            <a:picLocks noChangeAspect="1"/>
          </p:cNvPicPr>
          <p:nvPr/>
        </p:nvPicPr>
        <p:blipFill>
          <a:blip r:embed="rId6"/>
          <a:stretch>
            <a:fillRect/>
          </a:stretch>
        </p:blipFill>
        <p:spPr>
          <a:xfrm>
            <a:off x="7512844" y="1250587"/>
            <a:ext cx="157162" cy="228600"/>
          </a:xfrm>
          <a:prstGeom prst="rect">
            <a:avLst/>
          </a:prstGeom>
        </p:spPr>
      </p:pic>
      <p:pic>
        <p:nvPicPr>
          <p:cNvPr id="32" name="Picture 31" descr="lock.png"/>
          <p:cNvPicPr>
            <a:picLocks noChangeAspect="1"/>
          </p:cNvPicPr>
          <p:nvPr/>
        </p:nvPicPr>
        <p:blipFill>
          <a:blip r:embed="rId6"/>
          <a:stretch>
            <a:fillRect/>
          </a:stretch>
        </p:blipFill>
        <p:spPr>
          <a:xfrm>
            <a:off x="10522744" y="1250587"/>
            <a:ext cx="157162" cy="228600"/>
          </a:xfrm>
          <a:prstGeom prst="rect">
            <a:avLst/>
          </a:prstGeom>
        </p:spPr>
      </p:pic>
      <p:pic>
        <p:nvPicPr>
          <p:cNvPr id="33" name="Picture 32" descr="lock.png"/>
          <p:cNvPicPr>
            <a:picLocks noChangeAspect="1"/>
          </p:cNvPicPr>
          <p:nvPr/>
        </p:nvPicPr>
        <p:blipFill>
          <a:blip r:embed="rId6"/>
          <a:stretch>
            <a:fillRect/>
          </a:stretch>
        </p:blipFill>
        <p:spPr>
          <a:xfrm>
            <a:off x="3991062" y="5157531"/>
            <a:ext cx="289830" cy="421571"/>
          </a:xfrm>
          <a:prstGeom prst="rect">
            <a:avLst/>
          </a:prstGeom>
        </p:spPr>
      </p:pic>
      <p:sp>
        <p:nvSpPr>
          <p:cNvPr id="34" name="TextBox 33"/>
          <p:cNvSpPr txBox="1"/>
          <p:nvPr/>
        </p:nvSpPr>
        <p:spPr>
          <a:xfrm>
            <a:off x="8048625" y="2046987"/>
            <a:ext cx="3848100" cy="186689"/>
          </a:xfrm>
          <a:prstGeom prst="rect">
            <a:avLst/>
          </a:prstGeom>
          <a:noFill/>
        </p:spPr>
        <p:txBody>
          <a:bodyPr wrap="none" lIns="0" rIns="0" tIns="0" bIns="0">
            <a:spAutoFit/>
          </a:bodyPr>
          <a:lstStyle/>
          <a:p>
            <a:r>
              <a:rPr sz="1100" b="0">
                <a:solidFill>
                  <a:srgbClr val="2E2E2E"/>
                </a:solidFill>
                <a:latin typeface="Calibri"/>
              </a:rPr>
              <a:t>Organ transport devices market value in North America is expected</a:t>
            </a:r>
          </a:p>
        </p:txBody>
      </p:sp>
      <p:sp>
        <p:nvSpPr>
          <p:cNvPr id="35" name="TextBox 34"/>
          <p:cNvSpPr txBox="1"/>
          <p:nvPr/>
        </p:nvSpPr>
        <p:spPr>
          <a:xfrm>
            <a:off x="8048625" y="2214627"/>
            <a:ext cx="702667" cy="186689"/>
          </a:xfrm>
          <a:prstGeom prst="rect">
            <a:avLst/>
          </a:prstGeom>
          <a:noFill/>
        </p:spPr>
        <p:txBody>
          <a:bodyPr wrap="none" lIns="0" rIns="0" tIns="0" bIns="0">
            <a:spAutoFit/>
          </a:bodyPr>
          <a:lstStyle/>
          <a:p>
            <a:r>
              <a:rPr sz="1100" b="0">
                <a:solidFill>
                  <a:srgbClr val="2E2E2E"/>
                </a:solidFill>
                <a:latin typeface="Calibri"/>
              </a:rPr>
              <a:t>to increase</a:t>
            </a:r>
          </a:p>
        </p:txBody>
      </p:sp>
      <p:pic>
        <p:nvPicPr>
          <p:cNvPr id="36" name="Picture 35" descr="lock.png"/>
          <p:cNvPicPr>
            <a:picLocks noChangeAspect="1"/>
          </p:cNvPicPr>
          <p:nvPr/>
        </p:nvPicPr>
        <p:blipFill>
          <a:blip r:embed="rId6"/>
          <a:stretch>
            <a:fillRect/>
          </a:stretch>
        </p:blipFill>
        <p:spPr>
          <a:xfrm>
            <a:off x="8699343" y="2204848"/>
            <a:ext cx="128699" cy="187198"/>
          </a:xfrm>
          <a:prstGeom prst="rect">
            <a:avLst/>
          </a:prstGeom>
        </p:spPr>
      </p:pic>
      <p:sp>
        <p:nvSpPr>
          <p:cNvPr id="37" name="TextBox 36"/>
          <p:cNvSpPr txBox="1"/>
          <p:nvPr/>
        </p:nvSpPr>
        <p:spPr>
          <a:xfrm>
            <a:off x="8866839" y="2214627"/>
            <a:ext cx="2666379" cy="186689"/>
          </a:xfrm>
          <a:prstGeom prst="rect">
            <a:avLst/>
          </a:prstGeom>
          <a:noFill/>
        </p:spPr>
        <p:txBody>
          <a:bodyPr wrap="none" lIns="0" rIns="0" tIns="0" bIns="0">
            <a:spAutoFit/>
          </a:bodyPr>
          <a:lstStyle/>
          <a:p>
            <a:r>
              <a:rPr sz="1100" b="0">
                <a:solidFill>
                  <a:srgbClr val="2E2E2E"/>
                </a:solidFill>
                <a:latin typeface="Calibri"/>
              </a:rPr>
              <a:t>X between 2025 and 2036. In 2025, the organ</a:t>
            </a:r>
          </a:p>
        </p:txBody>
      </p:sp>
      <p:sp>
        <p:nvSpPr>
          <p:cNvPr id="38" name="TextBox 37"/>
          <p:cNvSpPr txBox="1"/>
          <p:nvPr/>
        </p:nvSpPr>
        <p:spPr>
          <a:xfrm>
            <a:off x="8048625" y="2382267"/>
            <a:ext cx="3569518" cy="186689"/>
          </a:xfrm>
          <a:prstGeom prst="rect">
            <a:avLst/>
          </a:prstGeom>
          <a:noFill/>
        </p:spPr>
        <p:txBody>
          <a:bodyPr wrap="none" lIns="0" rIns="0" tIns="0" bIns="0">
            <a:spAutoFit/>
          </a:bodyPr>
          <a:lstStyle/>
          <a:p>
            <a:r>
              <a:rPr sz="1100" b="0">
                <a:solidFill>
                  <a:srgbClr val="2E2E2E"/>
                </a:solidFill>
                <a:latin typeface="Calibri"/>
              </a:rPr>
              <a:t>transport devices market in North America was valued at US$</a:t>
            </a:r>
          </a:p>
        </p:txBody>
      </p:sp>
      <p:pic>
        <p:nvPicPr>
          <p:cNvPr id="39" name="Picture 38" descr="lock.png"/>
          <p:cNvPicPr>
            <a:picLocks noChangeAspect="1"/>
          </p:cNvPicPr>
          <p:nvPr/>
        </p:nvPicPr>
        <p:blipFill>
          <a:blip r:embed="rId6"/>
          <a:stretch>
            <a:fillRect/>
          </a:stretch>
        </p:blipFill>
        <p:spPr>
          <a:xfrm>
            <a:off x="8035157" y="2540128"/>
            <a:ext cx="128699" cy="187198"/>
          </a:xfrm>
          <a:prstGeom prst="rect">
            <a:avLst/>
          </a:prstGeom>
        </p:spPr>
      </p:pic>
      <p:sp>
        <p:nvSpPr>
          <p:cNvPr id="40" name="TextBox 39"/>
          <p:cNvSpPr txBox="1"/>
          <p:nvPr/>
        </p:nvSpPr>
        <p:spPr>
          <a:xfrm>
            <a:off x="8202653" y="2549907"/>
            <a:ext cx="2325861" cy="186689"/>
          </a:xfrm>
          <a:prstGeom prst="rect">
            <a:avLst/>
          </a:prstGeom>
          <a:noFill/>
        </p:spPr>
        <p:txBody>
          <a:bodyPr wrap="none" lIns="0" rIns="0" tIns="0" bIns="0">
            <a:spAutoFit/>
          </a:bodyPr>
          <a:lstStyle/>
          <a:p>
            <a:r>
              <a:rPr sz="1100" b="0">
                <a:solidFill>
                  <a:srgbClr val="2E2E2E"/>
                </a:solidFill>
                <a:latin typeface="Calibri"/>
              </a:rPr>
              <a:t>Mn and is estimated to account for US$</a:t>
            </a:r>
          </a:p>
        </p:txBody>
      </p:sp>
      <p:pic>
        <p:nvPicPr>
          <p:cNvPr id="41" name="Picture 40" descr="lock.png"/>
          <p:cNvPicPr>
            <a:picLocks noChangeAspect="1"/>
          </p:cNvPicPr>
          <p:nvPr/>
        </p:nvPicPr>
        <p:blipFill>
          <a:blip r:embed="rId6"/>
          <a:stretch>
            <a:fillRect/>
          </a:stretch>
        </p:blipFill>
        <p:spPr>
          <a:xfrm>
            <a:off x="10476566" y="2540128"/>
            <a:ext cx="128699" cy="187198"/>
          </a:xfrm>
          <a:prstGeom prst="rect">
            <a:avLst/>
          </a:prstGeom>
        </p:spPr>
      </p:pic>
      <p:sp>
        <p:nvSpPr>
          <p:cNvPr id="42" name="TextBox 41"/>
          <p:cNvSpPr txBox="1"/>
          <p:nvPr/>
        </p:nvSpPr>
        <p:spPr>
          <a:xfrm>
            <a:off x="10644061" y="2549907"/>
            <a:ext cx="1054918" cy="186689"/>
          </a:xfrm>
          <a:prstGeom prst="rect">
            <a:avLst/>
          </a:prstGeom>
          <a:noFill/>
        </p:spPr>
        <p:txBody>
          <a:bodyPr wrap="none" lIns="0" rIns="0" tIns="0" bIns="0">
            <a:spAutoFit/>
          </a:bodyPr>
          <a:lstStyle/>
          <a:p>
            <a:r>
              <a:rPr sz="1100" b="0">
                <a:solidFill>
                  <a:srgbClr val="2E2E2E"/>
                </a:solidFill>
                <a:latin typeface="Calibri"/>
              </a:rPr>
              <a:t>Mn by the end of</a:t>
            </a:r>
          </a:p>
        </p:txBody>
      </p:sp>
      <p:sp>
        <p:nvSpPr>
          <p:cNvPr id="43" name="TextBox 42"/>
          <p:cNvSpPr txBox="1"/>
          <p:nvPr/>
        </p:nvSpPr>
        <p:spPr>
          <a:xfrm>
            <a:off x="8048625" y="2717547"/>
            <a:ext cx="2244551" cy="186689"/>
          </a:xfrm>
          <a:prstGeom prst="rect">
            <a:avLst/>
          </a:prstGeom>
          <a:noFill/>
        </p:spPr>
        <p:txBody>
          <a:bodyPr wrap="none" lIns="0" rIns="0" tIns="0" bIns="0">
            <a:spAutoFit/>
          </a:bodyPr>
          <a:lstStyle/>
          <a:p>
            <a:r>
              <a:rPr sz="1100" b="0">
                <a:solidFill>
                  <a:srgbClr val="2E2E2E"/>
                </a:solidFill>
                <a:latin typeface="Calibri"/>
              </a:rPr>
              <a:t>2026, reflecting a Y-o-Y growth rate of</a:t>
            </a:r>
          </a:p>
        </p:txBody>
      </p:sp>
      <p:pic>
        <p:nvPicPr>
          <p:cNvPr id="44" name="Picture 43" descr="lock.png"/>
          <p:cNvPicPr>
            <a:picLocks noChangeAspect="1"/>
          </p:cNvPicPr>
          <p:nvPr/>
        </p:nvPicPr>
        <p:blipFill>
          <a:blip r:embed="rId6"/>
          <a:stretch>
            <a:fillRect/>
          </a:stretch>
        </p:blipFill>
        <p:spPr>
          <a:xfrm>
            <a:off x="10241227" y="2707768"/>
            <a:ext cx="128699" cy="187198"/>
          </a:xfrm>
          <a:prstGeom prst="rect">
            <a:avLst/>
          </a:prstGeom>
        </p:spPr>
      </p:pic>
      <p:sp>
        <p:nvSpPr>
          <p:cNvPr id="45" name="TextBox 44"/>
          <p:cNvSpPr txBox="1"/>
          <p:nvPr/>
        </p:nvSpPr>
        <p:spPr>
          <a:xfrm>
            <a:off x="10408723" y="271754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8048625" y="2935479"/>
            <a:ext cx="3491210" cy="186689"/>
          </a:xfrm>
          <a:prstGeom prst="rect">
            <a:avLst/>
          </a:prstGeom>
          <a:noFill/>
        </p:spPr>
        <p:txBody>
          <a:bodyPr wrap="none" lIns="0" rIns="0" tIns="0" bIns="0">
            <a:spAutoFit/>
          </a:bodyPr>
          <a:lstStyle/>
          <a:p>
            <a:r>
              <a:rPr sz="1100" b="0">
                <a:solidFill>
                  <a:srgbClr val="2E2E2E"/>
                </a:solidFill>
                <a:latin typeface="Calibri"/>
              </a:rPr>
              <a:t>The market in North America is expected to account for US$</a:t>
            </a:r>
          </a:p>
        </p:txBody>
      </p:sp>
      <p:pic>
        <p:nvPicPr>
          <p:cNvPr id="47" name="Picture 46" descr="lock.png"/>
          <p:cNvPicPr>
            <a:picLocks noChangeAspect="1"/>
          </p:cNvPicPr>
          <p:nvPr/>
        </p:nvPicPr>
        <p:blipFill>
          <a:blip r:embed="rId6"/>
          <a:stretch>
            <a:fillRect/>
          </a:stretch>
        </p:blipFill>
        <p:spPr>
          <a:xfrm>
            <a:off x="8035157" y="3093340"/>
            <a:ext cx="128699" cy="187198"/>
          </a:xfrm>
          <a:prstGeom prst="rect">
            <a:avLst/>
          </a:prstGeom>
        </p:spPr>
      </p:pic>
      <p:sp>
        <p:nvSpPr>
          <p:cNvPr id="48" name="TextBox 47"/>
          <p:cNvSpPr txBox="1"/>
          <p:nvPr/>
        </p:nvSpPr>
        <p:spPr>
          <a:xfrm>
            <a:off x="8202653" y="3103119"/>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49" name="Picture 48" descr="lock.png"/>
          <p:cNvPicPr>
            <a:picLocks noChangeAspect="1"/>
          </p:cNvPicPr>
          <p:nvPr/>
        </p:nvPicPr>
        <p:blipFill>
          <a:blip r:embed="rId6"/>
          <a:stretch>
            <a:fillRect/>
          </a:stretch>
        </p:blipFill>
        <p:spPr>
          <a:xfrm>
            <a:off x="9646261" y="3093340"/>
            <a:ext cx="128699" cy="187198"/>
          </a:xfrm>
          <a:prstGeom prst="rect">
            <a:avLst/>
          </a:prstGeom>
        </p:spPr>
      </p:pic>
      <p:sp>
        <p:nvSpPr>
          <p:cNvPr id="50" name="TextBox 49"/>
          <p:cNvSpPr txBox="1"/>
          <p:nvPr/>
        </p:nvSpPr>
        <p:spPr>
          <a:xfrm>
            <a:off x="9813757" y="3103119"/>
            <a:ext cx="1849462" cy="186689"/>
          </a:xfrm>
          <a:prstGeom prst="rect">
            <a:avLst/>
          </a:prstGeom>
          <a:noFill/>
        </p:spPr>
        <p:txBody>
          <a:bodyPr wrap="none" lIns="0" rIns="0" tIns="0" bIns="0">
            <a:spAutoFit/>
          </a:bodyPr>
          <a:lstStyle/>
          <a:p>
            <a:r>
              <a:rPr sz="1100" b="0">
                <a:solidFill>
                  <a:srgbClr val="2E2E2E"/>
                </a:solidFill>
                <a:latin typeface="Calibri"/>
              </a:rPr>
              <a:t>over the forecast period. North</a:t>
            </a:r>
          </a:p>
        </p:txBody>
      </p:sp>
      <p:sp>
        <p:nvSpPr>
          <p:cNvPr id="51" name="TextBox 50"/>
          <p:cNvSpPr txBox="1"/>
          <p:nvPr/>
        </p:nvSpPr>
        <p:spPr>
          <a:xfrm>
            <a:off x="8048625" y="3270759"/>
            <a:ext cx="3764880" cy="186689"/>
          </a:xfrm>
          <a:prstGeom prst="rect">
            <a:avLst/>
          </a:prstGeom>
          <a:noFill/>
        </p:spPr>
        <p:txBody>
          <a:bodyPr wrap="none" lIns="0" rIns="0" tIns="0" bIns="0">
            <a:spAutoFit/>
          </a:bodyPr>
          <a:lstStyle/>
          <a:p>
            <a:r>
              <a:rPr sz="1100" b="0">
                <a:solidFill>
                  <a:srgbClr val="2E2E2E"/>
                </a:solidFill>
                <a:latin typeface="Calibri"/>
              </a:rPr>
              <a:t>America is expected to create an incremental opportunity of US$</a:t>
            </a:r>
          </a:p>
        </p:txBody>
      </p:sp>
      <p:pic>
        <p:nvPicPr>
          <p:cNvPr id="52" name="Picture 51" descr="lock.png"/>
          <p:cNvPicPr>
            <a:picLocks noChangeAspect="1"/>
          </p:cNvPicPr>
          <p:nvPr/>
        </p:nvPicPr>
        <p:blipFill>
          <a:blip r:embed="rId6"/>
          <a:stretch>
            <a:fillRect/>
          </a:stretch>
        </p:blipFill>
        <p:spPr>
          <a:xfrm>
            <a:off x="8035157" y="3428620"/>
            <a:ext cx="128699" cy="187198"/>
          </a:xfrm>
          <a:prstGeom prst="rect">
            <a:avLst/>
          </a:prstGeom>
        </p:spPr>
      </p:pic>
      <p:sp>
        <p:nvSpPr>
          <p:cNvPr id="53" name="TextBox 52"/>
          <p:cNvSpPr txBox="1"/>
          <p:nvPr/>
        </p:nvSpPr>
        <p:spPr>
          <a:xfrm>
            <a:off x="8202653" y="3438399"/>
            <a:ext cx="3546599" cy="186689"/>
          </a:xfrm>
          <a:prstGeom prst="rect">
            <a:avLst/>
          </a:prstGeom>
          <a:noFill/>
        </p:spPr>
        <p:txBody>
          <a:bodyPr wrap="none" lIns="0" rIns="0" tIns="0" bIns="0">
            <a:spAutoFit/>
          </a:bodyPr>
          <a:lstStyle/>
          <a:p>
            <a:r>
              <a:rPr sz="1100" b="0">
                <a:solidFill>
                  <a:srgbClr val="2E2E2E"/>
                </a:solidFill>
                <a:latin typeface="Calibri"/>
              </a:rPr>
              <a:t>Mn for the overall organ transport devices market from 2025</a:t>
            </a:r>
          </a:p>
        </p:txBody>
      </p:sp>
      <p:sp>
        <p:nvSpPr>
          <p:cNvPr id="54" name="TextBox 53"/>
          <p:cNvSpPr txBox="1"/>
          <p:nvPr/>
        </p:nvSpPr>
        <p:spPr>
          <a:xfrm>
            <a:off x="8048625" y="3606039"/>
            <a:ext cx="547414" cy="186689"/>
          </a:xfrm>
          <a:prstGeom prst="rect">
            <a:avLst/>
          </a:prstGeom>
          <a:noFill/>
        </p:spPr>
        <p:txBody>
          <a:bodyPr wrap="none" lIns="0" rIns="0" tIns="0" bIns="0">
            <a:spAutoFit/>
          </a:bodyPr>
          <a:lstStyle/>
          <a:p>
            <a:r>
              <a:rPr sz="1100" b="0">
                <a:solidFill>
                  <a:srgbClr val="2E2E2E"/>
                </a:solidFill>
                <a:latin typeface="Calibri"/>
              </a:rPr>
              <a:t>to 2036.</a:t>
            </a:r>
          </a:p>
        </p:txBody>
      </p:sp>
      <p:sp>
        <p:nvSpPr>
          <p:cNvPr id="55" name="TextBox 54"/>
          <p:cNvSpPr txBox="1"/>
          <p:nvPr/>
        </p:nvSpPr>
        <p:spPr>
          <a:xfrm>
            <a:off x="8048625" y="3823971"/>
            <a:ext cx="2837184" cy="186689"/>
          </a:xfrm>
          <a:prstGeom prst="rect">
            <a:avLst/>
          </a:prstGeom>
          <a:noFill/>
        </p:spPr>
        <p:txBody>
          <a:bodyPr wrap="none" lIns="0" rIns="0" tIns="0" bIns="0">
            <a:spAutoFit/>
          </a:bodyPr>
          <a:lstStyle/>
          <a:p>
            <a:r>
              <a:rPr sz="1100" b="0">
                <a:solidFill>
                  <a:srgbClr val="2E2E2E"/>
                </a:solidFill>
                <a:latin typeface="Calibri"/>
              </a:rPr>
              <a:t>Absolute $ value for 2026 is estimated to be US$</a:t>
            </a:r>
          </a:p>
        </p:txBody>
      </p:sp>
      <p:pic>
        <p:nvPicPr>
          <p:cNvPr id="56" name="Picture 55" descr="lock.png"/>
          <p:cNvPicPr>
            <a:picLocks noChangeAspect="1"/>
          </p:cNvPicPr>
          <p:nvPr/>
        </p:nvPicPr>
        <p:blipFill>
          <a:blip r:embed="rId6"/>
          <a:stretch>
            <a:fillRect/>
          </a:stretch>
        </p:blipFill>
        <p:spPr>
          <a:xfrm>
            <a:off x="10833861" y="3814192"/>
            <a:ext cx="128699" cy="187198"/>
          </a:xfrm>
          <a:prstGeom prst="rect">
            <a:avLst/>
          </a:prstGeom>
        </p:spPr>
      </p:pic>
      <p:sp>
        <p:nvSpPr>
          <p:cNvPr id="57" name="TextBox 56"/>
          <p:cNvSpPr txBox="1"/>
          <p:nvPr/>
        </p:nvSpPr>
        <p:spPr>
          <a:xfrm>
            <a:off x="11001357" y="3823971"/>
            <a:ext cx="304303" cy="186689"/>
          </a:xfrm>
          <a:prstGeom prst="rect">
            <a:avLst/>
          </a:prstGeom>
          <a:noFill/>
        </p:spPr>
        <p:txBody>
          <a:bodyPr wrap="none" lIns="0" rIns="0" tIns="0" bIns="0">
            <a:spAutoFit/>
          </a:bodyPr>
          <a:lstStyle/>
          <a:p>
            <a:r>
              <a:rPr sz="1100" b="0">
                <a:solidFill>
                  <a:srgbClr val="2E2E2E"/>
                </a:solidFill>
                <a:latin typeface="Calibri"/>
              </a:rPr>
              <a:t>Mn.</a:t>
            </a:r>
          </a:p>
        </p:txBody>
      </p:sp>
      <p:sp>
        <p:nvSpPr>
          <p:cNvPr id="58" name="TextBox 57"/>
          <p:cNvSpPr txBox="1"/>
          <p:nvPr/>
        </p:nvSpPr>
        <p:spPr>
          <a:xfrm>
            <a:off x="8048625" y="5152979"/>
            <a:ext cx="2138300" cy="194310"/>
          </a:xfrm>
          <a:prstGeom prst="rect">
            <a:avLst/>
          </a:prstGeom>
          <a:noFill/>
        </p:spPr>
        <p:txBody>
          <a:bodyPr wrap="none" lIns="0" rIns="0" tIns="0" bIns="0">
            <a:spAutoFit/>
          </a:bodyPr>
          <a:lstStyle/>
          <a:p>
            <a:r>
              <a:rPr sz="1150" b="0">
                <a:solidFill>
                  <a:srgbClr val="2E2E2E"/>
                </a:solidFill>
                <a:latin typeface="Calibri"/>
              </a:rPr>
              <a:t>▪ 'Canada' leads regional growth at</a:t>
            </a:r>
          </a:p>
        </p:txBody>
      </p:sp>
      <p:pic>
        <p:nvPicPr>
          <p:cNvPr id="59" name="Picture 58" descr="lock.png"/>
          <p:cNvPicPr>
            <a:picLocks noChangeAspect="1"/>
          </p:cNvPicPr>
          <p:nvPr/>
        </p:nvPicPr>
        <p:blipFill>
          <a:blip r:embed="rId6"/>
          <a:stretch>
            <a:fillRect/>
          </a:stretch>
        </p:blipFill>
        <p:spPr>
          <a:xfrm>
            <a:off x="10136079" y="5142755"/>
            <a:ext cx="134549" cy="195707"/>
          </a:xfrm>
          <a:prstGeom prst="rect">
            <a:avLst/>
          </a:prstGeom>
        </p:spPr>
      </p:pic>
      <p:sp>
        <p:nvSpPr>
          <p:cNvPr id="60" name="TextBox 59"/>
          <p:cNvSpPr txBox="1"/>
          <p:nvPr/>
        </p:nvSpPr>
        <p:spPr>
          <a:xfrm>
            <a:off x="10311188" y="5152979"/>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1" name="TextBox 60"/>
          <p:cNvSpPr txBox="1"/>
          <p:nvPr/>
        </p:nvSpPr>
        <p:spPr>
          <a:xfrm>
            <a:off x="8048625" y="5380816"/>
            <a:ext cx="3848100" cy="194310"/>
          </a:xfrm>
          <a:prstGeom prst="rect">
            <a:avLst/>
          </a:prstGeom>
          <a:noFill/>
        </p:spPr>
        <p:txBody>
          <a:bodyPr wrap="none" lIns="0" rIns="0" tIns="0" bIns="0">
            <a:spAutoFit/>
          </a:bodyPr>
          <a:lstStyle/>
          <a:p>
            <a:r>
              <a:rPr sz="1150" b="0">
                <a:solidFill>
                  <a:srgbClr val="2E2E2E"/>
                </a:solidFill>
                <a:latin typeface="Calibri"/>
              </a:rPr>
              <a:t>▪ Demand concentrates in 'Portable Machine Perfusion Devices'</a:t>
            </a:r>
          </a:p>
        </p:txBody>
      </p:sp>
      <p:sp>
        <p:nvSpPr>
          <p:cNvPr id="62" name="TextBox 61"/>
          <p:cNvSpPr txBox="1"/>
          <p:nvPr/>
        </p:nvSpPr>
        <p:spPr>
          <a:xfrm>
            <a:off x="8048625" y="5556076"/>
            <a:ext cx="1632260" cy="194310"/>
          </a:xfrm>
          <a:prstGeom prst="rect">
            <a:avLst/>
          </a:prstGeom>
          <a:noFill/>
        </p:spPr>
        <p:txBody>
          <a:bodyPr wrap="none" lIns="0" rIns="0" tIns="0" bIns="0">
            <a:spAutoFit/>
          </a:bodyPr>
          <a:lstStyle/>
          <a:p>
            <a:r>
              <a:rPr sz="1150" b="0">
                <a:solidFill>
                  <a:srgbClr val="2E2E2E"/>
                </a:solidFill>
                <a:latin typeface="Calibri"/>
              </a:rPr>
              <a:t>within Device Technology.</a:t>
            </a:r>
          </a:p>
        </p:txBody>
      </p:sp>
      <p:sp>
        <p:nvSpPr>
          <p:cNvPr id="63" name="TextBox 62"/>
          <p:cNvSpPr txBox="1"/>
          <p:nvPr/>
        </p:nvSpPr>
        <p:spPr>
          <a:xfrm>
            <a:off x="8048625" y="5783914"/>
            <a:ext cx="3291296" cy="194310"/>
          </a:xfrm>
          <a:prstGeom prst="rect">
            <a:avLst/>
          </a:prstGeom>
          <a:noFill/>
        </p:spPr>
        <p:txBody>
          <a:bodyPr wrap="none" lIns="0" rIns="0" tIns="0" bIns="0">
            <a:spAutoFit/>
          </a:bodyPr>
          <a:lstStyle/>
          <a:p>
            <a:r>
              <a:rPr sz="1150" b="0">
                <a:solidFill>
                  <a:srgbClr val="2E2E2E"/>
                </a:solidFill>
                <a:latin typeface="Calibri"/>
              </a:rPr>
              <a:t>▪ Product innovation and premiumisation lifting value.</a:t>
            </a:r>
          </a:p>
        </p:txBody>
      </p:sp>
      <p:sp>
        <p:nvSpPr>
          <p:cNvPr id="64" name="TextBox 63"/>
          <p:cNvSpPr txBox="1"/>
          <p:nvPr/>
        </p:nvSpPr>
        <p:spPr>
          <a:xfrm>
            <a:off x="8048625" y="6011752"/>
            <a:ext cx="2741327" cy="194310"/>
          </a:xfrm>
          <a:prstGeom prst="rect">
            <a:avLst/>
          </a:prstGeom>
          <a:noFill/>
        </p:spPr>
        <p:txBody>
          <a:bodyPr wrap="none" lIns="0" rIns="0" tIns="0" bIns="0">
            <a:spAutoFit/>
          </a:bodyPr>
          <a:lstStyle/>
          <a:p>
            <a:r>
              <a:rPr sz="1150" b="0">
                <a:solidFill>
                  <a:srgbClr val="2E2E2E"/>
                </a:solidFill>
                <a:latin typeface="Calibri"/>
              </a:rPr>
              <a:t>▪ Expanding end-use applications and access.</a:t>
            </a:r>
          </a:p>
        </p:txBody>
      </p:sp>
      <p:sp>
        <p:nvSpPr>
          <p:cNvPr id="65" name="lockshield_16"/>
          <p:cNvSpPr/>
          <p:nvPr/>
        </p:nvSpPr>
        <p:spPr>
          <a:xfrm>
            <a:off x="238125" y="1913637"/>
            <a:ext cx="7505700" cy="2011827"/>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19"/>
          <p:cNvSpPr/>
          <p:nvPr/>
        </p:nvSpPr>
        <p:spPr>
          <a:xfrm>
            <a:off x="238125" y="4323125"/>
            <a:ext cx="7505700" cy="217611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Volume &amp; Value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and value growth of the North America market and the incremental $ opportunity it creates, 2021–2036</a:t>
            </a:r>
          </a:p>
        </p:txBody>
      </p:sp>
      <p:sp>
        <p:nvSpPr>
          <p:cNvPr id="10" name="Rounded Rectangle 9"/>
          <p:cNvSpPr/>
          <p:nvPr/>
        </p:nvSpPr>
        <p:spPr>
          <a:xfrm>
            <a:off x="142875" y="981075"/>
            <a:ext cx="4695825"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2021–2025 (Historical)</a:t>
            </a:r>
          </a:p>
        </p:txBody>
      </p:sp>
      <p:graphicFrame>
        <p:nvGraphicFramePr>
          <p:cNvPr id="12" name="Chart 11"/>
          <p:cNvGraphicFramePr>
            <a:graphicFrameLocks noGrp="1"/>
          </p:cNvGraphicFramePr>
          <p:nvPr/>
        </p:nvGraphicFramePr>
        <p:xfrm>
          <a:off x="238125" y="1266825"/>
          <a:ext cx="4505325" cy="2181225"/>
        </p:xfrm>
        <a:graphic>
          <a:graphicData uri="http://schemas.openxmlformats.org/drawingml/2006/chart">
            <c:chart xmlns:c="http://schemas.openxmlformats.org/drawingml/2006/chart" r:id="rId3"/>
          </a:graphicData>
        </a:graphic>
      </p:graphicFrame>
      <p:sp>
        <p:nvSpPr>
          <p:cNvPr id="13" name="Rounded Rectangle 12"/>
          <p:cNvSpPr/>
          <p:nvPr/>
        </p:nvSpPr>
        <p:spPr>
          <a:xfrm>
            <a:off x="4991100" y="981075"/>
            <a:ext cx="7048500" cy="2524125"/>
          </a:xfrm>
          <a:prstGeom prst="roundRect">
            <a:avLst>
              <a:gd name="adj" fmla="val 30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86350" y="10382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2026–2036 (Forecast)</a:t>
            </a:r>
          </a:p>
        </p:txBody>
      </p:sp>
      <p:graphicFrame>
        <p:nvGraphicFramePr>
          <p:cNvPr id="15" name="Chart 14"/>
          <p:cNvGraphicFramePr>
            <a:graphicFrameLocks noGrp="1"/>
          </p:cNvGraphicFramePr>
          <p:nvPr/>
        </p:nvGraphicFramePr>
        <p:xfrm>
          <a:off x="5086350" y="1266825"/>
          <a:ext cx="6858000" cy="218122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2021–2025</a:t>
            </a:r>
          </a:p>
          <a:p>
            <a:pPr algn="ctr">
              <a:lnSpc>
                <a:spcPct val="95000"/>
              </a:lnSpc>
            </a:pPr>
            <a:r>
              <a:rPr sz="1500" b="1">
                <a:solidFill>
                  <a:srgbClr val="0E72AE"/>
                </a:solidFill>
                <a:latin typeface="Calibri"/>
              </a:rPr>
              <a:t> </a:t>
            </a:r>
          </a:p>
        </p:txBody>
      </p:sp>
      <p:sp>
        <p:nvSpPr>
          <p:cNvPr id="17" name="Rounded Rectangle 16"/>
          <p:cNvSpPr/>
          <p:nvPr/>
        </p:nvSpPr>
        <p:spPr>
          <a:xfrm>
            <a:off x="2809875" y="3638550"/>
            <a:ext cx="25146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VALUE CAGR 2026–2036</a:t>
            </a:r>
          </a:p>
          <a:p>
            <a:pPr algn="ctr">
              <a:lnSpc>
                <a:spcPct val="95000"/>
              </a:lnSpc>
            </a:pPr>
            <a:r>
              <a:rPr sz="1500" b="1">
                <a:solidFill>
                  <a:srgbClr val="0E72AE"/>
                </a:solidFill>
                <a:latin typeface="Calibri"/>
              </a:rPr>
              <a:t> </a:t>
            </a:r>
          </a:p>
        </p:txBody>
      </p:sp>
      <p:sp>
        <p:nvSpPr>
          <p:cNvPr id="18" name="Rounded Rectangle 17"/>
          <p:cNvSpPr/>
          <p:nvPr/>
        </p:nvSpPr>
        <p:spPr>
          <a:xfrm>
            <a:off x="54768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2026–2031</a:t>
            </a:r>
          </a:p>
          <a:p>
            <a:pPr algn="ctr">
              <a:lnSpc>
                <a:spcPct val="95000"/>
              </a:lnSpc>
            </a:pPr>
            <a:r>
              <a:rPr sz="1500" b="1">
                <a:solidFill>
                  <a:srgbClr val="0E72AE"/>
                </a:solidFill>
                <a:latin typeface="Calibri"/>
              </a:rPr>
              <a:t> </a:t>
            </a:r>
          </a:p>
        </p:txBody>
      </p:sp>
      <p:sp>
        <p:nvSpPr>
          <p:cNvPr id="19" name="Rounded Rectangle 18"/>
          <p:cNvSpPr/>
          <p:nvPr/>
        </p:nvSpPr>
        <p:spPr>
          <a:xfrm>
            <a:off x="8829675" y="3638550"/>
            <a:ext cx="3200400" cy="6858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INCREMENTAL $ OPPORTUNITY 2026–2036</a:t>
            </a:r>
          </a:p>
          <a:p>
            <a:pPr algn="ctr">
              <a:lnSpc>
                <a:spcPct val="95000"/>
              </a:lnSpc>
            </a:pPr>
            <a:r>
              <a:rPr sz="1500" b="1">
                <a:solidFill>
                  <a:srgbClr val="0E72AE"/>
                </a:solidFill>
                <a:latin typeface="Calibri"/>
              </a:rPr>
              <a:t> </a:t>
            </a:r>
          </a:p>
        </p:txBody>
      </p:sp>
      <p:sp>
        <p:nvSpPr>
          <p:cNvPr id="20" name="Rounded Rectangle 19"/>
          <p:cNvSpPr/>
          <p:nvPr/>
        </p:nvSpPr>
        <p:spPr>
          <a:xfrm>
            <a:off x="142875" y="4457700"/>
            <a:ext cx="11906250" cy="2152650"/>
          </a:xfrm>
          <a:prstGeom prst="roundRect">
            <a:avLst>
              <a:gd name="adj" fmla="val 35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54342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&amp; Value Analysis</a:t>
            </a:r>
          </a:p>
        </p:txBody>
      </p:sp>
      <p:sp>
        <p:nvSpPr>
          <p:cNvPr id="22" name="Rectangle 21"/>
          <p:cNvSpPr/>
          <p:nvPr/>
        </p:nvSpPr>
        <p:spPr>
          <a:xfrm>
            <a:off x="276225" y="4781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867275"/>
            <a:ext cx="11639550" cy="1666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2535356" y="2029222"/>
            <a:ext cx="202455" cy="294480"/>
          </a:xfrm>
          <a:prstGeom prst="rect">
            <a:avLst/>
          </a:prstGeom>
        </p:spPr>
      </p:pic>
      <p:pic>
        <p:nvPicPr>
          <p:cNvPr id="26" name="Picture 25" descr="lock.png"/>
          <p:cNvPicPr>
            <a:picLocks noChangeAspect="1"/>
          </p:cNvPicPr>
          <p:nvPr/>
        </p:nvPicPr>
        <p:blipFill>
          <a:blip r:embed="rId6"/>
          <a:stretch>
            <a:fillRect/>
          </a:stretch>
        </p:blipFill>
        <p:spPr>
          <a:xfrm>
            <a:off x="8532694" y="1990329"/>
            <a:ext cx="255933" cy="372266"/>
          </a:xfrm>
          <a:prstGeom prst="rect">
            <a:avLst/>
          </a:prstGeom>
        </p:spPr>
      </p:pic>
      <p:pic>
        <p:nvPicPr>
          <p:cNvPr id="27" name="Picture 26" descr="lock.png"/>
          <p:cNvPicPr>
            <a:picLocks noChangeAspect="1"/>
          </p:cNvPicPr>
          <p:nvPr/>
        </p:nvPicPr>
        <p:blipFill>
          <a:blip r:embed="rId6"/>
          <a:stretch>
            <a:fillRect/>
          </a:stretch>
        </p:blipFill>
        <p:spPr>
          <a:xfrm>
            <a:off x="1321594" y="3950970"/>
            <a:ext cx="157162" cy="228600"/>
          </a:xfrm>
          <a:prstGeom prst="rect">
            <a:avLst/>
          </a:prstGeom>
        </p:spPr>
      </p:pic>
      <p:pic>
        <p:nvPicPr>
          <p:cNvPr id="28" name="Picture 27" descr="lock.png"/>
          <p:cNvPicPr>
            <a:picLocks noChangeAspect="1"/>
          </p:cNvPicPr>
          <p:nvPr/>
        </p:nvPicPr>
        <p:blipFill>
          <a:blip r:embed="rId6"/>
          <a:stretch>
            <a:fillRect/>
          </a:stretch>
        </p:blipFill>
        <p:spPr>
          <a:xfrm>
            <a:off x="3988594" y="3950970"/>
            <a:ext cx="157162" cy="228600"/>
          </a:xfrm>
          <a:prstGeom prst="rect">
            <a:avLst/>
          </a:prstGeom>
        </p:spPr>
      </p:pic>
      <p:pic>
        <p:nvPicPr>
          <p:cNvPr id="29" name="Picture 28" descr="lock.png"/>
          <p:cNvPicPr>
            <a:picLocks noChangeAspect="1"/>
          </p:cNvPicPr>
          <p:nvPr/>
        </p:nvPicPr>
        <p:blipFill>
          <a:blip r:embed="rId6"/>
          <a:stretch>
            <a:fillRect/>
          </a:stretch>
        </p:blipFill>
        <p:spPr>
          <a:xfrm>
            <a:off x="6998494" y="3950970"/>
            <a:ext cx="157162" cy="228600"/>
          </a:xfrm>
          <a:prstGeom prst="rect">
            <a:avLst/>
          </a:prstGeom>
        </p:spPr>
      </p:pic>
      <p:pic>
        <p:nvPicPr>
          <p:cNvPr id="30" name="Picture 29" descr="lock.png"/>
          <p:cNvPicPr>
            <a:picLocks noChangeAspect="1"/>
          </p:cNvPicPr>
          <p:nvPr/>
        </p:nvPicPr>
        <p:blipFill>
          <a:blip r:embed="rId6"/>
          <a:stretch>
            <a:fillRect/>
          </a:stretch>
        </p:blipFill>
        <p:spPr>
          <a:xfrm>
            <a:off x="10351294" y="3950970"/>
            <a:ext cx="157162" cy="228600"/>
          </a:xfrm>
          <a:prstGeom prst="rect">
            <a:avLst/>
          </a:prstGeom>
        </p:spPr>
      </p:pic>
      <p:sp>
        <p:nvSpPr>
          <p:cNvPr id="31" name="TextBox 30"/>
          <p:cNvSpPr txBox="1"/>
          <p:nvPr/>
        </p:nvSpPr>
        <p:spPr>
          <a:xfrm>
            <a:off x="276225" y="4876800"/>
            <a:ext cx="4754078" cy="194310"/>
          </a:xfrm>
          <a:prstGeom prst="rect">
            <a:avLst/>
          </a:prstGeom>
          <a:noFill/>
        </p:spPr>
        <p:txBody>
          <a:bodyPr wrap="none" lIns="0" rIns="0" tIns="0" bIns="0">
            <a:spAutoFit/>
          </a:bodyPr>
          <a:lstStyle/>
          <a:p>
            <a:r>
              <a:rPr sz="1150" b="0">
                <a:solidFill>
                  <a:srgbClr val="2E2E2E"/>
                </a:solidFill>
                <a:latin typeface="Calibri"/>
              </a:rPr>
              <a:t>Organ transport devices market value in North America is expected to increase</a:t>
            </a:r>
          </a:p>
        </p:txBody>
      </p:sp>
      <p:pic>
        <p:nvPicPr>
          <p:cNvPr id="32" name="Picture 31" descr="lock.png"/>
          <p:cNvPicPr>
            <a:picLocks noChangeAspect="1"/>
          </p:cNvPicPr>
          <p:nvPr/>
        </p:nvPicPr>
        <p:blipFill>
          <a:blip r:embed="rId6"/>
          <a:stretch>
            <a:fillRect/>
          </a:stretch>
        </p:blipFill>
        <p:spPr>
          <a:xfrm>
            <a:off x="4979457" y="4866576"/>
            <a:ext cx="134549" cy="195707"/>
          </a:xfrm>
          <a:prstGeom prst="rect">
            <a:avLst/>
          </a:prstGeom>
        </p:spPr>
      </p:pic>
      <p:sp>
        <p:nvSpPr>
          <p:cNvPr id="33" name="TextBox 32"/>
          <p:cNvSpPr txBox="1"/>
          <p:nvPr/>
        </p:nvSpPr>
        <p:spPr>
          <a:xfrm>
            <a:off x="5154567" y="4876800"/>
            <a:ext cx="6469310" cy="194310"/>
          </a:xfrm>
          <a:prstGeom prst="rect">
            <a:avLst/>
          </a:prstGeom>
          <a:noFill/>
        </p:spPr>
        <p:txBody>
          <a:bodyPr wrap="none" lIns="0" rIns="0" tIns="0" bIns="0">
            <a:spAutoFit/>
          </a:bodyPr>
          <a:lstStyle/>
          <a:p>
            <a:r>
              <a:rPr sz="1150" b="0">
                <a:solidFill>
                  <a:srgbClr val="2E2E2E"/>
                </a:solidFill>
                <a:latin typeface="Calibri"/>
              </a:rPr>
              <a:t>X between 2025 and 2036. In 2025, the organ transport devices market in North America was valued at US$</a:t>
            </a:r>
          </a:p>
        </p:txBody>
      </p:sp>
      <p:pic>
        <p:nvPicPr>
          <p:cNvPr id="34" name="Picture 33" descr="lock.png"/>
          <p:cNvPicPr>
            <a:picLocks noChangeAspect="1"/>
          </p:cNvPicPr>
          <p:nvPr/>
        </p:nvPicPr>
        <p:blipFill>
          <a:blip r:embed="rId6"/>
          <a:stretch>
            <a:fillRect/>
          </a:stretch>
        </p:blipFill>
        <p:spPr>
          <a:xfrm>
            <a:off x="262145" y="5041836"/>
            <a:ext cx="134549" cy="195707"/>
          </a:xfrm>
          <a:prstGeom prst="rect">
            <a:avLst/>
          </a:prstGeom>
        </p:spPr>
      </p:pic>
      <p:sp>
        <p:nvSpPr>
          <p:cNvPr id="35" name="TextBox 34"/>
          <p:cNvSpPr txBox="1"/>
          <p:nvPr/>
        </p:nvSpPr>
        <p:spPr>
          <a:xfrm>
            <a:off x="437254" y="5052060"/>
            <a:ext cx="2428118" cy="194310"/>
          </a:xfrm>
          <a:prstGeom prst="rect">
            <a:avLst/>
          </a:prstGeom>
          <a:noFill/>
        </p:spPr>
        <p:txBody>
          <a:bodyPr wrap="none" lIns="0" rIns="0" tIns="0" bIns="0">
            <a:spAutoFit/>
          </a:bodyPr>
          <a:lstStyle/>
          <a:p>
            <a:r>
              <a:rPr sz="1150" b="0">
                <a:solidFill>
                  <a:srgbClr val="2E2E2E"/>
                </a:solidFill>
                <a:latin typeface="Calibri"/>
              </a:rPr>
              <a:t>Mn and is estimated to account for US$</a:t>
            </a:r>
          </a:p>
        </p:txBody>
      </p:sp>
      <p:pic>
        <p:nvPicPr>
          <p:cNvPr id="36" name="Picture 35" descr="lock.png"/>
          <p:cNvPicPr>
            <a:picLocks noChangeAspect="1"/>
          </p:cNvPicPr>
          <p:nvPr/>
        </p:nvPicPr>
        <p:blipFill>
          <a:blip r:embed="rId6"/>
          <a:stretch>
            <a:fillRect/>
          </a:stretch>
        </p:blipFill>
        <p:spPr>
          <a:xfrm>
            <a:off x="2814527" y="5041836"/>
            <a:ext cx="134549" cy="195707"/>
          </a:xfrm>
          <a:prstGeom prst="rect">
            <a:avLst/>
          </a:prstGeom>
        </p:spPr>
      </p:pic>
      <p:sp>
        <p:nvSpPr>
          <p:cNvPr id="37" name="TextBox 36"/>
          <p:cNvSpPr txBox="1"/>
          <p:nvPr/>
        </p:nvSpPr>
        <p:spPr>
          <a:xfrm>
            <a:off x="2989636" y="5052060"/>
            <a:ext cx="3399408" cy="194310"/>
          </a:xfrm>
          <a:prstGeom prst="rect">
            <a:avLst/>
          </a:prstGeom>
          <a:noFill/>
        </p:spPr>
        <p:txBody>
          <a:bodyPr wrap="none" lIns="0" rIns="0" tIns="0" bIns="0">
            <a:spAutoFit/>
          </a:bodyPr>
          <a:lstStyle/>
          <a:p>
            <a:r>
              <a:rPr sz="1150" b="0">
                <a:solidFill>
                  <a:srgbClr val="2E2E2E"/>
                </a:solidFill>
                <a:latin typeface="Calibri"/>
              </a:rPr>
              <a:t>Mn by the end of 2026, reflecting a Y-o-Y growth rate of</a:t>
            </a:r>
          </a:p>
        </p:txBody>
      </p:sp>
      <p:pic>
        <p:nvPicPr>
          <p:cNvPr id="38" name="Picture 37" descr="lock.png"/>
          <p:cNvPicPr>
            <a:picLocks noChangeAspect="1"/>
          </p:cNvPicPr>
          <p:nvPr/>
        </p:nvPicPr>
        <p:blipFill>
          <a:blip r:embed="rId6"/>
          <a:stretch>
            <a:fillRect/>
          </a:stretch>
        </p:blipFill>
        <p:spPr>
          <a:xfrm>
            <a:off x="6338198" y="5041836"/>
            <a:ext cx="134549" cy="195707"/>
          </a:xfrm>
          <a:prstGeom prst="rect">
            <a:avLst/>
          </a:prstGeom>
        </p:spPr>
      </p:pic>
      <p:sp>
        <p:nvSpPr>
          <p:cNvPr id="39" name="TextBox 38"/>
          <p:cNvSpPr txBox="1"/>
          <p:nvPr/>
        </p:nvSpPr>
        <p:spPr>
          <a:xfrm>
            <a:off x="6513307" y="5052060"/>
            <a:ext cx="3716325" cy="194310"/>
          </a:xfrm>
          <a:prstGeom prst="rect">
            <a:avLst/>
          </a:prstGeom>
          <a:noFill/>
        </p:spPr>
        <p:txBody>
          <a:bodyPr wrap="none" lIns="0" rIns="0" tIns="0" bIns="0">
            <a:spAutoFit/>
          </a:bodyPr>
          <a:lstStyle/>
          <a:p>
            <a:r>
              <a:rPr sz="1150" b="0">
                <a:solidFill>
                  <a:srgbClr val="2E2E2E"/>
                </a:solidFill>
                <a:latin typeface="Calibri"/>
              </a:rPr>
              <a:t>. The market in North America is expected to account for US$</a:t>
            </a:r>
          </a:p>
        </p:txBody>
      </p:sp>
      <p:pic>
        <p:nvPicPr>
          <p:cNvPr id="40" name="Picture 39" descr="lock.png"/>
          <p:cNvPicPr>
            <a:picLocks noChangeAspect="1"/>
          </p:cNvPicPr>
          <p:nvPr/>
        </p:nvPicPr>
        <p:blipFill>
          <a:blip r:embed="rId6"/>
          <a:stretch>
            <a:fillRect/>
          </a:stretch>
        </p:blipFill>
        <p:spPr>
          <a:xfrm>
            <a:off x="10178786" y="5041836"/>
            <a:ext cx="134549" cy="195707"/>
          </a:xfrm>
          <a:prstGeom prst="rect">
            <a:avLst/>
          </a:prstGeom>
        </p:spPr>
      </p:pic>
      <p:sp>
        <p:nvSpPr>
          <p:cNvPr id="41" name="TextBox 40"/>
          <p:cNvSpPr txBox="1"/>
          <p:nvPr/>
        </p:nvSpPr>
        <p:spPr>
          <a:xfrm>
            <a:off x="10353895" y="5052060"/>
            <a:ext cx="1038646" cy="194310"/>
          </a:xfrm>
          <a:prstGeom prst="rect">
            <a:avLst/>
          </a:prstGeom>
          <a:noFill/>
        </p:spPr>
        <p:txBody>
          <a:bodyPr wrap="none" lIns="0" rIns="0" tIns="0" bIns="0">
            <a:spAutoFit/>
          </a:bodyPr>
          <a:lstStyle/>
          <a:p>
            <a:r>
              <a:rPr sz="1150" b="0">
                <a:solidFill>
                  <a:srgbClr val="2E2E2E"/>
                </a:solidFill>
                <a:latin typeface="Calibri"/>
              </a:rPr>
              <a:t>Mn by 2036 at a</a:t>
            </a:r>
          </a:p>
        </p:txBody>
      </p:sp>
      <p:sp>
        <p:nvSpPr>
          <p:cNvPr id="42" name="TextBox 41"/>
          <p:cNvSpPr txBox="1"/>
          <p:nvPr/>
        </p:nvSpPr>
        <p:spPr>
          <a:xfrm>
            <a:off x="276225" y="522732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43" name="Picture 42" descr="lock.png"/>
          <p:cNvPicPr>
            <a:picLocks noChangeAspect="1"/>
          </p:cNvPicPr>
          <p:nvPr/>
        </p:nvPicPr>
        <p:blipFill>
          <a:blip r:embed="rId6"/>
          <a:stretch>
            <a:fillRect/>
          </a:stretch>
        </p:blipFill>
        <p:spPr>
          <a:xfrm>
            <a:off x="789915" y="5217096"/>
            <a:ext cx="134549" cy="195707"/>
          </a:xfrm>
          <a:prstGeom prst="rect">
            <a:avLst/>
          </a:prstGeom>
        </p:spPr>
      </p:pic>
      <p:sp>
        <p:nvSpPr>
          <p:cNvPr id="44" name="TextBox 43"/>
          <p:cNvSpPr txBox="1"/>
          <p:nvPr/>
        </p:nvSpPr>
        <p:spPr>
          <a:xfrm>
            <a:off x="965025" y="522732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5" name="TextBox 44"/>
          <p:cNvSpPr txBox="1"/>
          <p:nvPr/>
        </p:nvSpPr>
        <p:spPr>
          <a:xfrm>
            <a:off x="276225" y="5455157"/>
            <a:ext cx="4313932" cy="194310"/>
          </a:xfrm>
          <a:prstGeom prst="rect">
            <a:avLst/>
          </a:prstGeom>
          <a:noFill/>
        </p:spPr>
        <p:txBody>
          <a:bodyPr wrap="none" lIns="0" rIns="0" tIns="0" bIns="0">
            <a:spAutoFit/>
          </a:bodyPr>
          <a:lstStyle/>
          <a:p>
            <a:r>
              <a:rPr sz="1150" b="0">
                <a:solidFill>
                  <a:srgbClr val="2E2E2E"/>
                </a:solidFill>
                <a:latin typeface="Calibri"/>
              </a:rPr>
              <a:t>North America is expected to create an incremental opportunity of US$</a:t>
            </a:r>
          </a:p>
        </p:txBody>
      </p:sp>
      <p:pic>
        <p:nvPicPr>
          <p:cNvPr id="46" name="Picture 45" descr="lock.png"/>
          <p:cNvPicPr>
            <a:picLocks noChangeAspect="1"/>
          </p:cNvPicPr>
          <p:nvPr/>
        </p:nvPicPr>
        <p:blipFill>
          <a:blip r:embed="rId6"/>
          <a:stretch>
            <a:fillRect/>
          </a:stretch>
        </p:blipFill>
        <p:spPr>
          <a:xfrm>
            <a:off x="4539310" y="5444934"/>
            <a:ext cx="134549" cy="195707"/>
          </a:xfrm>
          <a:prstGeom prst="rect">
            <a:avLst/>
          </a:prstGeom>
        </p:spPr>
      </p:pic>
      <p:sp>
        <p:nvSpPr>
          <p:cNvPr id="47" name="TextBox 46"/>
          <p:cNvSpPr txBox="1"/>
          <p:nvPr/>
        </p:nvSpPr>
        <p:spPr>
          <a:xfrm>
            <a:off x="4714420" y="5455157"/>
            <a:ext cx="7149641" cy="194310"/>
          </a:xfrm>
          <a:prstGeom prst="rect">
            <a:avLst/>
          </a:prstGeom>
          <a:noFill/>
        </p:spPr>
        <p:txBody>
          <a:bodyPr wrap="none" lIns="0" rIns="0" tIns="0" bIns="0">
            <a:spAutoFit/>
          </a:bodyPr>
          <a:lstStyle/>
          <a:p>
            <a:r>
              <a:rPr sz="1150" b="0">
                <a:solidFill>
                  <a:srgbClr val="2E2E2E"/>
                </a:solidFill>
                <a:latin typeface="Calibri"/>
              </a:rPr>
              <a:t>Mn for the overall organ transport devices market from 2025 to 2036. Absolute $ value for 2026 is estimated to be US$</a:t>
            </a:r>
          </a:p>
        </p:txBody>
      </p:sp>
      <p:pic>
        <p:nvPicPr>
          <p:cNvPr id="48" name="Picture 47" descr="lock.png"/>
          <p:cNvPicPr>
            <a:picLocks noChangeAspect="1"/>
          </p:cNvPicPr>
          <p:nvPr/>
        </p:nvPicPr>
        <p:blipFill>
          <a:blip r:embed="rId6"/>
          <a:stretch>
            <a:fillRect/>
          </a:stretch>
        </p:blipFill>
        <p:spPr>
          <a:xfrm>
            <a:off x="262145" y="5620194"/>
            <a:ext cx="134549" cy="195707"/>
          </a:xfrm>
          <a:prstGeom prst="rect">
            <a:avLst/>
          </a:prstGeom>
        </p:spPr>
      </p:pic>
      <p:sp>
        <p:nvSpPr>
          <p:cNvPr id="49" name="TextBox 48"/>
          <p:cNvSpPr txBox="1"/>
          <p:nvPr/>
        </p:nvSpPr>
        <p:spPr>
          <a:xfrm>
            <a:off x="437254" y="5630417"/>
            <a:ext cx="4497920" cy="194310"/>
          </a:xfrm>
          <a:prstGeom prst="rect">
            <a:avLst/>
          </a:prstGeom>
          <a:noFill/>
        </p:spPr>
        <p:txBody>
          <a:bodyPr wrap="none" lIns="0" rIns="0" tIns="0" bIns="0">
            <a:spAutoFit/>
          </a:bodyPr>
          <a:lstStyle/>
          <a:p>
            <a:r>
              <a:rPr sz="1150" b="0">
                <a:solidFill>
                  <a:srgbClr val="2E2E2E"/>
                </a:solidFill>
                <a:latin typeface="Calibri"/>
              </a:rPr>
              <a:t>Mn. North America organ transport devices market is projected to register</a:t>
            </a:r>
          </a:p>
        </p:txBody>
      </p:sp>
      <p:pic>
        <p:nvPicPr>
          <p:cNvPr id="50" name="Picture 49" descr="lock.png"/>
          <p:cNvPicPr>
            <a:picLocks noChangeAspect="1"/>
          </p:cNvPicPr>
          <p:nvPr/>
        </p:nvPicPr>
        <p:blipFill>
          <a:blip r:embed="rId6"/>
          <a:stretch>
            <a:fillRect/>
          </a:stretch>
        </p:blipFill>
        <p:spPr>
          <a:xfrm>
            <a:off x="4884329" y="5620194"/>
            <a:ext cx="134549" cy="195707"/>
          </a:xfrm>
          <a:prstGeom prst="rect">
            <a:avLst/>
          </a:prstGeom>
        </p:spPr>
      </p:pic>
      <p:sp>
        <p:nvSpPr>
          <p:cNvPr id="51" name="TextBox 50"/>
          <p:cNvSpPr txBox="1"/>
          <p:nvPr/>
        </p:nvSpPr>
        <p:spPr>
          <a:xfrm>
            <a:off x="5059438" y="5630417"/>
            <a:ext cx="3462163" cy="194310"/>
          </a:xfrm>
          <a:prstGeom prst="rect">
            <a:avLst/>
          </a:prstGeom>
          <a:noFill/>
        </p:spPr>
        <p:txBody>
          <a:bodyPr wrap="none" lIns="0" rIns="0" tIns="0" bIns="0">
            <a:spAutoFit/>
          </a:bodyPr>
          <a:lstStyle/>
          <a:p>
            <a:r>
              <a:rPr sz="1150" b="0">
                <a:solidFill>
                  <a:srgbClr val="2E2E2E"/>
                </a:solidFill>
                <a:latin typeface="Calibri"/>
              </a:rPr>
              <a:t>X increase in volume by the end of forecast period, 2036.</a:t>
            </a:r>
          </a:p>
        </p:txBody>
      </p:sp>
      <p:sp>
        <p:nvSpPr>
          <p:cNvPr id="52" name="TextBox 51"/>
          <p:cNvSpPr txBox="1"/>
          <p:nvPr/>
        </p:nvSpPr>
        <p:spPr>
          <a:xfrm>
            <a:off x="276225" y="5858255"/>
            <a:ext cx="3845830" cy="194310"/>
          </a:xfrm>
          <a:prstGeom prst="rect">
            <a:avLst/>
          </a:prstGeom>
          <a:noFill/>
        </p:spPr>
        <p:txBody>
          <a:bodyPr wrap="none" lIns="0" rIns="0" tIns="0" bIns="0">
            <a:spAutoFit/>
          </a:bodyPr>
          <a:lstStyle/>
          <a:p>
            <a:r>
              <a:rPr sz="1150" b="0">
                <a:solidFill>
                  <a:srgbClr val="2E2E2E"/>
                </a:solidFill>
                <a:latin typeface="Calibri"/>
              </a:rPr>
              <a:t>North America organ transport devices market volume stood at</a:t>
            </a:r>
          </a:p>
        </p:txBody>
      </p:sp>
      <p:pic>
        <p:nvPicPr>
          <p:cNvPr id="53" name="Picture 52" descr="lock.png"/>
          <p:cNvPicPr>
            <a:picLocks noChangeAspect="1"/>
          </p:cNvPicPr>
          <p:nvPr/>
        </p:nvPicPr>
        <p:blipFill>
          <a:blip r:embed="rId6"/>
          <a:stretch>
            <a:fillRect/>
          </a:stretch>
        </p:blipFill>
        <p:spPr>
          <a:xfrm>
            <a:off x="4071209" y="5848032"/>
            <a:ext cx="134549" cy="195707"/>
          </a:xfrm>
          <a:prstGeom prst="rect">
            <a:avLst/>
          </a:prstGeom>
        </p:spPr>
      </p:pic>
      <p:sp>
        <p:nvSpPr>
          <p:cNvPr id="54" name="TextBox 53"/>
          <p:cNvSpPr txBox="1"/>
          <p:nvPr/>
        </p:nvSpPr>
        <p:spPr>
          <a:xfrm>
            <a:off x="4246318" y="5858255"/>
            <a:ext cx="2343683" cy="194310"/>
          </a:xfrm>
          <a:prstGeom prst="rect">
            <a:avLst/>
          </a:prstGeom>
          <a:noFill/>
        </p:spPr>
        <p:txBody>
          <a:bodyPr wrap="none" lIns="0" rIns="0" tIns="0" bIns="0">
            <a:spAutoFit/>
          </a:bodyPr>
          <a:lstStyle/>
          <a:p>
            <a:r>
              <a:rPr sz="1150" b="0">
                <a:solidFill>
                  <a:srgbClr val="2E2E2E"/>
                </a:solidFill>
                <a:latin typeface="Calibri"/>
              </a:rPr>
              <a:t>Units in 2025 and is expected to reach</a:t>
            </a:r>
          </a:p>
        </p:txBody>
      </p:sp>
      <p:pic>
        <p:nvPicPr>
          <p:cNvPr id="55" name="Picture 54" descr="lock.png"/>
          <p:cNvPicPr>
            <a:picLocks noChangeAspect="1"/>
          </p:cNvPicPr>
          <p:nvPr/>
        </p:nvPicPr>
        <p:blipFill>
          <a:blip r:embed="rId6"/>
          <a:stretch>
            <a:fillRect/>
          </a:stretch>
        </p:blipFill>
        <p:spPr>
          <a:xfrm>
            <a:off x="6539155" y="5848032"/>
            <a:ext cx="134549" cy="195707"/>
          </a:xfrm>
          <a:prstGeom prst="rect">
            <a:avLst/>
          </a:prstGeom>
        </p:spPr>
      </p:pic>
      <p:sp>
        <p:nvSpPr>
          <p:cNvPr id="56" name="TextBox 55"/>
          <p:cNvSpPr txBox="1"/>
          <p:nvPr/>
        </p:nvSpPr>
        <p:spPr>
          <a:xfrm>
            <a:off x="6714265" y="5858255"/>
            <a:ext cx="1964563" cy="194310"/>
          </a:xfrm>
          <a:prstGeom prst="rect">
            <a:avLst/>
          </a:prstGeom>
          <a:noFill/>
        </p:spPr>
        <p:txBody>
          <a:bodyPr wrap="none" lIns="0" rIns="0" tIns="0" bIns="0">
            <a:spAutoFit/>
          </a:bodyPr>
          <a:lstStyle/>
          <a:p>
            <a:r>
              <a:rPr sz="1150" b="0">
                <a:solidFill>
                  <a:srgbClr val="2E2E2E"/>
                </a:solidFill>
                <a:latin typeface="Calibri"/>
              </a:rPr>
              <a:t>Units by 2036 end, at a CAGR of</a:t>
            </a:r>
          </a:p>
        </p:txBody>
      </p:sp>
      <p:pic>
        <p:nvPicPr>
          <p:cNvPr id="57" name="Picture 56" descr="lock.png"/>
          <p:cNvPicPr>
            <a:picLocks noChangeAspect="1"/>
          </p:cNvPicPr>
          <p:nvPr/>
        </p:nvPicPr>
        <p:blipFill>
          <a:blip r:embed="rId6"/>
          <a:stretch>
            <a:fillRect/>
          </a:stretch>
        </p:blipFill>
        <p:spPr>
          <a:xfrm>
            <a:off x="8627982" y="5848032"/>
            <a:ext cx="134549" cy="195707"/>
          </a:xfrm>
          <a:prstGeom prst="rect">
            <a:avLst/>
          </a:prstGeom>
        </p:spPr>
      </p:pic>
      <p:sp>
        <p:nvSpPr>
          <p:cNvPr id="58" name="TextBox 57"/>
          <p:cNvSpPr txBox="1"/>
          <p:nvPr/>
        </p:nvSpPr>
        <p:spPr>
          <a:xfrm>
            <a:off x="8803091" y="5858255"/>
            <a:ext cx="2388468" cy="194310"/>
          </a:xfrm>
          <a:prstGeom prst="rect">
            <a:avLst/>
          </a:prstGeom>
          <a:noFill/>
        </p:spPr>
        <p:txBody>
          <a:bodyPr wrap="none" lIns="0" rIns="0" tIns="0" bIns="0">
            <a:spAutoFit/>
          </a:bodyPr>
          <a:lstStyle/>
          <a:p>
            <a:r>
              <a:rPr sz="1150" b="0">
                <a:solidFill>
                  <a:srgbClr val="2E2E2E"/>
                </a:solidFill>
                <a:latin typeface="Calibri"/>
              </a:rPr>
              <a:t>. Value is projected to grow faster than</a:t>
            </a:r>
          </a:p>
        </p:txBody>
      </p:sp>
      <p:sp>
        <p:nvSpPr>
          <p:cNvPr id="59" name="TextBox 58"/>
          <p:cNvSpPr txBox="1"/>
          <p:nvPr/>
        </p:nvSpPr>
        <p:spPr>
          <a:xfrm>
            <a:off x="276225" y="6033515"/>
            <a:ext cx="4708438" cy="194310"/>
          </a:xfrm>
          <a:prstGeom prst="rect">
            <a:avLst/>
          </a:prstGeom>
          <a:noFill/>
        </p:spPr>
        <p:txBody>
          <a:bodyPr wrap="none" lIns="0" rIns="0" tIns="0" bIns="0">
            <a:spAutoFit/>
          </a:bodyPr>
          <a:lstStyle/>
          <a:p>
            <a:r>
              <a:rPr sz="1150" b="0">
                <a:solidFill>
                  <a:srgbClr val="2E2E2E"/>
                </a:solidFill>
                <a:latin typeface="Calibri"/>
              </a:rPr>
              <a:t>volume over the forecast period, owing to an increase in average selling price.</a:t>
            </a:r>
          </a:p>
        </p:txBody>
      </p:sp>
      <p:sp>
        <p:nvSpPr>
          <p:cNvPr id="60" name="lockshield_12"/>
          <p:cNvSpPr/>
          <p:nvPr/>
        </p:nvSpPr>
        <p:spPr>
          <a:xfrm>
            <a:off x="238125" y="1266825"/>
            <a:ext cx="4505325"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ockshield_15"/>
          <p:cNvSpPr/>
          <p:nvPr/>
        </p:nvSpPr>
        <p:spPr>
          <a:xfrm>
            <a:off x="5086350" y="1266825"/>
            <a:ext cx="6858000" cy="21812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Summary Country Indices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outlook ranking 2036 market size, growth and absolute-growth indices to highlight the strongest markets</a:t>
            </a:r>
          </a:p>
        </p:txBody>
      </p:sp>
      <p:sp>
        <p:nvSpPr>
          <p:cNvPr id="10" name="Rounded Rectangle 9"/>
          <p:cNvSpPr/>
          <p:nvPr/>
        </p:nvSpPr>
        <p:spPr>
          <a:xfrm>
            <a:off x="142875" y="1007261"/>
            <a:ext cx="3933825" cy="2445995"/>
          </a:xfrm>
          <a:prstGeom prst="roundRect">
            <a:avLst>
              <a:gd name="adj" fmla="val 311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2" name="Chart 11"/>
          <p:cNvGraphicFramePr>
            <a:graphicFrameLocks noGrp="1"/>
          </p:cNvGraphicFramePr>
          <p:nvPr/>
        </p:nvGraphicFramePr>
        <p:xfrm>
          <a:off x="238125" y="1293011"/>
          <a:ext cx="3743325" cy="210309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489764"/>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4" name="Table 13"/>
          <p:cNvGraphicFramePr>
            <a:graphicFrameLocks noGrp="1"/>
          </p:cNvGraphicFramePr>
          <p:nvPr/>
        </p:nvGraphicFramePr>
        <p:xfrm>
          <a:off x="152400" y="3565964"/>
          <a:ext cx="3928892" cy="2132068"/>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42971">
                <a:tc>
                  <a:txBody>
                    <a:bodyPr wrap="none"/>
                    <a:lstStyle/>
                    <a:p>
                      <a:pPr algn="l"/>
                      <a:r>
                        <a:rPr sz="1100" b="1">
                          <a:solidFill>
                            <a:srgbClr val="2E2E2E"/>
                          </a:solidFill>
                          <a:latin typeface="Calibri"/>
                        </a:rPr>
                        <a:t>Canada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42971">
                <a:tc>
                  <a:txBody>
                    <a:bodyPr wrap="none"/>
                    <a:lstStyle/>
                    <a:p>
                      <a:pPr algn="l"/>
                      <a:r>
                        <a:rPr sz="1100" b="1">
                          <a:solidFill>
                            <a:srgbClr val="2E2E2E"/>
                          </a:solidFill>
                          <a:latin typeface="Calibri"/>
                        </a:rPr>
                        <a:t>U.S.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5" name="TextBox 14"/>
          <p:cNvSpPr txBox="1"/>
          <p:nvPr/>
        </p:nvSpPr>
        <p:spPr>
          <a:xfrm>
            <a:off x="219075" y="5707558"/>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6" name="Rounded Rectangle 15"/>
          <p:cNvSpPr/>
          <p:nvPr/>
        </p:nvSpPr>
        <p:spPr>
          <a:xfrm>
            <a:off x="4114800" y="1007261"/>
            <a:ext cx="3933825" cy="4928498"/>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0050"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8" name="Rectangle 17"/>
          <p:cNvSpPr/>
          <p:nvPr/>
        </p:nvSpPr>
        <p:spPr>
          <a:xfrm>
            <a:off x="4210050" y="1293011"/>
            <a:ext cx="3743325" cy="3091856"/>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9" name="Rectangle 18"/>
          <p:cNvSpPr/>
          <p:nvPr/>
        </p:nvSpPr>
        <p:spPr>
          <a:xfrm>
            <a:off x="4210050" y="4384867"/>
            <a:ext cx="3743325" cy="1493742"/>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20" name="Rounded Rectangle 19"/>
          <p:cNvSpPr/>
          <p:nvPr/>
        </p:nvSpPr>
        <p:spPr>
          <a:xfrm>
            <a:off x="8086725" y="1007261"/>
            <a:ext cx="3933825" cy="2436869"/>
          </a:xfrm>
          <a:prstGeom prst="roundRect">
            <a:avLst>
              <a:gd name="adj" fmla="val 31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1975" y="1064411"/>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22" name="Chart 21"/>
          <p:cNvGraphicFramePr>
            <a:graphicFrameLocks noGrp="1"/>
          </p:cNvGraphicFramePr>
          <p:nvPr/>
        </p:nvGraphicFramePr>
        <p:xfrm>
          <a:off x="8181975" y="1293011"/>
          <a:ext cx="3743325" cy="2093969"/>
        </p:xfrm>
        <a:graphic>
          <a:graphicData uri="http://schemas.openxmlformats.org/drawingml/2006/chart">
            <c:chart xmlns:c="http://schemas.openxmlformats.org/drawingml/2006/chart" r:id="rId4"/>
          </a:graphicData>
        </a:graphic>
      </p:graphicFrame>
      <p:sp>
        <p:nvSpPr>
          <p:cNvPr id="23" name="Rounded Rectangle 22"/>
          <p:cNvSpPr/>
          <p:nvPr/>
        </p:nvSpPr>
        <p:spPr>
          <a:xfrm>
            <a:off x="8086725" y="3471510"/>
            <a:ext cx="3933825" cy="2464249"/>
          </a:xfrm>
          <a:prstGeom prst="roundRect">
            <a:avLst>
              <a:gd name="adj" fmla="val 30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4" name="Table 23"/>
          <p:cNvGraphicFramePr>
            <a:graphicFrameLocks noGrp="1"/>
          </p:cNvGraphicFramePr>
          <p:nvPr/>
        </p:nvGraphicFramePr>
        <p:xfrm>
          <a:off x="8096250" y="3547710"/>
          <a:ext cx="3928892" cy="2159450"/>
        </p:xfrm>
        <a:graphic>
          <a:graphicData uri="http://schemas.openxmlformats.org/drawingml/2006/table">
            <a:tbl>
              <a:tblPr>
                <a:tableStyleId>{5C22544A-7EE6-4342-B048-85BDC9FD1C3A}</a:tableStyleId>
              </a:tblPr>
              <a:tblGrid>
                <a:gridCol w="650421"/>
                <a:gridCol w="1088118"/>
                <a:gridCol w="1088118"/>
                <a:gridCol w="1102235"/>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Absolute Index</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 Opp (US$ Mn)</a:t>
                      </a:r>
                      <a:endParaRPr sz="1100"/>
                    </a:p>
                  </a:txBody>
                  <a:tcPr marL="47625" marR="38100" marT="19050" marB="19050" anchor="ctr">
                    <a:solidFill>
                      <a:srgbClr val="E0E8EF"/>
                    </a:solidFill>
                  </a:tcPr>
                </a:tc>
              </a:tr>
              <a:tr h="956662">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956662">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5" name="TextBox 24"/>
          <p:cNvSpPr txBox="1"/>
          <p:nvPr/>
        </p:nvSpPr>
        <p:spPr>
          <a:xfrm>
            <a:off x="8162925" y="5716684"/>
            <a:ext cx="37814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6" name="Rounded Rectangle 25"/>
          <p:cNvSpPr/>
          <p:nvPr/>
        </p:nvSpPr>
        <p:spPr>
          <a:xfrm>
            <a:off x="142875" y="6027028"/>
            <a:ext cx="10858500" cy="602372"/>
          </a:xfrm>
          <a:prstGeom prst="roundRect">
            <a:avLst>
              <a:gd name="adj" fmla="val 1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6"/>
          <a:stretch>
            <a:fillRect/>
          </a:stretch>
        </p:blipFill>
        <p:spPr>
          <a:xfrm>
            <a:off x="3188017" y="2125483"/>
            <a:ext cx="183356" cy="266700"/>
          </a:xfrm>
          <a:prstGeom prst="rect">
            <a:avLst/>
          </a:prstGeom>
        </p:spPr>
      </p:pic>
      <p:pic>
        <p:nvPicPr>
          <p:cNvPr id="29" name="Picture 28" descr="lock.png"/>
          <p:cNvPicPr>
            <a:picLocks noChangeAspect="1"/>
          </p:cNvPicPr>
          <p:nvPr/>
        </p:nvPicPr>
        <p:blipFill>
          <a:blip r:embed="rId6"/>
          <a:stretch>
            <a:fillRect/>
          </a:stretch>
        </p:blipFill>
        <p:spPr>
          <a:xfrm>
            <a:off x="2232897" y="4496595"/>
            <a:ext cx="355389" cy="516930"/>
          </a:xfrm>
          <a:prstGeom prst="rect">
            <a:avLst/>
          </a:prstGeom>
        </p:spPr>
      </p:pic>
      <p:pic>
        <p:nvPicPr>
          <p:cNvPr id="30" name="Picture 29" descr="lock.png"/>
          <p:cNvPicPr>
            <a:picLocks noChangeAspect="1"/>
          </p:cNvPicPr>
          <p:nvPr/>
        </p:nvPicPr>
        <p:blipFill>
          <a:blip r:embed="rId6"/>
          <a:stretch>
            <a:fillRect/>
          </a:stretch>
        </p:blipFill>
        <p:spPr>
          <a:xfrm>
            <a:off x="6024086" y="2838939"/>
            <a:ext cx="115252" cy="167639"/>
          </a:xfrm>
          <a:prstGeom prst="rect">
            <a:avLst/>
          </a:prstGeom>
        </p:spPr>
      </p:pic>
      <p:pic>
        <p:nvPicPr>
          <p:cNvPr id="31" name="Picture 30" descr="lock.png"/>
          <p:cNvPicPr>
            <a:picLocks noChangeAspect="1"/>
          </p:cNvPicPr>
          <p:nvPr/>
        </p:nvPicPr>
        <p:blipFill>
          <a:blip r:embed="rId6"/>
          <a:stretch>
            <a:fillRect/>
          </a:stretch>
        </p:blipFill>
        <p:spPr>
          <a:xfrm>
            <a:off x="6024086" y="5131738"/>
            <a:ext cx="115252" cy="167639"/>
          </a:xfrm>
          <a:prstGeom prst="rect">
            <a:avLst/>
          </a:prstGeom>
        </p:spPr>
      </p:pic>
      <p:pic>
        <p:nvPicPr>
          <p:cNvPr id="32" name="Picture 31" descr="lock.png"/>
          <p:cNvPicPr>
            <a:picLocks noChangeAspect="1"/>
          </p:cNvPicPr>
          <p:nvPr/>
        </p:nvPicPr>
        <p:blipFill>
          <a:blip r:embed="rId6"/>
          <a:stretch>
            <a:fillRect/>
          </a:stretch>
        </p:blipFill>
        <p:spPr>
          <a:xfrm>
            <a:off x="11131867" y="2120920"/>
            <a:ext cx="183356" cy="266700"/>
          </a:xfrm>
          <a:prstGeom prst="rect">
            <a:avLst/>
          </a:prstGeom>
        </p:spPr>
      </p:pic>
      <p:pic>
        <p:nvPicPr>
          <p:cNvPr id="33" name="Picture 32" descr="lock.png"/>
          <p:cNvPicPr>
            <a:picLocks noChangeAspect="1"/>
          </p:cNvPicPr>
          <p:nvPr/>
        </p:nvPicPr>
        <p:blipFill>
          <a:blip r:embed="rId6"/>
          <a:stretch>
            <a:fillRect/>
          </a:stretch>
        </p:blipFill>
        <p:spPr>
          <a:xfrm>
            <a:off x="10175439" y="4490163"/>
            <a:ext cx="357960" cy="520669"/>
          </a:xfrm>
          <a:prstGeom prst="rect">
            <a:avLst/>
          </a:prstGeom>
        </p:spPr>
      </p:pic>
      <p:sp>
        <p:nvSpPr>
          <p:cNvPr id="34" name="TextBox 33"/>
          <p:cNvSpPr txBox="1"/>
          <p:nvPr/>
        </p:nvSpPr>
        <p:spPr>
          <a:xfrm>
            <a:off x="257175" y="6160574"/>
            <a:ext cx="3679204" cy="186689"/>
          </a:xfrm>
          <a:prstGeom prst="rect">
            <a:avLst/>
          </a:prstGeom>
          <a:noFill/>
        </p:spPr>
        <p:txBody>
          <a:bodyPr wrap="none" lIns="0" rIns="0" tIns="0" bIns="0">
            <a:spAutoFit/>
          </a:bodyPr>
          <a:lstStyle/>
          <a:p>
            <a:r>
              <a:rPr sz="1100" b="0">
                <a:solidFill>
                  <a:srgbClr val="2E2E2E"/>
                </a:solidFill>
                <a:latin typeface="Calibri"/>
              </a:rPr>
              <a:t>The U.S. organ transport devices market is projected to register</a:t>
            </a:r>
          </a:p>
        </p:txBody>
      </p:sp>
      <p:pic>
        <p:nvPicPr>
          <p:cNvPr id="35" name="Picture 34" descr="lock.png"/>
          <p:cNvPicPr>
            <a:picLocks noChangeAspect="1"/>
          </p:cNvPicPr>
          <p:nvPr/>
        </p:nvPicPr>
        <p:blipFill>
          <a:blip r:embed="rId6"/>
          <a:stretch>
            <a:fillRect/>
          </a:stretch>
        </p:blipFill>
        <p:spPr>
          <a:xfrm>
            <a:off x="3884431" y="6150795"/>
            <a:ext cx="128699" cy="187198"/>
          </a:xfrm>
          <a:prstGeom prst="rect">
            <a:avLst/>
          </a:prstGeom>
        </p:spPr>
      </p:pic>
      <p:sp>
        <p:nvSpPr>
          <p:cNvPr id="36" name="TextBox 35"/>
          <p:cNvSpPr txBox="1"/>
          <p:nvPr/>
        </p:nvSpPr>
        <p:spPr>
          <a:xfrm>
            <a:off x="4051927" y="6160574"/>
            <a:ext cx="4339761" cy="186689"/>
          </a:xfrm>
          <a:prstGeom prst="rect">
            <a:avLst/>
          </a:prstGeom>
          <a:noFill/>
        </p:spPr>
        <p:txBody>
          <a:bodyPr wrap="none" lIns="0" rIns="0" tIns="0" bIns="0">
            <a:spAutoFit/>
          </a:bodyPr>
          <a:lstStyle/>
          <a:p>
            <a:r>
              <a:rPr sz="1100" b="0">
                <a:solidFill>
                  <a:srgbClr val="2E2E2E"/>
                </a:solidFill>
                <a:latin typeface="Calibri"/>
              </a:rPr>
              <a:t>X higher value than Canada in 2036. Canada posts the highest CAGR Index (</a:t>
            </a:r>
          </a:p>
        </p:txBody>
      </p:sp>
      <p:pic>
        <p:nvPicPr>
          <p:cNvPr id="37" name="Picture 36" descr="lock.png"/>
          <p:cNvPicPr>
            <a:picLocks noChangeAspect="1"/>
          </p:cNvPicPr>
          <p:nvPr/>
        </p:nvPicPr>
        <p:blipFill>
          <a:blip r:embed="rId6"/>
          <a:stretch>
            <a:fillRect/>
          </a:stretch>
        </p:blipFill>
        <p:spPr>
          <a:xfrm>
            <a:off x="8339740" y="6150795"/>
            <a:ext cx="128699" cy="187198"/>
          </a:xfrm>
          <a:prstGeom prst="rect">
            <a:avLst/>
          </a:prstGeom>
        </p:spPr>
      </p:pic>
      <p:sp>
        <p:nvSpPr>
          <p:cNvPr id="38" name="TextBox 37"/>
          <p:cNvSpPr txBox="1"/>
          <p:nvPr/>
        </p:nvSpPr>
        <p:spPr>
          <a:xfrm>
            <a:off x="8507236" y="6160574"/>
            <a:ext cx="789979" cy="186689"/>
          </a:xfrm>
          <a:prstGeom prst="rect">
            <a:avLst/>
          </a:prstGeom>
          <a:noFill/>
        </p:spPr>
        <p:txBody>
          <a:bodyPr wrap="none" lIns="0" rIns="0" tIns="0" bIns="0">
            <a:spAutoFit/>
          </a:bodyPr>
          <a:lstStyle/>
          <a:p>
            <a:r>
              <a:rPr sz="1100" b="0">
                <a:solidFill>
                  <a:srgbClr val="2E2E2E"/>
                </a:solidFill>
                <a:latin typeface="Calibri"/>
              </a:rPr>
              <a:t>), growing at</a:t>
            </a:r>
          </a:p>
        </p:txBody>
      </p:sp>
      <p:pic>
        <p:nvPicPr>
          <p:cNvPr id="39" name="Picture 38" descr="lock.png"/>
          <p:cNvPicPr>
            <a:picLocks noChangeAspect="1"/>
          </p:cNvPicPr>
          <p:nvPr/>
        </p:nvPicPr>
        <p:blipFill>
          <a:blip r:embed="rId6"/>
          <a:stretch>
            <a:fillRect/>
          </a:stretch>
        </p:blipFill>
        <p:spPr>
          <a:xfrm>
            <a:off x="9245267" y="6150795"/>
            <a:ext cx="128699" cy="187198"/>
          </a:xfrm>
          <a:prstGeom prst="rect">
            <a:avLst/>
          </a:prstGeom>
        </p:spPr>
      </p:pic>
      <p:sp>
        <p:nvSpPr>
          <p:cNvPr id="40" name="TextBox 39"/>
          <p:cNvSpPr txBox="1"/>
          <p:nvPr/>
        </p:nvSpPr>
        <p:spPr>
          <a:xfrm>
            <a:off x="9412763" y="6160574"/>
            <a:ext cx="1069106" cy="186689"/>
          </a:xfrm>
          <a:prstGeom prst="rect">
            <a:avLst/>
          </a:prstGeom>
          <a:noFill/>
        </p:spPr>
        <p:txBody>
          <a:bodyPr wrap="none" lIns="0" rIns="0" tIns="0" bIns="0">
            <a:spAutoFit/>
          </a:bodyPr>
          <a:lstStyle/>
          <a:p>
            <a:r>
              <a:rPr sz="1100" b="0">
                <a:solidFill>
                  <a:srgbClr val="2E2E2E"/>
                </a:solidFill>
                <a:latin typeface="Calibri"/>
              </a:rPr>
              <a:t>against the North</a:t>
            </a:r>
          </a:p>
        </p:txBody>
      </p:sp>
      <p:sp>
        <p:nvSpPr>
          <p:cNvPr id="41" name="TextBox 40"/>
          <p:cNvSpPr txBox="1"/>
          <p:nvPr/>
        </p:nvSpPr>
        <p:spPr>
          <a:xfrm>
            <a:off x="257175" y="6328214"/>
            <a:ext cx="4080842" cy="186689"/>
          </a:xfrm>
          <a:prstGeom prst="rect">
            <a:avLst/>
          </a:prstGeom>
          <a:noFill/>
        </p:spPr>
        <p:txBody>
          <a:bodyPr wrap="none" lIns="0" rIns="0" tIns="0" bIns="0">
            <a:spAutoFit/>
          </a:bodyPr>
          <a:lstStyle/>
          <a:p>
            <a:r>
              <a:rPr sz="1100" b="0">
                <a:solidFill>
                  <a:srgbClr val="2E2E2E"/>
                </a:solidFill>
                <a:latin typeface="Calibri"/>
              </a:rPr>
              <a:t>America benchmark, while U.S. offers the largest absolute opportunity</a:t>
            </a:r>
          </a:p>
        </p:txBody>
      </p:sp>
      <p:pic>
        <p:nvPicPr>
          <p:cNvPr id="42" name="Picture 41" descr="lock.png"/>
          <p:cNvPicPr>
            <a:picLocks noChangeAspect="1"/>
          </p:cNvPicPr>
          <p:nvPr/>
        </p:nvPicPr>
        <p:blipFill>
          <a:blip r:embed="rId6"/>
          <a:stretch>
            <a:fillRect/>
          </a:stretch>
        </p:blipFill>
        <p:spPr>
          <a:xfrm>
            <a:off x="4286068" y="6318435"/>
            <a:ext cx="128699" cy="187198"/>
          </a:xfrm>
          <a:prstGeom prst="rect">
            <a:avLst/>
          </a:prstGeom>
        </p:spPr>
      </p:pic>
      <p:sp>
        <p:nvSpPr>
          <p:cNvPr id="43" name="TextBox 42"/>
          <p:cNvSpPr txBox="1"/>
          <p:nvPr/>
        </p:nvSpPr>
        <p:spPr>
          <a:xfrm>
            <a:off x="4453564" y="6328214"/>
            <a:ext cx="3311946" cy="186689"/>
          </a:xfrm>
          <a:prstGeom prst="rect">
            <a:avLst/>
          </a:prstGeom>
          <a:noFill/>
        </p:spPr>
        <p:txBody>
          <a:bodyPr wrap="none" lIns="0" rIns="0" tIns="0" bIns="0">
            <a:spAutoFit/>
          </a:bodyPr>
          <a:lstStyle/>
          <a:p>
            <a:r>
              <a:rPr sz="1100" b="0">
                <a:solidFill>
                  <a:srgbClr val="2E2E2E"/>
                </a:solidFill>
                <a:latin typeface="Calibri"/>
              </a:rPr>
              <a:t>US$ Mn of incremental market between 2026 and 2036 (</a:t>
            </a:r>
          </a:p>
        </p:txBody>
      </p:sp>
      <p:pic>
        <p:nvPicPr>
          <p:cNvPr id="44" name="Picture 43" descr="lock.png"/>
          <p:cNvPicPr>
            <a:picLocks noChangeAspect="1"/>
          </p:cNvPicPr>
          <p:nvPr/>
        </p:nvPicPr>
        <p:blipFill>
          <a:blip r:embed="rId6"/>
          <a:stretch>
            <a:fillRect/>
          </a:stretch>
        </p:blipFill>
        <p:spPr>
          <a:xfrm>
            <a:off x="7713563" y="6318435"/>
            <a:ext cx="128699" cy="187198"/>
          </a:xfrm>
          <a:prstGeom prst="rect">
            <a:avLst/>
          </a:prstGeom>
        </p:spPr>
      </p:pic>
      <p:sp>
        <p:nvSpPr>
          <p:cNvPr id="45" name="TextBox 44"/>
          <p:cNvSpPr txBox="1"/>
          <p:nvPr/>
        </p:nvSpPr>
        <p:spPr>
          <a:xfrm>
            <a:off x="7881058" y="6328214"/>
            <a:ext cx="1973336" cy="186689"/>
          </a:xfrm>
          <a:prstGeom prst="rect">
            <a:avLst/>
          </a:prstGeom>
          <a:noFill/>
        </p:spPr>
        <p:txBody>
          <a:bodyPr wrap="none" lIns="0" rIns="0" tIns="0" bIns="0">
            <a:spAutoFit/>
          </a:bodyPr>
          <a:lstStyle/>
          <a:p>
            <a:r>
              <a:rPr sz="1100" b="0">
                <a:solidFill>
                  <a:srgbClr val="2E2E2E"/>
                </a:solidFill>
                <a:latin typeface="Calibri"/>
              </a:rPr>
              <a:t>of the North America increment).</a:t>
            </a:r>
          </a:p>
        </p:txBody>
      </p:sp>
      <p:sp>
        <p:nvSpPr>
          <p:cNvPr id="46" name="lockshield_12"/>
          <p:cNvSpPr/>
          <p:nvPr/>
        </p:nvSpPr>
        <p:spPr>
          <a:xfrm>
            <a:off x="238125" y="1293011"/>
            <a:ext cx="3743325" cy="210309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lockshield_22"/>
          <p:cNvSpPr/>
          <p:nvPr/>
        </p:nvSpPr>
        <p:spPr>
          <a:xfrm>
            <a:off x="8181975" y="1293011"/>
            <a:ext cx="3743325" cy="209396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Market Overview (1/4)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market size, competitive landscape and the drivers, restraints and trends shaping demand</a:t>
            </a:r>
          </a:p>
        </p:txBody>
      </p:sp>
      <p:sp>
        <p:nvSpPr>
          <p:cNvPr id="10" name="Rounded Rectangle 9"/>
          <p:cNvSpPr/>
          <p:nvPr/>
        </p:nvSpPr>
        <p:spPr>
          <a:xfrm>
            <a:off x="142875" y="98107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2" name="Rectangle 11"/>
          <p:cNvSpPr/>
          <p:nvPr/>
        </p:nvSpPr>
        <p:spPr>
          <a:xfrm>
            <a:off x="276225" y="13049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4" name="Rounded Rectangle 13"/>
          <p:cNvSpPr/>
          <p:nvPr/>
        </p:nvSpPr>
        <p:spPr>
          <a:xfrm>
            <a:off x="142875" y="2800350"/>
            <a:ext cx="11906250" cy="1571625"/>
          </a:xfrm>
          <a:prstGeom prst="roundRect">
            <a:avLst>
              <a:gd name="adj" fmla="val 48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88607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6" name="Rectangle 15"/>
          <p:cNvSpPr/>
          <p:nvPr/>
        </p:nvSpPr>
        <p:spPr>
          <a:xfrm>
            <a:off x="276225" y="31242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09925"/>
            <a:ext cx="11639550" cy="10858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142875" y="4505325"/>
            <a:ext cx="3943350"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91050"/>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0" name="Rectangle 19"/>
          <p:cNvSpPr/>
          <p:nvPr/>
        </p:nvSpPr>
        <p:spPr>
          <a:xfrm>
            <a:off x="276225" y="4829175"/>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14900"/>
            <a:ext cx="3676650"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4238625"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71975"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4" name="Rectangle 23"/>
          <p:cNvSpPr/>
          <p:nvPr/>
        </p:nvSpPr>
        <p:spPr>
          <a:xfrm>
            <a:off x="4371975"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71975"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8210550" y="4505325"/>
            <a:ext cx="3819525" cy="2124075"/>
          </a:xfrm>
          <a:prstGeom prst="roundRect">
            <a:avLst>
              <a:gd name="adj" fmla="val 3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3900" y="4591050"/>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8" name="Rectangle 27"/>
          <p:cNvSpPr/>
          <p:nvPr/>
        </p:nvSpPr>
        <p:spPr>
          <a:xfrm>
            <a:off x="8343900" y="4829175"/>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43900" y="4914900"/>
            <a:ext cx="3552825" cy="16383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Mix shifting toward 'Static Cold Storage Devices' and higher-growth tiers.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Canada outpacing the North America average.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Demand broadening across 2 device technology categories.</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3705200" cy="194310"/>
          </a:xfrm>
          <a:prstGeom prst="rect">
            <a:avLst/>
          </a:prstGeom>
          <a:noFill/>
        </p:spPr>
        <p:txBody>
          <a:bodyPr wrap="none" lIns="0" rIns="0" tIns="0" bIns="0">
            <a:spAutoFit/>
          </a:bodyPr>
          <a:lstStyle/>
          <a:p>
            <a:r>
              <a:rPr sz="1150" b="0">
                <a:solidFill>
                  <a:srgbClr val="2E2E2E"/>
                </a:solidFill>
                <a:latin typeface="Calibri"/>
              </a:rPr>
              <a:t>Global organ transport devices market is expected to witness</a:t>
            </a:r>
          </a:p>
        </p:txBody>
      </p:sp>
      <p:pic>
        <p:nvPicPr>
          <p:cNvPr id="32" name="Picture 31" descr="lock.png"/>
          <p:cNvPicPr>
            <a:picLocks noChangeAspect="1"/>
          </p:cNvPicPr>
          <p:nvPr/>
        </p:nvPicPr>
        <p:blipFill>
          <a:blip r:embed="rId4"/>
          <a:stretch>
            <a:fillRect/>
          </a:stretch>
        </p:blipFill>
        <p:spPr>
          <a:xfrm>
            <a:off x="3930579" y="1389951"/>
            <a:ext cx="134549" cy="195707"/>
          </a:xfrm>
          <a:prstGeom prst="rect">
            <a:avLst/>
          </a:prstGeom>
        </p:spPr>
      </p:pic>
      <p:sp>
        <p:nvSpPr>
          <p:cNvPr id="33" name="TextBox 32"/>
          <p:cNvSpPr txBox="1"/>
          <p:nvPr/>
        </p:nvSpPr>
        <p:spPr>
          <a:xfrm>
            <a:off x="4105688" y="1400175"/>
            <a:ext cx="5593866" cy="194310"/>
          </a:xfrm>
          <a:prstGeom prst="rect">
            <a:avLst/>
          </a:prstGeom>
          <a:noFill/>
        </p:spPr>
        <p:txBody>
          <a:bodyPr wrap="none" lIns="0" rIns="0" tIns="0" bIns="0">
            <a:spAutoFit/>
          </a:bodyPr>
          <a:lstStyle/>
          <a:p>
            <a:r>
              <a:rPr sz="1150" b="0">
                <a:solidFill>
                  <a:srgbClr val="2E2E2E"/>
                </a:solidFill>
                <a:latin typeface="Calibri"/>
              </a:rPr>
              <a:t>X increase in revenue by 2036 end. Global organ transport devices market accounted for US$</a:t>
            </a:r>
          </a:p>
        </p:txBody>
      </p:sp>
      <p:pic>
        <p:nvPicPr>
          <p:cNvPr id="34" name="Picture 33" descr="lock.png"/>
          <p:cNvPicPr>
            <a:picLocks noChangeAspect="1"/>
          </p:cNvPicPr>
          <p:nvPr/>
        </p:nvPicPr>
        <p:blipFill>
          <a:blip r:embed="rId4"/>
          <a:stretch>
            <a:fillRect/>
          </a:stretch>
        </p:blipFill>
        <p:spPr>
          <a:xfrm>
            <a:off x="9648708" y="1389951"/>
            <a:ext cx="134549" cy="195707"/>
          </a:xfrm>
          <a:prstGeom prst="rect">
            <a:avLst/>
          </a:prstGeom>
        </p:spPr>
      </p:pic>
      <p:sp>
        <p:nvSpPr>
          <p:cNvPr id="35" name="TextBox 34"/>
          <p:cNvSpPr txBox="1"/>
          <p:nvPr/>
        </p:nvSpPr>
        <p:spPr>
          <a:xfrm>
            <a:off x="9823817" y="1400175"/>
            <a:ext cx="1877007" cy="194310"/>
          </a:xfrm>
          <a:prstGeom prst="rect">
            <a:avLst/>
          </a:prstGeom>
          <a:noFill/>
        </p:spPr>
        <p:txBody>
          <a:bodyPr wrap="none" lIns="0" rIns="0" tIns="0" bIns="0">
            <a:spAutoFit/>
          </a:bodyPr>
          <a:lstStyle/>
          <a:p>
            <a:r>
              <a:rPr sz="1150" b="0">
                <a:solidFill>
                  <a:srgbClr val="2E2E2E"/>
                </a:solidFill>
                <a:latin typeface="Calibri"/>
              </a:rPr>
              <a:t>Mn in 2025, which is expected</a:t>
            </a:r>
          </a:p>
        </p:txBody>
      </p:sp>
      <p:sp>
        <p:nvSpPr>
          <p:cNvPr id="36" name="TextBox 35"/>
          <p:cNvSpPr txBox="1"/>
          <p:nvPr/>
        </p:nvSpPr>
        <p:spPr>
          <a:xfrm>
            <a:off x="276225" y="1575435"/>
            <a:ext cx="1158453" cy="194310"/>
          </a:xfrm>
          <a:prstGeom prst="rect">
            <a:avLst/>
          </a:prstGeom>
          <a:noFill/>
        </p:spPr>
        <p:txBody>
          <a:bodyPr wrap="none" lIns="0" rIns="0" tIns="0" bIns="0">
            <a:spAutoFit/>
          </a:bodyPr>
          <a:lstStyle/>
          <a:p>
            <a:r>
              <a:rPr sz="1150" b="0">
                <a:solidFill>
                  <a:srgbClr val="2E2E2E"/>
                </a:solidFill>
                <a:latin typeface="Calibri"/>
              </a:rPr>
              <a:t>to increase to US$</a:t>
            </a:r>
          </a:p>
        </p:txBody>
      </p:sp>
      <p:pic>
        <p:nvPicPr>
          <p:cNvPr id="37" name="Picture 36" descr="lock.png"/>
          <p:cNvPicPr>
            <a:picLocks noChangeAspect="1"/>
          </p:cNvPicPr>
          <p:nvPr/>
        </p:nvPicPr>
        <p:blipFill>
          <a:blip r:embed="rId4"/>
          <a:stretch>
            <a:fillRect/>
          </a:stretch>
        </p:blipFill>
        <p:spPr>
          <a:xfrm>
            <a:off x="1383832" y="1565211"/>
            <a:ext cx="134549" cy="195707"/>
          </a:xfrm>
          <a:prstGeom prst="rect">
            <a:avLst/>
          </a:prstGeom>
        </p:spPr>
      </p:pic>
      <p:sp>
        <p:nvSpPr>
          <p:cNvPr id="38" name="TextBox 37"/>
          <p:cNvSpPr txBox="1"/>
          <p:nvPr/>
        </p:nvSpPr>
        <p:spPr>
          <a:xfrm>
            <a:off x="1558941" y="1575435"/>
            <a:ext cx="1527554" cy="194310"/>
          </a:xfrm>
          <a:prstGeom prst="rect">
            <a:avLst/>
          </a:prstGeom>
          <a:noFill/>
        </p:spPr>
        <p:txBody>
          <a:bodyPr wrap="none" lIns="0" rIns="0" tIns="0" bIns="0">
            <a:spAutoFit/>
          </a:bodyPr>
          <a:lstStyle/>
          <a:p>
            <a:r>
              <a:rPr sz="1150" b="0">
                <a:solidFill>
                  <a:srgbClr val="2E2E2E"/>
                </a:solidFill>
                <a:latin typeface="Calibri"/>
              </a:rPr>
              <a:t>Mn in 2036 at a CAGR of</a:t>
            </a:r>
          </a:p>
        </p:txBody>
      </p:sp>
      <p:pic>
        <p:nvPicPr>
          <p:cNvPr id="39" name="Picture 38" descr="lock.png"/>
          <p:cNvPicPr>
            <a:picLocks noChangeAspect="1"/>
          </p:cNvPicPr>
          <p:nvPr/>
        </p:nvPicPr>
        <p:blipFill>
          <a:blip r:embed="rId4"/>
          <a:stretch>
            <a:fillRect/>
          </a:stretch>
        </p:blipFill>
        <p:spPr>
          <a:xfrm>
            <a:off x="3035649" y="1565211"/>
            <a:ext cx="134549" cy="195707"/>
          </a:xfrm>
          <a:prstGeom prst="rect">
            <a:avLst/>
          </a:prstGeom>
        </p:spPr>
      </p:pic>
      <p:sp>
        <p:nvSpPr>
          <p:cNvPr id="40" name="TextBox 39"/>
          <p:cNvSpPr txBox="1"/>
          <p:nvPr/>
        </p:nvSpPr>
        <p:spPr>
          <a:xfrm>
            <a:off x="3210758" y="157543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1" name="TextBox 40"/>
          <p:cNvSpPr txBox="1"/>
          <p:nvPr/>
        </p:nvSpPr>
        <p:spPr>
          <a:xfrm>
            <a:off x="276225" y="1803273"/>
            <a:ext cx="11617858" cy="194310"/>
          </a:xfrm>
          <a:prstGeom prst="rect">
            <a:avLst/>
          </a:prstGeom>
          <a:noFill/>
        </p:spPr>
        <p:txBody>
          <a:bodyPr wrap="none" lIns="0" rIns="0" tIns="0" bIns="0">
            <a:spAutoFit/>
          </a:bodyPr>
          <a:lstStyle/>
          <a:p>
            <a:r>
              <a:rPr sz="1150" b="0">
                <a:solidFill>
                  <a:srgbClr val="2E2E2E"/>
                </a:solidFill>
                <a:latin typeface="Calibri"/>
              </a:rPr>
              <a:t>The global organ transport devices market has been analysed on the basis of device technology, organ compatibility, device reusability and monitoring capability across the globe. U.S. is expected</a:t>
            </a:r>
          </a:p>
        </p:txBody>
      </p:sp>
      <p:sp>
        <p:nvSpPr>
          <p:cNvPr id="42" name="TextBox 41"/>
          <p:cNvSpPr txBox="1"/>
          <p:nvPr/>
        </p:nvSpPr>
        <p:spPr>
          <a:xfrm>
            <a:off x="276225" y="1978533"/>
            <a:ext cx="7750653" cy="194310"/>
          </a:xfrm>
          <a:prstGeom prst="rect">
            <a:avLst/>
          </a:prstGeom>
          <a:noFill/>
        </p:spPr>
        <p:txBody>
          <a:bodyPr wrap="none" lIns="0" rIns="0" tIns="0" bIns="0">
            <a:spAutoFit/>
          </a:bodyPr>
          <a:lstStyle/>
          <a:p>
            <a:r>
              <a:rPr sz="1150" b="0">
                <a:solidFill>
                  <a:srgbClr val="2E2E2E"/>
                </a:solidFill>
                <a:latin typeface="Calibri"/>
              </a:rPr>
              <a:t>to remain the largest market for organ transport devices, while demand in Canada is projected to increase at the highest CAGR of</a:t>
            </a:r>
          </a:p>
        </p:txBody>
      </p:sp>
      <p:pic>
        <p:nvPicPr>
          <p:cNvPr id="43" name="Picture 42" descr="lock.png"/>
          <p:cNvPicPr>
            <a:picLocks noChangeAspect="1"/>
          </p:cNvPicPr>
          <p:nvPr/>
        </p:nvPicPr>
        <p:blipFill>
          <a:blip r:embed="rId4"/>
          <a:stretch>
            <a:fillRect/>
          </a:stretch>
        </p:blipFill>
        <p:spPr>
          <a:xfrm>
            <a:off x="7976032" y="1968309"/>
            <a:ext cx="134549" cy="195707"/>
          </a:xfrm>
          <a:prstGeom prst="rect">
            <a:avLst/>
          </a:prstGeom>
        </p:spPr>
      </p:pic>
      <p:sp>
        <p:nvSpPr>
          <p:cNvPr id="44" name="TextBox 43"/>
          <p:cNvSpPr txBox="1"/>
          <p:nvPr/>
        </p:nvSpPr>
        <p:spPr>
          <a:xfrm>
            <a:off x="8151141" y="1978533"/>
            <a:ext cx="1960872" cy="194310"/>
          </a:xfrm>
          <a:prstGeom prst="rect">
            <a:avLst/>
          </a:prstGeom>
          <a:noFill/>
        </p:spPr>
        <p:txBody>
          <a:bodyPr wrap="none" lIns="0" rIns="0" tIns="0" bIns="0">
            <a:spAutoFit/>
          </a:bodyPr>
          <a:lstStyle/>
          <a:p>
            <a:r>
              <a:rPr sz="1150" b="0">
                <a:solidFill>
                  <a:srgbClr val="2E2E2E"/>
                </a:solidFill>
                <a:latin typeface="Calibri"/>
              </a:rPr>
              <a:t>throughout the forecast period.</a:t>
            </a:r>
          </a:p>
        </p:txBody>
      </p:sp>
      <p:sp>
        <p:nvSpPr>
          <p:cNvPr id="45" name="TextBox 44"/>
          <p:cNvSpPr txBox="1"/>
          <p:nvPr/>
        </p:nvSpPr>
        <p:spPr>
          <a:xfrm>
            <a:off x="276225" y="3219450"/>
            <a:ext cx="6747433" cy="194310"/>
          </a:xfrm>
          <a:prstGeom prst="rect">
            <a:avLst/>
          </a:prstGeom>
          <a:noFill/>
        </p:spPr>
        <p:txBody>
          <a:bodyPr wrap="none" lIns="0" rIns="0" tIns="0" bIns="0">
            <a:spAutoFit/>
          </a:bodyPr>
          <a:lstStyle/>
          <a:p>
            <a:r>
              <a:rPr sz="1150" b="0">
                <a:solidFill>
                  <a:srgbClr val="2E2E2E"/>
                </a:solidFill>
                <a:latin typeface="Calibri"/>
              </a:rPr>
              <a:t>▪ The market is consolidated: the leading device technology category 'Portable Machine Perfusion Devices' holds</a:t>
            </a:r>
          </a:p>
        </p:txBody>
      </p:sp>
      <p:pic>
        <p:nvPicPr>
          <p:cNvPr id="46" name="Picture 45" descr="lock.png"/>
          <p:cNvPicPr>
            <a:picLocks noChangeAspect="1"/>
          </p:cNvPicPr>
          <p:nvPr/>
        </p:nvPicPr>
        <p:blipFill>
          <a:blip r:embed="rId4"/>
          <a:stretch>
            <a:fillRect/>
          </a:stretch>
        </p:blipFill>
        <p:spPr>
          <a:xfrm>
            <a:off x="6972812" y="3209226"/>
            <a:ext cx="134549" cy="195707"/>
          </a:xfrm>
          <a:prstGeom prst="rect">
            <a:avLst/>
          </a:prstGeom>
        </p:spPr>
      </p:pic>
      <p:sp>
        <p:nvSpPr>
          <p:cNvPr id="47" name="TextBox 46"/>
          <p:cNvSpPr txBox="1"/>
          <p:nvPr/>
        </p:nvSpPr>
        <p:spPr>
          <a:xfrm>
            <a:off x="7147921" y="3219450"/>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48" name="TextBox 47"/>
          <p:cNvSpPr txBox="1"/>
          <p:nvPr/>
        </p:nvSpPr>
        <p:spPr>
          <a:xfrm>
            <a:off x="276225" y="3447287"/>
            <a:ext cx="5339419" cy="194310"/>
          </a:xfrm>
          <a:prstGeom prst="rect">
            <a:avLst/>
          </a:prstGeom>
          <a:noFill/>
        </p:spPr>
        <p:txBody>
          <a:bodyPr wrap="none" lIns="0" rIns="0" tIns="0" bIns="0">
            <a:spAutoFit/>
          </a:bodyPr>
          <a:lstStyle/>
          <a:p>
            <a:r>
              <a:rPr sz="1150" b="0">
                <a:solidFill>
                  <a:srgbClr val="2E2E2E"/>
                </a:solidFill>
                <a:latin typeface="Calibri"/>
              </a:rPr>
              <a:t>▪ Demand spans 2 countries and 9 segmentation lenses (2 device technology categories).</a:t>
            </a:r>
          </a:p>
        </p:txBody>
      </p:sp>
      <p:sp>
        <p:nvSpPr>
          <p:cNvPr id="49" name="TextBox 48"/>
          <p:cNvSpPr txBox="1"/>
          <p:nvPr/>
        </p:nvSpPr>
        <p:spPr>
          <a:xfrm>
            <a:off x="276225" y="3675125"/>
            <a:ext cx="2288914" cy="194310"/>
          </a:xfrm>
          <a:prstGeom prst="rect">
            <a:avLst/>
          </a:prstGeom>
          <a:noFill/>
        </p:spPr>
        <p:txBody>
          <a:bodyPr wrap="none" lIns="0" rIns="0" tIns="0" bIns="0">
            <a:spAutoFit/>
          </a:bodyPr>
          <a:lstStyle/>
          <a:p>
            <a:r>
              <a:rPr sz="1150" b="0">
                <a:solidFill>
                  <a:srgbClr val="2E2E2E"/>
                </a:solidFill>
                <a:latin typeface="Calibri"/>
              </a:rPr>
              <a:t>▪ U.S. is the largest country market at</a:t>
            </a:r>
          </a:p>
        </p:txBody>
      </p:sp>
      <p:pic>
        <p:nvPicPr>
          <p:cNvPr id="50" name="Picture 49" descr="lock.png"/>
          <p:cNvPicPr>
            <a:picLocks noChangeAspect="1"/>
          </p:cNvPicPr>
          <p:nvPr/>
        </p:nvPicPr>
        <p:blipFill>
          <a:blip r:embed="rId4"/>
          <a:stretch>
            <a:fillRect/>
          </a:stretch>
        </p:blipFill>
        <p:spPr>
          <a:xfrm>
            <a:off x="2514293" y="3664902"/>
            <a:ext cx="134549" cy="195707"/>
          </a:xfrm>
          <a:prstGeom prst="rect">
            <a:avLst/>
          </a:prstGeom>
        </p:spPr>
      </p:pic>
      <p:sp>
        <p:nvSpPr>
          <p:cNvPr id="51" name="TextBox 50"/>
          <p:cNvSpPr txBox="1"/>
          <p:nvPr/>
        </p:nvSpPr>
        <p:spPr>
          <a:xfrm>
            <a:off x="2689402" y="3675125"/>
            <a:ext cx="916272" cy="194310"/>
          </a:xfrm>
          <a:prstGeom prst="rect">
            <a:avLst/>
          </a:prstGeom>
          <a:noFill/>
        </p:spPr>
        <p:txBody>
          <a:bodyPr wrap="none" lIns="0" rIns="0" tIns="0" bIns="0">
            <a:spAutoFit/>
          </a:bodyPr>
          <a:lstStyle/>
          <a:p>
            <a:r>
              <a:rPr sz="1150" b="0">
                <a:solidFill>
                  <a:srgbClr val="2E2E2E"/>
                </a:solidFill>
                <a:latin typeface="Calibri"/>
              </a:rPr>
              <a:t>of 2036 value.</a:t>
            </a:r>
          </a:p>
        </p:txBody>
      </p:sp>
      <p:sp>
        <p:nvSpPr>
          <p:cNvPr id="52" name="TextBox 51"/>
          <p:cNvSpPr txBox="1"/>
          <p:nvPr/>
        </p:nvSpPr>
        <p:spPr>
          <a:xfrm>
            <a:off x="276225" y="4924425"/>
            <a:ext cx="3276178" cy="194310"/>
          </a:xfrm>
          <a:prstGeom prst="rect">
            <a:avLst/>
          </a:prstGeom>
          <a:noFill/>
        </p:spPr>
        <p:txBody>
          <a:bodyPr wrap="none" lIns="0" rIns="0" tIns="0" bIns="0">
            <a:spAutoFit/>
          </a:bodyPr>
          <a:lstStyle/>
          <a:p>
            <a:r>
              <a:rPr sz="1150" b="0">
                <a:solidFill>
                  <a:srgbClr val="2E2E2E"/>
                </a:solidFill>
                <a:latin typeface="Calibri"/>
              </a:rPr>
              <a:t>▪ Accelerating uptake of 'Static Cold Storage Devices' (</a:t>
            </a:r>
          </a:p>
        </p:txBody>
      </p:sp>
      <p:pic>
        <p:nvPicPr>
          <p:cNvPr id="53" name="Picture 52" descr="lock.png"/>
          <p:cNvPicPr>
            <a:picLocks noChangeAspect="1"/>
          </p:cNvPicPr>
          <p:nvPr/>
        </p:nvPicPr>
        <p:blipFill>
          <a:blip r:embed="rId4"/>
          <a:stretch>
            <a:fillRect/>
          </a:stretch>
        </p:blipFill>
        <p:spPr>
          <a:xfrm>
            <a:off x="3501557" y="4914201"/>
            <a:ext cx="134549" cy="195707"/>
          </a:xfrm>
          <a:prstGeom prst="rect">
            <a:avLst/>
          </a:prstGeom>
        </p:spPr>
      </p:pic>
      <p:sp>
        <p:nvSpPr>
          <p:cNvPr id="54" name="TextBox 53"/>
          <p:cNvSpPr txBox="1"/>
          <p:nvPr/>
        </p:nvSpPr>
        <p:spPr>
          <a:xfrm>
            <a:off x="276225" y="5099685"/>
            <a:ext cx="490941"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55" name="TextBox 54"/>
          <p:cNvSpPr txBox="1"/>
          <p:nvPr/>
        </p:nvSpPr>
        <p:spPr>
          <a:xfrm>
            <a:off x="276225" y="5327522"/>
            <a:ext cx="2146510" cy="194310"/>
          </a:xfrm>
          <a:prstGeom prst="rect">
            <a:avLst/>
          </a:prstGeom>
          <a:noFill/>
        </p:spPr>
        <p:txBody>
          <a:bodyPr wrap="none" lIns="0" rIns="0" tIns="0" bIns="0">
            <a:spAutoFit/>
          </a:bodyPr>
          <a:lstStyle/>
          <a:p>
            <a:r>
              <a:rPr sz="1150" b="0">
                <a:solidFill>
                  <a:srgbClr val="2E2E2E"/>
                </a:solidFill>
                <a:latin typeface="Calibri"/>
              </a:rPr>
              <a:t>▪ Fast-growing demand in Canada (</a:t>
            </a:r>
          </a:p>
        </p:txBody>
      </p:sp>
      <p:pic>
        <p:nvPicPr>
          <p:cNvPr id="56" name="Picture 55" descr="lock.png"/>
          <p:cNvPicPr>
            <a:picLocks noChangeAspect="1"/>
          </p:cNvPicPr>
          <p:nvPr/>
        </p:nvPicPr>
        <p:blipFill>
          <a:blip r:embed="rId4"/>
          <a:stretch>
            <a:fillRect/>
          </a:stretch>
        </p:blipFill>
        <p:spPr>
          <a:xfrm>
            <a:off x="2371889" y="5317299"/>
            <a:ext cx="134549" cy="195707"/>
          </a:xfrm>
          <a:prstGeom prst="rect">
            <a:avLst/>
          </a:prstGeom>
        </p:spPr>
      </p:pic>
      <p:sp>
        <p:nvSpPr>
          <p:cNvPr id="57" name="TextBox 56"/>
          <p:cNvSpPr txBox="1"/>
          <p:nvPr/>
        </p:nvSpPr>
        <p:spPr>
          <a:xfrm>
            <a:off x="2546998" y="5327522"/>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58" name="TextBox 57"/>
          <p:cNvSpPr txBox="1"/>
          <p:nvPr/>
        </p:nvSpPr>
        <p:spPr>
          <a:xfrm>
            <a:off x="276225" y="5555360"/>
            <a:ext cx="3336081" cy="194310"/>
          </a:xfrm>
          <a:prstGeom prst="rect">
            <a:avLst/>
          </a:prstGeom>
          <a:noFill/>
        </p:spPr>
        <p:txBody>
          <a:bodyPr wrap="none" lIns="0" rIns="0" tIns="0" bIns="0">
            <a:spAutoFit/>
          </a:bodyPr>
          <a:lstStyle/>
          <a:p>
            <a:r>
              <a:rPr sz="1150" b="0">
                <a:solidFill>
                  <a:srgbClr val="2E2E2E"/>
                </a:solidFill>
                <a:latin typeface="Calibri"/>
              </a:rPr>
              <a:t>▪ Momentum in Distributor Sales within sales channel (</a:t>
            </a:r>
          </a:p>
        </p:txBody>
      </p:sp>
      <p:pic>
        <p:nvPicPr>
          <p:cNvPr id="59" name="Picture 58" descr="lock.png"/>
          <p:cNvPicPr>
            <a:picLocks noChangeAspect="1"/>
          </p:cNvPicPr>
          <p:nvPr/>
        </p:nvPicPr>
        <p:blipFill>
          <a:blip r:embed="rId4"/>
          <a:stretch>
            <a:fillRect/>
          </a:stretch>
        </p:blipFill>
        <p:spPr>
          <a:xfrm>
            <a:off x="3561460" y="5545137"/>
            <a:ext cx="134549" cy="195707"/>
          </a:xfrm>
          <a:prstGeom prst="rect">
            <a:avLst/>
          </a:prstGeom>
        </p:spPr>
      </p:pic>
      <p:sp>
        <p:nvSpPr>
          <p:cNvPr id="60" name="TextBox 59"/>
          <p:cNvSpPr txBox="1"/>
          <p:nvPr/>
        </p:nvSpPr>
        <p:spPr>
          <a:xfrm>
            <a:off x="3736569" y="555536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1" name="TextBox 60"/>
          <p:cNvSpPr txBox="1"/>
          <p:nvPr/>
        </p:nvSpPr>
        <p:spPr>
          <a:xfrm>
            <a:off x="4371975" y="4924425"/>
            <a:ext cx="3164644" cy="194310"/>
          </a:xfrm>
          <a:prstGeom prst="rect">
            <a:avLst/>
          </a:prstGeom>
          <a:noFill/>
        </p:spPr>
        <p:txBody>
          <a:bodyPr wrap="none" lIns="0" rIns="0" tIns="0" bIns="0">
            <a:spAutoFit/>
          </a:bodyPr>
          <a:lstStyle/>
          <a:p>
            <a:r>
              <a:rPr sz="1150" b="0">
                <a:solidFill>
                  <a:srgbClr val="2E2E2E"/>
                </a:solidFill>
                <a:latin typeface="Calibri"/>
              </a:rPr>
              <a:t>▪ Slower momentum in 'Portable Machine Perfusion</a:t>
            </a:r>
          </a:p>
        </p:txBody>
      </p:sp>
      <p:sp>
        <p:nvSpPr>
          <p:cNvPr id="62" name="TextBox 61"/>
          <p:cNvSpPr txBox="1"/>
          <p:nvPr/>
        </p:nvSpPr>
        <p:spPr>
          <a:xfrm>
            <a:off x="4371975" y="5099685"/>
            <a:ext cx="639576" cy="194310"/>
          </a:xfrm>
          <a:prstGeom prst="rect">
            <a:avLst/>
          </a:prstGeom>
          <a:noFill/>
        </p:spPr>
        <p:txBody>
          <a:bodyPr wrap="none" lIns="0" rIns="0" tIns="0" bIns="0">
            <a:spAutoFit/>
          </a:bodyPr>
          <a:lstStyle/>
          <a:p>
            <a:r>
              <a:rPr sz="1150" b="0">
                <a:solidFill>
                  <a:srgbClr val="2E2E2E"/>
                </a:solidFill>
                <a:latin typeface="Calibri"/>
              </a:rPr>
              <a:t>Devices' (</a:t>
            </a:r>
          </a:p>
        </p:txBody>
      </p:sp>
      <p:pic>
        <p:nvPicPr>
          <p:cNvPr id="63" name="Picture 62" descr="lock.png"/>
          <p:cNvPicPr>
            <a:picLocks noChangeAspect="1"/>
          </p:cNvPicPr>
          <p:nvPr/>
        </p:nvPicPr>
        <p:blipFill>
          <a:blip r:embed="rId4"/>
          <a:stretch>
            <a:fillRect/>
          </a:stretch>
        </p:blipFill>
        <p:spPr>
          <a:xfrm>
            <a:off x="4960705" y="5089461"/>
            <a:ext cx="134549" cy="195707"/>
          </a:xfrm>
          <a:prstGeom prst="rect">
            <a:avLst/>
          </a:prstGeom>
        </p:spPr>
      </p:pic>
      <p:sp>
        <p:nvSpPr>
          <p:cNvPr id="64" name="TextBox 63"/>
          <p:cNvSpPr txBox="1"/>
          <p:nvPr/>
        </p:nvSpPr>
        <p:spPr>
          <a:xfrm>
            <a:off x="5135814" y="509968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65" name="TextBox 64"/>
          <p:cNvSpPr txBox="1"/>
          <p:nvPr/>
        </p:nvSpPr>
        <p:spPr>
          <a:xfrm>
            <a:off x="4371975" y="5327522"/>
            <a:ext cx="3264197" cy="194310"/>
          </a:xfrm>
          <a:prstGeom prst="rect">
            <a:avLst/>
          </a:prstGeom>
          <a:noFill/>
        </p:spPr>
        <p:txBody>
          <a:bodyPr wrap="none" lIns="0" rIns="0" tIns="0" bIns="0">
            <a:spAutoFit/>
          </a:bodyPr>
          <a:lstStyle/>
          <a:p>
            <a:r>
              <a:rPr sz="1150" b="0">
                <a:solidFill>
                  <a:srgbClr val="2E2E2E"/>
                </a:solidFill>
                <a:latin typeface="Calibri"/>
              </a:rPr>
              <a:t>▪ Maturing demand in established categories caps the</a:t>
            </a:r>
          </a:p>
        </p:txBody>
      </p:sp>
      <p:sp>
        <p:nvSpPr>
          <p:cNvPr id="66" name="TextBox 65"/>
          <p:cNvSpPr txBox="1"/>
          <p:nvPr/>
        </p:nvSpPr>
        <p:spPr>
          <a:xfrm>
            <a:off x="4371975" y="5502782"/>
            <a:ext cx="562272" cy="194310"/>
          </a:xfrm>
          <a:prstGeom prst="rect">
            <a:avLst/>
          </a:prstGeom>
          <a:noFill/>
        </p:spPr>
        <p:txBody>
          <a:bodyPr wrap="none" lIns="0" rIns="0" tIns="0" bIns="0">
            <a:spAutoFit/>
          </a:bodyPr>
          <a:lstStyle/>
          <a:p>
            <a:r>
              <a:rPr sz="1150" b="0">
                <a:solidFill>
                  <a:srgbClr val="2E2E2E"/>
                </a:solidFill>
                <a:latin typeface="Calibri"/>
              </a:rPr>
              <a:t>blended</a:t>
            </a:r>
          </a:p>
        </p:txBody>
      </p:sp>
      <p:pic>
        <p:nvPicPr>
          <p:cNvPr id="67" name="Picture 66" descr="lock.png"/>
          <p:cNvPicPr>
            <a:picLocks noChangeAspect="1"/>
          </p:cNvPicPr>
          <p:nvPr/>
        </p:nvPicPr>
        <p:blipFill>
          <a:blip r:embed="rId4"/>
          <a:stretch>
            <a:fillRect/>
          </a:stretch>
        </p:blipFill>
        <p:spPr>
          <a:xfrm>
            <a:off x="4883401" y="5492559"/>
            <a:ext cx="134549" cy="195707"/>
          </a:xfrm>
          <a:prstGeom prst="rect">
            <a:avLst/>
          </a:prstGeom>
        </p:spPr>
      </p:pic>
      <p:sp>
        <p:nvSpPr>
          <p:cNvPr id="68" name="TextBox 67"/>
          <p:cNvSpPr txBox="1"/>
          <p:nvPr/>
        </p:nvSpPr>
        <p:spPr>
          <a:xfrm>
            <a:off x="5058510" y="5502782"/>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9" name="TextBox 68"/>
          <p:cNvSpPr txBox="1"/>
          <p:nvPr/>
        </p:nvSpPr>
        <p:spPr>
          <a:xfrm>
            <a:off x="4371975" y="5730620"/>
            <a:ext cx="3225973" cy="194310"/>
          </a:xfrm>
          <a:prstGeom prst="rect">
            <a:avLst/>
          </a:prstGeom>
          <a:noFill/>
        </p:spPr>
        <p:txBody>
          <a:bodyPr wrap="none" lIns="0" rIns="0" tIns="0" bIns="0">
            <a:spAutoFit/>
          </a:bodyPr>
          <a:lstStyle/>
          <a:p>
            <a:r>
              <a:rPr sz="1150" b="0">
                <a:solidFill>
                  <a:srgbClr val="2E2E2E"/>
                </a:solidFill>
                <a:latin typeface="Calibri"/>
              </a:rPr>
              <a:t>▪ Value concentration in 'Portable Machine Perfusion</a:t>
            </a:r>
          </a:p>
        </p:txBody>
      </p:sp>
      <p:sp>
        <p:nvSpPr>
          <p:cNvPr id="70" name="TextBox 69"/>
          <p:cNvSpPr txBox="1"/>
          <p:nvPr/>
        </p:nvSpPr>
        <p:spPr>
          <a:xfrm>
            <a:off x="4371975" y="5905880"/>
            <a:ext cx="2498005" cy="194310"/>
          </a:xfrm>
          <a:prstGeom prst="rect">
            <a:avLst/>
          </a:prstGeom>
          <a:noFill/>
        </p:spPr>
        <p:txBody>
          <a:bodyPr wrap="none" lIns="0" rIns="0" tIns="0" bIns="0">
            <a:spAutoFit/>
          </a:bodyPr>
          <a:lstStyle/>
          <a:p>
            <a:r>
              <a:rPr sz="1150" b="0">
                <a:solidFill>
                  <a:srgbClr val="2E2E2E"/>
                </a:solidFill>
                <a:latin typeface="Calibri"/>
              </a:rPr>
              <a:t>Devices' raises barriers for new entrants.</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Supply Side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recent developments, investments and R&amp;D activity shaping the supply side of the market</a:t>
            </a:r>
          </a:p>
        </p:txBody>
      </p:sp>
      <p:sp>
        <p:nvSpPr>
          <p:cNvPr id="10" name="Rounded Rectangle 9"/>
          <p:cNvSpPr/>
          <p:nvPr/>
        </p:nvSpPr>
        <p:spPr>
          <a:xfrm>
            <a:off x="142875"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Capacity and product development are concentrating in 'Static Cold Storage Devices' and Canada.</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Portfolio expansion tracks the shift toward higher-growth device technology categories.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Commercial focus is intensifying across U.S. and Canada.</a:t>
            </a:r>
          </a:p>
        </p:txBody>
      </p:sp>
      <p:sp>
        <p:nvSpPr>
          <p:cNvPr id="14" name="Rounded Rectangle 13"/>
          <p:cNvSpPr/>
          <p:nvPr/>
        </p:nvSpPr>
        <p:spPr>
          <a:xfrm>
            <a:off x="6172200" y="981075"/>
            <a:ext cx="58769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954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142875"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0" name="Rectangle 19"/>
          <p:cNvSpPr/>
          <p:nvPr/>
        </p:nvSpPr>
        <p:spPr>
          <a:xfrm>
            <a:off x="276225"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2" name="Rounded Rectangle 21"/>
          <p:cNvSpPr/>
          <p:nvPr/>
        </p:nvSpPr>
        <p:spPr>
          <a:xfrm>
            <a:off x="6172200" y="2895600"/>
            <a:ext cx="5876925" cy="1285875"/>
          </a:xfrm>
          <a:prstGeom prst="roundRect">
            <a:avLst>
              <a:gd name="adj" fmla="val 59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9813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4" name="Rectangle 23"/>
          <p:cNvSpPr/>
          <p:nvPr/>
        </p:nvSpPr>
        <p:spPr>
          <a:xfrm>
            <a:off x="6305550" y="32194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305175"/>
            <a:ext cx="5610225" cy="8001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26" name="Rounded Rectangle 25"/>
          <p:cNvSpPr/>
          <p:nvPr/>
        </p:nvSpPr>
        <p:spPr>
          <a:xfrm>
            <a:off x="142875" y="4314825"/>
            <a:ext cx="11906250" cy="2295525"/>
          </a:xfrm>
          <a:prstGeom prst="roundRect">
            <a:avLst>
              <a:gd name="adj" fmla="val 33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38125" y="43719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device technology share (2036)</a:t>
            </a:r>
          </a:p>
        </p:txBody>
      </p:sp>
      <p:graphicFrame>
        <p:nvGraphicFramePr>
          <p:cNvPr id="28" name="Chart 27"/>
          <p:cNvGraphicFramePr>
            <a:graphicFrameLocks noGrp="1"/>
          </p:cNvGraphicFramePr>
          <p:nvPr/>
        </p:nvGraphicFramePr>
        <p:xfrm>
          <a:off x="238125" y="4600575"/>
          <a:ext cx="11715750" cy="1952625"/>
        </p:xfrm>
        <a:graphic>
          <a:graphicData uri="http://schemas.openxmlformats.org/drawingml/2006/chart">
            <c:chart xmlns:c="http://schemas.openxmlformats.org/drawingml/2006/chart" r:id="rId3"/>
          </a:graphicData>
        </a:graphic>
      </p:graphicFrame>
      <p:sp>
        <p:nvSpPr>
          <p:cNvPr id="29" name="TextBox 28"/>
          <p:cNvSpPr txBox="1"/>
          <p:nvPr/>
        </p:nvSpPr>
        <p:spPr>
          <a:xfrm>
            <a:off x="3871570" y="5462588"/>
            <a:ext cx="934136" cy="228600"/>
          </a:xfrm>
          <a:prstGeom prst="rect">
            <a:avLst/>
          </a:prstGeom>
          <a:noFill/>
        </p:spPr>
        <p:txBody>
          <a:bodyPr wrap="square" lIns="28575" rIns="28575" tIns="9525" bIns="9525" anchor="ctr">
            <a:spAutoFit/>
          </a:bodyPr>
          <a:lstStyle/>
          <a:p>
            <a:pPr algn="ctr"/>
            <a:r>
              <a:rPr sz="1300" b="1">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4135025" y="5284520"/>
            <a:ext cx="382860" cy="556888"/>
          </a:xfrm>
          <a:prstGeom prst="rect">
            <a:avLst/>
          </a:prstGeom>
        </p:spPr>
      </p:pic>
      <p:sp>
        <p:nvSpPr>
          <p:cNvPr id="32" name="TextBox 31"/>
          <p:cNvSpPr txBox="1"/>
          <p:nvPr/>
        </p:nvSpPr>
        <p:spPr>
          <a:xfrm>
            <a:off x="6305550" y="1400175"/>
            <a:ext cx="684113" cy="186689"/>
          </a:xfrm>
          <a:prstGeom prst="rect">
            <a:avLst/>
          </a:prstGeom>
          <a:noFill/>
        </p:spPr>
        <p:txBody>
          <a:bodyPr wrap="none" lIns="0" rIns="0" tIns="0" bIns="0">
            <a:spAutoFit/>
          </a:bodyPr>
          <a:lstStyle/>
          <a:p>
            <a:r>
              <a:rPr sz="1100" b="0">
                <a:solidFill>
                  <a:srgbClr val="2E2E2E"/>
                </a:solidFill>
                <a:latin typeface="Calibri"/>
              </a:rPr>
              <a:t>▪ 2026 size</a:t>
            </a:r>
          </a:p>
        </p:txBody>
      </p:sp>
      <p:pic>
        <p:nvPicPr>
          <p:cNvPr id="33" name="Picture 32" descr="lock.png"/>
          <p:cNvPicPr>
            <a:picLocks noChangeAspect="1"/>
          </p:cNvPicPr>
          <p:nvPr/>
        </p:nvPicPr>
        <p:blipFill>
          <a:blip r:embed="rId5"/>
          <a:stretch>
            <a:fillRect/>
          </a:stretch>
        </p:blipFill>
        <p:spPr>
          <a:xfrm>
            <a:off x="6937714" y="1390396"/>
            <a:ext cx="128699" cy="187198"/>
          </a:xfrm>
          <a:prstGeom prst="rect">
            <a:avLst/>
          </a:prstGeom>
        </p:spPr>
      </p:pic>
      <p:sp>
        <p:nvSpPr>
          <p:cNvPr id="34" name="TextBox 33"/>
          <p:cNvSpPr txBox="1"/>
          <p:nvPr/>
        </p:nvSpPr>
        <p:spPr>
          <a:xfrm>
            <a:off x="7105210" y="1400175"/>
            <a:ext cx="878383" cy="186689"/>
          </a:xfrm>
          <a:prstGeom prst="rect">
            <a:avLst/>
          </a:prstGeom>
          <a:noFill/>
        </p:spPr>
        <p:txBody>
          <a:bodyPr wrap="none" lIns="0" rIns="0" tIns="0" bIns="0">
            <a:spAutoFit/>
          </a:bodyPr>
          <a:lstStyle/>
          <a:p>
            <a:r>
              <a:rPr sz="1100" b="0">
                <a:solidFill>
                  <a:srgbClr val="2E2E2E"/>
                </a:solidFill>
                <a:latin typeface="Calibri"/>
              </a:rPr>
              <a:t>US$ Mn; 2036</a:t>
            </a:r>
          </a:p>
        </p:txBody>
      </p:sp>
      <p:pic>
        <p:nvPicPr>
          <p:cNvPr id="35" name="Picture 34" descr="lock.png"/>
          <p:cNvPicPr>
            <a:picLocks noChangeAspect="1"/>
          </p:cNvPicPr>
          <p:nvPr/>
        </p:nvPicPr>
        <p:blipFill>
          <a:blip r:embed="rId5"/>
          <a:stretch>
            <a:fillRect/>
          </a:stretch>
        </p:blipFill>
        <p:spPr>
          <a:xfrm>
            <a:off x="7931645" y="1390396"/>
            <a:ext cx="128699" cy="187198"/>
          </a:xfrm>
          <a:prstGeom prst="rect">
            <a:avLst/>
          </a:prstGeom>
        </p:spPr>
      </p:pic>
      <p:sp>
        <p:nvSpPr>
          <p:cNvPr id="36" name="TextBox 35"/>
          <p:cNvSpPr txBox="1"/>
          <p:nvPr/>
        </p:nvSpPr>
        <p:spPr>
          <a:xfrm>
            <a:off x="8099141" y="1400175"/>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37" name="TextBox 36"/>
          <p:cNvSpPr txBox="1"/>
          <p:nvPr/>
        </p:nvSpPr>
        <p:spPr>
          <a:xfrm>
            <a:off x="6305550" y="1618107"/>
            <a:ext cx="991842" cy="186689"/>
          </a:xfrm>
          <a:prstGeom prst="rect">
            <a:avLst/>
          </a:prstGeom>
          <a:noFill/>
        </p:spPr>
        <p:txBody>
          <a:bodyPr wrap="none" lIns="0" rIns="0" tIns="0" bIns="0">
            <a:spAutoFit/>
          </a:bodyPr>
          <a:lstStyle/>
          <a:p>
            <a:r>
              <a:rPr sz="1100" b="0">
                <a:solidFill>
                  <a:srgbClr val="2E2E2E"/>
                </a:solidFill>
                <a:latin typeface="Calibri"/>
              </a:rPr>
              <a:t>▪ Forecast CAGR</a:t>
            </a:r>
          </a:p>
        </p:txBody>
      </p:sp>
      <p:pic>
        <p:nvPicPr>
          <p:cNvPr id="38" name="Picture 37" descr="lock.png"/>
          <p:cNvPicPr>
            <a:picLocks noChangeAspect="1"/>
          </p:cNvPicPr>
          <p:nvPr/>
        </p:nvPicPr>
        <p:blipFill>
          <a:blip r:embed="rId5"/>
          <a:stretch>
            <a:fillRect/>
          </a:stretch>
        </p:blipFill>
        <p:spPr>
          <a:xfrm>
            <a:off x="7245444" y="1608328"/>
            <a:ext cx="128699" cy="187198"/>
          </a:xfrm>
          <a:prstGeom prst="rect">
            <a:avLst/>
          </a:prstGeom>
        </p:spPr>
      </p:pic>
      <p:sp>
        <p:nvSpPr>
          <p:cNvPr id="39" name="TextBox 38"/>
          <p:cNvSpPr txBox="1"/>
          <p:nvPr/>
        </p:nvSpPr>
        <p:spPr>
          <a:xfrm>
            <a:off x="7412940" y="1618107"/>
            <a:ext cx="833090" cy="186689"/>
          </a:xfrm>
          <a:prstGeom prst="rect">
            <a:avLst/>
          </a:prstGeom>
          <a:noFill/>
        </p:spPr>
        <p:txBody>
          <a:bodyPr wrap="none" lIns="0" rIns="0" tIns="0" bIns="0">
            <a:spAutoFit/>
          </a:bodyPr>
          <a:lstStyle/>
          <a:p>
            <a:r>
              <a:rPr sz="1100" b="0">
                <a:solidFill>
                  <a:srgbClr val="2E2E2E"/>
                </a:solidFill>
                <a:latin typeface="Calibri"/>
              </a:rPr>
              <a:t>(2026–2036).</a:t>
            </a:r>
          </a:p>
        </p:txBody>
      </p:sp>
      <p:sp>
        <p:nvSpPr>
          <p:cNvPr id="40" name="TextBox 39"/>
          <p:cNvSpPr txBox="1"/>
          <p:nvPr/>
        </p:nvSpPr>
        <p:spPr>
          <a:xfrm>
            <a:off x="6305550" y="1836039"/>
            <a:ext cx="3092301" cy="186689"/>
          </a:xfrm>
          <a:prstGeom prst="rect">
            <a:avLst/>
          </a:prstGeom>
          <a:noFill/>
        </p:spPr>
        <p:txBody>
          <a:bodyPr wrap="none" lIns="0" rIns="0" tIns="0" bIns="0">
            <a:spAutoFit/>
          </a:bodyPr>
          <a:lstStyle/>
          <a:p>
            <a:r>
              <a:rPr sz="1100" b="0">
                <a:solidFill>
                  <a:srgbClr val="2E2E2E"/>
                </a:solidFill>
                <a:latin typeface="Calibri"/>
              </a:rPr>
              <a:t>▪ Lead category 'Portable Machine Perfusion Devices'</a:t>
            </a:r>
          </a:p>
        </p:txBody>
      </p:sp>
      <p:pic>
        <p:nvPicPr>
          <p:cNvPr id="41" name="Picture 40" descr="lock.png"/>
          <p:cNvPicPr>
            <a:picLocks noChangeAspect="1"/>
          </p:cNvPicPr>
          <p:nvPr/>
        </p:nvPicPr>
        <p:blipFill>
          <a:blip r:embed="rId5"/>
          <a:stretch>
            <a:fillRect/>
          </a:stretch>
        </p:blipFill>
        <p:spPr>
          <a:xfrm>
            <a:off x="9345902" y="1826260"/>
            <a:ext cx="128699" cy="187198"/>
          </a:xfrm>
          <a:prstGeom prst="rect">
            <a:avLst/>
          </a:prstGeom>
        </p:spPr>
      </p:pic>
      <p:sp>
        <p:nvSpPr>
          <p:cNvPr id="42" name="TextBox 41"/>
          <p:cNvSpPr txBox="1"/>
          <p:nvPr/>
        </p:nvSpPr>
        <p:spPr>
          <a:xfrm>
            <a:off x="9513398" y="1836039"/>
            <a:ext cx="543049" cy="186689"/>
          </a:xfrm>
          <a:prstGeom prst="rect">
            <a:avLst/>
          </a:prstGeom>
          <a:noFill/>
        </p:spPr>
        <p:txBody>
          <a:bodyPr wrap="none" lIns="0" rIns="0" tIns="0" bIns="0">
            <a:spAutoFit/>
          </a:bodyPr>
          <a:lstStyle/>
          <a:p>
            <a:r>
              <a:rPr sz="1100" b="0">
                <a:solidFill>
                  <a:srgbClr val="2E2E2E"/>
                </a:solidFill>
                <a:latin typeface="Calibri"/>
              </a:rPr>
              <a:t>of 2036.</a:t>
            </a:r>
          </a:p>
        </p:txBody>
      </p:sp>
      <p:sp>
        <p:nvSpPr>
          <p:cNvPr id="43" name="TextBox 42"/>
          <p:cNvSpPr txBox="1"/>
          <p:nvPr/>
        </p:nvSpPr>
        <p:spPr>
          <a:xfrm>
            <a:off x="6305550" y="2053970"/>
            <a:ext cx="1152053" cy="186689"/>
          </a:xfrm>
          <a:prstGeom prst="rect">
            <a:avLst/>
          </a:prstGeom>
          <a:noFill/>
        </p:spPr>
        <p:txBody>
          <a:bodyPr wrap="none" lIns="0" rIns="0" tIns="0" bIns="0">
            <a:spAutoFit/>
          </a:bodyPr>
          <a:lstStyle/>
          <a:p>
            <a:r>
              <a:rPr sz="1100" b="0">
                <a:solidFill>
                  <a:srgbClr val="2E2E2E"/>
                </a:solidFill>
                <a:latin typeface="Calibri"/>
              </a:rPr>
              <a:t>▪ Lead country U.S.</a:t>
            </a:r>
          </a:p>
        </p:txBody>
      </p:sp>
      <p:pic>
        <p:nvPicPr>
          <p:cNvPr id="44" name="Picture 43" descr="lock.png"/>
          <p:cNvPicPr>
            <a:picLocks noChangeAspect="1"/>
          </p:cNvPicPr>
          <p:nvPr/>
        </p:nvPicPr>
        <p:blipFill>
          <a:blip r:embed="rId5"/>
          <a:stretch>
            <a:fillRect/>
          </a:stretch>
        </p:blipFill>
        <p:spPr>
          <a:xfrm>
            <a:off x="7405655" y="2044192"/>
            <a:ext cx="128699" cy="187198"/>
          </a:xfrm>
          <a:prstGeom prst="rect">
            <a:avLst/>
          </a:prstGeom>
        </p:spPr>
      </p:pic>
      <p:sp>
        <p:nvSpPr>
          <p:cNvPr id="45" name="TextBox 44"/>
          <p:cNvSpPr txBox="1"/>
          <p:nvPr/>
        </p:nvSpPr>
        <p:spPr>
          <a:xfrm>
            <a:off x="7573151" y="2053970"/>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6" name="TextBox 45"/>
          <p:cNvSpPr txBox="1"/>
          <p:nvPr/>
        </p:nvSpPr>
        <p:spPr>
          <a:xfrm>
            <a:off x="6305550" y="2271903"/>
            <a:ext cx="1554782" cy="186689"/>
          </a:xfrm>
          <a:prstGeom prst="rect">
            <a:avLst/>
          </a:prstGeom>
          <a:noFill/>
        </p:spPr>
        <p:txBody>
          <a:bodyPr wrap="none" lIns="0" rIns="0" tIns="0" bIns="0">
            <a:spAutoFit/>
          </a:bodyPr>
          <a:lstStyle/>
          <a:p>
            <a:r>
              <a:rPr sz="1100" b="0">
                <a:solidFill>
                  <a:srgbClr val="2E2E2E"/>
                </a:solidFill>
                <a:latin typeface="Calibri"/>
              </a:rPr>
              <a:t>▪ Incremental opportunity</a:t>
            </a:r>
          </a:p>
        </p:txBody>
      </p:sp>
      <p:pic>
        <p:nvPicPr>
          <p:cNvPr id="47" name="Picture 46" descr="lock.png"/>
          <p:cNvPicPr>
            <a:picLocks noChangeAspect="1"/>
          </p:cNvPicPr>
          <p:nvPr/>
        </p:nvPicPr>
        <p:blipFill>
          <a:blip r:embed="rId5"/>
          <a:stretch>
            <a:fillRect/>
          </a:stretch>
        </p:blipFill>
        <p:spPr>
          <a:xfrm>
            <a:off x="7808384" y="2262124"/>
            <a:ext cx="128699" cy="187198"/>
          </a:xfrm>
          <a:prstGeom prst="rect">
            <a:avLst/>
          </a:prstGeom>
        </p:spPr>
      </p:pic>
      <p:sp>
        <p:nvSpPr>
          <p:cNvPr id="48" name="TextBox 47"/>
          <p:cNvSpPr txBox="1"/>
          <p:nvPr/>
        </p:nvSpPr>
        <p:spPr>
          <a:xfrm>
            <a:off x="7975880" y="2271903"/>
            <a:ext cx="560784"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49" name="TextBox 48"/>
          <p:cNvSpPr txBox="1"/>
          <p:nvPr/>
        </p:nvSpPr>
        <p:spPr>
          <a:xfrm>
            <a:off x="276225" y="3314700"/>
            <a:ext cx="4881116" cy="186689"/>
          </a:xfrm>
          <a:prstGeom prst="rect">
            <a:avLst/>
          </a:prstGeom>
          <a:noFill/>
        </p:spPr>
        <p:txBody>
          <a:bodyPr wrap="none" lIns="0" rIns="0" tIns="0" bIns="0">
            <a:spAutoFit/>
          </a:bodyPr>
          <a:lstStyle/>
          <a:p>
            <a:r>
              <a:rPr sz="1100" b="0">
                <a:solidFill>
                  <a:srgbClr val="2E2E2E"/>
                </a:solidFill>
                <a:latin typeface="Calibri"/>
              </a:rPr>
              <a:t>▪ Investment is flowing toward the fastest-growing tier 'Static Cold Storage Devices' (</a:t>
            </a:r>
          </a:p>
        </p:txBody>
      </p:sp>
      <p:pic>
        <p:nvPicPr>
          <p:cNvPr id="50" name="Picture 49" descr="lock.png"/>
          <p:cNvPicPr>
            <a:picLocks noChangeAspect="1"/>
          </p:cNvPicPr>
          <p:nvPr/>
        </p:nvPicPr>
        <p:blipFill>
          <a:blip r:embed="rId5"/>
          <a:stretch>
            <a:fillRect/>
          </a:stretch>
        </p:blipFill>
        <p:spPr>
          <a:xfrm>
            <a:off x="5105392" y="3304921"/>
            <a:ext cx="128699" cy="187198"/>
          </a:xfrm>
          <a:prstGeom prst="rect">
            <a:avLst/>
          </a:prstGeom>
        </p:spPr>
      </p:pic>
      <p:sp>
        <p:nvSpPr>
          <p:cNvPr id="51" name="TextBox 50"/>
          <p:cNvSpPr txBox="1"/>
          <p:nvPr/>
        </p:nvSpPr>
        <p:spPr>
          <a:xfrm>
            <a:off x="5272888" y="3314700"/>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52" name="TextBox 51"/>
          <p:cNvSpPr txBox="1"/>
          <p:nvPr/>
        </p:nvSpPr>
        <p:spPr>
          <a:xfrm>
            <a:off x="276225" y="3532632"/>
            <a:ext cx="653008" cy="186689"/>
          </a:xfrm>
          <a:prstGeom prst="rect">
            <a:avLst/>
          </a:prstGeom>
          <a:noFill/>
        </p:spPr>
        <p:txBody>
          <a:bodyPr wrap="none" lIns="0" rIns="0" tIns="0" bIns="0">
            <a:spAutoFit/>
          </a:bodyPr>
          <a:lstStyle/>
          <a:p>
            <a:r>
              <a:rPr sz="1100" b="0">
                <a:solidFill>
                  <a:srgbClr val="2E2E2E"/>
                </a:solidFill>
                <a:latin typeface="Calibri"/>
              </a:rPr>
              <a:t>▪ Canada (</a:t>
            </a:r>
          </a:p>
        </p:txBody>
      </p:sp>
      <p:pic>
        <p:nvPicPr>
          <p:cNvPr id="53" name="Picture 52" descr="lock.png"/>
          <p:cNvPicPr>
            <a:picLocks noChangeAspect="1"/>
          </p:cNvPicPr>
          <p:nvPr/>
        </p:nvPicPr>
        <p:blipFill>
          <a:blip r:embed="rId5"/>
          <a:stretch>
            <a:fillRect/>
          </a:stretch>
        </p:blipFill>
        <p:spPr>
          <a:xfrm>
            <a:off x="877284" y="3522853"/>
            <a:ext cx="128699" cy="187198"/>
          </a:xfrm>
          <a:prstGeom prst="rect">
            <a:avLst/>
          </a:prstGeom>
        </p:spPr>
      </p:pic>
      <p:sp>
        <p:nvSpPr>
          <p:cNvPr id="54" name="TextBox 53"/>
          <p:cNvSpPr txBox="1"/>
          <p:nvPr/>
        </p:nvSpPr>
        <p:spPr>
          <a:xfrm>
            <a:off x="1044780" y="3532632"/>
            <a:ext cx="2262832" cy="186689"/>
          </a:xfrm>
          <a:prstGeom prst="rect">
            <a:avLst/>
          </a:prstGeom>
          <a:noFill/>
        </p:spPr>
        <p:txBody>
          <a:bodyPr wrap="none" lIns="0" rIns="0" tIns="0" bIns="0">
            <a:spAutoFit/>
          </a:bodyPr>
          <a:lstStyle/>
          <a:p>
            <a:r>
              <a:rPr sz="1100" b="0">
                <a:solidFill>
                  <a:srgbClr val="2E2E2E"/>
                </a:solidFill>
                <a:latin typeface="Calibri"/>
              </a:rPr>
              <a:t>) is a priority country for new capacity.</a:t>
            </a:r>
          </a:p>
        </p:txBody>
      </p:sp>
      <p:sp>
        <p:nvSpPr>
          <p:cNvPr id="55" name="TextBox 54"/>
          <p:cNvSpPr txBox="1"/>
          <p:nvPr/>
        </p:nvSpPr>
        <p:spPr>
          <a:xfrm>
            <a:off x="276225" y="3750564"/>
            <a:ext cx="3972520" cy="186689"/>
          </a:xfrm>
          <a:prstGeom prst="rect">
            <a:avLst/>
          </a:prstGeom>
          <a:noFill/>
        </p:spPr>
        <p:txBody>
          <a:bodyPr wrap="none" lIns="0" rIns="0" tIns="0" bIns="0">
            <a:spAutoFit/>
          </a:bodyPr>
          <a:lstStyle/>
          <a:p>
            <a:r>
              <a:rPr sz="1100" b="0">
                <a:solidFill>
                  <a:srgbClr val="2E2E2E"/>
                </a:solidFill>
                <a:latin typeface="Calibri"/>
              </a:rPr>
              <a:t>▪ Scale players anchor around 'Portable Machine Perfusion Devices' (</a:t>
            </a:r>
          </a:p>
        </p:txBody>
      </p:sp>
      <p:pic>
        <p:nvPicPr>
          <p:cNvPr id="56" name="Picture 55" descr="lock.png"/>
          <p:cNvPicPr>
            <a:picLocks noChangeAspect="1"/>
          </p:cNvPicPr>
          <p:nvPr/>
        </p:nvPicPr>
        <p:blipFill>
          <a:blip r:embed="rId5"/>
          <a:stretch>
            <a:fillRect/>
          </a:stretch>
        </p:blipFill>
        <p:spPr>
          <a:xfrm>
            <a:off x="4196796" y="3740785"/>
            <a:ext cx="128699" cy="187198"/>
          </a:xfrm>
          <a:prstGeom prst="rect">
            <a:avLst/>
          </a:prstGeom>
        </p:spPr>
      </p:pic>
      <p:sp>
        <p:nvSpPr>
          <p:cNvPr id="57" name="TextBox 56"/>
          <p:cNvSpPr txBox="1"/>
          <p:nvPr/>
        </p:nvSpPr>
        <p:spPr>
          <a:xfrm>
            <a:off x="4364292" y="3750564"/>
            <a:ext cx="46692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58" name="TextBox 57"/>
          <p:cNvSpPr txBox="1"/>
          <p:nvPr/>
        </p:nvSpPr>
        <p:spPr>
          <a:xfrm>
            <a:off x="6305550" y="3314700"/>
            <a:ext cx="5277842" cy="186689"/>
          </a:xfrm>
          <a:prstGeom prst="rect">
            <a:avLst/>
          </a:prstGeom>
          <a:noFill/>
        </p:spPr>
        <p:txBody>
          <a:bodyPr wrap="none" lIns="0" rIns="0" tIns="0" bIns="0">
            <a:spAutoFit/>
          </a:bodyPr>
          <a:lstStyle/>
          <a:p>
            <a:r>
              <a:rPr sz="1100" b="0">
                <a:solidFill>
                  <a:srgbClr val="2E2E2E"/>
                </a:solidFill>
                <a:latin typeface="Calibri"/>
              </a:rPr>
              <a:t>▪ R&amp;D aligns with the migration to 'Static Cold Storage Devices' and adjacent premium tiers.</a:t>
            </a:r>
          </a:p>
        </p:txBody>
      </p:sp>
      <p:sp>
        <p:nvSpPr>
          <p:cNvPr id="59" name="TextBox 58"/>
          <p:cNvSpPr txBox="1"/>
          <p:nvPr/>
        </p:nvSpPr>
        <p:spPr>
          <a:xfrm>
            <a:off x="6305550" y="3532632"/>
            <a:ext cx="4702398" cy="186689"/>
          </a:xfrm>
          <a:prstGeom prst="rect">
            <a:avLst/>
          </a:prstGeom>
          <a:noFill/>
        </p:spPr>
        <p:txBody>
          <a:bodyPr wrap="none" lIns="0" rIns="0" tIns="0" bIns="0">
            <a:spAutoFit/>
          </a:bodyPr>
          <a:lstStyle/>
          <a:p>
            <a:r>
              <a:rPr sz="1100" b="0">
                <a:solidFill>
                  <a:srgbClr val="2E2E2E"/>
                </a:solidFill>
                <a:latin typeface="Calibri"/>
              </a:rPr>
              <a:t>▪ Development spend targets device technology categories gaining share to 2036.</a:t>
            </a:r>
          </a:p>
        </p:txBody>
      </p:sp>
      <p:sp>
        <p:nvSpPr>
          <p:cNvPr id="60" name="TextBox 59"/>
          <p:cNvSpPr txBox="1"/>
          <p:nvPr/>
        </p:nvSpPr>
        <p:spPr>
          <a:xfrm>
            <a:off x="6305550" y="3750564"/>
            <a:ext cx="1594346" cy="186689"/>
          </a:xfrm>
          <a:prstGeom prst="rect">
            <a:avLst/>
          </a:prstGeom>
          <a:noFill/>
        </p:spPr>
        <p:txBody>
          <a:bodyPr wrap="none" lIns="0" rIns="0" tIns="0" bIns="0">
            <a:spAutoFit/>
          </a:bodyPr>
          <a:lstStyle/>
          <a:p>
            <a:r>
              <a:rPr sz="1100" b="0">
                <a:solidFill>
                  <a:srgbClr val="2E2E2E"/>
                </a:solidFill>
                <a:latin typeface="Calibri"/>
              </a:rPr>
              <a:t>▪ Innovation underpins the</a:t>
            </a:r>
          </a:p>
        </p:txBody>
      </p:sp>
      <p:pic>
        <p:nvPicPr>
          <p:cNvPr id="61" name="Picture 60" descr="lock.png"/>
          <p:cNvPicPr>
            <a:picLocks noChangeAspect="1"/>
          </p:cNvPicPr>
          <p:nvPr/>
        </p:nvPicPr>
        <p:blipFill>
          <a:blip r:embed="rId5"/>
          <a:stretch>
            <a:fillRect/>
          </a:stretch>
        </p:blipFill>
        <p:spPr>
          <a:xfrm>
            <a:off x="7847947" y="3740785"/>
            <a:ext cx="128699" cy="187198"/>
          </a:xfrm>
          <a:prstGeom prst="rect">
            <a:avLst/>
          </a:prstGeom>
        </p:spPr>
      </p:pic>
      <p:sp>
        <p:nvSpPr>
          <p:cNvPr id="62" name="TextBox 61"/>
          <p:cNvSpPr txBox="1"/>
          <p:nvPr/>
        </p:nvSpPr>
        <p:spPr>
          <a:xfrm>
            <a:off x="8015443" y="3750564"/>
            <a:ext cx="924478" cy="186689"/>
          </a:xfrm>
          <a:prstGeom prst="rect">
            <a:avLst/>
          </a:prstGeom>
          <a:noFill/>
        </p:spPr>
        <p:txBody>
          <a:bodyPr wrap="none" lIns="0" rIns="0" tIns="0" bIns="0">
            <a:spAutoFit/>
          </a:bodyPr>
          <a:lstStyle/>
          <a:p>
            <a:r>
              <a:rPr sz="1100" b="0">
                <a:solidFill>
                  <a:srgbClr val="2E2E2E"/>
                </a:solidFill>
                <a:latin typeface="Calibri"/>
              </a:rPr>
              <a:t>forecast CAGR.</a:t>
            </a:r>
          </a:p>
        </p:txBody>
      </p:sp>
      <p:sp>
        <p:nvSpPr>
          <p:cNvPr id="63" name="lockshield_28"/>
          <p:cNvSpPr/>
          <p:nvPr/>
        </p:nvSpPr>
        <p:spPr>
          <a:xfrm>
            <a:off x="238125" y="4600575"/>
            <a:ext cx="11715750" cy="19526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Analysis and Recommendation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Executive summary of the market approach, differentiating strategy and FMI's analysis and recommendation</a:t>
            </a:r>
          </a:p>
        </p:txBody>
      </p:sp>
      <p:sp>
        <p:nvSpPr>
          <p:cNvPr id="10" name="Rounded Rectangle 9"/>
          <p:cNvSpPr/>
          <p:nvPr/>
        </p:nvSpPr>
        <p:spPr>
          <a:xfrm>
            <a:off x="142875"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6225"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2" name="Rectangle 11"/>
          <p:cNvSpPr/>
          <p:nvPr/>
        </p:nvSpPr>
        <p:spPr>
          <a:xfrm>
            <a:off x="276225"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4" name="Rounded Rectangle 13"/>
          <p:cNvSpPr/>
          <p:nvPr/>
        </p:nvSpPr>
        <p:spPr>
          <a:xfrm>
            <a:off x="6172200" y="981075"/>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5550" y="1066800"/>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6" name="Rectangle 15"/>
          <p:cNvSpPr/>
          <p:nvPr/>
        </p:nvSpPr>
        <p:spPr>
          <a:xfrm>
            <a:off x="6305550" y="1304925"/>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5550" y="1390650"/>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Differentiate through the high-growth 'Static Cold Storage Devices' tier and Distributor Sales within sales channel.</a:t>
            </a:r>
          </a:p>
        </p:txBody>
      </p:sp>
      <p:sp>
        <p:nvSpPr>
          <p:cNvPr id="18" name="Rounded Rectangle 17"/>
          <p:cNvSpPr/>
          <p:nvPr/>
        </p:nvSpPr>
        <p:spPr>
          <a:xfrm>
            <a:off x="142875"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0" name="Rectangle 19"/>
          <p:cNvSpPr/>
          <p:nvPr/>
        </p:nvSpPr>
        <p:spPr>
          <a:xfrm>
            <a:off x="276225"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6172200" y="2800350"/>
            <a:ext cx="5876925"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5550" y="28860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Country</a:t>
            </a:r>
          </a:p>
        </p:txBody>
      </p:sp>
      <p:sp>
        <p:nvSpPr>
          <p:cNvPr id="24" name="Rectangle 23"/>
          <p:cNvSpPr/>
          <p:nvPr/>
        </p:nvSpPr>
        <p:spPr>
          <a:xfrm>
            <a:off x="6305550" y="31242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5550" y="3209925"/>
            <a:ext cx="5610225" cy="12001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42875" y="4619625"/>
            <a:ext cx="1190625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705350"/>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8" name="Rectangle 27"/>
          <p:cNvSpPr/>
          <p:nvPr/>
        </p:nvSpPr>
        <p:spPr>
          <a:xfrm>
            <a:off x="276225" y="49434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029200"/>
            <a:ext cx="11639550" cy="15144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1" name="TextBox 30"/>
          <p:cNvSpPr txBox="1"/>
          <p:nvPr/>
        </p:nvSpPr>
        <p:spPr>
          <a:xfrm>
            <a:off x="276225" y="1400175"/>
            <a:ext cx="5473203" cy="194310"/>
          </a:xfrm>
          <a:prstGeom prst="rect">
            <a:avLst/>
          </a:prstGeom>
          <a:noFill/>
        </p:spPr>
        <p:txBody>
          <a:bodyPr wrap="none" lIns="0" rIns="0" tIns="0" bIns="0">
            <a:spAutoFit/>
          </a:bodyPr>
          <a:lstStyle/>
          <a:p>
            <a:r>
              <a:rPr sz="1150" b="0">
                <a:solidFill>
                  <a:srgbClr val="2E2E2E"/>
                </a:solidFill>
                <a:latin typeface="Calibri"/>
              </a:rPr>
              <a:t>▪ Balance scale in 'Portable Machine Perfusion Devices' with targeted growth in 'Static Cold</a:t>
            </a:r>
          </a:p>
        </p:txBody>
      </p:sp>
      <p:sp>
        <p:nvSpPr>
          <p:cNvPr id="32" name="TextBox 31"/>
          <p:cNvSpPr txBox="1"/>
          <p:nvPr/>
        </p:nvSpPr>
        <p:spPr>
          <a:xfrm>
            <a:off x="276225" y="1575435"/>
            <a:ext cx="1869591" cy="194310"/>
          </a:xfrm>
          <a:prstGeom prst="rect">
            <a:avLst/>
          </a:prstGeom>
          <a:noFill/>
        </p:spPr>
        <p:txBody>
          <a:bodyPr wrap="none" lIns="0" rIns="0" tIns="0" bIns="0">
            <a:spAutoFit/>
          </a:bodyPr>
          <a:lstStyle/>
          <a:p>
            <a:r>
              <a:rPr sz="1150" b="0">
                <a:solidFill>
                  <a:srgbClr val="2E2E2E"/>
                </a:solidFill>
                <a:latin typeface="Calibri"/>
              </a:rPr>
              <a:t>Storage Devices', pursuing the</a:t>
            </a:r>
          </a:p>
        </p:txBody>
      </p:sp>
      <p:pic>
        <p:nvPicPr>
          <p:cNvPr id="33" name="Picture 32" descr="lock.png"/>
          <p:cNvPicPr>
            <a:picLocks noChangeAspect="1"/>
          </p:cNvPicPr>
          <p:nvPr/>
        </p:nvPicPr>
        <p:blipFill>
          <a:blip r:embed="rId4"/>
          <a:stretch>
            <a:fillRect/>
          </a:stretch>
        </p:blipFill>
        <p:spPr>
          <a:xfrm>
            <a:off x="2094970" y="1565211"/>
            <a:ext cx="134549" cy="195707"/>
          </a:xfrm>
          <a:prstGeom prst="rect">
            <a:avLst/>
          </a:prstGeom>
        </p:spPr>
      </p:pic>
      <p:sp>
        <p:nvSpPr>
          <p:cNvPr id="34" name="TextBox 33"/>
          <p:cNvSpPr txBox="1"/>
          <p:nvPr/>
        </p:nvSpPr>
        <p:spPr>
          <a:xfrm>
            <a:off x="2270079" y="1575435"/>
            <a:ext cx="1551800" cy="194310"/>
          </a:xfrm>
          <a:prstGeom prst="rect">
            <a:avLst/>
          </a:prstGeom>
          <a:noFill/>
        </p:spPr>
        <p:txBody>
          <a:bodyPr wrap="none" lIns="0" rIns="0" tIns="0" bIns="0">
            <a:spAutoFit/>
          </a:bodyPr>
          <a:lstStyle/>
          <a:p>
            <a:r>
              <a:rPr sz="1150" b="0">
                <a:solidFill>
                  <a:srgbClr val="2E2E2E"/>
                </a:solidFill>
                <a:latin typeface="Calibri"/>
              </a:rPr>
              <a:t>CAGR trajectory to 2036.</a:t>
            </a:r>
          </a:p>
        </p:txBody>
      </p:sp>
      <p:sp>
        <p:nvSpPr>
          <p:cNvPr id="35" name="TextBox 34"/>
          <p:cNvSpPr txBox="1"/>
          <p:nvPr/>
        </p:nvSpPr>
        <p:spPr>
          <a:xfrm>
            <a:off x="276225" y="3219450"/>
            <a:ext cx="2474900" cy="194310"/>
          </a:xfrm>
          <a:prstGeom prst="rect">
            <a:avLst/>
          </a:prstGeom>
          <a:noFill/>
        </p:spPr>
        <p:txBody>
          <a:bodyPr wrap="none" lIns="0" rIns="0" tIns="0" bIns="0">
            <a:spAutoFit/>
          </a:bodyPr>
          <a:lstStyle/>
          <a:p>
            <a:r>
              <a:rPr sz="1150" b="0">
                <a:solidFill>
                  <a:srgbClr val="2E2E2E"/>
                </a:solidFill>
                <a:latin typeface="Calibri"/>
              </a:rPr>
              <a:t>▪ Prioritise 'Static Cold Storage Devices' (</a:t>
            </a:r>
          </a:p>
        </p:txBody>
      </p:sp>
      <p:pic>
        <p:nvPicPr>
          <p:cNvPr id="36" name="Picture 35" descr="lock.png"/>
          <p:cNvPicPr>
            <a:picLocks noChangeAspect="1"/>
          </p:cNvPicPr>
          <p:nvPr/>
        </p:nvPicPr>
        <p:blipFill>
          <a:blip r:embed="rId4"/>
          <a:stretch>
            <a:fillRect/>
          </a:stretch>
        </p:blipFill>
        <p:spPr>
          <a:xfrm>
            <a:off x="2700279" y="3209226"/>
            <a:ext cx="134549" cy="195707"/>
          </a:xfrm>
          <a:prstGeom prst="rect">
            <a:avLst/>
          </a:prstGeom>
        </p:spPr>
      </p:pic>
      <p:sp>
        <p:nvSpPr>
          <p:cNvPr id="37" name="TextBox 36"/>
          <p:cNvSpPr txBox="1"/>
          <p:nvPr/>
        </p:nvSpPr>
        <p:spPr>
          <a:xfrm>
            <a:off x="2875388" y="3219450"/>
            <a:ext cx="2901069" cy="194310"/>
          </a:xfrm>
          <a:prstGeom prst="rect">
            <a:avLst/>
          </a:prstGeom>
          <a:noFill/>
        </p:spPr>
        <p:txBody>
          <a:bodyPr wrap="none" lIns="0" rIns="0" tIns="0" bIns="0">
            <a:spAutoFit/>
          </a:bodyPr>
          <a:lstStyle/>
          <a:p>
            <a:r>
              <a:rPr sz="1150" b="0">
                <a:solidFill>
                  <a:srgbClr val="2E2E2E"/>
                </a:solidFill>
                <a:latin typeface="Calibri"/>
              </a:rPr>
              <a:t>); 'Portable Machine Perfusion Devices' anchors</a:t>
            </a:r>
          </a:p>
        </p:txBody>
      </p:sp>
      <p:pic>
        <p:nvPicPr>
          <p:cNvPr id="38" name="Picture 37" descr="lock.png"/>
          <p:cNvPicPr>
            <a:picLocks noChangeAspect="1"/>
          </p:cNvPicPr>
          <p:nvPr/>
        </p:nvPicPr>
        <p:blipFill>
          <a:blip r:embed="rId4"/>
          <a:stretch>
            <a:fillRect/>
          </a:stretch>
        </p:blipFill>
        <p:spPr>
          <a:xfrm>
            <a:off x="262145" y="3384486"/>
            <a:ext cx="134549" cy="195707"/>
          </a:xfrm>
          <a:prstGeom prst="rect">
            <a:avLst/>
          </a:prstGeom>
        </p:spPr>
      </p:pic>
      <p:sp>
        <p:nvSpPr>
          <p:cNvPr id="39" name="TextBox 38"/>
          <p:cNvSpPr txBox="1"/>
          <p:nvPr/>
        </p:nvSpPr>
        <p:spPr>
          <a:xfrm>
            <a:off x="437254" y="3394710"/>
            <a:ext cx="586519" cy="194310"/>
          </a:xfrm>
          <a:prstGeom prst="rect">
            <a:avLst/>
          </a:prstGeom>
          <a:noFill/>
        </p:spPr>
        <p:txBody>
          <a:bodyPr wrap="none" lIns="0" rIns="0" tIns="0" bIns="0">
            <a:spAutoFit/>
          </a:bodyPr>
          <a:lstStyle/>
          <a:p>
            <a:r>
              <a:rPr sz="1150" b="0">
                <a:solidFill>
                  <a:srgbClr val="2E2E2E"/>
                </a:solidFill>
                <a:latin typeface="Calibri"/>
              </a:rPr>
              <a:t>of value.</a:t>
            </a:r>
          </a:p>
        </p:txBody>
      </p:sp>
      <p:sp>
        <p:nvSpPr>
          <p:cNvPr id="40" name="TextBox 39"/>
          <p:cNvSpPr txBox="1"/>
          <p:nvPr/>
        </p:nvSpPr>
        <p:spPr>
          <a:xfrm>
            <a:off x="6305550" y="3219450"/>
            <a:ext cx="1083431" cy="194310"/>
          </a:xfrm>
          <a:prstGeom prst="rect">
            <a:avLst/>
          </a:prstGeom>
          <a:noFill/>
        </p:spPr>
        <p:txBody>
          <a:bodyPr wrap="none" lIns="0" rIns="0" tIns="0" bIns="0">
            <a:spAutoFit/>
          </a:bodyPr>
          <a:lstStyle/>
          <a:p>
            <a:r>
              <a:rPr sz="1150" b="0">
                <a:solidFill>
                  <a:srgbClr val="2E2E2E"/>
                </a:solidFill>
                <a:latin typeface="Calibri"/>
              </a:rPr>
              <a:t>▪ Lead with U.S. (</a:t>
            </a:r>
          </a:p>
        </p:txBody>
      </p:sp>
      <p:pic>
        <p:nvPicPr>
          <p:cNvPr id="41" name="Picture 40" descr="lock.png"/>
          <p:cNvPicPr>
            <a:picLocks noChangeAspect="1"/>
          </p:cNvPicPr>
          <p:nvPr/>
        </p:nvPicPr>
        <p:blipFill>
          <a:blip r:embed="rId4"/>
          <a:stretch>
            <a:fillRect/>
          </a:stretch>
        </p:blipFill>
        <p:spPr>
          <a:xfrm>
            <a:off x="7338135" y="3209226"/>
            <a:ext cx="134549" cy="195707"/>
          </a:xfrm>
          <a:prstGeom prst="rect">
            <a:avLst/>
          </a:prstGeom>
        </p:spPr>
      </p:pic>
      <p:sp>
        <p:nvSpPr>
          <p:cNvPr id="42" name="TextBox 41"/>
          <p:cNvSpPr txBox="1"/>
          <p:nvPr/>
        </p:nvSpPr>
        <p:spPr>
          <a:xfrm>
            <a:off x="7513244" y="3219450"/>
            <a:ext cx="1772319" cy="194310"/>
          </a:xfrm>
          <a:prstGeom prst="rect">
            <a:avLst/>
          </a:prstGeom>
          <a:noFill/>
        </p:spPr>
        <p:txBody>
          <a:bodyPr wrap="none" lIns="0" rIns="0" tIns="0" bIns="0">
            <a:spAutoFit/>
          </a:bodyPr>
          <a:lstStyle/>
          <a:p>
            <a:r>
              <a:rPr sz="1150" b="0">
                <a:solidFill>
                  <a:srgbClr val="2E2E2E"/>
                </a:solidFill>
                <a:latin typeface="Calibri"/>
              </a:rPr>
              <a:t>); capture upside in Canada (</a:t>
            </a:r>
          </a:p>
        </p:txBody>
      </p:sp>
      <p:pic>
        <p:nvPicPr>
          <p:cNvPr id="43" name="Picture 42" descr="lock.png"/>
          <p:cNvPicPr>
            <a:picLocks noChangeAspect="1"/>
          </p:cNvPicPr>
          <p:nvPr/>
        </p:nvPicPr>
        <p:blipFill>
          <a:blip r:embed="rId4"/>
          <a:stretch>
            <a:fillRect/>
          </a:stretch>
        </p:blipFill>
        <p:spPr>
          <a:xfrm>
            <a:off x="9234718" y="3209226"/>
            <a:ext cx="134549" cy="195707"/>
          </a:xfrm>
          <a:prstGeom prst="rect">
            <a:avLst/>
          </a:prstGeom>
        </p:spPr>
      </p:pic>
      <p:sp>
        <p:nvSpPr>
          <p:cNvPr id="44" name="TextBox 43"/>
          <p:cNvSpPr txBox="1"/>
          <p:nvPr/>
        </p:nvSpPr>
        <p:spPr>
          <a:xfrm>
            <a:off x="9409827" y="3219450"/>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5" name="TextBox 44"/>
          <p:cNvSpPr txBox="1"/>
          <p:nvPr/>
        </p:nvSpPr>
        <p:spPr>
          <a:xfrm>
            <a:off x="276225" y="5038725"/>
            <a:ext cx="1937481" cy="194310"/>
          </a:xfrm>
          <a:prstGeom prst="rect">
            <a:avLst/>
          </a:prstGeom>
          <a:noFill/>
        </p:spPr>
        <p:txBody>
          <a:bodyPr wrap="none" lIns="0" rIns="0" tIns="0" bIns="0">
            <a:spAutoFit/>
          </a:bodyPr>
          <a:lstStyle/>
          <a:p>
            <a:r>
              <a:rPr sz="1150" b="0">
                <a:solidFill>
                  <a:srgbClr val="2E2E2E"/>
                </a:solidFill>
                <a:latin typeface="Calibri"/>
              </a:rPr>
              <a:t>▪ Organ Transport Devices adds</a:t>
            </a:r>
          </a:p>
        </p:txBody>
      </p:sp>
      <p:pic>
        <p:nvPicPr>
          <p:cNvPr id="46" name="Picture 45" descr="lock.png"/>
          <p:cNvPicPr>
            <a:picLocks noChangeAspect="1"/>
          </p:cNvPicPr>
          <p:nvPr/>
        </p:nvPicPr>
        <p:blipFill>
          <a:blip r:embed="rId4"/>
          <a:stretch>
            <a:fillRect/>
          </a:stretch>
        </p:blipFill>
        <p:spPr>
          <a:xfrm>
            <a:off x="2162860" y="5028501"/>
            <a:ext cx="134549" cy="195707"/>
          </a:xfrm>
          <a:prstGeom prst="rect">
            <a:avLst/>
          </a:prstGeom>
        </p:spPr>
      </p:pic>
      <p:sp>
        <p:nvSpPr>
          <p:cNvPr id="47" name="TextBox 46"/>
          <p:cNvSpPr txBox="1"/>
          <p:nvPr/>
        </p:nvSpPr>
        <p:spPr>
          <a:xfrm>
            <a:off x="2337969" y="5038725"/>
            <a:ext cx="1815107" cy="194310"/>
          </a:xfrm>
          <a:prstGeom prst="rect">
            <a:avLst/>
          </a:prstGeom>
          <a:noFill/>
        </p:spPr>
        <p:txBody>
          <a:bodyPr wrap="none" lIns="0" rIns="0" tIns="0" bIns="0">
            <a:spAutoFit/>
          </a:bodyPr>
          <a:lstStyle/>
          <a:p>
            <a:r>
              <a:rPr sz="1150" b="0">
                <a:solidFill>
                  <a:srgbClr val="2E2E2E"/>
                </a:solidFill>
                <a:latin typeface="Calibri"/>
              </a:rPr>
              <a:t>US$ Mn of demand to 2036 a</a:t>
            </a:r>
          </a:p>
        </p:txBody>
      </p:sp>
      <p:pic>
        <p:nvPicPr>
          <p:cNvPr id="48" name="Picture 47" descr="lock.png"/>
          <p:cNvPicPr>
            <a:picLocks noChangeAspect="1"/>
          </p:cNvPicPr>
          <p:nvPr/>
        </p:nvPicPr>
        <p:blipFill>
          <a:blip r:embed="rId4"/>
          <a:stretch>
            <a:fillRect/>
          </a:stretch>
        </p:blipFill>
        <p:spPr>
          <a:xfrm>
            <a:off x="4102231" y="5028501"/>
            <a:ext cx="134549" cy="195707"/>
          </a:xfrm>
          <a:prstGeom prst="rect">
            <a:avLst/>
          </a:prstGeom>
        </p:spPr>
      </p:pic>
      <p:sp>
        <p:nvSpPr>
          <p:cNvPr id="49" name="TextBox 48"/>
          <p:cNvSpPr txBox="1"/>
          <p:nvPr/>
        </p:nvSpPr>
        <p:spPr>
          <a:xfrm>
            <a:off x="4277340" y="5038725"/>
            <a:ext cx="822709" cy="194310"/>
          </a:xfrm>
          <a:prstGeom prst="rect">
            <a:avLst/>
          </a:prstGeom>
          <a:noFill/>
        </p:spPr>
        <p:txBody>
          <a:bodyPr wrap="none" lIns="0" rIns="0" tIns="0" bIns="0">
            <a:spAutoFit/>
          </a:bodyPr>
          <a:lstStyle/>
          <a:p>
            <a:r>
              <a:rPr sz="1150" b="0">
                <a:solidFill>
                  <a:srgbClr val="2E2E2E"/>
                </a:solidFill>
                <a:latin typeface="Calibri"/>
              </a:rPr>
              <a:t>× expansion.</a:t>
            </a:r>
          </a:p>
        </p:txBody>
      </p:sp>
      <p:sp>
        <p:nvSpPr>
          <p:cNvPr id="50" name="TextBox 49"/>
          <p:cNvSpPr txBox="1"/>
          <p:nvPr/>
        </p:nvSpPr>
        <p:spPr>
          <a:xfrm>
            <a:off x="276225" y="5266563"/>
            <a:ext cx="6344369" cy="194310"/>
          </a:xfrm>
          <a:prstGeom prst="rect">
            <a:avLst/>
          </a:prstGeom>
          <a:noFill/>
        </p:spPr>
        <p:txBody>
          <a:bodyPr wrap="none" lIns="0" rIns="0" tIns="0" bIns="0">
            <a:spAutoFit/>
          </a:bodyPr>
          <a:lstStyle/>
          <a:p>
            <a:r>
              <a:rPr sz="1150" b="0">
                <a:solidFill>
                  <a:srgbClr val="2E2E2E"/>
                </a:solidFill>
                <a:latin typeface="Calibri"/>
              </a:rPr>
              <a:t>▪ Concentrate resources on the leading segment/country while seeding the fastest-growing pockets early.</a:t>
            </a:r>
          </a:p>
        </p:txBody>
      </p:sp>
      <p:sp>
        <p:nvSpPr>
          <p:cNvPr id="51" name="TextBox 50"/>
          <p:cNvSpPr txBox="1"/>
          <p:nvPr/>
        </p:nvSpPr>
        <p:spPr>
          <a:xfrm>
            <a:off x="276225" y="5494400"/>
            <a:ext cx="5502299" cy="194310"/>
          </a:xfrm>
          <a:prstGeom prst="rect">
            <a:avLst/>
          </a:prstGeom>
          <a:noFill/>
        </p:spPr>
        <p:txBody>
          <a:bodyPr wrap="none" lIns="0" rIns="0" tIns="0" bIns="0">
            <a:spAutoFit/>
          </a:bodyPr>
          <a:lstStyle/>
          <a:p>
            <a:r>
              <a:rPr sz="1150" b="0">
                <a:solidFill>
                  <a:srgbClr val="2E2E2E"/>
                </a:solidFill>
                <a:latin typeface="Calibri"/>
              </a:rPr>
              <a:t>▪ Defend share in 'Portable Machine Perfusion Devices' as the value anchor of the portfolio.</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Scenario Outlook (4/4)</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Scenario outlook comparing optimistic, likely and conservative outcomes for 2036 and the CAGR behind each</a:t>
            </a:r>
          </a:p>
        </p:txBody>
      </p:sp>
      <p:sp>
        <p:nvSpPr>
          <p:cNvPr id="10" name="Rounded Rectangle 9"/>
          <p:cNvSpPr/>
          <p:nvPr/>
        </p:nvSpPr>
        <p:spPr>
          <a:xfrm>
            <a:off x="142875" y="981075"/>
            <a:ext cx="3943350"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1" name="Rounded Rectangle 10"/>
          <p:cNvSpPr/>
          <p:nvPr/>
        </p:nvSpPr>
        <p:spPr>
          <a:xfrm>
            <a:off x="4238625"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2" name="Rounded Rectangle 11"/>
          <p:cNvSpPr/>
          <p:nvPr/>
        </p:nvSpPr>
        <p:spPr>
          <a:xfrm>
            <a:off x="8210550" y="981075"/>
            <a:ext cx="3819525" cy="6953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3" name="Rounded Rectangle 12"/>
          <p:cNvSpPr/>
          <p:nvPr/>
        </p:nvSpPr>
        <p:spPr>
          <a:xfrm>
            <a:off x="142875"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Organ Transport Devices Market Value (US$ Mn) Scenario Forecast, 2025 &amp; 2036</a:t>
            </a:r>
          </a:p>
        </p:txBody>
      </p:sp>
      <p:cxnSp>
        <p:nvCxnSpPr>
          <p:cNvPr id="15" name="Connector 14"/>
          <p:cNvCxnSpPr/>
          <p:nvPr/>
        </p:nvCxnSpPr>
        <p:spPr>
          <a:xfrm>
            <a:off x="238125" y="4305300"/>
            <a:ext cx="5686425"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6342" y="3426160"/>
            <a:ext cx="635826" cy="879140"/>
          </a:xfrm>
          <a:prstGeom prst="rect">
            <a:avLst/>
          </a:prstGeom>
          <a:solidFill>
            <a:srgbClr val="4031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043936" y="3090056"/>
            <a:ext cx="635826" cy="1215244"/>
          </a:xfrm>
          <a:prstGeom prst="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5725" y="2954397"/>
            <a:ext cx="635826" cy="1350903"/>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07515" y="2805113"/>
            <a:ext cx="635826" cy="150018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1456468" y="2956706"/>
            <a:ext cx="1568418" cy="0"/>
          </a:xfrm>
          <a:prstGeom prst="line">
            <a:avLst/>
          </a:prstGeom>
          <a:ln w="15875">
            <a:solidFill>
              <a:srgbClr val="92D05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570768" y="2851931"/>
            <a:ext cx="1358868" cy="209550"/>
          </a:xfrm>
          <a:prstGeom prst="roundRect">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2" name="Connector 21"/>
          <p:cNvCxnSpPr/>
          <p:nvPr/>
        </p:nvCxnSpPr>
        <p:spPr>
          <a:xfrm>
            <a:off x="1456468" y="2699531"/>
            <a:ext cx="2550207" cy="0"/>
          </a:xfrm>
          <a:prstGeom prst="line">
            <a:avLst/>
          </a:prstGeom>
          <a:ln w="15875">
            <a:solidFill>
              <a:srgbClr val="0078D4"/>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570768" y="2594756"/>
            <a:ext cx="1358868" cy="20955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cxnSp>
        <p:nvCxnSpPr>
          <p:cNvPr id="24" name="Connector 23"/>
          <p:cNvCxnSpPr/>
          <p:nvPr/>
        </p:nvCxnSpPr>
        <p:spPr>
          <a:xfrm>
            <a:off x="1456468" y="2442356"/>
            <a:ext cx="3531997" cy="0"/>
          </a:xfrm>
          <a:prstGeom prst="line">
            <a:avLst/>
          </a:prstGeom>
          <a:ln w="15875">
            <a:solidFill>
              <a:srgbClr val="808080"/>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570768" y="2337581"/>
            <a:ext cx="1358868" cy="209550"/>
          </a:xfrm>
          <a:prstGeom prst="round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9050" rIns="19050" tIns="0" bIns="0"/>
          <a:lstStyle/>
          <a:p>
            <a:pPr algn="ctr"/>
            <a:r>
              <a:rPr sz="1100" b="1">
                <a:solidFill>
                  <a:srgbClr val="FFFFFF"/>
                </a:solidFill>
                <a:latin typeface="Calibri"/>
              </a:rPr>
              <a:t/>
            </a:r>
          </a:p>
        </p:txBody>
      </p:sp>
      <p:sp>
        <p:nvSpPr>
          <p:cNvPr id="26" name="TextBox 25"/>
          <p:cNvSpPr txBox="1"/>
          <p:nvPr/>
        </p:nvSpPr>
        <p:spPr>
          <a:xfrm>
            <a:off x="643255"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2025</a:t>
            </a:r>
          </a:p>
        </p:txBody>
      </p:sp>
      <p:sp>
        <p:nvSpPr>
          <p:cNvPr id="27" name="TextBox 26"/>
          <p:cNvSpPr txBox="1"/>
          <p:nvPr/>
        </p:nvSpPr>
        <p:spPr>
          <a:xfrm>
            <a:off x="3962638" y="4333875"/>
            <a:ext cx="762000" cy="180975"/>
          </a:xfrm>
          <a:prstGeom prst="rect">
            <a:avLst/>
          </a:prstGeom>
          <a:noFill/>
        </p:spPr>
        <p:txBody>
          <a:bodyPr wrap="square" lIns="28575" rIns="28575" tIns="9525" bIns="9525" anchor="ctr">
            <a:spAutoFit/>
          </a:bodyPr>
          <a:lstStyle/>
          <a:p>
            <a:pPr algn="ctr"/>
            <a:r>
              <a:rPr sz="1100" b="1">
                <a:solidFill>
                  <a:srgbClr val="2E2E2E"/>
                </a:solidFill>
                <a:latin typeface="Calibri"/>
              </a:rPr>
              <a:t>2036</a:t>
            </a:r>
          </a:p>
        </p:txBody>
      </p:sp>
      <p:sp>
        <p:nvSpPr>
          <p:cNvPr id="28" name="Oval 27"/>
          <p:cNvSpPr/>
          <p:nvPr/>
        </p:nvSpPr>
        <p:spPr>
          <a:xfrm>
            <a:off x="304800" y="4572000"/>
            <a:ext cx="133350" cy="133350"/>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77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Conservative Scenario</a:t>
            </a:r>
          </a:p>
        </p:txBody>
      </p:sp>
      <p:sp>
        <p:nvSpPr>
          <p:cNvPr id="30" name="Oval 29"/>
          <p:cNvSpPr/>
          <p:nvPr/>
        </p:nvSpPr>
        <p:spPr>
          <a:xfrm>
            <a:off x="2200275" y="4572000"/>
            <a:ext cx="133350" cy="13335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0"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Likely Scenario</a:t>
            </a:r>
          </a:p>
        </p:txBody>
      </p:sp>
      <p:sp>
        <p:nvSpPr>
          <p:cNvPr id="32" name="Oval 31"/>
          <p:cNvSpPr/>
          <p:nvPr/>
        </p:nvSpPr>
        <p:spPr>
          <a:xfrm>
            <a:off x="4095750" y="4572000"/>
            <a:ext cx="133350" cy="133350"/>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76725" y="4543425"/>
            <a:ext cx="1647825" cy="190500"/>
          </a:xfrm>
          <a:prstGeom prst="rect">
            <a:avLst/>
          </a:prstGeom>
          <a:noFill/>
        </p:spPr>
        <p:txBody>
          <a:bodyPr wrap="none" lIns="28575" rIns="28575" tIns="9525" bIns="9525" anchor="ctr">
            <a:spAutoFit/>
          </a:bodyPr>
          <a:lstStyle/>
          <a:p>
            <a:pPr algn="l"/>
            <a:r>
              <a:rPr sz="1100" b="1">
                <a:solidFill>
                  <a:srgbClr val="2E2E2E"/>
                </a:solidFill>
                <a:latin typeface="Calibri"/>
              </a:rPr>
              <a:t>Optimistic Scenario</a:t>
            </a:r>
          </a:p>
        </p:txBody>
      </p:sp>
      <p:sp>
        <p:nvSpPr>
          <p:cNvPr id="34" name="Rounded Rectangle 33"/>
          <p:cNvSpPr/>
          <p:nvPr/>
        </p:nvSpPr>
        <p:spPr>
          <a:xfrm>
            <a:off x="6172200" y="1809750"/>
            <a:ext cx="5876925" cy="3009900"/>
          </a:xfrm>
          <a:prstGeom prst="roundRect">
            <a:avLst>
              <a:gd name="adj" fmla="val 25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7450" y="18669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Organ Transport Devices Market Attractiveness Analysis By Region, 2026–2036</a:t>
            </a:r>
          </a:p>
        </p:txBody>
      </p:sp>
      <p:graphicFrame>
        <p:nvGraphicFramePr>
          <p:cNvPr id="36" name="Chart 35"/>
          <p:cNvGraphicFramePr>
            <a:graphicFrameLocks noGrp="1"/>
          </p:cNvGraphicFramePr>
          <p:nvPr/>
        </p:nvGraphicFramePr>
        <p:xfrm>
          <a:off x="6267450" y="2266950"/>
          <a:ext cx="5686425" cy="2495550"/>
        </p:xfrm>
        <a:graphic>
          <a:graphicData uri="http://schemas.openxmlformats.org/drawingml/2006/chart">
            <c:chart xmlns:c="http://schemas.openxmlformats.org/drawingml/2006/chart" r:id="rId3"/>
          </a:graphicData>
        </a:graphic>
      </p:graphicFrame>
      <p:sp>
        <p:nvSpPr>
          <p:cNvPr id="37" name="Rounded Rectangle 36"/>
          <p:cNvSpPr/>
          <p:nvPr/>
        </p:nvSpPr>
        <p:spPr>
          <a:xfrm>
            <a:off x="142875" y="4953000"/>
            <a:ext cx="119062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225" y="5038725"/>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39" name="Rectangle 38"/>
          <p:cNvSpPr/>
          <p:nvPr/>
        </p:nvSpPr>
        <p:spPr>
          <a:xfrm>
            <a:off x="276225" y="5276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362575"/>
            <a:ext cx="116395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2035969" y="1214437"/>
            <a:ext cx="157162" cy="228600"/>
          </a:xfrm>
          <a:prstGeom prst="rect">
            <a:avLst/>
          </a:prstGeom>
        </p:spPr>
      </p:pic>
      <p:pic>
        <p:nvPicPr>
          <p:cNvPr id="43" name="Picture 42" descr="lock.png"/>
          <p:cNvPicPr>
            <a:picLocks noChangeAspect="1"/>
          </p:cNvPicPr>
          <p:nvPr/>
        </p:nvPicPr>
        <p:blipFill>
          <a:blip r:embed="rId5"/>
          <a:stretch>
            <a:fillRect/>
          </a:stretch>
        </p:blipFill>
        <p:spPr>
          <a:xfrm>
            <a:off x="6069806" y="1214437"/>
            <a:ext cx="157162" cy="228600"/>
          </a:xfrm>
          <a:prstGeom prst="rect">
            <a:avLst/>
          </a:prstGeom>
        </p:spPr>
      </p:pic>
      <p:pic>
        <p:nvPicPr>
          <p:cNvPr id="44" name="Picture 43" descr="lock.png"/>
          <p:cNvPicPr>
            <a:picLocks noChangeAspect="1"/>
          </p:cNvPicPr>
          <p:nvPr/>
        </p:nvPicPr>
        <p:blipFill>
          <a:blip r:embed="rId5"/>
          <a:stretch>
            <a:fillRect/>
          </a:stretch>
        </p:blipFill>
        <p:spPr>
          <a:xfrm>
            <a:off x="10041731" y="1214437"/>
            <a:ext cx="157162" cy="228600"/>
          </a:xfrm>
          <a:prstGeom prst="rect">
            <a:avLst/>
          </a:prstGeom>
        </p:spPr>
      </p:pic>
      <p:sp>
        <p:nvSpPr>
          <p:cNvPr id="45" name="TextBox 44"/>
          <p:cNvSpPr txBox="1"/>
          <p:nvPr/>
        </p:nvSpPr>
        <p:spPr>
          <a:xfrm>
            <a:off x="1637332" y="1028326"/>
            <a:ext cx="1030634" cy="166573"/>
          </a:xfrm>
          <a:prstGeom prst="rect">
            <a:avLst/>
          </a:prstGeom>
          <a:noFill/>
        </p:spPr>
        <p:txBody>
          <a:bodyPr wrap="none" lIns="0" rIns="0" tIns="0" bIns="0">
            <a:spAutoFit/>
          </a:bodyPr>
          <a:lstStyle/>
          <a:p>
            <a:r>
              <a:rPr sz="968" b="1">
                <a:solidFill>
                  <a:srgbClr val="6C7A89"/>
                </a:solidFill>
                <a:latin typeface="Calibri"/>
              </a:rPr>
              <a:t>OPTIMISTIC (2036)</a:t>
            </a:r>
          </a:p>
        </p:txBody>
      </p:sp>
      <p:sp>
        <p:nvSpPr>
          <p:cNvPr id="46" name="TextBox 45"/>
          <p:cNvSpPr txBox="1"/>
          <p:nvPr/>
        </p:nvSpPr>
        <p:spPr>
          <a:xfrm>
            <a:off x="1906321"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47" name="Picture 46" descr="lock.png"/>
          <p:cNvPicPr>
            <a:picLocks noChangeAspect="1"/>
          </p:cNvPicPr>
          <p:nvPr/>
        </p:nvPicPr>
        <p:blipFill>
          <a:blip r:embed="rId5"/>
          <a:stretch>
            <a:fillRect/>
          </a:stretch>
        </p:blipFill>
        <p:spPr>
          <a:xfrm>
            <a:off x="2208575" y="1473019"/>
            <a:ext cx="113255" cy="164734"/>
          </a:xfrm>
          <a:prstGeom prst="rect">
            <a:avLst/>
          </a:prstGeom>
        </p:spPr>
      </p:pic>
      <p:sp>
        <p:nvSpPr>
          <p:cNvPr id="48" name="TextBox 47"/>
          <p:cNvSpPr txBox="1"/>
          <p:nvPr/>
        </p:nvSpPr>
        <p:spPr>
          <a:xfrm>
            <a:off x="5807156" y="1028326"/>
            <a:ext cx="758662" cy="166573"/>
          </a:xfrm>
          <a:prstGeom prst="rect">
            <a:avLst/>
          </a:prstGeom>
          <a:noFill/>
        </p:spPr>
        <p:txBody>
          <a:bodyPr wrap="none" lIns="0" rIns="0" tIns="0" bIns="0">
            <a:spAutoFit/>
          </a:bodyPr>
          <a:lstStyle/>
          <a:p>
            <a:r>
              <a:rPr sz="968" b="1">
                <a:solidFill>
                  <a:srgbClr val="6C7A89"/>
                </a:solidFill>
                <a:latin typeface="Calibri"/>
              </a:rPr>
              <a:t>LIKELY (2036)</a:t>
            </a:r>
          </a:p>
        </p:txBody>
      </p:sp>
      <p:sp>
        <p:nvSpPr>
          <p:cNvPr id="49" name="TextBox 48"/>
          <p:cNvSpPr txBox="1"/>
          <p:nvPr/>
        </p:nvSpPr>
        <p:spPr>
          <a:xfrm>
            <a:off x="5940158"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0" name="Picture 49" descr="lock.png"/>
          <p:cNvPicPr>
            <a:picLocks noChangeAspect="1"/>
          </p:cNvPicPr>
          <p:nvPr/>
        </p:nvPicPr>
        <p:blipFill>
          <a:blip r:embed="rId5"/>
          <a:stretch>
            <a:fillRect/>
          </a:stretch>
        </p:blipFill>
        <p:spPr>
          <a:xfrm>
            <a:off x="6242412" y="1473019"/>
            <a:ext cx="113255" cy="164734"/>
          </a:xfrm>
          <a:prstGeom prst="rect">
            <a:avLst/>
          </a:prstGeom>
        </p:spPr>
      </p:pic>
      <p:sp>
        <p:nvSpPr>
          <p:cNvPr id="51" name="TextBox 50"/>
          <p:cNvSpPr txBox="1"/>
          <p:nvPr/>
        </p:nvSpPr>
        <p:spPr>
          <a:xfrm>
            <a:off x="9548094" y="1028326"/>
            <a:ext cx="1220636" cy="166573"/>
          </a:xfrm>
          <a:prstGeom prst="rect">
            <a:avLst/>
          </a:prstGeom>
          <a:noFill/>
        </p:spPr>
        <p:txBody>
          <a:bodyPr wrap="none" lIns="0" rIns="0" tIns="0" bIns="0">
            <a:spAutoFit/>
          </a:bodyPr>
          <a:lstStyle/>
          <a:p>
            <a:r>
              <a:rPr sz="968" b="1">
                <a:solidFill>
                  <a:srgbClr val="6C7A89"/>
                </a:solidFill>
                <a:latin typeface="Calibri"/>
              </a:rPr>
              <a:t>CONSERVATIVE (2036)</a:t>
            </a:r>
          </a:p>
        </p:txBody>
      </p:sp>
      <p:sp>
        <p:nvSpPr>
          <p:cNvPr id="52" name="TextBox 51"/>
          <p:cNvSpPr txBox="1"/>
          <p:nvPr/>
        </p:nvSpPr>
        <p:spPr>
          <a:xfrm>
            <a:off x="9912083" y="1481625"/>
            <a:ext cx="357112" cy="166573"/>
          </a:xfrm>
          <a:prstGeom prst="rect">
            <a:avLst/>
          </a:prstGeom>
          <a:noFill/>
        </p:spPr>
        <p:txBody>
          <a:bodyPr wrap="none" lIns="0" rIns="0" tIns="0" bIns="0">
            <a:spAutoFit/>
          </a:bodyPr>
          <a:lstStyle/>
          <a:p>
            <a:r>
              <a:rPr sz="968" b="0">
                <a:solidFill>
                  <a:srgbClr val="6C7A89"/>
                </a:solidFill>
                <a:latin typeface="Calibri"/>
              </a:rPr>
              <a:t>CAGR</a:t>
            </a:r>
          </a:p>
        </p:txBody>
      </p:sp>
      <p:pic>
        <p:nvPicPr>
          <p:cNvPr id="53" name="Picture 52" descr="lock.png"/>
          <p:cNvPicPr>
            <a:picLocks noChangeAspect="1"/>
          </p:cNvPicPr>
          <p:nvPr/>
        </p:nvPicPr>
        <p:blipFill>
          <a:blip r:embed="rId5"/>
          <a:stretch>
            <a:fillRect/>
          </a:stretch>
        </p:blipFill>
        <p:spPr>
          <a:xfrm>
            <a:off x="10214337" y="1473019"/>
            <a:ext cx="113255" cy="164734"/>
          </a:xfrm>
          <a:prstGeom prst="rect">
            <a:avLst/>
          </a:prstGeom>
        </p:spPr>
      </p:pic>
      <p:sp>
        <p:nvSpPr>
          <p:cNvPr id="54" name="TextBox 53"/>
          <p:cNvSpPr txBox="1"/>
          <p:nvPr/>
        </p:nvSpPr>
        <p:spPr>
          <a:xfrm>
            <a:off x="2032418" y="288629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5" name="Picture 54" descr="lock.png"/>
          <p:cNvPicPr>
            <a:picLocks noChangeAspect="1"/>
          </p:cNvPicPr>
          <p:nvPr/>
        </p:nvPicPr>
        <p:blipFill>
          <a:blip r:embed="rId5"/>
          <a:stretch>
            <a:fillRect/>
          </a:stretch>
        </p:blipFill>
        <p:spPr>
          <a:xfrm>
            <a:off x="2358973" y="2878082"/>
            <a:ext cx="108107" cy="157246"/>
          </a:xfrm>
          <a:prstGeom prst="rect">
            <a:avLst/>
          </a:prstGeom>
        </p:spPr>
      </p:pic>
      <p:sp>
        <p:nvSpPr>
          <p:cNvPr id="56" name="TextBox 55"/>
          <p:cNvSpPr txBox="1"/>
          <p:nvPr/>
        </p:nvSpPr>
        <p:spPr>
          <a:xfrm>
            <a:off x="2032418" y="2629122"/>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7" name="Picture 56" descr="lock.png"/>
          <p:cNvPicPr>
            <a:picLocks noChangeAspect="1"/>
          </p:cNvPicPr>
          <p:nvPr/>
        </p:nvPicPr>
        <p:blipFill>
          <a:blip r:embed="rId5"/>
          <a:stretch>
            <a:fillRect/>
          </a:stretch>
        </p:blipFill>
        <p:spPr>
          <a:xfrm>
            <a:off x="2358973" y="2620907"/>
            <a:ext cx="108107" cy="157246"/>
          </a:xfrm>
          <a:prstGeom prst="rect">
            <a:avLst/>
          </a:prstGeom>
        </p:spPr>
      </p:pic>
      <p:sp>
        <p:nvSpPr>
          <p:cNvPr id="58" name="TextBox 57"/>
          <p:cNvSpPr txBox="1"/>
          <p:nvPr/>
        </p:nvSpPr>
        <p:spPr>
          <a:xfrm>
            <a:off x="2032418" y="2371947"/>
            <a:ext cx="382383" cy="159867"/>
          </a:xfrm>
          <a:prstGeom prst="rect">
            <a:avLst/>
          </a:prstGeom>
          <a:noFill/>
        </p:spPr>
        <p:txBody>
          <a:bodyPr wrap="none" lIns="0" rIns="0" tIns="0" bIns="0">
            <a:spAutoFit/>
          </a:bodyPr>
          <a:lstStyle/>
          <a:p>
            <a:r>
              <a:rPr sz="923" b="1">
                <a:solidFill>
                  <a:srgbClr val="FFFFFF"/>
                </a:solidFill>
                <a:latin typeface="Calibri"/>
              </a:rPr>
              <a:t>CAGR:</a:t>
            </a:r>
          </a:p>
        </p:txBody>
      </p:sp>
      <p:pic>
        <p:nvPicPr>
          <p:cNvPr id="59" name="Picture 58" descr="lock.png"/>
          <p:cNvPicPr>
            <a:picLocks noChangeAspect="1"/>
          </p:cNvPicPr>
          <p:nvPr/>
        </p:nvPicPr>
        <p:blipFill>
          <a:blip r:embed="rId5"/>
          <a:stretch>
            <a:fillRect/>
          </a:stretch>
        </p:blipFill>
        <p:spPr>
          <a:xfrm>
            <a:off x="2358973" y="2363732"/>
            <a:ext cx="108107" cy="157246"/>
          </a:xfrm>
          <a:prstGeom prst="rect">
            <a:avLst/>
          </a:prstGeom>
        </p:spPr>
      </p:pic>
      <p:sp>
        <p:nvSpPr>
          <p:cNvPr id="60" name="TextBox 59"/>
          <p:cNvSpPr txBox="1"/>
          <p:nvPr/>
        </p:nvSpPr>
        <p:spPr>
          <a:xfrm>
            <a:off x="276225" y="5372100"/>
            <a:ext cx="808161" cy="194310"/>
          </a:xfrm>
          <a:prstGeom prst="rect">
            <a:avLst/>
          </a:prstGeom>
          <a:noFill/>
        </p:spPr>
        <p:txBody>
          <a:bodyPr wrap="none" lIns="0" rIns="0" tIns="0" bIns="0">
            <a:spAutoFit/>
          </a:bodyPr>
          <a:lstStyle/>
          <a:p>
            <a:r>
              <a:rPr sz="1150" b="0">
                <a:solidFill>
                  <a:srgbClr val="2E2E2E"/>
                </a:solidFill>
                <a:latin typeface="Calibri"/>
              </a:rPr>
              <a:t>▪ Optimistic:</a:t>
            </a:r>
          </a:p>
        </p:txBody>
      </p:sp>
      <p:pic>
        <p:nvPicPr>
          <p:cNvPr id="61" name="Picture 60" descr="lock.png"/>
          <p:cNvPicPr>
            <a:picLocks noChangeAspect="1"/>
          </p:cNvPicPr>
          <p:nvPr/>
        </p:nvPicPr>
        <p:blipFill>
          <a:blip r:embed="rId5"/>
          <a:stretch>
            <a:fillRect/>
          </a:stretch>
        </p:blipFill>
        <p:spPr>
          <a:xfrm>
            <a:off x="1033540" y="5361876"/>
            <a:ext cx="134549" cy="195707"/>
          </a:xfrm>
          <a:prstGeom prst="rect">
            <a:avLst/>
          </a:prstGeom>
        </p:spPr>
      </p:pic>
      <p:sp>
        <p:nvSpPr>
          <p:cNvPr id="62" name="TextBox 61"/>
          <p:cNvSpPr txBox="1"/>
          <p:nvPr/>
        </p:nvSpPr>
        <p:spPr>
          <a:xfrm>
            <a:off x="1208649" y="5372100"/>
            <a:ext cx="1203808" cy="194310"/>
          </a:xfrm>
          <a:prstGeom prst="rect">
            <a:avLst/>
          </a:prstGeom>
          <a:noFill/>
        </p:spPr>
        <p:txBody>
          <a:bodyPr wrap="none" lIns="0" rIns="0" tIns="0" bIns="0">
            <a:spAutoFit/>
          </a:bodyPr>
          <a:lstStyle/>
          <a:p>
            <a:r>
              <a:rPr sz="1150" b="0">
                <a:solidFill>
                  <a:srgbClr val="2E2E2E"/>
                </a:solidFill>
                <a:latin typeface="Calibri"/>
              </a:rPr>
              <a:t>US$ Mn by 2036 at</a:t>
            </a:r>
          </a:p>
        </p:txBody>
      </p:sp>
      <p:pic>
        <p:nvPicPr>
          <p:cNvPr id="63" name="Picture 62" descr="lock.png"/>
          <p:cNvPicPr>
            <a:picLocks noChangeAspect="1"/>
          </p:cNvPicPr>
          <p:nvPr/>
        </p:nvPicPr>
        <p:blipFill>
          <a:blip r:embed="rId5"/>
          <a:stretch>
            <a:fillRect/>
          </a:stretch>
        </p:blipFill>
        <p:spPr>
          <a:xfrm>
            <a:off x="2361612" y="5361876"/>
            <a:ext cx="134549" cy="195707"/>
          </a:xfrm>
          <a:prstGeom prst="rect">
            <a:avLst/>
          </a:prstGeom>
        </p:spPr>
      </p:pic>
      <p:sp>
        <p:nvSpPr>
          <p:cNvPr id="64" name="TextBox 63"/>
          <p:cNvSpPr txBox="1"/>
          <p:nvPr/>
        </p:nvSpPr>
        <p:spPr>
          <a:xfrm>
            <a:off x="2536721" y="5372100"/>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65" name="TextBox 64"/>
          <p:cNvSpPr txBox="1"/>
          <p:nvPr/>
        </p:nvSpPr>
        <p:spPr>
          <a:xfrm>
            <a:off x="276225" y="5599938"/>
            <a:ext cx="1448271" cy="194310"/>
          </a:xfrm>
          <a:prstGeom prst="rect">
            <a:avLst/>
          </a:prstGeom>
          <a:noFill/>
        </p:spPr>
        <p:txBody>
          <a:bodyPr wrap="none" lIns="0" rIns="0" tIns="0" bIns="0">
            <a:spAutoFit/>
          </a:bodyPr>
          <a:lstStyle/>
          <a:p>
            <a:r>
              <a:rPr sz="1150" b="0">
                <a:solidFill>
                  <a:srgbClr val="2E2E2E"/>
                </a:solidFill>
                <a:latin typeface="Calibri"/>
              </a:rPr>
              <a:t>▪ Likely (base forecast):</a:t>
            </a:r>
          </a:p>
        </p:txBody>
      </p:sp>
      <p:pic>
        <p:nvPicPr>
          <p:cNvPr id="66" name="Picture 65" descr="lock.png"/>
          <p:cNvPicPr>
            <a:picLocks noChangeAspect="1"/>
          </p:cNvPicPr>
          <p:nvPr/>
        </p:nvPicPr>
        <p:blipFill>
          <a:blip r:embed="rId5"/>
          <a:stretch>
            <a:fillRect/>
          </a:stretch>
        </p:blipFill>
        <p:spPr>
          <a:xfrm>
            <a:off x="1673650" y="5589714"/>
            <a:ext cx="134549" cy="195707"/>
          </a:xfrm>
          <a:prstGeom prst="rect">
            <a:avLst/>
          </a:prstGeom>
        </p:spPr>
      </p:pic>
      <p:sp>
        <p:nvSpPr>
          <p:cNvPr id="67" name="TextBox 66"/>
          <p:cNvSpPr txBox="1"/>
          <p:nvPr/>
        </p:nvSpPr>
        <p:spPr>
          <a:xfrm>
            <a:off x="1848759" y="5599938"/>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68" name="Picture 67" descr="lock.png"/>
          <p:cNvPicPr>
            <a:picLocks noChangeAspect="1"/>
          </p:cNvPicPr>
          <p:nvPr/>
        </p:nvPicPr>
        <p:blipFill>
          <a:blip r:embed="rId5"/>
          <a:stretch>
            <a:fillRect/>
          </a:stretch>
        </p:blipFill>
        <p:spPr>
          <a:xfrm>
            <a:off x="2495966" y="5589714"/>
            <a:ext cx="134549" cy="195707"/>
          </a:xfrm>
          <a:prstGeom prst="rect">
            <a:avLst/>
          </a:prstGeom>
        </p:spPr>
      </p:pic>
      <p:sp>
        <p:nvSpPr>
          <p:cNvPr id="69" name="TextBox 68"/>
          <p:cNvSpPr txBox="1"/>
          <p:nvPr/>
        </p:nvSpPr>
        <p:spPr>
          <a:xfrm>
            <a:off x="2671076" y="5599938"/>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0" name="TextBox 69"/>
          <p:cNvSpPr txBox="1"/>
          <p:nvPr/>
        </p:nvSpPr>
        <p:spPr>
          <a:xfrm>
            <a:off x="276225" y="5827775"/>
            <a:ext cx="969615" cy="194310"/>
          </a:xfrm>
          <a:prstGeom prst="rect">
            <a:avLst/>
          </a:prstGeom>
          <a:noFill/>
        </p:spPr>
        <p:txBody>
          <a:bodyPr wrap="none" lIns="0" rIns="0" tIns="0" bIns="0">
            <a:spAutoFit/>
          </a:bodyPr>
          <a:lstStyle/>
          <a:p>
            <a:r>
              <a:rPr sz="1150" b="0">
                <a:solidFill>
                  <a:srgbClr val="2E2E2E"/>
                </a:solidFill>
                <a:latin typeface="Calibri"/>
              </a:rPr>
              <a:t>▪ Conservative:</a:t>
            </a:r>
          </a:p>
        </p:txBody>
      </p:sp>
      <p:pic>
        <p:nvPicPr>
          <p:cNvPr id="71" name="Picture 70" descr="lock.png"/>
          <p:cNvPicPr>
            <a:picLocks noChangeAspect="1"/>
          </p:cNvPicPr>
          <p:nvPr/>
        </p:nvPicPr>
        <p:blipFill>
          <a:blip r:embed="rId5"/>
          <a:stretch>
            <a:fillRect/>
          </a:stretch>
        </p:blipFill>
        <p:spPr>
          <a:xfrm>
            <a:off x="1194994" y="5817552"/>
            <a:ext cx="134549" cy="195707"/>
          </a:xfrm>
          <a:prstGeom prst="rect">
            <a:avLst/>
          </a:prstGeom>
        </p:spPr>
      </p:pic>
      <p:sp>
        <p:nvSpPr>
          <p:cNvPr id="72" name="TextBox 71"/>
          <p:cNvSpPr txBox="1"/>
          <p:nvPr/>
        </p:nvSpPr>
        <p:spPr>
          <a:xfrm>
            <a:off x="1370103" y="5827775"/>
            <a:ext cx="698053" cy="194310"/>
          </a:xfrm>
          <a:prstGeom prst="rect">
            <a:avLst/>
          </a:prstGeom>
          <a:noFill/>
        </p:spPr>
        <p:txBody>
          <a:bodyPr wrap="none" lIns="0" rIns="0" tIns="0" bIns="0">
            <a:spAutoFit/>
          </a:bodyPr>
          <a:lstStyle/>
          <a:p>
            <a:r>
              <a:rPr sz="1150" b="0">
                <a:solidFill>
                  <a:srgbClr val="2E2E2E"/>
                </a:solidFill>
                <a:latin typeface="Calibri"/>
              </a:rPr>
              <a:t>US$ Mn at</a:t>
            </a:r>
          </a:p>
        </p:txBody>
      </p:sp>
      <p:pic>
        <p:nvPicPr>
          <p:cNvPr id="73" name="Picture 72" descr="lock.png"/>
          <p:cNvPicPr>
            <a:picLocks noChangeAspect="1"/>
          </p:cNvPicPr>
          <p:nvPr/>
        </p:nvPicPr>
        <p:blipFill>
          <a:blip r:embed="rId5"/>
          <a:stretch>
            <a:fillRect/>
          </a:stretch>
        </p:blipFill>
        <p:spPr>
          <a:xfrm>
            <a:off x="2017310" y="5817552"/>
            <a:ext cx="134549" cy="195707"/>
          </a:xfrm>
          <a:prstGeom prst="rect">
            <a:avLst/>
          </a:prstGeom>
        </p:spPr>
      </p:pic>
      <p:sp>
        <p:nvSpPr>
          <p:cNvPr id="74" name="TextBox 73"/>
          <p:cNvSpPr txBox="1"/>
          <p:nvPr/>
        </p:nvSpPr>
        <p:spPr>
          <a:xfrm>
            <a:off x="2192420" y="582777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75" name="TextBox 74"/>
          <p:cNvSpPr txBox="1"/>
          <p:nvPr/>
        </p:nvSpPr>
        <p:spPr>
          <a:xfrm>
            <a:off x="276225" y="6055613"/>
            <a:ext cx="3660130" cy="194310"/>
          </a:xfrm>
          <a:prstGeom prst="rect">
            <a:avLst/>
          </a:prstGeom>
          <a:noFill/>
        </p:spPr>
        <p:txBody>
          <a:bodyPr wrap="none" lIns="0" rIns="0" tIns="0" bIns="0">
            <a:spAutoFit/>
          </a:bodyPr>
          <a:lstStyle/>
          <a:p>
            <a:r>
              <a:rPr sz="1150" b="0">
                <a:solidFill>
                  <a:srgbClr val="2E2E2E"/>
                </a:solidFill>
                <a:latin typeface="Calibri"/>
              </a:rPr>
              <a:t>▪ Scenarios flex the base forecast's year-on-year growth by ±</a:t>
            </a:r>
          </a:p>
        </p:txBody>
      </p:sp>
      <p:pic>
        <p:nvPicPr>
          <p:cNvPr id="76" name="Picture 75" descr="lock.png"/>
          <p:cNvPicPr>
            <a:picLocks noChangeAspect="1"/>
          </p:cNvPicPr>
          <p:nvPr/>
        </p:nvPicPr>
        <p:blipFill>
          <a:blip r:embed="rId5"/>
          <a:stretch>
            <a:fillRect/>
          </a:stretch>
        </p:blipFill>
        <p:spPr>
          <a:xfrm>
            <a:off x="3885509" y="6045390"/>
            <a:ext cx="134549" cy="195707"/>
          </a:xfrm>
          <a:prstGeom prst="rect">
            <a:avLst/>
          </a:prstGeom>
        </p:spPr>
      </p:pic>
      <p:sp>
        <p:nvSpPr>
          <p:cNvPr id="77" name="TextBox 76"/>
          <p:cNvSpPr txBox="1"/>
          <p:nvPr/>
        </p:nvSpPr>
        <p:spPr>
          <a:xfrm>
            <a:off x="4060618" y="6055613"/>
            <a:ext cx="1900683" cy="194310"/>
          </a:xfrm>
          <a:prstGeom prst="rect">
            <a:avLst/>
          </a:prstGeom>
          <a:noFill/>
        </p:spPr>
        <p:txBody>
          <a:bodyPr wrap="none" lIns="0" rIns="0" tIns="0" bIns="0">
            <a:spAutoFit/>
          </a:bodyPr>
          <a:lstStyle/>
          <a:p>
            <a:r>
              <a:rPr sz="1150" b="0">
                <a:solidFill>
                  <a:srgbClr val="2E2E2E"/>
                </a:solidFill>
                <a:latin typeface="Calibri"/>
              </a:rPr>
              <a:t>across the 2026–2036 horizon.</a:t>
            </a:r>
          </a:p>
        </p:txBody>
      </p:sp>
      <p:sp>
        <p:nvSpPr>
          <p:cNvPr id="78" name="lockshield_36"/>
          <p:cNvSpPr/>
          <p:nvPr/>
        </p:nvSpPr>
        <p:spPr>
          <a:xfrm>
            <a:off x="6267450" y="2266950"/>
            <a:ext cx="5686425" cy="2495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5558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8987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Country</a:t>
            </a:r>
          </a:p>
        </p:txBody>
      </p:sp>
      <p:sp>
        <p:nvSpPr>
          <p:cNvPr id="11" name="TextBox 10"/>
          <p:cNvSpPr txBox="1"/>
          <p:nvPr/>
        </p:nvSpPr>
        <p:spPr>
          <a:xfrm>
            <a:off x="914400" y="3584575"/>
            <a:ext cx="8458200" cy="16700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North America Organ Transport Devices – Country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Share Analysis By Country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Share Analysis By Country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 Country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analysis of size, growth and share across 2 countries, highlighting where value concentrates,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By Country view breaks the North America market down geographically. Each country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Country</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U.S.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Canada</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Country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Country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By Country split shows where market value concentrates and where growth is fastest.</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demand and access dynamics are rebalancing the geographic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lock.png"/>
          <p:cNvPicPr>
            <a:picLocks noChangeAspect="1"/>
          </p:cNvPicPr>
          <p:nvPr/>
        </p:nvPicPr>
        <p:blipFill>
          <a:blip r:embed="rId4"/>
          <a:stretch>
            <a:fillRect/>
          </a:stretch>
        </p:blipFill>
        <p:spPr>
          <a:xfrm>
            <a:off x="4250888" y="2339922"/>
            <a:ext cx="175498" cy="255270"/>
          </a:xfrm>
          <a:prstGeom prst="rect">
            <a:avLst/>
          </a:prstGeom>
        </p:spPr>
      </p:pic>
      <p:pic>
        <p:nvPicPr>
          <p:cNvPr id="50" name="Picture 49" descr="lock.png"/>
          <p:cNvPicPr>
            <a:picLocks noChangeAspect="1"/>
          </p:cNvPicPr>
          <p:nvPr/>
        </p:nvPicPr>
        <p:blipFill>
          <a:blip r:embed="rId4"/>
          <a:stretch>
            <a:fillRect/>
          </a:stretch>
        </p:blipFill>
        <p:spPr>
          <a:xfrm>
            <a:off x="4250888" y="2832772"/>
            <a:ext cx="175498" cy="255270"/>
          </a:xfrm>
          <a:prstGeom prst="rect">
            <a:avLst/>
          </a:prstGeom>
        </p:spPr>
      </p:pic>
      <p:pic>
        <p:nvPicPr>
          <p:cNvPr id="51" name="Picture 50" descr="lock.png"/>
          <p:cNvPicPr>
            <a:picLocks noChangeAspect="1"/>
          </p:cNvPicPr>
          <p:nvPr/>
        </p:nvPicPr>
        <p:blipFill>
          <a:blip r:embed="rId4"/>
          <a:stretch>
            <a:fillRect/>
          </a:stretch>
        </p:blipFill>
        <p:spPr>
          <a:xfrm>
            <a:off x="4250888" y="3325622"/>
            <a:ext cx="175498" cy="255270"/>
          </a:xfrm>
          <a:prstGeom prst="rect">
            <a:avLst/>
          </a:prstGeom>
        </p:spPr>
      </p:pic>
      <p:pic>
        <p:nvPicPr>
          <p:cNvPr id="52" name="Picture 51" descr="lock.png"/>
          <p:cNvPicPr>
            <a:picLocks noChangeAspect="1"/>
          </p:cNvPicPr>
          <p:nvPr/>
        </p:nvPicPr>
        <p:blipFill>
          <a:blip r:embed="rId4"/>
          <a:stretch>
            <a:fillRect/>
          </a:stretch>
        </p:blipFill>
        <p:spPr>
          <a:xfrm>
            <a:off x="9308663" y="2339922"/>
            <a:ext cx="175498" cy="255270"/>
          </a:xfrm>
          <a:prstGeom prst="rect">
            <a:avLst/>
          </a:prstGeom>
        </p:spPr>
      </p:pic>
      <p:pic>
        <p:nvPicPr>
          <p:cNvPr id="53" name="Picture 52" descr="lock.png"/>
          <p:cNvPicPr>
            <a:picLocks noChangeAspect="1"/>
          </p:cNvPicPr>
          <p:nvPr/>
        </p:nvPicPr>
        <p:blipFill>
          <a:blip r:embed="rId4"/>
          <a:stretch>
            <a:fillRect/>
          </a:stretch>
        </p:blipFill>
        <p:spPr>
          <a:xfrm>
            <a:off x="9308663" y="2832772"/>
            <a:ext cx="175498" cy="255270"/>
          </a:xfrm>
          <a:prstGeom prst="rect">
            <a:avLst/>
          </a:prstGeom>
        </p:spPr>
      </p:pic>
      <p:pic>
        <p:nvPicPr>
          <p:cNvPr id="54" name="Picture 53" descr="lock.png"/>
          <p:cNvPicPr>
            <a:picLocks noChangeAspect="1"/>
          </p:cNvPicPr>
          <p:nvPr/>
        </p:nvPicPr>
        <p:blipFill>
          <a:blip r:embed="rId4"/>
          <a:stretch>
            <a:fillRect/>
          </a:stretch>
        </p:blipFill>
        <p:spPr>
          <a:xfrm>
            <a:off x="9308663" y="3325622"/>
            <a:ext cx="175498" cy="255270"/>
          </a:xfrm>
          <a:prstGeom prst="rect">
            <a:avLst/>
          </a:prstGeom>
        </p:spPr>
      </p:pic>
      <p:sp>
        <p:nvSpPr>
          <p:cNvPr id="55" name="TextBox 54"/>
          <p:cNvSpPr txBox="1"/>
          <p:nvPr/>
        </p:nvSpPr>
        <p:spPr>
          <a:xfrm>
            <a:off x="485775" y="4229437"/>
            <a:ext cx="2479203" cy="186689"/>
          </a:xfrm>
          <a:prstGeom prst="rect">
            <a:avLst/>
          </a:prstGeom>
          <a:noFill/>
        </p:spPr>
        <p:txBody>
          <a:bodyPr wrap="none" lIns="0" rIns="0" tIns="0" bIns="0">
            <a:spAutoFit/>
          </a:bodyPr>
          <a:lstStyle/>
          <a:p>
            <a:r>
              <a:rPr sz="1100" b="0">
                <a:solidFill>
                  <a:srgbClr val="2E2E2E"/>
                </a:solidFill>
                <a:latin typeface="Calibri"/>
              </a:rPr>
              <a:t>The U.S. organ transport devices market is</a:t>
            </a:r>
          </a:p>
        </p:txBody>
      </p:sp>
      <p:sp>
        <p:nvSpPr>
          <p:cNvPr id="56" name="TextBox 55"/>
          <p:cNvSpPr txBox="1"/>
          <p:nvPr/>
        </p:nvSpPr>
        <p:spPr>
          <a:xfrm>
            <a:off x="485775" y="4397077"/>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57" name="Picture 56" descr="lock.png"/>
          <p:cNvPicPr>
            <a:picLocks noChangeAspect="1"/>
          </p:cNvPicPr>
          <p:nvPr/>
        </p:nvPicPr>
        <p:blipFill>
          <a:blip r:embed="rId4"/>
          <a:stretch>
            <a:fillRect/>
          </a:stretch>
        </p:blipFill>
        <p:spPr>
          <a:xfrm>
            <a:off x="1678376" y="4387298"/>
            <a:ext cx="128699" cy="187198"/>
          </a:xfrm>
          <a:prstGeom prst="rect">
            <a:avLst/>
          </a:prstGeom>
        </p:spPr>
      </p:pic>
      <p:sp>
        <p:nvSpPr>
          <p:cNvPr id="58" name="TextBox 57"/>
          <p:cNvSpPr txBox="1"/>
          <p:nvPr/>
        </p:nvSpPr>
        <p:spPr>
          <a:xfrm>
            <a:off x="1845872" y="4397077"/>
            <a:ext cx="1172517" cy="186689"/>
          </a:xfrm>
          <a:prstGeom prst="rect">
            <a:avLst/>
          </a:prstGeom>
          <a:noFill/>
        </p:spPr>
        <p:txBody>
          <a:bodyPr wrap="none" lIns="0" rIns="0" tIns="0" bIns="0">
            <a:spAutoFit/>
          </a:bodyPr>
          <a:lstStyle/>
          <a:p>
            <a:r>
              <a:rPr sz="1100" b="0">
                <a:solidFill>
                  <a:srgbClr val="2E2E2E"/>
                </a:solidFill>
                <a:latin typeface="Calibri"/>
              </a:rPr>
              <a:t>X higher value than</a:t>
            </a:r>
          </a:p>
        </p:txBody>
      </p:sp>
      <p:sp>
        <p:nvSpPr>
          <p:cNvPr id="59" name="TextBox 58"/>
          <p:cNvSpPr txBox="1"/>
          <p:nvPr/>
        </p:nvSpPr>
        <p:spPr>
          <a:xfrm>
            <a:off x="485775" y="4564717"/>
            <a:ext cx="2914650" cy="186689"/>
          </a:xfrm>
          <a:prstGeom prst="rect">
            <a:avLst/>
          </a:prstGeom>
          <a:noFill/>
        </p:spPr>
        <p:txBody>
          <a:bodyPr wrap="none" lIns="0" rIns="0" tIns="0" bIns="0">
            <a:spAutoFit/>
          </a:bodyPr>
          <a:lstStyle/>
          <a:p>
            <a:r>
              <a:rPr sz="1100" b="0">
                <a:solidFill>
                  <a:srgbClr val="2E2E2E"/>
                </a:solidFill>
                <a:latin typeface="Calibri"/>
              </a:rPr>
              <a:t>Canada in 2036. Among organ transport devices by</a:t>
            </a:r>
          </a:p>
        </p:txBody>
      </p:sp>
      <p:sp>
        <p:nvSpPr>
          <p:cNvPr id="60" name="TextBox 59"/>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country, Canada is expected to witness the highest</a:t>
            </a:r>
          </a:p>
        </p:txBody>
      </p:sp>
      <p:sp>
        <p:nvSpPr>
          <p:cNvPr id="61" name="TextBox 60"/>
          <p:cNvSpPr txBox="1"/>
          <p:nvPr/>
        </p:nvSpPr>
        <p:spPr>
          <a:xfrm>
            <a:off x="485775" y="4899997"/>
            <a:ext cx="543304" cy="186689"/>
          </a:xfrm>
          <a:prstGeom prst="rect">
            <a:avLst/>
          </a:prstGeom>
          <a:noFill/>
        </p:spPr>
        <p:txBody>
          <a:bodyPr wrap="none" lIns="0" rIns="0" tIns="0" bIns="0">
            <a:spAutoFit/>
          </a:bodyPr>
          <a:lstStyle/>
          <a:p>
            <a:r>
              <a:rPr sz="1100" b="0">
                <a:solidFill>
                  <a:srgbClr val="2E2E2E"/>
                </a:solidFill>
                <a:latin typeface="Calibri"/>
              </a:rPr>
              <a:t>CAGR of</a:t>
            </a:r>
          </a:p>
        </p:txBody>
      </p:sp>
      <p:pic>
        <p:nvPicPr>
          <p:cNvPr id="62" name="Picture 61" descr="lock.png"/>
          <p:cNvPicPr>
            <a:picLocks noChangeAspect="1"/>
          </p:cNvPicPr>
          <p:nvPr/>
        </p:nvPicPr>
        <p:blipFill>
          <a:blip r:embed="rId4"/>
          <a:stretch>
            <a:fillRect/>
          </a:stretch>
        </p:blipFill>
        <p:spPr>
          <a:xfrm>
            <a:off x="977131" y="4890217"/>
            <a:ext cx="128699" cy="187198"/>
          </a:xfrm>
          <a:prstGeom prst="rect">
            <a:avLst/>
          </a:prstGeom>
        </p:spPr>
      </p:pic>
      <p:sp>
        <p:nvSpPr>
          <p:cNvPr id="63" name="TextBox 62"/>
          <p:cNvSpPr txBox="1"/>
          <p:nvPr/>
        </p:nvSpPr>
        <p:spPr>
          <a:xfrm>
            <a:off x="1144627" y="489999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4" name="TextBox 63"/>
          <p:cNvSpPr txBox="1"/>
          <p:nvPr/>
        </p:nvSpPr>
        <p:spPr>
          <a:xfrm>
            <a:off x="485775" y="5117929"/>
            <a:ext cx="2914650" cy="186689"/>
          </a:xfrm>
          <a:prstGeom prst="rect">
            <a:avLst/>
          </a:prstGeom>
          <a:noFill/>
        </p:spPr>
        <p:txBody>
          <a:bodyPr wrap="none" lIns="0" rIns="0" tIns="0" bIns="0">
            <a:spAutoFit/>
          </a:bodyPr>
          <a:lstStyle/>
          <a:p>
            <a:r>
              <a:rPr sz="1100" b="0">
                <a:solidFill>
                  <a:srgbClr val="2E2E2E"/>
                </a:solidFill>
                <a:latin typeface="Calibri"/>
              </a:rPr>
              <a:t>In terms of value share by country, U.S. is expected</a:t>
            </a:r>
          </a:p>
        </p:txBody>
      </p:sp>
      <p:sp>
        <p:nvSpPr>
          <p:cNvPr id="65" name="TextBox 64"/>
          <p:cNvSpPr txBox="1"/>
          <p:nvPr/>
        </p:nvSpPr>
        <p:spPr>
          <a:xfrm>
            <a:off x="485775" y="5285569"/>
            <a:ext cx="1835001" cy="186689"/>
          </a:xfrm>
          <a:prstGeom prst="rect">
            <a:avLst/>
          </a:prstGeom>
          <a:noFill/>
        </p:spPr>
        <p:txBody>
          <a:bodyPr wrap="none" lIns="0" rIns="0" tIns="0" bIns="0">
            <a:spAutoFit/>
          </a:bodyPr>
          <a:lstStyle/>
          <a:p>
            <a:r>
              <a:rPr sz="1100" b="0">
                <a:solidFill>
                  <a:srgbClr val="2E2E2E"/>
                </a:solidFill>
                <a:latin typeface="Calibri"/>
              </a:rPr>
              <a:t>to dominate the market, losing</a:t>
            </a:r>
          </a:p>
        </p:txBody>
      </p:sp>
      <p:pic>
        <p:nvPicPr>
          <p:cNvPr id="66" name="Picture 65" descr="lock.png"/>
          <p:cNvPicPr>
            <a:picLocks noChangeAspect="1"/>
          </p:cNvPicPr>
          <p:nvPr/>
        </p:nvPicPr>
        <p:blipFill>
          <a:blip r:embed="rId4"/>
          <a:stretch>
            <a:fillRect/>
          </a:stretch>
        </p:blipFill>
        <p:spPr>
          <a:xfrm>
            <a:off x="2268827" y="5275790"/>
            <a:ext cx="128699" cy="187198"/>
          </a:xfrm>
          <a:prstGeom prst="rect">
            <a:avLst/>
          </a:prstGeom>
        </p:spPr>
      </p:pic>
      <p:sp>
        <p:nvSpPr>
          <p:cNvPr id="67" name="TextBox 66"/>
          <p:cNvSpPr txBox="1"/>
          <p:nvPr/>
        </p:nvSpPr>
        <p:spPr>
          <a:xfrm>
            <a:off x="2436323" y="5285569"/>
            <a:ext cx="534044" cy="186689"/>
          </a:xfrm>
          <a:prstGeom prst="rect">
            <a:avLst/>
          </a:prstGeom>
          <a:noFill/>
        </p:spPr>
        <p:txBody>
          <a:bodyPr wrap="none" lIns="0" rIns="0" tIns="0" bIns="0">
            <a:spAutoFit/>
          </a:bodyPr>
          <a:lstStyle/>
          <a:p>
            <a:r>
              <a:rPr sz="1100" b="0">
                <a:solidFill>
                  <a:srgbClr val="2E2E2E"/>
                </a:solidFill>
                <a:latin typeface="Calibri"/>
              </a:rPr>
              <a:t>BPS and</a:t>
            </a:r>
          </a:p>
        </p:txBody>
      </p:sp>
      <p:sp>
        <p:nvSpPr>
          <p:cNvPr id="68" name="TextBox 67"/>
          <p:cNvSpPr txBox="1"/>
          <p:nvPr/>
        </p:nvSpPr>
        <p:spPr>
          <a:xfrm>
            <a:off x="485775" y="5453209"/>
            <a:ext cx="896937" cy="186689"/>
          </a:xfrm>
          <a:prstGeom prst="rect">
            <a:avLst/>
          </a:prstGeom>
          <a:noFill/>
        </p:spPr>
        <p:txBody>
          <a:bodyPr wrap="none" lIns="0" rIns="0" tIns="0" bIns="0">
            <a:spAutoFit/>
          </a:bodyPr>
          <a:lstStyle/>
          <a:p>
            <a:r>
              <a:rPr sz="1100" b="0">
                <a:solidFill>
                  <a:srgbClr val="2E2E2E"/>
                </a:solidFill>
                <a:latin typeface="Calibri"/>
              </a:rPr>
              <a:t>accounting for</a:t>
            </a:r>
          </a:p>
        </p:txBody>
      </p:sp>
      <p:pic>
        <p:nvPicPr>
          <p:cNvPr id="69" name="Picture 68" descr="lock.png"/>
          <p:cNvPicPr>
            <a:picLocks noChangeAspect="1"/>
          </p:cNvPicPr>
          <p:nvPr/>
        </p:nvPicPr>
        <p:blipFill>
          <a:blip r:embed="rId4"/>
          <a:stretch>
            <a:fillRect/>
          </a:stretch>
        </p:blipFill>
        <p:spPr>
          <a:xfrm>
            <a:off x="1330764" y="5443430"/>
            <a:ext cx="128699" cy="187198"/>
          </a:xfrm>
          <a:prstGeom prst="rect">
            <a:avLst/>
          </a:prstGeom>
        </p:spPr>
      </p:pic>
      <p:sp>
        <p:nvSpPr>
          <p:cNvPr id="70" name="TextBox 69"/>
          <p:cNvSpPr txBox="1"/>
          <p:nvPr/>
        </p:nvSpPr>
        <p:spPr>
          <a:xfrm>
            <a:off x="1498259" y="5453209"/>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1" name="TextBox 70"/>
          <p:cNvSpPr txBox="1"/>
          <p:nvPr/>
        </p:nvSpPr>
        <p:spPr>
          <a:xfrm>
            <a:off x="3838575" y="4229437"/>
            <a:ext cx="453826" cy="186689"/>
          </a:xfrm>
          <a:prstGeom prst="rect">
            <a:avLst/>
          </a:prstGeom>
          <a:noFill/>
        </p:spPr>
        <p:txBody>
          <a:bodyPr wrap="none" lIns="0" rIns="0" tIns="0" bIns="0">
            <a:spAutoFit/>
          </a:bodyPr>
          <a:lstStyle/>
          <a:p>
            <a:r>
              <a:rPr sz="1100" b="0">
                <a:solidFill>
                  <a:srgbClr val="2E2E2E"/>
                </a:solidFill>
                <a:latin typeface="Calibri"/>
              </a:rPr>
              <a:t>● U.S.:</a:t>
            </a:r>
          </a:p>
        </p:txBody>
      </p:sp>
      <p:pic>
        <p:nvPicPr>
          <p:cNvPr id="72" name="Picture 71" descr="lock.png"/>
          <p:cNvPicPr>
            <a:picLocks noChangeAspect="1"/>
          </p:cNvPicPr>
          <p:nvPr/>
        </p:nvPicPr>
        <p:blipFill>
          <a:blip r:embed="rId4"/>
          <a:stretch>
            <a:fillRect/>
          </a:stretch>
        </p:blipFill>
        <p:spPr>
          <a:xfrm>
            <a:off x="4240453" y="4219658"/>
            <a:ext cx="128699" cy="187198"/>
          </a:xfrm>
          <a:prstGeom prst="rect">
            <a:avLst/>
          </a:prstGeom>
        </p:spPr>
      </p:pic>
      <p:sp>
        <p:nvSpPr>
          <p:cNvPr id="73" name="TextBox 72"/>
          <p:cNvSpPr txBox="1"/>
          <p:nvPr/>
        </p:nvSpPr>
        <p:spPr>
          <a:xfrm>
            <a:off x="440794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4" name="Picture 73" descr="lock.png"/>
          <p:cNvPicPr>
            <a:picLocks noChangeAspect="1"/>
          </p:cNvPicPr>
          <p:nvPr/>
        </p:nvPicPr>
        <p:blipFill>
          <a:blip r:embed="rId4"/>
          <a:stretch>
            <a:fillRect/>
          </a:stretch>
        </p:blipFill>
        <p:spPr>
          <a:xfrm>
            <a:off x="5267399" y="4219658"/>
            <a:ext cx="128699" cy="187198"/>
          </a:xfrm>
          <a:prstGeom prst="rect">
            <a:avLst/>
          </a:prstGeom>
        </p:spPr>
      </p:pic>
      <p:sp>
        <p:nvSpPr>
          <p:cNvPr id="75" name="TextBox 74"/>
          <p:cNvSpPr txBox="1"/>
          <p:nvPr/>
        </p:nvSpPr>
        <p:spPr>
          <a:xfrm>
            <a:off x="5434895" y="4229437"/>
            <a:ext cx="1419431" cy="186689"/>
          </a:xfrm>
          <a:prstGeom prst="rect">
            <a:avLst/>
          </a:prstGeom>
          <a:noFill/>
        </p:spPr>
        <p:txBody>
          <a:bodyPr wrap="none" lIns="0" rIns="0" tIns="0" bIns="0">
            <a:spAutoFit/>
          </a:bodyPr>
          <a:lstStyle/>
          <a:p>
            <a:r>
              <a:rPr sz="1100" b="0">
                <a:solidFill>
                  <a:srgbClr val="2E2E2E"/>
                </a:solidFill>
                <a:latin typeface="Calibri"/>
              </a:rPr>
              <a:t>CAGR leads the market.</a:t>
            </a:r>
          </a:p>
        </p:txBody>
      </p:sp>
      <p:sp>
        <p:nvSpPr>
          <p:cNvPr id="76" name="TextBox 75"/>
          <p:cNvSpPr txBox="1"/>
          <p:nvPr/>
        </p:nvSpPr>
        <p:spPr>
          <a:xfrm>
            <a:off x="3838575" y="4447369"/>
            <a:ext cx="651371" cy="186689"/>
          </a:xfrm>
          <a:prstGeom prst="rect">
            <a:avLst/>
          </a:prstGeom>
          <a:noFill/>
        </p:spPr>
        <p:txBody>
          <a:bodyPr wrap="none" lIns="0" rIns="0" tIns="0" bIns="0">
            <a:spAutoFit/>
          </a:bodyPr>
          <a:lstStyle/>
          <a:p>
            <a:r>
              <a:rPr sz="1100" b="0">
                <a:solidFill>
                  <a:srgbClr val="2E2E2E"/>
                </a:solidFill>
                <a:latin typeface="Calibri"/>
              </a:rPr>
              <a:t>● Canada:</a:t>
            </a:r>
          </a:p>
        </p:txBody>
      </p:sp>
      <p:pic>
        <p:nvPicPr>
          <p:cNvPr id="77" name="Picture 76" descr="lock.png"/>
          <p:cNvPicPr>
            <a:picLocks noChangeAspect="1"/>
          </p:cNvPicPr>
          <p:nvPr/>
        </p:nvPicPr>
        <p:blipFill>
          <a:blip r:embed="rId4"/>
          <a:stretch>
            <a:fillRect/>
          </a:stretch>
        </p:blipFill>
        <p:spPr>
          <a:xfrm>
            <a:off x="4437997" y="4437590"/>
            <a:ext cx="128699" cy="187198"/>
          </a:xfrm>
          <a:prstGeom prst="rect">
            <a:avLst/>
          </a:prstGeom>
        </p:spPr>
      </p:pic>
      <p:sp>
        <p:nvSpPr>
          <p:cNvPr id="78" name="TextBox 77"/>
          <p:cNvSpPr txBox="1"/>
          <p:nvPr/>
        </p:nvSpPr>
        <p:spPr>
          <a:xfrm>
            <a:off x="4605493"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9" name="Picture 78" descr="lock.png"/>
          <p:cNvPicPr>
            <a:picLocks noChangeAspect="1"/>
          </p:cNvPicPr>
          <p:nvPr/>
        </p:nvPicPr>
        <p:blipFill>
          <a:blip r:embed="rId4"/>
          <a:stretch>
            <a:fillRect/>
          </a:stretch>
        </p:blipFill>
        <p:spPr>
          <a:xfrm>
            <a:off x="5464943" y="4437590"/>
            <a:ext cx="128699" cy="187198"/>
          </a:xfrm>
          <a:prstGeom prst="rect">
            <a:avLst/>
          </a:prstGeom>
        </p:spPr>
      </p:pic>
      <p:sp>
        <p:nvSpPr>
          <p:cNvPr id="80" name="TextBox 79"/>
          <p:cNvSpPr txBox="1"/>
          <p:nvPr/>
        </p:nvSpPr>
        <p:spPr>
          <a:xfrm>
            <a:off x="5632439"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1" name="TextBox 80"/>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North America market is projected to grow at a</a:t>
            </a:r>
          </a:p>
        </p:txBody>
      </p:sp>
      <p:sp>
        <p:nvSpPr>
          <p:cNvPr id="82" name="TextBox 81"/>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3" name="Picture 82" descr="lock.png"/>
          <p:cNvPicPr>
            <a:picLocks noChangeAspect="1"/>
          </p:cNvPicPr>
          <p:nvPr/>
        </p:nvPicPr>
        <p:blipFill>
          <a:blip r:embed="rId4"/>
          <a:stretch>
            <a:fillRect/>
          </a:stretch>
        </p:blipFill>
        <p:spPr>
          <a:xfrm>
            <a:off x="9048826" y="6007677"/>
            <a:ext cx="134549" cy="195707"/>
          </a:xfrm>
          <a:prstGeom prst="rect">
            <a:avLst/>
          </a:prstGeom>
        </p:spPr>
      </p:pic>
      <p:sp>
        <p:nvSpPr>
          <p:cNvPr id="84" name="TextBox 83"/>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volume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32585"/>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27823"/>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51623"/>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13535"/>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66148"/>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61385"/>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785185"/>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47098"/>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(UNITS)</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(UNITS)</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842977" cy="194310"/>
          </a:xfrm>
          <a:prstGeom prst="rect">
            <a:avLst/>
          </a:prstGeom>
          <a:noFill/>
        </p:spPr>
        <p:txBody>
          <a:bodyPr wrap="none" lIns="0" rIns="0" tIns="0" bIns="0">
            <a:spAutoFit/>
          </a:bodyPr>
          <a:lstStyle/>
          <a:p>
            <a:r>
              <a:rPr sz="1150" b="0">
                <a:solidFill>
                  <a:srgbClr val="2E2E2E"/>
                </a:solidFill>
                <a:latin typeface="Calibri"/>
              </a:rPr>
              <a:t>The U.S. organ transport devices market is projected to register</a:t>
            </a:r>
          </a:p>
        </p:txBody>
      </p:sp>
      <p:pic>
        <p:nvPicPr>
          <p:cNvPr id="36" name="Picture 35" descr="lock.png"/>
          <p:cNvPicPr>
            <a:picLocks noChangeAspect="1"/>
          </p:cNvPicPr>
          <p:nvPr/>
        </p:nvPicPr>
        <p:blipFill>
          <a:blip r:embed="rId5"/>
          <a:stretch>
            <a:fillRect/>
          </a:stretch>
        </p:blipFill>
        <p:spPr>
          <a:xfrm>
            <a:off x="11031131" y="1389951"/>
            <a:ext cx="134549" cy="195707"/>
          </a:xfrm>
          <a:prstGeom prst="rect">
            <a:avLst/>
          </a:prstGeom>
        </p:spPr>
      </p:pic>
      <p:sp>
        <p:nvSpPr>
          <p:cNvPr id="37" name="TextBox 36"/>
          <p:cNvSpPr txBox="1"/>
          <p:nvPr/>
        </p:nvSpPr>
        <p:spPr>
          <a:xfrm>
            <a:off x="11206241"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8" name="TextBox 37"/>
          <p:cNvSpPr txBox="1"/>
          <p:nvPr/>
        </p:nvSpPr>
        <p:spPr>
          <a:xfrm>
            <a:off x="7239000" y="1575435"/>
            <a:ext cx="4410633" cy="194310"/>
          </a:xfrm>
          <a:prstGeom prst="rect">
            <a:avLst/>
          </a:prstGeom>
          <a:noFill/>
        </p:spPr>
        <p:txBody>
          <a:bodyPr wrap="none" lIns="0" rIns="0" tIns="0" bIns="0">
            <a:spAutoFit/>
          </a:bodyPr>
          <a:lstStyle/>
          <a:p>
            <a:r>
              <a:rPr sz="1150" b="0">
                <a:solidFill>
                  <a:srgbClr val="2E2E2E"/>
                </a:solidFill>
                <a:latin typeface="Calibri"/>
              </a:rPr>
              <a:t>volume than Canada in 2036. Among organ transport devices by country,</a:t>
            </a:r>
          </a:p>
        </p:txBody>
      </p:sp>
      <p:sp>
        <p:nvSpPr>
          <p:cNvPr id="39" name="TextBox 38"/>
          <p:cNvSpPr txBox="1"/>
          <p:nvPr/>
        </p:nvSpPr>
        <p:spPr>
          <a:xfrm>
            <a:off x="7239000" y="1750695"/>
            <a:ext cx="3083899" cy="194310"/>
          </a:xfrm>
          <a:prstGeom prst="rect">
            <a:avLst/>
          </a:prstGeom>
          <a:noFill/>
        </p:spPr>
        <p:txBody>
          <a:bodyPr wrap="none" lIns="0" rIns="0" tIns="0" bIns="0">
            <a:spAutoFit/>
          </a:bodyPr>
          <a:lstStyle/>
          <a:p>
            <a:r>
              <a:rPr sz="1150" b="0">
                <a:solidFill>
                  <a:srgbClr val="2E2E2E"/>
                </a:solidFill>
                <a:latin typeface="Calibri"/>
              </a:rPr>
              <a:t>Canada is expected to witness the highest CAGR of</a:t>
            </a:r>
          </a:p>
        </p:txBody>
      </p:sp>
      <p:pic>
        <p:nvPicPr>
          <p:cNvPr id="40" name="Picture 39" descr="lock.png"/>
          <p:cNvPicPr>
            <a:picLocks noChangeAspect="1"/>
          </p:cNvPicPr>
          <p:nvPr/>
        </p:nvPicPr>
        <p:blipFill>
          <a:blip r:embed="rId5"/>
          <a:stretch>
            <a:fillRect/>
          </a:stretch>
        </p:blipFill>
        <p:spPr>
          <a:xfrm>
            <a:off x="10272053" y="1740471"/>
            <a:ext cx="134549" cy="195707"/>
          </a:xfrm>
          <a:prstGeom prst="rect">
            <a:avLst/>
          </a:prstGeom>
        </p:spPr>
      </p:pic>
      <p:sp>
        <p:nvSpPr>
          <p:cNvPr id="41" name="TextBox 40"/>
          <p:cNvSpPr txBox="1"/>
          <p:nvPr/>
        </p:nvSpPr>
        <p:spPr>
          <a:xfrm>
            <a:off x="10447162"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2" name="TextBox 41"/>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3" name="TextBox 42"/>
          <p:cNvSpPr txBox="1"/>
          <p:nvPr/>
        </p:nvSpPr>
        <p:spPr>
          <a:xfrm>
            <a:off x="7239000" y="2153793"/>
            <a:ext cx="4231493"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a:t>
            </a:r>
          </a:p>
        </p:txBody>
      </p:sp>
      <p:sp>
        <p:nvSpPr>
          <p:cNvPr id="44" name="TextBox 43"/>
          <p:cNvSpPr txBox="1"/>
          <p:nvPr/>
        </p:nvSpPr>
        <p:spPr>
          <a:xfrm>
            <a:off x="7239000" y="232905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5" name="Picture 44" descr="lock.png"/>
          <p:cNvPicPr>
            <a:picLocks noChangeAspect="1"/>
          </p:cNvPicPr>
          <p:nvPr/>
        </p:nvPicPr>
        <p:blipFill>
          <a:blip r:embed="rId5"/>
          <a:stretch>
            <a:fillRect/>
          </a:stretch>
        </p:blipFill>
        <p:spPr>
          <a:xfrm>
            <a:off x="8106708" y="2318829"/>
            <a:ext cx="134549" cy="195707"/>
          </a:xfrm>
          <a:prstGeom prst="rect">
            <a:avLst/>
          </a:prstGeom>
        </p:spPr>
      </p:pic>
      <p:sp>
        <p:nvSpPr>
          <p:cNvPr id="46" name="TextBox 45"/>
          <p:cNvSpPr txBox="1"/>
          <p:nvPr/>
        </p:nvSpPr>
        <p:spPr>
          <a:xfrm>
            <a:off x="8281817"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676961" y="2318829"/>
            <a:ext cx="134549" cy="195707"/>
          </a:xfrm>
          <a:prstGeom prst="rect">
            <a:avLst/>
          </a:prstGeom>
        </p:spPr>
      </p:pic>
      <p:sp>
        <p:nvSpPr>
          <p:cNvPr id="48" name="TextBox 47"/>
          <p:cNvSpPr txBox="1"/>
          <p:nvPr/>
        </p:nvSpPr>
        <p:spPr>
          <a:xfrm>
            <a:off x="9852070"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country in 2026 and 2036, highlighting share gains and losses in basis points</a:t>
            </a:r>
          </a:p>
        </p:txBody>
      </p:sp>
      <p:sp>
        <p:nvSpPr>
          <p:cNvPr id="10" name="Rounded Rectangle 9"/>
          <p:cNvSpPr/>
          <p:nvPr/>
        </p:nvSpPr>
        <p:spPr>
          <a:xfrm>
            <a:off x="142875" y="981075"/>
            <a:ext cx="6810375"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Country, 2026 &amp; 2036</a:t>
            </a:r>
          </a:p>
        </p:txBody>
      </p:sp>
      <p:graphicFrame>
        <p:nvGraphicFramePr>
          <p:cNvPr id="12" name="Chart 11"/>
          <p:cNvGraphicFramePr>
            <a:graphicFrameLocks noGrp="1"/>
          </p:cNvGraphicFramePr>
          <p:nvPr/>
        </p:nvGraphicFramePr>
        <p:xfrm>
          <a:off x="238125" y="1409700"/>
          <a:ext cx="4236720" cy="4048125"/>
        </p:xfrm>
        <a:graphic>
          <a:graphicData uri="http://schemas.openxmlformats.org/drawingml/2006/chart">
            <c:chart xmlns:c="http://schemas.openxmlformats.org/drawingml/2006/chart" r:id="rId3"/>
          </a:graphicData>
        </a:graphic>
      </p:graphicFrame>
      <p:sp>
        <p:nvSpPr>
          <p:cNvPr id="13" name="TextBox 12"/>
          <p:cNvSpPr txBox="1"/>
          <p:nvPr/>
        </p:nvSpPr>
        <p:spPr>
          <a:xfrm>
            <a:off x="4474845" y="1419225"/>
            <a:ext cx="2383155" cy="133350"/>
          </a:xfrm>
          <a:prstGeom prst="rect">
            <a:avLst/>
          </a:prstGeom>
          <a:noFill/>
        </p:spPr>
        <p:txBody>
          <a:bodyPr wrap="square" lIns="28575" rIns="28575" tIns="9525" bIns="9525" anchor="ctr">
            <a:spAutoFit/>
          </a:bodyPr>
          <a:lstStyle/>
          <a:p>
            <a:pPr algn="ctr"/>
            <a:r>
              <a:rPr sz="1300" b="1">
                <a:solidFill>
                  <a:srgbClr val="0E72AE"/>
                </a:solidFill>
                <a:latin typeface="Calibri"/>
              </a:rPr>
              <a:t>BPS Δ  (2026→2036)</a:t>
            </a:r>
          </a:p>
        </p:txBody>
      </p:sp>
      <p:sp>
        <p:nvSpPr>
          <p:cNvPr id="14" name="FMI Lock Anchor"/>
          <p:cNvSpPr txBox="1"/>
          <p:nvPr/>
        </p:nvSpPr>
        <p:spPr>
          <a:xfrm>
            <a:off x="2489835" y="3352800"/>
            <a:ext cx="38100" cy="38100"/>
          </a:xfrm>
          <a:prstGeom prst="rect">
            <a:avLst/>
          </a:prstGeom>
          <a:noFill/>
        </p:spPr>
        <p:txBody>
          <a:bodyPr wrap="none">
            <a:spAutoFit/>
          </a:bodyPr>
          <a:lstStyle/>
          <a:p/>
        </p:txBody>
      </p:sp>
      <p:sp>
        <p:nvSpPr>
          <p:cNvPr id="15" name="FMI Legend Chip"/>
          <p:cNvSpPr/>
          <p:nvPr/>
        </p:nvSpPr>
        <p:spPr>
          <a:xfrm>
            <a:off x="4551045" y="205936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4712970" y="2054601"/>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4855845" y="1978401"/>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Canada</a:t>
            </a:r>
          </a:p>
        </p:txBody>
      </p:sp>
      <p:sp>
        <p:nvSpPr>
          <p:cNvPr id="18" name="BPS Value 1"/>
          <p:cNvSpPr txBox="1"/>
          <p:nvPr/>
        </p:nvSpPr>
        <p:spPr>
          <a:xfrm>
            <a:off x="6305550" y="204031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551045" y="3892926"/>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4712970" y="3888164"/>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4855845" y="3811964"/>
            <a:ext cx="1316355" cy="247650"/>
          </a:xfrm>
          <a:prstGeom prst="rect">
            <a:avLst/>
          </a:prstGeom>
          <a:noFill/>
        </p:spPr>
        <p:txBody>
          <a:bodyPr wrap="square" lIns="19050" rIns="19050" tIns="0" bIns="0" anchor="ctr">
            <a:spAutoFit/>
          </a:bodyPr>
          <a:lstStyle/>
          <a:p>
            <a:pPr algn="l"/>
            <a:r>
              <a:rPr sz="900" b="0">
                <a:solidFill>
                  <a:srgbClr val="2E2E2E"/>
                </a:solidFill>
                <a:latin typeface="Calibri"/>
              </a:rPr>
              <a:t>U.S.</a:t>
            </a:r>
          </a:p>
        </p:txBody>
      </p:sp>
      <p:sp>
        <p:nvSpPr>
          <p:cNvPr id="22" name="BPS Value 2"/>
          <p:cNvSpPr txBox="1"/>
          <p:nvPr/>
        </p:nvSpPr>
        <p:spPr>
          <a:xfrm>
            <a:off x="6305550" y="3873876"/>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105650" y="981075"/>
            <a:ext cx="4933950" cy="4533900"/>
          </a:xfrm>
          <a:prstGeom prst="roundRect">
            <a:avLst>
              <a:gd name="adj" fmla="val 16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9000" y="1066800"/>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25" name="Rectangle 24"/>
          <p:cNvSpPr/>
          <p:nvPr/>
        </p:nvSpPr>
        <p:spPr>
          <a:xfrm>
            <a:off x="7239000" y="1304925"/>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39000" y="1390650"/>
            <a:ext cx="4667250" cy="40481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Rounded Rectangle 26"/>
          <p:cNvSpPr/>
          <p:nvPr/>
        </p:nvSpPr>
        <p:spPr>
          <a:xfrm>
            <a:off x="142875" y="5648325"/>
            <a:ext cx="3943350"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2026 TOTAL (US$ MN)</a:t>
            </a:r>
          </a:p>
          <a:p>
            <a:pPr algn="ctr">
              <a:lnSpc>
                <a:spcPct val="95000"/>
              </a:lnSpc>
            </a:pPr>
            <a:r>
              <a:rPr sz="2000" b="1">
                <a:solidFill>
                  <a:srgbClr val="0E72AE"/>
                </a:solidFill>
                <a:latin typeface="Calibri"/>
              </a:rPr>
              <a:t> </a:t>
            </a:r>
          </a:p>
        </p:txBody>
      </p:sp>
      <p:sp>
        <p:nvSpPr>
          <p:cNvPr id="28" name="Rounded Rectangle 27"/>
          <p:cNvSpPr/>
          <p:nvPr/>
        </p:nvSpPr>
        <p:spPr>
          <a:xfrm>
            <a:off x="4238625"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TOTAL (US$ MN)</a:t>
            </a:r>
          </a:p>
          <a:p>
            <a:pPr algn="ctr">
              <a:lnSpc>
                <a:spcPct val="95000"/>
              </a:lnSpc>
            </a:pPr>
            <a:r>
              <a:rPr sz="2000" b="1">
                <a:solidFill>
                  <a:srgbClr val="0E72AE"/>
                </a:solidFill>
                <a:latin typeface="Calibri"/>
              </a:rPr>
              <a:t> </a:t>
            </a:r>
          </a:p>
        </p:txBody>
      </p:sp>
      <p:sp>
        <p:nvSpPr>
          <p:cNvPr id="29" name="Rounded Rectangle 28"/>
          <p:cNvSpPr/>
          <p:nvPr/>
        </p:nvSpPr>
        <p:spPr>
          <a:xfrm>
            <a:off x="8210550" y="5648325"/>
            <a:ext cx="3819525" cy="98107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CAGR (2026–2036)</a:t>
            </a:r>
          </a:p>
          <a:p>
            <a:pPr algn="ctr">
              <a:lnSpc>
                <a:spcPct val="95000"/>
              </a:lnSpc>
            </a:pPr>
            <a:r>
              <a:rPr sz="2000" b="1">
                <a:solidFill>
                  <a:srgbClr val="0E72AE"/>
                </a:solidFill>
                <a:latin typeface="Calibri"/>
              </a:rPr>
              <a:t>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5"/>
          <a:stretch>
            <a:fillRect/>
          </a:stretch>
        </p:blipFill>
        <p:spPr>
          <a:xfrm>
            <a:off x="2368867" y="3171825"/>
            <a:ext cx="275034" cy="400050"/>
          </a:xfrm>
          <a:prstGeom prst="rect">
            <a:avLst/>
          </a:prstGeom>
        </p:spPr>
      </p:pic>
      <p:pic>
        <p:nvPicPr>
          <p:cNvPr id="32" name="Picture 31" descr="lock.png"/>
          <p:cNvPicPr>
            <a:picLocks noChangeAspect="1"/>
          </p:cNvPicPr>
          <p:nvPr/>
        </p:nvPicPr>
        <p:blipFill>
          <a:blip r:embed="rId5"/>
          <a:stretch>
            <a:fillRect/>
          </a:stretch>
        </p:blipFill>
        <p:spPr>
          <a:xfrm>
            <a:off x="2009775" y="6070282"/>
            <a:ext cx="209550" cy="304800"/>
          </a:xfrm>
          <a:prstGeom prst="rect">
            <a:avLst/>
          </a:prstGeom>
        </p:spPr>
      </p:pic>
      <p:pic>
        <p:nvPicPr>
          <p:cNvPr id="33" name="Picture 32" descr="lock.png"/>
          <p:cNvPicPr>
            <a:picLocks noChangeAspect="1"/>
          </p:cNvPicPr>
          <p:nvPr/>
        </p:nvPicPr>
        <p:blipFill>
          <a:blip r:embed="rId5"/>
          <a:stretch>
            <a:fillRect/>
          </a:stretch>
        </p:blipFill>
        <p:spPr>
          <a:xfrm>
            <a:off x="6043612" y="6070282"/>
            <a:ext cx="209550" cy="304800"/>
          </a:xfrm>
          <a:prstGeom prst="rect">
            <a:avLst/>
          </a:prstGeom>
        </p:spPr>
      </p:pic>
      <p:pic>
        <p:nvPicPr>
          <p:cNvPr id="34" name="Picture 33" descr="lock.png"/>
          <p:cNvPicPr>
            <a:picLocks noChangeAspect="1"/>
          </p:cNvPicPr>
          <p:nvPr/>
        </p:nvPicPr>
        <p:blipFill>
          <a:blip r:embed="rId5"/>
          <a:stretch>
            <a:fillRect/>
          </a:stretch>
        </p:blipFill>
        <p:spPr>
          <a:xfrm>
            <a:off x="10015537" y="6070282"/>
            <a:ext cx="209550" cy="304800"/>
          </a:xfrm>
          <a:prstGeom prst="rect">
            <a:avLst/>
          </a:prstGeom>
        </p:spPr>
      </p:pic>
      <p:sp>
        <p:nvSpPr>
          <p:cNvPr id="35" name="TextBox 34"/>
          <p:cNvSpPr txBox="1"/>
          <p:nvPr/>
        </p:nvSpPr>
        <p:spPr>
          <a:xfrm>
            <a:off x="7239000" y="1400175"/>
            <a:ext cx="3842977" cy="194310"/>
          </a:xfrm>
          <a:prstGeom prst="rect">
            <a:avLst/>
          </a:prstGeom>
          <a:noFill/>
        </p:spPr>
        <p:txBody>
          <a:bodyPr wrap="none" lIns="0" rIns="0" tIns="0" bIns="0">
            <a:spAutoFit/>
          </a:bodyPr>
          <a:lstStyle/>
          <a:p>
            <a:r>
              <a:rPr sz="1150" b="0">
                <a:solidFill>
                  <a:srgbClr val="2E2E2E"/>
                </a:solidFill>
                <a:latin typeface="Calibri"/>
              </a:rPr>
              <a:t>The U.S. organ transport devices market is projected to register</a:t>
            </a:r>
          </a:p>
        </p:txBody>
      </p:sp>
      <p:pic>
        <p:nvPicPr>
          <p:cNvPr id="36" name="Picture 35" descr="lock.png"/>
          <p:cNvPicPr>
            <a:picLocks noChangeAspect="1"/>
          </p:cNvPicPr>
          <p:nvPr/>
        </p:nvPicPr>
        <p:blipFill>
          <a:blip r:embed="rId5"/>
          <a:stretch>
            <a:fillRect/>
          </a:stretch>
        </p:blipFill>
        <p:spPr>
          <a:xfrm>
            <a:off x="11031131" y="1389951"/>
            <a:ext cx="134549" cy="195707"/>
          </a:xfrm>
          <a:prstGeom prst="rect">
            <a:avLst/>
          </a:prstGeom>
        </p:spPr>
      </p:pic>
      <p:sp>
        <p:nvSpPr>
          <p:cNvPr id="37" name="TextBox 36"/>
          <p:cNvSpPr txBox="1"/>
          <p:nvPr/>
        </p:nvSpPr>
        <p:spPr>
          <a:xfrm>
            <a:off x="11206241" y="1400175"/>
            <a:ext cx="564839" cy="194310"/>
          </a:xfrm>
          <a:prstGeom prst="rect">
            <a:avLst/>
          </a:prstGeom>
          <a:noFill/>
        </p:spPr>
        <p:txBody>
          <a:bodyPr wrap="none" lIns="0" rIns="0" tIns="0" bIns="0">
            <a:spAutoFit/>
          </a:bodyPr>
          <a:lstStyle/>
          <a:p>
            <a:r>
              <a:rPr sz="1150" b="0">
                <a:solidFill>
                  <a:srgbClr val="2E2E2E"/>
                </a:solidFill>
                <a:latin typeface="Calibri"/>
              </a:rPr>
              <a:t>X higher</a:t>
            </a:r>
          </a:p>
        </p:txBody>
      </p:sp>
      <p:sp>
        <p:nvSpPr>
          <p:cNvPr id="38" name="TextBox 37"/>
          <p:cNvSpPr txBox="1"/>
          <p:nvPr/>
        </p:nvSpPr>
        <p:spPr>
          <a:xfrm>
            <a:off x="7239000" y="1575435"/>
            <a:ext cx="4286832" cy="194310"/>
          </a:xfrm>
          <a:prstGeom prst="rect">
            <a:avLst/>
          </a:prstGeom>
          <a:noFill/>
        </p:spPr>
        <p:txBody>
          <a:bodyPr wrap="none" lIns="0" rIns="0" tIns="0" bIns="0">
            <a:spAutoFit/>
          </a:bodyPr>
          <a:lstStyle/>
          <a:p>
            <a:r>
              <a:rPr sz="1150" b="0">
                <a:solidFill>
                  <a:srgbClr val="2E2E2E"/>
                </a:solidFill>
                <a:latin typeface="Calibri"/>
              </a:rPr>
              <a:t>value than Canada in 2036. Among organ transport devices by country,</a:t>
            </a:r>
          </a:p>
        </p:txBody>
      </p:sp>
      <p:sp>
        <p:nvSpPr>
          <p:cNvPr id="39" name="TextBox 38"/>
          <p:cNvSpPr txBox="1"/>
          <p:nvPr/>
        </p:nvSpPr>
        <p:spPr>
          <a:xfrm>
            <a:off x="7239000" y="1750695"/>
            <a:ext cx="3083899" cy="194310"/>
          </a:xfrm>
          <a:prstGeom prst="rect">
            <a:avLst/>
          </a:prstGeom>
          <a:noFill/>
        </p:spPr>
        <p:txBody>
          <a:bodyPr wrap="none" lIns="0" rIns="0" tIns="0" bIns="0">
            <a:spAutoFit/>
          </a:bodyPr>
          <a:lstStyle/>
          <a:p>
            <a:r>
              <a:rPr sz="1150" b="0">
                <a:solidFill>
                  <a:srgbClr val="2E2E2E"/>
                </a:solidFill>
                <a:latin typeface="Calibri"/>
              </a:rPr>
              <a:t>Canada is expected to witness the highest CAGR of</a:t>
            </a:r>
          </a:p>
        </p:txBody>
      </p:sp>
      <p:pic>
        <p:nvPicPr>
          <p:cNvPr id="40" name="Picture 39" descr="lock.png"/>
          <p:cNvPicPr>
            <a:picLocks noChangeAspect="1"/>
          </p:cNvPicPr>
          <p:nvPr/>
        </p:nvPicPr>
        <p:blipFill>
          <a:blip r:embed="rId5"/>
          <a:stretch>
            <a:fillRect/>
          </a:stretch>
        </p:blipFill>
        <p:spPr>
          <a:xfrm>
            <a:off x="10272053" y="1740471"/>
            <a:ext cx="134549" cy="195707"/>
          </a:xfrm>
          <a:prstGeom prst="rect">
            <a:avLst/>
          </a:prstGeom>
        </p:spPr>
      </p:pic>
      <p:sp>
        <p:nvSpPr>
          <p:cNvPr id="41" name="TextBox 40"/>
          <p:cNvSpPr txBox="1"/>
          <p:nvPr/>
        </p:nvSpPr>
        <p:spPr>
          <a:xfrm>
            <a:off x="10447162" y="1750695"/>
            <a:ext cx="1090848" cy="194310"/>
          </a:xfrm>
          <a:prstGeom prst="rect">
            <a:avLst/>
          </a:prstGeom>
          <a:noFill/>
        </p:spPr>
        <p:txBody>
          <a:bodyPr wrap="none" lIns="0" rIns="0" tIns="0" bIns="0">
            <a:spAutoFit/>
          </a:bodyPr>
          <a:lstStyle/>
          <a:p>
            <a:r>
              <a:rPr sz="1150" b="0">
                <a:solidFill>
                  <a:srgbClr val="2E2E2E"/>
                </a:solidFill>
                <a:latin typeface="Calibri"/>
              </a:rPr>
              <a:t>over the forecast</a:t>
            </a:r>
          </a:p>
        </p:txBody>
      </p:sp>
      <p:sp>
        <p:nvSpPr>
          <p:cNvPr id="42" name="TextBox 41"/>
          <p:cNvSpPr txBox="1"/>
          <p:nvPr/>
        </p:nvSpPr>
        <p:spPr>
          <a:xfrm>
            <a:off x="7239000" y="1925955"/>
            <a:ext cx="500943" cy="194310"/>
          </a:xfrm>
          <a:prstGeom prst="rect">
            <a:avLst/>
          </a:prstGeom>
          <a:noFill/>
        </p:spPr>
        <p:txBody>
          <a:bodyPr wrap="none" lIns="0" rIns="0" tIns="0" bIns="0">
            <a:spAutoFit/>
          </a:bodyPr>
          <a:lstStyle/>
          <a:p>
            <a:r>
              <a:rPr sz="1150" b="0">
                <a:solidFill>
                  <a:srgbClr val="2E2E2E"/>
                </a:solidFill>
                <a:latin typeface="Calibri"/>
              </a:rPr>
              <a:t>period.</a:t>
            </a:r>
          </a:p>
        </p:txBody>
      </p:sp>
      <p:sp>
        <p:nvSpPr>
          <p:cNvPr id="43" name="TextBox 42"/>
          <p:cNvSpPr txBox="1"/>
          <p:nvPr/>
        </p:nvSpPr>
        <p:spPr>
          <a:xfrm>
            <a:off x="7239000" y="2153793"/>
            <a:ext cx="4603179"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a:t>
            </a:r>
          </a:p>
        </p:txBody>
      </p:sp>
      <p:sp>
        <p:nvSpPr>
          <p:cNvPr id="44" name="TextBox 43"/>
          <p:cNvSpPr txBox="1"/>
          <p:nvPr/>
        </p:nvSpPr>
        <p:spPr>
          <a:xfrm>
            <a:off x="723900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45" name="Picture 44" descr="lock.png"/>
          <p:cNvPicPr>
            <a:picLocks noChangeAspect="1"/>
          </p:cNvPicPr>
          <p:nvPr/>
        </p:nvPicPr>
        <p:blipFill>
          <a:blip r:embed="rId5"/>
          <a:stretch>
            <a:fillRect/>
          </a:stretch>
        </p:blipFill>
        <p:spPr>
          <a:xfrm>
            <a:off x="7611222" y="2318829"/>
            <a:ext cx="134549" cy="195707"/>
          </a:xfrm>
          <a:prstGeom prst="rect">
            <a:avLst/>
          </a:prstGeom>
        </p:spPr>
      </p:pic>
      <p:sp>
        <p:nvSpPr>
          <p:cNvPr id="46" name="TextBox 45"/>
          <p:cNvSpPr txBox="1"/>
          <p:nvPr/>
        </p:nvSpPr>
        <p:spPr>
          <a:xfrm>
            <a:off x="778633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9181475" y="2318829"/>
            <a:ext cx="134549" cy="195707"/>
          </a:xfrm>
          <a:prstGeom prst="rect">
            <a:avLst/>
          </a:prstGeom>
        </p:spPr>
      </p:pic>
      <p:sp>
        <p:nvSpPr>
          <p:cNvPr id="48" name="TextBox 47"/>
          <p:cNvSpPr txBox="1"/>
          <p:nvPr/>
        </p:nvSpPr>
        <p:spPr>
          <a:xfrm>
            <a:off x="935658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409700"/>
            <a:ext cx="4236720" cy="40481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Share Analysis, By Country Volume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volume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(Units)</a:t>
            </a:r>
          </a:p>
        </p:txBody>
      </p:sp>
      <p:graphicFrame>
        <p:nvGraphicFramePr>
          <p:cNvPr id="12" name="Table 11"/>
          <p:cNvGraphicFramePr>
            <a:graphicFrameLocks noGrp="1"/>
          </p:cNvGraphicFramePr>
          <p:nvPr/>
        </p:nvGraphicFramePr>
        <p:xfrm>
          <a:off x="152400" y="1238250"/>
          <a:ext cx="11887205" cy="990600"/>
        </p:xfrm>
        <a:graphic>
          <a:graphicData uri="http://schemas.openxmlformats.org/drawingml/2006/table">
            <a:tbl>
              <a:tblPr>
                <a:tableStyleId>{5C22544A-7EE6-4342-B048-85BDC9FD1C3A}</a:tableStyleId>
              </a:tblPr>
              <a:tblGrid>
                <a:gridCol w="663023"/>
                <a:gridCol w="660246"/>
                <a:gridCol w="660246"/>
                <a:gridCol w="660246"/>
                <a:gridCol w="660246"/>
                <a:gridCol w="660246"/>
                <a:gridCol w="660246"/>
                <a:gridCol w="660246"/>
                <a:gridCol w="660246"/>
                <a:gridCol w="660246"/>
                <a:gridCol w="660246"/>
                <a:gridCol w="660246"/>
                <a:gridCol w="660246"/>
                <a:gridCol w="660246"/>
                <a:gridCol w="660246"/>
                <a:gridCol w="660246"/>
                <a:gridCol w="660246"/>
                <a:gridCol w="660246"/>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Volume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40824" y="1589913"/>
            <a:ext cx="366712" cy="533400"/>
          </a:xfrm>
          <a:prstGeom prst="rect">
            <a:avLst/>
          </a:prstGeom>
        </p:spPr>
      </p:pic>
      <p:sp>
        <p:nvSpPr>
          <p:cNvPr id="20" name="TextBox 19"/>
          <p:cNvSpPr txBox="1"/>
          <p:nvPr/>
        </p:nvSpPr>
        <p:spPr>
          <a:xfrm>
            <a:off x="276225" y="2990850"/>
            <a:ext cx="3842977" cy="194310"/>
          </a:xfrm>
          <a:prstGeom prst="rect">
            <a:avLst/>
          </a:prstGeom>
          <a:noFill/>
        </p:spPr>
        <p:txBody>
          <a:bodyPr wrap="none" lIns="0" rIns="0" tIns="0" bIns="0">
            <a:spAutoFit/>
          </a:bodyPr>
          <a:lstStyle/>
          <a:p>
            <a:r>
              <a:rPr sz="1150" b="0">
                <a:solidFill>
                  <a:srgbClr val="2E2E2E"/>
                </a:solidFill>
                <a:latin typeface="Calibri"/>
              </a:rPr>
              <a:t>The U.S. organ transport devices market is projected to register</a:t>
            </a:r>
          </a:p>
        </p:txBody>
      </p:sp>
      <p:pic>
        <p:nvPicPr>
          <p:cNvPr id="21" name="Picture 20" descr="lock.png"/>
          <p:cNvPicPr>
            <a:picLocks noChangeAspect="1"/>
          </p:cNvPicPr>
          <p:nvPr/>
        </p:nvPicPr>
        <p:blipFill>
          <a:blip r:embed="rId4"/>
          <a:stretch>
            <a:fillRect/>
          </a:stretch>
        </p:blipFill>
        <p:spPr>
          <a:xfrm>
            <a:off x="4068356" y="2980626"/>
            <a:ext cx="134549" cy="195707"/>
          </a:xfrm>
          <a:prstGeom prst="rect">
            <a:avLst/>
          </a:prstGeom>
        </p:spPr>
      </p:pic>
      <p:sp>
        <p:nvSpPr>
          <p:cNvPr id="22" name="TextBox 21"/>
          <p:cNvSpPr txBox="1"/>
          <p:nvPr/>
        </p:nvSpPr>
        <p:spPr>
          <a:xfrm>
            <a:off x="4243466" y="2990850"/>
            <a:ext cx="7451724" cy="194310"/>
          </a:xfrm>
          <a:prstGeom prst="rect">
            <a:avLst/>
          </a:prstGeom>
          <a:noFill/>
        </p:spPr>
        <p:txBody>
          <a:bodyPr wrap="none" lIns="0" rIns="0" tIns="0" bIns="0">
            <a:spAutoFit/>
          </a:bodyPr>
          <a:lstStyle/>
          <a:p>
            <a:r>
              <a:rPr sz="1150" b="0">
                <a:solidFill>
                  <a:srgbClr val="2E2E2E"/>
                </a:solidFill>
                <a:latin typeface="Calibri"/>
              </a:rPr>
              <a:t>X higher volume than Canada in 2036. Among organ transport devices by country, Canada is expected to witness the highest</a:t>
            </a:r>
          </a:p>
        </p:txBody>
      </p:sp>
      <p:sp>
        <p:nvSpPr>
          <p:cNvPr id="23" name="TextBox 22"/>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4" name="Picture 23" descr="lock.png"/>
          <p:cNvPicPr>
            <a:picLocks noChangeAspect="1"/>
          </p:cNvPicPr>
          <p:nvPr/>
        </p:nvPicPr>
        <p:blipFill>
          <a:blip r:embed="rId4"/>
          <a:stretch>
            <a:fillRect/>
          </a:stretch>
        </p:blipFill>
        <p:spPr>
          <a:xfrm>
            <a:off x="789915" y="3155886"/>
            <a:ext cx="134549" cy="195707"/>
          </a:xfrm>
          <a:prstGeom prst="rect">
            <a:avLst/>
          </a:prstGeom>
        </p:spPr>
      </p:pic>
      <p:sp>
        <p:nvSpPr>
          <p:cNvPr id="25" name="TextBox 24"/>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5106937" cy="194310"/>
          </a:xfrm>
          <a:prstGeom prst="rect">
            <a:avLst/>
          </a:prstGeom>
          <a:noFill/>
        </p:spPr>
        <p:txBody>
          <a:bodyPr wrap="none" lIns="0" rIns="0" tIns="0" bIns="0">
            <a:spAutoFit/>
          </a:bodyPr>
          <a:lstStyle/>
          <a:p>
            <a:r>
              <a:rPr sz="1150" b="0">
                <a:solidFill>
                  <a:srgbClr val="2E2E2E"/>
                </a:solidFill>
                <a:latin typeface="Calibri"/>
              </a:rPr>
              <a:t>In terms of volume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332316" y="3383724"/>
            <a:ext cx="134549" cy="195707"/>
          </a:xfrm>
          <a:prstGeom prst="rect">
            <a:avLst/>
          </a:prstGeom>
        </p:spPr>
      </p:pic>
      <p:sp>
        <p:nvSpPr>
          <p:cNvPr id="28" name="TextBox 27"/>
          <p:cNvSpPr txBox="1"/>
          <p:nvPr/>
        </p:nvSpPr>
        <p:spPr>
          <a:xfrm>
            <a:off x="550742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902569" y="3383724"/>
            <a:ext cx="134549" cy="195707"/>
          </a:xfrm>
          <a:prstGeom prst="rect">
            <a:avLst/>
          </a:prstGeom>
        </p:spPr>
      </p:pic>
      <p:sp>
        <p:nvSpPr>
          <p:cNvPr id="30" name="TextBox 29"/>
          <p:cNvSpPr txBox="1"/>
          <p:nvPr/>
        </p:nvSpPr>
        <p:spPr>
          <a:xfrm>
            <a:off x="70776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Share Analysis, By Country Value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and share by country, 2021–2036, highlighting the geographies gaining and ceding ground</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Size, By Country (US$ Mn)</a:t>
            </a:r>
          </a:p>
        </p:txBody>
      </p:sp>
      <p:graphicFrame>
        <p:nvGraphicFramePr>
          <p:cNvPr id="12" name="Table 11"/>
          <p:cNvGraphicFramePr>
            <a:graphicFrameLocks noGrp="1"/>
          </p:cNvGraphicFramePr>
          <p:nvPr/>
        </p:nvGraphicFramePr>
        <p:xfrm>
          <a:off x="152400" y="1238250"/>
          <a:ext cx="11887200" cy="990600"/>
        </p:xfrm>
        <a:graphic>
          <a:graphicData uri="http://schemas.openxmlformats.org/drawingml/2006/table">
            <a:tbl>
              <a:tblPr>
                <a:tableStyleId>{5C22544A-7EE6-4342-B048-85BDC9FD1C3A}</a:tableStyleId>
              </a:tblPr>
              <a:tblGrid>
                <a:gridCol w="696253"/>
                <a:gridCol w="658291"/>
                <a:gridCol w="658291"/>
                <a:gridCol w="658291"/>
                <a:gridCol w="658291"/>
                <a:gridCol w="658291"/>
                <a:gridCol w="658291"/>
                <a:gridCol w="658291"/>
                <a:gridCol w="658291"/>
                <a:gridCol w="658291"/>
                <a:gridCol w="658291"/>
                <a:gridCol w="658291"/>
                <a:gridCol w="658291"/>
                <a:gridCol w="658291"/>
                <a:gridCol w="658291"/>
                <a:gridCol w="658291"/>
                <a:gridCol w="658291"/>
                <a:gridCol w="658291"/>
              </a:tblGrid>
              <a:tr h="246126">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U.S.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Canada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Share Read-out, By Country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257436" y="1589913"/>
            <a:ext cx="366712" cy="533400"/>
          </a:xfrm>
          <a:prstGeom prst="rect">
            <a:avLst/>
          </a:prstGeom>
        </p:spPr>
      </p:pic>
      <p:sp>
        <p:nvSpPr>
          <p:cNvPr id="20" name="TextBox 19"/>
          <p:cNvSpPr txBox="1"/>
          <p:nvPr/>
        </p:nvSpPr>
        <p:spPr>
          <a:xfrm>
            <a:off x="276225" y="2990850"/>
            <a:ext cx="3842977" cy="194310"/>
          </a:xfrm>
          <a:prstGeom prst="rect">
            <a:avLst/>
          </a:prstGeom>
          <a:noFill/>
        </p:spPr>
        <p:txBody>
          <a:bodyPr wrap="none" lIns="0" rIns="0" tIns="0" bIns="0">
            <a:spAutoFit/>
          </a:bodyPr>
          <a:lstStyle/>
          <a:p>
            <a:r>
              <a:rPr sz="1150" b="0">
                <a:solidFill>
                  <a:srgbClr val="2E2E2E"/>
                </a:solidFill>
                <a:latin typeface="Calibri"/>
              </a:rPr>
              <a:t>The U.S. organ transport devices market is projected to register</a:t>
            </a:r>
          </a:p>
        </p:txBody>
      </p:sp>
      <p:pic>
        <p:nvPicPr>
          <p:cNvPr id="21" name="Picture 20" descr="lock.png"/>
          <p:cNvPicPr>
            <a:picLocks noChangeAspect="1"/>
          </p:cNvPicPr>
          <p:nvPr/>
        </p:nvPicPr>
        <p:blipFill>
          <a:blip r:embed="rId4"/>
          <a:stretch>
            <a:fillRect/>
          </a:stretch>
        </p:blipFill>
        <p:spPr>
          <a:xfrm>
            <a:off x="4068356" y="2980626"/>
            <a:ext cx="134549" cy="195707"/>
          </a:xfrm>
          <a:prstGeom prst="rect">
            <a:avLst/>
          </a:prstGeom>
        </p:spPr>
      </p:pic>
      <p:sp>
        <p:nvSpPr>
          <p:cNvPr id="22" name="TextBox 21"/>
          <p:cNvSpPr txBox="1"/>
          <p:nvPr/>
        </p:nvSpPr>
        <p:spPr>
          <a:xfrm>
            <a:off x="4243466" y="2990850"/>
            <a:ext cx="7327924" cy="194310"/>
          </a:xfrm>
          <a:prstGeom prst="rect">
            <a:avLst/>
          </a:prstGeom>
          <a:noFill/>
        </p:spPr>
        <p:txBody>
          <a:bodyPr wrap="none" lIns="0" rIns="0" tIns="0" bIns="0">
            <a:spAutoFit/>
          </a:bodyPr>
          <a:lstStyle/>
          <a:p>
            <a:r>
              <a:rPr sz="1150" b="0">
                <a:solidFill>
                  <a:srgbClr val="2E2E2E"/>
                </a:solidFill>
                <a:latin typeface="Calibri"/>
              </a:rPr>
              <a:t>X higher value than Canada in 2036. Among organ transport devices by country, Canada is expected to witness the highest</a:t>
            </a:r>
          </a:p>
        </p:txBody>
      </p:sp>
      <p:sp>
        <p:nvSpPr>
          <p:cNvPr id="23" name="TextBox 22"/>
          <p:cNvSpPr txBox="1"/>
          <p:nvPr/>
        </p:nvSpPr>
        <p:spPr>
          <a:xfrm>
            <a:off x="276225" y="3166110"/>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24" name="Picture 23" descr="lock.png"/>
          <p:cNvPicPr>
            <a:picLocks noChangeAspect="1"/>
          </p:cNvPicPr>
          <p:nvPr/>
        </p:nvPicPr>
        <p:blipFill>
          <a:blip r:embed="rId4"/>
          <a:stretch>
            <a:fillRect/>
          </a:stretch>
        </p:blipFill>
        <p:spPr>
          <a:xfrm>
            <a:off x="789915" y="3155886"/>
            <a:ext cx="134549" cy="195707"/>
          </a:xfrm>
          <a:prstGeom prst="rect">
            <a:avLst/>
          </a:prstGeom>
        </p:spPr>
      </p:pic>
      <p:sp>
        <p:nvSpPr>
          <p:cNvPr id="25" name="TextBox 24"/>
          <p:cNvSpPr txBox="1"/>
          <p:nvPr/>
        </p:nvSpPr>
        <p:spPr>
          <a:xfrm>
            <a:off x="965025"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4983137" cy="194310"/>
          </a:xfrm>
          <a:prstGeom prst="rect">
            <a:avLst/>
          </a:prstGeom>
          <a:noFill/>
        </p:spPr>
        <p:txBody>
          <a:bodyPr wrap="none" lIns="0" rIns="0" tIns="0" bIns="0">
            <a:spAutoFit/>
          </a:bodyPr>
          <a:lstStyle/>
          <a:p>
            <a:r>
              <a:rPr sz="1150" b="0">
                <a:solidFill>
                  <a:srgbClr val="2E2E2E"/>
                </a:solidFill>
                <a:latin typeface="Calibri"/>
              </a:rPr>
              <a:t>In terms of value share by country, U.S. is expected to dominate the market, losing</a:t>
            </a:r>
          </a:p>
        </p:txBody>
      </p:sp>
      <p:pic>
        <p:nvPicPr>
          <p:cNvPr id="27" name="Picture 26" descr="lock.png"/>
          <p:cNvPicPr>
            <a:picLocks noChangeAspect="1"/>
          </p:cNvPicPr>
          <p:nvPr/>
        </p:nvPicPr>
        <p:blipFill>
          <a:blip r:embed="rId4"/>
          <a:stretch>
            <a:fillRect/>
          </a:stretch>
        </p:blipFill>
        <p:spPr>
          <a:xfrm>
            <a:off x="5208516" y="3383724"/>
            <a:ext cx="134549" cy="195707"/>
          </a:xfrm>
          <a:prstGeom prst="rect">
            <a:avLst/>
          </a:prstGeom>
        </p:spPr>
      </p:pic>
      <p:sp>
        <p:nvSpPr>
          <p:cNvPr id="28" name="TextBox 27"/>
          <p:cNvSpPr txBox="1"/>
          <p:nvPr/>
        </p:nvSpPr>
        <p:spPr>
          <a:xfrm>
            <a:off x="5383625"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6778769" y="3383724"/>
            <a:ext cx="134549" cy="195707"/>
          </a:xfrm>
          <a:prstGeom prst="rect">
            <a:avLst/>
          </a:prstGeom>
        </p:spPr>
      </p:pic>
      <p:sp>
        <p:nvSpPr>
          <p:cNvPr id="30" name="TextBox 29"/>
          <p:cNvSpPr txBox="1"/>
          <p:nvPr/>
        </p:nvSpPr>
        <p:spPr>
          <a:xfrm>
            <a:off x="695387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Trends, By Country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country volume and value shares shift over 2021–2036, highlighting who gains ground</a:t>
            </a:r>
          </a:p>
        </p:txBody>
      </p:sp>
      <p:sp>
        <p:nvSpPr>
          <p:cNvPr id="10" name="Rounded Rectangle 9"/>
          <p:cNvSpPr/>
          <p:nvPr/>
        </p:nvSpPr>
        <p:spPr>
          <a:xfrm>
            <a:off x="142875" y="981075"/>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Volume By Country (Units)</a:t>
            </a:r>
          </a:p>
        </p:txBody>
      </p:sp>
      <p:graphicFrame>
        <p:nvGraphicFramePr>
          <p:cNvPr id="12" name="Chart 11"/>
          <p:cNvGraphicFramePr>
            <a:graphicFrameLocks noGrp="1"/>
          </p:cNvGraphicFramePr>
          <p:nvPr/>
        </p:nvGraphicFramePr>
        <p:xfrm>
          <a:off x="238125" y="1266825"/>
          <a:ext cx="11715750"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39243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Country (US$ Mn)</a:t>
            </a:r>
          </a:p>
        </p:txBody>
      </p:sp>
      <p:graphicFrame>
        <p:nvGraphicFramePr>
          <p:cNvPr id="15" name="Chart 14"/>
          <p:cNvGraphicFramePr>
            <a:graphicFrameLocks noGrp="1"/>
          </p:cNvGraphicFramePr>
          <p:nvPr/>
        </p:nvGraphicFramePr>
        <p:xfrm>
          <a:off x="238125" y="4152900"/>
          <a:ext cx="11715750" cy="240982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6058646" y="2026489"/>
            <a:ext cx="363375" cy="528545"/>
          </a:xfrm>
          <a:prstGeom prst="rect">
            <a:avLst/>
          </a:prstGeom>
        </p:spPr>
      </p:pic>
      <p:pic>
        <p:nvPicPr>
          <p:cNvPr id="18" name="Picture 17" descr="lock.png"/>
          <p:cNvPicPr>
            <a:picLocks noChangeAspect="1"/>
          </p:cNvPicPr>
          <p:nvPr/>
        </p:nvPicPr>
        <p:blipFill>
          <a:blip r:embed="rId6"/>
          <a:stretch>
            <a:fillRect/>
          </a:stretch>
        </p:blipFill>
        <p:spPr>
          <a:xfrm>
            <a:off x="6058646" y="4912564"/>
            <a:ext cx="363375" cy="528545"/>
          </a:xfrm>
          <a:prstGeom prst="rect">
            <a:avLst/>
          </a:prstGeom>
        </p:spPr>
      </p:pic>
      <p:sp>
        <p:nvSpPr>
          <p:cNvPr id="19" name="lockshield_12"/>
          <p:cNvSpPr/>
          <p:nvPr/>
        </p:nvSpPr>
        <p:spPr>
          <a:xfrm>
            <a:off x="238125" y="1266825"/>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238125" y="4152900"/>
            <a:ext cx="11715750"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Organ Transport Devices Market Top 2 Countries (2036)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Country hierarchy of the North America market in 2036, highlighting the leading countries within each region by value</a:t>
            </a:r>
          </a:p>
        </p:txBody>
      </p:sp>
      <p:sp>
        <p:nvSpPr>
          <p:cNvPr id="10" name="Rounded Rectangle 9"/>
          <p:cNvSpPr/>
          <p:nvPr/>
        </p:nvSpPr>
        <p:spPr>
          <a:xfrm>
            <a:off x="142875" y="981075"/>
            <a:ext cx="11906250"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by country  ·  2036 (US$ Mn)  ·  tile size = market value</a:t>
            </a:r>
          </a:p>
        </p:txBody>
      </p:sp>
      <p:sp>
        <p:nvSpPr>
          <p:cNvPr id="12" name="Rectangle 11"/>
          <p:cNvSpPr/>
          <p:nvPr/>
        </p:nvSpPr>
        <p:spPr>
          <a:xfrm>
            <a:off x="238125" y="1266825"/>
            <a:ext cx="7899386" cy="5305425"/>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U.S.</a:t>
            </a:r>
          </a:p>
          <a:p>
            <a:pPr algn="ctr"/>
            <a:r>
              <a:rPr sz="1100" b="0">
                <a:solidFill>
                  <a:srgbClr val="FFFFFF"/>
                </a:solidFill>
                <a:latin typeface="Calibri"/>
              </a:rPr>
              <a:t> </a:t>
            </a:r>
          </a:p>
        </p:txBody>
      </p:sp>
      <p:sp>
        <p:nvSpPr>
          <p:cNvPr id="13" name="Rectangle 12"/>
          <p:cNvSpPr/>
          <p:nvPr/>
        </p:nvSpPr>
        <p:spPr>
          <a:xfrm>
            <a:off x="8137511" y="1266825"/>
            <a:ext cx="3816364" cy="5305425"/>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FFFFFF"/>
                </a:solidFill>
                <a:latin typeface="Calibri"/>
              </a:rPr>
              <a:t>Canada</a:t>
            </a:r>
          </a:p>
          <a:p>
            <a:pPr algn="ctr"/>
            <a:r>
              <a:rPr sz="1100" b="0">
                <a:solidFill>
                  <a:srgbClr val="FFFFFF"/>
                </a:solidFill>
                <a:latin typeface="Calibri"/>
              </a:rPr>
              <a:t> </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4130192" y="3919537"/>
            <a:ext cx="115252" cy="167639"/>
          </a:xfrm>
          <a:prstGeom prst="rect">
            <a:avLst/>
          </a:prstGeom>
        </p:spPr>
      </p:pic>
      <p:pic>
        <p:nvPicPr>
          <p:cNvPr id="16" name="Picture 15" descr="lock.png"/>
          <p:cNvPicPr>
            <a:picLocks noChangeAspect="1"/>
          </p:cNvPicPr>
          <p:nvPr/>
        </p:nvPicPr>
        <p:blipFill>
          <a:blip r:embed="rId4"/>
          <a:stretch>
            <a:fillRect/>
          </a:stretch>
        </p:blipFill>
        <p:spPr>
          <a:xfrm>
            <a:off x="9988066" y="3919537"/>
            <a:ext cx="115252" cy="167639"/>
          </a:xfrm>
          <a:prstGeom prst="rect">
            <a:avLst/>
          </a:prstGeom>
        </p:spPr>
      </p:pic>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North America Market Analysis By Segments</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Reusability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Monitoring Capability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Device Technology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Technology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Device Technology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Device Technology,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Device Technology segment categorizes the market by device technology.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Portable Machine Perfusion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Static Cold Storage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Device Technology split shows how demand is distributed across device technology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2_853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4_219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4_0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744_4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1_135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4_3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26816" cy="186689"/>
          </a:xfrm>
          <a:prstGeom prst="rect">
            <a:avLst/>
          </a:prstGeom>
          <a:noFill/>
        </p:spPr>
        <p:txBody>
          <a:bodyPr wrap="none" lIns="0" rIns="0" tIns="0" bIns="0">
            <a:spAutoFit/>
          </a:bodyPr>
          <a:lstStyle/>
          <a:p>
            <a:r>
              <a:rPr sz="1100" b="0">
                <a:solidFill>
                  <a:srgbClr val="2E2E2E"/>
                </a:solidFill>
                <a:latin typeface="Calibri"/>
              </a:rPr>
              <a:t>Among organ transport devices by device</a:t>
            </a:r>
          </a:p>
        </p:txBody>
      </p:sp>
      <p:sp>
        <p:nvSpPr>
          <p:cNvPr id="58" name="TextBox 57"/>
          <p:cNvSpPr txBox="1"/>
          <p:nvPr/>
        </p:nvSpPr>
        <p:spPr>
          <a:xfrm>
            <a:off x="485775" y="4397077"/>
            <a:ext cx="2903215" cy="186689"/>
          </a:xfrm>
          <a:prstGeom prst="rect">
            <a:avLst/>
          </a:prstGeom>
          <a:noFill/>
        </p:spPr>
        <p:txBody>
          <a:bodyPr wrap="none" lIns="0" rIns="0" tIns="0" bIns="0">
            <a:spAutoFit/>
          </a:bodyPr>
          <a:lstStyle/>
          <a:p>
            <a:r>
              <a:rPr sz="1100" b="0">
                <a:solidFill>
                  <a:srgbClr val="2E2E2E"/>
                </a:solidFill>
                <a:latin typeface="Calibri"/>
              </a:rPr>
              <a:t>technology, static cold storage devices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device technology, the portable machine perfusion</a:t>
            </a:r>
          </a:p>
        </p:txBody>
      </p:sp>
      <p:sp>
        <p:nvSpPr>
          <p:cNvPr id="64" name="TextBox 63"/>
          <p:cNvSpPr txBox="1"/>
          <p:nvPr/>
        </p:nvSpPr>
        <p:spPr>
          <a:xfrm>
            <a:off x="485775" y="5067637"/>
            <a:ext cx="2646188" cy="186689"/>
          </a:xfrm>
          <a:prstGeom prst="rect">
            <a:avLst/>
          </a:prstGeom>
          <a:noFill/>
        </p:spPr>
        <p:txBody>
          <a:bodyPr wrap="none" lIns="0" rIns="0" tIns="0" bIns="0">
            <a:spAutoFit/>
          </a:bodyPr>
          <a:lstStyle/>
          <a:p>
            <a:r>
              <a:rPr sz="1100" b="0">
                <a:solidFill>
                  <a:srgbClr val="2E2E2E"/>
                </a:solidFill>
                <a:latin typeface="Calibri"/>
              </a:rPr>
              <a:t>devices segment is expected to dominate the</a:t>
            </a:r>
          </a:p>
        </p:txBody>
      </p:sp>
      <p:sp>
        <p:nvSpPr>
          <p:cNvPr id="65" name="TextBox 64"/>
          <p:cNvSpPr txBox="1"/>
          <p:nvPr/>
        </p:nvSpPr>
        <p:spPr>
          <a:xfrm>
            <a:off x="485775" y="5235277"/>
            <a:ext cx="881930" cy="186689"/>
          </a:xfrm>
          <a:prstGeom prst="rect">
            <a:avLst/>
          </a:prstGeom>
          <a:noFill/>
        </p:spPr>
        <p:txBody>
          <a:bodyPr wrap="none" lIns="0" rIns="0" tIns="0" bIns="0">
            <a:spAutoFit/>
          </a:bodyPr>
          <a:lstStyle/>
          <a:p>
            <a:r>
              <a:rPr sz="1100" b="0">
                <a:solidFill>
                  <a:srgbClr val="2E2E2E"/>
                </a:solidFill>
                <a:latin typeface="Calibri"/>
              </a:rPr>
              <a:t>market, losing</a:t>
            </a:r>
          </a:p>
        </p:txBody>
      </p:sp>
      <p:pic>
        <p:nvPicPr>
          <p:cNvPr id="66" name="Picture 65" descr="lock.png"/>
          <p:cNvPicPr>
            <a:picLocks noChangeAspect="1"/>
          </p:cNvPicPr>
          <p:nvPr/>
        </p:nvPicPr>
        <p:blipFill>
          <a:blip r:embed="rId10"/>
          <a:stretch>
            <a:fillRect/>
          </a:stretch>
        </p:blipFill>
        <p:spPr>
          <a:xfrm>
            <a:off x="1315757" y="5225498"/>
            <a:ext cx="128699" cy="187198"/>
          </a:xfrm>
          <a:prstGeom prst="rect">
            <a:avLst/>
          </a:prstGeom>
        </p:spPr>
      </p:pic>
      <p:sp>
        <p:nvSpPr>
          <p:cNvPr id="67" name="TextBox 66"/>
          <p:cNvSpPr txBox="1"/>
          <p:nvPr/>
        </p:nvSpPr>
        <p:spPr>
          <a:xfrm>
            <a:off x="1483253"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817737" y="5225498"/>
            <a:ext cx="128699" cy="187198"/>
          </a:xfrm>
          <a:prstGeom prst="rect">
            <a:avLst/>
          </a:prstGeom>
        </p:spPr>
      </p:pic>
      <p:sp>
        <p:nvSpPr>
          <p:cNvPr id="69" name="TextBox 68"/>
          <p:cNvSpPr txBox="1"/>
          <p:nvPr/>
        </p:nvSpPr>
        <p:spPr>
          <a:xfrm>
            <a:off x="485775" y="5402917"/>
            <a:ext cx="908397" cy="186689"/>
          </a:xfrm>
          <a:prstGeom prst="rect">
            <a:avLst/>
          </a:prstGeom>
          <a:noFill/>
        </p:spPr>
        <p:txBody>
          <a:bodyPr wrap="none" lIns="0" rIns="0" tIns="0" bIns="0">
            <a:spAutoFit/>
          </a:bodyPr>
          <a:lstStyle/>
          <a:p>
            <a:r>
              <a:rPr sz="1100" b="0">
                <a:solidFill>
                  <a:srgbClr val="2E2E2E"/>
                </a:solidFill>
                <a:latin typeface="Calibri"/>
              </a:rPr>
              <a:t>share by 2036.</a:t>
            </a:r>
          </a:p>
        </p:txBody>
      </p:sp>
      <p:sp>
        <p:nvSpPr>
          <p:cNvPr id="70" name="TextBox 69"/>
          <p:cNvSpPr txBox="1"/>
          <p:nvPr/>
        </p:nvSpPr>
        <p:spPr>
          <a:xfrm>
            <a:off x="485775" y="5620849"/>
            <a:ext cx="2745779" cy="186689"/>
          </a:xfrm>
          <a:prstGeom prst="rect">
            <a:avLst/>
          </a:prstGeom>
          <a:noFill/>
        </p:spPr>
        <p:txBody>
          <a:bodyPr wrap="none" lIns="0" rIns="0" tIns="0" bIns="0">
            <a:spAutoFit/>
          </a:bodyPr>
          <a:lstStyle/>
          <a:p>
            <a:r>
              <a:rPr sz="1100" b="0">
                <a:solidFill>
                  <a:srgbClr val="2E2E2E"/>
                </a:solidFill>
                <a:latin typeface="Calibri"/>
              </a:rPr>
              <a:t>Portable machine perfusion devices segment is</a:t>
            </a:r>
          </a:p>
        </p:txBody>
      </p:sp>
      <p:sp>
        <p:nvSpPr>
          <p:cNvPr id="71" name="TextBox 70"/>
          <p:cNvSpPr txBox="1"/>
          <p:nvPr/>
        </p:nvSpPr>
        <p:spPr>
          <a:xfrm>
            <a:off x="485775" y="5788489"/>
            <a:ext cx="1244550" cy="186689"/>
          </a:xfrm>
          <a:prstGeom prst="rect">
            <a:avLst/>
          </a:prstGeom>
          <a:noFill/>
        </p:spPr>
        <p:txBody>
          <a:bodyPr wrap="none" lIns="0" rIns="0" tIns="0" bIns="0">
            <a:spAutoFit/>
          </a:bodyPr>
          <a:lstStyle/>
          <a:p>
            <a:r>
              <a:rPr sz="1100" b="0">
                <a:solidFill>
                  <a:srgbClr val="2E2E2E"/>
                </a:solidFill>
                <a:latin typeface="Calibri"/>
              </a:rPr>
              <a:t>projected to register</a:t>
            </a:r>
          </a:p>
        </p:txBody>
      </p:sp>
      <p:pic>
        <p:nvPicPr>
          <p:cNvPr id="72" name="Picture 71" descr="lock.png"/>
          <p:cNvPicPr>
            <a:picLocks noChangeAspect="1"/>
          </p:cNvPicPr>
          <p:nvPr/>
        </p:nvPicPr>
        <p:blipFill>
          <a:blip r:embed="rId10"/>
          <a:stretch>
            <a:fillRect/>
          </a:stretch>
        </p:blipFill>
        <p:spPr>
          <a:xfrm>
            <a:off x="1678376" y="5778710"/>
            <a:ext cx="128699" cy="187198"/>
          </a:xfrm>
          <a:prstGeom prst="rect">
            <a:avLst/>
          </a:prstGeom>
        </p:spPr>
      </p:pic>
      <p:sp>
        <p:nvSpPr>
          <p:cNvPr id="73" name="TextBox 72"/>
          <p:cNvSpPr txBox="1"/>
          <p:nvPr/>
        </p:nvSpPr>
        <p:spPr>
          <a:xfrm>
            <a:off x="1845872" y="5788489"/>
            <a:ext cx="1510853" cy="186689"/>
          </a:xfrm>
          <a:prstGeom prst="rect">
            <a:avLst/>
          </a:prstGeom>
          <a:noFill/>
        </p:spPr>
        <p:txBody>
          <a:bodyPr wrap="none" lIns="0" rIns="0" tIns="0" bIns="0">
            <a:spAutoFit/>
          </a:bodyPr>
          <a:lstStyle/>
          <a:p>
            <a:r>
              <a:rPr sz="1100" b="0">
                <a:solidFill>
                  <a:srgbClr val="2E2E2E"/>
                </a:solidFill>
                <a:latin typeface="Calibri"/>
              </a:rPr>
              <a:t>X higher value than static</a:t>
            </a:r>
          </a:p>
        </p:txBody>
      </p:sp>
      <p:sp>
        <p:nvSpPr>
          <p:cNvPr id="74" name="TextBox 73"/>
          <p:cNvSpPr txBox="1"/>
          <p:nvPr/>
        </p:nvSpPr>
        <p:spPr>
          <a:xfrm>
            <a:off x="485775" y="5956129"/>
            <a:ext cx="2236638" cy="186689"/>
          </a:xfrm>
          <a:prstGeom prst="rect">
            <a:avLst/>
          </a:prstGeom>
          <a:noFill/>
        </p:spPr>
        <p:txBody>
          <a:bodyPr wrap="none" lIns="0" rIns="0" tIns="0" bIns="0">
            <a:spAutoFit/>
          </a:bodyPr>
          <a:lstStyle/>
          <a:p>
            <a:r>
              <a:rPr sz="1100" b="0">
                <a:solidFill>
                  <a:srgbClr val="2E2E2E"/>
                </a:solidFill>
                <a:latin typeface="Calibri"/>
              </a:rPr>
              <a:t>cold storage devices segment in 2036.</a:t>
            </a:r>
          </a:p>
        </p:txBody>
      </p:sp>
      <p:sp>
        <p:nvSpPr>
          <p:cNvPr id="75" name="TextBox 74"/>
          <p:cNvSpPr txBox="1"/>
          <p:nvPr/>
        </p:nvSpPr>
        <p:spPr>
          <a:xfrm>
            <a:off x="3838575" y="4229437"/>
            <a:ext cx="2277020" cy="186689"/>
          </a:xfrm>
          <a:prstGeom prst="rect">
            <a:avLst/>
          </a:prstGeom>
          <a:noFill/>
        </p:spPr>
        <p:txBody>
          <a:bodyPr wrap="none" lIns="0" rIns="0" tIns="0" bIns="0">
            <a:spAutoFit/>
          </a:bodyPr>
          <a:lstStyle/>
          <a:p>
            <a:r>
              <a:rPr sz="1100" b="0">
                <a:solidFill>
                  <a:srgbClr val="2E2E2E"/>
                </a:solidFill>
                <a:latin typeface="Calibri"/>
              </a:rPr>
              <a:t>● Portable Machine Perfusion Devices:</a:t>
            </a:r>
          </a:p>
        </p:txBody>
      </p:sp>
      <p:pic>
        <p:nvPicPr>
          <p:cNvPr id="76" name="Picture 75" descr="lock.png"/>
          <p:cNvPicPr>
            <a:picLocks noChangeAspect="1"/>
          </p:cNvPicPr>
          <p:nvPr/>
        </p:nvPicPr>
        <p:blipFill>
          <a:blip r:embed="rId10"/>
          <a:stretch>
            <a:fillRect/>
          </a:stretch>
        </p:blipFill>
        <p:spPr>
          <a:xfrm>
            <a:off x="6063647" y="4219658"/>
            <a:ext cx="128699" cy="187198"/>
          </a:xfrm>
          <a:prstGeom prst="rect">
            <a:avLst/>
          </a:prstGeom>
        </p:spPr>
      </p:pic>
      <p:sp>
        <p:nvSpPr>
          <p:cNvPr id="77" name="TextBox 76"/>
          <p:cNvSpPr txBox="1"/>
          <p:nvPr/>
        </p:nvSpPr>
        <p:spPr>
          <a:xfrm>
            <a:off x="6231143"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7090593" y="4219658"/>
            <a:ext cx="128699" cy="187198"/>
          </a:xfrm>
          <a:prstGeom prst="rect">
            <a:avLst/>
          </a:prstGeom>
        </p:spPr>
      </p:pic>
      <p:sp>
        <p:nvSpPr>
          <p:cNvPr id="79" name="TextBox 78"/>
          <p:cNvSpPr txBox="1"/>
          <p:nvPr/>
        </p:nvSpPr>
        <p:spPr>
          <a:xfrm>
            <a:off x="7258089"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0" name="TextBox 79"/>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81" name="TextBox 80"/>
          <p:cNvSpPr txBox="1"/>
          <p:nvPr/>
        </p:nvSpPr>
        <p:spPr>
          <a:xfrm>
            <a:off x="3838575" y="4615009"/>
            <a:ext cx="1764332" cy="186689"/>
          </a:xfrm>
          <a:prstGeom prst="rect">
            <a:avLst/>
          </a:prstGeom>
          <a:noFill/>
        </p:spPr>
        <p:txBody>
          <a:bodyPr wrap="none" lIns="0" rIns="0" tIns="0" bIns="0">
            <a:spAutoFit/>
          </a:bodyPr>
          <a:lstStyle/>
          <a:p>
            <a:r>
              <a:rPr sz="1100" b="0">
                <a:solidFill>
                  <a:srgbClr val="2E2E2E"/>
                </a:solidFill>
                <a:latin typeface="Calibri"/>
              </a:rPr>
              <a:t>● Static Cold Storage Devices:</a:t>
            </a:r>
          </a:p>
        </p:txBody>
      </p:sp>
      <p:pic>
        <p:nvPicPr>
          <p:cNvPr id="82" name="Picture 81" descr="lock.png"/>
          <p:cNvPicPr>
            <a:picLocks noChangeAspect="1"/>
          </p:cNvPicPr>
          <p:nvPr/>
        </p:nvPicPr>
        <p:blipFill>
          <a:blip r:embed="rId10"/>
          <a:stretch>
            <a:fillRect/>
          </a:stretch>
        </p:blipFill>
        <p:spPr>
          <a:xfrm>
            <a:off x="5550959" y="4605230"/>
            <a:ext cx="128699" cy="187198"/>
          </a:xfrm>
          <a:prstGeom prst="rect">
            <a:avLst/>
          </a:prstGeom>
        </p:spPr>
      </p:pic>
      <p:sp>
        <p:nvSpPr>
          <p:cNvPr id="83" name="TextBox 82"/>
          <p:cNvSpPr txBox="1"/>
          <p:nvPr/>
        </p:nvSpPr>
        <p:spPr>
          <a:xfrm>
            <a:off x="5718455"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4" name="Picture 83" descr="lock.png"/>
          <p:cNvPicPr>
            <a:picLocks noChangeAspect="1"/>
          </p:cNvPicPr>
          <p:nvPr/>
        </p:nvPicPr>
        <p:blipFill>
          <a:blip r:embed="rId10"/>
          <a:stretch>
            <a:fillRect/>
          </a:stretch>
        </p:blipFill>
        <p:spPr>
          <a:xfrm>
            <a:off x="6577905" y="4605230"/>
            <a:ext cx="128699" cy="187198"/>
          </a:xfrm>
          <a:prstGeom prst="rect">
            <a:avLst/>
          </a:prstGeom>
        </p:spPr>
      </p:pic>
      <p:sp>
        <p:nvSpPr>
          <p:cNvPr id="85" name="TextBox 84"/>
          <p:cNvSpPr txBox="1"/>
          <p:nvPr/>
        </p:nvSpPr>
        <p:spPr>
          <a:xfrm>
            <a:off x="6745401"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86" name="TextBox 85"/>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87" name="TextBox 86"/>
          <p:cNvSpPr txBox="1"/>
          <p:nvPr/>
        </p:nvSpPr>
        <p:spPr>
          <a:xfrm>
            <a:off x="8524875" y="5842641"/>
            <a:ext cx="2929880" cy="194310"/>
          </a:xfrm>
          <a:prstGeom prst="rect">
            <a:avLst/>
          </a:prstGeom>
          <a:noFill/>
        </p:spPr>
        <p:txBody>
          <a:bodyPr wrap="none" lIns="0" rIns="0" tIns="0" bIns="0">
            <a:spAutoFit/>
          </a:bodyPr>
          <a:lstStyle/>
          <a:p>
            <a:r>
              <a:rPr sz="1150" b="1">
                <a:solidFill>
                  <a:srgbClr val="0B2E4A"/>
                </a:solidFill>
                <a:latin typeface="Calibri"/>
              </a:rPr>
              <a:t>The Device Technology segment is projected to</a:t>
            </a:r>
          </a:p>
        </p:txBody>
      </p:sp>
      <p:sp>
        <p:nvSpPr>
          <p:cNvPr id="88" name="TextBox 87"/>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9" name="Picture 88" descr="lock.png"/>
          <p:cNvPicPr>
            <a:picLocks noChangeAspect="1"/>
          </p:cNvPicPr>
          <p:nvPr/>
        </p:nvPicPr>
        <p:blipFill>
          <a:blip r:embed="rId10"/>
          <a:stretch>
            <a:fillRect/>
          </a:stretch>
        </p:blipFill>
        <p:spPr>
          <a:xfrm>
            <a:off x="9651852" y="6007677"/>
            <a:ext cx="134549" cy="195707"/>
          </a:xfrm>
          <a:prstGeom prst="rect">
            <a:avLst/>
          </a:prstGeom>
        </p:spPr>
      </p:pic>
      <p:sp>
        <p:nvSpPr>
          <p:cNvPr id="90" name="TextBox 89"/>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Device Technology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Device Technology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Technology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Device Technology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07725" cy="186689"/>
          </a:xfrm>
          <a:prstGeom prst="rect">
            <a:avLst/>
          </a:prstGeom>
          <a:noFill/>
        </p:spPr>
        <p:txBody>
          <a:bodyPr wrap="none" lIns="0" rIns="0" tIns="0" bIns="0">
            <a:spAutoFit/>
          </a:bodyPr>
          <a:lstStyle/>
          <a:p>
            <a:r>
              <a:rPr sz="1100" b="0">
                <a:solidFill>
                  <a:srgbClr val="2E2E2E"/>
                </a:solidFill>
                <a:latin typeface="Calibri"/>
              </a:rPr>
              <a:t>Portable machine perfusion devices followed by static cold storage devices are expected to be the two most attractive device technology segments in the North America organ transport devices market in</a:t>
            </a:r>
          </a:p>
        </p:txBody>
      </p:sp>
      <p:sp>
        <p:nvSpPr>
          <p:cNvPr id="20" name="TextBox 19"/>
          <p:cNvSpPr txBox="1"/>
          <p:nvPr/>
        </p:nvSpPr>
        <p:spPr>
          <a:xfrm>
            <a:off x="257175" y="5945505"/>
            <a:ext cx="7514935" cy="186689"/>
          </a:xfrm>
          <a:prstGeom prst="rect">
            <a:avLst/>
          </a:prstGeom>
          <a:noFill/>
        </p:spPr>
        <p:txBody>
          <a:bodyPr wrap="none" lIns="0" rIns="0" tIns="0" bIns="0">
            <a:spAutoFit/>
          </a:bodyPr>
          <a:lstStyle/>
          <a:p>
            <a:r>
              <a:rPr sz="1100" b="0">
                <a:solidFill>
                  <a:srgbClr val="2E2E2E"/>
                </a:solidFill>
                <a:latin typeface="Calibri"/>
              </a:rPr>
              <a:t>terms of value over the forecast period. Portable machine perfusion devices and static cold storage devices exhibit a CAGR index of</a:t>
            </a:r>
          </a:p>
        </p:txBody>
      </p:sp>
      <p:pic>
        <p:nvPicPr>
          <p:cNvPr id="21" name="Picture 20" descr="lock.png"/>
          <p:cNvPicPr>
            <a:picLocks noChangeAspect="1"/>
          </p:cNvPicPr>
          <p:nvPr/>
        </p:nvPicPr>
        <p:blipFill>
          <a:blip r:embed="rId6"/>
          <a:stretch>
            <a:fillRect/>
          </a:stretch>
        </p:blipFill>
        <p:spPr>
          <a:xfrm>
            <a:off x="7720161" y="5935726"/>
            <a:ext cx="128699" cy="187198"/>
          </a:xfrm>
          <a:prstGeom prst="rect">
            <a:avLst/>
          </a:prstGeom>
        </p:spPr>
      </p:pic>
      <p:sp>
        <p:nvSpPr>
          <p:cNvPr id="22" name="TextBox 21"/>
          <p:cNvSpPr txBox="1"/>
          <p:nvPr/>
        </p:nvSpPr>
        <p:spPr>
          <a:xfrm>
            <a:off x="788765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8125551" y="5935726"/>
            <a:ext cx="128699" cy="187198"/>
          </a:xfrm>
          <a:prstGeom prst="rect">
            <a:avLst/>
          </a:prstGeom>
        </p:spPr>
      </p:pic>
      <p:sp>
        <p:nvSpPr>
          <p:cNvPr id="24" name="TextBox 23"/>
          <p:cNvSpPr txBox="1"/>
          <p:nvPr/>
        </p:nvSpPr>
        <p:spPr>
          <a:xfrm>
            <a:off x="8293047"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9902021" y="5935726"/>
            <a:ext cx="128699" cy="187198"/>
          </a:xfrm>
          <a:prstGeom prst="rect">
            <a:avLst/>
          </a:prstGeom>
        </p:spPr>
      </p:pic>
      <p:sp>
        <p:nvSpPr>
          <p:cNvPr id="26" name="TextBox 25"/>
          <p:cNvSpPr txBox="1"/>
          <p:nvPr/>
        </p:nvSpPr>
        <p:spPr>
          <a:xfrm>
            <a:off x="1006951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10307411" y="5935726"/>
            <a:ext cx="128699" cy="187198"/>
          </a:xfrm>
          <a:prstGeom prst="rect">
            <a:avLst/>
          </a:prstGeom>
        </p:spPr>
      </p:pic>
      <p:sp>
        <p:nvSpPr>
          <p:cNvPr id="28" name="TextBox 27"/>
          <p:cNvSpPr txBox="1"/>
          <p:nvPr/>
        </p:nvSpPr>
        <p:spPr>
          <a:xfrm>
            <a:off x="10474907" y="5945505"/>
            <a:ext cx="793526"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29" name="TextBox 28"/>
          <p:cNvSpPr txBox="1"/>
          <p:nvPr/>
        </p:nvSpPr>
        <p:spPr>
          <a:xfrm>
            <a:off x="257175" y="6113145"/>
            <a:ext cx="1857375" cy="186689"/>
          </a:xfrm>
          <a:prstGeom prst="rect">
            <a:avLst/>
          </a:prstGeom>
          <a:noFill/>
        </p:spPr>
        <p:txBody>
          <a:bodyPr wrap="none" lIns="0" rIns="0" tIns="0" bIns="0">
            <a:spAutoFit/>
          </a:bodyPr>
          <a:lstStyle/>
          <a:p>
            <a:r>
              <a:rPr sz="1100" b="0">
                <a:solidFill>
                  <a:srgbClr val="2E2E2E"/>
                </a:solidFill>
                <a:latin typeface="Calibri"/>
              </a:rPr>
              <a:t>against the segment average of</a:t>
            </a:r>
          </a:p>
        </p:txBody>
      </p:sp>
      <p:pic>
        <p:nvPicPr>
          <p:cNvPr id="30" name="Picture 29" descr="lock.png"/>
          <p:cNvPicPr>
            <a:picLocks noChangeAspect="1"/>
          </p:cNvPicPr>
          <p:nvPr/>
        </p:nvPicPr>
        <p:blipFill>
          <a:blip r:embed="rId6"/>
          <a:stretch>
            <a:fillRect/>
          </a:stretch>
        </p:blipFill>
        <p:spPr>
          <a:xfrm>
            <a:off x="2062601" y="6103366"/>
            <a:ext cx="128699" cy="187198"/>
          </a:xfrm>
          <a:prstGeom prst="rect">
            <a:avLst/>
          </a:prstGeom>
        </p:spPr>
      </p:pic>
      <p:sp>
        <p:nvSpPr>
          <p:cNvPr id="31" name="TextBox 30"/>
          <p:cNvSpPr txBox="1"/>
          <p:nvPr/>
        </p:nvSpPr>
        <p:spPr>
          <a:xfrm>
            <a:off x="2230097"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Device Technology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Static Cold Storage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Portable Machine Perfusion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Device Technology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Device Technology, 2021–2036, highlighting the sub-segments driving growth</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Device Technology (US$ Mn)</a:t>
            </a:r>
          </a:p>
        </p:txBody>
      </p:sp>
      <p:graphicFrame>
        <p:nvGraphicFramePr>
          <p:cNvPr id="12" name="Table 11"/>
          <p:cNvGraphicFramePr>
            <a:graphicFrameLocks noGrp="1"/>
          </p:cNvGraphicFramePr>
          <p:nvPr/>
        </p:nvGraphicFramePr>
        <p:xfrm>
          <a:off x="152400" y="1238250"/>
          <a:ext cx="11887201" cy="2714626"/>
        </p:xfrm>
        <a:graphic>
          <a:graphicData uri="http://schemas.openxmlformats.org/drawingml/2006/table">
            <a:tbl>
              <a:tblPr>
                <a:tableStyleId>{5C22544A-7EE6-4342-B048-85BDC9FD1C3A}</a:tableStyleId>
              </a:tblPr>
              <a:tblGrid>
                <a:gridCol w="3358481"/>
                <a:gridCol w="512307"/>
                <a:gridCol w="512307"/>
                <a:gridCol w="512307"/>
                <a:gridCol w="512307"/>
                <a:gridCol w="512307"/>
                <a:gridCol w="494261"/>
                <a:gridCol w="489105"/>
                <a:gridCol w="489105"/>
                <a:gridCol w="489105"/>
                <a:gridCol w="489105"/>
                <a:gridCol w="489105"/>
                <a:gridCol w="489105"/>
                <a:gridCol w="489105"/>
                <a:gridCol w="489105"/>
                <a:gridCol w="489105"/>
                <a:gridCol w="489105"/>
                <a:gridCol w="581874"/>
              </a:tblGrid>
              <a:tr h="246126">
                <a:tc>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Passive Insulated Transport Containers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Active Temperature-Controlled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Portable Machine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295775"/>
            <a:ext cx="11906250" cy="2333625"/>
          </a:xfrm>
          <a:prstGeom prst="roundRect">
            <a:avLst>
              <a:gd name="adj" fmla="val 32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3815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Device Technology</a:t>
            </a:r>
          </a:p>
        </p:txBody>
      </p:sp>
      <p:sp>
        <p:nvSpPr>
          <p:cNvPr id="16" name="Rectangle 15"/>
          <p:cNvSpPr/>
          <p:nvPr/>
        </p:nvSpPr>
        <p:spPr>
          <a:xfrm>
            <a:off x="276225" y="46196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705350"/>
            <a:ext cx="11639550" cy="18478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588551" y="2451926"/>
            <a:ext cx="366712" cy="533400"/>
          </a:xfrm>
          <a:prstGeom prst="rect">
            <a:avLst/>
          </a:prstGeom>
        </p:spPr>
      </p:pic>
      <p:sp>
        <p:nvSpPr>
          <p:cNvPr id="20" name="TextBox 19"/>
          <p:cNvSpPr txBox="1"/>
          <p:nvPr/>
        </p:nvSpPr>
        <p:spPr>
          <a:xfrm>
            <a:off x="276225" y="4714875"/>
            <a:ext cx="4121670" cy="194310"/>
          </a:xfrm>
          <a:prstGeom prst="rect">
            <a:avLst/>
          </a:prstGeom>
          <a:noFill/>
        </p:spPr>
        <p:txBody>
          <a:bodyPr wrap="none" lIns="0" rIns="0" tIns="0" bIns="0">
            <a:spAutoFit/>
          </a:bodyPr>
          <a:lstStyle/>
          <a:p>
            <a:r>
              <a:rPr sz="1150" b="0">
                <a:solidFill>
                  <a:srgbClr val="2E2E2E"/>
                </a:solidFill>
                <a:latin typeface="Calibri"/>
              </a:rPr>
              <a:t>Portable machine perfusion devices segment is projected to register</a:t>
            </a:r>
          </a:p>
        </p:txBody>
      </p:sp>
      <p:pic>
        <p:nvPicPr>
          <p:cNvPr id="21" name="Picture 20" descr="lock.png"/>
          <p:cNvPicPr>
            <a:picLocks noChangeAspect="1"/>
          </p:cNvPicPr>
          <p:nvPr/>
        </p:nvPicPr>
        <p:blipFill>
          <a:blip r:embed="rId4"/>
          <a:stretch>
            <a:fillRect/>
          </a:stretch>
        </p:blipFill>
        <p:spPr>
          <a:xfrm>
            <a:off x="4347049" y="4704651"/>
            <a:ext cx="134549" cy="195707"/>
          </a:xfrm>
          <a:prstGeom prst="rect">
            <a:avLst/>
          </a:prstGeom>
        </p:spPr>
      </p:pic>
      <p:sp>
        <p:nvSpPr>
          <p:cNvPr id="22" name="TextBox 21"/>
          <p:cNvSpPr txBox="1"/>
          <p:nvPr/>
        </p:nvSpPr>
        <p:spPr>
          <a:xfrm>
            <a:off x="4522159" y="4714875"/>
            <a:ext cx="7087741" cy="194310"/>
          </a:xfrm>
          <a:prstGeom prst="rect">
            <a:avLst/>
          </a:prstGeom>
          <a:noFill/>
        </p:spPr>
        <p:txBody>
          <a:bodyPr wrap="none" lIns="0" rIns="0" tIns="0" bIns="0">
            <a:spAutoFit/>
          </a:bodyPr>
          <a:lstStyle/>
          <a:p>
            <a:r>
              <a:rPr sz="1150" b="0">
                <a:solidFill>
                  <a:srgbClr val="2E2E2E"/>
                </a:solidFill>
                <a:latin typeface="Calibri"/>
              </a:rPr>
              <a:t>X higher value than static cold storage devices segment in 2036. Among organ transport devices by device technology,</a:t>
            </a:r>
          </a:p>
        </p:txBody>
      </p:sp>
      <p:sp>
        <p:nvSpPr>
          <p:cNvPr id="23" name="TextBox 22"/>
          <p:cNvSpPr txBox="1"/>
          <p:nvPr/>
        </p:nvSpPr>
        <p:spPr>
          <a:xfrm>
            <a:off x="276225" y="4890135"/>
            <a:ext cx="4745218" cy="194310"/>
          </a:xfrm>
          <a:prstGeom prst="rect">
            <a:avLst/>
          </a:prstGeom>
          <a:noFill/>
        </p:spPr>
        <p:txBody>
          <a:bodyPr wrap="none" lIns="0" rIns="0" tIns="0" bIns="0">
            <a:spAutoFit/>
          </a:bodyPr>
          <a:lstStyle/>
          <a:p>
            <a:r>
              <a:rPr sz="1150" b="0">
                <a:solidFill>
                  <a:srgbClr val="2E2E2E"/>
                </a:solidFill>
                <a:latin typeface="Calibri"/>
              </a:rPr>
              <a:t>static cold storage devices segment is expected to witness the highest CAGR of</a:t>
            </a:r>
          </a:p>
        </p:txBody>
      </p:sp>
      <p:pic>
        <p:nvPicPr>
          <p:cNvPr id="24" name="Picture 23" descr="lock.png"/>
          <p:cNvPicPr>
            <a:picLocks noChangeAspect="1"/>
          </p:cNvPicPr>
          <p:nvPr/>
        </p:nvPicPr>
        <p:blipFill>
          <a:blip r:embed="rId4"/>
          <a:stretch>
            <a:fillRect/>
          </a:stretch>
        </p:blipFill>
        <p:spPr>
          <a:xfrm>
            <a:off x="4970597" y="4879911"/>
            <a:ext cx="134549" cy="195707"/>
          </a:xfrm>
          <a:prstGeom prst="rect">
            <a:avLst/>
          </a:prstGeom>
        </p:spPr>
      </p:pic>
      <p:sp>
        <p:nvSpPr>
          <p:cNvPr id="25" name="TextBox 24"/>
          <p:cNvSpPr txBox="1"/>
          <p:nvPr/>
        </p:nvSpPr>
        <p:spPr>
          <a:xfrm>
            <a:off x="5145706" y="48901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5117972"/>
            <a:ext cx="8266410" cy="194310"/>
          </a:xfrm>
          <a:prstGeom prst="rect">
            <a:avLst/>
          </a:prstGeom>
          <a:noFill/>
        </p:spPr>
        <p:txBody>
          <a:bodyPr wrap="none" lIns="0" rIns="0" tIns="0" bIns="0">
            <a:spAutoFit/>
          </a:bodyPr>
          <a:lstStyle/>
          <a:p>
            <a:r>
              <a:rPr sz="1150" b="0">
                <a:solidFill>
                  <a:srgbClr val="2E2E2E"/>
                </a:solidFill>
                <a:latin typeface="Calibri"/>
              </a:rPr>
              <a:t>In terms of value share by device technology, the portable machine perfusion devices segment is expected to dominate the market, losing</a:t>
            </a:r>
          </a:p>
        </p:txBody>
      </p:sp>
      <p:pic>
        <p:nvPicPr>
          <p:cNvPr id="27" name="Picture 26" descr="lock.png"/>
          <p:cNvPicPr>
            <a:picLocks noChangeAspect="1"/>
          </p:cNvPicPr>
          <p:nvPr/>
        </p:nvPicPr>
        <p:blipFill>
          <a:blip r:embed="rId4"/>
          <a:stretch>
            <a:fillRect/>
          </a:stretch>
        </p:blipFill>
        <p:spPr>
          <a:xfrm>
            <a:off x="8491789" y="5107749"/>
            <a:ext cx="134549" cy="195707"/>
          </a:xfrm>
          <a:prstGeom prst="rect">
            <a:avLst/>
          </a:prstGeom>
        </p:spPr>
      </p:pic>
      <p:sp>
        <p:nvSpPr>
          <p:cNvPr id="28" name="TextBox 27"/>
          <p:cNvSpPr txBox="1"/>
          <p:nvPr/>
        </p:nvSpPr>
        <p:spPr>
          <a:xfrm>
            <a:off x="8666898" y="51179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062041" y="5107749"/>
            <a:ext cx="134549" cy="195707"/>
          </a:xfrm>
          <a:prstGeom prst="rect">
            <a:avLst/>
          </a:prstGeom>
        </p:spPr>
      </p:pic>
      <p:sp>
        <p:nvSpPr>
          <p:cNvPr id="30" name="TextBox 29"/>
          <p:cNvSpPr txBox="1"/>
          <p:nvPr/>
        </p:nvSpPr>
        <p:spPr>
          <a:xfrm>
            <a:off x="10237150" y="51179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Device Technology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Device Technology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155768"/>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15100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07480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Static Cold Storage Devices</a:t>
            </a:r>
          </a:p>
        </p:txBody>
      </p:sp>
      <p:sp>
        <p:nvSpPr>
          <p:cNvPr id="18" name="BPS Value 1"/>
          <p:cNvSpPr txBox="1"/>
          <p:nvPr/>
        </p:nvSpPr>
        <p:spPr>
          <a:xfrm>
            <a:off x="6896100" y="213671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441959"/>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437196"/>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36099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Portable Machine Perfusion Devices</a:t>
            </a:r>
          </a:p>
        </p:txBody>
      </p:sp>
      <p:sp>
        <p:nvSpPr>
          <p:cNvPr id="22" name="BPS Value 2"/>
          <p:cNvSpPr txBox="1"/>
          <p:nvPr/>
        </p:nvSpPr>
        <p:spPr>
          <a:xfrm>
            <a:off x="6896100" y="442290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Device Technology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899172" cy="194310"/>
          </a:xfrm>
          <a:prstGeom prst="rect">
            <a:avLst/>
          </a:prstGeom>
          <a:noFill/>
        </p:spPr>
        <p:txBody>
          <a:bodyPr wrap="none" lIns="0" rIns="0" tIns="0" bIns="0">
            <a:spAutoFit/>
          </a:bodyPr>
          <a:lstStyle/>
          <a:p>
            <a:r>
              <a:rPr sz="1150" b="0">
                <a:solidFill>
                  <a:srgbClr val="2E2E2E"/>
                </a:solidFill>
                <a:latin typeface="Calibri"/>
              </a:rPr>
              <a:t>Among organ transport devices by device technology, static cold</a:t>
            </a:r>
          </a:p>
        </p:txBody>
      </p:sp>
      <p:sp>
        <p:nvSpPr>
          <p:cNvPr id="30" name="TextBox 29"/>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storage devices segment is expected to witness the highest CAGR of</a:t>
            </a:r>
          </a:p>
        </p:txBody>
      </p:sp>
      <p:pic>
        <p:nvPicPr>
          <p:cNvPr id="31" name="Picture 30" descr="lock.png"/>
          <p:cNvPicPr>
            <a:picLocks noChangeAspect="1"/>
          </p:cNvPicPr>
          <p:nvPr/>
        </p:nvPicPr>
        <p:blipFill>
          <a:blip r:embed="rId5"/>
          <a:stretch>
            <a:fillRect/>
          </a:stretch>
        </p:blipFill>
        <p:spPr>
          <a:xfrm>
            <a:off x="7815470" y="1740471"/>
            <a:ext cx="134549" cy="195707"/>
          </a:xfrm>
          <a:prstGeom prst="rect">
            <a:avLst/>
          </a:prstGeom>
        </p:spPr>
      </p:pic>
      <p:sp>
        <p:nvSpPr>
          <p:cNvPr id="32" name="TextBox 31"/>
          <p:cNvSpPr txBox="1"/>
          <p:nvPr/>
        </p:nvSpPr>
        <p:spPr>
          <a:xfrm>
            <a:off x="7990579"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3" name="TextBox 32"/>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device technology, the portable machine</a:t>
            </a:r>
          </a:p>
        </p:txBody>
      </p:sp>
      <p:sp>
        <p:nvSpPr>
          <p:cNvPr id="34" name="TextBox 33"/>
          <p:cNvSpPr txBox="1"/>
          <p:nvPr/>
        </p:nvSpPr>
        <p:spPr>
          <a:xfrm>
            <a:off x="7829550" y="2153793"/>
            <a:ext cx="3857811" cy="194310"/>
          </a:xfrm>
          <a:prstGeom prst="rect">
            <a:avLst/>
          </a:prstGeom>
          <a:noFill/>
        </p:spPr>
        <p:txBody>
          <a:bodyPr wrap="none" lIns="0" rIns="0" tIns="0" bIns="0">
            <a:spAutoFit/>
          </a:bodyPr>
          <a:lstStyle/>
          <a:p>
            <a:r>
              <a:rPr sz="1150" b="0">
                <a:solidFill>
                  <a:srgbClr val="2E2E2E"/>
                </a:solidFill>
                <a:latin typeface="Calibri"/>
              </a:rPr>
              <a:t>perfusion devices segment is expected to dominate the market,</a:t>
            </a:r>
          </a:p>
        </p:txBody>
      </p:sp>
      <p:sp>
        <p:nvSpPr>
          <p:cNvPr id="35" name="TextBox 34"/>
          <p:cNvSpPr txBox="1"/>
          <p:nvPr/>
        </p:nvSpPr>
        <p:spPr>
          <a:xfrm>
            <a:off x="782955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36" name="Picture 35" descr="lock.png"/>
          <p:cNvPicPr>
            <a:picLocks noChangeAspect="1"/>
          </p:cNvPicPr>
          <p:nvPr/>
        </p:nvPicPr>
        <p:blipFill>
          <a:blip r:embed="rId5"/>
          <a:stretch>
            <a:fillRect/>
          </a:stretch>
        </p:blipFill>
        <p:spPr>
          <a:xfrm>
            <a:off x="8201772" y="2318829"/>
            <a:ext cx="134549" cy="195707"/>
          </a:xfrm>
          <a:prstGeom prst="rect">
            <a:avLst/>
          </a:prstGeom>
        </p:spPr>
      </p:pic>
      <p:sp>
        <p:nvSpPr>
          <p:cNvPr id="37" name="TextBox 36"/>
          <p:cNvSpPr txBox="1"/>
          <p:nvPr/>
        </p:nvSpPr>
        <p:spPr>
          <a:xfrm>
            <a:off x="837688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772025" y="2318829"/>
            <a:ext cx="134549" cy="195707"/>
          </a:xfrm>
          <a:prstGeom prst="rect">
            <a:avLst/>
          </a:prstGeom>
        </p:spPr>
      </p:pic>
      <p:sp>
        <p:nvSpPr>
          <p:cNvPr id="39" name="TextBox 38"/>
          <p:cNvSpPr txBox="1"/>
          <p:nvPr/>
        </p:nvSpPr>
        <p:spPr>
          <a:xfrm>
            <a:off x="994713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Organ Compatibility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Organ Compatibility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Organ Compatibility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Organ Compatibility,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Organ Compatibility segment categorizes the market by organ compatibility.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Organ-Specific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Multi-Organ Compatible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Organ Compatibility split shows how demand is distributed across organ compatibility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3_415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5_085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4_1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82_1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268_7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4_0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388344" cy="186689"/>
          </a:xfrm>
          <a:prstGeom prst="rect">
            <a:avLst/>
          </a:prstGeom>
          <a:noFill/>
        </p:spPr>
        <p:txBody>
          <a:bodyPr wrap="none" lIns="0" rIns="0" tIns="0" bIns="0">
            <a:spAutoFit/>
          </a:bodyPr>
          <a:lstStyle/>
          <a:p>
            <a:r>
              <a:rPr sz="1100" b="0">
                <a:solidFill>
                  <a:srgbClr val="2E2E2E"/>
                </a:solidFill>
                <a:latin typeface="Calibri"/>
              </a:rPr>
              <a:t>Among organ transport devices by organ</a:t>
            </a:r>
          </a:p>
        </p:txBody>
      </p:sp>
      <p:sp>
        <p:nvSpPr>
          <p:cNvPr id="58" name="TextBox 57"/>
          <p:cNvSpPr txBox="1"/>
          <p:nvPr/>
        </p:nvSpPr>
        <p:spPr>
          <a:xfrm>
            <a:off x="485775" y="4397077"/>
            <a:ext cx="2775793" cy="186689"/>
          </a:xfrm>
          <a:prstGeom prst="rect">
            <a:avLst/>
          </a:prstGeom>
          <a:noFill/>
        </p:spPr>
        <p:txBody>
          <a:bodyPr wrap="none" lIns="0" rIns="0" tIns="0" bIns="0">
            <a:spAutoFit/>
          </a:bodyPr>
          <a:lstStyle/>
          <a:p>
            <a:r>
              <a:rPr sz="1100" b="0">
                <a:solidFill>
                  <a:srgbClr val="2E2E2E"/>
                </a:solidFill>
                <a:latin typeface="Calibri"/>
              </a:rPr>
              <a:t>compatibility, organ-specific devices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716038" cy="186689"/>
          </a:xfrm>
          <a:prstGeom prst="rect">
            <a:avLst/>
          </a:prstGeom>
          <a:noFill/>
        </p:spPr>
        <p:txBody>
          <a:bodyPr wrap="none" lIns="0" rIns="0" tIns="0" bIns="0">
            <a:spAutoFit/>
          </a:bodyPr>
          <a:lstStyle/>
          <a:p>
            <a:r>
              <a:rPr sz="1100" b="0">
                <a:solidFill>
                  <a:srgbClr val="2E2E2E"/>
                </a:solidFill>
                <a:latin typeface="Calibri"/>
              </a:rPr>
              <a:t>organ compatibility, the organ-specific devices</a:t>
            </a:r>
          </a:p>
        </p:txBody>
      </p:sp>
      <p:sp>
        <p:nvSpPr>
          <p:cNvPr id="64" name="TextBox 63"/>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65" name="TextBox 64"/>
          <p:cNvSpPr txBox="1"/>
          <p:nvPr/>
        </p:nvSpPr>
        <p:spPr>
          <a:xfrm>
            <a:off x="485775" y="5235277"/>
            <a:ext cx="2358876" cy="186689"/>
          </a:xfrm>
          <a:prstGeom prst="rect">
            <a:avLst/>
          </a:prstGeom>
          <a:noFill/>
        </p:spPr>
        <p:txBody>
          <a:bodyPr wrap="none" lIns="0" rIns="0" tIns="0" bIns="0">
            <a:spAutoFit/>
          </a:bodyPr>
          <a:lstStyle/>
          <a:p>
            <a:r>
              <a:rPr sz="1100" b="0">
                <a:solidFill>
                  <a:srgbClr val="2E2E2E"/>
                </a:solidFill>
                <a:latin typeface="Calibri"/>
              </a:rPr>
              <a:t>maintaining its share and accounting for</a:t>
            </a:r>
          </a:p>
        </p:txBody>
      </p:sp>
      <p:pic>
        <p:nvPicPr>
          <p:cNvPr id="66" name="Picture 65" descr="lock.png"/>
          <p:cNvPicPr>
            <a:picLocks noChangeAspect="1"/>
          </p:cNvPicPr>
          <p:nvPr/>
        </p:nvPicPr>
        <p:blipFill>
          <a:blip r:embed="rId10"/>
          <a:stretch>
            <a:fillRect/>
          </a:stretch>
        </p:blipFill>
        <p:spPr>
          <a:xfrm>
            <a:off x="2792702" y="5225498"/>
            <a:ext cx="128699" cy="187198"/>
          </a:xfrm>
          <a:prstGeom prst="rect">
            <a:avLst/>
          </a:prstGeom>
        </p:spPr>
      </p:pic>
      <p:sp>
        <p:nvSpPr>
          <p:cNvPr id="67" name="TextBox 66"/>
          <p:cNvSpPr txBox="1"/>
          <p:nvPr/>
        </p:nvSpPr>
        <p:spPr>
          <a:xfrm>
            <a:off x="2960198" y="5235277"/>
            <a:ext cx="389433" cy="186689"/>
          </a:xfrm>
          <a:prstGeom prst="rect">
            <a:avLst/>
          </a:prstGeom>
          <a:noFill/>
        </p:spPr>
        <p:txBody>
          <a:bodyPr wrap="none" lIns="0" rIns="0" tIns="0" bIns="0">
            <a:spAutoFit/>
          </a:bodyPr>
          <a:lstStyle/>
          <a:p>
            <a:r>
              <a:rPr sz="1100" b="0">
                <a:solidFill>
                  <a:srgbClr val="2E2E2E"/>
                </a:solidFill>
                <a:latin typeface="Calibri"/>
              </a:rPr>
              <a:t>share</a:t>
            </a:r>
          </a:p>
        </p:txBody>
      </p:sp>
      <p:sp>
        <p:nvSpPr>
          <p:cNvPr id="68" name="TextBox 67"/>
          <p:cNvSpPr txBox="1"/>
          <p:nvPr/>
        </p:nvSpPr>
        <p:spPr>
          <a:xfrm>
            <a:off x="485775" y="5402917"/>
            <a:ext cx="563512" cy="186689"/>
          </a:xfrm>
          <a:prstGeom prst="rect">
            <a:avLst/>
          </a:prstGeom>
          <a:noFill/>
        </p:spPr>
        <p:txBody>
          <a:bodyPr wrap="none" lIns="0" rIns="0" tIns="0" bIns="0">
            <a:spAutoFit/>
          </a:bodyPr>
          <a:lstStyle/>
          <a:p>
            <a:r>
              <a:rPr sz="1100" b="0">
                <a:solidFill>
                  <a:srgbClr val="2E2E2E"/>
                </a:solidFill>
                <a:latin typeface="Calibri"/>
              </a:rPr>
              <a:t>by 2036.</a:t>
            </a:r>
          </a:p>
        </p:txBody>
      </p:sp>
      <p:sp>
        <p:nvSpPr>
          <p:cNvPr id="69" name="TextBox 68"/>
          <p:cNvSpPr txBox="1"/>
          <p:nvPr/>
        </p:nvSpPr>
        <p:spPr>
          <a:xfrm>
            <a:off x="485775" y="5620849"/>
            <a:ext cx="2716038" cy="186689"/>
          </a:xfrm>
          <a:prstGeom prst="rect">
            <a:avLst/>
          </a:prstGeom>
          <a:noFill/>
        </p:spPr>
        <p:txBody>
          <a:bodyPr wrap="none" lIns="0" rIns="0" tIns="0" bIns="0">
            <a:spAutoFit/>
          </a:bodyPr>
          <a:lstStyle/>
          <a:p>
            <a:r>
              <a:rPr sz="1100" b="0">
                <a:solidFill>
                  <a:srgbClr val="2E2E2E"/>
                </a:solidFill>
                <a:latin typeface="Calibri"/>
              </a:rPr>
              <a:t>Organ-specific devices segment is projected to</a:t>
            </a:r>
          </a:p>
        </p:txBody>
      </p:sp>
      <p:sp>
        <p:nvSpPr>
          <p:cNvPr id="70" name="TextBox 69"/>
          <p:cNvSpPr txBox="1"/>
          <p:nvPr/>
        </p:nvSpPr>
        <p:spPr>
          <a:xfrm>
            <a:off x="485775" y="5788489"/>
            <a:ext cx="512489" cy="186689"/>
          </a:xfrm>
          <a:prstGeom prst="rect">
            <a:avLst/>
          </a:prstGeom>
          <a:noFill/>
        </p:spPr>
        <p:txBody>
          <a:bodyPr wrap="none" lIns="0" rIns="0" tIns="0" bIns="0">
            <a:spAutoFit/>
          </a:bodyPr>
          <a:lstStyle/>
          <a:p>
            <a:r>
              <a:rPr sz="1100" b="0">
                <a:solidFill>
                  <a:srgbClr val="2E2E2E"/>
                </a:solidFill>
                <a:latin typeface="Calibri"/>
              </a:rPr>
              <a:t>register</a:t>
            </a:r>
          </a:p>
        </p:txBody>
      </p:sp>
      <p:pic>
        <p:nvPicPr>
          <p:cNvPr id="71" name="Picture 70" descr="lock.png"/>
          <p:cNvPicPr>
            <a:picLocks noChangeAspect="1"/>
          </p:cNvPicPr>
          <p:nvPr/>
        </p:nvPicPr>
        <p:blipFill>
          <a:blip r:embed="rId10"/>
          <a:stretch>
            <a:fillRect/>
          </a:stretch>
        </p:blipFill>
        <p:spPr>
          <a:xfrm>
            <a:off x="946316" y="5778710"/>
            <a:ext cx="128699" cy="187198"/>
          </a:xfrm>
          <a:prstGeom prst="rect">
            <a:avLst/>
          </a:prstGeom>
        </p:spPr>
      </p:pic>
      <p:sp>
        <p:nvSpPr>
          <p:cNvPr id="72" name="TextBox 71"/>
          <p:cNvSpPr txBox="1"/>
          <p:nvPr/>
        </p:nvSpPr>
        <p:spPr>
          <a:xfrm>
            <a:off x="1113812" y="5788489"/>
            <a:ext cx="1871836" cy="186689"/>
          </a:xfrm>
          <a:prstGeom prst="rect">
            <a:avLst/>
          </a:prstGeom>
          <a:noFill/>
        </p:spPr>
        <p:txBody>
          <a:bodyPr wrap="none" lIns="0" rIns="0" tIns="0" bIns="0">
            <a:spAutoFit/>
          </a:bodyPr>
          <a:lstStyle/>
          <a:p>
            <a:r>
              <a:rPr sz="1100" b="0">
                <a:solidFill>
                  <a:srgbClr val="2E2E2E"/>
                </a:solidFill>
                <a:latin typeface="Calibri"/>
              </a:rPr>
              <a:t>X higher value than multi-organ</a:t>
            </a:r>
          </a:p>
        </p:txBody>
      </p:sp>
      <p:sp>
        <p:nvSpPr>
          <p:cNvPr id="73" name="TextBox 72"/>
          <p:cNvSpPr txBox="1"/>
          <p:nvPr/>
        </p:nvSpPr>
        <p:spPr>
          <a:xfrm>
            <a:off x="485775" y="5956129"/>
            <a:ext cx="2179339" cy="186689"/>
          </a:xfrm>
          <a:prstGeom prst="rect">
            <a:avLst/>
          </a:prstGeom>
          <a:noFill/>
        </p:spPr>
        <p:txBody>
          <a:bodyPr wrap="none" lIns="0" rIns="0" tIns="0" bIns="0">
            <a:spAutoFit/>
          </a:bodyPr>
          <a:lstStyle/>
          <a:p>
            <a:r>
              <a:rPr sz="1100" b="0">
                <a:solidFill>
                  <a:srgbClr val="2E2E2E"/>
                </a:solidFill>
                <a:latin typeface="Calibri"/>
              </a:rPr>
              <a:t>compatible devices segment in 2036.</a:t>
            </a:r>
          </a:p>
        </p:txBody>
      </p:sp>
      <p:sp>
        <p:nvSpPr>
          <p:cNvPr id="74" name="TextBox 73"/>
          <p:cNvSpPr txBox="1"/>
          <p:nvPr/>
        </p:nvSpPr>
        <p:spPr>
          <a:xfrm>
            <a:off x="3838575" y="4229437"/>
            <a:ext cx="1517947" cy="186689"/>
          </a:xfrm>
          <a:prstGeom prst="rect">
            <a:avLst/>
          </a:prstGeom>
          <a:noFill/>
        </p:spPr>
        <p:txBody>
          <a:bodyPr wrap="none" lIns="0" rIns="0" tIns="0" bIns="0">
            <a:spAutoFit/>
          </a:bodyPr>
          <a:lstStyle/>
          <a:p>
            <a:r>
              <a:rPr sz="1100" b="0">
                <a:solidFill>
                  <a:srgbClr val="2E2E2E"/>
                </a:solidFill>
                <a:latin typeface="Calibri"/>
              </a:rPr>
              <a:t>● Organ-Specific Devices:</a:t>
            </a:r>
          </a:p>
        </p:txBody>
      </p:sp>
      <p:pic>
        <p:nvPicPr>
          <p:cNvPr id="75" name="Picture 74" descr="lock.png"/>
          <p:cNvPicPr>
            <a:picLocks noChangeAspect="1"/>
          </p:cNvPicPr>
          <p:nvPr/>
        </p:nvPicPr>
        <p:blipFill>
          <a:blip r:embed="rId10"/>
          <a:stretch>
            <a:fillRect/>
          </a:stretch>
        </p:blipFill>
        <p:spPr>
          <a:xfrm>
            <a:off x="5304574" y="4219658"/>
            <a:ext cx="128699" cy="187198"/>
          </a:xfrm>
          <a:prstGeom prst="rect">
            <a:avLst/>
          </a:prstGeom>
        </p:spPr>
      </p:pic>
      <p:sp>
        <p:nvSpPr>
          <p:cNvPr id="76" name="TextBox 75"/>
          <p:cNvSpPr txBox="1"/>
          <p:nvPr/>
        </p:nvSpPr>
        <p:spPr>
          <a:xfrm>
            <a:off x="547207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6331520" y="4219658"/>
            <a:ext cx="128699" cy="187198"/>
          </a:xfrm>
          <a:prstGeom prst="rect">
            <a:avLst/>
          </a:prstGeom>
        </p:spPr>
      </p:pic>
      <p:sp>
        <p:nvSpPr>
          <p:cNvPr id="78" name="TextBox 77"/>
          <p:cNvSpPr txBox="1"/>
          <p:nvPr/>
        </p:nvSpPr>
        <p:spPr>
          <a:xfrm>
            <a:off x="6499016"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79" name="TextBox 78"/>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0" name="TextBox 79"/>
          <p:cNvSpPr txBox="1"/>
          <p:nvPr/>
        </p:nvSpPr>
        <p:spPr>
          <a:xfrm>
            <a:off x="3838575" y="4615009"/>
            <a:ext cx="2075656" cy="186689"/>
          </a:xfrm>
          <a:prstGeom prst="rect">
            <a:avLst/>
          </a:prstGeom>
          <a:noFill/>
        </p:spPr>
        <p:txBody>
          <a:bodyPr wrap="none" lIns="0" rIns="0" tIns="0" bIns="0">
            <a:spAutoFit/>
          </a:bodyPr>
          <a:lstStyle/>
          <a:p>
            <a:r>
              <a:rPr sz="1100" b="0">
                <a:solidFill>
                  <a:srgbClr val="2E2E2E"/>
                </a:solidFill>
                <a:latin typeface="Calibri"/>
              </a:rPr>
              <a:t>● Multi-Organ Compatible Devices:</a:t>
            </a:r>
          </a:p>
        </p:txBody>
      </p:sp>
      <p:pic>
        <p:nvPicPr>
          <p:cNvPr id="81" name="Picture 80" descr="lock.png"/>
          <p:cNvPicPr>
            <a:picLocks noChangeAspect="1"/>
          </p:cNvPicPr>
          <p:nvPr/>
        </p:nvPicPr>
        <p:blipFill>
          <a:blip r:embed="rId10"/>
          <a:stretch>
            <a:fillRect/>
          </a:stretch>
        </p:blipFill>
        <p:spPr>
          <a:xfrm>
            <a:off x="5862282" y="4605230"/>
            <a:ext cx="128699" cy="187198"/>
          </a:xfrm>
          <a:prstGeom prst="rect">
            <a:avLst/>
          </a:prstGeom>
        </p:spPr>
      </p:pic>
      <p:sp>
        <p:nvSpPr>
          <p:cNvPr id="82" name="TextBox 81"/>
          <p:cNvSpPr txBox="1"/>
          <p:nvPr/>
        </p:nvSpPr>
        <p:spPr>
          <a:xfrm>
            <a:off x="6029778"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10"/>
          <a:stretch>
            <a:fillRect/>
          </a:stretch>
        </p:blipFill>
        <p:spPr>
          <a:xfrm>
            <a:off x="6889228" y="4605230"/>
            <a:ext cx="128699" cy="187198"/>
          </a:xfrm>
          <a:prstGeom prst="rect">
            <a:avLst/>
          </a:prstGeom>
        </p:spPr>
      </p:pic>
      <p:sp>
        <p:nvSpPr>
          <p:cNvPr id="84" name="TextBox 83"/>
          <p:cNvSpPr txBox="1"/>
          <p:nvPr/>
        </p:nvSpPr>
        <p:spPr>
          <a:xfrm>
            <a:off x="7056724" y="4615009"/>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85" name="TextBox 84"/>
          <p:cNvSpPr txBox="1"/>
          <p:nvPr/>
        </p:nvSpPr>
        <p:spPr>
          <a:xfrm>
            <a:off x="3838575" y="4782649"/>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86" name="TextBox 85"/>
          <p:cNvSpPr txBox="1"/>
          <p:nvPr/>
        </p:nvSpPr>
        <p:spPr>
          <a:xfrm>
            <a:off x="8524875" y="5842641"/>
            <a:ext cx="3018023" cy="194310"/>
          </a:xfrm>
          <a:prstGeom prst="rect">
            <a:avLst/>
          </a:prstGeom>
          <a:noFill/>
        </p:spPr>
        <p:txBody>
          <a:bodyPr wrap="none" lIns="0" rIns="0" tIns="0" bIns="0">
            <a:spAutoFit/>
          </a:bodyPr>
          <a:lstStyle/>
          <a:p>
            <a:r>
              <a:rPr sz="1150" b="1">
                <a:solidFill>
                  <a:srgbClr val="0B2E4A"/>
                </a:solidFill>
                <a:latin typeface="Calibri"/>
              </a:rPr>
              <a:t>The Organ Compatibility segment is projected to</a:t>
            </a:r>
          </a:p>
        </p:txBody>
      </p:sp>
      <p:sp>
        <p:nvSpPr>
          <p:cNvPr id="87" name="TextBox 8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8" name="Picture 87" descr="lock.png"/>
          <p:cNvPicPr>
            <a:picLocks noChangeAspect="1"/>
          </p:cNvPicPr>
          <p:nvPr/>
        </p:nvPicPr>
        <p:blipFill>
          <a:blip r:embed="rId10"/>
          <a:stretch>
            <a:fillRect/>
          </a:stretch>
        </p:blipFill>
        <p:spPr>
          <a:xfrm>
            <a:off x="9651852" y="6007677"/>
            <a:ext cx="134549" cy="195707"/>
          </a:xfrm>
          <a:prstGeom prst="rect">
            <a:avLst/>
          </a:prstGeom>
        </p:spPr>
      </p:pic>
      <p:sp>
        <p:nvSpPr>
          <p:cNvPr id="89" name="TextBox 8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Organ Compatibility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Organ Compatibility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Organ Compatibility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Organ Compatibility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7650" cy="186689"/>
          </a:xfrm>
          <a:prstGeom prst="rect">
            <a:avLst/>
          </a:prstGeom>
          <a:noFill/>
        </p:spPr>
        <p:txBody>
          <a:bodyPr wrap="none" lIns="0" rIns="0" tIns="0" bIns="0">
            <a:spAutoFit/>
          </a:bodyPr>
          <a:lstStyle/>
          <a:p>
            <a:r>
              <a:rPr sz="1100" b="0">
                <a:solidFill>
                  <a:srgbClr val="2E2E2E"/>
                </a:solidFill>
                <a:latin typeface="Calibri"/>
              </a:rPr>
              <a:t>Organ-specific devices followed by multi-organ compatible devices are expected to be the two most attractive organ compatibility segments in the North America organ transport devices market in terms of</a:t>
            </a:r>
          </a:p>
        </p:txBody>
      </p:sp>
      <p:sp>
        <p:nvSpPr>
          <p:cNvPr id="20" name="TextBox 19"/>
          <p:cNvSpPr txBox="1"/>
          <p:nvPr/>
        </p:nvSpPr>
        <p:spPr>
          <a:xfrm>
            <a:off x="257175" y="5945505"/>
            <a:ext cx="6582055" cy="186689"/>
          </a:xfrm>
          <a:prstGeom prst="rect">
            <a:avLst/>
          </a:prstGeom>
          <a:noFill/>
        </p:spPr>
        <p:txBody>
          <a:bodyPr wrap="none" lIns="0" rIns="0" tIns="0" bIns="0">
            <a:spAutoFit/>
          </a:bodyPr>
          <a:lstStyle/>
          <a:p>
            <a:r>
              <a:rPr sz="1100" b="0">
                <a:solidFill>
                  <a:srgbClr val="2E2E2E"/>
                </a:solidFill>
                <a:latin typeface="Calibri"/>
              </a:rPr>
              <a:t>value over the forecast period. Organ-Specific devices and Multi-Organ compatible devices exhibit a CAGR index of</a:t>
            </a:r>
          </a:p>
        </p:txBody>
      </p:sp>
      <p:pic>
        <p:nvPicPr>
          <p:cNvPr id="21" name="Picture 20" descr="lock.png"/>
          <p:cNvPicPr>
            <a:picLocks noChangeAspect="1"/>
          </p:cNvPicPr>
          <p:nvPr/>
        </p:nvPicPr>
        <p:blipFill>
          <a:blip r:embed="rId6"/>
          <a:stretch>
            <a:fillRect/>
          </a:stretch>
        </p:blipFill>
        <p:spPr>
          <a:xfrm>
            <a:off x="6787282" y="5935726"/>
            <a:ext cx="128699" cy="187198"/>
          </a:xfrm>
          <a:prstGeom prst="rect">
            <a:avLst/>
          </a:prstGeom>
        </p:spPr>
      </p:pic>
      <p:sp>
        <p:nvSpPr>
          <p:cNvPr id="22" name="TextBox 21"/>
          <p:cNvSpPr txBox="1"/>
          <p:nvPr/>
        </p:nvSpPr>
        <p:spPr>
          <a:xfrm>
            <a:off x="695477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192672" y="5935726"/>
            <a:ext cx="128699" cy="187198"/>
          </a:xfrm>
          <a:prstGeom prst="rect">
            <a:avLst/>
          </a:prstGeom>
        </p:spPr>
      </p:pic>
      <p:sp>
        <p:nvSpPr>
          <p:cNvPr id="24" name="TextBox 23"/>
          <p:cNvSpPr txBox="1"/>
          <p:nvPr/>
        </p:nvSpPr>
        <p:spPr>
          <a:xfrm>
            <a:off x="736016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969141" y="5935726"/>
            <a:ext cx="128699" cy="187198"/>
          </a:xfrm>
          <a:prstGeom prst="rect">
            <a:avLst/>
          </a:prstGeom>
        </p:spPr>
      </p:pic>
      <p:sp>
        <p:nvSpPr>
          <p:cNvPr id="26" name="TextBox 25"/>
          <p:cNvSpPr txBox="1"/>
          <p:nvPr/>
        </p:nvSpPr>
        <p:spPr>
          <a:xfrm>
            <a:off x="913663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374531" y="5935726"/>
            <a:ext cx="128699" cy="187198"/>
          </a:xfrm>
          <a:prstGeom prst="rect">
            <a:avLst/>
          </a:prstGeom>
        </p:spPr>
      </p:pic>
      <p:sp>
        <p:nvSpPr>
          <p:cNvPr id="28" name="TextBox 27"/>
          <p:cNvSpPr txBox="1"/>
          <p:nvPr/>
        </p:nvSpPr>
        <p:spPr>
          <a:xfrm>
            <a:off x="9542027"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103366"/>
            <a:ext cx="128699" cy="187198"/>
          </a:xfrm>
          <a:prstGeom prst="rect">
            <a:avLst/>
          </a:prstGeom>
        </p:spPr>
      </p:pic>
      <p:sp>
        <p:nvSpPr>
          <p:cNvPr id="31" name="TextBox 30"/>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Organ Compatibility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Organ-Specific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Multi-Organ Compatible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Organ Compatibility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Organ Compatibility, 2021–2036, highlighting the sub-segments driving growth</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Organ Compatibility (US$ Mn)</a:t>
            </a:r>
          </a:p>
        </p:txBody>
      </p:sp>
      <p:graphicFrame>
        <p:nvGraphicFramePr>
          <p:cNvPr id="12" name="Table 11"/>
          <p:cNvGraphicFramePr>
            <a:graphicFrameLocks noGrp="1"/>
          </p:cNvGraphicFramePr>
          <p:nvPr/>
        </p:nvGraphicFramePr>
        <p:xfrm>
          <a:off x="152400" y="1238250"/>
          <a:ext cx="11887208" cy="2219326"/>
        </p:xfrm>
        <a:graphic>
          <a:graphicData uri="http://schemas.openxmlformats.org/drawingml/2006/table">
            <a:tbl>
              <a:tblPr>
                <a:tableStyleId>{5C22544A-7EE6-4342-B048-85BDC9FD1C3A}</a:tableStyleId>
              </a:tblPr>
              <a:tblGrid>
                <a:gridCol w="2132319"/>
                <a:gridCol w="573817"/>
                <a:gridCol w="573817"/>
                <a:gridCol w="573817"/>
                <a:gridCol w="573817"/>
                <a:gridCol w="573817"/>
                <a:gridCol w="573817"/>
                <a:gridCol w="573817"/>
                <a:gridCol w="573817"/>
                <a:gridCol w="573817"/>
                <a:gridCol w="573817"/>
                <a:gridCol w="573817"/>
                <a:gridCol w="573817"/>
                <a:gridCol w="573817"/>
                <a:gridCol w="573817"/>
                <a:gridCol w="573817"/>
                <a:gridCol w="573817"/>
                <a:gridCol w="573817"/>
              </a:tblGrid>
              <a:tr h="246126">
                <a:tc>
                  <a:txBody>
                    <a:bodyPr wrap="none"/>
                    <a:lstStyle/>
                    <a:p>
                      <a:pPr algn="l"/>
                      <a:r>
                        <a:rPr sz="1100" b="1">
                          <a:solidFill>
                            <a:srgbClr val="0B2E4A"/>
                          </a:solidFill>
                          <a:latin typeface="Calibri"/>
                        </a:rPr>
                        <a:t>Organ Compatibility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Organ-Specific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Kidney-Specific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Liver-Specific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Heart-Specific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Lung-Specific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Other Organ-Specific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Multi-Organ Compatible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00475"/>
            <a:ext cx="11906250" cy="2828925"/>
          </a:xfrm>
          <a:prstGeom prst="roundRect">
            <a:avLst>
              <a:gd name="adj" fmla="val 26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8862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Organ Compatibility</a:t>
            </a:r>
          </a:p>
        </p:txBody>
      </p:sp>
      <p:sp>
        <p:nvSpPr>
          <p:cNvPr id="16" name="Rectangle 15"/>
          <p:cNvSpPr/>
          <p:nvPr/>
        </p:nvSpPr>
        <p:spPr>
          <a:xfrm>
            <a:off x="276225" y="41243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3431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975473" y="2204276"/>
            <a:ext cx="366712" cy="533400"/>
          </a:xfrm>
          <a:prstGeom prst="rect">
            <a:avLst/>
          </a:prstGeom>
        </p:spPr>
      </p:pic>
      <p:sp>
        <p:nvSpPr>
          <p:cNvPr id="20" name="TextBox 19"/>
          <p:cNvSpPr txBox="1"/>
          <p:nvPr/>
        </p:nvSpPr>
        <p:spPr>
          <a:xfrm>
            <a:off x="276225" y="4219575"/>
            <a:ext cx="3325241" cy="194310"/>
          </a:xfrm>
          <a:prstGeom prst="rect">
            <a:avLst/>
          </a:prstGeom>
          <a:noFill/>
        </p:spPr>
        <p:txBody>
          <a:bodyPr wrap="none" lIns="0" rIns="0" tIns="0" bIns="0">
            <a:spAutoFit/>
          </a:bodyPr>
          <a:lstStyle/>
          <a:p>
            <a:r>
              <a:rPr sz="1150" b="0">
                <a:solidFill>
                  <a:srgbClr val="2E2E2E"/>
                </a:solidFill>
                <a:latin typeface="Calibri"/>
              </a:rPr>
              <a:t>Organ-specific devices segment is projected to register</a:t>
            </a:r>
          </a:p>
        </p:txBody>
      </p:sp>
      <p:pic>
        <p:nvPicPr>
          <p:cNvPr id="21" name="Picture 20" descr="lock.png"/>
          <p:cNvPicPr>
            <a:picLocks noChangeAspect="1"/>
          </p:cNvPicPr>
          <p:nvPr/>
        </p:nvPicPr>
        <p:blipFill>
          <a:blip r:embed="rId4"/>
          <a:stretch>
            <a:fillRect/>
          </a:stretch>
        </p:blipFill>
        <p:spPr>
          <a:xfrm>
            <a:off x="3550620" y="4209351"/>
            <a:ext cx="134549" cy="195707"/>
          </a:xfrm>
          <a:prstGeom prst="rect">
            <a:avLst/>
          </a:prstGeom>
        </p:spPr>
      </p:pic>
      <p:sp>
        <p:nvSpPr>
          <p:cNvPr id="22" name="TextBox 21"/>
          <p:cNvSpPr txBox="1"/>
          <p:nvPr/>
        </p:nvSpPr>
        <p:spPr>
          <a:xfrm>
            <a:off x="3725730" y="4219575"/>
            <a:ext cx="7483102" cy="194310"/>
          </a:xfrm>
          <a:prstGeom prst="rect">
            <a:avLst/>
          </a:prstGeom>
          <a:noFill/>
        </p:spPr>
        <p:txBody>
          <a:bodyPr wrap="none" lIns="0" rIns="0" tIns="0" bIns="0">
            <a:spAutoFit/>
          </a:bodyPr>
          <a:lstStyle/>
          <a:p>
            <a:r>
              <a:rPr sz="1150" b="0">
                <a:solidFill>
                  <a:srgbClr val="2E2E2E"/>
                </a:solidFill>
                <a:latin typeface="Calibri"/>
              </a:rPr>
              <a:t>X higher value than multi-organ compatible devices segment in 2036. Among organ transport devices by organ compatibility,</a:t>
            </a:r>
          </a:p>
        </p:txBody>
      </p:sp>
      <p:sp>
        <p:nvSpPr>
          <p:cNvPr id="23" name="TextBox 22"/>
          <p:cNvSpPr txBox="1"/>
          <p:nvPr/>
        </p:nvSpPr>
        <p:spPr>
          <a:xfrm>
            <a:off x="276225" y="4394835"/>
            <a:ext cx="4493909" cy="194310"/>
          </a:xfrm>
          <a:prstGeom prst="rect">
            <a:avLst/>
          </a:prstGeom>
          <a:noFill/>
        </p:spPr>
        <p:txBody>
          <a:bodyPr wrap="none" lIns="0" rIns="0" tIns="0" bIns="0">
            <a:spAutoFit/>
          </a:bodyPr>
          <a:lstStyle/>
          <a:p>
            <a:r>
              <a:rPr sz="1150" b="0">
                <a:solidFill>
                  <a:srgbClr val="2E2E2E"/>
                </a:solidFill>
                <a:latin typeface="Calibri"/>
              </a:rPr>
              <a:t>organ-specific devices segment is expected to witness the highest CAGR of</a:t>
            </a:r>
          </a:p>
        </p:txBody>
      </p:sp>
      <p:pic>
        <p:nvPicPr>
          <p:cNvPr id="24" name="Picture 23" descr="lock.png"/>
          <p:cNvPicPr>
            <a:picLocks noChangeAspect="1"/>
          </p:cNvPicPr>
          <p:nvPr/>
        </p:nvPicPr>
        <p:blipFill>
          <a:blip r:embed="rId4"/>
          <a:stretch>
            <a:fillRect/>
          </a:stretch>
        </p:blipFill>
        <p:spPr>
          <a:xfrm>
            <a:off x="4719288" y="4384611"/>
            <a:ext cx="134549" cy="195707"/>
          </a:xfrm>
          <a:prstGeom prst="rect">
            <a:avLst/>
          </a:prstGeom>
        </p:spPr>
      </p:pic>
      <p:sp>
        <p:nvSpPr>
          <p:cNvPr id="25" name="TextBox 24"/>
          <p:cNvSpPr txBox="1"/>
          <p:nvPr/>
        </p:nvSpPr>
        <p:spPr>
          <a:xfrm>
            <a:off x="4894397" y="43948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622672"/>
            <a:ext cx="9566597" cy="194310"/>
          </a:xfrm>
          <a:prstGeom prst="rect">
            <a:avLst/>
          </a:prstGeom>
          <a:noFill/>
        </p:spPr>
        <p:txBody>
          <a:bodyPr wrap="none" lIns="0" rIns="0" tIns="0" bIns="0">
            <a:spAutoFit/>
          </a:bodyPr>
          <a:lstStyle/>
          <a:p>
            <a:r>
              <a:rPr sz="1150" b="0">
                <a:solidFill>
                  <a:srgbClr val="2E2E2E"/>
                </a:solidFill>
                <a:latin typeface="Calibri"/>
              </a:rPr>
              <a:t>In terms of value share by organ compatibility, the organ-specific devices segment is expected to dominate the market, maintaining its share and accounting for</a:t>
            </a:r>
          </a:p>
        </p:txBody>
      </p:sp>
      <p:pic>
        <p:nvPicPr>
          <p:cNvPr id="27" name="Picture 26" descr="lock.png"/>
          <p:cNvPicPr>
            <a:picLocks noChangeAspect="1"/>
          </p:cNvPicPr>
          <p:nvPr/>
        </p:nvPicPr>
        <p:blipFill>
          <a:blip r:embed="rId4"/>
          <a:stretch>
            <a:fillRect/>
          </a:stretch>
        </p:blipFill>
        <p:spPr>
          <a:xfrm>
            <a:off x="9791976" y="4612449"/>
            <a:ext cx="134549" cy="195707"/>
          </a:xfrm>
          <a:prstGeom prst="rect">
            <a:avLst/>
          </a:prstGeom>
        </p:spPr>
      </p:pic>
      <p:sp>
        <p:nvSpPr>
          <p:cNvPr id="28" name="TextBox 27"/>
          <p:cNvSpPr txBox="1"/>
          <p:nvPr/>
        </p:nvSpPr>
        <p:spPr>
          <a:xfrm>
            <a:off x="9967085" y="462267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Organ Compatibility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Organ Compatibility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785999"/>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78123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70503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Multi-Organ Compatible Devices</a:t>
            </a:r>
          </a:p>
        </p:txBody>
      </p:sp>
      <p:sp>
        <p:nvSpPr>
          <p:cNvPr id="18" name="BPS Value 1"/>
          <p:cNvSpPr txBox="1"/>
          <p:nvPr/>
        </p:nvSpPr>
        <p:spPr>
          <a:xfrm>
            <a:off x="6896100" y="1766949"/>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07219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067427"/>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399122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Organ-Specific Devices</a:t>
            </a:r>
          </a:p>
        </p:txBody>
      </p:sp>
      <p:sp>
        <p:nvSpPr>
          <p:cNvPr id="22" name="BPS Value 2"/>
          <p:cNvSpPr txBox="1"/>
          <p:nvPr/>
        </p:nvSpPr>
        <p:spPr>
          <a:xfrm>
            <a:off x="6896100" y="405314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Organ Compatibility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340930" cy="194310"/>
          </a:xfrm>
          <a:prstGeom prst="rect">
            <a:avLst/>
          </a:prstGeom>
          <a:noFill/>
        </p:spPr>
        <p:txBody>
          <a:bodyPr wrap="none" lIns="0" rIns="0" tIns="0" bIns="0">
            <a:spAutoFit/>
          </a:bodyPr>
          <a:lstStyle/>
          <a:p>
            <a:r>
              <a:rPr sz="1150" b="0">
                <a:solidFill>
                  <a:srgbClr val="2E2E2E"/>
                </a:solidFill>
                <a:latin typeface="Calibri"/>
              </a:rPr>
              <a:t>Among organ transport devices by organ compatibility,</a:t>
            </a:r>
          </a:p>
        </p:txBody>
      </p:sp>
      <p:sp>
        <p:nvSpPr>
          <p:cNvPr id="30" name="TextBox 29"/>
          <p:cNvSpPr txBox="1"/>
          <p:nvPr/>
        </p:nvSpPr>
        <p:spPr>
          <a:xfrm>
            <a:off x="7829550" y="1575435"/>
            <a:ext cx="3972483" cy="194310"/>
          </a:xfrm>
          <a:prstGeom prst="rect">
            <a:avLst/>
          </a:prstGeom>
          <a:noFill/>
        </p:spPr>
        <p:txBody>
          <a:bodyPr wrap="none" lIns="0" rIns="0" tIns="0" bIns="0">
            <a:spAutoFit/>
          </a:bodyPr>
          <a:lstStyle/>
          <a:p>
            <a:r>
              <a:rPr sz="1150" b="0">
                <a:solidFill>
                  <a:srgbClr val="2E2E2E"/>
                </a:solidFill>
                <a:latin typeface="Calibri"/>
              </a:rPr>
              <a:t>organ-specific devices segment is expected to witness the highest</a:t>
            </a:r>
          </a:p>
        </p:txBody>
      </p:sp>
      <p:sp>
        <p:nvSpPr>
          <p:cNvPr id="31" name="TextBox 30"/>
          <p:cNvSpPr txBox="1"/>
          <p:nvPr/>
        </p:nvSpPr>
        <p:spPr>
          <a:xfrm>
            <a:off x="7829550" y="1750695"/>
            <a:ext cx="564536" cy="194310"/>
          </a:xfrm>
          <a:prstGeom prst="rect">
            <a:avLst/>
          </a:prstGeom>
          <a:noFill/>
        </p:spPr>
        <p:txBody>
          <a:bodyPr wrap="none" lIns="0" rIns="0" tIns="0" bIns="0">
            <a:spAutoFit/>
          </a:bodyPr>
          <a:lstStyle/>
          <a:p>
            <a:r>
              <a:rPr sz="1150" b="0">
                <a:solidFill>
                  <a:srgbClr val="2E2E2E"/>
                </a:solidFill>
                <a:latin typeface="Calibri"/>
              </a:rPr>
              <a:t>CAGR of</a:t>
            </a:r>
          </a:p>
        </p:txBody>
      </p:sp>
      <p:pic>
        <p:nvPicPr>
          <p:cNvPr id="32" name="Picture 31" descr="lock.png"/>
          <p:cNvPicPr>
            <a:picLocks noChangeAspect="1"/>
          </p:cNvPicPr>
          <p:nvPr/>
        </p:nvPicPr>
        <p:blipFill>
          <a:blip r:embed="rId5"/>
          <a:stretch>
            <a:fillRect/>
          </a:stretch>
        </p:blipFill>
        <p:spPr>
          <a:xfrm>
            <a:off x="8343240" y="1740471"/>
            <a:ext cx="134549" cy="195707"/>
          </a:xfrm>
          <a:prstGeom prst="rect">
            <a:avLst/>
          </a:prstGeom>
        </p:spPr>
      </p:pic>
      <p:sp>
        <p:nvSpPr>
          <p:cNvPr id="33" name="TextBox 32"/>
          <p:cNvSpPr txBox="1"/>
          <p:nvPr/>
        </p:nvSpPr>
        <p:spPr>
          <a:xfrm>
            <a:off x="8518350"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4" name="TextBox 33"/>
          <p:cNvSpPr txBox="1"/>
          <p:nvPr/>
        </p:nvSpPr>
        <p:spPr>
          <a:xfrm>
            <a:off x="7829550" y="1978533"/>
            <a:ext cx="3931691" cy="194310"/>
          </a:xfrm>
          <a:prstGeom prst="rect">
            <a:avLst/>
          </a:prstGeom>
          <a:noFill/>
        </p:spPr>
        <p:txBody>
          <a:bodyPr wrap="none" lIns="0" rIns="0" tIns="0" bIns="0">
            <a:spAutoFit/>
          </a:bodyPr>
          <a:lstStyle/>
          <a:p>
            <a:r>
              <a:rPr sz="1150" b="0">
                <a:solidFill>
                  <a:srgbClr val="2E2E2E"/>
                </a:solidFill>
                <a:latin typeface="Calibri"/>
              </a:rPr>
              <a:t>In terms of value share by organ compatibility, the organ-specific</a:t>
            </a:r>
          </a:p>
        </p:txBody>
      </p:sp>
      <p:sp>
        <p:nvSpPr>
          <p:cNvPr id="35" name="TextBox 34"/>
          <p:cNvSpPr txBox="1"/>
          <p:nvPr/>
        </p:nvSpPr>
        <p:spPr>
          <a:xfrm>
            <a:off x="7829550" y="2153793"/>
            <a:ext cx="3997014" cy="194310"/>
          </a:xfrm>
          <a:prstGeom prst="rect">
            <a:avLst/>
          </a:prstGeom>
          <a:noFill/>
        </p:spPr>
        <p:txBody>
          <a:bodyPr wrap="none" lIns="0" rIns="0" tIns="0" bIns="0">
            <a:spAutoFit/>
          </a:bodyPr>
          <a:lstStyle/>
          <a:p>
            <a:r>
              <a:rPr sz="1150" b="0">
                <a:solidFill>
                  <a:srgbClr val="2E2E2E"/>
                </a:solidFill>
                <a:latin typeface="Calibri"/>
              </a:rPr>
              <a:t>devices segment is expected to dominate the market, maintaining</a:t>
            </a:r>
          </a:p>
        </p:txBody>
      </p:sp>
      <p:sp>
        <p:nvSpPr>
          <p:cNvPr id="36" name="TextBox 35"/>
          <p:cNvSpPr txBox="1"/>
          <p:nvPr/>
        </p:nvSpPr>
        <p:spPr>
          <a:xfrm>
            <a:off x="7829550" y="2329053"/>
            <a:ext cx="1724111" cy="194310"/>
          </a:xfrm>
          <a:prstGeom prst="rect">
            <a:avLst/>
          </a:prstGeom>
          <a:noFill/>
        </p:spPr>
        <p:txBody>
          <a:bodyPr wrap="none" lIns="0" rIns="0" tIns="0" bIns="0">
            <a:spAutoFit/>
          </a:bodyPr>
          <a:lstStyle/>
          <a:p>
            <a:r>
              <a:rPr sz="1150" b="0">
                <a:solidFill>
                  <a:srgbClr val="2E2E2E"/>
                </a:solidFill>
                <a:latin typeface="Calibri"/>
              </a:rPr>
              <a:t>its share and accounting for</a:t>
            </a:r>
          </a:p>
        </p:txBody>
      </p:sp>
      <p:pic>
        <p:nvPicPr>
          <p:cNvPr id="37" name="Picture 36" descr="lock.png"/>
          <p:cNvPicPr>
            <a:picLocks noChangeAspect="1"/>
          </p:cNvPicPr>
          <p:nvPr/>
        </p:nvPicPr>
        <p:blipFill>
          <a:blip r:embed="rId5"/>
          <a:stretch>
            <a:fillRect/>
          </a:stretch>
        </p:blipFill>
        <p:spPr>
          <a:xfrm>
            <a:off x="9502815" y="2318829"/>
            <a:ext cx="134549" cy="195707"/>
          </a:xfrm>
          <a:prstGeom prst="rect">
            <a:avLst/>
          </a:prstGeom>
        </p:spPr>
      </p:pic>
      <p:sp>
        <p:nvSpPr>
          <p:cNvPr id="38" name="TextBox 37"/>
          <p:cNvSpPr txBox="1"/>
          <p:nvPr/>
        </p:nvSpPr>
        <p:spPr>
          <a:xfrm>
            <a:off x="9677925"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3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Device Reusability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Device Reusability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Device Reusability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Device Reusability,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Device Reusability segment categorizes the market by device reusability.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Single-Use Transport Devices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Reusable Transport Devices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Device Reusability split shows how demand is distributed across device reusability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2_361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3_308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3_4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_236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2_046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5_2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426816" cy="186689"/>
          </a:xfrm>
          <a:prstGeom prst="rect">
            <a:avLst/>
          </a:prstGeom>
          <a:noFill/>
        </p:spPr>
        <p:txBody>
          <a:bodyPr wrap="none" lIns="0" rIns="0" tIns="0" bIns="0">
            <a:spAutoFit/>
          </a:bodyPr>
          <a:lstStyle/>
          <a:p>
            <a:r>
              <a:rPr sz="1100" b="0">
                <a:solidFill>
                  <a:srgbClr val="2E2E2E"/>
                </a:solidFill>
                <a:latin typeface="Calibri"/>
              </a:rPr>
              <a:t>Among organ transport devices by device</a:t>
            </a:r>
          </a:p>
        </p:txBody>
      </p:sp>
      <p:sp>
        <p:nvSpPr>
          <p:cNvPr id="58" name="TextBox 57"/>
          <p:cNvSpPr txBox="1"/>
          <p:nvPr/>
        </p:nvSpPr>
        <p:spPr>
          <a:xfrm>
            <a:off x="485775" y="4397077"/>
            <a:ext cx="2884388" cy="186689"/>
          </a:xfrm>
          <a:prstGeom prst="rect">
            <a:avLst/>
          </a:prstGeom>
          <a:noFill/>
        </p:spPr>
        <p:txBody>
          <a:bodyPr wrap="none" lIns="0" rIns="0" tIns="0" bIns="0">
            <a:spAutoFit/>
          </a:bodyPr>
          <a:lstStyle/>
          <a:p>
            <a:r>
              <a:rPr sz="1100" b="0">
                <a:solidFill>
                  <a:srgbClr val="2E2E2E"/>
                </a:solidFill>
                <a:latin typeface="Calibri"/>
              </a:rPr>
              <a:t>reusability, reusable transport devices segment is</a:t>
            </a:r>
          </a:p>
        </p:txBody>
      </p:sp>
      <p:sp>
        <p:nvSpPr>
          <p:cNvPr id="59" name="TextBox 58"/>
          <p:cNvSpPr txBox="1"/>
          <p:nvPr/>
        </p:nvSpPr>
        <p:spPr>
          <a:xfrm>
            <a:off x="485775" y="4564717"/>
            <a:ext cx="2381232" cy="186689"/>
          </a:xfrm>
          <a:prstGeom prst="rect">
            <a:avLst/>
          </a:prstGeom>
          <a:noFill/>
        </p:spPr>
        <p:txBody>
          <a:bodyPr wrap="none" lIns="0" rIns="0" tIns="0" bIns="0">
            <a:spAutoFit/>
          </a:bodyPr>
          <a:lstStyle/>
          <a:p>
            <a:r>
              <a:rPr sz="1100" b="0">
                <a:solidFill>
                  <a:srgbClr val="2E2E2E"/>
                </a:solidFill>
                <a:latin typeface="Calibri"/>
              </a:rPr>
              <a:t>expected to witness the highest CAGR of</a:t>
            </a:r>
          </a:p>
        </p:txBody>
      </p:sp>
      <p:pic>
        <p:nvPicPr>
          <p:cNvPr id="60" name="Picture 59" descr="lock.png"/>
          <p:cNvPicPr>
            <a:picLocks noChangeAspect="1"/>
          </p:cNvPicPr>
          <p:nvPr/>
        </p:nvPicPr>
        <p:blipFill>
          <a:blip r:embed="rId10"/>
          <a:stretch>
            <a:fillRect/>
          </a:stretch>
        </p:blipFill>
        <p:spPr>
          <a:xfrm>
            <a:off x="2815059" y="4554938"/>
            <a:ext cx="128699" cy="187198"/>
          </a:xfrm>
          <a:prstGeom prst="rect">
            <a:avLst/>
          </a:prstGeom>
        </p:spPr>
      </p:pic>
      <p:sp>
        <p:nvSpPr>
          <p:cNvPr id="61" name="TextBox 60"/>
          <p:cNvSpPr txBox="1"/>
          <p:nvPr/>
        </p:nvSpPr>
        <p:spPr>
          <a:xfrm>
            <a:off x="2982555" y="4564717"/>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62" name="TextBox 61"/>
          <p:cNvSpPr txBox="1"/>
          <p:nvPr/>
        </p:nvSpPr>
        <p:spPr>
          <a:xfrm>
            <a:off x="485775" y="4732357"/>
            <a:ext cx="2699122" cy="186689"/>
          </a:xfrm>
          <a:prstGeom prst="rect">
            <a:avLst/>
          </a:prstGeom>
          <a:noFill/>
        </p:spPr>
        <p:txBody>
          <a:bodyPr wrap="none" lIns="0" rIns="0" tIns="0" bIns="0">
            <a:spAutoFit/>
          </a:bodyPr>
          <a:lstStyle/>
          <a:p>
            <a:r>
              <a:rPr sz="1100" b="0">
                <a:solidFill>
                  <a:srgbClr val="2E2E2E"/>
                </a:solidFill>
                <a:latin typeface="Calibri"/>
              </a:rPr>
              <a:t>the forecast period. In terms of value share by</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device reusability, the single-use transport devices</a:t>
            </a:r>
          </a:p>
        </p:txBody>
      </p:sp>
      <p:sp>
        <p:nvSpPr>
          <p:cNvPr id="64" name="TextBox 63"/>
          <p:cNvSpPr txBox="1"/>
          <p:nvPr/>
        </p:nvSpPr>
        <p:spPr>
          <a:xfrm>
            <a:off x="485775" y="5067637"/>
            <a:ext cx="2666925" cy="186689"/>
          </a:xfrm>
          <a:prstGeom prst="rect">
            <a:avLst/>
          </a:prstGeom>
          <a:noFill/>
        </p:spPr>
        <p:txBody>
          <a:bodyPr wrap="none" lIns="0" rIns="0" tIns="0" bIns="0">
            <a:spAutoFit/>
          </a:bodyPr>
          <a:lstStyle/>
          <a:p>
            <a:r>
              <a:rPr sz="1100" b="0">
                <a:solidFill>
                  <a:srgbClr val="2E2E2E"/>
                </a:solidFill>
                <a:latin typeface="Calibri"/>
              </a:rPr>
              <a:t>segment is expected to dominate the market,</a:t>
            </a:r>
          </a:p>
        </p:txBody>
      </p:sp>
      <p:sp>
        <p:nvSpPr>
          <p:cNvPr id="65" name="TextBox 64"/>
          <p:cNvSpPr txBox="1"/>
          <p:nvPr/>
        </p:nvSpPr>
        <p:spPr>
          <a:xfrm>
            <a:off x="485775" y="523527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6" name="Picture 65" descr="lock.png"/>
          <p:cNvPicPr>
            <a:picLocks noChangeAspect="1"/>
          </p:cNvPicPr>
          <p:nvPr/>
        </p:nvPicPr>
        <p:blipFill>
          <a:blip r:embed="rId10"/>
          <a:stretch>
            <a:fillRect/>
          </a:stretch>
        </p:blipFill>
        <p:spPr>
          <a:xfrm>
            <a:off x="841814" y="5225498"/>
            <a:ext cx="128699" cy="187198"/>
          </a:xfrm>
          <a:prstGeom prst="rect">
            <a:avLst/>
          </a:prstGeom>
        </p:spPr>
      </p:pic>
      <p:sp>
        <p:nvSpPr>
          <p:cNvPr id="67" name="TextBox 66"/>
          <p:cNvSpPr txBox="1"/>
          <p:nvPr/>
        </p:nvSpPr>
        <p:spPr>
          <a:xfrm>
            <a:off x="1009309" y="523527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8" name="Picture 67" descr="lock.png"/>
          <p:cNvPicPr>
            <a:picLocks noChangeAspect="1"/>
          </p:cNvPicPr>
          <p:nvPr/>
        </p:nvPicPr>
        <p:blipFill>
          <a:blip r:embed="rId10"/>
          <a:stretch>
            <a:fillRect/>
          </a:stretch>
        </p:blipFill>
        <p:spPr>
          <a:xfrm>
            <a:off x="2343794" y="5225498"/>
            <a:ext cx="128699" cy="187198"/>
          </a:xfrm>
          <a:prstGeom prst="rect">
            <a:avLst/>
          </a:prstGeom>
        </p:spPr>
      </p:pic>
      <p:sp>
        <p:nvSpPr>
          <p:cNvPr id="69" name="TextBox 68"/>
          <p:cNvSpPr txBox="1"/>
          <p:nvPr/>
        </p:nvSpPr>
        <p:spPr>
          <a:xfrm>
            <a:off x="2511290" y="523527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70" name="TextBox 69"/>
          <p:cNvSpPr txBox="1"/>
          <p:nvPr/>
        </p:nvSpPr>
        <p:spPr>
          <a:xfrm>
            <a:off x="485775" y="540291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1" name="TextBox 70"/>
          <p:cNvSpPr txBox="1"/>
          <p:nvPr/>
        </p:nvSpPr>
        <p:spPr>
          <a:xfrm>
            <a:off x="485775" y="5620849"/>
            <a:ext cx="2893392" cy="186689"/>
          </a:xfrm>
          <a:prstGeom prst="rect">
            <a:avLst/>
          </a:prstGeom>
          <a:noFill/>
        </p:spPr>
        <p:txBody>
          <a:bodyPr wrap="none" lIns="0" rIns="0" tIns="0" bIns="0">
            <a:spAutoFit/>
          </a:bodyPr>
          <a:lstStyle/>
          <a:p>
            <a:r>
              <a:rPr sz="1100" b="0">
                <a:solidFill>
                  <a:srgbClr val="2E2E2E"/>
                </a:solidFill>
                <a:latin typeface="Calibri"/>
              </a:rPr>
              <a:t>Single-use transport devices segment is projected</a:t>
            </a:r>
          </a:p>
        </p:txBody>
      </p:sp>
      <p:sp>
        <p:nvSpPr>
          <p:cNvPr id="72" name="TextBox 71"/>
          <p:cNvSpPr txBox="1"/>
          <p:nvPr/>
        </p:nvSpPr>
        <p:spPr>
          <a:xfrm>
            <a:off x="485775" y="5788489"/>
            <a:ext cx="664740" cy="186689"/>
          </a:xfrm>
          <a:prstGeom prst="rect">
            <a:avLst/>
          </a:prstGeom>
          <a:noFill/>
        </p:spPr>
        <p:txBody>
          <a:bodyPr wrap="none" lIns="0" rIns="0" tIns="0" bIns="0">
            <a:spAutoFit/>
          </a:bodyPr>
          <a:lstStyle/>
          <a:p>
            <a:r>
              <a:rPr sz="1100" b="0">
                <a:solidFill>
                  <a:srgbClr val="2E2E2E"/>
                </a:solidFill>
                <a:latin typeface="Calibri"/>
              </a:rPr>
              <a:t>to register</a:t>
            </a:r>
          </a:p>
        </p:txBody>
      </p:sp>
      <p:pic>
        <p:nvPicPr>
          <p:cNvPr id="73" name="Picture 72" descr="lock.png"/>
          <p:cNvPicPr>
            <a:picLocks noChangeAspect="1"/>
          </p:cNvPicPr>
          <p:nvPr/>
        </p:nvPicPr>
        <p:blipFill>
          <a:blip r:embed="rId10"/>
          <a:stretch>
            <a:fillRect/>
          </a:stretch>
        </p:blipFill>
        <p:spPr>
          <a:xfrm>
            <a:off x="1098567" y="5778710"/>
            <a:ext cx="128699" cy="187198"/>
          </a:xfrm>
          <a:prstGeom prst="rect">
            <a:avLst/>
          </a:prstGeom>
        </p:spPr>
      </p:pic>
      <p:sp>
        <p:nvSpPr>
          <p:cNvPr id="74" name="TextBox 73"/>
          <p:cNvSpPr txBox="1"/>
          <p:nvPr/>
        </p:nvSpPr>
        <p:spPr>
          <a:xfrm>
            <a:off x="1266063" y="5788489"/>
            <a:ext cx="1692572" cy="186689"/>
          </a:xfrm>
          <a:prstGeom prst="rect">
            <a:avLst/>
          </a:prstGeom>
          <a:noFill/>
        </p:spPr>
        <p:txBody>
          <a:bodyPr wrap="none" lIns="0" rIns="0" tIns="0" bIns="0">
            <a:spAutoFit/>
          </a:bodyPr>
          <a:lstStyle/>
          <a:p>
            <a:r>
              <a:rPr sz="1100" b="0">
                <a:solidFill>
                  <a:srgbClr val="2E2E2E"/>
                </a:solidFill>
                <a:latin typeface="Calibri"/>
              </a:rPr>
              <a:t>X higher value than reusable</a:t>
            </a:r>
          </a:p>
        </p:txBody>
      </p:sp>
      <p:sp>
        <p:nvSpPr>
          <p:cNvPr id="75" name="TextBox 74"/>
          <p:cNvSpPr txBox="1"/>
          <p:nvPr/>
        </p:nvSpPr>
        <p:spPr>
          <a:xfrm>
            <a:off x="485775" y="5956129"/>
            <a:ext cx="2073746" cy="186689"/>
          </a:xfrm>
          <a:prstGeom prst="rect">
            <a:avLst/>
          </a:prstGeom>
          <a:noFill/>
        </p:spPr>
        <p:txBody>
          <a:bodyPr wrap="none" lIns="0" rIns="0" tIns="0" bIns="0">
            <a:spAutoFit/>
          </a:bodyPr>
          <a:lstStyle/>
          <a:p>
            <a:r>
              <a:rPr sz="1100" b="0">
                <a:solidFill>
                  <a:srgbClr val="2E2E2E"/>
                </a:solidFill>
                <a:latin typeface="Calibri"/>
              </a:rPr>
              <a:t>transport devices segment in 2036.</a:t>
            </a:r>
          </a:p>
        </p:txBody>
      </p:sp>
      <p:sp>
        <p:nvSpPr>
          <p:cNvPr id="76" name="TextBox 75"/>
          <p:cNvSpPr txBox="1"/>
          <p:nvPr/>
        </p:nvSpPr>
        <p:spPr>
          <a:xfrm>
            <a:off x="3838575" y="4229437"/>
            <a:ext cx="1875656" cy="186689"/>
          </a:xfrm>
          <a:prstGeom prst="rect">
            <a:avLst/>
          </a:prstGeom>
          <a:noFill/>
        </p:spPr>
        <p:txBody>
          <a:bodyPr wrap="none" lIns="0" rIns="0" tIns="0" bIns="0">
            <a:spAutoFit/>
          </a:bodyPr>
          <a:lstStyle/>
          <a:p>
            <a:r>
              <a:rPr sz="1100" b="0">
                <a:solidFill>
                  <a:srgbClr val="2E2E2E"/>
                </a:solidFill>
                <a:latin typeface="Calibri"/>
              </a:rPr>
              <a:t>● Single-Use Transport Devices:</a:t>
            </a:r>
          </a:p>
        </p:txBody>
      </p:sp>
      <p:pic>
        <p:nvPicPr>
          <p:cNvPr id="77" name="Picture 76" descr="lock.png"/>
          <p:cNvPicPr>
            <a:picLocks noChangeAspect="1"/>
          </p:cNvPicPr>
          <p:nvPr/>
        </p:nvPicPr>
        <p:blipFill>
          <a:blip r:embed="rId10"/>
          <a:stretch>
            <a:fillRect/>
          </a:stretch>
        </p:blipFill>
        <p:spPr>
          <a:xfrm>
            <a:off x="5662282" y="4219658"/>
            <a:ext cx="128699" cy="187198"/>
          </a:xfrm>
          <a:prstGeom prst="rect">
            <a:avLst/>
          </a:prstGeom>
        </p:spPr>
      </p:pic>
      <p:sp>
        <p:nvSpPr>
          <p:cNvPr id="78" name="TextBox 77"/>
          <p:cNvSpPr txBox="1"/>
          <p:nvPr/>
        </p:nvSpPr>
        <p:spPr>
          <a:xfrm>
            <a:off x="5829778"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9" name="Picture 78" descr="lock.png"/>
          <p:cNvPicPr>
            <a:picLocks noChangeAspect="1"/>
          </p:cNvPicPr>
          <p:nvPr/>
        </p:nvPicPr>
        <p:blipFill>
          <a:blip r:embed="rId10"/>
          <a:stretch>
            <a:fillRect/>
          </a:stretch>
        </p:blipFill>
        <p:spPr>
          <a:xfrm>
            <a:off x="6689228" y="4219658"/>
            <a:ext cx="128699" cy="187198"/>
          </a:xfrm>
          <a:prstGeom prst="rect">
            <a:avLst/>
          </a:prstGeom>
        </p:spPr>
      </p:pic>
      <p:sp>
        <p:nvSpPr>
          <p:cNvPr id="80" name="TextBox 79"/>
          <p:cNvSpPr txBox="1"/>
          <p:nvPr/>
        </p:nvSpPr>
        <p:spPr>
          <a:xfrm>
            <a:off x="6856724" y="4229437"/>
            <a:ext cx="945215" cy="186689"/>
          </a:xfrm>
          <a:prstGeom prst="rect">
            <a:avLst/>
          </a:prstGeom>
          <a:noFill/>
        </p:spPr>
        <p:txBody>
          <a:bodyPr wrap="none" lIns="0" rIns="0" tIns="0" bIns="0">
            <a:spAutoFit/>
          </a:bodyPr>
          <a:lstStyle/>
          <a:p>
            <a:r>
              <a:rPr sz="1100" b="0">
                <a:solidFill>
                  <a:srgbClr val="2E2E2E"/>
                </a:solidFill>
                <a:latin typeface="Calibri"/>
              </a:rPr>
              <a:t>CAGR leads the</a:t>
            </a:r>
          </a:p>
        </p:txBody>
      </p:sp>
      <p:sp>
        <p:nvSpPr>
          <p:cNvPr id="81" name="TextBox 80"/>
          <p:cNvSpPr txBox="1"/>
          <p:nvPr/>
        </p:nvSpPr>
        <p:spPr>
          <a:xfrm>
            <a:off x="3838575" y="4397077"/>
            <a:ext cx="602803" cy="186689"/>
          </a:xfrm>
          <a:prstGeom prst="rect">
            <a:avLst/>
          </a:prstGeom>
          <a:noFill/>
        </p:spPr>
        <p:txBody>
          <a:bodyPr wrap="none" lIns="0" rIns="0" tIns="0" bIns="0">
            <a:spAutoFit/>
          </a:bodyPr>
          <a:lstStyle/>
          <a:p>
            <a:r>
              <a:rPr sz="1100" b="0">
                <a:solidFill>
                  <a:srgbClr val="2E2E2E"/>
                </a:solidFill>
                <a:latin typeface="Calibri"/>
              </a:rPr>
              <a:t>segment.</a:t>
            </a:r>
          </a:p>
        </p:txBody>
      </p:sp>
      <p:sp>
        <p:nvSpPr>
          <p:cNvPr id="82" name="TextBox 81"/>
          <p:cNvSpPr txBox="1"/>
          <p:nvPr/>
        </p:nvSpPr>
        <p:spPr>
          <a:xfrm>
            <a:off x="3838575" y="4615009"/>
            <a:ext cx="1797074" cy="186689"/>
          </a:xfrm>
          <a:prstGeom prst="rect">
            <a:avLst/>
          </a:prstGeom>
          <a:noFill/>
        </p:spPr>
        <p:txBody>
          <a:bodyPr wrap="none" lIns="0" rIns="0" tIns="0" bIns="0">
            <a:spAutoFit/>
          </a:bodyPr>
          <a:lstStyle/>
          <a:p>
            <a:r>
              <a:rPr sz="1100" b="0">
                <a:solidFill>
                  <a:srgbClr val="2E2E2E"/>
                </a:solidFill>
                <a:latin typeface="Calibri"/>
              </a:rPr>
              <a:t>● Reusable Transport Devices:</a:t>
            </a:r>
          </a:p>
        </p:txBody>
      </p:sp>
      <p:pic>
        <p:nvPicPr>
          <p:cNvPr id="83" name="Picture 82" descr="lock.png"/>
          <p:cNvPicPr>
            <a:picLocks noChangeAspect="1"/>
          </p:cNvPicPr>
          <p:nvPr/>
        </p:nvPicPr>
        <p:blipFill>
          <a:blip r:embed="rId10"/>
          <a:stretch>
            <a:fillRect/>
          </a:stretch>
        </p:blipFill>
        <p:spPr>
          <a:xfrm>
            <a:off x="5583701" y="4605230"/>
            <a:ext cx="128699" cy="187198"/>
          </a:xfrm>
          <a:prstGeom prst="rect">
            <a:avLst/>
          </a:prstGeom>
        </p:spPr>
      </p:pic>
      <p:sp>
        <p:nvSpPr>
          <p:cNvPr id="84" name="TextBox 83"/>
          <p:cNvSpPr txBox="1"/>
          <p:nvPr/>
        </p:nvSpPr>
        <p:spPr>
          <a:xfrm>
            <a:off x="5751197"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5" name="Picture 84" descr="lock.png"/>
          <p:cNvPicPr>
            <a:picLocks noChangeAspect="1"/>
          </p:cNvPicPr>
          <p:nvPr/>
        </p:nvPicPr>
        <p:blipFill>
          <a:blip r:embed="rId10"/>
          <a:stretch>
            <a:fillRect/>
          </a:stretch>
        </p:blipFill>
        <p:spPr>
          <a:xfrm>
            <a:off x="6610647" y="4605230"/>
            <a:ext cx="128699" cy="187198"/>
          </a:xfrm>
          <a:prstGeom prst="rect">
            <a:avLst/>
          </a:prstGeom>
        </p:spPr>
      </p:pic>
      <p:sp>
        <p:nvSpPr>
          <p:cNvPr id="86" name="TextBox 85"/>
          <p:cNvSpPr txBox="1"/>
          <p:nvPr/>
        </p:nvSpPr>
        <p:spPr>
          <a:xfrm>
            <a:off x="6778143" y="4615009"/>
            <a:ext cx="769771" cy="186689"/>
          </a:xfrm>
          <a:prstGeom prst="rect">
            <a:avLst/>
          </a:prstGeom>
          <a:noFill/>
        </p:spPr>
        <p:txBody>
          <a:bodyPr wrap="none" lIns="0" rIns="0" tIns="0" bIns="0">
            <a:spAutoFit/>
          </a:bodyPr>
          <a:lstStyle/>
          <a:p>
            <a:r>
              <a:rPr sz="1100" b="0">
                <a:solidFill>
                  <a:srgbClr val="2E2E2E"/>
                </a:solidFill>
                <a:latin typeface="Calibri"/>
              </a:rPr>
              <a:t>CAGR grows</a:t>
            </a:r>
          </a:p>
        </p:txBody>
      </p:sp>
      <p:sp>
        <p:nvSpPr>
          <p:cNvPr id="87" name="TextBox 86"/>
          <p:cNvSpPr txBox="1"/>
          <p:nvPr/>
        </p:nvSpPr>
        <p:spPr>
          <a:xfrm>
            <a:off x="3838575" y="4782649"/>
            <a:ext cx="493390" cy="186689"/>
          </a:xfrm>
          <a:prstGeom prst="rect">
            <a:avLst/>
          </a:prstGeom>
          <a:noFill/>
        </p:spPr>
        <p:txBody>
          <a:bodyPr wrap="none" lIns="0" rIns="0" tIns="0" bIns="0">
            <a:spAutoFit/>
          </a:bodyPr>
          <a:lstStyle/>
          <a:p>
            <a:r>
              <a:rPr sz="1100" b="0">
                <a:solidFill>
                  <a:srgbClr val="2E2E2E"/>
                </a:solidFill>
                <a:latin typeface="Calibri"/>
              </a:rPr>
              <a:t>fastest.</a:t>
            </a:r>
          </a:p>
        </p:txBody>
      </p:sp>
      <p:sp>
        <p:nvSpPr>
          <p:cNvPr id="88" name="TextBox 87"/>
          <p:cNvSpPr txBox="1"/>
          <p:nvPr/>
        </p:nvSpPr>
        <p:spPr>
          <a:xfrm>
            <a:off x="8524875" y="5842641"/>
            <a:ext cx="2905348" cy="194310"/>
          </a:xfrm>
          <a:prstGeom prst="rect">
            <a:avLst/>
          </a:prstGeom>
          <a:noFill/>
        </p:spPr>
        <p:txBody>
          <a:bodyPr wrap="none" lIns="0" rIns="0" tIns="0" bIns="0">
            <a:spAutoFit/>
          </a:bodyPr>
          <a:lstStyle/>
          <a:p>
            <a:r>
              <a:rPr sz="1150" b="1">
                <a:solidFill>
                  <a:srgbClr val="0B2E4A"/>
                </a:solidFill>
                <a:latin typeface="Calibri"/>
              </a:rPr>
              <a:t>The Device Reusability segment is projected to</a:t>
            </a:r>
          </a:p>
        </p:txBody>
      </p:sp>
      <p:sp>
        <p:nvSpPr>
          <p:cNvPr id="89" name="TextBox 88"/>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90" name="Picture 89" descr="lock.png"/>
          <p:cNvPicPr>
            <a:picLocks noChangeAspect="1"/>
          </p:cNvPicPr>
          <p:nvPr/>
        </p:nvPicPr>
        <p:blipFill>
          <a:blip r:embed="rId10"/>
          <a:stretch>
            <a:fillRect/>
          </a:stretch>
        </p:blipFill>
        <p:spPr>
          <a:xfrm>
            <a:off x="9651852" y="6007677"/>
            <a:ext cx="134549" cy="195707"/>
          </a:xfrm>
          <a:prstGeom prst="rect">
            <a:avLst/>
          </a:prstGeom>
        </p:spPr>
      </p:pic>
      <p:sp>
        <p:nvSpPr>
          <p:cNvPr id="91" name="TextBox 90"/>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Device Reusability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Device Reusability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Reusability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Device Reusability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67752" cy="186689"/>
          </a:xfrm>
          <a:prstGeom prst="rect">
            <a:avLst/>
          </a:prstGeom>
          <a:noFill/>
        </p:spPr>
        <p:txBody>
          <a:bodyPr wrap="none" lIns="0" rIns="0" tIns="0" bIns="0">
            <a:spAutoFit/>
          </a:bodyPr>
          <a:lstStyle/>
          <a:p>
            <a:r>
              <a:rPr sz="1100" b="0">
                <a:solidFill>
                  <a:srgbClr val="2E2E2E"/>
                </a:solidFill>
                <a:latin typeface="Calibri"/>
              </a:rPr>
              <a:t>Single-use transport devices followed by reusable transport devices are expected to be the two most attractive device reusability segments in the North America organ transport devices market in terms of</a:t>
            </a:r>
          </a:p>
        </p:txBody>
      </p:sp>
      <p:sp>
        <p:nvSpPr>
          <p:cNvPr id="20" name="TextBox 19"/>
          <p:cNvSpPr txBox="1"/>
          <p:nvPr/>
        </p:nvSpPr>
        <p:spPr>
          <a:xfrm>
            <a:off x="257175" y="5945505"/>
            <a:ext cx="6606885" cy="186689"/>
          </a:xfrm>
          <a:prstGeom prst="rect">
            <a:avLst/>
          </a:prstGeom>
          <a:noFill/>
        </p:spPr>
        <p:txBody>
          <a:bodyPr wrap="none" lIns="0" rIns="0" tIns="0" bIns="0">
            <a:spAutoFit/>
          </a:bodyPr>
          <a:lstStyle/>
          <a:p>
            <a:r>
              <a:rPr sz="1100" b="0">
                <a:solidFill>
                  <a:srgbClr val="2E2E2E"/>
                </a:solidFill>
                <a:latin typeface="Calibri"/>
              </a:rPr>
              <a:t>value over the forecast period. Single-Use transport devices and reusable transport devices exhibit a CAGR index of</a:t>
            </a:r>
          </a:p>
        </p:txBody>
      </p:sp>
      <p:pic>
        <p:nvPicPr>
          <p:cNvPr id="21" name="Picture 20" descr="lock.png"/>
          <p:cNvPicPr>
            <a:picLocks noChangeAspect="1"/>
          </p:cNvPicPr>
          <p:nvPr/>
        </p:nvPicPr>
        <p:blipFill>
          <a:blip r:embed="rId6"/>
          <a:stretch>
            <a:fillRect/>
          </a:stretch>
        </p:blipFill>
        <p:spPr>
          <a:xfrm>
            <a:off x="6812111" y="5935726"/>
            <a:ext cx="128699" cy="187198"/>
          </a:xfrm>
          <a:prstGeom prst="rect">
            <a:avLst/>
          </a:prstGeom>
        </p:spPr>
      </p:pic>
      <p:sp>
        <p:nvSpPr>
          <p:cNvPr id="22" name="TextBox 21"/>
          <p:cNvSpPr txBox="1"/>
          <p:nvPr/>
        </p:nvSpPr>
        <p:spPr>
          <a:xfrm>
            <a:off x="697960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7217501" y="5935726"/>
            <a:ext cx="128699" cy="187198"/>
          </a:xfrm>
          <a:prstGeom prst="rect">
            <a:avLst/>
          </a:prstGeom>
        </p:spPr>
      </p:pic>
      <p:sp>
        <p:nvSpPr>
          <p:cNvPr id="24" name="TextBox 23"/>
          <p:cNvSpPr txBox="1"/>
          <p:nvPr/>
        </p:nvSpPr>
        <p:spPr>
          <a:xfrm>
            <a:off x="7384997"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8993971" y="5935726"/>
            <a:ext cx="128699" cy="187198"/>
          </a:xfrm>
          <a:prstGeom prst="rect">
            <a:avLst/>
          </a:prstGeom>
        </p:spPr>
      </p:pic>
      <p:sp>
        <p:nvSpPr>
          <p:cNvPr id="26" name="TextBox 25"/>
          <p:cNvSpPr txBox="1"/>
          <p:nvPr/>
        </p:nvSpPr>
        <p:spPr>
          <a:xfrm>
            <a:off x="916146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9399361" y="5935726"/>
            <a:ext cx="128699" cy="187198"/>
          </a:xfrm>
          <a:prstGeom prst="rect">
            <a:avLst/>
          </a:prstGeom>
        </p:spPr>
      </p:pic>
      <p:sp>
        <p:nvSpPr>
          <p:cNvPr id="28" name="TextBox 27"/>
          <p:cNvSpPr txBox="1"/>
          <p:nvPr/>
        </p:nvSpPr>
        <p:spPr>
          <a:xfrm>
            <a:off x="9566857" y="5945505"/>
            <a:ext cx="1976338" cy="186689"/>
          </a:xfrm>
          <a:prstGeom prst="rect">
            <a:avLst/>
          </a:prstGeom>
          <a:noFill/>
        </p:spPr>
        <p:txBody>
          <a:bodyPr wrap="none" lIns="0" rIns="0" tIns="0" bIns="0">
            <a:spAutoFit/>
          </a:bodyPr>
          <a:lstStyle/>
          <a:p>
            <a:r>
              <a:rPr sz="1100" b="0">
                <a:solidFill>
                  <a:srgbClr val="2E2E2E"/>
                </a:solidFill>
                <a:latin typeface="Calibri"/>
              </a:rPr>
              <a:t>respectively, against the segment</a:t>
            </a:r>
          </a:p>
        </p:txBody>
      </p:sp>
      <p:sp>
        <p:nvSpPr>
          <p:cNvPr id="29" name="TextBox 28"/>
          <p:cNvSpPr txBox="1"/>
          <p:nvPr/>
        </p:nvSpPr>
        <p:spPr>
          <a:xfrm>
            <a:off x="257175" y="6113145"/>
            <a:ext cx="674563" cy="186689"/>
          </a:xfrm>
          <a:prstGeom prst="rect">
            <a:avLst/>
          </a:prstGeom>
          <a:noFill/>
        </p:spPr>
        <p:txBody>
          <a:bodyPr wrap="none" lIns="0" rIns="0" tIns="0" bIns="0">
            <a:spAutoFit/>
          </a:bodyPr>
          <a:lstStyle/>
          <a:p>
            <a:r>
              <a:rPr sz="1100" b="0">
                <a:solidFill>
                  <a:srgbClr val="2E2E2E"/>
                </a:solidFill>
                <a:latin typeface="Calibri"/>
              </a:rPr>
              <a:t>average of</a:t>
            </a:r>
          </a:p>
        </p:txBody>
      </p:sp>
      <p:pic>
        <p:nvPicPr>
          <p:cNvPr id="30" name="Picture 29" descr="lock.png"/>
          <p:cNvPicPr>
            <a:picLocks noChangeAspect="1"/>
          </p:cNvPicPr>
          <p:nvPr/>
        </p:nvPicPr>
        <p:blipFill>
          <a:blip r:embed="rId6"/>
          <a:stretch>
            <a:fillRect/>
          </a:stretch>
        </p:blipFill>
        <p:spPr>
          <a:xfrm>
            <a:off x="879790" y="6103366"/>
            <a:ext cx="128699" cy="187198"/>
          </a:xfrm>
          <a:prstGeom prst="rect">
            <a:avLst/>
          </a:prstGeom>
        </p:spPr>
      </p:pic>
      <p:sp>
        <p:nvSpPr>
          <p:cNvPr id="31" name="TextBox 30"/>
          <p:cNvSpPr txBox="1"/>
          <p:nvPr/>
        </p:nvSpPr>
        <p:spPr>
          <a:xfrm>
            <a:off x="1047285"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Device Reusability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Single-Use Transport Devices</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Reusable Transport Devices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Device Reusability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Device Reusability,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Device Reusability (US$ Mn)</a:t>
            </a:r>
          </a:p>
        </p:txBody>
      </p:sp>
      <p:graphicFrame>
        <p:nvGraphicFramePr>
          <p:cNvPr id="12" name="Table 11"/>
          <p:cNvGraphicFramePr>
            <a:graphicFrameLocks noGrp="1"/>
          </p:cNvGraphicFramePr>
          <p:nvPr/>
        </p:nvGraphicFramePr>
        <p:xfrm>
          <a:off x="152400" y="1238250"/>
          <a:ext cx="11887197" cy="990600"/>
        </p:xfrm>
        <a:graphic>
          <a:graphicData uri="http://schemas.openxmlformats.org/drawingml/2006/table">
            <a:tbl>
              <a:tblPr>
                <a:tableStyleId>{5C22544A-7EE6-4342-B048-85BDC9FD1C3A}</a:tableStyleId>
              </a:tblPr>
              <a:tblGrid>
                <a:gridCol w="1951700"/>
                <a:gridCol w="584441"/>
                <a:gridCol w="584441"/>
                <a:gridCol w="584441"/>
                <a:gridCol w="584441"/>
                <a:gridCol w="584441"/>
                <a:gridCol w="584441"/>
                <a:gridCol w="584441"/>
                <a:gridCol w="584441"/>
                <a:gridCol w="584441"/>
                <a:gridCol w="584441"/>
                <a:gridCol w="584441"/>
                <a:gridCol w="584441"/>
                <a:gridCol w="584441"/>
                <a:gridCol w="584441"/>
                <a:gridCol w="584441"/>
                <a:gridCol w="584441"/>
                <a:gridCol w="58444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Device Reusability</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885158" y="1589913"/>
            <a:ext cx="366712" cy="533400"/>
          </a:xfrm>
          <a:prstGeom prst="rect">
            <a:avLst/>
          </a:prstGeom>
        </p:spPr>
      </p:pic>
      <p:sp>
        <p:nvSpPr>
          <p:cNvPr id="20" name="TextBox 19"/>
          <p:cNvSpPr txBox="1"/>
          <p:nvPr/>
        </p:nvSpPr>
        <p:spPr>
          <a:xfrm>
            <a:off x="276225" y="2990850"/>
            <a:ext cx="3669828" cy="194310"/>
          </a:xfrm>
          <a:prstGeom prst="rect">
            <a:avLst/>
          </a:prstGeom>
          <a:noFill/>
        </p:spPr>
        <p:txBody>
          <a:bodyPr wrap="none" lIns="0" rIns="0" tIns="0" bIns="0">
            <a:spAutoFit/>
          </a:bodyPr>
          <a:lstStyle/>
          <a:p>
            <a:r>
              <a:rPr sz="1150" b="0">
                <a:solidFill>
                  <a:srgbClr val="2E2E2E"/>
                </a:solidFill>
                <a:latin typeface="Calibri"/>
              </a:rPr>
              <a:t>Single-use transport devices segment is projected to register</a:t>
            </a:r>
          </a:p>
        </p:txBody>
      </p:sp>
      <p:pic>
        <p:nvPicPr>
          <p:cNvPr id="21" name="Picture 20" descr="lock.png"/>
          <p:cNvPicPr>
            <a:picLocks noChangeAspect="1"/>
          </p:cNvPicPr>
          <p:nvPr/>
        </p:nvPicPr>
        <p:blipFill>
          <a:blip r:embed="rId4"/>
          <a:stretch>
            <a:fillRect/>
          </a:stretch>
        </p:blipFill>
        <p:spPr>
          <a:xfrm>
            <a:off x="3895207" y="2980626"/>
            <a:ext cx="134549" cy="195707"/>
          </a:xfrm>
          <a:prstGeom prst="rect">
            <a:avLst/>
          </a:prstGeom>
        </p:spPr>
      </p:pic>
      <p:sp>
        <p:nvSpPr>
          <p:cNvPr id="22" name="TextBox 21"/>
          <p:cNvSpPr txBox="1"/>
          <p:nvPr/>
        </p:nvSpPr>
        <p:spPr>
          <a:xfrm>
            <a:off x="4070316" y="2990850"/>
            <a:ext cx="7611752" cy="194310"/>
          </a:xfrm>
          <a:prstGeom prst="rect">
            <a:avLst/>
          </a:prstGeom>
          <a:noFill/>
        </p:spPr>
        <p:txBody>
          <a:bodyPr wrap="none" lIns="0" rIns="0" tIns="0" bIns="0">
            <a:spAutoFit/>
          </a:bodyPr>
          <a:lstStyle/>
          <a:p>
            <a:r>
              <a:rPr sz="1150" b="0">
                <a:solidFill>
                  <a:srgbClr val="2E2E2E"/>
                </a:solidFill>
                <a:latin typeface="Calibri"/>
              </a:rPr>
              <a:t>X higher value than reusable transport devices segment in 2036. Among organ transport devices by device reusability, reusable</a:t>
            </a:r>
          </a:p>
        </p:txBody>
      </p:sp>
      <p:sp>
        <p:nvSpPr>
          <p:cNvPr id="23" name="TextBox 22"/>
          <p:cNvSpPr txBox="1"/>
          <p:nvPr/>
        </p:nvSpPr>
        <p:spPr>
          <a:xfrm>
            <a:off x="276225" y="3166110"/>
            <a:ext cx="4221206" cy="194310"/>
          </a:xfrm>
          <a:prstGeom prst="rect">
            <a:avLst/>
          </a:prstGeom>
          <a:noFill/>
        </p:spPr>
        <p:txBody>
          <a:bodyPr wrap="none" lIns="0" rIns="0" tIns="0" bIns="0">
            <a:spAutoFit/>
          </a:bodyPr>
          <a:lstStyle/>
          <a:p>
            <a:r>
              <a:rPr sz="1150" b="0">
                <a:solidFill>
                  <a:srgbClr val="2E2E2E"/>
                </a:solidFill>
                <a:latin typeface="Calibri"/>
              </a:rPr>
              <a:t>transport devices segment is expected to witness the highest CAGR of</a:t>
            </a:r>
          </a:p>
        </p:txBody>
      </p:sp>
      <p:pic>
        <p:nvPicPr>
          <p:cNvPr id="24" name="Picture 23" descr="lock.png"/>
          <p:cNvPicPr>
            <a:picLocks noChangeAspect="1"/>
          </p:cNvPicPr>
          <p:nvPr/>
        </p:nvPicPr>
        <p:blipFill>
          <a:blip r:embed="rId4"/>
          <a:stretch>
            <a:fillRect/>
          </a:stretch>
        </p:blipFill>
        <p:spPr>
          <a:xfrm>
            <a:off x="4446585" y="3155886"/>
            <a:ext cx="134549" cy="195707"/>
          </a:xfrm>
          <a:prstGeom prst="rect">
            <a:avLst/>
          </a:prstGeom>
        </p:spPr>
      </p:pic>
      <p:sp>
        <p:nvSpPr>
          <p:cNvPr id="25" name="TextBox 24"/>
          <p:cNvSpPr txBox="1"/>
          <p:nvPr/>
        </p:nvSpPr>
        <p:spPr>
          <a:xfrm>
            <a:off x="4621694"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7764078" cy="194310"/>
          </a:xfrm>
          <a:prstGeom prst="rect">
            <a:avLst/>
          </a:prstGeom>
          <a:noFill/>
        </p:spPr>
        <p:txBody>
          <a:bodyPr wrap="none" lIns="0" rIns="0" tIns="0" bIns="0">
            <a:spAutoFit/>
          </a:bodyPr>
          <a:lstStyle/>
          <a:p>
            <a:r>
              <a:rPr sz="1150" b="0">
                <a:solidFill>
                  <a:srgbClr val="2E2E2E"/>
                </a:solidFill>
                <a:latin typeface="Calibri"/>
              </a:rPr>
              <a:t>In terms of value share by device reusability, the single-use transport devices segment is expected to dominate the market, losing</a:t>
            </a:r>
          </a:p>
        </p:txBody>
      </p:sp>
      <p:pic>
        <p:nvPicPr>
          <p:cNvPr id="27" name="Picture 26" descr="lock.png"/>
          <p:cNvPicPr>
            <a:picLocks noChangeAspect="1"/>
          </p:cNvPicPr>
          <p:nvPr/>
        </p:nvPicPr>
        <p:blipFill>
          <a:blip r:embed="rId4"/>
          <a:stretch>
            <a:fillRect/>
          </a:stretch>
        </p:blipFill>
        <p:spPr>
          <a:xfrm>
            <a:off x="7989456" y="3383724"/>
            <a:ext cx="134549" cy="195707"/>
          </a:xfrm>
          <a:prstGeom prst="rect">
            <a:avLst/>
          </a:prstGeom>
        </p:spPr>
      </p:pic>
      <p:sp>
        <p:nvSpPr>
          <p:cNvPr id="28" name="TextBox 27"/>
          <p:cNvSpPr txBox="1"/>
          <p:nvPr/>
        </p:nvSpPr>
        <p:spPr>
          <a:xfrm>
            <a:off x="816456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9559709" y="3383724"/>
            <a:ext cx="134549" cy="195707"/>
          </a:xfrm>
          <a:prstGeom prst="rect">
            <a:avLst/>
          </a:prstGeom>
        </p:spPr>
      </p:pic>
      <p:sp>
        <p:nvSpPr>
          <p:cNvPr id="30" name="TextBox 29"/>
          <p:cNvSpPr txBox="1"/>
          <p:nvPr/>
        </p:nvSpPr>
        <p:spPr>
          <a:xfrm>
            <a:off x="9734818"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Device Reusability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Device Reusability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544893"/>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540130"/>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463930"/>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Reusable Transport Devices</a:t>
            </a:r>
          </a:p>
        </p:txBody>
      </p:sp>
      <p:sp>
        <p:nvSpPr>
          <p:cNvPr id="18" name="BPS Value 1"/>
          <p:cNvSpPr txBox="1"/>
          <p:nvPr/>
        </p:nvSpPr>
        <p:spPr>
          <a:xfrm>
            <a:off x="6896100" y="2525843"/>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831083"/>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82632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75012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Single-Use Transport Devices</a:t>
            </a:r>
          </a:p>
        </p:txBody>
      </p:sp>
      <p:sp>
        <p:nvSpPr>
          <p:cNvPr id="22" name="BPS Value 2"/>
          <p:cNvSpPr txBox="1"/>
          <p:nvPr/>
        </p:nvSpPr>
        <p:spPr>
          <a:xfrm>
            <a:off x="6896100" y="4812033"/>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Device Reusability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767385" cy="194310"/>
          </a:xfrm>
          <a:prstGeom prst="rect">
            <a:avLst/>
          </a:prstGeom>
          <a:noFill/>
        </p:spPr>
        <p:txBody>
          <a:bodyPr wrap="none" lIns="0" rIns="0" tIns="0" bIns="0">
            <a:spAutoFit/>
          </a:bodyPr>
          <a:lstStyle/>
          <a:p>
            <a:r>
              <a:rPr sz="1150" b="0">
                <a:solidFill>
                  <a:srgbClr val="2E2E2E"/>
                </a:solidFill>
                <a:latin typeface="Calibri"/>
              </a:rPr>
              <a:t>Among organ transport devices by device reusability, reusable</a:t>
            </a:r>
          </a:p>
        </p:txBody>
      </p:sp>
      <p:sp>
        <p:nvSpPr>
          <p:cNvPr id="30" name="TextBox 29"/>
          <p:cNvSpPr txBox="1"/>
          <p:nvPr/>
        </p:nvSpPr>
        <p:spPr>
          <a:xfrm>
            <a:off x="7829550" y="1575435"/>
            <a:ext cx="4057650" cy="194310"/>
          </a:xfrm>
          <a:prstGeom prst="rect">
            <a:avLst/>
          </a:prstGeom>
          <a:noFill/>
        </p:spPr>
        <p:txBody>
          <a:bodyPr wrap="none" lIns="0" rIns="0" tIns="0" bIns="0">
            <a:spAutoFit/>
          </a:bodyPr>
          <a:lstStyle/>
          <a:p>
            <a:r>
              <a:rPr sz="1150" b="0">
                <a:solidFill>
                  <a:srgbClr val="2E2E2E"/>
                </a:solidFill>
                <a:latin typeface="Calibri"/>
              </a:rPr>
              <a:t>transport devices segment is expected to witness the highest CAGR</a:t>
            </a:r>
          </a:p>
        </p:txBody>
      </p:sp>
      <p:sp>
        <p:nvSpPr>
          <p:cNvPr id="31" name="TextBox 30"/>
          <p:cNvSpPr txBox="1"/>
          <p:nvPr/>
        </p:nvSpPr>
        <p:spPr>
          <a:xfrm>
            <a:off x="7829550" y="1750695"/>
            <a:ext cx="197718" cy="194310"/>
          </a:xfrm>
          <a:prstGeom prst="rect">
            <a:avLst/>
          </a:prstGeom>
          <a:noFill/>
        </p:spPr>
        <p:txBody>
          <a:bodyPr wrap="none" lIns="0" rIns="0" tIns="0" bIns="0">
            <a:spAutoFit/>
          </a:bodyPr>
          <a:lstStyle/>
          <a:p>
            <a:r>
              <a:rPr sz="1150" b="0">
                <a:solidFill>
                  <a:srgbClr val="2E2E2E"/>
                </a:solidFill>
                <a:latin typeface="Calibri"/>
              </a:rPr>
              <a:t>of</a:t>
            </a:r>
          </a:p>
        </p:txBody>
      </p:sp>
      <p:pic>
        <p:nvPicPr>
          <p:cNvPr id="32" name="Picture 31" descr="lock.png"/>
          <p:cNvPicPr>
            <a:picLocks noChangeAspect="1"/>
          </p:cNvPicPr>
          <p:nvPr/>
        </p:nvPicPr>
        <p:blipFill>
          <a:blip r:embed="rId5"/>
          <a:stretch>
            <a:fillRect/>
          </a:stretch>
        </p:blipFill>
        <p:spPr>
          <a:xfrm>
            <a:off x="7976422" y="1740471"/>
            <a:ext cx="134549" cy="195707"/>
          </a:xfrm>
          <a:prstGeom prst="rect">
            <a:avLst/>
          </a:prstGeom>
        </p:spPr>
      </p:pic>
      <p:sp>
        <p:nvSpPr>
          <p:cNvPr id="33" name="TextBox 32"/>
          <p:cNvSpPr txBox="1"/>
          <p:nvPr/>
        </p:nvSpPr>
        <p:spPr>
          <a:xfrm>
            <a:off x="8151531" y="175069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34" name="TextBox 33"/>
          <p:cNvSpPr txBox="1"/>
          <p:nvPr/>
        </p:nvSpPr>
        <p:spPr>
          <a:xfrm>
            <a:off x="7829550" y="1978533"/>
            <a:ext cx="3577976" cy="194310"/>
          </a:xfrm>
          <a:prstGeom prst="rect">
            <a:avLst/>
          </a:prstGeom>
          <a:noFill/>
        </p:spPr>
        <p:txBody>
          <a:bodyPr wrap="none" lIns="0" rIns="0" tIns="0" bIns="0">
            <a:spAutoFit/>
          </a:bodyPr>
          <a:lstStyle/>
          <a:p>
            <a:r>
              <a:rPr sz="1150" b="0">
                <a:solidFill>
                  <a:srgbClr val="2E2E2E"/>
                </a:solidFill>
                <a:latin typeface="Calibri"/>
              </a:rPr>
              <a:t>In terms of value share by device reusability, the single-use</a:t>
            </a:r>
          </a:p>
        </p:txBody>
      </p:sp>
      <p:sp>
        <p:nvSpPr>
          <p:cNvPr id="35" name="TextBox 34"/>
          <p:cNvSpPr txBox="1"/>
          <p:nvPr/>
        </p:nvSpPr>
        <p:spPr>
          <a:xfrm>
            <a:off x="7829550" y="2153793"/>
            <a:ext cx="3849253" cy="194310"/>
          </a:xfrm>
          <a:prstGeom prst="rect">
            <a:avLst/>
          </a:prstGeom>
          <a:noFill/>
        </p:spPr>
        <p:txBody>
          <a:bodyPr wrap="none" lIns="0" rIns="0" tIns="0" bIns="0">
            <a:spAutoFit/>
          </a:bodyPr>
          <a:lstStyle/>
          <a:p>
            <a:r>
              <a:rPr sz="1150" b="0">
                <a:solidFill>
                  <a:srgbClr val="2E2E2E"/>
                </a:solidFill>
                <a:latin typeface="Calibri"/>
              </a:rPr>
              <a:t>transport devices segment is expected to dominate the market,</a:t>
            </a:r>
          </a:p>
        </p:txBody>
      </p:sp>
      <p:sp>
        <p:nvSpPr>
          <p:cNvPr id="36" name="TextBox 35"/>
          <p:cNvSpPr txBox="1"/>
          <p:nvPr/>
        </p:nvSpPr>
        <p:spPr>
          <a:xfrm>
            <a:off x="7829550" y="2329053"/>
            <a:ext cx="423068" cy="194310"/>
          </a:xfrm>
          <a:prstGeom prst="rect">
            <a:avLst/>
          </a:prstGeom>
          <a:noFill/>
        </p:spPr>
        <p:txBody>
          <a:bodyPr wrap="none" lIns="0" rIns="0" tIns="0" bIns="0">
            <a:spAutoFit/>
          </a:bodyPr>
          <a:lstStyle/>
          <a:p>
            <a:r>
              <a:rPr sz="1150" b="0">
                <a:solidFill>
                  <a:srgbClr val="2E2E2E"/>
                </a:solidFill>
                <a:latin typeface="Calibri"/>
              </a:rPr>
              <a:t>losing</a:t>
            </a:r>
          </a:p>
        </p:txBody>
      </p:sp>
      <p:pic>
        <p:nvPicPr>
          <p:cNvPr id="37" name="Picture 36" descr="lock.png"/>
          <p:cNvPicPr>
            <a:picLocks noChangeAspect="1"/>
          </p:cNvPicPr>
          <p:nvPr/>
        </p:nvPicPr>
        <p:blipFill>
          <a:blip r:embed="rId5"/>
          <a:stretch>
            <a:fillRect/>
          </a:stretch>
        </p:blipFill>
        <p:spPr>
          <a:xfrm>
            <a:off x="8201772" y="2318829"/>
            <a:ext cx="134549" cy="195707"/>
          </a:xfrm>
          <a:prstGeom prst="rect">
            <a:avLst/>
          </a:prstGeom>
        </p:spPr>
      </p:pic>
      <p:sp>
        <p:nvSpPr>
          <p:cNvPr id="38" name="TextBox 37"/>
          <p:cNvSpPr txBox="1"/>
          <p:nvPr/>
        </p:nvSpPr>
        <p:spPr>
          <a:xfrm>
            <a:off x="8376881" y="232905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9" name="Picture 38" descr="lock.png"/>
          <p:cNvPicPr>
            <a:picLocks noChangeAspect="1"/>
          </p:cNvPicPr>
          <p:nvPr/>
        </p:nvPicPr>
        <p:blipFill>
          <a:blip r:embed="rId5"/>
          <a:stretch>
            <a:fillRect/>
          </a:stretch>
        </p:blipFill>
        <p:spPr>
          <a:xfrm>
            <a:off x="9772025" y="2318829"/>
            <a:ext cx="134549" cy="195707"/>
          </a:xfrm>
          <a:prstGeom prst="rect">
            <a:avLst/>
          </a:prstGeom>
        </p:spPr>
      </p:pic>
      <p:sp>
        <p:nvSpPr>
          <p:cNvPr id="40" name="TextBox 39"/>
          <p:cNvSpPr txBox="1"/>
          <p:nvPr/>
        </p:nvSpPr>
        <p:spPr>
          <a:xfrm>
            <a:off x="9947134"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Monitoring Capability</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Monitoring Capability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Monitoring Capability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Monitoring Capability,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Monitoring Capability segment categorizes the market by monitoring capability.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with Integrated Monitoring</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without Integrated Monitoring</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Monitoring Capability split shows how demand is distributed across monitoring capability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3_095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4_656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4_2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502_2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697_7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3_3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586870" cy="179984"/>
          </a:xfrm>
          <a:prstGeom prst="rect">
            <a:avLst/>
          </a:prstGeom>
          <a:noFill/>
        </p:spPr>
        <p:txBody>
          <a:bodyPr wrap="none" lIns="0" rIns="0" tIns="0" bIns="0">
            <a:spAutoFit/>
          </a:bodyPr>
          <a:lstStyle/>
          <a:p>
            <a:r>
              <a:rPr sz="1055" b="0">
                <a:solidFill>
                  <a:srgbClr val="2E2E2E"/>
                </a:solidFill>
                <a:latin typeface="Calibri"/>
              </a:rPr>
              <a:t>Among organ transport devices by monitoring</a:t>
            </a:r>
          </a:p>
        </p:txBody>
      </p:sp>
      <p:sp>
        <p:nvSpPr>
          <p:cNvPr id="58" name="TextBox 57"/>
          <p:cNvSpPr txBox="1"/>
          <p:nvPr/>
        </p:nvSpPr>
        <p:spPr>
          <a:xfrm>
            <a:off x="485775" y="4390371"/>
            <a:ext cx="2579012" cy="179984"/>
          </a:xfrm>
          <a:prstGeom prst="rect">
            <a:avLst/>
          </a:prstGeom>
          <a:noFill/>
        </p:spPr>
        <p:txBody>
          <a:bodyPr wrap="none" lIns="0" rIns="0" tIns="0" bIns="0">
            <a:spAutoFit/>
          </a:bodyPr>
          <a:lstStyle/>
          <a:p>
            <a:r>
              <a:rPr sz="1055" b="0">
                <a:solidFill>
                  <a:srgbClr val="2E2E2E"/>
                </a:solidFill>
                <a:latin typeface="Calibri"/>
              </a:rPr>
              <a:t>capability, devices with integrated monitoring</a:t>
            </a:r>
          </a:p>
        </p:txBody>
      </p:sp>
      <p:sp>
        <p:nvSpPr>
          <p:cNvPr id="59" name="TextBox 58"/>
          <p:cNvSpPr txBox="1"/>
          <p:nvPr/>
        </p:nvSpPr>
        <p:spPr>
          <a:xfrm>
            <a:off x="485775" y="4551305"/>
            <a:ext cx="2904846" cy="179984"/>
          </a:xfrm>
          <a:prstGeom prst="rect">
            <a:avLst/>
          </a:prstGeom>
          <a:noFill/>
        </p:spPr>
        <p:txBody>
          <a:bodyPr wrap="none" lIns="0" rIns="0" tIns="0" bIns="0">
            <a:spAutoFit/>
          </a:bodyPr>
          <a:lstStyle/>
          <a:p>
            <a:r>
              <a:rPr sz="1055" b="0">
                <a:solidFill>
                  <a:srgbClr val="2E2E2E"/>
                </a:solidFill>
                <a:latin typeface="Calibri"/>
              </a:rPr>
              <a:t>segment is expected to witness the highest CAGR of</a:t>
            </a:r>
          </a:p>
        </p:txBody>
      </p:sp>
      <p:pic>
        <p:nvPicPr>
          <p:cNvPr id="60" name="Picture 59" descr="lock.png"/>
          <p:cNvPicPr>
            <a:picLocks noChangeAspect="1"/>
          </p:cNvPicPr>
          <p:nvPr/>
        </p:nvPicPr>
        <p:blipFill>
          <a:blip r:embed="rId10"/>
          <a:stretch>
            <a:fillRect/>
          </a:stretch>
        </p:blipFill>
        <p:spPr>
          <a:xfrm>
            <a:off x="472846" y="4702852"/>
            <a:ext cx="123551" cy="179710"/>
          </a:xfrm>
          <a:prstGeom prst="rect">
            <a:avLst/>
          </a:prstGeom>
        </p:spPr>
      </p:pic>
      <p:sp>
        <p:nvSpPr>
          <p:cNvPr id="61" name="TextBox 60"/>
          <p:cNvSpPr txBox="1"/>
          <p:nvPr/>
        </p:nvSpPr>
        <p:spPr>
          <a:xfrm>
            <a:off x="633642" y="4712240"/>
            <a:ext cx="2707886" cy="179984"/>
          </a:xfrm>
          <a:prstGeom prst="rect">
            <a:avLst/>
          </a:prstGeom>
          <a:noFill/>
        </p:spPr>
        <p:txBody>
          <a:bodyPr wrap="none" lIns="0" rIns="0" tIns="0" bIns="0">
            <a:spAutoFit/>
          </a:bodyPr>
          <a:lstStyle/>
          <a:p>
            <a:r>
              <a:rPr sz="1055" b="0">
                <a:solidFill>
                  <a:srgbClr val="2E2E2E"/>
                </a:solidFill>
                <a:latin typeface="Calibri"/>
              </a:rPr>
              <a:t>over the forecast period. In terms of value share</a:t>
            </a:r>
          </a:p>
        </p:txBody>
      </p:sp>
      <p:sp>
        <p:nvSpPr>
          <p:cNvPr id="62" name="TextBox 61"/>
          <p:cNvSpPr txBox="1"/>
          <p:nvPr/>
        </p:nvSpPr>
        <p:spPr>
          <a:xfrm>
            <a:off x="485775" y="4873174"/>
            <a:ext cx="2914650" cy="179984"/>
          </a:xfrm>
          <a:prstGeom prst="rect">
            <a:avLst/>
          </a:prstGeom>
          <a:noFill/>
        </p:spPr>
        <p:txBody>
          <a:bodyPr wrap="none" lIns="0" rIns="0" tIns="0" bIns="0">
            <a:spAutoFit/>
          </a:bodyPr>
          <a:lstStyle/>
          <a:p>
            <a:r>
              <a:rPr sz="1055" b="0">
                <a:solidFill>
                  <a:srgbClr val="2E2E2E"/>
                </a:solidFill>
                <a:latin typeface="Calibri"/>
              </a:rPr>
              <a:t>by monitoring capability, the devices with integrated</a:t>
            </a:r>
          </a:p>
        </p:txBody>
      </p:sp>
      <p:sp>
        <p:nvSpPr>
          <p:cNvPr id="63" name="TextBox 62"/>
          <p:cNvSpPr txBox="1"/>
          <p:nvPr/>
        </p:nvSpPr>
        <p:spPr>
          <a:xfrm>
            <a:off x="485775" y="5034109"/>
            <a:ext cx="2745081" cy="179984"/>
          </a:xfrm>
          <a:prstGeom prst="rect">
            <a:avLst/>
          </a:prstGeom>
          <a:noFill/>
        </p:spPr>
        <p:txBody>
          <a:bodyPr wrap="none" lIns="0" rIns="0" tIns="0" bIns="0">
            <a:spAutoFit/>
          </a:bodyPr>
          <a:lstStyle/>
          <a:p>
            <a:r>
              <a:rPr sz="1055" b="0">
                <a:solidFill>
                  <a:srgbClr val="2E2E2E"/>
                </a:solidFill>
                <a:latin typeface="Calibri"/>
              </a:rPr>
              <a:t>monitoring segment is expected to dominate the</a:t>
            </a:r>
          </a:p>
        </p:txBody>
      </p:sp>
      <p:sp>
        <p:nvSpPr>
          <p:cNvPr id="64" name="TextBox 63"/>
          <p:cNvSpPr txBox="1"/>
          <p:nvPr/>
        </p:nvSpPr>
        <p:spPr>
          <a:xfrm>
            <a:off x="485775" y="5195043"/>
            <a:ext cx="924353" cy="179984"/>
          </a:xfrm>
          <a:prstGeom prst="rect">
            <a:avLst/>
          </a:prstGeom>
          <a:noFill/>
        </p:spPr>
        <p:txBody>
          <a:bodyPr wrap="none" lIns="0" rIns="0" tIns="0" bIns="0">
            <a:spAutoFit/>
          </a:bodyPr>
          <a:lstStyle/>
          <a:p>
            <a:r>
              <a:rPr sz="1055" b="0">
                <a:solidFill>
                  <a:srgbClr val="2E2E2E"/>
                </a:solidFill>
                <a:latin typeface="Calibri"/>
              </a:rPr>
              <a:t>market, gaining</a:t>
            </a:r>
          </a:p>
        </p:txBody>
      </p:sp>
      <p:pic>
        <p:nvPicPr>
          <p:cNvPr id="65" name="Picture 64" descr="lock.png"/>
          <p:cNvPicPr>
            <a:picLocks noChangeAspect="1"/>
          </p:cNvPicPr>
          <p:nvPr/>
        </p:nvPicPr>
        <p:blipFill>
          <a:blip r:embed="rId10"/>
          <a:stretch>
            <a:fillRect/>
          </a:stretch>
        </p:blipFill>
        <p:spPr>
          <a:xfrm>
            <a:off x="1357210" y="5185655"/>
            <a:ext cx="123551" cy="179710"/>
          </a:xfrm>
          <a:prstGeom prst="rect">
            <a:avLst/>
          </a:prstGeom>
        </p:spPr>
      </p:pic>
      <p:sp>
        <p:nvSpPr>
          <p:cNvPr id="66" name="TextBox 65"/>
          <p:cNvSpPr txBox="1"/>
          <p:nvPr/>
        </p:nvSpPr>
        <p:spPr>
          <a:xfrm>
            <a:off x="1518006"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799111" y="5185655"/>
            <a:ext cx="123551" cy="179710"/>
          </a:xfrm>
          <a:prstGeom prst="rect">
            <a:avLst/>
          </a:prstGeom>
        </p:spPr>
      </p:pic>
      <p:sp>
        <p:nvSpPr>
          <p:cNvPr id="68" name="TextBox 67"/>
          <p:cNvSpPr txBox="1"/>
          <p:nvPr/>
        </p:nvSpPr>
        <p:spPr>
          <a:xfrm>
            <a:off x="485775"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69" name="TextBox 68"/>
          <p:cNvSpPr txBox="1"/>
          <p:nvPr/>
        </p:nvSpPr>
        <p:spPr>
          <a:xfrm>
            <a:off x="485775" y="5565192"/>
            <a:ext cx="2618303" cy="179984"/>
          </a:xfrm>
          <a:prstGeom prst="rect">
            <a:avLst/>
          </a:prstGeom>
          <a:noFill/>
        </p:spPr>
        <p:txBody>
          <a:bodyPr wrap="none" lIns="0" rIns="0" tIns="0" bIns="0">
            <a:spAutoFit/>
          </a:bodyPr>
          <a:lstStyle/>
          <a:p>
            <a:r>
              <a:rPr sz="1055" b="0">
                <a:solidFill>
                  <a:srgbClr val="2E2E2E"/>
                </a:solidFill>
                <a:latin typeface="Calibri"/>
              </a:rPr>
              <a:t>Devices with integrated monitoring segment is</a:t>
            </a:r>
          </a:p>
        </p:txBody>
      </p:sp>
      <p:sp>
        <p:nvSpPr>
          <p:cNvPr id="70" name="TextBox 69"/>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71" name="Picture 70" descr="lock.png"/>
          <p:cNvPicPr>
            <a:picLocks noChangeAspect="1"/>
          </p:cNvPicPr>
          <p:nvPr/>
        </p:nvPicPr>
        <p:blipFill>
          <a:blip r:embed="rId10"/>
          <a:stretch>
            <a:fillRect/>
          </a:stretch>
        </p:blipFill>
        <p:spPr>
          <a:xfrm>
            <a:off x="1630672" y="5716739"/>
            <a:ext cx="123551" cy="179710"/>
          </a:xfrm>
          <a:prstGeom prst="rect">
            <a:avLst/>
          </a:prstGeom>
        </p:spPr>
      </p:pic>
      <p:sp>
        <p:nvSpPr>
          <p:cNvPr id="72" name="TextBox 71"/>
          <p:cNvSpPr txBox="1"/>
          <p:nvPr/>
        </p:nvSpPr>
        <p:spPr>
          <a:xfrm>
            <a:off x="1791468" y="5726126"/>
            <a:ext cx="1563743" cy="179984"/>
          </a:xfrm>
          <a:prstGeom prst="rect">
            <a:avLst/>
          </a:prstGeom>
          <a:noFill/>
        </p:spPr>
        <p:txBody>
          <a:bodyPr wrap="none" lIns="0" rIns="0" tIns="0" bIns="0">
            <a:spAutoFit/>
          </a:bodyPr>
          <a:lstStyle/>
          <a:p>
            <a:r>
              <a:rPr sz="1055" b="0">
                <a:solidFill>
                  <a:srgbClr val="2E2E2E"/>
                </a:solidFill>
                <a:latin typeface="Calibri"/>
              </a:rPr>
              <a:t>X higher value than devices</a:t>
            </a:r>
          </a:p>
        </p:txBody>
      </p:sp>
      <p:sp>
        <p:nvSpPr>
          <p:cNvPr id="73" name="TextBox 72"/>
          <p:cNvSpPr txBox="1"/>
          <p:nvPr/>
        </p:nvSpPr>
        <p:spPr>
          <a:xfrm>
            <a:off x="485775" y="5887061"/>
            <a:ext cx="2712077" cy="179984"/>
          </a:xfrm>
          <a:prstGeom prst="rect">
            <a:avLst/>
          </a:prstGeom>
          <a:noFill/>
        </p:spPr>
        <p:txBody>
          <a:bodyPr wrap="none" lIns="0" rIns="0" tIns="0" bIns="0">
            <a:spAutoFit/>
          </a:bodyPr>
          <a:lstStyle/>
          <a:p>
            <a:r>
              <a:rPr sz="1055" b="0">
                <a:solidFill>
                  <a:srgbClr val="2E2E2E"/>
                </a:solidFill>
                <a:latin typeface="Calibri"/>
              </a:rPr>
              <a:t>without integrated monitoring segment in 2036.</a:t>
            </a:r>
          </a:p>
        </p:txBody>
      </p:sp>
      <p:sp>
        <p:nvSpPr>
          <p:cNvPr id="74" name="TextBox 73"/>
          <p:cNvSpPr txBox="1"/>
          <p:nvPr/>
        </p:nvSpPr>
        <p:spPr>
          <a:xfrm>
            <a:off x="3838575" y="4229437"/>
            <a:ext cx="2247007" cy="186689"/>
          </a:xfrm>
          <a:prstGeom prst="rect">
            <a:avLst/>
          </a:prstGeom>
          <a:noFill/>
        </p:spPr>
        <p:txBody>
          <a:bodyPr wrap="none" lIns="0" rIns="0" tIns="0" bIns="0">
            <a:spAutoFit/>
          </a:bodyPr>
          <a:lstStyle/>
          <a:p>
            <a:r>
              <a:rPr sz="1100" b="0">
                <a:solidFill>
                  <a:srgbClr val="2E2E2E"/>
                </a:solidFill>
                <a:latin typeface="Calibri"/>
              </a:rPr>
              <a:t>● Devices with Integrated Monitoring:</a:t>
            </a:r>
          </a:p>
        </p:txBody>
      </p:sp>
      <p:pic>
        <p:nvPicPr>
          <p:cNvPr id="75" name="Picture 74" descr="lock.png"/>
          <p:cNvPicPr>
            <a:picLocks noChangeAspect="1"/>
          </p:cNvPicPr>
          <p:nvPr/>
        </p:nvPicPr>
        <p:blipFill>
          <a:blip r:embed="rId10"/>
          <a:stretch>
            <a:fillRect/>
          </a:stretch>
        </p:blipFill>
        <p:spPr>
          <a:xfrm>
            <a:off x="6033633" y="4219658"/>
            <a:ext cx="128699" cy="187198"/>
          </a:xfrm>
          <a:prstGeom prst="rect">
            <a:avLst/>
          </a:prstGeom>
        </p:spPr>
      </p:pic>
      <p:sp>
        <p:nvSpPr>
          <p:cNvPr id="76" name="TextBox 75"/>
          <p:cNvSpPr txBox="1"/>
          <p:nvPr/>
        </p:nvSpPr>
        <p:spPr>
          <a:xfrm>
            <a:off x="620112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7" name="Picture 76" descr="lock.png"/>
          <p:cNvPicPr>
            <a:picLocks noChangeAspect="1"/>
          </p:cNvPicPr>
          <p:nvPr/>
        </p:nvPicPr>
        <p:blipFill>
          <a:blip r:embed="rId10"/>
          <a:stretch>
            <a:fillRect/>
          </a:stretch>
        </p:blipFill>
        <p:spPr>
          <a:xfrm>
            <a:off x="7060579" y="4219658"/>
            <a:ext cx="128699" cy="187198"/>
          </a:xfrm>
          <a:prstGeom prst="rect">
            <a:avLst/>
          </a:prstGeom>
        </p:spPr>
      </p:pic>
      <p:sp>
        <p:nvSpPr>
          <p:cNvPr id="78" name="TextBox 77"/>
          <p:cNvSpPr txBox="1"/>
          <p:nvPr/>
        </p:nvSpPr>
        <p:spPr>
          <a:xfrm>
            <a:off x="7228075" y="4229437"/>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79" name="TextBox 78"/>
          <p:cNvSpPr txBox="1"/>
          <p:nvPr/>
        </p:nvSpPr>
        <p:spPr>
          <a:xfrm>
            <a:off x="3838575" y="4397077"/>
            <a:ext cx="1152599" cy="186689"/>
          </a:xfrm>
          <a:prstGeom prst="rect">
            <a:avLst/>
          </a:prstGeom>
          <a:noFill/>
        </p:spPr>
        <p:txBody>
          <a:bodyPr wrap="none" lIns="0" rIns="0" tIns="0" bIns="0">
            <a:spAutoFit/>
          </a:bodyPr>
          <a:lstStyle/>
          <a:p>
            <a:r>
              <a:rPr sz="1100" b="0">
                <a:solidFill>
                  <a:srgbClr val="2E2E2E"/>
                </a:solidFill>
                <a:latin typeface="Calibri"/>
              </a:rPr>
              <a:t>leads the segment.</a:t>
            </a:r>
          </a:p>
        </p:txBody>
      </p:sp>
      <p:sp>
        <p:nvSpPr>
          <p:cNvPr id="80" name="TextBox 79"/>
          <p:cNvSpPr txBox="1"/>
          <p:nvPr/>
        </p:nvSpPr>
        <p:spPr>
          <a:xfrm>
            <a:off x="3838575" y="4615009"/>
            <a:ext cx="2441004" cy="186689"/>
          </a:xfrm>
          <a:prstGeom prst="rect">
            <a:avLst/>
          </a:prstGeom>
          <a:noFill/>
        </p:spPr>
        <p:txBody>
          <a:bodyPr wrap="none" lIns="0" rIns="0" tIns="0" bIns="0">
            <a:spAutoFit/>
          </a:bodyPr>
          <a:lstStyle/>
          <a:p>
            <a:r>
              <a:rPr sz="1100" b="0">
                <a:solidFill>
                  <a:srgbClr val="2E2E2E"/>
                </a:solidFill>
                <a:latin typeface="Calibri"/>
              </a:rPr>
              <a:t>● Devices without Integrated Monitoring:</a:t>
            </a:r>
          </a:p>
        </p:txBody>
      </p:sp>
      <p:pic>
        <p:nvPicPr>
          <p:cNvPr id="81" name="Picture 80" descr="lock.png"/>
          <p:cNvPicPr>
            <a:picLocks noChangeAspect="1"/>
          </p:cNvPicPr>
          <p:nvPr/>
        </p:nvPicPr>
        <p:blipFill>
          <a:blip r:embed="rId10"/>
          <a:stretch>
            <a:fillRect/>
          </a:stretch>
        </p:blipFill>
        <p:spPr>
          <a:xfrm>
            <a:off x="6227631" y="4605230"/>
            <a:ext cx="128699" cy="187198"/>
          </a:xfrm>
          <a:prstGeom prst="rect">
            <a:avLst/>
          </a:prstGeom>
        </p:spPr>
      </p:pic>
      <p:sp>
        <p:nvSpPr>
          <p:cNvPr id="82" name="TextBox 81"/>
          <p:cNvSpPr txBox="1"/>
          <p:nvPr/>
        </p:nvSpPr>
        <p:spPr>
          <a:xfrm>
            <a:off x="6395126" y="461500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10"/>
          <a:stretch>
            <a:fillRect/>
          </a:stretch>
        </p:blipFill>
        <p:spPr>
          <a:xfrm>
            <a:off x="7254577" y="4605230"/>
            <a:ext cx="128699" cy="187198"/>
          </a:xfrm>
          <a:prstGeom prst="rect">
            <a:avLst/>
          </a:prstGeom>
        </p:spPr>
      </p:pic>
      <p:sp>
        <p:nvSpPr>
          <p:cNvPr id="84" name="TextBox 83"/>
          <p:cNvSpPr txBox="1"/>
          <p:nvPr/>
        </p:nvSpPr>
        <p:spPr>
          <a:xfrm>
            <a:off x="7422072" y="4615009"/>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85" name="TextBox 84"/>
          <p:cNvSpPr txBox="1"/>
          <p:nvPr/>
        </p:nvSpPr>
        <p:spPr>
          <a:xfrm>
            <a:off x="3838575" y="4782649"/>
            <a:ext cx="909488" cy="186689"/>
          </a:xfrm>
          <a:prstGeom prst="rect">
            <a:avLst/>
          </a:prstGeom>
          <a:noFill/>
        </p:spPr>
        <p:txBody>
          <a:bodyPr wrap="none" lIns="0" rIns="0" tIns="0" bIns="0">
            <a:spAutoFit/>
          </a:bodyPr>
          <a:lstStyle/>
          <a:p>
            <a:r>
              <a:rPr sz="1100" b="0">
                <a:solidFill>
                  <a:srgbClr val="2E2E2E"/>
                </a:solidFill>
                <a:latin typeface="Calibri"/>
              </a:rPr>
              <a:t>serves a niche.</a:t>
            </a:r>
          </a:p>
        </p:txBody>
      </p:sp>
      <p:sp>
        <p:nvSpPr>
          <p:cNvPr id="86" name="TextBox 85"/>
          <p:cNvSpPr txBox="1"/>
          <p:nvPr/>
        </p:nvSpPr>
        <p:spPr>
          <a:xfrm>
            <a:off x="8524875" y="5842641"/>
            <a:ext cx="3121000" cy="194310"/>
          </a:xfrm>
          <a:prstGeom prst="rect">
            <a:avLst/>
          </a:prstGeom>
          <a:noFill/>
        </p:spPr>
        <p:txBody>
          <a:bodyPr wrap="none" lIns="0" rIns="0" tIns="0" bIns="0">
            <a:spAutoFit/>
          </a:bodyPr>
          <a:lstStyle/>
          <a:p>
            <a:r>
              <a:rPr sz="1150" b="1">
                <a:solidFill>
                  <a:srgbClr val="0B2E4A"/>
                </a:solidFill>
                <a:latin typeface="Calibri"/>
              </a:rPr>
              <a:t>The Monitoring Capability segment is projected to</a:t>
            </a:r>
          </a:p>
        </p:txBody>
      </p:sp>
      <p:sp>
        <p:nvSpPr>
          <p:cNvPr id="87" name="TextBox 86"/>
          <p:cNvSpPr txBox="1"/>
          <p:nvPr/>
        </p:nvSpPr>
        <p:spPr>
          <a:xfrm>
            <a:off x="8524875" y="6017901"/>
            <a:ext cx="1177823" cy="194310"/>
          </a:xfrm>
          <a:prstGeom prst="rect">
            <a:avLst/>
          </a:prstGeom>
          <a:noFill/>
        </p:spPr>
        <p:txBody>
          <a:bodyPr wrap="none" lIns="0" rIns="0" tIns="0" bIns="0">
            <a:spAutoFit/>
          </a:bodyPr>
          <a:lstStyle/>
          <a:p>
            <a:r>
              <a:rPr sz="1150" b="1">
                <a:solidFill>
                  <a:srgbClr val="0B2E4A"/>
                </a:solidFill>
                <a:latin typeface="Calibri"/>
              </a:rPr>
              <a:t>grow at a CAGR of</a:t>
            </a:r>
          </a:p>
        </p:txBody>
      </p:sp>
      <p:pic>
        <p:nvPicPr>
          <p:cNvPr id="88" name="Picture 87" descr="lock.png"/>
          <p:cNvPicPr>
            <a:picLocks noChangeAspect="1"/>
          </p:cNvPicPr>
          <p:nvPr/>
        </p:nvPicPr>
        <p:blipFill>
          <a:blip r:embed="rId10"/>
          <a:stretch>
            <a:fillRect/>
          </a:stretch>
        </p:blipFill>
        <p:spPr>
          <a:xfrm>
            <a:off x="9651852" y="6007677"/>
            <a:ext cx="134549" cy="195707"/>
          </a:xfrm>
          <a:prstGeom prst="rect">
            <a:avLst/>
          </a:prstGeom>
        </p:spPr>
      </p:pic>
      <p:sp>
        <p:nvSpPr>
          <p:cNvPr id="89" name="TextBox 88"/>
          <p:cNvSpPr txBox="1"/>
          <p:nvPr/>
        </p:nvSpPr>
        <p:spPr>
          <a:xfrm>
            <a:off x="9826962"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Monitoring Capability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Monitoring Capability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Monitoring Capability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Monitoring Capability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436920" cy="186689"/>
          </a:xfrm>
          <a:prstGeom prst="rect">
            <a:avLst/>
          </a:prstGeom>
          <a:noFill/>
        </p:spPr>
        <p:txBody>
          <a:bodyPr wrap="none" lIns="0" rIns="0" tIns="0" bIns="0">
            <a:spAutoFit/>
          </a:bodyPr>
          <a:lstStyle/>
          <a:p>
            <a:r>
              <a:rPr sz="1100" b="0">
                <a:solidFill>
                  <a:srgbClr val="2E2E2E"/>
                </a:solidFill>
                <a:latin typeface="Calibri"/>
              </a:rPr>
              <a:t>Devices with integrated monitoring followed by devices without integrated monitoring are expected to be the two most attractive monitoring capability segments in the North America organ transport</a:t>
            </a:r>
          </a:p>
        </p:txBody>
      </p:sp>
      <p:sp>
        <p:nvSpPr>
          <p:cNvPr id="20" name="TextBox 19"/>
          <p:cNvSpPr txBox="1"/>
          <p:nvPr/>
        </p:nvSpPr>
        <p:spPr>
          <a:xfrm>
            <a:off x="257175" y="5945505"/>
            <a:ext cx="9222985" cy="186689"/>
          </a:xfrm>
          <a:prstGeom prst="rect">
            <a:avLst/>
          </a:prstGeom>
          <a:noFill/>
        </p:spPr>
        <p:txBody>
          <a:bodyPr wrap="none" lIns="0" rIns="0" tIns="0" bIns="0">
            <a:spAutoFit/>
          </a:bodyPr>
          <a:lstStyle/>
          <a:p>
            <a:r>
              <a:rPr sz="1100" b="0">
                <a:solidFill>
                  <a:srgbClr val="2E2E2E"/>
                </a:solidFill>
                <a:latin typeface="Calibri"/>
              </a:rPr>
              <a:t>devices market in terms of value over the forecast period. Devices with integrated monitoring and devices without integrated monitoring exhibit a CAGR index of</a:t>
            </a:r>
          </a:p>
        </p:txBody>
      </p:sp>
      <p:pic>
        <p:nvPicPr>
          <p:cNvPr id="21" name="Picture 20" descr="lock.png"/>
          <p:cNvPicPr>
            <a:picLocks noChangeAspect="1"/>
          </p:cNvPicPr>
          <p:nvPr/>
        </p:nvPicPr>
        <p:blipFill>
          <a:blip r:embed="rId6"/>
          <a:stretch>
            <a:fillRect/>
          </a:stretch>
        </p:blipFill>
        <p:spPr>
          <a:xfrm>
            <a:off x="9428212" y="5935726"/>
            <a:ext cx="128699" cy="187198"/>
          </a:xfrm>
          <a:prstGeom prst="rect">
            <a:avLst/>
          </a:prstGeom>
        </p:spPr>
      </p:pic>
      <p:sp>
        <p:nvSpPr>
          <p:cNvPr id="22" name="TextBox 21"/>
          <p:cNvSpPr txBox="1"/>
          <p:nvPr/>
        </p:nvSpPr>
        <p:spPr>
          <a:xfrm>
            <a:off x="9595708"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9833602" y="5935726"/>
            <a:ext cx="128699" cy="187198"/>
          </a:xfrm>
          <a:prstGeom prst="rect">
            <a:avLst/>
          </a:prstGeom>
        </p:spPr>
      </p:pic>
      <p:sp>
        <p:nvSpPr>
          <p:cNvPr id="24" name="TextBox 23"/>
          <p:cNvSpPr txBox="1"/>
          <p:nvPr/>
        </p:nvSpPr>
        <p:spPr>
          <a:xfrm>
            <a:off x="10001098"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243707" y="6103366"/>
            <a:ext cx="128699" cy="187198"/>
          </a:xfrm>
          <a:prstGeom prst="rect">
            <a:avLst/>
          </a:prstGeom>
        </p:spPr>
      </p:pic>
      <p:sp>
        <p:nvSpPr>
          <p:cNvPr id="26" name="TextBox 25"/>
          <p:cNvSpPr txBox="1"/>
          <p:nvPr/>
        </p:nvSpPr>
        <p:spPr>
          <a:xfrm>
            <a:off x="411203" y="611314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49097" y="6103366"/>
            <a:ext cx="128699" cy="187198"/>
          </a:xfrm>
          <a:prstGeom prst="rect">
            <a:avLst/>
          </a:prstGeom>
        </p:spPr>
      </p:pic>
      <p:sp>
        <p:nvSpPr>
          <p:cNvPr id="28" name="TextBox 27"/>
          <p:cNvSpPr txBox="1"/>
          <p:nvPr/>
        </p:nvSpPr>
        <p:spPr>
          <a:xfrm>
            <a:off x="816593" y="611314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3370997" y="6103366"/>
            <a:ext cx="128699" cy="187198"/>
          </a:xfrm>
          <a:prstGeom prst="rect">
            <a:avLst/>
          </a:prstGeom>
        </p:spPr>
      </p:pic>
      <p:sp>
        <p:nvSpPr>
          <p:cNvPr id="30" name="TextBox 29"/>
          <p:cNvSpPr txBox="1"/>
          <p:nvPr/>
        </p:nvSpPr>
        <p:spPr>
          <a:xfrm>
            <a:off x="3538493" y="6113145"/>
            <a:ext cx="4443717" cy="186689"/>
          </a:xfrm>
          <a:prstGeom prst="rect">
            <a:avLst/>
          </a:prstGeom>
          <a:noFill/>
        </p:spPr>
        <p:txBody>
          <a:bodyPr wrap="none" lIns="0" rIns="0" tIns="0" bIns="0">
            <a:spAutoFit/>
          </a:bodyPr>
          <a:lstStyle/>
          <a:p>
            <a:r>
              <a:rPr sz="1100" b="0">
                <a:solidFill>
                  <a:srgbClr val="2E2E2E"/>
                </a:solidFill>
                <a:latin typeface="Calibri"/>
              </a:rPr>
              <a:t>. Bubbles right of the CAGR-Index line grow faster than the segment average.</a:t>
            </a:r>
          </a:p>
        </p:txBody>
      </p:sp>
      <p:sp>
        <p:nvSpPr>
          <p:cNvPr id="31"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Monitoring Capability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Devices without Integrated Monitoring</a:t>
            </a:r>
          </a:p>
        </p:txBody>
      </p:sp>
      <p:graphicFrame>
        <p:nvGraphicFramePr>
          <p:cNvPr id="12" name="Chart 11"/>
          <p:cNvGraphicFramePr>
            <a:graphicFrameLocks noGrp="1"/>
          </p:cNvGraphicFramePr>
          <p:nvPr/>
        </p:nvGraphicFramePr>
        <p:xfrm>
          <a:off x="238125" y="1438275"/>
          <a:ext cx="5686425" cy="51339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Devices with Integrated Monitoring</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7556" y="3674659"/>
            <a:ext cx="395643" cy="57548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Monitoring Capability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Monitoring Capability, 2021–2036, highlighting the sub-segments driving growth</a:t>
            </a:r>
          </a:p>
        </p:txBody>
      </p:sp>
      <p:sp>
        <p:nvSpPr>
          <p:cNvPr id="10" name="Rounded Rectangle 9"/>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Monitoring Capability (US$ Mn)</a:t>
            </a:r>
          </a:p>
        </p:txBody>
      </p:sp>
      <p:graphicFrame>
        <p:nvGraphicFramePr>
          <p:cNvPr id="12" name="Table 11"/>
          <p:cNvGraphicFramePr>
            <a:graphicFrameLocks noGrp="1"/>
          </p:cNvGraphicFramePr>
          <p:nvPr/>
        </p:nvGraphicFramePr>
        <p:xfrm>
          <a:off x="152400" y="1238250"/>
          <a:ext cx="11887202" cy="1724022"/>
        </p:xfrm>
        <a:graphic>
          <a:graphicData uri="http://schemas.openxmlformats.org/drawingml/2006/table">
            <a:tbl>
              <a:tblPr>
                <a:tableStyleId>{5C22544A-7EE6-4342-B048-85BDC9FD1C3A}</a:tableStyleId>
              </a:tblPr>
              <a:tblGrid>
                <a:gridCol w="3386136"/>
                <a:gridCol w="510646"/>
                <a:gridCol w="510646"/>
                <a:gridCol w="510646"/>
                <a:gridCol w="510646"/>
                <a:gridCol w="510646"/>
                <a:gridCol w="492658"/>
                <a:gridCol w="487519"/>
                <a:gridCol w="487519"/>
                <a:gridCol w="487519"/>
                <a:gridCol w="487519"/>
                <a:gridCol w="487519"/>
                <a:gridCol w="487519"/>
                <a:gridCol w="487519"/>
                <a:gridCol w="487519"/>
                <a:gridCol w="487519"/>
                <a:gridCol w="487519"/>
                <a:gridCol w="579988"/>
              </a:tblGrid>
              <a:tr h="246126">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Devices with Integrated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Temperature Monitoring Only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Temperature and Location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Physiological and Perfusion Parameter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305175"/>
            <a:ext cx="11906250" cy="3324225"/>
          </a:xfrm>
          <a:prstGeom prst="roundRect">
            <a:avLst>
              <a:gd name="adj" fmla="val 229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390900"/>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Monitoring Capability</a:t>
            </a:r>
          </a:p>
        </p:txBody>
      </p:sp>
      <p:sp>
        <p:nvSpPr>
          <p:cNvPr id="16" name="Rectangle 15"/>
          <p:cNvSpPr/>
          <p:nvPr/>
        </p:nvSpPr>
        <p:spPr>
          <a:xfrm>
            <a:off x="276225" y="36290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714750"/>
            <a:ext cx="11639550" cy="28384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602378" y="1956623"/>
            <a:ext cx="366712" cy="533400"/>
          </a:xfrm>
          <a:prstGeom prst="rect">
            <a:avLst/>
          </a:prstGeom>
        </p:spPr>
      </p:pic>
      <p:sp>
        <p:nvSpPr>
          <p:cNvPr id="20" name="TextBox 19"/>
          <p:cNvSpPr txBox="1"/>
          <p:nvPr/>
        </p:nvSpPr>
        <p:spPr>
          <a:xfrm>
            <a:off x="276225" y="3724275"/>
            <a:ext cx="4099135" cy="194310"/>
          </a:xfrm>
          <a:prstGeom prst="rect">
            <a:avLst/>
          </a:prstGeom>
          <a:noFill/>
        </p:spPr>
        <p:txBody>
          <a:bodyPr wrap="none" lIns="0" rIns="0" tIns="0" bIns="0">
            <a:spAutoFit/>
          </a:bodyPr>
          <a:lstStyle/>
          <a:p>
            <a:r>
              <a:rPr sz="1150" b="0">
                <a:solidFill>
                  <a:srgbClr val="2E2E2E"/>
                </a:solidFill>
                <a:latin typeface="Calibri"/>
              </a:rPr>
              <a:t>Devices with integrated monitoring segment is projected to register</a:t>
            </a:r>
          </a:p>
        </p:txBody>
      </p:sp>
      <p:pic>
        <p:nvPicPr>
          <p:cNvPr id="21" name="Picture 20" descr="lock.png"/>
          <p:cNvPicPr>
            <a:picLocks noChangeAspect="1"/>
          </p:cNvPicPr>
          <p:nvPr/>
        </p:nvPicPr>
        <p:blipFill>
          <a:blip r:embed="rId4"/>
          <a:stretch>
            <a:fillRect/>
          </a:stretch>
        </p:blipFill>
        <p:spPr>
          <a:xfrm>
            <a:off x="4324514" y="3714051"/>
            <a:ext cx="134549" cy="195707"/>
          </a:xfrm>
          <a:prstGeom prst="rect">
            <a:avLst/>
          </a:prstGeom>
        </p:spPr>
      </p:pic>
      <p:sp>
        <p:nvSpPr>
          <p:cNvPr id="22" name="TextBox 21"/>
          <p:cNvSpPr txBox="1"/>
          <p:nvPr/>
        </p:nvSpPr>
        <p:spPr>
          <a:xfrm>
            <a:off x="4499624" y="3724275"/>
            <a:ext cx="7367004" cy="194310"/>
          </a:xfrm>
          <a:prstGeom prst="rect">
            <a:avLst/>
          </a:prstGeom>
          <a:noFill/>
        </p:spPr>
        <p:txBody>
          <a:bodyPr wrap="none" lIns="0" rIns="0" tIns="0" bIns="0">
            <a:spAutoFit/>
          </a:bodyPr>
          <a:lstStyle/>
          <a:p>
            <a:r>
              <a:rPr sz="1150" b="0">
                <a:solidFill>
                  <a:srgbClr val="2E2E2E"/>
                </a:solidFill>
                <a:latin typeface="Calibri"/>
              </a:rPr>
              <a:t>X higher value than devices without integrated monitoring segment in 2036. Among organ transport devices by monitoring</a:t>
            </a:r>
          </a:p>
        </p:txBody>
      </p:sp>
      <p:sp>
        <p:nvSpPr>
          <p:cNvPr id="23" name="TextBox 22"/>
          <p:cNvSpPr txBox="1"/>
          <p:nvPr/>
        </p:nvSpPr>
        <p:spPr>
          <a:xfrm>
            <a:off x="276225" y="3899535"/>
            <a:ext cx="5915329" cy="194310"/>
          </a:xfrm>
          <a:prstGeom prst="rect">
            <a:avLst/>
          </a:prstGeom>
          <a:noFill/>
        </p:spPr>
        <p:txBody>
          <a:bodyPr wrap="none" lIns="0" rIns="0" tIns="0" bIns="0">
            <a:spAutoFit/>
          </a:bodyPr>
          <a:lstStyle/>
          <a:p>
            <a:r>
              <a:rPr sz="1150" b="0">
                <a:solidFill>
                  <a:srgbClr val="2E2E2E"/>
                </a:solidFill>
                <a:latin typeface="Calibri"/>
              </a:rPr>
              <a:t>capability, devices with integrated monitoring segment is expected to witness the highest CAGR of</a:t>
            </a:r>
          </a:p>
        </p:txBody>
      </p:sp>
      <p:pic>
        <p:nvPicPr>
          <p:cNvPr id="24" name="Picture 23" descr="lock.png"/>
          <p:cNvPicPr>
            <a:picLocks noChangeAspect="1"/>
          </p:cNvPicPr>
          <p:nvPr/>
        </p:nvPicPr>
        <p:blipFill>
          <a:blip r:embed="rId4"/>
          <a:stretch>
            <a:fillRect/>
          </a:stretch>
        </p:blipFill>
        <p:spPr>
          <a:xfrm>
            <a:off x="6140708" y="3889311"/>
            <a:ext cx="134549" cy="195707"/>
          </a:xfrm>
          <a:prstGeom prst="rect">
            <a:avLst/>
          </a:prstGeom>
        </p:spPr>
      </p:pic>
      <p:sp>
        <p:nvSpPr>
          <p:cNvPr id="25" name="TextBox 24"/>
          <p:cNvSpPr txBox="1"/>
          <p:nvPr/>
        </p:nvSpPr>
        <p:spPr>
          <a:xfrm>
            <a:off x="6315817" y="389953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4127372"/>
            <a:ext cx="8499177" cy="194310"/>
          </a:xfrm>
          <a:prstGeom prst="rect">
            <a:avLst/>
          </a:prstGeom>
          <a:noFill/>
        </p:spPr>
        <p:txBody>
          <a:bodyPr wrap="none" lIns="0" rIns="0" tIns="0" bIns="0">
            <a:spAutoFit/>
          </a:bodyPr>
          <a:lstStyle/>
          <a:p>
            <a:r>
              <a:rPr sz="1150" b="0">
                <a:solidFill>
                  <a:srgbClr val="2E2E2E"/>
                </a:solidFill>
                <a:latin typeface="Calibri"/>
              </a:rPr>
              <a:t>In terms of value share by monitoring capability, the devices with integrated monitoring segment is expected to dominate the market, gaining</a:t>
            </a:r>
          </a:p>
        </p:txBody>
      </p:sp>
      <p:pic>
        <p:nvPicPr>
          <p:cNvPr id="27" name="Picture 26" descr="lock.png"/>
          <p:cNvPicPr>
            <a:picLocks noChangeAspect="1"/>
          </p:cNvPicPr>
          <p:nvPr/>
        </p:nvPicPr>
        <p:blipFill>
          <a:blip r:embed="rId4"/>
          <a:stretch>
            <a:fillRect/>
          </a:stretch>
        </p:blipFill>
        <p:spPr>
          <a:xfrm>
            <a:off x="8724556" y="4117149"/>
            <a:ext cx="134549" cy="195707"/>
          </a:xfrm>
          <a:prstGeom prst="rect">
            <a:avLst/>
          </a:prstGeom>
        </p:spPr>
      </p:pic>
      <p:sp>
        <p:nvSpPr>
          <p:cNvPr id="28" name="TextBox 27"/>
          <p:cNvSpPr txBox="1"/>
          <p:nvPr/>
        </p:nvSpPr>
        <p:spPr>
          <a:xfrm>
            <a:off x="8899665" y="4127372"/>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294808" y="4117149"/>
            <a:ext cx="134549" cy="195707"/>
          </a:xfrm>
          <a:prstGeom prst="rect">
            <a:avLst/>
          </a:prstGeom>
        </p:spPr>
      </p:pic>
      <p:sp>
        <p:nvSpPr>
          <p:cNvPr id="30" name="TextBox 29"/>
          <p:cNvSpPr txBox="1"/>
          <p:nvPr/>
        </p:nvSpPr>
        <p:spPr>
          <a:xfrm>
            <a:off x="10469918" y="4127372"/>
            <a:ext cx="1200100" cy="194310"/>
          </a:xfrm>
          <a:prstGeom prst="rect">
            <a:avLst/>
          </a:prstGeom>
          <a:noFill/>
        </p:spPr>
        <p:txBody>
          <a:bodyPr wrap="none" lIns="0" rIns="0" tIns="0" bIns="0">
            <a:spAutoFit/>
          </a:bodyPr>
          <a:lstStyle/>
          <a:p>
            <a:r>
              <a:rPr sz="1150" b="0">
                <a:solidFill>
                  <a:srgbClr val="2E2E2E"/>
                </a:solidFill>
                <a:latin typeface="Calibri"/>
              </a:rPr>
              <a:t>share by 2036. The</a:t>
            </a:r>
          </a:p>
        </p:txBody>
      </p:sp>
      <p:sp>
        <p:nvSpPr>
          <p:cNvPr id="31" name="TextBox 30"/>
          <p:cNvSpPr txBox="1"/>
          <p:nvPr/>
        </p:nvSpPr>
        <p:spPr>
          <a:xfrm>
            <a:off x="276225" y="4302632"/>
            <a:ext cx="4046078" cy="194310"/>
          </a:xfrm>
          <a:prstGeom prst="rect">
            <a:avLst/>
          </a:prstGeom>
          <a:noFill/>
        </p:spPr>
        <p:txBody>
          <a:bodyPr wrap="none" lIns="0" rIns="0" tIns="0" bIns="0">
            <a:spAutoFit/>
          </a:bodyPr>
          <a:lstStyle/>
          <a:p>
            <a:r>
              <a:rPr sz="1150" b="0">
                <a:solidFill>
                  <a:srgbClr val="2E2E2E"/>
                </a:solidFill>
                <a:latin typeface="Calibri"/>
              </a:rPr>
              <a:t>devices without integrated monitoring segment is expected to lose</a:t>
            </a:r>
          </a:p>
        </p:txBody>
      </p:sp>
      <p:pic>
        <p:nvPicPr>
          <p:cNvPr id="32" name="Picture 31" descr="lock.png"/>
          <p:cNvPicPr>
            <a:picLocks noChangeAspect="1"/>
          </p:cNvPicPr>
          <p:nvPr/>
        </p:nvPicPr>
        <p:blipFill>
          <a:blip r:embed="rId4"/>
          <a:stretch>
            <a:fillRect/>
          </a:stretch>
        </p:blipFill>
        <p:spPr>
          <a:xfrm>
            <a:off x="4271457" y="4292409"/>
            <a:ext cx="134549" cy="195707"/>
          </a:xfrm>
          <a:prstGeom prst="rect">
            <a:avLst/>
          </a:prstGeom>
        </p:spPr>
      </p:pic>
      <p:sp>
        <p:nvSpPr>
          <p:cNvPr id="33" name="TextBox 32"/>
          <p:cNvSpPr txBox="1"/>
          <p:nvPr/>
        </p:nvSpPr>
        <p:spPr>
          <a:xfrm>
            <a:off x="4446566" y="4302632"/>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34" name="Picture 33" descr="lock.png"/>
          <p:cNvPicPr>
            <a:picLocks noChangeAspect="1"/>
          </p:cNvPicPr>
          <p:nvPr/>
        </p:nvPicPr>
        <p:blipFill>
          <a:blip r:embed="rId4"/>
          <a:stretch>
            <a:fillRect/>
          </a:stretch>
        </p:blipFill>
        <p:spPr>
          <a:xfrm>
            <a:off x="7034071" y="4292409"/>
            <a:ext cx="134549" cy="195707"/>
          </a:xfrm>
          <a:prstGeom prst="rect">
            <a:avLst/>
          </a:prstGeom>
        </p:spPr>
      </p:pic>
      <p:sp>
        <p:nvSpPr>
          <p:cNvPr id="35" name="TextBox 34"/>
          <p:cNvSpPr txBox="1"/>
          <p:nvPr/>
        </p:nvSpPr>
        <p:spPr>
          <a:xfrm>
            <a:off x="7209180" y="4302632"/>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Monitoring Capability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Monitoring Capability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6923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6447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8827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without Integrated Monitoring</a:t>
            </a:r>
          </a:p>
        </p:txBody>
      </p:sp>
      <p:sp>
        <p:nvSpPr>
          <p:cNvPr id="18" name="BPS Value 1"/>
          <p:cNvSpPr txBox="1"/>
          <p:nvPr/>
        </p:nvSpPr>
        <p:spPr>
          <a:xfrm>
            <a:off x="6896100" y="195018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4255424"/>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425066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17446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with Integrated Monitoring</a:t>
            </a:r>
          </a:p>
        </p:txBody>
      </p:sp>
      <p:sp>
        <p:nvSpPr>
          <p:cNvPr id="22" name="BPS Value 2"/>
          <p:cNvSpPr txBox="1"/>
          <p:nvPr/>
        </p:nvSpPr>
        <p:spPr>
          <a:xfrm>
            <a:off x="6896100" y="423637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Monitoring Capability</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25130" cy="194310"/>
          </a:xfrm>
          <a:prstGeom prst="rect">
            <a:avLst/>
          </a:prstGeom>
          <a:noFill/>
        </p:spPr>
        <p:txBody>
          <a:bodyPr wrap="none" lIns="0" rIns="0" tIns="0" bIns="0">
            <a:spAutoFit/>
          </a:bodyPr>
          <a:lstStyle/>
          <a:p>
            <a:r>
              <a:rPr sz="1150" b="0">
                <a:solidFill>
                  <a:srgbClr val="2E2E2E"/>
                </a:solidFill>
                <a:latin typeface="Calibri"/>
              </a:rPr>
              <a:t>Among organ transport devices by monitoring capability, devices</a:t>
            </a:r>
          </a:p>
        </p:txBody>
      </p:sp>
      <p:sp>
        <p:nvSpPr>
          <p:cNvPr id="30" name="TextBox 29"/>
          <p:cNvSpPr txBox="1"/>
          <p:nvPr/>
        </p:nvSpPr>
        <p:spPr>
          <a:xfrm>
            <a:off x="7829550" y="1575435"/>
            <a:ext cx="3811314" cy="194310"/>
          </a:xfrm>
          <a:prstGeom prst="rect">
            <a:avLst/>
          </a:prstGeom>
          <a:noFill/>
        </p:spPr>
        <p:txBody>
          <a:bodyPr wrap="none" lIns="0" rIns="0" tIns="0" bIns="0">
            <a:spAutoFit/>
          </a:bodyPr>
          <a:lstStyle/>
          <a:p>
            <a:r>
              <a:rPr sz="1150" b="0">
                <a:solidFill>
                  <a:srgbClr val="2E2E2E"/>
                </a:solidFill>
                <a:latin typeface="Calibri"/>
              </a:rPr>
              <a:t>with integrated monitoring segment is expected to witness the</a:t>
            </a:r>
          </a:p>
        </p:txBody>
      </p:sp>
      <p:sp>
        <p:nvSpPr>
          <p:cNvPr id="31" name="TextBox 30"/>
          <p:cNvSpPr txBox="1"/>
          <p:nvPr/>
        </p:nvSpPr>
        <p:spPr>
          <a:xfrm>
            <a:off x="7829550" y="1750695"/>
            <a:ext cx="1032353" cy="194310"/>
          </a:xfrm>
          <a:prstGeom prst="rect">
            <a:avLst/>
          </a:prstGeom>
          <a:noFill/>
        </p:spPr>
        <p:txBody>
          <a:bodyPr wrap="none" lIns="0" rIns="0" tIns="0" bIns="0">
            <a:spAutoFit/>
          </a:bodyPr>
          <a:lstStyle/>
          <a:p>
            <a:r>
              <a:rPr sz="1150" b="0">
                <a:solidFill>
                  <a:srgbClr val="2E2E2E"/>
                </a:solidFill>
                <a:latin typeface="Calibri"/>
              </a:rPr>
              <a:t>highest CAGR of</a:t>
            </a:r>
          </a:p>
        </p:txBody>
      </p:sp>
      <p:pic>
        <p:nvPicPr>
          <p:cNvPr id="32" name="Picture 31" descr="lock.png"/>
          <p:cNvPicPr>
            <a:picLocks noChangeAspect="1"/>
          </p:cNvPicPr>
          <p:nvPr/>
        </p:nvPicPr>
        <p:blipFill>
          <a:blip r:embed="rId5"/>
          <a:stretch>
            <a:fillRect/>
          </a:stretch>
        </p:blipFill>
        <p:spPr>
          <a:xfrm>
            <a:off x="8811057" y="1740471"/>
            <a:ext cx="134549" cy="195707"/>
          </a:xfrm>
          <a:prstGeom prst="rect">
            <a:avLst/>
          </a:prstGeom>
        </p:spPr>
      </p:pic>
      <p:sp>
        <p:nvSpPr>
          <p:cNvPr id="33" name="TextBox 32"/>
          <p:cNvSpPr txBox="1"/>
          <p:nvPr/>
        </p:nvSpPr>
        <p:spPr>
          <a:xfrm>
            <a:off x="8986166" y="1750695"/>
            <a:ext cx="2581585" cy="194310"/>
          </a:xfrm>
          <a:prstGeom prst="rect">
            <a:avLst/>
          </a:prstGeom>
          <a:noFill/>
        </p:spPr>
        <p:txBody>
          <a:bodyPr wrap="none" lIns="0" rIns="0" tIns="0" bIns="0">
            <a:spAutoFit/>
          </a:bodyPr>
          <a:lstStyle/>
          <a:p>
            <a:r>
              <a:rPr sz="1150" b="0">
                <a:solidFill>
                  <a:srgbClr val="2E2E2E"/>
                </a:solidFill>
                <a:latin typeface="Calibri"/>
              </a:rPr>
              <a:t>over the forecast period. In terms of value</a:t>
            </a:r>
          </a:p>
        </p:txBody>
      </p:sp>
      <p:sp>
        <p:nvSpPr>
          <p:cNvPr id="34" name="TextBox 33"/>
          <p:cNvSpPr txBox="1"/>
          <p:nvPr/>
        </p:nvSpPr>
        <p:spPr>
          <a:xfrm>
            <a:off x="7829550" y="1925955"/>
            <a:ext cx="3569989" cy="194310"/>
          </a:xfrm>
          <a:prstGeom prst="rect">
            <a:avLst/>
          </a:prstGeom>
          <a:noFill/>
        </p:spPr>
        <p:txBody>
          <a:bodyPr wrap="none" lIns="0" rIns="0" tIns="0" bIns="0">
            <a:spAutoFit/>
          </a:bodyPr>
          <a:lstStyle/>
          <a:p>
            <a:r>
              <a:rPr sz="1150" b="0">
                <a:solidFill>
                  <a:srgbClr val="2E2E2E"/>
                </a:solidFill>
                <a:latin typeface="Calibri"/>
              </a:rPr>
              <a:t>share by monitoring capability, the devices with integrated</a:t>
            </a:r>
          </a:p>
        </p:txBody>
      </p:sp>
      <p:sp>
        <p:nvSpPr>
          <p:cNvPr id="35" name="TextBox 34"/>
          <p:cNvSpPr txBox="1"/>
          <p:nvPr/>
        </p:nvSpPr>
        <p:spPr>
          <a:xfrm>
            <a:off x="7829550" y="2101215"/>
            <a:ext cx="3939393" cy="194310"/>
          </a:xfrm>
          <a:prstGeom prst="rect">
            <a:avLst/>
          </a:prstGeom>
          <a:noFill/>
        </p:spPr>
        <p:txBody>
          <a:bodyPr wrap="none" lIns="0" rIns="0" tIns="0" bIns="0">
            <a:spAutoFit/>
          </a:bodyPr>
          <a:lstStyle/>
          <a:p>
            <a:r>
              <a:rPr sz="1150" b="0">
                <a:solidFill>
                  <a:srgbClr val="2E2E2E"/>
                </a:solidFill>
                <a:latin typeface="Calibri"/>
              </a:rPr>
              <a:t>monitoring segment is expected to dominate the market, gaining</a:t>
            </a:r>
          </a:p>
        </p:txBody>
      </p:sp>
      <p:pic>
        <p:nvPicPr>
          <p:cNvPr id="36" name="Picture 35" descr="lock.png"/>
          <p:cNvPicPr>
            <a:picLocks noChangeAspect="1"/>
          </p:cNvPicPr>
          <p:nvPr/>
        </p:nvPicPr>
        <p:blipFill>
          <a:blip r:embed="rId5"/>
          <a:stretch>
            <a:fillRect/>
          </a:stretch>
        </p:blipFill>
        <p:spPr>
          <a:xfrm>
            <a:off x="7815470" y="2266251"/>
            <a:ext cx="134549" cy="195707"/>
          </a:xfrm>
          <a:prstGeom prst="rect">
            <a:avLst/>
          </a:prstGeom>
        </p:spPr>
      </p:pic>
      <p:sp>
        <p:nvSpPr>
          <p:cNvPr id="37" name="TextBox 36"/>
          <p:cNvSpPr txBox="1"/>
          <p:nvPr/>
        </p:nvSpPr>
        <p:spPr>
          <a:xfrm>
            <a:off x="7990579" y="2276475"/>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38" name="Picture 37" descr="lock.png"/>
          <p:cNvPicPr>
            <a:picLocks noChangeAspect="1"/>
          </p:cNvPicPr>
          <p:nvPr/>
        </p:nvPicPr>
        <p:blipFill>
          <a:blip r:embed="rId5"/>
          <a:stretch>
            <a:fillRect/>
          </a:stretch>
        </p:blipFill>
        <p:spPr>
          <a:xfrm>
            <a:off x="9385722" y="2266251"/>
            <a:ext cx="134549" cy="195707"/>
          </a:xfrm>
          <a:prstGeom prst="rect">
            <a:avLst/>
          </a:prstGeom>
        </p:spPr>
      </p:pic>
      <p:sp>
        <p:nvSpPr>
          <p:cNvPr id="39" name="TextBox 38"/>
          <p:cNvSpPr txBox="1"/>
          <p:nvPr/>
        </p:nvSpPr>
        <p:spPr>
          <a:xfrm>
            <a:off x="9560832" y="2276475"/>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0" name="TextBox 39"/>
          <p:cNvSpPr txBox="1"/>
          <p:nvPr/>
        </p:nvSpPr>
        <p:spPr>
          <a:xfrm>
            <a:off x="7829550" y="2504313"/>
            <a:ext cx="4026396" cy="194310"/>
          </a:xfrm>
          <a:prstGeom prst="rect">
            <a:avLst/>
          </a:prstGeom>
          <a:noFill/>
        </p:spPr>
        <p:txBody>
          <a:bodyPr wrap="none" lIns="0" rIns="0" tIns="0" bIns="0">
            <a:spAutoFit/>
          </a:bodyPr>
          <a:lstStyle/>
          <a:p>
            <a:r>
              <a:rPr sz="1150" b="0">
                <a:solidFill>
                  <a:srgbClr val="2E2E2E"/>
                </a:solidFill>
                <a:latin typeface="Calibri"/>
              </a:rPr>
              <a:t>The devices without integrated monitoring segment is expected to</a:t>
            </a:r>
          </a:p>
        </p:txBody>
      </p:sp>
      <p:sp>
        <p:nvSpPr>
          <p:cNvPr id="41" name="TextBox 40"/>
          <p:cNvSpPr txBox="1"/>
          <p:nvPr/>
        </p:nvSpPr>
        <p:spPr>
          <a:xfrm>
            <a:off x="7829550" y="2679573"/>
            <a:ext cx="316669" cy="194310"/>
          </a:xfrm>
          <a:prstGeom prst="rect">
            <a:avLst/>
          </a:prstGeom>
          <a:noFill/>
        </p:spPr>
        <p:txBody>
          <a:bodyPr wrap="none" lIns="0" rIns="0" tIns="0" bIns="0">
            <a:spAutoFit/>
          </a:bodyPr>
          <a:lstStyle/>
          <a:p>
            <a:r>
              <a:rPr sz="1150" b="0">
                <a:solidFill>
                  <a:srgbClr val="2E2E2E"/>
                </a:solidFill>
                <a:latin typeface="Calibri"/>
              </a:rPr>
              <a:t>lose</a:t>
            </a:r>
          </a:p>
        </p:txBody>
      </p:sp>
      <p:pic>
        <p:nvPicPr>
          <p:cNvPr id="42" name="Picture 41" descr="lock.png"/>
          <p:cNvPicPr>
            <a:picLocks noChangeAspect="1"/>
          </p:cNvPicPr>
          <p:nvPr/>
        </p:nvPicPr>
        <p:blipFill>
          <a:blip r:embed="rId5"/>
          <a:stretch>
            <a:fillRect/>
          </a:stretch>
        </p:blipFill>
        <p:spPr>
          <a:xfrm>
            <a:off x="8095372" y="2669349"/>
            <a:ext cx="134549" cy="195707"/>
          </a:xfrm>
          <a:prstGeom prst="rect">
            <a:avLst/>
          </a:prstGeom>
        </p:spPr>
      </p:pic>
      <p:sp>
        <p:nvSpPr>
          <p:cNvPr id="43" name="TextBox 42"/>
          <p:cNvSpPr txBox="1"/>
          <p:nvPr/>
        </p:nvSpPr>
        <p:spPr>
          <a:xfrm>
            <a:off x="8270482" y="2679573"/>
            <a:ext cx="2638350" cy="194310"/>
          </a:xfrm>
          <a:prstGeom prst="rect">
            <a:avLst/>
          </a:prstGeom>
          <a:noFill/>
        </p:spPr>
        <p:txBody>
          <a:bodyPr wrap="none" lIns="0" rIns="0" tIns="0" bIns="0">
            <a:spAutoFit/>
          </a:bodyPr>
          <a:lstStyle/>
          <a:p>
            <a:r>
              <a:rPr sz="1150" b="0">
                <a:solidFill>
                  <a:srgbClr val="2E2E2E"/>
                </a:solidFill>
                <a:latin typeface="Calibri"/>
              </a:rPr>
              <a:t>BPS over the forecast period to account for</a:t>
            </a:r>
          </a:p>
        </p:txBody>
      </p:sp>
      <p:pic>
        <p:nvPicPr>
          <p:cNvPr id="44" name="Picture 43" descr="lock.png"/>
          <p:cNvPicPr>
            <a:picLocks noChangeAspect="1"/>
          </p:cNvPicPr>
          <p:nvPr/>
        </p:nvPicPr>
        <p:blipFill>
          <a:blip r:embed="rId5"/>
          <a:stretch>
            <a:fillRect/>
          </a:stretch>
        </p:blipFill>
        <p:spPr>
          <a:xfrm>
            <a:off x="10857986" y="2669349"/>
            <a:ext cx="134549" cy="195707"/>
          </a:xfrm>
          <a:prstGeom prst="rect">
            <a:avLst/>
          </a:prstGeom>
        </p:spPr>
      </p:pic>
      <p:sp>
        <p:nvSpPr>
          <p:cNvPr id="45" name="TextBox 44"/>
          <p:cNvSpPr txBox="1"/>
          <p:nvPr/>
        </p:nvSpPr>
        <p:spPr>
          <a:xfrm>
            <a:off x="11033096" y="2679573"/>
            <a:ext cx="579673" cy="194310"/>
          </a:xfrm>
          <a:prstGeom prst="rect">
            <a:avLst/>
          </a:prstGeom>
          <a:noFill/>
        </p:spPr>
        <p:txBody>
          <a:bodyPr wrap="none" lIns="0" rIns="0" tIns="0" bIns="0">
            <a:spAutoFit/>
          </a:bodyPr>
          <a:lstStyle/>
          <a:p>
            <a:r>
              <a:rPr sz="1150" b="0">
                <a:solidFill>
                  <a:srgbClr val="2E2E2E"/>
                </a:solidFill>
                <a:latin typeface="Calibri"/>
              </a:rPr>
              <a:t>share by</a:t>
            </a:r>
          </a:p>
        </p:txBody>
      </p:sp>
      <p:sp>
        <p:nvSpPr>
          <p:cNvPr id="46" name="TextBox 45"/>
          <p:cNvSpPr txBox="1"/>
          <p:nvPr/>
        </p:nvSpPr>
        <p:spPr>
          <a:xfrm>
            <a:off x="7829550" y="2854832"/>
            <a:ext cx="409661" cy="194310"/>
          </a:xfrm>
          <a:prstGeom prst="rect">
            <a:avLst/>
          </a:prstGeom>
          <a:noFill/>
        </p:spPr>
        <p:txBody>
          <a:bodyPr wrap="none" lIns="0" rIns="0" tIns="0" bIns="0">
            <a:spAutoFit/>
          </a:bodyPr>
          <a:lstStyle/>
          <a:p>
            <a:r>
              <a:rPr sz="1150" b="0">
                <a:solidFill>
                  <a:srgbClr val="2E2E2E"/>
                </a:solidFill>
                <a:latin typeface="Calibri"/>
              </a:rPr>
              <a:t>2036.</a:t>
            </a:r>
          </a:p>
        </p:txBody>
      </p:sp>
      <p:sp>
        <p:nvSpPr>
          <p:cNvPr id="47"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Purchasing Organisation</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Purchasing Organisation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Purchasing Organisation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4 sub-segments of Purchasing Organisation,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Purchasing Organisation segment categorizes the market by purchasing organisation.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2414588"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2414588"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Hospitals and Transplant Centres</a:t>
            </a:r>
          </a:p>
        </p:txBody>
      </p:sp>
      <p:sp>
        <p:nvSpPr>
          <p:cNvPr id="22" name="Rectangle 21"/>
          <p:cNvSpPr/>
          <p:nvPr/>
        </p:nvSpPr>
        <p:spPr>
          <a:xfrm>
            <a:off x="1866900"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2912269"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4395788" y="1773916"/>
            <a:ext cx="2414588"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95788" y="1992961"/>
            <a:ext cx="2414588"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3888"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Organ Procurement Organisations a…</a:t>
            </a:r>
          </a:p>
        </p:txBody>
      </p:sp>
      <p:sp>
        <p:nvSpPr>
          <p:cNvPr id="29" name="Rectangle 28"/>
          <p:cNvSpPr/>
          <p:nvPr/>
        </p:nvSpPr>
        <p:spPr>
          <a:xfrm>
            <a:off x="4395788"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4395788"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4395788"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5441156"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6924675" y="1773916"/>
            <a:ext cx="2414588" cy="438089"/>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24675" y="1992961"/>
            <a:ext cx="2414588" cy="21904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62775"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Specialised Medical Logistics Pro…</a:t>
            </a:r>
          </a:p>
        </p:txBody>
      </p:sp>
      <p:sp>
        <p:nvSpPr>
          <p:cNvPr id="36" name="Rectangle 35"/>
          <p:cNvSpPr/>
          <p:nvPr/>
        </p:nvSpPr>
        <p:spPr>
          <a:xfrm>
            <a:off x="6924675"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7" name="Rectangle 36"/>
          <p:cNvSpPr/>
          <p:nvPr/>
        </p:nvSpPr>
        <p:spPr>
          <a:xfrm>
            <a:off x="6924675"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8" name="Rectangle 37"/>
          <p:cNvSpPr/>
          <p:nvPr/>
        </p:nvSpPr>
        <p:spPr>
          <a:xfrm>
            <a:off x="6924675"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
            </a:r>
          </a:p>
        </p:txBody>
      </p:sp>
      <p:sp>
        <p:nvSpPr>
          <p:cNvPr id="39" name="Oval 38"/>
          <p:cNvSpPr/>
          <p:nvPr/>
        </p:nvSpPr>
        <p:spPr>
          <a:xfrm>
            <a:off x="7970044" y="1445350"/>
            <a:ext cx="323850" cy="310313"/>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0" name="Rounded Rectangle 39"/>
          <p:cNvSpPr/>
          <p:nvPr/>
        </p:nvSpPr>
        <p:spPr>
          <a:xfrm>
            <a:off x="9453562" y="1773916"/>
            <a:ext cx="2414588" cy="438089"/>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453562" y="1992961"/>
            <a:ext cx="2414588" cy="21904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91662" y="1773916"/>
            <a:ext cx="2338388" cy="438089"/>
          </a:xfrm>
          <a:prstGeom prst="rect">
            <a:avLst/>
          </a:prstGeom>
          <a:noFill/>
        </p:spPr>
        <p:txBody>
          <a:bodyPr wrap="square" lIns="28575" rIns="28575" tIns="9525" bIns="9525" anchor="ctr">
            <a:spAutoFit/>
          </a:bodyPr>
          <a:lstStyle/>
          <a:p>
            <a:pPr algn="ctr"/>
            <a:r>
              <a:rPr sz="1100" b="1">
                <a:solidFill>
                  <a:srgbClr val="FFFFFF"/>
                </a:solidFill>
                <a:latin typeface="Calibri"/>
              </a:rPr>
              <a:t>Other Purchasing Organisations</a:t>
            </a:r>
          </a:p>
        </p:txBody>
      </p:sp>
      <p:sp>
        <p:nvSpPr>
          <p:cNvPr id="43" name="Rectangle 42"/>
          <p:cNvSpPr/>
          <p:nvPr/>
        </p:nvSpPr>
        <p:spPr>
          <a:xfrm>
            <a:off x="9453562" y="22302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4" name="Rectangle 43"/>
          <p:cNvSpPr/>
          <p:nvPr/>
        </p:nvSpPr>
        <p:spPr>
          <a:xfrm>
            <a:off x="9453562" y="2723109"/>
            <a:ext cx="2414588"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5" name="Rectangle 44"/>
          <p:cNvSpPr/>
          <p:nvPr/>
        </p:nvSpPr>
        <p:spPr>
          <a:xfrm>
            <a:off x="9453562" y="3215959"/>
            <a:ext cx="2414588"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
            </a:r>
          </a:p>
        </p:txBody>
      </p:sp>
      <p:sp>
        <p:nvSpPr>
          <p:cNvPr id="46" name="Oval 45"/>
          <p:cNvSpPr/>
          <p:nvPr/>
        </p:nvSpPr>
        <p:spPr>
          <a:xfrm>
            <a:off x="10498931" y="1445350"/>
            <a:ext cx="323850" cy="310313"/>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7" name="Rounded Rectangle 46"/>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49" name="Rectangle 48"/>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4219912"/>
            <a:ext cx="2971800" cy="2117429"/>
          </a:xfrm>
          <a:prstGeom prst="rect">
            <a:avLst/>
          </a:prstGeom>
          <a:noFill/>
        </p:spPr>
        <p:txBody>
          <a:bodyPr wrap="square" lIns="28575" rIns="28575" tIns="9525" bIns="9525">
            <a:spAutoFit/>
          </a:bodyPr>
          <a:lstStyle/>
          <a:p>
            <a:pPr algn="l">
              <a:lnSpc>
                <a:spcPct val="105000"/>
              </a:lnSpc>
              <a:spcBef>
                <a:spcPts val="0"/>
              </a:spcBef>
              <a:spcAft>
                <a:spcPts val="300"/>
              </a:spcAft>
            </a:pPr>
            <a:r>
              <a:rPr sz="1100" b="0">
                <a:solidFill>
                  <a:srgbClr val="2E2E2E"/>
                </a:solidFill>
                <a:latin typeface="Calibri"/>
              </a:rPr>
              <a:t/>
            </a:r>
          </a:p>
          <a:p>
            <a:pPr algn="l">
              <a:lnSpc>
                <a:spcPct val="105000"/>
              </a:lnSpc>
              <a:spcBef>
                <a:spcPts val="0"/>
              </a:spcBef>
              <a:spcAft>
                <a:spcPts val="300"/>
              </a:spcAft>
            </a:pPr>
            <a:r>
              <a:rPr sz="1100" b="0">
                <a:solidFill>
                  <a:srgbClr val="2E2E2E"/>
                </a:solidFill>
                <a:latin typeface="Calibri"/>
              </a:rPr>
              <a:t/>
            </a:r>
          </a:p>
        </p:txBody>
      </p:sp>
      <p:sp>
        <p:nvSpPr>
          <p:cNvPr id="51" name="Rounded Rectangle 50"/>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3" name="Rectangle 52"/>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08189"/>
                </a:solidFill>
                <a:latin typeface="Calibri"/>
              </a:rPr>
              <a:t/>
            </a:r>
            <a:r>
              <a:rPr sz="1100" b="1">
                <a:solidFill>
                  <a:srgbClr val="008189"/>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6F3CC2"/>
                </a:solidFill>
                <a:latin typeface="Calibri"/>
              </a:rPr>
              <a:t/>
            </a:r>
            <a:r>
              <a:rPr sz="1100" b="1">
                <a:solidFill>
                  <a:srgbClr val="6F3CC2"/>
                </a:solidFill>
                <a:latin typeface="Calibri"/>
              </a:rPr>
              <a:t/>
            </a:r>
            <a:r>
              <a:rPr sz="1100" b="0">
                <a:solidFill>
                  <a:srgbClr val="2E2E2E"/>
                </a:solidFill>
                <a:latin typeface="Calibri"/>
              </a:rPr>
              <a:t/>
            </a:r>
          </a:p>
        </p:txBody>
      </p:sp>
      <p:sp>
        <p:nvSpPr>
          <p:cNvPr id="55" name="Rounded Rectangle 54"/>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7" name="Rectangle 56"/>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Purchasing Organisation split shows how demand is distributed across purchasing organisation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59" name="Rectangle 58"/>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61" name="TextBox 60"/>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1_409_605E5C.png"/>
          <p:cNvPicPr>
            <a:picLocks noChangeAspect="1"/>
          </p:cNvPicPr>
          <p:nvPr/>
        </p:nvPicPr>
        <p:blipFill>
          <a:blip r:embed="rId4"/>
          <a:stretch>
            <a:fillRect/>
          </a:stretch>
        </p:blipFill>
        <p:spPr>
          <a:xfrm>
            <a:off x="2476330" y="2286582"/>
            <a:ext cx="1195728" cy="361950"/>
          </a:xfrm>
          <a:prstGeom prst="rect">
            <a:avLst/>
          </a:prstGeom>
        </p:spPr>
      </p:pic>
      <p:pic>
        <p:nvPicPr>
          <p:cNvPr id="64" name="Picture 63" descr="1_879_605E5C.png"/>
          <p:cNvPicPr>
            <a:picLocks noChangeAspect="1"/>
          </p:cNvPicPr>
          <p:nvPr/>
        </p:nvPicPr>
        <p:blipFill>
          <a:blip r:embed="rId5"/>
          <a:stretch>
            <a:fillRect/>
          </a:stretch>
        </p:blipFill>
        <p:spPr>
          <a:xfrm>
            <a:off x="2476330" y="2779432"/>
            <a:ext cx="1195728" cy="361950"/>
          </a:xfrm>
          <a:prstGeom prst="rect">
            <a:avLst/>
          </a:prstGeom>
        </p:spPr>
      </p:pic>
      <p:pic>
        <p:nvPicPr>
          <p:cNvPr id="65" name="Picture 64" descr="2_9__605E5C.png"/>
          <p:cNvPicPr>
            <a:picLocks noChangeAspect="1"/>
          </p:cNvPicPr>
          <p:nvPr/>
        </p:nvPicPr>
        <p:blipFill>
          <a:blip r:embed="rId6"/>
          <a:stretch>
            <a:fillRect/>
          </a:stretch>
        </p:blipFill>
        <p:spPr>
          <a:xfrm>
            <a:off x="2582976" y="3272281"/>
            <a:ext cx="982436" cy="361950"/>
          </a:xfrm>
          <a:prstGeom prst="rect">
            <a:avLst/>
          </a:prstGeom>
        </p:spPr>
      </p:pic>
      <p:pic>
        <p:nvPicPr>
          <p:cNvPr id="66" name="Picture 65" descr="1_051_605E5C.png"/>
          <p:cNvPicPr>
            <a:picLocks noChangeAspect="1"/>
          </p:cNvPicPr>
          <p:nvPr/>
        </p:nvPicPr>
        <p:blipFill>
          <a:blip r:embed="rId7"/>
          <a:stretch>
            <a:fillRect/>
          </a:stretch>
        </p:blipFill>
        <p:spPr>
          <a:xfrm>
            <a:off x="5005218" y="2286582"/>
            <a:ext cx="1195728" cy="361950"/>
          </a:xfrm>
          <a:prstGeom prst="rect">
            <a:avLst/>
          </a:prstGeom>
        </p:spPr>
      </p:pic>
      <p:pic>
        <p:nvPicPr>
          <p:cNvPr id="67" name="Picture 66" descr="1_649_605E5C.png"/>
          <p:cNvPicPr>
            <a:picLocks noChangeAspect="1"/>
          </p:cNvPicPr>
          <p:nvPr/>
        </p:nvPicPr>
        <p:blipFill>
          <a:blip r:embed="rId8"/>
          <a:stretch>
            <a:fillRect/>
          </a:stretch>
        </p:blipFill>
        <p:spPr>
          <a:xfrm>
            <a:off x="5005218" y="2779432"/>
            <a:ext cx="1195728" cy="361950"/>
          </a:xfrm>
          <a:prstGeom prst="rect">
            <a:avLst/>
          </a:prstGeom>
        </p:spPr>
      </p:pic>
      <p:pic>
        <p:nvPicPr>
          <p:cNvPr id="68" name="Picture 67" descr="4_6__605E5C.png"/>
          <p:cNvPicPr>
            <a:picLocks noChangeAspect="1"/>
          </p:cNvPicPr>
          <p:nvPr/>
        </p:nvPicPr>
        <p:blipFill>
          <a:blip r:embed="rId9"/>
          <a:stretch>
            <a:fillRect/>
          </a:stretch>
        </p:blipFill>
        <p:spPr>
          <a:xfrm>
            <a:off x="5111864" y="3272281"/>
            <a:ext cx="982436" cy="361950"/>
          </a:xfrm>
          <a:prstGeom prst="rect">
            <a:avLst/>
          </a:prstGeom>
        </p:spPr>
      </p:pic>
      <p:pic>
        <p:nvPicPr>
          <p:cNvPr id="69" name="Picture 68" descr="641_9_605E5C.png"/>
          <p:cNvPicPr>
            <a:picLocks noChangeAspect="1"/>
          </p:cNvPicPr>
          <p:nvPr/>
        </p:nvPicPr>
        <p:blipFill>
          <a:blip r:embed="rId10"/>
          <a:stretch>
            <a:fillRect/>
          </a:stretch>
        </p:blipFill>
        <p:spPr>
          <a:xfrm>
            <a:off x="7534105" y="2286582"/>
            <a:ext cx="1195728" cy="361950"/>
          </a:xfrm>
          <a:prstGeom prst="rect">
            <a:avLst/>
          </a:prstGeom>
        </p:spPr>
      </p:pic>
      <p:pic>
        <p:nvPicPr>
          <p:cNvPr id="70" name="Picture 69" descr="1_200_605E5C.png"/>
          <p:cNvPicPr>
            <a:picLocks noChangeAspect="1"/>
          </p:cNvPicPr>
          <p:nvPr/>
        </p:nvPicPr>
        <p:blipFill>
          <a:blip r:embed="rId11"/>
          <a:stretch>
            <a:fillRect/>
          </a:stretch>
        </p:blipFill>
        <p:spPr>
          <a:xfrm>
            <a:off x="7534105" y="2779432"/>
            <a:ext cx="1195728" cy="361950"/>
          </a:xfrm>
          <a:prstGeom prst="rect">
            <a:avLst/>
          </a:prstGeom>
        </p:spPr>
      </p:pic>
      <p:pic>
        <p:nvPicPr>
          <p:cNvPr id="71" name="Picture 70" descr="6_5__605E5C.png"/>
          <p:cNvPicPr>
            <a:picLocks noChangeAspect="1"/>
          </p:cNvPicPr>
          <p:nvPr/>
        </p:nvPicPr>
        <p:blipFill>
          <a:blip r:embed="rId12"/>
          <a:stretch>
            <a:fillRect/>
          </a:stretch>
        </p:blipFill>
        <p:spPr>
          <a:xfrm>
            <a:off x="7640751" y="3272281"/>
            <a:ext cx="982436" cy="361950"/>
          </a:xfrm>
          <a:prstGeom prst="rect">
            <a:avLst/>
          </a:prstGeom>
        </p:spPr>
      </p:pic>
      <p:pic>
        <p:nvPicPr>
          <p:cNvPr id="72" name="Picture 71" descr="495_0_605E5C.png"/>
          <p:cNvPicPr>
            <a:picLocks noChangeAspect="1"/>
          </p:cNvPicPr>
          <p:nvPr/>
        </p:nvPicPr>
        <p:blipFill>
          <a:blip r:embed="rId13"/>
          <a:stretch>
            <a:fillRect/>
          </a:stretch>
        </p:blipFill>
        <p:spPr>
          <a:xfrm>
            <a:off x="10062992" y="2286582"/>
            <a:ext cx="1195728" cy="361950"/>
          </a:xfrm>
          <a:prstGeom prst="rect">
            <a:avLst/>
          </a:prstGeom>
        </p:spPr>
      </p:pic>
      <p:pic>
        <p:nvPicPr>
          <p:cNvPr id="73" name="Picture 72" descr="625_0_605E5C.png"/>
          <p:cNvPicPr>
            <a:picLocks noChangeAspect="1"/>
          </p:cNvPicPr>
          <p:nvPr/>
        </p:nvPicPr>
        <p:blipFill>
          <a:blip r:embed="rId14"/>
          <a:stretch>
            <a:fillRect/>
          </a:stretch>
        </p:blipFill>
        <p:spPr>
          <a:xfrm>
            <a:off x="10062992" y="2779432"/>
            <a:ext cx="1195728" cy="361950"/>
          </a:xfrm>
          <a:prstGeom prst="rect">
            <a:avLst/>
          </a:prstGeom>
        </p:spPr>
      </p:pic>
      <p:pic>
        <p:nvPicPr>
          <p:cNvPr id="74" name="Picture 73" descr="2_4__605E5C.png"/>
          <p:cNvPicPr>
            <a:picLocks noChangeAspect="1"/>
          </p:cNvPicPr>
          <p:nvPr/>
        </p:nvPicPr>
        <p:blipFill>
          <a:blip r:embed="rId15"/>
          <a:stretch>
            <a:fillRect/>
          </a:stretch>
        </p:blipFill>
        <p:spPr>
          <a:xfrm>
            <a:off x="10169638" y="3272281"/>
            <a:ext cx="982436" cy="361950"/>
          </a:xfrm>
          <a:prstGeom prst="rect">
            <a:avLst/>
          </a:prstGeom>
        </p:spPr>
      </p:pic>
      <p:pic>
        <p:nvPicPr>
          <p:cNvPr id="75" name="Picture 74" descr="lock.png"/>
          <p:cNvPicPr>
            <a:picLocks noChangeAspect="1"/>
          </p:cNvPicPr>
          <p:nvPr/>
        </p:nvPicPr>
        <p:blipFill>
          <a:blip r:embed="rId16"/>
          <a:stretch>
            <a:fillRect/>
          </a:stretch>
        </p:blipFill>
        <p:spPr>
          <a:xfrm>
            <a:off x="2980848" y="2827057"/>
            <a:ext cx="183356" cy="266700"/>
          </a:xfrm>
          <a:prstGeom prst="rect">
            <a:avLst/>
          </a:prstGeom>
        </p:spPr>
      </p:pic>
      <p:pic>
        <p:nvPicPr>
          <p:cNvPr id="76" name="Picture 75" descr="lock.png"/>
          <p:cNvPicPr>
            <a:picLocks noChangeAspect="1"/>
          </p:cNvPicPr>
          <p:nvPr/>
        </p:nvPicPr>
        <p:blipFill>
          <a:blip r:embed="rId16"/>
          <a:stretch>
            <a:fillRect/>
          </a:stretch>
        </p:blipFill>
        <p:spPr>
          <a:xfrm>
            <a:off x="5509737" y="2827057"/>
            <a:ext cx="183356" cy="266700"/>
          </a:xfrm>
          <a:prstGeom prst="rect">
            <a:avLst/>
          </a:prstGeom>
        </p:spPr>
      </p:pic>
      <p:pic>
        <p:nvPicPr>
          <p:cNvPr id="77" name="Picture 76" descr="lock.png"/>
          <p:cNvPicPr>
            <a:picLocks noChangeAspect="1"/>
          </p:cNvPicPr>
          <p:nvPr/>
        </p:nvPicPr>
        <p:blipFill>
          <a:blip r:embed="rId16"/>
          <a:stretch>
            <a:fillRect/>
          </a:stretch>
        </p:blipFill>
        <p:spPr>
          <a:xfrm>
            <a:off x="8038624" y="2827057"/>
            <a:ext cx="183356" cy="266700"/>
          </a:xfrm>
          <a:prstGeom prst="rect">
            <a:avLst/>
          </a:prstGeom>
        </p:spPr>
      </p:pic>
      <p:pic>
        <p:nvPicPr>
          <p:cNvPr id="78" name="Picture 77" descr="lock.png"/>
          <p:cNvPicPr>
            <a:picLocks noChangeAspect="1"/>
          </p:cNvPicPr>
          <p:nvPr/>
        </p:nvPicPr>
        <p:blipFill>
          <a:blip r:embed="rId16"/>
          <a:stretch>
            <a:fillRect/>
          </a:stretch>
        </p:blipFill>
        <p:spPr>
          <a:xfrm>
            <a:off x="10567511" y="2827057"/>
            <a:ext cx="183356" cy="266700"/>
          </a:xfrm>
          <a:prstGeom prst="rect">
            <a:avLst/>
          </a:prstGeom>
        </p:spPr>
      </p:pic>
      <p:sp>
        <p:nvSpPr>
          <p:cNvPr id="79" name="TextBox 78"/>
          <p:cNvSpPr txBox="1"/>
          <p:nvPr/>
        </p:nvSpPr>
        <p:spPr>
          <a:xfrm>
            <a:off x="485775" y="4229437"/>
            <a:ext cx="2576655" cy="179984"/>
          </a:xfrm>
          <a:prstGeom prst="rect">
            <a:avLst/>
          </a:prstGeom>
          <a:noFill/>
        </p:spPr>
        <p:txBody>
          <a:bodyPr wrap="none" lIns="0" rIns="0" tIns="0" bIns="0">
            <a:spAutoFit/>
          </a:bodyPr>
          <a:lstStyle/>
          <a:p>
            <a:r>
              <a:rPr sz="1055" b="0">
                <a:solidFill>
                  <a:srgbClr val="2E2E2E"/>
                </a:solidFill>
                <a:latin typeface="Calibri"/>
              </a:rPr>
              <a:t>Among organ transport devices by purchasing</a:t>
            </a:r>
          </a:p>
        </p:txBody>
      </p:sp>
      <p:sp>
        <p:nvSpPr>
          <p:cNvPr id="80" name="TextBox 79"/>
          <p:cNvSpPr txBox="1"/>
          <p:nvPr/>
        </p:nvSpPr>
        <p:spPr>
          <a:xfrm>
            <a:off x="485775" y="4390371"/>
            <a:ext cx="2880764" cy="179984"/>
          </a:xfrm>
          <a:prstGeom prst="rect">
            <a:avLst/>
          </a:prstGeom>
          <a:noFill/>
        </p:spPr>
        <p:txBody>
          <a:bodyPr wrap="none" lIns="0" rIns="0" tIns="0" bIns="0">
            <a:spAutoFit/>
          </a:bodyPr>
          <a:lstStyle/>
          <a:p>
            <a:r>
              <a:rPr sz="1055" b="0">
                <a:solidFill>
                  <a:srgbClr val="2E2E2E"/>
                </a:solidFill>
                <a:latin typeface="Calibri"/>
              </a:rPr>
              <a:t>organisation, specialised medical logistics providers</a:t>
            </a:r>
          </a:p>
        </p:txBody>
      </p:sp>
      <p:sp>
        <p:nvSpPr>
          <p:cNvPr id="81" name="TextBox 80"/>
          <p:cNvSpPr txBox="1"/>
          <p:nvPr/>
        </p:nvSpPr>
        <p:spPr>
          <a:xfrm>
            <a:off x="485775" y="4551305"/>
            <a:ext cx="2904846" cy="179984"/>
          </a:xfrm>
          <a:prstGeom prst="rect">
            <a:avLst/>
          </a:prstGeom>
          <a:noFill/>
        </p:spPr>
        <p:txBody>
          <a:bodyPr wrap="none" lIns="0" rIns="0" tIns="0" bIns="0">
            <a:spAutoFit/>
          </a:bodyPr>
          <a:lstStyle/>
          <a:p>
            <a:r>
              <a:rPr sz="1055" b="0">
                <a:solidFill>
                  <a:srgbClr val="2E2E2E"/>
                </a:solidFill>
                <a:latin typeface="Calibri"/>
              </a:rPr>
              <a:t>segment is expected to witness the highest CAGR of</a:t>
            </a:r>
          </a:p>
        </p:txBody>
      </p:sp>
      <p:pic>
        <p:nvPicPr>
          <p:cNvPr id="82" name="Picture 81" descr="lock.png"/>
          <p:cNvPicPr>
            <a:picLocks noChangeAspect="1"/>
          </p:cNvPicPr>
          <p:nvPr/>
        </p:nvPicPr>
        <p:blipFill>
          <a:blip r:embed="rId16"/>
          <a:stretch>
            <a:fillRect/>
          </a:stretch>
        </p:blipFill>
        <p:spPr>
          <a:xfrm>
            <a:off x="472846" y="4702852"/>
            <a:ext cx="123551" cy="179710"/>
          </a:xfrm>
          <a:prstGeom prst="rect">
            <a:avLst/>
          </a:prstGeom>
        </p:spPr>
      </p:pic>
      <p:sp>
        <p:nvSpPr>
          <p:cNvPr id="83" name="TextBox 82"/>
          <p:cNvSpPr txBox="1"/>
          <p:nvPr/>
        </p:nvSpPr>
        <p:spPr>
          <a:xfrm>
            <a:off x="633642" y="4712240"/>
            <a:ext cx="2707886" cy="179984"/>
          </a:xfrm>
          <a:prstGeom prst="rect">
            <a:avLst/>
          </a:prstGeom>
          <a:noFill/>
        </p:spPr>
        <p:txBody>
          <a:bodyPr wrap="none" lIns="0" rIns="0" tIns="0" bIns="0">
            <a:spAutoFit/>
          </a:bodyPr>
          <a:lstStyle/>
          <a:p>
            <a:r>
              <a:rPr sz="1055" b="0">
                <a:solidFill>
                  <a:srgbClr val="2E2E2E"/>
                </a:solidFill>
                <a:latin typeface="Calibri"/>
              </a:rPr>
              <a:t>over the forecast period. In terms of value share</a:t>
            </a:r>
          </a:p>
        </p:txBody>
      </p:sp>
      <p:sp>
        <p:nvSpPr>
          <p:cNvPr id="84" name="TextBox 83"/>
          <p:cNvSpPr txBox="1"/>
          <p:nvPr/>
        </p:nvSpPr>
        <p:spPr>
          <a:xfrm>
            <a:off x="485775" y="4873174"/>
            <a:ext cx="2543913" cy="179984"/>
          </a:xfrm>
          <a:prstGeom prst="rect">
            <a:avLst/>
          </a:prstGeom>
          <a:noFill/>
        </p:spPr>
        <p:txBody>
          <a:bodyPr wrap="none" lIns="0" rIns="0" tIns="0" bIns="0">
            <a:spAutoFit/>
          </a:bodyPr>
          <a:lstStyle/>
          <a:p>
            <a:r>
              <a:rPr sz="1055" b="0">
                <a:solidFill>
                  <a:srgbClr val="2E2E2E"/>
                </a:solidFill>
                <a:latin typeface="Calibri"/>
              </a:rPr>
              <a:t>by purchasing organisation, the hospitals and</a:t>
            </a:r>
          </a:p>
        </p:txBody>
      </p:sp>
      <p:sp>
        <p:nvSpPr>
          <p:cNvPr id="85" name="TextBox 84"/>
          <p:cNvSpPr txBox="1"/>
          <p:nvPr/>
        </p:nvSpPr>
        <p:spPr>
          <a:xfrm>
            <a:off x="485775" y="5034109"/>
            <a:ext cx="2914650" cy="179984"/>
          </a:xfrm>
          <a:prstGeom prst="rect">
            <a:avLst/>
          </a:prstGeom>
          <a:noFill/>
        </p:spPr>
        <p:txBody>
          <a:bodyPr wrap="none" lIns="0" rIns="0" tIns="0" bIns="0">
            <a:spAutoFit/>
          </a:bodyPr>
          <a:lstStyle/>
          <a:p>
            <a:r>
              <a:rPr sz="1055" b="0">
                <a:solidFill>
                  <a:srgbClr val="2E2E2E"/>
                </a:solidFill>
                <a:latin typeface="Calibri"/>
              </a:rPr>
              <a:t>transplant centres segment is expected to dominate</a:t>
            </a:r>
          </a:p>
        </p:txBody>
      </p:sp>
      <p:sp>
        <p:nvSpPr>
          <p:cNvPr id="86" name="TextBox 85"/>
          <p:cNvSpPr txBox="1"/>
          <p:nvPr/>
        </p:nvSpPr>
        <p:spPr>
          <a:xfrm>
            <a:off x="485775" y="5195043"/>
            <a:ext cx="1062394" cy="179984"/>
          </a:xfrm>
          <a:prstGeom prst="rect">
            <a:avLst/>
          </a:prstGeom>
          <a:noFill/>
        </p:spPr>
        <p:txBody>
          <a:bodyPr wrap="none" lIns="0" rIns="0" tIns="0" bIns="0">
            <a:spAutoFit/>
          </a:bodyPr>
          <a:lstStyle/>
          <a:p>
            <a:r>
              <a:rPr sz="1055" b="0">
                <a:solidFill>
                  <a:srgbClr val="2E2E2E"/>
                </a:solidFill>
                <a:latin typeface="Calibri"/>
              </a:rPr>
              <a:t>the market, losing</a:t>
            </a:r>
          </a:p>
        </p:txBody>
      </p:sp>
      <p:pic>
        <p:nvPicPr>
          <p:cNvPr id="87" name="Picture 86" descr="lock.png"/>
          <p:cNvPicPr>
            <a:picLocks noChangeAspect="1"/>
          </p:cNvPicPr>
          <p:nvPr/>
        </p:nvPicPr>
        <p:blipFill>
          <a:blip r:embed="rId16"/>
          <a:stretch>
            <a:fillRect/>
          </a:stretch>
        </p:blipFill>
        <p:spPr>
          <a:xfrm>
            <a:off x="1495251" y="5185655"/>
            <a:ext cx="123551" cy="179710"/>
          </a:xfrm>
          <a:prstGeom prst="rect">
            <a:avLst/>
          </a:prstGeom>
        </p:spPr>
      </p:pic>
      <p:sp>
        <p:nvSpPr>
          <p:cNvPr id="88" name="TextBox 87"/>
          <p:cNvSpPr txBox="1"/>
          <p:nvPr/>
        </p:nvSpPr>
        <p:spPr>
          <a:xfrm>
            <a:off x="1656047" y="5195043"/>
            <a:ext cx="1334023" cy="179984"/>
          </a:xfrm>
          <a:prstGeom prst="rect">
            <a:avLst/>
          </a:prstGeom>
          <a:noFill/>
        </p:spPr>
        <p:txBody>
          <a:bodyPr wrap="none" lIns="0" rIns="0" tIns="0" bIns="0">
            <a:spAutoFit/>
          </a:bodyPr>
          <a:lstStyle/>
          <a:p>
            <a:r>
              <a:rPr sz="1055" b="0">
                <a:solidFill>
                  <a:srgbClr val="2E2E2E"/>
                </a:solidFill>
                <a:latin typeface="Calibri"/>
              </a:rPr>
              <a:t>BPS and accounting for</a:t>
            </a:r>
          </a:p>
        </p:txBody>
      </p:sp>
      <p:pic>
        <p:nvPicPr>
          <p:cNvPr id="89" name="Picture 88" descr="lock.png"/>
          <p:cNvPicPr>
            <a:picLocks noChangeAspect="1"/>
          </p:cNvPicPr>
          <p:nvPr/>
        </p:nvPicPr>
        <p:blipFill>
          <a:blip r:embed="rId16"/>
          <a:stretch>
            <a:fillRect/>
          </a:stretch>
        </p:blipFill>
        <p:spPr>
          <a:xfrm>
            <a:off x="2937152" y="5185655"/>
            <a:ext cx="123551" cy="179710"/>
          </a:xfrm>
          <a:prstGeom prst="rect">
            <a:avLst/>
          </a:prstGeom>
        </p:spPr>
      </p:pic>
      <p:sp>
        <p:nvSpPr>
          <p:cNvPr id="90" name="TextBox 89"/>
          <p:cNvSpPr txBox="1"/>
          <p:nvPr/>
        </p:nvSpPr>
        <p:spPr>
          <a:xfrm>
            <a:off x="485775" y="5355977"/>
            <a:ext cx="875109" cy="179984"/>
          </a:xfrm>
          <a:prstGeom prst="rect">
            <a:avLst/>
          </a:prstGeom>
          <a:noFill/>
        </p:spPr>
        <p:txBody>
          <a:bodyPr wrap="none" lIns="0" rIns="0" tIns="0" bIns="0">
            <a:spAutoFit/>
          </a:bodyPr>
          <a:lstStyle/>
          <a:p>
            <a:r>
              <a:rPr sz="1055" b="0">
                <a:solidFill>
                  <a:srgbClr val="2E2E2E"/>
                </a:solidFill>
                <a:latin typeface="Calibri"/>
              </a:rPr>
              <a:t>share by 2036.</a:t>
            </a:r>
          </a:p>
        </p:txBody>
      </p:sp>
      <p:sp>
        <p:nvSpPr>
          <p:cNvPr id="91" name="TextBox 90"/>
          <p:cNvSpPr txBox="1"/>
          <p:nvPr/>
        </p:nvSpPr>
        <p:spPr>
          <a:xfrm>
            <a:off x="485775" y="5565192"/>
            <a:ext cx="2454068" cy="179984"/>
          </a:xfrm>
          <a:prstGeom prst="rect">
            <a:avLst/>
          </a:prstGeom>
          <a:noFill/>
        </p:spPr>
        <p:txBody>
          <a:bodyPr wrap="none" lIns="0" rIns="0" tIns="0" bIns="0">
            <a:spAutoFit/>
          </a:bodyPr>
          <a:lstStyle/>
          <a:p>
            <a:r>
              <a:rPr sz="1055" b="0">
                <a:solidFill>
                  <a:srgbClr val="2E2E2E"/>
                </a:solidFill>
                <a:latin typeface="Calibri"/>
              </a:rPr>
              <a:t>Hospitals and transplant centres segment is</a:t>
            </a:r>
          </a:p>
        </p:txBody>
      </p:sp>
      <p:sp>
        <p:nvSpPr>
          <p:cNvPr id="92" name="TextBox 91"/>
          <p:cNvSpPr txBox="1"/>
          <p:nvPr/>
        </p:nvSpPr>
        <p:spPr>
          <a:xfrm>
            <a:off x="485775" y="5726126"/>
            <a:ext cx="1197816" cy="179984"/>
          </a:xfrm>
          <a:prstGeom prst="rect">
            <a:avLst/>
          </a:prstGeom>
          <a:noFill/>
        </p:spPr>
        <p:txBody>
          <a:bodyPr wrap="none" lIns="0" rIns="0" tIns="0" bIns="0">
            <a:spAutoFit/>
          </a:bodyPr>
          <a:lstStyle/>
          <a:p>
            <a:r>
              <a:rPr sz="1055" b="0">
                <a:solidFill>
                  <a:srgbClr val="2E2E2E"/>
                </a:solidFill>
                <a:latin typeface="Calibri"/>
              </a:rPr>
              <a:t>projected to register</a:t>
            </a:r>
          </a:p>
        </p:txBody>
      </p:sp>
      <p:pic>
        <p:nvPicPr>
          <p:cNvPr id="93" name="Picture 92" descr="lock.png"/>
          <p:cNvPicPr>
            <a:picLocks noChangeAspect="1"/>
          </p:cNvPicPr>
          <p:nvPr/>
        </p:nvPicPr>
        <p:blipFill>
          <a:blip r:embed="rId16"/>
          <a:stretch>
            <a:fillRect/>
          </a:stretch>
        </p:blipFill>
        <p:spPr>
          <a:xfrm>
            <a:off x="1630672" y="5716739"/>
            <a:ext cx="123551" cy="179710"/>
          </a:xfrm>
          <a:prstGeom prst="rect">
            <a:avLst/>
          </a:prstGeom>
        </p:spPr>
      </p:pic>
      <p:sp>
        <p:nvSpPr>
          <p:cNvPr id="94" name="TextBox 93"/>
          <p:cNvSpPr txBox="1"/>
          <p:nvPr/>
        </p:nvSpPr>
        <p:spPr>
          <a:xfrm>
            <a:off x="1791468" y="5726126"/>
            <a:ext cx="1474422" cy="179984"/>
          </a:xfrm>
          <a:prstGeom prst="rect">
            <a:avLst/>
          </a:prstGeom>
          <a:noFill/>
        </p:spPr>
        <p:txBody>
          <a:bodyPr wrap="none" lIns="0" rIns="0" tIns="0" bIns="0">
            <a:spAutoFit/>
          </a:bodyPr>
          <a:lstStyle/>
          <a:p>
            <a:r>
              <a:rPr sz="1055" b="0">
                <a:solidFill>
                  <a:srgbClr val="2E2E2E"/>
                </a:solidFill>
                <a:latin typeface="Calibri"/>
              </a:rPr>
              <a:t>X higher value than organ</a:t>
            </a:r>
          </a:p>
        </p:txBody>
      </p:sp>
      <p:sp>
        <p:nvSpPr>
          <p:cNvPr id="95" name="TextBox 94"/>
          <p:cNvSpPr txBox="1"/>
          <p:nvPr/>
        </p:nvSpPr>
        <p:spPr>
          <a:xfrm>
            <a:off x="485775" y="5887061"/>
            <a:ext cx="2627995" cy="179984"/>
          </a:xfrm>
          <a:prstGeom prst="rect">
            <a:avLst/>
          </a:prstGeom>
          <a:noFill/>
        </p:spPr>
        <p:txBody>
          <a:bodyPr wrap="none" lIns="0" rIns="0" tIns="0" bIns="0">
            <a:spAutoFit/>
          </a:bodyPr>
          <a:lstStyle/>
          <a:p>
            <a:r>
              <a:rPr sz="1055" b="0">
                <a:solidFill>
                  <a:srgbClr val="2E2E2E"/>
                </a:solidFill>
                <a:latin typeface="Calibri"/>
              </a:rPr>
              <a:t>procurement organisations and organ retrieval</a:t>
            </a:r>
          </a:p>
        </p:txBody>
      </p:sp>
      <p:sp>
        <p:nvSpPr>
          <p:cNvPr id="96" name="TextBox 95"/>
          <p:cNvSpPr txBox="1"/>
          <p:nvPr/>
        </p:nvSpPr>
        <p:spPr>
          <a:xfrm>
            <a:off x="485775" y="6047995"/>
            <a:ext cx="1518165" cy="179984"/>
          </a:xfrm>
          <a:prstGeom prst="rect">
            <a:avLst/>
          </a:prstGeom>
          <a:noFill/>
        </p:spPr>
        <p:txBody>
          <a:bodyPr wrap="none" lIns="0" rIns="0" tIns="0" bIns="0">
            <a:spAutoFit/>
          </a:bodyPr>
          <a:lstStyle/>
          <a:p>
            <a:r>
              <a:rPr sz="1055" b="0">
                <a:solidFill>
                  <a:srgbClr val="2E2E2E"/>
                </a:solidFill>
                <a:latin typeface="Calibri"/>
              </a:rPr>
              <a:t>agencies segment in 2036.</a:t>
            </a:r>
          </a:p>
        </p:txBody>
      </p:sp>
      <p:sp>
        <p:nvSpPr>
          <p:cNvPr id="97" name="TextBox 96"/>
          <p:cNvSpPr txBox="1"/>
          <p:nvPr/>
        </p:nvSpPr>
        <p:spPr>
          <a:xfrm>
            <a:off x="3838575" y="4229437"/>
            <a:ext cx="2101577" cy="186689"/>
          </a:xfrm>
          <a:prstGeom prst="rect">
            <a:avLst/>
          </a:prstGeom>
          <a:noFill/>
        </p:spPr>
        <p:txBody>
          <a:bodyPr wrap="none" lIns="0" rIns="0" tIns="0" bIns="0">
            <a:spAutoFit/>
          </a:bodyPr>
          <a:lstStyle/>
          <a:p>
            <a:r>
              <a:rPr sz="1100" b="0">
                <a:solidFill>
                  <a:srgbClr val="2E2E2E"/>
                </a:solidFill>
                <a:latin typeface="Calibri"/>
              </a:rPr>
              <a:t>● Hospitals and Transplant Centres:</a:t>
            </a:r>
          </a:p>
        </p:txBody>
      </p:sp>
      <p:pic>
        <p:nvPicPr>
          <p:cNvPr id="98" name="Picture 97" descr="lock.png"/>
          <p:cNvPicPr>
            <a:picLocks noChangeAspect="1"/>
          </p:cNvPicPr>
          <p:nvPr/>
        </p:nvPicPr>
        <p:blipFill>
          <a:blip r:embed="rId16"/>
          <a:stretch>
            <a:fillRect/>
          </a:stretch>
        </p:blipFill>
        <p:spPr>
          <a:xfrm>
            <a:off x="5888203" y="4219658"/>
            <a:ext cx="128699" cy="187198"/>
          </a:xfrm>
          <a:prstGeom prst="rect">
            <a:avLst/>
          </a:prstGeom>
        </p:spPr>
      </p:pic>
      <p:sp>
        <p:nvSpPr>
          <p:cNvPr id="99" name="TextBox 98"/>
          <p:cNvSpPr txBox="1"/>
          <p:nvPr/>
        </p:nvSpPr>
        <p:spPr>
          <a:xfrm>
            <a:off x="6055699"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00" name="Picture 99" descr="lock.png"/>
          <p:cNvPicPr>
            <a:picLocks noChangeAspect="1"/>
          </p:cNvPicPr>
          <p:nvPr/>
        </p:nvPicPr>
        <p:blipFill>
          <a:blip r:embed="rId16"/>
          <a:stretch>
            <a:fillRect/>
          </a:stretch>
        </p:blipFill>
        <p:spPr>
          <a:xfrm>
            <a:off x="6915149" y="4219658"/>
            <a:ext cx="128699" cy="187198"/>
          </a:xfrm>
          <a:prstGeom prst="rect">
            <a:avLst/>
          </a:prstGeom>
        </p:spPr>
      </p:pic>
      <p:sp>
        <p:nvSpPr>
          <p:cNvPr id="101" name="TextBox 100"/>
          <p:cNvSpPr txBox="1"/>
          <p:nvPr/>
        </p:nvSpPr>
        <p:spPr>
          <a:xfrm>
            <a:off x="7082645" y="4229437"/>
            <a:ext cx="723659" cy="186689"/>
          </a:xfrm>
          <a:prstGeom prst="rect">
            <a:avLst/>
          </a:prstGeom>
          <a:noFill/>
        </p:spPr>
        <p:txBody>
          <a:bodyPr wrap="none" lIns="0" rIns="0" tIns="0" bIns="0">
            <a:spAutoFit/>
          </a:bodyPr>
          <a:lstStyle/>
          <a:p>
            <a:r>
              <a:rPr sz="1100" b="0">
                <a:solidFill>
                  <a:srgbClr val="2E2E2E"/>
                </a:solidFill>
                <a:latin typeface="Calibri"/>
              </a:rPr>
              <a:t>CAGR leads</a:t>
            </a:r>
          </a:p>
        </p:txBody>
      </p:sp>
      <p:sp>
        <p:nvSpPr>
          <p:cNvPr id="102" name="TextBox 101"/>
          <p:cNvSpPr txBox="1"/>
          <p:nvPr/>
        </p:nvSpPr>
        <p:spPr>
          <a:xfrm>
            <a:off x="3838575" y="4397077"/>
            <a:ext cx="824358" cy="186689"/>
          </a:xfrm>
          <a:prstGeom prst="rect">
            <a:avLst/>
          </a:prstGeom>
          <a:noFill/>
        </p:spPr>
        <p:txBody>
          <a:bodyPr wrap="none" lIns="0" rIns="0" tIns="0" bIns="0">
            <a:spAutoFit/>
          </a:bodyPr>
          <a:lstStyle/>
          <a:p>
            <a:r>
              <a:rPr sz="1100" b="0">
                <a:solidFill>
                  <a:srgbClr val="2E2E2E"/>
                </a:solidFill>
                <a:latin typeface="Calibri"/>
              </a:rPr>
              <a:t>the segment.</a:t>
            </a:r>
          </a:p>
        </p:txBody>
      </p:sp>
      <p:sp>
        <p:nvSpPr>
          <p:cNvPr id="103" name="TextBox 102"/>
          <p:cNvSpPr txBox="1"/>
          <p:nvPr/>
        </p:nvSpPr>
        <p:spPr>
          <a:xfrm>
            <a:off x="3838575" y="4615009"/>
            <a:ext cx="3947690" cy="186689"/>
          </a:xfrm>
          <a:prstGeom prst="rect">
            <a:avLst/>
          </a:prstGeom>
          <a:noFill/>
        </p:spPr>
        <p:txBody>
          <a:bodyPr wrap="none" lIns="0" rIns="0" tIns="0" bIns="0">
            <a:spAutoFit/>
          </a:bodyPr>
          <a:lstStyle/>
          <a:p>
            <a:r>
              <a:rPr sz="1100" b="1">
                <a:solidFill>
                  <a:srgbClr val="0E72AE"/>
                </a:solidFill>
                <a:latin typeface="Calibri"/>
              </a:rPr>
              <a:t>● Organ Procurement Organisations and Organ Retrieval Agencies:</a:t>
            </a:r>
          </a:p>
        </p:txBody>
      </p:sp>
      <p:pic>
        <p:nvPicPr>
          <p:cNvPr id="104" name="Picture 103" descr="lock.png"/>
          <p:cNvPicPr>
            <a:picLocks noChangeAspect="1"/>
          </p:cNvPicPr>
          <p:nvPr/>
        </p:nvPicPr>
        <p:blipFill>
          <a:blip r:embed="rId16"/>
          <a:stretch>
            <a:fillRect/>
          </a:stretch>
        </p:blipFill>
        <p:spPr>
          <a:xfrm>
            <a:off x="7734317" y="4605230"/>
            <a:ext cx="128699" cy="187198"/>
          </a:xfrm>
          <a:prstGeom prst="rect">
            <a:avLst/>
          </a:prstGeom>
        </p:spPr>
      </p:pic>
      <p:sp>
        <p:nvSpPr>
          <p:cNvPr id="105" name="TextBox 104"/>
          <p:cNvSpPr txBox="1"/>
          <p:nvPr/>
        </p:nvSpPr>
        <p:spPr>
          <a:xfrm>
            <a:off x="3838575" y="4782649"/>
            <a:ext cx="926405" cy="186689"/>
          </a:xfrm>
          <a:prstGeom prst="rect">
            <a:avLst/>
          </a:prstGeom>
          <a:noFill/>
        </p:spPr>
        <p:txBody>
          <a:bodyPr wrap="none" lIns="0" rIns="0" tIns="0" bIns="0">
            <a:spAutoFit/>
          </a:bodyPr>
          <a:lstStyle/>
          <a:p>
            <a:r>
              <a:rPr sz="1100" b="1">
                <a:solidFill>
                  <a:srgbClr val="0E72AE"/>
                </a:solidFill>
                <a:latin typeface="Calibri"/>
              </a:rPr>
              <a:t>of 2026 value ·</a:t>
            </a:r>
          </a:p>
        </p:txBody>
      </p:sp>
      <p:pic>
        <p:nvPicPr>
          <p:cNvPr id="106" name="Picture 105" descr="lock.png"/>
          <p:cNvPicPr>
            <a:picLocks noChangeAspect="1"/>
          </p:cNvPicPr>
          <p:nvPr/>
        </p:nvPicPr>
        <p:blipFill>
          <a:blip r:embed="rId16"/>
          <a:stretch>
            <a:fillRect/>
          </a:stretch>
        </p:blipFill>
        <p:spPr>
          <a:xfrm>
            <a:off x="4713032" y="4772870"/>
            <a:ext cx="128699" cy="187198"/>
          </a:xfrm>
          <a:prstGeom prst="rect">
            <a:avLst/>
          </a:prstGeom>
        </p:spPr>
      </p:pic>
      <p:sp>
        <p:nvSpPr>
          <p:cNvPr id="107" name="TextBox 106"/>
          <p:cNvSpPr txBox="1"/>
          <p:nvPr/>
        </p:nvSpPr>
        <p:spPr>
          <a:xfrm>
            <a:off x="4880527" y="4782649"/>
            <a:ext cx="1284633" cy="186689"/>
          </a:xfrm>
          <a:prstGeom prst="rect">
            <a:avLst/>
          </a:prstGeom>
          <a:noFill/>
        </p:spPr>
        <p:txBody>
          <a:bodyPr wrap="none" lIns="0" rIns="0" tIns="0" bIns="0">
            <a:spAutoFit/>
          </a:bodyPr>
          <a:lstStyle/>
          <a:p>
            <a:r>
              <a:rPr sz="1100" b="1">
                <a:solidFill>
                  <a:srgbClr val="0E72AE"/>
                </a:solidFill>
                <a:latin typeface="Calibri"/>
              </a:rPr>
              <a:t>CAGR serves a niche.</a:t>
            </a:r>
          </a:p>
        </p:txBody>
      </p:sp>
      <p:sp>
        <p:nvSpPr>
          <p:cNvPr id="108" name="TextBox 107"/>
          <p:cNvSpPr txBox="1"/>
          <p:nvPr/>
        </p:nvSpPr>
        <p:spPr>
          <a:xfrm>
            <a:off x="3838575" y="5000581"/>
            <a:ext cx="2418903" cy="186689"/>
          </a:xfrm>
          <a:prstGeom prst="rect">
            <a:avLst/>
          </a:prstGeom>
          <a:noFill/>
        </p:spPr>
        <p:txBody>
          <a:bodyPr wrap="none" lIns="0" rIns="0" tIns="0" bIns="0">
            <a:spAutoFit/>
          </a:bodyPr>
          <a:lstStyle/>
          <a:p>
            <a:r>
              <a:rPr sz="1100" b="0">
                <a:solidFill>
                  <a:srgbClr val="2E2E2E"/>
                </a:solidFill>
                <a:latin typeface="Calibri"/>
              </a:rPr>
              <a:t>● Specialised Medical Logistics Providers:</a:t>
            </a:r>
          </a:p>
        </p:txBody>
      </p:sp>
      <p:pic>
        <p:nvPicPr>
          <p:cNvPr id="109" name="Picture 108" descr="lock.png"/>
          <p:cNvPicPr>
            <a:picLocks noChangeAspect="1"/>
          </p:cNvPicPr>
          <p:nvPr/>
        </p:nvPicPr>
        <p:blipFill>
          <a:blip r:embed="rId16"/>
          <a:stretch>
            <a:fillRect/>
          </a:stretch>
        </p:blipFill>
        <p:spPr>
          <a:xfrm>
            <a:off x="6205530" y="4990801"/>
            <a:ext cx="128699" cy="187198"/>
          </a:xfrm>
          <a:prstGeom prst="rect">
            <a:avLst/>
          </a:prstGeom>
        </p:spPr>
      </p:pic>
      <p:sp>
        <p:nvSpPr>
          <p:cNvPr id="110" name="TextBox 109"/>
          <p:cNvSpPr txBox="1"/>
          <p:nvPr/>
        </p:nvSpPr>
        <p:spPr>
          <a:xfrm>
            <a:off x="6373025" y="5000581"/>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1" name="Picture 110" descr="lock.png"/>
          <p:cNvPicPr>
            <a:picLocks noChangeAspect="1"/>
          </p:cNvPicPr>
          <p:nvPr/>
        </p:nvPicPr>
        <p:blipFill>
          <a:blip r:embed="rId16"/>
          <a:stretch>
            <a:fillRect/>
          </a:stretch>
        </p:blipFill>
        <p:spPr>
          <a:xfrm>
            <a:off x="7232476" y="4990801"/>
            <a:ext cx="128699" cy="187198"/>
          </a:xfrm>
          <a:prstGeom prst="rect">
            <a:avLst/>
          </a:prstGeom>
        </p:spPr>
      </p:pic>
      <p:sp>
        <p:nvSpPr>
          <p:cNvPr id="112" name="TextBox 111"/>
          <p:cNvSpPr txBox="1"/>
          <p:nvPr/>
        </p:nvSpPr>
        <p:spPr>
          <a:xfrm>
            <a:off x="7399971" y="5000581"/>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113" name="TextBox 112"/>
          <p:cNvSpPr txBox="1"/>
          <p:nvPr/>
        </p:nvSpPr>
        <p:spPr>
          <a:xfrm>
            <a:off x="3838575" y="5168221"/>
            <a:ext cx="867742" cy="186689"/>
          </a:xfrm>
          <a:prstGeom prst="rect">
            <a:avLst/>
          </a:prstGeom>
          <a:noFill/>
        </p:spPr>
        <p:txBody>
          <a:bodyPr wrap="none" lIns="0" rIns="0" tIns="0" bIns="0">
            <a:spAutoFit/>
          </a:bodyPr>
          <a:lstStyle/>
          <a:p>
            <a:r>
              <a:rPr sz="1100" b="0">
                <a:solidFill>
                  <a:srgbClr val="2E2E2E"/>
                </a:solidFill>
                <a:latin typeface="Calibri"/>
              </a:rPr>
              <a:t>grows fastest.</a:t>
            </a:r>
          </a:p>
        </p:txBody>
      </p:sp>
      <p:sp>
        <p:nvSpPr>
          <p:cNvPr id="114" name="TextBox 113"/>
          <p:cNvSpPr txBox="1"/>
          <p:nvPr/>
        </p:nvSpPr>
        <p:spPr>
          <a:xfrm>
            <a:off x="3838575" y="5386153"/>
            <a:ext cx="2025724" cy="186689"/>
          </a:xfrm>
          <a:prstGeom prst="rect">
            <a:avLst/>
          </a:prstGeom>
          <a:noFill/>
        </p:spPr>
        <p:txBody>
          <a:bodyPr wrap="none" lIns="0" rIns="0" tIns="0" bIns="0">
            <a:spAutoFit/>
          </a:bodyPr>
          <a:lstStyle/>
          <a:p>
            <a:r>
              <a:rPr sz="1100" b="0">
                <a:solidFill>
                  <a:srgbClr val="2E2E2E"/>
                </a:solidFill>
                <a:latin typeface="Calibri"/>
              </a:rPr>
              <a:t>● Other Purchasing Organisations:</a:t>
            </a:r>
          </a:p>
        </p:txBody>
      </p:sp>
      <p:pic>
        <p:nvPicPr>
          <p:cNvPr id="115" name="Picture 114" descr="lock.png"/>
          <p:cNvPicPr>
            <a:picLocks noChangeAspect="1"/>
          </p:cNvPicPr>
          <p:nvPr/>
        </p:nvPicPr>
        <p:blipFill>
          <a:blip r:embed="rId16"/>
          <a:stretch>
            <a:fillRect/>
          </a:stretch>
        </p:blipFill>
        <p:spPr>
          <a:xfrm>
            <a:off x="5812351" y="5376373"/>
            <a:ext cx="128699" cy="187198"/>
          </a:xfrm>
          <a:prstGeom prst="rect">
            <a:avLst/>
          </a:prstGeom>
        </p:spPr>
      </p:pic>
      <p:sp>
        <p:nvSpPr>
          <p:cNvPr id="116" name="TextBox 115"/>
          <p:cNvSpPr txBox="1"/>
          <p:nvPr/>
        </p:nvSpPr>
        <p:spPr>
          <a:xfrm>
            <a:off x="5979846" y="5386153"/>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117" name="Picture 116" descr="lock.png"/>
          <p:cNvPicPr>
            <a:picLocks noChangeAspect="1"/>
          </p:cNvPicPr>
          <p:nvPr/>
        </p:nvPicPr>
        <p:blipFill>
          <a:blip r:embed="rId16"/>
          <a:stretch>
            <a:fillRect/>
          </a:stretch>
        </p:blipFill>
        <p:spPr>
          <a:xfrm>
            <a:off x="6839297" y="5376373"/>
            <a:ext cx="128699" cy="187198"/>
          </a:xfrm>
          <a:prstGeom prst="rect">
            <a:avLst/>
          </a:prstGeom>
        </p:spPr>
      </p:pic>
      <p:sp>
        <p:nvSpPr>
          <p:cNvPr id="118" name="TextBox 117"/>
          <p:cNvSpPr txBox="1"/>
          <p:nvPr/>
        </p:nvSpPr>
        <p:spPr>
          <a:xfrm>
            <a:off x="7006792" y="5386153"/>
            <a:ext cx="787234" cy="186689"/>
          </a:xfrm>
          <a:prstGeom prst="rect">
            <a:avLst/>
          </a:prstGeom>
          <a:noFill/>
        </p:spPr>
        <p:txBody>
          <a:bodyPr wrap="none" lIns="0" rIns="0" tIns="0" bIns="0">
            <a:spAutoFit/>
          </a:bodyPr>
          <a:lstStyle/>
          <a:p>
            <a:r>
              <a:rPr sz="1100" b="0">
                <a:solidFill>
                  <a:srgbClr val="2E2E2E"/>
                </a:solidFill>
                <a:latin typeface="Calibri"/>
              </a:rPr>
              <a:t>CAGR serves</a:t>
            </a:r>
          </a:p>
        </p:txBody>
      </p:sp>
      <p:sp>
        <p:nvSpPr>
          <p:cNvPr id="119" name="TextBox 118"/>
          <p:cNvSpPr txBox="1"/>
          <p:nvPr/>
        </p:nvSpPr>
        <p:spPr>
          <a:xfrm>
            <a:off x="3838575" y="5553793"/>
            <a:ext cx="517673" cy="186689"/>
          </a:xfrm>
          <a:prstGeom prst="rect">
            <a:avLst/>
          </a:prstGeom>
          <a:noFill/>
        </p:spPr>
        <p:txBody>
          <a:bodyPr wrap="none" lIns="0" rIns="0" tIns="0" bIns="0">
            <a:spAutoFit/>
          </a:bodyPr>
          <a:lstStyle/>
          <a:p>
            <a:r>
              <a:rPr sz="1100" b="0">
                <a:solidFill>
                  <a:srgbClr val="2E2E2E"/>
                </a:solidFill>
                <a:latin typeface="Calibri"/>
              </a:rPr>
              <a:t>a niche.</a:t>
            </a:r>
          </a:p>
        </p:txBody>
      </p:sp>
      <p:sp>
        <p:nvSpPr>
          <p:cNvPr id="120" name="TextBox 119"/>
          <p:cNvSpPr txBox="1"/>
          <p:nvPr/>
        </p:nvSpPr>
        <p:spPr>
          <a:xfrm>
            <a:off x="8524875" y="5842641"/>
            <a:ext cx="3109019" cy="194310"/>
          </a:xfrm>
          <a:prstGeom prst="rect">
            <a:avLst/>
          </a:prstGeom>
          <a:noFill/>
        </p:spPr>
        <p:txBody>
          <a:bodyPr wrap="none" lIns="0" rIns="0" tIns="0" bIns="0">
            <a:spAutoFit/>
          </a:bodyPr>
          <a:lstStyle/>
          <a:p>
            <a:r>
              <a:rPr sz="1150" b="1">
                <a:solidFill>
                  <a:srgbClr val="0B2E4A"/>
                </a:solidFill>
                <a:latin typeface="Calibri"/>
              </a:rPr>
              <a:t>The Purchasing Organisation segment is projected</a:t>
            </a:r>
          </a:p>
        </p:txBody>
      </p:sp>
      <p:sp>
        <p:nvSpPr>
          <p:cNvPr id="121" name="TextBox 120"/>
          <p:cNvSpPr txBox="1"/>
          <p:nvPr/>
        </p:nvSpPr>
        <p:spPr>
          <a:xfrm>
            <a:off x="8524875" y="6017901"/>
            <a:ext cx="1340133" cy="194310"/>
          </a:xfrm>
          <a:prstGeom prst="rect">
            <a:avLst/>
          </a:prstGeom>
          <a:noFill/>
        </p:spPr>
        <p:txBody>
          <a:bodyPr wrap="none" lIns="0" rIns="0" tIns="0" bIns="0">
            <a:spAutoFit/>
          </a:bodyPr>
          <a:lstStyle/>
          <a:p>
            <a:r>
              <a:rPr sz="1150" b="1">
                <a:solidFill>
                  <a:srgbClr val="0B2E4A"/>
                </a:solidFill>
                <a:latin typeface="Calibri"/>
              </a:rPr>
              <a:t>to grow at a CAGR of</a:t>
            </a:r>
          </a:p>
        </p:txBody>
      </p:sp>
      <p:pic>
        <p:nvPicPr>
          <p:cNvPr id="122" name="Picture 121" descr="lock.png"/>
          <p:cNvPicPr>
            <a:picLocks noChangeAspect="1"/>
          </p:cNvPicPr>
          <p:nvPr/>
        </p:nvPicPr>
        <p:blipFill>
          <a:blip r:embed="rId16"/>
          <a:stretch>
            <a:fillRect/>
          </a:stretch>
        </p:blipFill>
        <p:spPr>
          <a:xfrm>
            <a:off x="9814162" y="6007677"/>
            <a:ext cx="134549" cy="195707"/>
          </a:xfrm>
          <a:prstGeom prst="rect">
            <a:avLst/>
          </a:prstGeom>
        </p:spPr>
      </p:pic>
      <p:sp>
        <p:nvSpPr>
          <p:cNvPr id="123" name="TextBox 122"/>
          <p:cNvSpPr txBox="1"/>
          <p:nvPr/>
        </p:nvSpPr>
        <p:spPr>
          <a:xfrm>
            <a:off x="9989271"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Purchasing Organisation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Purchasing Organisation mix within each country and the attractiveness of each sub-segment on growth and size</a:t>
            </a:r>
          </a:p>
        </p:txBody>
      </p:sp>
      <p:sp>
        <p:nvSpPr>
          <p:cNvPr id="10" name="Rounded Rectangle 9"/>
          <p:cNvSpPr/>
          <p:nvPr/>
        </p:nvSpPr>
        <p:spPr>
          <a:xfrm>
            <a:off x="142875" y="981075"/>
            <a:ext cx="6343650"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Purchasing Organisation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762375"/>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276725"/>
          </a:xfrm>
          <a:prstGeom prst="roundRect">
            <a:avLst>
              <a:gd name="adj" fmla="val 17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Purchasing Organisation · Bubble size represents 2036 value</a:t>
            </a:r>
          </a:p>
        </p:txBody>
      </p:sp>
      <p:graphicFrame>
        <p:nvGraphicFramePr>
          <p:cNvPr id="15" name="Chart 14"/>
          <p:cNvGraphicFramePr>
            <a:graphicFrameLocks noGrp="1"/>
          </p:cNvGraphicFramePr>
          <p:nvPr/>
        </p:nvGraphicFramePr>
        <p:xfrm>
          <a:off x="6734175" y="1438275"/>
          <a:ext cx="5210175" cy="3762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391150"/>
            <a:ext cx="11906250" cy="1228725"/>
          </a:xfrm>
          <a:prstGeom prst="roundRect">
            <a:avLst>
              <a:gd name="adj" fmla="val 620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5876" y="3002024"/>
            <a:ext cx="318605" cy="463425"/>
          </a:xfrm>
          <a:prstGeom prst="rect">
            <a:avLst/>
          </a:prstGeom>
        </p:spPr>
      </p:pic>
      <p:sp>
        <p:nvSpPr>
          <p:cNvPr id="19" name="TextBox 18"/>
          <p:cNvSpPr txBox="1"/>
          <p:nvPr/>
        </p:nvSpPr>
        <p:spPr>
          <a:xfrm>
            <a:off x="257175" y="5670232"/>
            <a:ext cx="11664751" cy="186689"/>
          </a:xfrm>
          <a:prstGeom prst="rect">
            <a:avLst/>
          </a:prstGeom>
          <a:noFill/>
        </p:spPr>
        <p:txBody>
          <a:bodyPr wrap="none" lIns="0" rIns="0" tIns="0" bIns="0">
            <a:spAutoFit/>
          </a:bodyPr>
          <a:lstStyle/>
          <a:p>
            <a:r>
              <a:rPr sz="1100" b="0">
                <a:solidFill>
                  <a:srgbClr val="2E2E2E"/>
                </a:solidFill>
                <a:latin typeface="Calibri"/>
              </a:rPr>
              <a:t>Specialised medical logistics providers followed by organ procurement organisations and organ retrieval agencies are expected to be the two most attractive purchasing organisation segments in the North</a:t>
            </a:r>
          </a:p>
        </p:txBody>
      </p:sp>
      <p:sp>
        <p:nvSpPr>
          <p:cNvPr id="20" name="TextBox 19"/>
          <p:cNvSpPr txBox="1"/>
          <p:nvPr/>
        </p:nvSpPr>
        <p:spPr>
          <a:xfrm>
            <a:off x="257175" y="5837872"/>
            <a:ext cx="11662824" cy="186689"/>
          </a:xfrm>
          <a:prstGeom prst="rect">
            <a:avLst/>
          </a:prstGeom>
          <a:noFill/>
        </p:spPr>
        <p:txBody>
          <a:bodyPr wrap="none" lIns="0" rIns="0" tIns="0" bIns="0">
            <a:spAutoFit/>
          </a:bodyPr>
          <a:lstStyle/>
          <a:p>
            <a:r>
              <a:rPr sz="1100" b="0">
                <a:solidFill>
                  <a:srgbClr val="2E2E2E"/>
                </a:solidFill>
                <a:latin typeface="Calibri"/>
              </a:rPr>
              <a:t>America organ transport devices market in terms of value over the forecast period. Specialised medical logistics providers and organ procurement organisations and organ retrieval agencies exhibit a CAGR</a:t>
            </a:r>
          </a:p>
        </p:txBody>
      </p:sp>
      <p:sp>
        <p:nvSpPr>
          <p:cNvPr id="21" name="TextBox 20"/>
          <p:cNvSpPr txBox="1"/>
          <p:nvPr/>
        </p:nvSpPr>
        <p:spPr>
          <a:xfrm>
            <a:off x="257175" y="6005512"/>
            <a:ext cx="533226" cy="186689"/>
          </a:xfrm>
          <a:prstGeom prst="rect">
            <a:avLst/>
          </a:prstGeom>
          <a:noFill/>
        </p:spPr>
        <p:txBody>
          <a:bodyPr wrap="none" lIns="0" rIns="0" tIns="0" bIns="0">
            <a:spAutoFit/>
          </a:bodyPr>
          <a:lstStyle/>
          <a:p>
            <a:r>
              <a:rPr sz="1100" b="0">
                <a:solidFill>
                  <a:srgbClr val="2E2E2E"/>
                </a:solidFill>
                <a:latin typeface="Calibri"/>
              </a:rPr>
              <a:t>index of</a:t>
            </a:r>
          </a:p>
        </p:txBody>
      </p:sp>
      <p:pic>
        <p:nvPicPr>
          <p:cNvPr id="22" name="Picture 21" descr="lock.png"/>
          <p:cNvPicPr>
            <a:picLocks noChangeAspect="1"/>
          </p:cNvPicPr>
          <p:nvPr/>
        </p:nvPicPr>
        <p:blipFill>
          <a:blip r:embed="rId6"/>
          <a:stretch>
            <a:fillRect/>
          </a:stretch>
        </p:blipFill>
        <p:spPr>
          <a:xfrm>
            <a:off x="738452" y="5995733"/>
            <a:ext cx="128699" cy="187198"/>
          </a:xfrm>
          <a:prstGeom prst="rect">
            <a:avLst/>
          </a:prstGeom>
        </p:spPr>
      </p:pic>
      <p:sp>
        <p:nvSpPr>
          <p:cNvPr id="23" name="TextBox 22"/>
          <p:cNvSpPr txBox="1"/>
          <p:nvPr/>
        </p:nvSpPr>
        <p:spPr>
          <a:xfrm>
            <a:off x="905948" y="6005512"/>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4" name="Picture 23" descr="lock.png"/>
          <p:cNvPicPr>
            <a:picLocks noChangeAspect="1"/>
          </p:cNvPicPr>
          <p:nvPr/>
        </p:nvPicPr>
        <p:blipFill>
          <a:blip r:embed="rId6"/>
          <a:stretch>
            <a:fillRect/>
          </a:stretch>
        </p:blipFill>
        <p:spPr>
          <a:xfrm>
            <a:off x="1143843" y="5995733"/>
            <a:ext cx="128699" cy="187198"/>
          </a:xfrm>
          <a:prstGeom prst="rect">
            <a:avLst/>
          </a:prstGeom>
        </p:spPr>
      </p:pic>
      <p:sp>
        <p:nvSpPr>
          <p:cNvPr id="25" name="TextBox 24"/>
          <p:cNvSpPr txBox="1"/>
          <p:nvPr/>
        </p:nvSpPr>
        <p:spPr>
          <a:xfrm>
            <a:off x="1311338" y="6005512"/>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6" name="Picture 25" descr="lock.png"/>
          <p:cNvPicPr>
            <a:picLocks noChangeAspect="1"/>
          </p:cNvPicPr>
          <p:nvPr/>
        </p:nvPicPr>
        <p:blipFill>
          <a:blip r:embed="rId6"/>
          <a:stretch>
            <a:fillRect/>
          </a:stretch>
        </p:blipFill>
        <p:spPr>
          <a:xfrm>
            <a:off x="2920312" y="5995733"/>
            <a:ext cx="128699" cy="187198"/>
          </a:xfrm>
          <a:prstGeom prst="rect">
            <a:avLst/>
          </a:prstGeom>
        </p:spPr>
      </p:pic>
      <p:sp>
        <p:nvSpPr>
          <p:cNvPr id="27" name="TextBox 26"/>
          <p:cNvSpPr txBox="1"/>
          <p:nvPr/>
        </p:nvSpPr>
        <p:spPr>
          <a:xfrm>
            <a:off x="3087808" y="6005512"/>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8" name="Picture 27" descr="lock.png"/>
          <p:cNvPicPr>
            <a:picLocks noChangeAspect="1"/>
          </p:cNvPicPr>
          <p:nvPr/>
        </p:nvPicPr>
        <p:blipFill>
          <a:blip r:embed="rId6"/>
          <a:stretch>
            <a:fillRect/>
          </a:stretch>
        </p:blipFill>
        <p:spPr>
          <a:xfrm>
            <a:off x="3325702" y="5995733"/>
            <a:ext cx="128699" cy="187198"/>
          </a:xfrm>
          <a:prstGeom prst="rect">
            <a:avLst/>
          </a:prstGeom>
        </p:spPr>
      </p:pic>
      <p:sp>
        <p:nvSpPr>
          <p:cNvPr id="29" name="TextBox 28"/>
          <p:cNvSpPr txBox="1"/>
          <p:nvPr/>
        </p:nvSpPr>
        <p:spPr>
          <a:xfrm>
            <a:off x="3493198" y="6005512"/>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30" name="Picture 29" descr="lock.png"/>
          <p:cNvPicPr>
            <a:picLocks noChangeAspect="1"/>
          </p:cNvPicPr>
          <p:nvPr/>
        </p:nvPicPr>
        <p:blipFill>
          <a:blip r:embed="rId6"/>
          <a:stretch>
            <a:fillRect/>
          </a:stretch>
        </p:blipFill>
        <p:spPr>
          <a:xfrm>
            <a:off x="6047602" y="5995733"/>
            <a:ext cx="128699" cy="187198"/>
          </a:xfrm>
          <a:prstGeom prst="rect">
            <a:avLst/>
          </a:prstGeom>
        </p:spPr>
      </p:pic>
      <p:sp>
        <p:nvSpPr>
          <p:cNvPr id="31" name="TextBox 30"/>
          <p:cNvSpPr txBox="1"/>
          <p:nvPr/>
        </p:nvSpPr>
        <p:spPr>
          <a:xfrm>
            <a:off x="6215098" y="6005512"/>
            <a:ext cx="5250557" cy="186689"/>
          </a:xfrm>
          <a:prstGeom prst="rect">
            <a:avLst/>
          </a:prstGeom>
          <a:noFill/>
        </p:spPr>
        <p:txBody>
          <a:bodyPr wrap="none" lIns="0" rIns="0" tIns="0" bIns="0">
            <a:spAutoFit/>
          </a:bodyPr>
          <a:lstStyle/>
          <a:p>
            <a:r>
              <a:rPr sz="1100" b="0">
                <a:solidFill>
                  <a:srgbClr val="2E2E2E"/>
                </a:solidFill>
                <a:latin typeface="Calibri"/>
              </a:rPr>
              <a:t>. The other purchasing organisations segment is expected to be less attractive as compared</a:t>
            </a:r>
          </a:p>
        </p:txBody>
      </p:sp>
      <p:sp>
        <p:nvSpPr>
          <p:cNvPr id="32" name="TextBox 31"/>
          <p:cNvSpPr txBox="1"/>
          <p:nvPr/>
        </p:nvSpPr>
        <p:spPr>
          <a:xfrm>
            <a:off x="257175" y="6173152"/>
            <a:ext cx="9998140" cy="186689"/>
          </a:xfrm>
          <a:prstGeom prst="rect">
            <a:avLst/>
          </a:prstGeom>
          <a:noFill/>
        </p:spPr>
        <p:txBody>
          <a:bodyPr wrap="none" lIns="0" rIns="0" tIns="0" bIns="0">
            <a:spAutoFit/>
          </a:bodyPr>
          <a:lstStyle/>
          <a:p>
            <a:r>
              <a:rPr sz="1100" b="0">
                <a:solidFill>
                  <a:srgbClr val="2E2E2E"/>
                </a:solidFill>
                <a:latin typeface="Calibri"/>
              </a:rPr>
              <a:t>to other segments over the forecast period, owing to its lower CAGR and incremental opportunity. Bubbles right of the CAGR-Index line grow faster than the segment average.</a:t>
            </a:r>
          </a:p>
        </p:txBody>
      </p:sp>
      <p:sp>
        <p:nvSpPr>
          <p:cNvPr id="33" name="lockshield_12"/>
          <p:cNvSpPr/>
          <p:nvPr/>
        </p:nvSpPr>
        <p:spPr>
          <a:xfrm>
            <a:off x="238125" y="1438275"/>
            <a:ext cx="6153150"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ockshield_15"/>
          <p:cNvSpPr/>
          <p:nvPr/>
        </p:nvSpPr>
        <p:spPr>
          <a:xfrm>
            <a:off x="6734175" y="1438275"/>
            <a:ext cx="5210175" cy="3762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Purchasing Organisation and the absolute $ opportunity each sub-segment adds, 2026–2036</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Hospitals and Transplant Centres</a:t>
            </a:r>
          </a:p>
        </p:txBody>
      </p:sp>
      <p:graphicFrame>
        <p:nvGraphicFramePr>
          <p:cNvPr id="12" name="Chart 11"/>
          <p:cNvGraphicFramePr>
            <a:graphicFrameLocks noGrp="1"/>
          </p:cNvGraphicFramePr>
          <p:nvPr/>
        </p:nvGraphicFramePr>
        <p:xfrm>
          <a:off x="238125" y="1438275"/>
          <a:ext cx="5686425" cy="223837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Organ Procurement Organisations and Organ Retrieval Agencies</a:t>
            </a:r>
          </a:p>
        </p:txBody>
      </p:sp>
      <p:graphicFrame>
        <p:nvGraphicFramePr>
          <p:cNvPr id="15" name="Chart 14"/>
          <p:cNvGraphicFramePr>
            <a:graphicFrameLocks noGrp="1"/>
          </p:cNvGraphicFramePr>
          <p:nvPr/>
        </p:nvGraphicFramePr>
        <p:xfrm>
          <a:off x="6267450" y="1438275"/>
          <a:ext cx="5686425" cy="2238375"/>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Specialised Medical Logistics Providers</a:t>
            </a:r>
          </a:p>
        </p:txBody>
      </p:sp>
      <p:graphicFrame>
        <p:nvGraphicFramePr>
          <p:cNvPr id="18" name="Chart 17"/>
          <p:cNvGraphicFramePr>
            <a:graphicFrameLocks noGrp="1"/>
          </p:cNvGraphicFramePr>
          <p:nvPr/>
        </p:nvGraphicFramePr>
        <p:xfrm>
          <a:off x="238125" y="4324350"/>
          <a:ext cx="5686425" cy="2238375"/>
        </p:xfrm>
        <a:graphic>
          <a:graphicData uri="http://schemas.openxmlformats.org/drawingml/2006/chart">
            <c:chart xmlns:c="http://schemas.openxmlformats.org/drawingml/2006/chart" r:id="rId5"/>
          </a:graphicData>
        </a:graphic>
      </p:graphicFrame>
      <p:sp>
        <p:nvSpPr>
          <p:cNvPr id="19" name="Rounded Rectangle 18"/>
          <p:cNvSpPr/>
          <p:nvPr/>
        </p:nvSpPr>
        <p:spPr>
          <a:xfrm>
            <a:off x="6172200" y="3867150"/>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7450" y="3924300"/>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Other Purchasing Organisations</a:t>
            </a:r>
          </a:p>
        </p:txBody>
      </p:sp>
      <p:graphicFrame>
        <p:nvGraphicFramePr>
          <p:cNvPr id="21" name="Chart 20"/>
          <p:cNvGraphicFramePr>
            <a:graphicFrameLocks noGrp="1"/>
          </p:cNvGraphicFramePr>
          <p:nvPr/>
        </p:nvGraphicFramePr>
        <p:xfrm>
          <a:off x="6267450" y="4324350"/>
          <a:ext cx="5686425" cy="2238375"/>
        </p:xfrm>
        <a:graphic>
          <a:graphicData uri="http://schemas.openxmlformats.org/drawingml/2006/chart">
            <c:chart xmlns:c="http://schemas.openxmlformats.org/drawingml/2006/chart" r:id="rId6"/>
          </a:graphicData>
        </a:graphic>
      </p:graphicFrame>
      <p:sp>
        <p:nvSpPr>
          <p:cNvPr id="22" name="TextBox 2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 name="Picture 22" descr="lock.png"/>
          <p:cNvPicPr>
            <a:picLocks noChangeAspect="1"/>
          </p:cNvPicPr>
          <p:nvPr/>
        </p:nvPicPr>
        <p:blipFill>
          <a:blip r:embed="rId8"/>
          <a:stretch>
            <a:fillRect/>
          </a:stretch>
        </p:blipFill>
        <p:spPr>
          <a:xfrm>
            <a:off x="3100230" y="2330679"/>
            <a:ext cx="252890" cy="367840"/>
          </a:xfrm>
          <a:prstGeom prst="rect">
            <a:avLst/>
          </a:prstGeom>
        </p:spPr>
      </p:pic>
      <p:pic>
        <p:nvPicPr>
          <p:cNvPr id="24" name="Picture 23" descr="lock.png"/>
          <p:cNvPicPr>
            <a:picLocks noChangeAspect="1"/>
          </p:cNvPicPr>
          <p:nvPr/>
        </p:nvPicPr>
        <p:blipFill>
          <a:blip r:embed="rId8"/>
          <a:stretch>
            <a:fillRect/>
          </a:stretch>
        </p:blipFill>
        <p:spPr>
          <a:xfrm>
            <a:off x="9129555" y="2330679"/>
            <a:ext cx="252890" cy="367840"/>
          </a:xfrm>
          <a:prstGeom prst="rect">
            <a:avLst/>
          </a:prstGeom>
        </p:spPr>
      </p:pic>
      <p:pic>
        <p:nvPicPr>
          <p:cNvPr id="25" name="Picture 24" descr="lock.png"/>
          <p:cNvPicPr>
            <a:picLocks noChangeAspect="1"/>
          </p:cNvPicPr>
          <p:nvPr/>
        </p:nvPicPr>
        <p:blipFill>
          <a:blip r:embed="rId8"/>
          <a:stretch>
            <a:fillRect/>
          </a:stretch>
        </p:blipFill>
        <p:spPr>
          <a:xfrm>
            <a:off x="3100230" y="5216754"/>
            <a:ext cx="252890" cy="367840"/>
          </a:xfrm>
          <a:prstGeom prst="rect">
            <a:avLst/>
          </a:prstGeom>
        </p:spPr>
      </p:pic>
      <p:pic>
        <p:nvPicPr>
          <p:cNvPr id="26" name="Picture 25" descr="lock.png"/>
          <p:cNvPicPr>
            <a:picLocks noChangeAspect="1"/>
          </p:cNvPicPr>
          <p:nvPr/>
        </p:nvPicPr>
        <p:blipFill>
          <a:blip r:embed="rId8"/>
          <a:stretch>
            <a:fillRect/>
          </a:stretch>
        </p:blipFill>
        <p:spPr>
          <a:xfrm>
            <a:off x="9129555" y="5216754"/>
            <a:ext cx="252890" cy="367840"/>
          </a:xfrm>
          <a:prstGeom prst="rect">
            <a:avLst/>
          </a:prstGeom>
        </p:spPr>
      </p:pic>
      <p:sp>
        <p:nvSpPr>
          <p:cNvPr id="27" name="lockshield_12"/>
          <p:cNvSpPr/>
          <p:nvPr/>
        </p:nvSpPr>
        <p:spPr>
          <a:xfrm>
            <a:off x="238125"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ockshield_15"/>
          <p:cNvSpPr/>
          <p:nvPr/>
        </p:nvSpPr>
        <p:spPr>
          <a:xfrm>
            <a:off x="6267450" y="1438275"/>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lockshield_18"/>
          <p:cNvSpPr/>
          <p:nvPr/>
        </p:nvSpPr>
        <p:spPr>
          <a:xfrm>
            <a:off x="238125"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21"/>
          <p:cNvSpPr/>
          <p:nvPr/>
        </p:nvSpPr>
        <p:spPr>
          <a:xfrm>
            <a:off x="6267450" y="4324350"/>
            <a:ext cx="5686425"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Purchasing Organisation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Purchasing Organisation, 2021–2036, highlighting the sub-segments driving growth</a:t>
            </a:r>
          </a:p>
        </p:txBody>
      </p:sp>
      <p:sp>
        <p:nvSpPr>
          <p:cNvPr id="10" name="Rounded Rectangle 9"/>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Purchasing Organisation (US$ Mn)</a:t>
            </a:r>
          </a:p>
        </p:txBody>
      </p:sp>
      <p:graphicFrame>
        <p:nvGraphicFramePr>
          <p:cNvPr id="12" name="Table 11"/>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990366"/>
                <a:gridCol w="474760"/>
                <a:gridCol w="474760"/>
                <a:gridCol w="474760"/>
                <a:gridCol w="474760"/>
                <a:gridCol w="474760"/>
                <a:gridCol w="457356"/>
                <a:gridCol w="452383"/>
                <a:gridCol w="452383"/>
                <a:gridCol w="452383"/>
                <a:gridCol w="452383"/>
                <a:gridCol w="452383"/>
                <a:gridCol w="452383"/>
                <a:gridCol w="452383"/>
                <a:gridCol w="452383"/>
                <a:gridCol w="452383"/>
                <a:gridCol w="452383"/>
                <a:gridCol w="541850"/>
              </a:tblGrid>
              <a:tr h="246126">
                <a:tc>
                  <a:txBody>
                    <a:bodyPr wrap="none"/>
                    <a:lstStyle/>
                    <a:p>
                      <a:pPr algn="l"/>
                      <a:r>
                        <a:rPr sz="1100" b="1">
                          <a:solidFill>
                            <a:srgbClr val="0B2E4A"/>
                          </a:solidFill>
                          <a:latin typeface="Calibri"/>
                        </a:rPr>
                        <a:t>Purchasing Organisation</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2036F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F-CAGR</a:t>
                      </a:r>
                      <a:endParaRPr sz="1100"/>
                    </a:p>
                  </a:txBody>
                  <a:tcPr marL="38100" marR="28575" marT="19050" marB="19050" anchor="ctr">
                    <a:solidFill>
                      <a:srgbClr val="E0E8EF"/>
                    </a:solidFill>
                  </a:tcPr>
                </a:tc>
              </a:tr>
              <a:tr h="247954">
                <a:tc>
                  <a:txBody>
                    <a:bodyPr wrap="none"/>
                    <a:lstStyle/>
                    <a:p>
                      <a:pPr algn="l"/>
                      <a:r>
                        <a:rPr sz="1100" b="1">
                          <a:solidFill>
                            <a:srgbClr val="2E2E2E"/>
                          </a:solidFill>
                          <a:latin typeface="Calibri"/>
                        </a:rPr>
                        <a:t>Hospitals and Transplant Centres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Organ Procurement Organisations and Organ Retrieval Agencies</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Specialised Medical Logistics Providers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Other Purchasing Organisations</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r>
            </a:tbl>
          </a:graphicData>
        </a:graphic>
      </p:graphicFrame>
      <p:sp>
        <p:nvSpPr>
          <p:cNvPr id="13" name="TextBox 12"/>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067050"/>
            <a:ext cx="11906250" cy="3562350"/>
          </a:xfrm>
          <a:prstGeom prst="roundRect">
            <a:avLst>
              <a:gd name="adj" fmla="val 21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1527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Purchasing Organisation</a:t>
            </a:r>
          </a:p>
        </p:txBody>
      </p:sp>
      <p:sp>
        <p:nvSpPr>
          <p:cNvPr id="16" name="Rectangle 15"/>
          <p:cNvSpPr/>
          <p:nvPr/>
        </p:nvSpPr>
        <p:spPr>
          <a:xfrm>
            <a:off x="276225" y="33909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476625"/>
            <a:ext cx="11639550" cy="30765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7904493" y="1837563"/>
            <a:ext cx="366712" cy="533400"/>
          </a:xfrm>
          <a:prstGeom prst="rect">
            <a:avLst/>
          </a:prstGeom>
        </p:spPr>
      </p:pic>
      <p:sp>
        <p:nvSpPr>
          <p:cNvPr id="20" name="TextBox 19"/>
          <p:cNvSpPr txBox="1"/>
          <p:nvPr/>
        </p:nvSpPr>
        <p:spPr>
          <a:xfrm>
            <a:off x="276225" y="3486150"/>
            <a:ext cx="3920281" cy="194310"/>
          </a:xfrm>
          <a:prstGeom prst="rect">
            <a:avLst/>
          </a:prstGeom>
          <a:noFill/>
        </p:spPr>
        <p:txBody>
          <a:bodyPr wrap="none" lIns="0" rIns="0" tIns="0" bIns="0">
            <a:spAutoFit/>
          </a:bodyPr>
          <a:lstStyle/>
          <a:p>
            <a:r>
              <a:rPr sz="1150" b="0">
                <a:solidFill>
                  <a:srgbClr val="2E2E2E"/>
                </a:solidFill>
                <a:latin typeface="Calibri"/>
              </a:rPr>
              <a:t>Hospitals and transplant centres segment is projected to register</a:t>
            </a:r>
          </a:p>
        </p:txBody>
      </p:sp>
      <p:pic>
        <p:nvPicPr>
          <p:cNvPr id="21" name="Picture 20" descr="lock.png"/>
          <p:cNvPicPr>
            <a:picLocks noChangeAspect="1"/>
          </p:cNvPicPr>
          <p:nvPr/>
        </p:nvPicPr>
        <p:blipFill>
          <a:blip r:embed="rId4"/>
          <a:stretch>
            <a:fillRect/>
          </a:stretch>
        </p:blipFill>
        <p:spPr>
          <a:xfrm>
            <a:off x="4145660" y="3475926"/>
            <a:ext cx="134549" cy="195707"/>
          </a:xfrm>
          <a:prstGeom prst="rect">
            <a:avLst/>
          </a:prstGeom>
        </p:spPr>
      </p:pic>
      <p:sp>
        <p:nvSpPr>
          <p:cNvPr id="22" name="TextBox 21"/>
          <p:cNvSpPr txBox="1"/>
          <p:nvPr/>
        </p:nvSpPr>
        <p:spPr>
          <a:xfrm>
            <a:off x="4320769" y="3486150"/>
            <a:ext cx="7438318" cy="194310"/>
          </a:xfrm>
          <a:prstGeom prst="rect">
            <a:avLst/>
          </a:prstGeom>
          <a:noFill/>
        </p:spPr>
        <p:txBody>
          <a:bodyPr wrap="none" lIns="0" rIns="0" tIns="0" bIns="0">
            <a:spAutoFit/>
          </a:bodyPr>
          <a:lstStyle/>
          <a:p>
            <a:r>
              <a:rPr sz="1150" b="0">
                <a:solidFill>
                  <a:srgbClr val="2E2E2E"/>
                </a:solidFill>
                <a:latin typeface="Calibri"/>
              </a:rPr>
              <a:t>X higher value than organ procurement organisations and organ retrieval agencies segment in 2036. Among organ transport</a:t>
            </a:r>
          </a:p>
        </p:txBody>
      </p:sp>
      <p:sp>
        <p:nvSpPr>
          <p:cNvPr id="23" name="TextBox 22"/>
          <p:cNvSpPr txBox="1"/>
          <p:nvPr/>
        </p:nvSpPr>
        <p:spPr>
          <a:xfrm>
            <a:off x="276225" y="3661410"/>
            <a:ext cx="7576077" cy="194310"/>
          </a:xfrm>
          <a:prstGeom prst="rect">
            <a:avLst/>
          </a:prstGeom>
          <a:noFill/>
        </p:spPr>
        <p:txBody>
          <a:bodyPr wrap="none" lIns="0" rIns="0" tIns="0" bIns="0">
            <a:spAutoFit/>
          </a:bodyPr>
          <a:lstStyle/>
          <a:p>
            <a:r>
              <a:rPr sz="1150" b="0">
                <a:solidFill>
                  <a:srgbClr val="2E2E2E"/>
                </a:solidFill>
                <a:latin typeface="Calibri"/>
              </a:rPr>
              <a:t>devices by purchasing organisation, specialised medical logistics providers segment is expected to witness the highest CAGR of</a:t>
            </a:r>
          </a:p>
        </p:txBody>
      </p:sp>
      <p:pic>
        <p:nvPicPr>
          <p:cNvPr id="24" name="Picture 23" descr="lock.png"/>
          <p:cNvPicPr>
            <a:picLocks noChangeAspect="1"/>
          </p:cNvPicPr>
          <p:nvPr/>
        </p:nvPicPr>
        <p:blipFill>
          <a:blip r:embed="rId4"/>
          <a:stretch>
            <a:fillRect/>
          </a:stretch>
        </p:blipFill>
        <p:spPr>
          <a:xfrm>
            <a:off x="7801456" y="3651186"/>
            <a:ext cx="134549" cy="195707"/>
          </a:xfrm>
          <a:prstGeom prst="rect">
            <a:avLst/>
          </a:prstGeom>
        </p:spPr>
      </p:pic>
      <p:sp>
        <p:nvSpPr>
          <p:cNvPr id="25" name="TextBox 24"/>
          <p:cNvSpPr txBox="1"/>
          <p:nvPr/>
        </p:nvSpPr>
        <p:spPr>
          <a:xfrm>
            <a:off x="7976566" y="36614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889247"/>
            <a:ext cx="8395915" cy="194310"/>
          </a:xfrm>
          <a:prstGeom prst="rect">
            <a:avLst/>
          </a:prstGeom>
          <a:noFill/>
        </p:spPr>
        <p:txBody>
          <a:bodyPr wrap="none" lIns="0" rIns="0" tIns="0" bIns="0">
            <a:spAutoFit/>
          </a:bodyPr>
          <a:lstStyle/>
          <a:p>
            <a:r>
              <a:rPr sz="1150" b="0">
                <a:solidFill>
                  <a:srgbClr val="2E2E2E"/>
                </a:solidFill>
                <a:latin typeface="Calibri"/>
              </a:rPr>
              <a:t>In terms of value share by purchasing organisation, the hospitals and transplant centres segment is expected to dominate the market, losing</a:t>
            </a:r>
          </a:p>
        </p:txBody>
      </p:sp>
      <p:pic>
        <p:nvPicPr>
          <p:cNvPr id="27" name="Picture 26" descr="lock.png"/>
          <p:cNvPicPr>
            <a:picLocks noChangeAspect="1"/>
          </p:cNvPicPr>
          <p:nvPr/>
        </p:nvPicPr>
        <p:blipFill>
          <a:blip r:embed="rId4"/>
          <a:stretch>
            <a:fillRect/>
          </a:stretch>
        </p:blipFill>
        <p:spPr>
          <a:xfrm>
            <a:off x="8621294" y="3879024"/>
            <a:ext cx="134549" cy="195707"/>
          </a:xfrm>
          <a:prstGeom prst="rect">
            <a:avLst/>
          </a:prstGeom>
        </p:spPr>
      </p:pic>
      <p:sp>
        <p:nvSpPr>
          <p:cNvPr id="28" name="TextBox 27"/>
          <p:cNvSpPr txBox="1"/>
          <p:nvPr/>
        </p:nvSpPr>
        <p:spPr>
          <a:xfrm>
            <a:off x="8796403" y="38892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10191546" y="3879024"/>
            <a:ext cx="134549" cy="195707"/>
          </a:xfrm>
          <a:prstGeom prst="rect">
            <a:avLst/>
          </a:prstGeom>
        </p:spPr>
      </p:pic>
      <p:sp>
        <p:nvSpPr>
          <p:cNvPr id="30" name="TextBox 29"/>
          <p:cNvSpPr txBox="1"/>
          <p:nvPr/>
        </p:nvSpPr>
        <p:spPr>
          <a:xfrm>
            <a:off x="10366656" y="38892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Purchasing Organisation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Purchasing Organisation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1938154"/>
            <a:ext cx="85725" cy="8572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rot="10800000">
            <a:off x="5090922" y="1933391"/>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1857191"/>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Other Purchasing Organisations</a:t>
            </a:r>
          </a:p>
        </p:txBody>
      </p:sp>
      <p:sp>
        <p:nvSpPr>
          <p:cNvPr id="18" name="BPS Value 1"/>
          <p:cNvSpPr txBox="1"/>
          <p:nvPr/>
        </p:nvSpPr>
        <p:spPr>
          <a:xfrm>
            <a:off x="6896100" y="1919104"/>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19" name="FMI Legend Chip"/>
          <p:cNvSpPr/>
          <p:nvPr/>
        </p:nvSpPr>
        <p:spPr>
          <a:xfrm>
            <a:off x="4928997" y="2717738"/>
            <a:ext cx="85725" cy="857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090922" y="2712976"/>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2636776"/>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Specialised Medical Logistics Providers</a:t>
            </a:r>
          </a:p>
        </p:txBody>
      </p:sp>
      <p:sp>
        <p:nvSpPr>
          <p:cNvPr id="22" name="BPS Value 2"/>
          <p:cNvSpPr txBox="1"/>
          <p:nvPr/>
        </p:nvSpPr>
        <p:spPr>
          <a:xfrm>
            <a:off x="6896100" y="2698688"/>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3" name="FMI Legend Chip"/>
          <p:cNvSpPr/>
          <p:nvPr/>
        </p:nvSpPr>
        <p:spPr>
          <a:xfrm>
            <a:off x="4928997" y="3934554"/>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a:off x="5090922" y="3929792"/>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PS Name 3"/>
          <p:cNvSpPr txBox="1"/>
          <p:nvPr/>
        </p:nvSpPr>
        <p:spPr>
          <a:xfrm>
            <a:off x="5233797" y="3853592"/>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Organ Procurement Organisations and Organ Retrieval Agencies</a:t>
            </a:r>
          </a:p>
        </p:txBody>
      </p:sp>
      <p:sp>
        <p:nvSpPr>
          <p:cNvPr id="26" name="BPS Value 3"/>
          <p:cNvSpPr txBox="1"/>
          <p:nvPr/>
        </p:nvSpPr>
        <p:spPr>
          <a:xfrm>
            <a:off x="6896100" y="3915504"/>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27" name="FMI Legend Chip"/>
          <p:cNvSpPr/>
          <p:nvPr/>
        </p:nvSpPr>
        <p:spPr>
          <a:xfrm>
            <a:off x="4928997" y="5441160"/>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Isosceles Triangle 27"/>
          <p:cNvSpPr/>
          <p:nvPr/>
        </p:nvSpPr>
        <p:spPr>
          <a:xfrm rot="10800000">
            <a:off x="5090922" y="5436397"/>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PS Name 4"/>
          <p:cNvSpPr txBox="1"/>
          <p:nvPr/>
        </p:nvSpPr>
        <p:spPr>
          <a:xfrm>
            <a:off x="5233797" y="5360197"/>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Hospitals and Transplant Centres</a:t>
            </a:r>
          </a:p>
        </p:txBody>
      </p:sp>
      <p:sp>
        <p:nvSpPr>
          <p:cNvPr id="30" name="BPS Value 4"/>
          <p:cNvSpPr txBox="1"/>
          <p:nvPr/>
        </p:nvSpPr>
        <p:spPr>
          <a:xfrm>
            <a:off x="6896100" y="5422110"/>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31" name="Rounded Rectangle 30"/>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066800"/>
            <a:ext cx="4076700" cy="407620"/>
          </a:xfrm>
          <a:prstGeom prst="rect">
            <a:avLst/>
          </a:prstGeom>
          <a:noFill/>
        </p:spPr>
        <p:txBody>
          <a:bodyPr wrap="square" lIns="0" rIns="19050" tIns="9525" bIns="9525">
            <a:spAutoFit/>
          </a:bodyPr>
          <a:lstStyle/>
          <a:p>
            <a:pPr algn="l"/>
            <a:r>
              <a:rPr sz="1300" b="1">
                <a:solidFill>
                  <a:srgbClr val="0B2E4A"/>
                </a:solidFill>
                <a:latin typeface="Calibri"/>
              </a:rPr>
              <a:t>North America Read-out, By Purchasing Organisation</a:t>
            </a:r>
          </a:p>
        </p:txBody>
      </p:sp>
      <p:sp>
        <p:nvSpPr>
          <p:cNvPr id="33" name="Rectangle 32"/>
          <p:cNvSpPr/>
          <p:nvPr/>
        </p:nvSpPr>
        <p:spPr>
          <a:xfrm>
            <a:off x="7829550" y="150299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1588720"/>
            <a:ext cx="4076700" cy="496448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5" name="TextBox 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6" name="Picture 35" descr="lock.png"/>
          <p:cNvPicPr>
            <a:picLocks noChangeAspect="1"/>
          </p:cNvPicPr>
          <p:nvPr/>
        </p:nvPicPr>
        <p:blipFill>
          <a:blip r:embed="rId5"/>
          <a:stretch>
            <a:fillRect/>
          </a:stretch>
        </p:blipFill>
        <p:spPr>
          <a:xfrm>
            <a:off x="2557843" y="3833622"/>
            <a:ext cx="275034" cy="400050"/>
          </a:xfrm>
          <a:prstGeom prst="rect">
            <a:avLst/>
          </a:prstGeom>
        </p:spPr>
      </p:pic>
      <p:sp>
        <p:nvSpPr>
          <p:cNvPr id="37" name="TextBox 36"/>
          <p:cNvSpPr txBox="1"/>
          <p:nvPr/>
        </p:nvSpPr>
        <p:spPr>
          <a:xfrm>
            <a:off x="7829550" y="1598245"/>
            <a:ext cx="3609354" cy="194310"/>
          </a:xfrm>
          <a:prstGeom prst="rect">
            <a:avLst/>
          </a:prstGeom>
          <a:noFill/>
        </p:spPr>
        <p:txBody>
          <a:bodyPr wrap="none" lIns="0" rIns="0" tIns="0" bIns="0">
            <a:spAutoFit/>
          </a:bodyPr>
          <a:lstStyle/>
          <a:p>
            <a:r>
              <a:rPr sz="1150" b="0">
                <a:solidFill>
                  <a:srgbClr val="2E2E2E"/>
                </a:solidFill>
                <a:latin typeface="Calibri"/>
              </a:rPr>
              <a:t>Among organ transport devices by purchasing organisation,</a:t>
            </a:r>
          </a:p>
        </p:txBody>
      </p:sp>
      <p:sp>
        <p:nvSpPr>
          <p:cNvPr id="38" name="TextBox 37"/>
          <p:cNvSpPr txBox="1"/>
          <p:nvPr/>
        </p:nvSpPr>
        <p:spPr>
          <a:xfrm>
            <a:off x="7829550" y="1773505"/>
            <a:ext cx="3729161" cy="194310"/>
          </a:xfrm>
          <a:prstGeom prst="rect">
            <a:avLst/>
          </a:prstGeom>
          <a:noFill/>
        </p:spPr>
        <p:txBody>
          <a:bodyPr wrap="none" lIns="0" rIns="0" tIns="0" bIns="0">
            <a:spAutoFit/>
          </a:bodyPr>
          <a:lstStyle/>
          <a:p>
            <a:r>
              <a:rPr sz="1150" b="0">
                <a:solidFill>
                  <a:srgbClr val="2E2E2E"/>
                </a:solidFill>
                <a:latin typeface="Calibri"/>
              </a:rPr>
              <a:t>specialised medical logistics providers segment is expected to</a:t>
            </a:r>
          </a:p>
        </p:txBody>
      </p:sp>
      <p:sp>
        <p:nvSpPr>
          <p:cNvPr id="39" name="TextBox 38"/>
          <p:cNvSpPr txBox="1"/>
          <p:nvPr/>
        </p:nvSpPr>
        <p:spPr>
          <a:xfrm>
            <a:off x="7829550" y="1948765"/>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40" name="Picture 39" descr="lock.png"/>
          <p:cNvPicPr>
            <a:picLocks noChangeAspect="1"/>
          </p:cNvPicPr>
          <p:nvPr/>
        </p:nvPicPr>
        <p:blipFill>
          <a:blip r:embed="rId5"/>
          <a:stretch>
            <a:fillRect/>
          </a:stretch>
        </p:blipFill>
        <p:spPr>
          <a:xfrm>
            <a:off x="9526474" y="1938541"/>
            <a:ext cx="134549" cy="195707"/>
          </a:xfrm>
          <a:prstGeom prst="rect">
            <a:avLst/>
          </a:prstGeom>
        </p:spPr>
      </p:pic>
      <p:sp>
        <p:nvSpPr>
          <p:cNvPr id="41" name="TextBox 40"/>
          <p:cNvSpPr txBox="1"/>
          <p:nvPr/>
        </p:nvSpPr>
        <p:spPr>
          <a:xfrm>
            <a:off x="9701583" y="1948765"/>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42" name="TextBox 41"/>
          <p:cNvSpPr txBox="1"/>
          <p:nvPr/>
        </p:nvSpPr>
        <p:spPr>
          <a:xfrm>
            <a:off x="7829550" y="2176603"/>
            <a:ext cx="3900599" cy="194310"/>
          </a:xfrm>
          <a:prstGeom prst="rect">
            <a:avLst/>
          </a:prstGeom>
          <a:noFill/>
        </p:spPr>
        <p:txBody>
          <a:bodyPr wrap="none" lIns="0" rIns="0" tIns="0" bIns="0">
            <a:spAutoFit/>
          </a:bodyPr>
          <a:lstStyle/>
          <a:p>
            <a:r>
              <a:rPr sz="1150" b="0">
                <a:solidFill>
                  <a:srgbClr val="2E2E2E"/>
                </a:solidFill>
                <a:latin typeface="Calibri"/>
              </a:rPr>
              <a:t>In terms of value share by purchasing organisation, the hospitals</a:t>
            </a:r>
          </a:p>
        </p:txBody>
      </p:sp>
      <p:sp>
        <p:nvSpPr>
          <p:cNvPr id="43" name="TextBox 42"/>
          <p:cNvSpPr txBox="1"/>
          <p:nvPr/>
        </p:nvSpPr>
        <p:spPr>
          <a:xfrm>
            <a:off x="7829550" y="2351863"/>
            <a:ext cx="3662982" cy="194310"/>
          </a:xfrm>
          <a:prstGeom prst="rect">
            <a:avLst/>
          </a:prstGeom>
          <a:noFill/>
        </p:spPr>
        <p:txBody>
          <a:bodyPr wrap="none" lIns="0" rIns="0" tIns="0" bIns="0">
            <a:spAutoFit/>
          </a:bodyPr>
          <a:lstStyle/>
          <a:p>
            <a:r>
              <a:rPr sz="1150" b="0">
                <a:solidFill>
                  <a:srgbClr val="2E2E2E"/>
                </a:solidFill>
                <a:latin typeface="Calibri"/>
              </a:rPr>
              <a:t>and transplant centres segment is expected to dominate the</a:t>
            </a:r>
          </a:p>
        </p:txBody>
      </p:sp>
      <p:sp>
        <p:nvSpPr>
          <p:cNvPr id="44" name="TextBox 43"/>
          <p:cNvSpPr txBox="1"/>
          <p:nvPr/>
        </p:nvSpPr>
        <p:spPr>
          <a:xfrm>
            <a:off x="7829550" y="2527123"/>
            <a:ext cx="918554" cy="194310"/>
          </a:xfrm>
          <a:prstGeom prst="rect">
            <a:avLst/>
          </a:prstGeom>
          <a:noFill/>
        </p:spPr>
        <p:txBody>
          <a:bodyPr wrap="none" lIns="0" rIns="0" tIns="0" bIns="0">
            <a:spAutoFit/>
          </a:bodyPr>
          <a:lstStyle/>
          <a:p>
            <a:r>
              <a:rPr sz="1150" b="0">
                <a:solidFill>
                  <a:srgbClr val="2E2E2E"/>
                </a:solidFill>
                <a:latin typeface="Calibri"/>
              </a:rPr>
              <a:t>market, losing</a:t>
            </a:r>
          </a:p>
        </p:txBody>
      </p:sp>
      <p:pic>
        <p:nvPicPr>
          <p:cNvPr id="45" name="Picture 44" descr="lock.png"/>
          <p:cNvPicPr>
            <a:picLocks noChangeAspect="1"/>
          </p:cNvPicPr>
          <p:nvPr/>
        </p:nvPicPr>
        <p:blipFill>
          <a:blip r:embed="rId5"/>
          <a:stretch>
            <a:fillRect/>
          </a:stretch>
        </p:blipFill>
        <p:spPr>
          <a:xfrm>
            <a:off x="8697258" y="2516899"/>
            <a:ext cx="134549" cy="195707"/>
          </a:xfrm>
          <a:prstGeom prst="rect">
            <a:avLst/>
          </a:prstGeom>
        </p:spPr>
      </p:pic>
      <p:sp>
        <p:nvSpPr>
          <p:cNvPr id="46" name="TextBox 45"/>
          <p:cNvSpPr txBox="1"/>
          <p:nvPr/>
        </p:nvSpPr>
        <p:spPr>
          <a:xfrm>
            <a:off x="8872367" y="2527123"/>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47" name="Picture 46" descr="lock.png"/>
          <p:cNvPicPr>
            <a:picLocks noChangeAspect="1"/>
          </p:cNvPicPr>
          <p:nvPr/>
        </p:nvPicPr>
        <p:blipFill>
          <a:blip r:embed="rId5"/>
          <a:stretch>
            <a:fillRect/>
          </a:stretch>
        </p:blipFill>
        <p:spPr>
          <a:xfrm>
            <a:off x="10267511" y="2516899"/>
            <a:ext cx="134549" cy="195707"/>
          </a:xfrm>
          <a:prstGeom prst="rect">
            <a:avLst/>
          </a:prstGeom>
        </p:spPr>
      </p:pic>
      <p:sp>
        <p:nvSpPr>
          <p:cNvPr id="48" name="TextBox 47"/>
          <p:cNvSpPr txBox="1"/>
          <p:nvPr/>
        </p:nvSpPr>
        <p:spPr>
          <a:xfrm>
            <a:off x="10442620" y="252712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9"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By Sales Channel Segment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Structure &amp; Attractiveness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Value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By Sales Channel Segment Outlook</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Segment analysis of market size, growth and share across 2 sub-segments of Sales Channel, 2026–2036</a:t>
            </a:r>
          </a:p>
        </p:txBody>
      </p:sp>
      <p:sp>
        <p:nvSpPr>
          <p:cNvPr id="10" name="TextBox 9"/>
          <p:cNvSpPr txBox="1"/>
          <p:nvPr/>
        </p:nvSpPr>
        <p:spPr>
          <a:xfrm>
            <a:off x="323850" y="1007261"/>
            <a:ext cx="11544300" cy="310313"/>
          </a:xfrm>
          <a:prstGeom prst="rect">
            <a:avLst/>
          </a:prstGeom>
          <a:noFill/>
        </p:spPr>
        <p:txBody>
          <a:bodyPr wrap="square" lIns="28575" rIns="28575" tIns="9525" bIns="9525">
            <a:spAutoFit/>
          </a:bodyPr>
          <a:lstStyle/>
          <a:p>
            <a:pPr algn="l"/>
            <a:r>
              <a:rPr sz="1150" b="0">
                <a:solidFill>
                  <a:srgbClr val="2E2E2E"/>
                </a:solidFill>
                <a:latin typeface="Calibri"/>
              </a:rPr>
              <a:t>The Sales Channel segment categorizes the market by sales channel. Each sub-category is evaluated on market size, growth outlook and adoption trends across the forecast period.</a:t>
            </a:r>
          </a:p>
        </p:txBody>
      </p:sp>
      <p:sp>
        <p:nvSpPr>
          <p:cNvPr id="11" name="Rectangle 10"/>
          <p:cNvSpPr/>
          <p:nvPr/>
        </p:nvSpPr>
        <p:spPr>
          <a:xfrm>
            <a:off x="323850" y="1773916"/>
            <a:ext cx="1428750" cy="438089"/>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9575" y="1773916"/>
            <a:ext cx="1295400" cy="438089"/>
          </a:xfrm>
          <a:prstGeom prst="rect">
            <a:avLst/>
          </a:prstGeom>
          <a:noFill/>
        </p:spPr>
        <p:txBody>
          <a:bodyPr wrap="square" lIns="28575" rIns="28575" tIns="9525" bIns="9525" anchor="ctr">
            <a:spAutoFit/>
          </a:bodyPr>
          <a:lstStyle/>
          <a:p>
            <a:pPr algn="l"/>
            <a:r>
              <a:rPr sz="1100" b="1">
                <a:solidFill>
                  <a:srgbClr val="0B2E4A"/>
                </a:solidFill>
                <a:latin typeface="Calibri"/>
              </a:rPr>
              <a:t>Sub-Segment</a:t>
            </a:r>
          </a:p>
        </p:txBody>
      </p:sp>
      <p:sp>
        <p:nvSpPr>
          <p:cNvPr id="13" name="Rectangle 12"/>
          <p:cNvSpPr/>
          <p:nvPr/>
        </p:nvSpPr>
        <p:spPr>
          <a:xfrm>
            <a:off x="323850" y="22302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22302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2026 Value (US$ Mn)</a:t>
            </a:r>
          </a:p>
        </p:txBody>
      </p:sp>
      <p:sp>
        <p:nvSpPr>
          <p:cNvPr id="15" name="Rectangle 14"/>
          <p:cNvSpPr/>
          <p:nvPr/>
        </p:nvSpPr>
        <p:spPr>
          <a:xfrm>
            <a:off x="323850" y="272310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72310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2036 Value (US$ Mn)</a:t>
            </a:r>
          </a:p>
        </p:txBody>
      </p:sp>
      <p:sp>
        <p:nvSpPr>
          <p:cNvPr id="17" name="Rectangle 16"/>
          <p:cNvSpPr/>
          <p:nvPr/>
        </p:nvSpPr>
        <p:spPr>
          <a:xfrm>
            <a:off x="323850" y="3215959"/>
            <a:ext cx="1428750" cy="474596"/>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3215959"/>
            <a:ext cx="1295400" cy="474596"/>
          </a:xfrm>
          <a:prstGeom prst="rect">
            <a:avLst/>
          </a:prstGeom>
          <a:noFill/>
        </p:spPr>
        <p:txBody>
          <a:bodyPr wrap="square" lIns="28575" rIns="28575" tIns="9525" bIns="9525" anchor="ctr">
            <a:spAutoFit/>
          </a:bodyPr>
          <a:lstStyle/>
          <a:p>
            <a:pPr algn="l"/>
            <a:r>
              <a:rPr sz="1100" b="0">
                <a:solidFill>
                  <a:srgbClr val="6C7A89"/>
                </a:solidFill>
                <a:latin typeface="Calibri"/>
              </a:rPr>
              <a:t>CAGR (2026–2036)</a:t>
            </a:r>
          </a:p>
        </p:txBody>
      </p:sp>
      <p:sp>
        <p:nvSpPr>
          <p:cNvPr id="19" name="Rounded Rectangle 18"/>
          <p:cNvSpPr/>
          <p:nvPr/>
        </p:nvSpPr>
        <p:spPr>
          <a:xfrm>
            <a:off x="1866900" y="1773916"/>
            <a:ext cx="4943475" cy="438089"/>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66900" y="1992961"/>
            <a:ext cx="4943475" cy="21904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05000"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Direct Sales</a:t>
            </a:r>
          </a:p>
        </p:txBody>
      </p:sp>
      <p:sp>
        <p:nvSpPr>
          <p:cNvPr id="22" name="Rectangle 21"/>
          <p:cNvSpPr/>
          <p:nvPr/>
        </p:nvSpPr>
        <p:spPr>
          <a:xfrm>
            <a:off x="1866900"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3" name="Rectangle 22"/>
          <p:cNvSpPr/>
          <p:nvPr/>
        </p:nvSpPr>
        <p:spPr>
          <a:xfrm>
            <a:off x="1866900"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4" name="Rectangle 23"/>
          <p:cNvSpPr/>
          <p:nvPr/>
        </p:nvSpPr>
        <p:spPr>
          <a:xfrm>
            <a:off x="1866900"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
            </a:r>
          </a:p>
        </p:txBody>
      </p:sp>
      <p:sp>
        <p:nvSpPr>
          <p:cNvPr id="25" name="Oval 24"/>
          <p:cNvSpPr/>
          <p:nvPr/>
        </p:nvSpPr>
        <p:spPr>
          <a:xfrm>
            <a:off x="4176712" y="1445350"/>
            <a:ext cx="323850" cy="310313"/>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6" name="Rounded Rectangle 25"/>
          <p:cNvSpPr/>
          <p:nvPr/>
        </p:nvSpPr>
        <p:spPr>
          <a:xfrm>
            <a:off x="6924675" y="1773916"/>
            <a:ext cx="4943475" cy="438089"/>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24675" y="1992961"/>
            <a:ext cx="4943475" cy="21904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2775" y="1773916"/>
            <a:ext cx="4867275" cy="438089"/>
          </a:xfrm>
          <a:prstGeom prst="rect">
            <a:avLst/>
          </a:prstGeom>
          <a:noFill/>
        </p:spPr>
        <p:txBody>
          <a:bodyPr wrap="square" lIns="28575" rIns="28575" tIns="9525" bIns="9525" anchor="ctr">
            <a:spAutoFit/>
          </a:bodyPr>
          <a:lstStyle/>
          <a:p>
            <a:pPr algn="ctr"/>
            <a:r>
              <a:rPr sz="1100" b="1">
                <a:solidFill>
                  <a:srgbClr val="FFFFFF"/>
                </a:solidFill>
                <a:latin typeface="Calibri"/>
              </a:rPr>
              <a:t>Distributor Sales</a:t>
            </a:r>
          </a:p>
        </p:txBody>
      </p:sp>
      <p:sp>
        <p:nvSpPr>
          <p:cNvPr id="29" name="Rectangle 28"/>
          <p:cNvSpPr/>
          <p:nvPr/>
        </p:nvSpPr>
        <p:spPr>
          <a:xfrm>
            <a:off x="6924675" y="22302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0" name="Rectangle 29"/>
          <p:cNvSpPr/>
          <p:nvPr/>
        </p:nvSpPr>
        <p:spPr>
          <a:xfrm>
            <a:off x="6924675" y="2723109"/>
            <a:ext cx="4943475" cy="474596"/>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1" name="Rectangle 30"/>
          <p:cNvSpPr/>
          <p:nvPr/>
        </p:nvSpPr>
        <p:spPr>
          <a:xfrm>
            <a:off x="6924675" y="3215959"/>
            <a:ext cx="4943475" cy="474596"/>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
            </a:r>
          </a:p>
        </p:txBody>
      </p:sp>
      <p:sp>
        <p:nvSpPr>
          <p:cNvPr id="32" name="Oval 31"/>
          <p:cNvSpPr/>
          <p:nvPr/>
        </p:nvSpPr>
        <p:spPr>
          <a:xfrm>
            <a:off x="9234488" y="1445350"/>
            <a:ext cx="323850" cy="310313"/>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3" name="Rounded Rectangle 32"/>
          <p:cNvSpPr/>
          <p:nvPr/>
        </p:nvSpPr>
        <p:spPr>
          <a:xfrm>
            <a:off x="323850" y="3854838"/>
            <a:ext cx="323850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946106"/>
            <a:ext cx="2971800" cy="182537"/>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35" name="Rectangle 34"/>
          <p:cNvSpPr/>
          <p:nvPr/>
        </p:nvSpPr>
        <p:spPr>
          <a:xfrm>
            <a:off x="457200" y="4146897"/>
            <a:ext cx="29718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219912"/>
            <a:ext cx="297180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2E2E2E"/>
                </a:solidFill>
                <a:latin typeface="Calibri"/>
              </a:rPr>
              <a:t/>
            </a:r>
          </a:p>
          <a:p>
            <a:pPr algn="l">
              <a:lnSpc>
                <a:spcPct val="110000"/>
              </a:lnSpc>
              <a:spcBef>
                <a:spcPts val="0"/>
              </a:spcBef>
              <a:spcAft>
                <a:spcPts val="500"/>
              </a:spcAft>
            </a:pPr>
            <a:r>
              <a:rPr sz="1100" b="0">
                <a:solidFill>
                  <a:srgbClr val="2E2E2E"/>
                </a:solidFill>
                <a:latin typeface="Calibri"/>
              </a:rPr>
              <a:t/>
            </a:r>
          </a:p>
        </p:txBody>
      </p:sp>
      <p:sp>
        <p:nvSpPr>
          <p:cNvPr id="37" name="Rounded Rectangle 36"/>
          <p:cNvSpPr/>
          <p:nvPr/>
        </p:nvSpPr>
        <p:spPr>
          <a:xfrm>
            <a:off x="3676650" y="3854838"/>
            <a:ext cx="4476750" cy="2573771"/>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810000" y="3946106"/>
            <a:ext cx="4210050" cy="182537"/>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39" name="Rectangle 38"/>
          <p:cNvSpPr/>
          <p:nvPr/>
        </p:nvSpPr>
        <p:spPr>
          <a:xfrm>
            <a:off x="3810000" y="4146897"/>
            <a:ext cx="42100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10000" y="4219912"/>
            <a:ext cx="42100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0">
                <a:solidFill>
                  <a:srgbClr val="0B2E4A"/>
                </a:solidFill>
                <a:latin typeface="Calibri"/>
              </a:rPr>
              <a:t/>
            </a:r>
            <a:r>
              <a:rPr sz="1100" b="1">
                <a:solidFill>
                  <a:srgbClr val="0B2E4A"/>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1">
                <a:solidFill>
                  <a:srgbClr val="0E72AE"/>
                </a:solidFill>
                <a:latin typeface="Calibri"/>
              </a:rPr>
              <a:t/>
            </a:r>
            <a:r>
              <a:rPr sz="1100" b="0">
                <a:solidFill>
                  <a:srgbClr val="2E2E2E"/>
                </a:solidFill>
                <a:latin typeface="Calibri"/>
              </a:rPr>
              <a:t/>
            </a:r>
          </a:p>
        </p:txBody>
      </p:sp>
      <p:sp>
        <p:nvSpPr>
          <p:cNvPr id="41" name="Rounded Rectangle 40"/>
          <p:cNvSpPr/>
          <p:nvPr/>
        </p:nvSpPr>
        <p:spPr>
          <a:xfrm>
            <a:off x="8267700" y="3854838"/>
            <a:ext cx="3600450" cy="2573771"/>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01050" y="3946106"/>
            <a:ext cx="3333750" cy="182537"/>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43" name="Rectangle 42"/>
          <p:cNvSpPr/>
          <p:nvPr/>
        </p:nvSpPr>
        <p:spPr>
          <a:xfrm>
            <a:off x="8401050" y="4146897"/>
            <a:ext cx="333375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01050" y="4219912"/>
            <a:ext cx="3333750" cy="2117429"/>
          </a:xfrm>
          <a:prstGeom prst="rect">
            <a:avLst/>
          </a:prstGeom>
          <a:noFill/>
        </p:spPr>
        <p:txBody>
          <a:bodyPr wrap="square" lIns="28575" rIns="28575" tIns="9525" bIns="9525">
            <a:spAutoFit/>
          </a:bodyPr>
          <a:lstStyle/>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The Sales Channel split shows how demand is distributed across sales channel types and where growth concentrates.</a:t>
            </a:r>
          </a:p>
          <a:p>
            <a:pPr algn="l">
              <a:lnSpc>
                <a:spcPct val="110000"/>
              </a:lnSpc>
              <a:spcBef>
                <a:spcPts val="0"/>
              </a:spcBef>
              <a:spcAft>
                <a:spcPts val="500"/>
              </a:spcAft>
            </a:pPr>
            <a:r>
              <a:rPr sz="1100" b="1">
                <a:solidFill>
                  <a:srgbClr val="008189"/>
                </a:solidFill>
                <a:latin typeface="Calibri"/>
              </a:rPr>
              <a:t>✓  </a:t>
            </a:r>
            <a:r>
              <a:rPr sz="1100" b="0">
                <a:solidFill>
                  <a:srgbClr val="2E2E2E"/>
                </a:solidFill>
                <a:latin typeface="Calibri"/>
              </a:rPr>
              <a:t>Shifting preferences and product innovation are reshaping the mix through 2036.</a:t>
            </a:r>
          </a:p>
        </p:txBody>
      </p:sp>
      <p:sp>
        <p:nvSpPr>
          <p:cNvPr id="45" name="Rectangle 44"/>
          <p:cNvSpPr/>
          <p:nvPr/>
        </p:nvSpPr>
        <p:spPr>
          <a:xfrm>
            <a:off x="8401050" y="5753223"/>
            <a:ext cx="3333750" cy="529357"/>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96300" y="5789730"/>
            <a:ext cx="3219450" cy="456342"/>
          </a:xfrm>
          <a:prstGeom prst="rect">
            <a:avLst/>
          </a:prstGeom>
          <a:noFill/>
        </p:spPr>
        <p:txBody>
          <a:bodyPr wrap="square" lIns="28575" rIns="28575" tIns="9525" bIns="9525" anchor="ctr">
            <a:spAutoFit/>
          </a:bodyPr>
          <a:lstStyle/>
          <a:p>
            <a:pPr algn="l"/>
            <a:r>
              <a:rPr sz="1150" b="1">
                <a:solidFill>
                  <a:srgbClr val="0B2E4A"/>
                </a:solidFill>
                <a:latin typeface="Calibri"/>
              </a:rPr>
              <a:t/>
            </a:r>
          </a:p>
        </p:txBody>
      </p:sp>
      <p:sp>
        <p:nvSpPr>
          <p:cNvPr id="47" name="TextBox 46"/>
          <p:cNvSpPr txBox="1"/>
          <p:nvPr/>
        </p:nvSpPr>
        <p:spPr>
          <a:xfrm>
            <a:off x="323850" y="6446863"/>
            <a:ext cx="3429000" cy="164283"/>
          </a:xfrm>
          <a:prstGeom prst="rect">
            <a:avLst/>
          </a:prstGeom>
          <a:noFill/>
        </p:spPr>
        <p:txBody>
          <a:bodyPr wrap="none">
            <a:spAutoFit/>
          </a:bodyPr>
          <a:lstStyle/>
          <a:p>
            <a:r>
              <a:rPr sz="1100" i="1">
                <a:solidFill>
                  <a:srgbClr val="6C7A89"/>
                </a:solidFill>
                <a:latin typeface="Calibri"/>
              </a:rPr>
              <a:t>Source: FMI Analysis, 2026</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9" name="Picture 48" descr="2_229_605E5C.png"/>
          <p:cNvPicPr>
            <a:picLocks noChangeAspect="1"/>
          </p:cNvPicPr>
          <p:nvPr/>
        </p:nvPicPr>
        <p:blipFill>
          <a:blip r:embed="rId4"/>
          <a:stretch>
            <a:fillRect/>
          </a:stretch>
        </p:blipFill>
        <p:spPr>
          <a:xfrm>
            <a:off x="3740773" y="2286582"/>
            <a:ext cx="1195728" cy="361950"/>
          </a:xfrm>
          <a:prstGeom prst="rect">
            <a:avLst/>
          </a:prstGeom>
        </p:spPr>
      </p:pic>
      <p:pic>
        <p:nvPicPr>
          <p:cNvPr id="50" name="Picture 49" descr="3_141_605E5C.png"/>
          <p:cNvPicPr>
            <a:picLocks noChangeAspect="1"/>
          </p:cNvPicPr>
          <p:nvPr/>
        </p:nvPicPr>
        <p:blipFill>
          <a:blip r:embed="rId5"/>
          <a:stretch>
            <a:fillRect/>
          </a:stretch>
        </p:blipFill>
        <p:spPr>
          <a:xfrm>
            <a:off x="3740773" y="2779432"/>
            <a:ext cx="1195728" cy="361950"/>
          </a:xfrm>
          <a:prstGeom prst="rect">
            <a:avLst/>
          </a:prstGeom>
        </p:spPr>
      </p:pic>
      <p:pic>
        <p:nvPicPr>
          <p:cNvPr id="51" name="Picture 50" descr="3_5__605E5C.png"/>
          <p:cNvPicPr>
            <a:picLocks noChangeAspect="1"/>
          </p:cNvPicPr>
          <p:nvPr/>
        </p:nvPicPr>
        <p:blipFill>
          <a:blip r:embed="rId6"/>
          <a:stretch>
            <a:fillRect/>
          </a:stretch>
        </p:blipFill>
        <p:spPr>
          <a:xfrm>
            <a:off x="3847419" y="3272281"/>
            <a:ext cx="982436" cy="361950"/>
          </a:xfrm>
          <a:prstGeom prst="rect">
            <a:avLst/>
          </a:prstGeom>
        </p:spPr>
      </p:pic>
      <p:pic>
        <p:nvPicPr>
          <p:cNvPr id="52" name="Picture 51" descr="1_368_605E5C.png"/>
          <p:cNvPicPr>
            <a:picLocks noChangeAspect="1"/>
          </p:cNvPicPr>
          <p:nvPr/>
        </p:nvPicPr>
        <p:blipFill>
          <a:blip r:embed="rId7"/>
          <a:stretch>
            <a:fillRect/>
          </a:stretch>
        </p:blipFill>
        <p:spPr>
          <a:xfrm>
            <a:off x="8798548" y="2286582"/>
            <a:ext cx="1195728" cy="361950"/>
          </a:xfrm>
          <a:prstGeom prst="rect">
            <a:avLst/>
          </a:prstGeom>
        </p:spPr>
      </p:pic>
      <p:pic>
        <p:nvPicPr>
          <p:cNvPr id="53" name="Picture 52" descr="2_212_605E5C.png"/>
          <p:cNvPicPr>
            <a:picLocks noChangeAspect="1"/>
          </p:cNvPicPr>
          <p:nvPr/>
        </p:nvPicPr>
        <p:blipFill>
          <a:blip r:embed="rId8"/>
          <a:stretch>
            <a:fillRect/>
          </a:stretch>
        </p:blipFill>
        <p:spPr>
          <a:xfrm>
            <a:off x="8798548" y="2779432"/>
            <a:ext cx="1195728" cy="361950"/>
          </a:xfrm>
          <a:prstGeom prst="rect">
            <a:avLst/>
          </a:prstGeom>
        </p:spPr>
      </p:pic>
      <p:pic>
        <p:nvPicPr>
          <p:cNvPr id="54" name="Picture 53" descr="4_9__605E5C.png"/>
          <p:cNvPicPr>
            <a:picLocks noChangeAspect="1"/>
          </p:cNvPicPr>
          <p:nvPr/>
        </p:nvPicPr>
        <p:blipFill>
          <a:blip r:embed="rId9"/>
          <a:stretch>
            <a:fillRect/>
          </a:stretch>
        </p:blipFill>
        <p:spPr>
          <a:xfrm>
            <a:off x="8905194" y="3272281"/>
            <a:ext cx="982436" cy="361950"/>
          </a:xfrm>
          <a:prstGeom prst="rect">
            <a:avLst/>
          </a:prstGeom>
        </p:spPr>
      </p:pic>
      <p:pic>
        <p:nvPicPr>
          <p:cNvPr id="55" name="Picture 54" descr="lock.png"/>
          <p:cNvPicPr>
            <a:picLocks noChangeAspect="1"/>
          </p:cNvPicPr>
          <p:nvPr/>
        </p:nvPicPr>
        <p:blipFill>
          <a:blip r:embed="rId10"/>
          <a:stretch>
            <a:fillRect/>
          </a:stretch>
        </p:blipFill>
        <p:spPr>
          <a:xfrm>
            <a:off x="4230493" y="2805915"/>
            <a:ext cx="212425" cy="308982"/>
          </a:xfrm>
          <a:prstGeom prst="rect">
            <a:avLst/>
          </a:prstGeom>
        </p:spPr>
      </p:pic>
      <p:pic>
        <p:nvPicPr>
          <p:cNvPr id="56" name="Picture 55" descr="lock.png"/>
          <p:cNvPicPr>
            <a:picLocks noChangeAspect="1"/>
          </p:cNvPicPr>
          <p:nvPr/>
        </p:nvPicPr>
        <p:blipFill>
          <a:blip r:embed="rId10"/>
          <a:stretch>
            <a:fillRect/>
          </a:stretch>
        </p:blipFill>
        <p:spPr>
          <a:xfrm>
            <a:off x="9288268" y="2805915"/>
            <a:ext cx="212425" cy="308982"/>
          </a:xfrm>
          <a:prstGeom prst="rect">
            <a:avLst/>
          </a:prstGeom>
        </p:spPr>
      </p:pic>
      <p:sp>
        <p:nvSpPr>
          <p:cNvPr id="57" name="TextBox 56"/>
          <p:cNvSpPr txBox="1"/>
          <p:nvPr/>
        </p:nvSpPr>
        <p:spPr>
          <a:xfrm>
            <a:off x="485775" y="4229437"/>
            <a:ext cx="2852191" cy="186689"/>
          </a:xfrm>
          <a:prstGeom prst="rect">
            <a:avLst/>
          </a:prstGeom>
          <a:noFill/>
        </p:spPr>
        <p:txBody>
          <a:bodyPr wrap="none" lIns="0" rIns="0" tIns="0" bIns="0">
            <a:spAutoFit/>
          </a:bodyPr>
          <a:lstStyle/>
          <a:p>
            <a:r>
              <a:rPr sz="1100" b="0">
                <a:solidFill>
                  <a:srgbClr val="2E2E2E"/>
                </a:solidFill>
                <a:latin typeface="Calibri"/>
              </a:rPr>
              <a:t>Among organ transport devices by sales channel,</a:t>
            </a:r>
          </a:p>
        </p:txBody>
      </p:sp>
      <p:sp>
        <p:nvSpPr>
          <p:cNvPr id="58" name="TextBox 57"/>
          <p:cNvSpPr txBox="1"/>
          <p:nvPr/>
        </p:nvSpPr>
        <p:spPr>
          <a:xfrm>
            <a:off x="485775" y="4397077"/>
            <a:ext cx="2800350" cy="186689"/>
          </a:xfrm>
          <a:prstGeom prst="rect">
            <a:avLst/>
          </a:prstGeom>
          <a:noFill/>
        </p:spPr>
        <p:txBody>
          <a:bodyPr wrap="none" lIns="0" rIns="0" tIns="0" bIns="0">
            <a:spAutoFit/>
          </a:bodyPr>
          <a:lstStyle/>
          <a:p>
            <a:r>
              <a:rPr sz="1100" b="0">
                <a:solidFill>
                  <a:srgbClr val="2E2E2E"/>
                </a:solidFill>
                <a:latin typeface="Calibri"/>
              </a:rPr>
              <a:t>distributor sales segment is expected to witness</a:t>
            </a:r>
          </a:p>
        </p:txBody>
      </p:sp>
      <p:sp>
        <p:nvSpPr>
          <p:cNvPr id="59" name="TextBox 58"/>
          <p:cNvSpPr txBox="1"/>
          <p:nvPr/>
        </p:nvSpPr>
        <p:spPr>
          <a:xfrm>
            <a:off x="485775" y="4564717"/>
            <a:ext cx="1212336" cy="186689"/>
          </a:xfrm>
          <a:prstGeom prst="rect">
            <a:avLst/>
          </a:prstGeom>
          <a:noFill/>
        </p:spPr>
        <p:txBody>
          <a:bodyPr wrap="none" lIns="0" rIns="0" tIns="0" bIns="0">
            <a:spAutoFit/>
          </a:bodyPr>
          <a:lstStyle/>
          <a:p>
            <a:r>
              <a:rPr sz="1100" b="0">
                <a:solidFill>
                  <a:srgbClr val="2E2E2E"/>
                </a:solidFill>
                <a:latin typeface="Calibri"/>
              </a:rPr>
              <a:t>the highest CAGR of</a:t>
            </a:r>
          </a:p>
        </p:txBody>
      </p:sp>
      <p:pic>
        <p:nvPicPr>
          <p:cNvPr id="60" name="Picture 59" descr="lock.png"/>
          <p:cNvPicPr>
            <a:picLocks noChangeAspect="1"/>
          </p:cNvPicPr>
          <p:nvPr/>
        </p:nvPicPr>
        <p:blipFill>
          <a:blip r:embed="rId10"/>
          <a:stretch>
            <a:fillRect/>
          </a:stretch>
        </p:blipFill>
        <p:spPr>
          <a:xfrm>
            <a:off x="1646163" y="4554938"/>
            <a:ext cx="128699" cy="187198"/>
          </a:xfrm>
          <a:prstGeom prst="rect">
            <a:avLst/>
          </a:prstGeom>
        </p:spPr>
      </p:pic>
      <p:sp>
        <p:nvSpPr>
          <p:cNvPr id="61" name="TextBox 60"/>
          <p:cNvSpPr txBox="1"/>
          <p:nvPr/>
        </p:nvSpPr>
        <p:spPr>
          <a:xfrm>
            <a:off x="1813659" y="4564717"/>
            <a:ext cx="1484659" cy="186689"/>
          </a:xfrm>
          <a:prstGeom prst="rect">
            <a:avLst/>
          </a:prstGeom>
          <a:noFill/>
        </p:spPr>
        <p:txBody>
          <a:bodyPr wrap="none" lIns="0" rIns="0" tIns="0" bIns="0">
            <a:spAutoFit/>
          </a:bodyPr>
          <a:lstStyle/>
          <a:p>
            <a:r>
              <a:rPr sz="1100" b="0">
                <a:solidFill>
                  <a:srgbClr val="2E2E2E"/>
                </a:solidFill>
                <a:latin typeface="Calibri"/>
              </a:rPr>
              <a:t>over the forecast period.</a:t>
            </a:r>
          </a:p>
        </p:txBody>
      </p:sp>
      <p:sp>
        <p:nvSpPr>
          <p:cNvPr id="62" name="TextBox 61"/>
          <p:cNvSpPr txBox="1"/>
          <p:nvPr/>
        </p:nvSpPr>
        <p:spPr>
          <a:xfrm>
            <a:off x="485775" y="4732357"/>
            <a:ext cx="2914650" cy="186689"/>
          </a:xfrm>
          <a:prstGeom prst="rect">
            <a:avLst/>
          </a:prstGeom>
          <a:noFill/>
        </p:spPr>
        <p:txBody>
          <a:bodyPr wrap="none" lIns="0" rIns="0" tIns="0" bIns="0">
            <a:spAutoFit/>
          </a:bodyPr>
          <a:lstStyle/>
          <a:p>
            <a:r>
              <a:rPr sz="1100" b="0">
                <a:solidFill>
                  <a:srgbClr val="2E2E2E"/>
                </a:solidFill>
                <a:latin typeface="Calibri"/>
              </a:rPr>
              <a:t>In terms of value share by sales channel, the direct</a:t>
            </a:r>
          </a:p>
        </p:txBody>
      </p:sp>
      <p:sp>
        <p:nvSpPr>
          <p:cNvPr id="63" name="TextBox 62"/>
          <p:cNvSpPr txBox="1"/>
          <p:nvPr/>
        </p:nvSpPr>
        <p:spPr>
          <a:xfrm>
            <a:off x="485775" y="4899997"/>
            <a:ext cx="2914650" cy="186689"/>
          </a:xfrm>
          <a:prstGeom prst="rect">
            <a:avLst/>
          </a:prstGeom>
          <a:noFill/>
        </p:spPr>
        <p:txBody>
          <a:bodyPr wrap="none" lIns="0" rIns="0" tIns="0" bIns="0">
            <a:spAutoFit/>
          </a:bodyPr>
          <a:lstStyle/>
          <a:p>
            <a:r>
              <a:rPr sz="1100" b="0">
                <a:solidFill>
                  <a:srgbClr val="2E2E2E"/>
                </a:solidFill>
                <a:latin typeface="Calibri"/>
              </a:rPr>
              <a:t>sales segment is expected to dominate the market,</a:t>
            </a:r>
          </a:p>
        </p:txBody>
      </p:sp>
      <p:sp>
        <p:nvSpPr>
          <p:cNvPr id="64" name="TextBox 63"/>
          <p:cNvSpPr txBox="1"/>
          <p:nvPr/>
        </p:nvSpPr>
        <p:spPr>
          <a:xfrm>
            <a:off x="485775" y="5067637"/>
            <a:ext cx="407987" cy="186689"/>
          </a:xfrm>
          <a:prstGeom prst="rect">
            <a:avLst/>
          </a:prstGeom>
          <a:noFill/>
        </p:spPr>
        <p:txBody>
          <a:bodyPr wrap="none" lIns="0" rIns="0" tIns="0" bIns="0">
            <a:spAutoFit/>
          </a:bodyPr>
          <a:lstStyle/>
          <a:p>
            <a:r>
              <a:rPr sz="1100" b="0">
                <a:solidFill>
                  <a:srgbClr val="2E2E2E"/>
                </a:solidFill>
                <a:latin typeface="Calibri"/>
              </a:rPr>
              <a:t>losing</a:t>
            </a:r>
          </a:p>
        </p:txBody>
      </p:sp>
      <p:pic>
        <p:nvPicPr>
          <p:cNvPr id="65" name="Picture 64" descr="lock.png"/>
          <p:cNvPicPr>
            <a:picLocks noChangeAspect="1"/>
          </p:cNvPicPr>
          <p:nvPr/>
        </p:nvPicPr>
        <p:blipFill>
          <a:blip r:embed="rId10"/>
          <a:stretch>
            <a:fillRect/>
          </a:stretch>
        </p:blipFill>
        <p:spPr>
          <a:xfrm>
            <a:off x="841814" y="5057858"/>
            <a:ext cx="128699" cy="187198"/>
          </a:xfrm>
          <a:prstGeom prst="rect">
            <a:avLst/>
          </a:prstGeom>
        </p:spPr>
      </p:pic>
      <p:sp>
        <p:nvSpPr>
          <p:cNvPr id="66" name="TextBox 65"/>
          <p:cNvSpPr txBox="1"/>
          <p:nvPr/>
        </p:nvSpPr>
        <p:spPr>
          <a:xfrm>
            <a:off x="1009309" y="5067637"/>
            <a:ext cx="1386433" cy="186689"/>
          </a:xfrm>
          <a:prstGeom prst="rect">
            <a:avLst/>
          </a:prstGeom>
          <a:noFill/>
        </p:spPr>
        <p:txBody>
          <a:bodyPr wrap="none" lIns="0" rIns="0" tIns="0" bIns="0">
            <a:spAutoFit/>
          </a:bodyPr>
          <a:lstStyle/>
          <a:p>
            <a:r>
              <a:rPr sz="1100" b="0">
                <a:solidFill>
                  <a:srgbClr val="2E2E2E"/>
                </a:solidFill>
                <a:latin typeface="Calibri"/>
              </a:rPr>
              <a:t>BPS and accounting for</a:t>
            </a:r>
          </a:p>
        </p:txBody>
      </p:sp>
      <p:pic>
        <p:nvPicPr>
          <p:cNvPr id="67" name="Picture 66" descr="lock.png"/>
          <p:cNvPicPr>
            <a:picLocks noChangeAspect="1"/>
          </p:cNvPicPr>
          <p:nvPr/>
        </p:nvPicPr>
        <p:blipFill>
          <a:blip r:embed="rId10"/>
          <a:stretch>
            <a:fillRect/>
          </a:stretch>
        </p:blipFill>
        <p:spPr>
          <a:xfrm>
            <a:off x="2343794" y="5057858"/>
            <a:ext cx="128699" cy="187198"/>
          </a:xfrm>
          <a:prstGeom prst="rect">
            <a:avLst/>
          </a:prstGeom>
        </p:spPr>
      </p:pic>
      <p:sp>
        <p:nvSpPr>
          <p:cNvPr id="68" name="TextBox 67"/>
          <p:cNvSpPr txBox="1"/>
          <p:nvPr/>
        </p:nvSpPr>
        <p:spPr>
          <a:xfrm>
            <a:off x="2511290" y="5067637"/>
            <a:ext cx="557783" cy="186689"/>
          </a:xfrm>
          <a:prstGeom prst="rect">
            <a:avLst/>
          </a:prstGeom>
          <a:noFill/>
        </p:spPr>
        <p:txBody>
          <a:bodyPr wrap="none" lIns="0" rIns="0" tIns="0" bIns="0">
            <a:spAutoFit/>
          </a:bodyPr>
          <a:lstStyle/>
          <a:p>
            <a:r>
              <a:rPr sz="1100" b="0">
                <a:solidFill>
                  <a:srgbClr val="2E2E2E"/>
                </a:solidFill>
                <a:latin typeface="Calibri"/>
              </a:rPr>
              <a:t>share by</a:t>
            </a:r>
          </a:p>
        </p:txBody>
      </p:sp>
      <p:sp>
        <p:nvSpPr>
          <p:cNvPr id="69" name="TextBox 68"/>
          <p:cNvSpPr txBox="1"/>
          <p:nvPr/>
        </p:nvSpPr>
        <p:spPr>
          <a:xfrm>
            <a:off x="485775" y="5235277"/>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0" name="TextBox 69"/>
          <p:cNvSpPr txBox="1"/>
          <p:nvPr/>
        </p:nvSpPr>
        <p:spPr>
          <a:xfrm>
            <a:off x="485775" y="5453209"/>
            <a:ext cx="2569790" cy="186689"/>
          </a:xfrm>
          <a:prstGeom prst="rect">
            <a:avLst/>
          </a:prstGeom>
          <a:noFill/>
        </p:spPr>
        <p:txBody>
          <a:bodyPr wrap="none" lIns="0" rIns="0" tIns="0" bIns="0">
            <a:spAutoFit/>
          </a:bodyPr>
          <a:lstStyle/>
          <a:p>
            <a:r>
              <a:rPr sz="1100" b="0">
                <a:solidFill>
                  <a:srgbClr val="2E2E2E"/>
                </a:solidFill>
                <a:latin typeface="Calibri"/>
              </a:rPr>
              <a:t>Direct sales segment is projected to register</a:t>
            </a:r>
          </a:p>
        </p:txBody>
      </p:sp>
      <p:pic>
        <p:nvPicPr>
          <p:cNvPr id="71" name="Picture 70" descr="lock.png"/>
          <p:cNvPicPr>
            <a:picLocks noChangeAspect="1"/>
          </p:cNvPicPr>
          <p:nvPr/>
        </p:nvPicPr>
        <p:blipFill>
          <a:blip r:embed="rId10"/>
          <a:stretch>
            <a:fillRect/>
          </a:stretch>
        </p:blipFill>
        <p:spPr>
          <a:xfrm>
            <a:off x="3003617" y="5443430"/>
            <a:ext cx="128699" cy="187198"/>
          </a:xfrm>
          <a:prstGeom prst="rect">
            <a:avLst/>
          </a:prstGeom>
        </p:spPr>
      </p:pic>
      <p:sp>
        <p:nvSpPr>
          <p:cNvPr id="72" name="TextBox 71"/>
          <p:cNvSpPr txBox="1"/>
          <p:nvPr/>
        </p:nvSpPr>
        <p:spPr>
          <a:xfrm>
            <a:off x="3171112" y="5453209"/>
            <a:ext cx="148778" cy="186689"/>
          </a:xfrm>
          <a:prstGeom prst="rect">
            <a:avLst/>
          </a:prstGeom>
          <a:noFill/>
        </p:spPr>
        <p:txBody>
          <a:bodyPr wrap="none" lIns="0" rIns="0" tIns="0" bIns="0">
            <a:spAutoFit/>
          </a:bodyPr>
          <a:lstStyle/>
          <a:p>
            <a:r>
              <a:rPr sz="1100" b="0">
                <a:solidFill>
                  <a:srgbClr val="2E2E2E"/>
                </a:solidFill>
                <a:latin typeface="Calibri"/>
              </a:rPr>
              <a:t>X</a:t>
            </a:r>
          </a:p>
        </p:txBody>
      </p:sp>
      <p:sp>
        <p:nvSpPr>
          <p:cNvPr id="73" name="TextBox 72"/>
          <p:cNvSpPr txBox="1"/>
          <p:nvPr/>
        </p:nvSpPr>
        <p:spPr>
          <a:xfrm>
            <a:off x="485775" y="5620849"/>
            <a:ext cx="2674019" cy="186689"/>
          </a:xfrm>
          <a:prstGeom prst="rect">
            <a:avLst/>
          </a:prstGeom>
          <a:noFill/>
        </p:spPr>
        <p:txBody>
          <a:bodyPr wrap="none" lIns="0" rIns="0" tIns="0" bIns="0">
            <a:spAutoFit/>
          </a:bodyPr>
          <a:lstStyle/>
          <a:p>
            <a:r>
              <a:rPr sz="1100" b="0">
                <a:solidFill>
                  <a:srgbClr val="2E2E2E"/>
                </a:solidFill>
                <a:latin typeface="Calibri"/>
              </a:rPr>
              <a:t>higher value than distributor sales segment in</a:t>
            </a:r>
          </a:p>
        </p:txBody>
      </p:sp>
      <p:sp>
        <p:nvSpPr>
          <p:cNvPr id="74" name="TextBox 73"/>
          <p:cNvSpPr txBox="1"/>
          <p:nvPr/>
        </p:nvSpPr>
        <p:spPr>
          <a:xfrm>
            <a:off x="485775" y="5788489"/>
            <a:ext cx="395163" cy="186689"/>
          </a:xfrm>
          <a:prstGeom prst="rect">
            <a:avLst/>
          </a:prstGeom>
          <a:noFill/>
        </p:spPr>
        <p:txBody>
          <a:bodyPr wrap="none" lIns="0" rIns="0" tIns="0" bIns="0">
            <a:spAutoFit/>
          </a:bodyPr>
          <a:lstStyle/>
          <a:p>
            <a:r>
              <a:rPr sz="1100" b="0">
                <a:solidFill>
                  <a:srgbClr val="2E2E2E"/>
                </a:solidFill>
                <a:latin typeface="Calibri"/>
              </a:rPr>
              <a:t>2036.</a:t>
            </a:r>
          </a:p>
        </p:txBody>
      </p:sp>
      <p:sp>
        <p:nvSpPr>
          <p:cNvPr id="75" name="TextBox 74"/>
          <p:cNvSpPr txBox="1"/>
          <p:nvPr/>
        </p:nvSpPr>
        <p:spPr>
          <a:xfrm>
            <a:off x="3838575" y="4229437"/>
            <a:ext cx="891207" cy="186689"/>
          </a:xfrm>
          <a:prstGeom prst="rect">
            <a:avLst/>
          </a:prstGeom>
          <a:noFill/>
        </p:spPr>
        <p:txBody>
          <a:bodyPr wrap="none" lIns="0" rIns="0" tIns="0" bIns="0">
            <a:spAutoFit/>
          </a:bodyPr>
          <a:lstStyle/>
          <a:p>
            <a:r>
              <a:rPr sz="1100" b="0">
                <a:solidFill>
                  <a:srgbClr val="2E2E2E"/>
                </a:solidFill>
                <a:latin typeface="Calibri"/>
              </a:rPr>
              <a:t>● Direct Sales:</a:t>
            </a:r>
          </a:p>
        </p:txBody>
      </p:sp>
      <p:pic>
        <p:nvPicPr>
          <p:cNvPr id="76" name="Picture 75" descr="lock.png"/>
          <p:cNvPicPr>
            <a:picLocks noChangeAspect="1"/>
          </p:cNvPicPr>
          <p:nvPr/>
        </p:nvPicPr>
        <p:blipFill>
          <a:blip r:embed="rId10"/>
          <a:stretch>
            <a:fillRect/>
          </a:stretch>
        </p:blipFill>
        <p:spPr>
          <a:xfrm>
            <a:off x="4677834" y="4219658"/>
            <a:ext cx="128699" cy="187198"/>
          </a:xfrm>
          <a:prstGeom prst="rect">
            <a:avLst/>
          </a:prstGeom>
        </p:spPr>
      </p:pic>
      <p:sp>
        <p:nvSpPr>
          <p:cNvPr id="77" name="TextBox 76"/>
          <p:cNvSpPr txBox="1"/>
          <p:nvPr/>
        </p:nvSpPr>
        <p:spPr>
          <a:xfrm>
            <a:off x="4845330" y="4229437"/>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78" name="Picture 77" descr="lock.png"/>
          <p:cNvPicPr>
            <a:picLocks noChangeAspect="1"/>
          </p:cNvPicPr>
          <p:nvPr/>
        </p:nvPicPr>
        <p:blipFill>
          <a:blip r:embed="rId10"/>
          <a:stretch>
            <a:fillRect/>
          </a:stretch>
        </p:blipFill>
        <p:spPr>
          <a:xfrm>
            <a:off x="5704780" y="4219658"/>
            <a:ext cx="128699" cy="187198"/>
          </a:xfrm>
          <a:prstGeom prst="rect">
            <a:avLst/>
          </a:prstGeom>
        </p:spPr>
      </p:pic>
      <p:sp>
        <p:nvSpPr>
          <p:cNvPr id="79" name="TextBox 78"/>
          <p:cNvSpPr txBox="1"/>
          <p:nvPr/>
        </p:nvSpPr>
        <p:spPr>
          <a:xfrm>
            <a:off x="5872276" y="4229437"/>
            <a:ext cx="1503469" cy="186689"/>
          </a:xfrm>
          <a:prstGeom prst="rect">
            <a:avLst/>
          </a:prstGeom>
          <a:noFill/>
        </p:spPr>
        <p:txBody>
          <a:bodyPr wrap="none" lIns="0" rIns="0" tIns="0" bIns="0">
            <a:spAutoFit/>
          </a:bodyPr>
          <a:lstStyle/>
          <a:p>
            <a:r>
              <a:rPr sz="1100" b="0">
                <a:solidFill>
                  <a:srgbClr val="2E2E2E"/>
                </a:solidFill>
                <a:latin typeface="Calibri"/>
              </a:rPr>
              <a:t>CAGR leads the segment.</a:t>
            </a:r>
          </a:p>
        </p:txBody>
      </p:sp>
      <p:sp>
        <p:nvSpPr>
          <p:cNvPr id="80" name="TextBox 79"/>
          <p:cNvSpPr txBox="1"/>
          <p:nvPr/>
        </p:nvSpPr>
        <p:spPr>
          <a:xfrm>
            <a:off x="3838575" y="4447369"/>
            <a:ext cx="1165423" cy="186689"/>
          </a:xfrm>
          <a:prstGeom prst="rect">
            <a:avLst/>
          </a:prstGeom>
          <a:noFill/>
        </p:spPr>
        <p:txBody>
          <a:bodyPr wrap="none" lIns="0" rIns="0" tIns="0" bIns="0">
            <a:spAutoFit/>
          </a:bodyPr>
          <a:lstStyle/>
          <a:p>
            <a:r>
              <a:rPr sz="1100" b="0">
                <a:solidFill>
                  <a:srgbClr val="2E2E2E"/>
                </a:solidFill>
                <a:latin typeface="Calibri"/>
              </a:rPr>
              <a:t>● Distributor Sales:</a:t>
            </a:r>
          </a:p>
        </p:txBody>
      </p:sp>
      <p:pic>
        <p:nvPicPr>
          <p:cNvPr id="81" name="Picture 80" descr="lock.png"/>
          <p:cNvPicPr>
            <a:picLocks noChangeAspect="1"/>
          </p:cNvPicPr>
          <p:nvPr/>
        </p:nvPicPr>
        <p:blipFill>
          <a:blip r:embed="rId10"/>
          <a:stretch>
            <a:fillRect/>
          </a:stretch>
        </p:blipFill>
        <p:spPr>
          <a:xfrm>
            <a:off x="4952050" y="4437590"/>
            <a:ext cx="128699" cy="187198"/>
          </a:xfrm>
          <a:prstGeom prst="rect">
            <a:avLst/>
          </a:prstGeom>
        </p:spPr>
      </p:pic>
      <p:sp>
        <p:nvSpPr>
          <p:cNvPr id="82" name="TextBox 81"/>
          <p:cNvSpPr txBox="1"/>
          <p:nvPr/>
        </p:nvSpPr>
        <p:spPr>
          <a:xfrm>
            <a:off x="5119545" y="4447369"/>
            <a:ext cx="911398" cy="186689"/>
          </a:xfrm>
          <a:prstGeom prst="rect">
            <a:avLst/>
          </a:prstGeom>
          <a:noFill/>
        </p:spPr>
        <p:txBody>
          <a:bodyPr wrap="none" lIns="0" rIns="0" tIns="0" bIns="0">
            <a:spAutoFit/>
          </a:bodyPr>
          <a:lstStyle/>
          <a:p>
            <a:r>
              <a:rPr sz="1100" b="0">
                <a:solidFill>
                  <a:srgbClr val="2E2E2E"/>
                </a:solidFill>
                <a:latin typeface="Calibri"/>
              </a:rPr>
              <a:t>of 2026 value ·</a:t>
            </a:r>
          </a:p>
        </p:txBody>
      </p:sp>
      <p:pic>
        <p:nvPicPr>
          <p:cNvPr id="83" name="Picture 82" descr="lock.png"/>
          <p:cNvPicPr>
            <a:picLocks noChangeAspect="1"/>
          </p:cNvPicPr>
          <p:nvPr/>
        </p:nvPicPr>
        <p:blipFill>
          <a:blip r:embed="rId10"/>
          <a:stretch>
            <a:fillRect/>
          </a:stretch>
        </p:blipFill>
        <p:spPr>
          <a:xfrm>
            <a:off x="5978996" y="4437590"/>
            <a:ext cx="128699" cy="187198"/>
          </a:xfrm>
          <a:prstGeom prst="rect">
            <a:avLst/>
          </a:prstGeom>
        </p:spPr>
      </p:pic>
      <p:sp>
        <p:nvSpPr>
          <p:cNvPr id="84" name="TextBox 83"/>
          <p:cNvSpPr txBox="1"/>
          <p:nvPr/>
        </p:nvSpPr>
        <p:spPr>
          <a:xfrm>
            <a:off x="6146491" y="4447369"/>
            <a:ext cx="1218612" cy="186689"/>
          </a:xfrm>
          <a:prstGeom prst="rect">
            <a:avLst/>
          </a:prstGeom>
          <a:noFill/>
        </p:spPr>
        <p:txBody>
          <a:bodyPr wrap="none" lIns="0" rIns="0" tIns="0" bIns="0">
            <a:spAutoFit/>
          </a:bodyPr>
          <a:lstStyle/>
          <a:p>
            <a:r>
              <a:rPr sz="1100" b="0">
                <a:solidFill>
                  <a:srgbClr val="2E2E2E"/>
                </a:solidFill>
                <a:latin typeface="Calibri"/>
              </a:rPr>
              <a:t>CAGR grows fastest.</a:t>
            </a:r>
          </a:p>
        </p:txBody>
      </p:sp>
      <p:sp>
        <p:nvSpPr>
          <p:cNvPr id="85" name="TextBox 84"/>
          <p:cNvSpPr txBox="1"/>
          <p:nvPr/>
        </p:nvSpPr>
        <p:spPr>
          <a:xfrm>
            <a:off x="8524875" y="5842641"/>
            <a:ext cx="3162300" cy="194310"/>
          </a:xfrm>
          <a:prstGeom prst="rect">
            <a:avLst/>
          </a:prstGeom>
          <a:noFill/>
        </p:spPr>
        <p:txBody>
          <a:bodyPr wrap="none" lIns="0" rIns="0" tIns="0" bIns="0">
            <a:spAutoFit/>
          </a:bodyPr>
          <a:lstStyle/>
          <a:p>
            <a:r>
              <a:rPr sz="1150" b="1">
                <a:solidFill>
                  <a:srgbClr val="0B2E4A"/>
                </a:solidFill>
                <a:latin typeface="Calibri"/>
              </a:rPr>
              <a:t>The Sales Channel segment is projected to grow at a</a:t>
            </a:r>
          </a:p>
        </p:txBody>
      </p:sp>
      <p:sp>
        <p:nvSpPr>
          <p:cNvPr id="86" name="TextBox 85"/>
          <p:cNvSpPr txBox="1"/>
          <p:nvPr/>
        </p:nvSpPr>
        <p:spPr>
          <a:xfrm>
            <a:off x="8524875" y="6017901"/>
            <a:ext cx="574797" cy="194310"/>
          </a:xfrm>
          <a:prstGeom prst="rect">
            <a:avLst/>
          </a:prstGeom>
          <a:noFill/>
        </p:spPr>
        <p:txBody>
          <a:bodyPr wrap="none" lIns="0" rIns="0" tIns="0" bIns="0">
            <a:spAutoFit/>
          </a:bodyPr>
          <a:lstStyle/>
          <a:p>
            <a:r>
              <a:rPr sz="1150" b="1">
                <a:solidFill>
                  <a:srgbClr val="0B2E4A"/>
                </a:solidFill>
                <a:latin typeface="Calibri"/>
              </a:rPr>
              <a:t>CAGR of</a:t>
            </a:r>
          </a:p>
        </p:txBody>
      </p:sp>
      <p:pic>
        <p:nvPicPr>
          <p:cNvPr id="87" name="Picture 86" descr="lock.png"/>
          <p:cNvPicPr>
            <a:picLocks noChangeAspect="1"/>
          </p:cNvPicPr>
          <p:nvPr/>
        </p:nvPicPr>
        <p:blipFill>
          <a:blip r:embed="rId10"/>
          <a:stretch>
            <a:fillRect/>
          </a:stretch>
        </p:blipFill>
        <p:spPr>
          <a:xfrm>
            <a:off x="9048826" y="6007677"/>
            <a:ext cx="134549" cy="195707"/>
          </a:xfrm>
          <a:prstGeom prst="rect">
            <a:avLst/>
          </a:prstGeom>
        </p:spPr>
      </p:pic>
      <p:sp>
        <p:nvSpPr>
          <p:cNvPr id="88" name="TextBox 87"/>
          <p:cNvSpPr txBox="1"/>
          <p:nvPr/>
        </p:nvSpPr>
        <p:spPr>
          <a:xfrm>
            <a:off x="9223935" y="6017901"/>
            <a:ext cx="1232619" cy="194310"/>
          </a:xfrm>
          <a:prstGeom prst="rect">
            <a:avLst/>
          </a:prstGeom>
          <a:noFill/>
        </p:spPr>
        <p:txBody>
          <a:bodyPr wrap="none" lIns="0" rIns="0" tIns="0" bIns="0">
            <a:spAutoFit/>
          </a:bodyPr>
          <a:lstStyle/>
          <a:p>
            <a:r>
              <a:rPr sz="1150" b="1">
                <a:solidFill>
                  <a:srgbClr val="0B2E4A"/>
                </a:solidFill>
                <a:latin typeface="Calibri"/>
              </a:rPr>
              <a:t>from 2026 to 2036.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Structure &amp; Attractiveness, By Sales Channel (Value)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Sales Channel mix within each country and the attractiveness of each sub-segment on growth and size</a:t>
            </a:r>
          </a:p>
        </p:txBody>
      </p:sp>
      <p:sp>
        <p:nvSpPr>
          <p:cNvPr id="10" name="Rounded Rectangle 9"/>
          <p:cNvSpPr/>
          <p:nvPr/>
        </p:nvSpPr>
        <p:spPr>
          <a:xfrm>
            <a:off x="142875" y="981075"/>
            <a:ext cx="6343650"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mix within each country (share of 2036 value) · row label = country size (US$ Mn), largest first</a:t>
            </a:r>
          </a:p>
        </p:txBody>
      </p:sp>
      <p:graphicFrame>
        <p:nvGraphicFramePr>
          <p:cNvPr id="12" name="Chart 11"/>
          <p:cNvGraphicFramePr>
            <a:graphicFrameLocks noGrp="1"/>
          </p:cNvGraphicFramePr>
          <p:nvPr/>
        </p:nvGraphicFramePr>
        <p:xfrm>
          <a:off x="238125" y="1438275"/>
          <a:ext cx="6153150" cy="3810000"/>
        </p:xfrm>
        <a:graphic>
          <a:graphicData uri="http://schemas.openxmlformats.org/drawingml/2006/chart">
            <c:chart xmlns:c="http://schemas.openxmlformats.org/drawingml/2006/chart" r:id="rId3"/>
          </a:graphicData>
        </a:graphic>
      </p:graphicFrame>
      <p:sp>
        <p:nvSpPr>
          <p:cNvPr id="13" name="Rounded Rectangle 12"/>
          <p:cNvSpPr/>
          <p:nvPr/>
        </p:nvSpPr>
        <p:spPr>
          <a:xfrm>
            <a:off x="6638925" y="981075"/>
            <a:ext cx="5400675" cy="4324350"/>
          </a:xfrm>
          <a:prstGeom prst="roundRect">
            <a:avLst>
              <a:gd name="adj" fmla="val 17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34175" y="1038225"/>
            <a:ext cx="521017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Sales Channel · Bubble size represents 2036 value</a:t>
            </a:r>
          </a:p>
        </p:txBody>
      </p:sp>
      <p:graphicFrame>
        <p:nvGraphicFramePr>
          <p:cNvPr id="15" name="Chart 14"/>
          <p:cNvGraphicFramePr>
            <a:graphicFrameLocks noGrp="1"/>
          </p:cNvGraphicFramePr>
          <p:nvPr/>
        </p:nvGraphicFramePr>
        <p:xfrm>
          <a:off x="6734175" y="1438275"/>
          <a:ext cx="5210175" cy="3810000"/>
        </p:xfrm>
        <a:graphic>
          <a:graphicData uri="http://schemas.openxmlformats.org/drawingml/2006/chart">
            <c:chart xmlns:c="http://schemas.openxmlformats.org/drawingml/2006/chart" r:id="rId4"/>
          </a:graphicData>
        </a:graphic>
      </p:graphicFrame>
      <p:sp>
        <p:nvSpPr>
          <p:cNvPr id="16" name="Rounded Rectangle 15"/>
          <p:cNvSpPr/>
          <p:nvPr/>
        </p:nvSpPr>
        <p:spPr>
          <a:xfrm>
            <a:off x="142875" y="5438775"/>
            <a:ext cx="11906250" cy="1181100"/>
          </a:xfrm>
          <a:prstGeom prst="roundRect">
            <a:avLst>
              <a:gd name="adj" fmla="val 645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6"/>
          <a:stretch>
            <a:fillRect/>
          </a:stretch>
        </p:blipFill>
        <p:spPr>
          <a:xfrm>
            <a:off x="3484684" y="3024134"/>
            <a:ext cx="320946" cy="466830"/>
          </a:xfrm>
          <a:prstGeom prst="rect">
            <a:avLst/>
          </a:prstGeom>
        </p:spPr>
      </p:pic>
      <p:sp>
        <p:nvSpPr>
          <p:cNvPr id="19" name="TextBox 18"/>
          <p:cNvSpPr txBox="1"/>
          <p:nvPr/>
        </p:nvSpPr>
        <p:spPr>
          <a:xfrm>
            <a:off x="257175" y="5777865"/>
            <a:ext cx="11673209" cy="186689"/>
          </a:xfrm>
          <a:prstGeom prst="rect">
            <a:avLst/>
          </a:prstGeom>
          <a:noFill/>
        </p:spPr>
        <p:txBody>
          <a:bodyPr wrap="none" lIns="0" rIns="0" tIns="0" bIns="0">
            <a:spAutoFit/>
          </a:bodyPr>
          <a:lstStyle/>
          <a:p>
            <a:r>
              <a:rPr sz="1100" b="0">
                <a:solidFill>
                  <a:srgbClr val="2E2E2E"/>
                </a:solidFill>
                <a:latin typeface="Calibri"/>
              </a:rPr>
              <a:t>Direct sales followed by distributor sales are expected to be the two most attractive sales channel segments in the North America organ transport devices market in terms of value over the forecast period.</a:t>
            </a:r>
          </a:p>
        </p:txBody>
      </p:sp>
      <p:sp>
        <p:nvSpPr>
          <p:cNvPr id="20" name="TextBox 19"/>
          <p:cNvSpPr txBox="1"/>
          <p:nvPr/>
        </p:nvSpPr>
        <p:spPr>
          <a:xfrm>
            <a:off x="257175" y="5945505"/>
            <a:ext cx="3277004" cy="186689"/>
          </a:xfrm>
          <a:prstGeom prst="rect">
            <a:avLst/>
          </a:prstGeom>
          <a:noFill/>
        </p:spPr>
        <p:txBody>
          <a:bodyPr wrap="none" lIns="0" rIns="0" tIns="0" bIns="0">
            <a:spAutoFit/>
          </a:bodyPr>
          <a:lstStyle/>
          <a:p>
            <a:r>
              <a:rPr sz="1100" b="0">
                <a:solidFill>
                  <a:srgbClr val="2E2E2E"/>
                </a:solidFill>
                <a:latin typeface="Calibri"/>
              </a:rPr>
              <a:t>Direct sales and distributor sales exhibit a CAGR index of</a:t>
            </a:r>
          </a:p>
        </p:txBody>
      </p:sp>
      <p:pic>
        <p:nvPicPr>
          <p:cNvPr id="21" name="Picture 20" descr="lock.png"/>
          <p:cNvPicPr>
            <a:picLocks noChangeAspect="1"/>
          </p:cNvPicPr>
          <p:nvPr/>
        </p:nvPicPr>
        <p:blipFill>
          <a:blip r:embed="rId6"/>
          <a:stretch>
            <a:fillRect/>
          </a:stretch>
        </p:blipFill>
        <p:spPr>
          <a:xfrm>
            <a:off x="3482231" y="5935726"/>
            <a:ext cx="128699" cy="187198"/>
          </a:xfrm>
          <a:prstGeom prst="rect">
            <a:avLst/>
          </a:prstGeom>
        </p:spPr>
      </p:pic>
      <p:sp>
        <p:nvSpPr>
          <p:cNvPr id="22" name="TextBox 21"/>
          <p:cNvSpPr txBox="1"/>
          <p:nvPr/>
        </p:nvSpPr>
        <p:spPr>
          <a:xfrm>
            <a:off x="3649727"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3" name="Picture 22" descr="lock.png"/>
          <p:cNvPicPr>
            <a:picLocks noChangeAspect="1"/>
          </p:cNvPicPr>
          <p:nvPr/>
        </p:nvPicPr>
        <p:blipFill>
          <a:blip r:embed="rId6"/>
          <a:stretch>
            <a:fillRect/>
          </a:stretch>
        </p:blipFill>
        <p:spPr>
          <a:xfrm>
            <a:off x="3887621" y="5935726"/>
            <a:ext cx="128699" cy="187198"/>
          </a:xfrm>
          <a:prstGeom prst="rect">
            <a:avLst/>
          </a:prstGeom>
        </p:spPr>
      </p:pic>
      <p:sp>
        <p:nvSpPr>
          <p:cNvPr id="24" name="TextBox 23"/>
          <p:cNvSpPr txBox="1"/>
          <p:nvPr/>
        </p:nvSpPr>
        <p:spPr>
          <a:xfrm>
            <a:off x="4055117" y="5945505"/>
            <a:ext cx="1660921" cy="186689"/>
          </a:xfrm>
          <a:prstGeom prst="rect">
            <a:avLst/>
          </a:prstGeom>
          <a:noFill/>
        </p:spPr>
        <p:txBody>
          <a:bodyPr wrap="none" lIns="0" rIns="0" tIns="0" bIns="0">
            <a:spAutoFit/>
          </a:bodyPr>
          <a:lstStyle/>
          <a:p>
            <a:r>
              <a:rPr sz="1100" b="0">
                <a:solidFill>
                  <a:srgbClr val="2E2E2E"/>
                </a:solidFill>
                <a:latin typeface="Calibri"/>
              </a:rPr>
              <a:t>and a market share index of</a:t>
            </a:r>
          </a:p>
        </p:txBody>
      </p:sp>
      <p:pic>
        <p:nvPicPr>
          <p:cNvPr id="25" name="Picture 24" descr="lock.png"/>
          <p:cNvPicPr>
            <a:picLocks noChangeAspect="1"/>
          </p:cNvPicPr>
          <p:nvPr/>
        </p:nvPicPr>
        <p:blipFill>
          <a:blip r:embed="rId6"/>
          <a:stretch>
            <a:fillRect/>
          </a:stretch>
        </p:blipFill>
        <p:spPr>
          <a:xfrm>
            <a:off x="5664090" y="5935726"/>
            <a:ext cx="128699" cy="187198"/>
          </a:xfrm>
          <a:prstGeom prst="rect">
            <a:avLst/>
          </a:prstGeom>
        </p:spPr>
      </p:pic>
      <p:sp>
        <p:nvSpPr>
          <p:cNvPr id="26" name="TextBox 25"/>
          <p:cNvSpPr txBox="1"/>
          <p:nvPr/>
        </p:nvSpPr>
        <p:spPr>
          <a:xfrm>
            <a:off x="5831586" y="5945505"/>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27" name="Picture 26" descr="lock.png"/>
          <p:cNvPicPr>
            <a:picLocks noChangeAspect="1"/>
          </p:cNvPicPr>
          <p:nvPr/>
        </p:nvPicPr>
        <p:blipFill>
          <a:blip r:embed="rId6"/>
          <a:stretch>
            <a:fillRect/>
          </a:stretch>
        </p:blipFill>
        <p:spPr>
          <a:xfrm>
            <a:off x="6069480" y="5935726"/>
            <a:ext cx="128699" cy="187198"/>
          </a:xfrm>
          <a:prstGeom prst="rect">
            <a:avLst/>
          </a:prstGeom>
        </p:spPr>
      </p:pic>
      <p:sp>
        <p:nvSpPr>
          <p:cNvPr id="28" name="TextBox 27"/>
          <p:cNvSpPr txBox="1"/>
          <p:nvPr/>
        </p:nvSpPr>
        <p:spPr>
          <a:xfrm>
            <a:off x="6236976" y="5945505"/>
            <a:ext cx="2606352" cy="186689"/>
          </a:xfrm>
          <a:prstGeom prst="rect">
            <a:avLst/>
          </a:prstGeom>
          <a:noFill/>
        </p:spPr>
        <p:txBody>
          <a:bodyPr wrap="none" lIns="0" rIns="0" tIns="0" bIns="0">
            <a:spAutoFit/>
          </a:bodyPr>
          <a:lstStyle/>
          <a:p>
            <a:r>
              <a:rPr sz="1100" b="0">
                <a:solidFill>
                  <a:srgbClr val="2E2E2E"/>
                </a:solidFill>
                <a:latin typeface="Calibri"/>
              </a:rPr>
              <a:t>respectively, against the segment average of</a:t>
            </a:r>
          </a:p>
        </p:txBody>
      </p:sp>
      <p:pic>
        <p:nvPicPr>
          <p:cNvPr id="29" name="Picture 28" descr="lock.png"/>
          <p:cNvPicPr>
            <a:picLocks noChangeAspect="1"/>
          </p:cNvPicPr>
          <p:nvPr/>
        </p:nvPicPr>
        <p:blipFill>
          <a:blip r:embed="rId6"/>
          <a:stretch>
            <a:fillRect/>
          </a:stretch>
        </p:blipFill>
        <p:spPr>
          <a:xfrm>
            <a:off x="8791380" y="5935726"/>
            <a:ext cx="128699" cy="187198"/>
          </a:xfrm>
          <a:prstGeom prst="rect">
            <a:avLst/>
          </a:prstGeom>
        </p:spPr>
      </p:pic>
      <p:sp>
        <p:nvSpPr>
          <p:cNvPr id="30" name="TextBox 29"/>
          <p:cNvSpPr txBox="1"/>
          <p:nvPr/>
        </p:nvSpPr>
        <p:spPr>
          <a:xfrm>
            <a:off x="8958876" y="5945505"/>
            <a:ext cx="2528572" cy="186689"/>
          </a:xfrm>
          <a:prstGeom prst="rect">
            <a:avLst/>
          </a:prstGeom>
          <a:noFill/>
        </p:spPr>
        <p:txBody>
          <a:bodyPr wrap="none" lIns="0" rIns="0" tIns="0" bIns="0">
            <a:spAutoFit/>
          </a:bodyPr>
          <a:lstStyle/>
          <a:p>
            <a:r>
              <a:rPr sz="1100" b="0">
                <a:solidFill>
                  <a:srgbClr val="2E2E2E"/>
                </a:solidFill>
                <a:latin typeface="Calibri"/>
              </a:rPr>
              <a:t>. Bubbles right of the CAGR-Index line grow</a:t>
            </a:r>
          </a:p>
        </p:txBody>
      </p:sp>
      <p:sp>
        <p:nvSpPr>
          <p:cNvPr id="31" name="TextBox 30"/>
          <p:cNvSpPr txBox="1"/>
          <p:nvPr/>
        </p:nvSpPr>
        <p:spPr>
          <a:xfrm>
            <a:off x="257175" y="6113145"/>
            <a:ext cx="1959694" cy="186689"/>
          </a:xfrm>
          <a:prstGeom prst="rect">
            <a:avLst/>
          </a:prstGeom>
          <a:noFill/>
        </p:spPr>
        <p:txBody>
          <a:bodyPr wrap="none" lIns="0" rIns="0" tIns="0" bIns="0">
            <a:spAutoFit/>
          </a:bodyPr>
          <a:lstStyle/>
          <a:p>
            <a:r>
              <a:rPr sz="1100" b="0">
                <a:solidFill>
                  <a:srgbClr val="2E2E2E"/>
                </a:solidFill>
                <a:latin typeface="Calibri"/>
              </a:rPr>
              <a:t>faster than the segment average.</a:t>
            </a:r>
          </a:p>
        </p:txBody>
      </p:sp>
      <p:sp>
        <p:nvSpPr>
          <p:cNvPr id="32" name="lockshield_12"/>
          <p:cNvSpPr/>
          <p:nvPr/>
        </p:nvSpPr>
        <p:spPr>
          <a:xfrm>
            <a:off x="238125" y="1438275"/>
            <a:ext cx="6153150"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lockshield_15"/>
          <p:cNvSpPr/>
          <p:nvPr/>
        </p:nvSpPr>
        <p:spPr>
          <a:xfrm>
            <a:off x="6734175" y="1438275"/>
            <a:ext cx="5210175" cy="38100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Analysis,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build-up by Sales Channel and the absolute $ opportunity each sub-segment adds, 2026–2036</a:t>
            </a:r>
          </a:p>
        </p:txBody>
      </p:sp>
      <p:sp>
        <p:nvSpPr>
          <p:cNvPr id="10" name="Rounded Rectangle 9"/>
          <p:cNvSpPr/>
          <p:nvPr/>
        </p:nvSpPr>
        <p:spPr>
          <a:xfrm>
            <a:off x="142875"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Direct Sales</a:t>
            </a:r>
          </a:p>
        </p:txBody>
      </p:sp>
      <p:graphicFrame>
        <p:nvGraphicFramePr>
          <p:cNvPr id="12" name="Chart 11"/>
          <p:cNvGraphicFramePr>
            <a:graphicFrameLocks noGrp="1"/>
          </p:cNvGraphicFramePr>
          <p:nvPr/>
        </p:nvGraphicFramePr>
        <p:xfrm>
          <a:off x="238125" y="1266825"/>
          <a:ext cx="56864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Incremental $ Opportunity (US$ Mn), 2026-2036, By Distributor Sales</a:t>
            </a:r>
          </a:p>
        </p:txBody>
      </p:sp>
      <p:graphicFrame>
        <p:nvGraphicFramePr>
          <p:cNvPr id="15" name="Chart 14"/>
          <p:cNvGraphicFramePr>
            <a:graphicFrameLocks noGrp="1"/>
          </p:cNvGraphicFramePr>
          <p:nvPr/>
        </p:nvGraphicFramePr>
        <p:xfrm>
          <a:off x="6267450" y="1438275"/>
          <a:ext cx="5686425" cy="5133975"/>
        </p:xfrm>
        <a:graphic>
          <a:graphicData uri="http://schemas.openxmlformats.org/drawingml/2006/chart">
            <c:chart xmlns:c="http://schemas.openxmlformats.org/drawingml/2006/chart" r:id="rId4"/>
          </a:graphicData>
        </a:graphic>
      </p:graphicFrame>
      <p:sp>
        <p:nvSpPr>
          <p:cNvPr id="16" name="TextBox 1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 name="Picture 16" descr="lock.png"/>
          <p:cNvPicPr>
            <a:picLocks noChangeAspect="1"/>
          </p:cNvPicPr>
          <p:nvPr/>
        </p:nvPicPr>
        <p:blipFill>
          <a:blip r:embed="rId6"/>
          <a:stretch>
            <a:fillRect/>
          </a:stretch>
        </p:blipFill>
        <p:spPr>
          <a:xfrm>
            <a:off x="3024059" y="3583939"/>
            <a:ext cx="402511" cy="585471"/>
          </a:xfrm>
          <a:prstGeom prst="rect">
            <a:avLst/>
          </a:prstGeom>
        </p:spPr>
      </p:pic>
      <p:pic>
        <p:nvPicPr>
          <p:cNvPr id="18" name="Picture 17" descr="lock.png"/>
          <p:cNvPicPr>
            <a:picLocks noChangeAspect="1"/>
          </p:cNvPicPr>
          <p:nvPr/>
        </p:nvPicPr>
        <p:blipFill>
          <a:blip r:embed="rId6"/>
          <a:stretch>
            <a:fillRect/>
          </a:stretch>
        </p:blipFill>
        <p:spPr>
          <a:xfrm>
            <a:off x="9056881" y="3674659"/>
            <a:ext cx="395643" cy="575481"/>
          </a:xfrm>
          <a:prstGeom prst="rect">
            <a:avLst/>
          </a:prstGeom>
        </p:spPr>
      </p:pic>
      <p:sp>
        <p:nvSpPr>
          <p:cNvPr id="19" name="lockshield_12"/>
          <p:cNvSpPr/>
          <p:nvPr/>
        </p:nvSpPr>
        <p:spPr>
          <a:xfrm>
            <a:off x="238125" y="1266825"/>
            <a:ext cx="56864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ckshield_15"/>
          <p:cNvSpPr/>
          <p:nvPr/>
        </p:nvSpPr>
        <p:spPr>
          <a:xfrm>
            <a:off x="6267450" y="1438275"/>
            <a:ext cx="5686425" cy="51339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Analysis, By Sales Channel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by Sales Channel, 2021–2036, highlighting the sub-segments driving growth</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By Sales Channel (US$ Mn)</a:t>
            </a:r>
          </a:p>
        </p:txBody>
      </p:sp>
      <p:graphicFrame>
        <p:nvGraphicFramePr>
          <p:cNvPr id="12" name="Table 11"/>
          <p:cNvGraphicFramePr>
            <a:graphicFrameLocks noGrp="1"/>
          </p:cNvGraphicFramePr>
          <p:nvPr/>
        </p:nvGraphicFramePr>
        <p:xfrm>
          <a:off x="152400" y="1238250"/>
          <a:ext cx="11887208" cy="990600"/>
        </p:xfrm>
        <a:graphic>
          <a:graphicData uri="http://schemas.openxmlformats.org/drawingml/2006/table">
            <a:tbl>
              <a:tblPr>
                <a:tableStyleId>{5C22544A-7EE6-4342-B048-85BDC9FD1C3A}</a:tableStyleId>
              </a:tblPr>
              <a:tblGrid>
                <a:gridCol w="1242131"/>
                <a:gridCol w="626181"/>
                <a:gridCol w="626181"/>
                <a:gridCol w="626181"/>
                <a:gridCol w="626181"/>
                <a:gridCol w="626181"/>
                <a:gridCol w="626181"/>
                <a:gridCol w="626181"/>
                <a:gridCol w="626181"/>
                <a:gridCol w="626181"/>
                <a:gridCol w="626181"/>
                <a:gridCol w="626181"/>
                <a:gridCol w="626181"/>
                <a:gridCol w="626181"/>
                <a:gridCol w="626181"/>
                <a:gridCol w="626181"/>
                <a:gridCol w="626181"/>
                <a:gridCol w="626181"/>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1190625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657475"/>
            <a:ext cx="11639550" cy="209550"/>
          </a:xfrm>
          <a:prstGeom prst="rect">
            <a:avLst/>
          </a:prstGeom>
          <a:noFill/>
        </p:spPr>
        <p:txBody>
          <a:bodyPr wrap="square" lIns="0" rIns="19050" tIns="9525" bIns="9525">
            <a:spAutoFit/>
          </a:bodyPr>
          <a:lstStyle/>
          <a:p>
            <a:pPr algn="l"/>
            <a:r>
              <a:rPr sz="1300" b="1">
                <a:solidFill>
                  <a:srgbClr val="0B2E4A"/>
                </a:solidFill>
                <a:latin typeface="Calibri"/>
              </a:rPr>
              <a:t>North America Value Analysis, By Sales Channel</a:t>
            </a:r>
          </a:p>
        </p:txBody>
      </p:sp>
      <p:sp>
        <p:nvSpPr>
          <p:cNvPr id="16" name="Rectangle 15"/>
          <p:cNvSpPr/>
          <p:nvPr/>
        </p:nvSpPr>
        <p:spPr>
          <a:xfrm>
            <a:off x="276225" y="28956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981325"/>
            <a:ext cx="1163955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30379" y="1589913"/>
            <a:ext cx="366712" cy="533400"/>
          </a:xfrm>
          <a:prstGeom prst="rect">
            <a:avLst/>
          </a:prstGeom>
        </p:spPr>
      </p:pic>
      <p:sp>
        <p:nvSpPr>
          <p:cNvPr id="20" name="TextBox 19"/>
          <p:cNvSpPr txBox="1"/>
          <p:nvPr/>
        </p:nvSpPr>
        <p:spPr>
          <a:xfrm>
            <a:off x="276225" y="2990850"/>
            <a:ext cx="2683135" cy="194310"/>
          </a:xfrm>
          <a:prstGeom prst="rect">
            <a:avLst/>
          </a:prstGeom>
          <a:noFill/>
        </p:spPr>
        <p:txBody>
          <a:bodyPr wrap="none" lIns="0" rIns="0" tIns="0" bIns="0">
            <a:spAutoFit/>
          </a:bodyPr>
          <a:lstStyle/>
          <a:p>
            <a:r>
              <a:rPr sz="1150" b="0">
                <a:solidFill>
                  <a:srgbClr val="2E2E2E"/>
                </a:solidFill>
                <a:latin typeface="Calibri"/>
              </a:rPr>
              <a:t>Direct sales segment is projected to register</a:t>
            </a:r>
          </a:p>
        </p:txBody>
      </p:sp>
      <p:pic>
        <p:nvPicPr>
          <p:cNvPr id="21" name="Picture 20" descr="lock.png"/>
          <p:cNvPicPr>
            <a:picLocks noChangeAspect="1"/>
          </p:cNvPicPr>
          <p:nvPr/>
        </p:nvPicPr>
        <p:blipFill>
          <a:blip r:embed="rId4"/>
          <a:stretch>
            <a:fillRect/>
          </a:stretch>
        </p:blipFill>
        <p:spPr>
          <a:xfrm>
            <a:off x="2908514" y="2980626"/>
            <a:ext cx="134549" cy="195707"/>
          </a:xfrm>
          <a:prstGeom prst="rect">
            <a:avLst/>
          </a:prstGeom>
        </p:spPr>
      </p:pic>
      <p:sp>
        <p:nvSpPr>
          <p:cNvPr id="22" name="TextBox 21"/>
          <p:cNvSpPr txBox="1"/>
          <p:nvPr/>
        </p:nvSpPr>
        <p:spPr>
          <a:xfrm>
            <a:off x="3083623" y="2990850"/>
            <a:ext cx="8600157" cy="194310"/>
          </a:xfrm>
          <a:prstGeom prst="rect">
            <a:avLst/>
          </a:prstGeom>
          <a:noFill/>
        </p:spPr>
        <p:txBody>
          <a:bodyPr wrap="none" lIns="0" rIns="0" tIns="0" bIns="0">
            <a:spAutoFit/>
          </a:bodyPr>
          <a:lstStyle/>
          <a:p>
            <a:r>
              <a:rPr sz="1150" b="0">
                <a:solidFill>
                  <a:srgbClr val="2E2E2E"/>
                </a:solidFill>
                <a:latin typeface="Calibri"/>
              </a:rPr>
              <a:t>X higher value than distributor sales segment in 2036. Among organ transport devices by sales channel, distributor sales segment is expected to</a:t>
            </a:r>
          </a:p>
        </p:txBody>
      </p:sp>
      <p:sp>
        <p:nvSpPr>
          <p:cNvPr id="23" name="TextBox 22"/>
          <p:cNvSpPr txBox="1"/>
          <p:nvPr/>
        </p:nvSpPr>
        <p:spPr>
          <a:xfrm>
            <a:off x="276225" y="3166110"/>
            <a:ext cx="1747770" cy="194310"/>
          </a:xfrm>
          <a:prstGeom prst="rect">
            <a:avLst/>
          </a:prstGeom>
          <a:noFill/>
        </p:spPr>
        <p:txBody>
          <a:bodyPr wrap="none" lIns="0" rIns="0" tIns="0" bIns="0">
            <a:spAutoFit/>
          </a:bodyPr>
          <a:lstStyle/>
          <a:p>
            <a:r>
              <a:rPr sz="1150" b="0">
                <a:solidFill>
                  <a:srgbClr val="2E2E2E"/>
                </a:solidFill>
                <a:latin typeface="Calibri"/>
              </a:rPr>
              <a:t>witness the highest CAGR of</a:t>
            </a:r>
          </a:p>
        </p:txBody>
      </p:sp>
      <p:pic>
        <p:nvPicPr>
          <p:cNvPr id="24" name="Picture 23" descr="lock.png"/>
          <p:cNvPicPr>
            <a:picLocks noChangeAspect="1"/>
          </p:cNvPicPr>
          <p:nvPr/>
        </p:nvPicPr>
        <p:blipFill>
          <a:blip r:embed="rId4"/>
          <a:stretch>
            <a:fillRect/>
          </a:stretch>
        </p:blipFill>
        <p:spPr>
          <a:xfrm>
            <a:off x="1973149" y="3155886"/>
            <a:ext cx="134549" cy="195707"/>
          </a:xfrm>
          <a:prstGeom prst="rect">
            <a:avLst/>
          </a:prstGeom>
        </p:spPr>
      </p:pic>
      <p:sp>
        <p:nvSpPr>
          <p:cNvPr id="25" name="TextBox 24"/>
          <p:cNvSpPr txBox="1"/>
          <p:nvPr/>
        </p:nvSpPr>
        <p:spPr>
          <a:xfrm>
            <a:off x="2148258" y="3166110"/>
            <a:ext cx="1548680" cy="194310"/>
          </a:xfrm>
          <a:prstGeom prst="rect">
            <a:avLst/>
          </a:prstGeom>
          <a:noFill/>
        </p:spPr>
        <p:txBody>
          <a:bodyPr wrap="none" lIns="0" rIns="0" tIns="0" bIns="0">
            <a:spAutoFit/>
          </a:bodyPr>
          <a:lstStyle/>
          <a:p>
            <a:r>
              <a:rPr sz="1150" b="0">
                <a:solidFill>
                  <a:srgbClr val="2E2E2E"/>
                </a:solidFill>
                <a:latin typeface="Calibri"/>
              </a:rPr>
              <a:t>over the forecast period.</a:t>
            </a:r>
          </a:p>
        </p:txBody>
      </p:sp>
      <p:sp>
        <p:nvSpPr>
          <p:cNvPr id="26" name="TextBox 25"/>
          <p:cNvSpPr txBox="1"/>
          <p:nvPr/>
        </p:nvSpPr>
        <p:spPr>
          <a:xfrm>
            <a:off x="276225" y="3393947"/>
            <a:ext cx="6528928"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sales segment is expected to dominate the market, losing</a:t>
            </a:r>
          </a:p>
        </p:txBody>
      </p:sp>
      <p:pic>
        <p:nvPicPr>
          <p:cNvPr id="27" name="Picture 26" descr="lock.png"/>
          <p:cNvPicPr>
            <a:picLocks noChangeAspect="1"/>
          </p:cNvPicPr>
          <p:nvPr/>
        </p:nvPicPr>
        <p:blipFill>
          <a:blip r:embed="rId4"/>
          <a:stretch>
            <a:fillRect/>
          </a:stretch>
        </p:blipFill>
        <p:spPr>
          <a:xfrm>
            <a:off x="6754307" y="3383724"/>
            <a:ext cx="134549" cy="195707"/>
          </a:xfrm>
          <a:prstGeom prst="rect">
            <a:avLst/>
          </a:prstGeom>
        </p:spPr>
      </p:pic>
      <p:sp>
        <p:nvSpPr>
          <p:cNvPr id="28" name="TextBox 27"/>
          <p:cNvSpPr txBox="1"/>
          <p:nvPr/>
        </p:nvSpPr>
        <p:spPr>
          <a:xfrm>
            <a:off x="6929416" y="3393947"/>
            <a:ext cx="1445989" cy="194310"/>
          </a:xfrm>
          <a:prstGeom prst="rect">
            <a:avLst/>
          </a:prstGeom>
          <a:noFill/>
        </p:spPr>
        <p:txBody>
          <a:bodyPr wrap="none" lIns="0" rIns="0" tIns="0" bIns="0">
            <a:spAutoFit/>
          </a:bodyPr>
          <a:lstStyle/>
          <a:p>
            <a:r>
              <a:rPr sz="1150" b="0">
                <a:solidFill>
                  <a:srgbClr val="2E2E2E"/>
                </a:solidFill>
                <a:latin typeface="Calibri"/>
              </a:rPr>
              <a:t>BPS and accounting for</a:t>
            </a:r>
          </a:p>
        </p:txBody>
      </p:sp>
      <p:pic>
        <p:nvPicPr>
          <p:cNvPr id="29" name="Picture 28" descr="lock.png"/>
          <p:cNvPicPr>
            <a:picLocks noChangeAspect="1"/>
          </p:cNvPicPr>
          <p:nvPr/>
        </p:nvPicPr>
        <p:blipFill>
          <a:blip r:embed="rId4"/>
          <a:stretch>
            <a:fillRect/>
          </a:stretch>
        </p:blipFill>
        <p:spPr>
          <a:xfrm>
            <a:off x="8324560" y="3383724"/>
            <a:ext cx="134549" cy="195707"/>
          </a:xfrm>
          <a:prstGeom prst="rect">
            <a:avLst/>
          </a:prstGeom>
        </p:spPr>
      </p:pic>
      <p:sp>
        <p:nvSpPr>
          <p:cNvPr id="30" name="TextBox 29"/>
          <p:cNvSpPr txBox="1"/>
          <p:nvPr/>
        </p:nvSpPr>
        <p:spPr>
          <a:xfrm>
            <a:off x="8499669" y="3393947"/>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Value &amp; Share Shift, By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Value composition by Sales Channel in 2021, 2026 and 2036, highlighting share shifts in basis points</a:t>
            </a:r>
          </a:p>
        </p:txBody>
      </p:sp>
      <p:sp>
        <p:nvSpPr>
          <p:cNvPr id="10" name="Rounded Rectangle 9"/>
          <p:cNvSpPr/>
          <p:nvPr/>
        </p:nvSpPr>
        <p:spPr>
          <a:xfrm>
            <a:off x="142875" y="981075"/>
            <a:ext cx="74009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Composition, By Sales Channel ·  2021 / 2026 / 2036 (US$ Mn)  ·  right axis = BPS share shift</a:t>
            </a:r>
          </a:p>
        </p:txBody>
      </p:sp>
      <p:graphicFrame>
        <p:nvGraphicFramePr>
          <p:cNvPr id="12" name="Chart 11"/>
          <p:cNvGraphicFramePr>
            <a:graphicFrameLocks noGrp="1"/>
          </p:cNvGraphicFramePr>
          <p:nvPr/>
        </p:nvGraphicFramePr>
        <p:xfrm>
          <a:off x="238125" y="1581150"/>
          <a:ext cx="4614672" cy="4991100"/>
        </p:xfrm>
        <a:graphic>
          <a:graphicData uri="http://schemas.openxmlformats.org/drawingml/2006/chart">
            <c:chart xmlns:c="http://schemas.openxmlformats.org/drawingml/2006/chart" r:id="rId3"/>
          </a:graphicData>
        </a:graphic>
      </p:graphicFrame>
      <p:sp>
        <p:nvSpPr>
          <p:cNvPr id="13" name="TextBox 12"/>
          <p:cNvSpPr txBox="1"/>
          <p:nvPr/>
        </p:nvSpPr>
        <p:spPr>
          <a:xfrm>
            <a:off x="4852797" y="1590675"/>
            <a:ext cx="2595753" cy="171069"/>
          </a:xfrm>
          <a:prstGeom prst="rect">
            <a:avLst/>
          </a:prstGeom>
          <a:noFill/>
        </p:spPr>
        <p:txBody>
          <a:bodyPr wrap="square" lIns="28575" rIns="28575" tIns="9525" bIns="9525" anchor="ctr">
            <a:spAutoFit/>
          </a:bodyPr>
          <a:lstStyle/>
          <a:p>
            <a:pPr algn="ctr"/>
            <a:r>
              <a:rPr sz="1300" b="1">
                <a:solidFill>
                  <a:srgbClr val="0E72AE"/>
                </a:solidFill>
                <a:latin typeface="Calibri"/>
              </a:rPr>
              <a:t>BPS Δ  (2021→2036)</a:t>
            </a:r>
          </a:p>
        </p:txBody>
      </p:sp>
      <p:sp>
        <p:nvSpPr>
          <p:cNvPr id="14" name="FMI Lock Anchor"/>
          <p:cNvSpPr txBox="1"/>
          <p:nvPr/>
        </p:nvSpPr>
        <p:spPr>
          <a:xfrm>
            <a:off x="2678811" y="4014597"/>
            <a:ext cx="38100" cy="38100"/>
          </a:xfrm>
          <a:prstGeom prst="rect">
            <a:avLst/>
          </a:prstGeom>
          <a:noFill/>
        </p:spPr>
        <p:txBody>
          <a:bodyPr wrap="none">
            <a:spAutoFit/>
          </a:bodyPr>
          <a:lstStyle/>
          <a:p/>
        </p:txBody>
      </p:sp>
      <p:sp>
        <p:nvSpPr>
          <p:cNvPr id="15" name="FMI Legend Chip"/>
          <p:cNvSpPr/>
          <p:nvPr/>
        </p:nvSpPr>
        <p:spPr>
          <a:xfrm>
            <a:off x="4928997" y="2615900"/>
            <a:ext cx="85725" cy="8572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sosceles Triangle 15"/>
          <p:cNvSpPr/>
          <p:nvPr/>
        </p:nvSpPr>
        <p:spPr>
          <a:xfrm>
            <a:off x="5090922" y="2611138"/>
            <a:ext cx="95250" cy="95250"/>
          </a:xfrm>
          <a:prstGeom prst="triangl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PS Name 1"/>
          <p:cNvSpPr txBox="1"/>
          <p:nvPr/>
        </p:nvSpPr>
        <p:spPr>
          <a:xfrm>
            <a:off x="5233797" y="253493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Distributor Sales</a:t>
            </a:r>
          </a:p>
        </p:txBody>
      </p:sp>
      <p:sp>
        <p:nvSpPr>
          <p:cNvPr id="18" name="BPS Value 1"/>
          <p:cNvSpPr txBox="1"/>
          <p:nvPr/>
        </p:nvSpPr>
        <p:spPr>
          <a:xfrm>
            <a:off x="6896100" y="2596850"/>
            <a:ext cx="514350" cy="123825"/>
          </a:xfrm>
          <a:prstGeom prst="rect">
            <a:avLst/>
          </a:prstGeom>
          <a:noFill/>
        </p:spPr>
        <p:txBody>
          <a:bodyPr wrap="none" lIns="0" rIns="0" tIns="0" bIns="0" anchor="ctr">
            <a:spAutoFit/>
          </a:bodyPr>
          <a:lstStyle/>
          <a:p>
            <a:pPr algn="r"/>
            <a:r>
              <a:rPr sz="900" b="1">
                <a:solidFill>
                  <a:srgbClr val="2E7D32"/>
                </a:solidFill>
                <a:latin typeface="Calibri"/>
              </a:rPr>
              <a:t>XX</a:t>
            </a:r>
          </a:p>
        </p:txBody>
      </p:sp>
      <p:sp>
        <p:nvSpPr>
          <p:cNvPr id="19" name="FMI Legend Chip"/>
          <p:cNvSpPr/>
          <p:nvPr/>
        </p:nvSpPr>
        <p:spPr>
          <a:xfrm>
            <a:off x="4928997" y="4902091"/>
            <a:ext cx="85725" cy="8572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rot="10800000">
            <a:off x="5090922" y="4897328"/>
            <a:ext cx="95250" cy="95250"/>
          </a:xfrm>
          <a:prstGeom prst="triangl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PS Name 2"/>
          <p:cNvSpPr txBox="1"/>
          <p:nvPr/>
        </p:nvSpPr>
        <p:spPr>
          <a:xfrm>
            <a:off x="5233797" y="4821128"/>
            <a:ext cx="1528953" cy="247650"/>
          </a:xfrm>
          <a:prstGeom prst="rect">
            <a:avLst/>
          </a:prstGeom>
          <a:noFill/>
        </p:spPr>
        <p:txBody>
          <a:bodyPr wrap="square" lIns="19050" rIns="19050" tIns="0" bIns="0" anchor="ctr">
            <a:spAutoFit/>
          </a:bodyPr>
          <a:lstStyle/>
          <a:p>
            <a:pPr algn="l"/>
            <a:r>
              <a:rPr sz="900" b="0">
                <a:solidFill>
                  <a:srgbClr val="2E2E2E"/>
                </a:solidFill>
                <a:latin typeface="Calibri"/>
              </a:rPr>
              <a:t>Direct Sales</a:t>
            </a:r>
          </a:p>
        </p:txBody>
      </p:sp>
      <p:sp>
        <p:nvSpPr>
          <p:cNvPr id="22" name="BPS Value 2"/>
          <p:cNvSpPr txBox="1"/>
          <p:nvPr/>
        </p:nvSpPr>
        <p:spPr>
          <a:xfrm>
            <a:off x="6896100" y="4883041"/>
            <a:ext cx="514350" cy="123825"/>
          </a:xfrm>
          <a:prstGeom prst="rect">
            <a:avLst/>
          </a:prstGeom>
          <a:noFill/>
        </p:spPr>
        <p:txBody>
          <a:bodyPr wrap="none" lIns="0" rIns="0" tIns="0" bIns="0" anchor="ctr">
            <a:spAutoFit/>
          </a:bodyPr>
          <a:lstStyle/>
          <a:p>
            <a:pPr algn="r"/>
            <a:r>
              <a:rPr sz="900" b="1">
                <a:solidFill>
                  <a:srgbClr val="E44D3A"/>
                </a:solidFill>
                <a:latin typeface="Calibri"/>
              </a:rPr>
              <a:t>XX</a:t>
            </a:r>
          </a:p>
        </p:txBody>
      </p:sp>
      <p:sp>
        <p:nvSpPr>
          <p:cNvPr id="23" name="Rounded Rectangle 22"/>
          <p:cNvSpPr/>
          <p:nvPr/>
        </p:nvSpPr>
        <p:spPr>
          <a:xfrm>
            <a:off x="7696200" y="981075"/>
            <a:ext cx="4343400" cy="5648325"/>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29550" y="1066800"/>
            <a:ext cx="4076700" cy="209550"/>
          </a:xfrm>
          <a:prstGeom prst="rect">
            <a:avLst/>
          </a:prstGeom>
          <a:noFill/>
        </p:spPr>
        <p:txBody>
          <a:bodyPr wrap="square" lIns="0" rIns="19050" tIns="9525" bIns="9525">
            <a:spAutoFit/>
          </a:bodyPr>
          <a:lstStyle/>
          <a:p>
            <a:pPr algn="l"/>
            <a:r>
              <a:rPr sz="1300" b="1">
                <a:solidFill>
                  <a:srgbClr val="0B2E4A"/>
                </a:solidFill>
                <a:latin typeface="Calibri"/>
              </a:rPr>
              <a:t>North America Read-out, By Sales Channel</a:t>
            </a:r>
          </a:p>
        </p:txBody>
      </p:sp>
      <p:sp>
        <p:nvSpPr>
          <p:cNvPr id="25" name="Rectangle 24"/>
          <p:cNvSpPr/>
          <p:nvPr/>
        </p:nvSpPr>
        <p:spPr>
          <a:xfrm>
            <a:off x="7829550" y="1304925"/>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29550" y="1390650"/>
            <a:ext cx="40767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8" name="Picture 27" descr="lock.png"/>
          <p:cNvPicPr>
            <a:picLocks noChangeAspect="1"/>
          </p:cNvPicPr>
          <p:nvPr/>
        </p:nvPicPr>
        <p:blipFill>
          <a:blip r:embed="rId5"/>
          <a:stretch>
            <a:fillRect/>
          </a:stretch>
        </p:blipFill>
        <p:spPr>
          <a:xfrm>
            <a:off x="2557843" y="3833622"/>
            <a:ext cx="275034" cy="400050"/>
          </a:xfrm>
          <a:prstGeom prst="rect">
            <a:avLst/>
          </a:prstGeom>
        </p:spPr>
      </p:pic>
      <p:sp>
        <p:nvSpPr>
          <p:cNvPr id="29" name="TextBox 28"/>
          <p:cNvSpPr txBox="1"/>
          <p:nvPr/>
        </p:nvSpPr>
        <p:spPr>
          <a:xfrm>
            <a:off x="7829550" y="1400175"/>
            <a:ext cx="3966778" cy="194310"/>
          </a:xfrm>
          <a:prstGeom prst="rect">
            <a:avLst/>
          </a:prstGeom>
          <a:noFill/>
        </p:spPr>
        <p:txBody>
          <a:bodyPr wrap="none" lIns="0" rIns="0" tIns="0" bIns="0">
            <a:spAutoFit/>
          </a:bodyPr>
          <a:lstStyle/>
          <a:p>
            <a:r>
              <a:rPr sz="1150" b="0">
                <a:solidFill>
                  <a:srgbClr val="2E2E2E"/>
                </a:solidFill>
                <a:latin typeface="Calibri"/>
              </a:rPr>
              <a:t>Among organ transport devices by sales channel, distributor sales</a:t>
            </a:r>
          </a:p>
        </p:txBody>
      </p:sp>
      <p:sp>
        <p:nvSpPr>
          <p:cNvPr id="30" name="TextBox 29"/>
          <p:cNvSpPr txBox="1"/>
          <p:nvPr/>
        </p:nvSpPr>
        <p:spPr>
          <a:xfrm>
            <a:off x="7829550" y="1575435"/>
            <a:ext cx="3156639" cy="194310"/>
          </a:xfrm>
          <a:prstGeom prst="rect">
            <a:avLst/>
          </a:prstGeom>
          <a:noFill/>
        </p:spPr>
        <p:txBody>
          <a:bodyPr wrap="none" lIns="0" rIns="0" tIns="0" bIns="0">
            <a:spAutoFit/>
          </a:bodyPr>
          <a:lstStyle/>
          <a:p>
            <a:r>
              <a:rPr sz="1150" b="0">
                <a:solidFill>
                  <a:srgbClr val="2E2E2E"/>
                </a:solidFill>
                <a:latin typeface="Calibri"/>
              </a:rPr>
              <a:t>segment is expected to witness the highest CAGR of</a:t>
            </a:r>
          </a:p>
        </p:txBody>
      </p:sp>
      <p:pic>
        <p:nvPicPr>
          <p:cNvPr id="31" name="Picture 30" descr="lock.png"/>
          <p:cNvPicPr>
            <a:picLocks noChangeAspect="1"/>
          </p:cNvPicPr>
          <p:nvPr/>
        </p:nvPicPr>
        <p:blipFill>
          <a:blip r:embed="rId5"/>
          <a:stretch>
            <a:fillRect/>
          </a:stretch>
        </p:blipFill>
        <p:spPr>
          <a:xfrm>
            <a:off x="10935343" y="1565211"/>
            <a:ext cx="134549" cy="195707"/>
          </a:xfrm>
          <a:prstGeom prst="rect">
            <a:avLst/>
          </a:prstGeom>
        </p:spPr>
      </p:pic>
      <p:sp>
        <p:nvSpPr>
          <p:cNvPr id="32" name="TextBox 31"/>
          <p:cNvSpPr txBox="1"/>
          <p:nvPr/>
        </p:nvSpPr>
        <p:spPr>
          <a:xfrm>
            <a:off x="11110452" y="1575435"/>
            <a:ext cx="574538" cy="194310"/>
          </a:xfrm>
          <a:prstGeom prst="rect">
            <a:avLst/>
          </a:prstGeom>
          <a:noFill/>
        </p:spPr>
        <p:txBody>
          <a:bodyPr wrap="none" lIns="0" rIns="0" tIns="0" bIns="0">
            <a:spAutoFit/>
          </a:bodyPr>
          <a:lstStyle/>
          <a:p>
            <a:r>
              <a:rPr sz="1150" b="0">
                <a:solidFill>
                  <a:srgbClr val="2E2E2E"/>
                </a:solidFill>
                <a:latin typeface="Calibri"/>
              </a:rPr>
              <a:t>over the</a:t>
            </a:r>
          </a:p>
        </p:txBody>
      </p:sp>
      <p:sp>
        <p:nvSpPr>
          <p:cNvPr id="33" name="TextBox 32"/>
          <p:cNvSpPr txBox="1"/>
          <p:nvPr/>
        </p:nvSpPr>
        <p:spPr>
          <a:xfrm>
            <a:off x="7829550" y="1750695"/>
            <a:ext cx="1017252" cy="194310"/>
          </a:xfrm>
          <a:prstGeom prst="rect">
            <a:avLst/>
          </a:prstGeom>
          <a:noFill/>
        </p:spPr>
        <p:txBody>
          <a:bodyPr wrap="none" lIns="0" rIns="0" tIns="0" bIns="0">
            <a:spAutoFit/>
          </a:bodyPr>
          <a:lstStyle/>
          <a:p>
            <a:r>
              <a:rPr sz="1150" b="0">
                <a:solidFill>
                  <a:srgbClr val="2E2E2E"/>
                </a:solidFill>
                <a:latin typeface="Calibri"/>
              </a:rPr>
              <a:t>forecast period.</a:t>
            </a:r>
          </a:p>
        </p:txBody>
      </p:sp>
      <p:sp>
        <p:nvSpPr>
          <p:cNvPr id="34" name="TextBox 33"/>
          <p:cNvSpPr txBox="1"/>
          <p:nvPr/>
        </p:nvSpPr>
        <p:spPr>
          <a:xfrm>
            <a:off x="7829550" y="1978533"/>
            <a:ext cx="4057650" cy="194310"/>
          </a:xfrm>
          <a:prstGeom prst="rect">
            <a:avLst/>
          </a:prstGeom>
          <a:noFill/>
        </p:spPr>
        <p:txBody>
          <a:bodyPr wrap="none" lIns="0" rIns="0" tIns="0" bIns="0">
            <a:spAutoFit/>
          </a:bodyPr>
          <a:lstStyle/>
          <a:p>
            <a:r>
              <a:rPr sz="1150" b="0">
                <a:solidFill>
                  <a:srgbClr val="2E2E2E"/>
                </a:solidFill>
                <a:latin typeface="Calibri"/>
              </a:rPr>
              <a:t>In terms of value share by sales channel, the direct sales segment is</a:t>
            </a:r>
          </a:p>
        </p:txBody>
      </p:sp>
      <p:sp>
        <p:nvSpPr>
          <p:cNvPr id="35" name="TextBox 34"/>
          <p:cNvSpPr txBox="1"/>
          <p:nvPr/>
        </p:nvSpPr>
        <p:spPr>
          <a:xfrm>
            <a:off x="7829550" y="2153793"/>
            <a:ext cx="2494012" cy="194310"/>
          </a:xfrm>
          <a:prstGeom prst="rect">
            <a:avLst/>
          </a:prstGeom>
          <a:noFill/>
        </p:spPr>
        <p:txBody>
          <a:bodyPr wrap="none" lIns="0" rIns="0" tIns="0" bIns="0">
            <a:spAutoFit/>
          </a:bodyPr>
          <a:lstStyle/>
          <a:p>
            <a:r>
              <a:rPr sz="1150" b="0">
                <a:solidFill>
                  <a:srgbClr val="2E2E2E"/>
                </a:solidFill>
                <a:latin typeface="Calibri"/>
              </a:rPr>
              <a:t>expected to dominate the market, losing</a:t>
            </a:r>
          </a:p>
        </p:txBody>
      </p:sp>
      <p:pic>
        <p:nvPicPr>
          <p:cNvPr id="36" name="Picture 35" descr="lock.png"/>
          <p:cNvPicPr>
            <a:picLocks noChangeAspect="1"/>
          </p:cNvPicPr>
          <p:nvPr/>
        </p:nvPicPr>
        <p:blipFill>
          <a:blip r:embed="rId5"/>
          <a:stretch>
            <a:fillRect/>
          </a:stretch>
        </p:blipFill>
        <p:spPr>
          <a:xfrm>
            <a:off x="10272716" y="2143569"/>
            <a:ext cx="134549" cy="195707"/>
          </a:xfrm>
          <a:prstGeom prst="rect">
            <a:avLst/>
          </a:prstGeom>
        </p:spPr>
      </p:pic>
      <p:sp>
        <p:nvSpPr>
          <p:cNvPr id="37" name="TextBox 36"/>
          <p:cNvSpPr txBox="1"/>
          <p:nvPr/>
        </p:nvSpPr>
        <p:spPr>
          <a:xfrm>
            <a:off x="10447825" y="2153793"/>
            <a:ext cx="1240321" cy="194310"/>
          </a:xfrm>
          <a:prstGeom prst="rect">
            <a:avLst/>
          </a:prstGeom>
          <a:noFill/>
        </p:spPr>
        <p:txBody>
          <a:bodyPr wrap="none" lIns="0" rIns="0" tIns="0" bIns="0">
            <a:spAutoFit/>
          </a:bodyPr>
          <a:lstStyle/>
          <a:p>
            <a:r>
              <a:rPr sz="1150" b="0">
                <a:solidFill>
                  <a:srgbClr val="2E2E2E"/>
                </a:solidFill>
                <a:latin typeface="Calibri"/>
              </a:rPr>
              <a:t>BPS and accounting</a:t>
            </a:r>
          </a:p>
        </p:txBody>
      </p:sp>
      <p:sp>
        <p:nvSpPr>
          <p:cNvPr id="38" name="TextBox 37"/>
          <p:cNvSpPr txBox="1"/>
          <p:nvPr/>
        </p:nvSpPr>
        <p:spPr>
          <a:xfrm>
            <a:off x="7829550" y="2329053"/>
            <a:ext cx="248778" cy="194310"/>
          </a:xfrm>
          <a:prstGeom prst="rect">
            <a:avLst/>
          </a:prstGeom>
          <a:noFill/>
        </p:spPr>
        <p:txBody>
          <a:bodyPr wrap="none" lIns="0" rIns="0" tIns="0" bIns="0">
            <a:spAutoFit/>
          </a:bodyPr>
          <a:lstStyle/>
          <a:p>
            <a:r>
              <a:rPr sz="1150" b="0">
                <a:solidFill>
                  <a:srgbClr val="2E2E2E"/>
                </a:solidFill>
                <a:latin typeface="Calibri"/>
              </a:rPr>
              <a:t>for</a:t>
            </a:r>
          </a:p>
        </p:txBody>
      </p:sp>
      <p:pic>
        <p:nvPicPr>
          <p:cNvPr id="39" name="Picture 38" descr="lock.png"/>
          <p:cNvPicPr>
            <a:picLocks noChangeAspect="1"/>
          </p:cNvPicPr>
          <p:nvPr/>
        </p:nvPicPr>
        <p:blipFill>
          <a:blip r:embed="rId5"/>
          <a:stretch>
            <a:fillRect/>
          </a:stretch>
        </p:blipFill>
        <p:spPr>
          <a:xfrm>
            <a:off x="8027482" y="2318829"/>
            <a:ext cx="134549" cy="195707"/>
          </a:xfrm>
          <a:prstGeom prst="rect">
            <a:avLst/>
          </a:prstGeom>
        </p:spPr>
      </p:pic>
      <p:sp>
        <p:nvSpPr>
          <p:cNvPr id="40" name="TextBox 39"/>
          <p:cNvSpPr txBox="1"/>
          <p:nvPr/>
        </p:nvSpPr>
        <p:spPr>
          <a:xfrm>
            <a:off x="8202591" y="2329053"/>
            <a:ext cx="946224" cy="194310"/>
          </a:xfrm>
          <a:prstGeom prst="rect">
            <a:avLst/>
          </a:prstGeom>
          <a:noFill/>
        </p:spPr>
        <p:txBody>
          <a:bodyPr wrap="none" lIns="0" rIns="0" tIns="0" bIns="0">
            <a:spAutoFit/>
          </a:bodyPr>
          <a:lstStyle/>
          <a:p>
            <a:r>
              <a:rPr sz="1150" b="0">
                <a:solidFill>
                  <a:srgbClr val="2E2E2E"/>
                </a:solidFill>
                <a:latin typeface="Calibri"/>
              </a:rPr>
              <a:t>share by 2036.</a:t>
            </a:r>
          </a:p>
        </p:txBody>
      </p:sp>
      <p:sp>
        <p:nvSpPr>
          <p:cNvPr id="41" name="lockshield_12"/>
          <p:cNvSpPr/>
          <p:nvPr/>
        </p:nvSpPr>
        <p:spPr>
          <a:xfrm>
            <a:off x="238125" y="1581150"/>
            <a:ext cx="4614672" cy="49911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Technology x 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Monitoring Capability x 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Reusability x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Technology × Organ Compatibility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Device Technology × Organ Compatibility,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device technology sub-segment across organ compatibility sub-segments</a:t>
            </a:r>
          </a:p>
        </p:txBody>
      </p:sp>
      <p:sp>
        <p:nvSpPr>
          <p:cNvPr id="10" name="Rounded Rectangle 9"/>
          <p:cNvSpPr/>
          <p:nvPr/>
        </p:nvSpPr>
        <p:spPr>
          <a:xfrm>
            <a:off x="142875" y="981075"/>
            <a:ext cx="11906250" cy="3124200"/>
          </a:xfrm>
          <a:prstGeom prst="roundRect">
            <a:avLst>
              <a:gd name="adj" fmla="val 24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Device Technology × Organ Compatibility, 2026E and 2036F (US$ Mn)</a:t>
            </a:r>
          </a:p>
        </p:txBody>
      </p:sp>
      <p:graphicFrame>
        <p:nvGraphicFramePr>
          <p:cNvPr id="12" name="Table 11"/>
          <p:cNvGraphicFramePr>
            <a:graphicFrameLocks noGrp="1"/>
          </p:cNvGraphicFramePr>
          <p:nvPr/>
        </p:nvGraphicFramePr>
        <p:xfrm>
          <a:off x="152400" y="1238250"/>
          <a:ext cx="11887202" cy="2657475"/>
        </p:xfrm>
        <a:graphic>
          <a:graphicData uri="http://schemas.openxmlformats.org/drawingml/2006/table">
            <a:tbl>
              <a:tblPr>
                <a:tableStyleId>{5C22544A-7EE6-4342-B048-85BDC9FD1C3A}</a:tableStyleId>
              </a:tblPr>
              <a:tblGrid>
                <a:gridCol w="6215774"/>
                <a:gridCol w="945238"/>
                <a:gridCol w="945238"/>
                <a:gridCol w="945238"/>
                <a:gridCol w="945238"/>
                <a:gridCol w="945238"/>
                <a:gridCol w="945238"/>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05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9017198" y="2642997"/>
            <a:ext cx="366712" cy="533400"/>
          </a:xfrm>
          <a:prstGeom prst="rect">
            <a:avLst/>
          </a:prstGeom>
        </p:spPr>
      </p:pic>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Device Technology × Organ Compatibility,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device technology sub-segment across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Device Technology → Organ Compatibility, 2036F (US$ Mn)</a:t>
            </a:r>
          </a:p>
        </p:txBody>
      </p:sp>
      <p:sp>
        <p:nvSpPr>
          <p:cNvPr id="12" name="Freeform 11"/>
          <p:cNvSpPr/>
          <p:nvPr/>
        </p:nvSpPr>
        <p:spPr>
          <a:xfrm>
            <a:off x="2057400" y="1304925"/>
            <a:ext cx="3743325" cy="704850"/>
          </a:xfrm>
          <a:custGeom>
            <a:avLst/>
            <a:gdLst/>
            <a:ahLst/>
            <a:cxnLst/>
            <a:rect l="l" t="t" r="r" b="b"/>
            <a:pathLst>
              <a:path w="393" h="74">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7"/>
                </a:lnTo>
                <a:lnTo>
                  <a:pt x="213" y="8"/>
                </a:lnTo>
                <a:lnTo>
                  <a:pt x="229" y="9"/>
                </a:lnTo>
                <a:lnTo>
                  <a:pt x="246" y="10"/>
                </a:lnTo>
                <a:lnTo>
                  <a:pt x="262" y="11"/>
                </a:lnTo>
                <a:lnTo>
                  <a:pt x="278" y="12"/>
                </a:lnTo>
                <a:lnTo>
                  <a:pt x="295" y="13"/>
                </a:lnTo>
                <a:lnTo>
                  <a:pt x="311" y="13"/>
                </a:lnTo>
                <a:lnTo>
                  <a:pt x="327" y="14"/>
                </a:lnTo>
                <a:lnTo>
                  <a:pt x="344" y="14"/>
                </a:lnTo>
                <a:lnTo>
                  <a:pt x="360" y="15"/>
                </a:lnTo>
                <a:lnTo>
                  <a:pt x="377" y="15"/>
                </a:lnTo>
                <a:lnTo>
                  <a:pt x="393" y="15"/>
                </a:lnTo>
                <a:lnTo>
                  <a:pt x="393" y="74"/>
                </a:lnTo>
                <a:lnTo>
                  <a:pt x="377" y="74"/>
                </a:lnTo>
                <a:lnTo>
                  <a:pt x="360" y="73"/>
                </a:lnTo>
                <a:lnTo>
                  <a:pt x="344" y="73"/>
                </a:lnTo>
                <a:lnTo>
                  <a:pt x="327" y="73"/>
                </a:lnTo>
                <a:lnTo>
                  <a:pt x="311" y="72"/>
                </a:lnTo>
                <a:lnTo>
                  <a:pt x="295" y="71"/>
                </a:lnTo>
                <a:lnTo>
                  <a:pt x="278" y="71"/>
                </a:lnTo>
                <a:lnTo>
                  <a:pt x="262" y="70"/>
                </a:lnTo>
                <a:lnTo>
                  <a:pt x="246" y="69"/>
                </a:lnTo>
                <a:lnTo>
                  <a:pt x="229" y="68"/>
                </a:lnTo>
                <a:lnTo>
                  <a:pt x="213" y="67"/>
                </a:lnTo>
                <a:lnTo>
                  <a:pt x="196" y="66"/>
                </a:lnTo>
                <a:lnTo>
                  <a:pt x="180" y="65"/>
                </a:lnTo>
                <a:lnTo>
                  <a:pt x="164" y="64"/>
                </a:lnTo>
                <a:lnTo>
                  <a:pt x="147" y="63"/>
                </a:lnTo>
                <a:lnTo>
                  <a:pt x="131" y="63"/>
                </a:lnTo>
                <a:lnTo>
                  <a:pt x="114" y="62"/>
                </a:lnTo>
                <a:lnTo>
                  <a:pt x="98" y="61"/>
                </a:lnTo>
                <a:lnTo>
                  <a:pt x="82" y="60"/>
                </a:lnTo>
                <a:lnTo>
                  <a:pt x="65" y="60"/>
                </a:lnTo>
                <a:lnTo>
                  <a:pt x="49" y="59"/>
                </a:lnTo>
                <a:lnTo>
                  <a:pt x="33" y="59"/>
                </a:lnTo>
                <a:lnTo>
                  <a:pt x="16" y="59"/>
                </a:lnTo>
                <a:lnTo>
                  <a:pt x="0" y="5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866900"/>
            <a:ext cx="3743325" cy="3686175"/>
          </a:xfrm>
          <a:custGeom>
            <a:avLst/>
            <a:gdLst/>
            <a:ahLst/>
            <a:cxnLst/>
            <a:rect l="l" t="t" r="r" b="b"/>
            <a:pathLst>
              <a:path w="393" h="387">
                <a:moveTo>
                  <a:pt x="0" y="0"/>
                </a:moveTo>
                <a:lnTo>
                  <a:pt x="16" y="2"/>
                </a:lnTo>
                <a:lnTo>
                  <a:pt x="33" y="7"/>
                </a:lnTo>
                <a:lnTo>
                  <a:pt x="49" y="16"/>
                </a:lnTo>
                <a:lnTo>
                  <a:pt x="65" y="27"/>
                </a:lnTo>
                <a:lnTo>
                  <a:pt x="82" y="41"/>
                </a:lnTo>
                <a:lnTo>
                  <a:pt x="98" y="58"/>
                </a:lnTo>
                <a:lnTo>
                  <a:pt x="114" y="76"/>
                </a:lnTo>
                <a:lnTo>
                  <a:pt x="131" y="96"/>
                </a:lnTo>
                <a:lnTo>
                  <a:pt x="147" y="118"/>
                </a:lnTo>
                <a:lnTo>
                  <a:pt x="164" y="140"/>
                </a:lnTo>
                <a:lnTo>
                  <a:pt x="180" y="163"/>
                </a:lnTo>
                <a:lnTo>
                  <a:pt x="196" y="186"/>
                </a:lnTo>
                <a:lnTo>
                  <a:pt x="213" y="209"/>
                </a:lnTo>
                <a:lnTo>
                  <a:pt x="229" y="232"/>
                </a:lnTo>
                <a:lnTo>
                  <a:pt x="246" y="255"/>
                </a:lnTo>
                <a:lnTo>
                  <a:pt x="262" y="276"/>
                </a:lnTo>
                <a:lnTo>
                  <a:pt x="278" y="296"/>
                </a:lnTo>
                <a:lnTo>
                  <a:pt x="295" y="314"/>
                </a:lnTo>
                <a:lnTo>
                  <a:pt x="311" y="331"/>
                </a:lnTo>
                <a:lnTo>
                  <a:pt x="327" y="345"/>
                </a:lnTo>
                <a:lnTo>
                  <a:pt x="344" y="356"/>
                </a:lnTo>
                <a:lnTo>
                  <a:pt x="360" y="365"/>
                </a:lnTo>
                <a:lnTo>
                  <a:pt x="377" y="371"/>
                </a:lnTo>
                <a:lnTo>
                  <a:pt x="393" y="373"/>
                </a:lnTo>
                <a:lnTo>
                  <a:pt x="393" y="387"/>
                </a:lnTo>
                <a:lnTo>
                  <a:pt x="377" y="385"/>
                </a:lnTo>
                <a:lnTo>
                  <a:pt x="360" y="380"/>
                </a:lnTo>
                <a:lnTo>
                  <a:pt x="344" y="371"/>
                </a:lnTo>
                <a:lnTo>
                  <a:pt x="327" y="360"/>
                </a:lnTo>
                <a:lnTo>
                  <a:pt x="311" y="345"/>
                </a:lnTo>
                <a:lnTo>
                  <a:pt x="295" y="329"/>
                </a:lnTo>
                <a:lnTo>
                  <a:pt x="278" y="310"/>
                </a:lnTo>
                <a:lnTo>
                  <a:pt x="262" y="290"/>
                </a:lnTo>
                <a:lnTo>
                  <a:pt x="246" y="269"/>
                </a:lnTo>
                <a:lnTo>
                  <a:pt x="229" y="247"/>
                </a:lnTo>
                <a:lnTo>
                  <a:pt x="213" y="224"/>
                </a:lnTo>
                <a:lnTo>
                  <a:pt x="196" y="201"/>
                </a:lnTo>
                <a:lnTo>
                  <a:pt x="180" y="177"/>
                </a:lnTo>
                <a:lnTo>
                  <a:pt x="164" y="155"/>
                </a:lnTo>
                <a:lnTo>
                  <a:pt x="147" y="132"/>
                </a:lnTo>
                <a:lnTo>
                  <a:pt x="131" y="111"/>
                </a:lnTo>
                <a:lnTo>
                  <a:pt x="114" y="91"/>
                </a:lnTo>
                <a:lnTo>
                  <a:pt x="98" y="73"/>
                </a:lnTo>
                <a:lnTo>
                  <a:pt x="82" y="56"/>
                </a:lnTo>
                <a:lnTo>
                  <a:pt x="65" y="42"/>
                </a:lnTo>
                <a:lnTo>
                  <a:pt x="49" y="30"/>
                </a:lnTo>
                <a:lnTo>
                  <a:pt x="33" y="22"/>
                </a:lnTo>
                <a:lnTo>
                  <a:pt x="16" y="16"/>
                </a:lnTo>
                <a:lnTo>
                  <a:pt x="0" y="14"/>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009775"/>
            <a:ext cx="3743325" cy="609600"/>
          </a:xfrm>
          <a:custGeom>
            <a:avLst/>
            <a:gdLst/>
            <a:ahLst/>
            <a:cxnLst/>
            <a:rect l="l" t="t" r="r" b="b"/>
            <a:pathLst>
              <a:path w="393" h="64">
                <a:moveTo>
                  <a:pt x="0" y="5"/>
                </a:moveTo>
                <a:lnTo>
                  <a:pt x="16" y="5"/>
                </a:lnTo>
                <a:lnTo>
                  <a:pt x="33" y="5"/>
                </a:lnTo>
                <a:lnTo>
                  <a:pt x="49" y="5"/>
                </a:lnTo>
                <a:lnTo>
                  <a:pt x="65" y="5"/>
                </a:lnTo>
                <a:lnTo>
                  <a:pt x="82" y="5"/>
                </a:lnTo>
                <a:lnTo>
                  <a:pt x="98" y="4"/>
                </a:lnTo>
                <a:lnTo>
                  <a:pt x="114" y="4"/>
                </a:lnTo>
                <a:lnTo>
                  <a:pt x="131" y="4"/>
                </a:lnTo>
                <a:lnTo>
                  <a:pt x="147" y="4"/>
                </a:lnTo>
                <a:lnTo>
                  <a:pt x="164" y="3"/>
                </a:lnTo>
                <a:lnTo>
                  <a:pt x="180" y="3"/>
                </a:lnTo>
                <a:lnTo>
                  <a:pt x="196" y="2"/>
                </a:lnTo>
                <a:lnTo>
                  <a:pt x="213" y="2"/>
                </a:lnTo>
                <a:lnTo>
                  <a:pt x="229" y="2"/>
                </a:lnTo>
                <a:lnTo>
                  <a:pt x="246" y="1"/>
                </a:lnTo>
                <a:lnTo>
                  <a:pt x="262" y="1"/>
                </a:lnTo>
                <a:lnTo>
                  <a:pt x="278" y="1"/>
                </a:lnTo>
                <a:lnTo>
                  <a:pt x="295" y="1"/>
                </a:lnTo>
                <a:lnTo>
                  <a:pt x="311" y="0"/>
                </a:lnTo>
                <a:lnTo>
                  <a:pt x="327" y="0"/>
                </a:lnTo>
                <a:lnTo>
                  <a:pt x="344" y="0"/>
                </a:lnTo>
                <a:lnTo>
                  <a:pt x="360" y="0"/>
                </a:lnTo>
                <a:lnTo>
                  <a:pt x="377" y="0"/>
                </a:lnTo>
                <a:lnTo>
                  <a:pt x="393" y="0"/>
                </a:lnTo>
                <a:lnTo>
                  <a:pt x="393" y="58"/>
                </a:lnTo>
                <a:lnTo>
                  <a:pt x="377" y="58"/>
                </a:lnTo>
                <a:lnTo>
                  <a:pt x="360" y="58"/>
                </a:lnTo>
                <a:lnTo>
                  <a:pt x="344" y="59"/>
                </a:lnTo>
                <a:lnTo>
                  <a:pt x="327" y="59"/>
                </a:lnTo>
                <a:lnTo>
                  <a:pt x="311" y="59"/>
                </a:lnTo>
                <a:lnTo>
                  <a:pt x="295" y="59"/>
                </a:lnTo>
                <a:lnTo>
                  <a:pt x="278" y="59"/>
                </a:lnTo>
                <a:lnTo>
                  <a:pt x="262" y="60"/>
                </a:lnTo>
                <a:lnTo>
                  <a:pt x="246" y="60"/>
                </a:lnTo>
                <a:lnTo>
                  <a:pt x="229" y="60"/>
                </a:lnTo>
                <a:lnTo>
                  <a:pt x="213" y="61"/>
                </a:lnTo>
                <a:lnTo>
                  <a:pt x="196" y="61"/>
                </a:lnTo>
                <a:lnTo>
                  <a:pt x="180" y="61"/>
                </a:lnTo>
                <a:lnTo>
                  <a:pt x="164" y="62"/>
                </a:lnTo>
                <a:lnTo>
                  <a:pt x="147" y="62"/>
                </a:lnTo>
                <a:lnTo>
                  <a:pt x="131" y="62"/>
                </a:lnTo>
                <a:lnTo>
                  <a:pt x="114" y="63"/>
                </a:lnTo>
                <a:lnTo>
                  <a:pt x="98" y="63"/>
                </a:lnTo>
                <a:lnTo>
                  <a:pt x="82" y="63"/>
                </a:lnTo>
                <a:lnTo>
                  <a:pt x="65" y="64"/>
                </a:lnTo>
                <a:lnTo>
                  <a:pt x="49" y="64"/>
                </a:lnTo>
                <a:lnTo>
                  <a:pt x="33" y="64"/>
                </a:lnTo>
                <a:lnTo>
                  <a:pt x="16" y="64"/>
                </a:lnTo>
                <a:lnTo>
                  <a:pt x="0" y="6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619375"/>
            <a:ext cx="3743325" cy="3076575"/>
          </a:xfrm>
          <a:custGeom>
            <a:avLst/>
            <a:gdLst/>
            <a:ahLst/>
            <a:cxnLst/>
            <a:rect l="l" t="t" r="r" b="b"/>
            <a:pathLst>
              <a:path w="393" h="323">
                <a:moveTo>
                  <a:pt x="0" y="0"/>
                </a:moveTo>
                <a:lnTo>
                  <a:pt x="16" y="1"/>
                </a:lnTo>
                <a:lnTo>
                  <a:pt x="33" y="6"/>
                </a:lnTo>
                <a:lnTo>
                  <a:pt x="49" y="13"/>
                </a:lnTo>
                <a:lnTo>
                  <a:pt x="65" y="23"/>
                </a:lnTo>
                <a:lnTo>
                  <a:pt x="82" y="34"/>
                </a:lnTo>
                <a:lnTo>
                  <a:pt x="98" y="48"/>
                </a:lnTo>
                <a:lnTo>
                  <a:pt x="114" y="63"/>
                </a:lnTo>
                <a:lnTo>
                  <a:pt x="131" y="80"/>
                </a:lnTo>
                <a:lnTo>
                  <a:pt x="147" y="97"/>
                </a:lnTo>
                <a:lnTo>
                  <a:pt x="164" y="116"/>
                </a:lnTo>
                <a:lnTo>
                  <a:pt x="180" y="135"/>
                </a:lnTo>
                <a:lnTo>
                  <a:pt x="196" y="154"/>
                </a:lnTo>
                <a:lnTo>
                  <a:pt x="213" y="173"/>
                </a:lnTo>
                <a:lnTo>
                  <a:pt x="229" y="192"/>
                </a:lnTo>
                <a:lnTo>
                  <a:pt x="246" y="211"/>
                </a:lnTo>
                <a:lnTo>
                  <a:pt x="262" y="228"/>
                </a:lnTo>
                <a:lnTo>
                  <a:pt x="278" y="245"/>
                </a:lnTo>
                <a:lnTo>
                  <a:pt x="295" y="260"/>
                </a:lnTo>
                <a:lnTo>
                  <a:pt x="311" y="274"/>
                </a:lnTo>
                <a:lnTo>
                  <a:pt x="327" y="285"/>
                </a:lnTo>
                <a:lnTo>
                  <a:pt x="344" y="295"/>
                </a:lnTo>
                <a:lnTo>
                  <a:pt x="360" y="302"/>
                </a:lnTo>
                <a:lnTo>
                  <a:pt x="377" y="307"/>
                </a:lnTo>
                <a:lnTo>
                  <a:pt x="393" y="308"/>
                </a:lnTo>
                <a:lnTo>
                  <a:pt x="393" y="323"/>
                </a:lnTo>
                <a:lnTo>
                  <a:pt x="377" y="321"/>
                </a:lnTo>
                <a:lnTo>
                  <a:pt x="360" y="317"/>
                </a:lnTo>
                <a:lnTo>
                  <a:pt x="344" y="310"/>
                </a:lnTo>
                <a:lnTo>
                  <a:pt x="327" y="300"/>
                </a:lnTo>
                <a:lnTo>
                  <a:pt x="311" y="288"/>
                </a:lnTo>
                <a:lnTo>
                  <a:pt x="295" y="275"/>
                </a:lnTo>
                <a:lnTo>
                  <a:pt x="278" y="259"/>
                </a:lnTo>
                <a:lnTo>
                  <a:pt x="262" y="243"/>
                </a:lnTo>
                <a:lnTo>
                  <a:pt x="246" y="225"/>
                </a:lnTo>
                <a:lnTo>
                  <a:pt x="229" y="207"/>
                </a:lnTo>
                <a:lnTo>
                  <a:pt x="213" y="188"/>
                </a:lnTo>
                <a:lnTo>
                  <a:pt x="196" y="169"/>
                </a:lnTo>
                <a:lnTo>
                  <a:pt x="180" y="149"/>
                </a:lnTo>
                <a:lnTo>
                  <a:pt x="164" y="131"/>
                </a:lnTo>
                <a:lnTo>
                  <a:pt x="147" y="112"/>
                </a:lnTo>
                <a:lnTo>
                  <a:pt x="131" y="94"/>
                </a:lnTo>
                <a:lnTo>
                  <a:pt x="114" y="78"/>
                </a:lnTo>
                <a:lnTo>
                  <a:pt x="98" y="63"/>
                </a:lnTo>
                <a:lnTo>
                  <a:pt x="82" y="49"/>
                </a:lnTo>
                <a:lnTo>
                  <a:pt x="65" y="37"/>
                </a:lnTo>
                <a:lnTo>
                  <a:pt x="49" y="28"/>
                </a:lnTo>
                <a:lnTo>
                  <a:pt x="33" y="21"/>
                </a:lnTo>
                <a:lnTo>
                  <a:pt x="16" y="16"/>
                </a:lnTo>
                <a:lnTo>
                  <a:pt x="0" y="1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562225"/>
            <a:ext cx="3743325" cy="809625"/>
          </a:xfrm>
          <a:custGeom>
            <a:avLst/>
            <a:gdLst/>
            <a:ahLst/>
            <a:cxnLst/>
            <a:rect l="l" t="t" r="r" b="b"/>
            <a:pathLst>
              <a:path w="393" h="85">
                <a:moveTo>
                  <a:pt x="0" y="27"/>
                </a:moveTo>
                <a:lnTo>
                  <a:pt x="16" y="26"/>
                </a:lnTo>
                <a:lnTo>
                  <a:pt x="33" y="26"/>
                </a:lnTo>
                <a:lnTo>
                  <a:pt x="49" y="25"/>
                </a:lnTo>
                <a:lnTo>
                  <a:pt x="65" y="25"/>
                </a:lnTo>
                <a:lnTo>
                  <a:pt x="82" y="24"/>
                </a:lnTo>
                <a:lnTo>
                  <a:pt x="98" y="22"/>
                </a:lnTo>
                <a:lnTo>
                  <a:pt x="114" y="21"/>
                </a:lnTo>
                <a:lnTo>
                  <a:pt x="131" y="20"/>
                </a:lnTo>
                <a:lnTo>
                  <a:pt x="147" y="18"/>
                </a:lnTo>
                <a:lnTo>
                  <a:pt x="164" y="17"/>
                </a:lnTo>
                <a:lnTo>
                  <a:pt x="180" y="15"/>
                </a:lnTo>
                <a:lnTo>
                  <a:pt x="196" y="13"/>
                </a:lnTo>
                <a:lnTo>
                  <a:pt x="213" y="12"/>
                </a:lnTo>
                <a:lnTo>
                  <a:pt x="229" y="10"/>
                </a:lnTo>
                <a:lnTo>
                  <a:pt x="246" y="9"/>
                </a:lnTo>
                <a:lnTo>
                  <a:pt x="262" y="7"/>
                </a:lnTo>
                <a:lnTo>
                  <a:pt x="278" y="6"/>
                </a:lnTo>
                <a:lnTo>
                  <a:pt x="295" y="4"/>
                </a:lnTo>
                <a:lnTo>
                  <a:pt x="311" y="3"/>
                </a:lnTo>
                <a:lnTo>
                  <a:pt x="327" y="2"/>
                </a:lnTo>
                <a:lnTo>
                  <a:pt x="344" y="1"/>
                </a:lnTo>
                <a:lnTo>
                  <a:pt x="360" y="1"/>
                </a:lnTo>
                <a:lnTo>
                  <a:pt x="377" y="0"/>
                </a:lnTo>
                <a:lnTo>
                  <a:pt x="393" y="0"/>
                </a:lnTo>
                <a:lnTo>
                  <a:pt x="393" y="59"/>
                </a:lnTo>
                <a:lnTo>
                  <a:pt x="377" y="59"/>
                </a:lnTo>
                <a:lnTo>
                  <a:pt x="360" y="59"/>
                </a:lnTo>
                <a:lnTo>
                  <a:pt x="344" y="60"/>
                </a:lnTo>
                <a:lnTo>
                  <a:pt x="327" y="61"/>
                </a:lnTo>
                <a:lnTo>
                  <a:pt x="311" y="62"/>
                </a:lnTo>
                <a:lnTo>
                  <a:pt x="295" y="63"/>
                </a:lnTo>
                <a:lnTo>
                  <a:pt x="278" y="64"/>
                </a:lnTo>
                <a:lnTo>
                  <a:pt x="262" y="66"/>
                </a:lnTo>
                <a:lnTo>
                  <a:pt x="246" y="67"/>
                </a:lnTo>
                <a:lnTo>
                  <a:pt x="229" y="69"/>
                </a:lnTo>
                <a:lnTo>
                  <a:pt x="213" y="70"/>
                </a:lnTo>
                <a:lnTo>
                  <a:pt x="196" y="72"/>
                </a:lnTo>
                <a:lnTo>
                  <a:pt x="180" y="74"/>
                </a:lnTo>
                <a:lnTo>
                  <a:pt x="164" y="75"/>
                </a:lnTo>
                <a:lnTo>
                  <a:pt x="147" y="77"/>
                </a:lnTo>
                <a:lnTo>
                  <a:pt x="131" y="78"/>
                </a:lnTo>
                <a:lnTo>
                  <a:pt x="114" y="80"/>
                </a:lnTo>
                <a:lnTo>
                  <a:pt x="98" y="81"/>
                </a:lnTo>
                <a:lnTo>
                  <a:pt x="82" y="82"/>
                </a:lnTo>
                <a:lnTo>
                  <a:pt x="65" y="83"/>
                </a:lnTo>
                <a:lnTo>
                  <a:pt x="49" y="84"/>
                </a:lnTo>
                <a:lnTo>
                  <a:pt x="33" y="85"/>
                </a:lnTo>
                <a:lnTo>
                  <a:pt x="16" y="85"/>
                </a:lnTo>
                <a:lnTo>
                  <a:pt x="0" y="8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371850"/>
            <a:ext cx="3743325" cy="2457450"/>
          </a:xfrm>
          <a:custGeom>
            <a:avLst/>
            <a:gdLst/>
            <a:ahLst/>
            <a:cxnLst/>
            <a:rect l="l" t="t" r="r" b="b"/>
            <a:pathLst>
              <a:path w="393" h="258">
                <a:moveTo>
                  <a:pt x="0" y="0"/>
                </a:moveTo>
                <a:lnTo>
                  <a:pt x="16" y="1"/>
                </a:lnTo>
                <a:lnTo>
                  <a:pt x="33" y="5"/>
                </a:lnTo>
                <a:lnTo>
                  <a:pt x="49" y="11"/>
                </a:lnTo>
                <a:lnTo>
                  <a:pt x="65" y="18"/>
                </a:lnTo>
                <a:lnTo>
                  <a:pt x="82" y="28"/>
                </a:lnTo>
                <a:lnTo>
                  <a:pt x="98" y="38"/>
                </a:lnTo>
                <a:lnTo>
                  <a:pt x="114" y="50"/>
                </a:lnTo>
                <a:lnTo>
                  <a:pt x="131" y="63"/>
                </a:lnTo>
                <a:lnTo>
                  <a:pt x="147" y="77"/>
                </a:lnTo>
                <a:lnTo>
                  <a:pt x="164" y="92"/>
                </a:lnTo>
                <a:lnTo>
                  <a:pt x="180" y="107"/>
                </a:lnTo>
                <a:lnTo>
                  <a:pt x="196" y="122"/>
                </a:lnTo>
                <a:lnTo>
                  <a:pt x="213" y="137"/>
                </a:lnTo>
                <a:lnTo>
                  <a:pt x="229" y="152"/>
                </a:lnTo>
                <a:lnTo>
                  <a:pt x="246" y="167"/>
                </a:lnTo>
                <a:lnTo>
                  <a:pt x="262" y="181"/>
                </a:lnTo>
                <a:lnTo>
                  <a:pt x="278" y="194"/>
                </a:lnTo>
                <a:lnTo>
                  <a:pt x="295" y="206"/>
                </a:lnTo>
                <a:lnTo>
                  <a:pt x="311" y="216"/>
                </a:lnTo>
                <a:lnTo>
                  <a:pt x="327" y="226"/>
                </a:lnTo>
                <a:lnTo>
                  <a:pt x="344" y="233"/>
                </a:lnTo>
                <a:lnTo>
                  <a:pt x="360" y="239"/>
                </a:lnTo>
                <a:lnTo>
                  <a:pt x="377" y="243"/>
                </a:lnTo>
                <a:lnTo>
                  <a:pt x="393" y="244"/>
                </a:lnTo>
                <a:lnTo>
                  <a:pt x="393" y="258"/>
                </a:lnTo>
                <a:lnTo>
                  <a:pt x="377" y="257"/>
                </a:lnTo>
                <a:lnTo>
                  <a:pt x="360" y="254"/>
                </a:lnTo>
                <a:lnTo>
                  <a:pt x="344" y="248"/>
                </a:lnTo>
                <a:lnTo>
                  <a:pt x="327" y="240"/>
                </a:lnTo>
                <a:lnTo>
                  <a:pt x="311" y="231"/>
                </a:lnTo>
                <a:lnTo>
                  <a:pt x="295" y="220"/>
                </a:lnTo>
                <a:lnTo>
                  <a:pt x="278" y="208"/>
                </a:lnTo>
                <a:lnTo>
                  <a:pt x="262" y="195"/>
                </a:lnTo>
                <a:lnTo>
                  <a:pt x="246" y="181"/>
                </a:lnTo>
                <a:lnTo>
                  <a:pt x="229" y="167"/>
                </a:lnTo>
                <a:lnTo>
                  <a:pt x="213" y="152"/>
                </a:lnTo>
                <a:lnTo>
                  <a:pt x="196" y="137"/>
                </a:lnTo>
                <a:lnTo>
                  <a:pt x="180" y="121"/>
                </a:lnTo>
                <a:lnTo>
                  <a:pt x="164" y="106"/>
                </a:lnTo>
                <a:lnTo>
                  <a:pt x="147" y="92"/>
                </a:lnTo>
                <a:lnTo>
                  <a:pt x="131" y="78"/>
                </a:lnTo>
                <a:lnTo>
                  <a:pt x="114" y="65"/>
                </a:lnTo>
                <a:lnTo>
                  <a:pt x="98" y="53"/>
                </a:lnTo>
                <a:lnTo>
                  <a:pt x="82" y="42"/>
                </a:lnTo>
                <a:lnTo>
                  <a:pt x="65" y="33"/>
                </a:lnTo>
                <a:lnTo>
                  <a:pt x="49" y="25"/>
                </a:lnTo>
                <a:lnTo>
                  <a:pt x="33" y="20"/>
                </a:lnTo>
                <a:lnTo>
                  <a:pt x="16" y="16"/>
                </a:lnTo>
                <a:lnTo>
                  <a:pt x="0" y="1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124200"/>
            <a:ext cx="3743325" cy="1009650"/>
          </a:xfrm>
          <a:custGeom>
            <a:avLst/>
            <a:gdLst/>
            <a:ahLst/>
            <a:cxnLst/>
            <a:rect l="l" t="t" r="r" b="b"/>
            <a:pathLst>
              <a:path w="393" h="106">
                <a:moveTo>
                  <a:pt x="0" y="47"/>
                </a:moveTo>
                <a:lnTo>
                  <a:pt x="16" y="47"/>
                </a:lnTo>
                <a:lnTo>
                  <a:pt x="33" y="46"/>
                </a:lnTo>
                <a:lnTo>
                  <a:pt x="49" y="45"/>
                </a:lnTo>
                <a:lnTo>
                  <a:pt x="65" y="43"/>
                </a:lnTo>
                <a:lnTo>
                  <a:pt x="82" y="42"/>
                </a:lnTo>
                <a:lnTo>
                  <a:pt x="98" y="40"/>
                </a:lnTo>
                <a:lnTo>
                  <a:pt x="114" y="37"/>
                </a:lnTo>
                <a:lnTo>
                  <a:pt x="131" y="35"/>
                </a:lnTo>
                <a:lnTo>
                  <a:pt x="147" y="32"/>
                </a:lnTo>
                <a:lnTo>
                  <a:pt x="164" y="29"/>
                </a:lnTo>
                <a:lnTo>
                  <a:pt x="180" y="26"/>
                </a:lnTo>
                <a:lnTo>
                  <a:pt x="196" y="23"/>
                </a:lnTo>
                <a:lnTo>
                  <a:pt x="213" y="20"/>
                </a:lnTo>
                <a:lnTo>
                  <a:pt x="229" y="18"/>
                </a:lnTo>
                <a:lnTo>
                  <a:pt x="246" y="15"/>
                </a:lnTo>
                <a:lnTo>
                  <a:pt x="262" y="12"/>
                </a:lnTo>
                <a:lnTo>
                  <a:pt x="278" y="10"/>
                </a:lnTo>
                <a:lnTo>
                  <a:pt x="295" y="7"/>
                </a:lnTo>
                <a:lnTo>
                  <a:pt x="311" y="5"/>
                </a:lnTo>
                <a:lnTo>
                  <a:pt x="327" y="3"/>
                </a:lnTo>
                <a:lnTo>
                  <a:pt x="344" y="2"/>
                </a:lnTo>
                <a:lnTo>
                  <a:pt x="360" y="1"/>
                </a:lnTo>
                <a:lnTo>
                  <a:pt x="377" y="0"/>
                </a:lnTo>
                <a:lnTo>
                  <a:pt x="393" y="0"/>
                </a:lnTo>
                <a:lnTo>
                  <a:pt x="393" y="59"/>
                </a:lnTo>
                <a:lnTo>
                  <a:pt x="377" y="59"/>
                </a:lnTo>
                <a:lnTo>
                  <a:pt x="360" y="60"/>
                </a:lnTo>
                <a:lnTo>
                  <a:pt x="344" y="61"/>
                </a:lnTo>
                <a:lnTo>
                  <a:pt x="327" y="62"/>
                </a:lnTo>
                <a:lnTo>
                  <a:pt x="311" y="64"/>
                </a:lnTo>
                <a:lnTo>
                  <a:pt x="295" y="66"/>
                </a:lnTo>
                <a:lnTo>
                  <a:pt x="278" y="68"/>
                </a:lnTo>
                <a:lnTo>
                  <a:pt x="262" y="71"/>
                </a:lnTo>
                <a:lnTo>
                  <a:pt x="246" y="73"/>
                </a:lnTo>
                <a:lnTo>
                  <a:pt x="229" y="76"/>
                </a:lnTo>
                <a:lnTo>
                  <a:pt x="213" y="79"/>
                </a:lnTo>
                <a:lnTo>
                  <a:pt x="196" y="82"/>
                </a:lnTo>
                <a:lnTo>
                  <a:pt x="180" y="85"/>
                </a:lnTo>
                <a:lnTo>
                  <a:pt x="164" y="88"/>
                </a:lnTo>
                <a:lnTo>
                  <a:pt x="147" y="91"/>
                </a:lnTo>
                <a:lnTo>
                  <a:pt x="131" y="93"/>
                </a:lnTo>
                <a:lnTo>
                  <a:pt x="114" y="96"/>
                </a:lnTo>
                <a:lnTo>
                  <a:pt x="98" y="98"/>
                </a:lnTo>
                <a:lnTo>
                  <a:pt x="82" y="100"/>
                </a:lnTo>
                <a:lnTo>
                  <a:pt x="65" y="102"/>
                </a:lnTo>
                <a:lnTo>
                  <a:pt x="49" y="103"/>
                </a:lnTo>
                <a:lnTo>
                  <a:pt x="33" y="105"/>
                </a:lnTo>
                <a:lnTo>
                  <a:pt x="16" y="105"/>
                </a:lnTo>
                <a:lnTo>
                  <a:pt x="0" y="10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133850"/>
            <a:ext cx="3743325" cy="1838325"/>
          </a:xfrm>
          <a:custGeom>
            <a:avLst/>
            <a:gdLst/>
            <a:ahLst/>
            <a:cxnLst/>
            <a:rect l="l" t="t" r="r" b="b"/>
            <a:pathLst>
              <a:path w="393" h="193">
                <a:moveTo>
                  <a:pt x="0" y="0"/>
                </a:moveTo>
                <a:lnTo>
                  <a:pt x="16" y="0"/>
                </a:lnTo>
                <a:lnTo>
                  <a:pt x="33" y="3"/>
                </a:lnTo>
                <a:lnTo>
                  <a:pt x="49" y="7"/>
                </a:lnTo>
                <a:lnTo>
                  <a:pt x="65" y="13"/>
                </a:lnTo>
                <a:lnTo>
                  <a:pt x="82" y="20"/>
                </a:lnTo>
                <a:lnTo>
                  <a:pt x="98" y="27"/>
                </a:lnTo>
                <a:lnTo>
                  <a:pt x="114" y="36"/>
                </a:lnTo>
                <a:lnTo>
                  <a:pt x="131" y="46"/>
                </a:lnTo>
                <a:lnTo>
                  <a:pt x="147" y="56"/>
                </a:lnTo>
                <a:lnTo>
                  <a:pt x="164" y="67"/>
                </a:lnTo>
                <a:lnTo>
                  <a:pt x="180" y="78"/>
                </a:lnTo>
                <a:lnTo>
                  <a:pt x="196" y="89"/>
                </a:lnTo>
                <a:lnTo>
                  <a:pt x="213" y="100"/>
                </a:lnTo>
                <a:lnTo>
                  <a:pt x="229" y="111"/>
                </a:lnTo>
                <a:lnTo>
                  <a:pt x="246" y="122"/>
                </a:lnTo>
                <a:lnTo>
                  <a:pt x="262" y="132"/>
                </a:lnTo>
                <a:lnTo>
                  <a:pt x="278" y="142"/>
                </a:lnTo>
                <a:lnTo>
                  <a:pt x="295" y="150"/>
                </a:lnTo>
                <a:lnTo>
                  <a:pt x="311" y="158"/>
                </a:lnTo>
                <a:lnTo>
                  <a:pt x="327" y="165"/>
                </a:lnTo>
                <a:lnTo>
                  <a:pt x="344" y="171"/>
                </a:lnTo>
                <a:lnTo>
                  <a:pt x="360" y="175"/>
                </a:lnTo>
                <a:lnTo>
                  <a:pt x="377" y="178"/>
                </a:lnTo>
                <a:lnTo>
                  <a:pt x="393" y="178"/>
                </a:lnTo>
                <a:lnTo>
                  <a:pt x="393" y="193"/>
                </a:lnTo>
                <a:lnTo>
                  <a:pt x="377" y="192"/>
                </a:lnTo>
                <a:lnTo>
                  <a:pt x="360" y="190"/>
                </a:lnTo>
                <a:lnTo>
                  <a:pt x="344" y="185"/>
                </a:lnTo>
                <a:lnTo>
                  <a:pt x="327" y="180"/>
                </a:lnTo>
                <a:lnTo>
                  <a:pt x="311" y="173"/>
                </a:lnTo>
                <a:lnTo>
                  <a:pt x="295" y="165"/>
                </a:lnTo>
                <a:lnTo>
                  <a:pt x="278" y="156"/>
                </a:lnTo>
                <a:lnTo>
                  <a:pt x="262" y="147"/>
                </a:lnTo>
                <a:lnTo>
                  <a:pt x="246" y="136"/>
                </a:lnTo>
                <a:lnTo>
                  <a:pt x="229" y="126"/>
                </a:lnTo>
                <a:lnTo>
                  <a:pt x="213" y="115"/>
                </a:lnTo>
                <a:lnTo>
                  <a:pt x="196" y="104"/>
                </a:lnTo>
                <a:lnTo>
                  <a:pt x="180" y="92"/>
                </a:lnTo>
                <a:lnTo>
                  <a:pt x="164" y="81"/>
                </a:lnTo>
                <a:lnTo>
                  <a:pt x="147" y="71"/>
                </a:lnTo>
                <a:lnTo>
                  <a:pt x="131" y="61"/>
                </a:lnTo>
                <a:lnTo>
                  <a:pt x="114" y="51"/>
                </a:lnTo>
                <a:lnTo>
                  <a:pt x="98" y="42"/>
                </a:lnTo>
                <a:lnTo>
                  <a:pt x="82" y="34"/>
                </a:lnTo>
                <a:lnTo>
                  <a:pt x="65" y="27"/>
                </a:lnTo>
                <a:lnTo>
                  <a:pt x="49" y="22"/>
                </a:lnTo>
                <a:lnTo>
                  <a:pt x="33" y="18"/>
                </a:lnTo>
                <a:lnTo>
                  <a:pt x="16" y="15"/>
                </a:lnTo>
                <a:lnTo>
                  <a:pt x="0" y="1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3686175"/>
            <a:ext cx="3743325" cy="1200150"/>
          </a:xfrm>
          <a:custGeom>
            <a:avLst/>
            <a:gdLst/>
            <a:ahLst/>
            <a:cxnLst/>
            <a:rect l="l" t="t" r="r" b="b"/>
            <a:pathLst>
              <a:path w="393" h="126">
                <a:moveTo>
                  <a:pt x="0" y="67"/>
                </a:moveTo>
                <a:lnTo>
                  <a:pt x="16" y="67"/>
                </a:lnTo>
                <a:lnTo>
                  <a:pt x="33" y="66"/>
                </a:lnTo>
                <a:lnTo>
                  <a:pt x="49" y="64"/>
                </a:lnTo>
                <a:lnTo>
                  <a:pt x="65" y="62"/>
                </a:lnTo>
                <a:lnTo>
                  <a:pt x="82" y="60"/>
                </a:lnTo>
                <a:lnTo>
                  <a:pt x="98" y="57"/>
                </a:lnTo>
                <a:lnTo>
                  <a:pt x="114" y="53"/>
                </a:lnTo>
                <a:lnTo>
                  <a:pt x="131" y="50"/>
                </a:lnTo>
                <a:lnTo>
                  <a:pt x="147" y="46"/>
                </a:lnTo>
                <a:lnTo>
                  <a:pt x="164" y="42"/>
                </a:lnTo>
                <a:lnTo>
                  <a:pt x="180" y="38"/>
                </a:lnTo>
                <a:lnTo>
                  <a:pt x="196" y="33"/>
                </a:lnTo>
                <a:lnTo>
                  <a:pt x="213" y="29"/>
                </a:lnTo>
                <a:lnTo>
                  <a:pt x="229" y="25"/>
                </a:lnTo>
                <a:lnTo>
                  <a:pt x="246" y="21"/>
                </a:lnTo>
                <a:lnTo>
                  <a:pt x="262" y="17"/>
                </a:lnTo>
                <a:lnTo>
                  <a:pt x="278" y="13"/>
                </a:lnTo>
                <a:lnTo>
                  <a:pt x="295" y="10"/>
                </a:lnTo>
                <a:lnTo>
                  <a:pt x="311" y="7"/>
                </a:lnTo>
                <a:lnTo>
                  <a:pt x="327" y="5"/>
                </a:lnTo>
                <a:lnTo>
                  <a:pt x="344" y="2"/>
                </a:lnTo>
                <a:lnTo>
                  <a:pt x="360" y="1"/>
                </a:lnTo>
                <a:lnTo>
                  <a:pt x="377" y="0"/>
                </a:lnTo>
                <a:lnTo>
                  <a:pt x="393" y="0"/>
                </a:lnTo>
                <a:lnTo>
                  <a:pt x="393" y="58"/>
                </a:lnTo>
                <a:lnTo>
                  <a:pt x="377" y="59"/>
                </a:lnTo>
                <a:lnTo>
                  <a:pt x="360" y="60"/>
                </a:lnTo>
                <a:lnTo>
                  <a:pt x="344" y="61"/>
                </a:lnTo>
                <a:lnTo>
                  <a:pt x="327" y="63"/>
                </a:lnTo>
                <a:lnTo>
                  <a:pt x="311" y="66"/>
                </a:lnTo>
                <a:lnTo>
                  <a:pt x="295" y="69"/>
                </a:lnTo>
                <a:lnTo>
                  <a:pt x="278" y="72"/>
                </a:lnTo>
                <a:lnTo>
                  <a:pt x="262" y="76"/>
                </a:lnTo>
                <a:lnTo>
                  <a:pt x="246" y="80"/>
                </a:lnTo>
                <a:lnTo>
                  <a:pt x="229" y="84"/>
                </a:lnTo>
                <a:lnTo>
                  <a:pt x="213" y="88"/>
                </a:lnTo>
                <a:lnTo>
                  <a:pt x="196" y="92"/>
                </a:lnTo>
                <a:lnTo>
                  <a:pt x="180" y="96"/>
                </a:lnTo>
                <a:lnTo>
                  <a:pt x="164" y="100"/>
                </a:lnTo>
                <a:lnTo>
                  <a:pt x="147" y="104"/>
                </a:lnTo>
                <a:lnTo>
                  <a:pt x="131" y="108"/>
                </a:lnTo>
                <a:lnTo>
                  <a:pt x="114" y="112"/>
                </a:lnTo>
                <a:lnTo>
                  <a:pt x="98" y="115"/>
                </a:lnTo>
                <a:lnTo>
                  <a:pt x="82" y="118"/>
                </a:lnTo>
                <a:lnTo>
                  <a:pt x="65" y="121"/>
                </a:lnTo>
                <a:lnTo>
                  <a:pt x="49" y="123"/>
                </a:lnTo>
                <a:lnTo>
                  <a:pt x="33" y="124"/>
                </a:lnTo>
                <a:lnTo>
                  <a:pt x="16" y="125"/>
                </a:lnTo>
                <a:lnTo>
                  <a:pt x="0" y="126"/>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886325"/>
            <a:ext cx="3743325" cy="1228725"/>
          </a:xfrm>
          <a:custGeom>
            <a:avLst/>
            <a:gdLst/>
            <a:ahLst/>
            <a:cxnLst/>
            <a:rect l="l" t="t" r="r" b="b"/>
            <a:pathLst>
              <a:path w="393" h="129">
                <a:moveTo>
                  <a:pt x="0" y="0"/>
                </a:moveTo>
                <a:lnTo>
                  <a:pt x="16" y="0"/>
                </a:lnTo>
                <a:lnTo>
                  <a:pt x="33" y="2"/>
                </a:lnTo>
                <a:lnTo>
                  <a:pt x="49" y="5"/>
                </a:lnTo>
                <a:lnTo>
                  <a:pt x="65" y="8"/>
                </a:lnTo>
                <a:lnTo>
                  <a:pt x="82" y="13"/>
                </a:lnTo>
                <a:lnTo>
                  <a:pt x="98" y="18"/>
                </a:lnTo>
                <a:lnTo>
                  <a:pt x="114" y="23"/>
                </a:lnTo>
                <a:lnTo>
                  <a:pt x="131" y="29"/>
                </a:lnTo>
                <a:lnTo>
                  <a:pt x="147" y="36"/>
                </a:lnTo>
                <a:lnTo>
                  <a:pt x="164" y="43"/>
                </a:lnTo>
                <a:lnTo>
                  <a:pt x="180" y="50"/>
                </a:lnTo>
                <a:lnTo>
                  <a:pt x="196" y="57"/>
                </a:lnTo>
                <a:lnTo>
                  <a:pt x="213" y="64"/>
                </a:lnTo>
                <a:lnTo>
                  <a:pt x="229" y="71"/>
                </a:lnTo>
                <a:lnTo>
                  <a:pt x="246" y="78"/>
                </a:lnTo>
                <a:lnTo>
                  <a:pt x="262" y="84"/>
                </a:lnTo>
                <a:lnTo>
                  <a:pt x="278" y="91"/>
                </a:lnTo>
                <a:lnTo>
                  <a:pt x="295" y="96"/>
                </a:lnTo>
                <a:lnTo>
                  <a:pt x="311" y="101"/>
                </a:lnTo>
                <a:lnTo>
                  <a:pt x="327" y="106"/>
                </a:lnTo>
                <a:lnTo>
                  <a:pt x="344" y="109"/>
                </a:lnTo>
                <a:lnTo>
                  <a:pt x="360" y="112"/>
                </a:lnTo>
                <a:lnTo>
                  <a:pt x="377" y="113"/>
                </a:lnTo>
                <a:lnTo>
                  <a:pt x="393" y="114"/>
                </a:lnTo>
                <a:lnTo>
                  <a:pt x="393" y="129"/>
                </a:lnTo>
                <a:lnTo>
                  <a:pt x="377" y="128"/>
                </a:lnTo>
                <a:lnTo>
                  <a:pt x="360" y="126"/>
                </a:lnTo>
                <a:lnTo>
                  <a:pt x="344" y="124"/>
                </a:lnTo>
                <a:lnTo>
                  <a:pt x="327" y="120"/>
                </a:lnTo>
                <a:lnTo>
                  <a:pt x="311" y="116"/>
                </a:lnTo>
                <a:lnTo>
                  <a:pt x="295" y="111"/>
                </a:lnTo>
                <a:lnTo>
                  <a:pt x="278" y="105"/>
                </a:lnTo>
                <a:lnTo>
                  <a:pt x="262" y="99"/>
                </a:lnTo>
                <a:lnTo>
                  <a:pt x="246" y="93"/>
                </a:lnTo>
                <a:lnTo>
                  <a:pt x="229" y="86"/>
                </a:lnTo>
                <a:lnTo>
                  <a:pt x="213" y="79"/>
                </a:lnTo>
                <a:lnTo>
                  <a:pt x="196" y="72"/>
                </a:lnTo>
                <a:lnTo>
                  <a:pt x="180" y="64"/>
                </a:lnTo>
                <a:lnTo>
                  <a:pt x="164" y="57"/>
                </a:lnTo>
                <a:lnTo>
                  <a:pt x="147" y="51"/>
                </a:lnTo>
                <a:lnTo>
                  <a:pt x="131" y="44"/>
                </a:lnTo>
                <a:lnTo>
                  <a:pt x="114" y="38"/>
                </a:lnTo>
                <a:lnTo>
                  <a:pt x="98" y="32"/>
                </a:lnTo>
                <a:lnTo>
                  <a:pt x="82" y="27"/>
                </a:lnTo>
                <a:lnTo>
                  <a:pt x="65" y="23"/>
                </a:lnTo>
                <a:lnTo>
                  <a:pt x="49" y="19"/>
                </a:lnTo>
                <a:lnTo>
                  <a:pt x="33" y="17"/>
                </a:lnTo>
                <a:lnTo>
                  <a:pt x="16" y="15"/>
                </a:lnTo>
                <a:lnTo>
                  <a:pt x="0" y="14"/>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238625"/>
            <a:ext cx="3743325" cy="1400175"/>
          </a:xfrm>
          <a:custGeom>
            <a:avLst/>
            <a:gdLst/>
            <a:ahLst/>
            <a:cxnLst/>
            <a:rect l="l" t="t" r="r" b="b"/>
            <a:pathLst>
              <a:path w="393" h="147">
                <a:moveTo>
                  <a:pt x="0" y="88"/>
                </a:moveTo>
                <a:lnTo>
                  <a:pt x="16" y="88"/>
                </a:lnTo>
                <a:lnTo>
                  <a:pt x="33" y="87"/>
                </a:lnTo>
                <a:lnTo>
                  <a:pt x="49" y="85"/>
                </a:lnTo>
                <a:lnTo>
                  <a:pt x="65" y="82"/>
                </a:lnTo>
                <a:lnTo>
                  <a:pt x="82" y="79"/>
                </a:lnTo>
                <a:lnTo>
                  <a:pt x="98" y="75"/>
                </a:lnTo>
                <a:lnTo>
                  <a:pt x="114" y="70"/>
                </a:lnTo>
                <a:lnTo>
                  <a:pt x="131" y="66"/>
                </a:lnTo>
                <a:lnTo>
                  <a:pt x="147" y="61"/>
                </a:lnTo>
                <a:lnTo>
                  <a:pt x="164" y="55"/>
                </a:lnTo>
                <a:lnTo>
                  <a:pt x="180" y="50"/>
                </a:lnTo>
                <a:lnTo>
                  <a:pt x="196" y="44"/>
                </a:lnTo>
                <a:lnTo>
                  <a:pt x="213" y="39"/>
                </a:lnTo>
                <a:lnTo>
                  <a:pt x="229" y="33"/>
                </a:lnTo>
                <a:lnTo>
                  <a:pt x="246" y="28"/>
                </a:lnTo>
                <a:lnTo>
                  <a:pt x="262" y="23"/>
                </a:lnTo>
                <a:lnTo>
                  <a:pt x="278" y="18"/>
                </a:lnTo>
                <a:lnTo>
                  <a:pt x="295" y="14"/>
                </a:lnTo>
                <a:lnTo>
                  <a:pt x="311" y="10"/>
                </a:lnTo>
                <a:lnTo>
                  <a:pt x="327" y="7"/>
                </a:lnTo>
                <a:lnTo>
                  <a:pt x="344" y="4"/>
                </a:lnTo>
                <a:lnTo>
                  <a:pt x="360" y="2"/>
                </a:lnTo>
                <a:lnTo>
                  <a:pt x="377" y="1"/>
                </a:lnTo>
                <a:lnTo>
                  <a:pt x="393" y="0"/>
                </a:lnTo>
                <a:lnTo>
                  <a:pt x="393" y="59"/>
                </a:lnTo>
                <a:lnTo>
                  <a:pt x="377" y="59"/>
                </a:lnTo>
                <a:lnTo>
                  <a:pt x="360" y="61"/>
                </a:lnTo>
                <a:lnTo>
                  <a:pt x="344" y="63"/>
                </a:lnTo>
                <a:lnTo>
                  <a:pt x="327" y="65"/>
                </a:lnTo>
                <a:lnTo>
                  <a:pt x="311" y="69"/>
                </a:lnTo>
                <a:lnTo>
                  <a:pt x="295" y="73"/>
                </a:lnTo>
                <a:lnTo>
                  <a:pt x="278" y="77"/>
                </a:lnTo>
                <a:lnTo>
                  <a:pt x="262" y="82"/>
                </a:lnTo>
                <a:lnTo>
                  <a:pt x="246" y="87"/>
                </a:lnTo>
                <a:lnTo>
                  <a:pt x="229" y="92"/>
                </a:lnTo>
                <a:lnTo>
                  <a:pt x="213" y="97"/>
                </a:lnTo>
                <a:lnTo>
                  <a:pt x="196" y="103"/>
                </a:lnTo>
                <a:lnTo>
                  <a:pt x="180" y="108"/>
                </a:lnTo>
                <a:lnTo>
                  <a:pt x="164" y="114"/>
                </a:lnTo>
                <a:lnTo>
                  <a:pt x="147" y="119"/>
                </a:lnTo>
                <a:lnTo>
                  <a:pt x="131" y="124"/>
                </a:lnTo>
                <a:lnTo>
                  <a:pt x="114" y="129"/>
                </a:lnTo>
                <a:lnTo>
                  <a:pt x="98" y="133"/>
                </a:lnTo>
                <a:lnTo>
                  <a:pt x="82" y="137"/>
                </a:lnTo>
                <a:lnTo>
                  <a:pt x="65" y="141"/>
                </a:lnTo>
                <a:lnTo>
                  <a:pt x="49" y="143"/>
                </a:lnTo>
                <a:lnTo>
                  <a:pt x="33" y="145"/>
                </a:lnTo>
                <a:lnTo>
                  <a:pt x="16" y="147"/>
                </a:lnTo>
                <a:lnTo>
                  <a:pt x="0" y="147"/>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638800"/>
            <a:ext cx="3743325" cy="609600"/>
          </a:xfrm>
          <a:custGeom>
            <a:avLst/>
            <a:gdLst/>
            <a:ahLst/>
            <a:cxnLst/>
            <a:rect l="l" t="t" r="r" b="b"/>
            <a:pathLst>
              <a:path w="393" h="64">
                <a:moveTo>
                  <a:pt x="0" y="0"/>
                </a:moveTo>
                <a:lnTo>
                  <a:pt x="16" y="0"/>
                </a:lnTo>
                <a:lnTo>
                  <a:pt x="33" y="1"/>
                </a:lnTo>
                <a:lnTo>
                  <a:pt x="49" y="2"/>
                </a:lnTo>
                <a:lnTo>
                  <a:pt x="65" y="4"/>
                </a:lnTo>
                <a:lnTo>
                  <a:pt x="82" y="6"/>
                </a:lnTo>
                <a:lnTo>
                  <a:pt x="98" y="8"/>
                </a:lnTo>
                <a:lnTo>
                  <a:pt x="114" y="10"/>
                </a:lnTo>
                <a:lnTo>
                  <a:pt x="131" y="13"/>
                </a:lnTo>
                <a:lnTo>
                  <a:pt x="147" y="16"/>
                </a:lnTo>
                <a:lnTo>
                  <a:pt x="164" y="19"/>
                </a:lnTo>
                <a:lnTo>
                  <a:pt x="180" y="22"/>
                </a:lnTo>
                <a:lnTo>
                  <a:pt x="196" y="25"/>
                </a:lnTo>
                <a:lnTo>
                  <a:pt x="213" y="28"/>
                </a:lnTo>
                <a:lnTo>
                  <a:pt x="229" y="31"/>
                </a:lnTo>
                <a:lnTo>
                  <a:pt x="246" y="34"/>
                </a:lnTo>
                <a:lnTo>
                  <a:pt x="262" y="37"/>
                </a:lnTo>
                <a:lnTo>
                  <a:pt x="278" y="40"/>
                </a:lnTo>
                <a:lnTo>
                  <a:pt x="295" y="42"/>
                </a:lnTo>
                <a:lnTo>
                  <a:pt x="311" y="44"/>
                </a:lnTo>
                <a:lnTo>
                  <a:pt x="327" y="46"/>
                </a:lnTo>
                <a:lnTo>
                  <a:pt x="344" y="48"/>
                </a:lnTo>
                <a:lnTo>
                  <a:pt x="360" y="49"/>
                </a:lnTo>
                <a:lnTo>
                  <a:pt x="377" y="49"/>
                </a:lnTo>
                <a:lnTo>
                  <a:pt x="393" y="50"/>
                </a:lnTo>
                <a:lnTo>
                  <a:pt x="393" y="64"/>
                </a:lnTo>
                <a:lnTo>
                  <a:pt x="377" y="64"/>
                </a:lnTo>
                <a:lnTo>
                  <a:pt x="360" y="63"/>
                </a:lnTo>
                <a:lnTo>
                  <a:pt x="344" y="62"/>
                </a:lnTo>
                <a:lnTo>
                  <a:pt x="327" y="61"/>
                </a:lnTo>
                <a:lnTo>
                  <a:pt x="311" y="59"/>
                </a:lnTo>
                <a:lnTo>
                  <a:pt x="295" y="57"/>
                </a:lnTo>
                <a:lnTo>
                  <a:pt x="278" y="54"/>
                </a:lnTo>
                <a:lnTo>
                  <a:pt x="262" y="51"/>
                </a:lnTo>
                <a:lnTo>
                  <a:pt x="246" y="49"/>
                </a:lnTo>
                <a:lnTo>
                  <a:pt x="229" y="46"/>
                </a:lnTo>
                <a:lnTo>
                  <a:pt x="213" y="43"/>
                </a:lnTo>
                <a:lnTo>
                  <a:pt x="196" y="40"/>
                </a:lnTo>
                <a:lnTo>
                  <a:pt x="180" y="36"/>
                </a:lnTo>
                <a:lnTo>
                  <a:pt x="164" y="33"/>
                </a:lnTo>
                <a:lnTo>
                  <a:pt x="147" y="30"/>
                </a:lnTo>
                <a:lnTo>
                  <a:pt x="131" y="28"/>
                </a:lnTo>
                <a:lnTo>
                  <a:pt x="114" y="25"/>
                </a:lnTo>
                <a:lnTo>
                  <a:pt x="98" y="22"/>
                </a:lnTo>
                <a:lnTo>
                  <a:pt x="82" y="20"/>
                </a:lnTo>
                <a:lnTo>
                  <a:pt x="65" y="18"/>
                </a:lnTo>
                <a:lnTo>
                  <a:pt x="49" y="17"/>
                </a:lnTo>
                <a:lnTo>
                  <a:pt x="33" y="16"/>
                </a:lnTo>
                <a:lnTo>
                  <a:pt x="16" y="15"/>
                </a:lnTo>
                <a:lnTo>
                  <a:pt x="0" y="1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800600"/>
            <a:ext cx="3743325" cy="1590675"/>
          </a:xfrm>
          <a:custGeom>
            <a:avLst/>
            <a:gdLst/>
            <a:ahLst/>
            <a:cxnLst/>
            <a:rect l="l" t="t" r="r" b="b"/>
            <a:pathLst>
              <a:path w="393" h="167">
                <a:moveTo>
                  <a:pt x="0" y="109"/>
                </a:moveTo>
                <a:lnTo>
                  <a:pt x="16" y="108"/>
                </a:lnTo>
                <a:lnTo>
                  <a:pt x="33" y="107"/>
                </a:lnTo>
                <a:lnTo>
                  <a:pt x="49" y="104"/>
                </a:lnTo>
                <a:lnTo>
                  <a:pt x="65" y="101"/>
                </a:lnTo>
                <a:lnTo>
                  <a:pt x="82" y="97"/>
                </a:lnTo>
                <a:lnTo>
                  <a:pt x="98" y="92"/>
                </a:lnTo>
                <a:lnTo>
                  <a:pt x="114" y="86"/>
                </a:lnTo>
                <a:lnTo>
                  <a:pt x="131" y="80"/>
                </a:lnTo>
                <a:lnTo>
                  <a:pt x="147" y="74"/>
                </a:lnTo>
                <a:lnTo>
                  <a:pt x="164" y="68"/>
                </a:lnTo>
                <a:lnTo>
                  <a:pt x="180" y="61"/>
                </a:lnTo>
                <a:lnTo>
                  <a:pt x="196" y="54"/>
                </a:lnTo>
                <a:lnTo>
                  <a:pt x="213" y="48"/>
                </a:lnTo>
                <a:lnTo>
                  <a:pt x="229" y="41"/>
                </a:lnTo>
                <a:lnTo>
                  <a:pt x="246" y="34"/>
                </a:lnTo>
                <a:lnTo>
                  <a:pt x="262" y="28"/>
                </a:lnTo>
                <a:lnTo>
                  <a:pt x="278" y="22"/>
                </a:lnTo>
                <a:lnTo>
                  <a:pt x="295" y="17"/>
                </a:lnTo>
                <a:lnTo>
                  <a:pt x="311" y="12"/>
                </a:lnTo>
                <a:lnTo>
                  <a:pt x="327" y="8"/>
                </a:lnTo>
                <a:lnTo>
                  <a:pt x="344" y="5"/>
                </a:lnTo>
                <a:lnTo>
                  <a:pt x="360" y="2"/>
                </a:lnTo>
                <a:lnTo>
                  <a:pt x="377" y="0"/>
                </a:lnTo>
                <a:lnTo>
                  <a:pt x="393" y="0"/>
                </a:lnTo>
                <a:lnTo>
                  <a:pt x="393" y="59"/>
                </a:lnTo>
                <a:lnTo>
                  <a:pt x="377" y="59"/>
                </a:lnTo>
                <a:lnTo>
                  <a:pt x="360" y="61"/>
                </a:lnTo>
                <a:lnTo>
                  <a:pt x="344" y="63"/>
                </a:lnTo>
                <a:lnTo>
                  <a:pt x="327" y="67"/>
                </a:lnTo>
                <a:lnTo>
                  <a:pt x="311" y="71"/>
                </a:lnTo>
                <a:lnTo>
                  <a:pt x="295" y="76"/>
                </a:lnTo>
                <a:lnTo>
                  <a:pt x="278" y="81"/>
                </a:lnTo>
                <a:lnTo>
                  <a:pt x="262" y="87"/>
                </a:lnTo>
                <a:lnTo>
                  <a:pt x="246" y="93"/>
                </a:lnTo>
                <a:lnTo>
                  <a:pt x="229" y="99"/>
                </a:lnTo>
                <a:lnTo>
                  <a:pt x="213" y="106"/>
                </a:lnTo>
                <a:lnTo>
                  <a:pt x="196" y="113"/>
                </a:lnTo>
                <a:lnTo>
                  <a:pt x="180" y="120"/>
                </a:lnTo>
                <a:lnTo>
                  <a:pt x="164" y="126"/>
                </a:lnTo>
                <a:lnTo>
                  <a:pt x="147" y="133"/>
                </a:lnTo>
                <a:lnTo>
                  <a:pt x="131" y="139"/>
                </a:lnTo>
                <a:lnTo>
                  <a:pt x="114" y="145"/>
                </a:lnTo>
                <a:lnTo>
                  <a:pt x="98" y="150"/>
                </a:lnTo>
                <a:lnTo>
                  <a:pt x="82" y="155"/>
                </a:lnTo>
                <a:lnTo>
                  <a:pt x="65" y="159"/>
                </a:lnTo>
                <a:lnTo>
                  <a:pt x="49" y="163"/>
                </a:lnTo>
                <a:lnTo>
                  <a:pt x="33" y="165"/>
                </a:lnTo>
                <a:lnTo>
                  <a:pt x="16" y="167"/>
                </a:lnTo>
                <a:lnTo>
                  <a:pt x="0" y="167"/>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6248400"/>
            <a:ext cx="3743325" cy="285750"/>
          </a:xfrm>
          <a:custGeom>
            <a:avLst/>
            <a:gdLst/>
            <a:ahLst/>
            <a:cxnLst/>
            <a:rect l="l" t="t" r="r" b="b"/>
            <a:pathLst>
              <a:path w="393" h="30">
                <a:moveTo>
                  <a:pt x="0" y="15"/>
                </a:moveTo>
                <a:lnTo>
                  <a:pt x="16" y="15"/>
                </a:lnTo>
                <a:lnTo>
                  <a:pt x="33" y="15"/>
                </a:lnTo>
                <a:lnTo>
                  <a:pt x="49" y="15"/>
                </a:lnTo>
                <a:lnTo>
                  <a:pt x="65" y="14"/>
                </a:lnTo>
                <a:lnTo>
                  <a:pt x="82" y="14"/>
                </a:lnTo>
                <a:lnTo>
                  <a:pt x="98" y="13"/>
                </a:lnTo>
                <a:lnTo>
                  <a:pt x="114" y="12"/>
                </a:lnTo>
                <a:lnTo>
                  <a:pt x="131" y="11"/>
                </a:lnTo>
                <a:lnTo>
                  <a:pt x="147" y="11"/>
                </a:lnTo>
                <a:lnTo>
                  <a:pt x="164" y="10"/>
                </a:lnTo>
                <a:lnTo>
                  <a:pt x="180" y="9"/>
                </a:lnTo>
                <a:lnTo>
                  <a:pt x="196" y="8"/>
                </a:lnTo>
                <a:lnTo>
                  <a:pt x="213" y="7"/>
                </a:lnTo>
                <a:lnTo>
                  <a:pt x="229" y="6"/>
                </a:lnTo>
                <a:lnTo>
                  <a:pt x="246" y="5"/>
                </a:lnTo>
                <a:lnTo>
                  <a:pt x="262" y="4"/>
                </a:lnTo>
                <a:lnTo>
                  <a:pt x="278" y="3"/>
                </a:lnTo>
                <a:lnTo>
                  <a:pt x="295" y="3"/>
                </a:lnTo>
                <a:lnTo>
                  <a:pt x="311" y="2"/>
                </a:lnTo>
                <a:lnTo>
                  <a:pt x="327" y="1"/>
                </a:lnTo>
                <a:lnTo>
                  <a:pt x="344" y="1"/>
                </a:lnTo>
                <a:lnTo>
                  <a:pt x="360" y="1"/>
                </a:lnTo>
                <a:lnTo>
                  <a:pt x="377" y="0"/>
                </a:lnTo>
                <a:lnTo>
                  <a:pt x="393" y="0"/>
                </a:lnTo>
                <a:lnTo>
                  <a:pt x="393" y="15"/>
                </a:lnTo>
                <a:lnTo>
                  <a:pt x="377" y="15"/>
                </a:lnTo>
                <a:lnTo>
                  <a:pt x="360" y="15"/>
                </a:lnTo>
                <a:lnTo>
                  <a:pt x="344" y="16"/>
                </a:lnTo>
                <a:lnTo>
                  <a:pt x="327" y="16"/>
                </a:lnTo>
                <a:lnTo>
                  <a:pt x="311" y="17"/>
                </a:lnTo>
                <a:lnTo>
                  <a:pt x="295" y="17"/>
                </a:lnTo>
                <a:lnTo>
                  <a:pt x="278" y="18"/>
                </a:lnTo>
                <a:lnTo>
                  <a:pt x="262" y="19"/>
                </a:lnTo>
                <a:lnTo>
                  <a:pt x="246" y="20"/>
                </a:lnTo>
                <a:lnTo>
                  <a:pt x="229" y="21"/>
                </a:lnTo>
                <a:lnTo>
                  <a:pt x="213" y="22"/>
                </a:lnTo>
                <a:lnTo>
                  <a:pt x="196" y="22"/>
                </a:lnTo>
                <a:lnTo>
                  <a:pt x="180" y="23"/>
                </a:lnTo>
                <a:lnTo>
                  <a:pt x="164" y="24"/>
                </a:lnTo>
                <a:lnTo>
                  <a:pt x="147" y="25"/>
                </a:lnTo>
                <a:lnTo>
                  <a:pt x="131" y="26"/>
                </a:lnTo>
                <a:lnTo>
                  <a:pt x="114" y="27"/>
                </a:lnTo>
                <a:lnTo>
                  <a:pt x="98" y="28"/>
                </a:lnTo>
                <a:lnTo>
                  <a:pt x="82" y="28"/>
                </a:lnTo>
                <a:lnTo>
                  <a:pt x="65" y="29"/>
                </a:lnTo>
                <a:lnTo>
                  <a:pt x="49" y="29"/>
                </a:lnTo>
                <a:lnTo>
                  <a:pt x="33" y="30"/>
                </a:lnTo>
                <a:lnTo>
                  <a:pt x="16" y="30"/>
                </a:lnTo>
                <a:lnTo>
                  <a:pt x="0" y="3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1304925"/>
            <a:ext cx="114300" cy="698047"/>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41195" y="2060122"/>
            <a:ext cx="114300" cy="698047"/>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41195" y="2815318"/>
            <a:ext cx="114300" cy="69804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1195" y="3570515"/>
            <a:ext cx="114300" cy="698047"/>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4325712"/>
            <a:ext cx="114300" cy="698047"/>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41195" y="5080908"/>
            <a:ext cx="114300" cy="69804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5836105"/>
            <a:ext cx="114300" cy="69804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1447800"/>
            <a:ext cx="114300" cy="3910124"/>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5415074"/>
            <a:ext cx="114300" cy="97620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175" y="153012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257175" y="228532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7" name="TextBox 36"/>
          <p:cNvSpPr txBox="1"/>
          <p:nvPr/>
        </p:nvSpPr>
        <p:spPr>
          <a:xfrm>
            <a:off x="257175" y="304051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8" name="TextBox 37"/>
          <p:cNvSpPr txBox="1"/>
          <p:nvPr/>
        </p:nvSpPr>
        <p:spPr>
          <a:xfrm>
            <a:off x="257175" y="384810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9" name="TextBox 38"/>
          <p:cNvSpPr txBox="1"/>
          <p:nvPr/>
        </p:nvSpPr>
        <p:spPr>
          <a:xfrm>
            <a:off x="257175" y="455091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530610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606130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5972175" y="333142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5972175" y="577935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4" name="Rounded Rectangle 43"/>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6" name="Rectangle 45"/>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49" name="TextBox 48"/>
          <p:cNvSpPr txBox="1"/>
          <p:nvPr/>
        </p:nvSpPr>
        <p:spPr>
          <a:xfrm>
            <a:off x="562117" y="1533247"/>
            <a:ext cx="1302877" cy="139750"/>
          </a:xfrm>
          <a:prstGeom prst="rect">
            <a:avLst/>
          </a:prstGeom>
          <a:noFill/>
        </p:spPr>
        <p:txBody>
          <a:bodyPr wrap="none" lIns="0" rIns="0" tIns="0" bIns="0">
            <a:spAutoFit/>
          </a:bodyPr>
          <a:lstStyle/>
          <a:p>
            <a:r>
              <a:rPr sz="791" b="1">
                <a:solidFill>
                  <a:srgbClr val="2E2E2E"/>
                </a:solidFill>
                <a:latin typeface="Calibri"/>
              </a:rPr>
              <a:t>Active Temperature-Controlled</a:t>
            </a:r>
          </a:p>
        </p:txBody>
      </p:sp>
      <p:sp>
        <p:nvSpPr>
          <p:cNvPr id="50" name="TextBox 49"/>
          <p:cNvSpPr txBox="1"/>
          <p:nvPr/>
        </p:nvSpPr>
        <p:spPr>
          <a:xfrm>
            <a:off x="1003840" y="1653948"/>
            <a:ext cx="826454" cy="139750"/>
          </a:xfrm>
          <a:prstGeom prst="rect">
            <a:avLst/>
          </a:prstGeom>
          <a:noFill/>
        </p:spPr>
        <p:txBody>
          <a:bodyPr wrap="none" lIns="0" rIns="0" tIns="0" bIns="0">
            <a:spAutoFit/>
          </a:bodyPr>
          <a:lstStyle/>
          <a:p>
            <a:r>
              <a:rPr sz="791" b="1">
                <a:solidFill>
                  <a:srgbClr val="2E2E2E"/>
                </a:solidFill>
                <a:latin typeface="Calibri"/>
              </a:rPr>
              <a:t>Transport Devices</a:t>
            </a:r>
          </a:p>
        </p:txBody>
      </p:sp>
      <p:pic>
        <p:nvPicPr>
          <p:cNvPr id="51" name="Picture 50" descr="lock.png"/>
          <p:cNvPicPr>
            <a:picLocks noChangeAspect="1"/>
          </p:cNvPicPr>
          <p:nvPr/>
        </p:nvPicPr>
        <p:blipFill>
          <a:blip r:embed="rId4"/>
          <a:stretch>
            <a:fillRect/>
          </a:stretch>
        </p:blipFill>
        <p:spPr>
          <a:xfrm>
            <a:off x="1771555" y="1646907"/>
            <a:ext cx="92663" cy="134782"/>
          </a:xfrm>
          <a:prstGeom prst="rect">
            <a:avLst/>
          </a:prstGeom>
        </p:spPr>
      </p:pic>
      <p:sp>
        <p:nvSpPr>
          <p:cNvPr id="52" name="TextBox 51"/>
          <p:cNvSpPr txBox="1"/>
          <p:nvPr/>
        </p:nvSpPr>
        <p:spPr>
          <a:xfrm>
            <a:off x="590023" y="2288444"/>
            <a:ext cx="1274971" cy="139750"/>
          </a:xfrm>
          <a:prstGeom prst="rect">
            <a:avLst/>
          </a:prstGeom>
          <a:noFill/>
        </p:spPr>
        <p:txBody>
          <a:bodyPr wrap="none" lIns="0" rIns="0" tIns="0" bIns="0">
            <a:spAutoFit/>
          </a:bodyPr>
          <a:lstStyle/>
          <a:p>
            <a:r>
              <a:rPr sz="791" b="1">
                <a:solidFill>
                  <a:srgbClr val="2E2E2E"/>
                </a:solidFill>
                <a:latin typeface="Calibri"/>
              </a:rPr>
              <a:t>Hypothermic Non-Oxygenated</a:t>
            </a:r>
          </a:p>
        </p:txBody>
      </p:sp>
      <p:sp>
        <p:nvSpPr>
          <p:cNvPr id="53" name="TextBox 52"/>
          <p:cNvSpPr txBox="1"/>
          <p:nvPr/>
        </p:nvSpPr>
        <p:spPr>
          <a:xfrm>
            <a:off x="1013269" y="2409145"/>
            <a:ext cx="817024" cy="139750"/>
          </a:xfrm>
          <a:prstGeom prst="rect">
            <a:avLst/>
          </a:prstGeom>
          <a:noFill/>
        </p:spPr>
        <p:txBody>
          <a:bodyPr wrap="none" lIns="0" rIns="0" tIns="0" bIns="0">
            <a:spAutoFit/>
          </a:bodyPr>
          <a:lstStyle/>
          <a:p>
            <a:r>
              <a:rPr sz="791" b="1">
                <a:solidFill>
                  <a:srgbClr val="2E2E2E"/>
                </a:solidFill>
                <a:latin typeface="Calibri"/>
              </a:rPr>
              <a:t>Perfusion Devices</a:t>
            </a:r>
          </a:p>
        </p:txBody>
      </p:sp>
      <p:pic>
        <p:nvPicPr>
          <p:cNvPr id="54" name="Picture 53" descr="lock.png"/>
          <p:cNvPicPr>
            <a:picLocks noChangeAspect="1"/>
          </p:cNvPicPr>
          <p:nvPr/>
        </p:nvPicPr>
        <p:blipFill>
          <a:blip r:embed="rId4"/>
          <a:stretch>
            <a:fillRect/>
          </a:stretch>
        </p:blipFill>
        <p:spPr>
          <a:xfrm>
            <a:off x="1771555" y="2402104"/>
            <a:ext cx="92663" cy="134782"/>
          </a:xfrm>
          <a:prstGeom prst="rect">
            <a:avLst/>
          </a:prstGeom>
        </p:spPr>
      </p:pic>
      <p:sp>
        <p:nvSpPr>
          <p:cNvPr id="55" name="TextBox 54"/>
          <p:cNvSpPr txBox="1"/>
          <p:nvPr/>
        </p:nvSpPr>
        <p:spPr>
          <a:xfrm>
            <a:off x="373532" y="3043641"/>
            <a:ext cx="1491462" cy="139750"/>
          </a:xfrm>
          <a:prstGeom prst="rect">
            <a:avLst/>
          </a:prstGeom>
          <a:noFill/>
        </p:spPr>
        <p:txBody>
          <a:bodyPr wrap="none" lIns="0" rIns="0" tIns="0" bIns="0">
            <a:spAutoFit/>
          </a:bodyPr>
          <a:lstStyle/>
          <a:p>
            <a:r>
              <a:rPr sz="791" b="1">
                <a:solidFill>
                  <a:srgbClr val="2E2E2E"/>
                </a:solidFill>
                <a:latin typeface="Calibri"/>
              </a:rPr>
              <a:t>Hypothermic Oxygenated Perfusion</a:t>
            </a:r>
          </a:p>
        </p:txBody>
      </p:sp>
      <p:sp>
        <p:nvSpPr>
          <p:cNvPr id="56" name="TextBox 55"/>
          <p:cNvSpPr txBox="1"/>
          <p:nvPr/>
        </p:nvSpPr>
        <p:spPr>
          <a:xfrm>
            <a:off x="1434858" y="3164342"/>
            <a:ext cx="395436" cy="139750"/>
          </a:xfrm>
          <a:prstGeom prst="rect">
            <a:avLst/>
          </a:prstGeom>
          <a:noFill/>
        </p:spPr>
        <p:txBody>
          <a:bodyPr wrap="none" lIns="0" rIns="0" tIns="0" bIns="0">
            <a:spAutoFit/>
          </a:bodyPr>
          <a:lstStyle/>
          <a:p>
            <a:r>
              <a:rPr sz="791" b="1">
                <a:solidFill>
                  <a:srgbClr val="2E2E2E"/>
                </a:solidFill>
                <a:latin typeface="Calibri"/>
              </a:rPr>
              <a:t>Devices</a:t>
            </a:r>
          </a:p>
        </p:txBody>
      </p:sp>
      <p:pic>
        <p:nvPicPr>
          <p:cNvPr id="57" name="Picture 56" descr="lock.png"/>
          <p:cNvPicPr>
            <a:picLocks noChangeAspect="1"/>
          </p:cNvPicPr>
          <p:nvPr/>
        </p:nvPicPr>
        <p:blipFill>
          <a:blip r:embed="rId4"/>
          <a:stretch>
            <a:fillRect/>
          </a:stretch>
        </p:blipFill>
        <p:spPr>
          <a:xfrm>
            <a:off x="1771555" y="3157301"/>
            <a:ext cx="92663" cy="134782"/>
          </a:xfrm>
          <a:prstGeom prst="rect">
            <a:avLst/>
          </a:prstGeom>
        </p:spPr>
      </p:pic>
      <p:sp>
        <p:nvSpPr>
          <p:cNvPr id="58" name="TextBox 57"/>
          <p:cNvSpPr txBox="1"/>
          <p:nvPr/>
        </p:nvSpPr>
        <p:spPr>
          <a:xfrm>
            <a:off x="374404" y="3859188"/>
            <a:ext cx="1455890" cy="139750"/>
          </a:xfrm>
          <a:prstGeom prst="rect">
            <a:avLst/>
          </a:prstGeom>
          <a:noFill/>
        </p:spPr>
        <p:txBody>
          <a:bodyPr wrap="none" lIns="0" rIns="0" tIns="0" bIns="0">
            <a:spAutoFit/>
          </a:bodyPr>
          <a:lstStyle/>
          <a:p>
            <a:r>
              <a:rPr sz="791" b="1">
                <a:solidFill>
                  <a:srgbClr val="2E2E2E"/>
                </a:solidFill>
                <a:latin typeface="Calibri"/>
              </a:rPr>
              <a:t>Normothermic Perfusion Devices</a:t>
            </a:r>
          </a:p>
        </p:txBody>
      </p:sp>
      <p:pic>
        <p:nvPicPr>
          <p:cNvPr id="59" name="Picture 58" descr="lock.png"/>
          <p:cNvPicPr>
            <a:picLocks noChangeAspect="1"/>
          </p:cNvPicPr>
          <p:nvPr/>
        </p:nvPicPr>
        <p:blipFill>
          <a:blip r:embed="rId4"/>
          <a:stretch>
            <a:fillRect/>
          </a:stretch>
        </p:blipFill>
        <p:spPr>
          <a:xfrm>
            <a:off x="1771555" y="3852147"/>
            <a:ext cx="92663" cy="134782"/>
          </a:xfrm>
          <a:prstGeom prst="rect">
            <a:avLst/>
          </a:prstGeom>
        </p:spPr>
      </p:pic>
      <p:sp>
        <p:nvSpPr>
          <p:cNvPr id="60" name="TextBox 59"/>
          <p:cNvSpPr txBox="1"/>
          <p:nvPr/>
        </p:nvSpPr>
        <p:spPr>
          <a:xfrm>
            <a:off x="341893" y="4554034"/>
            <a:ext cx="1523101" cy="139750"/>
          </a:xfrm>
          <a:prstGeom prst="rect">
            <a:avLst/>
          </a:prstGeom>
          <a:noFill/>
        </p:spPr>
        <p:txBody>
          <a:bodyPr wrap="none" lIns="0" rIns="0" tIns="0" bIns="0">
            <a:spAutoFit/>
          </a:bodyPr>
          <a:lstStyle/>
          <a:p>
            <a:r>
              <a:rPr sz="791" b="1">
                <a:solidFill>
                  <a:srgbClr val="2E2E2E"/>
                </a:solidFill>
                <a:latin typeface="Calibri"/>
              </a:rPr>
              <a:t>Subnormothermic Perfusion Devices</a:t>
            </a:r>
          </a:p>
        </p:txBody>
      </p:sp>
      <p:pic>
        <p:nvPicPr>
          <p:cNvPr id="61" name="Picture 60" descr="lock.png"/>
          <p:cNvPicPr>
            <a:picLocks noChangeAspect="1"/>
          </p:cNvPicPr>
          <p:nvPr/>
        </p:nvPicPr>
        <p:blipFill>
          <a:blip r:embed="rId4"/>
          <a:stretch>
            <a:fillRect/>
          </a:stretch>
        </p:blipFill>
        <p:spPr>
          <a:xfrm>
            <a:off x="1771555" y="4667694"/>
            <a:ext cx="92663" cy="134782"/>
          </a:xfrm>
          <a:prstGeom prst="rect">
            <a:avLst/>
          </a:prstGeom>
        </p:spPr>
      </p:pic>
      <p:sp>
        <p:nvSpPr>
          <p:cNvPr id="62" name="TextBox 61"/>
          <p:cNvSpPr txBox="1"/>
          <p:nvPr/>
        </p:nvSpPr>
        <p:spPr>
          <a:xfrm>
            <a:off x="295923" y="5309231"/>
            <a:ext cx="1569071" cy="139750"/>
          </a:xfrm>
          <a:prstGeom prst="rect">
            <a:avLst/>
          </a:prstGeom>
          <a:noFill/>
        </p:spPr>
        <p:txBody>
          <a:bodyPr wrap="none" lIns="0" rIns="0" tIns="0" bIns="0">
            <a:spAutoFit/>
          </a:bodyPr>
          <a:lstStyle/>
          <a:p>
            <a:r>
              <a:rPr sz="791" b="1">
                <a:solidFill>
                  <a:srgbClr val="2E2E2E"/>
                </a:solidFill>
                <a:latin typeface="Calibri"/>
              </a:rPr>
              <a:t>Multi-Temperature Perfusion Devices</a:t>
            </a:r>
          </a:p>
        </p:txBody>
      </p:sp>
      <p:pic>
        <p:nvPicPr>
          <p:cNvPr id="63" name="Picture 62" descr="lock.png"/>
          <p:cNvPicPr>
            <a:picLocks noChangeAspect="1"/>
          </p:cNvPicPr>
          <p:nvPr/>
        </p:nvPicPr>
        <p:blipFill>
          <a:blip r:embed="rId4"/>
          <a:stretch>
            <a:fillRect/>
          </a:stretch>
        </p:blipFill>
        <p:spPr>
          <a:xfrm>
            <a:off x="1771555" y="5422891"/>
            <a:ext cx="92663" cy="134782"/>
          </a:xfrm>
          <a:prstGeom prst="rect">
            <a:avLst/>
          </a:prstGeom>
        </p:spPr>
      </p:pic>
      <p:sp>
        <p:nvSpPr>
          <p:cNvPr id="64" name="TextBox 63"/>
          <p:cNvSpPr txBox="1"/>
          <p:nvPr/>
        </p:nvSpPr>
        <p:spPr>
          <a:xfrm>
            <a:off x="715547" y="6064427"/>
            <a:ext cx="1149447" cy="139750"/>
          </a:xfrm>
          <a:prstGeom prst="rect">
            <a:avLst/>
          </a:prstGeom>
          <a:noFill/>
        </p:spPr>
        <p:txBody>
          <a:bodyPr wrap="none" lIns="0" rIns="0" tIns="0" bIns="0">
            <a:spAutoFit/>
          </a:bodyPr>
          <a:lstStyle/>
          <a:p>
            <a:r>
              <a:rPr sz="791" b="1">
                <a:solidFill>
                  <a:srgbClr val="2E2E2E"/>
                </a:solidFill>
                <a:latin typeface="Calibri"/>
              </a:rPr>
              <a:t>Passive Insulated Transport</a:t>
            </a:r>
          </a:p>
        </p:txBody>
      </p:sp>
      <p:sp>
        <p:nvSpPr>
          <p:cNvPr id="65" name="TextBox 64"/>
          <p:cNvSpPr txBox="1"/>
          <p:nvPr/>
        </p:nvSpPr>
        <p:spPr>
          <a:xfrm>
            <a:off x="1302841" y="6185128"/>
            <a:ext cx="527452" cy="139750"/>
          </a:xfrm>
          <a:prstGeom prst="rect">
            <a:avLst/>
          </a:prstGeom>
          <a:noFill/>
        </p:spPr>
        <p:txBody>
          <a:bodyPr wrap="none" lIns="0" rIns="0" tIns="0" bIns="0">
            <a:spAutoFit/>
          </a:bodyPr>
          <a:lstStyle/>
          <a:p>
            <a:r>
              <a:rPr sz="791" b="1">
                <a:solidFill>
                  <a:srgbClr val="2E2E2E"/>
                </a:solidFill>
                <a:latin typeface="Calibri"/>
              </a:rPr>
              <a:t>Containers</a:t>
            </a:r>
          </a:p>
        </p:txBody>
      </p:sp>
      <p:pic>
        <p:nvPicPr>
          <p:cNvPr id="66" name="Picture 65" descr="lock.png"/>
          <p:cNvPicPr>
            <a:picLocks noChangeAspect="1"/>
          </p:cNvPicPr>
          <p:nvPr/>
        </p:nvPicPr>
        <p:blipFill>
          <a:blip r:embed="rId4"/>
          <a:stretch>
            <a:fillRect/>
          </a:stretch>
        </p:blipFill>
        <p:spPr>
          <a:xfrm>
            <a:off x="1771555" y="6178087"/>
            <a:ext cx="92663" cy="134782"/>
          </a:xfrm>
          <a:prstGeom prst="rect">
            <a:avLst/>
          </a:prstGeom>
        </p:spPr>
      </p:pic>
      <p:sp>
        <p:nvSpPr>
          <p:cNvPr id="67" name="TextBox 66"/>
          <p:cNvSpPr txBox="1"/>
          <p:nvPr/>
        </p:nvSpPr>
        <p:spPr>
          <a:xfrm>
            <a:off x="5972175" y="3342512"/>
            <a:ext cx="1021925" cy="139750"/>
          </a:xfrm>
          <a:prstGeom prst="rect">
            <a:avLst/>
          </a:prstGeom>
          <a:noFill/>
        </p:spPr>
        <p:txBody>
          <a:bodyPr wrap="none" lIns="0" rIns="0" tIns="0" bIns="0">
            <a:spAutoFit/>
          </a:bodyPr>
          <a:lstStyle/>
          <a:p>
            <a:r>
              <a:rPr sz="791" b="1">
                <a:solidFill>
                  <a:srgbClr val="2E2E2E"/>
                </a:solidFill>
                <a:latin typeface="Calibri"/>
              </a:rPr>
              <a:t>Organ-Specific Devices</a:t>
            </a:r>
          </a:p>
        </p:txBody>
      </p:sp>
      <p:pic>
        <p:nvPicPr>
          <p:cNvPr id="68" name="Picture 67" descr="lock.png"/>
          <p:cNvPicPr>
            <a:picLocks noChangeAspect="1"/>
          </p:cNvPicPr>
          <p:nvPr/>
        </p:nvPicPr>
        <p:blipFill>
          <a:blip r:embed="rId4"/>
          <a:stretch>
            <a:fillRect/>
          </a:stretch>
        </p:blipFill>
        <p:spPr>
          <a:xfrm>
            <a:off x="6935361" y="3335471"/>
            <a:ext cx="92663" cy="134782"/>
          </a:xfrm>
          <a:prstGeom prst="rect">
            <a:avLst/>
          </a:prstGeom>
        </p:spPr>
      </p:pic>
      <p:sp>
        <p:nvSpPr>
          <p:cNvPr id="69" name="TextBox 68"/>
          <p:cNvSpPr txBox="1"/>
          <p:nvPr/>
        </p:nvSpPr>
        <p:spPr>
          <a:xfrm>
            <a:off x="5972175" y="5782474"/>
            <a:ext cx="1362075" cy="139750"/>
          </a:xfrm>
          <a:prstGeom prst="rect">
            <a:avLst/>
          </a:prstGeom>
          <a:noFill/>
        </p:spPr>
        <p:txBody>
          <a:bodyPr wrap="none" lIns="0" rIns="0" tIns="0" bIns="0">
            <a:spAutoFit/>
          </a:bodyPr>
          <a:lstStyle/>
          <a:p>
            <a:r>
              <a:rPr sz="791" b="1">
                <a:solidFill>
                  <a:srgbClr val="2E2E2E"/>
                </a:solidFill>
                <a:latin typeface="Calibri"/>
              </a:rPr>
              <a:t>Multi-Organ Compatible Devices</a:t>
            </a:r>
          </a:p>
        </p:txBody>
      </p:sp>
      <p:pic>
        <p:nvPicPr>
          <p:cNvPr id="70" name="Picture 69" descr="lock.png"/>
          <p:cNvPicPr>
            <a:picLocks noChangeAspect="1"/>
          </p:cNvPicPr>
          <p:nvPr/>
        </p:nvPicPr>
        <p:blipFill>
          <a:blip r:embed="rId4"/>
          <a:stretch>
            <a:fillRect/>
          </a:stretch>
        </p:blipFill>
        <p:spPr>
          <a:xfrm>
            <a:off x="5962478" y="5896134"/>
            <a:ext cx="92663" cy="134782"/>
          </a:xfrm>
          <a:prstGeom prst="rect">
            <a:avLst/>
          </a:prstGeom>
        </p:spPr>
      </p:pic>
      <p:sp>
        <p:nvSpPr>
          <p:cNvPr id="71" name="TextBox 70"/>
          <p:cNvSpPr txBox="1"/>
          <p:nvPr/>
        </p:nvSpPr>
        <p:spPr>
          <a:xfrm>
            <a:off x="7715250" y="1400175"/>
            <a:ext cx="4171950" cy="194310"/>
          </a:xfrm>
          <a:prstGeom prst="rect">
            <a:avLst/>
          </a:prstGeom>
          <a:noFill/>
        </p:spPr>
        <p:txBody>
          <a:bodyPr wrap="none" lIns="0" rIns="0" tIns="0" bIns="0">
            <a:spAutoFit/>
          </a:bodyPr>
          <a:lstStyle/>
          <a:p>
            <a:r>
              <a:rPr sz="1150" b="0">
                <a:solidFill>
                  <a:srgbClr val="2E2E2E"/>
                </a:solidFill>
                <a:latin typeface="Calibri"/>
              </a:rPr>
              <a:t>Active temperature-controlled transport devices segment is projected</a:t>
            </a:r>
          </a:p>
        </p:txBody>
      </p:sp>
      <p:sp>
        <p:nvSpPr>
          <p:cNvPr id="72" name="TextBox 71"/>
          <p:cNvSpPr txBox="1"/>
          <p:nvPr/>
        </p:nvSpPr>
        <p:spPr>
          <a:xfrm>
            <a:off x="7715250" y="1575435"/>
            <a:ext cx="4171950" cy="194310"/>
          </a:xfrm>
          <a:prstGeom prst="rect">
            <a:avLst/>
          </a:prstGeom>
          <a:noFill/>
        </p:spPr>
        <p:txBody>
          <a:bodyPr wrap="none" lIns="0" rIns="0" tIns="0" bIns="0">
            <a:spAutoFit/>
          </a:bodyPr>
          <a:lstStyle/>
          <a:p>
            <a:r>
              <a:rPr sz="1150" b="0">
                <a:solidFill>
                  <a:srgbClr val="2E2E2E"/>
                </a:solidFill>
                <a:latin typeface="Calibri"/>
              </a:rPr>
              <a:t>to account for the largest share of the North America organ transport</a:t>
            </a:r>
          </a:p>
        </p:txBody>
      </p:sp>
      <p:sp>
        <p:nvSpPr>
          <p:cNvPr id="73" name="TextBox 72"/>
          <p:cNvSpPr txBox="1"/>
          <p:nvPr/>
        </p:nvSpPr>
        <p:spPr>
          <a:xfrm>
            <a:off x="7715250" y="1750695"/>
            <a:ext cx="3162076" cy="194310"/>
          </a:xfrm>
          <a:prstGeom prst="rect">
            <a:avLst/>
          </a:prstGeom>
          <a:noFill/>
        </p:spPr>
        <p:txBody>
          <a:bodyPr wrap="none" lIns="0" rIns="0" tIns="0" bIns="0">
            <a:spAutoFit/>
          </a:bodyPr>
          <a:lstStyle/>
          <a:p>
            <a:r>
              <a:rPr sz="1150" b="0">
                <a:solidFill>
                  <a:srgbClr val="2E2E2E"/>
                </a:solidFill>
                <a:latin typeface="Calibri"/>
              </a:rPr>
              <a:t>devices market, led by organ-specific devices at US$</a:t>
            </a:r>
          </a:p>
        </p:txBody>
      </p:sp>
      <p:pic>
        <p:nvPicPr>
          <p:cNvPr id="74" name="Picture 73" descr="lock.png"/>
          <p:cNvPicPr>
            <a:picLocks noChangeAspect="1"/>
          </p:cNvPicPr>
          <p:nvPr/>
        </p:nvPicPr>
        <p:blipFill>
          <a:blip r:embed="rId4"/>
          <a:stretch>
            <a:fillRect/>
          </a:stretch>
        </p:blipFill>
        <p:spPr>
          <a:xfrm>
            <a:off x="10826480" y="1740471"/>
            <a:ext cx="134549" cy="195707"/>
          </a:xfrm>
          <a:prstGeom prst="rect">
            <a:avLst/>
          </a:prstGeom>
        </p:spPr>
      </p:pic>
      <p:sp>
        <p:nvSpPr>
          <p:cNvPr id="75" name="TextBox 74"/>
          <p:cNvSpPr txBox="1"/>
          <p:nvPr/>
        </p:nvSpPr>
        <p:spPr>
          <a:xfrm>
            <a:off x="11001589" y="1750695"/>
            <a:ext cx="787908" cy="194310"/>
          </a:xfrm>
          <a:prstGeom prst="rect">
            <a:avLst/>
          </a:prstGeom>
          <a:noFill/>
        </p:spPr>
        <p:txBody>
          <a:bodyPr wrap="none" lIns="0" rIns="0" tIns="0" bIns="0">
            <a:spAutoFit/>
          </a:bodyPr>
          <a:lstStyle/>
          <a:p>
            <a:r>
              <a:rPr sz="1150" b="0">
                <a:solidFill>
                  <a:srgbClr val="2E2E2E"/>
                </a:solidFill>
                <a:latin typeface="Calibri"/>
              </a:rPr>
              <a:t>Mn in 2036.</a:t>
            </a:r>
          </a:p>
        </p:txBody>
      </p:sp>
      <p:sp>
        <p:nvSpPr>
          <p:cNvPr id="76" name="TextBox 75"/>
          <p:cNvSpPr txBox="1"/>
          <p:nvPr/>
        </p:nvSpPr>
        <p:spPr>
          <a:xfrm>
            <a:off x="7715250" y="1925955"/>
            <a:ext cx="4059200" cy="194310"/>
          </a:xfrm>
          <a:prstGeom prst="rect">
            <a:avLst/>
          </a:prstGeom>
          <a:noFill/>
        </p:spPr>
        <p:txBody>
          <a:bodyPr wrap="none" lIns="0" rIns="0" tIns="0" bIns="0">
            <a:spAutoFit/>
          </a:bodyPr>
          <a:lstStyle/>
          <a:p>
            <a:r>
              <a:rPr sz="1150" b="0">
                <a:solidFill>
                  <a:srgbClr val="2E2E2E"/>
                </a:solidFill>
                <a:latin typeface="Calibri"/>
              </a:rPr>
              <a:t>'Active Temperature-Controlled Transport Devices × Organ-Specific</a:t>
            </a:r>
          </a:p>
        </p:txBody>
      </p:sp>
      <p:sp>
        <p:nvSpPr>
          <p:cNvPr id="77" name="TextBox 76"/>
          <p:cNvSpPr txBox="1"/>
          <p:nvPr/>
        </p:nvSpPr>
        <p:spPr>
          <a:xfrm>
            <a:off x="7715250" y="2101215"/>
            <a:ext cx="2954697" cy="194310"/>
          </a:xfrm>
          <a:prstGeom prst="rect">
            <a:avLst/>
          </a:prstGeom>
          <a:noFill/>
        </p:spPr>
        <p:txBody>
          <a:bodyPr wrap="none" lIns="0" rIns="0" tIns="0" bIns="0">
            <a:spAutoFit/>
          </a:bodyPr>
          <a:lstStyle/>
          <a:p>
            <a:r>
              <a:rPr sz="1150" b="0">
                <a:solidFill>
                  <a:srgbClr val="2E2E2E"/>
                </a:solidFill>
                <a:latin typeface="Calibri"/>
              </a:rPr>
              <a:t>Devices' is the single largest cross-sectional cell (</a:t>
            </a:r>
          </a:p>
        </p:txBody>
      </p:sp>
      <p:pic>
        <p:nvPicPr>
          <p:cNvPr id="78" name="Picture 77" descr="lock.png"/>
          <p:cNvPicPr>
            <a:picLocks noChangeAspect="1"/>
          </p:cNvPicPr>
          <p:nvPr/>
        </p:nvPicPr>
        <p:blipFill>
          <a:blip r:embed="rId4"/>
          <a:stretch>
            <a:fillRect/>
          </a:stretch>
        </p:blipFill>
        <p:spPr>
          <a:xfrm>
            <a:off x="10619101" y="2090991"/>
            <a:ext cx="134549" cy="195707"/>
          </a:xfrm>
          <a:prstGeom prst="rect">
            <a:avLst/>
          </a:prstGeom>
        </p:spPr>
      </p:pic>
      <p:sp>
        <p:nvSpPr>
          <p:cNvPr id="79" name="TextBox 78"/>
          <p:cNvSpPr txBox="1"/>
          <p:nvPr/>
        </p:nvSpPr>
        <p:spPr>
          <a:xfrm>
            <a:off x="10794210" y="2101215"/>
            <a:ext cx="1064319" cy="194310"/>
          </a:xfrm>
          <a:prstGeom prst="rect">
            <a:avLst/>
          </a:prstGeom>
          <a:noFill/>
        </p:spPr>
        <p:txBody>
          <a:bodyPr wrap="none" lIns="0" rIns="0" tIns="0" bIns="0">
            <a:spAutoFit/>
          </a:bodyPr>
          <a:lstStyle/>
          <a:p>
            <a:r>
              <a:rPr sz="1150" b="0">
                <a:solidFill>
                  <a:srgbClr val="2E2E2E"/>
                </a:solidFill>
                <a:latin typeface="Calibri"/>
              </a:rPr>
              <a:t>US$ Mn, 2026E),</a:t>
            </a:r>
          </a:p>
        </p:txBody>
      </p:sp>
      <p:sp>
        <p:nvSpPr>
          <p:cNvPr id="80" name="TextBox 79"/>
          <p:cNvSpPr txBox="1"/>
          <p:nvPr/>
        </p:nvSpPr>
        <p:spPr>
          <a:xfrm>
            <a:off x="7715250" y="2276475"/>
            <a:ext cx="3629893" cy="194310"/>
          </a:xfrm>
          <a:prstGeom prst="rect">
            <a:avLst/>
          </a:prstGeom>
          <a:noFill/>
        </p:spPr>
        <p:txBody>
          <a:bodyPr wrap="none" lIns="0" rIns="0" tIns="0" bIns="0">
            <a:spAutoFit/>
          </a:bodyPr>
          <a:lstStyle/>
          <a:p>
            <a:r>
              <a:rPr sz="1150" b="0">
                <a:solidFill>
                  <a:srgbClr val="2E2E2E"/>
                </a:solidFill>
                <a:latin typeface="Calibri"/>
              </a:rPr>
              <a:t>while 'Passive Insulated Transport Containers × Multi-Organ</a:t>
            </a:r>
          </a:p>
        </p:txBody>
      </p:sp>
      <p:sp>
        <p:nvSpPr>
          <p:cNvPr id="81" name="TextBox 80"/>
          <p:cNvSpPr txBox="1"/>
          <p:nvPr/>
        </p:nvSpPr>
        <p:spPr>
          <a:xfrm>
            <a:off x="7715250" y="2451735"/>
            <a:ext cx="3660682" cy="194310"/>
          </a:xfrm>
          <a:prstGeom prst="rect">
            <a:avLst/>
          </a:prstGeom>
          <a:noFill/>
        </p:spPr>
        <p:txBody>
          <a:bodyPr wrap="none" lIns="0" rIns="0" tIns="0" bIns="0">
            <a:spAutoFit/>
          </a:bodyPr>
          <a:lstStyle/>
          <a:p>
            <a:r>
              <a:rPr sz="1150" b="0">
                <a:solidFill>
                  <a:srgbClr val="2E2E2E"/>
                </a:solidFill>
                <a:latin typeface="Calibri"/>
              </a:rPr>
              <a:t>Compatible Devices' records the fastest growth at a CAGR of</a:t>
            </a:r>
          </a:p>
        </p:txBody>
      </p:sp>
      <p:pic>
        <p:nvPicPr>
          <p:cNvPr id="82" name="Picture 81" descr="lock.png"/>
          <p:cNvPicPr>
            <a:picLocks noChangeAspect="1"/>
          </p:cNvPicPr>
          <p:nvPr/>
        </p:nvPicPr>
        <p:blipFill>
          <a:blip r:embed="rId4"/>
          <a:stretch>
            <a:fillRect/>
          </a:stretch>
        </p:blipFill>
        <p:spPr>
          <a:xfrm>
            <a:off x="11325086" y="2441511"/>
            <a:ext cx="134549" cy="195707"/>
          </a:xfrm>
          <a:prstGeom prst="rect">
            <a:avLst/>
          </a:prstGeom>
        </p:spPr>
      </p:pic>
      <p:sp>
        <p:nvSpPr>
          <p:cNvPr id="83" name="TextBox 82"/>
          <p:cNvSpPr txBox="1"/>
          <p:nvPr/>
        </p:nvSpPr>
        <p:spPr>
          <a:xfrm>
            <a:off x="11500195" y="24517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84" name="TextBox 83"/>
          <p:cNvSpPr txBox="1"/>
          <p:nvPr/>
        </p:nvSpPr>
        <p:spPr>
          <a:xfrm>
            <a:off x="7715250" y="2626995"/>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85" name="TextBox 84"/>
          <p:cNvSpPr txBox="1"/>
          <p:nvPr/>
        </p:nvSpPr>
        <p:spPr>
          <a:xfrm>
            <a:off x="7715250" y="2854832"/>
            <a:ext cx="4171950" cy="194310"/>
          </a:xfrm>
          <a:prstGeom prst="rect">
            <a:avLst/>
          </a:prstGeom>
          <a:noFill/>
        </p:spPr>
        <p:txBody>
          <a:bodyPr wrap="none" lIns="0" rIns="0" tIns="0" bIns="0">
            <a:spAutoFit/>
          </a:bodyPr>
          <a:lstStyle/>
          <a:p>
            <a:r>
              <a:rPr sz="1150" b="0">
                <a:solidFill>
                  <a:srgbClr val="2E2E2E"/>
                </a:solidFill>
                <a:latin typeface="Calibri"/>
              </a:rPr>
              <a:t>Combined, the top three device technology × organ compatibility cells</a:t>
            </a:r>
          </a:p>
        </p:txBody>
      </p:sp>
      <p:sp>
        <p:nvSpPr>
          <p:cNvPr id="86" name="TextBox 85"/>
          <p:cNvSpPr txBox="1"/>
          <p:nvPr/>
        </p:nvSpPr>
        <p:spPr>
          <a:xfrm>
            <a:off x="7715250" y="303009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87" name="Picture 86" descr="lock.png"/>
          <p:cNvPicPr>
            <a:picLocks noChangeAspect="1"/>
          </p:cNvPicPr>
          <p:nvPr/>
        </p:nvPicPr>
        <p:blipFill>
          <a:blip r:embed="rId4"/>
          <a:stretch>
            <a:fillRect/>
          </a:stretch>
        </p:blipFill>
        <p:spPr>
          <a:xfrm>
            <a:off x="10004949" y="3019869"/>
            <a:ext cx="134549" cy="195707"/>
          </a:xfrm>
          <a:prstGeom prst="rect">
            <a:avLst/>
          </a:prstGeom>
        </p:spPr>
      </p:pic>
      <p:sp>
        <p:nvSpPr>
          <p:cNvPr id="88" name="TextBox 87"/>
          <p:cNvSpPr txBox="1"/>
          <p:nvPr/>
        </p:nvSpPr>
        <p:spPr>
          <a:xfrm>
            <a:off x="10180058" y="303009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Device Technology × Organ Compatibility,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organ compatibility sub-segments</a:t>
            </a:r>
          </a:p>
        </p:txBody>
      </p:sp>
      <p:sp>
        <p:nvSpPr>
          <p:cNvPr id="10" name="Rounded Rectangle 9"/>
          <p:cNvSpPr/>
          <p:nvPr/>
        </p:nvSpPr>
        <p:spPr>
          <a:xfrm>
            <a:off x="142875" y="981075"/>
            <a:ext cx="11906250" cy="3514725"/>
          </a:xfrm>
          <a:prstGeom prst="roundRect">
            <a:avLst>
              <a:gd name="adj" fmla="val 21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Device Technology × Organ Compatibility, 2026E (% of each row)</a:t>
            </a:r>
          </a:p>
        </p:txBody>
      </p:sp>
      <p:graphicFrame>
        <p:nvGraphicFramePr>
          <p:cNvPr id="12" name="Table 11"/>
          <p:cNvGraphicFramePr>
            <a:graphicFrameLocks noGrp="1"/>
          </p:cNvGraphicFramePr>
          <p:nvPr/>
        </p:nvGraphicFramePr>
        <p:xfrm>
          <a:off x="152400" y="1238250"/>
          <a:ext cx="11887199" cy="3047997"/>
        </p:xfrm>
        <a:graphic>
          <a:graphicData uri="http://schemas.openxmlformats.org/drawingml/2006/table">
            <a:tbl>
              <a:tblPr>
                <a:tableStyleId>{5C22544A-7EE6-4342-B048-85BDC9FD1C3A}</a:tableStyleId>
              </a:tblPr>
              <a:tblGrid>
                <a:gridCol w="3092148"/>
                <a:gridCol w="1294619"/>
                <a:gridCol w="1200222"/>
                <a:gridCol w="1236093"/>
                <a:gridCol w="1198334"/>
                <a:gridCol w="1555152"/>
                <a:gridCol w="1766825"/>
                <a:gridCol w="543806"/>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5">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2629">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Kidney-Specific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Liver-Specific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Heart-Specific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Lung-Specific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Organ-Specific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705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295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55383" y="3031318"/>
            <a:ext cx="366712" cy="533400"/>
          </a:xfrm>
          <a:prstGeom prst="rect">
            <a:avLst/>
          </a:prstGeom>
        </p:spPr>
      </p:pic>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Device Technology × Organ Compatibility,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Organ Compatibility Mix by Device Technology,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733715" y="2686119"/>
            <a:ext cx="393072" cy="571741"/>
          </a:xfrm>
          <a:prstGeom prst="rect">
            <a:avLst/>
          </a:prstGeom>
        </p:spPr>
      </p:pic>
      <p:sp>
        <p:nvSpPr>
          <p:cNvPr id="19" name="TextBox 18"/>
          <p:cNvSpPr txBox="1"/>
          <p:nvPr/>
        </p:nvSpPr>
        <p:spPr>
          <a:xfrm>
            <a:off x="7715250" y="1400175"/>
            <a:ext cx="3953656" cy="194310"/>
          </a:xfrm>
          <a:prstGeom prst="rect">
            <a:avLst/>
          </a:prstGeom>
          <a:noFill/>
        </p:spPr>
        <p:txBody>
          <a:bodyPr wrap="none" lIns="0" rIns="0" tIns="0" bIns="0">
            <a:spAutoFit/>
          </a:bodyPr>
          <a:lstStyle/>
          <a:p>
            <a:r>
              <a:rPr sz="1150" b="0">
                <a:solidFill>
                  <a:srgbClr val="2E2E2E"/>
                </a:solidFill>
                <a:latin typeface="Calibri"/>
              </a:rPr>
              <a:t>▪ 'Other Organ-Specific Devices' holds the highest share of 'Active</a:t>
            </a:r>
          </a:p>
        </p:txBody>
      </p:sp>
      <p:sp>
        <p:nvSpPr>
          <p:cNvPr id="20" name="TextBox 19"/>
          <p:cNvSpPr txBox="1"/>
          <p:nvPr/>
        </p:nvSpPr>
        <p:spPr>
          <a:xfrm>
            <a:off x="7715250" y="1575435"/>
            <a:ext cx="2811499" cy="194310"/>
          </a:xfrm>
          <a:prstGeom prst="rect">
            <a:avLst/>
          </a:prstGeom>
          <a:noFill/>
        </p:spPr>
        <p:txBody>
          <a:bodyPr wrap="none" lIns="0" rIns="0" tIns="0" bIns="0">
            <a:spAutoFit/>
          </a:bodyPr>
          <a:lstStyle/>
          <a:p>
            <a:r>
              <a:rPr sz="1150" b="0">
                <a:solidFill>
                  <a:srgbClr val="2E2E2E"/>
                </a:solidFill>
                <a:latin typeface="Calibri"/>
              </a:rPr>
              <a:t>Temperature-Controlled Transport Devices' at</a:t>
            </a:r>
          </a:p>
        </p:txBody>
      </p:sp>
      <p:pic>
        <p:nvPicPr>
          <p:cNvPr id="21" name="Picture 20" descr="lock.png"/>
          <p:cNvPicPr>
            <a:picLocks noChangeAspect="1"/>
          </p:cNvPicPr>
          <p:nvPr/>
        </p:nvPicPr>
        <p:blipFill>
          <a:blip r:embed="rId5"/>
          <a:stretch>
            <a:fillRect/>
          </a:stretch>
        </p:blipFill>
        <p:spPr>
          <a:xfrm>
            <a:off x="10475903" y="1565211"/>
            <a:ext cx="134549" cy="195707"/>
          </a:xfrm>
          <a:prstGeom prst="rect">
            <a:avLst/>
          </a:prstGeom>
        </p:spPr>
      </p:pic>
      <p:sp>
        <p:nvSpPr>
          <p:cNvPr id="22" name="TextBox 21"/>
          <p:cNvSpPr txBox="1"/>
          <p:nvPr/>
        </p:nvSpPr>
        <p:spPr>
          <a:xfrm>
            <a:off x="10651012"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865512" cy="194310"/>
          </a:xfrm>
          <a:prstGeom prst="rect">
            <a:avLst/>
          </a:prstGeom>
          <a:noFill/>
        </p:spPr>
        <p:txBody>
          <a:bodyPr wrap="none" lIns="0" rIns="0" tIns="0" bIns="0">
            <a:spAutoFit/>
          </a:bodyPr>
          <a:lstStyle/>
          <a:p>
            <a:r>
              <a:rPr sz="1150" b="0">
                <a:solidFill>
                  <a:srgbClr val="2E2E2E"/>
                </a:solidFill>
                <a:latin typeface="Calibri"/>
              </a:rPr>
              <a:t>▪ 'Active Temperature-Controlled Transport Devices' is the most</a:t>
            </a:r>
          </a:p>
        </p:txBody>
      </p:sp>
      <p:sp>
        <p:nvSpPr>
          <p:cNvPr id="24" name="TextBox 23"/>
          <p:cNvSpPr txBox="1"/>
          <p:nvPr/>
        </p:nvSpPr>
        <p:spPr>
          <a:xfrm>
            <a:off x="7715250" y="1978533"/>
            <a:ext cx="3117006" cy="194310"/>
          </a:xfrm>
          <a:prstGeom prst="rect">
            <a:avLst/>
          </a:prstGeom>
          <a:noFill/>
        </p:spPr>
        <p:txBody>
          <a:bodyPr wrap="none" lIns="0" rIns="0" tIns="0" bIns="0">
            <a:spAutoFit/>
          </a:bodyPr>
          <a:lstStyle/>
          <a:p>
            <a:r>
              <a:rPr sz="1150" b="0">
                <a:solidFill>
                  <a:srgbClr val="2E2E2E"/>
                </a:solidFill>
                <a:latin typeface="Calibri"/>
              </a:rPr>
              <a:t>concentrated device technology sub-segment, with</a:t>
            </a:r>
          </a:p>
        </p:txBody>
      </p:sp>
      <p:pic>
        <p:nvPicPr>
          <p:cNvPr id="25" name="Picture 24" descr="lock.png"/>
          <p:cNvPicPr>
            <a:picLocks noChangeAspect="1"/>
          </p:cNvPicPr>
          <p:nvPr/>
        </p:nvPicPr>
        <p:blipFill>
          <a:blip r:embed="rId5"/>
          <a:stretch>
            <a:fillRect/>
          </a:stretch>
        </p:blipFill>
        <p:spPr>
          <a:xfrm>
            <a:off x="10781410" y="1968309"/>
            <a:ext cx="134549" cy="195707"/>
          </a:xfrm>
          <a:prstGeom prst="rect">
            <a:avLst/>
          </a:prstGeom>
        </p:spPr>
      </p:pic>
      <p:sp>
        <p:nvSpPr>
          <p:cNvPr id="26" name="TextBox 25"/>
          <p:cNvSpPr txBox="1"/>
          <p:nvPr/>
        </p:nvSpPr>
        <p:spPr>
          <a:xfrm>
            <a:off x="10956519" y="1978533"/>
            <a:ext cx="722585" cy="194310"/>
          </a:xfrm>
          <a:prstGeom prst="rect">
            <a:avLst/>
          </a:prstGeom>
          <a:noFill/>
        </p:spPr>
        <p:txBody>
          <a:bodyPr wrap="none" lIns="0" rIns="0" tIns="0" bIns="0">
            <a:spAutoFit/>
          </a:bodyPr>
          <a:lstStyle/>
          <a:p>
            <a:r>
              <a:rPr sz="1150" b="0">
                <a:solidFill>
                  <a:srgbClr val="2E2E2E"/>
                </a:solidFill>
                <a:latin typeface="Calibri"/>
              </a:rPr>
              <a:t>of its value</a:t>
            </a:r>
          </a:p>
        </p:txBody>
      </p:sp>
      <p:sp>
        <p:nvSpPr>
          <p:cNvPr id="27" name="TextBox 26"/>
          <p:cNvSpPr txBox="1"/>
          <p:nvPr/>
        </p:nvSpPr>
        <p:spPr>
          <a:xfrm>
            <a:off x="7715250" y="2153793"/>
            <a:ext cx="2106352" cy="194310"/>
          </a:xfrm>
          <a:prstGeom prst="rect">
            <a:avLst/>
          </a:prstGeom>
          <a:noFill/>
        </p:spPr>
        <p:txBody>
          <a:bodyPr wrap="none" lIns="0" rIns="0" tIns="0" bIns="0">
            <a:spAutoFit/>
          </a:bodyPr>
          <a:lstStyle/>
          <a:p>
            <a:r>
              <a:rPr sz="1150" b="0">
                <a:solidFill>
                  <a:srgbClr val="2E2E2E"/>
                </a:solidFill>
                <a:latin typeface="Calibri"/>
              </a:rPr>
              <a:t>via 'Other Organ-Specific Devices'.</a:t>
            </a:r>
          </a:p>
        </p:txBody>
      </p:sp>
      <p:sp>
        <p:nvSpPr>
          <p:cNvPr id="28" name="TextBox 27"/>
          <p:cNvSpPr txBox="1"/>
          <p:nvPr/>
        </p:nvSpPr>
        <p:spPr>
          <a:xfrm>
            <a:off x="7715250" y="2381631"/>
            <a:ext cx="1937766" cy="194310"/>
          </a:xfrm>
          <a:prstGeom prst="rect">
            <a:avLst/>
          </a:prstGeom>
          <a:noFill/>
        </p:spPr>
        <p:txBody>
          <a:bodyPr wrap="none" lIns="0" rIns="0" tIns="0" bIns="0">
            <a:spAutoFit/>
          </a:bodyPr>
          <a:lstStyle/>
          <a:p>
            <a:r>
              <a:rPr sz="1150" b="0">
                <a:solidFill>
                  <a:srgbClr val="2E2E2E"/>
                </a:solidFill>
                <a:latin typeface="Calibri"/>
              </a:rPr>
              <a:t>▪ 'Lung-Specific Devices' gains +</a:t>
            </a:r>
          </a:p>
        </p:txBody>
      </p:sp>
      <p:pic>
        <p:nvPicPr>
          <p:cNvPr id="29" name="Picture 28" descr="lock.png"/>
          <p:cNvPicPr>
            <a:picLocks noChangeAspect="1"/>
          </p:cNvPicPr>
          <p:nvPr/>
        </p:nvPicPr>
        <p:blipFill>
          <a:blip r:embed="rId5"/>
          <a:stretch>
            <a:fillRect/>
          </a:stretch>
        </p:blipFill>
        <p:spPr>
          <a:xfrm>
            <a:off x="9602170" y="2371407"/>
            <a:ext cx="134549" cy="195707"/>
          </a:xfrm>
          <a:prstGeom prst="rect">
            <a:avLst/>
          </a:prstGeom>
        </p:spPr>
      </p:pic>
      <p:sp>
        <p:nvSpPr>
          <p:cNvPr id="30" name="TextBox 29"/>
          <p:cNvSpPr txBox="1"/>
          <p:nvPr/>
        </p:nvSpPr>
        <p:spPr>
          <a:xfrm>
            <a:off x="9777280" y="2381631"/>
            <a:ext cx="1581199" cy="194310"/>
          </a:xfrm>
          <a:prstGeom prst="rect">
            <a:avLst/>
          </a:prstGeom>
          <a:noFill/>
        </p:spPr>
        <p:txBody>
          <a:bodyPr wrap="none" lIns="0" rIns="0" tIns="0" bIns="0">
            <a:spAutoFit/>
          </a:bodyPr>
          <a:lstStyle/>
          <a:p>
            <a:r>
              <a:rPr sz="1150" b="0">
                <a:solidFill>
                  <a:srgbClr val="2E2E2E"/>
                </a:solidFill>
                <a:latin typeface="Calibri"/>
              </a:rPr>
              <a:t>BPS of share of the North</a:t>
            </a:r>
          </a:p>
        </p:txBody>
      </p:sp>
      <p:sp>
        <p:nvSpPr>
          <p:cNvPr id="31" name="TextBox 30"/>
          <p:cNvSpPr txBox="1"/>
          <p:nvPr/>
        </p:nvSpPr>
        <p:spPr>
          <a:xfrm>
            <a:off x="7715250" y="2556891"/>
            <a:ext cx="1986046" cy="194310"/>
          </a:xfrm>
          <a:prstGeom prst="rect">
            <a:avLst/>
          </a:prstGeom>
          <a:noFill/>
        </p:spPr>
        <p:txBody>
          <a:bodyPr wrap="none" lIns="0" rIns="0" tIns="0" bIns="0">
            <a:spAutoFit/>
          </a:bodyPr>
          <a:lstStyle/>
          <a:p>
            <a:r>
              <a:rPr sz="1150" b="0">
                <a:solidFill>
                  <a:srgbClr val="2E2E2E"/>
                </a:solidFill>
                <a:latin typeface="Calibri"/>
              </a:rPr>
              <a:t>America 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Device Technology × Organ Compatibility,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Technology × Organ Compatibility, 2026E–2036F</a:t>
            </a:r>
          </a:p>
        </p:txBody>
      </p:sp>
      <p:graphicFrame>
        <p:nvGraphicFramePr>
          <p:cNvPr id="12" name="Table 11"/>
          <p:cNvGraphicFramePr>
            <a:graphicFrameLocks noGrp="1"/>
          </p:cNvGraphicFramePr>
          <p:nvPr/>
        </p:nvGraphicFramePr>
        <p:xfrm>
          <a:off x="152400" y="1238250"/>
          <a:ext cx="11887200" cy="2466975"/>
        </p:xfrm>
        <a:graphic>
          <a:graphicData uri="http://schemas.openxmlformats.org/drawingml/2006/table">
            <a:tbl>
              <a:tblPr>
                <a:tableStyleId>{5C22544A-7EE6-4342-B048-85BDC9FD1C3A}</a:tableStyleId>
              </a:tblPr>
              <a:tblGrid>
                <a:gridCol w="5589798"/>
                <a:gridCol w="1049567"/>
                <a:gridCol w="1049567"/>
                <a:gridCol w="1049567"/>
                <a:gridCol w="1049567"/>
                <a:gridCol w="1049567"/>
                <a:gridCol w="1049567"/>
              </a:tblGrid>
              <a:tr h="246126">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5600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719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5334000" cy="20955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'Passive Insulated Transport Containers × Organ-Specific Devices' ranks highest (5/5); 'Passive Insulated Transport Containers × Multi-Organ Compatible Devices'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8704209" y="2451481"/>
            <a:ext cx="366712" cy="533400"/>
          </a:xfrm>
          <a:prstGeom prst="rect">
            <a:avLst/>
          </a:prstGeom>
        </p:spPr>
      </p:pic>
      <p:sp>
        <p:nvSpPr>
          <p:cNvPr id="32" name="TextBox 31"/>
          <p:cNvSpPr txBox="1"/>
          <p:nvPr/>
        </p:nvSpPr>
        <p:spPr>
          <a:xfrm>
            <a:off x="276225" y="4467225"/>
            <a:ext cx="4019723" cy="186689"/>
          </a:xfrm>
          <a:prstGeom prst="rect">
            <a:avLst/>
          </a:prstGeom>
          <a:noFill/>
        </p:spPr>
        <p:txBody>
          <a:bodyPr wrap="none" lIns="0" rIns="0" tIns="0" bIns="0">
            <a:spAutoFit/>
          </a:bodyPr>
          <a:lstStyle/>
          <a:p>
            <a:r>
              <a:rPr sz="1100" b="0">
                <a:solidFill>
                  <a:srgbClr val="2E2E2E"/>
                </a:solidFill>
                <a:latin typeface="Calibri"/>
              </a:rPr>
              <a:t>▪ 1. Passive Insulated Transport Containers × Organ-Specific Devices –</a:t>
            </a:r>
          </a:p>
        </p:txBody>
      </p:sp>
      <p:pic>
        <p:nvPicPr>
          <p:cNvPr id="33" name="Picture 32" descr="lock.png"/>
          <p:cNvPicPr>
            <a:picLocks noChangeAspect="1"/>
          </p:cNvPicPr>
          <p:nvPr/>
        </p:nvPicPr>
        <p:blipFill>
          <a:blip r:embed="rId4"/>
          <a:stretch>
            <a:fillRect/>
          </a:stretch>
        </p:blipFill>
        <p:spPr>
          <a:xfrm>
            <a:off x="4244000" y="4457446"/>
            <a:ext cx="128699" cy="187198"/>
          </a:xfrm>
          <a:prstGeom prst="rect">
            <a:avLst/>
          </a:prstGeom>
        </p:spPr>
      </p:pic>
      <p:sp>
        <p:nvSpPr>
          <p:cNvPr id="34" name="TextBox 33"/>
          <p:cNvSpPr txBox="1"/>
          <p:nvPr/>
        </p:nvSpPr>
        <p:spPr>
          <a:xfrm>
            <a:off x="4411496" y="4467225"/>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470945" y="4457446"/>
            <a:ext cx="128699" cy="187198"/>
          </a:xfrm>
          <a:prstGeom prst="rect">
            <a:avLst/>
          </a:prstGeom>
        </p:spPr>
      </p:pic>
      <p:sp>
        <p:nvSpPr>
          <p:cNvPr id="36" name="TextBox 35"/>
          <p:cNvSpPr txBox="1"/>
          <p:nvPr/>
        </p:nvSpPr>
        <p:spPr>
          <a:xfrm>
            <a:off x="4638441" y="4467225"/>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7" name="TextBox 36"/>
          <p:cNvSpPr txBox="1"/>
          <p:nvPr/>
        </p:nvSpPr>
        <p:spPr>
          <a:xfrm>
            <a:off x="276225" y="4685157"/>
            <a:ext cx="4641006" cy="186689"/>
          </a:xfrm>
          <a:prstGeom prst="rect">
            <a:avLst/>
          </a:prstGeom>
          <a:noFill/>
        </p:spPr>
        <p:txBody>
          <a:bodyPr wrap="none" lIns="0" rIns="0" tIns="0" bIns="0">
            <a:spAutoFit/>
          </a:bodyPr>
          <a:lstStyle/>
          <a:p>
            <a:r>
              <a:rPr sz="1100" b="0">
                <a:solidFill>
                  <a:srgbClr val="2E2E2E"/>
                </a:solidFill>
                <a:latin typeface="Calibri"/>
              </a:rPr>
              <a:t>▪ 2. Active Temperature-Controlled Transport Devices × Organ-Specific Devices –</a:t>
            </a:r>
          </a:p>
        </p:txBody>
      </p:sp>
      <p:pic>
        <p:nvPicPr>
          <p:cNvPr id="38" name="Picture 37" descr="lock.png"/>
          <p:cNvPicPr>
            <a:picLocks noChangeAspect="1"/>
          </p:cNvPicPr>
          <p:nvPr/>
        </p:nvPicPr>
        <p:blipFill>
          <a:blip r:embed="rId4"/>
          <a:stretch>
            <a:fillRect/>
          </a:stretch>
        </p:blipFill>
        <p:spPr>
          <a:xfrm>
            <a:off x="4865283" y="4675378"/>
            <a:ext cx="128699" cy="187198"/>
          </a:xfrm>
          <a:prstGeom prst="rect">
            <a:avLst/>
          </a:prstGeom>
        </p:spPr>
      </p:pic>
      <p:sp>
        <p:nvSpPr>
          <p:cNvPr id="39" name="TextBox 38"/>
          <p:cNvSpPr txBox="1"/>
          <p:nvPr/>
        </p:nvSpPr>
        <p:spPr>
          <a:xfrm>
            <a:off x="5032779" y="4685157"/>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5092228" y="4675378"/>
            <a:ext cx="128699" cy="187198"/>
          </a:xfrm>
          <a:prstGeom prst="rect">
            <a:avLst/>
          </a:prstGeom>
        </p:spPr>
      </p:pic>
      <p:sp>
        <p:nvSpPr>
          <p:cNvPr id="41" name="TextBox 40"/>
          <p:cNvSpPr txBox="1"/>
          <p:nvPr/>
        </p:nvSpPr>
        <p:spPr>
          <a:xfrm>
            <a:off x="5259724" y="468515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276225" y="4852797"/>
            <a:ext cx="272107" cy="186689"/>
          </a:xfrm>
          <a:prstGeom prst="rect">
            <a:avLst/>
          </a:prstGeom>
          <a:noFill/>
        </p:spPr>
        <p:txBody>
          <a:bodyPr wrap="none" lIns="0" rIns="0" tIns="0" bIns="0">
            <a:spAutoFit/>
          </a:bodyPr>
          <a:lstStyle/>
          <a:p>
            <a:r>
              <a:rPr sz="1100" b="0">
                <a:solidFill>
                  <a:srgbClr val="2E2E2E"/>
                </a:solidFill>
                <a:latin typeface="Calibri"/>
              </a:rPr>
              <a:t>2/5</a:t>
            </a:r>
          </a:p>
        </p:txBody>
      </p:sp>
      <p:sp>
        <p:nvSpPr>
          <p:cNvPr id="43" name="TextBox 42"/>
          <p:cNvSpPr txBox="1"/>
          <p:nvPr/>
        </p:nvSpPr>
        <p:spPr>
          <a:xfrm>
            <a:off x="276225" y="5070729"/>
            <a:ext cx="4588333" cy="186689"/>
          </a:xfrm>
          <a:prstGeom prst="rect">
            <a:avLst/>
          </a:prstGeom>
          <a:noFill/>
        </p:spPr>
        <p:txBody>
          <a:bodyPr wrap="none" lIns="0" rIns="0" tIns="0" bIns="0">
            <a:spAutoFit/>
          </a:bodyPr>
          <a:lstStyle/>
          <a:p>
            <a:r>
              <a:rPr sz="1100" b="0">
                <a:solidFill>
                  <a:srgbClr val="2E2E2E"/>
                </a:solidFill>
                <a:latin typeface="Calibri"/>
              </a:rPr>
              <a:t>▪ 3. Hypothermic Non-Oxygenated Perfusion Devices × Organ-Specific Devices –</a:t>
            </a:r>
          </a:p>
        </p:txBody>
      </p:sp>
      <p:pic>
        <p:nvPicPr>
          <p:cNvPr id="44" name="Picture 43" descr="lock.png"/>
          <p:cNvPicPr>
            <a:picLocks noChangeAspect="1"/>
          </p:cNvPicPr>
          <p:nvPr/>
        </p:nvPicPr>
        <p:blipFill>
          <a:blip r:embed="rId4"/>
          <a:stretch>
            <a:fillRect/>
          </a:stretch>
        </p:blipFill>
        <p:spPr>
          <a:xfrm>
            <a:off x="4812610" y="5060949"/>
            <a:ext cx="128699" cy="187198"/>
          </a:xfrm>
          <a:prstGeom prst="rect">
            <a:avLst/>
          </a:prstGeom>
        </p:spPr>
      </p:pic>
      <p:sp>
        <p:nvSpPr>
          <p:cNvPr id="45" name="TextBox 44"/>
          <p:cNvSpPr txBox="1"/>
          <p:nvPr/>
        </p:nvSpPr>
        <p:spPr>
          <a:xfrm>
            <a:off x="4980105" y="5070729"/>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5039555" y="5060949"/>
            <a:ext cx="128699" cy="187198"/>
          </a:xfrm>
          <a:prstGeom prst="rect">
            <a:avLst/>
          </a:prstGeom>
        </p:spPr>
      </p:pic>
      <p:sp>
        <p:nvSpPr>
          <p:cNvPr id="47" name="TextBox 46"/>
          <p:cNvSpPr txBox="1"/>
          <p:nvPr/>
        </p:nvSpPr>
        <p:spPr>
          <a:xfrm>
            <a:off x="5207051" y="5070729"/>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8" name="TextBox 47"/>
          <p:cNvSpPr txBox="1"/>
          <p:nvPr/>
        </p:nvSpPr>
        <p:spPr>
          <a:xfrm>
            <a:off x="276225" y="5238369"/>
            <a:ext cx="272107" cy="186689"/>
          </a:xfrm>
          <a:prstGeom prst="rect">
            <a:avLst/>
          </a:prstGeom>
          <a:noFill/>
        </p:spPr>
        <p:txBody>
          <a:bodyPr wrap="none" lIns="0" rIns="0" tIns="0" bIns="0">
            <a:spAutoFit/>
          </a:bodyPr>
          <a:lstStyle/>
          <a:p>
            <a:r>
              <a:rPr sz="1100" b="0">
                <a:solidFill>
                  <a:srgbClr val="2E2E2E"/>
                </a:solidFill>
                <a:latin typeface="Calibri"/>
              </a:rPr>
              <a:t>2/5</a:t>
            </a:r>
          </a:p>
        </p:txBody>
      </p:sp>
      <p:sp>
        <p:nvSpPr>
          <p:cNvPr id="49" name="TextBox 48"/>
          <p:cNvSpPr txBox="1"/>
          <p:nvPr/>
        </p:nvSpPr>
        <p:spPr>
          <a:xfrm>
            <a:off x="276225" y="5456301"/>
            <a:ext cx="3949327" cy="186689"/>
          </a:xfrm>
          <a:prstGeom prst="rect">
            <a:avLst/>
          </a:prstGeom>
          <a:noFill/>
        </p:spPr>
        <p:txBody>
          <a:bodyPr wrap="none" lIns="0" rIns="0" tIns="0" bIns="0">
            <a:spAutoFit/>
          </a:bodyPr>
          <a:lstStyle/>
          <a:p>
            <a:r>
              <a:rPr sz="1100" b="0">
                <a:solidFill>
                  <a:srgbClr val="2E2E2E"/>
                </a:solidFill>
                <a:latin typeface="Calibri"/>
              </a:rPr>
              <a:t>▪ 4. Multi-Temperature Perfusion Devices × Organ-Specific Devices –</a:t>
            </a:r>
          </a:p>
        </p:txBody>
      </p:sp>
      <p:pic>
        <p:nvPicPr>
          <p:cNvPr id="50" name="Picture 49" descr="lock.png"/>
          <p:cNvPicPr>
            <a:picLocks noChangeAspect="1"/>
          </p:cNvPicPr>
          <p:nvPr/>
        </p:nvPicPr>
        <p:blipFill>
          <a:blip r:embed="rId4"/>
          <a:stretch>
            <a:fillRect/>
          </a:stretch>
        </p:blipFill>
        <p:spPr>
          <a:xfrm>
            <a:off x="4173604" y="5446521"/>
            <a:ext cx="128699" cy="187198"/>
          </a:xfrm>
          <a:prstGeom prst="rect">
            <a:avLst/>
          </a:prstGeom>
        </p:spPr>
      </p:pic>
      <p:sp>
        <p:nvSpPr>
          <p:cNvPr id="51" name="TextBox 50"/>
          <p:cNvSpPr txBox="1"/>
          <p:nvPr/>
        </p:nvSpPr>
        <p:spPr>
          <a:xfrm>
            <a:off x="4341100" y="5456301"/>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4400549" y="5446521"/>
            <a:ext cx="128699" cy="187198"/>
          </a:xfrm>
          <a:prstGeom prst="rect">
            <a:avLst/>
          </a:prstGeom>
        </p:spPr>
      </p:pic>
      <p:sp>
        <p:nvSpPr>
          <p:cNvPr id="53" name="TextBox 52"/>
          <p:cNvSpPr txBox="1"/>
          <p:nvPr/>
        </p:nvSpPr>
        <p:spPr>
          <a:xfrm>
            <a:off x="4568045" y="5456301"/>
            <a:ext cx="338956" cy="186689"/>
          </a:xfrm>
          <a:prstGeom prst="rect">
            <a:avLst/>
          </a:prstGeom>
          <a:noFill/>
        </p:spPr>
        <p:txBody>
          <a:bodyPr wrap="none" lIns="0" rIns="0" tIns="0" bIns="0">
            <a:spAutoFit/>
          </a:bodyPr>
          <a:lstStyle/>
          <a:p>
            <a:r>
              <a:rPr sz="1100" b="0">
                <a:solidFill>
                  <a:srgbClr val="2E2E2E"/>
                </a:solidFill>
                <a:latin typeface="Calibri"/>
              </a:rPr>
              <a:t>· 2/5</a:t>
            </a:r>
          </a:p>
        </p:txBody>
      </p:sp>
      <p:sp>
        <p:nvSpPr>
          <p:cNvPr id="54" name="TextBox 53"/>
          <p:cNvSpPr txBox="1"/>
          <p:nvPr/>
        </p:nvSpPr>
        <p:spPr>
          <a:xfrm>
            <a:off x="276225" y="5674233"/>
            <a:ext cx="3889300" cy="186689"/>
          </a:xfrm>
          <a:prstGeom prst="rect">
            <a:avLst/>
          </a:prstGeom>
          <a:noFill/>
        </p:spPr>
        <p:txBody>
          <a:bodyPr wrap="none" lIns="0" rIns="0" tIns="0" bIns="0">
            <a:spAutoFit/>
          </a:bodyPr>
          <a:lstStyle/>
          <a:p>
            <a:r>
              <a:rPr sz="1100" b="0">
                <a:solidFill>
                  <a:srgbClr val="2E2E2E"/>
                </a:solidFill>
                <a:latin typeface="Calibri"/>
              </a:rPr>
              <a:t>▪ 5. Subnormothermic Perfusion Devices × Organ-Specific Devices –</a:t>
            </a:r>
          </a:p>
        </p:txBody>
      </p:sp>
      <p:pic>
        <p:nvPicPr>
          <p:cNvPr id="55" name="Picture 54" descr="lock.png"/>
          <p:cNvPicPr>
            <a:picLocks noChangeAspect="1"/>
          </p:cNvPicPr>
          <p:nvPr/>
        </p:nvPicPr>
        <p:blipFill>
          <a:blip r:embed="rId4"/>
          <a:stretch>
            <a:fillRect/>
          </a:stretch>
        </p:blipFill>
        <p:spPr>
          <a:xfrm>
            <a:off x="4113577" y="5664453"/>
            <a:ext cx="128699" cy="187198"/>
          </a:xfrm>
          <a:prstGeom prst="rect">
            <a:avLst/>
          </a:prstGeom>
        </p:spPr>
      </p:pic>
      <p:sp>
        <p:nvSpPr>
          <p:cNvPr id="56" name="TextBox 55"/>
          <p:cNvSpPr txBox="1"/>
          <p:nvPr/>
        </p:nvSpPr>
        <p:spPr>
          <a:xfrm>
            <a:off x="4281073" y="5674233"/>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4340522" y="5664453"/>
            <a:ext cx="128699" cy="187198"/>
          </a:xfrm>
          <a:prstGeom prst="rect">
            <a:avLst/>
          </a:prstGeom>
        </p:spPr>
      </p:pic>
      <p:sp>
        <p:nvSpPr>
          <p:cNvPr id="58" name="TextBox 57"/>
          <p:cNvSpPr txBox="1"/>
          <p:nvPr/>
        </p:nvSpPr>
        <p:spPr>
          <a:xfrm>
            <a:off x="4508018" y="5674233"/>
            <a:ext cx="338956" cy="186689"/>
          </a:xfrm>
          <a:prstGeom prst="rect">
            <a:avLst/>
          </a:prstGeom>
          <a:noFill/>
        </p:spPr>
        <p:txBody>
          <a:bodyPr wrap="none" lIns="0" rIns="0" tIns="0" bIns="0">
            <a:spAutoFit/>
          </a:bodyPr>
          <a:lstStyle/>
          <a:p>
            <a:r>
              <a:rPr sz="1100" b="0">
                <a:solidFill>
                  <a:srgbClr val="2E2E2E"/>
                </a:solidFill>
                <a:latin typeface="Calibri"/>
              </a:rPr>
              <a:t>· 2/5</a:t>
            </a:r>
          </a:p>
        </p:txBody>
      </p:sp>
      <p:sp>
        <p:nvSpPr>
          <p:cNvPr id="59" name="TextBox 58"/>
          <p:cNvSpPr txBox="1"/>
          <p:nvPr/>
        </p:nvSpPr>
        <p:spPr>
          <a:xfrm>
            <a:off x="6029325" y="4467225"/>
            <a:ext cx="1207516" cy="194310"/>
          </a:xfrm>
          <a:prstGeom prst="rect">
            <a:avLst/>
          </a:prstGeom>
          <a:noFill/>
        </p:spPr>
        <p:txBody>
          <a:bodyPr wrap="none" lIns="0" rIns="0" tIns="0" bIns="0">
            <a:spAutoFit/>
          </a:bodyPr>
          <a:lstStyle/>
          <a:p>
            <a:r>
              <a:rPr sz="1150" b="0">
                <a:solidFill>
                  <a:srgbClr val="2E2E2E"/>
                </a:solidFill>
                <a:latin typeface="Calibri"/>
              </a:rPr>
              <a:t>▪ 'Passive Insulated</a:t>
            </a:r>
          </a:p>
        </p:txBody>
      </p:sp>
      <p:sp>
        <p:nvSpPr>
          <p:cNvPr id="60" name="TextBox 59"/>
          <p:cNvSpPr txBox="1"/>
          <p:nvPr/>
        </p:nvSpPr>
        <p:spPr>
          <a:xfrm>
            <a:off x="6029325" y="4642485"/>
            <a:ext cx="1436861" cy="194310"/>
          </a:xfrm>
          <a:prstGeom prst="rect">
            <a:avLst/>
          </a:prstGeom>
          <a:noFill/>
        </p:spPr>
        <p:txBody>
          <a:bodyPr wrap="none" lIns="0" rIns="0" tIns="0" bIns="0">
            <a:spAutoFit/>
          </a:bodyPr>
          <a:lstStyle/>
          <a:p>
            <a:r>
              <a:rPr sz="1150" b="0">
                <a:solidFill>
                  <a:srgbClr val="2E2E2E"/>
                </a:solidFill>
                <a:latin typeface="Calibri"/>
              </a:rPr>
              <a:t>Transport Containers ×</a:t>
            </a:r>
          </a:p>
        </p:txBody>
      </p:sp>
      <p:sp>
        <p:nvSpPr>
          <p:cNvPr id="61" name="TextBox 60"/>
          <p:cNvSpPr txBox="1"/>
          <p:nvPr/>
        </p:nvSpPr>
        <p:spPr>
          <a:xfrm>
            <a:off x="6029325" y="4817745"/>
            <a:ext cx="1455402" cy="194310"/>
          </a:xfrm>
          <a:prstGeom prst="rect">
            <a:avLst/>
          </a:prstGeom>
          <a:noFill/>
        </p:spPr>
        <p:txBody>
          <a:bodyPr wrap="none" lIns="0" rIns="0" tIns="0" bIns="0">
            <a:spAutoFit/>
          </a:bodyPr>
          <a:lstStyle/>
          <a:p>
            <a:r>
              <a:rPr sz="1150" b="0">
                <a:solidFill>
                  <a:srgbClr val="2E2E2E"/>
                </a:solidFill>
                <a:latin typeface="Calibri"/>
              </a:rPr>
              <a:t>Organ-Specific Devices'</a:t>
            </a:r>
          </a:p>
        </p:txBody>
      </p:sp>
      <p:sp>
        <p:nvSpPr>
          <p:cNvPr id="62" name="TextBox 61"/>
          <p:cNvSpPr txBox="1"/>
          <p:nvPr/>
        </p:nvSpPr>
        <p:spPr>
          <a:xfrm>
            <a:off x="6029325" y="4993004"/>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3" name="Picture 62" descr="lock.png"/>
          <p:cNvPicPr>
            <a:picLocks noChangeAspect="1"/>
          </p:cNvPicPr>
          <p:nvPr/>
        </p:nvPicPr>
        <p:blipFill>
          <a:blip r:embed="rId4"/>
          <a:stretch>
            <a:fillRect/>
          </a:stretch>
        </p:blipFill>
        <p:spPr>
          <a:xfrm>
            <a:off x="6335083" y="4982781"/>
            <a:ext cx="134549" cy="195707"/>
          </a:xfrm>
          <a:prstGeom prst="rect">
            <a:avLst/>
          </a:prstGeom>
        </p:spPr>
      </p:pic>
      <p:sp>
        <p:nvSpPr>
          <p:cNvPr id="64" name="TextBox 63"/>
          <p:cNvSpPr txBox="1"/>
          <p:nvPr/>
        </p:nvSpPr>
        <p:spPr>
          <a:xfrm>
            <a:off x="6510192" y="4993004"/>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5" name="TextBox 64"/>
          <p:cNvSpPr txBox="1"/>
          <p:nvPr/>
        </p:nvSpPr>
        <p:spPr>
          <a:xfrm>
            <a:off x="6029325" y="516826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6" name="Picture 65" descr="lock.png"/>
          <p:cNvPicPr>
            <a:picLocks noChangeAspect="1"/>
          </p:cNvPicPr>
          <p:nvPr/>
        </p:nvPicPr>
        <p:blipFill>
          <a:blip r:embed="rId4"/>
          <a:stretch>
            <a:fillRect/>
          </a:stretch>
        </p:blipFill>
        <p:spPr>
          <a:xfrm>
            <a:off x="6127418" y="5158041"/>
            <a:ext cx="134549" cy="195707"/>
          </a:xfrm>
          <a:prstGeom prst="rect">
            <a:avLst/>
          </a:prstGeom>
        </p:spPr>
      </p:pic>
      <p:sp>
        <p:nvSpPr>
          <p:cNvPr id="67" name="TextBox 66"/>
          <p:cNvSpPr txBox="1"/>
          <p:nvPr/>
        </p:nvSpPr>
        <p:spPr>
          <a:xfrm>
            <a:off x="6302527" y="516826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8" name="TextBox 67"/>
          <p:cNvSpPr txBox="1"/>
          <p:nvPr/>
        </p:nvSpPr>
        <p:spPr>
          <a:xfrm>
            <a:off x="6029325" y="534352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9" name="TextBox 68"/>
          <p:cNvSpPr txBox="1"/>
          <p:nvPr/>
        </p:nvSpPr>
        <p:spPr>
          <a:xfrm>
            <a:off x="8124825" y="4467225"/>
            <a:ext cx="1207516" cy="194310"/>
          </a:xfrm>
          <a:prstGeom prst="rect">
            <a:avLst/>
          </a:prstGeom>
          <a:noFill/>
        </p:spPr>
        <p:txBody>
          <a:bodyPr wrap="none" lIns="0" rIns="0" tIns="0" bIns="0">
            <a:spAutoFit/>
          </a:bodyPr>
          <a:lstStyle/>
          <a:p>
            <a:r>
              <a:rPr sz="1150" b="0">
                <a:solidFill>
                  <a:srgbClr val="2E2E2E"/>
                </a:solidFill>
                <a:latin typeface="Calibri"/>
              </a:rPr>
              <a:t>▪ 'Passive Insulated</a:t>
            </a:r>
          </a:p>
        </p:txBody>
      </p:sp>
      <p:sp>
        <p:nvSpPr>
          <p:cNvPr id="70" name="TextBox 69"/>
          <p:cNvSpPr txBox="1"/>
          <p:nvPr/>
        </p:nvSpPr>
        <p:spPr>
          <a:xfrm>
            <a:off x="8124825" y="4642485"/>
            <a:ext cx="1436861" cy="194310"/>
          </a:xfrm>
          <a:prstGeom prst="rect">
            <a:avLst/>
          </a:prstGeom>
          <a:noFill/>
        </p:spPr>
        <p:txBody>
          <a:bodyPr wrap="none" lIns="0" rIns="0" tIns="0" bIns="0">
            <a:spAutoFit/>
          </a:bodyPr>
          <a:lstStyle/>
          <a:p>
            <a:r>
              <a:rPr sz="1150" b="0">
                <a:solidFill>
                  <a:srgbClr val="2E2E2E"/>
                </a:solidFill>
                <a:latin typeface="Calibri"/>
              </a:rPr>
              <a:t>Transport Containers ×</a:t>
            </a:r>
          </a:p>
        </p:txBody>
      </p:sp>
      <p:sp>
        <p:nvSpPr>
          <p:cNvPr id="71" name="TextBox 70"/>
          <p:cNvSpPr txBox="1"/>
          <p:nvPr/>
        </p:nvSpPr>
        <p:spPr>
          <a:xfrm>
            <a:off x="8124825" y="4817745"/>
            <a:ext cx="1519299" cy="194310"/>
          </a:xfrm>
          <a:prstGeom prst="rect">
            <a:avLst/>
          </a:prstGeom>
          <a:noFill/>
        </p:spPr>
        <p:txBody>
          <a:bodyPr wrap="none" lIns="0" rIns="0" tIns="0" bIns="0">
            <a:spAutoFit/>
          </a:bodyPr>
          <a:lstStyle/>
          <a:p>
            <a:r>
              <a:rPr sz="1150" b="0">
                <a:solidFill>
                  <a:srgbClr val="2E2E2E"/>
                </a:solidFill>
                <a:latin typeface="Calibri"/>
              </a:rPr>
              <a:t>Multi-Organ Compatible</a:t>
            </a:r>
          </a:p>
        </p:txBody>
      </p:sp>
      <p:sp>
        <p:nvSpPr>
          <p:cNvPr id="72" name="TextBox 71"/>
          <p:cNvSpPr txBox="1"/>
          <p:nvPr/>
        </p:nvSpPr>
        <p:spPr>
          <a:xfrm>
            <a:off x="8124825" y="4993004"/>
            <a:ext cx="1208658" cy="194310"/>
          </a:xfrm>
          <a:prstGeom prst="rect">
            <a:avLst/>
          </a:prstGeom>
          <a:noFill/>
        </p:spPr>
        <p:txBody>
          <a:bodyPr wrap="none" lIns="0" rIns="0" tIns="0" bIns="0">
            <a:spAutoFit/>
          </a:bodyPr>
          <a:lstStyle/>
          <a:p>
            <a:r>
              <a:rPr sz="1150" b="0">
                <a:solidFill>
                  <a:srgbClr val="2E2E2E"/>
                </a:solidFill>
                <a:latin typeface="Calibri"/>
              </a:rPr>
              <a:t>Devices' grows at a</a:t>
            </a:r>
          </a:p>
        </p:txBody>
      </p:sp>
      <p:pic>
        <p:nvPicPr>
          <p:cNvPr id="73" name="Picture 72" descr="lock.png"/>
          <p:cNvPicPr>
            <a:picLocks noChangeAspect="1"/>
          </p:cNvPicPr>
          <p:nvPr/>
        </p:nvPicPr>
        <p:blipFill>
          <a:blip r:embed="rId4"/>
          <a:stretch>
            <a:fillRect/>
          </a:stretch>
        </p:blipFill>
        <p:spPr>
          <a:xfrm>
            <a:off x="9282636" y="4982781"/>
            <a:ext cx="134549" cy="195707"/>
          </a:xfrm>
          <a:prstGeom prst="rect">
            <a:avLst/>
          </a:prstGeom>
        </p:spPr>
      </p:pic>
      <p:sp>
        <p:nvSpPr>
          <p:cNvPr id="74" name="TextBox 73"/>
          <p:cNvSpPr txBox="1"/>
          <p:nvPr/>
        </p:nvSpPr>
        <p:spPr>
          <a:xfrm>
            <a:off x="8124825" y="5168264"/>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5" name="Picture 74" descr="lock.png"/>
          <p:cNvPicPr>
            <a:picLocks noChangeAspect="1"/>
          </p:cNvPicPr>
          <p:nvPr/>
        </p:nvPicPr>
        <p:blipFill>
          <a:blip r:embed="rId4"/>
          <a:stretch>
            <a:fillRect/>
          </a:stretch>
        </p:blipFill>
        <p:spPr>
          <a:xfrm>
            <a:off x="8520420" y="5158041"/>
            <a:ext cx="134549" cy="195707"/>
          </a:xfrm>
          <a:prstGeom prst="rect">
            <a:avLst/>
          </a:prstGeom>
        </p:spPr>
      </p:pic>
      <p:sp>
        <p:nvSpPr>
          <p:cNvPr id="76" name="TextBox 75"/>
          <p:cNvSpPr txBox="1"/>
          <p:nvPr/>
        </p:nvSpPr>
        <p:spPr>
          <a:xfrm>
            <a:off x="8695529" y="516826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7" name="TextBox 76"/>
          <p:cNvSpPr txBox="1"/>
          <p:nvPr/>
        </p:nvSpPr>
        <p:spPr>
          <a:xfrm>
            <a:off x="8124825" y="534352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Monitoring Capability × Purchasing Organisation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Monitoring Capability × Purchasing Organisation,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monitoring capability sub-segment across purchasing organisation sub-segments</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Monitoring Capability × Purchasing Organisation, 2026E and 2036F (US$ Mn)</a:t>
            </a:r>
          </a:p>
        </p:txBody>
      </p:sp>
      <p:graphicFrame>
        <p:nvGraphicFramePr>
          <p:cNvPr id="12" name="Table 11"/>
          <p:cNvGraphicFramePr>
            <a:graphicFrameLocks noGrp="1"/>
          </p:cNvGraphicFramePr>
          <p:nvPr/>
        </p:nvGraphicFramePr>
        <p:xfrm>
          <a:off x="152400" y="1238250"/>
          <a:ext cx="11887199" cy="2305050"/>
        </p:xfrm>
        <a:graphic>
          <a:graphicData uri="http://schemas.openxmlformats.org/drawingml/2006/table">
            <a:tbl>
              <a:tblPr>
                <a:tableStyleId>{5C22544A-7EE6-4342-B048-85BDC9FD1C3A}</a:tableStyleId>
              </a:tblPr>
              <a:tblGrid>
                <a:gridCol w="4749509"/>
                <a:gridCol w="713769"/>
                <a:gridCol w="713769"/>
                <a:gridCol w="713769"/>
                <a:gridCol w="713769"/>
                <a:gridCol w="713769"/>
                <a:gridCol w="713769"/>
                <a:gridCol w="713769"/>
                <a:gridCol w="713769"/>
                <a:gridCol w="713769"/>
                <a:gridCol w="713769"/>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7286625"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433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Monitoring Capability → Purchasing Organisation, 2036F (US$ Mn)</a:t>
            </a:r>
          </a:p>
        </p:txBody>
      </p:sp>
      <p:sp>
        <p:nvSpPr>
          <p:cNvPr id="16" name="Freeform 15"/>
          <p:cNvSpPr/>
          <p:nvPr/>
        </p:nvSpPr>
        <p:spPr>
          <a:xfrm>
            <a:off x="2057400" y="4210050"/>
            <a:ext cx="3743325" cy="200025"/>
          </a:xfrm>
          <a:custGeom>
            <a:avLst/>
            <a:gdLst/>
            <a:ahLst/>
            <a:cxnLst/>
            <a:rect l="l" t="t" r="r" b="b"/>
            <a:pathLst>
              <a:path w="393" h="21">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21"/>
                </a:lnTo>
                <a:lnTo>
                  <a:pt x="377" y="21"/>
                </a:lnTo>
                <a:lnTo>
                  <a:pt x="360" y="21"/>
                </a:lnTo>
                <a:lnTo>
                  <a:pt x="344" y="21"/>
                </a:lnTo>
                <a:lnTo>
                  <a:pt x="327" y="21"/>
                </a:lnTo>
                <a:lnTo>
                  <a:pt x="311" y="21"/>
                </a:lnTo>
                <a:lnTo>
                  <a:pt x="295" y="21"/>
                </a:lnTo>
                <a:lnTo>
                  <a:pt x="278" y="21"/>
                </a:lnTo>
                <a:lnTo>
                  <a:pt x="262" y="21"/>
                </a:lnTo>
                <a:lnTo>
                  <a:pt x="246" y="21"/>
                </a:lnTo>
                <a:lnTo>
                  <a:pt x="229" y="21"/>
                </a:lnTo>
                <a:lnTo>
                  <a:pt x="213" y="21"/>
                </a:lnTo>
                <a:lnTo>
                  <a:pt x="196" y="21"/>
                </a:lnTo>
                <a:lnTo>
                  <a:pt x="180" y="21"/>
                </a:lnTo>
                <a:lnTo>
                  <a:pt x="164" y="21"/>
                </a:lnTo>
                <a:lnTo>
                  <a:pt x="147" y="21"/>
                </a:lnTo>
                <a:lnTo>
                  <a:pt x="131" y="21"/>
                </a:lnTo>
                <a:lnTo>
                  <a:pt x="114" y="21"/>
                </a:lnTo>
                <a:lnTo>
                  <a:pt x="98" y="21"/>
                </a:lnTo>
                <a:lnTo>
                  <a:pt x="82" y="21"/>
                </a:lnTo>
                <a:lnTo>
                  <a:pt x="65" y="21"/>
                </a:lnTo>
                <a:lnTo>
                  <a:pt x="49" y="21"/>
                </a:lnTo>
                <a:lnTo>
                  <a:pt x="33" y="21"/>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10075"/>
            <a:ext cx="3743325" cy="866775"/>
          </a:xfrm>
          <a:custGeom>
            <a:avLst/>
            <a:gdLst/>
            <a:ahLst/>
            <a:cxnLst/>
            <a:rect l="l" t="t" r="r" b="b"/>
            <a:pathLst>
              <a:path w="393" h="91">
                <a:moveTo>
                  <a:pt x="0" y="0"/>
                </a:moveTo>
                <a:lnTo>
                  <a:pt x="16" y="1"/>
                </a:lnTo>
                <a:lnTo>
                  <a:pt x="33" y="2"/>
                </a:lnTo>
                <a:lnTo>
                  <a:pt x="49" y="4"/>
                </a:lnTo>
                <a:lnTo>
                  <a:pt x="65" y="6"/>
                </a:lnTo>
                <a:lnTo>
                  <a:pt x="82" y="8"/>
                </a:lnTo>
                <a:lnTo>
                  <a:pt x="98" y="11"/>
                </a:lnTo>
                <a:lnTo>
                  <a:pt x="114" y="15"/>
                </a:lnTo>
                <a:lnTo>
                  <a:pt x="131" y="19"/>
                </a:lnTo>
                <a:lnTo>
                  <a:pt x="147" y="23"/>
                </a:lnTo>
                <a:lnTo>
                  <a:pt x="164" y="27"/>
                </a:lnTo>
                <a:lnTo>
                  <a:pt x="180" y="31"/>
                </a:lnTo>
                <a:lnTo>
                  <a:pt x="196" y="36"/>
                </a:lnTo>
                <a:lnTo>
                  <a:pt x="213" y="40"/>
                </a:lnTo>
                <a:lnTo>
                  <a:pt x="229" y="44"/>
                </a:lnTo>
                <a:lnTo>
                  <a:pt x="246" y="49"/>
                </a:lnTo>
                <a:lnTo>
                  <a:pt x="262" y="53"/>
                </a:lnTo>
                <a:lnTo>
                  <a:pt x="278" y="56"/>
                </a:lnTo>
                <a:lnTo>
                  <a:pt x="295" y="60"/>
                </a:lnTo>
                <a:lnTo>
                  <a:pt x="311" y="63"/>
                </a:lnTo>
                <a:lnTo>
                  <a:pt x="327" y="66"/>
                </a:lnTo>
                <a:lnTo>
                  <a:pt x="344" y="68"/>
                </a:lnTo>
                <a:lnTo>
                  <a:pt x="360" y="70"/>
                </a:lnTo>
                <a:lnTo>
                  <a:pt x="377" y="71"/>
                </a:lnTo>
                <a:lnTo>
                  <a:pt x="393" y="71"/>
                </a:lnTo>
                <a:lnTo>
                  <a:pt x="393" y="91"/>
                </a:lnTo>
                <a:lnTo>
                  <a:pt x="377" y="91"/>
                </a:lnTo>
                <a:lnTo>
                  <a:pt x="360" y="90"/>
                </a:lnTo>
                <a:lnTo>
                  <a:pt x="344" y="88"/>
                </a:lnTo>
                <a:lnTo>
                  <a:pt x="327" y="86"/>
                </a:lnTo>
                <a:lnTo>
                  <a:pt x="311" y="83"/>
                </a:lnTo>
                <a:lnTo>
                  <a:pt x="295" y="80"/>
                </a:lnTo>
                <a:lnTo>
                  <a:pt x="278" y="77"/>
                </a:lnTo>
                <a:lnTo>
                  <a:pt x="262" y="73"/>
                </a:lnTo>
                <a:lnTo>
                  <a:pt x="246" y="69"/>
                </a:lnTo>
                <a:lnTo>
                  <a:pt x="229" y="65"/>
                </a:lnTo>
                <a:lnTo>
                  <a:pt x="213" y="60"/>
                </a:lnTo>
                <a:lnTo>
                  <a:pt x="196" y="56"/>
                </a:lnTo>
                <a:lnTo>
                  <a:pt x="180" y="51"/>
                </a:lnTo>
                <a:lnTo>
                  <a:pt x="164" y="47"/>
                </a:lnTo>
                <a:lnTo>
                  <a:pt x="147" y="43"/>
                </a:lnTo>
                <a:lnTo>
                  <a:pt x="131" y="39"/>
                </a:lnTo>
                <a:lnTo>
                  <a:pt x="114" y="35"/>
                </a:lnTo>
                <a:lnTo>
                  <a:pt x="98" y="32"/>
                </a:lnTo>
                <a:lnTo>
                  <a:pt x="82" y="29"/>
                </a:lnTo>
                <a:lnTo>
                  <a:pt x="65" y="26"/>
                </a:lnTo>
                <a:lnTo>
                  <a:pt x="49" y="24"/>
                </a:lnTo>
                <a:lnTo>
                  <a:pt x="33" y="22"/>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10100"/>
            <a:ext cx="3743325" cy="1390650"/>
          </a:xfrm>
          <a:custGeom>
            <a:avLst/>
            <a:gdLst/>
            <a:ahLst/>
            <a:cxnLst/>
            <a:rect l="l" t="t" r="r" b="b"/>
            <a:pathLst>
              <a:path w="393" h="146">
                <a:moveTo>
                  <a:pt x="0" y="0"/>
                </a:moveTo>
                <a:lnTo>
                  <a:pt x="16" y="0"/>
                </a:lnTo>
                <a:lnTo>
                  <a:pt x="33" y="2"/>
                </a:lnTo>
                <a:lnTo>
                  <a:pt x="49" y="6"/>
                </a:lnTo>
                <a:lnTo>
                  <a:pt x="65" y="10"/>
                </a:lnTo>
                <a:lnTo>
                  <a:pt x="82" y="15"/>
                </a:lnTo>
                <a:lnTo>
                  <a:pt x="98" y="21"/>
                </a:lnTo>
                <a:lnTo>
                  <a:pt x="114" y="28"/>
                </a:lnTo>
                <a:lnTo>
                  <a:pt x="131" y="35"/>
                </a:lnTo>
                <a:lnTo>
                  <a:pt x="147" y="43"/>
                </a:lnTo>
                <a:lnTo>
                  <a:pt x="164" y="51"/>
                </a:lnTo>
                <a:lnTo>
                  <a:pt x="180" y="60"/>
                </a:lnTo>
                <a:lnTo>
                  <a:pt x="196" y="68"/>
                </a:lnTo>
                <a:lnTo>
                  <a:pt x="213" y="77"/>
                </a:lnTo>
                <a:lnTo>
                  <a:pt x="229" y="85"/>
                </a:lnTo>
                <a:lnTo>
                  <a:pt x="246" y="93"/>
                </a:lnTo>
                <a:lnTo>
                  <a:pt x="262" y="101"/>
                </a:lnTo>
                <a:lnTo>
                  <a:pt x="278" y="108"/>
                </a:lnTo>
                <a:lnTo>
                  <a:pt x="295" y="115"/>
                </a:lnTo>
                <a:lnTo>
                  <a:pt x="311" y="121"/>
                </a:lnTo>
                <a:lnTo>
                  <a:pt x="327" y="126"/>
                </a:lnTo>
                <a:lnTo>
                  <a:pt x="344" y="131"/>
                </a:lnTo>
                <a:lnTo>
                  <a:pt x="360" y="134"/>
                </a:lnTo>
                <a:lnTo>
                  <a:pt x="377" y="136"/>
                </a:lnTo>
                <a:lnTo>
                  <a:pt x="393" y="137"/>
                </a:lnTo>
                <a:lnTo>
                  <a:pt x="393" y="146"/>
                </a:lnTo>
                <a:lnTo>
                  <a:pt x="377" y="145"/>
                </a:lnTo>
                <a:lnTo>
                  <a:pt x="360" y="143"/>
                </a:lnTo>
                <a:lnTo>
                  <a:pt x="344" y="140"/>
                </a:lnTo>
                <a:lnTo>
                  <a:pt x="327" y="136"/>
                </a:lnTo>
                <a:lnTo>
                  <a:pt x="311" y="131"/>
                </a:lnTo>
                <a:lnTo>
                  <a:pt x="295" y="125"/>
                </a:lnTo>
                <a:lnTo>
                  <a:pt x="278" y="118"/>
                </a:lnTo>
                <a:lnTo>
                  <a:pt x="262" y="110"/>
                </a:lnTo>
                <a:lnTo>
                  <a:pt x="246" y="103"/>
                </a:lnTo>
                <a:lnTo>
                  <a:pt x="229" y="94"/>
                </a:lnTo>
                <a:lnTo>
                  <a:pt x="213" y="86"/>
                </a:lnTo>
                <a:lnTo>
                  <a:pt x="196" y="78"/>
                </a:lnTo>
                <a:lnTo>
                  <a:pt x="180" y="69"/>
                </a:lnTo>
                <a:lnTo>
                  <a:pt x="164" y="61"/>
                </a:lnTo>
                <a:lnTo>
                  <a:pt x="147" y="52"/>
                </a:lnTo>
                <a:lnTo>
                  <a:pt x="131" y="45"/>
                </a:lnTo>
                <a:lnTo>
                  <a:pt x="114" y="37"/>
                </a:lnTo>
                <a:lnTo>
                  <a:pt x="98" y="30"/>
                </a:lnTo>
                <a:lnTo>
                  <a:pt x="82" y="24"/>
                </a:lnTo>
                <a:lnTo>
                  <a:pt x="65" y="19"/>
                </a:lnTo>
                <a:lnTo>
                  <a:pt x="49" y="15"/>
                </a:lnTo>
                <a:lnTo>
                  <a:pt x="33" y="12"/>
                </a:lnTo>
                <a:lnTo>
                  <a:pt x="16" y="10"/>
                </a:lnTo>
                <a:lnTo>
                  <a:pt x="0" y="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695825"/>
            <a:ext cx="3743325" cy="1685925"/>
          </a:xfrm>
          <a:custGeom>
            <a:avLst/>
            <a:gdLst/>
            <a:ahLst/>
            <a:cxnLst/>
            <a:rect l="l" t="t" r="r" b="b"/>
            <a:pathLst>
              <a:path w="393" h="177">
                <a:moveTo>
                  <a:pt x="0" y="0"/>
                </a:moveTo>
                <a:lnTo>
                  <a:pt x="16" y="1"/>
                </a:lnTo>
                <a:lnTo>
                  <a:pt x="33" y="3"/>
                </a:lnTo>
                <a:lnTo>
                  <a:pt x="49" y="7"/>
                </a:lnTo>
                <a:lnTo>
                  <a:pt x="65" y="13"/>
                </a:lnTo>
                <a:lnTo>
                  <a:pt x="82" y="19"/>
                </a:lnTo>
                <a:lnTo>
                  <a:pt x="98" y="27"/>
                </a:lnTo>
                <a:lnTo>
                  <a:pt x="114" y="35"/>
                </a:lnTo>
                <a:lnTo>
                  <a:pt x="131" y="44"/>
                </a:lnTo>
                <a:lnTo>
                  <a:pt x="147" y="54"/>
                </a:lnTo>
                <a:lnTo>
                  <a:pt x="164" y="64"/>
                </a:lnTo>
                <a:lnTo>
                  <a:pt x="180" y="75"/>
                </a:lnTo>
                <a:lnTo>
                  <a:pt x="196" y="86"/>
                </a:lnTo>
                <a:lnTo>
                  <a:pt x="213" y="96"/>
                </a:lnTo>
                <a:lnTo>
                  <a:pt x="229" y="107"/>
                </a:lnTo>
                <a:lnTo>
                  <a:pt x="246" y="117"/>
                </a:lnTo>
                <a:lnTo>
                  <a:pt x="262" y="127"/>
                </a:lnTo>
                <a:lnTo>
                  <a:pt x="278" y="136"/>
                </a:lnTo>
                <a:lnTo>
                  <a:pt x="295" y="144"/>
                </a:lnTo>
                <a:lnTo>
                  <a:pt x="311" y="152"/>
                </a:lnTo>
                <a:lnTo>
                  <a:pt x="327" y="158"/>
                </a:lnTo>
                <a:lnTo>
                  <a:pt x="344" y="164"/>
                </a:lnTo>
                <a:lnTo>
                  <a:pt x="360" y="168"/>
                </a:lnTo>
                <a:lnTo>
                  <a:pt x="377" y="170"/>
                </a:lnTo>
                <a:lnTo>
                  <a:pt x="393" y="171"/>
                </a:lnTo>
                <a:lnTo>
                  <a:pt x="393" y="177"/>
                </a:lnTo>
                <a:lnTo>
                  <a:pt x="377" y="176"/>
                </a:lnTo>
                <a:lnTo>
                  <a:pt x="360" y="173"/>
                </a:lnTo>
                <a:lnTo>
                  <a:pt x="344" y="169"/>
                </a:lnTo>
                <a:lnTo>
                  <a:pt x="327" y="164"/>
                </a:lnTo>
                <a:lnTo>
                  <a:pt x="311" y="157"/>
                </a:lnTo>
                <a:lnTo>
                  <a:pt x="295" y="150"/>
                </a:lnTo>
                <a:lnTo>
                  <a:pt x="278" y="141"/>
                </a:lnTo>
                <a:lnTo>
                  <a:pt x="262" y="132"/>
                </a:lnTo>
                <a:lnTo>
                  <a:pt x="246" y="122"/>
                </a:lnTo>
                <a:lnTo>
                  <a:pt x="229" y="112"/>
                </a:lnTo>
                <a:lnTo>
                  <a:pt x="213" y="102"/>
                </a:lnTo>
                <a:lnTo>
                  <a:pt x="196" y="91"/>
                </a:lnTo>
                <a:lnTo>
                  <a:pt x="180" y="80"/>
                </a:lnTo>
                <a:lnTo>
                  <a:pt x="164" y="70"/>
                </a:lnTo>
                <a:lnTo>
                  <a:pt x="147" y="60"/>
                </a:lnTo>
                <a:lnTo>
                  <a:pt x="131" y="50"/>
                </a:lnTo>
                <a:lnTo>
                  <a:pt x="114" y="41"/>
                </a:lnTo>
                <a:lnTo>
                  <a:pt x="98" y="32"/>
                </a:lnTo>
                <a:lnTo>
                  <a:pt x="82" y="25"/>
                </a:lnTo>
                <a:lnTo>
                  <a:pt x="65" y="18"/>
                </a:lnTo>
                <a:lnTo>
                  <a:pt x="49" y="13"/>
                </a:lnTo>
                <a:lnTo>
                  <a:pt x="33" y="9"/>
                </a:lnTo>
                <a:lnTo>
                  <a:pt x="16" y="6"/>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410075"/>
            <a:ext cx="3743325" cy="600075"/>
          </a:xfrm>
          <a:custGeom>
            <a:avLst/>
            <a:gdLst/>
            <a:ahLst/>
            <a:cxnLst/>
            <a:rect l="l" t="t" r="r" b="b"/>
            <a:pathLst>
              <a:path w="393" h="63">
                <a:moveTo>
                  <a:pt x="0" y="42"/>
                </a:moveTo>
                <a:lnTo>
                  <a:pt x="16" y="41"/>
                </a:lnTo>
                <a:lnTo>
                  <a:pt x="33" y="41"/>
                </a:lnTo>
                <a:lnTo>
                  <a:pt x="49" y="40"/>
                </a:lnTo>
                <a:lnTo>
                  <a:pt x="65" y="38"/>
                </a:lnTo>
                <a:lnTo>
                  <a:pt x="82" y="37"/>
                </a:lnTo>
                <a:lnTo>
                  <a:pt x="98" y="35"/>
                </a:lnTo>
                <a:lnTo>
                  <a:pt x="114" y="33"/>
                </a:lnTo>
                <a:lnTo>
                  <a:pt x="131" y="31"/>
                </a:lnTo>
                <a:lnTo>
                  <a:pt x="147" y="29"/>
                </a:lnTo>
                <a:lnTo>
                  <a:pt x="164" y="26"/>
                </a:lnTo>
                <a:lnTo>
                  <a:pt x="180" y="24"/>
                </a:lnTo>
                <a:lnTo>
                  <a:pt x="196" y="21"/>
                </a:lnTo>
                <a:lnTo>
                  <a:pt x="213" y="18"/>
                </a:lnTo>
                <a:lnTo>
                  <a:pt x="229" y="16"/>
                </a:lnTo>
                <a:lnTo>
                  <a:pt x="246" y="13"/>
                </a:lnTo>
                <a:lnTo>
                  <a:pt x="262" y="11"/>
                </a:lnTo>
                <a:lnTo>
                  <a:pt x="278" y="9"/>
                </a:lnTo>
                <a:lnTo>
                  <a:pt x="295" y="7"/>
                </a:lnTo>
                <a:lnTo>
                  <a:pt x="311" y="5"/>
                </a:lnTo>
                <a:lnTo>
                  <a:pt x="327" y="4"/>
                </a:lnTo>
                <a:lnTo>
                  <a:pt x="344" y="2"/>
                </a:lnTo>
                <a:lnTo>
                  <a:pt x="360" y="1"/>
                </a:lnTo>
                <a:lnTo>
                  <a:pt x="377" y="1"/>
                </a:lnTo>
                <a:lnTo>
                  <a:pt x="393" y="0"/>
                </a:lnTo>
                <a:lnTo>
                  <a:pt x="393" y="22"/>
                </a:lnTo>
                <a:lnTo>
                  <a:pt x="377" y="22"/>
                </a:lnTo>
                <a:lnTo>
                  <a:pt x="360" y="23"/>
                </a:lnTo>
                <a:lnTo>
                  <a:pt x="344" y="24"/>
                </a:lnTo>
                <a:lnTo>
                  <a:pt x="327" y="25"/>
                </a:lnTo>
                <a:lnTo>
                  <a:pt x="311" y="27"/>
                </a:lnTo>
                <a:lnTo>
                  <a:pt x="295" y="28"/>
                </a:lnTo>
                <a:lnTo>
                  <a:pt x="278" y="30"/>
                </a:lnTo>
                <a:lnTo>
                  <a:pt x="262" y="33"/>
                </a:lnTo>
                <a:lnTo>
                  <a:pt x="246" y="35"/>
                </a:lnTo>
                <a:lnTo>
                  <a:pt x="229" y="37"/>
                </a:lnTo>
                <a:lnTo>
                  <a:pt x="213" y="40"/>
                </a:lnTo>
                <a:lnTo>
                  <a:pt x="196" y="42"/>
                </a:lnTo>
                <a:lnTo>
                  <a:pt x="180" y="45"/>
                </a:lnTo>
                <a:lnTo>
                  <a:pt x="164" y="48"/>
                </a:lnTo>
                <a:lnTo>
                  <a:pt x="147" y="50"/>
                </a:lnTo>
                <a:lnTo>
                  <a:pt x="131" y="52"/>
                </a:lnTo>
                <a:lnTo>
                  <a:pt x="114" y="55"/>
                </a:lnTo>
                <a:lnTo>
                  <a:pt x="98" y="57"/>
                </a:lnTo>
                <a:lnTo>
                  <a:pt x="82" y="58"/>
                </a:lnTo>
                <a:lnTo>
                  <a:pt x="65" y="60"/>
                </a:lnTo>
                <a:lnTo>
                  <a:pt x="49" y="61"/>
                </a:lnTo>
                <a:lnTo>
                  <a:pt x="33" y="62"/>
                </a:lnTo>
                <a:lnTo>
                  <a:pt x="16" y="63"/>
                </a:lnTo>
                <a:lnTo>
                  <a:pt x="0" y="6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010150"/>
            <a:ext cx="3743325" cy="457200"/>
          </a:xfrm>
          <a:custGeom>
            <a:avLst/>
            <a:gdLst/>
            <a:ahLst/>
            <a:cxnLst/>
            <a:rect l="l" t="t" r="r" b="b"/>
            <a:pathLst>
              <a:path w="393" h="48">
                <a:moveTo>
                  <a:pt x="0" y="0"/>
                </a:moveTo>
                <a:lnTo>
                  <a:pt x="16" y="0"/>
                </a:lnTo>
                <a:lnTo>
                  <a:pt x="33" y="1"/>
                </a:lnTo>
                <a:lnTo>
                  <a:pt x="49" y="1"/>
                </a:lnTo>
                <a:lnTo>
                  <a:pt x="65" y="2"/>
                </a:lnTo>
                <a:lnTo>
                  <a:pt x="82" y="3"/>
                </a:lnTo>
                <a:lnTo>
                  <a:pt x="98" y="4"/>
                </a:lnTo>
                <a:lnTo>
                  <a:pt x="114" y="6"/>
                </a:lnTo>
                <a:lnTo>
                  <a:pt x="131" y="7"/>
                </a:lnTo>
                <a:lnTo>
                  <a:pt x="147" y="9"/>
                </a:lnTo>
                <a:lnTo>
                  <a:pt x="164" y="11"/>
                </a:lnTo>
                <a:lnTo>
                  <a:pt x="180" y="12"/>
                </a:lnTo>
                <a:lnTo>
                  <a:pt x="196" y="14"/>
                </a:lnTo>
                <a:lnTo>
                  <a:pt x="213" y="16"/>
                </a:lnTo>
                <a:lnTo>
                  <a:pt x="229" y="18"/>
                </a:lnTo>
                <a:lnTo>
                  <a:pt x="246" y="19"/>
                </a:lnTo>
                <a:lnTo>
                  <a:pt x="262" y="21"/>
                </a:lnTo>
                <a:lnTo>
                  <a:pt x="278" y="22"/>
                </a:lnTo>
                <a:lnTo>
                  <a:pt x="295" y="24"/>
                </a:lnTo>
                <a:lnTo>
                  <a:pt x="311" y="25"/>
                </a:lnTo>
                <a:lnTo>
                  <a:pt x="327" y="26"/>
                </a:lnTo>
                <a:lnTo>
                  <a:pt x="344" y="27"/>
                </a:lnTo>
                <a:lnTo>
                  <a:pt x="360" y="28"/>
                </a:lnTo>
                <a:lnTo>
                  <a:pt x="377" y="28"/>
                </a:lnTo>
                <a:lnTo>
                  <a:pt x="393" y="28"/>
                </a:lnTo>
                <a:lnTo>
                  <a:pt x="393" y="48"/>
                </a:lnTo>
                <a:lnTo>
                  <a:pt x="377" y="48"/>
                </a:lnTo>
                <a:lnTo>
                  <a:pt x="360" y="48"/>
                </a:lnTo>
                <a:lnTo>
                  <a:pt x="344" y="47"/>
                </a:lnTo>
                <a:lnTo>
                  <a:pt x="327" y="46"/>
                </a:lnTo>
                <a:lnTo>
                  <a:pt x="311" y="45"/>
                </a:lnTo>
                <a:lnTo>
                  <a:pt x="295" y="44"/>
                </a:lnTo>
                <a:lnTo>
                  <a:pt x="278" y="42"/>
                </a:lnTo>
                <a:lnTo>
                  <a:pt x="262" y="41"/>
                </a:lnTo>
                <a:lnTo>
                  <a:pt x="246" y="39"/>
                </a:lnTo>
                <a:lnTo>
                  <a:pt x="229" y="38"/>
                </a:lnTo>
                <a:lnTo>
                  <a:pt x="213" y="36"/>
                </a:lnTo>
                <a:lnTo>
                  <a:pt x="196" y="34"/>
                </a:lnTo>
                <a:lnTo>
                  <a:pt x="180" y="32"/>
                </a:lnTo>
                <a:lnTo>
                  <a:pt x="164" y="31"/>
                </a:lnTo>
                <a:lnTo>
                  <a:pt x="147" y="29"/>
                </a:lnTo>
                <a:lnTo>
                  <a:pt x="131" y="27"/>
                </a:lnTo>
                <a:lnTo>
                  <a:pt x="114" y="26"/>
                </a:lnTo>
                <a:lnTo>
                  <a:pt x="98" y="25"/>
                </a:lnTo>
                <a:lnTo>
                  <a:pt x="82" y="23"/>
                </a:lnTo>
                <a:lnTo>
                  <a:pt x="65" y="22"/>
                </a:lnTo>
                <a:lnTo>
                  <a:pt x="49" y="21"/>
                </a:lnTo>
                <a:lnTo>
                  <a:pt x="33" y="21"/>
                </a:lnTo>
                <a:lnTo>
                  <a:pt x="16" y="20"/>
                </a:lnTo>
                <a:lnTo>
                  <a:pt x="0" y="2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200650"/>
            <a:ext cx="3743325" cy="885825"/>
          </a:xfrm>
          <a:custGeom>
            <a:avLst/>
            <a:gdLst/>
            <a:ahLst/>
            <a:cxnLst/>
            <a:rect l="l" t="t" r="r" b="b"/>
            <a:pathLst>
              <a:path w="393" h="93">
                <a:moveTo>
                  <a:pt x="0" y="0"/>
                </a:moveTo>
                <a:lnTo>
                  <a:pt x="16" y="1"/>
                </a:lnTo>
                <a:lnTo>
                  <a:pt x="33" y="2"/>
                </a:lnTo>
                <a:lnTo>
                  <a:pt x="49" y="4"/>
                </a:lnTo>
                <a:lnTo>
                  <a:pt x="65" y="6"/>
                </a:lnTo>
                <a:lnTo>
                  <a:pt x="82" y="10"/>
                </a:lnTo>
                <a:lnTo>
                  <a:pt x="98" y="13"/>
                </a:lnTo>
                <a:lnTo>
                  <a:pt x="114" y="17"/>
                </a:lnTo>
                <a:lnTo>
                  <a:pt x="131" y="22"/>
                </a:lnTo>
                <a:lnTo>
                  <a:pt x="147" y="27"/>
                </a:lnTo>
                <a:lnTo>
                  <a:pt x="164" y="32"/>
                </a:lnTo>
                <a:lnTo>
                  <a:pt x="180" y="37"/>
                </a:lnTo>
                <a:lnTo>
                  <a:pt x="196" y="42"/>
                </a:lnTo>
                <a:lnTo>
                  <a:pt x="213" y="47"/>
                </a:lnTo>
                <a:lnTo>
                  <a:pt x="229" y="52"/>
                </a:lnTo>
                <a:lnTo>
                  <a:pt x="246" y="57"/>
                </a:lnTo>
                <a:lnTo>
                  <a:pt x="262" y="62"/>
                </a:lnTo>
                <a:lnTo>
                  <a:pt x="278" y="67"/>
                </a:lnTo>
                <a:lnTo>
                  <a:pt x="295" y="71"/>
                </a:lnTo>
                <a:lnTo>
                  <a:pt x="311" y="75"/>
                </a:lnTo>
                <a:lnTo>
                  <a:pt x="327" y="78"/>
                </a:lnTo>
                <a:lnTo>
                  <a:pt x="344" y="80"/>
                </a:lnTo>
                <a:lnTo>
                  <a:pt x="360" y="82"/>
                </a:lnTo>
                <a:lnTo>
                  <a:pt x="377" y="84"/>
                </a:lnTo>
                <a:lnTo>
                  <a:pt x="393" y="84"/>
                </a:lnTo>
                <a:lnTo>
                  <a:pt x="393" y="93"/>
                </a:lnTo>
                <a:lnTo>
                  <a:pt x="377" y="93"/>
                </a:lnTo>
                <a:lnTo>
                  <a:pt x="360" y="92"/>
                </a:lnTo>
                <a:lnTo>
                  <a:pt x="344" y="90"/>
                </a:lnTo>
                <a:lnTo>
                  <a:pt x="327" y="87"/>
                </a:lnTo>
                <a:lnTo>
                  <a:pt x="311" y="84"/>
                </a:lnTo>
                <a:lnTo>
                  <a:pt x="295" y="80"/>
                </a:lnTo>
                <a:lnTo>
                  <a:pt x="278" y="76"/>
                </a:lnTo>
                <a:lnTo>
                  <a:pt x="262" y="72"/>
                </a:lnTo>
                <a:lnTo>
                  <a:pt x="246" y="67"/>
                </a:lnTo>
                <a:lnTo>
                  <a:pt x="229" y="62"/>
                </a:lnTo>
                <a:lnTo>
                  <a:pt x="213" y="57"/>
                </a:lnTo>
                <a:lnTo>
                  <a:pt x="196" y="51"/>
                </a:lnTo>
                <a:lnTo>
                  <a:pt x="180" y="46"/>
                </a:lnTo>
                <a:lnTo>
                  <a:pt x="164" y="41"/>
                </a:lnTo>
                <a:lnTo>
                  <a:pt x="147" y="36"/>
                </a:lnTo>
                <a:lnTo>
                  <a:pt x="131" y="31"/>
                </a:lnTo>
                <a:lnTo>
                  <a:pt x="114" y="27"/>
                </a:lnTo>
                <a:lnTo>
                  <a:pt x="98" y="23"/>
                </a:lnTo>
                <a:lnTo>
                  <a:pt x="82" y="19"/>
                </a:lnTo>
                <a:lnTo>
                  <a:pt x="65" y="16"/>
                </a:lnTo>
                <a:lnTo>
                  <a:pt x="49" y="13"/>
                </a:lnTo>
                <a:lnTo>
                  <a:pt x="33" y="11"/>
                </a:lnTo>
                <a:lnTo>
                  <a:pt x="16" y="10"/>
                </a:lnTo>
                <a:lnTo>
                  <a:pt x="0" y="10"/>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95900"/>
            <a:ext cx="3743325" cy="1133475"/>
          </a:xfrm>
          <a:custGeom>
            <a:avLst/>
            <a:gdLst/>
            <a:ahLst/>
            <a:cxnLst/>
            <a:rect l="l" t="t" r="r" b="b"/>
            <a:pathLst>
              <a:path w="393" h="119">
                <a:moveTo>
                  <a:pt x="0" y="0"/>
                </a:moveTo>
                <a:lnTo>
                  <a:pt x="16" y="0"/>
                </a:lnTo>
                <a:lnTo>
                  <a:pt x="33" y="2"/>
                </a:lnTo>
                <a:lnTo>
                  <a:pt x="49" y="4"/>
                </a:lnTo>
                <a:lnTo>
                  <a:pt x="65" y="8"/>
                </a:lnTo>
                <a:lnTo>
                  <a:pt x="82" y="12"/>
                </a:lnTo>
                <a:lnTo>
                  <a:pt x="98" y="17"/>
                </a:lnTo>
                <a:lnTo>
                  <a:pt x="114" y="23"/>
                </a:lnTo>
                <a:lnTo>
                  <a:pt x="131" y="29"/>
                </a:lnTo>
                <a:lnTo>
                  <a:pt x="147" y="36"/>
                </a:lnTo>
                <a:lnTo>
                  <a:pt x="164" y="42"/>
                </a:lnTo>
                <a:lnTo>
                  <a:pt x="180" y="49"/>
                </a:lnTo>
                <a:lnTo>
                  <a:pt x="196" y="57"/>
                </a:lnTo>
                <a:lnTo>
                  <a:pt x="213" y="64"/>
                </a:lnTo>
                <a:lnTo>
                  <a:pt x="229" y="71"/>
                </a:lnTo>
                <a:lnTo>
                  <a:pt x="246" y="78"/>
                </a:lnTo>
                <a:lnTo>
                  <a:pt x="262" y="84"/>
                </a:lnTo>
                <a:lnTo>
                  <a:pt x="278" y="90"/>
                </a:lnTo>
                <a:lnTo>
                  <a:pt x="295" y="96"/>
                </a:lnTo>
                <a:lnTo>
                  <a:pt x="311" y="101"/>
                </a:lnTo>
                <a:lnTo>
                  <a:pt x="327" y="105"/>
                </a:lnTo>
                <a:lnTo>
                  <a:pt x="344" y="109"/>
                </a:lnTo>
                <a:lnTo>
                  <a:pt x="360" y="111"/>
                </a:lnTo>
                <a:lnTo>
                  <a:pt x="377" y="113"/>
                </a:lnTo>
                <a:lnTo>
                  <a:pt x="393" y="114"/>
                </a:lnTo>
                <a:lnTo>
                  <a:pt x="393" y="119"/>
                </a:lnTo>
                <a:lnTo>
                  <a:pt x="377" y="118"/>
                </a:lnTo>
                <a:lnTo>
                  <a:pt x="360" y="117"/>
                </a:lnTo>
                <a:lnTo>
                  <a:pt x="344" y="114"/>
                </a:lnTo>
                <a:lnTo>
                  <a:pt x="327" y="111"/>
                </a:lnTo>
                <a:lnTo>
                  <a:pt x="311" y="106"/>
                </a:lnTo>
                <a:lnTo>
                  <a:pt x="295" y="101"/>
                </a:lnTo>
                <a:lnTo>
                  <a:pt x="278" y="96"/>
                </a:lnTo>
                <a:lnTo>
                  <a:pt x="262" y="89"/>
                </a:lnTo>
                <a:lnTo>
                  <a:pt x="246" y="83"/>
                </a:lnTo>
                <a:lnTo>
                  <a:pt x="229" y="76"/>
                </a:lnTo>
                <a:lnTo>
                  <a:pt x="213" y="69"/>
                </a:lnTo>
                <a:lnTo>
                  <a:pt x="196" y="62"/>
                </a:lnTo>
                <a:lnTo>
                  <a:pt x="180" y="55"/>
                </a:lnTo>
                <a:lnTo>
                  <a:pt x="164" y="48"/>
                </a:lnTo>
                <a:lnTo>
                  <a:pt x="147" y="41"/>
                </a:lnTo>
                <a:lnTo>
                  <a:pt x="131" y="35"/>
                </a:lnTo>
                <a:lnTo>
                  <a:pt x="114" y="28"/>
                </a:lnTo>
                <a:lnTo>
                  <a:pt x="98" y="23"/>
                </a:lnTo>
                <a:lnTo>
                  <a:pt x="82" y="18"/>
                </a:lnTo>
                <a:lnTo>
                  <a:pt x="65" y="13"/>
                </a:lnTo>
                <a:lnTo>
                  <a:pt x="49" y="10"/>
                </a:lnTo>
                <a:lnTo>
                  <a:pt x="33" y="7"/>
                </a:lnTo>
                <a:lnTo>
                  <a:pt x="16" y="6"/>
                </a:lnTo>
                <a:lnTo>
                  <a:pt x="0" y="5"/>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619625"/>
            <a:ext cx="3743325" cy="981075"/>
          </a:xfrm>
          <a:custGeom>
            <a:avLst/>
            <a:gdLst/>
            <a:ahLst/>
            <a:cxnLst/>
            <a:rect l="l" t="t" r="r" b="b"/>
            <a:pathLst>
              <a:path w="393" h="103">
                <a:moveTo>
                  <a:pt x="0" y="82"/>
                </a:moveTo>
                <a:lnTo>
                  <a:pt x="16" y="82"/>
                </a:lnTo>
                <a:lnTo>
                  <a:pt x="33" y="80"/>
                </a:lnTo>
                <a:lnTo>
                  <a:pt x="49" y="78"/>
                </a:lnTo>
                <a:lnTo>
                  <a:pt x="65" y="76"/>
                </a:lnTo>
                <a:lnTo>
                  <a:pt x="82" y="73"/>
                </a:lnTo>
                <a:lnTo>
                  <a:pt x="98" y="69"/>
                </a:lnTo>
                <a:lnTo>
                  <a:pt x="114" y="65"/>
                </a:lnTo>
                <a:lnTo>
                  <a:pt x="131" y="61"/>
                </a:lnTo>
                <a:lnTo>
                  <a:pt x="147" y="56"/>
                </a:lnTo>
                <a:lnTo>
                  <a:pt x="164" y="51"/>
                </a:lnTo>
                <a:lnTo>
                  <a:pt x="180" y="46"/>
                </a:lnTo>
                <a:lnTo>
                  <a:pt x="196" y="41"/>
                </a:lnTo>
                <a:lnTo>
                  <a:pt x="213" y="36"/>
                </a:lnTo>
                <a:lnTo>
                  <a:pt x="229" y="31"/>
                </a:lnTo>
                <a:lnTo>
                  <a:pt x="246" y="26"/>
                </a:lnTo>
                <a:lnTo>
                  <a:pt x="262" y="21"/>
                </a:lnTo>
                <a:lnTo>
                  <a:pt x="278" y="17"/>
                </a:lnTo>
                <a:lnTo>
                  <a:pt x="295" y="13"/>
                </a:lnTo>
                <a:lnTo>
                  <a:pt x="311" y="9"/>
                </a:lnTo>
                <a:lnTo>
                  <a:pt x="327" y="6"/>
                </a:lnTo>
                <a:lnTo>
                  <a:pt x="344" y="3"/>
                </a:lnTo>
                <a:lnTo>
                  <a:pt x="360" y="2"/>
                </a:lnTo>
                <a:lnTo>
                  <a:pt x="377" y="0"/>
                </a:lnTo>
                <a:lnTo>
                  <a:pt x="393" y="0"/>
                </a:lnTo>
                <a:lnTo>
                  <a:pt x="393" y="21"/>
                </a:lnTo>
                <a:lnTo>
                  <a:pt x="377" y="22"/>
                </a:lnTo>
                <a:lnTo>
                  <a:pt x="360" y="23"/>
                </a:lnTo>
                <a:lnTo>
                  <a:pt x="344" y="25"/>
                </a:lnTo>
                <a:lnTo>
                  <a:pt x="327" y="28"/>
                </a:lnTo>
                <a:lnTo>
                  <a:pt x="311" y="31"/>
                </a:lnTo>
                <a:lnTo>
                  <a:pt x="295" y="34"/>
                </a:lnTo>
                <a:lnTo>
                  <a:pt x="278" y="38"/>
                </a:lnTo>
                <a:lnTo>
                  <a:pt x="262" y="43"/>
                </a:lnTo>
                <a:lnTo>
                  <a:pt x="246" y="47"/>
                </a:lnTo>
                <a:lnTo>
                  <a:pt x="229" y="52"/>
                </a:lnTo>
                <a:lnTo>
                  <a:pt x="213" y="57"/>
                </a:lnTo>
                <a:lnTo>
                  <a:pt x="196" y="62"/>
                </a:lnTo>
                <a:lnTo>
                  <a:pt x="180" y="68"/>
                </a:lnTo>
                <a:lnTo>
                  <a:pt x="164" y="73"/>
                </a:lnTo>
                <a:lnTo>
                  <a:pt x="147" y="78"/>
                </a:lnTo>
                <a:lnTo>
                  <a:pt x="131" y="82"/>
                </a:lnTo>
                <a:lnTo>
                  <a:pt x="114" y="87"/>
                </a:lnTo>
                <a:lnTo>
                  <a:pt x="98" y="91"/>
                </a:lnTo>
                <a:lnTo>
                  <a:pt x="82" y="94"/>
                </a:lnTo>
                <a:lnTo>
                  <a:pt x="65" y="97"/>
                </a:lnTo>
                <a:lnTo>
                  <a:pt x="49" y="100"/>
                </a:lnTo>
                <a:lnTo>
                  <a:pt x="33" y="102"/>
                </a:lnTo>
                <a:lnTo>
                  <a:pt x="16" y="103"/>
                </a:lnTo>
                <a:lnTo>
                  <a:pt x="0" y="10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67350"/>
            <a:ext cx="3743325" cy="333375"/>
          </a:xfrm>
          <a:custGeom>
            <a:avLst/>
            <a:gdLst/>
            <a:ahLst/>
            <a:cxnLst/>
            <a:rect l="l" t="t" r="r" b="b"/>
            <a:pathLst>
              <a:path w="393" h="35">
                <a:moveTo>
                  <a:pt x="0" y="14"/>
                </a:moveTo>
                <a:lnTo>
                  <a:pt x="16" y="14"/>
                </a:lnTo>
                <a:lnTo>
                  <a:pt x="33" y="14"/>
                </a:lnTo>
                <a:lnTo>
                  <a:pt x="49" y="14"/>
                </a:lnTo>
                <a:lnTo>
                  <a:pt x="65" y="13"/>
                </a:lnTo>
                <a:lnTo>
                  <a:pt x="82" y="13"/>
                </a:lnTo>
                <a:lnTo>
                  <a:pt x="98" y="12"/>
                </a:lnTo>
                <a:lnTo>
                  <a:pt x="114" y="12"/>
                </a:lnTo>
                <a:lnTo>
                  <a:pt x="131" y="11"/>
                </a:lnTo>
                <a:lnTo>
                  <a:pt x="147" y="10"/>
                </a:lnTo>
                <a:lnTo>
                  <a:pt x="164" y="9"/>
                </a:lnTo>
                <a:lnTo>
                  <a:pt x="180" y="8"/>
                </a:lnTo>
                <a:lnTo>
                  <a:pt x="196" y="7"/>
                </a:lnTo>
                <a:lnTo>
                  <a:pt x="213" y="6"/>
                </a:lnTo>
                <a:lnTo>
                  <a:pt x="229" y="6"/>
                </a:lnTo>
                <a:lnTo>
                  <a:pt x="246" y="5"/>
                </a:lnTo>
                <a:lnTo>
                  <a:pt x="262" y="4"/>
                </a:lnTo>
                <a:lnTo>
                  <a:pt x="278" y="3"/>
                </a:lnTo>
                <a:lnTo>
                  <a:pt x="295" y="2"/>
                </a:lnTo>
                <a:lnTo>
                  <a:pt x="311" y="2"/>
                </a:lnTo>
                <a:lnTo>
                  <a:pt x="327" y="1"/>
                </a:lnTo>
                <a:lnTo>
                  <a:pt x="344" y="1"/>
                </a:lnTo>
                <a:lnTo>
                  <a:pt x="360" y="1"/>
                </a:lnTo>
                <a:lnTo>
                  <a:pt x="377" y="0"/>
                </a:lnTo>
                <a:lnTo>
                  <a:pt x="393" y="0"/>
                </a:lnTo>
                <a:lnTo>
                  <a:pt x="393" y="20"/>
                </a:lnTo>
                <a:lnTo>
                  <a:pt x="377" y="20"/>
                </a:lnTo>
                <a:lnTo>
                  <a:pt x="360" y="21"/>
                </a:lnTo>
                <a:lnTo>
                  <a:pt x="344" y="21"/>
                </a:lnTo>
                <a:lnTo>
                  <a:pt x="327" y="21"/>
                </a:lnTo>
                <a:lnTo>
                  <a:pt x="311" y="22"/>
                </a:lnTo>
                <a:lnTo>
                  <a:pt x="295" y="23"/>
                </a:lnTo>
                <a:lnTo>
                  <a:pt x="278" y="23"/>
                </a:lnTo>
                <a:lnTo>
                  <a:pt x="262" y="24"/>
                </a:lnTo>
                <a:lnTo>
                  <a:pt x="246" y="25"/>
                </a:lnTo>
                <a:lnTo>
                  <a:pt x="229" y="26"/>
                </a:lnTo>
                <a:lnTo>
                  <a:pt x="213" y="27"/>
                </a:lnTo>
                <a:lnTo>
                  <a:pt x="196" y="28"/>
                </a:lnTo>
                <a:lnTo>
                  <a:pt x="180" y="28"/>
                </a:lnTo>
                <a:lnTo>
                  <a:pt x="164" y="29"/>
                </a:lnTo>
                <a:lnTo>
                  <a:pt x="147" y="30"/>
                </a:lnTo>
                <a:lnTo>
                  <a:pt x="131" y="31"/>
                </a:lnTo>
                <a:lnTo>
                  <a:pt x="114" y="32"/>
                </a:lnTo>
                <a:lnTo>
                  <a:pt x="98" y="32"/>
                </a:lnTo>
                <a:lnTo>
                  <a:pt x="82" y="33"/>
                </a:lnTo>
                <a:lnTo>
                  <a:pt x="65" y="34"/>
                </a:lnTo>
                <a:lnTo>
                  <a:pt x="49" y="34"/>
                </a:lnTo>
                <a:lnTo>
                  <a:pt x="33" y="34"/>
                </a:lnTo>
                <a:lnTo>
                  <a:pt x="16" y="35"/>
                </a:lnTo>
                <a:lnTo>
                  <a:pt x="0" y="3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800725"/>
            <a:ext cx="3743325" cy="381000"/>
          </a:xfrm>
          <a:custGeom>
            <a:avLst/>
            <a:gdLst/>
            <a:ahLst/>
            <a:cxnLst/>
            <a:rect l="l" t="t" r="r" b="b"/>
            <a:pathLst>
              <a:path w="393" h="40">
                <a:moveTo>
                  <a:pt x="0" y="0"/>
                </a:moveTo>
                <a:lnTo>
                  <a:pt x="16" y="0"/>
                </a:lnTo>
                <a:lnTo>
                  <a:pt x="33" y="0"/>
                </a:lnTo>
                <a:lnTo>
                  <a:pt x="49" y="1"/>
                </a:lnTo>
                <a:lnTo>
                  <a:pt x="65" y="2"/>
                </a:lnTo>
                <a:lnTo>
                  <a:pt x="82" y="3"/>
                </a:lnTo>
                <a:lnTo>
                  <a:pt x="98" y="4"/>
                </a:lnTo>
                <a:lnTo>
                  <a:pt x="114" y="6"/>
                </a:lnTo>
                <a:lnTo>
                  <a:pt x="131" y="8"/>
                </a:lnTo>
                <a:lnTo>
                  <a:pt x="147" y="9"/>
                </a:lnTo>
                <a:lnTo>
                  <a:pt x="164" y="11"/>
                </a:lnTo>
                <a:lnTo>
                  <a:pt x="180" y="13"/>
                </a:lnTo>
                <a:lnTo>
                  <a:pt x="196" y="15"/>
                </a:lnTo>
                <a:lnTo>
                  <a:pt x="213" y="17"/>
                </a:lnTo>
                <a:lnTo>
                  <a:pt x="229" y="19"/>
                </a:lnTo>
                <a:lnTo>
                  <a:pt x="246" y="21"/>
                </a:lnTo>
                <a:lnTo>
                  <a:pt x="262" y="22"/>
                </a:lnTo>
                <a:lnTo>
                  <a:pt x="278" y="24"/>
                </a:lnTo>
                <a:lnTo>
                  <a:pt x="295" y="26"/>
                </a:lnTo>
                <a:lnTo>
                  <a:pt x="311" y="27"/>
                </a:lnTo>
                <a:lnTo>
                  <a:pt x="327" y="28"/>
                </a:lnTo>
                <a:lnTo>
                  <a:pt x="344" y="29"/>
                </a:lnTo>
                <a:lnTo>
                  <a:pt x="360" y="30"/>
                </a:lnTo>
                <a:lnTo>
                  <a:pt x="377" y="30"/>
                </a:lnTo>
                <a:lnTo>
                  <a:pt x="393" y="30"/>
                </a:lnTo>
                <a:lnTo>
                  <a:pt x="393" y="40"/>
                </a:lnTo>
                <a:lnTo>
                  <a:pt x="377" y="40"/>
                </a:lnTo>
                <a:lnTo>
                  <a:pt x="360" y="39"/>
                </a:lnTo>
                <a:lnTo>
                  <a:pt x="344" y="38"/>
                </a:lnTo>
                <a:lnTo>
                  <a:pt x="327" y="37"/>
                </a:lnTo>
                <a:lnTo>
                  <a:pt x="311" y="36"/>
                </a:lnTo>
                <a:lnTo>
                  <a:pt x="295" y="35"/>
                </a:lnTo>
                <a:lnTo>
                  <a:pt x="278" y="33"/>
                </a:lnTo>
                <a:lnTo>
                  <a:pt x="262" y="32"/>
                </a:lnTo>
                <a:lnTo>
                  <a:pt x="246" y="30"/>
                </a:lnTo>
                <a:lnTo>
                  <a:pt x="229" y="28"/>
                </a:lnTo>
                <a:lnTo>
                  <a:pt x="213" y="26"/>
                </a:lnTo>
                <a:lnTo>
                  <a:pt x="196" y="24"/>
                </a:lnTo>
                <a:lnTo>
                  <a:pt x="180" y="22"/>
                </a:lnTo>
                <a:lnTo>
                  <a:pt x="164" y="21"/>
                </a:lnTo>
                <a:lnTo>
                  <a:pt x="147" y="19"/>
                </a:lnTo>
                <a:lnTo>
                  <a:pt x="131" y="17"/>
                </a:lnTo>
                <a:lnTo>
                  <a:pt x="114" y="15"/>
                </a:lnTo>
                <a:lnTo>
                  <a:pt x="98" y="14"/>
                </a:lnTo>
                <a:lnTo>
                  <a:pt x="82" y="12"/>
                </a:lnTo>
                <a:lnTo>
                  <a:pt x="65" y="11"/>
                </a:lnTo>
                <a:lnTo>
                  <a:pt x="49" y="10"/>
                </a:lnTo>
                <a:lnTo>
                  <a:pt x="33" y="10"/>
                </a:lnTo>
                <a:lnTo>
                  <a:pt x="16" y="9"/>
                </a:lnTo>
                <a:lnTo>
                  <a:pt x="0" y="9"/>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86450"/>
            <a:ext cx="3743325" cy="600075"/>
          </a:xfrm>
          <a:custGeom>
            <a:avLst/>
            <a:gdLst/>
            <a:ahLst/>
            <a:cxnLst/>
            <a:rect l="l" t="t" r="r" b="b"/>
            <a:pathLst>
              <a:path w="393" h="63">
                <a:moveTo>
                  <a:pt x="0" y="0"/>
                </a:moveTo>
                <a:lnTo>
                  <a:pt x="16" y="0"/>
                </a:lnTo>
                <a:lnTo>
                  <a:pt x="33" y="1"/>
                </a:lnTo>
                <a:lnTo>
                  <a:pt x="49" y="2"/>
                </a:lnTo>
                <a:lnTo>
                  <a:pt x="65" y="4"/>
                </a:lnTo>
                <a:lnTo>
                  <a:pt x="82" y="6"/>
                </a:lnTo>
                <a:lnTo>
                  <a:pt x="98" y="9"/>
                </a:lnTo>
                <a:lnTo>
                  <a:pt x="114" y="12"/>
                </a:lnTo>
                <a:lnTo>
                  <a:pt x="131" y="15"/>
                </a:lnTo>
                <a:lnTo>
                  <a:pt x="147" y="18"/>
                </a:lnTo>
                <a:lnTo>
                  <a:pt x="164" y="21"/>
                </a:lnTo>
                <a:lnTo>
                  <a:pt x="180" y="25"/>
                </a:lnTo>
                <a:lnTo>
                  <a:pt x="196" y="29"/>
                </a:lnTo>
                <a:lnTo>
                  <a:pt x="213" y="32"/>
                </a:lnTo>
                <a:lnTo>
                  <a:pt x="229" y="36"/>
                </a:lnTo>
                <a:lnTo>
                  <a:pt x="246" y="39"/>
                </a:lnTo>
                <a:lnTo>
                  <a:pt x="262" y="42"/>
                </a:lnTo>
                <a:lnTo>
                  <a:pt x="278" y="45"/>
                </a:lnTo>
                <a:lnTo>
                  <a:pt x="295" y="48"/>
                </a:lnTo>
                <a:lnTo>
                  <a:pt x="311" y="51"/>
                </a:lnTo>
                <a:lnTo>
                  <a:pt x="327" y="53"/>
                </a:lnTo>
                <a:lnTo>
                  <a:pt x="344" y="55"/>
                </a:lnTo>
                <a:lnTo>
                  <a:pt x="360" y="56"/>
                </a:lnTo>
                <a:lnTo>
                  <a:pt x="377" y="57"/>
                </a:lnTo>
                <a:lnTo>
                  <a:pt x="393" y="57"/>
                </a:lnTo>
                <a:lnTo>
                  <a:pt x="393" y="63"/>
                </a:lnTo>
                <a:lnTo>
                  <a:pt x="377" y="62"/>
                </a:lnTo>
                <a:lnTo>
                  <a:pt x="360" y="61"/>
                </a:lnTo>
                <a:lnTo>
                  <a:pt x="344" y="60"/>
                </a:lnTo>
                <a:lnTo>
                  <a:pt x="327" y="58"/>
                </a:lnTo>
                <a:lnTo>
                  <a:pt x="311" y="56"/>
                </a:lnTo>
                <a:lnTo>
                  <a:pt x="295" y="54"/>
                </a:lnTo>
                <a:lnTo>
                  <a:pt x="278" y="51"/>
                </a:lnTo>
                <a:lnTo>
                  <a:pt x="262" y="48"/>
                </a:lnTo>
                <a:lnTo>
                  <a:pt x="246" y="44"/>
                </a:lnTo>
                <a:lnTo>
                  <a:pt x="229" y="41"/>
                </a:lnTo>
                <a:lnTo>
                  <a:pt x="213" y="38"/>
                </a:lnTo>
                <a:lnTo>
                  <a:pt x="196" y="34"/>
                </a:lnTo>
                <a:lnTo>
                  <a:pt x="180" y="30"/>
                </a:lnTo>
                <a:lnTo>
                  <a:pt x="164" y="27"/>
                </a:lnTo>
                <a:lnTo>
                  <a:pt x="147" y="24"/>
                </a:lnTo>
                <a:lnTo>
                  <a:pt x="131" y="20"/>
                </a:lnTo>
                <a:lnTo>
                  <a:pt x="114" y="17"/>
                </a:lnTo>
                <a:lnTo>
                  <a:pt x="98" y="14"/>
                </a:lnTo>
                <a:lnTo>
                  <a:pt x="82" y="12"/>
                </a:lnTo>
                <a:lnTo>
                  <a:pt x="65" y="10"/>
                </a:lnTo>
                <a:lnTo>
                  <a:pt x="49" y="8"/>
                </a:lnTo>
                <a:lnTo>
                  <a:pt x="33" y="7"/>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819650"/>
            <a:ext cx="3743325" cy="1381125"/>
          </a:xfrm>
          <a:custGeom>
            <a:avLst/>
            <a:gdLst/>
            <a:ahLst/>
            <a:cxnLst/>
            <a:rect l="l" t="t" r="r" b="b"/>
            <a:pathLst>
              <a:path w="393" h="145">
                <a:moveTo>
                  <a:pt x="0" y="124"/>
                </a:moveTo>
                <a:lnTo>
                  <a:pt x="16" y="123"/>
                </a:lnTo>
                <a:lnTo>
                  <a:pt x="33" y="121"/>
                </a:lnTo>
                <a:lnTo>
                  <a:pt x="49" y="118"/>
                </a:lnTo>
                <a:lnTo>
                  <a:pt x="65" y="114"/>
                </a:lnTo>
                <a:lnTo>
                  <a:pt x="82" y="110"/>
                </a:lnTo>
                <a:lnTo>
                  <a:pt x="98" y="104"/>
                </a:lnTo>
                <a:lnTo>
                  <a:pt x="114" y="98"/>
                </a:lnTo>
                <a:lnTo>
                  <a:pt x="131" y="92"/>
                </a:lnTo>
                <a:lnTo>
                  <a:pt x="147" y="85"/>
                </a:lnTo>
                <a:lnTo>
                  <a:pt x="164" y="77"/>
                </a:lnTo>
                <a:lnTo>
                  <a:pt x="180" y="70"/>
                </a:lnTo>
                <a:lnTo>
                  <a:pt x="196" y="62"/>
                </a:lnTo>
                <a:lnTo>
                  <a:pt x="213" y="54"/>
                </a:lnTo>
                <a:lnTo>
                  <a:pt x="229" y="47"/>
                </a:lnTo>
                <a:lnTo>
                  <a:pt x="246" y="39"/>
                </a:lnTo>
                <a:lnTo>
                  <a:pt x="262" y="32"/>
                </a:lnTo>
                <a:lnTo>
                  <a:pt x="278" y="26"/>
                </a:lnTo>
                <a:lnTo>
                  <a:pt x="295" y="20"/>
                </a:lnTo>
                <a:lnTo>
                  <a:pt x="311" y="14"/>
                </a:lnTo>
                <a:lnTo>
                  <a:pt x="327" y="10"/>
                </a:lnTo>
                <a:lnTo>
                  <a:pt x="344" y="6"/>
                </a:lnTo>
                <a:lnTo>
                  <a:pt x="360" y="3"/>
                </a:lnTo>
                <a:lnTo>
                  <a:pt x="377" y="1"/>
                </a:lnTo>
                <a:lnTo>
                  <a:pt x="393" y="0"/>
                </a:lnTo>
                <a:lnTo>
                  <a:pt x="393" y="22"/>
                </a:lnTo>
                <a:lnTo>
                  <a:pt x="377" y="23"/>
                </a:lnTo>
                <a:lnTo>
                  <a:pt x="360" y="24"/>
                </a:lnTo>
                <a:lnTo>
                  <a:pt x="344" y="27"/>
                </a:lnTo>
                <a:lnTo>
                  <a:pt x="327" y="31"/>
                </a:lnTo>
                <a:lnTo>
                  <a:pt x="311" y="36"/>
                </a:lnTo>
                <a:lnTo>
                  <a:pt x="295" y="41"/>
                </a:lnTo>
                <a:lnTo>
                  <a:pt x="278" y="47"/>
                </a:lnTo>
                <a:lnTo>
                  <a:pt x="262" y="54"/>
                </a:lnTo>
                <a:lnTo>
                  <a:pt x="246" y="61"/>
                </a:lnTo>
                <a:lnTo>
                  <a:pt x="229" y="68"/>
                </a:lnTo>
                <a:lnTo>
                  <a:pt x="213" y="76"/>
                </a:lnTo>
                <a:lnTo>
                  <a:pt x="196" y="83"/>
                </a:lnTo>
                <a:lnTo>
                  <a:pt x="180" y="91"/>
                </a:lnTo>
                <a:lnTo>
                  <a:pt x="164" y="99"/>
                </a:lnTo>
                <a:lnTo>
                  <a:pt x="147" y="106"/>
                </a:lnTo>
                <a:lnTo>
                  <a:pt x="131" y="113"/>
                </a:lnTo>
                <a:lnTo>
                  <a:pt x="114" y="120"/>
                </a:lnTo>
                <a:lnTo>
                  <a:pt x="98" y="126"/>
                </a:lnTo>
                <a:lnTo>
                  <a:pt x="82" y="131"/>
                </a:lnTo>
                <a:lnTo>
                  <a:pt x="65" y="136"/>
                </a:lnTo>
                <a:lnTo>
                  <a:pt x="49" y="140"/>
                </a:lnTo>
                <a:lnTo>
                  <a:pt x="33" y="143"/>
                </a:lnTo>
                <a:lnTo>
                  <a:pt x="16" y="144"/>
                </a:lnTo>
                <a:lnTo>
                  <a:pt x="0" y="14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657850"/>
            <a:ext cx="3743325" cy="733425"/>
          </a:xfrm>
          <a:custGeom>
            <a:avLst/>
            <a:gdLst/>
            <a:ahLst/>
            <a:cxnLst/>
            <a:rect l="l" t="t" r="r" b="b"/>
            <a:pathLst>
              <a:path w="393" h="77">
                <a:moveTo>
                  <a:pt x="0" y="57"/>
                </a:moveTo>
                <a:lnTo>
                  <a:pt x="16" y="57"/>
                </a:lnTo>
                <a:lnTo>
                  <a:pt x="33" y="56"/>
                </a:lnTo>
                <a:lnTo>
                  <a:pt x="49" y="55"/>
                </a:lnTo>
                <a:lnTo>
                  <a:pt x="65" y="53"/>
                </a:lnTo>
                <a:lnTo>
                  <a:pt x="82" y="51"/>
                </a:lnTo>
                <a:lnTo>
                  <a:pt x="98" y="48"/>
                </a:lnTo>
                <a:lnTo>
                  <a:pt x="114" y="45"/>
                </a:lnTo>
                <a:lnTo>
                  <a:pt x="131" y="42"/>
                </a:lnTo>
                <a:lnTo>
                  <a:pt x="147" y="39"/>
                </a:lnTo>
                <a:lnTo>
                  <a:pt x="164" y="36"/>
                </a:lnTo>
                <a:lnTo>
                  <a:pt x="180" y="32"/>
                </a:lnTo>
                <a:lnTo>
                  <a:pt x="196" y="29"/>
                </a:lnTo>
                <a:lnTo>
                  <a:pt x="213" y="25"/>
                </a:lnTo>
                <a:lnTo>
                  <a:pt x="229" y="22"/>
                </a:lnTo>
                <a:lnTo>
                  <a:pt x="246" y="18"/>
                </a:lnTo>
                <a:lnTo>
                  <a:pt x="262" y="15"/>
                </a:lnTo>
                <a:lnTo>
                  <a:pt x="278" y="12"/>
                </a:lnTo>
                <a:lnTo>
                  <a:pt x="295" y="9"/>
                </a:lnTo>
                <a:lnTo>
                  <a:pt x="311" y="7"/>
                </a:lnTo>
                <a:lnTo>
                  <a:pt x="327" y="5"/>
                </a:lnTo>
                <a:lnTo>
                  <a:pt x="344" y="3"/>
                </a:lnTo>
                <a:lnTo>
                  <a:pt x="360" y="2"/>
                </a:lnTo>
                <a:lnTo>
                  <a:pt x="377" y="1"/>
                </a:lnTo>
                <a:lnTo>
                  <a:pt x="393" y="0"/>
                </a:lnTo>
                <a:lnTo>
                  <a:pt x="393" y="21"/>
                </a:lnTo>
                <a:lnTo>
                  <a:pt x="377" y="21"/>
                </a:lnTo>
                <a:lnTo>
                  <a:pt x="360" y="22"/>
                </a:lnTo>
                <a:lnTo>
                  <a:pt x="344" y="23"/>
                </a:lnTo>
                <a:lnTo>
                  <a:pt x="327" y="25"/>
                </a:lnTo>
                <a:lnTo>
                  <a:pt x="311" y="27"/>
                </a:lnTo>
                <a:lnTo>
                  <a:pt x="295" y="29"/>
                </a:lnTo>
                <a:lnTo>
                  <a:pt x="278" y="32"/>
                </a:lnTo>
                <a:lnTo>
                  <a:pt x="262" y="35"/>
                </a:lnTo>
                <a:lnTo>
                  <a:pt x="246" y="38"/>
                </a:lnTo>
                <a:lnTo>
                  <a:pt x="229" y="42"/>
                </a:lnTo>
                <a:lnTo>
                  <a:pt x="213" y="45"/>
                </a:lnTo>
                <a:lnTo>
                  <a:pt x="196" y="49"/>
                </a:lnTo>
                <a:lnTo>
                  <a:pt x="180" y="52"/>
                </a:lnTo>
                <a:lnTo>
                  <a:pt x="164" y="56"/>
                </a:lnTo>
                <a:lnTo>
                  <a:pt x="147" y="59"/>
                </a:lnTo>
                <a:lnTo>
                  <a:pt x="131" y="62"/>
                </a:lnTo>
                <a:lnTo>
                  <a:pt x="114" y="66"/>
                </a:lnTo>
                <a:lnTo>
                  <a:pt x="98" y="68"/>
                </a:lnTo>
                <a:lnTo>
                  <a:pt x="82" y="71"/>
                </a:lnTo>
                <a:lnTo>
                  <a:pt x="65" y="73"/>
                </a:lnTo>
                <a:lnTo>
                  <a:pt x="49" y="75"/>
                </a:lnTo>
                <a:lnTo>
                  <a:pt x="33" y="76"/>
                </a:lnTo>
                <a:lnTo>
                  <a:pt x="16" y="77"/>
                </a:lnTo>
                <a:lnTo>
                  <a:pt x="0" y="7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6181725"/>
            <a:ext cx="3743325" cy="304800"/>
          </a:xfrm>
          <a:custGeom>
            <a:avLst/>
            <a:gdLst/>
            <a:ahLst/>
            <a:cxnLst/>
            <a:rect l="l" t="t" r="r" b="b"/>
            <a:pathLst>
              <a:path w="393" h="32">
                <a:moveTo>
                  <a:pt x="0" y="22"/>
                </a:moveTo>
                <a:lnTo>
                  <a:pt x="16" y="22"/>
                </a:lnTo>
                <a:lnTo>
                  <a:pt x="33" y="22"/>
                </a:lnTo>
                <a:lnTo>
                  <a:pt x="49" y="21"/>
                </a:lnTo>
                <a:lnTo>
                  <a:pt x="65" y="20"/>
                </a:lnTo>
                <a:lnTo>
                  <a:pt x="82" y="20"/>
                </a:lnTo>
                <a:lnTo>
                  <a:pt x="98" y="19"/>
                </a:lnTo>
                <a:lnTo>
                  <a:pt x="114" y="18"/>
                </a:lnTo>
                <a:lnTo>
                  <a:pt x="131" y="16"/>
                </a:lnTo>
                <a:lnTo>
                  <a:pt x="147" y="15"/>
                </a:lnTo>
                <a:lnTo>
                  <a:pt x="164" y="14"/>
                </a:lnTo>
                <a:lnTo>
                  <a:pt x="180" y="12"/>
                </a:lnTo>
                <a:lnTo>
                  <a:pt x="196" y="11"/>
                </a:lnTo>
                <a:lnTo>
                  <a:pt x="213" y="10"/>
                </a:lnTo>
                <a:lnTo>
                  <a:pt x="229" y="8"/>
                </a:lnTo>
                <a:lnTo>
                  <a:pt x="246" y="7"/>
                </a:lnTo>
                <a:lnTo>
                  <a:pt x="262" y="6"/>
                </a:lnTo>
                <a:lnTo>
                  <a:pt x="278" y="4"/>
                </a:lnTo>
                <a:lnTo>
                  <a:pt x="295" y="3"/>
                </a:lnTo>
                <a:lnTo>
                  <a:pt x="311" y="2"/>
                </a:lnTo>
                <a:lnTo>
                  <a:pt x="327" y="1"/>
                </a:lnTo>
                <a:lnTo>
                  <a:pt x="344" y="1"/>
                </a:lnTo>
                <a:lnTo>
                  <a:pt x="360" y="0"/>
                </a:lnTo>
                <a:lnTo>
                  <a:pt x="377" y="0"/>
                </a:lnTo>
                <a:lnTo>
                  <a:pt x="393" y="0"/>
                </a:lnTo>
                <a:lnTo>
                  <a:pt x="393" y="9"/>
                </a:lnTo>
                <a:lnTo>
                  <a:pt x="377" y="9"/>
                </a:lnTo>
                <a:lnTo>
                  <a:pt x="360" y="10"/>
                </a:lnTo>
                <a:lnTo>
                  <a:pt x="344" y="10"/>
                </a:lnTo>
                <a:lnTo>
                  <a:pt x="327" y="11"/>
                </a:lnTo>
                <a:lnTo>
                  <a:pt x="311" y="12"/>
                </a:lnTo>
                <a:lnTo>
                  <a:pt x="295" y="13"/>
                </a:lnTo>
                <a:lnTo>
                  <a:pt x="278" y="14"/>
                </a:lnTo>
                <a:lnTo>
                  <a:pt x="262" y="15"/>
                </a:lnTo>
                <a:lnTo>
                  <a:pt x="246" y="16"/>
                </a:lnTo>
                <a:lnTo>
                  <a:pt x="229" y="18"/>
                </a:lnTo>
                <a:lnTo>
                  <a:pt x="213" y="19"/>
                </a:lnTo>
                <a:lnTo>
                  <a:pt x="196" y="20"/>
                </a:lnTo>
                <a:lnTo>
                  <a:pt x="180" y="22"/>
                </a:lnTo>
                <a:lnTo>
                  <a:pt x="164" y="23"/>
                </a:lnTo>
                <a:lnTo>
                  <a:pt x="147" y="24"/>
                </a:lnTo>
                <a:lnTo>
                  <a:pt x="131" y="26"/>
                </a:lnTo>
                <a:lnTo>
                  <a:pt x="114" y="27"/>
                </a:lnTo>
                <a:lnTo>
                  <a:pt x="98" y="28"/>
                </a:lnTo>
                <a:lnTo>
                  <a:pt x="82" y="29"/>
                </a:lnTo>
                <a:lnTo>
                  <a:pt x="65" y="30"/>
                </a:lnTo>
                <a:lnTo>
                  <a:pt x="49" y="31"/>
                </a:lnTo>
                <a:lnTo>
                  <a:pt x="33" y="31"/>
                </a:lnTo>
                <a:lnTo>
                  <a:pt x="16" y="31"/>
                </a:lnTo>
                <a:lnTo>
                  <a:pt x="0" y="32"/>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486525"/>
            <a:ext cx="3743325" cy="47625"/>
          </a:xfrm>
          <a:custGeom>
            <a:avLst/>
            <a:gdLst/>
            <a:ahLst/>
            <a:cxnLst/>
            <a:rect l="l" t="t" r="r" b="b"/>
            <a:pathLst>
              <a:path w="393" h="5">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5"/>
                </a:lnTo>
                <a:lnTo>
                  <a:pt x="377" y="5"/>
                </a:lnTo>
                <a:lnTo>
                  <a:pt x="360" y="5"/>
                </a:lnTo>
                <a:lnTo>
                  <a:pt x="344" y="5"/>
                </a:lnTo>
                <a:lnTo>
                  <a:pt x="327" y="5"/>
                </a:lnTo>
                <a:lnTo>
                  <a:pt x="311" y="5"/>
                </a:lnTo>
                <a:lnTo>
                  <a:pt x="295" y="5"/>
                </a:lnTo>
                <a:lnTo>
                  <a:pt x="278" y="5"/>
                </a:lnTo>
                <a:lnTo>
                  <a:pt x="262" y="5"/>
                </a:lnTo>
                <a:lnTo>
                  <a:pt x="246" y="5"/>
                </a:lnTo>
                <a:lnTo>
                  <a:pt x="229" y="5"/>
                </a:lnTo>
                <a:lnTo>
                  <a:pt x="213" y="5"/>
                </a:lnTo>
                <a:lnTo>
                  <a:pt x="196" y="5"/>
                </a:lnTo>
                <a:lnTo>
                  <a:pt x="180" y="5"/>
                </a:lnTo>
                <a:lnTo>
                  <a:pt x="164" y="5"/>
                </a:lnTo>
                <a:lnTo>
                  <a:pt x="147" y="5"/>
                </a:lnTo>
                <a:lnTo>
                  <a:pt x="131" y="5"/>
                </a:lnTo>
                <a:lnTo>
                  <a:pt x="114" y="5"/>
                </a:lnTo>
                <a:lnTo>
                  <a:pt x="98" y="5"/>
                </a:lnTo>
                <a:lnTo>
                  <a:pt x="82" y="5"/>
                </a:lnTo>
                <a:lnTo>
                  <a:pt x="65" y="5"/>
                </a:lnTo>
                <a:lnTo>
                  <a:pt x="49" y="5"/>
                </a:lnTo>
                <a:lnTo>
                  <a:pt x="33" y="5"/>
                </a:lnTo>
                <a:lnTo>
                  <a:pt x="16" y="5"/>
                </a:lnTo>
                <a:lnTo>
                  <a:pt x="0" y="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4210050"/>
            <a:ext cx="114300" cy="538166"/>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4805366"/>
            <a:ext cx="114300" cy="538161"/>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5400677"/>
            <a:ext cx="114300" cy="53816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995989"/>
            <a:ext cx="114300" cy="538161"/>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0725" y="4210050"/>
            <a:ext cx="114300" cy="81838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5085582"/>
            <a:ext cx="114300" cy="76838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5911114"/>
            <a:ext cx="114300" cy="35748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0725" y="6325747"/>
            <a:ext cx="114300" cy="20840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7175" y="4355308"/>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5003009"/>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554593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6141244"/>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5972175" y="4495416"/>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5972175" y="5293560"/>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596603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Rounded Rectangle 47"/>
          <p:cNvSpPr/>
          <p:nvPr/>
        </p:nvSpPr>
        <p:spPr>
          <a:xfrm>
            <a:off x="7581900" y="3886200"/>
            <a:ext cx="4457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5250" y="39719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0" name="Rectangle 49"/>
          <p:cNvSpPr/>
          <p:nvPr/>
        </p:nvSpPr>
        <p:spPr>
          <a:xfrm>
            <a:off x="7715250" y="42100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5250" y="4295775"/>
            <a:ext cx="4191000" cy="2257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8284063" y="2659697"/>
            <a:ext cx="366712" cy="533400"/>
          </a:xfrm>
          <a:prstGeom prst="rect">
            <a:avLst/>
          </a:prstGeom>
        </p:spPr>
      </p:pic>
      <p:sp>
        <p:nvSpPr>
          <p:cNvPr id="54" name="TextBox 53"/>
          <p:cNvSpPr txBox="1"/>
          <p:nvPr/>
        </p:nvSpPr>
        <p:spPr>
          <a:xfrm>
            <a:off x="728906" y="4358432"/>
            <a:ext cx="1136088" cy="139750"/>
          </a:xfrm>
          <a:prstGeom prst="rect">
            <a:avLst/>
          </a:prstGeom>
          <a:noFill/>
        </p:spPr>
        <p:txBody>
          <a:bodyPr wrap="none" lIns="0" rIns="0" tIns="0" bIns="0">
            <a:spAutoFit/>
          </a:bodyPr>
          <a:lstStyle/>
          <a:p>
            <a:r>
              <a:rPr sz="791" b="1">
                <a:solidFill>
                  <a:srgbClr val="2E2E2E"/>
                </a:solidFill>
                <a:latin typeface="Calibri"/>
              </a:rPr>
              <a:t>Devices without Integrated</a:t>
            </a:r>
          </a:p>
        </p:txBody>
      </p:sp>
      <p:sp>
        <p:nvSpPr>
          <p:cNvPr id="55" name="TextBox 54"/>
          <p:cNvSpPr txBox="1"/>
          <p:nvPr/>
        </p:nvSpPr>
        <p:spPr>
          <a:xfrm>
            <a:off x="1282017" y="4479133"/>
            <a:ext cx="548276" cy="139750"/>
          </a:xfrm>
          <a:prstGeom prst="rect">
            <a:avLst/>
          </a:prstGeom>
          <a:noFill/>
        </p:spPr>
        <p:txBody>
          <a:bodyPr wrap="none" lIns="0" rIns="0" tIns="0" bIns="0">
            <a:spAutoFit/>
          </a:bodyPr>
          <a:lstStyle/>
          <a:p>
            <a:r>
              <a:rPr sz="791" b="1">
                <a:solidFill>
                  <a:srgbClr val="2E2E2E"/>
                </a:solidFill>
                <a:latin typeface="Calibri"/>
              </a:rPr>
              <a:t>Monitoring</a:t>
            </a:r>
          </a:p>
        </p:txBody>
      </p:sp>
      <p:pic>
        <p:nvPicPr>
          <p:cNvPr id="56" name="Picture 55" descr="lock.png"/>
          <p:cNvPicPr>
            <a:picLocks noChangeAspect="1"/>
          </p:cNvPicPr>
          <p:nvPr/>
        </p:nvPicPr>
        <p:blipFill>
          <a:blip r:embed="rId4"/>
          <a:stretch>
            <a:fillRect/>
          </a:stretch>
        </p:blipFill>
        <p:spPr>
          <a:xfrm>
            <a:off x="1771555" y="4472092"/>
            <a:ext cx="92663" cy="134782"/>
          </a:xfrm>
          <a:prstGeom prst="rect">
            <a:avLst/>
          </a:prstGeom>
        </p:spPr>
      </p:pic>
      <p:sp>
        <p:nvSpPr>
          <p:cNvPr id="57" name="TextBox 56"/>
          <p:cNvSpPr txBox="1"/>
          <p:nvPr/>
        </p:nvSpPr>
        <p:spPr>
          <a:xfrm>
            <a:off x="493847" y="5014096"/>
            <a:ext cx="1336446" cy="139750"/>
          </a:xfrm>
          <a:prstGeom prst="rect">
            <a:avLst/>
          </a:prstGeom>
          <a:noFill/>
        </p:spPr>
        <p:txBody>
          <a:bodyPr wrap="none" lIns="0" rIns="0" tIns="0" bIns="0">
            <a:spAutoFit/>
          </a:bodyPr>
          <a:lstStyle/>
          <a:p>
            <a:r>
              <a:rPr sz="791" b="1">
                <a:solidFill>
                  <a:srgbClr val="2E2E2E"/>
                </a:solidFill>
                <a:latin typeface="Calibri"/>
              </a:rPr>
              <a:t>Temperature Monitoring Only</a:t>
            </a:r>
          </a:p>
        </p:txBody>
      </p:sp>
      <p:pic>
        <p:nvPicPr>
          <p:cNvPr id="58" name="Picture 57" descr="lock.png"/>
          <p:cNvPicPr>
            <a:picLocks noChangeAspect="1"/>
          </p:cNvPicPr>
          <p:nvPr/>
        </p:nvPicPr>
        <p:blipFill>
          <a:blip r:embed="rId4"/>
          <a:stretch>
            <a:fillRect/>
          </a:stretch>
        </p:blipFill>
        <p:spPr>
          <a:xfrm>
            <a:off x="1771555" y="5007055"/>
            <a:ext cx="92663" cy="134782"/>
          </a:xfrm>
          <a:prstGeom prst="rect">
            <a:avLst/>
          </a:prstGeom>
        </p:spPr>
      </p:pic>
      <p:sp>
        <p:nvSpPr>
          <p:cNvPr id="59" name="TextBox 58"/>
          <p:cNvSpPr txBox="1"/>
          <p:nvPr/>
        </p:nvSpPr>
        <p:spPr>
          <a:xfrm>
            <a:off x="262526" y="5549057"/>
            <a:ext cx="1602468" cy="139750"/>
          </a:xfrm>
          <a:prstGeom prst="rect">
            <a:avLst/>
          </a:prstGeom>
          <a:noFill/>
        </p:spPr>
        <p:txBody>
          <a:bodyPr wrap="none" lIns="0" rIns="0" tIns="0" bIns="0">
            <a:spAutoFit/>
          </a:bodyPr>
          <a:lstStyle/>
          <a:p>
            <a:r>
              <a:rPr sz="791" b="1">
                <a:solidFill>
                  <a:srgbClr val="2E2E2E"/>
                </a:solidFill>
                <a:latin typeface="Calibri"/>
              </a:rPr>
              <a:t>Temperature and Location Monitoring</a:t>
            </a:r>
          </a:p>
        </p:txBody>
      </p:sp>
      <p:pic>
        <p:nvPicPr>
          <p:cNvPr id="60" name="Picture 59" descr="lock.png"/>
          <p:cNvPicPr>
            <a:picLocks noChangeAspect="1"/>
          </p:cNvPicPr>
          <p:nvPr/>
        </p:nvPicPr>
        <p:blipFill>
          <a:blip r:embed="rId4"/>
          <a:stretch>
            <a:fillRect/>
          </a:stretch>
        </p:blipFill>
        <p:spPr>
          <a:xfrm>
            <a:off x="1771555" y="5662717"/>
            <a:ext cx="92663" cy="134782"/>
          </a:xfrm>
          <a:prstGeom prst="rect">
            <a:avLst/>
          </a:prstGeom>
        </p:spPr>
      </p:pic>
      <p:sp>
        <p:nvSpPr>
          <p:cNvPr id="61" name="TextBox 60"/>
          <p:cNvSpPr txBox="1"/>
          <p:nvPr/>
        </p:nvSpPr>
        <p:spPr>
          <a:xfrm>
            <a:off x="720852" y="6144368"/>
            <a:ext cx="1144142" cy="139750"/>
          </a:xfrm>
          <a:prstGeom prst="rect">
            <a:avLst/>
          </a:prstGeom>
          <a:noFill/>
        </p:spPr>
        <p:txBody>
          <a:bodyPr wrap="none" lIns="0" rIns="0" tIns="0" bIns="0">
            <a:spAutoFit/>
          </a:bodyPr>
          <a:lstStyle/>
          <a:p>
            <a:r>
              <a:rPr sz="791" b="1">
                <a:solidFill>
                  <a:srgbClr val="2E2E2E"/>
                </a:solidFill>
                <a:latin typeface="Calibri"/>
              </a:rPr>
              <a:t>Physiological and Perfusion</a:t>
            </a:r>
          </a:p>
        </p:txBody>
      </p:sp>
      <p:sp>
        <p:nvSpPr>
          <p:cNvPr id="62" name="TextBox 61"/>
          <p:cNvSpPr txBox="1"/>
          <p:nvPr/>
        </p:nvSpPr>
        <p:spPr>
          <a:xfrm>
            <a:off x="816423" y="6265069"/>
            <a:ext cx="1013870" cy="139750"/>
          </a:xfrm>
          <a:prstGeom prst="rect">
            <a:avLst/>
          </a:prstGeom>
          <a:noFill/>
        </p:spPr>
        <p:txBody>
          <a:bodyPr wrap="none" lIns="0" rIns="0" tIns="0" bIns="0">
            <a:spAutoFit/>
          </a:bodyPr>
          <a:lstStyle/>
          <a:p>
            <a:r>
              <a:rPr sz="791" b="1">
                <a:solidFill>
                  <a:srgbClr val="2E2E2E"/>
                </a:solidFill>
                <a:latin typeface="Calibri"/>
              </a:rPr>
              <a:t>Parameter Monitoring</a:t>
            </a:r>
          </a:p>
        </p:txBody>
      </p:sp>
      <p:pic>
        <p:nvPicPr>
          <p:cNvPr id="63" name="Picture 62" descr="lock.png"/>
          <p:cNvPicPr>
            <a:picLocks noChangeAspect="1"/>
          </p:cNvPicPr>
          <p:nvPr/>
        </p:nvPicPr>
        <p:blipFill>
          <a:blip r:embed="rId4"/>
          <a:stretch>
            <a:fillRect/>
          </a:stretch>
        </p:blipFill>
        <p:spPr>
          <a:xfrm>
            <a:off x="1771555" y="6258028"/>
            <a:ext cx="92663" cy="134782"/>
          </a:xfrm>
          <a:prstGeom prst="rect">
            <a:avLst/>
          </a:prstGeom>
        </p:spPr>
      </p:pic>
      <p:sp>
        <p:nvSpPr>
          <p:cNvPr id="64" name="TextBox 63"/>
          <p:cNvSpPr txBox="1"/>
          <p:nvPr/>
        </p:nvSpPr>
        <p:spPr>
          <a:xfrm>
            <a:off x="5972175" y="4498540"/>
            <a:ext cx="1112293" cy="139750"/>
          </a:xfrm>
          <a:prstGeom prst="rect">
            <a:avLst/>
          </a:prstGeom>
          <a:noFill/>
        </p:spPr>
        <p:txBody>
          <a:bodyPr wrap="none" lIns="0" rIns="0" tIns="0" bIns="0">
            <a:spAutoFit/>
          </a:bodyPr>
          <a:lstStyle/>
          <a:p>
            <a:r>
              <a:rPr sz="791" b="1">
                <a:solidFill>
                  <a:srgbClr val="2E2E2E"/>
                </a:solidFill>
                <a:latin typeface="Calibri"/>
              </a:rPr>
              <a:t>Hospitals and Transplant</a:t>
            </a:r>
          </a:p>
        </p:txBody>
      </p:sp>
      <p:sp>
        <p:nvSpPr>
          <p:cNvPr id="65" name="TextBox 64"/>
          <p:cNvSpPr txBox="1"/>
          <p:nvPr/>
        </p:nvSpPr>
        <p:spPr>
          <a:xfrm>
            <a:off x="5972175" y="4619241"/>
            <a:ext cx="395632" cy="139750"/>
          </a:xfrm>
          <a:prstGeom prst="rect">
            <a:avLst/>
          </a:prstGeom>
          <a:noFill/>
        </p:spPr>
        <p:txBody>
          <a:bodyPr wrap="none" lIns="0" rIns="0" tIns="0" bIns="0">
            <a:spAutoFit/>
          </a:bodyPr>
          <a:lstStyle/>
          <a:p>
            <a:r>
              <a:rPr sz="791" b="1">
                <a:solidFill>
                  <a:srgbClr val="2E2E2E"/>
                </a:solidFill>
                <a:latin typeface="Calibri"/>
              </a:rPr>
              <a:t>Centres</a:t>
            </a:r>
          </a:p>
        </p:txBody>
      </p:sp>
      <p:pic>
        <p:nvPicPr>
          <p:cNvPr id="66" name="Picture 65" descr="lock.png"/>
          <p:cNvPicPr>
            <a:picLocks noChangeAspect="1"/>
          </p:cNvPicPr>
          <p:nvPr/>
        </p:nvPicPr>
        <p:blipFill>
          <a:blip r:embed="rId4"/>
          <a:stretch>
            <a:fillRect/>
          </a:stretch>
        </p:blipFill>
        <p:spPr>
          <a:xfrm>
            <a:off x="6309068" y="4612200"/>
            <a:ext cx="92663" cy="134782"/>
          </a:xfrm>
          <a:prstGeom prst="rect">
            <a:avLst/>
          </a:prstGeom>
        </p:spPr>
      </p:pic>
      <p:sp>
        <p:nvSpPr>
          <p:cNvPr id="67" name="TextBox 66"/>
          <p:cNvSpPr txBox="1"/>
          <p:nvPr/>
        </p:nvSpPr>
        <p:spPr>
          <a:xfrm>
            <a:off x="5972175" y="5293560"/>
            <a:ext cx="901696" cy="139750"/>
          </a:xfrm>
          <a:prstGeom prst="rect">
            <a:avLst/>
          </a:prstGeom>
          <a:noFill/>
        </p:spPr>
        <p:txBody>
          <a:bodyPr wrap="none" lIns="0" rIns="0" tIns="0" bIns="0">
            <a:spAutoFit/>
          </a:bodyPr>
          <a:lstStyle/>
          <a:p>
            <a:r>
              <a:rPr sz="791" b="1">
                <a:solidFill>
                  <a:srgbClr val="2E2E2E"/>
                </a:solidFill>
                <a:latin typeface="Calibri"/>
              </a:rPr>
              <a:t>Organ Procurement</a:t>
            </a:r>
          </a:p>
        </p:txBody>
      </p:sp>
      <p:sp>
        <p:nvSpPr>
          <p:cNvPr id="68" name="TextBox 67"/>
          <p:cNvSpPr txBox="1"/>
          <p:nvPr/>
        </p:nvSpPr>
        <p:spPr>
          <a:xfrm>
            <a:off x="5972175" y="5414260"/>
            <a:ext cx="1112293" cy="139750"/>
          </a:xfrm>
          <a:prstGeom prst="rect">
            <a:avLst/>
          </a:prstGeom>
          <a:noFill/>
        </p:spPr>
        <p:txBody>
          <a:bodyPr wrap="none" lIns="0" rIns="0" tIns="0" bIns="0">
            <a:spAutoFit/>
          </a:bodyPr>
          <a:lstStyle/>
          <a:p>
            <a:r>
              <a:rPr sz="791" b="1">
                <a:solidFill>
                  <a:srgbClr val="2E2E2E"/>
                </a:solidFill>
                <a:latin typeface="Calibri"/>
              </a:rPr>
              <a:t>Organisations and Organ</a:t>
            </a:r>
          </a:p>
        </p:txBody>
      </p:sp>
      <p:sp>
        <p:nvSpPr>
          <p:cNvPr id="69" name="TextBox 68"/>
          <p:cNvSpPr txBox="1"/>
          <p:nvPr/>
        </p:nvSpPr>
        <p:spPr>
          <a:xfrm>
            <a:off x="5972175" y="5534961"/>
            <a:ext cx="845313" cy="139750"/>
          </a:xfrm>
          <a:prstGeom prst="rect">
            <a:avLst/>
          </a:prstGeom>
          <a:noFill/>
        </p:spPr>
        <p:txBody>
          <a:bodyPr wrap="none" lIns="0" rIns="0" tIns="0" bIns="0">
            <a:spAutoFit/>
          </a:bodyPr>
          <a:lstStyle/>
          <a:p>
            <a:r>
              <a:rPr sz="791" b="1">
                <a:solidFill>
                  <a:srgbClr val="2E2E2E"/>
                </a:solidFill>
                <a:latin typeface="Calibri"/>
              </a:rPr>
              <a:t>Retrieval Agencies</a:t>
            </a:r>
          </a:p>
        </p:txBody>
      </p:sp>
      <p:pic>
        <p:nvPicPr>
          <p:cNvPr id="70" name="Picture 69" descr="lock.png"/>
          <p:cNvPicPr>
            <a:picLocks noChangeAspect="1"/>
          </p:cNvPicPr>
          <p:nvPr/>
        </p:nvPicPr>
        <p:blipFill>
          <a:blip r:embed="rId4"/>
          <a:stretch>
            <a:fillRect/>
          </a:stretch>
        </p:blipFill>
        <p:spPr>
          <a:xfrm>
            <a:off x="6758750" y="5527920"/>
            <a:ext cx="92663" cy="134782"/>
          </a:xfrm>
          <a:prstGeom prst="rect">
            <a:avLst/>
          </a:prstGeom>
        </p:spPr>
      </p:pic>
      <p:sp>
        <p:nvSpPr>
          <p:cNvPr id="71" name="TextBox 70"/>
          <p:cNvSpPr txBox="1"/>
          <p:nvPr/>
        </p:nvSpPr>
        <p:spPr>
          <a:xfrm>
            <a:off x="5972175" y="5969154"/>
            <a:ext cx="1269849" cy="139750"/>
          </a:xfrm>
          <a:prstGeom prst="rect">
            <a:avLst/>
          </a:prstGeom>
          <a:noFill/>
        </p:spPr>
        <p:txBody>
          <a:bodyPr wrap="none" lIns="0" rIns="0" tIns="0" bIns="0">
            <a:spAutoFit/>
          </a:bodyPr>
          <a:lstStyle/>
          <a:p>
            <a:r>
              <a:rPr sz="791" b="1">
                <a:solidFill>
                  <a:srgbClr val="2E2E2E"/>
                </a:solidFill>
                <a:latin typeface="Calibri"/>
              </a:rPr>
              <a:t>Specialised Medical Logistics</a:t>
            </a:r>
          </a:p>
        </p:txBody>
      </p:sp>
      <p:sp>
        <p:nvSpPr>
          <p:cNvPr id="72" name="TextBox 71"/>
          <p:cNvSpPr txBox="1"/>
          <p:nvPr/>
        </p:nvSpPr>
        <p:spPr>
          <a:xfrm>
            <a:off x="5972175" y="6089855"/>
            <a:ext cx="472445" cy="139750"/>
          </a:xfrm>
          <a:prstGeom prst="rect">
            <a:avLst/>
          </a:prstGeom>
          <a:noFill/>
        </p:spPr>
        <p:txBody>
          <a:bodyPr wrap="none" lIns="0" rIns="0" tIns="0" bIns="0">
            <a:spAutoFit/>
          </a:bodyPr>
          <a:lstStyle/>
          <a:p>
            <a:r>
              <a:rPr sz="791" b="1">
                <a:solidFill>
                  <a:srgbClr val="2E2E2E"/>
                </a:solidFill>
                <a:latin typeface="Calibri"/>
              </a:rPr>
              <a:t>Providers</a:t>
            </a:r>
          </a:p>
        </p:txBody>
      </p:sp>
      <p:pic>
        <p:nvPicPr>
          <p:cNvPr id="73" name="Picture 72" descr="lock.png"/>
          <p:cNvPicPr>
            <a:picLocks noChangeAspect="1"/>
          </p:cNvPicPr>
          <p:nvPr/>
        </p:nvPicPr>
        <p:blipFill>
          <a:blip r:embed="rId4"/>
          <a:stretch>
            <a:fillRect/>
          </a:stretch>
        </p:blipFill>
        <p:spPr>
          <a:xfrm>
            <a:off x="6385882" y="6082814"/>
            <a:ext cx="92663" cy="134782"/>
          </a:xfrm>
          <a:prstGeom prst="rect">
            <a:avLst/>
          </a:prstGeom>
        </p:spPr>
      </p:pic>
      <p:sp>
        <p:nvSpPr>
          <p:cNvPr id="74" name="TextBox 73"/>
          <p:cNvSpPr txBox="1"/>
          <p:nvPr/>
        </p:nvSpPr>
        <p:spPr>
          <a:xfrm>
            <a:off x="5972175" y="6289624"/>
            <a:ext cx="1362075" cy="139750"/>
          </a:xfrm>
          <a:prstGeom prst="rect">
            <a:avLst/>
          </a:prstGeom>
          <a:noFill/>
        </p:spPr>
        <p:txBody>
          <a:bodyPr wrap="none" lIns="0" rIns="0" tIns="0" bIns="0">
            <a:spAutoFit/>
          </a:bodyPr>
          <a:lstStyle/>
          <a:p>
            <a:r>
              <a:rPr sz="791" b="1">
                <a:solidFill>
                  <a:srgbClr val="2E2E2E"/>
                </a:solidFill>
                <a:latin typeface="Calibri"/>
              </a:rPr>
              <a:t>Other Purchasing Organisations</a:t>
            </a:r>
          </a:p>
        </p:txBody>
      </p:sp>
      <p:pic>
        <p:nvPicPr>
          <p:cNvPr id="75" name="Picture 74" descr="lock.png"/>
          <p:cNvPicPr>
            <a:picLocks noChangeAspect="1"/>
          </p:cNvPicPr>
          <p:nvPr/>
        </p:nvPicPr>
        <p:blipFill>
          <a:blip r:embed="rId4"/>
          <a:stretch>
            <a:fillRect/>
          </a:stretch>
        </p:blipFill>
        <p:spPr>
          <a:xfrm>
            <a:off x="5962478" y="6403284"/>
            <a:ext cx="92663" cy="134782"/>
          </a:xfrm>
          <a:prstGeom prst="rect">
            <a:avLst/>
          </a:prstGeom>
        </p:spPr>
      </p:pic>
      <p:sp>
        <p:nvSpPr>
          <p:cNvPr id="76" name="TextBox 75"/>
          <p:cNvSpPr txBox="1"/>
          <p:nvPr/>
        </p:nvSpPr>
        <p:spPr>
          <a:xfrm>
            <a:off x="7715250" y="4305300"/>
            <a:ext cx="4134594" cy="186689"/>
          </a:xfrm>
          <a:prstGeom prst="rect">
            <a:avLst/>
          </a:prstGeom>
          <a:noFill/>
        </p:spPr>
        <p:txBody>
          <a:bodyPr wrap="none" lIns="0" rIns="0" tIns="0" bIns="0">
            <a:spAutoFit/>
          </a:bodyPr>
          <a:lstStyle/>
          <a:p>
            <a:r>
              <a:rPr sz="1100" b="0">
                <a:solidFill>
                  <a:srgbClr val="2E2E2E"/>
                </a:solidFill>
                <a:latin typeface="Calibri"/>
              </a:rPr>
              <a:t>Devices without integrated monitoring segment is projected to account</a:t>
            </a:r>
          </a:p>
        </p:txBody>
      </p:sp>
      <p:sp>
        <p:nvSpPr>
          <p:cNvPr id="77" name="TextBox 76"/>
          <p:cNvSpPr txBox="1"/>
          <p:nvPr/>
        </p:nvSpPr>
        <p:spPr>
          <a:xfrm>
            <a:off x="7715250" y="4472940"/>
            <a:ext cx="3837458" cy="186689"/>
          </a:xfrm>
          <a:prstGeom prst="rect">
            <a:avLst/>
          </a:prstGeom>
          <a:noFill/>
        </p:spPr>
        <p:txBody>
          <a:bodyPr wrap="none" lIns="0" rIns="0" tIns="0" bIns="0">
            <a:spAutoFit/>
          </a:bodyPr>
          <a:lstStyle/>
          <a:p>
            <a:r>
              <a:rPr sz="1100" b="0">
                <a:solidFill>
                  <a:srgbClr val="2E2E2E"/>
                </a:solidFill>
                <a:latin typeface="Calibri"/>
              </a:rPr>
              <a:t>for the largest share of the North America organ transport devices</a:t>
            </a:r>
          </a:p>
        </p:txBody>
      </p:sp>
      <p:sp>
        <p:nvSpPr>
          <p:cNvPr id="78" name="TextBox 77"/>
          <p:cNvSpPr txBox="1"/>
          <p:nvPr/>
        </p:nvSpPr>
        <p:spPr>
          <a:xfrm>
            <a:off x="7715250" y="4640580"/>
            <a:ext cx="3149054" cy="186689"/>
          </a:xfrm>
          <a:prstGeom prst="rect">
            <a:avLst/>
          </a:prstGeom>
          <a:noFill/>
        </p:spPr>
        <p:txBody>
          <a:bodyPr wrap="none" lIns="0" rIns="0" tIns="0" bIns="0">
            <a:spAutoFit/>
          </a:bodyPr>
          <a:lstStyle/>
          <a:p>
            <a:r>
              <a:rPr sz="1100" b="0">
                <a:solidFill>
                  <a:srgbClr val="2E2E2E"/>
                </a:solidFill>
                <a:latin typeface="Calibri"/>
              </a:rPr>
              <a:t>market, led by hospitals and transplant centres at US$</a:t>
            </a:r>
          </a:p>
        </p:txBody>
      </p:sp>
      <p:pic>
        <p:nvPicPr>
          <p:cNvPr id="79" name="Picture 78" descr="lock.png"/>
          <p:cNvPicPr>
            <a:picLocks noChangeAspect="1"/>
          </p:cNvPicPr>
          <p:nvPr/>
        </p:nvPicPr>
        <p:blipFill>
          <a:blip r:embed="rId4"/>
          <a:stretch>
            <a:fillRect/>
          </a:stretch>
        </p:blipFill>
        <p:spPr>
          <a:xfrm>
            <a:off x="10812355" y="4630801"/>
            <a:ext cx="128699" cy="187198"/>
          </a:xfrm>
          <a:prstGeom prst="rect">
            <a:avLst/>
          </a:prstGeom>
        </p:spPr>
      </p:pic>
      <p:sp>
        <p:nvSpPr>
          <p:cNvPr id="80" name="TextBox 79"/>
          <p:cNvSpPr txBox="1"/>
          <p:nvPr/>
        </p:nvSpPr>
        <p:spPr>
          <a:xfrm>
            <a:off x="10979851" y="4640580"/>
            <a:ext cx="756964" cy="186689"/>
          </a:xfrm>
          <a:prstGeom prst="rect">
            <a:avLst/>
          </a:prstGeom>
          <a:noFill/>
        </p:spPr>
        <p:txBody>
          <a:bodyPr wrap="none" lIns="0" rIns="0" tIns="0" bIns="0">
            <a:spAutoFit/>
          </a:bodyPr>
          <a:lstStyle/>
          <a:p>
            <a:r>
              <a:rPr sz="1100" b="0">
                <a:solidFill>
                  <a:srgbClr val="2E2E2E"/>
                </a:solidFill>
                <a:latin typeface="Calibri"/>
              </a:rPr>
              <a:t>Mn in 2036.</a:t>
            </a:r>
          </a:p>
        </p:txBody>
      </p:sp>
      <p:sp>
        <p:nvSpPr>
          <p:cNvPr id="81" name="TextBox 80"/>
          <p:cNvSpPr txBox="1"/>
          <p:nvPr/>
        </p:nvSpPr>
        <p:spPr>
          <a:xfrm>
            <a:off x="7715250" y="4808220"/>
            <a:ext cx="4171950" cy="186689"/>
          </a:xfrm>
          <a:prstGeom prst="rect">
            <a:avLst/>
          </a:prstGeom>
          <a:noFill/>
        </p:spPr>
        <p:txBody>
          <a:bodyPr wrap="none" lIns="0" rIns="0" tIns="0" bIns="0">
            <a:spAutoFit/>
          </a:bodyPr>
          <a:lstStyle/>
          <a:p>
            <a:r>
              <a:rPr sz="1100" b="0">
                <a:solidFill>
                  <a:srgbClr val="2E2E2E"/>
                </a:solidFill>
                <a:latin typeface="Calibri"/>
              </a:rPr>
              <a:t>'Temperature Monitoring Only × Hospitals and Transplant Centres' is the</a:t>
            </a:r>
          </a:p>
        </p:txBody>
      </p:sp>
      <p:sp>
        <p:nvSpPr>
          <p:cNvPr id="82" name="TextBox 81"/>
          <p:cNvSpPr txBox="1"/>
          <p:nvPr/>
        </p:nvSpPr>
        <p:spPr>
          <a:xfrm>
            <a:off x="7715250" y="4975860"/>
            <a:ext cx="1992982" cy="186689"/>
          </a:xfrm>
          <a:prstGeom prst="rect">
            <a:avLst/>
          </a:prstGeom>
          <a:noFill/>
        </p:spPr>
        <p:txBody>
          <a:bodyPr wrap="none" lIns="0" rIns="0" tIns="0" bIns="0">
            <a:spAutoFit/>
          </a:bodyPr>
          <a:lstStyle/>
          <a:p>
            <a:r>
              <a:rPr sz="1100" b="0">
                <a:solidFill>
                  <a:srgbClr val="2E2E2E"/>
                </a:solidFill>
                <a:latin typeface="Calibri"/>
              </a:rPr>
              <a:t>single largest cross-sectional cell (</a:t>
            </a:r>
          </a:p>
        </p:txBody>
      </p:sp>
      <p:pic>
        <p:nvPicPr>
          <p:cNvPr id="83" name="Picture 82" descr="lock.png"/>
          <p:cNvPicPr>
            <a:picLocks noChangeAspect="1"/>
          </p:cNvPicPr>
          <p:nvPr/>
        </p:nvPicPr>
        <p:blipFill>
          <a:blip r:embed="rId4"/>
          <a:stretch>
            <a:fillRect/>
          </a:stretch>
        </p:blipFill>
        <p:spPr>
          <a:xfrm>
            <a:off x="9656283" y="4966081"/>
            <a:ext cx="128699" cy="187198"/>
          </a:xfrm>
          <a:prstGeom prst="rect">
            <a:avLst/>
          </a:prstGeom>
        </p:spPr>
      </p:pic>
      <p:sp>
        <p:nvSpPr>
          <p:cNvPr id="84" name="TextBox 83"/>
          <p:cNvSpPr txBox="1"/>
          <p:nvPr/>
        </p:nvSpPr>
        <p:spPr>
          <a:xfrm>
            <a:off x="9823779" y="4975860"/>
            <a:ext cx="1856829" cy="186689"/>
          </a:xfrm>
          <a:prstGeom prst="rect">
            <a:avLst/>
          </a:prstGeom>
          <a:noFill/>
        </p:spPr>
        <p:txBody>
          <a:bodyPr wrap="none" lIns="0" rIns="0" tIns="0" bIns="0">
            <a:spAutoFit/>
          </a:bodyPr>
          <a:lstStyle/>
          <a:p>
            <a:r>
              <a:rPr sz="1100" b="0">
                <a:solidFill>
                  <a:srgbClr val="2E2E2E"/>
                </a:solidFill>
                <a:latin typeface="Calibri"/>
              </a:rPr>
              <a:t>US$ Mn, 2026E), while 'Devices</a:t>
            </a:r>
          </a:p>
        </p:txBody>
      </p:sp>
      <p:sp>
        <p:nvSpPr>
          <p:cNvPr id="85" name="TextBox 84"/>
          <p:cNvSpPr txBox="1"/>
          <p:nvPr/>
        </p:nvSpPr>
        <p:spPr>
          <a:xfrm>
            <a:off x="7715250" y="5143500"/>
            <a:ext cx="4171950" cy="186689"/>
          </a:xfrm>
          <a:prstGeom prst="rect">
            <a:avLst/>
          </a:prstGeom>
          <a:noFill/>
        </p:spPr>
        <p:txBody>
          <a:bodyPr wrap="none" lIns="0" rIns="0" tIns="0" bIns="0">
            <a:spAutoFit/>
          </a:bodyPr>
          <a:lstStyle/>
          <a:p>
            <a:r>
              <a:rPr sz="1100" b="0">
                <a:solidFill>
                  <a:srgbClr val="2E2E2E"/>
                </a:solidFill>
                <a:latin typeface="Calibri"/>
              </a:rPr>
              <a:t>without Integrated Monitoring × Other Purchasing Organisations' records</a:t>
            </a:r>
          </a:p>
        </p:txBody>
      </p:sp>
      <p:sp>
        <p:nvSpPr>
          <p:cNvPr id="86" name="TextBox 85"/>
          <p:cNvSpPr txBox="1"/>
          <p:nvPr/>
        </p:nvSpPr>
        <p:spPr>
          <a:xfrm>
            <a:off x="7715250" y="5311140"/>
            <a:ext cx="1862542" cy="186689"/>
          </a:xfrm>
          <a:prstGeom prst="rect">
            <a:avLst/>
          </a:prstGeom>
          <a:noFill/>
        </p:spPr>
        <p:txBody>
          <a:bodyPr wrap="none" lIns="0" rIns="0" tIns="0" bIns="0">
            <a:spAutoFit/>
          </a:bodyPr>
          <a:lstStyle/>
          <a:p>
            <a:r>
              <a:rPr sz="1100" b="0">
                <a:solidFill>
                  <a:srgbClr val="2E2E2E"/>
                </a:solidFill>
                <a:latin typeface="Calibri"/>
              </a:rPr>
              <a:t>the fastest growth at a CAGR of</a:t>
            </a:r>
          </a:p>
        </p:txBody>
      </p:sp>
      <p:pic>
        <p:nvPicPr>
          <p:cNvPr id="87" name="Picture 86" descr="lock.png"/>
          <p:cNvPicPr>
            <a:picLocks noChangeAspect="1"/>
          </p:cNvPicPr>
          <p:nvPr/>
        </p:nvPicPr>
        <p:blipFill>
          <a:blip r:embed="rId4"/>
          <a:stretch>
            <a:fillRect/>
          </a:stretch>
        </p:blipFill>
        <p:spPr>
          <a:xfrm>
            <a:off x="9525843" y="5301361"/>
            <a:ext cx="128699" cy="187198"/>
          </a:xfrm>
          <a:prstGeom prst="rect">
            <a:avLst/>
          </a:prstGeom>
        </p:spPr>
      </p:pic>
      <p:sp>
        <p:nvSpPr>
          <p:cNvPr id="88" name="TextBox 87"/>
          <p:cNvSpPr txBox="1"/>
          <p:nvPr/>
        </p:nvSpPr>
        <p:spPr>
          <a:xfrm>
            <a:off x="9693339" y="5311140"/>
            <a:ext cx="1167401" cy="186689"/>
          </a:xfrm>
          <a:prstGeom prst="rect">
            <a:avLst/>
          </a:prstGeom>
          <a:noFill/>
        </p:spPr>
        <p:txBody>
          <a:bodyPr wrap="none" lIns="0" rIns="0" tIns="0" bIns="0">
            <a:spAutoFit/>
          </a:bodyPr>
          <a:lstStyle/>
          <a:p>
            <a:r>
              <a:rPr sz="1100" b="0">
                <a:solidFill>
                  <a:srgbClr val="2E2E2E"/>
                </a:solidFill>
                <a:latin typeface="Calibri"/>
              </a:rPr>
              <a:t>over 2026E–2036F.</a:t>
            </a:r>
          </a:p>
        </p:txBody>
      </p:sp>
      <p:sp>
        <p:nvSpPr>
          <p:cNvPr id="89" name="TextBox 88"/>
          <p:cNvSpPr txBox="1"/>
          <p:nvPr/>
        </p:nvSpPr>
        <p:spPr>
          <a:xfrm>
            <a:off x="7715250" y="5529072"/>
            <a:ext cx="4171950" cy="186689"/>
          </a:xfrm>
          <a:prstGeom prst="rect">
            <a:avLst/>
          </a:prstGeom>
          <a:noFill/>
        </p:spPr>
        <p:txBody>
          <a:bodyPr wrap="none" lIns="0" rIns="0" tIns="0" bIns="0">
            <a:spAutoFit/>
          </a:bodyPr>
          <a:lstStyle/>
          <a:p>
            <a:r>
              <a:rPr sz="1100" b="0">
                <a:solidFill>
                  <a:srgbClr val="2E2E2E"/>
                </a:solidFill>
                <a:latin typeface="Calibri"/>
              </a:rPr>
              <a:t>Combined, the top three monitoring capability × purchasing organisation</a:t>
            </a:r>
          </a:p>
        </p:txBody>
      </p:sp>
      <p:sp>
        <p:nvSpPr>
          <p:cNvPr id="90" name="TextBox 89"/>
          <p:cNvSpPr txBox="1"/>
          <p:nvPr/>
        </p:nvSpPr>
        <p:spPr>
          <a:xfrm>
            <a:off x="7715250" y="5696712"/>
            <a:ext cx="2521495" cy="186689"/>
          </a:xfrm>
          <a:prstGeom prst="rect">
            <a:avLst/>
          </a:prstGeom>
          <a:noFill/>
        </p:spPr>
        <p:txBody>
          <a:bodyPr wrap="none" lIns="0" rIns="0" tIns="0" bIns="0">
            <a:spAutoFit/>
          </a:bodyPr>
          <a:lstStyle/>
          <a:p>
            <a:r>
              <a:rPr sz="1100" b="0">
                <a:solidFill>
                  <a:srgbClr val="2E2E2E"/>
                </a:solidFill>
                <a:latin typeface="Calibri"/>
              </a:rPr>
              <a:t>cells generate an absolute $ opportunity of</a:t>
            </a:r>
          </a:p>
        </p:txBody>
      </p:sp>
      <p:pic>
        <p:nvPicPr>
          <p:cNvPr id="91" name="Picture 90" descr="lock.png"/>
          <p:cNvPicPr>
            <a:picLocks noChangeAspect="1"/>
          </p:cNvPicPr>
          <p:nvPr/>
        </p:nvPicPr>
        <p:blipFill>
          <a:blip r:embed="rId4"/>
          <a:stretch>
            <a:fillRect/>
          </a:stretch>
        </p:blipFill>
        <p:spPr>
          <a:xfrm>
            <a:off x="10184797" y="5686933"/>
            <a:ext cx="128699" cy="187198"/>
          </a:xfrm>
          <a:prstGeom prst="rect">
            <a:avLst/>
          </a:prstGeom>
        </p:spPr>
      </p:pic>
      <p:sp>
        <p:nvSpPr>
          <p:cNvPr id="92" name="TextBox 91"/>
          <p:cNvSpPr txBox="1"/>
          <p:nvPr/>
        </p:nvSpPr>
        <p:spPr>
          <a:xfrm>
            <a:off x="10352293" y="5696712"/>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Monitoring Capability × Purchasing Organisation,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purchasing organisation sub-segments</a:t>
            </a:r>
          </a:p>
        </p:txBody>
      </p:sp>
      <p:sp>
        <p:nvSpPr>
          <p:cNvPr id="10" name="Rounded Rectangle 9"/>
          <p:cNvSpPr/>
          <p:nvPr/>
        </p:nvSpPr>
        <p:spPr>
          <a:xfrm>
            <a:off x="142875" y="9810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Monitoring Capability × Purchasing Organisation, 2026E (% of each row)</a:t>
            </a:r>
          </a:p>
        </p:txBody>
      </p:sp>
      <p:graphicFrame>
        <p:nvGraphicFramePr>
          <p:cNvPr id="12" name="Table 11"/>
          <p:cNvGraphicFramePr>
            <a:graphicFrameLocks noGrp="1"/>
          </p:cNvGraphicFramePr>
          <p:nvPr/>
        </p:nvGraphicFramePr>
        <p:xfrm>
          <a:off x="152400" y="1238250"/>
          <a:ext cx="11887200" cy="1676402"/>
        </p:xfrm>
        <a:graphic>
          <a:graphicData uri="http://schemas.openxmlformats.org/drawingml/2006/table">
            <a:tbl>
              <a:tblPr>
                <a:tableStyleId>{5C22544A-7EE6-4342-B048-85BDC9FD1C3A}</a:tableStyleId>
              </a:tblPr>
              <a:tblGrid>
                <a:gridCol w="3128939"/>
                <a:gridCol w="1659150"/>
                <a:gridCol w="2991894"/>
                <a:gridCol w="1897425"/>
                <a:gridCol w="1665986"/>
                <a:gridCol w="543806"/>
              </a:tblGrid>
              <a:tr h="438912">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Hospitals and Transplant Centres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Organ Procurement Organisations and Organ Retrieval Agencies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Specialised Medical Logistics Providers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Purchasing Organisations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7498">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257550"/>
            <a:ext cx="7286625"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147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Purchasing Organisation Mix by Monitoring Capability, 2026E (% share)</a:t>
            </a:r>
          </a:p>
        </p:txBody>
      </p:sp>
      <p:graphicFrame>
        <p:nvGraphicFramePr>
          <p:cNvPr id="16" name="Chart 15"/>
          <p:cNvGraphicFramePr>
            <a:graphicFrameLocks noGrp="1"/>
          </p:cNvGraphicFramePr>
          <p:nvPr/>
        </p:nvGraphicFramePr>
        <p:xfrm>
          <a:off x="238125" y="3543300"/>
          <a:ext cx="7096125" cy="30289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257550"/>
            <a:ext cx="445770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432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5814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667125"/>
            <a:ext cx="419100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473779" y="2029206"/>
            <a:ext cx="366712" cy="533400"/>
          </a:xfrm>
          <a:prstGeom prst="rect">
            <a:avLst/>
          </a:prstGeom>
        </p:spPr>
      </p:pic>
      <p:pic>
        <p:nvPicPr>
          <p:cNvPr id="23" name="Picture 22" descr="lock.png"/>
          <p:cNvPicPr>
            <a:picLocks noChangeAspect="1"/>
          </p:cNvPicPr>
          <p:nvPr/>
        </p:nvPicPr>
        <p:blipFill>
          <a:blip r:embed="rId5"/>
          <a:stretch>
            <a:fillRect/>
          </a:stretch>
        </p:blipFill>
        <p:spPr>
          <a:xfrm>
            <a:off x="3737844" y="4194492"/>
            <a:ext cx="384961" cy="559943"/>
          </a:xfrm>
          <a:prstGeom prst="rect">
            <a:avLst/>
          </a:prstGeom>
        </p:spPr>
      </p:pic>
      <p:sp>
        <p:nvSpPr>
          <p:cNvPr id="24" name="TextBox 23"/>
          <p:cNvSpPr txBox="1"/>
          <p:nvPr/>
        </p:nvSpPr>
        <p:spPr>
          <a:xfrm>
            <a:off x="7715250" y="3676650"/>
            <a:ext cx="3751411" cy="194310"/>
          </a:xfrm>
          <a:prstGeom prst="rect">
            <a:avLst/>
          </a:prstGeom>
          <a:noFill/>
        </p:spPr>
        <p:txBody>
          <a:bodyPr wrap="none" lIns="0" rIns="0" tIns="0" bIns="0">
            <a:spAutoFit/>
          </a:bodyPr>
          <a:lstStyle/>
          <a:p>
            <a:r>
              <a:rPr sz="1150" b="0">
                <a:solidFill>
                  <a:srgbClr val="2E2E2E"/>
                </a:solidFill>
                <a:latin typeface="Calibri"/>
              </a:rPr>
              <a:t>▪ 'Hospitals and Transplant Centres' holds the highest share of</a:t>
            </a:r>
          </a:p>
        </p:txBody>
      </p:sp>
      <p:sp>
        <p:nvSpPr>
          <p:cNvPr id="25" name="TextBox 24"/>
          <p:cNvSpPr txBox="1"/>
          <p:nvPr/>
        </p:nvSpPr>
        <p:spPr>
          <a:xfrm>
            <a:off x="7715250" y="3851910"/>
            <a:ext cx="2081534" cy="194310"/>
          </a:xfrm>
          <a:prstGeom prst="rect">
            <a:avLst/>
          </a:prstGeom>
          <a:noFill/>
        </p:spPr>
        <p:txBody>
          <a:bodyPr wrap="none" lIns="0" rIns="0" tIns="0" bIns="0">
            <a:spAutoFit/>
          </a:bodyPr>
          <a:lstStyle/>
          <a:p>
            <a:r>
              <a:rPr sz="1150" b="0">
                <a:solidFill>
                  <a:srgbClr val="2E2E2E"/>
                </a:solidFill>
                <a:latin typeface="Calibri"/>
              </a:rPr>
              <a:t>'Temperature Monitoring Only' at</a:t>
            </a:r>
          </a:p>
        </p:txBody>
      </p:sp>
      <p:pic>
        <p:nvPicPr>
          <p:cNvPr id="26" name="Picture 25" descr="lock.png"/>
          <p:cNvPicPr>
            <a:picLocks noChangeAspect="1"/>
          </p:cNvPicPr>
          <p:nvPr/>
        </p:nvPicPr>
        <p:blipFill>
          <a:blip r:embed="rId5"/>
          <a:stretch>
            <a:fillRect/>
          </a:stretch>
        </p:blipFill>
        <p:spPr>
          <a:xfrm>
            <a:off x="9745938" y="3841686"/>
            <a:ext cx="134549" cy="195707"/>
          </a:xfrm>
          <a:prstGeom prst="rect">
            <a:avLst/>
          </a:prstGeom>
        </p:spPr>
      </p:pic>
      <p:sp>
        <p:nvSpPr>
          <p:cNvPr id="27" name="TextBox 26"/>
          <p:cNvSpPr txBox="1"/>
          <p:nvPr/>
        </p:nvSpPr>
        <p:spPr>
          <a:xfrm>
            <a:off x="9921048" y="38519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079747"/>
            <a:ext cx="4171950" cy="194310"/>
          </a:xfrm>
          <a:prstGeom prst="rect">
            <a:avLst/>
          </a:prstGeom>
          <a:noFill/>
        </p:spPr>
        <p:txBody>
          <a:bodyPr wrap="none" lIns="0" rIns="0" tIns="0" bIns="0">
            <a:spAutoFit/>
          </a:bodyPr>
          <a:lstStyle/>
          <a:p>
            <a:r>
              <a:rPr sz="1150" b="0">
                <a:solidFill>
                  <a:srgbClr val="2E2E2E"/>
                </a:solidFill>
                <a:latin typeface="Calibri"/>
              </a:rPr>
              <a:t>▪ 'Temperature Monitoring Only' is the most concentrated monitoring</a:t>
            </a:r>
          </a:p>
        </p:txBody>
      </p:sp>
      <p:sp>
        <p:nvSpPr>
          <p:cNvPr id="29" name="TextBox 28"/>
          <p:cNvSpPr txBox="1"/>
          <p:nvPr/>
        </p:nvSpPr>
        <p:spPr>
          <a:xfrm>
            <a:off x="7715250" y="4255007"/>
            <a:ext cx="1783159" cy="194310"/>
          </a:xfrm>
          <a:prstGeom prst="rect">
            <a:avLst/>
          </a:prstGeom>
          <a:noFill/>
        </p:spPr>
        <p:txBody>
          <a:bodyPr wrap="none" lIns="0" rIns="0" tIns="0" bIns="0">
            <a:spAutoFit/>
          </a:bodyPr>
          <a:lstStyle/>
          <a:p>
            <a:r>
              <a:rPr sz="1150" b="0">
                <a:solidFill>
                  <a:srgbClr val="2E2E2E"/>
                </a:solidFill>
                <a:latin typeface="Calibri"/>
              </a:rPr>
              <a:t>capability sub-segment, with</a:t>
            </a:r>
          </a:p>
        </p:txBody>
      </p:sp>
      <p:pic>
        <p:nvPicPr>
          <p:cNvPr id="30" name="Picture 29" descr="lock.png"/>
          <p:cNvPicPr>
            <a:picLocks noChangeAspect="1"/>
          </p:cNvPicPr>
          <p:nvPr/>
        </p:nvPicPr>
        <p:blipFill>
          <a:blip r:embed="rId5"/>
          <a:stretch>
            <a:fillRect/>
          </a:stretch>
        </p:blipFill>
        <p:spPr>
          <a:xfrm>
            <a:off x="9447563" y="4244784"/>
            <a:ext cx="134549" cy="195707"/>
          </a:xfrm>
          <a:prstGeom prst="rect">
            <a:avLst/>
          </a:prstGeom>
        </p:spPr>
      </p:pic>
      <p:sp>
        <p:nvSpPr>
          <p:cNvPr id="31" name="TextBox 30"/>
          <p:cNvSpPr txBox="1"/>
          <p:nvPr/>
        </p:nvSpPr>
        <p:spPr>
          <a:xfrm>
            <a:off x="9622672" y="4255007"/>
            <a:ext cx="1792002" cy="194310"/>
          </a:xfrm>
          <a:prstGeom prst="rect">
            <a:avLst/>
          </a:prstGeom>
          <a:noFill/>
        </p:spPr>
        <p:txBody>
          <a:bodyPr wrap="none" lIns="0" rIns="0" tIns="0" bIns="0">
            <a:spAutoFit/>
          </a:bodyPr>
          <a:lstStyle/>
          <a:p>
            <a:r>
              <a:rPr sz="1150" b="0">
                <a:solidFill>
                  <a:srgbClr val="2E2E2E"/>
                </a:solidFill>
                <a:latin typeface="Calibri"/>
              </a:rPr>
              <a:t>of its value via 'Hospitals and</a:t>
            </a:r>
          </a:p>
        </p:txBody>
      </p:sp>
      <p:sp>
        <p:nvSpPr>
          <p:cNvPr id="32" name="TextBox 31"/>
          <p:cNvSpPr txBox="1"/>
          <p:nvPr/>
        </p:nvSpPr>
        <p:spPr>
          <a:xfrm>
            <a:off x="7715250" y="4430267"/>
            <a:ext cx="1267705" cy="194310"/>
          </a:xfrm>
          <a:prstGeom prst="rect">
            <a:avLst/>
          </a:prstGeom>
          <a:noFill/>
        </p:spPr>
        <p:txBody>
          <a:bodyPr wrap="none" lIns="0" rIns="0" tIns="0" bIns="0">
            <a:spAutoFit/>
          </a:bodyPr>
          <a:lstStyle/>
          <a:p>
            <a:r>
              <a:rPr sz="1150" b="0">
                <a:solidFill>
                  <a:srgbClr val="2E2E2E"/>
                </a:solidFill>
                <a:latin typeface="Calibri"/>
              </a:rPr>
              <a:t>Transplant Centres'.</a:t>
            </a:r>
          </a:p>
        </p:txBody>
      </p:sp>
      <p:sp>
        <p:nvSpPr>
          <p:cNvPr id="33" name="TextBox 32"/>
          <p:cNvSpPr txBox="1"/>
          <p:nvPr/>
        </p:nvSpPr>
        <p:spPr>
          <a:xfrm>
            <a:off x="7715250" y="4658105"/>
            <a:ext cx="4028107" cy="194310"/>
          </a:xfrm>
          <a:prstGeom prst="rect">
            <a:avLst/>
          </a:prstGeom>
          <a:noFill/>
        </p:spPr>
        <p:txBody>
          <a:bodyPr wrap="none" lIns="0" rIns="0" tIns="0" bIns="0">
            <a:spAutoFit/>
          </a:bodyPr>
          <a:lstStyle/>
          <a:p>
            <a:r>
              <a:rPr sz="1150" b="0">
                <a:solidFill>
                  <a:srgbClr val="2E2E2E"/>
                </a:solidFill>
                <a:latin typeface="Calibri"/>
              </a:rPr>
              <a:t>▪ 'Organ Procurement Organisations and Organ Retrieval Agencies'</a:t>
            </a:r>
          </a:p>
        </p:txBody>
      </p:sp>
      <p:sp>
        <p:nvSpPr>
          <p:cNvPr id="34" name="TextBox 33"/>
          <p:cNvSpPr txBox="1"/>
          <p:nvPr/>
        </p:nvSpPr>
        <p:spPr>
          <a:xfrm>
            <a:off x="7715250" y="4833365"/>
            <a:ext cx="488106" cy="194310"/>
          </a:xfrm>
          <a:prstGeom prst="rect">
            <a:avLst/>
          </a:prstGeom>
          <a:noFill/>
        </p:spPr>
        <p:txBody>
          <a:bodyPr wrap="none" lIns="0" rIns="0" tIns="0" bIns="0">
            <a:spAutoFit/>
          </a:bodyPr>
          <a:lstStyle/>
          <a:p>
            <a:r>
              <a:rPr sz="1150" b="0">
                <a:solidFill>
                  <a:srgbClr val="2E2E2E"/>
                </a:solidFill>
                <a:latin typeface="Calibri"/>
              </a:rPr>
              <a:t>gains +</a:t>
            </a:r>
          </a:p>
        </p:txBody>
      </p:sp>
      <p:pic>
        <p:nvPicPr>
          <p:cNvPr id="35" name="Picture 34" descr="lock.png"/>
          <p:cNvPicPr>
            <a:picLocks noChangeAspect="1"/>
          </p:cNvPicPr>
          <p:nvPr/>
        </p:nvPicPr>
        <p:blipFill>
          <a:blip r:embed="rId5"/>
          <a:stretch>
            <a:fillRect/>
          </a:stretch>
        </p:blipFill>
        <p:spPr>
          <a:xfrm>
            <a:off x="8152510" y="4823142"/>
            <a:ext cx="134549" cy="195707"/>
          </a:xfrm>
          <a:prstGeom prst="rect">
            <a:avLst/>
          </a:prstGeom>
        </p:spPr>
      </p:pic>
      <p:sp>
        <p:nvSpPr>
          <p:cNvPr id="36" name="TextBox 35"/>
          <p:cNvSpPr txBox="1"/>
          <p:nvPr/>
        </p:nvSpPr>
        <p:spPr>
          <a:xfrm>
            <a:off x="8327619" y="4833365"/>
            <a:ext cx="3524135" cy="194310"/>
          </a:xfrm>
          <a:prstGeom prst="rect">
            <a:avLst/>
          </a:prstGeom>
          <a:noFill/>
        </p:spPr>
        <p:txBody>
          <a:bodyPr wrap="none" lIns="0" rIns="0" tIns="0" bIns="0">
            <a:spAutoFit/>
          </a:bodyPr>
          <a:lstStyle/>
          <a:p>
            <a:r>
              <a:rPr sz="1150" b="0">
                <a:solidFill>
                  <a:srgbClr val="2E2E2E"/>
                </a:solidFill>
                <a:latin typeface="Calibri"/>
              </a:rPr>
              <a:t>BPS of share of the North America cross-section by 2036F.</a:t>
            </a:r>
          </a:p>
        </p:txBody>
      </p:sp>
      <p:sp>
        <p:nvSpPr>
          <p:cNvPr id="37" name="lockshield_16"/>
          <p:cNvSpPr/>
          <p:nvPr/>
        </p:nvSpPr>
        <p:spPr>
          <a:xfrm>
            <a:off x="238125" y="3543300"/>
            <a:ext cx="7096125" cy="30289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Monitoring Capability × Purchasing Organisation,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Monitoring Capability × Purchasing Organisation, 2026E–2036F</a:t>
            </a:r>
          </a:p>
        </p:txBody>
      </p:sp>
      <p:graphicFrame>
        <p:nvGraphicFramePr>
          <p:cNvPr id="12" name="Table 11"/>
          <p:cNvGraphicFramePr>
            <a:graphicFrameLocks noGrp="1"/>
          </p:cNvGraphicFramePr>
          <p:nvPr/>
        </p:nvGraphicFramePr>
        <p:xfrm>
          <a:off x="152400" y="1238250"/>
          <a:ext cx="11887202" cy="2305050"/>
        </p:xfrm>
        <a:graphic>
          <a:graphicData uri="http://schemas.openxmlformats.org/drawingml/2006/table">
            <a:tbl>
              <a:tblPr>
                <a:tableStyleId>{5C22544A-7EE6-4342-B048-85BDC9FD1C3A}</a:tableStyleId>
              </a:tblPr>
              <a:tblGrid>
                <a:gridCol w="4162812"/>
                <a:gridCol w="772439"/>
                <a:gridCol w="772439"/>
                <a:gridCol w="772439"/>
                <a:gridCol w="772439"/>
                <a:gridCol w="772439"/>
                <a:gridCol w="772439"/>
                <a:gridCol w="772439"/>
                <a:gridCol w="772439"/>
                <a:gridCol w="772439"/>
                <a:gridCol w="772439"/>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5600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9719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2100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95775"/>
            <a:ext cx="53340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295775"/>
            <a:ext cx="1676400" cy="2257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'Devices without Integrated Monitoring × Organ Procurement Organisations and Organ Retrieval Agencies' ranks highest (5/5); 'Devices without Integrated Monitoring × Specialised Medical Logistics Providers'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90717" y="2659697"/>
            <a:ext cx="366712" cy="533400"/>
          </a:xfrm>
          <a:prstGeom prst="rect">
            <a:avLst/>
          </a:prstGeom>
        </p:spPr>
      </p:pic>
      <p:sp>
        <p:nvSpPr>
          <p:cNvPr id="32" name="TextBox 31"/>
          <p:cNvSpPr txBox="1"/>
          <p:nvPr/>
        </p:nvSpPr>
        <p:spPr>
          <a:xfrm>
            <a:off x="276225" y="4305300"/>
            <a:ext cx="5203353" cy="186689"/>
          </a:xfrm>
          <a:prstGeom prst="rect">
            <a:avLst/>
          </a:prstGeom>
          <a:noFill/>
        </p:spPr>
        <p:txBody>
          <a:bodyPr wrap="none" lIns="0" rIns="0" tIns="0" bIns="0">
            <a:spAutoFit/>
          </a:bodyPr>
          <a:lstStyle/>
          <a:p>
            <a:r>
              <a:rPr sz="1100" b="0">
                <a:solidFill>
                  <a:srgbClr val="2E2E2E"/>
                </a:solidFill>
                <a:latin typeface="Calibri"/>
              </a:rPr>
              <a:t>▪ 1. Devices without Integrated Monitoring × Organ Procurement Organisations and Organ</a:t>
            </a:r>
          </a:p>
        </p:txBody>
      </p:sp>
      <p:sp>
        <p:nvSpPr>
          <p:cNvPr id="33" name="TextBox 32"/>
          <p:cNvSpPr txBox="1"/>
          <p:nvPr/>
        </p:nvSpPr>
        <p:spPr>
          <a:xfrm>
            <a:off x="276225" y="4472940"/>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34" name="Picture 33" descr="lock.png"/>
          <p:cNvPicPr>
            <a:picLocks noChangeAspect="1"/>
          </p:cNvPicPr>
          <p:nvPr/>
        </p:nvPicPr>
        <p:blipFill>
          <a:blip r:embed="rId4"/>
          <a:stretch>
            <a:fillRect/>
          </a:stretch>
        </p:blipFill>
        <p:spPr>
          <a:xfrm>
            <a:off x="1443451" y="4463161"/>
            <a:ext cx="128699" cy="187198"/>
          </a:xfrm>
          <a:prstGeom prst="rect">
            <a:avLst/>
          </a:prstGeom>
        </p:spPr>
      </p:pic>
      <p:sp>
        <p:nvSpPr>
          <p:cNvPr id="35" name="TextBox 34"/>
          <p:cNvSpPr txBox="1"/>
          <p:nvPr/>
        </p:nvSpPr>
        <p:spPr>
          <a:xfrm>
            <a:off x="1610947" y="447294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1670397" y="4463161"/>
            <a:ext cx="128699" cy="187198"/>
          </a:xfrm>
          <a:prstGeom prst="rect">
            <a:avLst/>
          </a:prstGeom>
        </p:spPr>
      </p:pic>
      <p:sp>
        <p:nvSpPr>
          <p:cNvPr id="37" name="TextBox 36"/>
          <p:cNvSpPr txBox="1"/>
          <p:nvPr/>
        </p:nvSpPr>
        <p:spPr>
          <a:xfrm>
            <a:off x="1837892" y="447294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8" name="TextBox 37"/>
          <p:cNvSpPr txBox="1"/>
          <p:nvPr/>
        </p:nvSpPr>
        <p:spPr>
          <a:xfrm>
            <a:off x="276225" y="4690872"/>
            <a:ext cx="5239642" cy="186689"/>
          </a:xfrm>
          <a:prstGeom prst="rect">
            <a:avLst/>
          </a:prstGeom>
          <a:noFill/>
        </p:spPr>
        <p:txBody>
          <a:bodyPr wrap="none" lIns="0" rIns="0" tIns="0" bIns="0">
            <a:spAutoFit/>
          </a:bodyPr>
          <a:lstStyle/>
          <a:p>
            <a:r>
              <a:rPr sz="1100" b="0">
                <a:solidFill>
                  <a:srgbClr val="2E2E2E"/>
                </a:solidFill>
                <a:latin typeface="Calibri"/>
              </a:rPr>
              <a:t>▪ 2. Temperature Monitoring Only × Organ Procurement Organisations and Organ Retrieval</a:t>
            </a:r>
          </a:p>
        </p:txBody>
      </p:sp>
      <p:sp>
        <p:nvSpPr>
          <p:cNvPr id="39" name="TextBox 38"/>
          <p:cNvSpPr txBox="1"/>
          <p:nvPr/>
        </p:nvSpPr>
        <p:spPr>
          <a:xfrm>
            <a:off x="276225" y="4858512"/>
            <a:ext cx="682476" cy="186689"/>
          </a:xfrm>
          <a:prstGeom prst="rect">
            <a:avLst/>
          </a:prstGeom>
          <a:noFill/>
        </p:spPr>
        <p:txBody>
          <a:bodyPr wrap="none" lIns="0" rIns="0" tIns="0" bIns="0">
            <a:spAutoFit/>
          </a:bodyPr>
          <a:lstStyle/>
          <a:p>
            <a:r>
              <a:rPr sz="1100" b="0">
                <a:solidFill>
                  <a:srgbClr val="2E2E2E"/>
                </a:solidFill>
                <a:latin typeface="Calibri"/>
              </a:rPr>
              <a:t>Agencies –</a:t>
            </a:r>
          </a:p>
        </p:txBody>
      </p:sp>
      <p:pic>
        <p:nvPicPr>
          <p:cNvPr id="40" name="Picture 39" descr="lock.png"/>
          <p:cNvPicPr>
            <a:picLocks noChangeAspect="1"/>
          </p:cNvPicPr>
          <p:nvPr/>
        </p:nvPicPr>
        <p:blipFill>
          <a:blip r:embed="rId4"/>
          <a:stretch>
            <a:fillRect/>
          </a:stretch>
        </p:blipFill>
        <p:spPr>
          <a:xfrm>
            <a:off x="906752" y="4848733"/>
            <a:ext cx="128699" cy="187198"/>
          </a:xfrm>
          <a:prstGeom prst="rect">
            <a:avLst/>
          </a:prstGeom>
        </p:spPr>
      </p:pic>
      <p:sp>
        <p:nvSpPr>
          <p:cNvPr id="41" name="TextBox 40"/>
          <p:cNvSpPr txBox="1"/>
          <p:nvPr/>
        </p:nvSpPr>
        <p:spPr>
          <a:xfrm>
            <a:off x="1074248" y="485851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2" name="Picture 41" descr="lock.png"/>
          <p:cNvPicPr>
            <a:picLocks noChangeAspect="1"/>
          </p:cNvPicPr>
          <p:nvPr/>
        </p:nvPicPr>
        <p:blipFill>
          <a:blip r:embed="rId4"/>
          <a:stretch>
            <a:fillRect/>
          </a:stretch>
        </p:blipFill>
        <p:spPr>
          <a:xfrm>
            <a:off x="1133698" y="4848733"/>
            <a:ext cx="128699" cy="187198"/>
          </a:xfrm>
          <a:prstGeom prst="rect">
            <a:avLst/>
          </a:prstGeom>
        </p:spPr>
      </p:pic>
      <p:sp>
        <p:nvSpPr>
          <p:cNvPr id="43" name="TextBox 42"/>
          <p:cNvSpPr txBox="1"/>
          <p:nvPr/>
        </p:nvSpPr>
        <p:spPr>
          <a:xfrm>
            <a:off x="1301193" y="4858512"/>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44" name="TextBox 43"/>
          <p:cNvSpPr txBox="1"/>
          <p:nvPr/>
        </p:nvSpPr>
        <p:spPr>
          <a:xfrm>
            <a:off x="276225" y="5076444"/>
            <a:ext cx="5220816" cy="186689"/>
          </a:xfrm>
          <a:prstGeom prst="rect">
            <a:avLst/>
          </a:prstGeom>
          <a:noFill/>
        </p:spPr>
        <p:txBody>
          <a:bodyPr wrap="none" lIns="0" rIns="0" tIns="0" bIns="0">
            <a:spAutoFit/>
          </a:bodyPr>
          <a:lstStyle/>
          <a:p>
            <a:r>
              <a:rPr sz="1100" b="0">
                <a:solidFill>
                  <a:srgbClr val="2E2E2E"/>
                </a:solidFill>
                <a:latin typeface="Calibri"/>
              </a:rPr>
              <a:t>▪ 3. Physiological and Perfusion Parameter Monitoring × Organ Procurement Organisations</a:t>
            </a:r>
          </a:p>
        </p:txBody>
      </p:sp>
      <p:sp>
        <p:nvSpPr>
          <p:cNvPr id="45" name="TextBox 44"/>
          <p:cNvSpPr txBox="1"/>
          <p:nvPr/>
        </p:nvSpPr>
        <p:spPr>
          <a:xfrm>
            <a:off x="276225" y="5244084"/>
            <a:ext cx="1843459" cy="186689"/>
          </a:xfrm>
          <a:prstGeom prst="rect">
            <a:avLst/>
          </a:prstGeom>
          <a:noFill/>
        </p:spPr>
        <p:txBody>
          <a:bodyPr wrap="none" lIns="0" rIns="0" tIns="0" bIns="0">
            <a:spAutoFit/>
          </a:bodyPr>
          <a:lstStyle/>
          <a:p>
            <a:r>
              <a:rPr sz="1100" b="0">
                <a:solidFill>
                  <a:srgbClr val="2E2E2E"/>
                </a:solidFill>
                <a:latin typeface="Calibri"/>
              </a:rPr>
              <a:t>and Organ Retrieval Agencies –</a:t>
            </a:r>
          </a:p>
        </p:txBody>
      </p:sp>
      <p:pic>
        <p:nvPicPr>
          <p:cNvPr id="46" name="Picture 45" descr="lock.png"/>
          <p:cNvPicPr>
            <a:picLocks noChangeAspect="1"/>
          </p:cNvPicPr>
          <p:nvPr/>
        </p:nvPicPr>
        <p:blipFill>
          <a:blip r:embed="rId4"/>
          <a:stretch>
            <a:fillRect/>
          </a:stretch>
        </p:blipFill>
        <p:spPr>
          <a:xfrm>
            <a:off x="2067736" y="5234305"/>
            <a:ext cx="128699" cy="187198"/>
          </a:xfrm>
          <a:prstGeom prst="rect">
            <a:avLst/>
          </a:prstGeom>
        </p:spPr>
      </p:pic>
      <p:sp>
        <p:nvSpPr>
          <p:cNvPr id="47" name="TextBox 46"/>
          <p:cNvSpPr txBox="1"/>
          <p:nvPr/>
        </p:nvSpPr>
        <p:spPr>
          <a:xfrm>
            <a:off x="2235231" y="524408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2294681" y="5234305"/>
            <a:ext cx="128699" cy="187198"/>
          </a:xfrm>
          <a:prstGeom prst="rect">
            <a:avLst/>
          </a:prstGeom>
        </p:spPr>
      </p:pic>
      <p:sp>
        <p:nvSpPr>
          <p:cNvPr id="49" name="TextBox 48"/>
          <p:cNvSpPr txBox="1"/>
          <p:nvPr/>
        </p:nvSpPr>
        <p:spPr>
          <a:xfrm>
            <a:off x="2462177" y="5244084"/>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0" name="TextBox 49"/>
          <p:cNvSpPr txBox="1"/>
          <p:nvPr/>
        </p:nvSpPr>
        <p:spPr>
          <a:xfrm>
            <a:off x="276225" y="5462016"/>
            <a:ext cx="5171430" cy="186689"/>
          </a:xfrm>
          <a:prstGeom prst="rect">
            <a:avLst/>
          </a:prstGeom>
          <a:noFill/>
        </p:spPr>
        <p:txBody>
          <a:bodyPr wrap="none" lIns="0" rIns="0" tIns="0" bIns="0">
            <a:spAutoFit/>
          </a:bodyPr>
          <a:lstStyle/>
          <a:p>
            <a:r>
              <a:rPr sz="1100" b="0">
                <a:solidFill>
                  <a:srgbClr val="2E2E2E"/>
                </a:solidFill>
                <a:latin typeface="Calibri"/>
              </a:rPr>
              <a:t>▪ 4. Temperature and Location Monitoring × Organ Procurement Organisations and Organ</a:t>
            </a:r>
          </a:p>
        </p:txBody>
      </p:sp>
      <p:sp>
        <p:nvSpPr>
          <p:cNvPr id="51" name="TextBox 50"/>
          <p:cNvSpPr txBox="1"/>
          <p:nvPr/>
        </p:nvSpPr>
        <p:spPr>
          <a:xfrm>
            <a:off x="276225" y="5629656"/>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52" name="Picture 51" descr="lock.png"/>
          <p:cNvPicPr>
            <a:picLocks noChangeAspect="1"/>
          </p:cNvPicPr>
          <p:nvPr/>
        </p:nvPicPr>
        <p:blipFill>
          <a:blip r:embed="rId4"/>
          <a:stretch>
            <a:fillRect/>
          </a:stretch>
        </p:blipFill>
        <p:spPr>
          <a:xfrm>
            <a:off x="1443451" y="5619877"/>
            <a:ext cx="128699" cy="187198"/>
          </a:xfrm>
          <a:prstGeom prst="rect">
            <a:avLst/>
          </a:prstGeom>
        </p:spPr>
      </p:pic>
      <p:sp>
        <p:nvSpPr>
          <p:cNvPr id="53" name="TextBox 52"/>
          <p:cNvSpPr txBox="1"/>
          <p:nvPr/>
        </p:nvSpPr>
        <p:spPr>
          <a:xfrm>
            <a:off x="1610947" y="562965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4" name="Picture 53" descr="lock.png"/>
          <p:cNvPicPr>
            <a:picLocks noChangeAspect="1"/>
          </p:cNvPicPr>
          <p:nvPr/>
        </p:nvPicPr>
        <p:blipFill>
          <a:blip r:embed="rId4"/>
          <a:stretch>
            <a:fillRect/>
          </a:stretch>
        </p:blipFill>
        <p:spPr>
          <a:xfrm>
            <a:off x="1670397" y="5619877"/>
            <a:ext cx="128699" cy="187198"/>
          </a:xfrm>
          <a:prstGeom prst="rect">
            <a:avLst/>
          </a:prstGeom>
        </p:spPr>
      </p:pic>
      <p:sp>
        <p:nvSpPr>
          <p:cNvPr id="55" name="TextBox 54"/>
          <p:cNvSpPr txBox="1"/>
          <p:nvPr/>
        </p:nvSpPr>
        <p:spPr>
          <a:xfrm>
            <a:off x="1837892" y="5629656"/>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6" name="TextBox 55"/>
          <p:cNvSpPr txBox="1"/>
          <p:nvPr/>
        </p:nvSpPr>
        <p:spPr>
          <a:xfrm>
            <a:off x="276225" y="5847588"/>
            <a:ext cx="4612630" cy="186689"/>
          </a:xfrm>
          <a:prstGeom prst="rect">
            <a:avLst/>
          </a:prstGeom>
          <a:noFill/>
        </p:spPr>
        <p:txBody>
          <a:bodyPr wrap="none" lIns="0" rIns="0" tIns="0" bIns="0">
            <a:spAutoFit/>
          </a:bodyPr>
          <a:lstStyle/>
          <a:p>
            <a:r>
              <a:rPr sz="1100" b="0">
                <a:solidFill>
                  <a:srgbClr val="2E2E2E"/>
                </a:solidFill>
                <a:latin typeface="Calibri"/>
              </a:rPr>
              <a:t>▪ 5. Devices without Integrated Monitoring × Hospitals and Transplant Centres –</a:t>
            </a:r>
          </a:p>
        </p:txBody>
      </p:sp>
      <p:pic>
        <p:nvPicPr>
          <p:cNvPr id="57" name="Picture 56" descr="lock.png"/>
          <p:cNvPicPr>
            <a:picLocks noChangeAspect="1"/>
          </p:cNvPicPr>
          <p:nvPr/>
        </p:nvPicPr>
        <p:blipFill>
          <a:blip r:embed="rId4"/>
          <a:stretch>
            <a:fillRect/>
          </a:stretch>
        </p:blipFill>
        <p:spPr>
          <a:xfrm>
            <a:off x="4836906" y="5837809"/>
            <a:ext cx="128699" cy="187198"/>
          </a:xfrm>
          <a:prstGeom prst="rect">
            <a:avLst/>
          </a:prstGeom>
        </p:spPr>
      </p:pic>
      <p:sp>
        <p:nvSpPr>
          <p:cNvPr id="58" name="TextBox 57"/>
          <p:cNvSpPr txBox="1"/>
          <p:nvPr/>
        </p:nvSpPr>
        <p:spPr>
          <a:xfrm>
            <a:off x="5004402"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9" name="Picture 58" descr="lock.png"/>
          <p:cNvPicPr>
            <a:picLocks noChangeAspect="1"/>
          </p:cNvPicPr>
          <p:nvPr/>
        </p:nvPicPr>
        <p:blipFill>
          <a:blip r:embed="rId4"/>
          <a:stretch>
            <a:fillRect/>
          </a:stretch>
        </p:blipFill>
        <p:spPr>
          <a:xfrm>
            <a:off x="5063851" y="5837809"/>
            <a:ext cx="128699" cy="187198"/>
          </a:xfrm>
          <a:prstGeom prst="rect">
            <a:avLst/>
          </a:prstGeom>
        </p:spPr>
      </p:pic>
      <p:sp>
        <p:nvSpPr>
          <p:cNvPr id="60" name="TextBox 59"/>
          <p:cNvSpPr txBox="1"/>
          <p:nvPr/>
        </p:nvSpPr>
        <p:spPr>
          <a:xfrm>
            <a:off x="5231347"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1" name="TextBox 60"/>
          <p:cNvSpPr txBox="1"/>
          <p:nvPr/>
        </p:nvSpPr>
        <p:spPr>
          <a:xfrm>
            <a:off x="276225" y="6015228"/>
            <a:ext cx="272107" cy="186689"/>
          </a:xfrm>
          <a:prstGeom prst="rect">
            <a:avLst/>
          </a:prstGeom>
          <a:noFill/>
        </p:spPr>
        <p:txBody>
          <a:bodyPr wrap="none" lIns="0" rIns="0" tIns="0" bIns="0">
            <a:spAutoFit/>
          </a:bodyPr>
          <a:lstStyle/>
          <a:p>
            <a:r>
              <a:rPr sz="1100" b="0">
                <a:solidFill>
                  <a:srgbClr val="2E2E2E"/>
                </a:solidFill>
                <a:latin typeface="Calibri"/>
              </a:rPr>
              <a:t>3/5</a:t>
            </a:r>
          </a:p>
        </p:txBody>
      </p:sp>
      <p:sp>
        <p:nvSpPr>
          <p:cNvPr id="62" name="TextBox 61"/>
          <p:cNvSpPr txBox="1"/>
          <p:nvPr/>
        </p:nvSpPr>
        <p:spPr>
          <a:xfrm>
            <a:off x="6029325" y="4305300"/>
            <a:ext cx="1146757" cy="194310"/>
          </a:xfrm>
          <a:prstGeom prst="rect">
            <a:avLst/>
          </a:prstGeom>
          <a:noFill/>
        </p:spPr>
        <p:txBody>
          <a:bodyPr wrap="none" lIns="0" rIns="0" tIns="0" bIns="0">
            <a:spAutoFit/>
          </a:bodyPr>
          <a:lstStyle/>
          <a:p>
            <a:r>
              <a:rPr sz="1150" b="0">
                <a:solidFill>
                  <a:srgbClr val="2E2E2E"/>
                </a:solidFill>
                <a:latin typeface="Calibri"/>
              </a:rPr>
              <a:t>▪ 'Devices without</a:t>
            </a:r>
          </a:p>
        </p:txBody>
      </p:sp>
      <p:sp>
        <p:nvSpPr>
          <p:cNvPr id="63" name="TextBox 62"/>
          <p:cNvSpPr txBox="1"/>
          <p:nvPr/>
        </p:nvSpPr>
        <p:spPr>
          <a:xfrm>
            <a:off x="6029325" y="4480560"/>
            <a:ext cx="1507318" cy="194310"/>
          </a:xfrm>
          <a:prstGeom prst="rect">
            <a:avLst/>
          </a:prstGeom>
          <a:noFill/>
        </p:spPr>
        <p:txBody>
          <a:bodyPr wrap="none" lIns="0" rIns="0" tIns="0" bIns="0">
            <a:spAutoFit/>
          </a:bodyPr>
          <a:lstStyle/>
          <a:p>
            <a:r>
              <a:rPr sz="1150" b="0">
                <a:solidFill>
                  <a:srgbClr val="2E2E2E"/>
                </a:solidFill>
                <a:latin typeface="Calibri"/>
              </a:rPr>
              <a:t>Integrated Monitoring ×</a:t>
            </a:r>
          </a:p>
        </p:txBody>
      </p:sp>
      <p:sp>
        <p:nvSpPr>
          <p:cNvPr id="64" name="TextBox 63"/>
          <p:cNvSpPr txBox="1"/>
          <p:nvPr/>
        </p:nvSpPr>
        <p:spPr>
          <a:xfrm>
            <a:off x="6029325" y="4655820"/>
            <a:ext cx="1253728" cy="194310"/>
          </a:xfrm>
          <a:prstGeom prst="rect">
            <a:avLst/>
          </a:prstGeom>
          <a:noFill/>
        </p:spPr>
        <p:txBody>
          <a:bodyPr wrap="none" lIns="0" rIns="0" tIns="0" bIns="0">
            <a:spAutoFit/>
          </a:bodyPr>
          <a:lstStyle/>
          <a:p>
            <a:r>
              <a:rPr sz="1150" b="0">
                <a:solidFill>
                  <a:srgbClr val="2E2E2E"/>
                </a:solidFill>
                <a:latin typeface="Calibri"/>
              </a:rPr>
              <a:t>Organ Procurement</a:t>
            </a:r>
          </a:p>
        </p:txBody>
      </p:sp>
      <p:sp>
        <p:nvSpPr>
          <p:cNvPr id="65" name="TextBox 64"/>
          <p:cNvSpPr txBox="1"/>
          <p:nvPr/>
        </p:nvSpPr>
        <p:spPr>
          <a:xfrm>
            <a:off x="6029325" y="4831079"/>
            <a:ext cx="1546113" cy="194310"/>
          </a:xfrm>
          <a:prstGeom prst="rect">
            <a:avLst/>
          </a:prstGeom>
          <a:noFill/>
        </p:spPr>
        <p:txBody>
          <a:bodyPr wrap="none" lIns="0" rIns="0" tIns="0" bIns="0">
            <a:spAutoFit/>
          </a:bodyPr>
          <a:lstStyle/>
          <a:p>
            <a:r>
              <a:rPr sz="1150" b="0">
                <a:solidFill>
                  <a:srgbClr val="2E2E2E"/>
                </a:solidFill>
                <a:latin typeface="Calibri"/>
              </a:rPr>
              <a:t>Organisations and Organ</a:t>
            </a:r>
          </a:p>
        </p:txBody>
      </p:sp>
      <p:sp>
        <p:nvSpPr>
          <p:cNvPr id="66" name="TextBox 65"/>
          <p:cNvSpPr txBox="1"/>
          <p:nvPr/>
        </p:nvSpPr>
        <p:spPr>
          <a:xfrm>
            <a:off x="6029325" y="5006339"/>
            <a:ext cx="1511027" cy="194310"/>
          </a:xfrm>
          <a:prstGeom prst="rect">
            <a:avLst/>
          </a:prstGeom>
          <a:noFill/>
        </p:spPr>
        <p:txBody>
          <a:bodyPr wrap="none" lIns="0" rIns="0" tIns="0" bIns="0">
            <a:spAutoFit/>
          </a:bodyPr>
          <a:lstStyle/>
          <a:p>
            <a:r>
              <a:rPr sz="1150" b="0">
                <a:solidFill>
                  <a:srgbClr val="2E2E2E"/>
                </a:solidFill>
                <a:latin typeface="Calibri"/>
              </a:rPr>
              <a:t>Retrieval Agencies' adds</a:t>
            </a:r>
          </a:p>
        </p:txBody>
      </p:sp>
      <p:pic>
        <p:nvPicPr>
          <p:cNvPr id="67" name="Picture 66" descr="lock.png"/>
          <p:cNvPicPr>
            <a:picLocks noChangeAspect="1"/>
          </p:cNvPicPr>
          <p:nvPr/>
        </p:nvPicPr>
        <p:blipFill>
          <a:blip r:embed="rId4"/>
          <a:stretch>
            <a:fillRect/>
          </a:stretch>
        </p:blipFill>
        <p:spPr>
          <a:xfrm>
            <a:off x="6015245" y="5171376"/>
            <a:ext cx="134549" cy="195707"/>
          </a:xfrm>
          <a:prstGeom prst="rect">
            <a:avLst/>
          </a:prstGeom>
        </p:spPr>
      </p:pic>
      <p:sp>
        <p:nvSpPr>
          <p:cNvPr id="68" name="TextBox 67"/>
          <p:cNvSpPr txBox="1"/>
          <p:nvPr/>
        </p:nvSpPr>
        <p:spPr>
          <a:xfrm>
            <a:off x="6190354" y="518159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9" name="Picture 68" descr="lock.png"/>
          <p:cNvPicPr>
            <a:picLocks noChangeAspect="1"/>
          </p:cNvPicPr>
          <p:nvPr/>
        </p:nvPicPr>
        <p:blipFill>
          <a:blip r:embed="rId4"/>
          <a:stretch>
            <a:fillRect/>
          </a:stretch>
        </p:blipFill>
        <p:spPr>
          <a:xfrm>
            <a:off x="6015245" y="5346636"/>
            <a:ext cx="134549" cy="195707"/>
          </a:xfrm>
          <a:prstGeom prst="rect">
            <a:avLst/>
          </a:prstGeom>
        </p:spPr>
      </p:pic>
      <p:sp>
        <p:nvSpPr>
          <p:cNvPr id="70" name="TextBox 69"/>
          <p:cNvSpPr txBox="1"/>
          <p:nvPr/>
        </p:nvSpPr>
        <p:spPr>
          <a:xfrm>
            <a:off x="6190354" y="535685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71" name="TextBox 70"/>
          <p:cNvSpPr txBox="1"/>
          <p:nvPr/>
        </p:nvSpPr>
        <p:spPr>
          <a:xfrm>
            <a:off x="6029325" y="553211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72" name="TextBox 71"/>
          <p:cNvSpPr txBox="1"/>
          <p:nvPr/>
        </p:nvSpPr>
        <p:spPr>
          <a:xfrm>
            <a:off x="8124825" y="4305300"/>
            <a:ext cx="1146757" cy="194310"/>
          </a:xfrm>
          <a:prstGeom prst="rect">
            <a:avLst/>
          </a:prstGeom>
          <a:noFill/>
        </p:spPr>
        <p:txBody>
          <a:bodyPr wrap="none" lIns="0" rIns="0" tIns="0" bIns="0">
            <a:spAutoFit/>
          </a:bodyPr>
          <a:lstStyle/>
          <a:p>
            <a:r>
              <a:rPr sz="1150" b="0">
                <a:solidFill>
                  <a:srgbClr val="2E2E2E"/>
                </a:solidFill>
                <a:latin typeface="Calibri"/>
              </a:rPr>
              <a:t>▪ 'Devices without</a:t>
            </a:r>
          </a:p>
        </p:txBody>
      </p:sp>
      <p:sp>
        <p:nvSpPr>
          <p:cNvPr id="73" name="TextBox 72"/>
          <p:cNvSpPr txBox="1"/>
          <p:nvPr/>
        </p:nvSpPr>
        <p:spPr>
          <a:xfrm>
            <a:off x="8124825" y="4480560"/>
            <a:ext cx="1507318" cy="194310"/>
          </a:xfrm>
          <a:prstGeom prst="rect">
            <a:avLst/>
          </a:prstGeom>
          <a:noFill/>
        </p:spPr>
        <p:txBody>
          <a:bodyPr wrap="none" lIns="0" rIns="0" tIns="0" bIns="0">
            <a:spAutoFit/>
          </a:bodyPr>
          <a:lstStyle/>
          <a:p>
            <a:r>
              <a:rPr sz="1150" b="0">
                <a:solidFill>
                  <a:srgbClr val="2E2E2E"/>
                </a:solidFill>
                <a:latin typeface="Calibri"/>
              </a:rPr>
              <a:t>Integrated Monitoring ×</a:t>
            </a:r>
          </a:p>
        </p:txBody>
      </p:sp>
      <p:sp>
        <p:nvSpPr>
          <p:cNvPr id="74" name="TextBox 73"/>
          <p:cNvSpPr txBox="1"/>
          <p:nvPr/>
        </p:nvSpPr>
        <p:spPr>
          <a:xfrm>
            <a:off x="8124825" y="4655820"/>
            <a:ext cx="1103684" cy="194310"/>
          </a:xfrm>
          <a:prstGeom prst="rect">
            <a:avLst/>
          </a:prstGeom>
          <a:noFill/>
        </p:spPr>
        <p:txBody>
          <a:bodyPr wrap="none" lIns="0" rIns="0" tIns="0" bIns="0">
            <a:spAutoFit/>
          </a:bodyPr>
          <a:lstStyle/>
          <a:p>
            <a:r>
              <a:rPr sz="1150" b="0">
                <a:solidFill>
                  <a:srgbClr val="2E2E2E"/>
                </a:solidFill>
                <a:latin typeface="Calibri"/>
              </a:rPr>
              <a:t>Other Purchasing</a:t>
            </a:r>
          </a:p>
        </p:txBody>
      </p:sp>
      <p:sp>
        <p:nvSpPr>
          <p:cNvPr id="75" name="TextBox 74"/>
          <p:cNvSpPr txBox="1"/>
          <p:nvPr/>
        </p:nvSpPr>
        <p:spPr>
          <a:xfrm>
            <a:off x="8124825" y="4831079"/>
            <a:ext cx="1572071" cy="194310"/>
          </a:xfrm>
          <a:prstGeom prst="rect">
            <a:avLst/>
          </a:prstGeom>
          <a:noFill/>
        </p:spPr>
        <p:txBody>
          <a:bodyPr wrap="none" lIns="0" rIns="0" tIns="0" bIns="0">
            <a:spAutoFit/>
          </a:bodyPr>
          <a:lstStyle/>
          <a:p>
            <a:r>
              <a:rPr sz="1150" b="0">
                <a:solidFill>
                  <a:srgbClr val="2E2E2E"/>
                </a:solidFill>
                <a:latin typeface="Calibri"/>
              </a:rPr>
              <a:t>Organisations' grows at a</a:t>
            </a:r>
          </a:p>
        </p:txBody>
      </p:sp>
      <p:pic>
        <p:nvPicPr>
          <p:cNvPr id="76" name="Picture 75" descr="lock.png"/>
          <p:cNvPicPr>
            <a:picLocks noChangeAspect="1"/>
          </p:cNvPicPr>
          <p:nvPr/>
        </p:nvPicPr>
        <p:blipFill>
          <a:blip r:embed="rId4"/>
          <a:stretch>
            <a:fillRect/>
          </a:stretch>
        </p:blipFill>
        <p:spPr>
          <a:xfrm>
            <a:off x="8110745" y="4996116"/>
            <a:ext cx="134549" cy="195707"/>
          </a:xfrm>
          <a:prstGeom prst="rect">
            <a:avLst/>
          </a:prstGeom>
        </p:spPr>
      </p:pic>
      <p:sp>
        <p:nvSpPr>
          <p:cNvPr id="77" name="TextBox 76"/>
          <p:cNvSpPr txBox="1"/>
          <p:nvPr/>
        </p:nvSpPr>
        <p:spPr>
          <a:xfrm>
            <a:off x="8285854" y="500633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8" name="Picture 77" descr="lock.png"/>
          <p:cNvPicPr>
            <a:picLocks noChangeAspect="1"/>
          </p:cNvPicPr>
          <p:nvPr/>
        </p:nvPicPr>
        <p:blipFill>
          <a:blip r:embed="rId4"/>
          <a:stretch>
            <a:fillRect/>
          </a:stretch>
        </p:blipFill>
        <p:spPr>
          <a:xfrm>
            <a:off x="8681450" y="4996116"/>
            <a:ext cx="134549" cy="195707"/>
          </a:xfrm>
          <a:prstGeom prst="rect">
            <a:avLst/>
          </a:prstGeom>
        </p:spPr>
      </p:pic>
      <p:sp>
        <p:nvSpPr>
          <p:cNvPr id="79" name="TextBox 78"/>
          <p:cNvSpPr txBox="1"/>
          <p:nvPr/>
        </p:nvSpPr>
        <p:spPr>
          <a:xfrm>
            <a:off x="8856559" y="5006339"/>
            <a:ext cx="693774" cy="194310"/>
          </a:xfrm>
          <a:prstGeom prst="rect">
            <a:avLst/>
          </a:prstGeom>
          <a:noFill/>
        </p:spPr>
        <p:txBody>
          <a:bodyPr wrap="none" lIns="0" rIns="0" tIns="0" bIns="0">
            <a:spAutoFit/>
          </a:bodyPr>
          <a:lstStyle/>
          <a:p>
            <a:r>
              <a:rPr sz="1150" b="0">
                <a:solidFill>
                  <a:srgbClr val="2E2E2E"/>
                </a:solidFill>
                <a:latin typeface="Calibri"/>
              </a:rPr>
              <a:t>BPS above</a:t>
            </a:r>
          </a:p>
        </p:txBody>
      </p:sp>
      <p:sp>
        <p:nvSpPr>
          <p:cNvPr id="80" name="TextBox 79"/>
          <p:cNvSpPr txBox="1"/>
          <p:nvPr/>
        </p:nvSpPr>
        <p:spPr>
          <a:xfrm>
            <a:off x="8124825" y="5181599"/>
            <a:ext cx="1121655" cy="194310"/>
          </a:xfrm>
          <a:prstGeom prst="rect">
            <a:avLst/>
          </a:prstGeom>
          <a:noFill/>
        </p:spPr>
        <p:txBody>
          <a:bodyPr wrap="none" lIns="0" rIns="0" tIns="0" bIns="0">
            <a:spAutoFit/>
          </a:bodyPr>
          <a:lstStyle/>
          <a:p>
            <a:r>
              <a:rPr sz="1150" b="0">
                <a:solidFill>
                  <a:srgbClr val="2E2E2E"/>
                </a:solidFill>
                <a:latin typeface="Calibri"/>
              </a:rPr>
              <a:t>the cross-section.</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12.3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Reusability × 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Snapshot: Device Reusability × Sales Channel,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North America market value (US$ Mn) for each device reusability sub-segment across sales channel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Market Value, Device Reusability × Sales Channel, 2026E and 2036F (US$ Mn)</a:t>
            </a:r>
          </a:p>
        </p:txBody>
      </p:sp>
      <p:graphicFrame>
        <p:nvGraphicFramePr>
          <p:cNvPr id="12" name="Table 11"/>
          <p:cNvGraphicFramePr>
            <a:graphicFrameLocks noGrp="1"/>
          </p:cNvGraphicFramePr>
          <p:nvPr/>
        </p:nvGraphicFramePr>
        <p:xfrm>
          <a:off x="152400" y="1238250"/>
          <a:ext cx="11887199" cy="1238250"/>
        </p:xfrm>
        <a:graphic>
          <a:graphicData uri="http://schemas.openxmlformats.org/drawingml/2006/table">
            <a:tbl>
              <a:tblPr>
                <a:tableStyleId>{5C22544A-7EE6-4342-B048-85BDC9FD1C3A}</a:tableStyleId>
              </a:tblPr>
              <a:tblGrid>
                <a:gridCol w="4705601"/>
                <a:gridCol w="1196933"/>
                <a:gridCol w="1196933"/>
                <a:gridCol w="1196933"/>
                <a:gridCol w="1196933"/>
                <a:gridCol w="1196933"/>
                <a:gridCol w="1196933"/>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Flow, Device Reusability → Sales Channel, 2036F (US$ Mn)</a:t>
            </a:r>
          </a:p>
        </p:txBody>
      </p:sp>
      <p:sp>
        <p:nvSpPr>
          <p:cNvPr id="16" name="Freeform 15"/>
          <p:cNvSpPr/>
          <p:nvPr/>
        </p:nvSpPr>
        <p:spPr>
          <a:xfrm>
            <a:off x="2057400" y="3143250"/>
            <a:ext cx="3743325" cy="1323975"/>
          </a:xfrm>
          <a:custGeom>
            <a:avLst/>
            <a:gdLst/>
            <a:ahLst/>
            <a:cxnLst/>
            <a:rect l="l" t="t" r="r" b="b"/>
            <a:pathLst>
              <a:path w="393" h="139">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39"/>
                </a:lnTo>
                <a:lnTo>
                  <a:pt x="377" y="139"/>
                </a:lnTo>
                <a:lnTo>
                  <a:pt x="360" y="139"/>
                </a:lnTo>
                <a:lnTo>
                  <a:pt x="344" y="139"/>
                </a:lnTo>
                <a:lnTo>
                  <a:pt x="327" y="139"/>
                </a:lnTo>
                <a:lnTo>
                  <a:pt x="311" y="139"/>
                </a:lnTo>
                <a:lnTo>
                  <a:pt x="295" y="139"/>
                </a:lnTo>
                <a:lnTo>
                  <a:pt x="278" y="139"/>
                </a:lnTo>
                <a:lnTo>
                  <a:pt x="262" y="139"/>
                </a:lnTo>
                <a:lnTo>
                  <a:pt x="246" y="139"/>
                </a:lnTo>
                <a:lnTo>
                  <a:pt x="229" y="139"/>
                </a:lnTo>
                <a:lnTo>
                  <a:pt x="213" y="139"/>
                </a:lnTo>
                <a:lnTo>
                  <a:pt x="196" y="139"/>
                </a:lnTo>
                <a:lnTo>
                  <a:pt x="180" y="139"/>
                </a:lnTo>
                <a:lnTo>
                  <a:pt x="164" y="139"/>
                </a:lnTo>
                <a:lnTo>
                  <a:pt x="147" y="139"/>
                </a:lnTo>
                <a:lnTo>
                  <a:pt x="131" y="139"/>
                </a:lnTo>
                <a:lnTo>
                  <a:pt x="114" y="139"/>
                </a:lnTo>
                <a:lnTo>
                  <a:pt x="98" y="139"/>
                </a:lnTo>
                <a:lnTo>
                  <a:pt x="82" y="139"/>
                </a:lnTo>
                <a:lnTo>
                  <a:pt x="65" y="139"/>
                </a:lnTo>
                <a:lnTo>
                  <a:pt x="49" y="139"/>
                </a:lnTo>
                <a:lnTo>
                  <a:pt x="33" y="139"/>
                </a:lnTo>
                <a:lnTo>
                  <a:pt x="16" y="139"/>
                </a:lnTo>
                <a:lnTo>
                  <a:pt x="0" y="139"/>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67225"/>
            <a:ext cx="3743325" cy="1724025"/>
          </a:xfrm>
          <a:custGeom>
            <a:avLst/>
            <a:gdLst/>
            <a:ahLst/>
            <a:cxnLst/>
            <a:rect l="l" t="t" r="r" b="b"/>
            <a:pathLst>
              <a:path w="393" h="181">
                <a:moveTo>
                  <a:pt x="0" y="0"/>
                </a:moveTo>
                <a:lnTo>
                  <a:pt x="16" y="1"/>
                </a:lnTo>
                <a:lnTo>
                  <a:pt x="33" y="3"/>
                </a:lnTo>
                <a:lnTo>
                  <a:pt x="49" y="6"/>
                </a:lnTo>
                <a:lnTo>
                  <a:pt x="65" y="11"/>
                </a:lnTo>
                <a:lnTo>
                  <a:pt x="82" y="16"/>
                </a:lnTo>
                <a:lnTo>
                  <a:pt x="98" y="22"/>
                </a:lnTo>
                <a:lnTo>
                  <a:pt x="114" y="30"/>
                </a:lnTo>
                <a:lnTo>
                  <a:pt x="131" y="37"/>
                </a:lnTo>
                <a:lnTo>
                  <a:pt x="147" y="46"/>
                </a:lnTo>
                <a:lnTo>
                  <a:pt x="164" y="54"/>
                </a:lnTo>
                <a:lnTo>
                  <a:pt x="180" y="63"/>
                </a:lnTo>
                <a:lnTo>
                  <a:pt x="196" y="72"/>
                </a:lnTo>
                <a:lnTo>
                  <a:pt x="213" y="81"/>
                </a:lnTo>
                <a:lnTo>
                  <a:pt x="229" y="90"/>
                </a:lnTo>
                <a:lnTo>
                  <a:pt x="246" y="99"/>
                </a:lnTo>
                <a:lnTo>
                  <a:pt x="262" y="107"/>
                </a:lnTo>
                <a:lnTo>
                  <a:pt x="278" y="115"/>
                </a:lnTo>
                <a:lnTo>
                  <a:pt x="295" y="122"/>
                </a:lnTo>
                <a:lnTo>
                  <a:pt x="311" y="128"/>
                </a:lnTo>
                <a:lnTo>
                  <a:pt x="327" y="134"/>
                </a:lnTo>
                <a:lnTo>
                  <a:pt x="344" y="138"/>
                </a:lnTo>
                <a:lnTo>
                  <a:pt x="360" y="142"/>
                </a:lnTo>
                <a:lnTo>
                  <a:pt x="377" y="144"/>
                </a:lnTo>
                <a:lnTo>
                  <a:pt x="393" y="145"/>
                </a:lnTo>
                <a:lnTo>
                  <a:pt x="393" y="181"/>
                </a:lnTo>
                <a:lnTo>
                  <a:pt x="377" y="180"/>
                </a:lnTo>
                <a:lnTo>
                  <a:pt x="360" y="178"/>
                </a:lnTo>
                <a:lnTo>
                  <a:pt x="344" y="175"/>
                </a:lnTo>
                <a:lnTo>
                  <a:pt x="327" y="170"/>
                </a:lnTo>
                <a:lnTo>
                  <a:pt x="311" y="165"/>
                </a:lnTo>
                <a:lnTo>
                  <a:pt x="295" y="158"/>
                </a:lnTo>
                <a:lnTo>
                  <a:pt x="278" y="151"/>
                </a:lnTo>
                <a:lnTo>
                  <a:pt x="262" y="143"/>
                </a:lnTo>
                <a:lnTo>
                  <a:pt x="246" y="135"/>
                </a:lnTo>
                <a:lnTo>
                  <a:pt x="229" y="126"/>
                </a:lnTo>
                <a:lnTo>
                  <a:pt x="213" y="117"/>
                </a:lnTo>
                <a:lnTo>
                  <a:pt x="196" y="108"/>
                </a:lnTo>
                <a:lnTo>
                  <a:pt x="180" y="99"/>
                </a:lnTo>
                <a:lnTo>
                  <a:pt x="164" y="90"/>
                </a:lnTo>
                <a:lnTo>
                  <a:pt x="147" y="82"/>
                </a:lnTo>
                <a:lnTo>
                  <a:pt x="131" y="74"/>
                </a:lnTo>
                <a:lnTo>
                  <a:pt x="114" y="66"/>
                </a:lnTo>
                <a:lnTo>
                  <a:pt x="98" y="59"/>
                </a:lnTo>
                <a:lnTo>
                  <a:pt x="82" y="52"/>
                </a:lnTo>
                <a:lnTo>
                  <a:pt x="65" y="47"/>
                </a:lnTo>
                <a:lnTo>
                  <a:pt x="49" y="42"/>
                </a:lnTo>
                <a:lnTo>
                  <a:pt x="33" y="39"/>
                </a:lnTo>
                <a:lnTo>
                  <a:pt x="16" y="37"/>
                </a:lnTo>
                <a:lnTo>
                  <a:pt x="0" y="3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67225"/>
            <a:ext cx="3743325" cy="1724025"/>
          </a:xfrm>
          <a:custGeom>
            <a:avLst/>
            <a:gdLst/>
            <a:ahLst/>
            <a:cxnLst/>
            <a:rect l="l" t="t" r="r" b="b"/>
            <a:pathLst>
              <a:path w="393" h="181">
                <a:moveTo>
                  <a:pt x="0" y="42"/>
                </a:moveTo>
                <a:lnTo>
                  <a:pt x="16" y="42"/>
                </a:lnTo>
                <a:lnTo>
                  <a:pt x="33" y="41"/>
                </a:lnTo>
                <a:lnTo>
                  <a:pt x="49" y="40"/>
                </a:lnTo>
                <a:lnTo>
                  <a:pt x="65" y="39"/>
                </a:lnTo>
                <a:lnTo>
                  <a:pt x="82" y="37"/>
                </a:lnTo>
                <a:lnTo>
                  <a:pt x="98" y="35"/>
                </a:lnTo>
                <a:lnTo>
                  <a:pt x="114" y="33"/>
                </a:lnTo>
                <a:lnTo>
                  <a:pt x="131" y="31"/>
                </a:lnTo>
                <a:lnTo>
                  <a:pt x="147" y="29"/>
                </a:lnTo>
                <a:lnTo>
                  <a:pt x="164" y="26"/>
                </a:lnTo>
                <a:lnTo>
                  <a:pt x="180" y="24"/>
                </a:lnTo>
                <a:lnTo>
                  <a:pt x="196" y="21"/>
                </a:lnTo>
                <a:lnTo>
                  <a:pt x="213" y="18"/>
                </a:lnTo>
                <a:lnTo>
                  <a:pt x="229" y="16"/>
                </a:lnTo>
                <a:lnTo>
                  <a:pt x="246" y="13"/>
                </a:lnTo>
                <a:lnTo>
                  <a:pt x="262" y="11"/>
                </a:lnTo>
                <a:lnTo>
                  <a:pt x="278" y="8"/>
                </a:lnTo>
                <a:lnTo>
                  <a:pt x="295" y="6"/>
                </a:lnTo>
                <a:lnTo>
                  <a:pt x="311" y="5"/>
                </a:lnTo>
                <a:lnTo>
                  <a:pt x="327" y="3"/>
                </a:lnTo>
                <a:lnTo>
                  <a:pt x="344" y="2"/>
                </a:lnTo>
                <a:lnTo>
                  <a:pt x="360" y="1"/>
                </a:lnTo>
                <a:lnTo>
                  <a:pt x="377" y="0"/>
                </a:lnTo>
                <a:lnTo>
                  <a:pt x="393" y="0"/>
                </a:lnTo>
                <a:lnTo>
                  <a:pt x="393" y="139"/>
                </a:lnTo>
                <a:lnTo>
                  <a:pt x="377" y="139"/>
                </a:lnTo>
                <a:lnTo>
                  <a:pt x="360" y="139"/>
                </a:lnTo>
                <a:lnTo>
                  <a:pt x="344" y="140"/>
                </a:lnTo>
                <a:lnTo>
                  <a:pt x="327" y="142"/>
                </a:lnTo>
                <a:lnTo>
                  <a:pt x="311" y="143"/>
                </a:lnTo>
                <a:lnTo>
                  <a:pt x="295" y="145"/>
                </a:lnTo>
                <a:lnTo>
                  <a:pt x="278" y="147"/>
                </a:lnTo>
                <a:lnTo>
                  <a:pt x="262" y="150"/>
                </a:lnTo>
                <a:lnTo>
                  <a:pt x="246" y="152"/>
                </a:lnTo>
                <a:lnTo>
                  <a:pt x="229" y="154"/>
                </a:lnTo>
                <a:lnTo>
                  <a:pt x="213" y="157"/>
                </a:lnTo>
                <a:lnTo>
                  <a:pt x="196" y="160"/>
                </a:lnTo>
                <a:lnTo>
                  <a:pt x="180" y="162"/>
                </a:lnTo>
                <a:lnTo>
                  <a:pt x="164" y="165"/>
                </a:lnTo>
                <a:lnTo>
                  <a:pt x="147" y="167"/>
                </a:lnTo>
                <a:lnTo>
                  <a:pt x="131" y="170"/>
                </a:lnTo>
                <a:lnTo>
                  <a:pt x="114" y="172"/>
                </a:lnTo>
                <a:lnTo>
                  <a:pt x="98" y="174"/>
                </a:lnTo>
                <a:lnTo>
                  <a:pt x="82" y="176"/>
                </a:lnTo>
                <a:lnTo>
                  <a:pt x="65" y="178"/>
                </a:lnTo>
                <a:lnTo>
                  <a:pt x="49" y="179"/>
                </a:lnTo>
                <a:lnTo>
                  <a:pt x="33" y="180"/>
                </a:lnTo>
                <a:lnTo>
                  <a:pt x="16" y="181"/>
                </a:lnTo>
                <a:lnTo>
                  <a:pt x="0" y="18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6191250"/>
            <a:ext cx="3743325" cy="342900"/>
          </a:xfrm>
          <a:custGeom>
            <a:avLst/>
            <a:gdLst/>
            <a:ahLst/>
            <a:cxnLst/>
            <a:rect l="l" t="t" r="r" b="b"/>
            <a:pathLst>
              <a:path w="393" h="36">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36"/>
                </a:lnTo>
                <a:lnTo>
                  <a:pt x="377" y="36"/>
                </a:lnTo>
                <a:lnTo>
                  <a:pt x="360" y="36"/>
                </a:lnTo>
                <a:lnTo>
                  <a:pt x="344" y="36"/>
                </a:lnTo>
                <a:lnTo>
                  <a:pt x="327" y="36"/>
                </a:lnTo>
                <a:lnTo>
                  <a:pt x="311" y="36"/>
                </a:lnTo>
                <a:lnTo>
                  <a:pt x="295" y="36"/>
                </a:lnTo>
                <a:lnTo>
                  <a:pt x="278" y="36"/>
                </a:lnTo>
                <a:lnTo>
                  <a:pt x="262" y="36"/>
                </a:lnTo>
                <a:lnTo>
                  <a:pt x="246" y="36"/>
                </a:lnTo>
                <a:lnTo>
                  <a:pt x="229" y="36"/>
                </a:lnTo>
                <a:lnTo>
                  <a:pt x="213" y="36"/>
                </a:lnTo>
                <a:lnTo>
                  <a:pt x="196" y="36"/>
                </a:lnTo>
                <a:lnTo>
                  <a:pt x="180" y="36"/>
                </a:lnTo>
                <a:lnTo>
                  <a:pt x="164" y="36"/>
                </a:lnTo>
                <a:lnTo>
                  <a:pt x="147" y="36"/>
                </a:lnTo>
                <a:lnTo>
                  <a:pt x="131" y="36"/>
                </a:lnTo>
                <a:lnTo>
                  <a:pt x="114" y="36"/>
                </a:lnTo>
                <a:lnTo>
                  <a:pt x="98" y="36"/>
                </a:lnTo>
                <a:lnTo>
                  <a:pt x="82" y="36"/>
                </a:lnTo>
                <a:lnTo>
                  <a:pt x="65" y="36"/>
                </a:lnTo>
                <a:lnTo>
                  <a:pt x="49" y="36"/>
                </a:lnTo>
                <a:lnTo>
                  <a:pt x="33" y="36"/>
                </a:lnTo>
                <a:lnTo>
                  <a:pt x="16" y="36"/>
                </a:lnTo>
                <a:lnTo>
                  <a:pt x="0" y="3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41195" y="3143250"/>
            <a:ext cx="114300" cy="166687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4867275"/>
            <a:ext cx="114300" cy="16668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0725" y="3143250"/>
            <a:ext cx="114300" cy="2644133"/>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0725" y="5844533"/>
            <a:ext cx="114300" cy="68961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39052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5" name="TextBox 24"/>
          <p:cNvSpPr txBox="1"/>
          <p:nvPr/>
        </p:nvSpPr>
        <p:spPr>
          <a:xfrm>
            <a:off x="257175" y="5629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6" name="TextBox 25"/>
          <p:cNvSpPr txBox="1"/>
          <p:nvPr/>
        </p:nvSpPr>
        <p:spPr>
          <a:xfrm>
            <a:off x="5972175" y="4393879"/>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7" name="TextBox 26"/>
          <p:cNvSpPr txBox="1"/>
          <p:nvPr/>
        </p:nvSpPr>
        <p:spPr>
          <a:xfrm>
            <a:off x="5972175" y="6117904"/>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8" name="Rounded Rectangle 27"/>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30" name="Rectangle 29"/>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4"/>
          <a:stretch>
            <a:fillRect/>
          </a:stretch>
        </p:blipFill>
        <p:spPr>
          <a:xfrm>
            <a:off x="8280779" y="1864423"/>
            <a:ext cx="330041" cy="480060"/>
          </a:xfrm>
          <a:prstGeom prst="rect">
            <a:avLst/>
          </a:prstGeom>
        </p:spPr>
      </p:pic>
      <p:sp>
        <p:nvSpPr>
          <p:cNvPr id="34" name="TextBox 33"/>
          <p:cNvSpPr txBox="1"/>
          <p:nvPr/>
        </p:nvSpPr>
        <p:spPr>
          <a:xfrm>
            <a:off x="544336" y="3916337"/>
            <a:ext cx="1285958" cy="139750"/>
          </a:xfrm>
          <a:prstGeom prst="rect">
            <a:avLst/>
          </a:prstGeom>
          <a:noFill/>
        </p:spPr>
        <p:txBody>
          <a:bodyPr wrap="none" lIns="0" rIns="0" tIns="0" bIns="0">
            <a:spAutoFit/>
          </a:bodyPr>
          <a:lstStyle/>
          <a:p>
            <a:r>
              <a:rPr sz="791" b="1">
                <a:solidFill>
                  <a:srgbClr val="2E2E2E"/>
                </a:solidFill>
                <a:latin typeface="Calibri"/>
              </a:rPr>
              <a:t>Single-Use Transport Devices</a:t>
            </a:r>
          </a:p>
        </p:txBody>
      </p:sp>
      <p:pic>
        <p:nvPicPr>
          <p:cNvPr id="35" name="Picture 34" descr="lock.png"/>
          <p:cNvPicPr>
            <a:picLocks noChangeAspect="1"/>
          </p:cNvPicPr>
          <p:nvPr/>
        </p:nvPicPr>
        <p:blipFill>
          <a:blip r:embed="rId4"/>
          <a:stretch>
            <a:fillRect/>
          </a:stretch>
        </p:blipFill>
        <p:spPr>
          <a:xfrm>
            <a:off x="1771555" y="3909296"/>
            <a:ext cx="92663" cy="134782"/>
          </a:xfrm>
          <a:prstGeom prst="rect">
            <a:avLst/>
          </a:prstGeom>
        </p:spPr>
      </p:pic>
      <p:sp>
        <p:nvSpPr>
          <p:cNvPr id="36" name="TextBox 35"/>
          <p:cNvSpPr txBox="1"/>
          <p:nvPr/>
        </p:nvSpPr>
        <p:spPr>
          <a:xfrm>
            <a:off x="600521" y="5640362"/>
            <a:ext cx="1229772" cy="139750"/>
          </a:xfrm>
          <a:prstGeom prst="rect">
            <a:avLst/>
          </a:prstGeom>
          <a:noFill/>
        </p:spPr>
        <p:txBody>
          <a:bodyPr wrap="none" lIns="0" rIns="0" tIns="0" bIns="0">
            <a:spAutoFit/>
          </a:bodyPr>
          <a:lstStyle/>
          <a:p>
            <a:r>
              <a:rPr sz="791" b="1">
                <a:solidFill>
                  <a:srgbClr val="2E2E2E"/>
                </a:solidFill>
                <a:latin typeface="Calibri"/>
              </a:rPr>
              <a:t>Reusable Transport Devices</a:t>
            </a:r>
          </a:p>
        </p:txBody>
      </p:sp>
      <p:pic>
        <p:nvPicPr>
          <p:cNvPr id="37" name="Picture 36" descr="lock.png"/>
          <p:cNvPicPr>
            <a:picLocks noChangeAspect="1"/>
          </p:cNvPicPr>
          <p:nvPr/>
        </p:nvPicPr>
        <p:blipFill>
          <a:blip r:embed="rId4"/>
          <a:stretch>
            <a:fillRect/>
          </a:stretch>
        </p:blipFill>
        <p:spPr>
          <a:xfrm>
            <a:off x="1771555" y="5633321"/>
            <a:ext cx="92663" cy="134782"/>
          </a:xfrm>
          <a:prstGeom prst="rect">
            <a:avLst/>
          </a:prstGeom>
        </p:spPr>
      </p:pic>
      <p:sp>
        <p:nvSpPr>
          <p:cNvPr id="38" name="TextBox 37"/>
          <p:cNvSpPr txBox="1"/>
          <p:nvPr/>
        </p:nvSpPr>
        <p:spPr>
          <a:xfrm>
            <a:off x="5972175" y="4404966"/>
            <a:ext cx="563403" cy="139750"/>
          </a:xfrm>
          <a:prstGeom prst="rect">
            <a:avLst/>
          </a:prstGeom>
          <a:noFill/>
        </p:spPr>
        <p:txBody>
          <a:bodyPr wrap="none" lIns="0" rIns="0" tIns="0" bIns="0">
            <a:spAutoFit/>
          </a:bodyPr>
          <a:lstStyle/>
          <a:p>
            <a:r>
              <a:rPr sz="791" b="1">
                <a:solidFill>
                  <a:srgbClr val="2E2E2E"/>
                </a:solidFill>
                <a:latin typeface="Calibri"/>
              </a:rPr>
              <a:t>Direct Sales</a:t>
            </a:r>
          </a:p>
        </p:txBody>
      </p:sp>
      <p:pic>
        <p:nvPicPr>
          <p:cNvPr id="39" name="Picture 38" descr="lock.png"/>
          <p:cNvPicPr>
            <a:picLocks noChangeAspect="1"/>
          </p:cNvPicPr>
          <p:nvPr/>
        </p:nvPicPr>
        <p:blipFill>
          <a:blip r:embed="rId4"/>
          <a:stretch>
            <a:fillRect/>
          </a:stretch>
        </p:blipFill>
        <p:spPr>
          <a:xfrm>
            <a:off x="6476839" y="4397925"/>
            <a:ext cx="92663" cy="134782"/>
          </a:xfrm>
          <a:prstGeom prst="rect">
            <a:avLst/>
          </a:prstGeom>
        </p:spPr>
      </p:pic>
      <p:sp>
        <p:nvSpPr>
          <p:cNvPr id="40" name="TextBox 39"/>
          <p:cNvSpPr txBox="1"/>
          <p:nvPr/>
        </p:nvSpPr>
        <p:spPr>
          <a:xfrm>
            <a:off x="5972175" y="6128991"/>
            <a:ext cx="768304" cy="139750"/>
          </a:xfrm>
          <a:prstGeom prst="rect">
            <a:avLst/>
          </a:prstGeom>
          <a:noFill/>
        </p:spPr>
        <p:txBody>
          <a:bodyPr wrap="none" lIns="0" rIns="0" tIns="0" bIns="0">
            <a:spAutoFit/>
          </a:bodyPr>
          <a:lstStyle/>
          <a:p>
            <a:r>
              <a:rPr sz="791" b="1">
                <a:solidFill>
                  <a:srgbClr val="2E2E2E"/>
                </a:solidFill>
                <a:latin typeface="Calibri"/>
              </a:rPr>
              <a:t>Distributor Sales</a:t>
            </a:r>
          </a:p>
        </p:txBody>
      </p:sp>
      <p:pic>
        <p:nvPicPr>
          <p:cNvPr id="41" name="Picture 40" descr="lock.png"/>
          <p:cNvPicPr>
            <a:picLocks noChangeAspect="1"/>
          </p:cNvPicPr>
          <p:nvPr/>
        </p:nvPicPr>
        <p:blipFill>
          <a:blip r:embed="rId4"/>
          <a:stretch>
            <a:fillRect/>
          </a:stretch>
        </p:blipFill>
        <p:spPr>
          <a:xfrm>
            <a:off x="6681740" y="6121950"/>
            <a:ext cx="92663" cy="134782"/>
          </a:xfrm>
          <a:prstGeom prst="rect">
            <a:avLst/>
          </a:prstGeom>
        </p:spPr>
      </p:pic>
      <p:sp>
        <p:nvSpPr>
          <p:cNvPr id="42" name="TextBox 41"/>
          <p:cNvSpPr txBox="1"/>
          <p:nvPr/>
        </p:nvSpPr>
        <p:spPr>
          <a:xfrm>
            <a:off x="7715250" y="3238500"/>
            <a:ext cx="4124238" cy="194310"/>
          </a:xfrm>
          <a:prstGeom prst="rect">
            <a:avLst/>
          </a:prstGeom>
          <a:noFill/>
        </p:spPr>
        <p:txBody>
          <a:bodyPr wrap="none" lIns="0" rIns="0" tIns="0" bIns="0">
            <a:spAutoFit/>
          </a:bodyPr>
          <a:lstStyle/>
          <a:p>
            <a:r>
              <a:rPr sz="1150" b="0">
                <a:solidFill>
                  <a:srgbClr val="2E2E2E"/>
                </a:solidFill>
                <a:latin typeface="Calibri"/>
              </a:rPr>
              <a:t>Single-use transport devices segment is projected to account for the</a:t>
            </a:r>
          </a:p>
        </p:txBody>
      </p:sp>
      <p:sp>
        <p:nvSpPr>
          <p:cNvPr id="43" name="TextBox 42"/>
          <p:cNvSpPr txBox="1"/>
          <p:nvPr/>
        </p:nvSpPr>
        <p:spPr>
          <a:xfrm>
            <a:off x="7715250" y="3413760"/>
            <a:ext cx="4066616" cy="194310"/>
          </a:xfrm>
          <a:prstGeom prst="rect">
            <a:avLst/>
          </a:prstGeom>
          <a:noFill/>
        </p:spPr>
        <p:txBody>
          <a:bodyPr wrap="none" lIns="0" rIns="0" tIns="0" bIns="0">
            <a:spAutoFit/>
          </a:bodyPr>
          <a:lstStyle/>
          <a:p>
            <a:r>
              <a:rPr sz="1150" b="0">
                <a:solidFill>
                  <a:srgbClr val="2E2E2E"/>
                </a:solidFill>
                <a:latin typeface="Calibri"/>
              </a:rPr>
              <a:t>largest share of the North America organ transport devices market,</a:t>
            </a:r>
          </a:p>
        </p:txBody>
      </p:sp>
      <p:sp>
        <p:nvSpPr>
          <p:cNvPr id="44" name="TextBox 43"/>
          <p:cNvSpPr txBox="1"/>
          <p:nvPr/>
        </p:nvSpPr>
        <p:spPr>
          <a:xfrm>
            <a:off x="7715250" y="3589019"/>
            <a:ext cx="1557238" cy="194310"/>
          </a:xfrm>
          <a:prstGeom prst="rect">
            <a:avLst/>
          </a:prstGeom>
          <a:noFill/>
        </p:spPr>
        <p:txBody>
          <a:bodyPr wrap="none" lIns="0" rIns="0" tIns="0" bIns="0">
            <a:spAutoFit/>
          </a:bodyPr>
          <a:lstStyle/>
          <a:p>
            <a:r>
              <a:rPr sz="1150" b="0">
                <a:solidFill>
                  <a:srgbClr val="2E2E2E"/>
                </a:solidFill>
                <a:latin typeface="Calibri"/>
              </a:rPr>
              <a:t>led by direct sales at US$</a:t>
            </a:r>
          </a:p>
        </p:txBody>
      </p:sp>
      <p:pic>
        <p:nvPicPr>
          <p:cNvPr id="45" name="Picture 44" descr="lock.png"/>
          <p:cNvPicPr>
            <a:picLocks noChangeAspect="1"/>
          </p:cNvPicPr>
          <p:nvPr/>
        </p:nvPicPr>
        <p:blipFill>
          <a:blip r:embed="rId4"/>
          <a:stretch>
            <a:fillRect/>
          </a:stretch>
        </p:blipFill>
        <p:spPr>
          <a:xfrm>
            <a:off x="9221642" y="3578796"/>
            <a:ext cx="134549" cy="195707"/>
          </a:xfrm>
          <a:prstGeom prst="rect">
            <a:avLst/>
          </a:prstGeom>
        </p:spPr>
      </p:pic>
      <p:sp>
        <p:nvSpPr>
          <p:cNvPr id="46" name="TextBox 45"/>
          <p:cNvSpPr txBox="1"/>
          <p:nvPr/>
        </p:nvSpPr>
        <p:spPr>
          <a:xfrm>
            <a:off x="9396751" y="3589019"/>
            <a:ext cx="2087240" cy="194310"/>
          </a:xfrm>
          <a:prstGeom prst="rect">
            <a:avLst/>
          </a:prstGeom>
          <a:noFill/>
        </p:spPr>
        <p:txBody>
          <a:bodyPr wrap="none" lIns="0" rIns="0" tIns="0" bIns="0">
            <a:spAutoFit/>
          </a:bodyPr>
          <a:lstStyle/>
          <a:p>
            <a:r>
              <a:rPr sz="1150" b="0">
                <a:solidFill>
                  <a:srgbClr val="2E2E2E"/>
                </a:solidFill>
                <a:latin typeface="Calibri"/>
              </a:rPr>
              <a:t>Mn in 2036. 'Single-Use Transport</a:t>
            </a:r>
          </a:p>
        </p:txBody>
      </p:sp>
      <p:sp>
        <p:nvSpPr>
          <p:cNvPr id="47" name="TextBox 46"/>
          <p:cNvSpPr txBox="1"/>
          <p:nvPr/>
        </p:nvSpPr>
        <p:spPr>
          <a:xfrm>
            <a:off x="7715250" y="3764279"/>
            <a:ext cx="3785356" cy="194310"/>
          </a:xfrm>
          <a:prstGeom prst="rect">
            <a:avLst/>
          </a:prstGeom>
          <a:noFill/>
        </p:spPr>
        <p:txBody>
          <a:bodyPr wrap="none" lIns="0" rIns="0" tIns="0" bIns="0">
            <a:spAutoFit/>
          </a:bodyPr>
          <a:lstStyle/>
          <a:p>
            <a:r>
              <a:rPr sz="1150" b="0">
                <a:solidFill>
                  <a:srgbClr val="2E2E2E"/>
                </a:solidFill>
                <a:latin typeface="Calibri"/>
              </a:rPr>
              <a:t>Devices × Direct Sales' is the single largest cross-sectional cell (</a:t>
            </a:r>
          </a:p>
        </p:txBody>
      </p:sp>
      <p:pic>
        <p:nvPicPr>
          <p:cNvPr id="48" name="Picture 47" descr="lock.png"/>
          <p:cNvPicPr>
            <a:picLocks noChangeAspect="1"/>
          </p:cNvPicPr>
          <p:nvPr/>
        </p:nvPicPr>
        <p:blipFill>
          <a:blip r:embed="rId4"/>
          <a:stretch>
            <a:fillRect/>
          </a:stretch>
        </p:blipFill>
        <p:spPr>
          <a:xfrm>
            <a:off x="11449760" y="3754056"/>
            <a:ext cx="134549" cy="195707"/>
          </a:xfrm>
          <a:prstGeom prst="rect">
            <a:avLst/>
          </a:prstGeom>
        </p:spPr>
      </p:pic>
      <p:sp>
        <p:nvSpPr>
          <p:cNvPr id="49" name="TextBox 48"/>
          <p:cNvSpPr txBox="1"/>
          <p:nvPr/>
        </p:nvSpPr>
        <p:spPr>
          <a:xfrm>
            <a:off x="7715250" y="3939539"/>
            <a:ext cx="3988742" cy="194310"/>
          </a:xfrm>
          <a:prstGeom prst="rect">
            <a:avLst/>
          </a:prstGeom>
          <a:noFill/>
        </p:spPr>
        <p:txBody>
          <a:bodyPr wrap="none" lIns="0" rIns="0" tIns="0" bIns="0">
            <a:spAutoFit/>
          </a:bodyPr>
          <a:lstStyle/>
          <a:p>
            <a:r>
              <a:rPr sz="1150" b="0">
                <a:solidFill>
                  <a:srgbClr val="2E2E2E"/>
                </a:solidFill>
                <a:latin typeface="Calibri"/>
              </a:rPr>
              <a:t>US$ Mn, 2026E), while 'Single-Use Transport Devices × Distributor</a:t>
            </a:r>
          </a:p>
        </p:txBody>
      </p:sp>
      <p:sp>
        <p:nvSpPr>
          <p:cNvPr id="50" name="TextBox 49"/>
          <p:cNvSpPr txBox="1"/>
          <p:nvPr/>
        </p:nvSpPr>
        <p:spPr>
          <a:xfrm>
            <a:off x="7715250" y="4114799"/>
            <a:ext cx="2790087" cy="194310"/>
          </a:xfrm>
          <a:prstGeom prst="rect">
            <a:avLst/>
          </a:prstGeom>
          <a:noFill/>
        </p:spPr>
        <p:txBody>
          <a:bodyPr wrap="none" lIns="0" rIns="0" tIns="0" bIns="0">
            <a:spAutoFit/>
          </a:bodyPr>
          <a:lstStyle/>
          <a:p>
            <a:r>
              <a:rPr sz="1150" b="0">
                <a:solidFill>
                  <a:srgbClr val="2E2E2E"/>
                </a:solidFill>
                <a:latin typeface="Calibri"/>
              </a:rPr>
              <a:t>Sales' records the fastest growth at a CAGR of</a:t>
            </a:r>
          </a:p>
        </p:txBody>
      </p:sp>
      <p:pic>
        <p:nvPicPr>
          <p:cNvPr id="51" name="Picture 50" descr="lock.png"/>
          <p:cNvPicPr>
            <a:picLocks noChangeAspect="1"/>
          </p:cNvPicPr>
          <p:nvPr/>
        </p:nvPicPr>
        <p:blipFill>
          <a:blip r:embed="rId4"/>
          <a:stretch>
            <a:fillRect/>
          </a:stretch>
        </p:blipFill>
        <p:spPr>
          <a:xfrm>
            <a:off x="10454491" y="4104576"/>
            <a:ext cx="134549" cy="195707"/>
          </a:xfrm>
          <a:prstGeom prst="rect">
            <a:avLst/>
          </a:prstGeom>
        </p:spPr>
      </p:pic>
      <p:sp>
        <p:nvSpPr>
          <p:cNvPr id="52" name="TextBox 51"/>
          <p:cNvSpPr txBox="1"/>
          <p:nvPr/>
        </p:nvSpPr>
        <p:spPr>
          <a:xfrm>
            <a:off x="10629601" y="411479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53" name="TextBox 52"/>
          <p:cNvSpPr txBox="1"/>
          <p:nvPr/>
        </p:nvSpPr>
        <p:spPr>
          <a:xfrm>
            <a:off x="7715250" y="4342637"/>
            <a:ext cx="3836987" cy="194310"/>
          </a:xfrm>
          <a:prstGeom prst="rect">
            <a:avLst/>
          </a:prstGeom>
          <a:noFill/>
        </p:spPr>
        <p:txBody>
          <a:bodyPr wrap="none" lIns="0" rIns="0" tIns="0" bIns="0">
            <a:spAutoFit/>
          </a:bodyPr>
          <a:lstStyle/>
          <a:p>
            <a:r>
              <a:rPr sz="1150" b="0">
                <a:solidFill>
                  <a:srgbClr val="2E2E2E"/>
                </a:solidFill>
                <a:latin typeface="Calibri"/>
              </a:rPr>
              <a:t>Combined, the top three device reusability × sales channel cells</a:t>
            </a:r>
          </a:p>
        </p:txBody>
      </p:sp>
      <p:sp>
        <p:nvSpPr>
          <p:cNvPr id="54" name="TextBox 53"/>
          <p:cNvSpPr txBox="1"/>
          <p:nvPr/>
        </p:nvSpPr>
        <p:spPr>
          <a:xfrm>
            <a:off x="7715250" y="4517897"/>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55" name="Picture 54" descr="lock.png"/>
          <p:cNvPicPr>
            <a:picLocks noChangeAspect="1"/>
          </p:cNvPicPr>
          <p:nvPr/>
        </p:nvPicPr>
        <p:blipFill>
          <a:blip r:embed="rId4"/>
          <a:stretch>
            <a:fillRect/>
          </a:stretch>
        </p:blipFill>
        <p:spPr>
          <a:xfrm>
            <a:off x="10004949" y="4507674"/>
            <a:ext cx="134549" cy="195707"/>
          </a:xfrm>
          <a:prstGeom prst="rect">
            <a:avLst/>
          </a:prstGeom>
        </p:spPr>
      </p:pic>
      <p:sp>
        <p:nvSpPr>
          <p:cNvPr id="56" name="TextBox 55"/>
          <p:cNvSpPr txBox="1"/>
          <p:nvPr/>
        </p:nvSpPr>
        <p:spPr>
          <a:xfrm>
            <a:off x="10180058" y="451789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Market Share Analysis: Device Reusability × Sales Channel,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North America market value, each row split across all sales channel sub-segments</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 Value Share, Device Reusability × Sales Channel, 2026E (% of each row)</a:t>
            </a:r>
          </a:p>
        </p:txBody>
      </p:sp>
      <p:graphicFrame>
        <p:nvGraphicFramePr>
          <p:cNvPr id="12" name="Table 11"/>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4272838"/>
                <a:gridCol w="2538121"/>
                <a:gridCol w="2538121"/>
                <a:gridCol w="253812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7286625"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6289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Sales Channel Mix by Device Reusability, 2026E (% share)</a:t>
            </a:r>
          </a:p>
        </p:txBody>
      </p:sp>
      <p:graphicFrame>
        <p:nvGraphicFramePr>
          <p:cNvPr id="16" name="Chart 15"/>
          <p:cNvGraphicFramePr>
            <a:graphicFrameLocks noGrp="1"/>
          </p:cNvGraphicFramePr>
          <p:nvPr/>
        </p:nvGraphicFramePr>
        <p:xfrm>
          <a:off x="238125" y="2857500"/>
          <a:ext cx="7096125" cy="37147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571750"/>
            <a:ext cx="445770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6574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28956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2981325"/>
            <a:ext cx="419100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8059923" y="1610189"/>
            <a:ext cx="338832" cy="492846"/>
          </a:xfrm>
          <a:prstGeom prst="rect">
            <a:avLst/>
          </a:prstGeom>
        </p:spPr>
      </p:pic>
      <p:pic>
        <p:nvPicPr>
          <p:cNvPr id="23" name="Picture 22" descr="lock.png"/>
          <p:cNvPicPr>
            <a:picLocks noChangeAspect="1"/>
          </p:cNvPicPr>
          <p:nvPr/>
        </p:nvPicPr>
        <p:blipFill>
          <a:blip r:embed="rId5"/>
          <a:stretch>
            <a:fillRect/>
          </a:stretch>
        </p:blipFill>
        <p:spPr>
          <a:xfrm>
            <a:off x="3709408" y="3701240"/>
            <a:ext cx="440818" cy="641190"/>
          </a:xfrm>
          <a:prstGeom prst="rect">
            <a:avLst/>
          </a:prstGeom>
        </p:spPr>
      </p:pic>
      <p:sp>
        <p:nvSpPr>
          <p:cNvPr id="24" name="TextBox 23"/>
          <p:cNvSpPr txBox="1"/>
          <p:nvPr/>
        </p:nvSpPr>
        <p:spPr>
          <a:xfrm>
            <a:off x="7715250" y="2990850"/>
            <a:ext cx="3785356" cy="194310"/>
          </a:xfrm>
          <a:prstGeom prst="rect">
            <a:avLst/>
          </a:prstGeom>
          <a:noFill/>
        </p:spPr>
        <p:txBody>
          <a:bodyPr wrap="none" lIns="0" rIns="0" tIns="0" bIns="0">
            <a:spAutoFit/>
          </a:bodyPr>
          <a:lstStyle/>
          <a:p>
            <a:r>
              <a:rPr sz="1150" b="0">
                <a:solidFill>
                  <a:srgbClr val="2E2E2E"/>
                </a:solidFill>
                <a:latin typeface="Calibri"/>
              </a:rPr>
              <a:t>▪ 'Direct Sales' holds the highest share of 'Single-Use Transport</a:t>
            </a:r>
          </a:p>
        </p:txBody>
      </p:sp>
      <p:sp>
        <p:nvSpPr>
          <p:cNvPr id="25" name="TextBox 24"/>
          <p:cNvSpPr txBox="1"/>
          <p:nvPr/>
        </p:nvSpPr>
        <p:spPr>
          <a:xfrm>
            <a:off x="7715250" y="3166110"/>
            <a:ext cx="714312" cy="194310"/>
          </a:xfrm>
          <a:prstGeom prst="rect">
            <a:avLst/>
          </a:prstGeom>
          <a:noFill/>
        </p:spPr>
        <p:txBody>
          <a:bodyPr wrap="none" lIns="0" rIns="0" tIns="0" bIns="0">
            <a:spAutoFit/>
          </a:bodyPr>
          <a:lstStyle/>
          <a:p>
            <a:r>
              <a:rPr sz="1150" b="0">
                <a:solidFill>
                  <a:srgbClr val="2E2E2E"/>
                </a:solidFill>
                <a:latin typeface="Calibri"/>
              </a:rPr>
              <a:t>Devices' at</a:t>
            </a:r>
          </a:p>
        </p:txBody>
      </p:sp>
      <p:pic>
        <p:nvPicPr>
          <p:cNvPr id="26" name="Picture 25" descr="lock.png"/>
          <p:cNvPicPr>
            <a:picLocks noChangeAspect="1"/>
          </p:cNvPicPr>
          <p:nvPr/>
        </p:nvPicPr>
        <p:blipFill>
          <a:blip r:embed="rId5"/>
          <a:stretch>
            <a:fillRect/>
          </a:stretch>
        </p:blipFill>
        <p:spPr>
          <a:xfrm>
            <a:off x="8378716" y="3155886"/>
            <a:ext cx="134549" cy="195707"/>
          </a:xfrm>
          <a:prstGeom prst="rect">
            <a:avLst/>
          </a:prstGeom>
        </p:spPr>
      </p:pic>
      <p:sp>
        <p:nvSpPr>
          <p:cNvPr id="27" name="TextBox 26"/>
          <p:cNvSpPr txBox="1"/>
          <p:nvPr/>
        </p:nvSpPr>
        <p:spPr>
          <a:xfrm>
            <a:off x="8553826" y="31661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3393947"/>
            <a:ext cx="3880060" cy="194310"/>
          </a:xfrm>
          <a:prstGeom prst="rect">
            <a:avLst/>
          </a:prstGeom>
          <a:noFill/>
        </p:spPr>
        <p:txBody>
          <a:bodyPr wrap="none" lIns="0" rIns="0" tIns="0" bIns="0">
            <a:spAutoFit/>
          </a:bodyPr>
          <a:lstStyle/>
          <a:p>
            <a:r>
              <a:rPr sz="1150" b="0">
                <a:solidFill>
                  <a:srgbClr val="2E2E2E"/>
                </a:solidFill>
                <a:latin typeface="Calibri"/>
              </a:rPr>
              <a:t>▪ 'Single-Use Transport Devices' is the most concentrated device</a:t>
            </a:r>
          </a:p>
        </p:txBody>
      </p:sp>
      <p:sp>
        <p:nvSpPr>
          <p:cNvPr id="29" name="TextBox 28"/>
          <p:cNvSpPr txBox="1"/>
          <p:nvPr/>
        </p:nvSpPr>
        <p:spPr>
          <a:xfrm>
            <a:off x="7715250" y="3569207"/>
            <a:ext cx="1832223" cy="194310"/>
          </a:xfrm>
          <a:prstGeom prst="rect">
            <a:avLst/>
          </a:prstGeom>
          <a:noFill/>
        </p:spPr>
        <p:txBody>
          <a:bodyPr wrap="none" lIns="0" rIns="0" tIns="0" bIns="0">
            <a:spAutoFit/>
          </a:bodyPr>
          <a:lstStyle/>
          <a:p>
            <a:r>
              <a:rPr sz="1150" b="0">
                <a:solidFill>
                  <a:srgbClr val="2E2E2E"/>
                </a:solidFill>
                <a:latin typeface="Calibri"/>
              </a:rPr>
              <a:t>reusability sub-segment, with</a:t>
            </a:r>
          </a:p>
        </p:txBody>
      </p:sp>
      <p:pic>
        <p:nvPicPr>
          <p:cNvPr id="30" name="Picture 29" descr="lock.png"/>
          <p:cNvPicPr>
            <a:picLocks noChangeAspect="1"/>
          </p:cNvPicPr>
          <p:nvPr/>
        </p:nvPicPr>
        <p:blipFill>
          <a:blip r:embed="rId5"/>
          <a:stretch>
            <a:fillRect/>
          </a:stretch>
        </p:blipFill>
        <p:spPr>
          <a:xfrm>
            <a:off x="9496626" y="3558984"/>
            <a:ext cx="134549" cy="195707"/>
          </a:xfrm>
          <a:prstGeom prst="rect">
            <a:avLst/>
          </a:prstGeom>
        </p:spPr>
      </p:pic>
      <p:sp>
        <p:nvSpPr>
          <p:cNvPr id="31" name="TextBox 30"/>
          <p:cNvSpPr txBox="1"/>
          <p:nvPr/>
        </p:nvSpPr>
        <p:spPr>
          <a:xfrm>
            <a:off x="9671736" y="3569207"/>
            <a:ext cx="1751210" cy="194310"/>
          </a:xfrm>
          <a:prstGeom prst="rect">
            <a:avLst/>
          </a:prstGeom>
          <a:noFill/>
        </p:spPr>
        <p:txBody>
          <a:bodyPr wrap="none" lIns="0" rIns="0" tIns="0" bIns="0">
            <a:spAutoFit/>
          </a:bodyPr>
          <a:lstStyle/>
          <a:p>
            <a:r>
              <a:rPr sz="1150" b="0">
                <a:solidFill>
                  <a:srgbClr val="2E2E2E"/>
                </a:solidFill>
                <a:latin typeface="Calibri"/>
              </a:rPr>
              <a:t>of its value via 'Direct Sales'.</a:t>
            </a:r>
          </a:p>
        </p:txBody>
      </p:sp>
      <p:sp>
        <p:nvSpPr>
          <p:cNvPr id="32" name="TextBox 31"/>
          <p:cNvSpPr txBox="1"/>
          <p:nvPr/>
        </p:nvSpPr>
        <p:spPr>
          <a:xfrm>
            <a:off x="7715250" y="3797045"/>
            <a:ext cx="1648804" cy="194310"/>
          </a:xfrm>
          <a:prstGeom prst="rect">
            <a:avLst/>
          </a:prstGeom>
          <a:noFill/>
        </p:spPr>
        <p:txBody>
          <a:bodyPr wrap="none" lIns="0" rIns="0" tIns="0" bIns="0">
            <a:spAutoFit/>
          </a:bodyPr>
          <a:lstStyle/>
          <a:p>
            <a:r>
              <a:rPr sz="1150" b="0">
                <a:solidFill>
                  <a:srgbClr val="2E2E2E"/>
                </a:solidFill>
                <a:latin typeface="Calibri"/>
              </a:rPr>
              <a:t>▪ 'Distributor Sales' gains +</a:t>
            </a:r>
          </a:p>
        </p:txBody>
      </p:sp>
      <p:pic>
        <p:nvPicPr>
          <p:cNvPr id="33" name="Picture 32" descr="lock.png"/>
          <p:cNvPicPr>
            <a:picLocks noChangeAspect="1"/>
          </p:cNvPicPr>
          <p:nvPr/>
        </p:nvPicPr>
        <p:blipFill>
          <a:blip r:embed="rId5"/>
          <a:stretch>
            <a:fillRect/>
          </a:stretch>
        </p:blipFill>
        <p:spPr>
          <a:xfrm>
            <a:off x="9313208" y="3786822"/>
            <a:ext cx="134549" cy="195707"/>
          </a:xfrm>
          <a:prstGeom prst="rect">
            <a:avLst/>
          </a:prstGeom>
        </p:spPr>
      </p:pic>
      <p:sp>
        <p:nvSpPr>
          <p:cNvPr id="34" name="TextBox 33"/>
          <p:cNvSpPr txBox="1"/>
          <p:nvPr/>
        </p:nvSpPr>
        <p:spPr>
          <a:xfrm>
            <a:off x="9488317" y="3797045"/>
            <a:ext cx="2104640" cy="194310"/>
          </a:xfrm>
          <a:prstGeom prst="rect">
            <a:avLst/>
          </a:prstGeom>
          <a:noFill/>
        </p:spPr>
        <p:txBody>
          <a:bodyPr wrap="none" lIns="0" rIns="0" tIns="0" bIns="0">
            <a:spAutoFit/>
          </a:bodyPr>
          <a:lstStyle/>
          <a:p>
            <a:r>
              <a:rPr sz="1150" b="0">
                <a:solidFill>
                  <a:srgbClr val="2E2E2E"/>
                </a:solidFill>
                <a:latin typeface="Calibri"/>
              </a:rPr>
              <a:t>BPS of share of the North America</a:t>
            </a:r>
          </a:p>
        </p:txBody>
      </p:sp>
      <p:sp>
        <p:nvSpPr>
          <p:cNvPr id="35" name="TextBox 34"/>
          <p:cNvSpPr txBox="1"/>
          <p:nvPr/>
        </p:nvSpPr>
        <p:spPr>
          <a:xfrm>
            <a:off x="7715250" y="3972305"/>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6" name="lockshield_16"/>
          <p:cNvSpPr/>
          <p:nvPr/>
        </p:nvSpPr>
        <p:spPr>
          <a:xfrm>
            <a:off x="238125" y="2857500"/>
            <a:ext cx="7096125" cy="3714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North America Absolute $ Opportunity &amp; Attractiveness: Device Reusability × Sales Channel,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Reusability × Sales Channel, 2026E–2036F</a:t>
            </a:r>
          </a:p>
        </p:txBody>
      </p:sp>
      <p:graphicFrame>
        <p:nvGraphicFramePr>
          <p:cNvPr id="12" name="Table 11"/>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4121197"/>
                <a:gridCol w="1294334"/>
                <a:gridCol w="1294334"/>
                <a:gridCol w="1294334"/>
                <a:gridCol w="1294334"/>
                <a:gridCol w="1294334"/>
                <a:gridCol w="1294334"/>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5600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1432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5334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'Single-Use Transport Devices × Direct Sales' ranks highest (5/5); 'Single-Use Transport Devices × Distributor Sales'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82438" y="1855652"/>
            <a:ext cx="342101" cy="497602"/>
          </a:xfrm>
          <a:prstGeom prst="rect">
            <a:avLst/>
          </a:prstGeom>
        </p:spPr>
      </p:pic>
      <p:sp>
        <p:nvSpPr>
          <p:cNvPr id="32" name="TextBox 31"/>
          <p:cNvSpPr txBox="1"/>
          <p:nvPr/>
        </p:nvSpPr>
        <p:spPr>
          <a:xfrm>
            <a:off x="276225" y="3238500"/>
            <a:ext cx="2962399" cy="194310"/>
          </a:xfrm>
          <a:prstGeom prst="rect">
            <a:avLst/>
          </a:prstGeom>
          <a:noFill/>
        </p:spPr>
        <p:txBody>
          <a:bodyPr wrap="none" lIns="0" rIns="0" tIns="0" bIns="0">
            <a:spAutoFit/>
          </a:bodyPr>
          <a:lstStyle/>
          <a:p>
            <a:r>
              <a:rPr sz="1150" b="0">
                <a:solidFill>
                  <a:srgbClr val="2E2E2E"/>
                </a:solidFill>
                <a:latin typeface="Calibri"/>
              </a:rPr>
              <a:t>▪ 1. Single-Use Transport Devices × Direct Sales –</a:t>
            </a:r>
          </a:p>
        </p:txBody>
      </p:sp>
      <p:pic>
        <p:nvPicPr>
          <p:cNvPr id="33" name="Picture 32" descr="lock.png"/>
          <p:cNvPicPr>
            <a:picLocks noChangeAspect="1"/>
          </p:cNvPicPr>
          <p:nvPr/>
        </p:nvPicPr>
        <p:blipFill>
          <a:blip r:embed="rId4"/>
          <a:stretch>
            <a:fillRect/>
          </a:stretch>
        </p:blipFill>
        <p:spPr>
          <a:xfrm>
            <a:off x="3187777" y="3228276"/>
            <a:ext cx="134549" cy="195707"/>
          </a:xfrm>
          <a:prstGeom prst="rect">
            <a:avLst/>
          </a:prstGeom>
        </p:spPr>
      </p:pic>
      <p:sp>
        <p:nvSpPr>
          <p:cNvPr id="34" name="TextBox 33"/>
          <p:cNvSpPr txBox="1"/>
          <p:nvPr/>
        </p:nvSpPr>
        <p:spPr>
          <a:xfrm>
            <a:off x="3362887" y="32385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425038" y="3228276"/>
            <a:ext cx="134549" cy="195707"/>
          </a:xfrm>
          <a:prstGeom prst="rect">
            <a:avLst/>
          </a:prstGeom>
        </p:spPr>
      </p:pic>
      <p:sp>
        <p:nvSpPr>
          <p:cNvPr id="36" name="TextBox 35"/>
          <p:cNvSpPr txBox="1"/>
          <p:nvPr/>
        </p:nvSpPr>
        <p:spPr>
          <a:xfrm>
            <a:off x="3600148" y="32385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3466337"/>
            <a:ext cx="2880245" cy="194310"/>
          </a:xfrm>
          <a:prstGeom prst="rect">
            <a:avLst/>
          </a:prstGeom>
          <a:noFill/>
        </p:spPr>
        <p:txBody>
          <a:bodyPr wrap="none" lIns="0" rIns="0" tIns="0" bIns="0">
            <a:spAutoFit/>
          </a:bodyPr>
          <a:lstStyle/>
          <a:p>
            <a:r>
              <a:rPr sz="1150" b="0">
                <a:solidFill>
                  <a:srgbClr val="2E2E2E"/>
                </a:solidFill>
                <a:latin typeface="Calibri"/>
              </a:rPr>
              <a:t>▪ 2. Reusable Transport Devices × Direct Sales –</a:t>
            </a:r>
          </a:p>
        </p:txBody>
      </p:sp>
      <p:pic>
        <p:nvPicPr>
          <p:cNvPr id="38" name="Picture 37" descr="lock.png"/>
          <p:cNvPicPr>
            <a:picLocks noChangeAspect="1"/>
          </p:cNvPicPr>
          <p:nvPr/>
        </p:nvPicPr>
        <p:blipFill>
          <a:blip r:embed="rId4"/>
          <a:stretch>
            <a:fillRect/>
          </a:stretch>
        </p:blipFill>
        <p:spPr>
          <a:xfrm>
            <a:off x="3105624" y="3456114"/>
            <a:ext cx="134549" cy="195707"/>
          </a:xfrm>
          <a:prstGeom prst="rect">
            <a:avLst/>
          </a:prstGeom>
        </p:spPr>
      </p:pic>
      <p:sp>
        <p:nvSpPr>
          <p:cNvPr id="39" name="TextBox 38"/>
          <p:cNvSpPr txBox="1"/>
          <p:nvPr/>
        </p:nvSpPr>
        <p:spPr>
          <a:xfrm>
            <a:off x="3280734" y="346633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342885" y="3456114"/>
            <a:ext cx="134549" cy="195707"/>
          </a:xfrm>
          <a:prstGeom prst="rect">
            <a:avLst/>
          </a:prstGeom>
        </p:spPr>
      </p:pic>
      <p:sp>
        <p:nvSpPr>
          <p:cNvPr id="41" name="TextBox 40"/>
          <p:cNvSpPr txBox="1"/>
          <p:nvPr/>
        </p:nvSpPr>
        <p:spPr>
          <a:xfrm>
            <a:off x="3517995" y="3466337"/>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42" name="TextBox 41"/>
          <p:cNvSpPr txBox="1"/>
          <p:nvPr/>
        </p:nvSpPr>
        <p:spPr>
          <a:xfrm>
            <a:off x="276225" y="3694175"/>
            <a:ext cx="3249079" cy="194310"/>
          </a:xfrm>
          <a:prstGeom prst="rect">
            <a:avLst/>
          </a:prstGeom>
          <a:noFill/>
        </p:spPr>
        <p:txBody>
          <a:bodyPr wrap="none" lIns="0" rIns="0" tIns="0" bIns="0">
            <a:spAutoFit/>
          </a:bodyPr>
          <a:lstStyle/>
          <a:p>
            <a:r>
              <a:rPr sz="1150" b="0">
                <a:solidFill>
                  <a:srgbClr val="2E2E2E"/>
                </a:solidFill>
                <a:latin typeface="Calibri"/>
              </a:rPr>
              <a:t>▪ 3. Single-Use Transport Devices × Distributor Sales –</a:t>
            </a:r>
          </a:p>
        </p:txBody>
      </p:sp>
      <p:pic>
        <p:nvPicPr>
          <p:cNvPr id="43" name="Picture 42" descr="lock.png"/>
          <p:cNvPicPr>
            <a:picLocks noChangeAspect="1"/>
          </p:cNvPicPr>
          <p:nvPr/>
        </p:nvPicPr>
        <p:blipFill>
          <a:blip r:embed="rId4"/>
          <a:stretch>
            <a:fillRect/>
          </a:stretch>
        </p:blipFill>
        <p:spPr>
          <a:xfrm>
            <a:off x="3474458" y="3683952"/>
            <a:ext cx="134549" cy="195707"/>
          </a:xfrm>
          <a:prstGeom prst="rect">
            <a:avLst/>
          </a:prstGeom>
        </p:spPr>
      </p:pic>
      <p:sp>
        <p:nvSpPr>
          <p:cNvPr id="44" name="TextBox 43"/>
          <p:cNvSpPr txBox="1"/>
          <p:nvPr/>
        </p:nvSpPr>
        <p:spPr>
          <a:xfrm>
            <a:off x="3649567" y="3694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711719" y="3683952"/>
            <a:ext cx="134549" cy="195707"/>
          </a:xfrm>
          <a:prstGeom prst="rect">
            <a:avLst/>
          </a:prstGeom>
        </p:spPr>
      </p:pic>
      <p:sp>
        <p:nvSpPr>
          <p:cNvPr id="46" name="TextBox 45"/>
          <p:cNvSpPr txBox="1"/>
          <p:nvPr/>
        </p:nvSpPr>
        <p:spPr>
          <a:xfrm>
            <a:off x="3886828" y="3694175"/>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47" name="TextBox 46"/>
          <p:cNvSpPr txBox="1"/>
          <p:nvPr/>
        </p:nvSpPr>
        <p:spPr>
          <a:xfrm>
            <a:off x="276225" y="3922013"/>
            <a:ext cx="3166926" cy="194310"/>
          </a:xfrm>
          <a:prstGeom prst="rect">
            <a:avLst/>
          </a:prstGeom>
          <a:noFill/>
        </p:spPr>
        <p:txBody>
          <a:bodyPr wrap="none" lIns="0" rIns="0" tIns="0" bIns="0">
            <a:spAutoFit/>
          </a:bodyPr>
          <a:lstStyle/>
          <a:p>
            <a:r>
              <a:rPr sz="1150" b="0">
                <a:solidFill>
                  <a:srgbClr val="2E2E2E"/>
                </a:solidFill>
                <a:latin typeface="Calibri"/>
              </a:rPr>
              <a:t>▪ 4. Reusable Transport Devices × Distributor Sales –</a:t>
            </a:r>
          </a:p>
        </p:txBody>
      </p:sp>
      <p:pic>
        <p:nvPicPr>
          <p:cNvPr id="48" name="Picture 47" descr="lock.png"/>
          <p:cNvPicPr>
            <a:picLocks noChangeAspect="1"/>
          </p:cNvPicPr>
          <p:nvPr/>
        </p:nvPicPr>
        <p:blipFill>
          <a:blip r:embed="rId4"/>
          <a:stretch>
            <a:fillRect/>
          </a:stretch>
        </p:blipFill>
        <p:spPr>
          <a:xfrm>
            <a:off x="3392305" y="3911790"/>
            <a:ext cx="134549" cy="195707"/>
          </a:xfrm>
          <a:prstGeom prst="rect">
            <a:avLst/>
          </a:prstGeom>
        </p:spPr>
      </p:pic>
      <p:sp>
        <p:nvSpPr>
          <p:cNvPr id="49" name="TextBox 48"/>
          <p:cNvSpPr txBox="1"/>
          <p:nvPr/>
        </p:nvSpPr>
        <p:spPr>
          <a:xfrm>
            <a:off x="3567414" y="3922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629565" y="3911790"/>
            <a:ext cx="134549" cy="195707"/>
          </a:xfrm>
          <a:prstGeom prst="rect">
            <a:avLst/>
          </a:prstGeom>
        </p:spPr>
      </p:pic>
      <p:sp>
        <p:nvSpPr>
          <p:cNvPr id="51" name="TextBox 50"/>
          <p:cNvSpPr txBox="1"/>
          <p:nvPr/>
        </p:nvSpPr>
        <p:spPr>
          <a:xfrm>
            <a:off x="3804675" y="3922013"/>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52" name="TextBox 51"/>
          <p:cNvSpPr txBox="1"/>
          <p:nvPr/>
        </p:nvSpPr>
        <p:spPr>
          <a:xfrm>
            <a:off x="6029325" y="3238500"/>
            <a:ext cx="1427162" cy="194310"/>
          </a:xfrm>
          <a:prstGeom prst="rect">
            <a:avLst/>
          </a:prstGeom>
          <a:noFill/>
        </p:spPr>
        <p:txBody>
          <a:bodyPr wrap="none" lIns="0" rIns="0" tIns="0" bIns="0">
            <a:spAutoFit/>
          </a:bodyPr>
          <a:lstStyle/>
          <a:p>
            <a:r>
              <a:rPr sz="1150" b="0">
                <a:solidFill>
                  <a:srgbClr val="2E2E2E"/>
                </a:solidFill>
                <a:latin typeface="Calibri"/>
              </a:rPr>
              <a:t>▪ 'Single-Use Transport</a:t>
            </a:r>
          </a:p>
        </p:txBody>
      </p:sp>
      <p:sp>
        <p:nvSpPr>
          <p:cNvPr id="53" name="TextBox 52"/>
          <p:cNvSpPr txBox="1"/>
          <p:nvPr/>
        </p:nvSpPr>
        <p:spPr>
          <a:xfrm>
            <a:off x="6029325" y="3413760"/>
            <a:ext cx="1657350" cy="194310"/>
          </a:xfrm>
          <a:prstGeom prst="rect">
            <a:avLst/>
          </a:prstGeom>
          <a:noFill/>
        </p:spPr>
        <p:txBody>
          <a:bodyPr wrap="none" lIns="0" rIns="0" tIns="0" bIns="0">
            <a:spAutoFit/>
          </a:bodyPr>
          <a:lstStyle/>
          <a:p>
            <a:r>
              <a:rPr sz="1150" b="0">
                <a:solidFill>
                  <a:srgbClr val="2E2E2E"/>
                </a:solidFill>
                <a:latin typeface="Calibri"/>
              </a:rPr>
              <a:t>Devices × Direct Sales' adds</a:t>
            </a:r>
          </a:p>
        </p:txBody>
      </p:sp>
      <p:pic>
        <p:nvPicPr>
          <p:cNvPr id="54" name="Picture 53" descr="lock.png"/>
          <p:cNvPicPr>
            <a:picLocks noChangeAspect="1"/>
          </p:cNvPicPr>
          <p:nvPr/>
        </p:nvPicPr>
        <p:blipFill>
          <a:blip r:embed="rId4"/>
          <a:stretch>
            <a:fillRect/>
          </a:stretch>
        </p:blipFill>
        <p:spPr>
          <a:xfrm>
            <a:off x="6015245" y="3578796"/>
            <a:ext cx="134549" cy="195707"/>
          </a:xfrm>
          <a:prstGeom prst="rect">
            <a:avLst/>
          </a:prstGeom>
        </p:spPr>
      </p:pic>
      <p:sp>
        <p:nvSpPr>
          <p:cNvPr id="55" name="TextBox 54"/>
          <p:cNvSpPr txBox="1"/>
          <p:nvPr/>
        </p:nvSpPr>
        <p:spPr>
          <a:xfrm>
            <a:off x="6190354" y="358901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6015245" y="3754056"/>
            <a:ext cx="134549" cy="195707"/>
          </a:xfrm>
          <a:prstGeom prst="rect">
            <a:avLst/>
          </a:prstGeom>
        </p:spPr>
      </p:pic>
      <p:sp>
        <p:nvSpPr>
          <p:cNvPr id="57" name="TextBox 56"/>
          <p:cNvSpPr txBox="1"/>
          <p:nvPr/>
        </p:nvSpPr>
        <p:spPr>
          <a:xfrm>
            <a:off x="6190354" y="376427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393953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3238500"/>
            <a:ext cx="1427162" cy="194310"/>
          </a:xfrm>
          <a:prstGeom prst="rect">
            <a:avLst/>
          </a:prstGeom>
          <a:noFill/>
        </p:spPr>
        <p:txBody>
          <a:bodyPr wrap="none" lIns="0" rIns="0" tIns="0" bIns="0">
            <a:spAutoFit/>
          </a:bodyPr>
          <a:lstStyle/>
          <a:p>
            <a:r>
              <a:rPr sz="1150" b="0">
                <a:solidFill>
                  <a:srgbClr val="2E2E2E"/>
                </a:solidFill>
                <a:latin typeface="Calibri"/>
              </a:rPr>
              <a:t>▪ 'Single-Use Transport</a:t>
            </a:r>
          </a:p>
        </p:txBody>
      </p:sp>
      <p:sp>
        <p:nvSpPr>
          <p:cNvPr id="60" name="TextBox 59"/>
          <p:cNvSpPr txBox="1"/>
          <p:nvPr/>
        </p:nvSpPr>
        <p:spPr>
          <a:xfrm>
            <a:off x="8124825" y="3413760"/>
            <a:ext cx="1657350" cy="194310"/>
          </a:xfrm>
          <a:prstGeom prst="rect">
            <a:avLst/>
          </a:prstGeom>
          <a:noFill/>
        </p:spPr>
        <p:txBody>
          <a:bodyPr wrap="none" lIns="0" rIns="0" tIns="0" bIns="0">
            <a:spAutoFit/>
          </a:bodyPr>
          <a:lstStyle/>
          <a:p>
            <a:r>
              <a:rPr sz="1150" b="0">
                <a:solidFill>
                  <a:srgbClr val="2E2E2E"/>
                </a:solidFill>
                <a:latin typeface="Calibri"/>
              </a:rPr>
              <a:t>Devices × Distributor Sales'</a:t>
            </a:r>
          </a:p>
        </p:txBody>
      </p:sp>
      <p:sp>
        <p:nvSpPr>
          <p:cNvPr id="61" name="TextBox 60"/>
          <p:cNvSpPr txBox="1"/>
          <p:nvPr/>
        </p:nvSpPr>
        <p:spPr>
          <a:xfrm>
            <a:off x="8124825" y="3589019"/>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2" name="Picture 61" descr="lock.png"/>
          <p:cNvPicPr>
            <a:picLocks noChangeAspect="1"/>
          </p:cNvPicPr>
          <p:nvPr/>
        </p:nvPicPr>
        <p:blipFill>
          <a:blip r:embed="rId4"/>
          <a:stretch>
            <a:fillRect/>
          </a:stretch>
        </p:blipFill>
        <p:spPr>
          <a:xfrm>
            <a:off x="8763474" y="3578796"/>
            <a:ext cx="134549" cy="195707"/>
          </a:xfrm>
          <a:prstGeom prst="rect">
            <a:avLst/>
          </a:prstGeom>
        </p:spPr>
      </p:pic>
      <p:sp>
        <p:nvSpPr>
          <p:cNvPr id="63" name="TextBox 62"/>
          <p:cNvSpPr txBox="1"/>
          <p:nvPr/>
        </p:nvSpPr>
        <p:spPr>
          <a:xfrm>
            <a:off x="8938584" y="358901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9334179" y="3578796"/>
            <a:ext cx="134549" cy="195707"/>
          </a:xfrm>
          <a:prstGeom prst="rect">
            <a:avLst/>
          </a:prstGeom>
        </p:spPr>
      </p:pic>
      <p:sp>
        <p:nvSpPr>
          <p:cNvPr id="65" name="TextBox 64"/>
          <p:cNvSpPr txBox="1"/>
          <p:nvPr/>
        </p:nvSpPr>
        <p:spPr>
          <a:xfrm>
            <a:off x="8124825" y="376427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6" name="TextBox 65"/>
          <p:cNvSpPr txBox="1"/>
          <p:nvPr/>
        </p:nvSpPr>
        <p:spPr>
          <a:xfrm>
            <a:off x="8124825" y="393953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237045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2675255"/>
            <a:ext cx="7239000" cy="514350"/>
          </a:xfrm>
          <a:prstGeom prst="rect">
            <a:avLst/>
          </a:prstGeom>
          <a:noFill/>
        </p:spPr>
        <p:txBody>
          <a:bodyPr wrap="square" lIns="0" rIns="0" tIns="0">
            <a:spAutoFit/>
          </a:bodyPr>
          <a:lstStyle/>
          <a:p>
            <a:r>
              <a:rPr sz="3000" b="1" cap="all" spc="400">
                <a:solidFill>
                  <a:srgbClr val="FFFFFF"/>
                </a:solidFill>
                <a:latin typeface="Calibri"/>
              </a:rPr>
              <a:t>Country Market Outlook</a:t>
            </a:r>
          </a:p>
        </p:txBody>
      </p:sp>
      <p:sp>
        <p:nvSpPr>
          <p:cNvPr id="7" name="TextBox 6"/>
          <p:cNvSpPr txBox="1"/>
          <p:nvPr/>
        </p:nvSpPr>
        <p:spPr>
          <a:xfrm>
            <a:off x="914400" y="3380105"/>
            <a:ext cx="7124700" cy="253619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Overview (Volume &amp; Value)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Segment Overview (Volume &amp; Value)</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Technology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Organ Compatibility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Device Reusability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Monitoring Capability</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Purchasing Organisation</a:t>
            </a:r>
          </a:p>
          <a:p>
            <a:pPr marL="685800" indent="-323850">
              <a:lnSpc>
                <a:spcPct val="100000"/>
              </a:lnSpc>
              <a:spcAft>
                <a:spcPts val="560"/>
              </a:spcAft>
            </a:pPr>
            <a:r>
              <a:rPr sz="1400" b="0">
                <a:solidFill>
                  <a:srgbClr val="FFD447"/>
                </a:solidFill>
                <a:latin typeface="Calibri"/>
              </a:rPr>
              <a:t>›	</a:t>
            </a:r>
            <a:r>
              <a:rPr sz="1400" b="0">
                <a:solidFill>
                  <a:srgbClr val="FFD447"/>
                </a:solidFill>
                <a:latin typeface="Calibri"/>
              </a:rPr>
              <a:t>Sales Channel</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Overview (Volume &amp; Value)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Volume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Overview</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Segments (Value)</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Volume Overview (Units)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volume: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(UNITS)</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Volume (Units),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852191" cy="186689"/>
          </a:xfrm>
          <a:prstGeom prst="rect">
            <a:avLst/>
          </a:prstGeom>
          <a:noFill/>
        </p:spPr>
        <p:txBody>
          <a:bodyPr wrap="none" lIns="0" rIns="0" tIns="0" bIns="0">
            <a:spAutoFit/>
          </a:bodyPr>
          <a:lstStyle/>
          <a:p>
            <a:r>
              <a:rPr sz="1100" b="0">
                <a:solidFill>
                  <a:srgbClr val="2E2E2E"/>
                </a:solidFill>
                <a:latin typeface="Calibri"/>
              </a:rPr>
              <a:t>U.S.'s organ transport devices market expands at</a:t>
            </a:r>
          </a:p>
        </p:txBody>
      </p:sp>
      <p:pic>
        <p:nvPicPr>
          <p:cNvPr id="41" name="Picture 40" descr="lock.png"/>
          <p:cNvPicPr>
            <a:picLocks noChangeAspect="1"/>
          </p:cNvPicPr>
          <p:nvPr/>
        </p:nvPicPr>
        <p:blipFill>
          <a:blip r:embed="rId8"/>
          <a:stretch>
            <a:fillRect/>
          </a:stretch>
        </p:blipFill>
        <p:spPr>
          <a:xfrm>
            <a:off x="10871728" y="2866771"/>
            <a:ext cx="128699" cy="187198"/>
          </a:xfrm>
          <a:prstGeom prst="rect">
            <a:avLst/>
          </a:prstGeom>
        </p:spPr>
      </p:pic>
      <p:sp>
        <p:nvSpPr>
          <p:cNvPr id="42" name="TextBox 41"/>
          <p:cNvSpPr txBox="1"/>
          <p:nvPr/>
        </p:nvSpPr>
        <p:spPr>
          <a:xfrm>
            <a:off x="11039224"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3" name="TextBox 42"/>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4" name="Picture 43" descr="lock.png"/>
          <p:cNvPicPr>
            <a:picLocks noChangeAspect="1"/>
          </p:cNvPicPr>
          <p:nvPr/>
        </p:nvPicPr>
        <p:blipFill>
          <a:blip r:embed="rId8"/>
          <a:stretch>
            <a:fillRect/>
          </a:stretch>
        </p:blipFill>
        <p:spPr>
          <a:xfrm>
            <a:off x="11237895" y="3034411"/>
            <a:ext cx="128699" cy="187198"/>
          </a:xfrm>
          <a:prstGeom prst="rect">
            <a:avLst/>
          </a:prstGeom>
        </p:spPr>
      </p:pic>
      <p:sp>
        <p:nvSpPr>
          <p:cNvPr id="45" name="TextBox 44"/>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8058017" y="3202051"/>
            <a:ext cx="128699" cy="187198"/>
          </a:xfrm>
          <a:prstGeom prst="rect">
            <a:avLst/>
          </a:prstGeom>
        </p:spPr>
      </p:pic>
      <p:sp>
        <p:nvSpPr>
          <p:cNvPr id="47" name="TextBox 46"/>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86981" cy="186689"/>
          </a:xfrm>
          <a:prstGeom prst="rect">
            <a:avLst/>
          </a:prstGeom>
          <a:noFill/>
        </p:spPr>
        <p:txBody>
          <a:bodyPr wrap="none" lIns="0" rIns="0" tIns="0" bIns="0">
            <a:spAutoFit/>
          </a:bodyPr>
          <a:lstStyle/>
          <a:p>
            <a:r>
              <a:rPr sz="1100" b="0">
                <a:solidFill>
                  <a:srgbClr val="2E2E2E"/>
                </a:solidFill>
                <a:latin typeface="Calibri"/>
              </a:rPr>
              <a:t>of the North America organ transport devices market in 2026;</a:t>
            </a:r>
          </a:p>
        </p:txBody>
      </p:sp>
      <p:sp>
        <p:nvSpPr>
          <p:cNvPr id="53" name="TextBox 52"/>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4" name="Picture 53" descr="lock.png"/>
          <p:cNvPicPr>
            <a:picLocks noChangeAspect="1"/>
          </p:cNvPicPr>
          <p:nvPr/>
        </p:nvPicPr>
        <p:blipFill>
          <a:blip r:embed="rId8"/>
          <a:stretch>
            <a:fillRect/>
          </a:stretch>
        </p:blipFill>
        <p:spPr>
          <a:xfrm>
            <a:off x="1984566" y="6124320"/>
            <a:ext cx="128699" cy="187198"/>
          </a:xfrm>
          <a:prstGeom prst="rect">
            <a:avLst/>
          </a:prstGeom>
        </p:spPr>
      </p:pic>
      <p:sp>
        <p:nvSpPr>
          <p:cNvPr id="55" name="TextBox 54"/>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389956" y="6124320"/>
            <a:ext cx="128699" cy="187198"/>
          </a:xfrm>
          <a:prstGeom prst="rect">
            <a:avLst/>
          </a:prstGeom>
        </p:spPr>
      </p:pic>
      <p:sp>
        <p:nvSpPr>
          <p:cNvPr id="57" name="TextBox 56"/>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966460"/>
            <a:ext cx="1586979" cy="186689"/>
          </a:xfrm>
          <a:prstGeom prst="rect">
            <a:avLst/>
          </a:prstGeom>
          <a:noFill/>
        </p:spPr>
        <p:txBody>
          <a:bodyPr wrap="none" lIns="0" rIns="0" tIns="0" bIns="0">
            <a:spAutoFit/>
          </a:bodyPr>
          <a:lstStyle/>
          <a:p>
            <a:r>
              <a:rPr sz="1100" b="0">
                <a:solidFill>
                  <a:srgbClr val="2E2E2E"/>
                </a:solidFill>
                <a:latin typeface="Calibri"/>
              </a:rPr>
              <a:t>The forecast build-up adds</a:t>
            </a:r>
          </a:p>
        </p:txBody>
      </p:sp>
      <p:pic>
        <p:nvPicPr>
          <p:cNvPr id="59" name="Picture 58" descr="lock.png"/>
          <p:cNvPicPr>
            <a:picLocks noChangeAspect="1"/>
          </p:cNvPicPr>
          <p:nvPr/>
        </p:nvPicPr>
        <p:blipFill>
          <a:blip r:embed="rId8"/>
          <a:stretch>
            <a:fillRect/>
          </a:stretch>
        </p:blipFill>
        <p:spPr>
          <a:xfrm>
            <a:off x="7821530" y="5956680"/>
            <a:ext cx="128699" cy="187198"/>
          </a:xfrm>
          <a:prstGeom prst="rect">
            <a:avLst/>
          </a:prstGeom>
        </p:spPr>
      </p:pic>
      <p:sp>
        <p:nvSpPr>
          <p:cNvPr id="60" name="TextBox 59"/>
          <p:cNvSpPr txBox="1"/>
          <p:nvPr/>
        </p:nvSpPr>
        <p:spPr>
          <a:xfrm>
            <a:off x="7989026" y="5966460"/>
            <a:ext cx="3226271" cy="186689"/>
          </a:xfrm>
          <a:prstGeom prst="rect">
            <a:avLst/>
          </a:prstGeom>
          <a:noFill/>
        </p:spPr>
        <p:txBody>
          <a:bodyPr wrap="none" lIns="0" rIns="0" tIns="0" bIns="0">
            <a:spAutoFit/>
          </a:bodyPr>
          <a:lstStyle/>
          <a:p>
            <a:r>
              <a:rPr sz="1100" b="0">
                <a:solidFill>
                  <a:srgbClr val="2E2E2E"/>
                </a:solidFill>
                <a:latin typeface="Calibri"/>
              </a:rPr>
              <a:t>Units between 2026 and 2036 the U.S. market grows to</a:t>
            </a:r>
          </a:p>
        </p:txBody>
      </p:sp>
      <p:pic>
        <p:nvPicPr>
          <p:cNvPr id="61" name="Picture 60" descr="lock.png"/>
          <p:cNvPicPr>
            <a:picLocks noChangeAspect="1"/>
          </p:cNvPicPr>
          <p:nvPr/>
        </p:nvPicPr>
        <p:blipFill>
          <a:blip r:embed="rId8"/>
          <a:stretch>
            <a:fillRect/>
          </a:stretch>
        </p:blipFill>
        <p:spPr>
          <a:xfrm>
            <a:off x="11163349" y="5956680"/>
            <a:ext cx="128699" cy="187198"/>
          </a:xfrm>
          <a:prstGeom prst="rect">
            <a:avLst/>
          </a:prstGeom>
        </p:spPr>
      </p:pic>
      <p:sp>
        <p:nvSpPr>
          <p:cNvPr id="62" name="TextBox 61"/>
          <p:cNvSpPr txBox="1"/>
          <p:nvPr/>
        </p:nvSpPr>
        <p:spPr>
          <a:xfrm>
            <a:off x="11330845" y="5966460"/>
            <a:ext cx="311125" cy="186689"/>
          </a:xfrm>
          <a:prstGeom prst="rect">
            <a:avLst/>
          </a:prstGeom>
          <a:noFill/>
        </p:spPr>
        <p:txBody>
          <a:bodyPr wrap="none" lIns="0" rIns="0" tIns="0" bIns="0">
            <a:spAutoFit/>
          </a:bodyPr>
          <a:lstStyle/>
          <a:p>
            <a:r>
              <a:rPr sz="1100" b="0">
                <a:solidFill>
                  <a:srgbClr val="2E2E2E"/>
                </a:solidFill>
                <a:latin typeface="Calibri"/>
              </a:rPr>
              <a:t>× its</a:t>
            </a:r>
          </a:p>
        </p:txBody>
      </p:sp>
      <p:sp>
        <p:nvSpPr>
          <p:cNvPr id="63" name="TextBox 62"/>
          <p:cNvSpPr txBox="1"/>
          <p:nvPr/>
        </p:nvSpPr>
        <p:spPr>
          <a:xfrm>
            <a:off x="6286500" y="6134100"/>
            <a:ext cx="1590253" cy="186689"/>
          </a:xfrm>
          <a:prstGeom prst="rect">
            <a:avLst/>
          </a:prstGeom>
          <a:noFill/>
        </p:spPr>
        <p:txBody>
          <a:bodyPr wrap="none" lIns="0" rIns="0" tIns="0" bIns="0">
            <a:spAutoFit/>
          </a:bodyPr>
          <a:lstStyle/>
          <a:p>
            <a:r>
              <a:rPr sz="1100" b="0">
                <a:solidFill>
                  <a:srgbClr val="2E2E2E"/>
                </a:solidFill>
                <a:latin typeface="Calibri"/>
              </a:rPr>
              <a:t>2026 size over the decade.</a:t>
            </a:r>
          </a:p>
        </p:txBody>
      </p:sp>
      <p:sp>
        <p:nvSpPr>
          <p:cNvPr id="64"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Value Overview (US$ Mn)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the U.S. market in value: size, growth, YoY momentum and gap to the Global benchmark</a:t>
            </a:r>
          </a:p>
        </p:txBody>
      </p:sp>
      <p:sp>
        <p:nvSpPr>
          <p:cNvPr id="10" name="Rounded Rectangle 9"/>
          <p:cNvSpPr/>
          <p:nvPr/>
        </p:nvSpPr>
        <p:spPr>
          <a:xfrm>
            <a:off x="1428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2025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estimate year</a:t>
            </a:r>
          </a:p>
        </p:txBody>
      </p:sp>
      <p:sp>
        <p:nvSpPr>
          <p:cNvPr id="11" name="Rounded Rectangle 10"/>
          <p:cNvSpPr/>
          <p:nvPr/>
        </p:nvSpPr>
        <p:spPr>
          <a:xfrm>
            <a:off x="31527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2036 MARKET SIZE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forecast horizon</a:t>
            </a:r>
          </a:p>
        </p:txBody>
      </p:sp>
      <p:sp>
        <p:nvSpPr>
          <p:cNvPr id="12" name="Rounded Rectangle 11"/>
          <p:cNvSpPr/>
          <p:nvPr/>
        </p:nvSpPr>
        <p:spPr>
          <a:xfrm>
            <a:off x="61626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H-CAGR (2021–2025)</a:t>
            </a:r>
          </a:p>
          <a:p>
            <a:pPr algn="ctr">
              <a:lnSpc>
                <a:spcPct val="95000"/>
              </a:lnSpc>
            </a:pPr>
            <a:r>
              <a:rPr sz="1500" b="1">
                <a:solidFill>
                  <a:srgbClr val="0E72AE"/>
                </a:solidFill>
                <a:latin typeface="Calibri"/>
              </a:rPr>
              <a:t> </a:t>
            </a:r>
          </a:p>
        </p:txBody>
      </p:sp>
      <p:sp>
        <p:nvSpPr>
          <p:cNvPr id="13" name="Rounded Rectangle 12"/>
          <p:cNvSpPr/>
          <p:nvPr/>
        </p:nvSpPr>
        <p:spPr>
          <a:xfrm>
            <a:off x="9172575" y="981075"/>
            <a:ext cx="2857500" cy="704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F-CAGR (2026–2036)</a:t>
            </a:r>
          </a:p>
          <a:p>
            <a:pPr algn="ctr">
              <a:lnSpc>
                <a:spcPct val="95000"/>
              </a:lnSpc>
            </a:pPr>
            <a:r>
              <a:rPr sz="1500" b="1">
                <a:solidFill>
                  <a:srgbClr val="0E72AE"/>
                </a:solidFill>
                <a:latin typeface="Calibri"/>
              </a:rPr>
              <a:t> </a:t>
            </a:r>
          </a:p>
        </p:txBody>
      </p:sp>
      <p:sp>
        <p:nvSpPr>
          <p:cNvPr id="14" name="Rounded Rectangle 13"/>
          <p:cNvSpPr/>
          <p:nvPr/>
        </p:nvSpPr>
        <p:spPr>
          <a:xfrm>
            <a:off x="142875" y="1819275"/>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876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(US$ Mn), 2021–2036</a:t>
            </a:r>
          </a:p>
        </p:txBody>
      </p:sp>
      <p:graphicFrame>
        <p:nvGraphicFramePr>
          <p:cNvPr id="16" name="Chart 15"/>
          <p:cNvGraphicFramePr>
            <a:graphicFrameLocks noGrp="1"/>
          </p:cNvGraphicFramePr>
          <p:nvPr/>
        </p:nvGraphicFramePr>
        <p:xfrm>
          <a:off x="238125" y="2105025"/>
          <a:ext cx="4505325" cy="1438275"/>
        </p:xfrm>
        <a:graphic>
          <a:graphicData uri="http://schemas.openxmlformats.org/drawingml/2006/chart">
            <c:chart xmlns:c="http://schemas.openxmlformats.org/drawingml/2006/chart" r:id="rId3"/>
          </a:graphicData>
        </a:graphic>
      </p:graphicFrame>
      <p:sp>
        <p:nvSpPr>
          <p:cNvPr id="17" name="Rounded Rectangle 16"/>
          <p:cNvSpPr/>
          <p:nvPr/>
        </p:nvSpPr>
        <p:spPr>
          <a:xfrm>
            <a:off x="4991100" y="1819275"/>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86350" y="1876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 &amp; Growth Deviation from Regional Benchmark</a:t>
            </a:r>
          </a:p>
        </p:txBody>
      </p:sp>
      <p:graphicFrame>
        <p:nvGraphicFramePr>
          <p:cNvPr id="19" name="Chart 18"/>
          <p:cNvGraphicFramePr>
            <a:graphicFrameLocks noGrp="1"/>
          </p:cNvGraphicFramePr>
          <p:nvPr/>
        </p:nvGraphicFramePr>
        <p:xfrm>
          <a:off x="5086350" y="2105025"/>
          <a:ext cx="2880360" cy="1438275"/>
        </p:xfrm>
        <a:graphic>
          <a:graphicData uri="http://schemas.openxmlformats.org/drawingml/2006/chart">
            <c:chart xmlns:c="http://schemas.openxmlformats.org/drawingml/2006/chart" r:id="rId4"/>
          </a:graphicData>
        </a:graphic>
      </p:graphicFrame>
      <p:sp>
        <p:nvSpPr>
          <p:cNvPr id="20" name="TextBox 19"/>
          <p:cNvSpPr txBox="1"/>
          <p:nvPr/>
        </p:nvSpPr>
        <p:spPr>
          <a:xfrm>
            <a:off x="8042910" y="2124075"/>
            <a:ext cx="3901440" cy="704850"/>
          </a:xfrm>
          <a:prstGeom prst="rect">
            <a:avLst/>
          </a:prstGeom>
          <a:noFill/>
        </p:spPr>
        <p:txBody>
          <a:bodyPr wrap="square" lIns="28575" rIns="28575" tIns="9525" bIns="9525">
            <a:spAutoFit/>
          </a:bodyPr>
          <a:lstStyle/>
          <a:p>
            <a:pPr algn="ctr"/>
            <a:r>
              <a:rPr sz="2200" b="1">
                <a:solidFill>
                  <a:srgbClr val="E44D3A"/>
                </a:solidFill>
                <a:latin typeface="Calibri"/>
              </a:rPr>
              <a:t> </a:t>
            </a:r>
          </a:p>
          <a:p>
            <a:pPr algn="ctr"/>
            <a:r>
              <a:rPr sz="1100" b="0">
                <a:solidFill>
                  <a:srgbClr val="6C7A89"/>
                </a:solidFill>
                <a:latin typeface="Calibri"/>
              </a:rPr>
              <a:t>vs North America benchmark</a:t>
            </a:r>
          </a:p>
          <a:p>
            <a:pPr algn="ctr"/>
            <a:r>
              <a:rPr sz="1100" b="1">
                <a:solidFill>
                  <a:srgbClr val="E44D3A"/>
                </a:solidFill>
                <a:latin typeface="Calibri"/>
              </a:rPr>
              <a:t>▼ below benchmark</a:t>
            </a:r>
          </a:p>
        </p:txBody>
      </p:sp>
      <p:sp>
        <p:nvSpPr>
          <p:cNvPr id="21" name="TextBox 20"/>
          <p:cNvSpPr txBox="1"/>
          <p:nvPr/>
        </p:nvSpPr>
        <p:spPr>
          <a:xfrm>
            <a:off x="8042910" y="2867025"/>
            <a:ext cx="3901440" cy="638175"/>
          </a:xfrm>
          <a:prstGeom prst="rect">
            <a:avLst/>
          </a:prstGeom>
          <a:noFill/>
        </p:spPr>
        <p:txBody>
          <a:bodyPr wrap="square" lIns="28575" rIns="28575" tIns="9525" bIns="9525" anchor="t">
            <a:spAutoFit/>
          </a:bodyPr>
          <a:lstStyle/>
          <a:p>
            <a:pPr algn="l"/>
            <a:r>
              <a:rPr sz="1100" b="0">
                <a:solidFill>
                  <a:srgbClr val="2E2E2E"/>
                </a:solidFill>
                <a:latin typeface="Calibri"/>
              </a:rPr>
              <a:t/>
            </a:r>
          </a:p>
        </p:txBody>
      </p:sp>
      <p:sp>
        <p:nvSpPr>
          <p:cNvPr id="22" name="Rounded Rectangle 21"/>
          <p:cNvSpPr/>
          <p:nvPr/>
        </p:nvSpPr>
        <p:spPr>
          <a:xfrm>
            <a:off x="142875" y="3733800"/>
            <a:ext cx="4695825"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379095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4" name="Chart 23"/>
          <p:cNvGraphicFramePr>
            <a:graphicFrameLocks noGrp="1"/>
          </p:cNvGraphicFramePr>
          <p:nvPr/>
        </p:nvGraphicFramePr>
        <p:xfrm>
          <a:off x="238125" y="4019550"/>
          <a:ext cx="4505325" cy="1438275"/>
        </p:xfrm>
        <a:graphic>
          <a:graphicData uri="http://schemas.openxmlformats.org/drawingml/2006/chart">
            <c:chart xmlns:c="http://schemas.openxmlformats.org/drawingml/2006/chart" r:id="rId5"/>
          </a:graphicData>
        </a:graphic>
      </p:graphicFrame>
      <p:sp>
        <p:nvSpPr>
          <p:cNvPr id="25" name="Rounded Rectangle 24"/>
          <p:cNvSpPr/>
          <p:nvPr/>
        </p:nvSpPr>
        <p:spPr>
          <a:xfrm>
            <a:off x="4991100" y="3733800"/>
            <a:ext cx="7048500" cy="1781175"/>
          </a:xfrm>
          <a:prstGeom prst="roundRect">
            <a:avLst>
              <a:gd name="adj" fmla="val 42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86350" y="379095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Share, 2026</a:t>
            </a:r>
          </a:p>
        </p:txBody>
      </p:sp>
      <p:graphicFrame>
        <p:nvGraphicFramePr>
          <p:cNvPr id="27" name="Chart 26"/>
          <p:cNvGraphicFramePr>
            <a:graphicFrameLocks noGrp="1"/>
          </p:cNvGraphicFramePr>
          <p:nvPr/>
        </p:nvGraphicFramePr>
        <p:xfrm>
          <a:off x="5086350" y="4019550"/>
          <a:ext cx="6858000" cy="1438275"/>
        </p:xfrm>
        <a:graphic>
          <a:graphicData uri="http://schemas.openxmlformats.org/drawingml/2006/chart">
            <c:chart xmlns:c="http://schemas.openxmlformats.org/drawingml/2006/chart" r:id="rId6"/>
          </a:graphicData>
        </a:graphic>
      </p:graphicFrame>
      <p:sp>
        <p:nvSpPr>
          <p:cNvPr id="28" name="Rounded Rectangle 27"/>
          <p:cNvSpPr/>
          <p:nvPr/>
        </p:nvSpPr>
        <p:spPr>
          <a:xfrm>
            <a:off x="142875"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29" name="Rounded Rectangle 28"/>
          <p:cNvSpPr/>
          <p:nvPr/>
        </p:nvSpPr>
        <p:spPr>
          <a:xfrm>
            <a:off x="6172200" y="5648325"/>
            <a:ext cx="5876925" cy="971550"/>
          </a:xfrm>
          <a:prstGeom prst="roundRect">
            <a:avLst>
              <a:gd name="adj" fmla="val 7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8"/>
          <a:stretch>
            <a:fillRect/>
          </a:stretch>
        </p:blipFill>
        <p:spPr>
          <a:xfrm>
            <a:off x="1493044" y="1219200"/>
            <a:ext cx="157162" cy="228600"/>
          </a:xfrm>
          <a:prstGeom prst="rect">
            <a:avLst/>
          </a:prstGeom>
        </p:spPr>
      </p:pic>
      <p:pic>
        <p:nvPicPr>
          <p:cNvPr id="32" name="Picture 31" descr="lock.png"/>
          <p:cNvPicPr>
            <a:picLocks noChangeAspect="1"/>
          </p:cNvPicPr>
          <p:nvPr/>
        </p:nvPicPr>
        <p:blipFill>
          <a:blip r:embed="rId8"/>
          <a:stretch>
            <a:fillRect/>
          </a:stretch>
        </p:blipFill>
        <p:spPr>
          <a:xfrm>
            <a:off x="4502944" y="1219200"/>
            <a:ext cx="157162" cy="228600"/>
          </a:xfrm>
          <a:prstGeom prst="rect">
            <a:avLst/>
          </a:prstGeom>
        </p:spPr>
      </p:pic>
      <p:pic>
        <p:nvPicPr>
          <p:cNvPr id="33" name="Picture 32" descr="lock.png"/>
          <p:cNvPicPr>
            <a:picLocks noChangeAspect="1"/>
          </p:cNvPicPr>
          <p:nvPr/>
        </p:nvPicPr>
        <p:blipFill>
          <a:blip r:embed="rId8"/>
          <a:stretch>
            <a:fillRect/>
          </a:stretch>
        </p:blipFill>
        <p:spPr>
          <a:xfrm>
            <a:off x="7512844" y="1303020"/>
            <a:ext cx="157162" cy="228600"/>
          </a:xfrm>
          <a:prstGeom prst="rect">
            <a:avLst/>
          </a:prstGeom>
        </p:spPr>
      </p:pic>
      <p:pic>
        <p:nvPicPr>
          <p:cNvPr id="34" name="Picture 33" descr="lock.png"/>
          <p:cNvPicPr>
            <a:picLocks noChangeAspect="1"/>
          </p:cNvPicPr>
          <p:nvPr/>
        </p:nvPicPr>
        <p:blipFill>
          <a:blip r:embed="rId8"/>
          <a:stretch>
            <a:fillRect/>
          </a:stretch>
        </p:blipFill>
        <p:spPr>
          <a:xfrm>
            <a:off x="10522744" y="1303020"/>
            <a:ext cx="157162" cy="228600"/>
          </a:xfrm>
          <a:prstGeom prst="rect">
            <a:avLst/>
          </a:prstGeom>
        </p:spPr>
      </p:pic>
      <p:pic>
        <p:nvPicPr>
          <p:cNvPr id="35" name="Picture 34" descr="lock.png"/>
          <p:cNvPicPr>
            <a:picLocks noChangeAspect="1"/>
          </p:cNvPicPr>
          <p:nvPr/>
        </p:nvPicPr>
        <p:blipFill>
          <a:blip r:embed="rId8"/>
          <a:stretch>
            <a:fillRect/>
          </a:stretch>
        </p:blipFill>
        <p:spPr>
          <a:xfrm>
            <a:off x="2554414" y="2661285"/>
            <a:ext cx="165021" cy="240030"/>
          </a:xfrm>
          <a:prstGeom prst="rect">
            <a:avLst/>
          </a:prstGeom>
        </p:spPr>
      </p:pic>
      <p:pic>
        <p:nvPicPr>
          <p:cNvPr id="36" name="Picture 35" descr="lock.png"/>
          <p:cNvPicPr>
            <a:picLocks noChangeAspect="1"/>
          </p:cNvPicPr>
          <p:nvPr/>
        </p:nvPicPr>
        <p:blipFill>
          <a:blip r:embed="rId8"/>
          <a:stretch>
            <a:fillRect/>
          </a:stretch>
        </p:blipFill>
        <p:spPr>
          <a:xfrm>
            <a:off x="6762365" y="2599095"/>
            <a:ext cx="191595" cy="278683"/>
          </a:xfrm>
          <a:prstGeom prst="rect">
            <a:avLst/>
          </a:prstGeom>
        </p:spPr>
      </p:pic>
      <p:pic>
        <p:nvPicPr>
          <p:cNvPr id="37" name="Picture 36" descr="lock.png"/>
          <p:cNvPicPr>
            <a:picLocks noChangeAspect="1"/>
          </p:cNvPicPr>
          <p:nvPr/>
        </p:nvPicPr>
        <p:blipFill>
          <a:blip r:embed="rId8"/>
          <a:stretch>
            <a:fillRect/>
          </a:stretch>
        </p:blipFill>
        <p:spPr>
          <a:xfrm>
            <a:off x="9878378" y="2141220"/>
            <a:ext cx="230504" cy="335279"/>
          </a:xfrm>
          <a:prstGeom prst="rect">
            <a:avLst/>
          </a:prstGeom>
        </p:spPr>
      </p:pic>
      <p:pic>
        <p:nvPicPr>
          <p:cNvPr id="38" name="Picture 37" descr="lock.png"/>
          <p:cNvPicPr>
            <a:picLocks noChangeAspect="1"/>
          </p:cNvPicPr>
          <p:nvPr/>
        </p:nvPicPr>
        <p:blipFill>
          <a:blip r:embed="rId8"/>
          <a:stretch>
            <a:fillRect/>
          </a:stretch>
        </p:blipFill>
        <p:spPr>
          <a:xfrm>
            <a:off x="2554414" y="4575810"/>
            <a:ext cx="165021" cy="240030"/>
          </a:xfrm>
          <a:prstGeom prst="rect">
            <a:avLst/>
          </a:prstGeom>
        </p:spPr>
      </p:pic>
      <p:pic>
        <p:nvPicPr>
          <p:cNvPr id="39" name="Picture 38" descr="lock.png"/>
          <p:cNvPicPr>
            <a:picLocks noChangeAspect="1"/>
          </p:cNvPicPr>
          <p:nvPr/>
        </p:nvPicPr>
        <p:blipFill>
          <a:blip r:embed="rId8"/>
          <a:stretch>
            <a:fillRect/>
          </a:stretch>
        </p:blipFill>
        <p:spPr>
          <a:xfrm>
            <a:off x="8715708" y="4462938"/>
            <a:ext cx="261282" cy="380047"/>
          </a:xfrm>
          <a:prstGeom prst="rect">
            <a:avLst/>
          </a:prstGeom>
        </p:spPr>
      </p:pic>
      <p:sp>
        <p:nvSpPr>
          <p:cNvPr id="40" name="TextBox 39"/>
          <p:cNvSpPr txBox="1"/>
          <p:nvPr/>
        </p:nvSpPr>
        <p:spPr>
          <a:xfrm>
            <a:off x="8071485" y="2876550"/>
            <a:ext cx="2852191" cy="186689"/>
          </a:xfrm>
          <a:prstGeom prst="rect">
            <a:avLst/>
          </a:prstGeom>
          <a:noFill/>
        </p:spPr>
        <p:txBody>
          <a:bodyPr wrap="none" lIns="0" rIns="0" tIns="0" bIns="0">
            <a:spAutoFit/>
          </a:bodyPr>
          <a:lstStyle/>
          <a:p>
            <a:r>
              <a:rPr sz="1100" b="0">
                <a:solidFill>
                  <a:srgbClr val="2E2E2E"/>
                </a:solidFill>
                <a:latin typeface="Calibri"/>
              </a:rPr>
              <a:t>U.S.'s organ transport devices market expands at</a:t>
            </a:r>
          </a:p>
        </p:txBody>
      </p:sp>
      <p:pic>
        <p:nvPicPr>
          <p:cNvPr id="41" name="Picture 40" descr="lock.png"/>
          <p:cNvPicPr>
            <a:picLocks noChangeAspect="1"/>
          </p:cNvPicPr>
          <p:nvPr/>
        </p:nvPicPr>
        <p:blipFill>
          <a:blip r:embed="rId8"/>
          <a:stretch>
            <a:fillRect/>
          </a:stretch>
        </p:blipFill>
        <p:spPr>
          <a:xfrm>
            <a:off x="10871728" y="2866771"/>
            <a:ext cx="128699" cy="187198"/>
          </a:xfrm>
          <a:prstGeom prst="rect">
            <a:avLst/>
          </a:prstGeom>
        </p:spPr>
      </p:pic>
      <p:sp>
        <p:nvSpPr>
          <p:cNvPr id="42" name="TextBox 41"/>
          <p:cNvSpPr txBox="1"/>
          <p:nvPr/>
        </p:nvSpPr>
        <p:spPr>
          <a:xfrm>
            <a:off x="11039224" y="2876550"/>
            <a:ext cx="395419" cy="186689"/>
          </a:xfrm>
          <a:prstGeom prst="rect">
            <a:avLst/>
          </a:prstGeom>
          <a:noFill/>
        </p:spPr>
        <p:txBody>
          <a:bodyPr wrap="none" lIns="0" rIns="0" tIns="0" bIns="0">
            <a:spAutoFit/>
          </a:bodyPr>
          <a:lstStyle/>
          <a:p>
            <a:r>
              <a:rPr sz="1100" b="0">
                <a:solidFill>
                  <a:srgbClr val="2E2E2E"/>
                </a:solidFill>
                <a:latin typeface="Calibri"/>
              </a:rPr>
              <a:t>CAGR</a:t>
            </a:r>
          </a:p>
        </p:txBody>
      </p:sp>
      <p:sp>
        <p:nvSpPr>
          <p:cNvPr id="43" name="TextBox 42"/>
          <p:cNvSpPr txBox="1"/>
          <p:nvPr/>
        </p:nvSpPr>
        <p:spPr>
          <a:xfrm>
            <a:off x="8071485" y="3044190"/>
            <a:ext cx="3218358" cy="186689"/>
          </a:xfrm>
          <a:prstGeom prst="rect">
            <a:avLst/>
          </a:prstGeom>
          <a:noFill/>
        </p:spPr>
        <p:txBody>
          <a:bodyPr wrap="none" lIns="0" rIns="0" tIns="0" bIns="0">
            <a:spAutoFit/>
          </a:bodyPr>
          <a:lstStyle/>
          <a:p>
            <a:r>
              <a:rPr sz="1100" b="0">
                <a:solidFill>
                  <a:srgbClr val="2E2E2E"/>
                </a:solidFill>
                <a:latin typeface="Calibri"/>
              </a:rPr>
              <a:t>through 2036, trailing the North America benchmark of</a:t>
            </a:r>
          </a:p>
        </p:txBody>
      </p:sp>
      <p:pic>
        <p:nvPicPr>
          <p:cNvPr id="44" name="Picture 43" descr="lock.png"/>
          <p:cNvPicPr>
            <a:picLocks noChangeAspect="1"/>
          </p:cNvPicPr>
          <p:nvPr/>
        </p:nvPicPr>
        <p:blipFill>
          <a:blip r:embed="rId8"/>
          <a:stretch>
            <a:fillRect/>
          </a:stretch>
        </p:blipFill>
        <p:spPr>
          <a:xfrm>
            <a:off x="11237895" y="3034411"/>
            <a:ext cx="128699" cy="187198"/>
          </a:xfrm>
          <a:prstGeom prst="rect">
            <a:avLst/>
          </a:prstGeom>
        </p:spPr>
      </p:pic>
      <p:sp>
        <p:nvSpPr>
          <p:cNvPr id="45" name="TextBox 44"/>
          <p:cNvSpPr txBox="1"/>
          <p:nvPr/>
        </p:nvSpPr>
        <p:spPr>
          <a:xfrm>
            <a:off x="11405391" y="3044190"/>
            <a:ext cx="212898" cy="186689"/>
          </a:xfrm>
          <a:prstGeom prst="rect">
            <a:avLst/>
          </a:prstGeom>
          <a:noFill/>
        </p:spPr>
        <p:txBody>
          <a:bodyPr wrap="none" lIns="0" rIns="0" tIns="0" bIns="0">
            <a:spAutoFit/>
          </a:bodyPr>
          <a:lstStyle/>
          <a:p>
            <a:r>
              <a:rPr sz="1100" b="0">
                <a:solidFill>
                  <a:srgbClr val="2E2E2E"/>
                </a:solidFill>
                <a:latin typeface="Calibri"/>
              </a:rPr>
              <a:t>by</a:t>
            </a:r>
          </a:p>
        </p:txBody>
      </p:sp>
      <p:pic>
        <p:nvPicPr>
          <p:cNvPr id="46" name="Picture 45" descr="lock.png"/>
          <p:cNvPicPr>
            <a:picLocks noChangeAspect="1"/>
          </p:cNvPicPr>
          <p:nvPr/>
        </p:nvPicPr>
        <p:blipFill>
          <a:blip r:embed="rId8"/>
          <a:stretch>
            <a:fillRect/>
          </a:stretch>
        </p:blipFill>
        <p:spPr>
          <a:xfrm>
            <a:off x="8058017" y="3202051"/>
            <a:ext cx="128699" cy="187198"/>
          </a:xfrm>
          <a:prstGeom prst="rect">
            <a:avLst/>
          </a:prstGeom>
        </p:spPr>
      </p:pic>
      <p:sp>
        <p:nvSpPr>
          <p:cNvPr id="47" name="TextBox 46"/>
          <p:cNvSpPr txBox="1"/>
          <p:nvPr/>
        </p:nvSpPr>
        <p:spPr>
          <a:xfrm>
            <a:off x="8225513" y="3211830"/>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48" name="TextBox 47"/>
          <p:cNvSpPr txBox="1"/>
          <p:nvPr/>
        </p:nvSpPr>
        <p:spPr>
          <a:xfrm>
            <a:off x="257175" y="5966460"/>
            <a:ext cx="639365" cy="186689"/>
          </a:xfrm>
          <a:prstGeom prst="rect">
            <a:avLst/>
          </a:prstGeom>
          <a:noFill/>
        </p:spPr>
        <p:txBody>
          <a:bodyPr wrap="none" lIns="0" rIns="0" tIns="0" bIns="0">
            <a:spAutoFit/>
          </a:bodyPr>
          <a:lstStyle/>
          <a:p>
            <a:r>
              <a:rPr sz="1100" b="0">
                <a:solidFill>
                  <a:srgbClr val="2E2E2E"/>
                </a:solidFill>
                <a:latin typeface="Calibri"/>
              </a:rPr>
              <a:t>U.S. holds</a:t>
            </a:r>
          </a:p>
        </p:txBody>
      </p:sp>
      <p:pic>
        <p:nvPicPr>
          <p:cNvPr id="49" name="Picture 48" descr="lock.png"/>
          <p:cNvPicPr>
            <a:picLocks noChangeAspect="1"/>
          </p:cNvPicPr>
          <p:nvPr/>
        </p:nvPicPr>
        <p:blipFill>
          <a:blip r:embed="rId8"/>
          <a:stretch>
            <a:fillRect/>
          </a:stretch>
        </p:blipFill>
        <p:spPr>
          <a:xfrm>
            <a:off x="844592" y="5956680"/>
            <a:ext cx="128699" cy="187198"/>
          </a:xfrm>
          <a:prstGeom prst="rect">
            <a:avLst/>
          </a:prstGeom>
        </p:spPr>
      </p:pic>
      <p:sp>
        <p:nvSpPr>
          <p:cNvPr id="50" name="TextBox 49"/>
          <p:cNvSpPr txBox="1"/>
          <p:nvPr/>
        </p:nvSpPr>
        <p:spPr>
          <a:xfrm>
            <a:off x="1012088" y="5966460"/>
            <a:ext cx="1035000" cy="186689"/>
          </a:xfrm>
          <a:prstGeom prst="rect">
            <a:avLst/>
          </a:prstGeom>
          <a:noFill/>
        </p:spPr>
        <p:txBody>
          <a:bodyPr wrap="none" lIns="0" rIns="0" tIns="0" bIns="0">
            <a:spAutoFit/>
          </a:bodyPr>
          <a:lstStyle/>
          <a:p>
            <a:r>
              <a:rPr sz="1100" b="0">
                <a:solidFill>
                  <a:srgbClr val="2E2E2E"/>
                </a:solidFill>
                <a:latin typeface="Calibri"/>
              </a:rPr>
              <a:t>of the global and</a:t>
            </a:r>
          </a:p>
        </p:txBody>
      </p:sp>
      <p:pic>
        <p:nvPicPr>
          <p:cNvPr id="51" name="Picture 50" descr="lock.png"/>
          <p:cNvPicPr>
            <a:picLocks noChangeAspect="1"/>
          </p:cNvPicPr>
          <p:nvPr/>
        </p:nvPicPr>
        <p:blipFill>
          <a:blip r:embed="rId8"/>
          <a:stretch>
            <a:fillRect/>
          </a:stretch>
        </p:blipFill>
        <p:spPr>
          <a:xfrm>
            <a:off x="1995140" y="5956680"/>
            <a:ext cx="128699" cy="187198"/>
          </a:xfrm>
          <a:prstGeom prst="rect">
            <a:avLst/>
          </a:prstGeom>
        </p:spPr>
      </p:pic>
      <p:sp>
        <p:nvSpPr>
          <p:cNvPr id="52" name="TextBox 51"/>
          <p:cNvSpPr txBox="1"/>
          <p:nvPr/>
        </p:nvSpPr>
        <p:spPr>
          <a:xfrm>
            <a:off x="2162635" y="5966460"/>
            <a:ext cx="3586981" cy="186689"/>
          </a:xfrm>
          <a:prstGeom prst="rect">
            <a:avLst/>
          </a:prstGeom>
          <a:noFill/>
        </p:spPr>
        <p:txBody>
          <a:bodyPr wrap="none" lIns="0" rIns="0" tIns="0" bIns="0">
            <a:spAutoFit/>
          </a:bodyPr>
          <a:lstStyle/>
          <a:p>
            <a:r>
              <a:rPr sz="1100" b="0">
                <a:solidFill>
                  <a:srgbClr val="2E2E2E"/>
                </a:solidFill>
                <a:latin typeface="Calibri"/>
              </a:rPr>
              <a:t>of the North America organ transport devices market in 2026;</a:t>
            </a:r>
          </a:p>
        </p:txBody>
      </p:sp>
      <p:sp>
        <p:nvSpPr>
          <p:cNvPr id="53" name="TextBox 52"/>
          <p:cNvSpPr txBox="1"/>
          <p:nvPr/>
        </p:nvSpPr>
        <p:spPr>
          <a:xfrm>
            <a:off x="257175" y="6134100"/>
            <a:ext cx="1779339" cy="186689"/>
          </a:xfrm>
          <a:prstGeom prst="rect">
            <a:avLst/>
          </a:prstGeom>
          <a:noFill/>
        </p:spPr>
        <p:txBody>
          <a:bodyPr wrap="none" lIns="0" rIns="0" tIns="0" bIns="0">
            <a:spAutoFit/>
          </a:bodyPr>
          <a:lstStyle/>
          <a:p>
            <a:r>
              <a:rPr sz="1100" b="0">
                <a:solidFill>
                  <a:srgbClr val="2E2E2E"/>
                </a:solidFill>
                <a:latin typeface="Calibri"/>
              </a:rPr>
              <a:t>by 2036 those shares move to</a:t>
            </a:r>
          </a:p>
        </p:txBody>
      </p:sp>
      <p:pic>
        <p:nvPicPr>
          <p:cNvPr id="54" name="Picture 53" descr="lock.png"/>
          <p:cNvPicPr>
            <a:picLocks noChangeAspect="1"/>
          </p:cNvPicPr>
          <p:nvPr/>
        </p:nvPicPr>
        <p:blipFill>
          <a:blip r:embed="rId8"/>
          <a:stretch>
            <a:fillRect/>
          </a:stretch>
        </p:blipFill>
        <p:spPr>
          <a:xfrm>
            <a:off x="1984566" y="6124320"/>
            <a:ext cx="128699" cy="187198"/>
          </a:xfrm>
          <a:prstGeom prst="rect">
            <a:avLst/>
          </a:prstGeom>
        </p:spPr>
      </p:pic>
      <p:sp>
        <p:nvSpPr>
          <p:cNvPr id="55" name="TextBox 54"/>
          <p:cNvSpPr txBox="1"/>
          <p:nvPr/>
        </p:nvSpPr>
        <p:spPr>
          <a:xfrm>
            <a:off x="2152061" y="6134100"/>
            <a:ext cx="289842" cy="186689"/>
          </a:xfrm>
          <a:prstGeom prst="rect">
            <a:avLst/>
          </a:prstGeom>
          <a:noFill/>
        </p:spPr>
        <p:txBody>
          <a:bodyPr wrap="none" lIns="0" rIns="0" tIns="0" bIns="0">
            <a:spAutoFit/>
          </a:bodyPr>
          <a:lstStyle/>
          <a:p>
            <a:r>
              <a:rPr sz="1100" b="0">
                <a:solidFill>
                  <a:srgbClr val="2E2E2E"/>
                </a:solidFill>
                <a:latin typeface="Calibri"/>
              </a:rPr>
              <a:t>and</a:t>
            </a:r>
          </a:p>
        </p:txBody>
      </p:sp>
      <p:pic>
        <p:nvPicPr>
          <p:cNvPr id="56" name="Picture 55" descr="lock.png"/>
          <p:cNvPicPr>
            <a:picLocks noChangeAspect="1"/>
          </p:cNvPicPr>
          <p:nvPr/>
        </p:nvPicPr>
        <p:blipFill>
          <a:blip r:embed="rId8"/>
          <a:stretch>
            <a:fillRect/>
          </a:stretch>
        </p:blipFill>
        <p:spPr>
          <a:xfrm>
            <a:off x="2389956" y="6124320"/>
            <a:ext cx="128699" cy="187198"/>
          </a:xfrm>
          <a:prstGeom prst="rect">
            <a:avLst/>
          </a:prstGeom>
        </p:spPr>
      </p:pic>
      <p:sp>
        <p:nvSpPr>
          <p:cNvPr id="57" name="TextBox 56"/>
          <p:cNvSpPr txBox="1"/>
          <p:nvPr/>
        </p:nvSpPr>
        <p:spPr>
          <a:xfrm>
            <a:off x="2557452" y="6134100"/>
            <a:ext cx="793799" cy="186689"/>
          </a:xfrm>
          <a:prstGeom prst="rect">
            <a:avLst/>
          </a:prstGeom>
          <a:noFill/>
        </p:spPr>
        <p:txBody>
          <a:bodyPr wrap="none" lIns="0" rIns="0" tIns="0" bIns="0">
            <a:spAutoFit/>
          </a:bodyPr>
          <a:lstStyle/>
          <a:p>
            <a:r>
              <a:rPr sz="1100" b="0">
                <a:solidFill>
                  <a:srgbClr val="2E2E2E"/>
                </a:solidFill>
                <a:latin typeface="Calibri"/>
              </a:rPr>
              <a:t>respectively.</a:t>
            </a:r>
          </a:p>
        </p:txBody>
      </p:sp>
      <p:sp>
        <p:nvSpPr>
          <p:cNvPr id="58" name="TextBox 57"/>
          <p:cNvSpPr txBox="1"/>
          <p:nvPr/>
        </p:nvSpPr>
        <p:spPr>
          <a:xfrm>
            <a:off x="6286500" y="5882640"/>
            <a:ext cx="3103215" cy="186689"/>
          </a:xfrm>
          <a:prstGeom prst="rect">
            <a:avLst/>
          </a:prstGeom>
          <a:noFill/>
        </p:spPr>
        <p:txBody>
          <a:bodyPr wrap="none" lIns="0" rIns="0" tIns="0" bIns="0">
            <a:spAutoFit/>
          </a:bodyPr>
          <a:lstStyle/>
          <a:p>
            <a:r>
              <a:rPr sz="1100" b="0">
                <a:solidFill>
                  <a:srgbClr val="2E2E2E"/>
                </a:solidFill>
                <a:latin typeface="Calibri"/>
              </a:rPr>
              <a:t>The market in the U.S. is expected to account for US$</a:t>
            </a:r>
          </a:p>
        </p:txBody>
      </p:sp>
      <p:pic>
        <p:nvPicPr>
          <p:cNvPr id="59" name="Picture 58" descr="lock.png"/>
          <p:cNvPicPr>
            <a:picLocks noChangeAspect="1"/>
          </p:cNvPicPr>
          <p:nvPr/>
        </p:nvPicPr>
        <p:blipFill>
          <a:blip r:embed="rId8"/>
          <a:stretch>
            <a:fillRect/>
          </a:stretch>
        </p:blipFill>
        <p:spPr>
          <a:xfrm>
            <a:off x="9337766" y="5872860"/>
            <a:ext cx="128699" cy="187198"/>
          </a:xfrm>
          <a:prstGeom prst="rect">
            <a:avLst/>
          </a:prstGeom>
        </p:spPr>
      </p:pic>
      <p:sp>
        <p:nvSpPr>
          <p:cNvPr id="60" name="TextBox 59"/>
          <p:cNvSpPr txBox="1"/>
          <p:nvPr/>
        </p:nvSpPr>
        <p:spPr>
          <a:xfrm>
            <a:off x="9505262" y="5882640"/>
            <a:ext cx="1495556" cy="186689"/>
          </a:xfrm>
          <a:prstGeom prst="rect">
            <a:avLst/>
          </a:prstGeom>
          <a:noFill/>
        </p:spPr>
        <p:txBody>
          <a:bodyPr wrap="none" lIns="0" rIns="0" tIns="0" bIns="0">
            <a:spAutoFit/>
          </a:bodyPr>
          <a:lstStyle/>
          <a:p>
            <a:r>
              <a:rPr sz="1100" b="0">
                <a:solidFill>
                  <a:srgbClr val="2E2E2E"/>
                </a:solidFill>
                <a:latin typeface="Calibri"/>
              </a:rPr>
              <a:t>Mn by 2036 at a CAGR of</a:t>
            </a:r>
          </a:p>
        </p:txBody>
      </p:sp>
      <p:pic>
        <p:nvPicPr>
          <p:cNvPr id="61" name="Picture 60" descr="lock.png"/>
          <p:cNvPicPr>
            <a:picLocks noChangeAspect="1"/>
          </p:cNvPicPr>
          <p:nvPr/>
        </p:nvPicPr>
        <p:blipFill>
          <a:blip r:embed="rId8"/>
          <a:stretch>
            <a:fillRect/>
          </a:stretch>
        </p:blipFill>
        <p:spPr>
          <a:xfrm>
            <a:off x="10948871" y="5872860"/>
            <a:ext cx="128699" cy="187198"/>
          </a:xfrm>
          <a:prstGeom prst="rect">
            <a:avLst/>
          </a:prstGeom>
        </p:spPr>
      </p:pic>
      <p:sp>
        <p:nvSpPr>
          <p:cNvPr id="62" name="TextBox 61"/>
          <p:cNvSpPr txBox="1"/>
          <p:nvPr/>
        </p:nvSpPr>
        <p:spPr>
          <a:xfrm>
            <a:off x="11116366" y="5882640"/>
            <a:ext cx="552871" cy="186689"/>
          </a:xfrm>
          <a:prstGeom prst="rect">
            <a:avLst/>
          </a:prstGeom>
          <a:noFill/>
        </p:spPr>
        <p:txBody>
          <a:bodyPr wrap="none" lIns="0" rIns="0" tIns="0" bIns="0">
            <a:spAutoFit/>
          </a:bodyPr>
          <a:lstStyle/>
          <a:p>
            <a:r>
              <a:rPr sz="1100" b="0">
                <a:solidFill>
                  <a:srgbClr val="2E2E2E"/>
                </a:solidFill>
                <a:latin typeface="Calibri"/>
              </a:rPr>
              <a:t>over the</a:t>
            </a:r>
          </a:p>
        </p:txBody>
      </p:sp>
      <p:sp>
        <p:nvSpPr>
          <p:cNvPr id="63" name="TextBox 62"/>
          <p:cNvSpPr txBox="1"/>
          <p:nvPr/>
        </p:nvSpPr>
        <p:spPr>
          <a:xfrm>
            <a:off x="6286500" y="6050280"/>
            <a:ext cx="4694758" cy="186689"/>
          </a:xfrm>
          <a:prstGeom prst="rect">
            <a:avLst/>
          </a:prstGeom>
          <a:noFill/>
        </p:spPr>
        <p:txBody>
          <a:bodyPr wrap="none" lIns="0" rIns="0" tIns="0" bIns="0">
            <a:spAutoFit/>
          </a:bodyPr>
          <a:lstStyle/>
          <a:p>
            <a:r>
              <a:rPr sz="1100" b="0">
                <a:solidFill>
                  <a:srgbClr val="2E2E2E"/>
                </a:solidFill>
                <a:latin typeface="Calibri"/>
              </a:rPr>
              <a:t>forecast period. The U.S. is expected to create an incremental opportunity of US$</a:t>
            </a:r>
          </a:p>
        </p:txBody>
      </p:sp>
      <p:pic>
        <p:nvPicPr>
          <p:cNvPr id="64" name="Picture 63" descr="lock.png"/>
          <p:cNvPicPr>
            <a:picLocks noChangeAspect="1"/>
          </p:cNvPicPr>
          <p:nvPr/>
        </p:nvPicPr>
        <p:blipFill>
          <a:blip r:embed="rId8"/>
          <a:stretch>
            <a:fillRect/>
          </a:stretch>
        </p:blipFill>
        <p:spPr>
          <a:xfrm>
            <a:off x="10929309" y="6040501"/>
            <a:ext cx="128699" cy="187198"/>
          </a:xfrm>
          <a:prstGeom prst="rect">
            <a:avLst/>
          </a:prstGeom>
        </p:spPr>
      </p:pic>
      <p:sp>
        <p:nvSpPr>
          <p:cNvPr id="65" name="TextBox 64"/>
          <p:cNvSpPr txBox="1"/>
          <p:nvPr/>
        </p:nvSpPr>
        <p:spPr>
          <a:xfrm>
            <a:off x="11096805" y="6050280"/>
            <a:ext cx="687387" cy="186689"/>
          </a:xfrm>
          <a:prstGeom prst="rect">
            <a:avLst/>
          </a:prstGeom>
          <a:noFill/>
        </p:spPr>
        <p:txBody>
          <a:bodyPr wrap="none" lIns="0" rIns="0" tIns="0" bIns="0">
            <a:spAutoFit/>
          </a:bodyPr>
          <a:lstStyle/>
          <a:p>
            <a:r>
              <a:rPr sz="1100" b="0">
                <a:solidFill>
                  <a:srgbClr val="2E2E2E"/>
                </a:solidFill>
                <a:latin typeface="Calibri"/>
              </a:rPr>
              <a:t>Mn for the</a:t>
            </a:r>
          </a:p>
        </p:txBody>
      </p:sp>
      <p:sp>
        <p:nvSpPr>
          <p:cNvPr id="66" name="TextBox 65"/>
          <p:cNvSpPr txBox="1"/>
          <p:nvPr/>
        </p:nvSpPr>
        <p:spPr>
          <a:xfrm>
            <a:off x="6286500" y="6217920"/>
            <a:ext cx="3406626" cy="186689"/>
          </a:xfrm>
          <a:prstGeom prst="rect">
            <a:avLst/>
          </a:prstGeom>
          <a:noFill/>
        </p:spPr>
        <p:txBody>
          <a:bodyPr wrap="none" lIns="0" rIns="0" tIns="0" bIns="0">
            <a:spAutoFit/>
          </a:bodyPr>
          <a:lstStyle/>
          <a:p>
            <a:r>
              <a:rPr sz="1100" b="0">
                <a:solidFill>
                  <a:srgbClr val="2E2E2E"/>
                </a:solidFill>
                <a:latin typeface="Calibri"/>
              </a:rPr>
              <a:t>overall organ transport devices market from 2025 to 2036.</a:t>
            </a:r>
          </a:p>
        </p:txBody>
      </p:sp>
      <p:sp>
        <p:nvSpPr>
          <p:cNvPr id="67" name="lockshield_16"/>
          <p:cNvSpPr/>
          <p:nvPr/>
        </p:nvSpPr>
        <p:spPr>
          <a:xfrm>
            <a:off x="238125" y="2105025"/>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lockshield_19"/>
          <p:cNvSpPr/>
          <p:nvPr/>
        </p:nvSpPr>
        <p:spPr>
          <a:xfrm>
            <a:off x="5086350" y="2105025"/>
            <a:ext cx="288036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lockshield_24"/>
          <p:cNvSpPr/>
          <p:nvPr/>
        </p:nvSpPr>
        <p:spPr>
          <a:xfrm>
            <a:off x="238125" y="4019550"/>
            <a:ext cx="4505325"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ockshield_27"/>
          <p:cNvSpPr/>
          <p:nvPr/>
        </p:nvSpPr>
        <p:spPr>
          <a:xfrm>
            <a:off x="5086350" y="4019550"/>
            <a:ext cx="6858000" cy="14382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Key Segments Overview, By Value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U.S.'s key segments by value, highlighting the leading sub-segment of every segmentation</a:t>
            </a:r>
          </a:p>
        </p:txBody>
      </p:sp>
      <p:sp>
        <p:nvSpPr>
          <p:cNvPr id="10" name="Rounded Rectangle 9"/>
          <p:cNvSpPr/>
          <p:nvPr/>
        </p:nvSpPr>
        <p:spPr>
          <a:xfrm>
            <a:off x="1428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Technology  (US$ Mn)</a:t>
            </a:r>
          </a:p>
        </p:txBody>
      </p:sp>
      <p:graphicFrame>
        <p:nvGraphicFramePr>
          <p:cNvPr id="12" name="Chart 11"/>
          <p:cNvGraphicFramePr>
            <a:graphicFrameLocks noGrp="1"/>
          </p:cNvGraphicFramePr>
          <p:nvPr/>
        </p:nvGraphicFramePr>
        <p:xfrm>
          <a:off x="238125" y="1266825"/>
          <a:ext cx="2667000" cy="1352550"/>
        </p:xfrm>
        <a:graphic>
          <a:graphicData uri="http://schemas.openxmlformats.org/drawingml/2006/chart">
            <c:chart xmlns:c="http://schemas.openxmlformats.org/drawingml/2006/chart" r:id="rId3"/>
          </a:graphicData>
        </a:graphic>
      </p:graphicFrame>
      <p:sp>
        <p:nvSpPr>
          <p:cNvPr id="13" name="Rounded Rectangle 12"/>
          <p:cNvSpPr/>
          <p:nvPr/>
        </p:nvSpPr>
        <p:spPr>
          <a:xfrm>
            <a:off x="31527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80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Organ Compatibility  (US$ Mn)</a:t>
            </a:r>
          </a:p>
        </p:txBody>
      </p:sp>
      <p:graphicFrame>
        <p:nvGraphicFramePr>
          <p:cNvPr id="15" name="Chart 14"/>
          <p:cNvGraphicFramePr>
            <a:graphicFrameLocks noGrp="1"/>
          </p:cNvGraphicFramePr>
          <p:nvPr/>
        </p:nvGraphicFramePr>
        <p:xfrm>
          <a:off x="3248025" y="1266825"/>
          <a:ext cx="2667000" cy="1352550"/>
        </p:xfrm>
        <a:graphic>
          <a:graphicData uri="http://schemas.openxmlformats.org/drawingml/2006/chart">
            <c:chart xmlns:c="http://schemas.openxmlformats.org/drawingml/2006/chart" r:id="rId4"/>
          </a:graphicData>
        </a:graphic>
      </p:graphicFrame>
      <p:sp>
        <p:nvSpPr>
          <p:cNvPr id="16" name="Rounded Rectangle 15"/>
          <p:cNvSpPr/>
          <p:nvPr/>
        </p:nvSpPr>
        <p:spPr>
          <a:xfrm>
            <a:off x="61626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579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Device Reusability  (US$ Mn)</a:t>
            </a:r>
          </a:p>
        </p:txBody>
      </p:sp>
      <p:graphicFrame>
        <p:nvGraphicFramePr>
          <p:cNvPr id="18" name="Chart 17"/>
          <p:cNvGraphicFramePr>
            <a:graphicFrameLocks noGrp="1"/>
          </p:cNvGraphicFramePr>
          <p:nvPr/>
        </p:nvGraphicFramePr>
        <p:xfrm>
          <a:off x="6257925" y="1266825"/>
          <a:ext cx="2667000" cy="1352550"/>
        </p:xfrm>
        <a:graphic>
          <a:graphicData uri="http://schemas.openxmlformats.org/drawingml/2006/chart">
            <c:chart xmlns:c="http://schemas.openxmlformats.org/drawingml/2006/chart" r:id="rId5"/>
          </a:graphicData>
        </a:graphic>
      </p:graphicFrame>
      <p:sp>
        <p:nvSpPr>
          <p:cNvPr id="19" name="Rounded Rectangle 18"/>
          <p:cNvSpPr/>
          <p:nvPr/>
        </p:nvSpPr>
        <p:spPr>
          <a:xfrm>
            <a:off x="9172575" y="981075"/>
            <a:ext cx="28575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67825" y="1038225"/>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Monitoring Capability  (US$ Mn)</a:t>
            </a:r>
          </a:p>
        </p:txBody>
      </p:sp>
      <p:graphicFrame>
        <p:nvGraphicFramePr>
          <p:cNvPr id="21" name="Chart 20"/>
          <p:cNvGraphicFramePr>
            <a:graphicFrameLocks noGrp="1"/>
          </p:cNvGraphicFramePr>
          <p:nvPr/>
        </p:nvGraphicFramePr>
        <p:xfrm>
          <a:off x="9267825" y="1266825"/>
          <a:ext cx="2667000" cy="1352550"/>
        </p:xfrm>
        <a:graphic>
          <a:graphicData uri="http://schemas.openxmlformats.org/drawingml/2006/chart">
            <c:chart xmlns:c="http://schemas.openxmlformats.org/drawingml/2006/chart" r:id="rId6"/>
          </a:graphicData>
        </a:graphic>
      </p:graphicFrame>
      <p:sp>
        <p:nvSpPr>
          <p:cNvPr id="22" name="Rounded Rectangle 21"/>
          <p:cNvSpPr/>
          <p:nvPr/>
        </p:nvSpPr>
        <p:spPr>
          <a:xfrm>
            <a:off x="1428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81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Purchasing Organisation  (US$ Mn)</a:t>
            </a:r>
          </a:p>
        </p:txBody>
      </p:sp>
      <p:graphicFrame>
        <p:nvGraphicFramePr>
          <p:cNvPr id="24" name="Chart 23"/>
          <p:cNvGraphicFramePr>
            <a:graphicFrameLocks noGrp="1"/>
          </p:cNvGraphicFramePr>
          <p:nvPr/>
        </p:nvGraphicFramePr>
        <p:xfrm>
          <a:off x="238125" y="3095625"/>
          <a:ext cx="2743200" cy="1352550"/>
        </p:xfrm>
        <a:graphic>
          <a:graphicData uri="http://schemas.openxmlformats.org/drawingml/2006/chart">
            <c:chart xmlns:c="http://schemas.openxmlformats.org/drawingml/2006/chart" r:id="rId7"/>
          </a:graphicData>
        </a:graphic>
      </p:graphicFrame>
      <p:sp>
        <p:nvSpPr>
          <p:cNvPr id="25" name="Rounded Rectangle 24"/>
          <p:cNvSpPr/>
          <p:nvPr/>
        </p:nvSpPr>
        <p:spPr>
          <a:xfrm>
            <a:off x="3228975" y="2809875"/>
            <a:ext cx="2933700"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4225" y="286702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Sales Channel  (US$ Mn)</a:t>
            </a:r>
          </a:p>
        </p:txBody>
      </p:sp>
      <p:graphicFrame>
        <p:nvGraphicFramePr>
          <p:cNvPr id="27" name="Chart 26"/>
          <p:cNvGraphicFramePr>
            <a:graphicFrameLocks noGrp="1"/>
          </p:cNvGraphicFramePr>
          <p:nvPr/>
        </p:nvGraphicFramePr>
        <p:xfrm>
          <a:off x="3324225" y="3095625"/>
          <a:ext cx="2743200" cy="1352550"/>
        </p:xfrm>
        <a:graphic>
          <a:graphicData uri="http://schemas.openxmlformats.org/drawingml/2006/chart">
            <c:chart xmlns:c="http://schemas.openxmlformats.org/drawingml/2006/chart" r:id="rId8"/>
          </a:graphicData>
        </a:graphic>
      </p:graphicFrame>
      <p:sp>
        <p:nvSpPr>
          <p:cNvPr id="28" name="Rounded Rectangle 27"/>
          <p:cNvSpPr/>
          <p:nvPr/>
        </p:nvSpPr>
        <p:spPr>
          <a:xfrm>
            <a:off x="142875" y="4638675"/>
            <a:ext cx="11906250" cy="1981200"/>
          </a:xfrm>
          <a:prstGeom prst="roundRect">
            <a:avLst>
              <a:gd name="adj" fmla="val 3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4724400"/>
            <a:ext cx="11639550" cy="209550"/>
          </a:xfrm>
          <a:prstGeom prst="rect">
            <a:avLst/>
          </a:prstGeom>
          <a:noFill/>
        </p:spPr>
        <p:txBody>
          <a:bodyPr wrap="square" lIns="0" rIns="19050" tIns="9525" bIns="9525">
            <a:spAutoFit/>
          </a:bodyPr>
          <a:lstStyle/>
          <a:p>
            <a:pPr algn="l"/>
            <a:r>
              <a:rPr sz="1300" b="1">
                <a:solidFill>
                  <a:srgbClr val="0B2E4A"/>
                </a:solidFill>
                <a:latin typeface="Calibri"/>
              </a:rPr>
              <a:t/>
            </a:r>
          </a:p>
        </p:txBody>
      </p:sp>
      <p:sp>
        <p:nvSpPr>
          <p:cNvPr id="30" name="Rectangle 29"/>
          <p:cNvSpPr/>
          <p:nvPr/>
        </p:nvSpPr>
        <p:spPr>
          <a:xfrm>
            <a:off x="276225" y="49625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6225" y="5048250"/>
            <a:ext cx="11639550" cy="1495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10"/>
          <a:stretch>
            <a:fillRect/>
          </a:stretch>
        </p:blipFill>
        <p:spPr>
          <a:xfrm>
            <a:off x="1811655" y="1724025"/>
            <a:ext cx="183356" cy="266700"/>
          </a:xfrm>
          <a:prstGeom prst="rect">
            <a:avLst/>
          </a:prstGeom>
        </p:spPr>
      </p:pic>
      <p:pic>
        <p:nvPicPr>
          <p:cNvPr id="34" name="Picture 33" descr="lock.png"/>
          <p:cNvPicPr>
            <a:picLocks noChangeAspect="1"/>
          </p:cNvPicPr>
          <p:nvPr/>
        </p:nvPicPr>
        <p:blipFill>
          <a:blip r:embed="rId10"/>
          <a:stretch>
            <a:fillRect/>
          </a:stretch>
        </p:blipFill>
        <p:spPr>
          <a:xfrm>
            <a:off x="4821555" y="1724025"/>
            <a:ext cx="183356" cy="266700"/>
          </a:xfrm>
          <a:prstGeom prst="rect">
            <a:avLst/>
          </a:prstGeom>
        </p:spPr>
      </p:pic>
      <p:pic>
        <p:nvPicPr>
          <p:cNvPr id="35" name="Picture 34" descr="lock.png"/>
          <p:cNvPicPr>
            <a:picLocks noChangeAspect="1"/>
          </p:cNvPicPr>
          <p:nvPr/>
        </p:nvPicPr>
        <p:blipFill>
          <a:blip r:embed="rId10"/>
          <a:stretch>
            <a:fillRect/>
          </a:stretch>
        </p:blipFill>
        <p:spPr>
          <a:xfrm>
            <a:off x="7831455" y="1724025"/>
            <a:ext cx="183356" cy="266700"/>
          </a:xfrm>
          <a:prstGeom prst="rect">
            <a:avLst/>
          </a:prstGeom>
        </p:spPr>
      </p:pic>
      <p:pic>
        <p:nvPicPr>
          <p:cNvPr id="36" name="Picture 35" descr="lock.png"/>
          <p:cNvPicPr>
            <a:picLocks noChangeAspect="1"/>
          </p:cNvPicPr>
          <p:nvPr/>
        </p:nvPicPr>
        <p:blipFill>
          <a:blip r:embed="rId10"/>
          <a:stretch>
            <a:fillRect/>
          </a:stretch>
        </p:blipFill>
        <p:spPr>
          <a:xfrm>
            <a:off x="10841355" y="1724025"/>
            <a:ext cx="183356" cy="266700"/>
          </a:xfrm>
          <a:prstGeom prst="rect">
            <a:avLst/>
          </a:prstGeom>
        </p:spPr>
      </p:pic>
      <p:pic>
        <p:nvPicPr>
          <p:cNvPr id="37" name="Picture 36" descr="lock.png"/>
          <p:cNvPicPr>
            <a:picLocks noChangeAspect="1"/>
          </p:cNvPicPr>
          <p:nvPr/>
        </p:nvPicPr>
        <p:blipFill>
          <a:blip r:embed="rId10"/>
          <a:stretch>
            <a:fillRect/>
          </a:stretch>
        </p:blipFill>
        <p:spPr>
          <a:xfrm>
            <a:off x="1849755" y="3552825"/>
            <a:ext cx="183356" cy="266700"/>
          </a:xfrm>
          <a:prstGeom prst="rect">
            <a:avLst/>
          </a:prstGeom>
        </p:spPr>
      </p:pic>
      <p:pic>
        <p:nvPicPr>
          <p:cNvPr id="38" name="Picture 37" descr="lock.png"/>
          <p:cNvPicPr>
            <a:picLocks noChangeAspect="1"/>
          </p:cNvPicPr>
          <p:nvPr/>
        </p:nvPicPr>
        <p:blipFill>
          <a:blip r:embed="rId10"/>
          <a:stretch>
            <a:fillRect/>
          </a:stretch>
        </p:blipFill>
        <p:spPr>
          <a:xfrm>
            <a:off x="4935855" y="3552825"/>
            <a:ext cx="183356" cy="266700"/>
          </a:xfrm>
          <a:prstGeom prst="rect">
            <a:avLst/>
          </a:prstGeom>
        </p:spPr>
      </p:pic>
      <p:sp>
        <p:nvSpPr>
          <p:cNvPr id="39" name="TextBox 38"/>
          <p:cNvSpPr txBox="1"/>
          <p:nvPr/>
        </p:nvSpPr>
        <p:spPr>
          <a:xfrm>
            <a:off x="276225" y="4733925"/>
            <a:ext cx="1468037" cy="161696"/>
          </a:xfrm>
          <a:prstGeom prst="rect">
            <a:avLst/>
          </a:prstGeom>
          <a:noFill/>
        </p:spPr>
        <p:txBody>
          <a:bodyPr wrap="none" lIns="0" rIns="0" tIns="0" bIns="0">
            <a:spAutoFit/>
          </a:bodyPr>
          <a:lstStyle/>
          <a:p>
            <a:r>
              <a:rPr sz="935" b="1">
                <a:solidFill>
                  <a:srgbClr val="0B2E4A"/>
                </a:solidFill>
                <a:latin typeface="Calibri"/>
              </a:rPr>
              <a:t>Key Takeaways · 2026 Total:</a:t>
            </a:r>
          </a:p>
        </p:txBody>
      </p:sp>
      <p:pic>
        <p:nvPicPr>
          <p:cNvPr id="40" name="Picture 39" descr="lock.png"/>
          <p:cNvPicPr>
            <a:picLocks noChangeAspect="1"/>
          </p:cNvPicPr>
          <p:nvPr/>
        </p:nvPicPr>
        <p:blipFill>
          <a:blip r:embed="rId10"/>
          <a:stretch>
            <a:fillRect/>
          </a:stretch>
        </p:blipFill>
        <p:spPr>
          <a:xfrm>
            <a:off x="1688698" y="4725603"/>
            <a:ext cx="109510" cy="159288"/>
          </a:xfrm>
          <a:prstGeom prst="rect">
            <a:avLst/>
          </a:prstGeom>
        </p:spPr>
      </p:pic>
      <p:sp>
        <p:nvSpPr>
          <p:cNvPr id="41" name="TextBox 40"/>
          <p:cNvSpPr txBox="1"/>
          <p:nvPr/>
        </p:nvSpPr>
        <p:spPr>
          <a:xfrm>
            <a:off x="1831222" y="4733925"/>
            <a:ext cx="465087" cy="161696"/>
          </a:xfrm>
          <a:prstGeom prst="rect">
            <a:avLst/>
          </a:prstGeom>
          <a:noFill/>
        </p:spPr>
        <p:txBody>
          <a:bodyPr wrap="none" lIns="0" rIns="0" tIns="0" bIns="0">
            <a:spAutoFit/>
          </a:bodyPr>
          <a:lstStyle/>
          <a:p>
            <a:r>
              <a:rPr sz="935" b="1">
                <a:solidFill>
                  <a:srgbClr val="0B2E4A"/>
                </a:solidFill>
                <a:latin typeface="Calibri"/>
              </a:rPr>
              <a:t>US$ Mn</a:t>
            </a:r>
          </a:p>
        </p:txBody>
      </p:sp>
      <p:sp>
        <p:nvSpPr>
          <p:cNvPr id="42" name="TextBox 41"/>
          <p:cNvSpPr txBox="1"/>
          <p:nvPr/>
        </p:nvSpPr>
        <p:spPr>
          <a:xfrm>
            <a:off x="276225" y="5057775"/>
            <a:ext cx="3882655" cy="179984"/>
          </a:xfrm>
          <a:prstGeom prst="rect">
            <a:avLst/>
          </a:prstGeom>
          <a:noFill/>
        </p:spPr>
        <p:txBody>
          <a:bodyPr wrap="none" lIns="0" rIns="0" tIns="0" bIns="0">
            <a:spAutoFit/>
          </a:bodyPr>
          <a:lstStyle/>
          <a:p>
            <a:r>
              <a:rPr sz="1055" b="0">
                <a:solidFill>
                  <a:srgbClr val="2E2E2E"/>
                </a:solidFill>
                <a:latin typeface="Calibri"/>
              </a:rPr>
              <a:t>▪ By Device Technology, 'Portable Machine Perfusion Devices' leads at</a:t>
            </a:r>
          </a:p>
        </p:txBody>
      </p:sp>
      <p:pic>
        <p:nvPicPr>
          <p:cNvPr id="43" name="Picture 42" descr="lock.png"/>
          <p:cNvPicPr>
            <a:picLocks noChangeAspect="1"/>
          </p:cNvPicPr>
          <p:nvPr/>
        </p:nvPicPr>
        <p:blipFill>
          <a:blip r:embed="rId10"/>
          <a:stretch>
            <a:fillRect/>
          </a:stretch>
        </p:blipFill>
        <p:spPr>
          <a:xfrm>
            <a:off x="4105961" y="5048387"/>
            <a:ext cx="123551" cy="179710"/>
          </a:xfrm>
          <a:prstGeom prst="rect">
            <a:avLst/>
          </a:prstGeom>
        </p:spPr>
      </p:pic>
      <p:sp>
        <p:nvSpPr>
          <p:cNvPr id="44" name="TextBox 43"/>
          <p:cNvSpPr txBox="1"/>
          <p:nvPr/>
        </p:nvSpPr>
        <p:spPr>
          <a:xfrm>
            <a:off x="4266757" y="5057775"/>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45" name="Picture 44" descr="lock.png"/>
          <p:cNvPicPr>
            <a:picLocks noChangeAspect="1"/>
          </p:cNvPicPr>
          <p:nvPr/>
        </p:nvPicPr>
        <p:blipFill>
          <a:blip r:embed="rId10"/>
          <a:stretch>
            <a:fillRect/>
          </a:stretch>
        </p:blipFill>
        <p:spPr>
          <a:xfrm>
            <a:off x="4792435" y="5048387"/>
            <a:ext cx="123551" cy="179710"/>
          </a:xfrm>
          <a:prstGeom prst="rect">
            <a:avLst/>
          </a:prstGeom>
        </p:spPr>
      </p:pic>
      <p:sp>
        <p:nvSpPr>
          <p:cNvPr id="46" name="TextBox 45"/>
          <p:cNvSpPr txBox="1"/>
          <p:nvPr/>
        </p:nvSpPr>
        <p:spPr>
          <a:xfrm>
            <a:off x="4953231" y="5057775"/>
            <a:ext cx="2593419" cy="179984"/>
          </a:xfrm>
          <a:prstGeom prst="rect">
            <a:avLst/>
          </a:prstGeom>
          <a:noFill/>
        </p:spPr>
        <p:txBody>
          <a:bodyPr wrap="none" lIns="0" rIns="0" tIns="0" bIns="0">
            <a:spAutoFit/>
          </a:bodyPr>
          <a:lstStyle/>
          <a:p>
            <a:r>
              <a:rPr sz="1055" b="0">
                <a:solidFill>
                  <a:srgbClr val="2E2E2E"/>
                </a:solidFill>
                <a:latin typeface="Calibri"/>
              </a:rPr>
              <a:t>share), ahead of 'Static Cold Storage Devices' (</a:t>
            </a:r>
          </a:p>
        </p:txBody>
      </p:sp>
      <p:pic>
        <p:nvPicPr>
          <p:cNvPr id="47" name="Picture 46" descr="lock.png"/>
          <p:cNvPicPr>
            <a:picLocks noChangeAspect="1"/>
          </p:cNvPicPr>
          <p:nvPr/>
        </p:nvPicPr>
        <p:blipFill>
          <a:blip r:embed="rId10"/>
          <a:stretch>
            <a:fillRect/>
          </a:stretch>
        </p:blipFill>
        <p:spPr>
          <a:xfrm>
            <a:off x="7493732" y="5048387"/>
            <a:ext cx="123551" cy="179710"/>
          </a:xfrm>
          <a:prstGeom prst="rect">
            <a:avLst/>
          </a:prstGeom>
        </p:spPr>
      </p:pic>
      <p:sp>
        <p:nvSpPr>
          <p:cNvPr id="48" name="TextBox 47"/>
          <p:cNvSpPr txBox="1"/>
          <p:nvPr/>
        </p:nvSpPr>
        <p:spPr>
          <a:xfrm>
            <a:off x="7654528" y="5057775"/>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49" name="TextBox 48"/>
          <p:cNvSpPr txBox="1"/>
          <p:nvPr/>
        </p:nvSpPr>
        <p:spPr>
          <a:xfrm>
            <a:off x="276225" y="5266989"/>
            <a:ext cx="3225716" cy="179984"/>
          </a:xfrm>
          <a:prstGeom prst="rect">
            <a:avLst/>
          </a:prstGeom>
          <a:noFill/>
        </p:spPr>
        <p:txBody>
          <a:bodyPr wrap="none" lIns="0" rIns="0" tIns="0" bIns="0">
            <a:spAutoFit/>
          </a:bodyPr>
          <a:lstStyle/>
          <a:p>
            <a:r>
              <a:rPr sz="1055" b="0">
                <a:solidFill>
                  <a:srgbClr val="2E2E2E"/>
                </a:solidFill>
                <a:latin typeface="Calibri"/>
              </a:rPr>
              <a:t>▪ By Organ Compatibility, 'Organ-Specific Devices' leads at</a:t>
            </a:r>
          </a:p>
        </p:txBody>
      </p:sp>
      <p:pic>
        <p:nvPicPr>
          <p:cNvPr id="50" name="Picture 49" descr="lock.png"/>
          <p:cNvPicPr>
            <a:picLocks noChangeAspect="1"/>
          </p:cNvPicPr>
          <p:nvPr/>
        </p:nvPicPr>
        <p:blipFill>
          <a:blip r:embed="rId10"/>
          <a:stretch>
            <a:fillRect/>
          </a:stretch>
        </p:blipFill>
        <p:spPr>
          <a:xfrm>
            <a:off x="3449022" y="5257601"/>
            <a:ext cx="123551" cy="179710"/>
          </a:xfrm>
          <a:prstGeom prst="rect">
            <a:avLst/>
          </a:prstGeom>
        </p:spPr>
      </p:pic>
      <p:sp>
        <p:nvSpPr>
          <p:cNvPr id="51" name="TextBox 50"/>
          <p:cNvSpPr txBox="1"/>
          <p:nvPr/>
        </p:nvSpPr>
        <p:spPr>
          <a:xfrm>
            <a:off x="3609818" y="526698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2" name="Picture 51" descr="lock.png"/>
          <p:cNvPicPr>
            <a:picLocks noChangeAspect="1"/>
          </p:cNvPicPr>
          <p:nvPr/>
        </p:nvPicPr>
        <p:blipFill>
          <a:blip r:embed="rId10"/>
          <a:stretch>
            <a:fillRect/>
          </a:stretch>
        </p:blipFill>
        <p:spPr>
          <a:xfrm>
            <a:off x="4135496" y="5257601"/>
            <a:ext cx="123551" cy="179710"/>
          </a:xfrm>
          <a:prstGeom prst="rect">
            <a:avLst/>
          </a:prstGeom>
        </p:spPr>
      </p:pic>
      <p:sp>
        <p:nvSpPr>
          <p:cNvPr id="53" name="TextBox 52"/>
          <p:cNvSpPr txBox="1"/>
          <p:nvPr/>
        </p:nvSpPr>
        <p:spPr>
          <a:xfrm>
            <a:off x="4296292" y="5266989"/>
            <a:ext cx="2892290" cy="179984"/>
          </a:xfrm>
          <a:prstGeom prst="rect">
            <a:avLst/>
          </a:prstGeom>
          <a:noFill/>
        </p:spPr>
        <p:txBody>
          <a:bodyPr wrap="none" lIns="0" rIns="0" tIns="0" bIns="0">
            <a:spAutoFit/>
          </a:bodyPr>
          <a:lstStyle/>
          <a:p>
            <a:r>
              <a:rPr sz="1055" b="0">
                <a:solidFill>
                  <a:srgbClr val="2E2E2E"/>
                </a:solidFill>
                <a:latin typeface="Calibri"/>
              </a:rPr>
              <a:t>share), ahead of 'Multi-Organ Compatible Devices' (</a:t>
            </a:r>
          </a:p>
        </p:txBody>
      </p:sp>
      <p:pic>
        <p:nvPicPr>
          <p:cNvPr id="54" name="Picture 53" descr="lock.png"/>
          <p:cNvPicPr>
            <a:picLocks noChangeAspect="1"/>
          </p:cNvPicPr>
          <p:nvPr/>
        </p:nvPicPr>
        <p:blipFill>
          <a:blip r:embed="rId10"/>
          <a:stretch>
            <a:fillRect/>
          </a:stretch>
        </p:blipFill>
        <p:spPr>
          <a:xfrm>
            <a:off x="7135663" y="5257601"/>
            <a:ext cx="123551" cy="179710"/>
          </a:xfrm>
          <a:prstGeom prst="rect">
            <a:avLst/>
          </a:prstGeom>
        </p:spPr>
      </p:pic>
      <p:sp>
        <p:nvSpPr>
          <p:cNvPr id="55" name="TextBox 54"/>
          <p:cNvSpPr txBox="1"/>
          <p:nvPr/>
        </p:nvSpPr>
        <p:spPr>
          <a:xfrm>
            <a:off x="7296459" y="526698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56" name="TextBox 55"/>
          <p:cNvSpPr txBox="1"/>
          <p:nvPr/>
        </p:nvSpPr>
        <p:spPr>
          <a:xfrm>
            <a:off x="276225" y="5476204"/>
            <a:ext cx="3466698" cy="179984"/>
          </a:xfrm>
          <a:prstGeom prst="rect">
            <a:avLst/>
          </a:prstGeom>
          <a:noFill/>
        </p:spPr>
        <p:txBody>
          <a:bodyPr wrap="none" lIns="0" rIns="0" tIns="0" bIns="0">
            <a:spAutoFit/>
          </a:bodyPr>
          <a:lstStyle/>
          <a:p>
            <a:r>
              <a:rPr sz="1055" b="0">
                <a:solidFill>
                  <a:srgbClr val="2E2E2E"/>
                </a:solidFill>
                <a:latin typeface="Calibri"/>
              </a:rPr>
              <a:t>▪ By Device Reusability, 'Single-Use Transport Devices' leads at</a:t>
            </a:r>
          </a:p>
        </p:txBody>
      </p:sp>
      <p:pic>
        <p:nvPicPr>
          <p:cNvPr id="57" name="Picture 56" descr="lock.png"/>
          <p:cNvPicPr>
            <a:picLocks noChangeAspect="1"/>
          </p:cNvPicPr>
          <p:nvPr/>
        </p:nvPicPr>
        <p:blipFill>
          <a:blip r:embed="rId10"/>
          <a:stretch>
            <a:fillRect/>
          </a:stretch>
        </p:blipFill>
        <p:spPr>
          <a:xfrm>
            <a:off x="3690005" y="5466816"/>
            <a:ext cx="123551" cy="179710"/>
          </a:xfrm>
          <a:prstGeom prst="rect">
            <a:avLst/>
          </a:prstGeom>
        </p:spPr>
      </p:pic>
      <p:sp>
        <p:nvSpPr>
          <p:cNvPr id="58" name="TextBox 57"/>
          <p:cNvSpPr txBox="1"/>
          <p:nvPr/>
        </p:nvSpPr>
        <p:spPr>
          <a:xfrm>
            <a:off x="3850801" y="5476204"/>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59" name="Picture 58" descr="lock.png"/>
          <p:cNvPicPr>
            <a:picLocks noChangeAspect="1"/>
          </p:cNvPicPr>
          <p:nvPr/>
        </p:nvPicPr>
        <p:blipFill>
          <a:blip r:embed="rId10"/>
          <a:stretch>
            <a:fillRect/>
          </a:stretch>
        </p:blipFill>
        <p:spPr>
          <a:xfrm>
            <a:off x="4376478" y="5466816"/>
            <a:ext cx="123551" cy="179710"/>
          </a:xfrm>
          <a:prstGeom prst="rect">
            <a:avLst/>
          </a:prstGeom>
        </p:spPr>
      </p:pic>
      <p:sp>
        <p:nvSpPr>
          <p:cNvPr id="60" name="TextBox 59"/>
          <p:cNvSpPr txBox="1"/>
          <p:nvPr/>
        </p:nvSpPr>
        <p:spPr>
          <a:xfrm>
            <a:off x="4537274" y="5476204"/>
            <a:ext cx="2624851" cy="179984"/>
          </a:xfrm>
          <a:prstGeom prst="rect">
            <a:avLst/>
          </a:prstGeom>
          <a:noFill/>
        </p:spPr>
        <p:txBody>
          <a:bodyPr wrap="none" lIns="0" rIns="0" tIns="0" bIns="0">
            <a:spAutoFit/>
          </a:bodyPr>
          <a:lstStyle/>
          <a:p>
            <a:r>
              <a:rPr sz="1055" b="0">
                <a:solidFill>
                  <a:srgbClr val="2E2E2E"/>
                </a:solidFill>
                <a:latin typeface="Calibri"/>
              </a:rPr>
              <a:t>share), ahead of 'Reusable Transport Devices' (</a:t>
            </a:r>
          </a:p>
        </p:txBody>
      </p:sp>
      <p:pic>
        <p:nvPicPr>
          <p:cNvPr id="61" name="Picture 60" descr="lock.png"/>
          <p:cNvPicPr>
            <a:picLocks noChangeAspect="1"/>
          </p:cNvPicPr>
          <p:nvPr/>
        </p:nvPicPr>
        <p:blipFill>
          <a:blip r:embed="rId10"/>
          <a:stretch>
            <a:fillRect/>
          </a:stretch>
        </p:blipFill>
        <p:spPr>
          <a:xfrm>
            <a:off x="7109208" y="5466816"/>
            <a:ext cx="123551" cy="179710"/>
          </a:xfrm>
          <a:prstGeom prst="rect">
            <a:avLst/>
          </a:prstGeom>
        </p:spPr>
      </p:pic>
      <p:sp>
        <p:nvSpPr>
          <p:cNvPr id="62" name="TextBox 61"/>
          <p:cNvSpPr txBox="1"/>
          <p:nvPr/>
        </p:nvSpPr>
        <p:spPr>
          <a:xfrm>
            <a:off x="7270004" y="5476204"/>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63" name="TextBox 62"/>
          <p:cNvSpPr txBox="1"/>
          <p:nvPr/>
        </p:nvSpPr>
        <p:spPr>
          <a:xfrm>
            <a:off x="276225" y="5685419"/>
            <a:ext cx="4016505" cy="179984"/>
          </a:xfrm>
          <a:prstGeom prst="rect">
            <a:avLst/>
          </a:prstGeom>
          <a:noFill/>
        </p:spPr>
        <p:txBody>
          <a:bodyPr wrap="none" lIns="0" rIns="0" tIns="0" bIns="0">
            <a:spAutoFit/>
          </a:bodyPr>
          <a:lstStyle/>
          <a:p>
            <a:r>
              <a:rPr sz="1055" b="0">
                <a:solidFill>
                  <a:srgbClr val="2E2E2E"/>
                </a:solidFill>
                <a:latin typeface="Calibri"/>
              </a:rPr>
              <a:t>▪ By Monitoring Capability, 'Devices with Integrated Monitoring' leads at</a:t>
            </a:r>
          </a:p>
        </p:txBody>
      </p:sp>
      <p:pic>
        <p:nvPicPr>
          <p:cNvPr id="64" name="Picture 63" descr="lock.png"/>
          <p:cNvPicPr>
            <a:picLocks noChangeAspect="1"/>
          </p:cNvPicPr>
          <p:nvPr/>
        </p:nvPicPr>
        <p:blipFill>
          <a:blip r:embed="rId10"/>
          <a:stretch>
            <a:fillRect/>
          </a:stretch>
        </p:blipFill>
        <p:spPr>
          <a:xfrm>
            <a:off x="4239811" y="5676031"/>
            <a:ext cx="123551" cy="179710"/>
          </a:xfrm>
          <a:prstGeom prst="rect">
            <a:avLst/>
          </a:prstGeom>
        </p:spPr>
      </p:pic>
      <p:sp>
        <p:nvSpPr>
          <p:cNvPr id="65" name="TextBox 64"/>
          <p:cNvSpPr txBox="1"/>
          <p:nvPr/>
        </p:nvSpPr>
        <p:spPr>
          <a:xfrm>
            <a:off x="4400607" y="5685419"/>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66" name="Picture 65" descr="lock.png"/>
          <p:cNvPicPr>
            <a:picLocks noChangeAspect="1"/>
          </p:cNvPicPr>
          <p:nvPr/>
        </p:nvPicPr>
        <p:blipFill>
          <a:blip r:embed="rId10"/>
          <a:stretch>
            <a:fillRect/>
          </a:stretch>
        </p:blipFill>
        <p:spPr>
          <a:xfrm>
            <a:off x="4926285" y="5676031"/>
            <a:ext cx="123551" cy="179710"/>
          </a:xfrm>
          <a:prstGeom prst="rect">
            <a:avLst/>
          </a:prstGeom>
        </p:spPr>
      </p:pic>
      <p:sp>
        <p:nvSpPr>
          <p:cNvPr id="67" name="TextBox 66"/>
          <p:cNvSpPr txBox="1"/>
          <p:nvPr/>
        </p:nvSpPr>
        <p:spPr>
          <a:xfrm>
            <a:off x="5087081" y="5685419"/>
            <a:ext cx="3243024" cy="179984"/>
          </a:xfrm>
          <a:prstGeom prst="rect">
            <a:avLst/>
          </a:prstGeom>
          <a:noFill/>
        </p:spPr>
        <p:txBody>
          <a:bodyPr wrap="none" lIns="0" rIns="0" tIns="0" bIns="0">
            <a:spAutoFit/>
          </a:bodyPr>
          <a:lstStyle/>
          <a:p>
            <a:r>
              <a:rPr sz="1055" b="0">
                <a:solidFill>
                  <a:srgbClr val="2E2E2E"/>
                </a:solidFill>
                <a:latin typeface="Calibri"/>
              </a:rPr>
              <a:t>share), ahead of 'Devices without Integrated Monitoring' (</a:t>
            </a:r>
          </a:p>
        </p:txBody>
      </p:sp>
      <p:pic>
        <p:nvPicPr>
          <p:cNvPr id="68" name="Picture 67" descr="lock.png"/>
          <p:cNvPicPr>
            <a:picLocks noChangeAspect="1"/>
          </p:cNvPicPr>
          <p:nvPr/>
        </p:nvPicPr>
        <p:blipFill>
          <a:blip r:embed="rId10"/>
          <a:stretch>
            <a:fillRect/>
          </a:stretch>
        </p:blipFill>
        <p:spPr>
          <a:xfrm>
            <a:off x="8277187" y="5676031"/>
            <a:ext cx="123551" cy="179710"/>
          </a:xfrm>
          <a:prstGeom prst="rect">
            <a:avLst/>
          </a:prstGeom>
        </p:spPr>
      </p:pic>
      <p:sp>
        <p:nvSpPr>
          <p:cNvPr id="69" name="TextBox 68"/>
          <p:cNvSpPr txBox="1"/>
          <p:nvPr/>
        </p:nvSpPr>
        <p:spPr>
          <a:xfrm>
            <a:off x="8437983" y="5685419"/>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0" name="TextBox 69"/>
          <p:cNvSpPr txBox="1"/>
          <p:nvPr/>
        </p:nvSpPr>
        <p:spPr>
          <a:xfrm>
            <a:off x="276225" y="5894633"/>
            <a:ext cx="4016767" cy="179984"/>
          </a:xfrm>
          <a:prstGeom prst="rect">
            <a:avLst/>
          </a:prstGeom>
          <a:noFill/>
        </p:spPr>
        <p:txBody>
          <a:bodyPr wrap="none" lIns="0" rIns="0" tIns="0" bIns="0">
            <a:spAutoFit/>
          </a:bodyPr>
          <a:lstStyle/>
          <a:p>
            <a:r>
              <a:rPr sz="1055" b="0">
                <a:solidFill>
                  <a:srgbClr val="2E2E2E"/>
                </a:solidFill>
                <a:latin typeface="Calibri"/>
              </a:rPr>
              <a:t>▪ By Purchasing Organisation, 'Hospitals and Transplant Centres' leads at</a:t>
            </a:r>
          </a:p>
        </p:txBody>
      </p:sp>
      <p:pic>
        <p:nvPicPr>
          <p:cNvPr id="71" name="Picture 70" descr="lock.png"/>
          <p:cNvPicPr>
            <a:picLocks noChangeAspect="1"/>
          </p:cNvPicPr>
          <p:nvPr/>
        </p:nvPicPr>
        <p:blipFill>
          <a:blip r:embed="rId10"/>
          <a:stretch>
            <a:fillRect/>
          </a:stretch>
        </p:blipFill>
        <p:spPr>
          <a:xfrm>
            <a:off x="4240073" y="5885246"/>
            <a:ext cx="123551" cy="179710"/>
          </a:xfrm>
          <a:prstGeom prst="rect">
            <a:avLst/>
          </a:prstGeom>
        </p:spPr>
      </p:pic>
      <p:sp>
        <p:nvSpPr>
          <p:cNvPr id="72" name="TextBox 71"/>
          <p:cNvSpPr txBox="1"/>
          <p:nvPr/>
        </p:nvSpPr>
        <p:spPr>
          <a:xfrm>
            <a:off x="4400869" y="5894633"/>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73" name="Picture 72" descr="lock.png"/>
          <p:cNvPicPr>
            <a:picLocks noChangeAspect="1"/>
          </p:cNvPicPr>
          <p:nvPr/>
        </p:nvPicPr>
        <p:blipFill>
          <a:blip r:embed="rId10"/>
          <a:stretch>
            <a:fillRect/>
          </a:stretch>
        </p:blipFill>
        <p:spPr>
          <a:xfrm>
            <a:off x="4926547" y="5885246"/>
            <a:ext cx="123551" cy="179710"/>
          </a:xfrm>
          <a:prstGeom prst="rect">
            <a:avLst/>
          </a:prstGeom>
        </p:spPr>
      </p:pic>
      <p:sp>
        <p:nvSpPr>
          <p:cNvPr id="74" name="TextBox 73"/>
          <p:cNvSpPr txBox="1"/>
          <p:nvPr/>
        </p:nvSpPr>
        <p:spPr>
          <a:xfrm>
            <a:off x="5087343" y="5894633"/>
            <a:ext cx="4611909" cy="179984"/>
          </a:xfrm>
          <a:prstGeom prst="rect">
            <a:avLst/>
          </a:prstGeom>
          <a:noFill/>
        </p:spPr>
        <p:txBody>
          <a:bodyPr wrap="none" lIns="0" rIns="0" tIns="0" bIns="0">
            <a:spAutoFit/>
          </a:bodyPr>
          <a:lstStyle/>
          <a:p>
            <a:r>
              <a:rPr sz="1055" b="0">
                <a:solidFill>
                  <a:srgbClr val="2E2E2E"/>
                </a:solidFill>
                <a:latin typeface="Calibri"/>
              </a:rPr>
              <a:t>share), ahead of 'Organ Procurement Organisations and Organ Retrieval Agencies' (</a:t>
            </a:r>
          </a:p>
        </p:txBody>
      </p:sp>
      <p:pic>
        <p:nvPicPr>
          <p:cNvPr id="75" name="Picture 74" descr="lock.png"/>
          <p:cNvPicPr>
            <a:picLocks noChangeAspect="1"/>
          </p:cNvPicPr>
          <p:nvPr/>
        </p:nvPicPr>
        <p:blipFill>
          <a:blip r:embed="rId10"/>
          <a:stretch>
            <a:fillRect/>
          </a:stretch>
        </p:blipFill>
        <p:spPr>
          <a:xfrm>
            <a:off x="9646334" y="5885246"/>
            <a:ext cx="123551" cy="179710"/>
          </a:xfrm>
          <a:prstGeom prst="rect">
            <a:avLst/>
          </a:prstGeom>
        </p:spPr>
      </p:pic>
      <p:sp>
        <p:nvSpPr>
          <p:cNvPr id="76" name="TextBox 75"/>
          <p:cNvSpPr txBox="1"/>
          <p:nvPr/>
        </p:nvSpPr>
        <p:spPr>
          <a:xfrm>
            <a:off x="9807130" y="5894633"/>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77" name="TextBox 76"/>
          <p:cNvSpPr txBox="1"/>
          <p:nvPr/>
        </p:nvSpPr>
        <p:spPr>
          <a:xfrm>
            <a:off x="276225" y="6103848"/>
            <a:ext cx="2282217" cy="179984"/>
          </a:xfrm>
          <a:prstGeom prst="rect">
            <a:avLst/>
          </a:prstGeom>
          <a:noFill/>
        </p:spPr>
        <p:txBody>
          <a:bodyPr wrap="none" lIns="0" rIns="0" tIns="0" bIns="0">
            <a:spAutoFit/>
          </a:bodyPr>
          <a:lstStyle/>
          <a:p>
            <a:r>
              <a:rPr sz="1055" b="0">
                <a:solidFill>
                  <a:srgbClr val="2E2E2E"/>
                </a:solidFill>
                <a:latin typeface="Calibri"/>
              </a:rPr>
              <a:t>▪ By Sales Channel, 'Direct Sales' leads at</a:t>
            </a:r>
          </a:p>
        </p:txBody>
      </p:sp>
      <p:pic>
        <p:nvPicPr>
          <p:cNvPr id="78" name="Picture 77" descr="lock.png"/>
          <p:cNvPicPr>
            <a:picLocks noChangeAspect="1"/>
          </p:cNvPicPr>
          <p:nvPr/>
        </p:nvPicPr>
        <p:blipFill>
          <a:blip r:embed="rId10"/>
          <a:stretch>
            <a:fillRect/>
          </a:stretch>
        </p:blipFill>
        <p:spPr>
          <a:xfrm>
            <a:off x="2505523" y="6094460"/>
            <a:ext cx="123551" cy="179710"/>
          </a:xfrm>
          <a:prstGeom prst="rect">
            <a:avLst/>
          </a:prstGeom>
        </p:spPr>
      </p:pic>
      <p:sp>
        <p:nvSpPr>
          <p:cNvPr id="79" name="TextBox 78"/>
          <p:cNvSpPr txBox="1"/>
          <p:nvPr/>
        </p:nvSpPr>
        <p:spPr>
          <a:xfrm>
            <a:off x="2666319" y="6103848"/>
            <a:ext cx="578596" cy="179984"/>
          </a:xfrm>
          <a:prstGeom prst="rect">
            <a:avLst/>
          </a:prstGeom>
          <a:noFill/>
        </p:spPr>
        <p:txBody>
          <a:bodyPr wrap="none" lIns="0" rIns="0" tIns="0" bIns="0">
            <a:spAutoFit/>
          </a:bodyPr>
          <a:lstStyle/>
          <a:p>
            <a:r>
              <a:rPr sz="1055" b="0">
                <a:solidFill>
                  <a:srgbClr val="2E2E2E"/>
                </a:solidFill>
                <a:latin typeface="Calibri"/>
              </a:rPr>
              <a:t>US$ Mn (</a:t>
            </a:r>
          </a:p>
        </p:txBody>
      </p:sp>
      <p:pic>
        <p:nvPicPr>
          <p:cNvPr id="80" name="Picture 79" descr="lock.png"/>
          <p:cNvPicPr>
            <a:picLocks noChangeAspect="1"/>
          </p:cNvPicPr>
          <p:nvPr/>
        </p:nvPicPr>
        <p:blipFill>
          <a:blip r:embed="rId10"/>
          <a:stretch>
            <a:fillRect/>
          </a:stretch>
        </p:blipFill>
        <p:spPr>
          <a:xfrm>
            <a:off x="3191997" y="6094460"/>
            <a:ext cx="123551" cy="179710"/>
          </a:xfrm>
          <a:prstGeom prst="rect">
            <a:avLst/>
          </a:prstGeom>
        </p:spPr>
      </p:pic>
      <p:sp>
        <p:nvSpPr>
          <p:cNvPr id="81" name="TextBox 80"/>
          <p:cNvSpPr txBox="1"/>
          <p:nvPr/>
        </p:nvSpPr>
        <p:spPr>
          <a:xfrm>
            <a:off x="3352793" y="6103848"/>
            <a:ext cx="2018466" cy="179984"/>
          </a:xfrm>
          <a:prstGeom prst="rect">
            <a:avLst/>
          </a:prstGeom>
          <a:noFill/>
        </p:spPr>
        <p:txBody>
          <a:bodyPr wrap="none" lIns="0" rIns="0" tIns="0" bIns="0">
            <a:spAutoFit/>
          </a:bodyPr>
          <a:lstStyle/>
          <a:p>
            <a:r>
              <a:rPr sz="1055" b="0">
                <a:solidFill>
                  <a:srgbClr val="2E2E2E"/>
                </a:solidFill>
                <a:latin typeface="Calibri"/>
              </a:rPr>
              <a:t>share), ahead of 'Distributor Sales' (</a:t>
            </a:r>
          </a:p>
        </p:txBody>
      </p:sp>
      <p:pic>
        <p:nvPicPr>
          <p:cNvPr id="82" name="Picture 81" descr="lock.png"/>
          <p:cNvPicPr>
            <a:picLocks noChangeAspect="1"/>
          </p:cNvPicPr>
          <p:nvPr/>
        </p:nvPicPr>
        <p:blipFill>
          <a:blip r:embed="rId10"/>
          <a:stretch>
            <a:fillRect/>
          </a:stretch>
        </p:blipFill>
        <p:spPr>
          <a:xfrm>
            <a:off x="5318341" y="6094460"/>
            <a:ext cx="123551" cy="179710"/>
          </a:xfrm>
          <a:prstGeom prst="rect">
            <a:avLst/>
          </a:prstGeom>
        </p:spPr>
      </p:pic>
      <p:sp>
        <p:nvSpPr>
          <p:cNvPr id="83" name="TextBox 82"/>
          <p:cNvSpPr txBox="1"/>
          <p:nvPr/>
        </p:nvSpPr>
        <p:spPr>
          <a:xfrm>
            <a:off x="5479137" y="6103848"/>
            <a:ext cx="582001" cy="179984"/>
          </a:xfrm>
          <a:prstGeom prst="rect">
            <a:avLst/>
          </a:prstGeom>
          <a:noFill/>
        </p:spPr>
        <p:txBody>
          <a:bodyPr wrap="none" lIns="0" rIns="0" tIns="0" bIns="0">
            <a:spAutoFit/>
          </a:bodyPr>
          <a:lstStyle/>
          <a:p>
            <a:r>
              <a:rPr sz="1055" b="0">
                <a:solidFill>
                  <a:srgbClr val="2E2E2E"/>
                </a:solidFill>
                <a:latin typeface="Calibri"/>
              </a:rPr>
              <a:t>US$ Mn).</a:t>
            </a:r>
          </a:p>
        </p:txBody>
      </p:sp>
      <p:sp>
        <p:nvSpPr>
          <p:cNvPr id="84" name="TextBox 83"/>
          <p:cNvSpPr txBox="1"/>
          <p:nvPr/>
        </p:nvSpPr>
        <p:spPr>
          <a:xfrm>
            <a:off x="276225" y="6313063"/>
            <a:ext cx="6413777" cy="179984"/>
          </a:xfrm>
          <a:prstGeom prst="rect">
            <a:avLst/>
          </a:prstGeom>
          <a:noFill/>
        </p:spPr>
        <p:txBody>
          <a:bodyPr wrap="none" lIns="0" rIns="0" tIns="0" bIns="0">
            <a:spAutoFit/>
          </a:bodyPr>
          <a:lstStyle/>
          <a:p>
            <a:r>
              <a:rPr sz="1055" b="0">
                <a:solidFill>
                  <a:srgbClr val="2E2E2E"/>
                </a:solidFill>
                <a:latin typeface="Calibri"/>
              </a:rPr>
              <a:t>▪ Use the Country slicer in the top band to switch country the selection stays synced across every page of the report.</a:t>
            </a:r>
          </a:p>
        </p:txBody>
      </p:sp>
      <p:sp>
        <p:nvSpPr>
          <p:cNvPr id="85" name="lockshield_12"/>
          <p:cNvSpPr/>
          <p:nvPr/>
        </p:nvSpPr>
        <p:spPr>
          <a:xfrm>
            <a:off x="2381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ockshield_15"/>
          <p:cNvSpPr/>
          <p:nvPr/>
        </p:nvSpPr>
        <p:spPr>
          <a:xfrm>
            <a:off x="32480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lockshield_18"/>
          <p:cNvSpPr/>
          <p:nvPr/>
        </p:nvSpPr>
        <p:spPr>
          <a:xfrm>
            <a:off x="62579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lockshield_21"/>
          <p:cNvSpPr/>
          <p:nvPr/>
        </p:nvSpPr>
        <p:spPr>
          <a:xfrm>
            <a:off x="9267825" y="1266825"/>
            <a:ext cx="26670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lockshield_24"/>
          <p:cNvSpPr/>
          <p:nvPr/>
        </p:nvSpPr>
        <p:spPr>
          <a:xfrm>
            <a:off x="2381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lockshield_27"/>
          <p:cNvSpPr/>
          <p:nvPr/>
        </p:nvSpPr>
        <p:spPr>
          <a:xfrm>
            <a:off x="3324225" y="3095625"/>
            <a:ext cx="2743200" cy="13525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16217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505075"/>
            <a:ext cx="8572500" cy="514350"/>
          </a:xfrm>
          <a:prstGeom prst="rect">
            <a:avLst/>
          </a:prstGeom>
          <a:noFill/>
        </p:spPr>
        <p:txBody>
          <a:bodyPr wrap="square" lIns="0" rIns="0" tIns="0">
            <a:spAutoFit/>
          </a:bodyPr>
          <a:lstStyle/>
          <a:p>
            <a:r>
              <a:rPr sz="3000" b="1">
                <a:solidFill>
                  <a:srgbClr val="0B3C8C"/>
                </a:solidFill>
                <a:latin typeface="Calibri"/>
              </a:rPr>
              <a:t>Segment Overview (Volume &amp; Value)</a:t>
            </a:r>
          </a:p>
        </p:txBody>
      </p:sp>
      <p:sp>
        <p:nvSpPr>
          <p:cNvPr id="11" name="TextBox 10"/>
          <p:cNvSpPr txBox="1"/>
          <p:nvPr/>
        </p:nvSpPr>
        <p:spPr>
          <a:xfrm>
            <a:off x="914400" y="3190875"/>
            <a:ext cx="8458200" cy="24574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Technology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Reusability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Monitoring Capability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Technology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Device Technology: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Device Technology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Device Technology</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2488788"/>
                <a:gridCol w="846977"/>
                <a:gridCol w="846977"/>
                <a:gridCol w="1069641"/>
                <a:gridCol w="605492"/>
              </a:tblGrid>
              <a:tr h="246126">
                <a:tc>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Portable Machine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Device Technology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168366"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Device Technology, 2021–2036</a:t>
            </a:r>
          </a:p>
        </p:txBody>
      </p:sp>
      <p:sp>
        <p:nvSpPr>
          <p:cNvPr id="10" name="Rounded Rectangle 9"/>
          <p:cNvSpPr/>
          <p:nvPr/>
        </p:nvSpPr>
        <p:spPr>
          <a:xfrm>
            <a:off x="142875" y="981075"/>
            <a:ext cx="1190625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Device Technology (US$ Mn)</a:t>
            </a:r>
          </a:p>
        </p:txBody>
      </p:sp>
      <p:graphicFrame>
        <p:nvGraphicFramePr>
          <p:cNvPr id="12" name="Table 11"/>
          <p:cNvGraphicFramePr>
            <a:graphicFrameLocks noGrp="1"/>
          </p:cNvGraphicFramePr>
          <p:nvPr/>
        </p:nvGraphicFramePr>
        <p:xfrm>
          <a:off x="152400" y="1238250"/>
          <a:ext cx="11887201" cy="2714626"/>
        </p:xfrm>
        <a:graphic>
          <a:graphicData uri="http://schemas.openxmlformats.org/drawingml/2006/table">
            <a:tbl>
              <a:tblPr>
                <a:tableStyleId>{5C22544A-7EE6-4342-B048-85BDC9FD1C3A}</a:tableStyleId>
              </a:tblPr>
              <a:tblGrid>
                <a:gridCol w="3358481"/>
                <a:gridCol w="512307"/>
                <a:gridCol w="512307"/>
                <a:gridCol w="512307"/>
                <a:gridCol w="512307"/>
                <a:gridCol w="512307"/>
                <a:gridCol w="494261"/>
                <a:gridCol w="489105"/>
                <a:gridCol w="489105"/>
                <a:gridCol w="489105"/>
                <a:gridCol w="489105"/>
                <a:gridCol w="489105"/>
                <a:gridCol w="489105"/>
                <a:gridCol w="489105"/>
                <a:gridCol w="489105"/>
                <a:gridCol w="489105"/>
                <a:gridCol w="489105"/>
                <a:gridCol w="581874"/>
              </a:tblGrid>
              <a:tr h="246126">
                <a:tc>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Passive Insulated Transport Containers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Active Temperature-Controlled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Portable Machine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 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 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624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588551" y="2451926"/>
            <a:ext cx="366712" cy="533400"/>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Organ Compatibility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Organ Compatibility: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Organ Compatibility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Organ Compatibility</a:t>
            </a:r>
          </a:p>
        </p:txBody>
      </p:sp>
      <p:graphicFrame>
        <p:nvGraphicFramePr>
          <p:cNvPr id="15" name="Table 14"/>
          <p:cNvGraphicFramePr>
            <a:graphicFrameLocks noGrp="1"/>
          </p:cNvGraphicFramePr>
          <p:nvPr/>
        </p:nvGraphicFramePr>
        <p:xfrm>
          <a:off x="6181725" y="1238250"/>
          <a:ext cx="5857876" cy="2286000"/>
        </p:xfrm>
        <a:graphic>
          <a:graphicData uri="http://schemas.openxmlformats.org/drawingml/2006/table">
            <a:tbl>
              <a:tblPr>
                <a:tableStyleId>{5C22544A-7EE6-4342-B048-85BDC9FD1C3A}</a:tableStyleId>
              </a:tblPr>
              <a:tblGrid>
                <a:gridCol w="2345633"/>
                <a:gridCol w="882966"/>
                <a:gridCol w="882966"/>
                <a:gridCol w="1115091"/>
                <a:gridCol w="631220"/>
              </a:tblGrid>
              <a:tr h="246126">
                <a:tc>
                  <a:txBody>
                    <a:bodyPr wrap="none"/>
                    <a:lstStyle/>
                    <a:p>
                      <a:pPr algn="l"/>
                      <a:r>
                        <a:rPr sz="1100" b="1">
                          <a:solidFill>
                            <a:srgbClr val="0B2E4A"/>
                          </a:solidFill>
                          <a:latin typeface="Calibri"/>
                        </a:rPr>
                        <a:t>Organ Compatibility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Organ-Specific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Multi-Organ Compatible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Organ Compatibility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096789"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Organ Compatibility, 2021–2036</a:t>
            </a:r>
          </a:p>
        </p:txBody>
      </p:sp>
      <p:sp>
        <p:nvSpPr>
          <p:cNvPr id="10" name="Rounded Rectangle 9"/>
          <p:cNvSpPr/>
          <p:nvPr/>
        </p:nvSpPr>
        <p:spPr>
          <a:xfrm>
            <a:off x="142875" y="981075"/>
            <a:ext cx="11906250" cy="2686050"/>
          </a:xfrm>
          <a:prstGeom prst="roundRect">
            <a:avLst>
              <a:gd name="adj" fmla="val 28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Organ Compatibility (US$ Mn)</a:t>
            </a:r>
          </a:p>
        </p:txBody>
      </p:sp>
      <p:graphicFrame>
        <p:nvGraphicFramePr>
          <p:cNvPr id="12" name="Table 11"/>
          <p:cNvGraphicFramePr>
            <a:graphicFrameLocks noGrp="1"/>
          </p:cNvGraphicFramePr>
          <p:nvPr/>
        </p:nvGraphicFramePr>
        <p:xfrm>
          <a:off x="152400" y="1238250"/>
          <a:ext cx="11887208" cy="2219326"/>
        </p:xfrm>
        <a:graphic>
          <a:graphicData uri="http://schemas.openxmlformats.org/drawingml/2006/table">
            <a:tbl>
              <a:tblPr>
                <a:tableStyleId>{5C22544A-7EE6-4342-B048-85BDC9FD1C3A}</a:tableStyleId>
              </a:tblPr>
              <a:tblGrid>
                <a:gridCol w="2132319"/>
                <a:gridCol w="573817"/>
                <a:gridCol w="573817"/>
                <a:gridCol w="573817"/>
                <a:gridCol w="573817"/>
                <a:gridCol w="573817"/>
                <a:gridCol w="573817"/>
                <a:gridCol w="573817"/>
                <a:gridCol w="573817"/>
                <a:gridCol w="573817"/>
                <a:gridCol w="573817"/>
                <a:gridCol w="573817"/>
                <a:gridCol w="573817"/>
                <a:gridCol w="573817"/>
                <a:gridCol w="573817"/>
                <a:gridCol w="573817"/>
                <a:gridCol w="573817"/>
                <a:gridCol w="573817"/>
              </a:tblGrid>
              <a:tr h="246126">
                <a:tc>
                  <a:txBody>
                    <a:bodyPr wrap="none"/>
                    <a:lstStyle/>
                    <a:p>
                      <a:pPr algn="l"/>
                      <a:r>
                        <a:rPr sz="1100" b="1">
                          <a:solidFill>
                            <a:srgbClr val="0B2E4A"/>
                          </a:solidFill>
                          <a:latin typeface="Calibri"/>
                        </a:rPr>
                        <a:t>Organ Compatibility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650">
                <a:tc>
                  <a:txBody>
                    <a:bodyPr wrap="none"/>
                    <a:lstStyle/>
                    <a:p>
                      <a:pPr algn="l"/>
                      <a:r>
                        <a:rPr sz="1100" b="1">
                          <a:solidFill>
                            <a:srgbClr val="2E2E2E"/>
                          </a:solidFill>
                          <a:latin typeface="Calibri"/>
                        </a:rPr>
                        <a:t>Organ-Specific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Kidney-Specific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Liver-Specific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Heart-Specific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 Lung-Specific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 Other Organ-Specific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650">
                <a:tc>
                  <a:txBody>
                    <a:bodyPr wrap="none"/>
                    <a:lstStyle/>
                    <a:p>
                      <a:pPr algn="l"/>
                      <a:r>
                        <a:rPr sz="1100" b="1">
                          <a:solidFill>
                            <a:srgbClr val="2E2E2E"/>
                          </a:solidFill>
                          <a:latin typeface="Calibri"/>
                        </a:rPr>
                        <a:t>Multi-Organ Compatible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650">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4671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6975473" y="2204276"/>
            <a:ext cx="366712" cy="533400"/>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Reusability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Device Reusability: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Device Reusability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Device Reusability</a:t>
            </a:r>
          </a:p>
        </p:txBody>
      </p:sp>
      <p:graphicFrame>
        <p:nvGraphicFramePr>
          <p:cNvPr id="15" name="Table 14"/>
          <p:cNvGraphicFramePr>
            <a:graphicFrameLocks noGrp="1"/>
          </p:cNvGraphicFramePr>
          <p:nvPr/>
        </p:nvGraphicFramePr>
        <p:xfrm>
          <a:off x="6181725" y="1238250"/>
          <a:ext cx="5857874" cy="2286000"/>
        </p:xfrm>
        <a:graphic>
          <a:graphicData uri="http://schemas.openxmlformats.org/drawingml/2006/table">
            <a:tbl>
              <a:tblPr>
                <a:tableStyleId>{5C22544A-7EE6-4342-B048-85BDC9FD1C3A}</a:tableStyleId>
              </a:tblPr>
              <a:tblGrid>
                <a:gridCol w="1879930"/>
                <a:gridCol w="994486"/>
                <a:gridCol w="994486"/>
                <a:gridCol w="994486"/>
                <a:gridCol w="994486"/>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Device Reusability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863937"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Device Reusability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Device Reusability,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Device Reusability (US$ Mn)</a:t>
            </a:r>
          </a:p>
        </p:txBody>
      </p:sp>
      <p:graphicFrame>
        <p:nvGraphicFramePr>
          <p:cNvPr id="16" name="Table 15"/>
          <p:cNvGraphicFramePr>
            <a:graphicFrameLocks noGrp="1"/>
          </p:cNvGraphicFramePr>
          <p:nvPr/>
        </p:nvGraphicFramePr>
        <p:xfrm>
          <a:off x="152400" y="1238250"/>
          <a:ext cx="11887197" cy="990600"/>
        </p:xfrm>
        <a:graphic>
          <a:graphicData uri="http://schemas.openxmlformats.org/drawingml/2006/table">
            <a:tbl>
              <a:tblPr>
                <a:tableStyleId>{5C22544A-7EE6-4342-B048-85BDC9FD1C3A}</a:tableStyleId>
              </a:tblPr>
              <a:tblGrid>
                <a:gridCol w="1951700"/>
                <a:gridCol w="584441"/>
                <a:gridCol w="584441"/>
                <a:gridCol w="584441"/>
                <a:gridCol w="584441"/>
                <a:gridCol w="584441"/>
                <a:gridCol w="584441"/>
                <a:gridCol w="584441"/>
                <a:gridCol w="584441"/>
                <a:gridCol w="584441"/>
                <a:gridCol w="584441"/>
                <a:gridCol w="584441"/>
                <a:gridCol w="584441"/>
                <a:gridCol w="584441"/>
                <a:gridCol w="584441"/>
                <a:gridCol w="584441"/>
                <a:gridCol w="584441"/>
                <a:gridCol w="58444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85158" y="1589912"/>
            <a:ext cx="366712" cy="533400"/>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14.4</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Monitoring Capability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Monitoring Capability: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Monitoring Capability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Monitoring Capability</a:t>
            </a:r>
          </a:p>
        </p:txBody>
      </p:sp>
      <p:graphicFrame>
        <p:nvGraphicFramePr>
          <p:cNvPr id="15" name="Table 14"/>
          <p:cNvGraphicFramePr>
            <a:graphicFrameLocks noGrp="1"/>
          </p:cNvGraphicFramePr>
          <p:nvPr/>
        </p:nvGraphicFramePr>
        <p:xfrm>
          <a:off x="6181725" y="1238250"/>
          <a:ext cx="5857873" cy="2286000"/>
        </p:xfrm>
        <a:graphic>
          <a:graphicData uri="http://schemas.openxmlformats.org/drawingml/2006/table">
            <a:tbl>
              <a:tblPr>
                <a:tableStyleId>{5C22544A-7EE6-4342-B048-85BDC9FD1C3A}</a:tableStyleId>
              </a:tblPr>
              <a:tblGrid>
                <a:gridCol w="2594885"/>
                <a:gridCol w="820304"/>
                <a:gridCol w="820304"/>
                <a:gridCol w="1035956"/>
                <a:gridCol w="586424"/>
              </a:tblGrid>
              <a:tr h="246126">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Devices with Integrated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Monitoring Capability (US$ Mn), between 2026–2036</a:t>
            </a:r>
          </a:p>
        </p:txBody>
      </p:sp>
      <p:graphicFrame>
        <p:nvGraphicFramePr>
          <p:cNvPr id="19" name="Chart 18"/>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221414"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9555" y="5216754"/>
            <a:ext cx="252890" cy="367840"/>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Monitoring Capability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Monitoring Capability, 2021–2036</a:t>
            </a:r>
          </a:p>
        </p:txBody>
      </p:sp>
      <p:sp>
        <p:nvSpPr>
          <p:cNvPr id="14" name="Rounded Rectangle 13"/>
          <p:cNvSpPr/>
          <p:nvPr/>
        </p:nvSpPr>
        <p:spPr>
          <a:xfrm>
            <a:off x="142875" y="981075"/>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Monitoring Capability (US$ Mn)</a:t>
            </a:r>
          </a:p>
        </p:txBody>
      </p:sp>
      <p:graphicFrame>
        <p:nvGraphicFramePr>
          <p:cNvPr id="16" name="Table 15"/>
          <p:cNvGraphicFramePr>
            <a:graphicFrameLocks noGrp="1"/>
          </p:cNvGraphicFramePr>
          <p:nvPr/>
        </p:nvGraphicFramePr>
        <p:xfrm>
          <a:off x="152400" y="1238250"/>
          <a:ext cx="11887202" cy="1724022"/>
        </p:xfrm>
        <a:graphic>
          <a:graphicData uri="http://schemas.openxmlformats.org/drawingml/2006/table">
            <a:tbl>
              <a:tblPr>
                <a:tableStyleId>{5C22544A-7EE6-4342-B048-85BDC9FD1C3A}</a:tableStyleId>
              </a:tblPr>
              <a:tblGrid>
                <a:gridCol w="3386136"/>
                <a:gridCol w="510646"/>
                <a:gridCol w="510646"/>
                <a:gridCol w="510646"/>
                <a:gridCol w="510646"/>
                <a:gridCol w="510646"/>
                <a:gridCol w="492658"/>
                <a:gridCol w="487519"/>
                <a:gridCol w="487519"/>
                <a:gridCol w="487519"/>
                <a:gridCol w="487519"/>
                <a:gridCol w="487519"/>
                <a:gridCol w="487519"/>
                <a:gridCol w="487519"/>
                <a:gridCol w="487519"/>
                <a:gridCol w="487519"/>
                <a:gridCol w="487519"/>
                <a:gridCol w="579988"/>
              </a:tblGrid>
              <a:tr h="246126">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6316">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Devices with Integrated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Temperature Monitoring Only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 Temperature and Location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316">
                <a:tc>
                  <a:txBody>
                    <a:bodyPr wrap="none"/>
                    <a:lstStyle/>
                    <a:p>
                      <a:pPr algn="l"/>
                      <a:r>
                        <a:rPr sz="1100" b="1">
                          <a:solidFill>
                            <a:srgbClr val="2E2E2E"/>
                          </a:solidFill>
                          <a:latin typeface="Calibri"/>
                        </a:rPr>
                        <a:t>– Physiological and Perfusion Parameter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316">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9718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602378" y="1956623"/>
            <a:ext cx="366712" cy="533400"/>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Purchasing Organisation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Purchasing Organisation: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Purchasing Organisation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Purchasing Organisation</a:t>
            </a:r>
          </a:p>
        </p:txBody>
      </p:sp>
      <p:graphicFrame>
        <p:nvGraphicFramePr>
          <p:cNvPr id="15" name="Table 14"/>
          <p:cNvGraphicFramePr>
            <a:graphicFrameLocks noGrp="1"/>
          </p:cNvGraphicFramePr>
          <p:nvPr/>
        </p:nvGraphicFramePr>
        <p:xfrm>
          <a:off x="6181725" y="1238250"/>
          <a:ext cx="5857874" cy="2285996"/>
        </p:xfrm>
        <a:graphic>
          <a:graphicData uri="http://schemas.openxmlformats.org/drawingml/2006/table">
            <a:tbl>
              <a:tblPr>
                <a:tableStyleId>{5C22544A-7EE6-4342-B048-85BDC9FD1C3A}</a:tableStyleId>
              </a:tblPr>
              <a:tblGrid>
                <a:gridCol w="3917394"/>
                <a:gridCol w="452227"/>
                <a:gridCol w="452227"/>
                <a:gridCol w="621987"/>
                <a:gridCol w="414039"/>
              </a:tblGrid>
              <a:tr h="438912">
                <a:tc>
                  <a:txBody>
                    <a:bodyPr wrap="none"/>
                    <a:lstStyle/>
                    <a:p>
                      <a:pPr algn="l"/>
                      <a:r>
                        <a:rPr sz="1100" b="1">
                          <a:solidFill>
                            <a:srgbClr val="0B2E4A"/>
                          </a:solidFill>
                          <a:latin typeface="Calibri"/>
                        </a:rPr>
                        <a:t>Purchasing Organisation</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Share 2026</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Share 2036</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Variance (BPS)</a:t>
                      </a:r>
                      <a:endParaRPr sz="1100"/>
                    </a:p>
                  </a:txBody>
                  <a:tcPr marL="28575" marR="19050" marT="19050" marB="19050" anchor="ctr">
                    <a:solidFill>
                      <a:srgbClr val="E0E8EF"/>
                    </a:solidFill>
                  </a:tcPr>
                </a:tc>
                <a:tc>
                  <a:txBody>
                    <a:bodyPr wrap="square"/>
                    <a:lstStyle/>
                    <a:p>
                      <a:pPr algn="ctr"/>
                      <a:r>
                        <a:rPr sz="1100" b="1">
                          <a:solidFill>
                            <a:srgbClr val="0B2E4A"/>
                          </a:solidFill>
                          <a:latin typeface="Calibri"/>
                        </a:rPr>
                        <a:t>F-CAGR</a:t>
                      </a:r>
                      <a:endParaRPr sz="1100"/>
                    </a:p>
                  </a:txBody>
                  <a:tcPr marL="28575" marR="19050" marT="19050" marB="19050" anchor="ctr">
                    <a:solidFill>
                      <a:srgbClr val="E0E8EF"/>
                    </a:solidFill>
                  </a:tcPr>
                </a:tc>
              </a:tr>
              <a:tr h="461771">
                <a:tc>
                  <a:txBody>
                    <a:bodyPr wrap="none"/>
                    <a:lstStyle/>
                    <a:p>
                      <a:pPr algn="l"/>
                      <a:r>
                        <a:rPr sz="1100" b="1">
                          <a:solidFill>
                            <a:srgbClr val="2E2E2E"/>
                          </a:solidFill>
                          <a:latin typeface="Calibri"/>
                        </a:rPr>
                        <a:t>Hospitals and Transplant Centres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461771">
                <a:tc>
                  <a:txBody>
                    <a:bodyPr wrap="none"/>
                    <a:lstStyle/>
                    <a:p>
                      <a:pPr algn="l"/>
                      <a:r>
                        <a:rPr sz="1100" b="1">
                          <a:solidFill>
                            <a:srgbClr val="2E2E2E"/>
                          </a:solidFill>
                          <a:latin typeface="Calibri"/>
                        </a:rPr>
                        <a:t>Organ Procurement Organisations and Organ Retrieval Agencies</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r>
              <a:tr h="461771">
                <a:tc>
                  <a:txBody>
                    <a:bodyPr wrap="none"/>
                    <a:lstStyle/>
                    <a:p>
                      <a:pPr algn="l"/>
                      <a:r>
                        <a:rPr sz="1100" b="1">
                          <a:solidFill>
                            <a:srgbClr val="2E2E2E"/>
                          </a:solidFill>
                          <a:latin typeface="Calibri"/>
                        </a:rPr>
                        <a:t>Specialised Medical Logistics Providers</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c>
                  <a:txBody>
                    <a:bodyPr wrap="none"/>
                    <a:lstStyle/>
                    <a:p>
                      <a:pPr algn="ctr"/>
                      <a:r>
                        <a:rPr sz="1100"/>
                        <a:t> </a:t>
                      </a:r>
                      <a:endParaRPr sz="1100"/>
                    </a:p>
                  </a:txBody>
                  <a:tcPr marL="28575" marR="19050" marT="19050" marB="19050" anchor="ctr">
                    <a:solidFill>
                      <a:srgbClr val="FFFFFF"/>
                    </a:solidFill>
                  </a:tcPr>
                </a:tc>
              </a:tr>
              <a:tr h="461771">
                <a:tc>
                  <a:txBody>
                    <a:bodyPr wrap="none"/>
                    <a:lstStyle/>
                    <a:p>
                      <a:pPr algn="l"/>
                      <a:r>
                        <a:rPr sz="1100" b="1">
                          <a:solidFill>
                            <a:srgbClr val="2E2E2E"/>
                          </a:solidFill>
                          <a:latin typeface="Calibri"/>
                        </a:rPr>
                        <a:t>Other Purchasing Organisations</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c>
                  <a:txBody>
                    <a:bodyPr wrap="none"/>
                    <a:lstStyle/>
                    <a:p>
                      <a:pPr algn="ctr"/>
                      <a:r>
                        <a:rPr sz="1100"/>
                        <a:t> </a:t>
                      </a:r>
                      <a:endParaRPr sz="1100"/>
                    </a:p>
                  </a:txBody>
                  <a:tcPr marL="28575" marR="1905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Purchasing Organisation (US$ Mn), between 2026–2036</a:t>
            </a:r>
          </a:p>
        </p:txBody>
      </p:sp>
      <p:graphicFrame>
        <p:nvGraphicFramePr>
          <p:cNvPr id="19" name="Chart 18"/>
          <p:cNvGraphicFramePr>
            <a:graphicFrameLocks noGrp="1"/>
          </p:cNvGraphicFramePr>
          <p:nvPr/>
        </p:nvGraphicFramePr>
        <p:xfrm>
          <a:off x="238125" y="4324350"/>
          <a:ext cx="11520309" cy="223837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10901338" y="2360675"/>
            <a:ext cx="330041" cy="480060"/>
          </a:xfrm>
          <a:prstGeom prst="rect">
            <a:avLst/>
          </a:prstGeom>
        </p:spPr>
      </p:pic>
      <p:pic>
        <p:nvPicPr>
          <p:cNvPr id="27" name="Picture 26" descr="lock.png"/>
          <p:cNvPicPr>
            <a:picLocks noChangeAspect="1"/>
          </p:cNvPicPr>
          <p:nvPr/>
        </p:nvPicPr>
        <p:blipFill>
          <a:blip r:embed="rId6"/>
          <a:stretch>
            <a:fillRect/>
          </a:stretch>
        </p:blipFill>
        <p:spPr>
          <a:xfrm>
            <a:off x="5969555" y="5216754"/>
            <a:ext cx="252890" cy="367840"/>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324350"/>
            <a:ext cx="11520309" cy="223837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Purchasing Organisation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Purchasing Organisation, 2021–2036</a:t>
            </a:r>
          </a:p>
        </p:txBody>
      </p:sp>
      <p:sp>
        <p:nvSpPr>
          <p:cNvPr id="14" name="Rounded Rectangle 13"/>
          <p:cNvSpPr/>
          <p:nvPr/>
        </p:nvSpPr>
        <p:spPr>
          <a:xfrm>
            <a:off x="142875" y="981075"/>
            <a:ext cx="11906250" cy="1952625"/>
          </a:xfrm>
          <a:prstGeom prst="roundRect">
            <a:avLst>
              <a:gd name="adj" fmla="val 390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Purchasing Organisation (US$ Mn)</a:t>
            </a:r>
          </a:p>
        </p:txBody>
      </p:sp>
      <p:graphicFrame>
        <p:nvGraphicFramePr>
          <p:cNvPr id="16" name="Table 15"/>
          <p:cNvGraphicFramePr>
            <a:graphicFrameLocks noGrp="1"/>
          </p:cNvGraphicFramePr>
          <p:nvPr/>
        </p:nvGraphicFramePr>
        <p:xfrm>
          <a:off x="152400" y="1238250"/>
          <a:ext cx="11887202" cy="1485896"/>
        </p:xfrm>
        <a:graphic>
          <a:graphicData uri="http://schemas.openxmlformats.org/drawingml/2006/table">
            <a:tbl>
              <a:tblPr>
                <a:tableStyleId>{5C22544A-7EE6-4342-B048-85BDC9FD1C3A}</a:tableStyleId>
              </a:tblPr>
              <a:tblGrid>
                <a:gridCol w="3990366"/>
                <a:gridCol w="474760"/>
                <a:gridCol w="474760"/>
                <a:gridCol w="474760"/>
                <a:gridCol w="474760"/>
                <a:gridCol w="474760"/>
                <a:gridCol w="457356"/>
                <a:gridCol w="452383"/>
                <a:gridCol w="452383"/>
                <a:gridCol w="452383"/>
                <a:gridCol w="452383"/>
                <a:gridCol w="452383"/>
                <a:gridCol w="452383"/>
                <a:gridCol w="452383"/>
                <a:gridCol w="452383"/>
                <a:gridCol w="452383"/>
                <a:gridCol w="452383"/>
                <a:gridCol w="541850"/>
              </a:tblGrid>
              <a:tr h="246126">
                <a:tc>
                  <a:txBody>
                    <a:bodyPr wrap="none"/>
                    <a:lstStyle/>
                    <a:p>
                      <a:pPr algn="l"/>
                      <a:r>
                        <a:rPr sz="1100" b="1">
                          <a:solidFill>
                            <a:srgbClr val="0B2E4A"/>
                          </a:solidFill>
                          <a:latin typeface="Calibri"/>
                        </a:rPr>
                        <a:t>Purchasing Organisation</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2021A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2022A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2023A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2024A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2025A</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2026E</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2027F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2028F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2029F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2030F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2031F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2032F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2033F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2034F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2035F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2036F</a:t>
                      </a:r>
                      <a:endParaRPr sz="1100"/>
                    </a:p>
                  </a:txBody>
                  <a:tcPr marL="38100" marR="28575" marT="19050" marB="19050" anchor="ctr">
                    <a:solidFill>
                      <a:srgbClr val="E0E8EF"/>
                    </a:solidFill>
                  </a:tcPr>
                </a:tc>
                <a:tc>
                  <a:txBody>
                    <a:bodyPr wrap="none"/>
                    <a:lstStyle/>
                    <a:p>
                      <a:pPr algn="ctr"/>
                      <a:r>
                        <a:rPr sz="1100" b="1">
                          <a:solidFill>
                            <a:srgbClr val="0B2E4A"/>
                          </a:solidFill>
                          <a:latin typeface="Calibri"/>
                        </a:rPr>
                        <a:t>F-CAGR</a:t>
                      </a:r>
                      <a:endParaRPr sz="1100"/>
                    </a:p>
                  </a:txBody>
                  <a:tcPr marL="38100" marR="28575" marT="19050" marB="19050" anchor="ctr">
                    <a:solidFill>
                      <a:srgbClr val="E0E8EF"/>
                    </a:solidFill>
                  </a:tcPr>
                </a:tc>
              </a:tr>
              <a:tr h="247954">
                <a:tc>
                  <a:txBody>
                    <a:bodyPr wrap="none"/>
                    <a:lstStyle/>
                    <a:p>
                      <a:pPr algn="l"/>
                      <a:r>
                        <a:rPr sz="1100" b="1">
                          <a:solidFill>
                            <a:srgbClr val="2E2E2E"/>
                          </a:solidFill>
                          <a:latin typeface="Calibri"/>
                        </a:rPr>
                        <a:t>Hospitals and Transplant Centres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Organ Procurement Organisations and Organ Retrieval Agencies</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Specialised Medical Logistics Providers</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c>
                  <a:txBody>
                    <a:bodyPr wrap="none"/>
                    <a:lstStyle/>
                    <a:p>
                      <a:pPr algn="ctr"/>
                      <a:r>
                        <a:rPr sz="1100"/>
                        <a:t> </a:t>
                      </a:r>
                      <a:endParaRPr sz="1100"/>
                    </a:p>
                  </a:txBody>
                  <a:tcPr marL="38100" marR="28575" marT="19050" marB="19050" anchor="ctr">
                    <a:solidFill>
                      <a:srgbClr val="FFFFFF"/>
                    </a:solidFill>
                  </a:tcPr>
                </a:tc>
              </a:tr>
              <a:tr h="247954">
                <a:tc>
                  <a:txBody>
                    <a:bodyPr wrap="none"/>
                    <a:lstStyle/>
                    <a:p>
                      <a:pPr algn="l"/>
                      <a:r>
                        <a:rPr sz="1100" b="1">
                          <a:solidFill>
                            <a:srgbClr val="2E2E2E"/>
                          </a:solidFill>
                          <a:latin typeface="Calibri"/>
                        </a:rPr>
                        <a:t>Other Purchasing Organisations</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c>
                  <a:txBody>
                    <a:bodyPr wrap="none"/>
                    <a:lstStyle/>
                    <a:p>
                      <a:pPr algn="ctr"/>
                      <a:r>
                        <a:rPr sz="1100"/>
                        <a:t> </a:t>
                      </a:r>
                      <a:endParaRPr sz="1100"/>
                    </a:p>
                  </a:txBody>
                  <a:tcPr marL="38100" marR="28575" marT="19050" marB="19050" anchor="ctr">
                    <a:solidFill>
                      <a:srgbClr val="F5F8FA"/>
                    </a:solidFill>
                  </a:tcPr>
                </a:tc>
              </a:tr>
              <a:tr h="247954">
                <a:tc>
                  <a:txBody>
                    <a:bodyPr wrap="none"/>
                    <a:lstStyle/>
                    <a:p>
                      <a:pPr algn="l"/>
                      <a:r>
                        <a:rPr sz="1100" b="1">
                          <a:solidFill>
                            <a:srgbClr val="2E2E2E"/>
                          </a:solidFill>
                          <a:latin typeface="Calibri"/>
                        </a:rPr>
                        <a:t>Total</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c>
                  <a:txBody>
                    <a:bodyPr wrap="none"/>
                    <a:lstStyle/>
                    <a:p>
                      <a:pPr algn="ctr"/>
                      <a:r>
                        <a:rPr sz="1100"/>
                        <a:t> </a:t>
                      </a:r>
                      <a:endParaRPr sz="1100"/>
                    </a:p>
                  </a:txBody>
                  <a:tcPr marL="38100" marR="28575" marT="19050" marB="19050" anchor="ctr">
                    <a:solidFill>
                      <a:srgbClr val="E0E8EF"/>
                    </a:solidFill>
                  </a:tcPr>
                </a:tc>
              </a:tr>
            </a:tbl>
          </a:graphicData>
        </a:graphic>
      </p:graphicFrame>
      <p:sp>
        <p:nvSpPr>
          <p:cNvPr id="17" name="TextBox 16"/>
          <p:cNvSpPr txBox="1"/>
          <p:nvPr/>
        </p:nvSpPr>
        <p:spPr>
          <a:xfrm>
            <a:off x="219075" y="27336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7904493" y="1837563"/>
            <a:ext cx="366712" cy="533400"/>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14.6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Segmental</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Table (Volume &amp; Value)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YoY</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Segmental Analysis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segmental analysis by Sales Channel: growth contribution, share variance and absolute $ opportunity</a:t>
            </a:r>
          </a:p>
        </p:txBody>
      </p:sp>
      <p:sp>
        <p:nvSpPr>
          <p:cNvPr id="10" name="Rounded Rectangle 9"/>
          <p:cNvSpPr/>
          <p:nvPr/>
        </p:nvSpPr>
        <p:spPr>
          <a:xfrm>
            <a:off x="142875"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Sales Channel (US$ Mn)</a:t>
            </a:r>
          </a:p>
        </p:txBody>
      </p:sp>
      <p:graphicFrame>
        <p:nvGraphicFramePr>
          <p:cNvPr id="12" name="Chart 11"/>
          <p:cNvGraphicFramePr>
            <a:graphicFrameLocks noGrp="1"/>
          </p:cNvGraphicFramePr>
          <p:nvPr/>
        </p:nvGraphicFramePr>
        <p:xfrm>
          <a:off x="238125" y="1266825"/>
          <a:ext cx="5686425" cy="2409825"/>
        </p:xfrm>
        <a:graphic>
          <a:graphicData uri="http://schemas.openxmlformats.org/drawingml/2006/chart">
            <c:chart xmlns:c="http://schemas.openxmlformats.org/drawingml/2006/chart" r:id="rId3"/>
          </a:graphicData>
        </a:graphic>
      </p:graphicFrame>
      <p:sp>
        <p:nvSpPr>
          <p:cNvPr id="13" name="Rounded Rectangle 12"/>
          <p:cNvSpPr/>
          <p:nvPr/>
        </p:nvSpPr>
        <p:spPr>
          <a:xfrm>
            <a:off x="6172200" y="981075"/>
            <a:ext cx="5876925"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7450" y="10382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Sales Channel</a:t>
            </a:r>
          </a:p>
        </p:txBody>
      </p:sp>
      <p:graphicFrame>
        <p:nvGraphicFramePr>
          <p:cNvPr id="15" name="Table 14"/>
          <p:cNvGraphicFramePr>
            <a:graphicFrameLocks noGrp="1"/>
          </p:cNvGraphicFramePr>
          <p:nvPr/>
        </p:nvGraphicFramePr>
        <p:xfrm>
          <a:off x="6181725" y="1238250"/>
          <a:ext cx="5857875" cy="2286000"/>
        </p:xfrm>
        <a:graphic>
          <a:graphicData uri="http://schemas.openxmlformats.org/drawingml/2006/table">
            <a:tbl>
              <a:tblPr>
                <a:tableStyleId>{5C22544A-7EE6-4342-B048-85BDC9FD1C3A}</a:tableStyleId>
              </a:tblPr>
              <a:tblGrid>
                <a:gridCol w="1283995"/>
                <a:gridCol w="1143470"/>
                <a:gridCol w="1143470"/>
                <a:gridCol w="1143470"/>
                <a:gridCol w="1143470"/>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2026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Share 2036</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Variance (BPS)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1019937">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1019937">
                <a:tc>
                  <a:txBody>
                    <a:bodyPr wrap="none"/>
                    <a:lstStyle/>
                    <a:p>
                      <a:pPr algn="l"/>
                      <a:r>
                        <a:rPr sz="1100" b="1">
                          <a:solidFill>
                            <a:srgbClr val="2E2E2E"/>
                          </a:solidFill>
                          <a:latin typeface="Calibri"/>
                        </a:rPr>
                        <a:t>Distributor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6" name="TextBox 15"/>
          <p:cNvSpPr txBox="1"/>
          <p:nvPr/>
        </p:nvSpPr>
        <p:spPr>
          <a:xfrm>
            <a:off x="6248400" y="3533775"/>
            <a:ext cx="5724525"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7" name="Rounded Rectangle 16"/>
          <p:cNvSpPr/>
          <p:nvPr/>
        </p:nvSpPr>
        <p:spPr>
          <a:xfrm>
            <a:off x="142875" y="3867150"/>
            <a:ext cx="11906250" cy="2752725"/>
          </a:xfrm>
          <a:prstGeom prst="roundRect">
            <a:avLst>
              <a:gd name="adj" fmla="val 27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3924300"/>
            <a:ext cx="11520309"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Sales Channel (US$ Mn), between 2026–2036</a:t>
            </a:r>
          </a:p>
        </p:txBody>
      </p:sp>
      <p:graphicFrame>
        <p:nvGraphicFramePr>
          <p:cNvPr id="19" name="Chart 18"/>
          <p:cNvGraphicFramePr>
            <a:graphicFrameLocks noGrp="1"/>
          </p:cNvGraphicFramePr>
          <p:nvPr/>
        </p:nvGraphicFramePr>
        <p:xfrm>
          <a:off x="238125" y="4152900"/>
          <a:ext cx="11520309" cy="2409825"/>
        </p:xfrm>
        <a:graphic>
          <a:graphicData uri="http://schemas.openxmlformats.org/drawingml/2006/chart">
            <c:chart xmlns:c="http://schemas.openxmlformats.org/drawingml/2006/chart" r:id="rId4"/>
          </a:graphicData>
        </a:graphic>
      </p:graphicFrame>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6"/>
          <a:stretch>
            <a:fillRect/>
          </a:stretch>
        </p:blipFill>
        <p:spPr>
          <a:xfrm>
            <a:off x="3094826" y="2237234"/>
            <a:ext cx="263506" cy="383281"/>
          </a:xfrm>
          <a:prstGeom prst="rect">
            <a:avLst/>
          </a:prstGeom>
        </p:spPr>
      </p:pic>
      <p:pic>
        <p:nvPicPr>
          <p:cNvPr id="26" name="Picture 25" descr="lock.png"/>
          <p:cNvPicPr>
            <a:picLocks noChangeAspect="1"/>
          </p:cNvPicPr>
          <p:nvPr/>
        </p:nvPicPr>
        <p:blipFill>
          <a:blip r:embed="rId6"/>
          <a:stretch>
            <a:fillRect/>
          </a:stretch>
        </p:blipFill>
        <p:spPr>
          <a:xfrm>
            <a:off x="9565970" y="2237613"/>
            <a:ext cx="366712" cy="533400"/>
          </a:xfrm>
          <a:prstGeom prst="rect">
            <a:avLst/>
          </a:prstGeom>
        </p:spPr>
      </p:pic>
      <p:pic>
        <p:nvPicPr>
          <p:cNvPr id="27" name="Picture 26" descr="lock.png"/>
          <p:cNvPicPr>
            <a:picLocks noChangeAspect="1"/>
          </p:cNvPicPr>
          <p:nvPr/>
        </p:nvPicPr>
        <p:blipFill>
          <a:blip r:embed="rId6"/>
          <a:stretch>
            <a:fillRect/>
          </a:stretch>
        </p:blipFill>
        <p:spPr>
          <a:xfrm>
            <a:off x="5964247" y="5123309"/>
            <a:ext cx="263506" cy="383281"/>
          </a:xfrm>
          <a:prstGeom prst="rect">
            <a:avLst/>
          </a:prstGeom>
        </p:spPr>
      </p:pic>
      <p:sp>
        <p:nvSpPr>
          <p:cNvPr id="29" name="lockshield_12"/>
          <p:cNvSpPr/>
          <p:nvPr/>
        </p:nvSpPr>
        <p:spPr>
          <a:xfrm>
            <a:off x="238125" y="1266825"/>
            <a:ext cx="5686425"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ockshield_19"/>
          <p:cNvSpPr/>
          <p:nvPr/>
        </p:nvSpPr>
        <p:spPr>
          <a:xfrm>
            <a:off x="238125" y="4152900"/>
            <a:ext cx="11520309" cy="24098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Organ Transport Devices Market Tables Sales Channel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Year-by-year value of the U.S. market by Sales Channel, 2021–2036</a:t>
            </a:r>
          </a:p>
        </p:txBody>
      </p:sp>
      <p:sp>
        <p:nvSpPr>
          <p:cNvPr id="14" name="Rounded Rectangle 13"/>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By Sales Channel (US$ Mn)</a:t>
            </a:r>
          </a:p>
        </p:txBody>
      </p:sp>
      <p:graphicFrame>
        <p:nvGraphicFramePr>
          <p:cNvPr id="16" name="Table 15"/>
          <p:cNvGraphicFramePr>
            <a:graphicFrameLocks noGrp="1"/>
          </p:cNvGraphicFramePr>
          <p:nvPr/>
        </p:nvGraphicFramePr>
        <p:xfrm>
          <a:off x="152400" y="1238250"/>
          <a:ext cx="11887208" cy="990600"/>
        </p:xfrm>
        <a:graphic>
          <a:graphicData uri="http://schemas.openxmlformats.org/drawingml/2006/table">
            <a:tbl>
              <a:tblPr>
                <a:tableStyleId>{5C22544A-7EE6-4342-B048-85BDC9FD1C3A}</a:tableStyleId>
              </a:tblPr>
              <a:tblGrid>
                <a:gridCol w="1242131"/>
                <a:gridCol w="626181"/>
                <a:gridCol w="626181"/>
                <a:gridCol w="626181"/>
                <a:gridCol w="626181"/>
                <a:gridCol w="626181"/>
                <a:gridCol w="626181"/>
                <a:gridCol w="626181"/>
                <a:gridCol w="626181"/>
                <a:gridCol w="626181"/>
                <a:gridCol w="626181"/>
                <a:gridCol w="626181"/>
                <a:gridCol w="626181"/>
                <a:gridCol w="626181"/>
                <a:gridCol w="626181"/>
                <a:gridCol w="626181"/>
                <a:gridCol w="626181"/>
                <a:gridCol w="626181"/>
              </a:tblGrid>
              <a:tr h="246126">
                <a:tc>
                  <a:txBody>
                    <a:bodyPr wrap="none"/>
                    <a:lstStyle/>
                    <a:p>
                      <a:pPr algn="l"/>
                      <a:r>
                        <a:rPr sz="1100" b="1">
                          <a:solidFill>
                            <a:srgbClr val="0B2E4A"/>
                          </a:solidFill>
                          <a:latin typeface="Calibri"/>
                        </a:rPr>
                        <a:t>Sales Channel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2025A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2027F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2031F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2033F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2035F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F-CAGR</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Direct Sales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Distributor Sales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7" name="TextBox 16"/>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530379" y="1589912"/>
            <a:ext cx="366712" cy="533400"/>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Cross-sectional Assessment</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Technology x Organ Compatibility</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Monitoring Capability x Purchasing Organisation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Device Reusability x Sales Channel</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Technology x Organ Compatibility</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Device Technology × Organ Compatibility, 2026E vs 2036F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device technology sub-segment across organ compatibility sub-segments</a:t>
            </a:r>
          </a:p>
        </p:txBody>
      </p:sp>
      <p:sp>
        <p:nvSpPr>
          <p:cNvPr id="10" name="Rounded Rectangle 9"/>
          <p:cNvSpPr/>
          <p:nvPr/>
        </p:nvSpPr>
        <p:spPr>
          <a:xfrm>
            <a:off x="142875" y="981075"/>
            <a:ext cx="11906250" cy="3124200"/>
          </a:xfrm>
          <a:prstGeom prst="roundRect">
            <a:avLst>
              <a:gd name="adj" fmla="val 24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Device Technology × Organ Compatibility, 2026E and 2036F (US$ Mn)</a:t>
            </a:r>
          </a:p>
        </p:txBody>
      </p:sp>
      <p:graphicFrame>
        <p:nvGraphicFramePr>
          <p:cNvPr id="12" name="Table 11"/>
          <p:cNvGraphicFramePr>
            <a:graphicFrameLocks noGrp="1"/>
          </p:cNvGraphicFramePr>
          <p:nvPr/>
        </p:nvGraphicFramePr>
        <p:xfrm>
          <a:off x="152400" y="1238250"/>
          <a:ext cx="11887202" cy="2657475"/>
        </p:xfrm>
        <a:graphic>
          <a:graphicData uri="http://schemas.openxmlformats.org/drawingml/2006/table">
            <a:tbl>
              <a:tblPr>
                <a:tableStyleId>{5C22544A-7EE6-4342-B048-85BDC9FD1C3A}</a:tableStyleId>
              </a:tblPr>
              <a:tblGrid>
                <a:gridCol w="6215774"/>
                <a:gridCol w="945238"/>
                <a:gridCol w="945238"/>
                <a:gridCol w="945238"/>
                <a:gridCol w="945238"/>
                <a:gridCol w="945238"/>
                <a:gridCol w="945238"/>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507">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50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50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50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9052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9017198" y="2642997"/>
            <a:ext cx="366712" cy="533400"/>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Device Technology × Organ Compatibility, 2026E vs 2036F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device technology sub-segment across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Device Technology → Organ Compatibility, 2036F (US$ Mn)</a:t>
            </a:r>
          </a:p>
        </p:txBody>
      </p:sp>
      <p:sp>
        <p:nvSpPr>
          <p:cNvPr id="12" name="Freeform 11"/>
          <p:cNvSpPr/>
          <p:nvPr/>
        </p:nvSpPr>
        <p:spPr>
          <a:xfrm>
            <a:off x="2057400" y="1304925"/>
            <a:ext cx="3743325" cy="695325"/>
          </a:xfrm>
          <a:custGeom>
            <a:avLst/>
            <a:gdLst/>
            <a:ahLst/>
            <a:cxnLst/>
            <a:rect l="l" t="t" r="r" b="b"/>
            <a:pathLst>
              <a:path w="393" h="73">
                <a:moveTo>
                  <a:pt x="0" y="0"/>
                </a:moveTo>
                <a:lnTo>
                  <a:pt x="16" y="0"/>
                </a:lnTo>
                <a:lnTo>
                  <a:pt x="33" y="0"/>
                </a:lnTo>
                <a:lnTo>
                  <a:pt x="49" y="1"/>
                </a:lnTo>
                <a:lnTo>
                  <a:pt x="65" y="1"/>
                </a:lnTo>
                <a:lnTo>
                  <a:pt x="82" y="2"/>
                </a:lnTo>
                <a:lnTo>
                  <a:pt x="98" y="2"/>
                </a:lnTo>
                <a:lnTo>
                  <a:pt x="114" y="3"/>
                </a:lnTo>
                <a:lnTo>
                  <a:pt x="131" y="4"/>
                </a:lnTo>
                <a:lnTo>
                  <a:pt x="147" y="5"/>
                </a:lnTo>
                <a:lnTo>
                  <a:pt x="164" y="6"/>
                </a:lnTo>
                <a:lnTo>
                  <a:pt x="180" y="7"/>
                </a:lnTo>
                <a:lnTo>
                  <a:pt x="196" y="8"/>
                </a:lnTo>
                <a:lnTo>
                  <a:pt x="213" y="8"/>
                </a:lnTo>
                <a:lnTo>
                  <a:pt x="229" y="9"/>
                </a:lnTo>
                <a:lnTo>
                  <a:pt x="246" y="10"/>
                </a:lnTo>
                <a:lnTo>
                  <a:pt x="262" y="11"/>
                </a:lnTo>
                <a:lnTo>
                  <a:pt x="278" y="12"/>
                </a:lnTo>
                <a:lnTo>
                  <a:pt x="295" y="13"/>
                </a:lnTo>
                <a:lnTo>
                  <a:pt x="311" y="13"/>
                </a:lnTo>
                <a:lnTo>
                  <a:pt x="327" y="14"/>
                </a:lnTo>
                <a:lnTo>
                  <a:pt x="344" y="14"/>
                </a:lnTo>
                <a:lnTo>
                  <a:pt x="360" y="15"/>
                </a:lnTo>
                <a:lnTo>
                  <a:pt x="377" y="15"/>
                </a:lnTo>
                <a:lnTo>
                  <a:pt x="393" y="15"/>
                </a:lnTo>
                <a:lnTo>
                  <a:pt x="393" y="73"/>
                </a:lnTo>
                <a:lnTo>
                  <a:pt x="377" y="73"/>
                </a:lnTo>
                <a:lnTo>
                  <a:pt x="360" y="73"/>
                </a:lnTo>
                <a:lnTo>
                  <a:pt x="344" y="72"/>
                </a:lnTo>
                <a:lnTo>
                  <a:pt x="327" y="72"/>
                </a:lnTo>
                <a:lnTo>
                  <a:pt x="311" y="71"/>
                </a:lnTo>
                <a:lnTo>
                  <a:pt x="295" y="71"/>
                </a:lnTo>
                <a:lnTo>
                  <a:pt x="278" y="70"/>
                </a:lnTo>
                <a:lnTo>
                  <a:pt x="262" y="69"/>
                </a:lnTo>
                <a:lnTo>
                  <a:pt x="246" y="68"/>
                </a:lnTo>
                <a:lnTo>
                  <a:pt x="229" y="67"/>
                </a:lnTo>
                <a:lnTo>
                  <a:pt x="213" y="67"/>
                </a:lnTo>
                <a:lnTo>
                  <a:pt x="196" y="66"/>
                </a:lnTo>
                <a:lnTo>
                  <a:pt x="180" y="65"/>
                </a:lnTo>
                <a:lnTo>
                  <a:pt x="164" y="64"/>
                </a:lnTo>
                <a:lnTo>
                  <a:pt x="147" y="63"/>
                </a:lnTo>
                <a:lnTo>
                  <a:pt x="131" y="62"/>
                </a:lnTo>
                <a:lnTo>
                  <a:pt x="114" y="61"/>
                </a:lnTo>
                <a:lnTo>
                  <a:pt x="98" y="60"/>
                </a:lnTo>
                <a:lnTo>
                  <a:pt x="82" y="60"/>
                </a:lnTo>
                <a:lnTo>
                  <a:pt x="65" y="59"/>
                </a:lnTo>
                <a:lnTo>
                  <a:pt x="49" y="59"/>
                </a:lnTo>
                <a:lnTo>
                  <a:pt x="33" y="58"/>
                </a:lnTo>
                <a:lnTo>
                  <a:pt x="16" y="58"/>
                </a:lnTo>
                <a:lnTo>
                  <a:pt x="0" y="5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057400" y="1857375"/>
            <a:ext cx="3743325" cy="3667125"/>
          </a:xfrm>
          <a:custGeom>
            <a:avLst/>
            <a:gdLst/>
            <a:ahLst/>
            <a:cxnLst/>
            <a:rect l="l" t="t" r="r" b="b"/>
            <a:pathLst>
              <a:path w="393" h="385">
                <a:moveTo>
                  <a:pt x="0" y="0"/>
                </a:moveTo>
                <a:lnTo>
                  <a:pt x="16" y="2"/>
                </a:lnTo>
                <a:lnTo>
                  <a:pt x="33" y="7"/>
                </a:lnTo>
                <a:lnTo>
                  <a:pt x="49" y="16"/>
                </a:lnTo>
                <a:lnTo>
                  <a:pt x="65" y="28"/>
                </a:lnTo>
                <a:lnTo>
                  <a:pt x="82" y="42"/>
                </a:lnTo>
                <a:lnTo>
                  <a:pt x="98" y="58"/>
                </a:lnTo>
                <a:lnTo>
                  <a:pt x="114" y="76"/>
                </a:lnTo>
                <a:lnTo>
                  <a:pt x="131" y="96"/>
                </a:lnTo>
                <a:lnTo>
                  <a:pt x="147" y="117"/>
                </a:lnTo>
                <a:lnTo>
                  <a:pt x="164" y="139"/>
                </a:lnTo>
                <a:lnTo>
                  <a:pt x="180" y="162"/>
                </a:lnTo>
                <a:lnTo>
                  <a:pt x="196" y="185"/>
                </a:lnTo>
                <a:lnTo>
                  <a:pt x="213" y="208"/>
                </a:lnTo>
                <a:lnTo>
                  <a:pt x="229" y="231"/>
                </a:lnTo>
                <a:lnTo>
                  <a:pt x="246" y="253"/>
                </a:lnTo>
                <a:lnTo>
                  <a:pt x="262" y="274"/>
                </a:lnTo>
                <a:lnTo>
                  <a:pt x="278" y="294"/>
                </a:lnTo>
                <a:lnTo>
                  <a:pt x="295" y="312"/>
                </a:lnTo>
                <a:lnTo>
                  <a:pt x="311" y="328"/>
                </a:lnTo>
                <a:lnTo>
                  <a:pt x="327" y="342"/>
                </a:lnTo>
                <a:lnTo>
                  <a:pt x="344" y="354"/>
                </a:lnTo>
                <a:lnTo>
                  <a:pt x="360" y="363"/>
                </a:lnTo>
                <a:lnTo>
                  <a:pt x="377" y="368"/>
                </a:lnTo>
                <a:lnTo>
                  <a:pt x="393" y="370"/>
                </a:lnTo>
                <a:lnTo>
                  <a:pt x="393" y="385"/>
                </a:lnTo>
                <a:lnTo>
                  <a:pt x="377" y="383"/>
                </a:lnTo>
                <a:lnTo>
                  <a:pt x="360" y="378"/>
                </a:lnTo>
                <a:lnTo>
                  <a:pt x="344" y="369"/>
                </a:lnTo>
                <a:lnTo>
                  <a:pt x="327" y="358"/>
                </a:lnTo>
                <a:lnTo>
                  <a:pt x="311" y="344"/>
                </a:lnTo>
                <a:lnTo>
                  <a:pt x="295" y="327"/>
                </a:lnTo>
                <a:lnTo>
                  <a:pt x="278" y="309"/>
                </a:lnTo>
                <a:lnTo>
                  <a:pt x="262" y="289"/>
                </a:lnTo>
                <a:lnTo>
                  <a:pt x="246" y="268"/>
                </a:lnTo>
                <a:lnTo>
                  <a:pt x="229" y="246"/>
                </a:lnTo>
                <a:lnTo>
                  <a:pt x="213" y="223"/>
                </a:lnTo>
                <a:lnTo>
                  <a:pt x="196" y="200"/>
                </a:lnTo>
                <a:lnTo>
                  <a:pt x="180" y="177"/>
                </a:lnTo>
                <a:lnTo>
                  <a:pt x="164" y="154"/>
                </a:lnTo>
                <a:lnTo>
                  <a:pt x="147" y="132"/>
                </a:lnTo>
                <a:lnTo>
                  <a:pt x="131" y="111"/>
                </a:lnTo>
                <a:lnTo>
                  <a:pt x="114" y="91"/>
                </a:lnTo>
                <a:lnTo>
                  <a:pt x="98" y="73"/>
                </a:lnTo>
                <a:lnTo>
                  <a:pt x="82" y="57"/>
                </a:lnTo>
                <a:lnTo>
                  <a:pt x="65" y="43"/>
                </a:lnTo>
                <a:lnTo>
                  <a:pt x="49" y="31"/>
                </a:lnTo>
                <a:lnTo>
                  <a:pt x="33" y="23"/>
                </a:lnTo>
                <a:lnTo>
                  <a:pt x="16" y="17"/>
                </a:lnTo>
                <a:lnTo>
                  <a:pt x="0" y="15"/>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057400" y="2000250"/>
            <a:ext cx="3743325" cy="609600"/>
          </a:xfrm>
          <a:custGeom>
            <a:avLst/>
            <a:gdLst/>
            <a:ahLst/>
            <a:cxnLst/>
            <a:rect l="l" t="t" r="r" b="b"/>
            <a:pathLst>
              <a:path w="393" h="64">
                <a:moveTo>
                  <a:pt x="0" y="6"/>
                </a:moveTo>
                <a:lnTo>
                  <a:pt x="16" y="6"/>
                </a:lnTo>
                <a:lnTo>
                  <a:pt x="33" y="6"/>
                </a:lnTo>
                <a:lnTo>
                  <a:pt x="49" y="6"/>
                </a:lnTo>
                <a:lnTo>
                  <a:pt x="65" y="6"/>
                </a:lnTo>
                <a:lnTo>
                  <a:pt x="82" y="6"/>
                </a:lnTo>
                <a:lnTo>
                  <a:pt x="98" y="5"/>
                </a:lnTo>
                <a:lnTo>
                  <a:pt x="114" y="5"/>
                </a:lnTo>
                <a:lnTo>
                  <a:pt x="131" y="5"/>
                </a:lnTo>
                <a:lnTo>
                  <a:pt x="147" y="4"/>
                </a:lnTo>
                <a:lnTo>
                  <a:pt x="164" y="4"/>
                </a:lnTo>
                <a:lnTo>
                  <a:pt x="180" y="4"/>
                </a:lnTo>
                <a:lnTo>
                  <a:pt x="196" y="3"/>
                </a:lnTo>
                <a:lnTo>
                  <a:pt x="213" y="3"/>
                </a:lnTo>
                <a:lnTo>
                  <a:pt x="229" y="2"/>
                </a:lnTo>
                <a:lnTo>
                  <a:pt x="246" y="2"/>
                </a:lnTo>
                <a:lnTo>
                  <a:pt x="262" y="2"/>
                </a:lnTo>
                <a:lnTo>
                  <a:pt x="278" y="1"/>
                </a:lnTo>
                <a:lnTo>
                  <a:pt x="295" y="1"/>
                </a:lnTo>
                <a:lnTo>
                  <a:pt x="311" y="1"/>
                </a:lnTo>
                <a:lnTo>
                  <a:pt x="327" y="1"/>
                </a:lnTo>
                <a:lnTo>
                  <a:pt x="344" y="0"/>
                </a:lnTo>
                <a:lnTo>
                  <a:pt x="360" y="0"/>
                </a:lnTo>
                <a:lnTo>
                  <a:pt x="377" y="0"/>
                </a:lnTo>
                <a:lnTo>
                  <a:pt x="393" y="0"/>
                </a:lnTo>
                <a:lnTo>
                  <a:pt x="393" y="58"/>
                </a:lnTo>
                <a:lnTo>
                  <a:pt x="377" y="58"/>
                </a:lnTo>
                <a:lnTo>
                  <a:pt x="360" y="58"/>
                </a:lnTo>
                <a:lnTo>
                  <a:pt x="344" y="58"/>
                </a:lnTo>
                <a:lnTo>
                  <a:pt x="327" y="59"/>
                </a:lnTo>
                <a:lnTo>
                  <a:pt x="311" y="59"/>
                </a:lnTo>
                <a:lnTo>
                  <a:pt x="295" y="59"/>
                </a:lnTo>
                <a:lnTo>
                  <a:pt x="278" y="59"/>
                </a:lnTo>
                <a:lnTo>
                  <a:pt x="262" y="60"/>
                </a:lnTo>
                <a:lnTo>
                  <a:pt x="246" y="60"/>
                </a:lnTo>
                <a:lnTo>
                  <a:pt x="229" y="61"/>
                </a:lnTo>
                <a:lnTo>
                  <a:pt x="213" y="61"/>
                </a:lnTo>
                <a:lnTo>
                  <a:pt x="196" y="61"/>
                </a:lnTo>
                <a:lnTo>
                  <a:pt x="180" y="62"/>
                </a:lnTo>
                <a:lnTo>
                  <a:pt x="164" y="62"/>
                </a:lnTo>
                <a:lnTo>
                  <a:pt x="147" y="62"/>
                </a:lnTo>
                <a:lnTo>
                  <a:pt x="131" y="63"/>
                </a:lnTo>
                <a:lnTo>
                  <a:pt x="114" y="63"/>
                </a:lnTo>
                <a:lnTo>
                  <a:pt x="98" y="63"/>
                </a:lnTo>
                <a:lnTo>
                  <a:pt x="82" y="64"/>
                </a:lnTo>
                <a:lnTo>
                  <a:pt x="65" y="64"/>
                </a:lnTo>
                <a:lnTo>
                  <a:pt x="49" y="64"/>
                </a:lnTo>
                <a:lnTo>
                  <a:pt x="33" y="64"/>
                </a:lnTo>
                <a:lnTo>
                  <a:pt x="16" y="64"/>
                </a:lnTo>
                <a:lnTo>
                  <a:pt x="0" y="64"/>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057400" y="2609850"/>
            <a:ext cx="3743325" cy="3057525"/>
          </a:xfrm>
          <a:custGeom>
            <a:avLst/>
            <a:gdLst/>
            <a:ahLst/>
            <a:cxnLst/>
            <a:rect l="l" t="t" r="r" b="b"/>
            <a:pathLst>
              <a:path w="393" h="321">
                <a:moveTo>
                  <a:pt x="0" y="0"/>
                </a:moveTo>
                <a:lnTo>
                  <a:pt x="16" y="2"/>
                </a:lnTo>
                <a:lnTo>
                  <a:pt x="33" y="6"/>
                </a:lnTo>
                <a:lnTo>
                  <a:pt x="49" y="14"/>
                </a:lnTo>
                <a:lnTo>
                  <a:pt x="65" y="23"/>
                </a:lnTo>
                <a:lnTo>
                  <a:pt x="82" y="35"/>
                </a:lnTo>
                <a:lnTo>
                  <a:pt x="98" y="48"/>
                </a:lnTo>
                <a:lnTo>
                  <a:pt x="114" y="63"/>
                </a:lnTo>
                <a:lnTo>
                  <a:pt x="131" y="80"/>
                </a:lnTo>
                <a:lnTo>
                  <a:pt x="147" y="97"/>
                </a:lnTo>
                <a:lnTo>
                  <a:pt x="164" y="115"/>
                </a:lnTo>
                <a:lnTo>
                  <a:pt x="180" y="134"/>
                </a:lnTo>
                <a:lnTo>
                  <a:pt x="196" y="153"/>
                </a:lnTo>
                <a:lnTo>
                  <a:pt x="213" y="172"/>
                </a:lnTo>
                <a:lnTo>
                  <a:pt x="229" y="191"/>
                </a:lnTo>
                <a:lnTo>
                  <a:pt x="246" y="209"/>
                </a:lnTo>
                <a:lnTo>
                  <a:pt x="262" y="227"/>
                </a:lnTo>
                <a:lnTo>
                  <a:pt x="278" y="243"/>
                </a:lnTo>
                <a:lnTo>
                  <a:pt x="295" y="258"/>
                </a:lnTo>
                <a:lnTo>
                  <a:pt x="311" y="272"/>
                </a:lnTo>
                <a:lnTo>
                  <a:pt x="327" y="283"/>
                </a:lnTo>
                <a:lnTo>
                  <a:pt x="344" y="293"/>
                </a:lnTo>
                <a:lnTo>
                  <a:pt x="360" y="300"/>
                </a:lnTo>
                <a:lnTo>
                  <a:pt x="377" y="304"/>
                </a:lnTo>
                <a:lnTo>
                  <a:pt x="393" y="306"/>
                </a:lnTo>
                <a:lnTo>
                  <a:pt x="393" y="321"/>
                </a:lnTo>
                <a:lnTo>
                  <a:pt x="377" y="320"/>
                </a:lnTo>
                <a:lnTo>
                  <a:pt x="360" y="315"/>
                </a:lnTo>
                <a:lnTo>
                  <a:pt x="344" y="308"/>
                </a:lnTo>
                <a:lnTo>
                  <a:pt x="327" y="299"/>
                </a:lnTo>
                <a:lnTo>
                  <a:pt x="311" y="287"/>
                </a:lnTo>
                <a:lnTo>
                  <a:pt x="295" y="273"/>
                </a:lnTo>
                <a:lnTo>
                  <a:pt x="278" y="258"/>
                </a:lnTo>
                <a:lnTo>
                  <a:pt x="262" y="242"/>
                </a:lnTo>
                <a:lnTo>
                  <a:pt x="246" y="224"/>
                </a:lnTo>
                <a:lnTo>
                  <a:pt x="229" y="206"/>
                </a:lnTo>
                <a:lnTo>
                  <a:pt x="213" y="187"/>
                </a:lnTo>
                <a:lnTo>
                  <a:pt x="196" y="168"/>
                </a:lnTo>
                <a:lnTo>
                  <a:pt x="180" y="149"/>
                </a:lnTo>
                <a:lnTo>
                  <a:pt x="164" y="131"/>
                </a:lnTo>
                <a:lnTo>
                  <a:pt x="147" y="112"/>
                </a:lnTo>
                <a:lnTo>
                  <a:pt x="131" y="95"/>
                </a:lnTo>
                <a:lnTo>
                  <a:pt x="114" y="78"/>
                </a:lnTo>
                <a:lnTo>
                  <a:pt x="98" y="63"/>
                </a:lnTo>
                <a:lnTo>
                  <a:pt x="82" y="50"/>
                </a:lnTo>
                <a:lnTo>
                  <a:pt x="65" y="38"/>
                </a:lnTo>
                <a:lnTo>
                  <a:pt x="49" y="29"/>
                </a:lnTo>
                <a:lnTo>
                  <a:pt x="33" y="22"/>
                </a:lnTo>
                <a:lnTo>
                  <a:pt x="16" y="17"/>
                </a:lnTo>
                <a:lnTo>
                  <a:pt x="0" y="1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57400" y="2552700"/>
            <a:ext cx="3743325" cy="819150"/>
          </a:xfrm>
          <a:custGeom>
            <a:avLst/>
            <a:gdLst/>
            <a:ahLst/>
            <a:cxnLst/>
            <a:rect l="l" t="t" r="r" b="b"/>
            <a:pathLst>
              <a:path w="393" h="86">
                <a:moveTo>
                  <a:pt x="0" y="28"/>
                </a:moveTo>
                <a:lnTo>
                  <a:pt x="16" y="27"/>
                </a:lnTo>
                <a:lnTo>
                  <a:pt x="33" y="27"/>
                </a:lnTo>
                <a:lnTo>
                  <a:pt x="49" y="26"/>
                </a:lnTo>
                <a:lnTo>
                  <a:pt x="65" y="26"/>
                </a:lnTo>
                <a:lnTo>
                  <a:pt x="82" y="25"/>
                </a:lnTo>
                <a:lnTo>
                  <a:pt x="98" y="23"/>
                </a:lnTo>
                <a:lnTo>
                  <a:pt x="114" y="22"/>
                </a:lnTo>
                <a:lnTo>
                  <a:pt x="131" y="20"/>
                </a:lnTo>
                <a:lnTo>
                  <a:pt x="147" y="19"/>
                </a:lnTo>
                <a:lnTo>
                  <a:pt x="164" y="17"/>
                </a:lnTo>
                <a:lnTo>
                  <a:pt x="180" y="16"/>
                </a:lnTo>
                <a:lnTo>
                  <a:pt x="196" y="14"/>
                </a:lnTo>
                <a:lnTo>
                  <a:pt x="213" y="12"/>
                </a:lnTo>
                <a:lnTo>
                  <a:pt x="229" y="11"/>
                </a:lnTo>
                <a:lnTo>
                  <a:pt x="246" y="9"/>
                </a:lnTo>
                <a:lnTo>
                  <a:pt x="262" y="7"/>
                </a:lnTo>
                <a:lnTo>
                  <a:pt x="278" y="6"/>
                </a:lnTo>
                <a:lnTo>
                  <a:pt x="295" y="5"/>
                </a:lnTo>
                <a:lnTo>
                  <a:pt x="311" y="3"/>
                </a:lnTo>
                <a:lnTo>
                  <a:pt x="327" y="2"/>
                </a:lnTo>
                <a:lnTo>
                  <a:pt x="344" y="1"/>
                </a:lnTo>
                <a:lnTo>
                  <a:pt x="360" y="1"/>
                </a:lnTo>
                <a:lnTo>
                  <a:pt x="377" y="0"/>
                </a:lnTo>
                <a:lnTo>
                  <a:pt x="393" y="0"/>
                </a:lnTo>
                <a:lnTo>
                  <a:pt x="393" y="58"/>
                </a:lnTo>
                <a:lnTo>
                  <a:pt x="377" y="58"/>
                </a:lnTo>
                <a:lnTo>
                  <a:pt x="360" y="59"/>
                </a:lnTo>
                <a:lnTo>
                  <a:pt x="344" y="60"/>
                </a:lnTo>
                <a:lnTo>
                  <a:pt x="327" y="60"/>
                </a:lnTo>
                <a:lnTo>
                  <a:pt x="311" y="61"/>
                </a:lnTo>
                <a:lnTo>
                  <a:pt x="295" y="63"/>
                </a:lnTo>
                <a:lnTo>
                  <a:pt x="278" y="64"/>
                </a:lnTo>
                <a:lnTo>
                  <a:pt x="262" y="65"/>
                </a:lnTo>
                <a:lnTo>
                  <a:pt x="246" y="67"/>
                </a:lnTo>
                <a:lnTo>
                  <a:pt x="229" y="69"/>
                </a:lnTo>
                <a:lnTo>
                  <a:pt x="213" y="70"/>
                </a:lnTo>
                <a:lnTo>
                  <a:pt x="196" y="72"/>
                </a:lnTo>
                <a:lnTo>
                  <a:pt x="180" y="74"/>
                </a:lnTo>
                <a:lnTo>
                  <a:pt x="164" y="75"/>
                </a:lnTo>
                <a:lnTo>
                  <a:pt x="147" y="77"/>
                </a:lnTo>
                <a:lnTo>
                  <a:pt x="131" y="79"/>
                </a:lnTo>
                <a:lnTo>
                  <a:pt x="114" y="80"/>
                </a:lnTo>
                <a:lnTo>
                  <a:pt x="98" y="81"/>
                </a:lnTo>
                <a:lnTo>
                  <a:pt x="82" y="83"/>
                </a:lnTo>
                <a:lnTo>
                  <a:pt x="65" y="84"/>
                </a:lnTo>
                <a:lnTo>
                  <a:pt x="49" y="85"/>
                </a:lnTo>
                <a:lnTo>
                  <a:pt x="33" y="85"/>
                </a:lnTo>
                <a:lnTo>
                  <a:pt x="16" y="86"/>
                </a:lnTo>
                <a:lnTo>
                  <a:pt x="0" y="8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3371850"/>
            <a:ext cx="3743325" cy="2438400"/>
          </a:xfrm>
          <a:custGeom>
            <a:avLst/>
            <a:gdLst/>
            <a:ahLst/>
            <a:cxnLst/>
            <a:rect l="l" t="t" r="r" b="b"/>
            <a:pathLst>
              <a:path w="393" h="256">
                <a:moveTo>
                  <a:pt x="0" y="0"/>
                </a:moveTo>
                <a:lnTo>
                  <a:pt x="16" y="1"/>
                </a:lnTo>
                <a:lnTo>
                  <a:pt x="33" y="4"/>
                </a:lnTo>
                <a:lnTo>
                  <a:pt x="49" y="10"/>
                </a:lnTo>
                <a:lnTo>
                  <a:pt x="65" y="18"/>
                </a:lnTo>
                <a:lnTo>
                  <a:pt x="82" y="27"/>
                </a:lnTo>
                <a:lnTo>
                  <a:pt x="98" y="37"/>
                </a:lnTo>
                <a:lnTo>
                  <a:pt x="114" y="49"/>
                </a:lnTo>
                <a:lnTo>
                  <a:pt x="131" y="62"/>
                </a:lnTo>
                <a:lnTo>
                  <a:pt x="147" y="76"/>
                </a:lnTo>
                <a:lnTo>
                  <a:pt x="164" y="91"/>
                </a:lnTo>
                <a:lnTo>
                  <a:pt x="180" y="105"/>
                </a:lnTo>
                <a:lnTo>
                  <a:pt x="196" y="120"/>
                </a:lnTo>
                <a:lnTo>
                  <a:pt x="213" y="135"/>
                </a:lnTo>
                <a:lnTo>
                  <a:pt x="229" y="150"/>
                </a:lnTo>
                <a:lnTo>
                  <a:pt x="246" y="165"/>
                </a:lnTo>
                <a:lnTo>
                  <a:pt x="262" y="179"/>
                </a:lnTo>
                <a:lnTo>
                  <a:pt x="278" y="192"/>
                </a:lnTo>
                <a:lnTo>
                  <a:pt x="295" y="203"/>
                </a:lnTo>
                <a:lnTo>
                  <a:pt x="311" y="214"/>
                </a:lnTo>
                <a:lnTo>
                  <a:pt x="327" y="223"/>
                </a:lnTo>
                <a:lnTo>
                  <a:pt x="344" y="231"/>
                </a:lnTo>
                <a:lnTo>
                  <a:pt x="360" y="236"/>
                </a:lnTo>
                <a:lnTo>
                  <a:pt x="377" y="240"/>
                </a:lnTo>
                <a:lnTo>
                  <a:pt x="393" y="241"/>
                </a:lnTo>
                <a:lnTo>
                  <a:pt x="393" y="256"/>
                </a:lnTo>
                <a:lnTo>
                  <a:pt x="377" y="255"/>
                </a:lnTo>
                <a:lnTo>
                  <a:pt x="360" y="252"/>
                </a:lnTo>
                <a:lnTo>
                  <a:pt x="344" y="246"/>
                </a:lnTo>
                <a:lnTo>
                  <a:pt x="327" y="238"/>
                </a:lnTo>
                <a:lnTo>
                  <a:pt x="311" y="229"/>
                </a:lnTo>
                <a:lnTo>
                  <a:pt x="295" y="219"/>
                </a:lnTo>
                <a:lnTo>
                  <a:pt x="278" y="207"/>
                </a:lnTo>
                <a:lnTo>
                  <a:pt x="262" y="194"/>
                </a:lnTo>
                <a:lnTo>
                  <a:pt x="246" y="180"/>
                </a:lnTo>
                <a:lnTo>
                  <a:pt x="229" y="165"/>
                </a:lnTo>
                <a:lnTo>
                  <a:pt x="213" y="151"/>
                </a:lnTo>
                <a:lnTo>
                  <a:pt x="196" y="136"/>
                </a:lnTo>
                <a:lnTo>
                  <a:pt x="180" y="121"/>
                </a:lnTo>
                <a:lnTo>
                  <a:pt x="164" y="106"/>
                </a:lnTo>
                <a:lnTo>
                  <a:pt x="147" y="91"/>
                </a:lnTo>
                <a:lnTo>
                  <a:pt x="131" y="77"/>
                </a:lnTo>
                <a:lnTo>
                  <a:pt x="114" y="64"/>
                </a:lnTo>
                <a:lnTo>
                  <a:pt x="98" y="53"/>
                </a:lnTo>
                <a:lnTo>
                  <a:pt x="82" y="42"/>
                </a:lnTo>
                <a:lnTo>
                  <a:pt x="65" y="33"/>
                </a:lnTo>
                <a:lnTo>
                  <a:pt x="49" y="25"/>
                </a:lnTo>
                <a:lnTo>
                  <a:pt x="33" y="20"/>
                </a:lnTo>
                <a:lnTo>
                  <a:pt x="16" y="16"/>
                </a:lnTo>
                <a:lnTo>
                  <a:pt x="0" y="15"/>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3105150"/>
            <a:ext cx="3743325" cy="1019175"/>
          </a:xfrm>
          <a:custGeom>
            <a:avLst/>
            <a:gdLst/>
            <a:ahLst/>
            <a:cxnLst/>
            <a:rect l="l" t="t" r="r" b="b"/>
            <a:pathLst>
              <a:path w="393" h="107">
                <a:moveTo>
                  <a:pt x="0" y="49"/>
                </a:moveTo>
                <a:lnTo>
                  <a:pt x="16" y="49"/>
                </a:lnTo>
                <a:lnTo>
                  <a:pt x="33" y="48"/>
                </a:lnTo>
                <a:lnTo>
                  <a:pt x="49" y="47"/>
                </a:lnTo>
                <a:lnTo>
                  <a:pt x="65" y="45"/>
                </a:lnTo>
                <a:lnTo>
                  <a:pt x="82" y="43"/>
                </a:lnTo>
                <a:lnTo>
                  <a:pt x="98" y="41"/>
                </a:lnTo>
                <a:lnTo>
                  <a:pt x="114" y="39"/>
                </a:lnTo>
                <a:lnTo>
                  <a:pt x="131" y="36"/>
                </a:lnTo>
                <a:lnTo>
                  <a:pt x="147" y="34"/>
                </a:lnTo>
                <a:lnTo>
                  <a:pt x="164" y="31"/>
                </a:lnTo>
                <a:lnTo>
                  <a:pt x="180" y="28"/>
                </a:lnTo>
                <a:lnTo>
                  <a:pt x="196" y="25"/>
                </a:lnTo>
                <a:lnTo>
                  <a:pt x="213" y="22"/>
                </a:lnTo>
                <a:lnTo>
                  <a:pt x="229" y="19"/>
                </a:lnTo>
                <a:lnTo>
                  <a:pt x="246" y="16"/>
                </a:lnTo>
                <a:lnTo>
                  <a:pt x="262" y="13"/>
                </a:lnTo>
                <a:lnTo>
                  <a:pt x="278" y="10"/>
                </a:lnTo>
                <a:lnTo>
                  <a:pt x="295" y="8"/>
                </a:lnTo>
                <a:lnTo>
                  <a:pt x="311" y="6"/>
                </a:lnTo>
                <a:lnTo>
                  <a:pt x="327" y="4"/>
                </a:lnTo>
                <a:lnTo>
                  <a:pt x="344" y="2"/>
                </a:lnTo>
                <a:lnTo>
                  <a:pt x="360" y="1"/>
                </a:lnTo>
                <a:lnTo>
                  <a:pt x="377" y="1"/>
                </a:lnTo>
                <a:lnTo>
                  <a:pt x="393" y="0"/>
                </a:lnTo>
                <a:lnTo>
                  <a:pt x="393" y="58"/>
                </a:lnTo>
                <a:lnTo>
                  <a:pt x="377" y="59"/>
                </a:lnTo>
                <a:lnTo>
                  <a:pt x="360" y="59"/>
                </a:lnTo>
                <a:lnTo>
                  <a:pt x="344" y="61"/>
                </a:lnTo>
                <a:lnTo>
                  <a:pt x="327" y="62"/>
                </a:lnTo>
                <a:lnTo>
                  <a:pt x="311" y="64"/>
                </a:lnTo>
                <a:lnTo>
                  <a:pt x="295" y="66"/>
                </a:lnTo>
                <a:lnTo>
                  <a:pt x="278" y="68"/>
                </a:lnTo>
                <a:lnTo>
                  <a:pt x="262" y="71"/>
                </a:lnTo>
                <a:lnTo>
                  <a:pt x="246" y="74"/>
                </a:lnTo>
                <a:lnTo>
                  <a:pt x="229" y="77"/>
                </a:lnTo>
                <a:lnTo>
                  <a:pt x="213" y="80"/>
                </a:lnTo>
                <a:lnTo>
                  <a:pt x="196" y="83"/>
                </a:lnTo>
                <a:lnTo>
                  <a:pt x="180" y="86"/>
                </a:lnTo>
                <a:lnTo>
                  <a:pt x="164" y="89"/>
                </a:lnTo>
                <a:lnTo>
                  <a:pt x="147" y="92"/>
                </a:lnTo>
                <a:lnTo>
                  <a:pt x="131" y="94"/>
                </a:lnTo>
                <a:lnTo>
                  <a:pt x="114" y="97"/>
                </a:lnTo>
                <a:lnTo>
                  <a:pt x="98" y="99"/>
                </a:lnTo>
                <a:lnTo>
                  <a:pt x="82" y="102"/>
                </a:lnTo>
                <a:lnTo>
                  <a:pt x="65" y="103"/>
                </a:lnTo>
                <a:lnTo>
                  <a:pt x="49" y="105"/>
                </a:lnTo>
                <a:lnTo>
                  <a:pt x="33" y="106"/>
                </a:lnTo>
                <a:lnTo>
                  <a:pt x="16" y="107"/>
                </a:lnTo>
                <a:lnTo>
                  <a:pt x="0" y="107"/>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124325"/>
            <a:ext cx="3743325" cy="1828800"/>
          </a:xfrm>
          <a:custGeom>
            <a:avLst/>
            <a:gdLst/>
            <a:ahLst/>
            <a:cxnLst/>
            <a:rect l="l" t="t" r="r" b="b"/>
            <a:pathLst>
              <a:path w="393" h="192">
                <a:moveTo>
                  <a:pt x="0" y="0"/>
                </a:moveTo>
                <a:lnTo>
                  <a:pt x="16" y="1"/>
                </a:lnTo>
                <a:lnTo>
                  <a:pt x="33" y="3"/>
                </a:lnTo>
                <a:lnTo>
                  <a:pt x="49" y="8"/>
                </a:lnTo>
                <a:lnTo>
                  <a:pt x="65" y="13"/>
                </a:lnTo>
                <a:lnTo>
                  <a:pt x="82" y="20"/>
                </a:lnTo>
                <a:lnTo>
                  <a:pt x="98" y="28"/>
                </a:lnTo>
                <a:lnTo>
                  <a:pt x="114" y="36"/>
                </a:lnTo>
                <a:lnTo>
                  <a:pt x="131" y="46"/>
                </a:lnTo>
                <a:lnTo>
                  <a:pt x="147" y="56"/>
                </a:lnTo>
                <a:lnTo>
                  <a:pt x="164" y="67"/>
                </a:lnTo>
                <a:lnTo>
                  <a:pt x="180" y="78"/>
                </a:lnTo>
                <a:lnTo>
                  <a:pt x="196" y="89"/>
                </a:lnTo>
                <a:lnTo>
                  <a:pt x="213" y="100"/>
                </a:lnTo>
                <a:lnTo>
                  <a:pt x="229" y="111"/>
                </a:lnTo>
                <a:lnTo>
                  <a:pt x="246" y="121"/>
                </a:lnTo>
                <a:lnTo>
                  <a:pt x="262" y="131"/>
                </a:lnTo>
                <a:lnTo>
                  <a:pt x="278" y="141"/>
                </a:lnTo>
                <a:lnTo>
                  <a:pt x="295" y="150"/>
                </a:lnTo>
                <a:lnTo>
                  <a:pt x="311" y="157"/>
                </a:lnTo>
                <a:lnTo>
                  <a:pt x="327" y="164"/>
                </a:lnTo>
                <a:lnTo>
                  <a:pt x="344" y="170"/>
                </a:lnTo>
                <a:lnTo>
                  <a:pt x="360" y="174"/>
                </a:lnTo>
                <a:lnTo>
                  <a:pt x="377" y="176"/>
                </a:lnTo>
                <a:lnTo>
                  <a:pt x="393" y="177"/>
                </a:lnTo>
                <a:lnTo>
                  <a:pt x="393" y="192"/>
                </a:lnTo>
                <a:lnTo>
                  <a:pt x="377" y="192"/>
                </a:lnTo>
                <a:lnTo>
                  <a:pt x="360" y="189"/>
                </a:lnTo>
                <a:lnTo>
                  <a:pt x="344" y="185"/>
                </a:lnTo>
                <a:lnTo>
                  <a:pt x="327" y="179"/>
                </a:lnTo>
                <a:lnTo>
                  <a:pt x="311" y="173"/>
                </a:lnTo>
                <a:lnTo>
                  <a:pt x="295" y="165"/>
                </a:lnTo>
                <a:lnTo>
                  <a:pt x="278" y="156"/>
                </a:lnTo>
                <a:lnTo>
                  <a:pt x="262" y="147"/>
                </a:lnTo>
                <a:lnTo>
                  <a:pt x="246" y="136"/>
                </a:lnTo>
                <a:lnTo>
                  <a:pt x="229" y="126"/>
                </a:lnTo>
                <a:lnTo>
                  <a:pt x="213" y="115"/>
                </a:lnTo>
                <a:lnTo>
                  <a:pt x="196" y="104"/>
                </a:lnTo>
                <a:lnTo>
                  <a:pt x="180" y="93"/>
                </a:lnTo>
                <a:lnTo>
                  <a:pt x="164" y="82"/>
                </a:lnTo>
                <a:lnTo>
                  <a:pt x="147" y="71"/>
                </a:lnTo>
                <a:lnTo>
                  <a:pt x="131" y="61"/>
                </a:lnTo>
                <a:lnTo>
                  <a:pt x="114" y="52"/>
                </a:lnTo>
                <a:lnTo>
                  <a:pt x="98" y="43"/>
                </a:lnTo>
                <a:lnTo>
                  <a:pt x="82" y="35"/>
                </a:lnTo>
                <a:lnTo>
                  <a:pt x="65" y="28"/>
                </a:lnTo>
                <a:lnTo>
                  <a:pt x="49" y="23"/>
                </a:lnTo>
                <a:lnTo>
                  <a:pt x="33" y="19"/>
                </a:lnTo>
                <a:lnTo>
                  <a:pt x="16" y="16"/>
                </a:lnTo>
                <a:lnTo>
                  <a:pt x="0" y="15"/>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3657600"/>
            <a:ext cx="3743325" cy="1219200"/>
          </a:xfrm>
          <a:custGeom>
            <a:avLst/>
            <a:gdLst/>
            <a:ahLst/>
            <a:cxnLst/>
            <a:rect l="l" t="t" r="r" b="b"/>
            <a:pathLst>
              <a:path w="393" h="128">
                <a:moveTo>
                  <a:pt x="0" y="70"/>
                </a:moveTo>
                <a:lnTo>
                  <a:pt x="16" y="70"/>
                </a:lnTo>
                <a:lnTo>
                  <a:pt x="33" y="69"/>
                </a:lnTo>
                <a:lnTo>
                  <a:pt x="49" y="67"/>
                </a:lnTo>
                <a:lnTo>
                  <a:pt x="65" y="65"/>
                </a:lnTo>
                <a:lnTo>
                  <a:pt x="82" y="62"/>
                </a:lnTo>
                <a:lnTo>
                  <a:pt x="98" y="59"/>
                </a:lnTo>
                <a:lnTo>
                  <a:pt x="114" y="56"/>
                </a:lnTo>
                <a:lnTo>
                  <a:pt x="131" y="52"/>
                </a:lnTo>
                <a:lnTo>
                  <a:pt x="147" y="48"/>
                </a:lnTo>
                <a:lnTo>
                  <a:pt x="164" y="44"/>
                </a:lnTo>
                <a:lnTo>
                  <a:pt x="180" y="40"/>
                </a:lnTo>
                <a:lnTo>
                  <a:pt x="196" y="35"/>
                </a:lnTo>
                <a:lnTo>
                  <a:pt x="213" y="31"/>
                </a:lnTo>
                <a:lnTo>
                  <a:pt x="229" y="27"/>
                </a:lnTo>
                <a:lnTo>
                  <a:pt x="246" y="23"/>
                </a:lnTo>
                <a:lnTo>
                  <a:pt x="262" y="19"/>
                </a:lnTo>
                <a:lnTo>
                  <a:pt x="278" y="15"/>
                </a:lnTo>
                <a:lnTo>
                  <a:pt x="295" y="11"/>
                </a:lnTo>
                <a:lnTo>
                  <a:pt x="311" y="8"/>
                </a:lnTo>
                <a:lnTo>
                  <a:pt x="327" y="6"/>
                </a:lnTo>
                <a:lnTo>
                  <a:pt x="344" y="3"/>
                </a:lnTo>
                <a:lnTo>
                  <a:pt x="360" y="2"/>
                </a:lnTo>
                <a:lnTo>
                  <a:pt x="377" y="1"/>
                </a:lnTo>
                <a:lnTo>
                  <a:pt x="393" y="0"/>
                </a:lnTo>
                <a:lnTo>
                  <a:pt x="393" y="59"/>
                </a:lnTo>
                <a:lnTo>
                  <a:pt x="377" y="59"/>
                </a:lnTo>
                <a:lnTo>
                  <a:pt x="360" y="60"/>
                </a:lnTo>
                <a:lnTo>
                  <a:pt x="344" y="62"/>
                </a:lnTo>
                <a:lnTo>
                  <a:pt x="327" y="64"/>
                </a:lnTo>
                <a:lnTo>
                  <a:pt x="311" y="66"/>
                </a:lnTo>
                <a:lnTo>
                  <a:pt x="295" y="69"/>
                </a:lnTo>
                <a:lnTo>
                  <a:pt x="278" y="73"/>
                </a:lnTo>
                <a:lnTo>
                  <a:pt x="262" y="77"/>
                </a:lnTo>
                <a:lnTo>
                  <a:pt x="246" y="81"/>
                </a:lnTo>
                <a:lnTo>
                  <a:pt x="229" y="85"/>
                </a:lnTo>
                <a:lnTo>
                  <a:pt x="213" y="89"/>
                </a:lnTo>
                <a:lnTo>
                  <a:pt x="196" y="93"/>
                </a:lnTo>
                <a:lnTo>
                  <a:pt x="180" y="98"/>
                </a:lnTo>
                <a:lnTo>
                  <a:pt x="164" y="102"/>
                </a:lnTo>
                <a:lnTo>
                  <a:pt x="147" y="106"/>
                </a:lnTo>
                <a:lnTo>
                  <a:pt x="131" y="110"/>
                </a:lnTo>
                <a:lnTo>
                  <a:pt x="114" y="114"/>
                </a:lnTo>
                <a:lnTo>
                  <a:pt x="98" y="117"/>
                </a:lnTo>
                <a:lnTo>
                  <a:pt x="82" y="120"/>
                </a:lnTo>
                <a:lnTo>
                  <a:pt x="65" y="123"/>
                </a:lnTo>
                <a:lnTo>
                  <a:pt x="49" y="125"/>
                </a:lnTo>
                <a:lnTo>
                  <a:pt x="33" y="127"/>
                </a:lnTo>
                <a:lnTo>
                  <a:pt x="16" y="128"/>
                </a:lnTo>
                <a:lnTo>
                  <a:pt x="0" y="128"/>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4876800"/>
            <a:ext cx="3743325" cy="1228725"/>
          </a:xfrm>
          <a:custGeom>
            <a:avLst/>
            <a:gdLst/>
            <a:ahLst/>
            <a:cxnLst/>
            <a:rect l="l" t="t" r="r" b="b"/>
            <a:pathLst>
              <a:path w="393" h="129">
                <a:moveTo>
                  <a:pt x="0" y="0"/>
                </a:moveTo>
                <a:lnTo>
                  <a:pt x="16" y="1"/>
                </a:lnTo>
                <a:lnTo>
                  <a:pt x="33" y="2"/>
                </a:lnTo>
                <a:lnTo>
                  <a:pt x="49" y="5"/>
                </a:lnTo>
                <a:lnTo>
                  <a:pt x="65" y="9"/>
                </a:lnTo>
                <a:lnTo>
                  <a:pt x="82" y="13"/>
                </a:lnTo>
                <a:lnTo>
                  <a:pt x="98" y="18"/>
                </a:lnTo>
                <a:lnTo>
                  <a:pt x="114" y="24"/>
                </a:lnTo>
                <a:lnTo>
                  <a:pt x="131" y="30"/>
                </a:lnTo>
                <a:lnTo>
                  <a:pt x="147" y="36"/>
                </a:lnTo>
                <a:lnTo>
                  <a:pt x="164" y="43"/>
                </a:lnTo>
                <a:lnTo>
                  <a:pt x="180" y="50"/>
                </a:lnTo>
                <a:lnTo>
                  <a:pt x="196" y="57"/>
                </a:lnTo>
                <a:lnTo>
                  <a:pt x="213" y="64"/>
                </a:lnTo>
                <a:lnTo>
                  <a:pt x="229" y="71"/>
                </a:lnTo>
                <a:lnTo>
                  <a:pt x="246" y="78"/>
                </a:lnTo>
                <a:lnTo>
                  <a:pt x="262" y="84"/>
                </a:lnTo>
                <a:lnTo>
                  <a:pt x="278" y="90"/>
                </a:lnTo>
                <a:lnTo>
                  <a:pt x="295" y="96"/>
                </a:lnTo>
                <a:lnTo>
                  <a:pt x="311" y="101"/>
                </a:lnTo>
                <a:lnTo>
                  <a:pt x="327" y="105"/>
                </a:lnTo>
                <a:lnTo>
                  <a:pt x="344" y="109"/>
                </a:lnTo>
                <a:lnTo>
                  <a:pt x="360" y="111"/>
                </a:lnTo>
                <a:lnTo>
                  <a:pt x="377" y="113"/>
                </a:lnTo>
                <a:lnTo>
                  <a:pt x="393" y="113"/>
                </a:lnTo>
                <a:lnTo>
                  <a:pt x="393" y="129"/>
                </a:lnTo>
                <a:lnTo>
                  <a:pt x="377" y="128"/>
                </a:lnTo>
                <a:lnTo>
                  <a:pt x="360" y="126"/>
                </a:lnTo>
                <a:lnTo>
                  <a:pt x="344" y="124"/>
                </a:lnTo>
                <a:lnTo>
                  <a:pt x="327" y="120"/>
                </a:lnTo>
                <a:lnTo>
                  <a:pt x="311" y="116"/>
                </a:lnTo>
                <a:lnTo>
                  <a:pt x="295" y="111"/>
                </a:lnTo>
                <a:lnTo>
                  <a:pt x="278" y="105"/>
                </a:lnTo>
                <a:lnTo>
                  <a:pt x="262" y="99"/>
                </a:lnTo>
                <a:lnTo>
                  <a:pt x="246" y="93"/>
                </a:lnTo>
                <a:lnTo>
                  <a:pt x="229" y="86"/>
                </a:lnTo>
                <a:lnTo>
                  <a:pt x="213" y="79"/>
                </a:lnTo>
                <a:lnTo>
                  <a:pt x="196" y="72"/>
                </a:lnTo>
                <a:lnTo>
                  <a:pt x="180" y="65"/>
                </a:lnTo>
                <a:lnTo>
                  <a:pt x="164" y="58"/>
                </a:lnTo>
                <a:lnTo>
                  <a:pt x="147" y="51"/>
                </a:lnTo>
                <a:lnTo>
                  <a:pt x="131" y="45"/>
                </a:lnTo>
                <a:lnTo>
                  <a:pt x="114" y="39"/>
                </a:lnTo>
                <a:lnTo>
                  <a:pt x="98" y="33"/>
                </a:lnTo>
                <a:lnTo>
                  <a:pt x="82" y="28"/>
                </a:lnTo>
                <a:lnTo>
                  <a:pt x="65" y="24"/>
                </a:lnTo>
                <a:lnTo>
                  <a:pt x="49" y="20"/>
                </a:lnTo>
                <a:lnTo>
                  <a:pt x="33" y="18"/>
                </a:lnTo>
                <a:lnTo>
                  <a:pt x="16" y="16"/>
                </a:lnTo>
                <a:lnTo>
                  <a:pt x="0" y="15"/>
                </a:lnTo>
                <a:close/>
              </a:path>
            </a:pathLst>
          </a:custGeom>
          <a:solidFill>
            <a:srgbClr val="A35313">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4219575"/>
            <a:ext cx="3743325" cy="1419225"/>
          </a:xfrm>
          <a:custGeom>
            <a:avLst/>
            <a:gdLst/>
            <a:ahLst/>
            <a:cxnLst/>
            <a:rect l="l" t="t" r="r" b="b"/>
            <a:pathLst>
              <a:path w="393" h="149">
                <a:moveTo>
                  <a:pt x="0" y="90"/>
                </a:moveTo>
                <a:lnTo>
                  <a:pt x="16" y="90"/>
                </a:lnTo>
                <a:lnTo>
                  <a:pt x="33" y="89"/>
                </a:lnTo>
                <a:lnTo>
                  <a:pt x="49" y="87"/>
                </a:lnTo>
                <a:lnTo>
                  <a:pt x="65" y="84"/>
                </a:lnTo>
                <a:lnTo>
                  <a:pt x="82" y="80"/>
                </a:lnTo>
                <a:lnTo>
                  <a:pt x="98" y="76"/>
                </a:lnTo>
                <a:lnTo>
                  <a:pt x="114" y="72"/>
                </a:lnTo>
                <a:lnTo>
                  <a:pt x="131" y="67"/>
                </a:lnTo>
                <a:lnTo>
                  <a:pt x="147" y="62"/>
                </a:lnTo>
                <a:lnTo>
                  <a:pt x="164" y="56"/>
                </a:lnTo>
                <a:lnTo>
                  <a:pt x="180" y="51"/>
                </a:lnTo>
                <a:lnTo>
                  <a:pt x="196" y="45"/>
                </a:lnTo>
                <a:lnTo>
                  <a:pt x="213" y="39"/>
                </a:lnTo>
                <a:lnTo>
                  <a:pt x="229" y="34"/>
                </a:lnTo>
                <a:lnTo>
                  <a:pt x="246" y="28"/>
                </a:lnTo>
                <a:lnTo>
                  <a:pt x="262" y="23"/>
                </a:lnTo>
                <a:lnTo>
                  <a:pt x="278" y="18"/>
                </a:lnTo>
                <a:lnTo>
                  <a:pt x="295" y="14"/>
                </a:lnTo>
                <a:lnTo>
                  <a:pt x="311" y="10"/>
                </a:lnTo>
                <a:lnTo>
                  <a:pt x="327" y="6"/>
                </a:lnTo>
                <a:lnTo>
                  <a:pt x="344" y="3"/>
                </a:lnTo>
                <a:lnTo>
                  <a:pt x="360" y="1"/>
                </a:lnTo>
                <a:lnTo>
                  <a:pt x="377" y="0"/>
                </a:lnTo>
                <a:lnTo>
                  <a:pt x="393" y="0"/>
                </a:lnTo>
                <a:lnTo>
                  <a:pt x="393" y="58"/>
                </a:lnTo>
                <a:lnTo>
                  <a:pt x="377" y="58"/>
                </a:lnTo>
                <a:lnTo>
                  <a:pt x="360" y="59"/>
                </a:lnTo>
                <a:lnTo>
                  <a:pt x="344" y="62"/>
                </a:lnTo>
                <a:lnTo>
                  <a:pt x="327" y="64"/>
                </a:lnTo>
                <a:lnTo>
                  <a:pt x="311" y="68"/>
                </a:lnTo>
                <a:lnTo>
                  <a:pt x="295" y="72"/>
                </a:lnTo>
                <a:lnTo>
                  <a:pt x="278" y="76"/>
                </a:lnTo>
                <a:lnTo>
                  <a:pt x="262" y="81"/>
                </a:lnTo>
                <a:lnTo>
                  <a:pt x="246" y="86"/>
                </a:lnTo>
                <a:lnTo>
                  <a:pt x="229" y="92"/>
                </a:lnTo>
                <a:lnTo>
                  <a:pt x="213" y="97"/>
                </a:lnTo>
                <a:lnTo>
                  <a:pt x="196" y="103"/>
                </a:lnTo>
                <a:lnTo>
                  <a:pt x="180" y="109"/>
                </a:lnTo>
                <a:lnTo>
                  <a:pt x="164" y="114"/>
                </a:lnTo>
                <a:lnTo>
                  <a:pt x="147" y="120"/>
                </a:lnTo>
                <a:lnTo>
                  <a:pt x="131" y="125"/>
                </a:lnTo>
                <a:lnTo>
                  <a:pt x="114" y="130"/>
                </a:lnTo>
                <a:lnTo>
                  <a:pt x="98" y="134"/>
                </a:lnTo>
                <a:lnTo>
                  <a:pt x="82" y="138"/>
                </a:lnTo>
                <a:lnTo>
                  <a:pt x="65" y="142"/>
                </a:lnTo>
                <a:lnTo>
                  <a:pt x="49" y="145"/>
                </a:lnTo>
                <a:lnTo>
                  <a:pt x="33" y="147"/>
                </a:lnTo>
                <a:lnTo>
                  <a:pt x="16" y="148"/>
                </a:lnTo>
                <a:lnTo>
                  <a:pt x="0" y="149"/>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638800"/>
            <a:ext cx="3743325" cy="609600"/>
          </a:xfrm>
          <a:custGeom>
            <a:avLst/>
            <a:gdLst/>
            <a:ahLst/>
            <a:cxnLst/>
            <a:rect l="l" t="t" r="r" b="b"/>
            <a:pathLst>
              <a:path w="393" h="64">
                <a:moveTo>
                  <a:pt x="0" y="0"/>
                </a:moveTo>
                <a:lnTo>
                  <a:pt x="16" y="0"/>
                </a:lnTo>
                <a:lnTo>
                  <a:pt x="33" y="1"/>
                </a:lnTo>
                <a:lnTo>
                  <a:pt x="49" y="2"/>
                </a:lnTo>
                <a:lnTo>
                  <a:pt x="65" y="3"/>
                </a:lnTo>
                <a:lnTo>
                  <a:pt x="82" y="5"/>
                </a:lnTo>
                <a:lnTo>
                  <a:pt x="98" y="7"/>
                </a:lnTo>
                <a:lnTo>
                  <a:pt x="114" y="10"/>
                </a:lnTo>
                <a:lnTo>
                  <a:pt x="131" y="12"/>
                </a:lnTo>
                <a:lnTo>
                  <a:pt x="147" y="15"/>
                </a:lnTo>
                <a:lnTo>
                  <a:pt x="164" y="18"/>
                </a:lnTo>
                <a:lnTo>
                  <a:pt x="180" y="21"/>
                </a:lnTo>
                <a:lnTo>
                  <a:pt x="196" y="24"/>
                </a:lnTo>
                <a:lnTo>
                  <a:pt x="213" y="27"/>
                </a:lnTo>
                <a:lnTo>
                  <a:pt x="229" y="30"/>
                </a:lnTo>
                <a:lnTo>
                  <a:pt x="246" y="33"/>
                </a:lnTo>
                <a:lnTo>
                  <a:pt x="262" y="36"/>
                </a:lnTo>
                <a:lnTo>
                  <a:pt x="278" y="39"/>
                </a:lnTo>
                <a:lnTo>
                  <a:pt x="295" y="41"/>
                </a:lnTo>
                <a:lnTo>
                  <a:pt x="311" y="43"/>
                </a:lnTo>
                <a:lnTo>
                  <a:pt x="327" y="45"/>
                </a:lnTo>
                <a:lnTo>
                  <a:pt x="344" y="47"/>
                </a:lnTo>
                <a:lnTo>
                  <a:pt x="360" y="48"/>
                </a:lnTo>
                <a:lnTo>
                  <a:pt x="377" y="48"/>
                </a:lnTo>
                <a:lnTo>
                  <a:pt x="393" y="49"/>
                </a:lnTo>
                <a:lnTo>
                  <a:pt x="393" y="64"/>
                </a:lnTo>
                <a:lnTo>
                  <a:pt x="377" y="64"/>
                </a:lnTo>
                <a:lnTo>
                  <a:pt x="360" y="63"/>
                </a:lnTo>
                <a:lnTo>
                  <a:pt x="344" y="62"/>
                </a:lnTo>
                <a:lnTo>
                  <a:pt x="327" y="60"/>
                </a:lnTo>
                <a:lnTo>
                  <a:pt x="311" y="58"/>
                </a:lnTo>
                <a:lnTo>
                  <a:pt x="295" y="56"/>
                </a:lnTo>
                <a:lnTo>
                  <a:pt x="278" y="54"/>
                </a:lnTo>
                <a:lnTo>
                  <a:pt x="262" y="51"/>
                </a:lnTo>
                <a:lnTo>
                  <a:pt x="246" y="48"/>
                </a:lnTo>
                <a:lnTo>
                  <a:pt x="229" y="45"/>
                </a:lnTo>
                <a:lnTo>
                  <a:pt x="213" y="42"/>
                </a:lnTo>
                <a:lnTo>
                  <a:pt x="196" y="39"/>
                </a:lnTo>
                <a:lnTo>
                  <a:pt x="180" y="36"/>
                </a:lnTo>
                <a:lnTo>
                  <a:pt x="164" y="33"/>
                </a:lnTo>
                <a:lnTo>
                  <a:pt x="147" y="30"/>
                </a:lnTo>
                <a:lnTo>
                  <a:pt x="131" y="27"/>
                </a:lnTo>
                <a:lnTo>
                  <a:pt x="114" y="25"/>
                </a:lnTo>
                <a:lnTo>
                  <a:pt x="98" y="22"/>
                </a:lnTo>
                <a:lnTo>
                  <a:pt x="82" y="20"/>
                </a:lnTo>
                <a:lnTo>
                  <a:pt x="65" y="18"/>
                </a:lnTo>
                <a:lnTo>
                  <a:pt x="49" y="17"/>
                </a:lnTo>
                <a:lnTo>
                  <a:pt x="33" y="16"/>
                </a:lnTo>
                <a:lnTo>
                  <a:pt x="16" y="15"/>
                </a:lnTo>
                <a:lnTo>
                  <a:pt x="0" y="15"/>
                </a:lnTo>
                <a:close/>
              </a:path>
            </a:pathLst>
          </a:custGeom>
          <a:solidFill>
            <a:srgbClr val="80808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772025"/>
            <a:ext cx="3743325" cy="1619250"/>
          </a:xfrm>
          <a:custGeom>
            <a:avLst/>
            <a:gdLst/>
            <a:ahLst/>
            <a:cxnLst/>
            <a:rect l="l" t="t" r="r" b="b"/>
            <a:pathLst>
              <a:path w="393" h="170">
                <a:moveTo>
                  <a:pt x="0" y="112"/>
                </a:moveTo>
                <a:lnTo>
                  <a:pt x="16" y="111"/>
                </a:lnTo>
                <a:lnTo>
                  <a:pt x="33" y="110"/>
                </a:lnTo>
                <a:lnTo>
                  <a:pt x="49" y="107"/>
                </a:lnTo>
                <a:lnTo>
                  <a:pt x="65" y="103"/>
                </a:lnTo>
                <a:lnTo>
                  <a:pt x="82" y="99"/>
                </a:lnTo>
                <a:lnTo>
                  <a:pt x="98" y="94"/>
                </a:lnTo>
                <a:lnTo>
                  <a:pt x="114" y="89"/>
                </a:lnTo>
                <a:lnTo>
                  <a:pt x="131" y="83"/>
                </a:lnTo>
                <a:lnTo>
                  <a:pt x="147" y="76"/>
                </a:lnTo>
                <a:lnTo>
                  <a:pt x="164" y="70"/>
                </a:lnTo>
                <a:lnTo>
                  <a:pt x="180" y="63"/>
                </a:lnTo>
                <a:lnTo>
                  <a:pt x="196" y="56"/>
                </a:lnTo>
                <a:lnTo>
                  <a:pt x="213" y="49"/>
                </a:lnTo>
                <a:lnTo>
                  <a:pt x="229" y="42"/>
                </a:lnTo>
                <a:lnTo>
                  <a:pt x="246" y="35"/>
                </a:lnTo>
                <a:lnTo>
                  <a:pt x="262" y="29"/>
                </a:lnTo>
                <a:lnTo>
                  <a:pt x="278" y="23"/>
                </a:lnTo>
                <a:lnTo>
                  <a:pt x="295" y="17"/>
                </a:lnTo>
                <a:lnTo>
                  <a:pt x="311" y="12"/>
                </a:lnTo>
                <a:lnTo>
                  <a:pt x="327" y="8"/>
                </a:lnTo>
                <a:lnTo>
                  <a:pt x="344" y="5"/>
                </a:lnTo>
                <a:lnTo>
                  <a:pt x="360" y="2"/>
                </a:lnTo>
                <a:lnTo>
                  <a:pt x="377" y="0"/>
                </a:lnTo>
                <a:lnTo>
                  <a:pt x="393" y="0"/>
                </a:lnTo>
                <a:lnTo>
                  <a:pt x="393" y="58"/>
                </a:lnTo>
                <a:lnTo>
                  <a:pt x="377" y="58"/>
                </a:lnTo>
                <a:lnTo>
                  <a:pt x="360" y="60"/>
                </a:lnTo>
                <a:lnTo>
                  <a:pt x="344" y="63"/>
                </a:lnTo>
                <a:lnTo>
                  <a:pt x="327" y="66"/>
                </a:lnTo>
                <a:lnTo>
                  <a:pt x="311" y="70"/>
                </a:lnTo>
                <a:lnTo>
                  <a:pt x="295" y="75"/>
                </a:lnTo>
                <a:lnTo>
                  <a:pt x="278" y="81"/>
                </a:lnTo>
                <a:lnTo>
                  <a:pt x="262" y="87"/>
                </a:lnTo>
                <a:lnTo>
                  <a:pt x="246" y="93"/>
                </a:lnTo>
                <a:lnTo>
                  <a:pt x="229" y="100"/>
                </a:lnTo>
                <a:lnTo>
                  <a:pt x="213" y="107"/>
                </a:lnTo>
                <a:lnTo>
                  <a:pt x="196" y="114"/>
                </a:lnTo>
                <a:lnTo>
                  <a:pt x="180" y="121"/>
                </a:lnTo>
                <a:lnTo>
                  <a:pt x="164" y="128"/>
                </a:lnTo>
                <a:lnTo>
                  <a:pt x="147" y="134"/>
                </a:lnTo>
                <a:lnTo>
                  <a:pt x="131" y="141"/>
                </a:lnTo>
                <a:lnTo>
                  <a:pt x="114" y="147"/>
                </a:lnTo>
                <a:lnTo>
                  <a:pt x="98" y="152"/>
                </a:lnTo>
                <a:lnTo>
                  <a:pt x="82" y="157"/>
                </a:lnTo>
                <a:lnTo>
                  <a:pt x="65" y="162"/>
                </a:lnTo>
                <a:lnTo>
                  <a:pt x="49" y="165"/>
                </a:lnTo>
                <a:lnTo>
                  <a:pt x="33" y="168"/>
                </a:lnTo>
                <a:lnTo>
                  <a:pt x="16" y="169"/>
                </a:lnTo>
                <a:lnTo>
                  <a:pt x="0" y="17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6248400"/>
            <a:ext cx="3743325" cy="285750"/>
          </a:xfrm>
          <a:custGeom>
            <a:avLst/>
            <a:gdLst/>
            <a:ahLst/>
            <a:cxnLst/>
            <a:rect l="l" t="t" r="r" b="b"/>
            <a:pathLst>
              <a:path w="393" h="30">
                <a:moveTo>
                  <a:pt x="0" y="15"/>
                </a:moveTo>
                <a:lnTo>
                  <a:pt x="16" y="15"/>
                </a:lnTo>
                <a:lnTo>
                  <a:pt x="33" y="15"/>
                </a:lnTo>
                <a:lnTo>
                  <a:pt x="49" y="14"/>
                </a:lnTo>
                <a:lnTo>
                  <a:pt x="65" y="14"/>
                </a:lnTo>
                <a:lnTo>
                  <a:pt x="82" y="13"/>
                </a:lnTo>
                <a:lnTo>
                  <a:pt x="98" y="12"/>
                </a:lnTo>
                <a:lnTo>
                  <a:pt x="114" y="12"/>
                </a:lnTo>
                <a:lnTo>
                  <a:pt x="131" y="11"/>
                </a:lnTo>
                <a:lnTo>
                  <a:pt x="147" y="10"/>
                </a:lnTo>
                <a:lnTo>
                  <a:pt x="164" y="9"/>
                </a:lnTo>
                <a:lnTo>
                  <a:pt x="180" y="8"/>
                </a:lnTo>
                <a:lnTo>
                  <a:pt x="196" y="7"/>
                </a:lnTo>
                <a:lnTo>
                  <a:pt x="213" y="6"/>
                </a:lnTo>
                <a:lnTo>
                  <a:pt x="229" y="5"/>
                </a:lnTo>
                <a:lnTo>
                  <a:pt x="246" y="5"/>
                </a:lnTo>
                <a:lnTo>
                  <a:pt x="262" y="4"/>
                </a:lnTo>
                <a:lnTo>
                  <a:pt x="278" y="3"/>
                </a:lnTo>
                <a:lnTo>
                  <a:pt x="295" y="2"/>
                </a:lnTo>
                <a:lnTo>
                  <a:pt x="311" y="2"/>
                </a:lnTo>
                <a:lnTo>
                  <a:pt x="327" y="1"/>
                </a:lnTo>
                <a:lnTo>
                  <a:pt x="344" y="0"/>
                </a:lnTo>
                <a:lnTo>
                  <a:pt x="360" y="0"/>
                </a:lnTo>
                <a:lnTo>
                  <a:pt x="377" y="0"/>
                </a:lnTo>
                <a:lnTo>
                  <a:pt x="393" y="0"/>
                </a:lnTo>
                <a:lnTo>
                  <a:pt x="393" y="15"/>
                </a:lnTo>
                <a:lnTo>
                  <a:pt x="377" y="15"/>
                </a:lnTo>
                <a:lnTo>
                  <a:pt x="360" y="15"/>
                </a:lnTo>
                <a:lnTo>
                  <a:pt x="344" y="16"/>
                </a:lnTo>
                <a:lnTo>
                  <a:pt x="327" y="16"/>
                </a:lnTo>
                <a:lnTo>
                  <a:pt x="311" y="17"/>
                </a:lnTo>
                <a:lnTo>
                  <a:pt x="295" y="17"/>
                </a:lnTo>
                <a:lnTo>
                  <a:pt x="278" y="18"/>
                </a:lnTo>
                <a:lnTo>
                  <a:pt x="262" y="19"/>
                </a:lnTo>
                <a:lnTo>
                  <a:pt x="246" y="20"/>
                </a:lnTo>
                <a:lnTo>
                  <a:pt x="229" y="21"/>
                </a:lnTo>
                <a:lnTo>
                  <a:pt x="213" y="22"/>
                </a:lnTo>
                <a:lnTo>
                  <a:pt x="196" y="23"/>
                </a:lnTo>
                <a:lnTo>
                  <a:pt x="180" y="23"/>
                </a:lnTo>
                <a:lnTo>
                  <a:pt x="164" y="24"/>
                </a:lnTo>
                <a:lnTo>
                  <a:pt x="147" y="25"/>
                </a:lnTo>
                <a:lnTo>
                  <a:pt x="131" y="26"/>
                </a:lnTo>
                <a:lnTo>
                  <a:pt x="114" y="27"/>
                </a:lnTo>
                <a:lnTo>
                  <a:pt x="98" y="28"/>
                </a:lnTo>
                <a:lnTo>
                  <a:pt x="82" y="28"/>
                </a:lnTo>
                <a:lnTo>
                  <a:pt x="65" y="29"/>
                </a:lnTo>
                <a:lnTo>
                  <a:pt x="49" y="29"/>
                </a:lnTo>
                <a:lnTo>
                  <a:pt x="33" y="30"/>
                </a:lnTo>
                <a:lnTo>
                  <a:pt x="16" y="30"/>
                </a:lnTo>
                <a:lnTo>
                  <a:pt x="0" y="30"/>
                </a:lnTo>
                <a:close/>
              </a:path>
            </a:pathLst>
          </a:custGeom>
          <a:solidFill>
            <a:srgbClr val="0E72A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941195" y="1304925"/>
            <a:ext cx="114300" cy="698047"/>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941195" y="2060122"/>
            <a:ext cx="114300" cy="698047"/>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941195" y="2815318"/>
            <a:ext cx="114300" cy="698047"/>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941195" y="3570515"/>
            <a:ext cx="114300" cy="698047"/>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941195" y="4325711"/>
            <a:ext cx="114300" cy="698047"/>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941195" y="5080908"/>
            <a:ext cx="114300" cy="698047"/>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5836105"/>
            <a:ext cx="114300" cy="69804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00725" y="1447800"/>
            <a:ext cx="114300" cy="387486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00725" y="5379817"/>
            <a:ext cx="114300" cy="1011458"/>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7175" y="1530123"/>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6" name="TextBox 35"/>
          <p:cNvSpPr txBox="1"/>
          <p:nvPr/>
        </p:nvSpPr>
        <p:spPr>
          <a:xfrm>
            <a:off x="257175" y="228532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7" name="TextBox 36"/>
          <p:cNvSpPr txBox="1"/>
          <p:nvPr/>
        </p:nvSpPr>
        <p:spPr>
          <a:xfrm>
            <a:off x="257175" y="304051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8" name="TextBox 37"/>
          <p:cNvSpPr txBox="1"/>
          <p:nvPr/>
        </p:nvSpPr>
        <p:spPr>
          <a:xfrm>
            <a:off x="257175" y="3848101"/>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39" name="TextBox 38"/>
          <p:cNvSpPr txBox="1"/>
          <p:nvPr/>
        </p:nvSpPr>
        <p:spPr>
          <a:xfrm>
            <a:off x="257175" y="4550910"/>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0" name="TextBox 39"/>
          <p:cNvSpPr txBox="1"/>
          <p:nvPr/>
        </p:nvSpPr>
        <p:spPr>
          <a:xfrm>
            <a:off x="257175" y="5306106"/>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6061302"/>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5972175" y="3313796"/>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5972175" y="5761721"/>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4" name="Rounded Rectangle 43"/>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6" name="Rectangle 45"/>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48" name="TextBox 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49" name="TextBox 48"/>
          <p:cNvSpPr txBox="1"/>
          <p:nvPr/>
        </p:nvSpPr>
        <p:spPr>
          <a:xfrm>
            <a:off x="562117" y="1533247"/>
            <a:ext cx="1302877" cy="139750"/>
          </a:xfrm>
          <a:prstGeom prst="rect">
            <a:avLst/>
          </a:prstGeom>
          <a:noFill/>
        </p:spPr>
        <p:txBody>
          <a:bodyPr wrap="none" lIns="0" rIns="0" tIns="0" bIns="0">
            <a:spAutoFit/>
          </a:bodyPr>
          <a:lstStyle/>
          <a:p>
            <a:r>
              <a:rPr sz="791" b="1">
                <a:solidFill>
                  <a:srgbClr val="2E2E2E"/>
                </a:solidFill>
                <a:latin typeface="Calibri"/>
              </a:rPr>
              <a:t>Active Temperature-Controlled</a:t>
            </a:r>
          </a:p>
        </p:txBody>
      </p:sp>
      <p:sp>
        <p:nvSpPr>
          <p:cNvPr id="50" name="TextBox 49"/>
          <p:cNvSpPr txBox="1"/>
          <p:nvPr/>
        </p:nvSpPr>
        <p:spPr>
          <a:xfrm>
            <a:off x="1003840" y="1653948"/>
            <a:ext cx="826454" cy="139750"/>
          </a:xfrm>
          <a:prstGeom prst="rect">
            <a:avLst/>
          </a:prstGeom>
          <a:noFill/>
        </p:spPr>
        <p:txBody>
          <a:bodyPr wrap="none" lIns="0" rIns="0" tIns="0" bIns="0">
            <a:spAutoFit/>
          </a:bodyPr>
          <a:lstStyle/>
          <a:p>
            <a:r>
              <a:rPr sz="791" b="1">
                <a:solidFill>
                  <a:srgbClr val="2E2E2E"/>
                </a:solidFill>
                <a:latin typeface="Calibri"/>
              </a:rPr>
              <a:t>Transport Devices</a:t>
            </a:r>
          </a:p>
        </p:txBody>
      </p:sp>
      <p:pic>
        <p:nvPicPr>
          <p:cNvPr id="51" name="Picture 50" descr="lock.png"/>
          <p:cNvPicPr>
            <a:picLocks noChangeAspect="1"/>
          </p:cNvPicPr>
          <p:nvPr/>
        </p:nvPicPr>
        <p:blipFill>
          <a:blip r:embed="rId4"/>
          <a:stretch>
            <a:fillRect/>
          </a:stretch>
        </p:blipFill>
        <p:spPr>
          <a:xfrm>
            <a:off x="1771555" y="1646907"/>
            <a:ext cx="92663" cy="134782"/>
          </a:xfrm>
          <a:prstGeom prst="rect">
            <a:avLst/>
          </a:prstGeom>
        </p:spPr>
      </p:pic>
      <p:sp>
        <p:nvSpPr>
          <p:cNvPr id="52" name="TextBox 51"/>
          <p:cNvSpPr txBox="1"/>
          <p:nvPr/>
        </p:nvSpPr>
        <p:spPr>
          <a:xfrm>
            <a:off x="590023" y="2288444"/>
            <a:ext cx="1274971" cy="139750"/>
          </a:xfrm>
          <a:prstGeom prst="rect">
            <a:avLst/>
          </a:prstGeom>
          <a:noFill/>
        </p:spPr>
        <p:txBody>
          <a:bodyPr wrap="none" lIns="0" rIns="0" tIns="0" bIns="0">
            <a:spAutoFit/>
          </a:bodyPr>
          <a:lstStyle/>
          <a:p>
            <a:r>
              <a:rPr sz="791" b="1">
                <a:solidFill>
                  <a:srgbClr val="2E2E2E"/>
                </a:solidFill>
                <a:latin typeface="Calibri"/>
              </a:rPr>
              <a:t>Hypothermic Non-Oxygenated</a:t>
            </a:r>
          </a:p>
        </p:txBody>
      </p:sp>
      <p:sp>
        <p:nvSpPr>
          <p:cNvPr id="53" name="TextBox 52"/>
          <p:cNvSpPr txBox="1"/>
          <p:nvPr/>
        </p:nvSpPr>
        <p:spPr>
          <a:xfrm>
            <a:off x="1013269" y="2409145"/>
            <a:ext cx="817024" cy="139750"/>
          </a:xfrm>
          <a:prstGeom prst="rect">
            <a:avLst/>
          </a:prstGeom>
          <a:noFill/>
        </p:spPr>
        <p:txBody>
          <a:bodyPr wrap="none" lIns="0" rIns="0" tIns="0" bIns="0">
            <a:spAutoFit/>
          </a:bodyPr>
          <a:lstStyle/>
          <a:p>
            <a:r>
              <a:rPr sz="791" b="1">
                <a:solidFill>
                  <a:srgbClr val="2E2E2E"/>
                </a:solidFill>
                <a:latin typeface="Calibri"/>
              </a:rPr>
              <a:t>Perfusion Devices</a:t>
            </a:r>
          </a:p>
        </p:txBody>
      </p:sp>
      <p:pic>
        <p:nvPicPr>
          <p:cNvPr id="54" name="Picture 53" descr="lock.png"/>
          <p:cNvPicPr>
            <a:picLocks noChangeAspect="1"/>
          </p:cNvPicPr>
          <p:nvPr/>
        </p:nvPicPr>
        <p:blipFill>
          <a:blip r:embed="rId4"/>
          <a:stretch>
            <a:fillRect/>
          </a:stretch>
        </p:blipFill>
        <p:spPr>
          <a:xfrm>
            <a:off x="1771555" y="2402104"/>
            <a:ext cx="92663" cy="134782"/>
          </a:xfrm>
          <a:prstGeom prst="rect">
            <a:avLst/>
          </a:prstGeom>
        </p:spPr>
      </p:pic>
      <p:sp>
        <p:nvSpPr>
          <p:cNvPr id="55" name="TextBox 54"/>
          <p:cNvSpPr txBox="1"/>
          <p:nvPr/>
        </p:nvSpPr>
        <p:spPr>
          <a:xfrm>
            <a:off x="373532" y="3043641"/>
            <a:ext cx="1491462" cy="139750"/>
          </a:xfrm>
          <a:prstGeom prst="rect">
            <a:avLst/>
          </a:prstGeom>
          <a:noFill/>
        </p:spPr>
        <p:txBody>
          <a:bodyPr wrap="none" lIns="0" rIns="0" tIns="0" bIns="0">
            <a:spAutoFit/>
          </a:bodyPr>
          <a:lstStyle/>
          <a:p>
            <a:r>
              <a:rPr sz="791" b="1">
                <a:solidFill>
                  <a:srgbClr val="2E2E2E"/>
                </a:solidFill>
                <a:latin typeface="Calibri"/>
              </a:rPr>
              <a:t>Hypothermic Oxygenated Perfusion</a:t>
            </a:r>
          </a:p>
        </p:txBody>
      </p:sp>
      <p:sp>
        <p:nvSpPr>
          <p:cNvPr id="56" name="TextBox 55"/>
          <p:cNvSpPr txBox="1"/>
          <p:nvPr/>
        </p:nvSpPr>
        <p:spPr>
          <a:xfrm>
            <a:off x="1434858" y="3164342"/>
            <a:ext cx="395436" cy="139750"/>
          </a:xfrm>
          <a:prstGeom prst="rect">
            <a:avLst/>
          </a:prstGeom>
          <a:noFill/>
        </p:spPr>
        <p:txBody>
          <a:bodyPr wrap="none" lIns="0" rIns="0" tIns="0" bIns="0">
            <a:spAutoFit/>
          </a:bodyPr>
          <a:lstStyle/>
          <a:p>
            <a:r>
              <a:rPr sz="791" b="1">
                <a:solidFill>
                  <a:srgbClr val="2E2E2E"/>
                </a:solidFill>
                <a:latin typeface="Calibri"/>
              </a:rPr>
              <a:t>Devices</a:t>
            </a:r>
          </a:p>
        </p:txBody>
      </p:sp>
      <p:pic>
        <p:nvPicPr>
          <p:cNvPr id="57" name="Picture 56" descr="lock.png"/>
          <p:cNvPicPr>
            <a:picLocks noChangeAspect="1"/>
          </p:cNvPicPr>
          <p:nvPr/>
        </p:nvPicPr>
        <p:blipFill>
          <a:blip r:embed="rId4"/>
          <a:stretch>
            <a:fillRect/>
          </a:stretch>
        </p:blipFill>
        <p:spPr>
          <a:xfrm>
            <a:off x="1771555" y="3157301"/>
            <a:ext cx="92663" cy="134782"/>
          </a:xfrm>
          <a:prstGeom prst="rect">
            <a:avLst/>
          </a:prstGeom>
        </p:spPr>
      </p:pic>
      <p:sp>
        <p:nvSpPr>
          <p:cNvPr id="58" name="TextBox 57"/>
          <p:cNvSpPr txBox="1"/>
          <p:nvPr/>
        </p:nvSpPr>
        <p:spPr>
          <a:xfrm>
            <a:off x="374404" y="3859188"/>
            <a:ext cx="1455890" cy="139750"/>
          </a:xfrm>
          <a:prstGeom prst="rect">
            <a:avLst/>
          </a:prstGeom>
          <a:noFill/>
        </p:spPr>
        <p:txBody>
          <a:bodyPr wrap="none" lIns="0" rIns="0" tIns="0" bIns="0">
            <a:spAutoFit/>
          </a:bodyPr>
          <a:lstStyle/>
          <a:p>
            <a:r>
              <a:rPr sz="791" b="1">
                <a:solidFill>
                  <a:srgbClr val="2E2E2E"/>
                </a:solidFill>
                <a:latin typeface="Calibri"/>
              </a:rPr>
              <a:t>Normothermic Perfusion Devices</a:t>
            </a:r>
          </a:p>
        </p:txBody>
      </p:sp>
      <p:pic>
        <p:nvPicPr>
          <p:cNvPr id="59" name="Picture 58" descr="lock.png"/>
          <p:cNvPicPr>
            <a:picLocks noChangeAspect="1"/>
          </p:cNvPicPr>
          <p:nvPr/>
        </p:nvPicPr>
        <p:blipFill>
          <a:blip r:embed="rId4"/>
          <a:stretch>
            <a:fillRect/>
          </a:stretch>
        </p:blipFill>
        <p:spPr>
          <a:xfrm>
            <a:off x="1771555" y="3852147"/>
            <a:ext cx="92663" cy="134782"/>
          </a:xfrm>
          <a:prstGeom prst="rect">
            <a:avLst/>
          </a:prstGeom>
        </p:spPr>
      </p:pic>
      <p:sp>
        <p:nvSpPr>
          <p:cNvPr id="60" name="TextBox 59"/>
          <p:cNvSpPr txBox="1"/>
          <p:nvPr/>
        </p:nvSpPr>
        <p:spPr>
          <a:xfrm>
            <a:off x="341893" y="4554034"/>
            <a:ext cx="1523101" cy="139750"/>
          </a:xfrm>
          <a:prstGeom prst="rect">
            <a:avLst/>
          </a:prstGeom>
          <a:noFill/>
        </p:spPr>
        <p:txBody>
          <a:bodyPr wrap="none" lIns="0" rIns="0" tIns="0" bIns="0">
            <a:spAutoFit/>
          </a:bodyPr>
          <a:lstStyle/>
          <a:p>
            <a:r>
              <a:rPr sz="791" b="1">
                <a:solidFill>
                  <a:srgbClr val="2E2E2E"/>
                </a:solidFill>
                <a:latin typeface="Calibri"/>
              </a:rPr>
              <a:t>Subnormothermic Perfusion Devices</a:t>
            </a:r>
          </a:p>
        </p:txBody>
      </p:sp>
      <p:pic>
        <p:nvPicPr>
          <p:cNvPr id="61" name="Picture 60" descr="lock.png"/>
          <p:cNvPicPr>
            <a:picLocks noChangeAspect="1"/>
          </p:cNvPicPr>
          <p:nvPr/>
        </p:nvPicPr>
        <p:blipFill>
          <a:blip r:embed="rId4"/>
          <a:stretch>
            <a:fillRect/>
          </a:stretch>
        </p:blipFill>
        <p:spPr>
          <a:xfrm>
            <a:off x="1771555" y="4667694"/>
            <a:ext cx="92663" cy="134782"/>
          </a:xfrm>
          <a:prstGeom prst="rect">
            <a:avLst/>
          </a:prstGeom>
        </p:spPr>
      </p:pic>
      <p:sp>
        <p:nvSpPr>
          <p:cNvPr id="62" name="TextBox 61"/>
          <p:cNvSpPr txBox="1"/>
          <p:nvPr/>
        </p:nvSpPr>
        <p:spPr>
          <a:xfrm>
            <a:off x="295923" y="5309230"/>
            <a:ext cx="1569071" cy="139750"/>
          </a:xfrm>
          <a:prstGeom prst="rect">
            <a:avLst/>
          </a:prstGeom>
          <a:noFill/>
        </p:spPr>
        <p:txBody>
          <a:bodyPr wrap="none" lIns="0" rIns="0" tIns="0" bIns="0">
            <a:spAutoFit/>
          </a:bodyPr>
          <a:lstStyle/>
          <a:p>
            <a:r>
              <a:rPr sz="791" b="1">
                <a:solidFill>
                  <a:srgbClr val="2E2E2E"/>
                </a:solidFill>
                <a:latin typeface="Calibri"/>
              </a:rPr>
              <a:t>Multi-Temperature Perfusion Devices</a:t>
            </a:r>
          </a:p>
        </p:txBody>
      </p:sp>
      <p:pic>
        <p:nvPicPr>
          <p:cNvPr id="63" name="Picture 62" descr="lock.png"/>
          <p:cNvPicPr>
            <a:picLocks noChangeAspect="1"/>
          </p:cNvPicPr>
          <p:nvPr/>
        </p:nvPicPr>
        <p:blipFill>
          <a:blip r:embed="rId4"/>
          <a:stretch>
            <a:fillRect/>
          </a:stretch>
        </p:blipFill>
        <p:spPr>
          <a:xfrm>
            <a:off x="1771555" y="5422890"/>
            <a:ext cx="92663" cy="134782"/>
          </a:xfrm>
          <a:prstGeom prst="rect">
            <a:avLst/>
          </a:prstGeom>
        </p:spPr>
      </p:pic>
      <p:sp>
        <p:nvSpPr>
          <p:cNvPr id="64" name="TextBox 63"/>
          <p:cNvSpPr txBox="1"/>
          <p:nvPr/>
        </p:nvSpPr>
        <p:spPr>
          <a:xfrm>
            <a:off x="715547" y="6064426"/>
            <a:ext cx="1149447" cy="139750"/>
          </a:xfrm>
          <a:prstGeom prst="rect">
            <a:avLst/>
          </a:prstGeom>
          <a:noFill/>
        </p:spPr>
        <p:txBody>
          <a:bodyPr wrap="none" lIns="0" rIns="0" tIns="0" bIns="0">
            <a:spAutoFit/>
          </a:bodyPr>
          <a:lstStyle/>
          <a:p>
            <a:r>
              <a:rPr sz="791" b="1">
                <a:solidFill>
                  <a:srgbClr val="2E2E2E"/>
                </a:solidFill>
                <a:latin typeface="Calibri"/>
              </a:rPr>
              <a:t>Passive Insulated Transport</a:t>
            </a:r>
          </a:p>
        </p:txBody>
      </p:sp>
      <p:sp>
        <p:nvSpPr>
          <p:cNvPr id="65" name="TextBox 64"/>
          <p:cNvSpPr txBox="1"/>
          <p:nvPr/>
        </p:nvSpPr>
        <p:spPr>
          <a:xfrm>
            <a:off x="1302841" y="6185127"/>
            <a:ext cx="527452" cy="139750"/>
          </a:xfrm>
          <a:prstGeom prst="rect">
            <a:avLst/>
          </a:prstGeom>
          <a:noFill/>
        </p:spPr>
        <p:txBody>
          <a:bodyPr wrap="none" lIns="0" rIns="0" tIns="0" bIns="0">
            <a:spAutoFit/>
          </a:bodyPr>
          <a:lstStyle/>
          <a:p>
            <a:r>
              <a:rPr sz="791" b="1">
                <a:solidFill>
                  <a:srgbClr val="2E2E2E"/>
                </a:solidFill>
                <a:latin typeface="Calibri"/>
              </a:rPr>
              <a:t>Containers</a:t>
            </a:r>
          </a:p>
        </p:txBody>
      </p:sp>
      <p:pic>
        <p:nvPicPr>
          <p:cNvPr id="66" name="Picture 65" descr="lock.png"/>
          <p:cNvPicPr>
            <a:picLocks noChangeAspect="1"/>
          </p:cNvPicPr>
          <p:nvPr/>
        </p:nvPicPr>
        <p:blipFill>
          <a:blip r:embed="rId4"/>
          <a:stretch>
            <a:fillRect/>
          </a:stretch>
        </p:blipFill>
        <p:spPr>
          <a:xfrm>
            <a:off x="1771555" y="6178086"/>
            <a:ext cx="92663" cy="134782"/>
          </a:xfrm>
          <a:prstGeom prst="rect">
            <a:avLst/>
          </a:prstGeom>
        </p:spPr>
      </p:pic>
      <p:sp>
        <p:nvSpPr>
          <p:cNvPr id="67" name="TextBox 66"/>
          <p:cNvSpPr txBox="1"/>
          <p:nvPr/>
        </p:nvSpPr>
        <p:spPr>
          <a:xfrm>
            <a:off x="5972175" y="3324883"/>
            <a:ext cx="1021925" cy="139750"/>
          </a:xfrm>
          <a:prstGeom prst="rect">
            <a:avLst/>
          </a:prstGeom>
          <a:noFill/>
        </p:spPr>
        <p:txBody>
          <a:bodyPr wrap="none" lIns="0" rIns="0" tIns="0" bIns="0">
            <a:spAutoFit/>
          </a:bodyPr>
          <a:lstStyle/>
          <a:p>
            <a:r>
              <a:rPr sz="791" b="1">
                <a:solidFill>
                  <a:srgbClr val="2E2E2E"/>
                </a:solidFill>
                <a:latin typeface="Calibri"/>
              </a:rPr>
              <a:t>Organ-Specific Devices</a:t>
            </a:r>
          </a:p>
        </p:txBody>
      </p:sp>
      <p:pic>
        <p:nvPicPr>
          <p:cNvPr id="68" name="Picture 67" descr="lock.png"/>
          <p:cNvPicPr>
            <a:picLocks noChangeAspect="1"/>
          </p:cNvPicPr>
          <p:nvPr/>
        </p:nvPicPr>
        <p:blipFill>
          <a:blip r:embed="rId4"/>
          <a:stretch>
            <a:fillRect/>
          </a:stretch>
        </p:blipFill>
        <p:spPr>
          <a:xfrm>
            <a:off x="6935361" y="3317842"/>
            <a:ext cx="92663" cy="134782"/>
          </a:xfrm>
          <a:prstGeom prst="rect">
            <a:avLst/>
          </a:prstGeom>
        </p:spPr>
      </p:pic>
      <p:sp>
        <p:nvSpPr>
          <p:cNvPr id="69" name="TextBox 68"/>
          <p:cNvSpPr txBox="1"/>
          <p:nvPr/>
        </p:nvSpPr>
        <p:spPr>
          <a:xfrm>
            <a:off x="5972175" y="5764845"/>
            <a:ext cx="1362075" cy="139750"/>
          </a:xfrm>
          <a:prstGeom prst="rect">
            <a:avLst/>
          </a:prstGeom>
          <a:noFill/>
        </p:spPr>
        <p:txBody>
          <a:bodyPr wrap="none" lIns="0" rIns="0" tIns="0" bIns="0">
            <a:spAutoFit/>
          </a:bodyPr>
          <a:lstStyle/>
          <a:p>
            <a:r>
              <a:rPr sz="791" b="1">
                <a:solidFill>
                  <a:srgbClr val="2E2E2E"/>
                </a:solidFill>
                <a:latin typeface="Calibri"/>
              </a:rPr>
              <a:t>Multi-Organ Compatible Devices</a:t>
            </a:r>
          </a:p>
        </p:txBody>
      </p:sp>
      <p:pic>
        <p:nvPicPr>
          <p:cNvPr id="70" name="Picture 69" descr="lock.png"/>
          <p:cNvPicPr>
            <a:picLocks noChangeAspect="1"/>
          </p:cNvPicPr>
          <p:nvPr/>
        </p:nvPicPr>
        <p:blipFill>
          <a:blip r:embed="rId4"/>
          <a:stretch>
            <a:fillRect/>
          </a:stretch>
        </p:blipFill>
        <p:spPr>
          <a:xfrm>
            <a:off x="5962478" y="5878505"/>
            <a:ext cx="92663" cy="134782"/>
          </a:xfrm>
          <a:prstGeom prst="rect">
            <a:avLst/>
          </a:prstGeom>
        </p:spPr>
      </p:pic>
      <p:sp>
        <p:nvSpPr>
          <p:cNvPr id="71" name="TextBox 70"/>
          <p:cNvSpPr txBox="1"/>
          <p:nvPr/>
        </p:nvSpPr>
        <p:spPr>
          <a:xfrm>
            <a:off x="7715250" y="1400175"/>
            <a:ext cx="4171950" cy="194310"/>
          </a:xfrm>
          <a:prstGeom prst="rect">
            <a:avLst/>
          </a:prstGeom>
          <a:noFill/>
        </p:spPr>
        <p:txBody>
          <a:bodyPr wrap="none" lIns="0" rIns="0" tIns="0" bIns="0">
            <a:spAutoFit/>
          </a:bodyPr>
          <a:lstStyle/>
          <a:p>
            <a:r>
              <a:rPr sz="1150" b="0">
                <a:solidFill>
                  <a:srgbClr val="2E2E2E"/>
                </a:solidFill>
                <a:latin typeface="Calibri"/>
              </a:rPr>
              <a:t>Active temperature-controlled transport devices segment is projected</a:t>
            </a:r>
          </a:p>
        </p:txBody>
      </p:sp>
      <p:sp>
        <p:nvSpPr>
          <p:cNvPr id="72" name="TextBox 71"/>
          <p:cNvSpPr txBox="1"/>
          <p:nvPr/>
        </p:nvSpPr>
        <p:spPr>
          <a:xfrm>
            <a:off x="7715250" y="1575435"/>
            <a:ext cx="4036665" cy="194310"/>
          </a:xfrm>
          <a:prstGeom prst="rect">
            <a:avLst/>
          </a:prstGeom>
          <a:noFill/>
        </p:spPr>
        <p:txBody>
          <a:bodyPr wrap="none" lIns="0" rIns="0" tIns="0" bIns="0">
            <a:spAutoFit/>
          </a:bodyPr>
          <a:lstStyle/>
          <a:p>
            <a:r>
              <a:rPr sz="1150" b="0">
                <a:solidFill>
                  <a:srgbClr val="2E2E2E"/>
                </a:solidFill>
                <a:latin typeface="Calibri"/>
              </a:rPr>
              <a:t>to account for the largest share of the U.S. organ transport devices</a:t>
            </a:r>
          </a:p>
        </p:txBody>
      </p:sp>
      <p:sp>
        <p:nvSpPr>
          <p:cNvPr id="73" name="TextBox 72"/>
          <p:cNvSpPr txBox="1"/>
          <p:nvPr/>
        </p:nvSpPr>
        <p:spPr>
          <a:xfrm>
            <a:off x="7715250" y="1750695"/>
            <a:ext cx="2688270" cy="194310"/>
          </a:xfrm>
          <a:prstGeom prst="rect">
            <a:avLst/>
          </a:prstGeom>
          <a:noFill/>
        </p:spPr>
        <p:txBody>
          <a:bodyPr wrap="none" lIns="0" rIns="0" tIns="0" bIns="0">
            <a:spAutoFit/>
          </a:bodyPr>
          <a:lstStyle/>
          <a:p>
            <a:r>
              <a:rPr sz="1150" b="0">
                <a:solidFill>
                  <a:srgbClr val="2E2E2E"/>
                </a:solidFill>
                <a:latin typeface="Calibri"/>
              </a:rPr>
              <a:t>market, led by organ-specific devices at US$</a:t>
            </a:r>
          </a:p>
        </p:txBody>
      </p:sp>
      <p:pic>
        <p:nvPicPr>
          <p:cNvPr id="74" name="Picture 73" descr="lock.png"/>
          <p:cNvPicPr>
            <a:picLocks noChangeAspect="1"/>
          </p:cNvPicPr>
          <p:nvPr/>
        </p:nvPicPr>
        <p:blipFill>
          <a:blip r:embed="rId4"/>
          <a:stretch>
            <a:fillRect/>
          </a:stretch>
        </p:blipFill>
        <p:spPr>
          <a:xfrm>
            <a:off x="10352673" y="1740471"/>
            <a:ext cx="134549" cy="195707"/>
          </a:xfrm>
          <a:prstGeom prst="rect">
            <a:avLst/>
          </a:prstGeom>
        </p:spPr>
      </p:pic>
      <p:sp>
        <p:nvSpPr>
          <p:cNvPr id="75" name="TextBox 74"/>
          <p:cNvSpPr txBox="1"/>
          <p:nvPr/>
        </p:nvSpPr>
        <p:spPr>
          <a:xfrm>
            <a:off x="10527783" y="1750695"/>
            <a:ext cx="1220923" cy="194310"/>
          </a:xfrm>
          <a:prstGeom prst="rect">
            <a:avLst/>
          </a:prstGeom>
          <a:noFill/>
        </p:spPr>
        <p:txBody>
          <a:bodyPr wrap="none" lIns="0" rIns="0" tIns="0" bIns="0">
            <a:spAutoFit/>
          </a:bodyPr>
          <a:lstStyle/>
          <a:p>
            <a:r>
              <a:rPr sz="1150" b="0">
                <a:solidFill>
                  <a:srgbClr val="2E2E2E"/>
                </a:solidFill>
                <a:latin typeface="Calibri"/>
              </a:rPr>
              <a:t>Mn in 2036. 'Active</a:t>
            </a:r>
          </a:p>
        </p:txBody>
      </p:sp>
      <p:sp>
        <p:nvSpPr>
          <p:cNvPr id="76" name="TextBox 75"/>
          <p:cNvSpPr txBox="1"/>
          <p:nvPr/>
        </p:nvSpPr>
        <p:spPr>
          <a:xfrm>
            <a:off x="7715250" y="1925955"/>
            <a:ext cx="4145346" cy="194310"/>
          </a:xfrm>
          <a:prstGeom prst="rect">
            <a:avLst/>
          </a:prstGeom>
          <a:noFill/>
        </p:spPr>
        <p:txBody>
          <a:bodyPr wrap="none" lIns="0" rIns="0" tIns="0" bIns="0">
            <a:spAutoFit/>
          </a:bodyPr>
          <a:lstStyle/>
          <a:p>
            <a:r>
              <a:rPr sz="1150" b="0">
                <a:solidFill>
                  <a:srgbClr val="2E2E2E"/>
                </a:solidFill>
                <a:latin typeface="Calibri"/>
              </a:rPr>
              <a:t>Temperature-Controlled Transport Devices × Organ-Specific Devices'</a:t>
            </a:r>
          </a:p>
        </p:txBody>
      </p:sp>
      <p:sp>
        <p:nvSpPr>
          <p:cNvPr id="77" name="TextBox 76"/>
          <p:cNvSpPr txBox="1"/>
          <p:nvPr/>
        </p:nvSpPr>
        <p:spPr>
          <a:xfrm>
            <a:off x="7715250" y="2101215"/>
            <a:ext cx="2435535" cy="194310"/>
          </a:xfrm>
          <a:prstGeom prst="rect">
            <a:avLst/>
          </a:prstGeom>
          <a:noFill/>
        </p:spPr>
        <p:txBody>
          <a:bodyPr wrap="none" lIns="0" rIns="0" tIns="0" bIns="0">
            <a:spAutoFit/>
          </a:bodyPr>
          <a:lstStyle/>
          <a:p>
            <a:r>
              <a:rPr sz="1150" b="0">
                <a:solidFill>
                  <a:srgbClr val="2E2E2E"/>
                </a:solidFill>
                <a:latin typeface="Calibri"/>
              </a:rPr>
              <a:t>is the single largest cross-sectional cell (</a:t>
            </a:r>
          </a:p>
        </p:txBody>
      </p:sp>
      <p:pic>
        <p:nvPicPr>
          <p:cNvPr id="78" name="Picture 77" descr="lock.png"/>
          <p:cNvPicPr>
            <a:picLocks noChangeAspect="1"/>
          </p:cNvPicPr>
          <p:nvPr/>
        </p:nvPicPr>
        <p:blipFill>
          <a:blip r:embed="rId4"/>
          <a:stretch>
            <a:fillRect/>
          </a:stretch>
        </p:blipFill>
        <p:spPr>
          <a:xfrm>
            <a:off x="10099938" y="2090991"/>
            <a:ext cx="134549" cy="195707"/>
          </a:xfrm>
          <a:prstGeom prst="rect">
            <a:avLst/>
          </a:prstGeom>
        </p:spPr>
      </p:pic>
      <p:sp>
        <p:nvSpPr>
          <p:cNvPr id="79" name="TextBox 78"/>
          <p:cNvSpPr txBox="1"/>
          <p:nvPr/>
        </p:nvSpPr>
        <p:spPr>
          <a:xfrm>
            <a:off x="10275048" y="2101215"/>
            <a:ext cx="1418604" cy="194310"/>
          </a:xfrm>
          <a:prstGeom prst="rect">
            <a:avLst/>
          </a:prstGeom>
          <a:noFill/>
        </p:spPr>
        <p:txBody>
          <a:bodyPr wrap="none" lIns="0" rIns="0" tIns="0" bIns="0">
            <a:spAutoFit/>
          </a:bodyPr>
          <a:lstStyle/>
          <a:p>
            <a:r>
              <a:rPr sz="1150" b="0">
                <a:solidFill>
                  <a:srgbClr val="2E2E2E"/>
                </a:solidFill>
                <a:latin typeface="Calibri"/>
              </a:rPr>
              <a:t>US$ Mn, 2026E), while</a:t>
            </a:r>
          </a:p>
        </p:txBody>
      </p:sp>
      <p:sp>
        <p:nvSpPr>
          <p:cNvPr id="80" name="TextBox 79"/>
          <p:cNvSpPr txBox="1"/>
          <p:nvPr/>
        </p:nvSpPr>
        <p:spPr>
          <a:xfrm>
            <a:off x="7715250" y="2276475"/>
            <a:ext cx="3992736" cy="194310"/>
          </a:xfrm>
          <a:prstGeom prst="rect">
            <a:avLst/>
          </a:prstGeom>
          <a:noFill/>
        </p:spPr>
        <p:txBody>
          <a:bodyPr wrap="none" lIns="0" rIns="0" tIns="0" bIns="0">
            <a:spAutoFit/>
          </a:bodyPr>
          <a:lstStyle/>
          <a:p>
            <a:r>
              <a:rPr sz="1150" b="0">
                <a:solidFill>
                  <a:srgbClr val="2E2E2E"/>
                </a:solidFill>
                <a:latin typeface="Calibri"/>
              </a:rPr>
              <a:t>'Passive Insulated Transport Containers × Multi-Organ Compatible</a:t>
            </a:r>
          </a:p>
        </p:txBody>
      </p:sp>
      <p:sp>
        <p:nvSpPr>
          <p:cNvPr id="81" name="TextBox 80"/>
          <p:cNvSpPr txBox="1"/>
          <p:nvPr/>
        </p:nvSpPr>
        <p:spPr>
          <a:xfrm>
            <a:off x="7715250" y="2451735"/>
            <a:ext cx="2943554" cy="194310"/>
          </a:xfrm>
          <a:prstGeom prst="rect">
            <a:avLst/>
          </a:prstGeom>
          <a:noFill/>
        </p:spPr>
        <p:txBody>
          <a:bodyPr wrap="none" lIns="0" rIns="0" tIns="0" bIns="0">
            <a:spAutoFit/>
          </a:bodyPr>
          <a:lstStyle/>
          <a:p>
            <a:r>
              <a:rPr sz="1150" b="0">
                <a:solidFill>
                  <a:srgbClr val="2E2E2E"/>
                </a:solidFill>
                <a:latin typeface="Calibri"/>
              </a:rPr>
              <a:t>Devices' records the fastest growth at a CAGR of</a:t>
            </a:r>
          </a:p>
        </p:txBody>
      </p:sp>
      <p:pic>
        <p:nvPicPr>
          <p:cNvPr id="82" name="Picture 81" descr="lock.png"/>
          <p:cNvPicPr>
            <a:picLocks noChangeAspect="1"/>
          </p:cNvPicPr>
          <p:nvPr/>
        </p:nvPicPr>
        <p:blipFill>
          <a:blip r:embed="rId4"/>
          <a:stretch>
            <a:fillRect/>
          </a:stretch>
        </p:blipFill>
        <p:spPr>
          <a:xfrm>
            <a:off x="10607958" y="2441511"/>
            <a:ext cx="134549" cy="195707"/>
          </a:xfrm>
          <a:prstGeom prst="rect">
            <a:avLst/>
          </a:prstGeom>
        </p:spPr>
      </p:pic>
      <p:sp>
        <p:nvSpPr>
          <p:cNvPr id="83" name="TextBox 82"/>
          <p:cNvSpPr txBox="1"/>
          <p:nvPr/>
        </p:nvSpPr>
        <p:spPr>
          <a:xfrm>
            <a:off x="10783067" y="2451735"/>
            <a:ext cx="342912" cy="194310"/>
          </a:xfrm>
          <a:prstGeom prst="rect">
            <a:avLst/>
          </a:prstGeom>
          <a:noFill/>
        </p:spPr>
        <p:txBody>
          <a:bodyPr wrap="none" lIns="0" rIns="0" tIns="0" bIns="0">
            <a:spAutoFit/>
          </a:bodyPr>
          <a:lstStyle/>
          <a:p>
            <a:r>
              <a:rPr sz="1150" b="0">
                <a:solidFill>
                  <a:srgbClr val="2E2E2E"/>
                </a:solidFill>
                <a:latin typeface="Calibri"/>
              </a:rPr>
              <a:t>over</a:t>
            </a:r>
          </a:p>
        </p:txBody>
      </p:sp>
      <p:sp>
        <p:nvSpPr>
          <p:cNvPr id="84" name="TextBox 83"/>
          <p:cNvSpPr txBox="1"/>
          <p:nvPr/>
        </p:nvSpPr>
        <p:spPr>
          <a:xfrm>
            <a:off x="7715250" y="2626995"/>
            <a:ext cx="917199" cy="194310"/>
          </a:xfrm>
          <a:prstGeom prst="rect">
            <a:avLst/>
          </a:prstGeom>
          <a:noFill/>
        </p:spPr>
        <p:txBody>
          <a:bodyPr wrap="none" lIns="0" rIns="0" tIns="0" bIns="0">
            <a:spAutoFit/>
          </a:bodyPr>
          <a:lstStyle/>
          <a:p>
            <a:r>
              <a:rPr sz="1150" b="0">
                <a:solidFill>
                  <a:srgbClr val="2E2E2E"/>
                </a:solidFill>
                <a:latin typeface="Calibri"/>
              </a:rPr>
              <a:t>2026E–2036F.</a:t>
            </a:r>
          </a:p>
        </p:txBody>
      </p:sp>
      <p:sp>
        <p:nvSpPr>
          <p:cNvPr id="85" name="TextBox 84"/>
          <p:cNvSpPr txBox="1"/>
          <p:nvPr/>
        </p:nvSpPr>
        <p:spPr>
          <a:xfrm>
            <a:off x="7715250" y="2854832"/>
            <a:ext cx="4171950" cy="194310"/>
          </a:xfrm>
          <a:prstGeom prst="rect">
            <a:avLst/>
          </a:prstGeom>
          <a:noFill/>
        </p:spPr>
        <p:txBody>
          <a:bodyPr wrap="none" lIns="0" rIns="0" tIns="0" bIns="0">
            <a:spAutoFit/>
          </a:bodyPr>
          <a:lstStyle/>
          <a:p>
            <a:r>
              <a:rPr sz="1150" b="0">
                <a:solidFill>
                  <a:srgbClr val="2E2E2E"/>
                </a:solidFill>
                <a:latin typeface="Calibri"/>
              </a:rPr>
              <a:t>Combined, the top three device technology × organ compatibility cells</a:t>
            </a:r>
          </a:p>
        </p:txBody>
      </p:sp>
      <p:sp>
        <p:nvSpPr>
          <p:cNvPr id="86" name="TextBox 85"/>
          <p:cNvSpPr txBox="1"/>
          <p:nvPr/>
        </p:nvSpPr>
        <p:spPr>
          <a:xfrm>
            <a:off x="7715250" y="3030092"/>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87" name="Picture 86" descr="lock.png"/>
          <p:cNvPicPr>
            <a:picLocks noChangeAspect="1"/>
          </p:cNvPicPr>
          <p:nvPr/>
        </p:nvPicPr>
        <p:blipFill>
          <a:blip r:embed="rId4"/>
          <a:stretch>
            <a:fillRect/>
          </a:stretch>
        </p:blipFill>
        <p:spPr>
          <a:xfrm>
            <a:off x="10004949" y="3019869"/>
            <a:ext cx="134549" cy="195707"/>
          </a:xfrm>
          <a:prstGeom prst="rect">
            <a:avLst/>
          </a:prstGeom>
        </p:spPr>
      </p:pic>
      <p:sp>
        <p:nvSpPr>
          <p:cNvPr id="88" name="TextBox 87"/>
          <p:cNvSpPr txBox="1"/>
          <p:nvPr/>
        </p:nvSpPr>
        <p:spPr>
          <a:xfrm>
            <a:off x="10180058" y="3030092"/>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Device Technology × Organ Compatibility, 2026E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organ compatibility sub-segments</a:t>
            </a:r>
          </a:p>
        </p:txBody>
      </p:sp>
      <p:sp>
        <p:nvSpPr>
          <p:cNvPr id="10" name="Rounded Rectangle 9"/>
          <p:cNvSpPr/>
          <p:nvPr/>
        </p:nvSpPr>
        <p:spPr>
          <a:xfrm>
            <a:off x="142875" y="981075"/>
            <a:ext cx="11906250" cy="3514725"/>
          </a:xfrm>
          <a:prstGeom prst="roundRect">
            <a:avLst>
              <a:gd name="adj" fmla="val 216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Device Technology × Organ Compatibility, 2026E (% of each row)</a:t>
            </a:r>
          </a:p>
        </p:txBody>
      </p:sp>
      <p:graphicFrame>
        <p:nvGraphicFramePr>
          <p:cNvPr id="12" name="Table 11"/>
          <p:cNvGraphicFramePr>
            <a:graphicFrameLocks noGrp="1"/>
          </p:cNvGraphicFramePr>
          <p:nvPr/>
        </p:nvGraphicFramePr>
        <p:xfrm>
          <a:off x="152400" y="1238250"/>
          <a:ext cx="11887199" cy="3047997"/>
        </p:xfrm>
        <a:graphic>
          <a:graphicData uri="http://schemas.openxmlformats.org/drawingml/2006/table">
            <a:tbl>
              <a:tblPr>
                <a:tableStyleId>{5C22544A-7EE6-4342-B048-85BDC9FD1C3A}</a:tableStyleId>
              </a:tblPr>
              <a:tblGrid>
                <a:gridCol w="3092148"/>
                <a:gridCol w="1294619"/>
                <a:gridCol w="1200222"/>
                <a:gridCol w="1236093"/>
                <a:gridCol w="1198334"/>
                <a:gridCol w="1555152"/>
                <a:gridCol w="1766825"/>
                <a:gridCol w="543806"/>
              </a:tblGrid>
              <a:tr h="438912">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5">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Multi-Organ Compatible</a:t>
                      </a:r>
                      <a:endParaRPr sz="1100"/>
                    </a:p>
                    <a:p>
                      <a:pPr algn="ctr"/>
                      <a:r>
                        <a:rPr sz="1100" b="1">
                          <a:solidFill>
                            <a:srgbClr val="0B2E4A"/>
                          </a:solidFill>
                          <a:latin typeface="Calibri"/>
                        </a:rPr>
                        <a:t>Devices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632629">
                <a:tc vMerge="1">
                  <a:txBody>
                    <a:bodyPr wrap="none"/>
                    <a:lstStyle/>
                    <a:p>
                      <a:pPr algn="l"/>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Kidney-Specific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Liver-Specific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Heart-Specific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Lung-Specific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Organ-Specific Devices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a:txBody>
                    <a:bodyPr wrap="none"/>
                    <a:lstStyle/>
                    <a:p>
                      <a:pPr algn="ctr"/>
                      <a:endParaRPr sz="1100"/>
                    </a:p>
                  </a:txBody>
                  <a:tcPr marL="47625" marR="38100" marT="19050" marB="19050" anchor="ctr">
                    <a:solidFill>
                      <a:srgbClr val="E0E8EF"/>
                    </a:solidFill>
                  </a:tcPr>
                </a:tc>
              </a:tr>
              <a:tr h="247057">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057">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057">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42957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TextBox 1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 name="Picture 14" descr="lock.png"/>
          <p:cNvPicPr>
            <a:picLocks noChangeAspect="1"/>
          </p:cNvPicPr>
          <p:nvPr/>
        </p:nvPicPr>
        <p:blipFill>
          <a:blip r:embed="rId4"/>
          <a:stretch>
            <a:fillRect/>
          </a:stretch>
        </p:blipFill>
        <p:spPr>
          <a:xfrm>
            <a:off x="7455383" y="3031318"/>
            <a:ext cx="366712" cy="533400"/>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Device Technology × Organ Compatibility, 2026E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organ compatibility sub-segments</a:t>
            </a:r>
          </a:p>
        </p:txBody>
      </p:sp>
      <p:sp>
        <p:nvSpPr>
          <p:cNvPr id="10" name="Rounded Rectangle 9"/>
          <p:cNvSpPr/>
          <p:nvPr/>
        </p:nvSpPr>
        <p:spPr>
          <a:xfrm>
            <a:off x="142875" y="981075"/>
            <a:ext cx="7286625" cy="5648325"/>
          </a:xfrm>
          <a:prstGeom prst="roundRect">
            <a:avLst>
              <a:gd name="adj" fmla="val 13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Organ Compatibility Mix by Device Technology, 2026E (% share)</a:t>
            </a:r>
          </a:p>
        </p:txBody>
      </p:sp>
      <p:graphicFrame>
        <p:nvGraphicFramePr>
          <p:cNvPr id="12" name="Chart 11"/>
          <p:cNvGraphicFramePr>
            <a:graphicFrameLocks noGrp="1"/>
          </p:cNvGraphicFramePr>
          <p:nvPr/>
        </p:nvGraphicFramePr>
        <p:xfrm>
          <a:off x="238125" y="1266825"/>
          <a:ext cx="7096125" cy="5305425"/>
        </p:xfrm>
        <a:graphic>
          <a:graphicData uri="http://schemas.openxmlformats.org/drawingml/2006/chart">
            <c:chart xmlns:c="http://schemas.openxmlformats.org/drawingml/2006/chart" r:id="rId3"/>
          </a:graphicData>
        </a:graphic>
      </p:graphicFrame>
      <p:sp>
        <p:nvSpPr>
          <p:cNvPr id="13" name="Rounded Rectangle 12"/>
          <p:cNvSpPr/>
          <p:nvPr/>
        </p:nvSpPr>
        <p:spPr>
          <a:xfrm>
            <a:off x="7581900" y="981075"/>
            <a:ext cx="4457700" cy="5648325"/>
          </a:xfrm>
          <a:prstGeom prst="roundRect">
            <a:avLst>
              <a:gd name="adj" fmla="val 17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15250" y="1066800"/>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5" name="Rectangle 14"/>
          <p:cNvSpPr/>
          <p:nvPr/>
        </p:nvSpPr>
        <p:spPr>
          <a:xfrm>
            <a:off x="7715250" y="1304925"/>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5250" y="1390650"/>
            <a:ext cx="4191000" cy="51625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7" name="TextBox 1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8" name="Picture 17" descr="lock.png"/>
          <p:cNvPicPr>
            <a:picLocks noChangeAspect="1"/>
          </p:cNvPicPr>
          <p:nvPr/>
        </p:nvPicPr>
        <p:blipFill>
          <a:blip r:embed="rId5"/>
          <a:stretch>
            <a:fillRect/>
          </a:stretch>
        </p:blipFill>
        <p:spPr>
          <a:xfrm>
            <a:off x="3733715" y="2686119"/>
            <a:ext cx="393072" cy="571741"/>
          </a:xfrm>
          <a:prstGeom prst="rect">
            <a:avLst/>
          </a:prstGeom>
        </p:spPr>
      </p:pic>
      <p:sp>
        <p:nvSpPr>
          <p:cNvPr id="19" name="TextBox 18"/>
          <p:cNvSpPr txBox="1"/>
          <p:nvPr/>
        </p:nvSpPr>
        <p:spPr>
          <a:xfrm>
            <a:off x="7715250" y="1400175"/>
            <a:ext cx="3953656" cy="194310"/>
          </a:xfrm>
          <a:prstGeom prst="rect">
            <a:avLst/>
          </a:prstGeom>
          <a:noFill/>
        </p:spPr>
        <p:txBody>
          <a:bodyPr wrap="none" lIns="0" rIns="0" tIns="0" bIns="0">
            <a:spAutoFit/>
          </a:bodyPr>
          <a:lstStyle/>
          <a:p>
            <a:r>
              <a:rPr sz="1150" b="0">
                <a:solidFill>
                  <a:srgbClr val="2E2E2E"/>
                </a:solidFill>
                <a:latin typeface="Calibri"/>
              </a:rPr>
              <a:t>▪ 'Other Organ-Specific Devices' holds the highest share of 'Active</a:t>
            </a:r>
          </a:p>
        </p:txBody>
      </p:sp>
      <p:sp>
        <p:nvSpPr>
          <p:cNvPr id="20" name="TextBox 19"/>
          <p:cNvSpPr txBox="1"/>
          <p:nvPr/>
        </p:nvSpPr>
        <p:spPr>
          <a:xfrm>
            <a:off x="7715250" y="1575435"/>
            <a:ext cx="2811499" cy="194310"/>
          </a:xfrm>
          <a:prstGeom prst="rect">
            <a:avLst/>
          </a:prstGeom>
          <a:noFill/>
        </p:spPr>
        <p:txBody>
          <a:bodyPr wrap="none" lIns="0" rIns="0" tIns="0" bIns="0">
            <a:spAutoFit/>
          </a:bodyPr>
          <a:lstStyle/>
          <a:p>
            <a:r>
              <a:rPr sz="1150" b="0">
                <a:solidFill>
                  <a:srgbClr val="2E2E2E"/>
                </a:solidFill>
                <a:latin typeface="Calibri"/>
              </a:rPr>
              <a:t>Temperature-Controlled Transport Devices' at</a:t>
            </a:r>
          </a:p>
        </p:txBody>
      </p:sp>
      <p:pic>
        <p:nvPicPr>
          <p:cNvPr id="21" name="Picture 20" descr="lock.png"/>
          <p:cNvPicPr>
            <a:picLocks noChangeAspect="1"/>
          </p:cNvPicPr>
          <p:nvPr/>
        </p:nvPicPr>
        <p:blipFill>
          <a:blip r:embed="rId5"/>
          <a:stretch>
            <a:fillRect/>
          </a:stretch>
        </p:blipFill>
        <p:spPr>
          <a:xfrm>
            <a:off x="10475903" y="1565211"/>
            <a:ext cx="134549" cy="195707"/>
          </a:xfrm>
          <a:prstGeom prst="rect">
            <a:avLst/>
          </a:prstGeom>
        </p:spPr>
      </p:pic>
      <p:sp>
        <p:nvSpPr>
          <p:cNvPr id="22" name="TextBox 21"/>
          <p:cNvSpPr txBox="1"/>
          <p:nvPr/>
        </p:nvSpPr>
        <p:spPr>
          <a:xfrm>
            <a:off x="10651012" y="1575435"/>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3" name="TextBox 22"/>
          <p:cNvSpPr txBox="1"/>
          <p:nvPr/>
        </p:nvSpPr>
        <p:spPr>
          <a:xfrm>
            <a:off x="7715250" y="1803273"/>
            <a:ext cx="3865512" cy="194310"/>
          </a:xfrm>
          <a:prstGeom prst="rect">
            <a:avLst/>
          </a:prstGeom>
          <a:noFill/>
        </p:spPr>
        <p:txBody>
          <a:bodyPr wrap="none" lIns="0" rIns="0" tIns="0" bIns="0">
            <a:spAutoFit/>
          </a:bodyPr>
          <a:lstStyle/>
          <a:p>
            <a:r>
              <a:rPr sz="1150" b="0">
                <a:solidFill>
                  <a:srgbClr val="2E2E2E"/>
                </a:solidFill>
                <a:latin typeface="Calibri"/>
              </a:rPr>
              <a:t>▪ 'Active Temperature-Controlled Transport Devices' is the most</a:t>
            </a:r>
          </a:p>
        </p:txBody>
      </p:sp>
      <p:sp>
        <p:nvSpPr>
          <p:cNvPr id="24" name="TextBox 23"/>
          <p:cNvSpPr txBox="1"/>
          <p:nvPr/>
        </p:nvSpPr>
        <p:spPr>
          <a:xfrm>
            <a:off x="7715250" y="1978533"/>
            <a:ext cx="3117006" cy="194310"/>
          </a:xfrm>
          <a:prstGeom prst="rect">
            <a:avLst/>
          </a:prstGeom>
          <a:noFill/>
        </p:spPr>
        <p:txBody>
          <a:bodyPr wrap="none" lIns="0" rIns="0" tIns="0" bIns="0">
            <a:spAutoFit/>
          </a:bodyPr>
          <a:lstStyle/>
          <a:p>
            <a:r>
              <a:rPr sz="1150" b="0">
                <a:solidFill>
                  <a:srgbClr val="2E2E2E"/>
                </a:solidFill>
                <a:latin typeface="Calibri"/>
              </a:rPr>
              <a:t>concentrated device technology sub-segment, with</a:t>
            </a:r>
          </a:p>
        </p:txBody>
      </p:sp>
      <p:pic>
        <p:nvPicPr>
          <p:cNvPr id="25" name="Picture 24" descr="lock.png"/>
          <p:cNvPicPr>
            <a:picLocks noChangeAspect="1"/>
          </p:cNvPicPr>
          <p:nvPr/>
        </p:nvPicPr>
        <p:blipFill>
          <a:blip r:embed="rId5"/>
          <a:stretch>
            <a:fillRect/>
          </a:stretch>
        </p:blipFill>
        <p:spPr>
          <a:xfrm>
            <a:off x="10781410" y="1968309"/>
            <a:ext cx="134549" cy="195707"/>
          </a:xfrm>
          <a:prstGeom prst="rect">
            <a:avLst/>
          </a:prstGeom>
        </p:spPr>
      </p:pic>
      <p:sp>
        <p:nvSpPr>
          <p:cNvPr id="26" name="TextBox 25"/>
          <p:cNvSpPr txBox="1"/>
          <p:nvPr/>
        </p:nvSpPr>
        <p:spPr>
          <a:xfrm>
            <a:off x="10956519" y="1978533"/>
            <a:ext cx="722585" cy="194310"/>
          </a:xfrm>
          <a:prstGeom prst="rect">
            <a:avLst/>
          </a:prstGeom>
          <a:noFill/>
        </p:spPr>
        <p:txBody>
          <a:bodyPr wrap="none" lIns="0" rIns="0" tIns="0" bIns="0">
            <a:spAutoFit/>
          </a:bodyPr>
          <a:lstStyle/>
          <a:p>
            <a:r>
              <a:rPr sz="1150" b="0">
                <a:solidFill>
                  <a:srgbClr val="2E2E2E"/>
                </a:solidFill>
                <a:latin typeface="Calibri"/>
              </a:rPr>
              <a:t>of its value</a:t>
            </a:r>
          </a:p>
        </p:txBody>
      </p:sp>
      <p:sp>
        <p:nvSpPr>
          <p:cNvPr id="27" name="TextBox 26"/>
          <p:cNvSpPr txBox="1"/>
          <p:nvPr/>
        </p:nvSpPr>
        <p:spPr>
          <a:xfrm>
            <a:off x="7715250" y="2153793"/>
            <a:ext cx="2106352" cy="194310"/>
          </a:xfrm>
          <a:prstGeom prst="rect">
            <a:avLst/>
          </a:prstGeom>
          <a:noFill/>
        </p:spPr>
        <p:txBody>
          <a:bodyPr wrap="none" lIns="0" rIns="0" tIns="0" bIns="0">
            <a:spAutoFit/>
          </a:bodyPr>
          <a:lstStyle/>
          <a:p>
            <a:r>
              <a:rPr sz="1150" b="0">
                <a:solidFill>
                  <a:srgbClr val="2E2E2E"/>
                </a:solidFill>
                <a:latin typeface="Calibri"/>
              </a:rPr>
              <a:t>via 'Other Organ-Specific Devices'.</a:t>
            </a:r>
          </a:p>
        </p:txBody>
      </p:sp>
      <p:sp>
        <p:nvSpPr>
          <p:cNvPr id="28" name="TextBox 27"/>
          <p:cNvSpPr txBox="1"/>
          <p:nvPr/>
        </p:nvSpPr>
        <p:spPr>
          <a:xfrm>
            <a:off x="7715250" y="2381631"/>
            <a:ext cx="1937766" cy="194310"/>
          </a:xfrm>
          <a:prstGeom prst="rect">
            <a:avLst/>
          </a:prstGeom>
          <a:noFill/>
        </p:spPr>
        <p:txBody>
          <a:bodyPr wrap="none" lIns="0" rIns="0" tIns="0" bIns="0">
            <a:spAutoFit/>
          </a:bodyPr>
          <a:lstStyle/>
          <a:p>
            <a:r>
              <a:rPr sz="1150" b="0">
                <a:solidFill>
                  <a:srgbClr val="2E2E2E"/>
                </a:solidFill>
                <a:latin typeface="Calibri"/>
              </a:rPr>
              <a:t>▪ 'Lung-Specific Devices' gains +</a:t>
            </a:r>
          </a:p>
        </p:txBody>
      </p:sp>
      <p:pic>
        <p:nvPicPr>
          <p:cNvPr id="29" name="Picture 28" descr="lock.png"/>
          <p:cNvPicPr>
            <a:picLocks noChangeAspect="1"/>
          </p:cNvPicPr>
          <p:nvPr/>
        </p:nvPicPr>
        <p:blipFill>
          <a:blip r:embed="rId5"/>
          <a:stretch>
            <a:fillRect/>
          </a:stretch>
        </p:blipFill>
        <p:spPr>
          <a:xfrm>
            <a:off x="9602170" y="2371407"/>
            <a:ext cx="134549" cy="195707"/>
          </a:xfrm>
          <a:prstGeom prst="rect">
            <a:avLst/>
          </a:prstGeom>
        </p:spPr>
      </p:pic>
      <p:sp>
        <p:nvSpPr>
          <p:cNvPr id="30" name="TextBox 29"/>
          <p:cNvSpPr txBox="1"/>
          <p:nvPr/>
        </p:nvSpPr>
        <p:spPr>
          <a:xfrm>
            <a:off x="9777280" y="2381631"/>
            <a:ext cx="1467383" cy="194310"/>
          </a:xfrm>
          <a:prstGeom prst="rect">
            <a:avLst/>
          </a:prstGeom>
          <a:noFill/>
        </p:spPr>
        <p:txBody>
          <a:bodyPr wrap="none" lIns="0" rIns="0" tIns="0" bIns="0">
            <a:spAutoFit/>
          </a:bodyPr>
          <a:lstStyle/>
          <a:p>
            <a:r>
              <a:rPr sz="1150" b="0">
                <a:solidFill>
                  <a:srgbClr val="2E2E2E"/>
                </a:solidFill>
                <a:latin typeface="Calibri"/>
              </a:rPr>
              <a:t>BPS of share of the U.S.</a:t>
            </a:r>
          </a:p>
        </p:txBody>
      </p:sp>
      <p:sp>
        <p:nvSpPr>
          <p:cNvPr id="31" name="TextBox 30"/>
          <p:cNvSpPr txBox="1"/>
          <p:nvPr/>
        </p:nvSpPr>
        <p:spPr>
          <a:xfrm>
            <a:off x="7715250" y="2556891"/>
            <a:ext cx="1462605" cy="194310"/>
          </a:xfrm>
          <a:prstGeom prst="rect">
            <a:avLst/>
          </a:prstGeom>
          <a:noFill/>
        </p:spPr>
        <p:txBody>
          <a:bodyPr wrap="none" lIns="0" rIns="0" tIns="0" bIns="0">
            <a:spAutoFit/>
          </a:bodyPr>
          <a:lstStyle/>
          <a:p>
            <a:r>
              <a:rPr sz="1150" b="0">
                <a:solidFill>
                  <a:srgbClr val="2E2E2E"/>
                </a:solidFill>
                <a:latin typeface="Calibri"/>
              </a:rPr>
              <a:t>cross-section by 2036F.</a:t>
            </a:r>
          </a:p>
        </p:txBody>
      </p:sp>
      <p:sp>
        <p:nvSpPr>
          <p:cNvPr id="32" name="lockshield_12"/>
          <p:cNvSpPr/>
          <p:nvPr/>
        </p:nvSpPr>
        <p:spPr>
          <a:xfrm>
            <a:off x="238125" y="1266825"/>
            <a:ext cx="7096125" cy="5305425"/>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Device Technology × Organ Compatibility,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933700"/>
          </a:xfrm>
          <a:prstGeom prst="roundRect">
            <a:avLst>
              <a:gd name="adj" fmla="val 25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Technology × Organ Compatibility, 2026E–2036F</a:t>
            </a:r>
          </a:p>
        </p:txBody>
      </p:sp>
      <p:graphicFrame>
        <p:nvGraphicFramePr>
          <p:cNvPr id="12" name="Table 11"/>
          <p:cNvGraphicFramePr>
            <a:graphicFrameLocks noGrp="1"/>
          </p:cNvGraphicFramePr>
          <p:nvPr/>
        </p:nvGraphicFramePr>
        <p:xfrm>
          <a:off x="152400" y="1238250"/>
          <a:ext cx="11887200" cy="2466975"/>
        </p:xfrm>
        <a:graphic>
          <a:graphicData uri="http://schemas.openxmlformats.org/drawingml/2006/table">
            <a:tbl>
              <a:tblPr>
                <a:tableStyleId>{5C22544A-7EE6-4342-B048-85BDC9FD1C3A}</a:tableStyleId>
              </a:tblPr>
              <a:tblGrid>
                <a:gridCol w="5589798"/>
                <a:gridCol w="1049567"/>
                <a:gridCol w="1049567"/>
                <a:gridCol w="1049567"/>
                <a:gridCol w="1049567"/>
                <a:gridCol w="1049567"/>
                <a:gridCol w="1049567"/>
              </a:tblGrid>
              <a:tr h="246126">
                <a:tc rowSpan="2">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Organ-Specific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Multi-Organ Compatible Devices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Passive Insulated Transport Containers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Active Temperature-Controlled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Hypothermic Non-Oxygenated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Hypothermic Oxygenated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Subnormothermic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Normothermic Perfusion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Multi-Temperature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71475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048125"/>
            <a:ext cx="5600700" cy="2581275"/>
          </a:xfrm>
          <a:prstGeom prst="roundRect">
            <a:avLst>
              <a:gd name="adj" fmla="val 295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133850"/>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371975"/>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57700"/>
            <a:ext cx="5334000" cy="2095500"/>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4048125"/>
            <a:ext cx="1943100" cy="2581275"/>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4133850"/>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371975"/>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457700"/>
            <a:ext cx="1676400" cy="209550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00" b="0">
                <a:solidFill>
                  <a:srgbClr val="2E2E2E"/>
                </a:solidFill>
                <a:latin typeface="Calibri"/>
              </a:rPr>
              <a:t>'Passive Insulated Transport Containers × Organ-Specific Devices' ranks highest (5/5); 'Passive Insulated Transport Containers × Multi-Organ Compatible Devices'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8704209" y="2451481"/>
            <a:ext cx="366712" cy="533400"/>
          </a:xfrm>
          <a:prstGeom prst="rect">
            <a:avLst/>
          </a:prstGeom>
        </p:spPr>
      </p:pic>
      <p:sp>
        <p:nvSpPr>
          <p:cNvPr id="32" name="TextBox 31"/>
          <p:cNvSpPr txBox="1"/>
          <p:nvPr/>
        </p:nvSpPr>
        <p:spPr>
          <a:xfrm>
            <a:off x="276225" y="4467225"/>
            <a:ext cx="4019723" cy="186689"/>
          </a:xfrm>
          <a:prstGeom prst="rect">
            <a:avLst/>
          </a:prstGeom>
          <a:noFill/>
        </p:spPr>
        <p:txBody>
          <a:bodyPr wrap="none" lIns="0" rIns="0" tIns="0" bIns="0">
            <a:spAutoFit/>
          </a:bodyPr>
          <a:lstStyle/>
          <a:p>
            <a:r>
              <a:rPr sz="1100" b="0">
                <a:solidFill>
                  <a:srgbClr val="2E2E2E"/>
                </a:solidFill>
                <a:latin typeface="Calibri"/>
              </a:rPr>
              <a:t>▪ 1. Passive Insulated Transport Containers × Organ-Specific Devices –</a:t>
            </a:r>
          </a:p>
        </p:txBody>
      </p:sp>
      <p:pic>
        <p:nvPicPr>
          <p:cNvPr id="33" name="Picture 32" descr="lock.png"/>
          <p:cNvPicPr>
            <a:picLocks noChangeAspect="1"/>
          </p:cNvPicPr>
          <p:nvPr/>
        </p:nvPicPr>
        <p:blipFill>
          <a:blip r:embed="rId4"/>
          <a:stretch>
            <a:fillRect/>
          </a:stretch>
        </p:blipFill>
        <p:spPr>
          <a:xfrm>
            <a:off x="4244000" y="4457446"/>
            <a:ext cx="128699" cy="187198"/>
          </a:xfrm>
          <a:prstGeom prst="rect">
            <a:avLst/>
          </a:prstGeom>
        </p:spPr>
      </p:pic>
      <p:sp>
        <p:nvSpPr>
          <p:cNvPr id="34" name="TextBox 33"/>
          <p:cNvSpPr txBox="1"/>
          <p:nvPr/>
        </p:nvSpPr>
        <p:spPr>
          <a:xfrm>
            <a:off x="4411496" y="4467225"/>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4470945" y="4457446"/>
            <a:ext cx="128699" cy="187198"/>
          </a:xfrm>
          <a:prstGeom prst="rect">
            <a:avLst/>
          </a:prstGeom>
        </p:spPr>
      </p:pic>
      <p:sp>
        <p:nvSpPr>
          <p:cNvPr id="36" name="TextBox 35"/>
          <p:cNvSpPr txBox="1"/>
          <p:nvPr/>
        </p:nvSpPr>
        <p:spPr>
          <a:xfrm>
            <a:off x="4638441" y="4467225"/>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7" name="TextBox 36"/>
          <p:cNvSpPr txBox="1"/>
          <p:nvPr/>
        </p:nvSpPr>
        <p:spPr>
          <a:xfrm>
            <a:off x="276225" y="4685157"/>
            <a:ext cx="4641006" cy="186689"/>
          </a:xfrm>
          <a:prstGeom prst="rect">
            <a:avLst/>
          </a:prstGeom>
          <a:noFill/>
        </p:spPr>
        <p:txBody>
          <a:bodyPr wrap="none" lIns="0" rIns="0" tIns="0" bIns="0">
            <a:spAutoFit/>
          </a:bodyPr>
          <a:lstStyle/>
          <a:p>
            <a:r>
              <a:rPr sz="1100" b="0">
                <a:solidFill>
                  <a:srgbClr val="2E2E2E"/>
                </a:solidFill>
                <a:latin typeface="Calibri"/>
              </a:rPr>
              <a:t>▪ 2. Active Temperature-Controlled Transport Devices × Organ-Specific Devices –</a:t>
            </a:r>
          </a:p>
        </p:txBody>
      </p:sp>
      <p:pic>
        <p:nvPicPr>
          <p:cNvPr id="38" name="Picture 37" descr="lock.png"/>
          <p:cNvPicPr>
            <a:picLocks noChangeAspect="1"/>
          </p:cNvPicPr>
          <p:nvPr/>
        </p:nvPicPr>
        <p:blipFill>
          <a:blip r:embed="rId4"/>
          <a:stretch>
            <a:fillRect/>
          </a:stretch>
        </p:blipFill>
        <p:spPr>
          <a:xfrm>
            <a:off x="4865283" y="4675378"/>
            <a:ext cx="128699" cy="187198"/>
          </a:xfrm>
          <a:prstGeom prst="rect">
            <a:avLst/>
          </a:prstGeom>
        </p:spPr>
      </p:pic>
      <p:sp>
        <p:nvSpPr>
          <p:cNvPr id="39" name="TextBox 38"/>
          <p:cNvSpPr txBox="1"/>
          <p:nvPr/>
        </p:nvSpPr>
        <p:spPr>
          <a:xfrm>
            <a:off x="5032779" y="4685157"/>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5092228" y="4675378"/>
            <a:ext cx="128699" cy="187198"/>
          </a:xfrm>
          <a:prstGeom prst="rect">
            <a:avLst/>
          </a:prstGeom>
        </p:spPr>
      </p:pic>
      <p:sp>
        <p:nvSpPr>
          <p:cNvPr id="41" name="TextBox 40"/>
          <p:cNvSpPr txBox="1"/>
          <p:nvPr/>
        </p:nvSpPr>
        <p:spPr>
          <a:xfrm>
            <a:off x="5259724" y="4685157"/>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2" name="TextBox 41"/>
          <p:cNvSpPr txBox="1"/>
          <p:nvPr/>
        </p:nvSpPr>
        <p:spPr>
          <a:xfrm>
            <a:off x="276225" y="4852797"/>
            <a:ext cx="272107" cy="186689"/>
          </a:xfrm>
          <a:prstGeom prst="rect">
            <a:avLst/>
          </a:prstGeom>
          <a:noFill/>
        </p:spPr>
        <p:txBody>
          <a:bodyPr wrap="none" lIns="0" rIns="0" tIns="0" bIns="0">
            <a:spAutoFit/>
          </a:bodyPr>
          <a:lstStyle/>
          <a:p>
            <a:r>
              <a:rPr sz="1100" b="0">
                <a:solidFill>
                  <a:srgbClr val="2E2E2E"/>
                </a:solidFill>
                <a:latin typeface="Calibri"/>
              </a:rPr>
              <a:t>2/5</a:t>
            </a:r>
          </a:p>
        </p:txBody>
      </p:sp>
      <p:sp>
        <p:nvSpPr>
          <p:cNvPr id="43" name="TextBox 42"/>
          <p:cNvSpPr txBox="1"/>
          <p:nvPr/>
        </p:nvSpPr>
        <p:spPr>
          <a:xfrm>
            <a:off x="276225" y="5070729"/>
            <a:ext cx="4588333" cy="186689"/>
          </a:xfrm>
          <a:prstGeom prst="rect">
            <a:avLst/>
          </a:prstGeom>
          <a:noFill/>
        </p:spPr>
        <p:txBody>
          <a:bodyPr wrap="none" lIns="0" rIns="0" tIns="0" bIns="0">
            <a:spAutoFit/>
          </a:bodyPr>
          <a:lstStyle/>
          <a:p>
            <a:r>
              <a:rPr sz="1100" b="0">
                <a:solidFill>
                  <a:srgbClr val="2E2E2E"/>
                </a:solidFill>
                <a:latin typeface="Calibri"/>
              </a:rPr>
              <a:t>▪ 3. Hypothermic Non-Oxygenated Perfusion Devices × Organ-Specific Devices –</a:t>
            </a:r>
          </a:p>
        </p:txBody>
      </p:sp>
      <p:pic>
        <p:nvPicPr>
          <p:cNvPr id="44" name="Picture 43" descr="lock.png"/>
          <p:cNvPicPr>
            <a:picLocks noChangeAspect="1"/>
          </p:cNvPicPr>
          <p:nvPr/>
        </p:nvPicPr>
        <p:blipFill>
          <a:blip r:embed="rId4"/>
          <a:stretch>
            <a:fillRect/>
          </a:stretch>
        </p:blipFill>
        <p:spPr>
          <a:xfrm>
            <a:off x="4812610" y="5060949"/>
            <a:ext cx="128699" cy="187198"/>
          </a:xfrm>
          <a:prstGeom prst="rect">
            <a:avLst/>
          </a:prstGeom>
        </p:spPr>
      </p:pic>
      <p:sp>
        <p:nvSpPr>
          <p:cNvPr id="45" name="TextBox 44"/>
          <p:cNvSpPr txBox="1"/>
          <p:nvPr/>
        </p:nvSpPr>
        <p:spPr>
          <a:xfrm>
            <a:off x="4980105" y="5070729"/>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6" name="Picture 45" descr="lock.png"/>
          <p:cNvPicPr>
            <a:picLocks noChangeAspect="1"/>
          </p:cNvPicPr>
          <p:nvPr/>
        </p:nvPicPr>
        <p:blipFill>
          <a:blip r:embed="rId4"/>
          <a:stretch>
            <a:fillRect/>
          </a:stretch>
        </p:blipFill>
        <p:spPr>
          <a:xfrm>
            <a:off x="5039555" y="5060949"/>
            <a:ext cx="128699" cy="187198"/>
          </a:xfrm>
          <a:prstGeom prst="rect">
            <a:avLst/>
          </a:prstGeom>
        </p:spPr>
      </p:pic>
      <p:sp>
        <p:nvSpPr>
          <p:cNvPr id="47" name="TextBox 46"/>
          <p:cNvSpPr txBox="1"/>
          <p:nvPr/>
        </p:nvSpPr>
        <p:spPr>
          <a:xfrm>
            <a:off x="5207051" y="5070729"/>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48" name="TextBox 47"/>
          <p:cNvSpPr txBox="1"/>
          <p:nvPr/>
        </p:nvSpPr>
        <p:spPr>
          <a:xfrm>
            <a:off x="276225" y="5238369"/>
            <a:ext cx="272107" cy="186689"/>
          </a:xfrm>
          <a:prstGeom prst="rect">
            <a:avLst/>
          </a:prstGeom>
          <a:noFill/>
        </p:spPr>
        <p:txBody>
          <a:bodyPr wrap="none" lIns="0" rIns="0" tIns="0" bIns="0">
            <a:spAutoFit/>
          </a:bodyPr>
          <a:lstStyle/>
          <a:p>
            <a:r>
              <a:rPr sz="1100" b="0">
                <a:solidFill>
                  <a:srgbClr val="2E2E2E"/>
                </a:solidFill>
                <a:latin typeface="Calibri"/>
              </a:rPr>
              <a:t>2/5</a:t>
            </a:r>
          </a:p>
        </p:txBody>
      </p:sp>
      <p:sp>
        <p:nvSpPr>
          <p:cNvPr id="49" name="TextBox 48"/>
          <p:cNvSpPr txBox="1"/>
          <p:nvPr/>
        </p:nvSpPr>
        <p:spPr>
          <a:xfrm>
            <a:off x="276225" y="5456301"/>
            <a:ext cx="3949327" cy="186689"/>
          </a:xfrm>
          <a:prstGeom prst="rect">
            <a:avLst/>
          </a:prstGeom>
          <a:noFill/>
        </p:spPr>
        <p:txBody>
          <a:bodyPr wrap="none" lIns="0" rIns="0" tIns="0" bIns="0">
            <a:spAutoFit/>
          </a:bodyPr>
          <a:lstStyle/>
          <a:p>
            <a:r>
              <a:rPr sz="1100" b="0">
                <a:solidFill>
                  <a:srgbClr val="2E2E2E"/>
                </a:solidFill>
                <a:latin typeface="Calibri"/>
              </a:rPr>
              <a:t>▪ 4. Multi-Temperature Perfusion Devices × Organ-Specific Devices –</a:t>
            </a:r>
          </a:p>
        </p:txBody>
      </p:sp>
      <p:pic>
        <p:nvPicPr>
          <p:cNvPr id="50" name="Picture 49" descr="lock.png"/>
          <p:cNvPicPr>
            <a:picLocks noChangeAspect="1"/>
          </p:cNvPicPr>
          <p:nvPr/>
        </p:nvPicPr>
        <p:blipFill>
          <a:blip r:embed="rId4"/>
          <a:stretch>
            <a:fillRect/>
          </a:stretch>
        </p:blipFill>
        <p:spPr>
          <a:xfrm>
            <a:off x="4173604" y="5446521"/>
            <a:ext cx="128699" cy="187198"/>
          </a:xfrm>
          <a:prstGeom prst="rect">
            <a:avLst/>
          </a:prstGeom>
        </p:spPr>
      </p:pic>
      <p:sp>
        <p:nvSpPr>
          <p:cNvPr id="51" name="TextBox 50"/>
          <p:cNvSpPr txBox="1"/>
          <p:nvPr/>
        </p:nvSpPr>
        <p:spPr>
          <a:xfrm>
            <a:off x="4341100" y="5456301"/>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2" name="Picture 51" descr="lock.png"/>
          <p:cNvPicPr>
            <a:picLocks noChangeAspect="1"/>
          </p:cNvPicPr>
          <p:nvPr/>
        </p:nvPicPr>
        <p:blipFill>
          <a:blip r:embed="rId4"/>
          <a:stretch>
            <a:fillRect/>
          </a:stretch>
        </p:blipFill>
        <p:spPr>
          <a:xfrm>
            <a:off x="4400549" y="5446521"/>
            <a:ext cx="128699" cy="187198"/>
          </a:xfrm>
          <a:prstGeom prst="rect">
            <a:avLst/>
          </a:prstGeom>
        </p:spPr>
      </p:pic>
      <p:sp>
        <p:nvSpPr>
          <p:cNvPr id="53" name="TextBox 52"/>
          <p:cNvSpPr txBox="1"/>
          <p:nvPr/>
        </p:nvSpPr>
        <p:spPr>
          <a:xfrm>
            <a:off x="4568045" y="5456301"/>
            <a:ext cx="338956" cy="186689"/>
          </a:xfrm>
          <a:prstGeom prst="rect">
            <a:avLst/>
          </a:prstGeom>
          <a:noFill/>
        </p:spPr>
        <p:txBody>
          <a:bodyPr wrap="none" lIns="0" rIns="0" tIns="0" bIns="0">
            <a:spAutoFit/>
          </a:bodyPr>
          <a:lstStyle/>
          <a:p>
            <a:r>
              <a:rPr sz="1100" b="0">
                <a:solidFill>
                  <a:srgbClr val="2E2E2E"/>
                </a:solidFill>
                <a:latin typeface="Calibri"/>
              </a:rPr>
              <a:t>· 2/5</a:t>
            </a:r>
          </a:p>
        </p:txBody>
      </p:sp>
      <p:sp>
        <p:nvSpPr>
          <p:cNvPr id="54" name="TextBox 53"/>
          <p:cNvSpPr txBox="1"/>
          <p:nvPr/>
        </p:nvSpPr>
        <p:spPr>
          <a:xfrm>
            <a:off x="276225" y="5674233"/>
            <a:ext cx="3889300" cy="186689"/>
          </a:xfrm>
          <a:prstGeom prst="rect">
            <a:avLst/>
          </a:prstGeom>
          <a:noFill/>
        </p:spPr>
        <p:txBody>
          <a:bodyPr wrap="none" lIns="0" rIns="0" tIns="0" bIns="0">
            <a:spAutoFit/>
          </a:bodyPr>
          <a:lstStyle/>
          <a:p>
            <a:r>
              <a:rPr sz="1100" b="0">
                <a:solidFill>
                  <a:srgbClr val="2E2E2E"/>
                </a:solidFill>
                <a:latin typeface="Calibri"/>
              </a:rPr>
              <a:t>▪ 5. Subnormothermic Perfusion Devices × Organ-Specific Devices –</a:t>
            </a:r>
          </a:p>
        </p:txBody>
      </p:sp>
      <p:pic>
        <p:nvPicPr>
          <p:cNvPr id="55" name="Picture 54" descr="lock.png"/>
          <p:cNvPicPr>
            <a:picLocks noChangeAspect="1"/>
          </p:cNvPicPr>
          <p:nvPr/>
        </p:nvPicPr>
        <p:blipFill>
          <a:blip r:embed="rId4"/>
          <a:stretch>
            <a:fillRect/>
          </a:stretch>
        </p:blipFill>
        <p:spPr>
          <a:xfrm>
            <a:off x="4113577" y="5664453"/>
            <a:ext cx="128699" cy="187198"/>
          </a:xfrm>
          <a:prstGeom prst="rect">
            <a:avLst/>
          </a:prstGeom>
        </p:spPr>
      </p:pic>
      <p:sp>
        <p:nvSpPr>
          <p:cNvPr id="56" name="TextBox 55"/>
          <p:cNvSpPr txBox="1"/>
          <p:nvPr/>
        </p:nvSpPr>
        <p:spPr>
          <a:xfrm>
            <a:off x="4281073" y="5674233"/>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7" name="Picture 56" descr="lock.png"/>
          <p:cNvPicPr>
            <a:picLocks noChangeAspect="1"/>
          </p:cNvPicPr>
          <p:nvPr/>
        </p:nvPicPr>
        <p:blipFill>
          <a:blip r:embed="rId4"/>
          <a:stretch>
            <a:fillRect/>
          </a:stretch>
        </p:blipFill>
        <p:spPr>
          <a:xfrm>
            <a:off x="4340522" y="5664453"/>
            <a:ext cx="128699" cy="187198"/>
          </a:xfrm>
          <a:prstGeom prst="rect">
            <a:avLst/>
          </a:prstGeom>
        </p:spPr>
      </p:pic>
      <p:sp>
        <p:nvSpPr>
          <p:cNvPr id="58" name="TextBox 57"/>
          <p:cNvSpPr txBox="1"/>
          <p:nvPr/>
        </p:nvSpPr>
        <p:spPr>
          <a:xfrm>
            <a:off x="4508018" y="5674233"/>
            <a:ext cx="338956" cy="186689"/>
          </a:xfrm>
          <a:prstGeom prst="rect">
            <a:avLst/>
          </a:prstGeom>
          <a:noFill/>
        </p:spPr>
        <p:txBody>
          <a:bodyPr wrap="none" lIns="0" rIns="0" tIns="0" bIns="0">
            <a:spAutoFit/>
          </a:bodyPr>
          <a:lstStyle/>
          <a:p>
            <a:r>
              <a:rPr sz="1100" b="0">
                <a:solidFill>
                  <a:srgbClr val="2E2E2E"/>
                </a:solidFill>
                <a:latin typeface="Calibri"/>
              </a:rPr>
              <a:t>· 2/5</a:t>
            </a:r>
          </a:p>
        </p:txBody>
      </p:sp>
      <p:sp>
        <p:nvSpPr>
          <p:cNvPr id="59" name="TextBox 58"/>
          <p:cNvSpPr txBox="1"/>
          <p:nvPr/>
        </p:nvSpPr>
        <p:spPr>
          <a:xfrm>
            <a:off x="6029325" y="4467225"/>
            <a:ext cx="1207516" cy="194310"/>
          </a:xfrm>
          <a:prstGeom prst="rect">
            <a:avLst/>
          </a:prstGeom>
          <a:noFill/>
        </p:spPr>
        <p:txBody>
          <a:bodyPr wrap="none" lIns="0" rIns="0" tIns="0" bIns="0">
            <a:spAutoFit/>
          </a:bodyPr>
          <a:lstStyle/>
          <a:p>
            <a:r>
              <a:rPr sz="1150" b="0">
                <a:solidFill>
                  <a:srgbClr val="2E2E2E"/>
                </a:solidFill>
                <a:latin typeface="Calibri"/>
              </a:rPr>
              <a:t>▪ 'Passive Insulated</a:t>
            </a:r>
          </a:p>
        </p:txBody>
      </p:sp>
      <p:sp>
        <p:nvSpPr>
          <p:cNvPr id="60" name="TextBox 59"/>
          <p:cNvSpPr txBox="1"/>
          <p:nvPr/>
        </p:nvSpPr>
        <p:spPr>
          <a:xfrm>
            <a:off x="6029325" y="4642485"/>
            <a:ext cx="1436861" cy="194310"/>
          </a:xfrm>
          <a:prstGeom prst="rect">
            <a:avLst/>
          </a:prstGeom>
          <a:noFill/>
        </p:spPr>
        <p:txBody>
          <a:bodyPr wrap="none" lIns="0" rIns="0" tIns="0" bIns="0">
            <a:spAutoFit/>
          </a:bodyPr>
          <a:lstStyle/>
          <a:p>
            <a:r>
              <a:rPr sz="1150" b="0">
                <a:solidFill>
                  <a:srgbClr val="2E2E2E"/>
                </a:solidFill>
                <a:latin typeface="Calibri"/>
              </a:rPr>
              <a:t>Transport Containers ×</a:t>
            </a:r>
          </a:p>
        </p:txBody>
      </p:sp>
      <p:sp>
        <p:nvSpPr>
          <p:cNvPr id="61" name="TextBox 60"/>
          <p:cNvSpPr txBox="1"/>
          <p:nvPr/>
        </p:nvSpPr>
        <p:spPr>
          <a:xfrm>
            <a:off x="6029325" y="4817745"/>
            <a:ext cx="1455402" cy="194310"/>
          </a:xfrm>
          <a:prstGeom prst="rect">
            <a:avLst/>
          </a:prstGeom>
          <a:noFill/>
        </p:spPr>
        <p:txBody>
          <a:bodyPr wrap="none" lIns="0" rIns="0" tIns="0" bIns="0">
            <a:spAutoFit/>
          </a:bodyPr>
          <a:lstStyle/>
          <a:p>
            <a:r>
              <a:rPr sz="1150" b="0">
                <a:solidFill>
                  <a:srgbClr val="2E2E2E"/>
                </a:solidFill>
                <a:latin typeface="Calibri"/>
              </a:rPr>
              <a:t>Organ-Specific Devices'</a:t>
            </a:r>
          </a:p>
        </p:txBody>
      </p:sp>
      <p:sp>
        <p:nvSpPr>
          <p:cNvPr id="62" name="TextBox 61"/>
          <p:cNvSpPr txBox="1"/>
          <p:nvPr/>
        </p:nvSpPr>
        <p:spPr>
          <a:xfrm>
            <a:off x="6029325" y="4993004"/>
            <a:ext cx="356604" cy="194310"/>
          </a:xfrm>
          <a:prstGeom prst="rect">
            <a:avLst/>
          </a:prstGeom>
          <a:noFill/>
        </p:spPr>
        <p:txBody>
          <a:bodyPr wrap="none" lIns="0" rIns="0" tIns="0" bIns="0">
            <a:spAutoFit/>
          </a:bodyPr>
          <a:lstStyle/>
          <a:p>
            <a:r>
              <a:rPr sz="1150" b="0">
                <a:solidFill>
                  <a:srgbClr val="2E2E2E"/>
                </a:solidFill>
                <a:latin typeface="Calibri"/>
              </a:rPr>
              <a:t>adds</a:t>
            </a:r>
          </a:p>
        </p:txBody>
      </p:sp>
      <p:pic>
        <p:nvPicPr>
          <p:cNvPr id="63" name="Picture 62" descr="lock.png"/>
          <p:cNvPicPr>
            <a:picLocks noChangeAspect="1"/>
          </p:cNvPicPr>
          <p:nvPr/>
        </p:nvPicPr>
        <p:blipFill>
          <a:blip r:embed="rId4"/>
          <a:stretch>
            <a:fillRect/>
          </a:stretch>
        </p:blipFill>
        <p:spPr>
          <a:xfrm>
            <a:off x="6335083" y="4982781"/>
            <a:ext cx="134549" cy="195707"/>
          </a:xfrm>
          <a:prstGeom prst="rect">
            <a:avLst/>
          </a:prstGeom>
        </p:spPr>
      </p:pic>
      <p:sp>
        <p:nvSpPr>
          <p:cNvPr id="64" name="TextBox 63"/>
          <p:cNvSpPr txBox="1"/>
          <p:nvPr/>
        </p:nvSpPr>
        <p:spPr>
          <a:xfrm>
            <a:off x="6510192" y="4993004"/>
            <a:ext cx="1118803" cy="194310"/>
          </a:xfrm>
          <a:prstGeom prst="rect">
            <a:avLst/>
          </a:prstGeom>
          <a:noFill/>
        </p:spPr>
        <p:txBody>
          <a:bodyPr wrap="none" lIns="0" rIns="0" tIns="0" bIns="0">
            <a:spAutoFit/>
          </a:bodyPr>
          <a:lstStyle/>
          <a:p>
            <a:r>
              <a:rPr sz="1150" b="0">
                <a:solidFill>
                  <a:srgbClr val="2E2E2E"/>
                </a:solidFill>
                <a:latin typeface="Calibri"/>
              </a:rPr>
              <a:t>US$ Mn by 2036F</a:t>
            </a:r>
          </a:p>
        </p:txBody>
      </p:sp>
      <p:sp>
        <p:nvSpPr>
          <p:cNvPr id="65" name="TextBox 64"/>
          <p:cNvSpPr txBox="1"/>
          <p:nvPr/>
        </p:nvSpPr>
        <p:spPr>
          <a:xfrm>
            <a:off x="6029325" y="5168264"/>
            <a:ext cx="148939"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66" name="Picture 65" descr="lock.png"/>
          <p:cNvPicPr>
            <a:picLocks noChangeAspect="1"/>
          </p:cNvPicPr>
          <p:nvPr/>
        </p:nvPicPr>
        <p:blipFill>
          <a:blip r:embed="rId4"/>
          <a:stretch>
            <a:fillRect/>
          </a:stretch>
        </p:blipFill>
        <p:spPr>
          <a:xfrm>
            <a:off x="6127418" y="5158041"/>
            <a:ext cx="134549" cy="195707"/>
          </a:xfrm>
          <a:prstGeom prst="rect">
            <a:avLst/>
          </a:prstGeom>
        </p:spPr>
      </p:pic>
      <p:sp>
        <p:nvSpPr>
          <p:cNvPr id="67" name="TextBox 66"/>
          <p:cNvSpPr txBox="1"/>
          <p:nvPr/>
        </p:nvSpPr>
        <p:spPr>
          <a:xfrm>
            <a:off x="6302527" y="5168264"/>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68" name="TextBox 67"/>
          <p:cNvSpPr txBox="1"/>
          <p:nvPr/>
        </p:nvSpPr>
        <p:spPr>
          <a:xfrm>
            <a:off x="6029325" y="5343524"/>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69" name="TextBox 68"/>
          <p:cNvSpPr txBox="1"/>
          <p:nvPr/>
        </p:nvSpPr>
        <p:spPr>
          <a:xfrm>
            <a:off x="8124825" y="4467225"/>
            <a:ext cx="1207516" cy="194310"/>
          </a:xfrm>
          <a:prstGeom prst="rect">
            <a:avLst/>
          </a:prstGeom>
          <a:noFill/>
        </p:spPr>
        <p:txBody>
          <a:bodyPr wrap="none" lIns="0" rIns="0" tIns="0" bIns="0">
            <a:spAutoFit/>
          </a:bodyPr>
          <a:lstStyle/>
          <a:p>
            <a:r>
              <a:rPr sz="1150" b="0">
                <a:solidFill>
                  <a:srgbClr val="2E2E2E"/>
                </a:solidFill>
                <a:latin typeface="Calibri"/>
              </a:rPr>
              <a:t>▪ 'Passive Insulated</a:t>
            </a:r>
          </a:p>
        </p:txBody>
      </p:sp>
      <p:sp>
        <p:nvSpPr>
          <p:cNvPr id="70" name="TextBox 69"/>
          <p:cNvSpPr txBox="1"/>
          <p:nvPr/>
        </p:nvSpPr>
        <p:spPr>
          <a:xfrm>
            <a:off x="8124825" y="4642485"/>
            <a:ext cx="1436861" cy="194310"/>
          </a:xfrm>
          <a:prstGeom prst="rect">
            <a:avLst/>
          </a:prstGeom>
          <a:noFill/>
        </p:spPr>
        <p:txBody>
          <a:bodyPr wrap="none" lIns="0" rIns="0" tIns="0" bIns="0">
            <a:spAutoFit/>
          </a:bodyPr>
          <a:lstStyle/>
          <a:p>
            <a:r>
              <a:rPr sz="1150" b="0">
                <a:solidFill>
                  <a:srgbClr val="2E2E2E"/>
                </a:solidFill>
                <a:latin typeface="Calibri"/>
              </a:rPr>
              <a:t>Transport Containers ×</a:t>
            </a:r>
          </a:p>
        </p:txBody>
      </p:sp>
      <p:sp>
        <p:nvSpPr>
          <p:cNvPr id="71" name="TextBox 70"/>
          <p:cNvSpPr txBox="1"/>
          <p:nvPr/>
        </p:nvSpPr>
        <p:spPr>
          <a:xfrm>
            <a:off x="8124825" y="4817745"/>
            <a:ext cx="1519299" cy="194310"/>
          </a:xfrm>
          <a:prstGeom prst="rect">
            <a:avLst/>
          </a:prstGeom>
          <a:noFill/>
        </p:spPr>
        <p:txBody>
          <a:bodyPr wrap="none" lIns="0" rIns="0" tIns="0" bIns="0">
            <a:spAutoFit/>
          </a:bodyPr>
          <a:lstStyle/>
          <a:p>
            <a:r>
              <a:rPr sz="1150" b="0">
                <a:solidFill>
                  <a:srgbClr val="2E2E2E"/>
                </a:solidFill>
                <a:latin typeface="Calibri"/>
              </a:rPr>
              <a:t>Multi-Organ Compatible</a:t>
            </a:r>
          </a:p>
        </p:txBody>
      </p:sp>
      <p:sp>
        <p:nvSpPr>
          <p:cNvPr id="72" name="TextBox 71"/>
          <p:cNvSpPr txBox="1"/>
          <p:nvPr/>
        </p:nvSpPr>
        <p:spPr>
          <a:xfrm>
            <a:off x="8124825" y="4993004"/>
            <a:ext cx="1208658" cy="194310"/>
          </a:xfrm>
          <a:prstGeom prst="rect">
            <a:avLst/>
          </a:prstGeom>
          <a:noFill/>
        </p:spPr>
        <p:txBody>
          <a:bodyPr wrap="none" lIns="0" rIns="0" tIns="0" bIns="0">
            <a:spAutoFit/>
          </a:bodyPr>
          <a:lstStyle/>
          <a:p>
            <a:r>
              <a:rPr sz="1150" b="0">
                <a:solidFill>
                  <a:srgbClr val="2E2E2E"/>
                </a:solidFill>
                <a:latin typeface="Calibri"/>
              </a:rPr>
              <a:t>Devices' grows at a</a:t>
            </a:r>
          </a:p>
        </p:txBody>
      </p:sp>
      <p:pic>
        <p:nvPicPr>
          <p:cNvPr id="73" name="Picture 72" descr="lock.png"/>
          <p:cNvPicPr>
            <a:picLocks noChangeAspect="1"/>
          </p:cNvPicPr>
          <p:nvPr/>
        </p:nvPicPr>
        <p:blipFill>
          <a:blip r:embed="rId4"/>
          <a:stretch>
            <a:fillRect/>
          </a:stretch>
        </p:blipFill>
        <p:spPr>
          <a:xfrm>
            <a:off x="9282636" y="4982781"/>
            <a:ext cx="134549" cy="195707"/>
          </a:xfrm>
          <a:prstGeom prst="rect">
            <a:avLst/>
          </a:prstGeom>
        </p:spPr>
      </p:pic>
      <p:sp>
        <p:nvSpPr>
          <p:cNvPr id="74" name="TextBox 73"/>
          <p:cNvSpPr txBox="1"/>
          <p:nvPr/>
        </p:nvSpPr>
        <p:spPr>
          <a:xfrm>
            <a:off x="8124825" y="5168264"/>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5" name="Picture 74" descr="lock.png"/>
          <p:cNvPicPr>
            <a:picLocks noChangeAspect="1"/>
          </p:cNvPicPr>
          <p:nvPr/>
        </p:nvPicPr>
        <p:blipFill>
          <a:blip r:embed="rId4"/>
          <a:stretch>
            <a:fillRect/>
          </a:stretch>
        </p:blipFill>
        <p:spPr>
          <a:xfrm>
            <a:off x="8520420" y="5158041"/>
            <a:ext cx="134549" cy="195707"/>
          </a:xfrm>
          <a:prstGeom prst="rect">
            <a:avLst/>
          </a:prstGeom>
        </p:spPr>
      </p:pic>
      <p:sp>
        <p:nvSpPr>
          <p:cNvPr id="76" name="TextBox 75"/>
          <p:cNvSpPr txBox="1"/>
          <p:nvPr/>
        </p:nvSpPr>
        <p:spPr>
          <a:xfrm>
            <a:off x="8695529" y="5168264"/>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77" name="TextBox 76"/>
          <p:cNvSpPr txBox="1"/>
          <p:nvPr/>
        </p:nvSpPr>
        <p:spPr>
          <a:xfrm>
            <a:off x="8124825" y="5343524"/>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15.2</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Monitoring Capability x Purchasing Organisation</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Monitoring Capability × Purchasing Organisation,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monitoring capability sub-segment across purchasing organisation sub-segments</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Monitoring Capability × Purchasing Organisation, 2026E and 2036F (US$ Mn)</a:t>
            </a:r>
          </a:p>
        </p:txBody>
      </p:sp>
      <p:graphicFrame>
        <p:nvGraphicFramePr>
          <p:cNvPr id="12" name="Table 11"/>
          <p:cNvGraphicFramePr>
            <a:graphicFrameLocks noGrp="1"/>
          </p:cNvGraphicFramePr>
          <p:nvPr/>
        </p:nvGraphicFramePr>
        <p:xfrm>
          <a:off x="152400" y="1238250"/>
          <a:ext cx="11887199" cy="2305050"/>
        </p:xfrm>
        <a:graphic>
          <a:graphicData uri="http://schemas.openxmlformats.org/drawingml/2006/table">
            <a:tbl>
              <a:tblPr>
                <a:tableStyleId>{5C22544A-7EE6-4342-B048-85BDC9FD1C3A}</a:tableStyleId>
              </a:tblPr>
              <a:tblGrid>
                <a:gridCol w="4749509"/>
                <a:gridCol w="713769"/>
                <a:gridCol w="713769"/>
                <a:gridCol w="713769"/>
                <a:gridCol w="713769"/>
                <a:gridCol w="713769"/>
                <a:gridCol w="713769"/>
                <a:gridCol w="713769"/>
                <a:gridCol w="713769"/>
                <a:gridCol w="713769"/>
                <a:gridCol w="713769"/>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7286625"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9433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Monitoring Capability → Purchasing Organisation, 2036F (US$ Mn)</a:t>
            </a:r>
          </a:p>
        </p:txBody>
      </p:sp>
      <p:sp>
        <p:nvSpPr>
          <p:cNvPr id="16" name="Freeform 15"/>
          <p:cNvSpPr/>
          <p:nvPr/>
        </p:nvSpPr>
        <p:spPr>
          <a:xfrm>
            <a:off x="2057400" y="4210050"/>
            <a:ext cx="3743325" cy="209550"/>
          </a:xfrm>
          <a:custGeom>
            <a:avLst/>
            <a:gdLst/>
            <a:ahLst/>
            <a:cxnLst/>
            <a:rect l="l" t="t" r="r" b="b"/>
            <a:pathLst>
              <a:path w="393" h="22">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22"/>
                </a:lnTo>
                <a:lnTo>
                  <a:pt x="377" y="22"/>
                </a:lnTo>
                <a:lnTo>
                  <a:pt x="360" y="22"/>
                </a:lnTo>
                <a:lnTo>
                  <a:pt x="344" y="22"/>
                </a:lnTo>
                <a:lnTo>
                  <a:pt x="327" y="22"/>
                </a:lnTo>
                <a:lnTo>
                  <a:pt x="311" y="22"/>
                </a:lnTo>
                <a:lnTo>
                  <a:pt x="295" y="22"/>
                </a:lnTo>
                <a:lnTo>
                  <a:pt x="278" y="22"/>
                </a:lnTo>
                <a:lnTo>
                  <a:pt x="262" y="22"/>
                </a:lnTo>
                <a:lnTo>
                  <a:pt x="246" y="22"/>
                </a:lnTo>
                <a:lnTo>
                  <a:pt x="229" y="22"/>
                </a:lnTo>
                <a:lnTo>
                  <a:pt x="213" y="22"/>
                </a:lnTo>
                <a:lnTo>
                  <a:pt x="196" y="22"/>
                </a:lnTo>
                <a:lnTo>
                  <a:pt x="180" y="22"/>
                </a:lnTo>
                <a:lnTo>
                  <a:pt x="164" y="22"/>
                </a:lnTo>
                <a:lnTo>
                  <a:pt x="147" y="22"/>
                </a:lnTo>
                <a:lnTo>
                  <a:pt x="131" y="22"/>
                </a:lnTo>
                <a:lnTo>
                  <a:pt x="114" y="22"/>
                </a:lnTo>
                <a:lnTo>
                  <a:pt x="98" y="22"/>
                </a:lnTo>
                <a:lnTo>
                  <a:pt x="82" y="22"/>
                </a:lnTo>
                <a:lnTo>
                  <a:pt x="65" y="22"/>
                </a:lnTo>
                <a:lnTo>
                  <a:pt x="49" y="22"/>
                </a:lnTo>
                <a:lnTo>
                  <a:pt x="33" y="22"/>
                </a:lnTo>
                <a:lnTo>
                  <a:pt x="16" y="22"/>
                </a:lnTo>
                <a:lnTo>
                  <a:pt x="0" y="2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19600"/>
            <a:ext cx="3743325" cy="876300"/>
          </a:xfrm>
          <a:custGeom>
            <a:avLst/>
            <a:gdLst/>
            <a:ahLst/>
            <a:cxnLst/>
            <a:rect l="l" t="t" r="r" b="b"/>
            <a:pathLst>
              <a:path w="393" h="92">
                <a:moveTo>
                  <a:pt x="0" y="0"/>
                </a:moveTo>
                <a:lnTo>
                  <a:pt x="16" y="0"/>
                </a:lnTo>
                <a:lnTo>
                  <a:pt x="33" y="1"/>
                </a:lnTo>
                <a:lnTo>
                  <a:pt x="49" y="3"/>
                </a:lnTo>
                <a:lnTo>
                  <a:pt x="65" y="5"/>
                </a:lnTo>
                <a:lnTo>
                  <a:pt x="82" y="8"/>
                </a:lnTo>
                <a:lnTo>
                  <a:pt x="98" y="11"/>
                </a:lnTo>
                <a:lnTo>
                  <a:pt x="114" y="14"/>
                </a:lnTo>
                <a:lnTo>
                  <a:pt x="131" y="18"/>
                </a:lnTo>
                <a:lnTo>
                  <a:pt x="147" y="22"/>
                </a:lnTo>
                <a:lnTo>
                  <a:pt x="164" y="27"/>
                </a:lnTo>
                <a:lnTo>
                  <a:pt x="180" y="31"/>
                </a:lnTo>
                <a:lnTo>
                  <a:pt x="196" y="35"/>
                </a:lnTo>
                <a:lnTo>
                  <a:pt x="213" y="40"/>
                </a:lnTo>
                <a:lnTo>
                  <a:pt x="229" y="44"/>
                </a:lnTo>
                <a:lnTo>
                  <a:pt x="246" y="48"/>
                </a:lnTo>
                <a:lnTo>
                  <a:pt x="262" y="53"/>
                </a:lnTo>
                <a:lnTo>
                  <a:pt x="278" y="56"/>
                </a:lnTo>
                <a:lnTo>
                  <a:pt x="295" y="60"/>
                </a:lnTo>
                <a:lnTo>
                  <a:pt x="311" y="63"/>
                </a:lnTo>
                <a:lnTo>
                  <a:pt x="327" y="66"/>
                </a:lnTo>
                <a:lnTo>
                  <a:pt x="344" y="68"/>
                </a:lnTo>
                <a:lnTo>
                  <a:pt x="360" y="70"/>
                </a:lnTo>
                <a:lnTo>
                  <a:pt x="377" y="71"/>
                </a:lnTo>
                <a:lnTo>
                  <a:pt x="393" y="71"/>
                </a:lnTo>
                <a:lnTo>
                  <a:pt x="393" y="92"/>
                </a:lnTo>
                <a:lnTo>
                  <a:pt x="377" y="92"/>
                </a:lnTo>
                <a:lnTo>
                  <a:pt x="360" y="91"/>
                </a:lnTo>
                <a:lnTo>
                  <a:pt x="344" y="89"/>
                </a:lnTo>
                <a:lnTo>
                  <a:pt x="327" y="87"/>
                </a:lnTo>
                <a:lnTo>
                  <a:pt x="311" y="84"/>
                </a:lnTo>
                <a:lnTo>
                  <a:pt x="295" y="81"/>
                </a:lnTo>
                <a:lnTo>
                  <a:pt x="278" y="78"/>
                </a:lnTo>
                <a:lnTo>
                  <a:pt x="262" y="74"/>
                </a:lnTo>
                <a:lnTo>
                  <a:pt x="246" y="70"/>
                </a:lnTo>
                <a:lnTo>
                  <a:pt x="229" y="65"/>
                </a:lnTo>
                <a:lnTo>
                  <a:pt x="213" y="61"/>
                </a:lnTo>
                <a:lnTo>
                  <a:pt x="196" y="57"/>
                </a:lnTo>
                <a:lnTo>
                  <a:pt x="180" y="52"/>
                </a:lnTo>
                <a:lnTo>
                  <a:pt x="164" y="48"/>
                </a:lnTo>
                <a:lnTo>
                  <a:pt x="147" y="43"/>
                </a:lnTo>
                <a:lnTo>
                  <a:pt x="131" y="39"/>
                </a:lnTo>
                <a:lnTo>
                  <a:pt x="114" y="36"/>
                </a:lnTo>
                <a:lnTo>
                  <a:pt x="98" y="32"/>
                </a:lnTo>
                <a:lnTo>
                  <a:pt x="82" y="29"/>
                </a:lnTo>
                <a:lnTo>
                  <a:pt x="65" y="26"/>
                </a:lnTo>
                <a:lnTo>
                  <a:pt x="49" y="24"/>
                </a:lnTo>
                <a:lnTo>
                  <a:pt x="33" y="22"/>
                </a:lnTo>
                <a:lnTo>
                  <a:pt x="16" y="21"/>
                </a:lnTo>
                <a:lnTo>
                  <a:pt x="0" y="21"/>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619625"/>
            <a:ext cx="3743325" cy="1419225"/>
          </a:xfrm>
          <a:custGeom>
            <a:avLst/>
            <a:gdLst/>
            <a:ahLst/>
            <a:cxnLst/>
            <a:rect l="l" t="t" r="r" b="b"/>
            <a:pathLst>
              <a:path w="393" h="149">
                <a:moveTo>
                  <a:pt x="0" y="0"/>
                </a:moveTo>
                <a:lnTo>
                  <a:pt x="16" y="1"/>
                </a:lnTo>
                <a:lnTo>
                  <a:pt x="33" y="3"/>
                </a:lnTo>
                <a:lnTo>
                  <a:pt x="49" y="6"/>
                </a:lnTo>
                <a:lnTo>
                  <a:pt x="65" y="10"/>
                </a:lnTo>
                <a:lnTo>
                  <a:pt x="82" y="16"/>
                </a:lnTo>
                <a:lnTo>
                  <a:pt x="98" y="22"/>
                </a:lnTo>
                <a:lnTo>
                  <a:pt x="114" y="29"/>
                </a:lnTo>
                <a:lnTo>
                  <a:pt x="131" y="36"/>
                </a:lnTo>
                <a:lnTo>
                  <a:pt x="147" y="44"/>
                </a:lnTo>
                <a:lnTo>
                  <a:pt x="164" y="53"/>
                </a:lnTo>
                <a:lnTo>
                  <a:pt x="180" y="62"/>
                </a:lnTo>
                <a:lnTo>
                  <a:pt x="196" y="70"/>
                </a:lnTo>
                <a:lnTo>
                  <a:pt x="213" y="79"/>
                </a:lnTo>
                <a:lnTo>
                  <a:pt x="229" y="88"/>
                </a:lnTo>
                <a:lnTo>
                  <a:pt x="246" y="96"/>
                </a:lnTo>
                <a:lnTo>
                  <a:pt x="262" y="104"/>
                </a:lnTo>
                <a:lnTo>
                  <a:pt x="278" y="112"/>
                </a:lnTo>
                <a:lnTo>
                  <a:pt x="295" y="119"/>
                </a:lnTo>
                <a:lnTo>
                  <a:pt x="311" y="125"/>
                </a:lnTo>
                <a:lnTo>
                  <a:pt x="327" y="130"/>
                </a:lnTo>
                <a:lnTo>
                  <a:pt x="344" y="135"/>
                </a:lnTo>
                <a:lnTo>
                  <a:pt x="360" y="138"/>
                </a:lnTo>
                <a:lnTo>
                  <a:pt x="377" y="140"/>
                </a:lnTo>
                <a:lnTo>
                  <a:pt x="393" y="141"/>
                </a:lnTo>
                <a:lnTo>
                  <a:pt x="393" y="149"/>
                </a:lnTo>
                <a:lnTo>
                  <a:pt x="377" y="148"/>
                </a:lnTo>
                <a:lnTo>
                  <a:pt x="360" y="146"/>
                </a:lnTo>
                <a:lnTo>
                  <a:pt x="344" y="143"/>
                </a:lnTo>
                <a:lnTo>
                  <a:pt x="327" y="138"/>
                </a:lnTo>
                <a:lnTo>
                  <a:pt x="311" y="133"/>
                </a:lnTo>
                <a:lnTo>
                  <a:pt x="295" y="127"/>
                </a:lnTo>
                <a:lnTo>
                  <a:pt x="278" y="120"/>
                </a:lnTo>
                <a:lnTo>
                  <a:pt x="262" y="112"/>
                </a:lnTo>
                <a:lnTo>
                  <a:pt x="246" y="104"/>
                </a:lnTo>
                <a:lnTo>
                  <a:pt x="229" y="96"/>
                </a:lnTo>
                <a:lnTo>
                  <a:pt x="213" y="87"/>
                </a:lnTo>
                <a:lnTo>
                  <a:pt x="196" y="78"/>
                </a:lnTo>
                <a:lnTo>
                  <a:pt x="180" y="69"/>
                </a:lnTo>
                <a:lnTo>
                  <a:pt x="164" y="61"/>
                </a:lnTo>
                <a:lnTo>
                  <a:pt x="147" y="52"/>
                </a:lnTo>
                <a:lnTo>
                  <a:pt x="131" y="44"/>
                </a:lnTo>
                <a:lnTo>
                  <a:pt x="114" y="37"/>
                </a:lnTo>
                <a:lnTo>
                  <a:pt x="98" y="30"/>
                </a:lnTo>
                <a:lnTo>
                  <a:pt x="82" y="24"/>
                </a:lnTo>
                <a:lnTo>
                  <a:pt x="65" y="18"/>
                </a:lnTo>
                <a:lnTo>
                  <a:pt x="49" y="14"/>
                </a:lnTo>
                <a:lnTo>
                  <a:pt x="33" y="11"/>
                </a:lnTo>
                <a:lnTo>
                  <a:pt x="16" y="9"/>
                </a:lnTo>
                <a:lnTo>
                  <a:pt x="0" y="8"/>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4695825"/>
            <a:ext cx="3743325" cy="1676400"/>
          </a:xfrm>
          <a:custGeom>
            <a:avLst/>
            <a:gdLst/>
            <a:ahLst/>
            <a:cxnLst/>
            <a:rect l="l" t="t" r="r" b="b"/>
            <a:pathLst>
              <a:path w="393" h="176">
                <a:moveTo>
                  <a:pt x="0" y="0"/>
                </a:moveTo>
                <a:lnTo>
                  <a:pt x="16" y="1"/>
                </a:lnTo>
                <a:lnTo>
                  <a:pt x="33" y="3"/>
                </a:lnTo>
                <a:lnTo>
                  <a:pt x="49" y="7"/>
                </a:lnTo>
                <a:lnTo>
                  <a:pt x="65" y="13"/>
                </a:lnTo>
                <a:lnTo>
                  <a:pt x="82" y="19"/>
                </a:lnTo>
                <a:lnTo>
                  <a:pt x="98" y="27"/>
                </a:lnTo>
                <a:lnTo>
                  <a:pt x="114" y="35"/>
                </a:lnTo>
                <a:lnTo>
                  <a:pt x="131" y="44"/>
                </a:lnTo>
                <a:lnTo>
                  <a:pt x="147" y="54"/>
                </a:lnTo>
                <a:lnTo>
                  <a:pt x="164" y="64"/>
                </a:lnTo>
                <a:lnTo>
                  <a:pt x="180" y="75"/>
                </a:lnTo>
                <a:lnTo>
                  <a:pt x="196" y="85"/>
                </a:lnTo>
                <a:lnTo>
                  <a:pt x="213" y="96"/>
                </a:lnTo>
                <a:lnTo>
                  <a:pt x="229" y="106"/>
                </a:lnTo>
                <a:lnTo>
                  <a:pt x="246" y="117"/>
                </a:lnTo>
                <a:lnTo>
                  <a:pt x="262" y="126"/>
                </a:lnTo>
                <a:lnTo>
                  <a:pt x="278" y="135"/>
                </a:lnTo>
                <a:lnTo>
                  <a:pt x="295" y="144"/>
                </a:lnTo>
                <a:lnTo>
                  <a:pt x="311" y="151"/>
                </a:lnTo>
                <a:lnTo>
                  <a:pt x="327" y="158"/>
                </a:lnTo>
                <a:lnTo>
                  <a:pt x="344" y="163"/>
                </a:lnTo>
                <a:lnTo>
                  <a:pt x="360" y="167"/>
                </a:lnTo>
                <a:lnTo>
                  <a:pt x="377" y="170"/>
                </a:lnTo>
                <a:lnTo>
                  <a:pt x="393" y="171"/>
                </a:lnTo>
                <a:lnTo>
                  <a:pt x="393" y="176"/>
                </a:lnTo>
                <a:lnTo>
                  <a:pt x="377" y="175"/>
                </a:lnTo>
                <a:lnTo>
                  <a:pt x="360" y="173"/>
                </a:lnTo>
                <a:lnTo>
                  <a:pt x="344" y="169"/>
                </a:lnTo>
                <a:lnTo>
                  <a:pt x="327" y="164"/>
                </a:lnTo>
                <a:lnTo>
                  <a:pt x="311" y="157"/>
                </a:lnTo>
                <a:lnTo>
                  <a:pt x="295" y="149"/>
                </a:lnTo>
                <a:lnTo>
                  <a:pt x="278" y="141"/>
                </a:lnTo>
                <a:lnTo>
                  <a:pt x="262" y="132"/>
                </a:lnTo>
                <a:lnTo>
                  <a:pt x="246" y="122"/>
                </a:lnTo>
                <a:lnTo>
                  <a:pt x="229" y="112"/>
                </a:lnTo>
                <a:lnTo>
                  <a:pt x="213" y="101"/>
                </a:lnTo>
                <a:lnTo>
                  <a:pt x="196" y="91"/>
                </a:lnTo>
                <a:lnTo>
                  <a:pt x="180" y="80"/>
                </a:lnTo>
                <a:lnTo>
                  <a:pt x="164" y="70"/>
                </a:lnTo>
                <a:lnTo>
                  <a:pt x="147" y="59"/>
                </a:lnTo>
                <a:lnTo>
                  <a:pt x="131" y="50"/>
                </a:lnTo>
                <a:lnTo>
                  <a:pt x="114" y="41"/>
                </a:lnTo>
                <a:lnTo>
                  <a:pt x="98" y="32"/>
                </a:lnTo>
                <a:lnTo>
                  <a:pt x="82" y="25"/>
                </a:lnTo>
                <a:lnTo>
                  <a:pt x="65" y="18"/>
                </a:lnTo>
                <a:lnTo>
                  <a:pt x="49" y="13"/>
                </a:lnTo>
                <a:lnTo>
                  <a:pt x="33" y="9"/>
                </a:lnTo>
                <a:lnTo>
                  <a:pt x="16" y="6"/>
                </a:lnTo>
                <a:lnTo>
                  <a:pt x="0" y="6"/>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2057400" y="4419600"/>
            <a:ext cx="3743325" cy="590550"/>
          </a:xfrm>
          <a:custGeom>
            <a:avLst/>
            <a:gdLst/>
            <a:ahLst/>
            <a:cxnLst/>
            <a:rect l="l" t="t" r="r" b="b"/>
            <a:pathLst>
              <a:path w="393" h="62">
                <a:moveTo>
                  <a:pt x="0" y="41"/>
                </a:moveTo>
                <a:lnTo>
                  <a:pt x="16" y="40"/>
                </a:lnTo>
                <a:lnTo>
                  <a:pt x="33" y="40"/>
                </a:lnTo>
                <a:lnTo>
                  <a:pt x="49" y="39"/>
                </a:lnTo>
                <a:lnTo>
                  <a:pt x="65" y="37"/>
                </a:lnTo>
                <a:lnTo>
                  <a:pt x="82" y="36"/>
                </a:lnTo>
                <a:lnTo>
                  <a:pt x="98" y="34"/>
                </a:lnTo>
                <a:lnTo>
                  <a:pt x="114" y="32"/>
                </a:lnTo>
                <a:lnTo>
                  <a:pt x="131" y="30"/>
                </a:lnTo>
                <a:lnTo>
                  <a:pt x="147" y="28"/>
                </a:lnTo>
                <a:lnTo>
                  <a:pt x="164" y="25"/>
                </a:lnTo>
                <a:lnTo>
                  <a:pt x="180" y="23"/>
                </a:lnTo>
                <a:lnTo>
                  <a:pt x="196" y="20"/>
                </a:lnTo>
                <a:lnTo>
                  <a:pt x="213" y="18"/>
                </a:lnTo>
                <a:lnTo>
                  <a:pt x="229" y="15"/>
                </a:lnTo>
                <a:lnTo>
                  <a:pt x="246" y="13"/>
                </a:lnTo>
                <a:lnTo>
                  <a:pt x="262" y="10"/>
                </a:lnTo>
                <a:lnTo>
                  <a:pt x="278" y="8"/>
                </a:lnTo>
                <a:lnTo>
                  <a:pt x="295" y="6"/>
                </a:lnTo>
                <a:lnTo>
                  <a:pt x="311" y="4"/>
                </a:lnTo>
                <a:lnTo>
                  <a:pt x="327" y="3"/>
                </a:lnTo>
                <a:lnTo>
                  <a:pt x="344" y="2"/>
                </a:lnTo>
                <a:lnTo>
                  <a:pt x="360" y="1"/>
                </a:lnTo>
                <a:lnTo>
                  <a:pt x="377" y="0"/>
                </a:lnTo>
                <a:lnTo>
                  <a:pt x="393" y="0"/>
                </a:lnTo>
                <a:lnTo>
                  <a:pt x="393" y="22"/>
                </a:lnTo>
                <a:lnTo>
                  <a:pt x="377" y="22"/>
                </a:lnTo>
                <a:lnTo>
                  <a:pt x="360" y="22"/>
                </a:lnTo>
                <a:lnTo>
                  <a:pt x="344" y="23"/>
                </a:lnTo>
                <a:lnTo>
                  <a:pt x="327" y="25"/>
                </a:lnTo>
                <a:lnTo>
                  <a:pt x="311" y="26"/>
                </a:lnTo>
                <a:lnTo>
                  <a:pt x="295" y="28"/>
                </a:lnTo>
                <a:lnTo>
                  <a:pt x="278" y="30"/>
                </a:lnTo>
                <a:lnTo>
                  <a:pt x="262" y="32"/>
                </a:lnTo>
                <a:lnTo>
                  <a:pt x="246" y="34"/>
                </a:lnTo>
                <a:lnTo>
                  <a:pt x="229" y="37"/>
                </a:lnTo>
                <a:lnTo>
                  <a:pt x="213" y="39"/>
                </a:lnTo>
                <a:lnTo>
                  <a:pt x="196" y="42"/>
                </a:lnTo>
                <a:lnTo>
                  <a:pt x="180" y="44"/>
                </a:lnTo>
                <a:lnTo>
                  <a:pt x="164" y="47"/>
                </a:lnTo>
                <a:lnTo>
                  <a:pt x="147" y="49"/>
                </a:lnTo>
                <a:lnTo>
                  <a:pt x="131" y="52"/>
                </a:lnTo>
                <a:lnTo>
                  <a:pt x="114" y="54"/>
                </a:lnTo>
                <a:lnTo>
                  <a:pt x="98" y="56"/>
                </a:lnTo>
                <a:lnTo>
                  <a:pt x="82" y="58"/>
                </a:lnTo>
                <a:lnTo>
                  <a:pt x="65" y="59"/>
                </a:lnTo>
                <a:lnTo>
                  <a:pt x="49" y="61"/>
                </a:lnTo>
                <a:lnTo>
                  <a:pt x="33" y="61"/>
                </a:lnTo>
                <a:lnTo>
                  <a:pt x="16" y="62"/>
                </a:lnTo>
                <a:lnTo>
                  <a:pt x="0" y="62"/>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2057400" y="5010150"/>
            <a:ext cx="3743325" cy="485775"/>
          </a:xfrm>
          <a:custGeom>
            <a:avLst/>
            <a:gdLst/>
            <a:ahLst/>
            <a:cxnLst/>
            <a:rect l="l" t="t" r="r" b="b"/>
            <a:pathLst>
              <a:path w="393" h="51">
                <a:moveTo>
                  <a:pt x="0" y="0"/>
                </a:moveTo>
                <a:lnTo>
                  <a:pt x="16" y="0"/>
                </a:lnTo>
                <a:lnTo>
                  <a:pt x="33" y="1"/>
                </a:lnTo>
                <a:lnTo>
                  <a:pt x="49" y="2"/>
                </a:lnTo>
                <a:lnTo>
                  <a:pt x="65" y="2"/>
                </a:lnTo>
                <a:lnTo>
                  <a:pt x="82" y="4"/>
                </a:lnTo>
                <a:lnTo>
                  <a:pt x="98" y="5"/>
                </a:lnTo>
                <a:lnTo>
                  <a:pt x="114" y="6"/>
                </a:lnTo>
                <a:lnTo>
                  <a:pt x="131" y="8"/>
                </a:lnTo>
                <a:lnTo>
                  <a:pt x="147" y="10"/>
                </a:lnTo>
                <a:lnTo>
                  <a:pt x="164" y="12"/>
                </a:lnTo>
                <a:lnTo>
                  <a:pt x="180" y="13"/>
                </a:lnTo>
                <a:lnTo>
                  <a:pt x="196" y="15"/>
                </a:lnTo>
                <a:lnTo>
                  <a:pt x="213" y="17"/>
                </a:lnTo>
                <a:lnTo>
                  <a:pt x="229" y="19"/>
                </a:lnTo>
                <a:lnTo>
                  <a:pt x="246" y="21"/>
                </a:lnTo>
                <a:lnTo>
                  <a:pt x="262" y="22"/>
                </a:lnTo>
                <a:lnTo>
                  <a:pt x="278" y="24"/>
                </a:lnTo>
                <a:lnTo>
                  <a:pt x="295" y="26"/>
                </a:lnTo>
                <a:lnTo>
                  <a:pt x="311" y="27"/>
                </a:lnTo>
                <a:lnTo>
                  <a:pt x="327" y="28"/>
                </a:lnTo>
                <a:lnTo>
                  <a:pt x="344" y="29"/>
                </a:lnTo>
                <a:lnTo>
                  <a:pt x="360" y="30"/>
                </a:lnTo>
                <a:lnTo>
                  <a:pt x="377" y="30"/>
                </a:lnTo>
                <a:lnTo>
                  <a:pt x="393" y="30"/>
                </a:lnTo>
                <a:lnTo>
                  <a:pt x="393" y="51"/>
                </a:lnTo>
                <a:lnTo>
                  <a:pt x="377" y="51"/>
                </a:lnTo>
                <a:lnTo>
                  <a:pt x="360" y="51"/>
                </a:lnTo>
                <a:lnTo>
                  <a:pt x="344" y="50"/>
                </a:lnTo>
                <a:lnTo>
                  <a:pt x="327" y="49"/>
                </a:lnTo>
                <a:lnTo>
                  <a:pt x="311" y="48"/>
                </a:lnTo>
                <a:lnTo>
                  <a:pt x="295" y="47"/>
                </a:lnTo>
                <a:lnTo>
                  <a:pt x="278" y="45"/>
                </a:lnTo>
                <a:lnTo>
                  <a:pt x="262" y="44"/>
                </a:lnTo>
                <a:lnTo>
                  <a:pt x="246" y="42"/>
                </a:lnTo>
                <a:lnTo>
                  <a:pt x="229" y="40"/>
                </a:lnTo>
                <a:lnTo>
                  <a:pt x="213" y="38"/>
                </a:lnTo>
                <a:lnTo>
                  <a:pt x="196" y="36"/>
                </a:lnTo>
                <a:lnTo>
                  <a:pt x="180" y="35"/>
                </a:lnTo>
                <a:lnTo>
                  <a:pt x="164" y="33"/>
                </a:lnTo>
                <a:lnTo>
                  <a:pt x="147" y="31"/>
                </a:lnTo>
                <a:lnTo>
                  <a:pt x="131" y="29"/>
                </a:lnTo>
                <a:lnTo>
                  <a:pt x="114" y="28"/>
                </a:lnTo>
                <a:lnTo>
                  <a:pt x="98" y="26"/>
                </a:lnTo>
                <a:lnTo>
                  <a:pt x="82" y="25"/>
                </a:lnTo>
                <a:lnTo>
                  <a:pt x="65" y="24"/>
                </a:lnTo>
                <a:lnTo>
                  <a:pt x="49" y="23"/>
                </a:lnTo>
                <a:lnTo>
                  <a:pt x="33" y="22"/>
                </a:lnTo>
                <a:lnTo>
                  <a:pt x="16" y="22"/>
                </a:lnTo>
                <a:lnTo>
                  <a:pt x="0" y="2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2057400" y="5210175"/>
            <a:ext cx="3743325" cy="904875"/>
          </a:xfrm>
          <a:custGeom>
            <a:avLst/>
            <a:gdLst/>
            <a:ahLst/>
            <a:cxnLst/>
            <a:rect l="l" t="t" r="r" b="b"/>
            <a:pathLst>
              <a:path w="393" h="95">
                <a:moveTo>
                  <a:pt x="0" y="0"/>
                </a:moveTo>
                <a:lnTo>
                  <a:pt x="16" y="1"/>
                </a:lnTo>
                <a:lnTo>
                  <a:pt x="33" y="2"/>
                </a:lnTo>
                <a:lnTo>
                  <a:pt x="49" y="4"/>
                </a:lnTo>
                <a:lnTo>
                  <a:pt x="65" y="7"/>
                </a:lnTo>
                <a:lnTo>
                  <a:pt x="82" y="10"/>
                </a:lnTo>
                <a:lnTo>
                  <a:pt x="98" y="14"/>
                </a:lnTo>
                <a:lnTo>
                  <a:pt x="114" y="18"/>
                </a:lnTo>
                <a:lnTo>
                  <a:pt x="131" y="23"/>
                </a:lnTo>
                <a:lnTo>
                  <a:pt x="147" y="28"/>
                </a:lnTo>
                <a:lnTo>
                  <a:pt x="164" y="33"/>
                </a:lnTo>
                <a:lnTo>
                  <a:pt x="180" y="38"/>
                </a:lnTo>
                <a:lnTo>
                  <a:pt x="196" y="44"/>
                </a:lnTo>
                <a:lnTo>
                  <a:pt x="213" y="49"/>
                </a:lnTo>
                <a:lnTo>
                  <a:pt x="229" y="54"/>
                </a:lnTo>
                <a:lnTo>
                  <a:pt x="246" y="59"/>
                </a:lnTo>
                <a:lnTo>
                  <a:pt x="262" y="64"/>
                </a:lnTo>
                <a:lnTo>
                  <a:pt x="278" y="69"/>
                </a:lnTo>
                <a:lnTo>
                  <a:pt x="295" y="73"/>
                </a:lnTo>
                <a:lnTo>
                  <a:pt x="311" y="77"/>
                </a:lnTo>
                <a:lnTo>
                  <a:pt x="327" y="80"/>
                </a:lnTo>
                <a:lnTo>
                  <a:pt x="344" y="83"/>
                </a:lnTo>
                <a:lnTo>
                  <a:pt x="360" y="85"/>
                </a:lnTo>
                <a:lnTo>
                  <a:pt x="377" y="86"/>
                </a:lnTo>
                <a:lnTo>
                  <a:pt x="393" y="87"/>
                </a:lnTo>
                <a:lnTo>
                  <a:pt x="393" y="95"/>
                </a:lnTo>
                <a:lnTo>
                  <a:pt x="377" y="94"/>
                </a:lnTo>
                <a:lnTo>
                  <a:pt x="360" y="93"/>
                </a:lnTo>
                <a:lnTo>
                  <a:pt x="344" y="91"/>
                </a:lnTo>
                <a:lnTo>
                  <a:pt x="327" y="88"/>
                </a:lnTo>
                <a:lnTo>
                  <a:pt x="311" y="85"/>
                </a:lnTo>
                <a:lnTo>
                  <a:pt x="295" y="81"/>
                </a:lnTo>
                <a:lnTo>
                  <a:pt x="278" y="77"/>
                </a:lnTo>
                <a:lnTo>
                  <a:pt x="262" y="72"/>
                </a:lnTo>
                <a:lnTo>
                  <a:pt x="246" y="67"/>
                </a:lnTo>
                <a:lnTo>
                  <a:pt x="229" y="62"/>
                </a:lnTo>
                <a:lnTo>
                  <a:pt x="213" y="57"/>
                </a:lnTo>
                <a:lnTo>
                  <a:pt x="196" y="51"/>
                </a:lnTo>
                <a:lnTo>
                  <a:pt x="180" y="46"/>
                </a:lnTo>
                <a:lnTo>
                  <a:pt x="164" y="41"/>
                </a:lnTo>
                <a:lnTo>
                  <a:pt x="147" y="36"/>
                </a:lnTo>
                <a:lnTo>
                  <a:pt x="131" y="31"/>
                </a:lnTo>
                <a:lnTo>
                  <a:pt x="114" y="26"/>
                </a:lnTo>
                <a:lnTo>
                  <a:pt x="98" y="22"/>
                </a:lnTo>
                <a:lnTo>
                  <a:pt x="82" y="18"/>
                </a:lnTo>
                <a:lnTo>
                  <a:pt x="65" y="15"/>
                </a:lnTo>
                <a:lnTo>
                  <a:pt x="49" y="12"/>
                </a:lnTo>
                <a:lnTo>
                  <a:pt x="33" y="10"/>
                </a:lnTo>
                <a:lnTo>
                  <a:pt x="16" y="9"/>
                </a:lnTo>
                <a:lnTo>
                  <a:pt x="0" y="8"/>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2057400" y="5286375"/>
            <a:ext cx="3743325" cy="1143000"/>
          </a:xfrm>
          <a:custGeom>
            <a:avLst/>
            <a:gdLst/>
            <a:ahLst/>
            <a:cxnLst/>
            <a:rect l="l" t="t" r="r" b="b"/>
            <a:pathLst>
              <a:path w="393" h="120">
                <a:moveTo>
                  <a:pt x="0" y="0"/>
                </a:moveTo>
                <a:lnTo>
                  <a:pt x="16" y="1"/>
                </a:lnTo>
                <a:lnTo>
                  <a:pt x="33" y="3"/>
                </a:lnTo>
                <a:lnTo>
                  <a:pt x="49" y="5"/>
                </a:lnTo>
                <a:lnTo>
                  <a:pt x="65" y="9"/>
                </a:lnTo>
                <a:lnTo>
                  <a:pt x="82" y="13"/>
                </a:lnTo>
                <a:lnTo>
                  <a:pt x="98" y="18"/>
                </a:lnTo>
                <a:lnTo>
                  <a:pt x="114" y="24"/>
                </a:lnTo>
                <a:lnTo>
                  <a:pt x="131" y="30"/>
                </a:lnTo>
                <a:lnTo>
                  <a:pt x="147" y="36"/>
                </a:lnTo>
                <a:lnTo>
                  <a:pt x="164" y="43"/>
                </a:lnTo>
                <a:lnTo>
                  <a:pt x="180" y="50"/>
                </a:lnTo>
                <a:lnTo>
                  <a:pt x="196" y="57"/>
                </a:lnTo>
                <a:lnTo>
                  <a:pt x="213" y="64"/>
                </a:lnTo>
                <a:lnTo>
                  <a:pt x="229" y="71"/>
                </a:lnTo>
                <a:lnTo>
                  <a:pt x="246" y="78"/>
                </a:lnTo>
                <a:lnTo>
                  <a:pt x="262" y="85"/>
                </a:lnTo>
                <a:lnTo>
                  <a:pt x="278" y="91"/>
                </a:lnTo>
                <a:lnTo>
                  <a:pt x="295" y="96"/>
                </a:lnTo>
                <a:lnTo>
                  <a:pt x="311" y="101"/>
                </a:lnTo>
                <a:lnTo>
                  <a:pt x="327" y="106"/>
                </a:lnTo>
                <a:lnTo>
                  <a:pt x="344" y="109"/>
                </a:lnTo>
                <a:lnTo>
                  <a:pt x="360" y="112"/>
                </a:lnTo>
                <a:lnTo>
                  <a:pt x="377" y="114"/>
                </a:lnTo>
                <a:lnTo>
                  <a:pt x="393" y="114"/>
                </a:lnTo>
                <a:lnTo>
                  <a:pt x="393" y="120"/>
                </a:lnTo>
                <a:lnTo>
                  <a:pt x="377" y="119"/>
                </a:lnTo>
                <a:lnTo>
                  <a:pt x="360" y="118"/>
                </a:lnTo>
                <a:lnTo>
                  <a:pt x="344" y="115"/>
                </a:lnTo>
                <a:lnTo>
                  <a:pt x="327" y="111"/>
                </a:lnTo>
                <a:lnTo>
                  <a:pt x="311" y="107"/>
                </a:lnTo>
                <a:lnTo>
                  <a:pt x="295" y="102"/>
                </a:lnTo>
                <a:lnTo>
                  <a:pt x="278" y="96"/>
                </a:lnTo>
                <a:lnTo>
                  <a:pt x="262" y="90"/>
                </a:lnTo>
                <a:lnTo>
                  <a:pt x="246" y="84"/>
                </a:lnTo>
                <a:lnTo>
                  <a:pt x="229" y="77"/>
                </a:lnTo>
                <a:lnTo>
                  <a:pt x="213" y="70"/>
                </a:lnTo>
                <a:lnTo>
                  <a:pt x="196" y="63"/>
                </a:lnTo>
                <a:lnTo>
                  <a:pt x="180" y="56"/>
                </a:lnTo>
                <a:lnTo>
                  <a:pt x="164" y="49"/>
                </a:lnTo>
                <a:lnTo>
                  <a:pt x="147" y="42"/>
                </a:lnTo>
                <a:lnTo>
                  <a:pt x="131" y="35"/>
                </a:lnTo>
                <a:lnTo>
                  <a:pt x="114" y="29"/>
                </a:lnTo>
                <a:lnTo>
                  <a:pt x="98" y="24"/>
                </a:lnTo>
                <a:lnTo>
                  <a:pt x="82" y="19"/>
                </a:lnTo>
                <a:lnTo>
                  <a:pt x="65" y="14"/>
                </a:lnTo>
                <a:lnTo>
                  <a:pt x="49" y="11"/>
                </a:lnTo>
                <a:lnTo>
                  <a:pt x="33" y="8"/>
                </a:lnTo>
                <a:lnTo>
                  <a:pt x="16" y="7"/>
                </a:lnTo>
                <a:lnTo>
                  <a:pt x="0" y="6"/>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2057400" y="4629150"/>
            <a:ext cx="3743325" cy="981075"/>
          </a:xfrm>
          <a:custGeom>
            <a:avLst/>
            <a:gdLst/>
            <a:ahLst/>
            <a:cxnLst/>
            <a:rect l="l" t="t" r="r" b="b"/>
            <a:pathLst>
              <a:path w="393" h="103">
                <a:moveTo>
                  <a:pt x="0" y="81"/>
                </a:moveTo>
                <a:lnTo>
                  <a:pt x="16" y="81"/>
                </a:lnTo>
                <a:lnTo>
                  <a:pt x="33" y="79"/>
                </a:lnTo>
                <a:lnTo>
                  <a:pt x="49" y="77"/>
                </a:lnTo>
                <a:lnTo>
                  <a:pt x="65" y="75"/>
                </a:lnTo>
                <a:lnTo>
                  <a:pt x="82" y="72"/>
                </a:lnTo>
                <a:lnTo>
                  <a:pt x="98" y="68"/>
                </a:lnTo>
                <a:lnTo>
                  <a:pt x="114" y="64"/>
                </a:lnTo>
                <a:lnTo>
                  <a:pt x="131" y="60"/>
                </a:lnTo>
                <a:lnTo>
                  <a:pt x="147" y="55"/>
                </a:lnTo>
                <a:lnTo>
                  <a:pt x="164" y="50"/>
                </a:lnTo>
                <a:lnTo>
                  <a:pt x="180" y="45"/>
                </a:lnTo>
                <a:lnTo>
                  <a:pt x="196" y="40"/>
                </a:lnTo>
                <a:lnTo>
                  <a:pt x="213" y="35"/>
                </a:lnTo>
                <a:lnTo>
                  <a:pt x="229" y="30"/>
                </a:lnTo>
                <a:lnTo>
                  <a:pt x="246" y="25"/>
                </a:lnTo>
                <a:lnTo>
                  <a:pt x="262" y="21"/>
                </a:lnTo>
                <a:lnTo>
                  <a:pt x="278" y="16"/>
                </a:lnTo>
                <a:lnTo>
                  <a:pt x="295" y="12"/>
                </a:lnTo>
                <a:lnTo>
                  <a:pt x="311" y="9"/>
                </a:lnTo>
                <a:lnTo>
                  <a:pt x="327" y="6"/>
                </a:lnTo>
                <a:lnTo>
                  <a:pt x="344" y="3"/>
                </a:lnTo>
                <a:lnTo>
                  <a:pt x="360" y="1"/>
                </a:lnTo>
                <a:lnTo>
                  <a:pt x="377" y="0"/>
                </a:lnTo>
                <a:lnTo>
                  <a:pt x="393" y="0"/>
                </a:lnTo>
                <a:lnTo>
                  <a:pt x="393" y="21"/>
                </a:lnTo>
                <a:lnTo>
                  <a:pt x="377" y="22"/>
                </a:lnTo>
                <a:lnTo>
                  <a:pt x="360" y="23"/>
                </a:lnTo>
                <a:lnTo>
                  <a:pt x="344" y="25"/>
                </a:lnTo>
                <a:lnTo>
                  <a:pt x="327" y="27"/>
                </a:lnTo>
                <a:lnTo>
                  <a:pt x="311" y="30"/>
                </a:lnTo>
                <a:lnTo>
                  <a:pt x="295" y="34"/>
                </a:lnTo>
                <a:lnTo>
                  <a:pt x="278" y="38"/>
                </a:lnTo>
                <a:lnTo>
                  <a:pt x="262" y="42"/>
                </a:lnTo>
                <a:lnTo>
                  <a:pt x="246" y="47"/>
                </a:lnTo>
                <a:lnTo>
                  <a:pt x="229" y="52"/>
                </a:lnTo>
                <a:lnTo>
                  <a:pt x="213" y="57"/>
                </a:lnTo>
                <a:lnTo>
                  <a:pt x="196" y="62"/>
                </a:lnTo>
                <a:lnTo>
                  <a:pt x="180" y="67"/>
                </a:lnTo>
                <a:lnTo>
                  <a:pt x="164" y="72"/>
                </a:lnTo>
                <a:lnTo>
                  <a:pt x="147" y="77"/>
                </a:lnTo>
                <a:lnTo>
                  <a:pt x="131" y="82"/>
                </a:lnTo>
                <a:lnTo>
                  <a:pt x="114" y="86"/>
                </a:lnTo>
                <a:lnTo>
                  <a:pt x="98" y="90"/>
                </a:lnTo>
                <a:lnTo>
                  <a:pt x="82" y="94"/>
                </a:lnTo>
                <a:lnTo>
                  <a:pt x="65" y="97"/>
                </a:lnTo>
                <a:lnTo>
                  <a:pt x="49" y="99"/>
                </a:lnTo>
                <a:lnTo>
                  <a:pt x="33" y="101"/>
                </a:lnTo>
                <a:lnTo>
                  <a:pt x="16" y="102"/>
                </a:lnTo>
                <a:lnTo>
                  <a:pt x="0" y="10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2057400" y="5495925"/>
            <a:ext cx="3743325" cy="314325"/>
          </a:xfrm>
          <a:custGeom>
            <a:avLst/>
            <a:gdLst/>
            <a:ahLst/>
            <a:cxnLst/>
            <a:rect l="l" t="t" r="r" b="b"/>
            <a:pathLst>
              <a:path w="393" h="33">
                <a:moveTo>
                  <a:pt x="0" y="12"/>
                </a:moveTo>
                <a:lnTo>
                  <a:pt x="16" y="12"/>
                </a:lnTo>
                <a:lnTo>
                  <a:pt x="33" y="12"/>
                </a:lnTo>
                <a:lnTo>
                  <a:pt x="49" y="11"/>
                </a:lnTo>
                <a:lnTo>
                  <a:pt x="65" y="11"/>
                </a:lnTo>
                <a:lnTo>
                  <a:pt x="82" y="10"/>
                </a:lnTo>
                <a:lnTo>
                  <a:pt x="98" y="10"/>
                </a:lnTo>
                <a:lnTo>
                  <a:pt x="114" y="9"/>
                </a:lnTo>
                <a:lnTo>
                  <a:pt x="131" y="9"/>
                </a:lnTo>
                <a:lnTo>
                  <a:pt x="147" y="8"/>
                </a:lnTo>
                <a:lnTo>
                  <a:pt x="164" y="7"/>
                </a:lnTo>
                <a:lnTo>
                  <a:pt x="180" y="7"/>
                </a:lnTo>
                <a:lnTo>
                  <a:pt x="196" y="6"/>
                </a:lnTo>
                <a:lnTo>
                  <a:pt x="213" y="5"/>
                </a:lnTo>
                <a:lnTo>
                  <a:pt x="229" y="5"/>
                </a:lnTo>
                <a:lnTo>
                  <a:pt x="246" y="4"/>
                </a:lnTo>
                <a:lnTo>
                  <a:pt x="262" y="3"/>
                </a:lnTo>
                <a:lnTo>
                  <a:pt x="278" y="3"/>
                </a:lnTo>
                <a:lnTo>
                  <a:pt x="295" y="2"/>
                </a:lnTo>
                <a:lnTo>
                  <a:pt x="311" y="2"/>
                </a:lnTo>
                <a:lnTo>
                  <a:pt x="327" y="1"/>
                </a:lnTo>
                <a:lnTo>
                  <a:pt x="344" y="1"/>
                </a:lnTo>
                <a:lnTo>
                  <a:pt x="360" y="1"/>
                </a:lnTo>
                <a:lnTo>
                  <a:pt x="377" y="0"/>
                </a:lnTo>
                <a:lnTo>
                  <a:pt x="393" y="0"/>
                </a:lnTo>
                <a:lnTo>
                  <a:pt x="393" y="22"/>
                </a:lnTo>
                <a:lnTo>
                  <a:pt x="377" y="22"/>
                </a:lnTo>
                <a:lnTo>
                  <a:pt x="360" y="22"/>
                </a:lnTo>
                <a:lnTo>
                  <a:pt x="344" y="22"/>
                </a:lnTo>
                <a:lnTo>
                  <a:pt x="327" y="22"/>
                </a:lnTo>
                <a:lnTo>
                  <a:pt x="311" y="23"/>
                </a:lnTo>
                <a:lnTo>
                  <a:pt x="295" y="23"/>
                </a:lnTo>
                <a:lnTo>
                  <a:pt x="278" y="24"/>
                </a:lnTo>
                <a:lnTo>
                  <a:pt x="262" y="24"/>
                </a:lnTo>
                <a:lnTo>
                  <a:pt x="246" y="25"/>
                </a:lnTo>
                <a:lnTo>
                  <a:pt x="229" y="26"/>
                </a:lnTo>
                <a:lnTo>
                  <a:pt x="213" y="27"/>
                </a:lnTo>
                <a:lnTo>
                  <a:pt x="196" y="27"/>
                </a:lnTo>
                <a:lnTo>
                  <a:pt x="180" y="28"/>
                </a:lnTo>
                <a:lnTo>
                  <a:pt x="164" y="29"/>
                </a:lnTo>
                <a:lnTo>
                  <a:pt x="147" y="29"/>
                </a:lnTo>
                <a:lnTo>
                  <a:pt x="131" y="30"/>
                </a:lnTo>
                <a:lnTo>
                  <a:pt x="114" y="31"/>
                </a:lnTo>
                <a:lnTo>
                  <a:pt x="98" y="31"/>
                </a:lnTo>
                <a:lnTo>
                  <a:pt x="82" y="32"/>
                </a:lnTo>
                <a:lnTo>
                  <a:pt x="65" y="32"/>
                </a:lnTo>
                <a:lnTo>
                  <a:pt x="49" y="32"/>
                </a:lnTo>
                <a:lnTo>
                  <a:pt x="33" y="33"/>
                </a:lnTo>
                <a:lnTo>
                  <a:pt x="16" y="33"/>
                </a:lnTo>
                <a:lnTo>
                  <a:pt x="0" y="33"/>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2057400" y="5810250"/>
            <a:ext cx="3743325" cy="381000"/>
          </a:xfrm>
          <a:custGeom>
            <a:avLst/>
            <a:gdLst/>
            <a:ahLst/>
            <a:cxnLst/>
            <a:rect l="l" t="t" r="r" b="b"/>
            <a:pathLst>
              <a:path w="393" h="40">
                <a:moveTo>
                  <a:pt x="0" y="0"/>
                </a:moveTo>
                <a:lnTo>
                  <a:pt x="16" y="0"/>
                </a:lnTo>
                <a:lnTo>
                  <a:pt x="33" y="1"/>
                </a:lnTo>
                <a:lnTo>
                  <a:pt x="49" y="1"/>
                </a:lnTo>
                <a:lnTo>
                  <a:pt x="65" y="2"/>
                </a:lnTo>
                <a:lnTo>
                  <a:pt x="82" y="3"/>
                </a:lnTo>
                <a:lnTo>
                  <a:pt x="98" y="5"/>
                </a:lnTo>
                <a:lnTo>
                  <a:pt x="114" y="6"/>
                </a:lnTo>
                <a:lnTo>
                  <a:pt x="131" y="8"/>
                </a:lnTo>
                <a:lnTo>
                  <a:pt x="147" y="10"/>
                </a:lnTo>
                <a:lnTo>
                  <a:pt x="164" y="12"/>
                </a:lnTo>
                <a:lnTo>
                  <a:pt x="180" y="14"/>
                </a:lnTo>
                <a:lnTo>
                  <a:pt x="196" y="16"/>
                </a:lnTo>
                <a:lnTo>
                  <a:pt x="213" y="18"/>
                </a:lnTo>
                <a:lnTo>
                  <a:pt x="229" y="20"/>
                </a:lnTo>
                <a:lnTo>
                  <a:pt x="246" y="22"/>
                </a:lnTo>
                <a:lnTo>
                  <a:pt x="262" y="23"/>
                </a:lnTo>
                <a:lnTo>
                  <a:pt x="278" y="25"/>
                </a:lnTo>
                <a:lnTo>
                  <a:pt x="295" y="27"/>
                </a:lnTo>
                <a:lnTo>
                  <a:pt x="311" y="28"/>
                </a:lnTo>
                <a:lnTo>
                  <a:pt x="327" y="29"/>
                </a:lnTo>
                <a:lnTo>
                  <a:pt x="344" y="30"/>
                </a:lnTo>
                <a:lnTo>
                  <a:pt x="360" y="31"/>
                </a:lnTo>
                <a:lnTo>
                  <a:pt x="377" y="31"/>
                </a:lnTo>
                <a:lnTo>
                  <a:pt x="393" y="32"/>
                </a:lnTo>
                <a:lnTo>
                  <a:pt x="393" y="40"/>
                </a:lnTo>
                <a:lnTo>
                  <a:pt x="377" y="39"/>
                </a:lnTo>
                <a:lnTo>
                  <a:pt x="360" y="39"/>
                </a:lnTo>
                <a:lnTo>
                  <a:pt x="344" y="38"/>
                </a:lnTo>
                <a:lnTo>
                  <a:pt x="327" y="37"/>
                </a:lnTo>
                <a:lnTo>
                  <a:pt x="311" y="36"/>
                </a:lnTo>
                <a:lnTo>
                  <a:pt x="295" y="35"/>
                </a:lnTo>
                <a:lnTo>
                  <a:pt x="278" y="33"/>
                </a:lnTo>
                <a:lnTo>
                  <a:pt x="262" y="31"/>
                </a:lnTo>
                <a:lnTo>
                  <a:pt x="246" y="30"/>
                </a:lnTo>
                <a:lnTo>
                  <a:pt x="229" y="28"/>
                </a:lnTo>
                <a:lnTo>
                  <a:pt x="213" y="26"/>
                </a:lnTo>
                <a:lnTo>
                  <a:pt x="196" y="24"/>
                </a:lnTo>
                <a:lnTo>
                  <a:pt x="180" y="22"/>
                </a:lnTo>
                <a:lnTo>
                  <a:pt x="164" y="20"/>
                </a:lnTo>
                <a:lnTo>
                  <a:pt x="147" y="18"/>
                </a:lnTo>
                <a:lnTo>
                  <a:pt x="131" y="16"/>
                </a:lnTo>
                <a:lnTo>
                  <a:pt x="114" y="14"/>
                </a:lnTo>
                <a:lnTo>
                  <a:pt x="98" y="13"/>
                </a:lnTo>
                <a:lnTo>
                  <a:pt x="82" y="11"/>
                </a:lnTo>
                <a:lnTo>
                  <a:pt x="65" y="10"/>
                </a:lnTo>
                <a:lnTo>
                  <a:pt x="49" y="9"/>
                </a:lnTo>
                <a:lnTo>
                  <a:pt x="33" y="9"/>
                </a:lnTo>
                <a:lnTo>
                  <a:pt x="16" y="8"/>
                </a:lnTo>
                <a:lnTo>
                  <a:pt x="0" y="8"/>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2057400" y="5886450"/>
            <a:ext cx="3743325" cy="590550"/>
          </a:xfrm>
          <a:custGeom>
            <a:avLst/>
            <a:gdLst/>
            <a:ahLst/>
            <a:cxnLst/>
            <a:rect l="l" t="t" r="r" b="b"/>
            <a:pathLst>
              <a:path w="393" h="62">
                <a:moveTo>
                  <a:pt x="0" y="0"/>
                </a:moveTo>
                <a:lnTo>
                  <a:pt x="16" y="0"/>
                </a:lnTo>
                <a:lnTo>
                  <a:pt x="33" y="1"/>
                </a:lnTo>
                <a:lnTo>
                  <a:pt x="49" y="2"/>
                </a:lnTo>
                <a:lnTo>
                  <a:pt x="65" y="4"/>
                </a:lnTo>
                <a:lnTo>
                  <a:pt x="82" y="6"/>
                </a:lnTo>
                <a:lnTo>
                  <a:pt x="98" y="9"/>
                </a:lnTo>
                <a:lnTo>
                  <a:pt x="114" y="12"/>
                </a:lnTo>
                <a:lnTo>
                  <a:pt x="131" y="15"/>
                </a:lnTo>
                <a:lnTo>
                  <a:pt x="147" y="18"/>
                </a:lnTo>
                <a:lnTo>
                  <a:pt x="164" y="21"/>
                </a:lnTo>
                <a:lnTo>
                  <a:pt x="180" y="25"/>
                </a:lnTo>
                <a:lnTo>
                  <a:pt x="196" y="28"/>
                </a:lnTo>
                <a:lnTo>
                  <a:pt x="213" y="32"/>
                </a:lnTo>
                <a:lnTo>
                  <a:pt x="229" y="35"/>
                </a:lnTo>
                <a:lnTo>
                  <a:pt x="246" y="39"/>
                </a:lnTo>
                <a:lnTo>
                  <a:pt x="262" y="42"/>
                </a:lnTo>
                <a:lnTo>
                  <a:pt x="278" y="45"/>
                </a:lnTo>
                <a:lnTo>
                  <a:pt x="295" y="48"/>
                </a:lnTo>
                <a:lnTo>
                  <a:pt x="311" y="50"/>
                </a:lnTo>
                <a:lnTo>
                  <a:pt x="327" y="53"/>
                </a:lnTo>
                <a:lnTo>
                  <a:pt x="344" y="54"/>
                </a:lnTo>
                <a:lnTo>
                  <a:pt x="360" y="56"/>
                </a:lnTo>
                <a:lnTo>
                  <a:pt x="377" y="56"/>
                </a:lnTo>
                <a:lnTo>
                  <a:pt x="393" y="57"/>
                </a:lnTo>
                <a:lnTo>
                  <a:pt x="393" y="62"/>
                </a:lnTo>
                <a:lnTo>
                  <a:pt x="377" y="62"/>
                </a:lnTo>
                <a:lnTo>
                  <a:pt x="360" y="61"/>
                </a:lnTo>
                <a:lnTo>
                  <a:pt x="344" y="60"/>
                </a:lnTo>
                <a:lnTo>
                  <a:pt x="327" y="58"/>
                </a:lnTo>
                <a:lnTo>
                  <a:pt x="311" y="56"/>
                </a:lnTo>
                <a:lnTo>
                  <a:pt x="295" y="53"/>
                </a:lnTo>
                <a:lnTo>
                  <a:pt x="278" y="51"/>
                </a:lnTo>
                <a:lnTo>
                  <a:pt x="262" y="48"/>
                </a:lnTo>
                <a:lnTo>
                  <a:pt x="246" y="44"/>
                </a:lnTo>
                <a:lnTo>
                  <a:pt x="229" y="41"/>
                </a:lnTo>
                <a:lnTo>
                  <a:pt x="213" y="37"/>
                </a:lnTo>
                <a:lnTo>
                  <a:pt x="196" y="34"/>
                </a:lnTo>
                <a:lnTo>
                  <a:pt x="180" y="30"/>
                </a:lnTo>
                <a:lnTo>
                  <a:pt x="164" y="27"/>
                </a:lnTo>
                <a:lnTo>
                  <a:pt x="147" y="23"/>
                </a:lnTo>
                <a:lnTo>
                  <a:pt x="131" y="20"/>
                </a:lnTo>
                <a:lnTo>
                  <a:pt x="114" y="17"/>
                </a:lnTo>
                <a:lnTo>
                  <a:pt x="98" y="14"/>
                </a:lnTo>
                <a:lnTo>
                  <a:pt x="82" y="12"/>
                </a:lnTo>
                <a:lnTo>
                  <a:pt x="65" y="10"/>
                </a:lnTo>
                <a:lnTo>
                  <a:pt x="49" y="8"/>
                </a:lnTo>
                <a:lnTo>
                  <a:pt x="33" y="7"/>
                </a:lnTo>
                <a:lnTo>
                  <a:pt x="16" y="6"/>
                </a:lnTo>
                <a:lnTo>
                  <a:pt x="0" y="6"/>
                </a:lnTo>
                <a:close/>
              </a:path>
            </a:pathLst>
          </a:custGeom>
          <a:solidFill>
            <a:srgbClr val="008189">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2057400" y="4829175"/>
            <a:ext cx="3743325" cy="1371600"/>
          </a:xfrm>
          <a:custGeom>
            <a:avLst/>
            <a:gdLst/>
            <a:ahLst/>
            <a:cxnLst/>
            <a:rect l="l" t="t" r="r" b="b"/>
            <a:pathLst>
              <a:path w="393" h="144">
                <a:moveTo>
                  <a:pt x="0" y="123"/>
                </a:moveTo>
                <a:lnTo>
                  <a:pt x="16" y="122"/>
                </a:lnTo>
                <a:lnTo>
                  <a:pt x="33" y="120"/>
                </a:lnTo>
                <a:lnTo>
                  <a:pt x="49" y="117"/>
                </a:lnTo>
                <a:lnTo>
                  <a:pt x="65" y="113"/>
                </a:lnTo>
                <a:lnTo>
                  <a:pt x="82" y="109"/>
                </a:lnTo>
                <a:lnTo>
                  <a:pt x="98" y="103"/>
                </a:lnTo>
                <a:lnTo>
                  <a:pt x="114" y="97"/>
                </a:lnTo>
                <a:lnTo>
                  <a:pt x="131" y="91"/>
                </a:lnTo>
                <a:lnTo>
                  <a:pt x="147" y="84"/>
                </a:lnTo>
                <a:lnTo>
                  <a:pt x="164" y="77"/>
                </a:lnTo>
                <a:lnTo>
                  <a:pt x="180" y="69"/>
                </a:lnTo>
                <a:lnTo>
                  <a:pt x="196" y="61"/>
                </a:lnTo>
                <a:lnTo>
                  <a:pt x="213" y="54"/>
                </a:lnTo>
                <a:lnTo>
                  <a:pt x="229" y="46"/>
                </a:lnTo>
                <a:lnTo>
                  <a:pt x="246" y="39"/>
                </a:lnTo>
                <a:lnTo>
                  <a:pt x="262" y="32"/>
                </a:lnTo>
                <a:lnTo>
                  <a:pt x="278" y="25"/>
                </a:lnTo>
                <a:lnTo>
                  <a:pt x="295" y="19"/>
                </a:lnTo>
                <a:lnTo>
                  <a:pt x="311" y="14"/>
                </a:lnTo>
                <a:lnTo>
                  <a:pt x="327" y="9"/>
                </a:lnTo>
                <a:lnTo>
                  <a:pt x="344" y="6"/>
                </a:lnTo>
                <a:lnTo>
                  <a:pt x="360" y="3"/>
                </a:lnTo>
                <a:lnTo>
                  <a:pt x="377" y="1"/>
                </a:lnTo>
                <a:lnTo>
                  <a:pt x="393" y="0"/>
                </a:lnTo>
                <a:lnTo>
                  <a:pt x="393" y="22"/>
                </a:lnTo>
                <a:lnTo>
                  <a:pt x="377" y="23"/>
                </a:lnTo>
                <a:lnTo>
                  <a:pt x="360" y="24"/>
                </a:lnTo>
                <a:lnTo>
                  <a:pt x="344" y="27"/>
                </a:lnTo>
                <a:lnTo>
                  <a:pt x="327" y="31"/>
                </a:lnTo>
                <a:lnTo>
                  <a:pt x="311" y="36"/>
                </a:lnTo>
                <a:lnTo>
                  <a:pt x="295" y="41"/>
                </a:lnTo>
                <a:lnTo>
                  <a:pt x="278" y="47"/>
                </a:lnTo>
                <a:lnTo>
                  <a:pt x="262" y="54"/>
                </a:lnTo>
                <a:lnTo>
                  <a:pt x="246" y="61"/>
                </a:lnTo>
                <a:lnTo>
                  <a:pt x="229" y="68"/>
                </a:lnTo>
                <a:lnTo>
                  <a:pt x="213" y="76"/>
                </a:lnTo>
                <a:lnTo>
                  <a:pt x="196" y="83"/>
                </a:lnTo>
                <a:lnTo>
                  <a:pt x="180" y="91"/>
                </a:lnTo>
                <a:lnTo>
                  <a:pt x="164" y="98"/>
                </a:lnTo>
                <a:lnTo>
                  <a:pt x="147" y="106"/>
                </a:lnTo>
                <a:lnTo>
                  <a:pt x="131" y="113"/>
                </a:lnTo>
                <a:lnTo>
                  <a:pt x="114" y="119"/>
                </a:lnTo>
                <a:lnTo>
                  <a:pt x="98" y="125"/>
                </a:lnTo>
                <a:lnTo>
                  <a:pt x="82" y="131"/>
                </a:lnTo>
                <a:lnTo>
                  <a:pt x="65" y="135"/>
                </a:lnTo>
                <a:lnTo>
                  <a:pt x="49" y="139"/>
                </a:lnTo>
                <a:lnTo>
                  <a:pt x="33" y="142"/>
                </a:lnTo>
                <a:lnTo>
                  <a:pt x="16" y="144"/>
                </a:lnTo>
                <a:lnTo>
                  <a:pt x="0" y="144"/>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057400" y="5705475"/>
            <a:ext cx="3743325" cy="695325"/>
          </a:xfrm>
          <a:custGeom>
            <a:avLst/>
            <a:gdLst/>
            <a:ahLst/>
            <a:cxnLst/>
            <a:rect l="l" t="t" r="r" b="b"/>
            <a:pathLst>
              <a:path w="393" h="73">
                <a:moveTo>
                  <a:pt x="0" y="52"/>
                </a:moveTo>
                <a:lnTo>
                  <a:pt x="16" y="52"/>
                </a:lnTo>
                <a:lnTo>
                  <a:pt x="33" y="51"/>
                </a:lnTo>
                <a:lnTo>
                  <a:pt x="49" y="50"/>
                </a:lnTo>
                <a:lnTo>
                  <a:pt x="65" y="48"/>
                </a:lnTo>
                <a:lnTo>
                  <a:pt x="82" y="46"/>
                </a:lnTo>
                <a:lnTo>
                  <a:pt x="98" y="44"/>
                </a:lnTo>
                <a:lnTo>
                  <a:pt x="114" y="41"/>
                </a:lnTo>
                <a:lnTo>
                  <a:pt x="131" y="39"/>
                </a:lnTo>
                <a:lnTo>
                  <a:pt x="147" y="36"/>
                </a:lnTo>
                <a:lnTo>
                  <a:pt x="164" y="32"/>
                </a:lnTo>
                <a:lnTo>
                  <a:pt x="180" y="29"/>
                </a:lnTo>
                <a:lnTo>
                  <a:pt x="196" y="26"/>
                </a:lnTo>
                <a:lnTo>
                  <a:pt x="213" y="23"/>
                </a:lnTo>
                <a:lnTo>
                  <a:pt x="229" y="19"/>
                </a:lnTo>
                <a:lnTo>
                  <a:pt x="246" y="16"/>
                </a:lnTo>
                <a:lnTo>
                  <a:pt x="262" y="13"/>
                </a:lnTo>
                <a:lnTo>
                  <a:pt x="278" y="10"/>
                </a:lnTo>
                <a:lnTo>
                  <a:pt x="295" y="8"/>
                </a:lnTo>
                <a:lnTo>
                  <a:pt x="311" y="5"/>
                </a:lnTo>
                <a:lnTo>
                  <a:pt x="327" y="3"/>
                </a:lnTo>
                <a:lnTo>
                  <a:pt x="344" y="2"/>
                </a:lnTo>
                <a:lnTo>
                  <a:pt x="360" y="1"/>
                </a:lnTo>
                <a:lnTo>
                  <a:pt x="377" y="0"/>
                </a:lnTo>
                <a:lnTo>
                  <a:pt x="393" y="0"/>
                </a:lnTo>
                <a:lnTo>
                  <a:pt x="393" y="21"/>
                </a:lnTo>
                <a:lnTo>
                  <a:pt x="377" y="21"/>
                </a:lnTo>
                <a:lnTo>
                  <a:pt x="360" y="22"/>
                </a:lnTo>
                <a:lnTo>
                  <a:pt x="344" y="23"/>
                </a:lnTo>
                <a:lnTo>
                  <a:pt x="327" y="25"/>
                </a:lnTo>
                <a:lnTo>
                  <a:pt x="311" y="27"/>
                </a:lnTo>
                <a:lnTo>
                  <a:pt x="295" y="29"/>
                </a:lnTo>
                <a:lnTo>
                  <a:pt x="278" y="32"/>
                </a:lnTo>
                <a:lnTo>
                  <a:pt x="262" y="34"/>
                </a:lnTo>
                <a:lnTo>
                  <a:pt x="246" y="37"/>
                </a:lnTo>
                <a:lnTo>
                  <a:pt x="229" y="41"/>
                </a:lnTo>
                <a:lnTo>
                  <a:pt x="213" y="44"/>
                </a:lnTo>
                <a:lnTo>
                  <a:pt x="196" y="47"/>
                </a:lnTo>
                <a:lnTo>
                  <a:pt x="180" y="50"/>
                </a:lnTo>
                <a:lnTo>
                  <a:pt x="164" y="54"/>
                </a:lnTo>
                <a:lnTo>
                  <a:pt x="147" y="57"/>
                </a:lnTo>
                <a:lnTo>
                  <a:pt x="131" y="60"/>
                </a:lnTo>
                <a:lnTo>
                  <a:pt x="114" y="63"/>
                </a:lnTo>
                <a:lnTo>
                  <a:pt x="98" y="65"/>
                </a:lnTo>
                <a:lnTo>
                  <a:pt x="82" y="68"/>
                </a:lnTo>
                <a:lnTo>
                  <a:pt x="65" y="70"/>
                </a:lnTo>
                <a:lnTo>
                  <a:pt x="49" y="71"/>
                </a:lnTo>
                <a:lnTo>
                  <a:pt x="33" y="72"/>
                </a:lnTo>
                <a:lnTo>
                  <a:pt x="16" y="73"/>
                </a:lnTo>
                <a:lnTo>
                  <a:pt x="0" y="73"/>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057400" y="6191250"/>
            <a:ext cx="3743325" cy="285750"/>
          </a:xfrm>
          <a:custGeom>
            <a:avLst/>
            <a:gdLst/>
            <a:ahLst/>
            <a:cxnLst/>
            <a:rect l="l" t="t" r="r" b="b"/>
            <a:pathLst>
              <a:path w="393" h="30">
                <a:moveTo>
                  <a:pt x="0" y="22"/>
                </a:moveTo>
                <a:lnTo>
                  <a:pt x="16" y="22"/>
                </a:lnTo>
                <a:lnTo>
                  <a:pt x="33" y="22"/>
                </a:lnTo>
                <a:lnTo>
                  <a:pt x="49" y="21"/>
                </a:lnTo>
                <a:lnTo>
                  <a:pt x="65" y="21"/>
                </a:lnTo>
                <a:lnTo>
                  <a:pt x="82" y="20"/>
                </a:lnTo>
                <a:lnTo>
                  <a:pt x="98" y="19"/>
                </a:lnTo>
                <a:lnTo>
                  <a:pt x="114" y="18"/>
                </a:lnTo>
                <a:lnTo>
                  <a:pt x="131" y="17"/>
                </a:lnTo>
                <a:lnTo>
                  <a:pt x="147" y="15"/>
                </a:lnTo>
                <a:lnTo>
                  <a:pt x="164" y="14"/>
                </a:lnTo>
                <a:lnTo>
                  <a:pt x="180" y="12"/>
                </a:lnTo>
                <a:lnTo>
                  <a:pt x="196" y="11"/>
                </a:lnTo>
                <a:lnTo>
                  <a:pt x="213" y="10"/>
                </a:lnTo>
                <a:lnTo>
                  <a:pt x="229" y="8"/>
                </a:lnTo>
                <a:lnTo>
                  <a:pt x="246" y="7"/>
                </a:lnTo>
                <a:lnTo>
                  <a:pt x="262" y="5"/>
                </a:lnTo>
                <a:lnTo>
                  <a:pt x="278" y="4"/>
                </a:lnTo>
                <a:lnTo>
                  <a:pt x="295" y="3"/>
                </a:lnTo>
                <a:lnTo>
                  <a:pt x="311" y="2"/>
                </a:lnTo>
                <a:lnTo>
                  <a:pt x="327" y="1"/>
                </a:lnTo>
                <a:lnTo>
                  <a:pt x="344" y="1"/>
                </a:lnTo>
                <a:lnTo>
                  <a:pt x="360" y="0"/>
                </a:lnTo>
                <a:lnTo>
                  <a:pt x="377" y="0"/>
                </a:lnTo>
                <a:lnTo>
                  <a:pt x="393" y="0"/>
                </a:lnTo>
                <a:lnTo>
                  <a:pt x="393" y="8"/>
                </a:lnTo>
                <a:lnTo>
                  <a:pt x="377" y="8"/>
                </a:lnTo>
                <a:lnTo>
                  <a:pt x="360" y="8"/>
                </a:lnTo>
                <a:lnTo>
                  <a:pt x="344" y="9"/>
                </a:lnTo>
                <a:lnTo>
                  <a:pt x="327" y="9"/>
                </a:lnTo>
                <a:lnTo>
                  <a:pt x="311" y="10"/>
                </a:lnTo>
                <a:lnTo>
                  <a:pt x="295" y="11"/>
                </a:lnTo>
                <a:lnTo>
                  <a:pt x="278" y="12"/>
                </a:lnTo>
                <a:lnTo>
                  <a:pt x="262" y="13"/>
                </a:lnTo>
                <a:lnTo>
                  <a:pt x="246" y="15"/>
                </a:lnTo>
                <a:lnTo>
                  <a:pt x="229" y="16"/>
                </a:lnTo>
                <a:lnTo>
                  <a:pt x="213" y="18"/>
                </a:lnTo>
                <a:lnTo>
                  <a:pt x="196" y="19"/>
                </a:lnTo>
                <a:lnTo>
                  <a:pt x="180" y="20"/>
                </a:lnTo>
                <a:lnTo>
                  <a:pt x="164" y="22"/>
                </a:lnTo>
                <a:lnTo>
                  <a:pt x="147" y="23"/>
                </a:lnTo>
                <a:lnTo>
                  <a:pt x="131" y="24"/>
                </a:lnTo>
                <a:lnTo>
                  <a:pt x="114" y="26"/>
                </a:lnTo>
                <a:lnTo>
                  <a:pt x="98" y="27"/>
                </a:lnTo>
                <a:lnTo>
                  <a:pt x="82" y="28"/>
                </a:lnTo>
                <a:lnTo>
                  <a:pt x="65" y="29"/>
                </a:lnTo>
                <a:lnTo>
                  <a:pt x="49" y="29"/>
                </a:lnTo>
                <a:lnTo>
                  <a:pt x="33" y="30"/>
                </a:lnTo>
                <a:lnTo>
                  <a:pt x="16" y="30"/>
                </a:lnTo>
                <a:lnTo>
                  <a:pt x="0" y="30"/>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057400" y="6477000"/>
            <a:ext cx="3743325" cy="57150"/>
          </a:xfrm>
          <a:custGeom>
            <a:avLst/>
            <a:gdLst/>
            <a:ahLst/>
            <a:cxnLst/>
            <a:rect l="l" t="t" r="r" b="b"/>
            <a:pathLst>
              <a:path w="393" h="6">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6"/>
                </a:lnTo>
                <a:lnTo>
                  <a:pt x="377" y="6"/>
                </a:lnTo>
                <a:lnTo>
                  <a:pt x="360" y="6"/>
                </a:lnTo>
                <a:lnTo>
                  <a:pt x="344" y="6"/>
                </a:lnTo>
                <a:lnTo>
                  <a:pt x="327" y="6"/>
                </a:lnTo>
                <a:lnTo>
                  <a:pt x="311" y="6"/>
                </a:lnTo>
                <a:lnTo>
                  <a:pt x="295" y="6"/>
                </a:lnTo>
                <a:lnTo>
                  <a:pt x="278" y="6"/>
                </a:lnTo>
                <a:lnTo>
                  <a:pt x="262" y="6"/>
                </a:lnTo>
                <a:lnTo>
                  <a:pt x="246" y="6"/>
                </a:lnTo>
                <a:lnTo>
                  <a:pt x="229" y="6"/>
                </a:lnTo>
                <a:lnTo>
                  <a:pt x="213" y="6"/>
                </a:lnTo>
                <a:lnTo>
                  <a:pt x="196" y="6"/>
                </a:lnTo>
                <a:lnTo>
                  <a:pt x="180" y="6"/>
                </a:lnTo>
                <a:lnTo>
                  <a:pt x="164" y="6"/>
                </a:lnTo>
                <a:lnTo>
                  <a:pt x="147" y="6"/>
                </a:lnTo>
                <a:lnTo>
                  <a:pt x="131" y="6"/>
                </a:lnTo>
                <a:lnTo>
                  <a:pt x="114" y="6"/>
                </a:lnTo>
                <a:lnTo>
                  <a:pt x="98" y="6"/>
                </a:lnTo>
                <a:lnTo>
                  <a:pt x="82" y="6"/>
                </a:lnTo>
                <a:lnTo>
                  <a:pt x="65" y="6"/>
                </a:lnTo>
                <a:lnTo>
                  <a:pt x="49" y="6"/>
                </a:lnTo>
                <a:lnTo>
                  <a:pt x="33" y="6"/>
                </a:lnTo>
                <a:lnTo>
                  <a:pt x="16" y="6"/>
                </a:lnTo>
                <a:lnTo>
                  <a:pt x="0" y="6"/>
                </a:lnTo>
                <a:close/>
              </a:path>
            </a:pathLst>
          </a:custGeom>
          <a:solidFill>
            <a:srgbClr val="40315E">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41195" y="4210050"/>
            <a:ext cx="114300" cy="53816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941195" y="4805365"/>
            <a:ext cx="114300" cy="538162"/>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941195" y="5400676"/>
            <a:ext cx="114300" cy="53816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41195" y="5995988"/>
            <a:ext cx="114300" cy="538162"/>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00725" y="4210050"/>
            <a:ext cx="114300" cy="829052"/>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00725" y="5096252"/>
            <a:ext cx="114300" cy="80648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800725" y="5959883"/>
            <a:ext cx="114300" cy="303031"/>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800725" y="6320063"/>
            <a:ext cx="114300" cy="214087"/>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7175" y="4355307"/>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1" name="TextBox 40"/>
          <p:cNvSpPr txBox="1"/>
          <p:nvPr/>
        </p:nvSpPr>
        <p:spPr>
          <a:xfrm>
            <a:off x="257175" y="5003008"/>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2" name="TextBox 41"/>
          <p:cNvSpPr txBox="1"/>
          <p:nvPr/>
        </p:nvSpPr>
        <p:spPr>
          <a:xfrm>
            <a:off x="257175" y="5545932"/>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3" name="TextBox 42"/>
          <p:cNvSpPr txBox="1"/>
          <p:nvPr/>
        </p:nvSpPr>
        <p:spPr>
          <a:xfrm>
            <a:off x="257175" y="6141244"/>
            <a:ext cx="1626870" cy="247650"/>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44" name="TextBox 43"/>
          <p:cNvSpPr txBox="1"/>
          <p:nvPr/>
        </p:nvSpPr>
        <p:spPr>
          <a:xfrm>
            <a:off x="5972175" y="4448363"/>
            <a:ext cx="1381125" cy="35242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5" name="TextBox 44"/>
          <p:cNvSpPr txBox="1"/>
          <p:nvPr/>
        </p:nvSpPr>
        <p:spPr>
          <a:xfrm>
            <a:off x="5972175" y="5375667"/>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6" name="TextBox 45"/>
          <p:cNvSpPr txBox="1"/>
          <p:nvPr/>
        </p:nvSpPr>
        <p:spPr>
          <a:xfrm>
            <a:off x="5972175" y="5987573"/>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7" name="TextBox 46"/>
          <p:cNvSpPr txBox="1"/>
          <p:nvPr/>
        </p:nvSpPr>
        <p:spPr>
          <a:xfrm>
            <a:off x="5972175" y="6286500"/>
            <a:ext cx="1381125" cy="247650"/>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48" name="Rounded Rectangle 47"/>
          <p:cNvSpPr/>
          <p:nvPr/>
        </p:nvSpPr>
        <p:spPr>
          <a:xfrm>
            <a:off x="7581900" y="3886200"/>
            <a:ext cx="4457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5250" y="39719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0" name="Rectangle 49"/>
          <p:cNvSpPr/>
          <p:nvPr/>
        </p:nvSpPr>
        <p:spPr>
          <a:xfrm>
            <a:off x="7715250" y="42100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5250" y="4295775"/>
            <a:ext cx="4191000" cy="2257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2E2E2E"/>
                </a:solidFill>
                <a:latin typeface="Calibri"/>
              </a:rPr>
              <a:t/>
            </a:r>
          </a:p>
          <a:p>
            <a:pPr algn="l">
              <a:lnSpc>
                <a:spcPct val="100000"/>
              </a:lnSpc>
              <a:spcBef>
                <a:spcPts val="0"/>
              </a:spcBef>
              <a:spcAft>
                <a:spcPts val="300"/>
              </a:spcAft>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3" name="Picture 52" descr="lock.png"/>
          <p:cNvPicPr>
            <a:picLocks noChangeAspect="1"/>
          </p:cNvPicPr>
          <p:nvPr/>
        </p:nvPicPr>
        <p:blipFill>
          <a:blip r:embed="rId4"/>
          <a:stretch>
            <a:fillRect/>
          </a:stretch>
        </p:blipFill>
        <p:spPr>
          <a:xfrm>
            <a:off x="8284063" y="2659697"/>
            <a:ext cx="366712" cy="533400"/>
          </a:xfrm>
          <a:prstGeom prst="rect">
            <a:avLst/>
          </a:prstGeom>
        </p:spPr>
      </p:pic>
      <p:sp>
        <p:nvSpPr>
          <p:cNvPr id="54" name="TextBox 53"/>
          <p:cNvSpPr txBox="1"/>
          <p:nvPr/>
        </p:nvSpPr>
        <p:spPr>
          <a:xfrm>
            <a:off x="728906" y="4358431"/>
            <a:ext cx="1136088" cy="139750"/>
          </a:xfrm>
          <a:prstGeom prst="rect">
            <a:avLst/>
          </a:prstGeom>
          <a:noFill/>
        </p:spPr>
        <p:txBody>
          <a:bodyPr wrap="none" lIns="0" rIns="0" tIns="0" bIns="0">
            <a:spAutoFit/>
          </a:bodyPr>
          <a:lstStyle/>
          <a:p>
            <a:r>
              <a:rPr sz="791" b="1">
                <a:solidFill>
                  <a:srgbClr val="2E2E2E"/>
                </a:solidFill>
                <a:latin typeface="Calibri"/>
              </a:rPr>
              <a:t>Devices without Integrated</a:t>
            </a:r>
          </a:p>
        </p:txBody>
      </p:sp>
      <p:sp>
        <p:nvSpPr>
          <p:cNvPr id="55" name="TextBox 54"/>
          <p:cNvSpPr txBox="1"/>
          <p:nvPr/>
        </p:nvSpPr>
        <p:spPr>
          <a:xfrm>
            <a:off x="1282017" y="4479132"/>
            <a:ext cx="548276" cy="139750"/>
          </a:xfrm>
          <a:prstGeom prst="rect">
            <a:avLst/>
          </a:prstGeom>
          <a:noFill/>
        </p:spPr>
        <p:txBody>
          <a:bodyPr wrap="none" lIns="0" rIns="0" tIns="0" bIns="0">
            <a:spAutoFit/>
          </a:bodyPr>
          <a:lstStyle/>
          <a:p>
            <a:r>
              <a:rPr sz="791" b="1">
                <a:solidFill>
                  <a:srgbClr val="2E2E2E"/>
                </a:solidFill>
                <a:latin typeface="Calibri"/>
              </a:rPr>
              <a:t>Monitoring</a:t>
            </a:r>
          </a:p>
        </p:txBody>
      </p:sp>
      <p:pic>
        <p:nvPicPr>
          <p:cNvPr id="56" name="Picture 55" descr="lock.png"/>
          <p:cNvPicPr>
            <a:picLocks noChangeAspect="1"/>
          </p:cNvPicPr>
          <p:nvPr/>
        </p:nvPicPr>
        <p:blipFill>
          <a:blip r:embed="rId4"/>
          <a:stretch>
            <a:fillRect/>
          </a:stretch>
        </p:blipFill>
        <p:spPr>
          <a:xfrm>
            <a:off x="1771555" y="4472091"/>
            <a:ext cx="92663" cy="134782"/>
          </a:xfrm>
          <a:prstGeom prst="rect">
            <a:avLst/>
          </a:prstGeom>
        </p:spPr>
      </p:pic>
      <p:sp>
        <p:nvSpPr>
          <p:cNvPr id="57" name="TextBox 56"/>
          <p:cNvSpPr txBox="1"/>
          <p:nvPr/>
        </p:nvSpPr>
        <p:spPr>
          <a:xfrm>
            <a:off x="493847" y="5014095"/>
            <a:ext cx="1336446" cy="139750"/>
          </a:xfrm>
          <a:prstGeom prst="rect">
            <a:avLst/>
          </a:prstGeom>
          <a:noFill/>
        </p:spPr>
        <p:txBody>
          <a:bodyPr wrap="none" lIns="0" rIns="0" tIns="0" bIns="0">
            <a:spAutoFit/>
          </a:bodyPr>
          <a:lstStyle/>
          <a:p>
            <a:r>
              <a:rPr sz="791" b="1">
                <a:solidFill>
                  <a:srgbClr val="2E2E2E"/>
                </a:solidFill>
                <a:latin typeface="Calibri"/>
              </a:rPr>
              <a:t>Temperature Monitoring Only</a:t>
            </a:r>
          </a:p>
        </p:txBody>
      </p:sp>
      <p:pic>
        <p:nvPicPr>
          <p:cNvPr id="58" name="Picture 57" descr="lock.png"/>
          <p:cNvPicPr>
            <a:picLocks noChangeAspect="1"/>
          </p:cNvPicPr>
          <p:nvPr/>
        </p:nvPicPr>
        <p:blipFill>
          <a:blip r:embed="rId4"/>
          <a:stretch>
            <a:fillRect/>
          </a:stretch>
        </p:blipFill>
        <p:spPr>
          <a:xfrm>
            <a:off x="1771555" y="5007054"/>
            <a:ext cx="92663" cy="134782"/>
          </a:xfrm>
          <a:prstGeom prst="rect">
            <a:avLst/>
          </a:prstGeom>
        </p:spPr>
      </p:pic>
      <p:sp>
        <p:nvSpPr>
          <p:cNvPr id="59" name="TextBox 58"/>
          <p:cNvSpPr txBox="1"/>
          <p:nvPr/>
        </p:nvSpPr>
        <p:spPr>
          <a:xfrm>
            <a:off x="262526" y="5549056"/>
            <a:ext cx="1602468" cy="139750"/>
          </a:xfrm>
          <a:prstGeom prst="rect">
            <a:avLst/>
          </a:prstGeom>
          <a:noFill/>
        </p:spPr>
        <p:txBody>
          <a:bodyPr wrap="none" lIns="0" rIns="0" tIns="0" bIns="0">
            <a:spAutoFit/>
          </a:bodyPr>
          <a:lstStyle/>
          <a:p>
            <a:r>
              <a:rPr sz="791" b="1">
                <a:solidFill>
                  <a:srgbClr val="2E2E2E"/>
                </a:solidFill>
                <a:latin typeface="Calibri"/>
              </a:rPr>
              <a:t>Temperature and Location Monitoring</a:t>
            </a:r>
          </a:p>
        </p:txBody>
      </p:sp>
      <p:pic>
        <p:nvPicPr>
          <p:cNvPr id="60" name="Picture 59" descr="lock.png"/>
          <p:cNvPicPr>
            <a:picLocks noChangeAspect="1"/>
          </p:cNvPicPr>
          <p:nvPr/>
        </p:nvPicPr>
        <p:blipFill>
          <a:blip r:embed="rId4"/>
          <a:stretch>
            <a:fillRect/>
          </a:stretch>
        </p:blipFill>
        <p:spPr>
          <a:xfrm>
            <a:off x="1771555" y="5662716"/>
            <a:ext cx="92663" cy="134782"/>
          </a:xfrm>
          <a:prstGeom prst="rect">
            <a:avLst/>
          </a:prstGeom>
        </p:spPr>
      </p:pic>
      <p:sp>
        <p:nvSpPr>
          <p:cNvPr id="61" name="TextBox 60"/>
          <p:cNvSpPr txBox="1"/>
          <p:nvPr/>
        </p:nvSpPr>
        <p:spPr>
          <a:xfrm>
            <a:off x="720852" y="6144368"/>
            <a:ext cx="1144142" cy="139750"/>
          </a:xfrm>
          <a:prstGeom prst="rect">
            <a:avLst/>
          </a:prstGeom>
          <a:noFill/>
        </p:spPr>
        <p:txBody>
          <a:bodyPr wrap="none" lIns="0" rIns="0" tIns="0" bIns="0">
            <a:spAutoFit/>
          </a:bodyPr>
          <a:lstStyle/>
          <a:p>
            <a:r>
              <a:rPr sz="791" b="1">
                <a:solidFill>
                  <a:srgbClr val="2E2E2E"/>
                </a:solidFill>
                <a:latin typeface="Calibri"/>
              </a:rPr>
              <a:t>Physiological and Perfusion</a:t>
            </a:r>
          </a:p>
        </p:txBody>
      </p:sp>
      <p:sp>
        <p:nvSpPr>
          <p:cNvPr id="62" name="TextBox 61"/>
          <p:cNvSpPr txBox="1"/>
          <p:nvPr/>
        </p:nvSpPr>
        <p:spPr>
          <a:xfrm>
            <a:off x="816423" y="6265069"/>
            <a:ext cx="1013870" cy="139750"/>
          </a:xfrm>
          <a:prstGeom prst="rect">
            <a:avLst/>
          </a:prstGeom>
          <a:noFill/>
        </p:spPr>
        <p:txBody>
          <a:bodyPr wrap="none" lIns="0" rIns="0" tIns="0" bIns="0">
            <a:spAutoFit/>
          </a:bodyPr>
          <a:lstStyle/>
          <a:p>
            <a:r>
              <a:rPr sz="791" b="1">
                <a:solidFill>
                  <a:srgbClr val="2E2E2E"/>
                </a:solidFill>
                <a:latin typeface="Calibri"/>
              </a:rPr>
              <a:t>Parameter Monitoring</a:t>
            </a:r>
          </a:p>
        </p:txBody>
      </p:sp>
      <p:pic>
        <p:nvPicPr>
          <p:cNvPr id="63" name="Picture 62" descr="lock.png"/>
          <p:cNvPicPr>
            <a:picLocks noChangeAspect="1"/>
          </p:cNvPicPr>
          <p:nvPr/>
        </p:nvPicPr>
        <p:blipFill>
          <a:blip r:embed="rId4"/>
          <a:stretch>
            <a:fillRect/>
          </a:stretch>
        </p:blipFill>
        <p:spPr>
          <a:xfrm>
            <a:off x="1771555" y="6258028"/>
            <a:ext cx="92663" cy="134782"/>
          </a:xfrm>
          <a:prstGeom prst="rect">
            <a:avLst/>
          </a:prstGeom>
        </p:spPr>
      </p:pic>
      <p:sp>
        <p:nvSpPr>
          <p:cNvPr id="64" name="TextBox 63"/>
          <p:cNvSpPr txBox="1"/>
          <p:nvPr/>
        </p:nvSpPr>
        <p:spPr>
          <a:xfrm>
            <a:off x="5972175" y="4448363"/>
            <a:ext cx="901696" cy="139750"/>
          </a:xfrm>
          <a:prstGeom prst="rect">
            <a:avLst/>
          </a:prstGeom>
          <a:noFill/>
        </p:spPr>
        <p:txBody>
          <a:bodyPr wrap="none" lIns="0" rIns="0" tIns="0" bIns="0">
            <a:spAutoFit/>
          </a:bodyPr>
          <a:lstStyle/>
          <a:p>
            <a:r>
              <a:rPr sz="791" b="1">
                <a:solidFill>
                  <a:srgbClr val="2E2E2E"/>
                </a:solidFill>
                <a:latin typeface="Calibri"/>
              </a:rPr>
              <a:t>Organ Procurement</a:t>
            </a:r>
          </a:p>
        </p:txBody>
      </p:sp>
      <p:sp>
        <p:nvSpPr>
          <p:cNvPr id="65" name="TextBox 64"/>
          <p:cNvSpPr txBox="1"/>
          <p:nvPr/>
        </p:nvSpPr>
        <p:spPr>
          <a:xfrm>
            <a:off x="5972175" y="4569063"/>
            <a:ext cx="1112293" cy="139750"/>
          </a:xfrm>
          <a:prstGeom prst="rect">
            <a:avLst/>
          </a:prstGeom>
          <a:noFill/>
        </p:spPr>
        <p:txBody>
          <a:bodyPr wrap="none" lIns="0" rIns="0" tIns="0" bIns="0">
            <a:spAutoFit/>
          </a:bodyPr>
          <a:lstStyle/>
          <a:p>
            <a:r>
              <a:rPr sz="791" b="1">
                <a:solidFill>
                  <a:srgbClr val="2E2E2E"/>
                </a:solidFill>
                <a:latin typeface="Calibri"/>
              </a:rPr>
              <a:t>Organisations and Organ</a:t>
            </a:r>
          </a:p>
        </p:txBody>
      </p:sp>
      <p:sp>
        <p:nvSpPr>
          <p:cNvPr id="66" name="TextBox 65"/>
          <p:cNvSpPr txBox="1"/>
          <p:nvPr/>
        </p:nvSpPr>
        <p:spPr>
          <a:xfrm>
            <a:off x="5972175" y="4689764"/>
            <a:ext cx="845313" cy="139750"/>
          </a:xfrm>
          <a:prstGeom prst="rect">
            <a:avLst/>
          </a:prstGeom>
          <a:noFill/>
        </p:spPr>
        <p:txBody>
          <a:bodyPr wrap="none" lIns="0" rIns="0" tIns="0" bIns="0">
            <a:spAutoFit/>
          </a:bodyPr>
          <a:lstStyle/>
          <a:p>
            <a:r>
              <a:rPr sz="791" b="1">
                <a:solidFill>
                  <a:srgbClr val="2E2E2E"/>
                </a:solidFill>
                <a:latin typeface="Calibri"/>
              </a:rPr>
              <a:t>Retrieval Agencies</a:t>
            </a:r>
          </a:p>
        </p:txBody>
      </p:sp>
      <p:pic>
        <p:nvPicPr>
          <p:cNvPr id="67" name="Picture 66" descr="lock.png"/>
          <p:cNvPicPr>
            <a:picLocks noChangeAspect="1"/>
          </p:cNvPicPr>
          <p:nvPr/>
        </p:nvPicPr>
        <p:blipFill>
          <a:blip r:embed="rId4"/>
          <a:stretch>
            <a:fillRect/>
          </a:stretch>
        </p:blipFill>
        <p:spPr>
          <a:xfrm>
            <a:off x="6758750" y="4682723"/>
            <a:ext cx="92663" cy="134782"/>
          </a:xfrm>
          <a:prstGeom prst="rect">
            <a:avLst/>
          </a:prstGeom>
        </p:spPr>
      </p:pic>
      <p:sp>
        <p:nvSpPr>
          <p:cNvPr id="68" name="TextBox 67"/>
          <p:cNvSpPr txBox="1"/>
          <p:nvPr/>
        </p:nvSpPr>
        <p:spPr>
          <a:xfrm>
            <a:off x="5972175" y="5378791"/>
            <a:ext cx="1112293" cy="139750"/>
          </a:xfrm>
          <a:prstGeom prst="rect">
            <a:avLst/>
          </a:prstGeom>
          <a:noFill/>
        </p:spPr>
        <p:txBody>
          <a:bodyPr wrap="none" lIns="0" rIns="0" tIns="0" bIns="0">
            <a:spAutoFit/>
          </a:bodyPr>
          <a:lstStyle/>
          <a:p>
            <a:r>
              <a:rPr sz="791" b="1">
                <a:solidFill>
                  <a:srgbClr val="2E2E2E"/>
                </a:solidFill>
                <a:latin typeface="Calibri"/>
              </a:rPr>
              <a:t>Hospitals and Transplant</a:t>
            </a:r>
          </a:p>
        </p:txBody>
      </p:sp>
      <p:sp>
        <p:nvSpPr>
          <p:cNvPr id="69" name="TextBox 68"/>
          <p:cNvSpPr txBox="1"/>
          <p:nvPr/>
        </p:nvSpPr>
        <p:spPr>
          <a:xfrm>
            <a:off x="5972175" y="5499492"/>
            <a:ext cx="395632" cy="139750"/>
          </a:xfrm>
          <a:prstGeom prst="rect">
            <a:avLst/>
          </a:prstGeom>
          <a:noFill/>
        </p:spPr>
        <p:txBody>
          <a:bodyPr wrap="none" lIns="0" rIns="0" tIns="0" bIns="0">
            <a:spAutoFit/>
          </a:bodyPr>
          <a:lstStyle/>
          <a:p>
            <a:r>
              <a:rPr sz="791" b="1">
                <a:solidFill>
                  <a:srgbClr val="2E2E2E"/>
                </a:solidFill>
                <a:latin typeface="Calibri"/>
              </a:rPr>
              <a:t>Centres</a:t>
            </a:r>
          </a:p>
        </p:txBody>
      </p:sp>
      <p:pic>
        <p:nvPicPr>
          <p:cNvPr id="70" name="Picture 69" descr="lock.png"/>
          <p:cNvPicPr>
            <a:picLocks noChangeAspect="1"/>
          </p:cNvPicPr>
          <p:nvPr/>
        </p:nvPicPr>
        <p:blipFill>
          <a:blip r:embed="rId4"/>
          <a:stretch>
            <a:fillRect/>
          </a:stretch>
        </p:blipFill>
        <p:spPr>
          <a:xfrm>
            <a:off x="6309068" y="5492451"/>
            <a:ext cx="92663" cy="134782"/>
          </a:xfrm>
          <a:prstGeom prst="rect">
            <a:avLst/>
          </a:prstGeom>
        </p:spPr>
      </p:pic>
      <p:sp>
        <p:nvSpPr>
          <p:cNvPr id="71" name="TextBox 70"/>
          <p:cNvSpPr txBox="1"/>
          <p:nvPr/>
        </p:nvSpPr>
        <p:spPr>
          <a:xfrm>
            <a:off x="5972175" y="5990697"/>
            <a:ext cx="1269849" cy="139750"/>
          </a:xfrm>
          <a:prstGeom prst="rect">
            <a:avLst/>
          </a:prstGeom>
          <a:noFill/>
        </p:spPr>
        <p:txBody>
          <a:bodyPr wrap="none" lIns="0" rIns="0" tIns="0" bIns="0">
            <a:spAutoFit/>
          </a:bodyPr>
          <a:lstStyle/>
          <a:p>
            <a:r>
              <a:rPr sz="791" b="1">
                <a:solidFill>
                  <a:srgbClr val="2E2E2E"/>
                </a:solidFill>
                <a:latin typeface="Calibri"/>
              </a:rPr>
              <a:t>Specialised Medical Logistics</a:t>
            </a:r>
          </a:p>
        </p:txBody>
      </p:sp>
      <p:sp>
        <p:nvSpPr>
          <p:cNvPr id="72" name="TextBox 71"/>
          <p:cNvSpPr txBox="1"/>
          <p:nvPr/>
        </p:nvSpPr>
        <p:spPr>
          <a:xfrm>
            <a:off x="5972175" y="6111398"/>
            <a:ext cx="472445" cy="139750"/>
          </a:xfrm>
          <a:prstGeom prst="rect">
            <a:avLst/>
          </a:prstGeom>
          <a:noFill/>
        </p:spPr>
        <p:txBody>
          <a:bodyPr wrap="none" lIns="0" rIns="0" tIns="0" bIns="0">
            <a:spAutoFit/>
          </a:bodyPr>
          <a:lstStyle/>
          <a:p>
            <a:r>
              <a:rPr sz="791" b="1">
                <a:solidFill>
                  <a:srgbClr val="2E2E2E"/>
                </a:solidFill>
                <a:latin typeface="Calibri"/>
              </a:rPr>
              <a:t>Providers</a:t>
            </a:r>
          </a:p>
        </p:txBody>
      </p:sp>
      <p:pic>
        <p:nvPicPr>
          <p:cNvPr id="73" name="Picture 72" descr="lock.png"/>
          <p:cNvPicPr>
            <a:picLocks noChangeAspect="1"/>
          </p:cNvPicPr>
          <p:nvPr/>
        </p:nvPicPr>
        <p:blipFill>
          <a:blip r:embed="rId4"/>
          <a:stretch>
            <a:fillRect/>
          </a:stretch>
        </p:blipFill>
        <p:spPr>
          <a:xfrm>
            <a:off x="6385882" y="6104357"/>
            <a:ext cx="92663" cy="134782"/>
          </a:xfrm>
          <a:prstGeom prst="rect">
            <a:avLst/>
          </a:prstGeom>
        </p:spPr>
      </p:pic>
      <p:sp>
        <p:nvSpPr>
          <p:cNvPr id="74" name="TextBox 73"/>
          <p:cNvSpPr txBox="1"/>
          <p:nvPr/>
        </p:nvSpPr>
        <p:spPr>
          <a:xfrm>
            <a:off x="5972175" y="6289624"/>
            <a:ext cx="1362075" cy="139750"/>
          </a:xfrm>
          <a:prstGeom prst="rect">
            <a:avLst/>
          </a:prstGeom>
          <a:noFill/>
        </p:spPr>
        <p:txBody>
          <a:bodyPr wrap="none" lIns="0" rIns="0" tIns="0" bIns="0">
            <a:spAutoFit/>
          </a:bodyPr>
          <a:lstStyle/>
          <a:p>
            <a:r>
              <a:rPr sz="791" b="1">
                <a:solidFill>
                  <a:srgbClr val="2E2E2E"/>
                </a:solidFill>
                <a:latin typeface="Calibri"/>
              </a:rPr>
              <a:t>Other Purchasing Organisations</a:t>
            </a:r>
          </a:p>
        </p:txBody>
      </p:sp>
      <p:pic>
        <p:nvPicPr>
          <p:cNvPr id="75" name="Picture 74" descr="lock.png"/>
          <p:cNvPicPr>
            <a:picLocks noChangeAspect="1"/>
          </p:cNvPicPr>
          <p:nvPr/>
        </p:nvPicPr>
        <p:blipFill>
          <a:blip r:embed="rId4"/>
          <a:stretch>
            <a:fillRect/>
          </a:stretch>
        </p:blipFill>
        <p:spPr>
          <a:xfrm>
            <a:off x="5962478" y="6403284"/>
            <a:ext cx="92663" cy="134782"/>
          </a:xfrm>
          <a:prstGeom prst="rect">
            <a:avLst/>
          </a:prstGeom>
        </p:spPr>
      </p:pic>
      <p:sp>
        <p:nvSpPr>
          <p:cNvPr id="76" name="TextBox 75"/>
          <p:cNvSpPr txBox="1"/>
          <p:nvPr/>
        </p:nvSpPr>
        <p:spPr>
          <a:xfrm>
            <a:off x="7715250" y="4305300"/>
            <a:ext cx="4134594" cy="186689"/>
          </a:xfrm>
          <a:prstGeom prst="rect">
            <a:avLst/>
          </a:prstGeom>
          <a:noFill/>
        </p:spPr>
        <p:txBody>
          <a:bodyPr wrap="none" lIns="0" rIns="0" tIns="0" bIns="0">
            <a:spAutoFit/>
          </a:bodyPr>
          <a:lstStyle/>
          <a:p>
            <a:r>
              <a:rPr sz="1100" b="0">
                <a:solidFill>
                  <a:srgbClr val="2E2E2E"/>
                </a:solidFill>
                <a:latin typeface="Calibri"/>
              </a:rPr>
              <a:t>Devices without integrated monitoring segment is projected to account</a:t>
            </a:r>
          </a:p>
        </p:txBody>
      </p:sp>
      <p:sp>
        <p:nvSpPr>
          <p:cNvPr id="77" name="TextBox 76"/>
          <p:cNvSpPr txBox="1"/>
          <p:nvPr/>
        </p:nvSpPr>
        <p:spPr>
          <a:xfrm>
            <a:off x="7715250" y="4472940"/>
            <a:ext cx="4077022" cy="186689"/>
          </a:xfrm>
          <a:prstGeom prst="rect">
            <a:avLst/>
          </a:prstGeom>
          <a:noFill/>
        </p:spPr>
        <p:txBody>
          <a:bodyPr wrap="none" lIns="0" rIns="0" tIns="0" bIns="0">
            <a:spAutoFit/>
          </a:bodyPr>
          <a:lstStyle/>
          <a:p>
            <a:r>
              <a:rPr sz="1100" b="0">
                <a:solidFill>
                  <a:srgbClr val="2E2E2E"/>
                </a:solidFill>
                <a:latin typeface="Calibri"/>
              </a:rPr>
              <a:t>for the largest share of the U.S. organ transport devices market, led by</a:t>
            </a:r>
          </a:p>
        </p:txBody>
      </p:sp>
      <p:sp>
        <p:nvSpPr>
          <p:cNvPr id="78" name="TextBox 77"/>
          <p:cNvSpPr txBox="1"/>
          <p:nvPr/>
        </p:nvSpPr>
        <p:spPr>
          <a:xfrm>
            <a:off x="7715250" y="4640580"/>
            <a:ext cx="4019177" cy="186689"/>
          </a:xfrm>
          <a:prstGeom prst="rect">
            <a:avLst/>
          </a:prstGeom>
          <a:noFill/>
        </p:spPr>
        <p:txBody>
          <a:bodyPr wrap="none" lIns="0" rIns="0" tIns="0" bIns="0">
            <a:spAutoFit/>
          </a:bodyPr>
          <a:lstStyle/>
          <a:p>
            <a:r>
              <a:rPr sz="1100" b="0">
                <a:solidFill>
                  <a:srgbClr val="2E2E2E"/>
                </a:solidFill>
                <a:latin typeface="Calibri"/>
              </a:rPr>
              <a:t>organ procurement organisations and organ retrieval agencies at US$</a:t>
            </a:r>
          </a:p>
        </p:txBody>
      </p:sp>
      <p:pic>
        <p:nvPicPr>
          <p:cNvPr id="79" name="Picture 78" descr="lock.png"/>
          <p:cNvPicPr>
            <a:picLocks noChangeAspect="1"/>
          </p:cNvPicPr>
          <p:nvPr/>
        </p:nvPicPr>
        <p:blipFill>
          <a:blip r:embed="rId4"/>
          <a:stretch>
            <a:fillRect/>
          </a:stretch>
        </p:blipFill>
        <p:spPr>
          <a:xfrm>
            <a:off x="7701782" y="4798441"/>
            <a:ext cx="128699" cy="187198"/>
          </a:xfrm>
          <a:prstGeom prst="rect">
            <a:avLst/>
          </a:prstGeom>
        </p:spPr>
      </p:pic>
      <p:sp>
        <p:nvSpPr>
          <p:cNvPr id="80" name="TextBox 79"/>
          <p:cNvSpPr txBox="1"/>
          <p:nvPr/>
        </p:nvSpPr>
        <p:spPr>
          <a:xfrm>
            <a:off x="7869278" y="4808220"/>
            <a:ext cx="3430091" cy="186689"/>
          </a:xfrm>
          <a:prstGeom prst="rect">
            <a:avLst/>
          </a:prstGeom>
          <a:noFill/>
        </p:spPr>
        <p:txBody>
          <a:bodyPr wrap="none" lIns="0" rIns="0" tIns="0" bIns="0">
            <a:spAutoFit/>
          </a:bodyPr>
          <a:lstStyle/>
          <a:p>
            <a:r>
              <a:rPr sz="1100" b="0">
                <a:solidFill>
                  <a:srgbClr val="2E2E2E"/>
                </a:solidFill>
                <a:latin typeface="Calibri"/>
              </a:rPr>
              <a:t>Mn in 2036. 'Temperature Monitoring Only × Hospitals and</a:t>
            </a:r>
          </a:p>
        </p:txBody>
      </p:sp>
      <p:sp>
        <p:nvSpPr>
          <p:cNvPr id="81" name="TextBox 80"/>
          <p:cNvSpPr txBox="1"/>
          <p:nvPr/>
        </p:nvSpPr>
        <p:spPr>
          <a:xfrm>
            <a:off x="7715250" y="4975860"/>
            <a:ext cx="3469109" cy="186689"/>
          </a:xfrm>
          <a:prstGeom prst="rect">
            <a:avLst/>
          </a:prstGeom>
          <a:noFill/>
        </p:spPr>
        <p:txBody>
          <a:bodyPr wrap="none" lIns="0" rIns="0" tIns="0" bIns="0">
            <a:spAutoFit/>
          </a:bodyPr>
          <a:lstStyle/>
          <a:p>
            <a:r>
              <a:rPr sz="1100" b="0">
                <a:solidFill>
                  <a:srgbClr val="2E2E2E"/>
                </a:solidFill>
                <a:latin typeface="Calibri"/>
              </a:rPr>
              <a:t>Transplant Centres' is the single largest cross-sectional cell (</a:t>
            </a:r>
          </a:p>
        </p:txBody>
      </p:sp>
      <p:pic>
        <p:nvPicPr>
          <p:cNvPr id="82" name="Picture 81" descr="lock.png"/>
          <p:cNvPicPr>
            <a:picLocks noChangeAspect="1"/>
          </p:cNvPicPr>
          <p:nvPr/>
        </p:nvPicPr>
        <p:blipFill>
          <a:blip r:embed="rId4"/>
          <a:stretch>
            <a:fillRect/>
          </a:stretch>
        </p:blipFill>
        <p:spPr>
          <a:xfrm>
            <a:off x="11132410" y="4966081"/>
            <a:ext cx="128699" cy="187198"/>
          </a:xfrm>
          <a:prstGeom prst="rect">
            <a:avLst/>
          </a:prstGeom>
        </p:spPr>
      </p:pic>
      <p:sp>
        <p:nvSpPr>
          <p:cNvPr id="83" name="TextBox 82"/>
          <p:cNvSpPr txBox="1"/>
          <p:nvPr/>
        </p:nvSpPr>
        <p:spPr>
          <a:xfrm>
            <a:off x="11299906" y="4975860"/>
            <a:ext cx="560511"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84" name="TextBox 83"/>
          <p:cNvSpPr txBox="1"/>
          <p:nvPr/>
        </p:nvSpPr>
        <p:spPr>
          <a:xfrm>
            <a:off x="7715250" y="5143500"/>
            <a:ext cx="4171950" cy="186689"/>
          </a:xfrm>
          <a:prstGeom prst="rect">
            <a:avLst/>
          </a:prstGeom>
          <a:noFill/>
        </p:spPr>
        <p:txBody>
          <a:bodyPr wrap="none" lIns="0" rIns="0" tIns="0" bIns="0">
            <a:spAutoFit/>
          </a:bodyPr>
          <a:lstStyle/>
          <a:p>
            <a:r>
              <a:rPr sz="1100" b="0">
                <a:solidFill>
                  <a:srgbClr val="2E2E2E"/>
                </a:solidFill>
                <a:latin typeface="Calibri"/>
              </a:rPr>
              <a:t>2026E), while 'Devices without Integrated Monitoring × Other Purchasing</a:t>
            </a:r>
          </a:p>
        </p:txBody>
      </p:sp>
      <p:sp>
        <p:nvSpPr>
          <p:cNvPr id="85" name="TextBox 84"/>
          <p:cNvSpPr txBox="1"/>
          <p:nvPr/>
        </p:nvSpPr>
        <p:spPr>
          <a:xfrm>
            <a:off x="7715250" y="5311140"/>
            <a:ext cx="3166499" cy="186689"/>
          </a:xfrm>
          <a:prstGeom prst="rect">
            <a:avLst/>
          </a:prstGeom>
          <a:noFill/>
        </p:spPr>
        <p:txBody>
          <a:bodyPr wrap="none" lIns="0" rIns="0" tIns="0" bIns="0">
            <a:spAutoFit/>
          </a:bodyPr>
          <a:lstStyle/>
          <a:p>
            <a:r>
              <a:rPr sz="1100" b="0">
                <a:solidFill>
                  <a:srgbClr val="2E2E2E"/>
                </a:solidFill>
                <a:latin typeface="Calibri"/>
              </a:rPr>
              <a:t>Organisations' records the fastest growth at a CAGR of</a:t>
            </a:r>
          </a:p>
        </p:txBody>
      </p:sp>
      <p:pic>
        <p:nvPicPr>
          <p:cNvPr id="86" name="Picture 85" descr="lock.png"/>
          <p:cNvPicPr>
            <a:picLocks noChangeAspect="1"/>
          </p:cNvPicPr>
          <p:nvPr/>
        </p:nvPicPr>
        <p:blipFill>
          <a:blip r:embed="rId4"/>
          <a:stretch>
            <a:fillRect/>
          </a:stretch>
        </p:blipFill>
        <p:spPr>
          <a:xfrm>
            <a:off x="10829801" y="5301361"/>
            <a:ext cx="128699" cy="187198"/>
          </a:xfrm>
          <a:prstGeom prst="rect">
            <a:avLst/>
          </a:prstGeom>
        </p:spPr>
      </p:pic>
      <p:sp>
        <p:nvSpPr>
          <p:cNvPr id="87" name="TextBox 86"/>
          <p:cNvSpPr txBox="1"/>
          <p:nvPr/>
        </p:nvSpPr>
        <p:spPr>
          <a:xfrm>
            <a:off x="10997297" y="5311140"/>
            <a:ext cx="331316" cy="186689"/>
          </a:xfrm>
          <a:prstGeom prst="rect">
            <a:avLst/>
          </a:prstGeom>
          <a:noFill/>
        </p:spPr>
        <p:txBody>
          <a:bodyPr wrap="none" lIns="0" rIns="0" tIns="0" bIns="0">
            <a:spAutoFit/>
          </a:bodyPr>
          <a:lstStyle/>
          <a:p>
            <a:r>
              <a:rPr sz="1100" b="0">
                <a:solidFill>
                  <a:srgbClr val="2E2E2E"/>
                </a:solidFill>
                <a:latin typeface="Calibri"/>
              </a:rPr>
              <a:t>over</a:t>
            </a:r>
          </a:p>
        </p:txBody>
      </p:sp>
      <p:sp>
        <p:nvSpPr>
          <p:cNvPr id="88" name="TextBox 87"/>
          <p:cNvSpPr txBox="1"/>
          <p:nvPr/>
        </p:nvSpPr>
        <p:spPr>
          <a:xfrm>
            <a:off x="7715250" y="5478780"/>
            <a:ext cx="880634" cy="186689"/>
          </a:xfrm>
          <a:prstGeom prst="rect">
            <a:avLst/>
          </a:prstGeom>
          <a:noFill/>
        </p:spPr>
        <p:txBody>
          <a:bodyPr wrap="none" lIns="0" rIns="0" tIns="0" bIns="0">
            <a:spAutoFit/>
          </a:bodyPr>
          <a:lstStyle/>
          <a:p>
            <a:r>
              <a:rPr sz="1100" b="0">
                <a:solidFill>
                  <a:srgbClr val="2E2E2E"/>
                </a:solidFill>
                <a:latin typeface="Calibri"/>
              </a:rPr>
              <a:t>2026E–2036F.</a:t>
            </a:r>
          </a:p>
        </p:txBody>
      </p:sp>
      <p:sp>
        <p:nvSpPr>
          <p:cNvPr id="89" name="TextBox 88"/>
          <p:cNvSpPr txBox="1"/>
          <p:nvPr/>
        </p:nvSpPr>
        <p:spPr>
          <a:xfrm>
            <a:off x="7715250" y="5696712"/>
            <a:ext cx="4171950" cy="186689"/>
          </a:xfrm>
          <a:prstGeom prst="rect">
            <a:avLst/>
          </a:prstGeom>
          <a:noFill/>
        </p:spPr>
        <p:txBody>
          <a:bodyPr wrap="none" lIns="0" rIns="0" tIns="0" bIns="0">
            <a:spAutoFit/>
          </a:bodyPr>
          <a:lstStyle/>
          <a:p>
            <a:r>
              <a:rPr sz="1100" b="0">
                <a:solidFill>
                  <a:srgbClr val="2E2E2E"/>
                </a:solidFill>
                <a:latin typeface="Calibri"/>
              </a:rPr>
              <a:t>Combined, the top three monitoring capability × purchasing organisation</a:t>
            </a:r>
          </a:p>
        </p:txBody>
      </p:sp>
      <p:sp>
        <p:nvSpPr>
          <p:cNvPr id="90" name="TextBox 89"/>
          <p:cNvSpPr txBox="1"/>
          <p:nvPr/>
        </p:nvSpPr>
        <p:spPr>
          <a:xfrm>
            <a:off x="7715250" y="5864352"/>
            <a:ext cx="2521495" cy="186689"/>
          </a:xfrm>
          <a:prstGeom prst="rect">
            <a:avLst/>
          </a:prstGeom>
          <a:noFill/>
        </p:spPr>
        <p:txBody>
          <a:bodyPr wrap="none" lIns="0" rIns="0" tIns="0" bIns="0">
            <a:spAutoFit/>
          </a:bodyPr>
          <a:lstStyle/>
          <a:p>
            <a:r>
              <a:rPr sz="1100" b="0">
                <a:solidFill>
                  <a:srgbClr val="2E2E2E"/>
                </a:solidFill>
                <a:latin typeface="Calibri"/>
              </a:rPr>
              <a:t>cells generate an absolute $ opportunity of</a:t>
            </a:r>
          </a:p>
        </p:txBody>
      </p:sp>
      <p:pic>
        <p:nvPicPr>
          <p:cNvPr id="91" name="Picture 90" descr="lock.png"/>
          <p:cNvPicPr>
            <a:picLocks noChangeAspect="1"/>
          </p:cNvPicPr>
          <p:nvPr/>
        </p:nvPicPr>
        <p:blipFill>
          <a:blip r:embed="rId4"/>
          <a:stretch>
            <a:fillRect/>
          </a:stretch>
        </p:blipFill>
        <p:spPr>
          <a:xfrm>
            <a:off x="10184797" y="5854573"/>
            <a:ext cx="128699" cy="187198"/>
          </a:xfrm>
          <a:prstGeom prst="rect">
            <a:avLst/>
          </a:prstGeom>
        </p:spPr>
      </p:pic>
      <p:sp>
        <p:nvSpPr>
          <p:cNvPr id="92" name="TextBox 91"/>
          <p:cNvSpPr txBox="1"/>
          <p:nvPr/>
        </p:nvSpPr>
        <p:spPr>
          <a:xfrm>
            <a:off x="10352293" y="5864352"/>
            <a:ext cx="1108465" cy="186689"/>
          </a:xfrm>
          <a:prstGeom prst="rect">
            <a:avLst/>
          </a:prstGeom>
          <a:noFill/>
        </p:spPr>
        <p:txBody>
          <a:bodyPr wrap="none" lIns="0" rIns="0" tIns="0" bIns="0">
            <a:spAutoFit/>
          </a:bodyPr>
          <a:lstStyle/>
          <a:p>
            <a:r>
              <a:rPr sz="1100" b="0">
                <a:solidFill>
                  <a:srgbClr val="2E2E2E"/>
                </a:solidFill>
                <a:latin typeface="Calibri"/>
              </a:rPr>
              <a:t>US$ Mn by 2036F.</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Monitoring Capability × Purchasing Organisation,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purchasing organisation sub-segments</a:t>
            </a:r>
          </a:p>
        </p:txBody>
      </p:sp>
      <p:sp>
        <p:nvSpPr>
          <p:cNvPr id="10" name="Rounded Rectangle 9"/>
          <p:cNvSpPr/>
          <p:nvPr/>
        </p:nvSpPr>
        <p:spPr>
          <a:xfrm>
            <a:off x="142875" y="9810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Monitoring Capability × Purchasing Organisation, 2026E (% of each row)</a:t>
            </a:r>
          </a:p>
        </p:txBody>
      </p:sp>
      <p:graphicFrame>
        <p:nvGraphicFramePr>
          <p:cNvPr id="12" name="Table 11"/>
          <p:cNvGraphicFramePr>
            <a:graphicFrameLocks noGrp="1"/>
          </p:cNvGraphicFramePr>
          <p:nvPr/>
        </p:nvGraphicFramePr>
        <p:xfrm>
          <a:off x="152400" y="1238250"/>
          <a:ext cx="11887200" cy="1676402"/>
        </p:xfrm>
        <a:graphic>
          <a:graphicData uri="http://schemas.openxmlformats.org/drawingml/2006/table">
            <a:tbl>
              <a:tblPr>
                <a:tableStyleId>{5C22544A-7EE6-4342-B048-85BDC9FD1C3A}</a:tableStyleId>
              </a:tblPr>
              <a:tblGrid>
                <a:gridCol w="3128939"/>
                <a:gridCol w="1659150"/>
                <a:gridCol w="2991894"/>
                <a:gridCol w="1897425"/>
                <a:gridCol w="1665986"/>
                <a:gridCol w="543806"/>
              </a:tblGrid>
              <a:tr h="438912">
                <a:tc>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Hospitals and Transplant Centres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Organ Procurement Organisations and Organ Retrieval Agencies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Specialised Medical Logistics Providers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Other Purchasing Organisations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7498">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7498">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749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924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257550"/>
            <a:ext cx="7286625"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33147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Purchasing Organisation Mix by Monitoring Capability, 2026E (% share)</a:t>
            </a:r>
          </a:p>
        </p:txBody>
      </p:sp>
      <p:graphicFrame>
        <p:nvGraphicFramePr>
          <p:cNvPr id="16" name="Chart 15"/>
          <p:cNvGraphicFramePr>
            <a:graphicFrameLocks noGrp="1"/>
          </p:cNvGraphicFramePr>
          <p:nvPr/>
        </p:nvGraphicFramePr>
        <p:xfrm>
          <a:off x="238125" y="3543300"/>
          <a:ext cx="7096125" cy="30289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3257550"/>
            <a:ext cx="445770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33432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35814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3667125"/>
            <a:ext cx="4191000" cy="2886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7473779" y="2029206"/>
            <a:ext cx="366712" cy="533400"/>
          </a:xfrm>
          <a:prstGeom prst="rect">
            <a:avLst/>
          </a:prstGeom>
        </p:spPr>
      </p:pic>
      <p:pic>
        <p:nvPicPr>
          <p:cNvPr id="23" name="Picture 22" descr="lock.png"/>
          <p:cNvPicPr>
            <a:picLocks noChangeAspect="1"/>
          </p:cNvPicPr>
          <p:nvPr/>
        </p:nvPicPr>
        <p:blipFill>
          <a:blip r:embed="rId5"/>
          <a:stretch>
            <a:fillRect/>
          </a:stretch>
        </p:blipFill>
        <p:spPr>
          <a:xfrm>
            <a:off x="3737844" y="4194492"/>
            <a:ext cx="384961" cy="559943"/>
          </a:xfrm>
          <a:prstGeom prst="rect">
            <a:avLst/>
          </a:prstGeom>
        </p:spPr>
      </p:pic>
      <p:sp>
        <p:nvSpPr>
          <p:cNvPr id="24" name="TextBox 23"/>
          <p:cNvSpPr txBox="1"/>
          <p:nvPr/>
        </p:nvSpPr>
        <p:spPr>
          <a:xfrm>
            <a:off x="7715250" y="3676650"/>
            <a:ext cx="3751411" cy="194310"/>
          </a:xfrm>
          <a:prstGeom prst="rect">
            <a:avLst/>
          </a:prstGeom>
          <a:noFill/>
        </p:spPr>
        <p:txBody>
          <a:bodyPr wrap="none" lIns="0" rIns="0" tIns="0" bIns="0">
            <a:spAutoFit/>
          </a:bodyPr>
          <a:lstStyle/>
          <a:p>
            <a:r>
              <a:rPr sz="1150" b="0">
                <a:solidFill>
                  <a:srgbClr val="2E2E2E"/>
                </a:solidFill>
                <a:latin typeface="Calibri"/>
              </a:rPr>
              <a:t>▪ 'Hospitals and Transplant Centres' holds the highest share of</a:t>
            </a:r>
          </a:p>
        </p:txBody>
      </p:sp>
      <p:sp>
        <p:nvSpPr>
          <p:cNvPr id="25" name="TextBox 24"/>
          <p:cNvSpPr txBox="1"/>
          <p:nvPr/>
        </p:nvSpPr>
        <p:spPr>
          <a:xfrm>
            <a:off x="7715250" y="3851910"/>
            <a:ext cx="2081534" cy="194310"/>
          </a:xfrm>
          <a:prstGeom prst="rect">
            <a:avLst/>
          </a:prstGeom>
          <a:noFill/>
        </p:spPr>
        <p:txBody>
          <a:bodyPr wrap="none" lIns="0" rIns="0" tIns="0" bIns="0">
            <a:spAutoFit/>
          </a:bodyPr>
          <a:lstStyle/>
          <a:p>
            <a:r>
              <a:rPr sz="1150" b="0">
                <a:solidFill>
                  <a:srgbClr val="2E2E2E"/>
                </a:solidFill>
                <a:latin typeface="Calibri"/>
              </a:rPr>
              <a:t>'Temperature Monitoring Only' at</a:t>
            </a:r>
          </a:p>
        </p:txBody>
      </p:sp>
      <p:pic>
        <p:nvPicPr>
          <p:cNvPr id="26" name="Picture 25" descr="lock.png"/>
          <p:cNvPicPr>
            <a:picLocks noChangeAspect="1"/>
          </p:cNvPicPr>
          <p:nvPr/>
        </p:nvPicPr>
        <p:blipFill>
          <a:blip r:embed="rId5"/>
          <a:stretch>
            <a:fillRect/>
          </a:stretch>
        </p:blipFill>
        <p:spPr>
          <a:xfrm>
            <a:off x="9745938" y="3841686"/>
            <a:ext cx="134549" cy="195707"/>
          </a:xfrm>
          <a:prstGeom prst="rect">
            <a:avLst/>
          </a:prstGeom>
        </p:spPr>
      </p:pic>
      <p:sp>
        <p:nvSpPr>
          <p:cNvPr id="27" name="TextBox 26"/>
          <p:cNvSpPr txBox="1"/>
          <p:nvPr/>
        </p:nvSpPr>
        <p:spPr>
          <a:xfrm>
            <a:off x="9921048" y="38519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4079747"/>
            <a:ext cx="4171950" cy="194310"/>
          </a:xfrm>
          <a:prstGeom prst="rect">
            <a:avLst/>
          </a:prstGeom>
          <a:noFill/>
        </p:spPr>
        <p:txBody>
          <a:bodyPr wrap="none" lIns="0" rIns="0" tIns="0" bIns="0">
            <a:spAutoFit/>
          </a:bodyPr>
          <a:lstStyle/>
          <a:p>
            <a:r>
              <a:rPr sz="1150" b="0">
                <a:solidFill>
                  <a:srgbClr val="2E2E2E"/>
                </a:solidFill>
                <a:latin typeface="Calibri"/>
              </a:rPr>
              <a:t>▪ 'Temperature Monitoring Only' is the most concentrated monitoring</a:t>
            </a:r>
          </a:p>
        </p:txBody>
      </p:sp>
      <p:sp>
        <p:nvSpPr>
          <p:cNvPr id="29" name="TextBox 28"/>
          <p:cNvSpPr txBox="1"/>
          <p:nvPr/>
        </p:nvSpPr>
        <p:spPr>
          <a:xfrm>
            <a:off x="7715250" y="4255007"/>
            <a:ext cx="1783159" cy="194310"/>
          </a:xfrm>
          <a:prstGeom prst="rect">
            <a:avLst/>
          </a:prstGeom>
          <a:noFill/>
        </p:spPr>
        <p:txBody>
          <a:bodyPr wrap="none" lIns="0" rIns="0" tIns="0" bIns="0">
            <a:spAutoFit/>
          </a:bodyPr>
          <a:lstStyle/>
          <a:p>
            <a:r>
              <a:rPr sz="1150" b="0">
                <a:solidFill>
                  <a:srgbClr val="2E2E2E"/>
                </a:solidFill>
                <a:latin typeface="Calibri"/>
              </a:rPr>
              <a:t>capability sub-segment, with</a:t>
            </a:r>
          </a:p>
        </p:txBody>
      </p:sp>
      <p:pic>
        <p:nvPicPr>
          <p:cNvPr id="30" name="Picture 29" descr="lock.png"/>
          <p:cNvPicPr>
            <a:picLocks noChangeAspect="1"/>
          </p:cNvPicPr>
          <p:nvPr/>
        </p:nvPicPr>
        <p:blipFill>
          <a:blip r:embed="rId5"/>
          <a:stretch>
            <a:fillRect/>
          </a:stretch>
        </p:blipFill>
        <p:spPr>
          <a:xfrm>
            <a:off x="9447563" y="4244784"/>
            <a:ext cx="134549" cy="195707"/>
          </a:xfrm>
          <a:prstGeom prst="rect">
            <a:avLst/>
          </a:prstGeom>
        </p:spPr>
      </p:pic>
      <p:sp>
        <p:nvSpPr>
          <p:cNvPr id="31" name="TextBox 30"/>
          <p:cNvSpPr txBox="1"/>
          <p:nvPr/>
        </p:nvSpPr>
        <p:spPr>
          <a:xfrm>
            <a:off x="9622672" y="4255007"/>
            <a:ext cx="1792002" cy="194310"/>
          </a:xfrm>
          <a:prstGeom prst="rect">
            <a:avLst/>
          </a:prstGeom>
          <a:noFill/>
        </p:spPr>
        <p:txBody>
          <a:bodyPr wrap="none" lIns="0" rIns="0" tIns="0" bIns="0">
            <a:spAutoFit/>
          </a:bodyPr>
          <a:lstStyle/>
          <a:p>
            <a:r>
              <a:rPr sz="1150" b="0">
                <a:solidFill>
                  <a:srgbClr val="2E2E2E"/>
                </a:solidFill>
                <a:latin typeface="Calibri"/>
              </a:rPr>
              <a:t>of its value via 'Hospitals and</a:t>
            </a:r>
          </a:p>
        </p:txBody>
      </p:sp>
      <p:sp>
        <p:nvSpPr>
          <p:cNvPr id="32" name="TextBox 31"/>
          <p:cNvSpPr txBox="1"/>
          <p:nvPr/>
        </p:nvSpPr>
        <p:spPr>
          <a:xfrm>
            <a:off x="7715250" y="4430267"/>
            <a:ext cx="1267705" cy="194310"/>
          </a:xfrm>
          <a:prstGeom prst="rect">
            <a:avLst/>
          </a:prstGeom>
          <a:noFill/>
        </p:spPr>
        <p:txBody>
          <a:bodyPr wrap="none" lIns="0" rIns="0" tIns="0" bIns="0">
            <a:spAutoFit/>
          </a:bodyPr>
          <a:lstStyle/>
          <a:p>
            <a:r>
              <a:rPr sz="1150" b="0">
                <a:solidFill>
                  <a:srgbClr val="2E2E2E"/>
                </a:solidFill>
                <a:latin typeface="Calibri"/>
              </a:rPr>
              <a:t>Transplant Centres'.</a:t>
            </a:r>
          </a:p>
        </p:txBody>
      </p:sp>
      <p:sp>
        <p:nvSpPr>
          <p:cNvPr id="33" name="TextBox 32"/>
          <p:cNvSpPr txBox="1"/>
          <p:nvPr/>
        </p:nvSpPr>
        <p:spPr>
          <a:xfrm>
            <a:off x="7715250" y="4658105"/>
            <a:ext cx="4028107" cy="194310"/>
          </a:xfrm>
          <a:prstGeom prst="rect">
            <a:avLst/>
          </a:prstGeom>
          <a:noFill/>
        </p:spPr>
        <p:txBody>
          <a:bodyPr wrap="none" lIns="0" rIns="0" tIns="0" bIns="0">
            <a:spAutoFit/>
          </a:bodyPr>
          <a:lstStyle/>
          <a:p>
            <a:r>
              <a:rPr sz="1150" b="0">
                <a:solidFill>
                  <a:srgbClr val="2E2E2E"/>
                </a:solidFill>
                <a:latin typeface="Calibri"/>
              </a:rPr>
              <a:t>▪ 'Organ Procurement Organisations and Organ Retrieval Agencies'</a:t>
            </a:r>
          </a:p>
        </p:txBody>
      </p:sp>
      <p:sp>
        <p:nvSpPr>
          <p:cNvPr id="34" name="TextBox 33"/>
          <p:cNvSpPr txBox="1"/>
          <p:nvPr/>
        </p:nvSpPr>
        <p:spPr>
          <a:xfrm>
            <a:off x="7715250" y="4833365"/>
            <a:ext cx="488106" cy="194310"/>
          </a:xfrm>
          <a:prstGeom prst="rect">
            <a:avLst/>
          </a:prstGeom>
          <a:noFill/>
        </p:spPr>
        <p:txBody>
          <a:bodyPr wrap="none" lIns="0" rIns="0" tIns="0" bIns="0">
            <a:spAutoFit/>
          </a:bodyPr>
          <a:lstStyle/>
          <a:p>
            <a:r>
              <a:rPr sz="1150" b="0">
                <a:solidFill>
                  <a:srgbClr val="2E2E2E"/>
                </a:solidFill>
                <a:latin typeface="Calibri"/>
              </a:rPr>
              <a:t>gains +</a:t>
            </a:r>
          </a:p>
        </p:txBody>
      </p:sp>
      <p:pic>
        <p:nvPicPr>
          <p:cNvPr id="35" name="Picture 34" descr="lock.png"/>
          <p:cNvPicPr>
            <a:picLocks noChangeAspect="1"/>
          </p:cNvPicPr>
          <p:nvPr/>
        </p:nvPicPr>
        <p:blipFill>
          <a:blip r:embed="rId5"/>
          <a:stretch>
            <a:fillRect/>
          </a:stretch>
        </p:blipFill>
        <p:spPr>
          <a:xfrm>
            <a:off x="8152510" y="4823142"/>
            <a:ext cx="134549" cy="195707"/>
          </a:xfrm>
          <a:prstGeom prst="rect">
            <a:avLst/>
          </a:prstGeom>
        </p:spPr>
      </p:pic>
      <p:sp>
        <p:nvSpPr>
          <p:cNvPr id="36" name="TextBox 35"/>
          <p:cNvSpPr txBox="1"/>
          <p:nvPr/>
        </p:nvSpPr>
        <p:spPr>
          <a:xfrm>
            <a:off x="8327619" y="4833365"/>
            <a:ext cx="2886878" cy="194310"/>
          </a:xfrm>
          <a:prstGeom prst="rect">
            <a:avLst/>
          </a:prstGeom>
          <a:noFill/>
        </p:spPr>
        <p:txBody>
          <a:bodyPr wrap="none" lIns="0" rIns="0" tIns="0" bIns="0">
            <a:spAutoFit/>
          </a:bodyPr>
          <a:lstStyle/>
          <a:p>
            <a:r>
              <a:rPr sz="1150" b="0">
                <a:solidFill>
                  <a:srgbClr val="2E2E2E"/>
                </a:solidFill>
                <a:latin typeface="Calibri"/>
              </a:rPr>
              <a:t>BPS of share of the U.S. cross-section by 2036F.</a:t>
            </a:r>
          </a:p>
        </p:txBody>
      </p:sp>
      <p:sp>
        <p:nvSpPr>
          <p:cNvPr id="37" name="lockshield_16"/>
          <p:cNvSpPr/>
          <p:nvPr/>
        </p:nvSpPr>
        <p:spPr>
          <a:xfrm>
            <a:off x="238125" y="3543300"/>
            <a:ext cx="7096125" cy="30289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Monitoring Capability × Purchasing Organisation,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Monitoring Capability × Purchasing Organisation, 2026E–2036F</a:t>
            </a:r>
          </a:p>
        </p:txBody>
      </p:sp>
      <p:graphicFrame>
        <p:nvGraphicFramePr>
          <p:cNvPr id="12" name="Table 11"/>
          <p:cNvGraphicFramePr>
            <a:graphicFrameLocks noGrp="1"/>
          </p:cNvGraphicFramePr>
          <p:nvPr/>
        </p:nvGraphicFramePr>
        <p:xfrm>
          <a:off x="152400" y="1238250"/>
          <a:ext cx="11887202" cy="2305050"/>
        </p:xfrm>
        <a:graphic>
          <a:graphicData uri="http://schemas.openxmlformats.org/drawingml/2006/table">
            <a:tbl>
              <a:tblPr>
                <a:tableStyleId>{5C22544A-7EE6-4342-B048-85BDC9FD1C3A}</a:tableStyleId>
              </a:tblPr>
              <a:tblGrid>
                <a:gridCol w="4162812"/>
                <a:gridCol w="772439"/>
                <a:gridCol w="772439"/>
                <a:gridCol w="772439"/>
                <a:gridCol w="772439"/>
                <a:gridCol w="772439"/>
                <a:gridCol w="772439"/>
                <a:gridCol w="772439"/>
                <a:gridCol w="772439"/>
                <a:gridCol w="772439"/>
                <a:gridCol w="772439"/>
              </a:tblGrid>
              <a:tr h="824484">
                <a:tc rowSpan="2">
                  <a:txBody>
                    <a:bodyPr wrap="none"/>
                    <a:lstStyle/>
                    <a:p>
                      <a:pPr algn="l"/>
                      <a:r>
                        <a:rPr sz="1100" b="1">
                          <a:solidFill>
                            <a:srgbClr val="0B2E4A"/>
                          </a:solidFill>
                          <a:latin typeface="Calibri"/>
                        </a:rPr>
                        <a:t>Monitoring Capability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Hospitals and</a:t>
                      </a:r>
                      <a:endParaRPr sz="1100"/>
                    </a:p>
                    <a:p>
                      <a:pPr algn="ctr"/>
                      <a:r>
                        <a:rPr sz="1100" b="1">
                          <a:solidFill>
                            <a:srgbClr val="0B2E4A"/>
                          </a:solidFill>
                          <a:latin typeface="Calibri"/>
                        </a:rPr>
                        <a:t>Transplant Centres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Organ Procurement</a:t>
                      </a:r>
                      <a:endParaRPr sz="1100"/>
                    </a:p>
                    <a:p>
                      <a:pPr algn="ctr"/>
                      <a:r>
                        <a:rPr sz="1100" b="1">
                          <a:solidFill>
                            <a:srgbClr val="0B2E4A"/>
                          </a:solidFill>
                          <a:latin typeface="Calibri"/>
                        </a:rPr>
                        <a:t>Organisations and</a:t>
                      </a:r>
                      <a:endParaRPr sz="1100"/>
                    </a:p>
                    <a:p>
                      <a:pPr algn="ctr"/>
                      <a:r>
                        <a:rPr sz="1100" b="1">
                          <a:solidFill>
                            <a:srgbClr val="0B2E4A"/>
                          </a:solidFill>
                          <a:latin typeface="Calibri"/>
                        </a:rPr>
                        <a:t>Organ Retrieval</a:t>
                      </a:r>
                      <a:endParaRPr sz="1100"/>
                    </a:p>
                    <a:p>
                      <a:pPr algn="ctr"/>
                      <a:r>
                        <a:rPr sz="1100" b="1">
                          <a:solidFill>
                            <a:srgbClr val="0B2E4A"/>
                          </a:solidFill>
                          <a:latin typeface="Calibri"/>
                        </a:rPr>
                        <a:t>Agencies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Specialised Medical</a:t>
                      </a:r>
                      <a:endParaRPr sz="1100"/>
                    </a:p>
                    <a:p>
                      <a:pPr algn="ctr"/>
                      <a:r>
                        <a:rPr sz="1100" b="1">
                          <a:solidFill>
                            <a:srgbClr val="0B2E4A"/>
                          </a:solidFill>
                          <a:latin typeface="Calibri"/>
                        </a:rPr>
                        <a:t>Logistics Providers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Other Purchasing</a:t>
                      </a:r>
                      <a:endParaRPr sz="1100"/>
                    </a:p>
                    <a:p>
                      <a:pPr algn="ctr"/>
                      <a:r>
                        <a:rPr sz="1100" b="1">
                          <a:solidFill>
                            <a:srgbClr val="0B2E4A"/>
                          </a:solidFill>
                          <a:latin typeface="Calibri"/>
                        </a:rPr>
                        <a:t>Organisations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676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6761">
                <a:tc>
                  <a:txBody>
                    <a:bodyPr wrap="none"/>
                    <a:lstStyle/>
                    <a:p>
                      <a:pPr algn="l"/>
                      <a:r>
                        <a:rPr sz="1100" b="1">
                          <a:solidFill>
                            <a:srgbClr val="2E2E2E"/>
                          </a:solidFill>
                          <a:latin typeface="Calibri"/>
                        </a:rPr>
                        <a:t>Devices without Integrated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Temperature Monitoring Only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Temperature and Location Monitoring</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6761">
                <a:tc>
                  <a:txBody>
                    <a:bodyPr wrap="none"/>
                    <a:lstStyle/>
                    <a:p>
                      <a:pPr algn="l"/>
                      <a:r>
                        <a:rPr sz="1100" b="1">
                          <a:solidFill>
                            <a:srgbClr val="2E2E2E"/>
                          </a:solidFill>
                          <a:latin typeface="Calibri"/>
                        </a:rPr>
                        <a:t>Physiological and Perfusion Parameter Monitoring</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676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35528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3886200"/>
            <a:ext cx="5600700" cy="2743200"/>
          </a:xfrm>
          <a:prstGeom prst="roundRect">
            <a:avLst>
              <a:gd name="adj" fmla="val 27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39719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42100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95775"/>
            <a:ext cx="53340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18" name="Rounded Rectangle 17"/>
          <p:cNvSpPr/>
          <p:nvPr/>
        </p:nvSpPr>
        <p:spPr>
          <a:xfrm>
            <a:off x="5895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4295775"/>
            <a:ext cx="1676400" cy="22574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3886200"/>
            <a:ext cx="1943100" cy="27432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39719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42100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4295775"/>
            <a:ext cx="1676400" cy="225742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'Devices without Integrated Monitoring × Organ Procurement Organisations and Organ Retrieval Agencies' ranks highest (5/5); 'Devices without Integrated Monitoring × Specialised Medical Logistics Providers'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90717" y="2659697"/>
            <a:ext cx="366712" cy="533400"/>
          </a:xfrm>
          <a:prstGeom prst="rect">
            <a:avLst/>
          </a:prstGeom>
        </p:spPr>
      </p:pic>
      <p:sp>
        <p:nvSpPr>
          <p:cNvPr id="32" name="TextBox 31"/>
          <p:cNvSpPr txBox="1"/>
          <p:nvPr/>
        </p:nvSpPr>
        <p:spPr>
          <a:xfrm>
            <a:off x="276225" y="4305300"/>
            <a:ext cx="5203353" cy="186689"/>
          </a:xfrm>
          <a:prstGeom prst="rect">
            <a:avLst/>
          </a:prstGeom>
          <a:noFill/>
        </p:spPr>
        <p:txBody>
          <a:bodyPr wrap="none" lIns="0" rIns="0" tIns="0" bIns="0">
            <a:spAutoFit/>
          </a:bodyPr>
          <a:lstStyle/>
          <a:p>
            <a:r>
              <a:rPr sz="1100" b="0">
                <a:solidFill>
                  <a:srgbClr val="2E2E2E"/>
                </a:solidFill>
                <a:latin typeface="Calibri"/>
              </a:rPr>
              <a:t>▪ 1. Devices without Integrated Monitoring × Organ Procurement Organisations and Organ</a:t>
            </a:r>
          </a:p>
        </p:txBody>
      </p:sp>
      <p:sp>
        <p:nvSpPr>
          <p:cNvPr id="33" name="TextBox 32"/>
          <p:cNvSpPr txBox="1"/>
          <p:nvPr/>
        </p:nvSpPr>
        <p:spPr>
          <a:xfrm>
            <a:off x="276225" y="4472940"/>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34" name="Picture 33" descr="lock.png"/>
          <p:cNvPicPr>
            <a:picLocks noChangeAspect="1"/>
          </p:cNvPicPr>
          <p:nvPr/>
        </p:nvPicPr>
        <p:blipFill>
          <a:blip r:embed="rId4"/>
          <a:stretch>
            <a:fillRect/>
          </a:stretch>
        </p:blipFill>
        <p:spPr>
          <a:xfrm>
            <a:off x="1443451" y="4463161"/>
            <a:ext cx="128699" cy="187198"/>
          </a:xfrm>
          <a:prstGeom prst="rect">
            <a:avLst/>
          </a:prstGeom>
        </p:spPr>
      </p:pic>
      <p:sp>
        <p:nvSpPr>
          <p:cNvPr id="35" name="TextBox 34"/>
          <p:cNvSpPr txBox="1"/>
          <p:nvPr/>
        </p:nvSpPr>
        <p:spPr>
          <a:xfrm>
            <a:off x="1610947" y="4472940"/>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36" name="Picture 35" descr="lock.png"/>
          <p:cNvPicPr>
            <a:picLocks noChangeAspect="1"/>
          </p:cNvPicPr>
          <p:nvPr/>
        </p:nvPicPr>
        <p:blipFill>
          <a:blip r:embed="rId4"/>
          <a:stretch>
            <a:fillRect/>
          </a:stretch>
        </p:blipFill>
        <p:spPr>
          <a:xfrm>
            <a:off x="1670397" y="4463161"/>
            <a:ext cx="128699" cy="187198"/>
          </a:xfrm>
          <a:prstGeom prst="rect">
            <a:avLst/>
          </a:prstGeom>
        </p:spPr>
      </p:pic>
      <p:sp>
        <p:nvSpPr>
          <p:cNvPr id="37" name="TextBox 36"/>
          <p:cNvSpPr txBox="1"/>
          <p:nvPr/>
        </p:nvSpPr>
        <p:spPr>
          <a:xfrm>
            <a:off x="1837892" y="4472940"/>
            <a:ext cx="338956" cy="186689"/>
          </a:xfrm>
          <a:prstGeom prst="rect">
            <a:avLst/>
          </a:prstGeom>
          <a:noFill/>
        </p:spPr>
        <p:txBody>
          <a:bodyPr wrap="none" lIns="0" rIns="0" tIns="0" bIns="0">
            <a:spAutoFit/>
          </a:bodyPr>
          <a:lstStyle/>
          <a:p>
            <a:r>
              <a:rPr sz="1100" b="0">
                <a:solidFill>
                  <a:srgbClr val="2E2E2E"/>
                </a:solidFill>
                <a:latin typeface="Calibri"/>
              </a:rPr>
              <a:t>· 5/5</a:t>
            </a:r>
          </a:p>
        </p:txBody>
      </p:sp>
      <p:sp>
        <p:nvSpPr>
          <p:cNvPr id="38" name="TextBox 37"/>
          <p:cNvSpPr txBox="1"/>
          <p:nvPr/>
        </p:nvSpPr>
        <p:spPr>
          <a:xfrm>
            <a:off x="276225" y="4690872"/>
            <a:ext cx="5239642" cy="186689"/>
          </a:xfrm>
          <a:prstGeom prst="rect">
            <a:avLst/>
          </a:prstGeom>
          <a:noFill/>
        </p:spPr>
        <p:txBody>
          <a:bodyPr wrap="none" lIns="0" rIns="0" tIns="0" bIns="0">
            <a:spAutoFit/>
          </a:bodyPr>
          <a:lstStyle/>
          <a:p>
            <a:r>
              <a:rPr sz="1100" b="0">
                <a:solidFill>
                  <a:srgbClr val="2E2E2E"/>
                </a:solidFill>
                <a:latin typeface="Calibri"/>
              </a:rPr>
              <a:t>▪ 2. Temperature Monitoring Only × Organ Procurement Organisations and Organ Retrieval</a:t>
            </a:r>
          </a:p>
        </p:txBody>
      </p:sp>
      <p:sp>
        <p:nvSpPr>
          <p:cNvPr id="39" name="TextBox 38"/>
          <p:cNvSpPr txBox="1"/>
          <p:nvPr/>
        </p:nvSpPr>
        <p:spPr>
          <a:xfrm>
            <a:off x="276225" y="4858512"/>
            <a:ext cx="682476" cy="186689"/>
          </a:xfrm>
          <a:prstGeom prst="rect">
            <a:avLst/>
          </a:prstGeom>
          <a:noFill/>
        </p:spPr>
        <p:txBody>
          <a:bodyPr wrap="none" lIns="0" rIns="0" tIns="0" bIns="0">
            <a:spAutoFit/>
          </a:bodyPr>
          <a:lstStyle/>
          <a:p>
            <a:r>
              <a:rPr sz="1100" b="0">
                <a:solidFill>
                  <a:srgbClr val="2E2E2E"/>
                </a:solidFill>
                <a:latin typeface="Calibri"/>
              </a:rPr>
              <a:t>Agencies –</a:t>
            </a:r>
          </a:p>
        </p:txBody>
      </p:sp>
      <p:pic>
        <p:nvPicPr>
          <p:cNvPr id="40" name="Picture 39" descr="lock.png"/>
          <p:cNvPicPr>
            <a:picLocks noChangeAspect="1"/>
          </p:cNvPicPr>
          <p:nvPr/>
        </p:nvPicPr>
        <p:blipFill>
          <a:blip r:embed="rId4"/>
          <a:stretch>
            <a:fillRect/>
          </a:stretch>
        </p:blipFill>
        <p:spPr>
          <a:xfrm>
            <a:off x="906752" y="4848733"/>
            <a:ext cx="128699" cy="187198"/>
          </a:xfrm>
          <a:prstGeom prst="rect">
            <a:avLst/>
          </a:prstGeom>
        </p:spPr>
      </p:pic>
      <p:sp>
        <p:nvSpPr>
          <p:cNvPr id="41" name="TextBox 40"/>
          <p:cNvSpPr txBox="1"/>
          <p:nvPr/>
        </p:nvSpPr>
        <p:spPr>
          <a:xfrm>
            <a:off x="1074248" y="4858512"/>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2" name="Picture 41" descr="lock.png"/>
          <p:cNvPicPr>
            <a:picLocks noChangeAspect="1"/>
          </p:cNvPicPr>
          <p:nvPr/>
        </p:nvPicPr>
        <p:blipFill>
          <a:blip r:embed="rId4"/>
          <a:stretch>
            <a:fillRect/>
          </a:stretch>
        </p:blipFill>
        <p:spPr>
          <a:xfrm>
            <a:off x="1133698" y="4848733"/>
            <a:ext cx="128699" cy="187198"/>
          </a:xfrm>
          <a:prstGeom prst="rect">
            <a:avLst/>
          </a:prstGeom>
        </p:spPr>
      </p:pic>
      <p:sp>
        <p:nvSpPr>
          <p:cNvPr id="43" name="TextBox 42"/>
          <p:cNvSpPr txBox="1"/>
          <p:nvPr/>
        </p:nvSpPr>
        <p:spPr>
          <a:xfrm>
            <a:off x="1301193" y="4858512"/>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44" name="TextBox 43"/>
          <p:cNvSpPr txBox="1"/>
          <p:nvPr/>
        </p:nvSpPr>
        <p:spPr>
          <a:xfrm>
            <a:off x="276225" y="5076444"/>
            <a:ext cx="5220816" cy="186689"/>
          </a:xfrm>
          <a:prstGeom prst="rect">
            <a:avLst/>
          </a:prstGeom>
          <a:noFill/>
        </p:spPr>
        <p:txBody>
          <a:bodyPr wrap="none" lIns="0" rIns="0" tIns="0" bIns="0">
            <a:spAutoFit/>
          </a:bodyPr>
          <a:lstStyle/>
          <a:p>
            <a:r>
              <a:rPr sz="1100" b="0">
                <a:solidFill>
                  <a:srgbClr val="2E2E2E"/>
                </a:solidFill>
                <a:latin typeface="Calibri"/>
              </a:rPr>
              <a:t>▪ 3. Physiological and Perfusion Parameter Monitoring × Organ Procurement Organisations</a:t>
            </a:r>
          </a:p>
        </p:txBody>
      </p:sp>
      <p:sp>
        <p:nvSpPr>
          <p:cNvPr id="45" name="TextBox 44"/>
          <p:cNvSpPr txBox="1"/>
          <p:nvPr/>
        </p:nvSpPr>
        <p:spPr>
          <a:xfrm>
            <a:off x="276225" y="5244084"/>
            <a:ext cx="1843459" cy="186689"/>
          </a:xfrm>
          <a:prstGeom prst="rect">
            <a:avLst/>
          </a:prstGeom>
          <a:noFill/>
        </p:spPr>
        <p:txBody>
          <a:bodyPr wrap="none" lIns="0" rIns="0" tIns="0" bIns="0">
            <a:spAutoFit/>
          </a:bodyPr>
          <a:lstStyle/>
          <a:p>
            <a:r>
              <a:rPr sz="1100" b="0">
                <a:solidFill>
                  <a:srgbClr val="2E2E2E"/>
                </a:solidFill>
                <a:latin typeface="Calibri"/>
              </a:rPr>
              <a:t>and Organ Retrieval Agencies –</a:t>
            </a:r>
          </a:p>
        </p:txBody>
      </p:sp>
      <p:pic>
        <p:nvPicPr>
          <p:cNvPr id="46" name="Picture 45" descr="lock.png"/>
          <p:cNvPicPr>
            <a:picLocks noChangeAspect="1"/>
          </p:cNvPicPr>
          <p:nvPr/>
        </p:nvPicPr>
        <p:blipFill>
          <a:blip r:embed="rId4"/>
          <a:stretch>
            <a:fillRect/>
          </a:stretch>
        </p:blipFill>
        <p:spPr>
          <a:xfrm>
            <a:off x="2067736" y="5234305"/>
            <a:ext cx="128699" cy="187198"/>
          </a:xfrm>
          <a:prstGeom prst="rect">
            <a:avLst/>
          </a:prstGeom>
        </p:spPr>
      </p:pic>
      <p:sp>
        <p:nvSpPr>
          <p:cNvPr id="47" name="TextBox 46"/>
          <p:cNvSpPr txBox="1"/>
          <p:nvPr/>
        </p:nvSpPr>
        <p:spPr>
          <a:xfrm>
            <a:off x="2235231" y="5244084"/>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48" name="Picture 47" descr="lock.png"/>
          <p:cNvPicPr>
            <a:picLocks noChangeAspect="1"/>
          </p:cNvPicPr>
          <p:nvPr/>
        </p:nvPicPr>
        <p:blipFill>
          <a:blip r:embed="rId4"/>
          <a:stretch>
            <a:fillRect/>
          </a:stretch>
        </p:blipFill>
        <p:spPr>
          <a:xfrm>
            <a:off x="2294681" y="5234305"/>
            <a:ext cx="128699" cy="187198"/>
          </a:xfrm>
          <a:prstGeom prst="rect">
            <a:avLst/>
          </a:prstGeom>
        </p:spPr>
      </p:pic>
      <p:sp>
        <p:nvSpPr>
          <p:cNvPr id="49" name="TextBox 48"/>
          <p:cNvSpPr txBox="1"/>
          <p:nvPr/>
        </p:nvSpPr>
        <p:spPr>
          <a:xfrm>
            <a:off x="2462177" y="5244084"/>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0" name="TextBox 49"/>
          <p:cNvSpPr txBox="1"/>
          <p:nvPr/>
        </p:nvSpPr>
        <p:spPr>
          <a:xfrm>
            <a:off x="276225" y="5462016"/>
            <a:ext cx="5171430" cy="186689"/>
          </a:xfrm>
          <a:prstGeom prst="rect">
            <a:avLst/>
          </a:prstGeom>
          <a:noFill/>
        </p:spPr>
        <p:txBody>
          <a:bodyPr wrap="none" lIns="0" rIns="0" tIns="0" bIns="0">
            <a:spAutoFit/>
          </a:bodyPr>
          <a:lstStyle/>
          <a:p>
            <a:r>
              <a:rPr sz="1100" b="0">
                <a:solidFill>
                  <a:srgbClr val="2E2E2E"/>
                </a:solidFill>
                <a:latin typeface="Calibri"/>
              </a:rPr>
              <a:t>▪ 4. Temperature and Location Monitoring × Organ Procurement Organisations and Organ</a:t>
            </a:r>
          </a:p>
        </p:txBody>
      </p:sp>
      <p:sp>
        <p:nvSpPr>
          <p:cNvPr id="51" name="TextBox 50"/>
          <p:cNvSpPr txBox="1"/>
          <p:nvPr/>
        </p:nvSpPr>
        <p:spPr>
          <a:xfrm>
            <a:off x="276225" y="5629656"/>
            <a:ext cx="1219175" cy="186689"/>
          </a:xfrm>
          <a:prstGeom prst="rect">
            <a:avLst/>
          </a:prstGeom>
          <a:noFill/>
        </p:spPr>
        <p:txBody>
          <a:bodyPr wrap="none" lIns="0" rIns="0" tIns="0" bIns="0">
            <a:spAutoFit/>
          </a:bodyPr>
          <a:lstStyle/>
          <a:p>
            <a:r>
              <a:rPr sz="1100" b="0">
                <a:solidFill>
                  <a:srgbClr val="2E2E2E"/>
                </a:solidFill>
                <a:latin typeface="Calibri"/>
              </a:rPr>
              <a:t>Retrieval Agencies –</a:t>
            </a:r>
          </a:p>
        </p:txBody>
      </p:sp>
      <p:pic>
        <p:nvPicPr>
          <p:cNvPr id="52" name="Picture 51" descr="lock.png"/>
          <p:cNvPicPr>
            <a:picLocks noChangeAspect="1"/>
          </p:cNvPicPr>
          <p:nvPr/>
        </p:nvPicPr>
        <p:blipFill>
          <a:blip r:embed="rId4"/>
          <a:stretch>
            <a:fillRect/>
          </a:stretch>
        </p:blipFill>
        <p:spPr>
          <a:xfrm>
            <a:off x="1443451" y="5619877"/>
            <a:ext cx="128699" cy="187198"/>
          </a:xfrm>
          <a:prstGeom prst="rect">
            <a:avLst/>
          </a:prstGeom>
        </p:spPr>
      </p:pic>
      <p:sp>
        <p:nvSpPr>
          <p:cNvPr id="53" name="TextBox 52"/>
          <p:cNvSpPr txBox="1"/>
          <p:nvPr/>
        </p:nvSpPr>
        <p:spPr>
          <a:xfrm>
            <a:off x="1610947" y="5629656"/>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4" name="Picture 53" descr="lock.png"/>
          <p:cNvPicPr>
            <a:picLocks noChangeAspect="1"/>
          </p:cNvPicPr>
          <p:nvPr/>
        </p:nvPicPr>
        <p:blipFill>
          <a:blip r:embed="rId4"/>
          <a:stretch>
            <a:fillRect/>
          </a:stretch>
        </p:blipFill>
        <p:spPr>
          <a:xfrm>
            <a:off x="1670397" y="5619877"/>
            <a:ext cx="128699" cy="187198"/>
          </a:xfrm>
          <a:prstGeom prst="rect">
            <a:avLst/>
          </a:prstGeom>
        </p:spPr>
      </p:pic>
      <p:sp>
        <p:nvSpPr>
          <p:cNvPr id="55" name="TextBox 54"/>
          <p:cNvSpPr txBox="1"/>
          <p:nvPr/>
        </p:nvSpPr>
        <p:spPr>
          <a:xfrm>
            <a:off x="1837892" y="5629656"/>
            <a:ext cx="338956" cy="186689"/>
          </a:xfrm>
          <a:prstGeom prst="rect">
            <a:avLst/>
          </a:prstGeom>
          <a:noFill/>
        </p:spPr>
        <p:txBody>
          <a:bodyPr wrap="none" lIns="0" rIns="0" tIns="0" bIns="0">
            <a:spAutoFit/>
          </a:bodyPr>
          <a:lstStyle/>
          <a:p>
            <a:r>
              <a:rPr sz="1100" b="0">
                <a:solidFill>
                  <a:srgbClr val="2E2E2E"/>
                </a:solidFill>
                <a:latin typeface="Calibri"/>
              </a:rPr>
              <a:t>· 4/5</a:t>
            </a:r>
          </a:p>
        </p:txBody>
      </p:sp>
      <p:sp>
        <p:nvSpPr>
          <p:cNvPr id="56" name="TextBox 55"/>
          <p:cNvSpPr txBox="1"/>
          <p:nvPr/>
        </p:nvSpPr>
        <p:spPr>
          <a:xfrm>
            <a:off x="276225" y="5847588"/>
            <a:ext cx="4612630" cy="186689"/>
          </a:xfrm>
          <a:prstGeom prst="rect">
            <a:avLst/>
          </a:prstGeom>
          <a:noFill/>
        </p:spPr>
        <p:txBody>
          <a:bodyPr wrap="none" lIns="0" rIns="0" tIns="0" bIns="0">
            <a:spAutoFit/>
          </a:bodyPr>
          <a:lstStyle/>
          <a:p>
            <a:r>
              <a:rPr sz="1100" b="0">
                <a:solidFill>
                  <a:srgbClr val="2E2E2E"/>
                </a:solidFill>
                <a:latin typeface="Calibri"/>
              </a:rPr>
              <a:t>▪ 5. Devices without Integrated Monitoring × Hospitals and Transplant Centres –</a:t>
            </a:r>
          </a:p>
        </p:txBody>
      </p:sp>
      <p:pic>
        <p:nvPicPr>
          <p:cNvPr id="57" name="Picture 56" descr="lock.png"/>
          <p:cNvPicPr>
            <a:picLocks noChangeAspect="1"/>
          </p:cNvPicPr>
          <p:nvPr/>
        </p:nvPicPr>
        <p:blipFill>
          <a:blip r:embed="rId4"/>
          <a:stretch>
            <a:fillRect/>
          </a:stretch>
        </p:blipFill>
        <p:spPr>
          <a:xfrm>
            <a:off x="4836906" y="5837809"/>
            <a:ext cx="128699" cy="187198"/>
          </a:xfrm>
          <a:prstGeom prst="rect">
            <a:avLst/>
          </a:prstGeom>
        </p:spPr>
      </p:pic>
      <p:sp>
        <p:nvSpPr>
          <p:cNvPr id="58" name="TextBox 57"/>
          <p:cNvSpPr txBox="1"/>
          <p:nvPr/>
        </p:nvSpPr>
        <p:spPr>
          <a:xfrm>
            <a:off x="5004402"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59" name="Picture 58" descr="lock.png"/>
          <p:cNvPicPr>
            <a:picLocks noChangeAspect="1"/>
          </p:cNvPicPr>
          <p:nvPr/>
        </p:nvPicPr>
        <p:blipFill>
          <a:blip r:embed="rId4"/>
          <a:stretch>
            <a:fillRect/>
          </a:stretch>
        </p:blipFill>
        <p:spPr>
          <a:xfrm>
            <a:off x="5063851" y="5837809"/>
            <a:ext cx="128699" cy="187198"/>
          </a:xfrm>
          <a:prstGeom prst="rect">
            <a:avLst/>
          </a:prstGeom>
        </p:spPr>
      </p:pic>
      <p:sp>
        <p:nvSpPr>
          <p:cNvPr id="60" name="TextBox 59"/>
          <p:cNvSpPr txBox="1"/>
          <p:nvPr/>
        </p:nvSpPr>
        <p:spPr>
          <a:xfrm>
            <a:off x="5231347" y="5847588"/>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61" name="TextBox 60"/>
          <p:cNvSpPr txBox="1"/>
          <p:nvPr/>
        </p:nvSpPr>
        <p:spPr>
          <a:xfrm>
            <a:off x="276225" y="6015228"/>
            <a:ext cx="272107" cy="186689"/>
          </a:xfrm>
          <a:prstGeom prst="rect">
            <a:avLst/>
          </a:prstGeom>
          <a:noFill/>
        </p:spPr>
        <p:txBody>
          <a:bodyPr wrap="none" lIns="0" rIns="0" tIns="0" bIns="0">
            <a:spAutoFit/>
          </a:bodyPr>
          <a:lstStyle/>
          <a:p>
            <a:r>
              <a:rPr sz="1100" b="0">
                <a:solidFill>
                  <a:srgbClr val="2E2E2E"/>
                </a:solidFill>
                <a:latin typeface="Calibri"/>
              </a:rPr>
              <a:t>4/5</a:t>
            </a:r>
          </a:p>
        </p:txBody>
      </p:sp>
      <p:sp>
        <p:nvSpPr>
          <p:cNvPr id="62" name="TextBox 61"/>
          <p:cNvSpPr txBox="1"/>
          <p:nvPr/>
        </p:nvSpPr>
        <p:spPr>
          <a:xfrm>
            <a:off x="6029325" y="4305300"/>
            <a:ext cx="1146757" cy="194310"/>
          </a:xfrm>
          <a:prstGeom prst="rect">
            <a:avLst/>
          </a:prstGeom>
          <a:noFill/>
        </p:spPr>
        <p:txBody>
          <a:bodyPr wrap="none" lIns="0" rIns="0" tIns="0" bIns="0">
            <a:spAutoFit/>
          </a:bodyPr>
          <a:lstStyle/>
          <a:p>
            <a:r>
              <a:rPr sz="1150" b="0">
                <a:solidFill>
                  <a:srgbClr val="2E2E2E"/>
                </a:solidFill>
                <a:latin typeface="Calibri"/>
              </a:rPr>
              <a:t>▪ 'Devices without</a:t>
            </a:r>
          </a:p>
        </p:txBody>
      </p:sp>
      <p:sp>
        <p:nvSpPr>
          <p:cNvPr id="63" name="TextBox 62"/>
          <p:cNvSpPr txBox="1"/>
          <p:nvPr/>
        </p:nvSpPr>
        <p:spPr>
          <a:xfrm>
            <a:off x="6029325" y="4480560"/>
            <a:ext cx="1507318" cy="194310"/>
          </a:xfrm>
          <a:prstGeom prst="rect">
            <a:avLst/>
          </a:prstGeom>
          <a:noFill/>
        </p:spPr>
        <p:txBody>
          <a:bodyPr wrap="none" lIns="0" rIns="0" tIns="0" bIns="0">
            <a:spAutoFit/>
          </a:bodyPr>
          <a:lstStyle/>
          <a:p>
            <a:r>
              <a:rPr sz="1150" b="0">
                <a:solidFill>
                  <a:srgbClr val="2E2E2E"/>
                </a:solidFill>
                <a:latin typeface="Calibri"/>
              </a:rPr>
              <a:t>Integrated Monitoring ×</a:t>
            </a:r>
          </a:p>
        </p:txBody>
      </p:sp>
      <p:sp>
        <p:nvSpPr>
          <p:cNvPr id="64" name="TextBox 63"/>
          <p:cNvSpPr txBox="1"/>
          <p:nvPr/>
        </p:nvSpPr>
        <p:spPr>
          <a:xfrm>
            <a:off x="6029325" y="4655820"/>
            <a:ext cx="1253728" cy="194310"/>
          </a:xfrm>
          <a:prstGeom prst="rect">
            <a:avLst/>
          </a:prstGeom>
          <a:noFill/>
        </p:spPr>
        <p:txBody>
          <a:bodyPr wrap="none" lIns="0" rIns="0" tIns="0" bIns="0">
            <a:spAutoFit/>
          </a:bodyPr>
          <a:lstStyle/>
          <a:p>
            <a:r>
              <a:rPr sz="1150" b="0">
                <a:solidFill>
                  <a:srgbClr val="2E2E2E"/>
                </a:solidFill>
                <a:latin typeface="Calibri"/>
              </a:rPr>
              <a:t>Organ Procurement</a:t>
            </a:r>
          </a:p>
        </p:txBody>
      </p:sp>
      <p:sp>
        <p:nvSpPr>
          <p:cNvPr id="65" name="TextBox 64"/>
          <p:cNvSpPr txBox="1"/>
          <p:nvPr/>
        </p:nvSpPr>
        <p:spPr>
          <a:xfrm>
            <a:off x="6029325" y="4831079"/>
            <a:ext cx="1546113" cy="194310"/>
          </a:xfrm>
          <a:prstGeom prst="rect">
            <a:avLst/>
          </a:prstGeom>
          <a:noFill/>
        </p:spPr>
        <p:txBody>
          <a:bodyPr wrap="none" lIns="0" rIns="0" tIns="0" bIns="0">
            <a:spAutoFit/>
          </a:bodyPr>
          <a:lstStyle/>
          <a:p>
            <a:r>
              <a:rPr sz="1150" b="0">
                <a:solidFill>
                  <a:srgbClr val="2E2E2E"/>
                </a:solidFill>
                <a:latin typeface="Calibri"/>
              </a:rPr>
              <a:t>Organisations and Organ</a:t>
            </a:r>
          </a:p>
        </p:txBody>
      </p:sp>
      <p:sp>
        <p:nvSpPr>
          <p:cNvPr id="66" name="TextBox 65"/>
          <p:cNvSpPr txBox="1"/>
          <p:nvPr/>
        </p:nvSpPr>
        <p:spPr>
          <a:xfrm>
            <a:off x="6029325" y="5006339"/>
            <a:ext cx="1511027" cy="194310"/>
          </a:xfrm>
          <a:prstGeom prst="rect">
            <a:avLst/>
          </a:prstGeom>
          <a:noFill/>
        </p:spPr>
        <p:txBody>
          <a:bodyPr wrap="none" lIns="0" rIns="0" tIns="0" bIns="0">
            <a:spAutoFit/>
          </a:bodyPr>
          <a:lstStyle/>
          <a:p>
            <a:r>
              <a:rPr sz="1150" b="0">
                <a:solidFill>
                  <a:srgbClr val="2E2E2E"/>
                </a:solidFill>
                <a:latin typeface="Calibri"/>
              </a:rPr>
              <a:t>Retrieval Agencies' adds</a:t>
            </a:r>
          </a:p>
        </p:txBody>
      </p:sp>
      <p:pic>
        <p:nvPicPr>
          <p:cNvPr id="67" name="Picture 66" descr="lock.png"/>
          <p:cNvPicPr>
            <a:picLocks noChangeAspect="1"/>
          </p:cNvPicPr>
          <p:nvPr/>
        </p:nvPicPr>
        <p:blipFill>
          <a:blip r:embed="rId4"/>
          <a:stretch>
            <a:fillRect/>
          </a:stretch>
        </p:blipFill>
        <p:spPr>
          <a:xfrm>
            <a:off x="6015245" y="5171376"/>
            <a:ext cx="134549" cy="195707"/>
          </a:xfrm>
          <a:prstGeom prst="rect">
            <a:avLst/>
          </a:prstGeom>
        </p:spPr>
      </p:pic>
      <p:sp>
        <p:nvSpPr>
          <p:cNvPr id="68" name="TextBox 67"/>
          <p:cNvSpPr txBox="1"/>
          <p:nvPr/>
        </p:nvSpPr>
        <p:spPr>
          <a:xfrm>
            <a:off x="6190354" y="518159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69" name="Picture 68" descr="lock.png"/>
          <p:cNvPicPr>
            <a:picLocks noChangeAspect="1"/>
          </p:cNvPicPr>
          <p:nvPr/>
        </p:nvPicPr>
        <p:blipFill>
          <a:blip r:embed="rId4"/>
          <a:stretch>
            <a:fillRect/>
          </a:stretch>
        </p:blipFill>
        <p:spPr>
          <a:xfrm>
            <a:off x="6015245" y="5346636"/>
            <a:ext cx="134549" cy="195707"/>
          </a:xfrm>
          <a:prstGeom prst="rect">
            <a:avLst/>
          </a:prstGeom>
        </p:spPr>
      </p:pic>
      <p:sp>
        <p:nvSpPr>
          <p:cNvPr id="70" name="TextBox 69"/>
          <p:cNvSpPr txBox="1"/>
          <p:nvPr/>
        </p:nvSpPr>
        <p:spPr>
          <a:xfrm>
            <a:off x="6190354" y="535685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71" name="TextBox 70"/>
          <p:cNvSpPr txBox="1"/>
          <p:nvPr/>
        </p:nvSpPr>
        <p:spPr>
          <a:xfrm>
            <a:off x="6029325" y="553211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72" name="TextBox 71"/>
          <p:cNvSpPr txBox="1"/>
          <p:nvPr/>
        </p:nvSpPr>
        <p:spPr>
          <a:xfrm>
            <a:off x="8124825" y="4305300"/>
            <a:ext cx="1146757" cy="194310"/>
          </a:xfrm>
          <a:prstGeom prst="rect">
            <a:avLst/>
          </a:prstGeom>
          <a:noFill/>
        </p:spPr>
        <p:txBody>
          <a:bodyPr wrap="none" lIns="0" rIns="0" tIns="0" bIns="0">
            <a:spAutoFit/>
          </a:bodyPr>
          <a:lstStyle/>
          <a:p>
            <a:r>
              <a:rPr sz="1150" b="0">
                <a:solidFill>
                  <a:srgbClr val="2E2E2E"/>
                </a:solidFill>
                <a:latin typeface="Calibri"/>
              </a:rPr>
              <a:t>▪ 'Devices without</a:t>
            </a:r>
          </a:p>
        </p:txBody>
      </p:sp>
      <p:sp>
        <p:nvSpPr>
          <p:cNvPr id="73" name="TextBox 72"/>
          <p:cNvSpPr txBox="1"/>
          <p:nvPr/>
        </p:nvSpPr>
        <p:spPr>
          <a:xfrm>
            <a:off x="8124825" y="4480560"/>
            <a:ext cx="1507318" cy="194310"/>
          </a:xfrm>
          <a:prstGeom prst="rect">
            <a:avLst/>
          </a:prstGeom>
          <a:noFill/>
        </p:spPr>
        <p:txBody>
          <a:bodyPr wrap="none" lIns="0" rIns="0" tIns="0" bIns="0">
            <a:spAutoFit/>
          </a:bodyPr>
          <a:lstStyle/>
          <a:p>
            <a:r>
              <a:rPr sz="1150" b="0">
                <a:solidFill>
                  <a:srgbClr val="2E2E2E"/>
                </a:solidFill>
                <a:latin typeface="Calibri"/>
              </a:rPr>
              <a:t>Integrated Monitoring ×</a:t>
            </a:r>
          </a:p>
        </p:txBody>
      </p:sp>
      <p:sp>
        <p:nvSpPr>
          <p:cNvPr id="74" name="TextBox 73"/>
          <p:cNvSpPr txBox="1"/>
          <p:nvPr/>
        </p:nvSpPr>
        <p:spPr>
          <a:xfrm>
            <a:off x="8124825" y="4655820"/>
            <a:ext cx="1103684" cy="194310"/>
          </a:xfrm>
          <a:prstGeom prst="rect">
            <a:avLst/>
          </a:prstGeom>
          <a:noFill/>
        </p:spPr>
        <p:txBody>
          <a:bodyPr wrap="none" lIns="0" rIns="0" tIns="0" bIns="0">
            <a:spAutoFit/>
          </a:bodyPr>
          <a:lstStyle/>
          <a:p>
            <a:r>
              <a:rPr sz="1150" b="0">
                <a:solidFill>
                  <a:srgbClr val="2E2E2E"/>
                </a:solidFill>
                <a:latin typeface="Calibri"/>
              </a:rPr>
              <a:t>Other Purchasing</a:t>
            </a:r>
          </a:p>
        </p:txBody>
      </p:sp>
      <p:sp>
        <p:nvSpPr>
          <p:cNvPr id="75" name="TextBox 74"/>
          <p:cNvSpPr txBox="1"/>
          <p:nvPr/>
        </p:nvSpPr>
        <p:spPr>
          <a:xfrm>
            <a:off x="8124825" y="4831079"/>
            <a:ext cx="1572071" cy="194310"/>
          </a:xfrm>
          <a:prstGeom prst="rect">
            <a:avLst/>
          </a:prstGeom>
          <a:noFill/>
        </p:spPr>
        <p:txBody>
          <a:bodyPr wrap="none" lIns="0" rIns="0" tIns="0" bIns="0">
            <a:spAutoFit/>
          </a:bodyPr>
          <a:lstStyle/>
          <a:p>
            <a:r>
              <a:rPr sz="1150" b="0">
                <a:solidFill>
                  <a:srgbClr val="2E2E2E"/>
                </a:solidFill>
                <a:latin typeface="Calibri"/>
              </a:rPr>
              <a:t>Organisations' grows at a</a:t>
            </a:r>
          </a:p>
        </p:txBody>
      </p:sp>
      <p:pic>
        <p:nvPicPr>
          <p:cNvPr id="76" name="Picture 75" descr="lock.png"/>
          <p:cNvPicPr>
            <a:picLocks noChangeAspect="1"/>
          </p:cNvPicPr>
          <p:nvPr/>
        </p:nvPicPr>
        <p:blipFill>
          <a:blip r:embed="rId4"/>
          <a:stretch>
            <a:fillRect/>
          </a:stretch>
        </p:blipFill>
        <p:spPr>
          <a:xfrm>
            <a:off x="8110745" y="4996116"/>
            <a:ext cx="134549" cy="195707"/>
          </a:xfrm>
          <a:prstGeom prst="rect">
            <a:avLst/>
          </a:prstGeom>
        </p:spPr>
      </p:pic>
      <p:sp>
        <p:nvSpPr>
          <p:cNvPr id="77" name="TextBox 76"/>
          <p:cNvSpPr txBox="1"/>
          <p:nvPr/>
        </p:nvSpPr>
        <p:spPr>
          <a:xfrm>
            <a:off x="8285854" y="500633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78" name="Picture 77" descr="lock.png"/>
          <p:cNvPicPr>
            <a:picLocks noChangeAspect="1"/>
          </p:cNvPicPr>
          <p:nvPr/>
        </p:nvPicPr>
        <p:blipFill>
          <a:blip r:embed="rId4"/>
          <a:stretch>
            <a:fillRect/>
          </a:stretch>
        </p:blipFill>
        <p:spPr>
          <a:xfrm>
            <a:off x="8681450" y="4996116"/>
            <a:ext cx="134549" cy="195707"/>
          </a:xfrm>
          <a:prstGeom prst="rect">
            <a:avLst/>
          </a:prstGeom>
        </p:spPr>
      </p:pic>
      <p:sp>
        <p:nvSpPr>
          <p:cNvPr id="79" name="TextBox 78"/>
          <p:cNvSpPr txBox="1"/>
          <p:nvPr/>
        </p:nvSpPr>
        <p:spPr>
          <a:xfrm>
            <a:off x="8856559" y="5006339"/>
            <a:ext cx="693774" cy="194310"/>
          </a:xfrm>
          <a:prstGeom prst="rect">
            <a:avLst/>
          </a:prstGeom>
          <a:noFill/>
        </p:spPr>
        <p:txBody>
          <a:bodyPr wrap="none" lIns="0" rIns="0" tIns="0" bIns="0">
            <a:spAutoFit/>
          </a:bodyPr>
          <a:lstStyle/>
          <a:p>
            <a:r>
              <a:rPr sz="1150" b="0">
                <a:solidFill>
                  <a:srgbClr val="2E2E2E"/>
                </a:solidFill>
                <a:latin typeface="Calibri"/>
              </a:rPr>
              <a:t>BPS above</a:t>
            </a:r>
          </a:p>
        </p:txBody>
      </p:sp>
      <p:sp>
        <p:nvSpPr>
          <p:cNvPr id="80" name="TextBox 79"/>
          <p:cNvSpPr txBox="1"/>
          <p:nvPr/>
        </p:nvSpPr>
        <p:spPr>
          <a:xfrm>
            <a:off x="8124825" y="5181599"/>
            <a:ext cx="1121655" cy="194310"/>
          </a:xfrm>
          <a:prstGeom prst="rect">
            <a:avLst/>
          </a:prstGeom>
          <a:noFill/>
        </p:spPr>
        <p:txBody>
          <a:bodyPr wrap="none" lIns="0" rIns="0" tIns="0" bIns="0">
            <a:spAutoFit/>
          </a:bodyPr>
          <a:lstStyle/>
          <a:p>
            <a:r>
              <a:rPr sz="1150" b="0">
                <a:solidFill>
                  <a:srgbClr val="2E2E2E"/>
                </a:solidFill>
                <a:latin typeface="Calibri"/>
              </a:rPr>
              <a:t>the cross-section.</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15.3</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Device Reusability x Sales Channel</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Share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Absolute $ Opportunity &amp; Attractiveness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Snapshot: Device Reusability × Sales Channel, 2026E vs 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U.S. market value (US$ Mn) for each device reusability sub-segment across sales channel sub-segments</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Market Value, Device Reusability × Sales Channel, 2026E and 2036F (US$ Mn)</a:t>
            </a:r>
          </a:p>
        </p:txBody>
      </p:sp>
      <p:graphicFrame>
        <p:nvGraphicFramePr>
          <p:cNvPr id="12" name="Table 11"/>
          <p:cNvGraphicFramePr>
            <a:graphicFrameLocks noGrp="1"/>
          </p:cNvGraphicFramePr>
          <p:nvPr/>
        </p:nvGraphicFramePr>
        <p:xfrm>
          <a:off x="152400" y="1238250"/>
          <a:ext cx="11887199" cy="1238250"/>
        </p:xfrm>
        <a:graphic>
          <a:graphicData uri="http://schemas.openxmlformats.org/drawingml/2006/table">
            <a:tbl>
              <a:tblPr>
                <a:tableStyleId>{5C22544A-7EE6-4342-B048-85BDC9FD1C3A}</a:tableStyleId>
              </a:tblPr>
              <a:tblGrid>
                <a:gridCol w="4705601"/>
                <a:gridCol w="1196933"/>
                <a:gridCol w="1196933"/>
                <a:gridCol w="1196933"/>
                <a:gridCol w="1196933"/>
                <a:gridCol w="1196933"/>
                <a:gridCol w="1196933"/>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7286625"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8765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Flow, Device Reusability → Sales Channel, 2036F (US$ Mn)</a:t>
            </a:r>
          </a:p>
        </p:txBody>
      </p:sp>
      <p:sp>
        <p:nvSpPr>
          <p:cNvPr id="16" name="Freeform 15"/>
          <p:cNvSpPr/>
          <p:nvPr/>
        </p:nvSpPr>
        <p:spPr>
          <a:xfrm>
            <a:off x="2057400" y="3143250"/>
            <a:ext cx="3743325" cy="1352550"/>
          </a:xfrm>
          <a:custGeom>
            <a:avLst/>
            <a:gdLst/>
            <a:ahLst/>
            <a:cxnLst/>
            <a:rect l="l" t="t" r="r" b="b"/>
            <a:pathLst>
              <a:path w="393" h="142">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142"/>
                </a:lnTo>
                <a:lnTo>
                  <a:pt x="377" y="142"/>
                </a:lnTo>
                <a:lnTo>
                  <a:pt x="360" y="142"/>
                </a:lnTo>
                <a:lnTo>
                  <a:pt x="344" y="142"/>
                </a:lnTo>
                <a:lnTo>
                  <a:pt x="327" y="142"/>
                </a:lnTo>
                <a:lnTo>
                  <a:pt x="311" y="142"/>
                </a:lnTo>
                <a:lnTo>
                  <a:pt x="295" y="142"/>
                </a:lnTo>
                <a:lnTo>
                  <a:pt x="278" y="142"/>
                </a:lnTo>
                <a:lnTo>
                  <a:pt x="262" y="142"/>
                </a:lnTo>
                <a:lnTo>
                  <a:pt x="246" y="142"/>
                </a:lnTo>
                <a:lnTo>
                  <a:pt x="229" y="142"/>
                </a:lnTo>
                <a:lnTo>
                  <a:pt x="213" y="142"/>
                </a:lnTo>
                <a:lnTo>
                  <a:pt x="196" y="142"/>
                </a:lnTo>
                <a:lnTo>
                  <a:pt x="180" y="142"/>
                </a:lnTo>
                <a:lnTo>
                  <a:pt x="164" y="142"/>
                </a:lnTo>
                <a:lnTo>
                  <a:pt x="147" y="142"/>
                </a:lnTo>
                <a:lnTo>
                  <a:pt x="131" y="142"/>
                </a:lnTo>
                <a:lnTo>
                  <a:pt x="114" y="142"/>
                </a:lnTo>
                <a:lnTo>
                  <a:pt x="98" y="142"/>
                </a:lnTo>
                <a:lnTo>
                  <a:pt x="82" y="142"/>
                </a:lnTo>
                <a:lnTo>
                  <a:pt x="65" y="142"/>
                </a:lnTo>
                <a:lnTo>
                  <a:pt x="49" y="142"/>
                </a:lnTo>
                <a:lnTo>
                  <a:pt x="33" y="142"/>
                </a:lnTo>
                <a:lnTo>
                  <a:pt x="16" y="142"/>
                </a:lnTo>
                <a:lnTo>
                  <a:pt x="0" y="142"/>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057400" y="4495800"/>
            <a:ext cx="3743325" cy="1724025"/>
          </a:xfrm>
          <a:custGeom>
            <a:avLst/>
            <a:gdLst/>
            <a:ahLst/>
            <a:cxnLst/>
            <a:rect l="l" t="t" r="r" b="b"/>
            <a:pathLst>
              <a:path w="393" h="181">
                <a:moveTo>
                  <a:pt x="0" y="0"/>
                </a:moveTo>
                <a:lnTo>
                  <a:pt x="16" y="1"/>
                </a:lnTo>
                <a:lnTo>
                  <a:pt x="33" y="3"/>
                </a:lnTo>
                <a:lnTo>
                  <a:pt x="49" y="7"/>
                </a:lnTo>
                <a:lnTo>
                  <a:pt x="65" y="11"/>
                </a:lnTo>
                <a:lnTo>
                  <a:pt x="82" y="17"/>
                </a:lnTo>
                <a:lnTo>
                  <a:pt x="98" y="23"/>
                </a:lnTo>
                <a:lnTo>
                  <a:pt x="114" y="31"/>
                </a:lnTo>
                <a:lnTo>
                  <a:pt x="131" y="39"/>
                </a:lnTo>
                <a:lnTo>
                  <a:pt x="147" y="47"/>
                </a:lnTo>
                <a:lnTo>
                  <a:pt x="164" y="56"/>
                </a:lnTo>
                <a:lnTo>
                  <a:pt x="180" y="65"/>
                </a:lnTo>
                <a:lnTo>
                  <a:pt x="196" y="74"/>
                </a:lnTo>
                <a:lnTo>
                  <a:pt x="213" y="84"/>
                </a:lnTo>
                <a:lnTo>
                  <a:pt x="229" y="93"/>
                </a:lnTo>
                <a:lnTo>
                  <a:pt x="246" y="102"/>
                </a:lnTo>
                <a:lnTo>
                  <a:pt x="262" y="110"/>
                </a:lnTo>
                <a:lnTo>
                  <a:pt x="278" y="118"/>
                </a:lnTo>
                <a:lnTo>
                  <a:pt x="295" y="125"/>
                </a:lnTo>
                <a:lnTo>
                  <a:pt x="311" y="132"/>
                </a:lnTo>
                <a:lnTo>
                  <a:pt x="327" y="137"/>
                </a:lnTo>
                <a:lnTo>
                  <a:pt x="344" y="142"/>
                </a:lnTo>
                <a:lnTo>
                  <a:pt x="360" y="145"/>
                </a:lnTo>
                <a:lnTo>
                  <a:pt x="377" y="148"/>
                </a:lnTo>
                <a:lnTo>
                  <a:pt x="393" y="148"/>
                </a:lnTo>
                <a:lnTo>
                  <a:pt x="393" y="181"/>
                </a:lnTo>
                <a:lnTo>
                  <a:pt x="377" y="180"/>
                </a:lnTo>
                <a:lnTo>
                  <a:pt x="360" y="178"/>
                </a:lnTo>
                <a:lnTo>
                  <a:pt x="344" y="175"/>
                </a:lnTo>
                <a:lnTo>
                  <a:pt x="327" y="170"/>
                </a:lnTo>
                <a:lnTo>
                  <a:pt x="311" y="165"/>
                </a:lnTo>
                <a:lnTo>
                  <a:pt x="295" y="158"/>
                </a:lnTo>
                <a:lnTo>
                  <a:pt x="278" y="151"/>
                </a:lnTo>
                <a:lnTo>
                  <a:pt x="262" y="143"/>
                </a:lnTo>
                <a:lnTo>
                  <a:pt x="246" y="134"/>
                </a:lnTo>
                <a:lnTo>
                  <a:pt x="229" y="125"/>
                </a:lnTo>
                <a:lnTo>
                  <a:pt x="213" y="116"/>
                </a:lnTo>
                <a:lnTo>
                  <a:pt x="196" y="107"/>
                </a:lnTo>
                <a:lnTo>
                  <a:pt x="180" y="98"/>
                </a:lnTo>
                <a:lnTo>
                  <a:pt x="164" y="89"/>
                </a:lnTo>
                <a:lnTo>
                  <a:pt x="147" y="80"/>
                </a:lnTo>
                <a:lnTo>
                  <a:pt x="131" y="71"/>
                </a:lnTo>
                <a:lnTo>
                  <a:pt x="114" y="63"/>
                </a:lnTo>
                <a:lnTo>
                  <a:pt x="98" y="56"/>
                </a:lnTo>
                <a:lnTo>
                  <a:pt x="82" y="50"/>
                </a:lnTo>
                <a:lnTo>
                  <a:pt x="65" y="44"/>
                </a:lnTo>
                <a:lnTo>
                  <a:pt x="49" y="39"/>
                </a:lnTo>
                <a:lnTo>
                  <a:pt x="33" y="36"/>
                </a:lnTo>
                <a:lnTo>
                  <a:pt x="16" y="34"/>
                </a:lnTo>
                <a:lnTo>
                  <a:pt x="0" y="33"/>
                </a:lnTo>
                <a:close/>
              </a:path>
            </a:pathLst>
          </a:custGeom>
          <a:solidFill>
            <a:srgbClr val="3D85C6">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057400" y="4495800"/>
            <a:ext cx="3743325" cy="1724025"/>
          </a:xfrm>
          <a:custGeom>
            <a:avLst/>
            <a:gdLst/>
            <a:ahLst/>
            <a:cxnLst/>
            <a:rect l="l" t="t" r="r" b="b"/>
            <a:pathLst>
              <a:path w="393" h="181">
                <a:moveTo>
                  <a:pt x="0" y="39"/>
                </a:moveTo>
                <a:lnTo>
                  <a:pt x="16" y="39"/>
                </a:lnTo>
                <a:lnTo>
                  <a:pt x="33" y="38"/>
                </a:lnTo>
                <a:lnTo>
                  <a:pt x="49" y="37"/>
                </a:lnTo>
                <a:lnTo>
                  <a:pt x="65" y="36"/>
                </a:lnTo>
                <a:lnTo>
                  <a:pt x="82" y="35"/>
                </a:lnTo>
                <a:lnTo>
                  <a:pt x="98" y="33"/>
                </a:lnTo>
                <a:lnTo>
                  <a:pt x="114" y="31"/>
                </a:lnTo>
                <a:lnTo>
                  <a:pt x="131" y="29"/>
                </a:lnTo>
                <a:lnTo>
                  <a:pt x="147" y="27"/>
                </a:lnTo>
                <a:lnTo>
                  <a:pt x="164" y="24"/>
                </a:lnTo>
                <a:lnTo>
                  <a:pt x="180" y="22"/>
                </a:lnTo>
                <a:lnTo>
                  <a:pt x="196" y="20"/>
                </a:lnTo>
                <a:lnTo>
                  <a:pt x="213" y="17"/>
                </a:lnTo>
                <a:lnTo>
                  <a:pt x="229" y="15"/>
                </a:lnTo>
                <a:lnTo>
                  <a:pt x="246" y="12"/>
                </a:lnTo>
                <a:lnTo>
                  <a:pt x="262" y="10"/>
                </a:lnTo>
                <a:lnTo>
                  <a:pt x="278" y="8"/>
                </a:lnTo>
                <a:lnTo>
                  <a:pt x="295" y="6"/>
                </a:lnTo>
                <a:lnTo>
                  <a:pt x="311" y="5"/>
                </a:lnTo>
                <a:lnTo>
                  <a:pt x="327" y="3"/>
                </a:lnTo>
                <a:lnTo>
                  <a:pt x="344" y="2"/>
                </a:lnTo>
                <a:lnTo>
                  <a:pt x="360" y="1"/>
                </a:lnTo>
                <a:lnTo>
                  <a:pt x="377" y="0"/>
                </a:lnTo>
                <a:lnTo>
                  <a:pt x="393" y="0"/>
                </a:lnTo>
                <a:lnTo>
                  <a:pt x="393" y="142"/>
                </a:lnTo>
                <a:lnTo>
                  <a:pt x="377" y="143"/>
                </a:lnTo>
                <a:lnTo>
                  <a:pt x="360" y="143"/>
                </a:lnTo>
                <a:lnTo>
                  <a:pt x="344" y="144"/>
                </a:lnTo>
                <a:lnTo>
                  <a:pt x="327" y="145"/>
                </a:lnTo>
                <a:lnTo>
                  <a:pt x="311" y="147"/>
                </a:lnTo>
                <a:lnTo>
                  <a:pt x="295" y="148"/>
                </a:lnTo>
                <a:lnTo>
                  <a:pt x="278" y="150"/>
                </a:lnTo>
                <a:lnTo>
                  <a:pt x="262" y="152"/>
                </a:lnTo>
                <a:lnTo>
                  <a:pt x="246" y="155"/>
                </a:lnTo>
                <a:lnTo>
                  <a:pt x="229" y="157"/>
                </a:lnTo>
                <a:lnTo>
                  <a:pt x="213" y="159"/>
                </a:lnTo>
                <a:lnTo>
                  <a:pt x="196" y="162"/>
                </a:lnTo>
                <a:lnTo>
                  <a:pt x="180" y="164"/>
                </a:lnTo>
                <a:lnTo>
                  <a:pt x="164" y="167"/>
                </a:lnTo>
                <a:lnTo>
                  <a:pt x="147" y="169"/>
                </a:lnTo>
                <a:lnTo>
                  <a:pt x="131" y="171"/>
                </a:lnTo>
                <a:lnTo>
                  <a:pt x="114" y="173"/>
                </a:lnTo>
                <a:lnTo>
                  <a:pt x="98" y="175"/>
                </a:lnTo>
                <a:lnTo>
                  <a:pt x="82" y="177"/>
                </a:lnTo>
                <a:lnTo>
                  <a:pt x="65" y="178"/>
                </a:lnTo>
                <a:lnTo>
                  <a:pt x="49" y="180"/>
                </a:lnTo>
                <a:lnTo>
                  <a:pt x="33" y="180"/>
                </a:lnTo>
                <a:lnTo>
                  <a:pt x="16" y="181"/>
                </a:lnTo>
                <a:lnTo>
                  <a:pt x="0" y="181"/>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57400" y="6219825"/>
            <a:ext cx="3743325" cy="314325"/>
          </a:xfrm>
          <a:custGeom>
            <a:avLst/>
            <a:gdLst/>
            <a:ahLst/>
            <a:cxnLst/>
            <a:rect l="l" t="t" r="r" b="b"/>
            <a:pathLst>
              <a:path w="393" h="33">
                <a:moveTo>
                  <a:pt x="0" y="0"/>
                </a:moveTo>
                <a:lnTo>
                  <a:pt x="16" y="0"/>
                </a:lnTo>
                <a:lnTo>
                  <a:pt x="33" y="0"/>
                </a:lnTo>
                <a:lnTo>
                  <a:pt x="49" y="0"/>
                </a:lnTo>
                <a:lnTo>
                  <a:pt x="65" y="0"/>
                </a:lnTo>
                <a:lnTo>
                  <a:pt x="82" y="0"/>
                </a:lnTo>
                <a:lnTo>
                  <a:pt x="98" y="0"/>
                </a:lnTo>
                <a:lnTo>
                  <a:pt x="114" y="0"/>
                </a:lnTo>
                <a:lnTo>
                  <a:pt x="131" y="0"/>
                </a:lnTo>
                <a:lnTo>
                  <a:pt x="147" y="0"/>
                </a:lnTo>
                <a:lnTo>
                  <a:pt x="164" y="0"/>
                </a:lnTo>
                <a:lnTo>
                  <a:pt x="180" y="0"/>
                </a:lnTo>
                <a:lnTo>
                  <a:pt x="196" y="0"/>
                </a:lnTo>
                <a:lnTo>
                  <a:pt x="213" y="0"/>
                </a:lnTo>
                <a:lnTo>
                  <a:pt x="229" y="0"/>
                </a:lnTo>
                <a:lnTo>
                  <a:pt x="246" y="0"/>
                </a:lnTo>
                <a:lnTo>
                  <a:pt x="262" y="0"/>
                </a:lnTo>
                <a:lnTo>
                  <a:pt x="278" y="0"/>
                </a:lnTo>
                <a:lnTo>
                  <a:pt x="295" y="0"/>
                </a:lnTo>
                <a:lnTo>
                  <a:pt x="311" y="0"/>
                </a:lnTo>
                <a:lnTo>
                  <a:pt x="327" y="0"/>
                </a:lnTo>
                <a:lnTo>
                  <a:pt x="344" y="0"/>
                </a:lnTo>
                <a:lnTo>
                  <a:pt x="360" y="0"/>
                </a:lnTo>
                <a:lnTo>
                  <a:pt x="377" y="0"/>
                </a:lnTo>
                <a:lnTo>
                  <a:pt x="393" y="0"/>
                </a:lnTo>
                <a:lnTo>
                  <a:pt x="393" y="33"/>
                </a:lnTo>
                <a:lnTo>
                  <a:pt x="377" y="33"/>
                </a:lnTo>
                <a:lnTo>
                  <a:pt x="360" y="33"/>
                </a:lnTo>
                <a:lnTo>
                  <a:pt x="344" y="33"/>
                </a:lnTo>
                <a:lnTo>
                  <a:pt x="327" y="33"/>
                </a:lnTo>
                <a:lnTo>
                  <a:pt x="311" y="33"/>
                </a:lnTo>
                <a:lnTo>
                  <a:pt x="295" y="33"/>
                </a:lnTo>
                <a:lnTo>
                  <a:pt x="278" y="33"/>
                </a:lnTo>
                <a:lnTo>
                  <a:pt x="262" y="33"/>
                </a:lnTo>
                <a:lnTo>
                  <a:pt x="246" y="33"/>
                </a:lnTo>
                <a:lnTo>
                  <a:pt x="229" y="33"/>
                </a:lnTo>
                <a:lnTo>
                  <a:pt x="213" y="33"/>
                </a:lnTo>
                <a:lnTo>
                  <a:pt x="196" y="33"/>
                </a:lnTo>
                <a:lnTo>
                  <a:pt x="180" y="33"/>
                </a:lnTo>
                <a:lnTo>
                  <a:pt x="164" y="33"/>
                </a:lnTo>
                <a:lnTo>
                  <a:pt x="147" y="33"/>
                </a:lnTo>
                <a:lnTo>
                  <a:pt x="131" y="33"/>
                </a:lnTo>
                <a:lnTo>
                  <a:pt x="114" y="33"/>
                </a:lnTo>
                <a:lnTo>
                  <a:pt x="98" y="33"/>
                </a:lnTo>
                <a:lnTo>
                  <a:pt x="82" y="33"/>
                </a:lnTo>
                <a:lnTo>
                  <a:pt x="65" y="33"/>
                </a:lnTo>
                <a:lnTo>
                  <a:pt x="49" y="33"/>
                </a:lnTo>
                <a:lnTo>
                  <a:pt x="33" y="33"/>
                </a:lnTo>
                <a:lnTo>
                  <a:pt x="16" y="33"/>
                </a:lnTo>
                <a:lnTo>
                  <a:pt x="0" y="33"/>
                </a:lnTo>
                <a:close/>
              </a:path>
            </a:pathLst>
          </a:custGeom>
          <a:solidFill>
            <a:srgbClr val="9E7E0A">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41195" y="3143250"/>
            <a:ext cx="114300" cy="1666875"/>
          </a:xfrm>
          <a:prstGeom prst="rect">
            <a:avLst/>
          </a:prstGeom>
          <a:solidFill>
            <a:srgbClr val="3D85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41195" y="4867275"/>
            <a:ext cx="114300" cy="16668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0725" y="3143250"/>
            <a:ext cx="114300" cy="270886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00725" y="5909265"/>
            <a:ext cx="114300" cy="624885"/>
          </a:xfrm>
          <a:prstGeom prst="rect">
            <a:avLst/>
          </a:prstGeom>
          <a:solidFill>
            <a:srgbClr val="8C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3905250"/>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5" name="TextBox 24"/>
          <p:cNvSpPr txBox="1"/>
          <p:nvPr/>
        </p:nvSpPr>
        <p:spPr>
          <a:xfrm>
            <a:off x="257175" y="5629275"/>
            <a:ext cx="1626870" cy="142875"/>
          </a:xfrm>
          <a:prstGeom prst="rect">
            <a:avLst/>
          </a:prstGeom>
          <a:noFill/>
        </p:spPr>
        <p:txBody>
          <a:bodyPr wrap="square" lIns="0" rIns="19050" tIns="0" bIns="0" anchor="ctr">
            <a:spAutoFit/>
          </a:bodyPr>
          <a:lstStyle/>
          <a:p>
            <a:pPr algn="r"/>
            <a:r>
              <a:rPr sz="1100" b="1">
                <a:solidFill>
                  <a:srgbClr val="2E2E2E"/>
                </a:solidFill>
                <a:latin typeface="Calibri"/>
              </a:rPr>
              <a:t/>
            </a:r>
            <a:r>
              <a:rPr sz="1100" b="0">
                <a:solidFill>
                  <a:srgbClr val="6C7A89"/>
                </a:solidFill>
                <a:latin typeface="Calibri"/>
              </a:rPr>
              <a:t/>
            </a:r>
          </a:p>
        </p:txBody>
      </p:sp>
      <p:sp>
        <p:nvSpPr>
          <p:cNvPr id="26" name="TextBox 25"/>
          <p:cNvSpPr txBox="1"/>
          <p:nvPr/>
        </p:nvSpPr>
        <p:spPr>
          <a:xfrm>
            <a:off x="5972175" y="4426245"/>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7" name="TextBox 26"/>
          <p:cNvSpPr txBox="1"/>
          <p:nvPr/>
        </p:nvSpPr>
        <p:spPr>
          <a:xfrm>
            <a:off x="5972175" y="6150270"/>
            <a:ext cx="1381125" cy="142875"/>
          </a:xfrm>
          <a:prstGeom prst="rect">
            <a:avLst/>
          </a:prstGeom>
          <a:noFill/>
        </p:spPr>
        <p:txBody>
          <a:bodyPr wrap="square" lIns="0" rIns="19050" tIns="0" bIns="0" anchor="ctr">
            <a:spAutoFit/>
          </a:bodyPr>
          <a:lstStyle/>
          <a:p>
            <a:pPr algn="l"/>
            <a:r>
              <a:rPr sz="1100" b="1">
                <a:solidFill>
                  <a:srgbClr val="2E2E2E"/>
                </a:solidFill>
                <a:latin typeface="Calibri"/>
              </a:rPr>
              <a:t/>
            </a:r>
            <a:r>
              <a:rPr sz="1100" b="0">
                <a:solidFill>
                  <a:srgbClr val="6C7A89"/>
                </a:solidFill>
                <a:latin typeface="Calibri"/>
              </a:rPr>
              <a:t/>
            </a:r>
          </a:p>
        </p:txBody>
      </p:sp>
      <p:sp>
        <p:nvSpPr>
          <p:cNvPr id="28" name="Rounded Rectangle 27"/>
          <p:cNvSpPr/>
          <p:nvPr/>
        </p:nvSpPr>
        <p:spPr>
          <a:xfrm>
            <a:off x="7581900" y="2819400"/>
            <a:ext cx="4457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15250" y="2905125"/>
            <a:ext cx="419100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30" name="Rectangle 29"/>
          <p:cNvSpPr/>
          <p:nvPr/>
        </p:nvSpPr>
        <p:spPr>
          <a:xfrm>
            <a:off x="7715250" y="314325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15250" y="3228975"/>
            <a:ext cx="4191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4"/>
          <a:stretch>
            <a:fillRect/>
          </a:stretch>
        </p:blipFill>
        <p:spPr>
          <a:xfrm>
            <a:off x="8280779" y="1864423"/>
            <a:ext cx="330041" cy="480060"/>
          </a:xfrm>
          <a:prstGeom prst="rect">
            <a:avLst/>
          </a:prstGeom>
        </p:spPr>
      </p:pic>
      <p:sp>
        <p:nvSpPr>
          <p:cNvPr id="34" name="TextBox 33"/>
          <p:cNvSpPr txBox="1"/>
          <p:nvPr/>
        </p:nvSpPr>
        <p:spPr>
          <a:xfrm>
            <a:off x="600521" y="3916337"/>
            <a:ext cx="1229772" cy="139750"/>
          </a:xfrm>
          <a:prstGeom prst="rect">
            <a:avLst/>
          </a:prstGeom>
          <a:noFill/>
        </p:spPr>
        <p:txBody>
          <a:bodyPr wrap="none" lIns="0" rIns="0" tIns="0" bIns="0">
            <a:spAutoFit/>
          </a:bodyPr>
          <a:lstStyle/>
          <a:p>
            <a:r>
              <a:rPr sz="791" b="1">
                <a:solidFill>
                  <a:srgbClr val="2E2E2E"/>
                </a:solidFill>
                <a:latin typeface="Calibri"/>
              </a:rPr>
              <a:t>Reusable Transport Devices</a:t>
            </a:r>
          </a:p>
        </p:txBody>
      </p:sp>
      <p:pic>
        <p:nvPicPr>
          <p:cNvPr id="35" name="Picture 34" descr="lock.png"/>
          <p:cNvPicPr>
            <a:picLocks noChangeAspect="1"/>
          </p:cNvPicPr>
          <p:nvPr/>
        </p:nvPicPr>
        <p:blipFill>
          <a:blip r:embed="rId4"/>
          <a:stretch>
            <a:fillRect/>
          </a:stretch>
        </p:blipFill>
        <p:spPr>
          <a:xfrm>
            <a:off x="1771555" y="3909296"/>
            <a:ext cx="92663" cy="134782"/>
          </a:xfrm>
          <a:prstGeom prst="rect">
            <a:avLst/>
          </a:prstGeom>
        </p:spPr>
      </p:pic>
      <p:sp>
        <p:nvSpPr>
          <p:cNvPr id="36" name="TextBox 35"/>
          <p:cNvSpPr txBox="1"/>
          <p:nvPr/>
        </p:nvSpPr>
        <p:spPr>
          <a:xfrm>
            <a:off x="544336" y="5640362"/>
            <a:ext cx="1285958" cy="139750"/>
          </a:xfrm>
          <a:prstGeom prst="rect">
            <a:avLst/>
          </a:prstGeom>
          <a:noFill/>
        </p:spPr>
        <p:txBody>
          <a:bodyPr wrap="none" lIns="0" rIns="0" tIns="0" bIns="0">
            <a:spAutoFit/>
          </a:bodyPr>
          <a:lstStyle/>
          <a:p>
            <a:r>
              <a:rPr sz="791" b="1">
                <a:solidFill>
                  <a:srgbClr val="2E2E2E"/>
                </a:solidFill>
                <a:latin typeface="Calibri"/>
              </a:rPr>
              <a:t>Single-Use Transport Devices</a:t>
            </a:r>
          </a:p>
        </p:txBody>
      </p:sp>
      <p:pic>
        <p:nvPicPr>
          <p:cNvPr id="37" name="Picture 36" descr="lock.png"/>
          <p:cNvPicPr>
            <a:picLocks noChangeAspect="1"/>
          </p:cNvPicPr>
          <p:nvPr/>
        </p:nvPicPr>
        <p:blipFill>
          <a:blip r:embed="rId4"/>
          <a:stretch>
            <a:fillRect/>
          </a:stretch>
        </p:blipFill>
        <p:spPr>
          <a:xfrm>
            <a:off x="1771555" y="5633321"/>
            <a:ext cx="92663" cy="134782"/>
          </a:xfrm>
          <a:prstGeom prst="rect">
            <a:avLst/>
          </a:prstGeom>
        </p:spPr>
      </p:pic>
      <p:sp>
        <p:nvSpPr>
          <p:cNvPr id="38" name="TextBox 37"/>
          <p:cNvSpPr txBox="1"/>
          <p:nvPr/>
        </p:nvSpPr>
        <p:spPr>
          <a:xfrm>
            <a:off x="5972175" y="4437332"/>
            <a:ext cx="563403" cy="139750"/>
          </a:xfrm>
          <a:prstGeom prst="rect">
            <a:avLst/>
          </a:prstGeom>
          <a:noFill/>
        </p:spPr>
        <p:txBody>
          <a:bodyPr wrap="none" lIns="0" rIns="0" tIns="0" bIns="0">
            <a:spAutoFit/>
          </a:bodyPr>
          <a:lstStyle/>
          <a:p>
            <a:r>
              <a:rPr sz="791" b="1">
                <a:solidFill>
                  <a:srgbClr val="2E2E2E"/>
                </a:solidFill>
                <a:latin typeface="Calibri"/>
              </a:rPr>
              <a:t>Direct Sales</a:t>
            </a:r>
          </a:p>
        </p:txBody>
      </p:sp>
      <p:pic>
        <p:nvPicPr>
          <p:cNvPr id="39" name="Picture 38" descr="lock.png"/>
          <p:cNvPicPr>
            <a:picLocks noChangeAspect="1"/>
          </p:cNvPicPr>
          <p:nvPr/>
        </p:nvPicPr>
        <p:blipFill>
          <a:blip r:embed="rId4"/>
          <a:stretch>
            <a:fillRect/>
          </a:stretch>
        </p:blipFill>
        <p:spPr>
          <a:xfrm>
            <a:off x="6476839" y="4430291"/>
            <a:ext cx="92663" cy="134782"/>
          </a:xfrm>
          <a:prstGeom prst="rect">
            <a:avLst/>
          </a:prstGeom>
        </p:spPr>
      </p:pic>
      <p:sp>
        <p:nvSpPr>
          <p:cNvPr id="40" name="TextBox 39"/>
          <p:cNvSpPr txBox="1"/>
          <p:nvPr/>
        </p:nvSpPr>
        <p:spPr>
          <a:xfrm>
            <a:off x="5972175" y="6161357"/>
            <a:ext cx="768304" cy="139750"/>
          </a:xfrm>
          <a:prstGeom prst="rect">
            <a:avLst/>
          </a:prstGeom>
          <a:noFill/>
        </p:spPr>
        <p:txBody>
          <a:bodyPr wrap="none" lIns="0" rIns="0" tIns="0" bIns="0">
            <a:spAutoFit/>
          </a:bodyPr>
          <a:lstStyle/>
          <a:p>
            <a:r>
              <a:rPr sz="791" b="1">
                <a:solidFill>
                  <a:srgbClr val="2E2E2E"/>
                </a:solidFill>
                <a:latin typeface="Calibri"/>
              </a:rPr>
              <a:t>Distributor Sales</a:t>
            </a:r>
          </a:p>
        </p:txBody>
      </p:sp>
      <p:pic>
        <p:nvPicPr>
          <p:cNvPr id="41" name="Picture 40" descr="lock.png"/>
          <p:cNvPicPr>
            <a:picLocks noChangeAspect="1"/>
          </p:cNvPicPr>
          <p:nvPr/>
        </p:nvPicPr>
        <p:blipFill>
          <a:blip r:embed="rId4"/>
          <a:stretch>
            <a:fillRect/>
          </a:stretch>
        </p:blipFill>
        <p:spPr>
          <a:xfrm>
            <a:off x="6681740" y="6154316"/>
            <a:ext cx="92663" cy="134782"/>
          </a:xfrm>
          <a:prstGeom prst="rect">
            <a:avLst/>
          </a:prstGeom>
        </p:spPr>
      </p:pic>
      <p:sp>
        <p:nvSpPr>
          <p:cNvPr id="42" name="TextBox 41"/>
          <p:cNvSpPr txBox="1"/>
          <p:nvPr/>
        </p:nvSpPr>
        <p:spPr>
          <a:xfrm>
            <a:off x="7715250" y="3238500"/>
            <a:ext cx="4059200" cy="194310"/>
          </a:xfrm>
          <a:prstGeom prst="rect">
            <a:avLst/>
          </a:prstGeom>
          <a:noFill/>
        </p:spPr>
        <p:txBody>
          <a:bodyPr wrap="none" lIns="0" rIns="0" tIns="0" bIns="0">
            <a:spAutoFit/>
          </a:bodyPr>
          <a:lstStyle/>
          <a:p>
            <a:r>
              <a:rPr sz="1150" b="0">
                <a:solidFill>
                  <a:srgbClr val="2E2E2E"/>
                </a:solidFill>
                <a:latin typeface="Calibri"/>
              </a:rPr>
              <a:t>Reusable transport devices segment is projected to account for the</a:t>
            </a:r>
          </a:p>
        </p:txBody>
      </p:sp>
      <p:sp>
        <p:nvSpPr>
          <p:cNvPr id="43" name="TextBox 42"/>
          <p:cNvSpPr txBox="1"/>
          <p:nvPr/>
        </p:nvSpPr>
        <p:spPr>
          <a:xfrm>
            <a:off x="7715250" y="3413760"/>
            <a:ext cx="4171950" cy="194310"/>
          </a:xfrm>
          <a:prstGeom prst="rect">
            <a:avLst/>
          </a:prstGeom>
          <a:noFill/>
        </p:spPr>
        <p:txBody>
          <a:bodyPr wrap="none" lIns="0" rIns="0" tIns="0" bIns="0">
            <a:spAutoFit/>
          </a:bodyPr>
          <a:lstStyle/>
          <a:p>
            <a:r>
              <a:rPr sz="1150" b="0">
                <a:solidFill>
                  <a:srgbClr val="2E2E2E"/>
                </a:solidFill>
                <a:latin typeface="Calibri"/>
              </a:rPr>
              <a:t>largest share of the U.S. organ transport devices market, led by direct</a:t>
            </a:r>
          </a:p>
        </p:txBody>
      </p:sp>
      <p:sp>
        <p:nvSpPr>
          <p:cNvPr id="44" name="TextBox 43"/>
          <p:cNvSpPr txBox="1"/>
          <p:nvPr/>
        </p:nvSpPr>
        <p:spPr>
          <a:xfrm>
            <a:off x="7715250" y="3589019"/>
            <a:ext cx="786767" cy="194310"/>
          </a:xfrm>
          <a:prstGeom prst="rect">
            <a:avLst/>
          </a:prstGeom>
          <a:noFill/>
        </p:spPr>
        <p:txBody>
          <a:bodyPr wrap="none" lIns="0" rIns="0" tIns="0" bIns="0">
            <a:spAutoFit/>
          </a:bodyPr>
          <a:lstStyle/>
          <a:p>
            <a:r>
              <a:rPr sz="1150" b="0">
                <a:solidFill>
                  <a:srgbClr val="2E2E2E"/>
                </a:solidFill>
                <a:latin typeface="Calibri"/>
              </a:rPr>
              <a:t>sales at US$</a:t>
            </a:r>
          </a:p>
        </p:txBody>
      </p:sp>
      <p:pic>
        <p:nvPicPr>
          <p:cNvPr id="45" name="Picture 44" descr="lock.png"/>
          <p:cNvPicPr>
            <a:picLocks noChangeAspect="1"/>
          </p:cNvPicPr>
          <p:nvPr/>
        </p:nvPicPr>
        <p:blipFill>
          <a:blip r:embed="rId4"/>
          <a:stretch>
            <a:fillRect/>
          </a:stretch>
        </p:blipFill>
        <p:spPr>
          <a:xfrm>
            <a:off x="8451171" y="3578796"/>
            <a:ext cx="134549" cy="195707"/>
          </a:xfrm>
          <a:prstGeom prst="rect">
            <a:avLst/>
          </a:prstGeom>
        </p:spPr>
      </p:pic>
      <p:sp>
        <p:nvSpPr>
          <p:cNvPr id="46" name="TextBox 45"/>
          <p:cNvSpPr txBox="1"/>
          <p:nvPr/>
        </p:nvSpPr>
        <p:spPr>
          <a:xfrm>
            <a:off x="8626280" y="3589019"/>
            <a:ext cx="3071366" cy="194310"/>
          </a:xfrm>
          <a:prstGeom prst="rect">
            <a:avLst/>
          </a:prstGeom>
          <a:noFill/>
        </p:spPr>
        <p:txBody>
          <a:bodyPr wrap="none" lIns="0" rIns="0" tIns="0" bIns="0">
            <a:spAutoFit/>
          </a:bodyPr>
          <a:lstStyle/>
          <a:p>
            <a:r>
              <a:rPr sz="1150" b="0">
                <a:solidFill>
                  <a:srgbClr val="2E2E2E"/>
                </a:solidFill>
                <a:latin typeface="Calibri"/>
              </a:rPr>
              <a:t>Mn in 2036. 'Single-Use Transport Devices × Direct</a:t>
            </a:r>
          </a:p>
        </p:txBody>
      </p:sp>
      <p:sp>
        <p:nvSpPr>
          <p:cNvPr id="47" name="TextBox 46"/>
          <p:cNvSpPr txBox="1"/>
          <p:nvPr/>
        </p:nvSpPr>
        <p:spPr>
          <a:xfrm>
            <a:off x="7715250" y="3764279"/>
            <a:ext cx="2801230" cy="194310"/>
          </a:xfrm>
          <a:prstGeom prst="rect">
            <a:avLst/>
          </a:prstGeom>
          <a:noFill/>
        </p:spPr>
        <p:txBody>
          <a:bodyPr wrap="none" lIns="0" rIns="0" tIns="0" bIns="0">
            <a:spAutoFit/>
          </a:bodyPr>
          <a:lstStyle/>
          <a:p>
            <a:r>
              <a:rPr sz="1150" b="0">
                <a:solidFill>
                  <a:srgbClr val="2E2E2E"/>
                </a:solidFill>
                <a:latin typeface="Calibri"/>
              </a:rPr>
              <a:t>Sales' is the single largest cross-sectional cell (</a:t>
            </a:r>
          </a:p>
        </p:txBody>
      </p:sp>
      <p:pic>
        <p:nvPicPr>
          <p:cNvPr id="48" name="Picture 47" descr="lock.png"/>
          <p:cNvPicPr>
            <a:picLocks noChangeAspect="1"/>
          </p:cNvPicPr>
          <p:nvPr/>
        </p:nvPicPr>
        <p:blipFill>
          <a:blip r:embed="rId4"/>
          <a:stretch>
            <a:fillRect/>
          </a:stretch>
        </p:blipFill>
        <p:spPr>
          <a:xfrm>
            <a:off x="10465634" y="3754056"/>
            <a:ext cx="134549" cy="195707"/>
          </a:xfrm>
          <a:prstGeom prst="rect">
            <a:avLst/>
          </a:prstGeom>
        </p:spPr>
      </p:pic>
      <p:sp>
        <p:nvSpPr>
          <p:cNvPr id="49" name="TextBox 48"/>
          <p:cNvSpPr txBox="1"/>
          <p:nvPr/>
        </p:nvSpPr>
        <p:spPr>
          <a:xfrm>
            <a:off x="10640743" y="3764279"/>
            <a:ext cx="1064319" cy="194310"/>
          </a:xfrm>
          <a:prstGeom prst="rect">
            <a:avLst/>
          </a:prstGeom>
          <a:noFill/>
        </p:spPr>
        <p:txBody>
          <a:bodyPr wrap="none" lIns="0" rIns="0" tIns="0" bIns="0">
            <a:spAutoFit/>
          </a:bodyPr>
          <a:lstStyle/>
          <a:p>
            <a:r>
              <a:rPr sz="1150" b="0">
                <a:solidFill>
                  <a:srgbClr val="2E2E2E"/>
                </a:solidFill>
                <a:latin typeface="Calibri"/>
              </a:rPr>
              <a:t>US$ Mn, 2026E),</a:t>
            </a:r>
          </a:p>
        </p:txBody>
      </p:sp>
      <p:sp>
        <p:nvSpPr>
          <p:cNvPr id="50" name="TextBox 49"/>
          <p:cNvSpPr txBox="1"/>
          <p:nvPr/>
        </p:nvSpPr>
        <p:spPr>
          <a:xfrm>
            <a:off x="7715250" y="3939539"/>
            <a:ext cx="4109119" cy="194310"/>
          </a:xfrm>
          <a:prstGeom prst="rect">
            <a:avLst/>
          </a:prstGeom>
          <a:noFill/>
        </p:spPr>
        <p:txBody>
          <a:bodyPr wrap="none" lIns="0" rIns="0" tIns="0" bIns="0">
            <a:spAutoFit/>
          </a:bodyPr>
          <a:lstStyle/>
          <a:p>
            <a:r>
              <a:rPr sz="1150" b="0">
                <a:solidFill>
                  <a:srgbClr val="2E2E2E"/>
                </a:solidFill>
                <a:latin typeface="Calibri"/>
              </a:rPr>
              <a:t>while 'Reusable Transport Devices × Direct Sales' records the fastest</a:t>
            </a:r>
          </a:p>
        </p:txBody>
      </p:sp>
      <p:sp>
        <p:nvSpPr>
          <p:cNvPr id="51" name="TextBox 50"/>
          <p:cNvSpPr txBox="1"/>
          <p:nvPr/>
        </p:nvSpPr>
        <p:spPr>
          <a:xfrm>
            <a:off x="7715250" y="4114799"/>
            <a:ext cx="1279668" cy="194310"/>
          </a:xfrm>
          <a:prstGeom prst="rect">
            <a:avLst/>
          </a:prstGeom>
          <a:noFill/>
        </p:spPr>
        <p:txBody>
          <a:bodyPr wrap="none" lIns="0" rIns="0" tIns="0" bIns="0">
            <a:spAutoFit/>
          </a:bodyPr>
          <a:lstStyle/>
          <a:p>
            <a:r>
              <a:rPr sz="1150" b="0">
                <a:solidFill>
                  <a:srgbClr val="2E2E2E"/>
                </a:solidFill>
                <a:latin typeface="Calibri"/>
              </a:rPr>
              <a:t>growth at a CAGR of</a:t>
            </a:r>
          </a:p>
        </p:txBody>
      </p:sp>
      <p:pic>
        <p:nvPicPr>
          <p:cNvPr id="52" name="Picture 51" descr="lock.png"/>
          <p:cNvPicPr>
            <a:picLocks noChangeAspect="1"/>
          </p:cNvPicPr>
          <p:nvPr/>
        </p:nvPicPr>
        <p:blipFill>
          <a:blip r:embed="rId4"/>
          <a:stretch>
            <a:fillRect/>
          </a:stretch>
        </p:blipFill>
        <p:spPr>
          <a:xfrm>
            <a:off x="8944072" y="4104576"/>
            <a:ext cx="134549" cy="195707"/>
          </a:xfrm>
          <a:prstGeom prst="rect">
            <a:avLst/>
          </a:prstGeom>
        </p:spPr>
      </p:pic>
      <p:sp>
        <p:nvSpPr>
          <p:cNvPr id="53" name="TextBox 52"/>
          <p:cNvSpPr txBox="1"/>
          <p:nvPr/>
        </p:nvSpPr>
        <p:spPr>
          <a:xfrm>
            <a:off x="9119181" y="4114799"/>
            <a:ext cx="1217001" cy="194310"/>
          </a:xfrm>
          <a:prstGeom prst="rect">
            <a:avLst/>
          </a:prstGeom>
          <a:noFill/>
        </p:spPr>
        <p:txBody>
          <a:bodyPr wrap="none" lIns="0" rIns="0" tIns="0" bIns="0">
            <a:spAutoFit/>
          </a:bodyPr>
          <a:lstStyle/>
          <a:p>
            <a:r>
              <a:rPr sz="1150" b="0">
                <a:solidFill>
                  <a:srgbClr val="2E2E2E"/>
                </a:solidFill>
                <a:latin typeface="Calibri"/>
              </a:rPr>
              <a:t>over 2026E–2036F.</a:t>
            </a:r>
          </a:p>
        </p:txBody>
      </p:sp>
      <p:sp>
        <p:nvSpPr>
          <p:cNvPr id="54" name="TextBox 53"/>
          <p:cNvSpPr txBox="1"/>
          <p:nvPr/>
        </p:nvSpPr>
        <p:spPr>
          <a:xfrm>
            <a:off x="7715250" y="4342637"/>
            <a:ext cx="3836987" cy="194310"/>
          </a:xfrm>
          <a:prstGeom prst="rect">
            <a:avLst/>
          </a:prstGeom>
          <a:noFill/>
        </p:spPr>
        <p:txBody>
          <a:bodyPr wrap="none" lIns="0" rIns="0" tIns="0" bIns="0">
            <a:spAutoFit/>
          </a:bodyPr>
          <a:lstStyle/>
          <a:p>
            <a:r>
              <a:rPr sz="1150" b="0">
                <a:solidFill>
                  <a:srgbClr val="2E2E2E"/>
                </a:solidFill>
                <a:latin typeface="Calibri"/>
              </a:rPr>
              <a:t>Combined, the top three device reusability × sales channel cells</a:t>
            </a:r>
          </a:p>
        </p:txBody>
      </p:sp>
      <p:sp>
        <p:nvSpPr>
          <p:cNvPr id="55" name="TextBox 54"/>
          <p:cNvSpPr txBox="1"/>
          <p:nvPr/>
        </p:nvSpPr>
        <p:spPr>
          <a:xfrm>
            <a:off x="7715250" y="4517897"/>
            <a:ext cx="2340545" cy="194310"/>
          </a:xfrm>
          <a:prstGeom prst="rect">
            <a:avLst/>
          </a:prstGeom>
          <a:noFill/>
        </p:spPr>
        <p:txBody>
          <a:bodyPr wrap="none" lIns="0" rIns="0" tIns="0" bIns="0">
            <a:spAutoFit/>
          </a:bodyPr>
          <a:lstStyle/>
          <a:p>
            <a:r>
              <a:rPr sz="1150" b="0">
                <a:solidFill>
                  <a:srgbClr val="2E2E2E"/>
                </a:solidFill>
                <a:latin typeface="Calibri"/>
              </a:rPr>
              <a:t>generate an absolute $ opportunity of</a:t>
            </a:r>
          </a:p>
        </p:txBody>
      </p:sp>
      <p:pic>
        <p:nvPicPr>
          <p:cNvPr id="56" name="Picture 55" descr="lock.png"/>
          <p:cNvPicPr>
            <a:picLocks noChangeAspect="1"/>
          </p:cNvPicPr>
          <p:nvPr/>
        </p:nvPicPr>
        <p:blipFill>
          <a:blip r:embed="rId4"/>
          <a:stretch>
            <a:fillRect/>
          </a:stretch>
        </p:blipFill>
        <p:spPr>
          <a:xfrm>
            <a:off x="10004949" y="4507674"/>
            <a:ext cx="134549" cy="195707"/>
          </a:xfrm>
          <a:prstGeom prst="rect">
            <a:avLst/>
          </a:prstGeom>
        </p:spPr>
      </p:pic>
      <p:sp>
        <p:nvSpPr>
          <p:cNvPr id="57" name="TextBox 56"/>
          <p:cNvSpPr txBox="1"/>
          <p:nvPr/>
        </p:nvSpPr>
        <p:spPr>
          <a:xfrm>
            <a:off x="10180058" y="4517897"/>
            <a:ext cx="1155386" cy="194310"/>
          </a:xfrm>
          <a:prstGeom prst="rect">
            <a:avLst/>
          </a:prstGeom>
          <a:noFill/>
        </p:spPr>
        <p:txBody>
          <a:bodyPr wrap="none" lIns="0" rIns="0" tIns="0" bIns="0">
            <a:spAutoFit/>
          </a:bodyPr>
          <a:lstStyle/>
          <a:p>
            <a:r>
              <a:rPr sz="1150" b="0">
                <a:solidFill>
                  <a:srgbClr val="2E2E2E"/>
                </a:solidFill>
                <a:latin typeface="Calibri"/>
              </a:rPr>
              <a:t>US$ Mn by 2036F.</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Market Share Analysis: Device Reusability × Sales Channel, 2026E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 share of U.S. market value, each row split across all sales channel sub-segments</a:t>
            </a:r>
          </a:p>
        </p:txBody>
      </p:sp>
      <p:sp>
        <p:nvSpPr>
          <p:cNvPr id="10" name="Rounded Rectangle 9"/>
          <p:cNvSpPr/>
          <p:nvPr/>
        </p:nvSpPr>
        <p:spPr>
          <a:xfrm>
            <a:off x="142875" y="981075"/>
            <a:ext cx="11906250" cy="1457325"/>
          </a:xfrm>
          <a:prstGeom prst="roundRect">
            <a:avLst>
              <a:gd name="adj" fmla="val 522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U.S. Value Share, Device Reusability × Sales Channel, 2026E (% of each row)</a:t>
            </a:r>
          </a:p>
        </p:txBody>
      </p:sp>
      <p:graphicFrame>
        <p:nvGraphicFramePr>
          <p:cNvPr id="12" name="Table 11"/>
          <p:cNvGraphicFramePr>
            <a:graphicFrameLocks noGrp="1"/>
          </p:cNvGraphicFramePr>
          <p:nvPr/>
        </p:nvGraphicFramePr>
        <p:xfrm>
          <a:off x="152400" y="1238250"/>
          <a:ext cx="11887201" cy="990600"/>
        </p:xfrm>
        <a:graphic>
          <a:graphicData uri="http://schemas.openxmlformats.org/drawingml/2006/table">
            <a:tbl>
              <a:tblPr>
                <a:tableStyleId>{5C22544A-7EE6-4342-B048-85BDC9FD1C3A}</a:tableStyleId>
              </a:tblPr>
              <a:tblGrid>
                <a:gridCol w="4272838"/>
                <a:gridCol w="2538121"/>
                <a:gridCol w="2538121"/>
                <a:gridCol w="2538121"/>
              </a:tblGrid>
              <a:tr h="246126">
                <a:tc>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r>
              <a:tr h="248158">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158">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158">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2383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571750"/>
            <a:ext cx="7286625"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62890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Sales Channel Mix by Device Reusability, 2026E (% share)</a:t>
            </a:r>
          </a:p>
        </p:txBody>
      </p:sp>
      <p:graphicFrame>
        <p:nvGraphicFramePr>
          <p:cNvPr id="16" name="Chart 15"/>
          <p:cNvGraphicFramePr>
            <a:graphicFrameLocks noGrp="1"/>
          </p:cNvGraphicFramePr>
          <p:nvPr/>
        </p:nvGraphicFramePr>
        <p:xfrm>
          <a:off x="238125" y="2857500"/>
          <a:ext cx="7096125" cy="3714750"/>
        </p:xfrm>
        <a:graphic>
          <a:graphicData uri="http://schemas.openxmlformats.org/drawingml/2006/chart">
            <c:chart xmlns:c="http://schemas.openxmlformats.org/drawingml/2006/chart" r:id="rId3"/>
          </a:graphicData>
        </a:graphic>
      </p:graphicFrame>
      <p:sp>
        <p:nvSpPr>
          <p:cNvPr id="17" name="Rounded Rectangle 16"/>
          <p:cNvSpPr/>
          <p:nvPr/>
        </p:nvSpPr>
        <p:spPr>
          <a:xfrm>
            <a:off x="7581900" y="2571750"/>
            <a:ext cx="4457700" cy="4057650"/>
          </a:xfrm>
          <a:prstGeom prst="roundRect">
            <a:avLst>
              <a:gd name="adj" fmla="val 1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5250" y="2657475"/>
            <a:ext cx="4191000" cy="209550"/>
          </a:xfrm>
          <a:prstGeom prst="rect">
            <a:avLst/>
          </a:prstGeom>
          <a:noFill/>
        </p:spPr>
        <p:txBody>
          <a:bodyPr wrap="square" lIns="0" rIns="19050" tIns="9525" bIns="9525">
            <a:spAutoFit/>
          </a:bodyPr>
          <a:lstStyle/>
          <a:p>
            <a:pPr algn="l"/>
            <a:r>
              <a:rPr sz="1300" b="1">
                <a:solidFill>
                  <a:srgbClr val="0B2E4A"/>
                </a:solidFill>
                <a:latin typeface="Calibri"/>
              </a:rPr>
              <a:t>Share Insights</a:t>
            </a:r>
          </a:p>
        </p:txBody>
      </p:sp>
      <p:sp>
        <p:nvSpPr>
          <p:cNvPr id="19" name="Rectangle 18"/>
          <p:cNvSpPr/>
          <p:nvPr/>
        </p:nvSpPr>
        <p:spPr>
          <a:xfrm>
            <a:off x="7715250" y="2895600"/>
            <a:ext cx="4191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5250" y="2981325"/>
            <a:ext cx="4191000" cy="35718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5"/>
          <a:stretch>
            <a:fillRect/>
          </a:stretch>
        </p:blipFill>
        <p:spPr>
          <a:xfrm>
            <a:off x="8059923" y="1610189"/>
            <a:ext cx="338832" cy="492846"/>
          </a:xfrm>
          <a:prstGeom prst="rect">
            <a:avLst/>
          </a:prstGeom>
        </p:spPr>
      </p:pic>
      <p:pic>
        <p:nvPicPr>
          <p:cNvPr id="23" name="Picture 22" descr="lock.png"/>
          <p:cNvPicPr>
            <a:picLocks noChangeAspect="1"/>
          </p:cNvPicPr>
          <p:nvPr/>
        </p:nvPicPr>
        <p:blipFill>
          <a:blip r:embed="rId5"/>
          <a:stretch>
            <a:fillRect/>
          </a:stretch>
        </p:blipFill>
        <p:spPr>
          <a:xfrm>
            <a:off x="3709408" y="3701240"/>
            <a:ext cx="440818" cy="641190"/>
          </a:xfrm>
          <a:prstGeom prst="rect">
            <a:avLst/>
          </a:prstGeom>
        </p:spPr>
      </p:pic>
      <p:sp>
        <p:nvSpPr>
          <p:cNvPr id="24" name="TextBox 23"/>
          <p:cNvSpPr txBox="1"/>
          <p:nvPr/>
        </p:nvSpPr>
        <p:spPr>
          <a:xfrm>
            <a:off x="7715250" y="2990850"/>
            <a:ext cx="3785356" cy="194310"/>
          </a:xfrm>
          <a:prstGeom prst="rect">
            <a:avLst/>
          </a:prstGeom>
          <a:noFill/>
        </p:spPr>
        <p:txBody>
          <a:bodyPr wrap="none" lIns="0" rIns="0" tIns="0" bIns="0">
            <a:spAutoFit/>
          </a:bodyPr>
          <a:lstStyle/>
          <a:p>
            <a:r>
              <a:rPr sz="1150" b="0">
                <a:solidFill>
                  <a:srgbClr val="2E2E2E"/>
                </a:solidFill>
                <a:latin typeface="Calibri"/>
              </a:rPr>
              <a:t>▪ 'Direct Sales' holds the highest share of 'Single-Use Transport</a:t>
            </a:r>
          </a:p>
        </p:txBody>
      </p:sp>
      <p:sp>
        <p:nvSpPr>
          <p:cNvPr id="25" name="TextBox 24"/>
          <p:cNvSpPr txBox="1"/>
          <p:nvPr/>
        </p:nvSpPr>
        <p:spPr>
          <a:xfrm>
            <a:off x="7715250" y="3166110"/>
            <a:ext cx="714312" cy="194310"/>
          </a:xfrm>
          <a:prstGeom prst="rect">
            <a:avLst/>
          </a:prstGeom>
          <a:noFill/>
        </p:spPr>
        <p:txBody>
          <a:bodyPr wrap="none" lIns="0" rIns="0" tIns="0" bIns="0">
            <a:spAutoFit/>
          </a:bodyPr>
          <a:lstStyle/>
          <a:p>
            <a:r>
              <a:rPr sz="1150" b="0">
                <a:solidFill>
                  <a:srgbClr val="2E2E2E"/>
                </a:solidFill>
                <a:latin typeface="Calibri"/>
              </a:rPr>
              <a:t>Devices' at</a:t>
            </a:r>
          </a:p>
        </p:txBody>
      </p:sp>
      <p:pic>
        <p:nvPicPr>
          <p:cNvPr id="26" name="Picture 25" descr="lock.png"/>
          <p:cNvPicPr>
            <a:picLocks noChangeAspect="1"/>
          </p:cNvPicPr>
          <p:nvPr/>
        </p:nvPicPr>
        <p:blipFill>
          <a:blip r:embed="rId5"/>
          <a:stretch>
            <a:fillRect/>
          </a:stretch>
        </p:blipFill>
        <p:spPr>
          <a:xfrm>
            <a:off x="8378716" y="3155886"/>
            <a:ext cx="134549" cy="195707"/>
          </a:xfrm>
          <a:prstGeom prst="rect">
            <a:avLst/>
          </a:prstGeom>
        </p:spPr>
      </p:pic>
      <p:sp>
        <p:nvSpPr>
          <p:cNvPr id="27" name="TextBox 26"/>
          <p:cNvSpPr txBox="1"/>
          <p:nvPr/>
        </p:nvSpPr>
        <p:spPr>
          <a:xfrm>
            <a:off x="8553826" y="3166110"/>
            <a:ext cx="569404" cy="194310"/>
          </a:xfrm>
          <a:prstGeom prst="rect">
            <a:avLst/>
          </a:prstGeom>
          <a:noFill/>
        </p:spPr>
        <p:txBody>
          <a:bodyPr wrap="none" lIns="0" rIns="0" tIns="0" bIns="0">
            <a:spAutoFit/>
          </a:bodyPr>
          <a:lstStyle/>
          <a:p>
            <a:r>
              <a:rPr sz="1150" b="0">
                <a:solidFill>
                  <a:srgbClr val="2E2E2E"/>
                </a:solidFill>
                <a:latin typeface="Calibri"/>
              </a:rPr>
              <a:t>(2026E).</a:t>
            </a:r>
          </a:p>
        </p:txBody>
      </p:sp>
      <p:sp>
        <p:nvSpPr>
          <p:cNvPr id="28" name="TextBox 27"/>
          <p:cNvSpPr txBox="1"/>
          <p:nvPr/>
        </p:nvSpPr>
        <p:spPr>
          <a:xfrm>
            <a:off x="7715250" y="3393947"/>
            <a:ext cx="3880060" cy="194310"/>
          </a:xfrm>
          <a:prstGeom prst="rect">
            <a:avLst/>
          </a:prstGeom>
          <a:noFill/>
        </p:spPr>
        <p:txBody>
          <a:bodyPr wrap="none" lIns="0" rIns="0" tIns="0" bIns="0">
            <a:spAutoFit/>
          </a:bodyPr>
          <a:lstStyle/>
          <a:p>
            <a:r>
              <a:rPr sz="1150" b="0">
                <a:solidFill>
                  <a:srgbClr val="2E2E2E"/>
                </a:solidFill>
                <a:latin typeface="Calibri"/>
              </a:rPr>
              <a:t>▪ 'Single-Use Transport Devices' is the most concentrated device</a:t>
            </a:r>
          </a:p>
        </p:txBody>
      </p:sp>
      <p:sp>
        <p:nvSpPr>
          <p:cNvPr id="29" name="TextBox 28"/>
          <p:cNvSpPr txBox="1"/>
          <p:nvPr/>
        </p:nvSpPr>
        <p:spPr>
          <a:xfrm>
            <a:off x="7715250" y="3569207"/>
            <a:ext cx="1832223" cy="194310"/>
          </a:xfrm>
          <a:prstGeom prst="rect">
            <a:avLst/>
          </a:prstGeom>
          <a:noFill/>
        </p:spPr>
        <p:txBody>
          <a:bodyPr wrap="none" lIns="0" rIns="0" tIns="0" bIns="0">
            <a:spAutoFit/>
          </a:bodyPr>
          <a:lstStyle/>
          <a:p>
            <a:r>
              <a:rPr sz="1150" b="0">
                <a:solidFill>
                  <a:srgbClr val="2E2E2E"/>
                </a:solidFill>
                <a:latin typeface="Calibri"/>
              </a:rPr>
              <a:t>reusability sub-segment, with</a:t>
            </a:r>
          </a:p>
        </p:txBody>
      </p:sp>
      <p:pic>
        <p:nvPicPr>
          <p:cNvPr id="30" name="Picture 29" descr="lock.png"/>
          <p:cNvPicPr>
            <a:picLocks noChangeAspect="1"/>
          </p:cNvPicPr>
          <p:nvPr/>
        </p:nvPicPr>
        <p:blipFill>
          <a:blip r:embed="rId5"/>
          <a:stretch>
            <a:fillRect/>
          </a:stretch>
        </p:blipFill>
        <p:spPr>
          <a:xfrm>
            <a:off x="9496626" y="3558984"/>
            <a:ext cx="134549" cy="195707"/>
          </a:xfrm>
          <a:prstGeom prst="rect">
            <a:avLst/>
          </a:prstGeom>
        </p:spPr>
      </p:pic>
      <p:sp>
        <p:nvSpPr>
          <p:cNvPr id="31" name="TextBox 30"/>
          <p:cNvSpPr txBox="1"/>
          <p:nvPr/>
        </p:nvSpPr>
        <p:spPr>
          <a:xfrm>
            <a:off x="9671736" y="3569207"/>
            <a:ext cx="1751210" cy="194310"/>
          </a:xfrm>
          <a:prstGeom prst="rect">
            <a:avLst/>
          </a:prstGeom>
          <a:noFill/>
        </p:spPr>
        <p:txBody>
          <a:bodyPr wrap="none" lIns="0" rIns="0" tIns="0" bIns="0">
            <a:spAutoFit/>
          </a:bodyPr>
          <a:lstStyle/>
          <a:p>
            <a:r>
              <a:rPr sz="1150" b="0">
                <a:solidFill>
                  <a:srgbClr val="2E2E2E"/>
                </a:solidFill>
                <a:latin typeface="Calibri"/>
              </a:rPr>
              <a:t>of its value via 'Direct Sales'.</a:t>
            </a:r>
          </a:p>
        </p:txBody>
      </p:sp>
      <p:sp>
        <p:nvSpPr>
          <p:cNvPr id="32" name="TextBox 31"/>
          <p:cNvSpPr txBox="1"/>
          <p:nvPr/>
        </p:nvSpPr>
        <p:spPr>
          <a:xfrm>
            <a:off x="7715250" y="3797045"/>
            <a:ext cx="1362124" cy="194310"/>
          </a:xfrm>
          <a:prstGeom prst="rect">
            <a:avLst/>
          </a:prstGeom>
          <a:noFill/>
        </p:spPr>
        <p:txBody>
          <a:bodyPr wrap="none" lIns="0" rIns="0" tIns="0" bIns="0">
            <a:spAutoFit/>
          </a:bodyPr>
          <a:lstStyle/>
          <a:p>
            <a:r>
              <a:rPr sz="1150" b="0">
                <a:solidFill>
                  <a:srgbClr val="2E2E2E"/>
                </a:solidFill>
                <a:latin typeface="Calibri"/>
              </a:rPr>
              <a:t>▪ 'Direct Sales' gains +</a:t>
            </a:r>
          </a:p>
        </p:txBody>
      </p:sp>
      <p:pic>
        <p:nvPicPr>
          <p:cNvPr id="33" name="Picture 32" descr="lock.png"/>
          <p:cNvPicPr>
            <a:picLocks noChangeAspect="1"/>
          </p:cNvPicPr>
          <p:nvPr/>
        </p:nvPicPr>
        <p:blipFill>
          <a:blip r:embed="rId5"/>
          <a:stretch>
            <a:fillRect/>
          </a:stretch>
        </p:blipFill>
        <p:spPr>
          <a:xfrm>
            <a:off x="9026528" y="3786822"/>
            <a:ext cx="134549" cy="195707"/>
          </a:xfrm>
          <a:prstGeom prst="rect">
            <a:avLst/>
          </a:prstGeom>
        </p:spPr>
      </p:pic>
      <p:sp>
        <p:nvSpPr>
          <p:cNvPr id="34" name="TextBox 33"/>
          <p:cNvSpPr txBox="1"/>
          <p:nvPr/>
        </p:nvSpPr>
        <p:spPr>
          <a:xfrm>
            <a:off x="9201637" y="3797045"/>
            <a:ext cx="2453506" cy="194310"/>
          </a:xfrm>
          <a:prstGeom prst="rect">
            <a:avLst/>
          </a:prstGeom>
          <a:noFill/>
        </p:spPr>
        <p:txBody>
          <a:bodyPr wrap="none" lIns="0" rIns="0" tIns="0" bIns="0">
            <a:spAutoFit/>
          </a:bodyPr>
          <a:lstStyle/>
          <a:p>
            <a:r>
              <a:rPr sz="1150" b="0">
                <a:solidFill>
                  <a:srgbClr val="2E2E2E"/>
                </a:solidFill>
                <a:latin typeface="Calibri"/>
              </a:rPr>
              <a:t>BPS of share of the U.S. cross-section by</a:t>
            </a:r>
          </a:p>
        </p:txBody>
      </p:sp>
      <p:sp>
        <p:nvSpPr>
          <p:cNvPr id="35" name="TextBox 34"/>
          <p:cNvSpPr txBox="1"/>
          <p:nvPr/>
        </p:nvSpPr>
        <p:spPr>
          <a:xfrm>
            <a:off x="7715250" y="3972305"/>
            <a:ext cx="476482" cy="194310"/>
          </a:xfrm>
          <a:prstGeom prst="rect">
            <a:avLst/>
          </a:prstGeom>
          <a:noFill/>
        </p:spPr>
        <p:txBody>
          <a:bodyPr wrap="none" lIns="0" rIns="0" tIns="0" bIns="0">
            <a:spAutoFit/>
          </a:bodyPr>
          <a:lstStyle/>
          <a:p>
            <a:r>
              <a:rPr sz="1150" b="0">
                <a:solidFill>
                  <a:srgbClr val="2E2E2E"/>
                </a:solidFill>
                <a:latin typeface="Calibri"/>
              </a:rPr>
              <a:t>2036F.</a:t>
            </a:r>
          </a:p>
        </p:txBody>
      </p:sp>
      <p:sp>
        <p:nvSpPr>
          <p:cNvPr id="36" name="lockshield_16"/>
          <p:cNvSpPr/>
          <p:nvPr/>
        </p:nvSpPr>
        <p:spPr>
          <a:xfrm>
            <a:off x="238125" y="2857500"/>
            <a:ext cx="7096125" cy="371475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U.S. Absolute $ Opportunity &amp; Attractiveness: Device Reusability × Sales Channel, 2026E–2036F</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Incremental value 2026E→2036F (US$ Mn) and value CAGR by cell; attractiveness index scored 1–5</a:t>
            </a:r>
          </a:p>
        </p:txBody>
      </p:sp>
      <p:sp>
        <p:nvSpPr>
          <p:cNvPr id="10" name="Rounded Rectangle 9"/>
          <p:cNvSpPr/>
          <p:nvPr/>
        </p:nvSpPr>
        <p:spPr>
          <a:xfrm>
            <a:off x="142875" y="981075"/>
            <a:ext cx="11906250" cy="1704975"/>
          </a:xfrm>
          <a:prstGeom prst="roundRect">
            <a:avLst>
              <a:gd name="adj" fmla="val 446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 Opportunity (US$ Mn) and Value CAGR, Device Reusability × Sales Channel, 2026E–2036F</a:t>
            </a:r>
          </a:p>
        </p:txBody>
      </p:sp>
      <p:graphicFrame>
        <p:nvGraphicFramePr>
          <p:cNvPr id="12" name="Table 11"/>
          <p:cNvGraphicFramePr>
            <a:graphicFrameLocks noGrp="1"/>
          </p:cNvGraphicFramePr>
          <p:nvPr/>
        </p:nvGraphicFramePr>
        <p:xfrm>
          <a:off x="152400" y="1238250"/>
          <a:ext cx="11887201" cy="1238250"/>
        </p:xfrm>
        <a:graphic>
          <a:graphicData uri="http://schemas.openxmlformats.org/drawingml/2006/table">
            <a:tbl>
              <a:tblPr>
                <a:tableStyleId>{5C22544A-7EE6-4342-B048-85BDC9FD1C3A}</a:tableStyleId>
              </a:tblPr>
              <a:tblGrid>
                <a:gridCol w="4121197"/>
                <a:gridCol w="1294334"/>
                <a:gridCol w="1294334"/>
                <a:gridCol w="1294334"/>
                <a:gridCol w="1294334"/>
                <a:gridCol w="1294334"/>
                <a:gridCol w="1294334"/>
              </a:tblGrid>
              <a:tr h="246126">
                <a:tc rowSpan="2">
                  <a:txBody>
                    <a:bodyPr wrap="none"/>
                    <a:lstStyle/>
                    <a:p>
                      <a:pPr algn="l"/>
                      <a:r>
                        <a:rPr sz="1100" b="1">
                          <a:solidFill>
                            <a:srgbClr val="0B2E4A"/>
                          </a:solidFill>
                          <a:latin typeface="Calibri"/>
                        </a:rPr>
                        <a:t>Device Reusability</a:t>
                      </a: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Direct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Distributor Sales</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c gridSpan="2">
                  <a:txBody>
                    <a:bodyPr wrap="none"/>
                    <a:lstStyle/>
                    <a:p>
                      <a:pPr algn="ctr"/>
                      <a:r>
                        <a:rPr sz="1100" b="1">
                          <a:solidFill>
                            <a:srgbClr val="0B2E4A"/>
                          </a:solidFill>
                          <a:latin typeface="Calibri"/>
                        </a:rPr>
                        <a:t>Total</a:t>
                      </a:r>
                      <a:endParaRPr sz="1100"/>
                    </a:p>
                  </a:txBody>
                  <a:tcPr marL="47625" marR="38100" marT="19050" marB="19050" anchor="ctr">
                    <a:solidFill>
                      <a:srgbClr val="E0E8EF"/>
                    </a:solidFill>
                  </a:tcPr>
                </a:tc>
                <a:tc hMerge="1">
                  <a:txBody>
                    <a:bodyPr wrap="none"/>
                    <a:lstStyle/>
                    <a:p>
                      <a:pPr algn="ctr"/>
                      <a:endParaRPr sz="1100"/>
                    </a:p>
                  </a:txBody>
                  <a:tcPr marL="47625" marR="38100" marT="19050" marB="19050" anchor="ctr">
                    <a:solidFill>
                      <a:srgbClr val="E0E8EF"/>
                    </a:solidFill>
                  </a:tcPr>
                </a:tc>
              </a:tr>
              <a:tr h="248031">
                <a:tc vMerge="1">
                  <a:txBody>
                    <a:bodyPr wrap="none"/>
                    <a:lstStyle/>
                    <a:p>
                      <a:pPr algn="l"/>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US$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CAGR</a:t>
                      </a:r>
                      <a:endParaRPr sz="1100"/>
                    </a:p>
                  </a:txBody>
                  <a:tcPr marL="47625" marR="38100" marT="19050" marB="19050" anchor="ctr">
                    <a:solidFill>
                      <a:srgbClr val="E0E8EF"/>
                    </a:solidFill>
                  </a:tcPr>
                </a:tc>
              </a:tr>
              <a:tr h="248031">
                <a:tc>
                  <a:txBody>
                    <a:bodyPr wrap="none"/>
                    <a:lstStyle/>
                    <a:p>
                      <a:pPr algn="l"/>
                      <a:r>
                        <a:rPr sz="1100" b="1">
                          <a:solidFill>
                            <a:srgbClr val="2E2E2E"/>
                          </a:solidFill>
                          <a:latin typeface="Calibri"/>
                        </a:rPr>
                        <a:t>Single-Use Transport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48031">
                <a:tc>
                  <a:txBody>
                    <a:bodyPr wrap="none"/>
                    <a:lstStyle/>
                    <a:p>
                      <a:pPr algn="l"/>
                      <a:r>
                        <a:rPr sz="1100" b="1">
                          <a:solidFill>
                            <a:srgbClr val="2E2E2E"/>
                          </a:solidFill>
                          <a:latin typeface="Calibri"/>
                        </a:rPr>
                        <a:t>Reusable Transport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248031">
                <a:tc>
                  <a:txBody>
                    <a:bodyPr wrap="none"/>
                    <a:lstStyle/>
                    <a:p>
                      <a:pPr algn="l"/>
                      <a:r>
                        <a:rPr sz="1100" b="1">
                          <a:solidFill>
                            <a:srgbClr val="2E2E2E"/>
                          </a:solidFill>
                          <a:latin typeface="Calibri"/>
                        </a:rPr>
                        <a:t>Total</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c>
                  <a:txBody>
                    <a:bodyPr wrap="none"/>
                    <a:lstStyle/>
                    <a:p>
                      <a:pPr algn="ctr"/>
                      <a:r>
                        <a:rPr sz="1100"/>
                        <a:t> </a:t>
                      </a:r>
                      <a:endParaRPr sz="1100"/>
                    </a:p>
                  </a:txBody>
                  <a:tcPr marL="47625" marR="38100" marT="19050" marB="19050" anchor="ctr">
                    <a:solidFill>
                      <a:srgbClr val="E0E8EF"/>
                    </a:solidFill>
                  </a:tcPr>
                </a:tc>
              </a:tr>
            </a:tbl>
          </a:graphicData>
        </a:graphic>
      </p:graphicFrame>
      <p:sp>
        <p:nvSpPr>
          <p:cNvPr id="13" name="TextBox 12"/>
          <p:cNvSpPr txBox="1"/>
          <p:nvPr/>
        </p:nvSpPr>
        <p:spPr>
          <a:xfrm>
            <a:off x="219075" y="248602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2819400"/>
            <a:ext cx="560070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2905125"/>
            <a:ext cx="5334000" cy="209550"/>
          </a:xfrm>
          <a:prstGeom prst="rect">
            <a:avLst/>
          </a:prstGeom>
          <a:noFill/>
        </p:spPr>
        <p:txBody>
          <a:bodyPr wrap="square" lIns="0" rIns="19050" tIns="9525" bIns="9525">
            <a:spAutoFit/>
          </a:bodyPr>
          <a:lstStyle/>
          <a:p>
            <a:pPr algn="l"/>
            <a:r>
              <a:rPr sz="1300" b="1">
                <a:solidFill>
                  <a:srgbClr val="0B2E4A"/>
                </a:solidFill>
                <a:latin typeface="Calibri"/>
              </a:rPr>
              <a:t>Top 5 Opportunity Cells (US$ Mn · CAGR · Index)</a:t>
            </a:r>
          </a:p>
        </p:txBody>
      </p:sp>
      <p:sp>
        <p:nvSpPr>
          <p:cNvPr id="16" name="Rectangle 15"/>
          <p:cNvSpPr/>
          <p:nvPr/>
        </p:nvSpPr>
        <p:spPr>
          <a:xfrm>
            <a:off x="276225" y="3143250"/>
            <a:ext cx="53340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3228975"/>
            <a:ext cx="53340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Rounded Rectangle 17"/>
          <p:cNvSpPr/>
          <p:nvPr/>
        </p:nvSpPr>
        <p:spPr>
          <a:xfrm>
            <a:off x="5895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29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Largest Pool</a:t>
            </a:r>
          </a:p>
        </p:txBody>
      </p:sp>
      <p:sp>
        <p:nvSpPr>
          <p:cNvPr id="20" name="Rectangle 19"/>
          <p:cNvSpPr/>
          <p:nvPr/>
        </p:nvSpPr>
        <p:spPr>
          <a:xfrm>
            <a:off x="6029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29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2" name="Rounded Rectangle 21"/>
          <p:cNvSpPr/>
          <p:nvPr/>
        </p:nvSpPr>
        <p:spPr>
          <a:xfrm>
            <a:off x="79914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248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Fastest Growth</a:t>
            </a:r>
          </a:p>
        </p:txBody>
      </p:sp>
      <p:sp>
        <p:nvSpPr>
          <p:cNvPr id="24" name="Rectangle 23"/>
          <p:cNvSpPr/>
          <p:nvPr/>
        </p:nvSpPr>
        <p:spPr>
          <a:xfrm>
            <a:off x="81248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48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6" name="Rounded Rectangle 25"/>
          <p:cNvSpPr/>
          <p:nvPr/>
        </p:nvSpPr>
        <p:spPr>
          <a:xfrm>
            <a:off x="10086975" y="2819400"/>
            <a:ext cx="1943100" cy="3810000"/>
          </a:xfrm>
          <a:prstGeom prst="roundRect">
            <a:avLst>
              <a:gd name="adj" fmla="val 39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0325" y="2905125"/>
            <a:ext cx="1676400" cy="209550"/>
          </a:xfrm>
          <a:prstGeom prst="rect">
            <a:avLst/>
          </a:prstGeom>
          <a:noFill/>
        </p:spPr>
        <p:txBody>
          <a:bodyPr wrap="square" lIns="0" rIns="19050" tIns="9525" bIns="9525">
            <a:spAutoFit/>
          </a:bodyPr>
          <a:lstStyle/>
          <a:p>
            <a:pPr algn="l"/>
            <a:r>
              <a:rPr sz="1300" b="1">
                <a:solidFill>
                  <a:srgbClr val="0B2E4A"/>
                </a:solidFill>
                <a:latin typeface="Calibri"/>
              </a:rPr>
              <a:t>Where to Play</a:t>
            </a:r>
          </a:p>
        </p:txBody>
      </p:sp>
      <p:sp>
        <p:nvSpPr>
          <p:cNvPr id="28" name="Rectangle 27"/>
          <p:cNvSpPr/>
          <p:nvPr/>
        </p:nvSpPr>
        <p:spPr>
          <a:xfrm>
            <a:off x="10220325" y="3143250"/>
            <a:ext cx="16764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20325" y="3228975"/>
            <a:ext cx="1676400" cy="33242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'Reusable Transport Devices × Direct Sales' ranks highest (5/5); 'Single-Use Transport Devices × Distributor Sales' lowest (1/5), a deprioritised cell.</a:t>
            </a:r>
          </a:p>
        </p:txBody>
      </p:sp>
      <p:sp>
        <p:nvSpPr>
          <p:cNvPr id="30" name="TextBox 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1" name="Picture 30" descr="lock.png"/>
          <p:cNvPicPr>
            <a:picLocks noChangeAspect="1"/>
          </p:cNvPicPr>
          <p:nvPr/>
        </p:nvPicPr>
        <p:blipFill>
          <a:blip r:embed="rId4"/>
          <a:stretch>
            <a:fillRect/>
          </a:stretch>
        </p:blipFill>
        <p:spPr>
          <a:xfrm>
            <a:off x="7982438" y="1855652"/>
            <a:ext cx="342101" cy="497602"/>
          </a:xfrm>
          <a:prstGeom prst="rect">
            <a:avLst/>
          </a:prstGeom>
        </p:spPr>
      </p:pic>
      <p:sp>
        <p:nvSpPr>
          <p:cNvPr id="32" name="TextBox 31"/>
          <p:cNvSpPr txBox="1"/>
          <p:nvPr/>
        </p:nvSpPr>
        <p:spPr>
          <a:xfrm>
            <a:off x="276225" y="3238500"/>
            <a:ext cx="2880245" cy="194310"/>
          </a:xfrm>
          <a:prstGeom prst="rect">
            <a:avLst/>
          </a:prstGeom>
          <a:noFill/>
        </p:spPr>
        <p:txBody>
          <a:bodyPr wrap="none" lIns="0" rIns="0" tIns="0" bIns="0">
            <a:spAutoFit/>
          </a:bodyPr>
          <a:lstStyle/>
          <a:p>
            <a:r>
              <a:rPr sz="1150" b="0">
                <a:solidFill>
                  <a:srgbClr val="2E2E2E"/>
                </a:solidFill>
                <a:latin typeface="Calibri"/>
              </a:rPr>
              <a:t>▪ 1. Reusable Transport Devices × Direct Sales –</a:t>
            </a:r>
          </a:p>
        </p:txBody>
      </p:sp>
      <p:pic>
        <p:nvPicPr>
          <p:cNvPr id="33" name="Picture 32" descr="lock.png"/>
          <p:cNvPicPr>
            <a:picLocks noChangeAspect="1"/>
          </p:cNvPicPr>
          <p:nvPr/>
        </p:nvPicPr>
        <p:blipFill>
          <a:blip r:embed="rId4"/>
          <a:stretch>
            <a:fillRect/>
          </a:stretch>
        </p:blipFill>
        <p:spPr>
          <a:xfrm>
            <a:off x="3105624" y="3228276"/>
            <a:ext cx="134549" cy="195707"/>
          </a:xfrm>
          <a:prstGeom prst="rect">
            <a:avLst/>
          </a:prstGeom>
        </p:spPr>
      </p:pic>
      <p:sp>
        <p:nvSpPr>
          <p:cNvPr id="34" name="TextBox 33"/>
          <p:cNvSpPr txBox="1"/>
          <p:nvPr/>
        </p:nvSpPr>
        <p:spPr>
          <a:xfrm>
            <a:off x="3280734" y="3238500"/>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35" name="Picture 34" descr="lock.png"/>
          <p:cNvPicPr>
            <a:picLocks noChangeAspect="1"/>
          </p:cNvPicPr>
          <p:nvPr/>
        </p:nvPicPr>
        <p:blipFill>
          <a:blip r:embed="rId4"/>
          <a:stretch>
            <a:fillRect/>
          </a:stretch>
        </p:blipFill>
        <p:spPr>
          <a:xfrm>
            <a:off x="3342885" y="3228276"/>
            <a:ext cx="134549" cy="195707"/>
          </a:xfrm>
          <a:prstGeom prst="rect">
            <a:avLst/>
          </a:prstGeom>
        </p:spPr>
      </p:pic>
      <p:sp>
        <p:nvSpPr>
          <p:cNvPr id="36" name="TextBox 35"/>
          <p:cNvSpPr txBox="1"/>
          <p:nvPr/>
        </p:nvSpPr>
        <p:spPr>
          <a:xfrm>
            <a:off x="3517995" y="3238500"/>
            <a:ext cx="350899" cy="194310"/>
          </a:xfrm>
          <a:prstGeom prst="rect">
            <a:avLst/>
          </a:prstGeom>
          <a:noFill/>
        </p:spPr>
        <p:txBody>
          <a:bodyPr wrap="none" lIns="0" rIns="0" tIns="0" bIns="0">
            <a:spAutoFit/>
          </a:bodyPr>
          <a:lstStyle/>
          <a:p>
            <a:r>
              <a:rPr sz="1150" b="0">
                <a:solidFill>
                  <a:srgbClr val="2E2E2E"/>
                </a:solidFill>
                <a:latin typeface="Calibri"/>
              </a:rPr>
              <a:t>· 5/5</a:t>
            </a:r>
          </a:p>
        </p:txBody>
      </p:sp>
      <p:sp>
        <p:nvSpPr>
          <p:cNvPr id="37" name="TextBox 36"/>
          <p:cNvSpPr txBox="1"/>
          <p:nvPr/>
        </p:nvSpPr>
        <p:spPr>
          <a:xfrm>
            <a:off x="276225" y="3466337"/>
            <a:ext cx="2962399" cy="194310"/>
          </a:xfrm>
          <a:prstGeom prst="rect">
            <a:avLst/>
          </a:prstGeom>
          <a:noFill/>
        </p:spPr>
        <p:txBody>
          <a:bodyPr wrap="none" lIns="0" rIns="0" tIns="0" bIns="0">
            <a:spAutoFit/>
          </a:bodyPr>
          <a:lstStyle/>
          <a:p>
            <a:r>
              <a:rPr sz="1150" b="0">
                <a:solidFill>
                  <a:srgbClr val="2E2E2E"/>
                </a:solidFill>
                <a:latin typeface="Calibri"/>
              </a:rPr>
              <a:t>▪ 2. Single-Use Transport Devices × Direct Sales –</a:t>
            </a:r>
          </a:p>
        </p:txBody>
      </p:sp>
      <p:pic>
        <p:nvPicPr>
          <p:cNvPr id="38" name="Picture 37" descr="lock.png"/>
          <p:cNvPicPr>
            <a:picLocks noChangeAspect="1"/>
          </p:cNvPicPr>
          <p:nvPr/>
        </p:nvPicPr>
        <p:blipFill>
          <a:blip r:embed="rId4"/>
          <a:stretch>
            <a:fillRect/>
          </a:stretch>
        </p:blipFill>
        <p:spPr>
          <a:xfrm>
            <a:off x="3187777" y="3456114"/>
            <a:ext cx="134549" cy="195707"/>
          </a:xfrm>
          <a:prstGeom prst="rect">
            <a:avLst/>
          </a:prstGeom>
        </p:spPr>
      </p:pic>
      <p:sp>
        <p:nvSpPr>
          <p:cNvPr id="39" name="TextBox 38"/>
          <p:cNvSpPr txBox="1"/>
          <p:nvPr/>
        </p:nvSpPr>
        <p:spPr>
          <a:xfrm>
            <a:off x="3362887" y="3466337"/>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0" name="Picture 39" descr="lock.png"/>
          <p:cNvPicPr>
            <a:picLocks noChangeAspect="1"/>
          </p:cNvPicPr>
          <p:nvPr/>
        </p:nvPicPr>
        <p:blipFill>
          <a:blip r:embed="rId4"/>
          <a:stretch>
            <a:fillRect/>
          </a:stretch>
        </p:blipFill>
        <p:spPr>
          <a:xfrm>
            <a:off x="3425038" y="3456114"/>
            <a:ext cx="134549" cy="195707"/>
          </a:xfrm>
          <a:prstGeom prst="rect">
            <a:avLst/>
          </a:prstGeom>
        </p:spPr>
      </p:pic>
      <p:sp>
        <p:nvSpPr>
          <p:cNvPr id="41" name="TextBox 40"/>
          <p:cNvSpPr txBox="1"/>
          <p:nvPr/>
        </p:nvSpPr>
        <p:spPr>
          <a:xfrm>
            <a:off x="3600148" y="3466337"/>
            <a:ext cx="350899" cy="194310"/>
          </a:xfrm>
          <a:prstGeom prst="rect">
            <a:avLst/>
          </a:prstGeom>
          <a:noFill/>
        </p:spPr>
        <p:txBody>
          <a:bodyPr wrap="none" lIns="0" rIns="0" tIns="0" bIns="0">
            <a:spAutoFit/>
          </a:bodyPr>
          <a:lstStyle/>
          <a:p>
            <a:r>
              <a:rPr sz="1150" b="0">
                <a:solidFill>
                  <a:srgbClr val="2E2E2E"/>
                </a:solidFill>
                <a:latin typeface="Calibri"/>
              </a:rPr>
              <a:t>· 3/5</a:t>
            </a:r>
          </a:p>
        </p:txBody>
      </p:sp>
      <p:sp>
        <p:nvSpPr>
          <p:cNvPr id="42" name="TextBox 41"/>
          <p:cNvSpPr txBox="1"/>
          <p:nvPr/>
        </p:nvSpPr>
        <p:spPr>
          <a:xfrm>
            <a:off x="276225" y="3694175"/>
            <a:ext cx="3249079" cy="194310"/>
          </a:xfrm>
          <a:prstGeom prst="rect">
            <a:avLst/>
          </a:prstGeom>
          <a:noFill/>
        </p:spPr>
        <p:txBody>
          <a:bodyPr wrap="none" lIns="0" rIns="0" tIns="0" bIns="0">
            <a:spAutoFit/>
          </a:bodyPr>
          <a:lstStyle/>
          <a:p>
            <a:r>
              <a:rPr sz="1150" b="0">
                <a:solidFill>
                  <a:srgbClr val="2E2E2E"/>
                </a:solidFill>
                <a:latin typeface="Calibri"/>
              </a:rPr>
              <a:t>▪ 3. Single-Use Transport Devices × Distributor Sales –</a:t>
            </a:r>
          </a:p>
        </p:txBody>
      </p:sp>
      <p:pic>
        <p:nvPicPr>
          <p:cNvPr id="43" name="Picture 42" descr="lock.png"/>
          <p:cNvPicPr>
            <a:picLocks noChangeAspect="1"/>
          </p:cNvPicPr>
          <p:nvPr/>
        </p:nvPicPr>
        <p:blipFill>
          <a:blip r:embed="rId4"/>
          <a:stretch>
            <a:fillRect/>
          </a:stretch>
        </p:blipFill>
        <p:spPr>
          <a:xfrm>
            <a:off x="3474458" y="3683952"/>
            <a:ext cx="134549" cy="195707"/>
          </a:xfrm>
          <a:prstGeom prst="rect">
            <a:avLst/>
          </a:prstGeom>
        </p:spPr>
      </p:pic>
      <p:sp>
        <p:nvSpPr>
          <p:cNvPr id="44" name="TextBox 43"/>
          <p:cNvSpPr txBox="1"/>
          <p:nvPr/>
        </p:nvSpPr>
        <p:spPr>
          <a:xfrm>
            <a:off x="3649567" y="3694175"/>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45" name="Picture 44" descr="lock.png"/>
          <p:cNvPicPr>
            <a:picLocks noChangeAspect="1"/>
          </p:cNvPicPr>
          <p:nvPr/>
        </p:nvPicPr>
        <p:blipFill>
          <a:blip r:embed="rId4"/>
          <a:stretch>
            <a:fillRect/>
          </a:stretch>
        </p:blipFill>
        <p:spPr>
          <a:xfrm>
            <a:off x="3711719" y="3683952"/>
            <a:ext cx="134549" cy="195707"/>
          </a:xfrm>
          <a:prstGeom prst="rect">
            <a:avLst/>
          </a:prstGeom>
        </p:spPr>
      </p:pic>
      <p:sp>
        <p:nvSpPr>
          <p:cNvPr id="46" name="TextBox 45"/>
          <p:cNvSpPr txBox="1"/>
          <p:nvPr/>
        </p:nvSpPr>
        <p:spPr>
          <a:xfrm>
            <a:off x="3886828" y="3694175"/>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47" name="TextBox 46"/>
          <p:cNvSpPr txBox="1"/>
          <p:nvPr/>
        </p:nvSpPr>
        <p:spPr>
          <a:xfrm>
            <a:off x="276225" y="3922013"/>
            <a:ext cx="3166926" cy="194310"/>
          </a:xfrm>
          <a:prstGeom prst="rect">
            <a:avLst/>
          </a:prstGeom>
          <a:noFill/>
        </p:spPr>
        <p:txBody>
          <a:bodyPr wrap="none" lIns="0" rIns="0" tIns="0" bIns="0">
            <a:spAutoFit/>
          </a:bodyPr>
          <a:lstStyle/>
          <a:p>
            <a:r>
              <a:rPr sz="1150" b="0">
                <a:solidFill>
                  <a:srgbClr val="2E2E2E"/>
                </a:solidFill>
                <a:latin typeface="Calibri"/>
              </a:rPr>
              <a:t>▪ 4. Reusable Transport Devices × Distributor Sales –</a:t>
            </a:r>
          </a:p>
        </p:txBody>
      </p:sp>
      <p:pic>
        <p:nvPicPr>
          <p:cNvPr id="48" name="Picture 47" descr="lock.png"/>
          <p:cNvPicPr>
            <a:picLocks noChangeAspect="1"/>
          </p:cNvPicPr>
          <p:nvPr/>
        </p:nvPicPr>
        <p:blipFill>
          <a:blip r:embed="rId4"/>
          <a:stretch>
            <a:fillRect/>
          </a:stretch>
        </p:blipFill>
        <p:spPr>
          <a:xfrm>
            <a:off x="3392305" y="3911790"/>
            <a:ext cx="134549" cy="195707"/>
          </a:xfrm>
          <a:prstGeom prst="rect">
            <a:avLst/>
          </a:prstGeom>
        </p:spPr>
      </p:pic>
      <p:sp>
        <p:nvSpPr>
          <p:cNvPr id="49" name="TextBox 48"/>
          <p:cNvSpPr txBox="1"/>
          <p:nvPr/>
        </p:nvSpPr>
        <p:spPr>
          <a:xfrm>
            <a:off x="3567414" y="3922013"/>
            <a:ext cx="112997" cy="194310"/>
          </a:xfrm>
          <a:prstGeom prst="rect">
            <a:avLst/>
          </a:prstGeom>
          <a:noFill/>
        </p:spPr>
        <p:txBody>
          <a:bodyPr wrap="none" lIns="0" rIns="0" tIns="0" bIns="0">
            <a:spAutoFit/>
          </a:bodyPr>
          <a:lstStyle/>
          <a:p>
            <a:r>
              <a:rPr sz="1150" b="0">
                <a:solidFill>
                  <a:srgbClr val="2E2E2E"/>
                </a:solidFill>
                <a:latin typeface="Calibri"/>
              </a:rPr>
              <a:t>·</a:t>
            </a:r>
          </a:p>
        </p:txBody>
      </p:sp>
      <p:pic>
        <p:nvPicPr>
          <p:cNvPr id="50" name="Picture 49" descr="lock.png"/>
          <p:cNvPicPr>
            <a:picLocks noChangeAspect="1"/>
          </p:cNvPicPr>
          <p:nvPr/>
        </p:nvPicPr>
        <p:blipFill>
          <a:blip r:embed="rId4"/>
          <a:stretch>
            <a:fillRect/>
          </a:stretch>
        </p:blipFill>
        <p:spPr>
          <a:xfrm>
            <a:off x="3629565" y="3911790"/>
            <a:ext cx="134549" cy="195707"/>
          </a:xfrm>
          <a:prstGeom prst="rect">
            <a:avLst/>
          </a:prstGeom>
        </p:spPr>
      </p:pic>
      <p:sp>
        <p:nvSpPr>
          <p:cNvPr id="51" name="TextBox 50"/>
          <p:cNvSpPr txBox="1"/>
          <p:nvPr/>
        </p:nvSpPr>
        <p:spPr>
          <a:xfrm>
            <a:off x="3804675" y="3922013"/>
            <a:ext cx="350899" cy="194310"/>
          </a:xfrm>
          <a:prstGeom prst="rect">
            <a:avLst/>
          </a:prstGeom>
          <a:noFill/>
        </p:spPr>
        <p:txBody>
          <a:bodyPr wrap="none" lIns="0" rIns="0" tIns="0" bIns="0">
            <a:spAutoFit/>
          </a:bodyPr>
          <a:lstStyle/>
          <a:p>
            <a:r>
              <a:rPr sz="1150" b="0">
                <a:solidFill>
                  <a:srgbClr val="2E2E2E"/>
                </a:solidFill>
                <a:latin typeface="Calibri"/>
              </a:rPr>
              <a:t>· 1/5</a:t>
            </a:r>
          </a:p>
        </p:txBody>
      </p:sp>
      <p:sp>
        <p:nvSpPr>
          <p:cNvPr id="52" name="TextBox 51"/>
          <p:cNvSpPr txBox="1"/>
          <p:nvPr/>
        </p:nvSpPr>
        <p:spPr>
          <a:xfrm>
            <a:off x="6029325" y="3238500"/>
            <a:ext cx="1345009" cy="194310"/>
          </a:xfrm>
          <a:prstGeom prst="rect">
            <a:avLst/>
          </a:prstGeom>
          <a:noFill/>
        </p:spPr>
        <p:txBody>
          <a:bodyPr wrap="none" lIns="0" rIns="0" tIns="0" bIns="0">
            <a:spAutoFit/>
          </a:bodyPr>
          <a:lstStyle/>
          <a:p>
            <a:r>
              <a:rPr sz="1150" b="0">
                <a:solidFill>
                  <a:srgbClr val="2E2E2E"/>
                </a:solidFill>
                <a:latin typeface="Calibri"/>
              </a:rPr>
              <a:t>▪ 'Reusable Transport</a:t>
            </a:r>
          </a:p>
        </p:txBody>
      </p:sp>
      <p:sp>
        <p:nvSpPr>
          <p:cNvPr id="53" name="TextBox 52"/>
          <p:cNvSpPr txBox="1"/>
          <p:nvPr/>
        </p:nvSpPr>
        <p:spPr>
          <a:xfrm>
            <a:off x="6029325" y="3413760"/>
            <a:ext cx="1657350" cy="194310"/>
          </a:xfrm>
          <a:prstGeom prst="rect">
            <a:avLst/>
          </a:prstGeom>
          <a:noFill/>
        </p:spPr>
        <p:txBody>
          <a:bodyPr wrap="none" lIns="0" rIns="0" tIns="0" bIns="0">
            <a:spAutoFit/>
          </a:bodyPr>
          <a:lstStyle/>
          <a:p>
            <a:r>
              <a:rPr sz="1150" b="0">
                <a:solidFill>
                  <a:srgbClr val="2E2E2E"/>
                </a:solidFill>
                <a:latin typeface="Calibri"/>
              </a:rPr>
              <a:t>Devices × Direct Sales' adds</a:t>
            </a:r>
          </a:p>
        </p:txBody>
      </p:sp>
      <p:pic>
        <p:nvPicPr>
          <p:cNvPr id="54" name="Picture 53" descr="lock.png"/>
          <p:cNvPicPr>
            <a:picLocks noChangeAspect="1"/>
          </p:cNvPicPr>
          <p:nvPr/>
        </p:nvPicPr>
        <p:blipFill>
          <a:blip r:embed="rId4"/>
          <a:stretch>
            <a:fillRect/>
          </a:stretch>
        </p:blipFill>
        <p:spPr>
          <a:xfrm>
            <a:off x="6015245" y="3578796"/>
            <a:ext cx="134549" cy="195707"/>
          </a:xfrm>
          <a:prstGeom prst="rect">
            <a:avLst/>
          </a:prstGeom>
        </p:spPr>
      </p:pic>
      <p:sp>
        <p:nvSpPr>
          <p:cNvPr id="55" name="TextBox 54"/>
          <p:cNvSpPr txBox="1"/>
          <p:nvPr/>
        </p:nvSpPr>
        <p:spPr>
          <a:xfrm>
            <a:off x="6190354" y="3589019"/>
            <a:ext cx="1224632" cy="194310"/>
          </a:xfrm>
          <a:prstGeom prst="rect">
            <a:avLst/>
          </a:prstGeom>
          <a:noFill/>
        </p:spPr>
        <p:txBody>
          <a:bodyPr wrap="none" lIns="0" rIns="0" tIns="0" bIns="0">
            <a:spAutoFit/>
          </a:bodyPr>
          <a:lstStyle/>
          <a:p>
            <a:r>
              <a:rPr sz="1150" b="0">
                <a:solidFill>
                  <a:srgbClr val="2E2E2E"/>
                </a:solidFill>
                <a:latin typeface="Calibri"/>
              </a:rPr>
              <a:t>US$ Mn by 2036F –</a:t>
            </a:r>
          </a:p>
        </p:txBody>
      </p:sp>
      <p:pic>
        <p:nvPicPr>
          <p:cNvPr id="56" name="Picture 55" descr="lock.png"/>
          <p:cNvPicPr>
            <a:picLocks noChangeAspect="1"/>
          </p:cNvPicPr>
          <p:nvPr/>
        </p:nvPicPr>
        <p:blipFill>
          <a:blip r:embed="rId4"/>
          <a:stretch>
            <a:fillRect/>
          </a:stretch>
        </p:blipFill>
        <p:spPr>
          <a:xfrm>
            <a:off x="6015245" y="3754056"/>
            <a:ext cx="134549" cy="195707"/>
          </a:xfrm>
          <a:prstGeom prst="rect">
            <a:avLst/>
          </a:prstGeom>
        </p:spPr>
      </p:pic>
      <p:sp>
        <p:nvSpPr>
          <p:cNvPr id="57" name="TextBox 56"/>
          <p:cNvSpPr txBox="1"/>
          <p:nvPr/>
        </p:nvSpPr>
        <p:spPr>
          <a:xfrm>
            <a:off x="6190354" y="3764279"/>
            <a:ext cx="741126" cy="194310"/>
          </a:xfrm>
          <a:prstGeom prst="rect">
            <a:avLst/>
          </a:prstGeom>
          <a:noFill/>
        </p:spPr>
        <p:txBody>
          <a:bodyPr wrap="none" lIns="0" rIns="0" tIns="0" bIns="0">
            <a:spAutoFit/>
          </a:bodyPr>
          <a:lstStyle/>
          <a:p>
            <a:r>
              <a:rPr sz="1150" b="0">
                <a:solidFill>
                  <a:srgbClr val="2E2E2E"/>
                </a:solidFill>
                <a:latin typeface="Calibri"/>
              </a:rPr>
              <a:t>of the total</a:t>
            </a:r>
          </a:p>
        </p:txBody>
      </p:sp>
      <p:sp>
        <p:nvSpPr>
          <p:cNvPr id="58" name="TextBox 57"/>
          <p:cNvSpPr txBox="1"/>
          <p:nvPr/>
        </p:nvSpPr>
        <p:spPr>
          <a:xfrm>
            <a:off x="6029325" y="3939539"/>
            <a:ext cx="822994" cy="194310"/>
          </a:xfrm>
          <a:prstGeom prst="rect">
            <a:avLst/>
          </a:prstGeom>
          <a:noFill/>
        </p:spPr>
        <p:txBody>
          <a:bodyPr wrap="none" lIns="0" rIns="0" tIns="0" bIns="0">
            <a:spAutoFit/>
          </a:bodyPr>
          <a:lstStyle/>
          <a:p>
            <a:r>
              <a:rPr sz="1150" b="0">
                <a:solidFill>
                  <a:srgbClr val="2E2E2E"/>
                </a:solidFill>
                <a:latin typeface="Calibri"/>
              </a:rPr>
              <a:t>opportunity.</a:t>
            </a:r>
          </a:p>
        </p:txBody>
      </p:sp>
      <p:sp>
        <p:nvSpPr>
          <p:cNvPr id="59" name="TextBox 58"/>
          <p:cNvSpPr txBox="1"/>
          <p:nvPr/>
        </p:nvSpPr>
        <p:spPr>
          <a:xfrm>
            <a:off x="8124825" y="3238500"/>
            <a:ext cx="1345009" cy="194310"/>
          </a:xfrm>
          <a:prstGeom prst="rect">
            <a:avLst/>
          </a:prstGeom>
          <a:noFill/>
        </p:spPr>
        <p:txBody>
          <a:bodyPr wrap="none" lIns="0" rIns="0" tIns="0" bIns="0">
            <a:spAutoFit/>
          </a:bodyPr>
          <a:lstStyle/>
          <a:p>
            <a:r>
              <a:rPr sz="1150" b="0">
                <a:solidFill>
                  <a:srgbClr val="2E2E2E"/>
                </a:solidFill>
                <a:latin typeface="Calibri"/>
              </a:rPr>
              <a:t>▪ 'Reusable Transport</a:t>
            </a:r>
          </a:p>
        </p:txBody>
      </p:sp>
      <p:sp>
        <p:nvSpPr>
          <p:cNvPr id="60" name="TextBox 59"/>
          <p:cNvSpPr txBox="1"/>
          <p:nvPr/>
        </p:nvSpPr>
        <p:spPr>
          <a:xfrm>
            <a:off x="8124825" y="3413760"/>
            <a:ext cx="1392932" cy="194310"/>
          </a:xfrm>
          <a:prstGeom prst="rect">
            <a:avLst/>
          </a:prstGeom>
          <a:noFill/>
        </p:spPr>
        <p:txBody>
          <a:bodyPr wrap="none" lIns="0" rIns="0" tIns="0" bIns="0">
            <a:spAutoFit/>
          </a:bodyPr>
          <a:lstStyle/>
          <a:p>
            <a:r>
              <a:rPr sz="1150" b="0">
                <a:solidFill>
                  <a:srgbClr val="2E2E2E"/>
                </a:solidFill>
                <a:latin typeface="Calibri"/>
              </a:rPr>
              <a:t>Devices × Direct Sales'</a:t>
            </a:r>
          </a:p>
        </p:txBody>
      </p:sp>
      <p:sp>
        <p:nvSpPr>
          <p:cNvPr id="61" name="TextBox 60"/>
          <p:cNvSpPr txBox="1"/>
          <p:nvPr/>
        </p:nvSpPr>
        <p:spPr>
          <a:xfrm>
            <a:off x="8124825" y="3589019"/>
            <a:ext cx="689495" cy="194310"/>
          </a:xfrm>
          <a:prstGeom prst="rect">
            <a:avLst/>
          </a:prstGeom>
          <a:noFill/>
        </p:spPr>
        <p:txBody>
          <a:bodyPr wrap="none" lIns="0" rIns="0" tIns="0" bIns="0">
            <a:spAutoFit/>
          </a:bodyPr>
          <a:lstStyle/>
          <a:p>
            <a:r>
              <a:rPr sz="1150" b="0">
                <a:solidFill>
                  <a:srgbClr val="2E2E2E"/>
                </a:solidFill>
                <a:latin typeface="Calibri"/>
              </a:rPr>
              <a:t>grows at a</a:t>
            </a:r>
          </a:p>
        </p:txBody>
      </p:sp>
      <p:pic>
        <p:nvPicPr>
          <p:cNvPr id="62" name="Picture 61" descr="lock.png"/>
          <p:cNvPicPr>
            <a:picLocks noChangeAspect="1"/>
          </p:cNvPicPr>
          <p:nvPr/>
        </p:nvPicPr>
        <p:blipFill>
          <a:blip r:embed="rId4"/>
          <a:stretch>
            <a:fillRect/>
          </a:stretch>
        </p:blipFill>
        <p:spPr>
          <a:xfrm>
            <a:off x="8763474" y="3578796"/>
            <a:ext cx="134549" cy="195707"/>
          </a:xfrm>
          <a:prstGeom prst="rect">
            <a:avLst/>
          </a:prstGeom>
        </p:spPr>
      </p:pic>
      <p:sp>
        <p:nvSpPr>
          <p:cNvPr id="63" name="TextBox 62"/>
          <p:cNvSpPr txBox="1"/>
          <p:nvPr/>
        </p:nvSpPr>
        <p:spPr>
          <a:xfrm>
            <a:off x="8938584" y="3589019"/>
            <a:ext cx="446441" cy="194310"/>
          </a:xfrm>
          <a:prstGeom prst="rect">
            <a:avLst/>
          </a:prstGeom>
          <a:noFill/>
        </p:spPr>
        <p:txBody>
          <a:bodyPr wrap="none" lIns="0" rIns="0" tIns="0" bIns="0">
            <a:spAutoFit/>
          </a:bodyPr>
          <a:lstStyle/>
          <a:p>
            <a:r>
              <a:rPr sz="1150" b="0">
                <a:solidFill>
                  <a:srgbClr val="2E2E2E"/>
                </a:solidFill>
                <a:latin typeface="Calibri"/>
              </a:rPr>
              <a:t>CAGR,</a:t>
            </a:r>
          </a:p>
        </p:txBody>
      </p:sp>
      <p:pic>
        <p:nvPicPr>
          <p:cNvPr id="64" name="Picture 63" descr="lock.png"/>
          <p:cNvPicPr>
            <a:picLocks noChangeAspect="1"/>
          </p:cNvPicPr>
          <p:nvPr/>
        </p:nvPicPr>
        <p:blipFill>
          <a:blip r:embed="rId4"/>
          <a:stretch>
            <a:fillRect/>
          </a:stretch>
        </p:blipFill>
        <p:spPr>
          <a:xfrm>
            <a:off x="9334179" y="3578796"/>
            <a:ext cx="134549" cy="195707"/>
          </a:xfrm>
          <a:prstGeom prst="rect">
            <a:avLst/>
          </a:prstGeom>
        </p:spPr>
      </p:pic>
      <p:sp>
        <p:nvSpPr>
          <p:cNvPr id="65" name="TextBox 64"/>
          <p:cNvSpPr txBox="1"/>
          <p:nvPr/>
        </p:nvSpPr>
        <p:spPr>
          <a:xfrm>
            <a:off x="8124825" y="3764279"/>
            <a:ext cx="925400" cy="194310"/>
          </a:xfrm>
          <a:prstGeom prst="rect">
            <a:avLst/>
          </a:prstGeom>
          <a:noFill/>
        </p:spPr>
        <p:txBody>
          <a:bodyPr wrap="none" lIns="0" rIns="0" tIns="0" bIns="0">
            <a:spAutoFit/>
          </a:bodyPr>
          <a:lstStyle/>
          <a:p>
            <a:r>
              <a:rPr sz="1150" b="0">
                <a:solidFill>
                  <a:srgbClr val="2E2E2E"/>
                </a:solidFill>
                <a:latin typeface="Calibri"/>
              </a:rPr>
              <a:t>BPS above the</a:t>
            </a:r>
          </a:p>
        </p:txBody>
      </p:sp>
      <p:sp>
        <p:nvSpPr>
          <p:cNvPr id="66" name="TextBox 65"/>
          <p:cNvSpPr txBox="1"/>
          <p:nvPr/>
        </p:nvSpPr>
        <p:spPr>
          <a:xfrm>
            <a:off x="8124825" y="3939539"/>
            <a:ext cx="890029" cy="194310"/>
          </a:xfrm>
          <a:prstGeom prst="rect">
            <a:avLst/>
          </a:prstGeom>
          <a:noFill/>
        </p:spPr>
        <p:txBody>
          <a:bodyPr wrap="none" lIns="0" rIns="0" tIns="0" bIns="0">
            <a:spAutoFit/>
          </a:bodyPr>
          <a:lstStyle/>
          <a:p>
            <a:r>
              <a:rPr sz="1150" b="0">
                <a:solidFill>
                  <a:srgbClr val="2E2E2E"/>
                </a:solidFill>
                <a:latin typeface="Calibri"/>
              </a:rPr>
              <a:t>cross-section.</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Pricing Assessment</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Pricing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16</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Pricing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Product Pricing &amp; Regional Price Index Trends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Global Pricing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Price Positioning &amp; Key Findings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Key Pricing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Factors Impacting Pricing</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Product Pricing &amp; Regional Price Index Trends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range by sub-segment and indexed regional price movement, highlighting dispersion and structural shifts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average USD pricing by product type and indexed regional price movement with base-year inflation adjustments.</a:t>
            </a:r>
          </a:p>
        </p:txBody>
      </p:sp>
      <p:sp>
        <p:nvSpPr>
          <p:cNvPr id="11" name="Rounded Rectangle 10"/>
          <p:cNvSpPr/>
          <p:nvPr/>
        </p:nvSpPr>
        <p:spPr>
          <a:xfrm>
            <a:off x="142875" y="1317574"/>
            <a:ext cx="7696200"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3" name="TextBox 12"/>
          <p:cNvSpPr txBox="1"/>
          <p:nvPr/>
        </p:nvSpPr>
        <p:spPr>
          <a:xfrm>
            <a:off x="111919" y="3471051"/>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3709.2</a:t>
            </a:r>
          </a:p>
        </p:txBody>
      </p:sp>
      <p:sp>
        <p:nvSpPr>
          <p:cNvPr id="14" name="TextBox 13"/>
          <p:cNvSpPr txBox="1"/>
          <p:nvPr/>
        </p:nvSpPr>
        <p:spPr>
          <a:xfrm>
            <a:off x="111919" y="2561000"/>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4362.6</a:t>
            </a:r>
          </a:p>
        </p:txBody>
      </p:sp>
      <p:sp>
        <p:nvSpPr>
          <p:cNvPr id="15" name="TextBox 14"/>
          <p:cNvSpPr txBox="1"/>
          <p:nvPr/>
        </p:nvSpPr>
        <p:spPr>
          <a:xfrm>
            <a:off x="111919" y="1650949"/>
            <a:ext cx="488156" cy="133350"/>
          </a:xfrm>
          <a:prstGeom prst="rect">
            <a:avLst/>
          </a:prstGeom>
          <a:noFill/>
        </p:spPr>
        <p:txBody>
          <a:bodyPr wrap="square" lIns="28575" rIns="28575" tIns="9525" bIns="9525" anchor="ctr">
            <a:spAutoFit/>
          </a:bodyPr>
          <a:lstStyle/>
          <a:p>
            <a:pPr algn="r"/>
            <a:r>
              <a:rPr sz="1100" b="0">
                <a:solidFill>
                  <a:srgbClr val="6C7A89"/>
                </a:solidFill>
                <a:latin typeface="Calibri"/>
              </a:rPr>
              <a:t>5015.9</a:t>
            </a:r>
          </a:p>
        </p:txBody>
      </p:sp>
      <p:cxnSp>
        <p:nvCxnSpPr>
          <p:cNvPr id="16" name="Connector 15"/>
          <p:cNvCxnSpPr/>
          <p:nvPr/>
        </p:nvCxnSpPr>
        <p:spPr>
          <a:xfrm>
            <a:off x="2409825" y="1927636"/>
            <a:ext cx="0" cy="619375"/>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190750" y="1927636"/>
            <a:ext cx="438150" cy="619376"/>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225" y="1775236"/>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19" name="TextBox 18"/>
          <p:cNvSpPr txBox="1"/>
          <p:nvPr/>
        </p:nvSpPr>
        <p:spPr>
          <a:xfrm>
            <a:off x="657225" y="3566301"/>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Static Cold Storage D…</a:t>
            </a:r>
          </a:p>
        </p:txBody>
      </p:sp>
      <p:cxnSp>
        <p:nvCxnSpPr>
          <p:cNvPr id="20" name="Connector 19"/>
          <p:cNvCxnSpPr/>
          <p:nvPr/>
        </p:nvCxnSpPr>
        <p:spPr>
          <a:xfrm>
            <a:off x="5915025" y="2857010"/>
            <a:ext cx="0" cy="470704"/>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695950" y="2857010"/>
            <a:ext cx="438150" cy="470704"/>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62425" y="2704610"/>
            <a:ext cx="3505200" cy="133350"/>
          </a:xfrm>
          <a:prstGeom prst="rect">
            <a:avLst/>
          </a:prstGeom>
          <a:noFill/>
        </p:spPr>
        <p:txBody>
          <a:bodyPr wrap="square" lIns="28575" rIns="28575" tIns="9525" bIns="9525">
            <a:spAutoFit/>
          </a:bodyPr>
          <a:lstStyle/>
          <a:p>
            <a:pPr algn="ctr"/>
            <a:r>
              <a:rPr sz="1100" b="1">
                <a:solidFill>
                  <a:srgbClr val="0B2E4A"/>
                </a:solidFill>
                <a:latin typeface="Calibri"/>
              </a:rPr>
              <a:t> </a:t>
            </a:r>
          </a:p>
        </p:txBody>
      </p:sp>
      <p:sp>
        <p:nvSpPr>
          <p:cNvPr id="23" name="TextBox 22"/>
          <p:cNvSpPr txBox="1"/>
          <p:nvPr/>
        </p:nvSpPr>
        <p:spPr>
          <a:xfrm>
            <a:off x="4162425" y="3566301"/>
            <a:ext cx="3505200" cy="285750"/>
          </a:xfrm>
          <a:prstGeom prst="rect">
            <a:avLst/>
          </a:prstGeom>
          <a:noFill/>
        </p:spPr>
        <p:txBody>
          <a:bodyPr wrap="square" lIns="28575" rIns="28575" tIns="9525" bIns="9525">
            <a:spAutoFit/>
          </a:bodyPr>
          <a:lstStyle/>
          <a:p>
            <a:pPr algn="ctr"/>
            <a:r>
              <a:rPr sz="1100" b="0">
                <a:solidFill>
                  <a:srgbClr val="2E2E2E"/>
                </a:solidFill>
                <a:latin typeface="Calibri"/>
              </a:rPr>
              <a:t>Portable Machine Perf…</a:t>
            </a:r>
          </a:p>
        </p:txBody>
      </p:sp>
      <p:sp>
        <p:nvSpPr>
          <p:cNvPr id="24" name="Rounded Rectangle 23"/>
          <p:cNvSpPr/>
          <p:nvPr/>
        </p:nvSpPr>
        <p:spPr>
          <a:xfrm>
            <a:off x="142875" y="3991741"/>
            <a:ext cx="7696200" cy="2564645"/>
          </a:xfrm>
          <a:prstGeom prst="roundRect">
            <a:avLst>
              <a:gd name="adj" fmla="val 29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4048891"/>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Price Trend (2026–2036)</a:t>
            </a:r>
          </a:p>
        </p:txBody>
      </p:sp>
      <p:cxnSp>
        <p:nvCxnSpPr>
          <p:cNvPr id="26" name="Connector 25"/>
          <p:cNvCxnSpPr/>
          <p:nvPr/>
        </p:nvCxnSpPr>
        <p:spPr>
          <a:xfrm>
            <a:off x="619125" y="4519996"/>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19125" y="4884647"/>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9125" y="5249298"/>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9125" y="5613949"/>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19125" y="5978600"/>
            <a:ext cx="7048500" cy="0"/>
          </a:xfrm>
          <a:prstGeom prst="line">
            <a:avLst/>
          </a:prstGeom>
          <a:ln w="6350">
            <a:solidFill>
              <a:srgbClr val="E4EAE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19125" y="4519996"/>
            <a:ext cx="0" cy="1458604"/>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0550" y="4519996"/>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0550" y="4884647"/>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0550" y="5249298"/>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90550" y="5613949"/>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0550" y="5978600"/>
            <a:ext cx="28575" cy="0"/>
          </a:xfrm>
          <a:prstGeom prst="line">
            <a:avLst/>
          </a:prstGeom>
          <a:ln w="9525">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7" name="FMI Scale tick"/>
          <p:cNvSpPr txBox="1"/>
          <p:nvPr/>
        </p:nvSpPr>
        <p:spPr>
          <a:xfrm>
            <a:off x="219075" y="4453321"/>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sp>
        <p:nvSpPr>
          <p:cNvPr id="38" name="FMI Scale tick"/>
          <p:cNvSpPr txBox="1"/>
          <p:nvPr/>
        </p:nvSpPr>
        <p:spPr>
          <a:xfrm>
            <a:off x="219075" y="4817972"/>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39" name="FMI Scale tick"/>
          <p:cNvSpPr txBox="1"/>
          <p:nvPr/>
        </p:nvSpPr>
        <p:spPr>
          <a:xfrm>
            <a:off x="219075" y="5182623"/>
            <a:ext cx="361950" cy="13335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0" name="FMI Scale tick"/>
          <p:cNvSpPr txBox="1"/>
          <p:nvPr/>
        </p:nvSpPr>
        <p:spPr>
          <a:xfrm>
            <a:off x="219075" y="5547274"/>
            <a:ext cx="361950" cy="133350"/>
          </a:xfrm>
          <a:prstGeom prst="rect">
            <a:avLst/>
          </a:prstGeom>
          <a:noFill/>
        </p:spPr>
        <p:txBody>
          <a:bodyPr wrap="none" lIns="0" rIns="0" tIns="0" bIns="0" anchor="ctr">
            <a:spAutoFit/>
          </a:bodyPr>
          <a:lstStyle/>
          <a:p>
            <a:pPr algn="r"/>
            <a:r>
              <a:rPr sz="1100" b="0">
                <a:solidFill>
                  <a:srgbClr val="6C7A89"/>
                </a:solidFill>
                <a:latin typeface="Calibri"/>
              </a:rPr>
              <a:t>-5%</a:t>
            </a:r>
          </a:p>
        </p:txBody>
      </p:sp>
      <p:sp>
        <p:nvSpPr>
          <p:cNvPr id="41" name="FMI Scale tick"/>
          <p:cNvSpPr txBox="1"/>
          <p:nvPr/>
        </p:nvSpPr>
        <p:spPr>
          <a:xfrm>
            <a:off x="219075" y="5911925"/>
            <a:ext cx="361950" cy="133350"/>
          </a:xfrm>
          <a:prstGeom prst="rect">
            <a:avLst/>
          </a:prstGeom>
          <a:noFill/>
        </p:spPr>
        <p:txBody>
          <a:bodyPr wrap="none" lIns="0" rIns="0" tIns="0" bIns="0" anchor="ctr">
            <a:spAutoFit/>
          </a:bodyPr>
          <a:lstStyle/>
          <a:p>
            <a:pPr algn="r"/>
            <a:r>
              <a:rPr sz="1100" b="0">
                <a:solidFill>
                  <a:srgbClr val="6C7A89"/>
                </a:solidFill>
                <a:latin typeface="Calibri"/>
              </a:rPr>
              <a:t>-11%</a:t>
            </a:r>
          </a:p>
        </p:txBody>
      </p:sp>
      <p:cxnSp>
        <p:nvCxnSpPr>
          <p:cNvPr id="42" name="Connector 41"/>
          <p:cNvCxnSpPr/>
          <p:nvPr/>
        </p:nvCxnSpPr>
        <p:spPr>
          <a:xfrm>
            <a:off x="619125" y="5249298"/>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77900" y="4614107"/>
            <a:ext cx="457200" cy="63519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MI Data Label"/>
          <p:cNvSpPr txBox="1"/>
          <p:nvPr/>
        </p:nvSpPr>
        <p:spPr>
          <a:xfrm>
            <a:off x="619125" y="4471232"/>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5" name="Rectangle 44"/>
          <p:cNvSpPr/>
          <p:nvPr/>
        </p:nvSpPr>
        <p:spPr>
          <a:xfrm>
            <a:off x="2152650" y="5205073"/>
            <a:ext cx="457200" cy="442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Data Label"/>
          <p:cNvSpPr txBox="1"/>
          <p:nvPr/>
        </p:nvSpPr>
        <p:spPr>
          <a:xfrm>
            <a:off x="1793875" y="506219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7" name="Rectangle 46"/>
          <p:cNvSpPr/>
          <p:nvPr/>
        </p:nvSpPr>
        <p:spPr>
          <a:xfrm>
            <a:off x="3327400" y="4770099"/>
            <a:ext cx="457200" cy="47919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MI Data Label"/>
          <p:cNvSpPr txBox="1"/>
          <p:nvPr/>
        </p:nvSpPr>
        <p:spPr>
          <a:xfrm>
            <a:off x="2968625" y="4627224"/>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49" name="Rectangle 48"/>
          <p:cNvSpPr/>
          <p:nvPr/>
        </p:nvSpPr>
        <p:spPr>
          <a:xfrm>
            <a:off x="4502150" y="5249298"/>
            <a:ext cx="457200" cy="383700"/>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MI Data Label"/>
          <p:cNvSpPr txBox="1"/>
          <p:nvPr/>
        </p:nvSpPr>
        <p:spPr>
          <a:xfrm>
            <a:off x="4143375" y="5642523"/>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1" name="Rectangle 50"/>
          <p:cNvSpPr/>
          <p:nvPr/>
        </p:nvSpPr>
        <p:spPr>
          <a:xfrm>
            <a:off x="5676900" y="5249298"/>
            <a:ext cx="457200" cy="38758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MI Data Label"/>
          <p:cNvSpPr txBox="1"/>
          <p:nvPr/>
        </p:nvSpPr>
        <p:spPr>
          <a:xfrm>
            <a:off x="5318125" y="5646408"/>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3" name="Rectangle 52"/>
          <p:cNvSpPr/>
          <p:nvPr/>
        </p:nvSpPr>
        <p:spPr>
          <a:xfrm>
            <a:off x="6851650" y="5249298"/>
            <a:ext cx="457200" cy="78444"/>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MI Data Label"/>
          <p:cNvSpPr txBox="1"/>
          <p:nvPr/>
        </p:nvSpPr>
        <p:spPr>
          <a:xfrm>
            <a:off x="6492875" y="5337267"/>
            <a:ext cx="1174750" cy="133350"/>
          </a:xfrm>
          <a:prstGeom prst="rect">
            <a:avLst/>
          </a:prstGeom>
          <a:noFill/>
        </p:spPr>
        <p:txBody>
          <a:bodyPr wrap="square" lIns="28575" rIns="28575" tIns="9525" bIns="9525">
            <a:spAutoFit/>
          </a:bodyPr>
          <a:lstStyle/>
          <a:p>
            <a:pPr algn="ctr"/>
            <a:r>
              <a:rPr sz="1100" b="1">
                <a:solidFill>
                  <a:srgbClr val="2E2E2E"/>
                </a:solidFill>
                <a:latin typeface="Calibri"/>
              </a:rPr>
              <a:t> </a:t>
            </a:r>
          </a:p>
        </p:txBody>
      </p:sp>
      <p:sp>
        <p:nvSpPr>
          <p:cNvPr id="55" name="TextBox 54"/>
          <p:cNvSpPr txBox="1"/>
          <p:nvPr/>
        </p:nvSpPr>
        <p:spPr>
          <a:xfrm>
            <a:off x="619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North America</a:t>
            </a:r>
          </a:p>
        </p:txBody>
      </p:sp>
      <p:sp>
        <p:nvSpPr>
          <p:cNvPr id="56" name="TextBox 55"/>
          <p:cNvSpPr txBox="1"/>
          <p:nvPr/>
        </p:nvSpPr>
        <p:spPr>
          <a:xfrm>
            <a:off x="1793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Latin America</a:t>
            </a:r>
          </a:p>
        </p:txBody>
      </p:sp>
      <p:sp>
        <p:nvSpPr>
          <p:cNvPr id="57" name="TextBox 56"/>
          <p:cNvSpPr txBox="1"/>
          <p:nvPr/>
        </p:nvSpPr>
        <p:spPr>
          <a:xfrm>
            <a:off x="29686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Europe</a:t>
            </a:r>
          </a:p>
        </p:txBody>
      </p:sp>
      <p:sp>
        <p:nvSpPr>
          <p:cNvPr id="58" name="TextBox 57"/>
          <p:cNvSpPr txBox="1"/>
          <p:nvPr/>
        </p:nvSpPr>
        <p:spPr>
          <a:xfrm>
            <a:off x="41433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East Asia</a:t>
            </a:r>
          </a:p>
        </p:txBody>
      </p:sp>
      <p:sp>
        <p:nvSpPr>
          <p:cNvPr id="59" name="TextBox 58"/>
          <p:cNvSpPr txBox="1"/>
          <p:nvPr/>
        </p:nvSpPr>
        <p:spPr>
          <a:xfrm>
            <a:off x="531812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South Asia &amp; Pacific</a:t>
            </a:r>
          </a:p>
        </p:txBody>
      </p:sp>
      <p:sp>
        <p:nvSpPr>
          <p:cNvPr id="60" name="TextBox 59"/>
          <p:cNvSpPr txBox="1"/>
          <p:nvPr/>
        </p:nvSpPr>
        <p:spPr>
          <a:xfrm>
            <a:off x="6492875" y="6135380"/>
            <a:ext cx="1174750" cy="247650"/>
          </a:xfrm>
          <a:prstGeom prst="rect">
            <a:avLst/>
          </a:prstGeom>
          <a:noFill/>
        </p:spPr>
        <p:txBody>
          <a:bodyPr wrap="square" lIns="28575" rIns="28575" tIns="9525" bIns="9525">
            <a:spAutoFit/>
          </a:bodyPr>
          <a:lstStyle/>
          <a:p>
            <a:pPr algn="ctr"/>
            <a:r>
              <a:rPr sz="1100" b="0">
                <a:solidFill>
                  <a:srgbClr val="2E2E2E"/>
                </a:solidFill>
                <a:latin typeface="Calibri"/>
              </a:rPr>
              <a:t>Middle East &amp; Africa</a:t>
            </a:r>
          </a:p>
        </p:txBody>
      </p:sp>
      <p:sp>
        <p:nvSpPr>
          <p:cNvPr id="61" name="Rounded Rectangle 60"/>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63" name="Rectangle 62"/>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65" name="TextBox 6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6" name="Picture 65" descr="lock.png"/>
          <p:cNvPicPr>
            <a:picLocks noChangeAspect="1"/>
          </p:cNvPicPr>
          <p:nvPr/>
        </p:nvPicPr>
        <p:blipFill>
          <a:blip r:embed="rId4"/>
          <a:stretch>
            <a:fillRect/>
          </a:stretch>
        </p:blipFill>
        <p:spPr>
          <a:xfrm>
            <a:off x="2345475" y="1748312"/>
            <a:ext cx="128699" cy="187198"/>
          </a:xfrm>
          <a:prstGeom prst="rect">
            <a:avLst/>
          </a:prstGeom>
        </p:spPr>
      </p:pic>
      <p:pic>
        <p:nvPicPr>
          <p:cNvPr id="67" name="Picture 66" descr="lock.png"/>
          <p:cNvPicPr>
            <a:picLocks noChangeAspect="1"/>
          </p:cNvPicPr>
          <p:nvPr/>
        </p:nvPicPr>
        <p:blipFill>
          <a:blip r:embed="rId4"/>
          <a:stretch>
            <a:fillRect/>
          </a:stretch>
        </p:blipFill>
        <p:spPr>
          <a:xfrm>
            <a:off x="5850675" y="2677686"/>
            <a:ext cx="128699" cy="187198"/>
          </a:xfrm>
          <a:prstGeom prst="rect">
            <a:avLst/>
          </a:prstGeom>
        </p:spPr>
      </p:pic>
      <p:pic>
        <p:nvPicPr>
          <p:cNvPr id="68" name="Picture 67" descr="lock.png"/>
          <p:cNvPicPr>
            <a:picLocks noChangeAspect="1"/>
          </p:cNvPicPr>
          <p:nvPr/>
        </p:nvPicPr>
        <p:blipFill>
          <a:blip r:embed="rId4"/>
          <a:stretch>
            <a:fillRect/>
          </a:stretch>
        </p:blipFill>
        <p:spPr>
          <a:xfrm>
            <a:off x="1142150" y="4444308"/>
            <a:ext cx="128699" cy="187198"/>
          </a:xfrm>
          <a:prstGeom prst="rect">
            <a:avLst/>
          </a:prstGeom>
        </p:spPr>
      </p:pic>
      <p:pic>
        <p:nvPicPr>
          <p:cNvPr id="69" name="Picture 68" descr="lock.png"/>
          <p:cNvPicPr>
            <a:picLocks noChangeAspect="1"/>
          </p:cNvPicPr>
          <p:nvPr/>
        </p:nvPicPr>
        <p:blipFill>
          <a:blip r:embed="rId4"/>
          <a:stretch>
            <a:fillRect/>
          </a:stretch>
        </p:blipFill>
        <p:spPr>
          <a:xfrm>
            <a:off x="2316900" y="5035274"/>
            <a:ext cx="128699" cy="187198"/>
          </a:xfrm>
          <a:prstGeom prst="rect">
            <a:avLst/>
          </a:prstGeom>
        </p:spPr>
      </p:pic>
      <p:pic>
        <p:nvPicPr>
          <p:cNvPr id="70" name="Picture 69" descr="lock.png"/>
          <p:cNvPicPr>
            <a:picLocks noChangeAspect="1"/>
          </p:cNvPicPr>
          <p:nvPr/>
        </p:nvPicPr>
        <p:blipFill>
          <a:blip r:embed="rId4"/>
          <a:stretch>
            <a:fillRect/>
          </a:stretch>
        </p:blipFill>
        <p:spPr>
          <a:xfrm>
            <a:off x="3491650" y="4600300"/>
            <a:ext cx="128699" cy="187198"/>
          </a:xfrm>
          <a:prstGeom prst="rect">
            <a:avLst/>
          </a:prstGeom>
        </p:spPr>
      </p:pic>
      <p:pic>
        <p:nvPicPr>
          <p:cNvPr id="71" name="Picture 70" descr="lock.png"/>
          <p:cNvPicPr>
            <a:picLocks noChangeAspect="1"/>
          </p:cNvPicPr>
          <p:nvPr/>
        </p:nvPicPr>
        <p:blipFill>
          <a:blip r:embed="rId4"/>
          <a:stretch>
            <a:fillRect/>
          </a:stretch>
        </p:blipFill>
        <p:spPr>
          <a:xfrm>
            <a:off x="4666400" y="5615599"/>
            <a:ext cx="128699" cy="187198"/>
          </a:xfrm>
          <a:prstGeom prst="rect">
            <a:avLst/>
          </a:prstGeom>
        </p:spPr>
      </p:pic>
      <p:pic>
        <p:nvPicPr>
          <p:cNvPr id="72" name="Picture 71" descr="lock.png"/>
          <p:cNvPicPr>
            <a:picLocks noChangeAspect="1"/>
          </p:cNvPicPr>
          <p:nvPr/>
        </p:nvPicPr>
        <p:blipFill>
          <a:blip r:embed="rId4"/>
          <a:stretch>
            <a:fillRect/>
          </a:stretch>
        </p:blipFill>
        <p:spPr>
          <a:xfrm>
            <a:off x="5841150" y="5619484"/>
            <a:ext cx="128699" cy="187198"/>
          </a:xfrm>
          <a:prstGeom prst="rect">
            <a:avLst/>
          </a:prstGeom>
        </p:spPr>
      </p:pic>
      <p:pic>
        <p:nvPicPr>
          <p:cNvPr id="73" name="Picture 72" descr="lock.png"/>
          <p:cNvPicPr>
            <a:picLocks noChangeAspect="1"/>
          </p:cNvPicPr>
          <p:nvPr/>
        </p:nvPicPr>
        <p:blipFill>
          <a:blip r:embed="rId4"/>
          <a:stretch>
            <a:fillRect/>
          </a:stretch>
        </p:blipFill>
        <p:spPr>
          <a:xfrm>
            <a:off x="7015900" y="5310342"/>
            <a:ext cx="128699" cy="187198"/>
          </a:xfrm>
          <a:prstGeom prst="rect">
            <a:avLst/>
          </a:prstGeom>
        </p:spPr>
      </p:pic>
      <p:sp>
        <p:nvSpPr>
          <p:cNvPr id="74" name="TextBox 73"/>
          <p:cNvSpPr txBox="1"/>
          <p:nvPr/>
        </p:nvSpPr>
        <p:spPr>
          <a:xfrm>
            <a:off x="8048625" y="1736673"/>
            <a:ext cx="3271043" cy="194310"/>
          </a:xfrm>
          <a:prstGeom prst="rect">
            <a:avLst/>
          </a:prstGeom>
          <a:noFill/>
        </p:spPr>
        <p:txBody>
          <a:bodyPr wrap="none" lIns="0" rIns="0" tIns="0" bIns="0">
            <a:spAutoFit/>
          </a:bodyPr>
          <a:lstStyle/>
          <a:p>
            <a:r>
              <a:rPr sz="1150" b="0">
                <a:solidFill>
                  <a:srgbClr val="2E2E2E"/>
                </a:solidFill>
                <a:latin typeface="Calibri"/>
              </a:rPr>
              <a:t>▪ The chart shows global average pricing of key device</a:t>
            </a:r>
          </a:p>
        </p:txBody>
      </p:sp>
      <p:sp>
        <p:nvSpPr>
          <p:cNvPr id="75" name="TextBox 74"/>
          <p:cNvSpPr txBox="1"/>
          <p:nvPr/>
        </p:nvSpPr>
        <p:spPr>
          <a:xfrm>
            <a:off x="8048625" y="1911934"/>
            <a:ext cx="3522824" cy="194310"/>
          </a:xfrm>
          <a:prstGeom prst="rect">
            <a:avLst/>
          </a:prstGeom>
          <a:noFill/>
        </p:spPr>
        <p:txBody>
          <a:bodyPr wrap="none" lIns="0" rIns="0" tIns="0" bIns="0">
            <a:spAutoFit/>
          </a:bodyPr>
          <a:lstStyle/>
          <a:p>
            <a:r>
              <a:rPr sz="1150" b="0">
                <a:solidFill>
                  <a:srgbClr val="2E2E2E"/>
                </a:solidFill>
                <a:latin typeface="Calibri"/>
              </a:rPr>
              <a:t>technology types in USD, harmonised across regions. Each</a:t>
            </a:r>
          </a:p>
        </p:txBody>
      </p:sp>
      <p:sp>
        <p:nvSpPr>
          <p:cNvPr id="76" name="TextBox 75"/>
          <p:cNvSpPr txBox="1"/>
          <p:nvPr/>
        </p:nvSpPr>
        <p:spPr>
          <a:xfrm>
            <a:off x="8048625" y="2087194"/>
            <a:ext cx="3663553" cy="194310"/>
          </a:xfrm>
          <a:prstGeom prst="rect">
            <a:avLst/>
          </a:prstGeom>
          <a:noFill/>
        </p:spPr>
        <p:txBody>
          <a:bodyPr wrap="none" lIns="0" rIns="0" tIns="0" bIns="0">
            <a:spAutoFit/>
          </a:bodyPr>
          <a:lstStyle/>
          <a:p>
            <a:r>
              <a:rPr sz="1150" b="0">
                <a:solidFill>
                  <a:srgbClr val="2E2E2E"/>
                </a:solidFill>
                <a:latin typeface="Calibri"/>
              </a:rPr>
              <a:t>candlestick spans the minimum-to-maximum observed price</a:t>
            </a:r>
          </a:p>
        </p:txBody>
      </p:sp>
      <p:sp>
        <p:nvSpPr>
          <p:cNvPr id="77" name="TextBox 76"/>
          <p:cNvSpPr txBox="1"/>
          <p:nvPr/>
        </p:nvSpPr>
        <p:spPr>
          <a:xfrm>
            <a:off x="8048625" y="2262454"/>
            <a:ext cx="3542890" cy="194310"/>
          </a:xfrm>
          <a:prstGeom prst="rect">
            <a:avLst/>
          </a:prstGeom>
          <a:noFill/>
        </p:spPr>
        <p:txBody>
          <a:bodyPr wrap="none" lIns="0" rIns="0" tIns="0" bIns="0">
            <a:spAutoFit/>
          </a:bodyPr>
          <a:lstStyle/>
          <a:p>
            <a:r>
              <a:rPr sz="1150" b="0">
                <a:solidFill>
                  <a:srgbClr val="2E2E2E"/>
                </a:solidFill>
                <a:latin typeface="Calibri"/>
              </a:rPr>
              <a:t>within the base year, giving a clear read of price range and</a:t>
            </a:r>
          </a:p>
        </p:txBody>
      </p:sp>
      <p:sp>
        <p:nvSpPr>
          <p:cNvPr id="78" name="TextBox 77"/>
          <p:cNvSpPr txBox="1"/>
          <p:nvPr/>
        </p:nvSpPr>
        <p:spPr>
          <a:xfrm>
            <a:off x="8048625" y="2437714"/>
            <a:ext cx="1184411" cy="194310"/>
          </a:xfrm>
          <a:prstGeom prst="rect">
            <a:avLst/>
          </a:prstGeom>
          <a:noFill/>
        </p:spPr>
        <p:txBody>
          <a:bodyPr wrap="none" lIns="0" rIns="0" tIns="0" bIns="0">
            <a:spAutoFit/>
          </a:bodyPr>
          <a:lstStyle/>
          <a:p>
            <a:r>
              <a:rPr sz="1150" b="0">
                <a:solidFill>
                  <a:srgbClr val="2E2E2E"/>
                </a:solidFill>
                <a:latin typeface="Calibri"/>
              </a:rPr>
              <a:t>market dispersion.</a:t>
            </a:r>
          </a:p>
        </p:txBody>
      </p:sp>
      <p:sp>
        <p:nvSpPr>
          <p:cNvPr id="79" name="TextBox 78"/>
          <p:cNvSpPr txBox="1"/>
          <p:nvPr/>
        </p:nvSpPr>
        <p:spPr>
          <a:xfrm>
            <a:off x="8048625" y="2665551"/>
            <a:ext cx="3793058" cy="194310"/>
          </a:xfrm>
          <a:prstGeom prst="rect">
            <a:avLst/>
          </a:prstGeom>
          <a:noFill/>
        </p:spPr>
        <p:txBody>
          <a:bodyPr wrap="none" lIns="0" rIns="0" tIns="0" bIns="0">
            <a:spAutoFit/>
          </a:bodyPr>
          <a:lstStyle/>
          <a:p>
            <a:r>
              <a:rPr sz="1150" b="0">
                <a:solidFill>
                  <a:srgbClr val="2E2E2E"/>
                </a:solidFill>
                <a:latin typeface="Calibri"/>
              </a:rPr>
              <a:t>▪ Wider bodies mark a larger gap between opening and closing</a:t>
            </a:r>
          </a:p>
        </p:txBody>
      </p:sp>
      <p:sp>
        <p:nvSpPr>
          <p:cNvPr id="80" name="TextBox 79"/>
          <p:cNvSpPr txBox="1"/>
          <p:nvPr/>
        </p:nvSpPr>
        <p:spPr>
          <a:xfrm>
            <a:off x="8048625" y="2840811"/>
            <a:ext cx="3413100" cy="194310"/>
          </a:xfrm>
          <a:prstGeom prst="rect">
            <a:avLst/>
          </a:prstGeom>
          <a:noFill/>
        </p:spPr>
        <p:txBody>
          <a:bodyPr wrap="none" lIns="0" rIns="0" tIns="0" bIns="0">
            <a:spAutoFit/>
          </a:bodyPr>
          <a:lstStyle/>
          <a:p>
            <a:r>
              <a:rPr sz="1150" b="0">
                <a:solidFill>
                  <a:srgbClr val="2E2E2E"/>
                </a:solidFill>
                <a:latin typeface="Calibri"/>
              </a:rPr>
              <a:t>price levels 'Static Cold Storage Devices' shows the most</a:t>
            </a:r>
          </a:p>
        </p:txBody>
      </p:sp>
      <p:sp>
        <p:nvSpPr>
          <p:cNvPr id="81" name="TextBox 80"/>
          <p:cNvSpPr txBox="1"/>
          <p:nvPr/>
        </p:nvSpPr>
        <p:spPr>
          <a:xfrm>
            <a:off x="8048625" y="3016071"/>
            <a:ext cx="873769" cy="194310"/>
          </a:xfrm>
          <a:prstGeom prst="rect">
            <a:avLst/>
          </a:prstGeom>
          <a:noFill/>
        </p:spPr>
        <p:txBody>
          <a:bodyPr wrap="none" lIns="0" rIns="0" tIns="0" bIns="0">
            <a:spAutoFit/>
          </a:bodyPr>
          <a:lstStyle/>
          <a:p>
            <a:r>
              <a:rPr sz="1150" b="0">
                <a:solidFill>
                  <a:srgbClr val="2E2E2E"/>
                </a:solidFill>
                <a:latin typeface="Calibri"/>
              </a:rPr>
              <a:t>movement (+</a:t>
            </a:r>
          </a:p>
        </p:txBody>
      </p:sp>
      <p:pic>
        <p:nvPicPr>
          <p:cNvPr id="82" name="Picture 81" descr="lock.png"/>
          <p:cNvPicPr>
            <a:picLocks noChangeAspect="1"/>
          </p:cNvPicPr>
          <p:nvPr/>
        </p:nvPicPr>
        <p:blipFill>
          <a:blip r:embed="rId4"/>
          <a:stretch>
            <a:fillRect/>
          </a:stretch>
        </p:blipFill>
        <p:spPr>
          <a:xfrm>
            <a:off x="8871548" y="3005848"/>
            <a:ext cx="134549" cy="195707"/>
          </a:xfrm>
          <a:prstGeom prst="rect">
            <a:avLst/>
          </a:prstGeom>
        </p:spPr>
      </p:pic>
      <p:sp>
        <p:nvSpPr>
          <p:cNvPr id="83" name="TextBox 82"/>
          <p:cNvSpPr txBox="1"/>
          <p:nvPr/>
        </p:nvSpPr>
        <p:spPr>
          <a:xfrm>
            <a:off x="9046658" y="3016071"/>
            <a:ext cx="2846585" cy="194310"/>
          </a:xfrm>
          <a:prstGeom prst="rect">
            <a:avLst/>
          </a:prstGeom>
          <a:noFill/>
        </p:spPr>
        <p:txBody>
          <a:bodyPr wrap="none" lIns="0" rIns="0" tIns="0" bIns="0">
            <a:spAutoFit/>
          </a:bodyPr>
          <a:lstStyle/>
          <a:p>
            <a:r>
              <a:rPr sz="1150" b="0">
                <a:solidFill>
                  <a:srgbClr val="2E2E2E"/>
                </a:solidFill>
                <a:latin typeface="Calibri"/>
              </a:rPr>
              <a:t>) and 'Portable Machine Perfusion Devices' the</a:t>
            </a:r>
          </a:p>
        </p:txBody>
      </p:sp>
      <p:sp>
        <p:nvSpPr>
          <p:cNvPr id="84" name="TextBox 83"/>
          <p:cNvSpPr txBox="1"/>
          <p:nvPr/>
        </p:nvSpPr>
        <p:spPr>
          <a:xfrm>
            <a:off x="8048625" y="3191331"/>
            <a:ext cx="508644" cy="194310"/>
          </a:xfrm>
          <a:prstGeom prst="rect">
            <a:avLst/>
          </a:prstGeom>
          <a:noFill/>
        </p:spPr>
        <p:txBody>
          <a:bodyPr wrap="none" lIns="0" rIns="0" tIns="0" bIns="0">
            <a:spAutoFit/>
          </a:bodyPr>
          <a:lstStyle/>
          <a:p>
            <a:r>
              <a:rPr sz="1150" b="0">
                <a:solidFill>
                  <a:srgbClr val="2E2E2E"/>
                </a:solidFill>
                <a:latin typeface="Calibri"/>
              </a:rPr>
              <a:t>least (+</a:t>
            </a:r>
          </a:p>
        </p:txBody>
      </p:sp>
      <p:pic>
        <p:nvPicPr>
          <p:cNvPr id="85" name="Picture 84" descr="lock.png"/>
          <p:cNvPicPr>
            <a:picLocks noChangeAspect="1"/>
          </p:cNvPicPr>
          <p:nvPr/>
        </p:nvPicPr>
        <p:blipFill>
          <a:blip r:embed="rId4"/>
          <a:stretch>
            <a:fillRect/>
          </a:stretch>
        </p:blipFill>
        <p:spPr>
          <a:xfrm>
            <a:off x="8506423" y="3181108"/>
            <a:ext cx="134549" cy="195707"/>
          </a:xfrm>
          <a:prstGeom prst="rect">
            <a:avLst/>
          </a:prstGeom>
        </p:spPr>
      </p:pic>
      <p:sp>
        <p:nvSpPr>
          <p:cNvPr id="86" name="TextBox 85"/>
          <p:cNvSpPr txBox="1"/>
          <p:nvPr/>
        </p:nvSpPr>
        <p:spPr>
          <a:xfrm>
            <a:off x="8681533" y="3191331"/>
            <a:ext cx="2839169" cy="194310"/>
          </a:xfrm>
          <a:prstGeom prst="rect">
            <a:avLst/>
          </a:prstGeom>
          <a:noFill/>
        </p:spPr>
        <p:txBody>
          <a:bodyPr wrap="none" lIns="0" rIns="0" tIns="0" bIns="0">
            <a:spAutoFit/>
          </a:bodyPr>
          <a:lstStyle/>
          <a:p>
            <a:r>
              <a:rPr sz="1150" b="0">
                <a:solidFill>
                  <a:srgbClr val="2E2E2E"/>
                </a:solidFill>
                <a:latin typeface="Calibri"/>
              </a:rPr>
              <a:t>) variability stakeholders should monitor when</a:t>
            </a:r>
          </a:p>
        </p:txBody>
      </p:sp>
      <p:sp>
        <p:nvSpPr>
          <p:cNvPr id="87" name="TextBox 86"/>
          <p:cNvSpPr txBox="1"/>
          <p:nvPr/>
        </p:nvSpPr>
        <p:spPr>
          <a:xfrm>
            <a:off x="8048625" y="3366591"/>
            <a:ext cx="2038176" cy="194310"/>
          </a:xfrm>
          <a:prstGeom prst="rect">
            <a:avLst/>
          </a:prstGeom>
          <a:noFill/>
        </p:spPr>
        <p:txBody>
          <a:bodyPr wrap="none" lIns="0" rIns="0" tIns="0" bIns="0">
            <a:spAutoFit/>
          </a:bodyPr>
          <a:lstStyle/>
          <a:p>
            <a:r>
              <a:rPr sz="1150" b="0">
                <a:solidFill>
                  <a:srgbClr val="2E2E2E"/>
                </a:solidFill>
                <a:latin typeface="Calibri"/>
              </a:rPr>
              <a:t>planning procurement or pricing.</a:t>
            </a:r>
          </a:p>
        </p:txBody>
      </p:sp>
      <p:sp>
        <p:nvSpPr>
          <p:cNvPr id="88" name="TextBox 87"/>
          <p:cNvSpPr txBox="1"/>
          <p:nvPr/>
        </p:nvSpPr>
        <p:spPr>
          <a:xfrm>
            <a:off x="8048625" y="3594429"/>
            <a:ext cx="3718607" cy="194310"/>
          </a:xfrm>
          <a:prstGeom prst="rect">
            <a:avLst/>
          </a:prstGeom>
          <a:noFill/>
        </p:spPr>
        <p:txBody>
          <a:bodyPr wrap="none" lIns="0" rIns="0" tIns="0" bIns="0">
            <a:spAutoFit/>
          </a:bodyPr>
          <a:lstStyle/>
          <a:p>
            <a:r>
              <a:rPr sz="1150" b="0">
                <a:solidFill>
                  <a:srgbClr val="2E2E2E"/>
                </a:solidFill>
                <a:latin typeface="Calibri"/>
              </a:rPr>
              <a:t>▪ The lower chart indexes region-level price movement to the</a:t>
            </a:r>
          </a:p>
        </p:txBody>
      </p:sp>
      <p:sp>
        <p:nvSpPr>
          <p:cNvPr id="89" name="TextBox 88"/>
          <p:cNvSpPr txBox="1"/>
          <p:nvPr/>
        </p:nvSpPr>
        <p:spPr>
          <a:xfrm>
            <a:off x="8048625" y="3769689"/>
            <a:ext cx="3716610" cy="194310"/>
          </a:xfrm>
          <a:prstGeom prst="rect">
            <a:avLst/>
          </a:prstGeom>
          <a:noFill/>
        </p:spPr>
        <p:txBody>
          <a:bodyPr wrap="none" lIns="0" rIns="0" tIns="0" bIns="0">
            <a:spAutoFit/>
          </a:bodyPr>
          <a:lstStyle/>
          <a:p>
            <a:r>
              <a:rPr sz="1150" b="0">
                <a:solidFill>
                  <a:srgbClr val="2E2E2E"/>
                </a:solidFill>
                <a:latin typeface="Calibri"/>
              </a:rPr>
              <a:t>base year, applied consistently across the horizon to strip out</a:t>
            </a:r>
          </a:p>
        </p:txBody>
      </p:sp>
      <p:sp>
        <p:nvSpPr>
          <p:cNvPr id="90" name="TextBox 89"/>
          <p:cNvSpPr txBox="1"/>
          <p:nvPr/>
        </p:nvSpPr>
        <p:spPr>
          <a:xfrm>
            <a:off x="8048625" y="3944949"/>
            <a:ext cx="3693219" cy="194310"/>
          </a:xfrm>
          <a:prstGeom prst="rect">
            <a:avLst/>
          </a:prstGeom>
          <a:noFill/>
        </p:spPr>
        <p:txBody>
          <a:bodyPr wrap="none" lIns="0" rIns="0" tIns="0" bIns="0">
            <a:spAutoFit/>
          </a:bodyPr>
          <a:lstStyle/>
          <a:p>
            <a:r>
              <a:rPr sz="1150" b="0">
                <a:solidFill>
                  <a:srgbClr val="2E2E2E"/>
                </a:solidFill>
                <a:latin typeface="Calibri"/>
              </a:rPr>
              <a:t>year-on-year inflationary volatility and reveal structural price</a:t>
            </a:r>
          </a:p>
        </p:txBody>
      </p:sp>
      <p:sp>
        <p:nvSpPr>
          <p:cNvPr id="91" name="TextBox 90"/>
          <p:cNvSpPr txBox="1"/>
          <p:nvPr/>
        </p:nvSpPr>
        <p:spPr>
          <a:xfrm>
            <a:off x="8048625" y="4120209"/>
            <a:ext cx="431055" cy="194310"/>
          </a:xfrm>
          <a:prstGeom prst="rect">
            <a:avLst/>
          </a:prstGeom>
          <a:noFill/>
        </p:spPr>
        <p:txBody>
          <a:bodyPr wrap="none" lIns="0" rIns="0" tIns="0" bIns="0">
            <a:spAutoFit/>
          </a:bodyPr>
          <a:lstStyle/>
          <a:p>
            <a:r>
              <a:rPr sz="1150" b="0">
                <a:solidFill>
                  <a:srgbClr val="2E2E2E"/>
                </a:solidFill>
                <a:latin typeface="Calibri"/>
              </a:rPr>
              <a:t>shifts.</a:t>
            </a:r>
          </a:p>
        </p:txBody>
      </p:sp>
      <p:sp>
        <p:nvSpPr>
          <p:cNvPr id="92" name="TextBox 91"/>
          <p:cNvSpPr txBox="1"/>
          <p:nvPr/>
        </p:nvSpPr>
        <p:spPr>
          <a:xfrm>
            <a:off x="8048625" y="4348047"/>
            <a:ext cx="2340260" cy="194310"/>
          </a:xfrm>
          <a:prstGeom prst="rect">
            <a:avLst/>
          </a:prstGeom>
          <a:noFill/>
        </p:spPr>
        <p:txBody>
          <a:bodyPr wrap="none" lIns="0" rIns="0" tIns="0" bIns="0">
            <a:spAutoFit/>
          </a:bodyPr>
          <a:lstStyle/>
          <a:p>
            <a:r>
              <a:rPr sz="1150" b="0">
                <a:solidFill>
                  <a:srgbClr val="2E2E2E"/>
                </a:solidFill>
                <a:latin typeface="Calibri"/>
              </a:rPr>
              <a:t>▪ Region price indices diverge by up to</a:t>
            </a:r>
          </a:p>
        </p:txBody>
      </p:sp>
      <p:pic>
        <p:nvPicPr>
          <p:cNvPr id="93" name="Picture 92" descr="lock.png"/>
          <p:cNvPicPr>
            <a:picLocks noChangeAspect="1"/>
          </p:cNvPicPr>
          <p:nvPr/>
        </p:nvPicPr>
        <p:blipFill>
          <a:blip r:embed="rId4"/>
          <a:stretch>
            <a:fillRect/>
          </a:stretch>
        </p:blipFill>
        <p:spPr>
          <a:xfrm>
            <a:off x="10338039" y="4337824"/>
            <a:ext cx="134549" cy="195707"/>
          </a:xfrm>
          <a:prstGeom prst="rect">
            <a:avLst/>
          </a:prstGeom>
        </p:spPr>
      </p:pic>
      <p:sp>
        <p:nvSpPr>
          <p:cNvPr id="94" name="TextBox 93"/>
          <p:cNvSpPr txBox="1"/>
          <p:nvPr/>
        </p:nvSpPr>
        <p:spPr>
          <a:xfrm>
            <a:off x="10513148" y="4348047"/>
            <a:ext cx="1187549" cy="194310"/>
          </a:xfrm>
          <a:prstGeom prst="rect">
            <a:avLst/>
          </a:prstGeom>
          <a:noFill/>
        </p:spPr>
        <p:txBody>
          <a:bodyPr wrap="none" lIns="0" rIns="0" tIns="0" bIns="0">
            <a:spAutoFit/>
          </a:bodyPr>
          <a:lstStyle/>
          <a:p>
            <a:r>
              <a:rPr sz="1150" b="0">
                <a:solidFill>
                  <a:srgbClr val="2E2E2E"/>
                </a:solidFill>
                <a:latin typeface="Calibri"/>
              </a:rPr>
              <a:t>between 2026 and</a:t>
            </a:r>
          </a:p>
        </p:txBody>
      </p:sp>
      <p:sp>
        <p:nvSpPr>
          <p:cNvPr id="95" name="TextBox 94"/>
          <p:cNvSpPr txBox="1"/>
          <p:nvPr/>
        </p:nvSpPr>
        <p:spPr>
          <a:xfrm>
            <a:off x="8048625" y="4523307"/>
            <a:ext cx="3848100" cy="194310"/>
          </a:xfrm>
          <a:prstGeom prst="rect">
            <a:avLst/>
          </a:prstGeom>
          <a:noFill/>
        </p:spPr>
        <p:txBody>
          <a:bodyPr wrap="none" lIns="0" rIns="0" tIns="0" bIns="0">
            <a:spAutoFit/>
          </a:bodyPr>
          <a:lstStyle/>
          <a:p>
            <a:r>
              <a:rPr sz="1150" b="0">
                <a:solidFill>
                  <a:srgbClr val="2E2E2E"/>
                </a:solidFill>
                <a:latin typeface="Calibri"/>
              </a:rPr>
              <a:t>2036: higher-priced regions start higher and grow steadily, while</a:t>
            </a:r>
          </a:p>
        </p:txBody>
      </p:sp>
      <p:sp>
        <p:nvSpPr>
          <p:cNvPr id="96" name="TextBox 95"/>
          <p:cNvSpPr txBox="1"/>
          <p:nvPr/>
        </p:nvSpPr>
        <p:spPr>
          <a:xfrm>
            <a:off x="8048625" y="4698567"/>
            <a:ext cx="3454747" cy="194310"/>
          </a:xfrm>
          <a:prstGeom prst="rect">
            <a:avLst/>
          </a:prstGeom>
          <a:noFill/>
        </p:spPr>
        <p:txBody>
          <a:bodyPr wrap="none" lIns="0" rIns="0" tIns="0" bIns="0">
            <a:spAutoFit/>
          </a:bodyPr>
          <a:lstStyle/>
          <a:p>
            <a:r>
              <a:rPr sz="1150" b="0">
                <a:solidFill>
                  <a:srgbClr val="2E2E2E"/>
                </a:solidFill>
                <a:latin typeface="Calibri"/>
              </a:rPr>
              <a:t>lower-priced regions start lower and converge, reflecting</a:t>
            </a:r>
          </a:p>
        </p:txBody>
      </p:sp>
      <p:sp>
        <p:nvSpPr>
          <p:cNvPr id="97" name="TextBox 96"/>
          <p:cNvSpPr txBox="1"/>
          <p:nvPr/>
        </p:nvSpPr>
        <p:spPr>
          <a:xfrm>
            <a:off x="8048625" y="4873827"/>
            <a:ext cx="1090848" cy="194310"/>
          </a:xfrm>
          <a:prstGeom prst="rect">
            <a:avLst/>
          </a:prstGeom>
          <a:noFill/>
        </p:spPr>
        <p:txBody>
          <a:bodyPr wrap="none" lIns="0" rIns="0" tIns="0" bIns="0">
            <a:spAutoFit/>
          </a:bodyPr>
          <a:lstStyle/>
          <a:p>
            <a:r>
              <a:rPr sz="1150" b="0">
                <a:solidFill>
                  <a:srgbClr val="2E2E2E"/>
                </a:solidFill>
                <a:latin typeface="Calibri"/>
              </a:rPr>
              <a:t>catch-up growth.</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Pricing Assessment: By Device Technology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by device technology, 2021 to 2036, with 2026 price index and growth outlook</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644652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621792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Trend by Device Technology, 2021 to 2036 (US$/Units)</a:t>
            </a:r>
          </a:p>
        </p:txBody>
      </p:sp>
      <p:graphicFrame>
        <p:nvGraphicFramePr>
          <p:cNvPr id="13" name="FMI Price Chart"/>
          <p:cNvGraphicFramePr>
            <a:graphicFrameLocks noGrp="1"/>
          </p:cNvGraphicFramePr>
          <p:nvPr/>
        </p:nvGraphicFramePr>
        <p:xfrm>
          <a:off x="347472" y="1831467"/>
          <a:ext cx="6309360" cy="3182112"/>
        </p:xfrm>
        <a:graphic>
          <a:graphicData uri="http://schemas.openxmlformats.org/drawingml/2006/chart">
            <c:chart xmlns:c="http://schemas.openxmlformats.org/drawingml/2006/chart" r:id="rId3"/>
          </a:graphicData>
        </a:graphic>
      </p:graphicFrame>
      <p:sp>
        <p:nvSpPr>
          <p:cNvPr id="14" name="TextBox 13"/>
          <p:cNvSpPr txBox="1"/>
          <p:nvPr/>
        </p:nvSpPr>
        <p:spPr>
          <a:xfrm>
            <a:off x="4572000" y="1593723"/>
            <a:ext cx="2103120" cy="228600"/>
          </a:xfrm>
          <a:prstGeom prst="rect">
            <a:avLst/>
          </a:prstGeom>
          <a:noFill/>
        </p:spPr>
        <p:txBody>
          <a:bodyPr wrap="square" anchor="t" lIns="27432" rIns="27432" tIns="27432" bIns="27432">
            <a:spAutoFit/>
          </a:bodyPr>
          <a:lstStyle/>
          <a:p>
            <a:pPr algn="r"/>
            <a:r>
              <a:rPr sz="850" b="0" i="1">
                <a:solidFill>
                  <a:srgbClr val="59636E"/>
                </a:solidFill>
                <a:latin typeface="Calibri"/>
              </a:rPr>
              <a:t>Forecast period: 2026 to 2036</a:t>
            </a:r>
          </a:p>
        </p:txBody>
      </p:sp>
      <p:sp>
        <p:nvSpPr>
          <p:cNvPr id="15" name="Rectangle 14"/>
          <p:cNvSpPr/>
          <p:nvPr/>
        </p:nvSpPr>
        <p:spPr>
          <a:xfrm>
            <a:off x="6858000" y="1529715"/>
            <a:ext cx="5056632" cy="160020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6967728" y="1575435"/>
            <a:ext cx="4846320" cy="257175"/>
          </a:xfrm>
          <a:prstGeom prst="rect">
            <a:avLst/>
          </a:prstGeom>
          <a:noFill/>
        </p:spPr>
        <p:txBody>
          <a:bodyPr wrap="square" anchor="t" lIns="27432" rIns="27432" tIns="27432" bIns="27432">
            <a:spAutoFit/>
          </a:bodyPr>
          <a:lstStyle/>
          <a:p>
            <a:pPr algn="l"/>
            <a:r>
              <a:rPr sz="1150" b="1" i="0">
                <a:solidFill>
                  <a:srgbClr val="0B2E4A"/>
                </a:solidFill>
                <a:latin typeface="Calibri"/>
              </a:rPr>
              <a:t/>
            </a:r>
          </a:p>
        </p:txBody>
      </p:sp>
      <p:graphicFrame>
        <p:nvGraphicFramePr>
          <p:cNvPr id="17" name="FMI Open Chart"/>
          <p:cNvGraphicFramePr>
            <a:graphicFrameLocks noGrp="1"/>
          </p:cNvGraphicFramePr>
          <p:nvPr/>
        </p:nvGraphicFramePr>
        <p:xfrm>
          <a:off x="6903720" y="1785747"/>
          <a:ext cx="4965192" cy="1325880"/>
        </p:xfrm>
        <a:graphic>
          <a:graphicData uri="http://schemas.openxmlformats.org/drawingml/2006/chart">
            <c:chart xmlns:c="http://schemas.openxmlformats.org/drawingml/2006/chart" r:id="rId4"/>
          </a:graphicData>
        </a:graphic>
      </p:graphicFrame>
      <p:graphicFrame>
        <p:nvGraphicFramePr>
          <p:cNvPr id="18" name="Table 17"/>
          <p:cNvGraphicFramePr>
            <a:graphicFrameLocks noGrp="1"/>
          </p:cNvGraphicFramePr>
          <p:nvPr/>
        </p:nvGraphicFramePr>
        <p:xfrm>
          <a:off x="6858000" y="3203067"/>
          <a:ext cx="5056632" cy="1847088"/>
        </p:xfrm>
        <a:graphic>
          <a:graphicData uri="http://schemas.openxmlformats.org/drawingml/2006/table">
            <a:tbl>
              <a:tblPr firstRow="1" bandRow="1">
                <a:tableStyleId>{5C22544A-7EE6-4342-B048-85BDC9FD1C3A}</a:tableStyleId>
              </a:tblPr>
              <a:tblGrid>
                <a:gridCol w="2130552"/>
                <a:gridCol w="548640"/>
                <a:gridCol w="548640"/>
                <a:gridCol w="548640"/>
                <a:gridCol w="777240"/>
                <a:gridCol w="502920"/>
              </a:tblGrid>
              <a:tr h="461772">
                <a:tc>
                  <a:txBody>
                    <a:bodyPr wrap="square"/>
                    <a:lstStyle/>
                    <a:p>
                      <a:pPr algn="l"/>
                      <a:r>
                        <a:rPr sz="850" b="1">
                          <a:solidFill>
                            <a:srgbClr val="FFFFFF"/>
                          </a:solidFill>
                          <a:latin typeface="Calibri"/>
                        </a:rPr>
                        <a:t>Device Technology</a:t>
                      </a:r>
                    </a:p>
                  </a:txBody>
                  <a:tcPr marL="36576" marR="36576" marT="9144" marB="9144" anchor="ctr">
                    <a:solidFill>
                      <a:srgbClr val="0B2E4A"/>
                    </a:solidFill>
                  </a:tcPr>
                </a:tc>
                <a:tc>
                  <a:txBody>
                    <a:bodyPr wrap="square"/>
                    <a:lstStyle/>
                    <a:p>
                      <a:pPr algn="ctr"/>
                      <a:r>
                        <a:rPr sz="850" b="1">
                          <a:solidFill>
                            <a:srgbClr val="FFFFFF"/>
                          </a:solidFill>
                          <a:latin typeface="Calibri"/>
                        </a:rPr>
                        <a:t>2021</a:t>
                      </a:r>
                    </a:p>
                  </a:txBody>
                  <a:tcPr marL="36576" marR="36576" marT="9144" marB="9144" anchor="ctr">
                    <a:solidFill>
                      <a:srgbClr val="0B2E4A"/>
                    </a:solidFill>
                  </a:tcPr>
                </a:tc>
                <a:tc>
                  <a:txBody>
                    <a:bodyPr wrap="square"/>
                    <a:lstStyle/>
                    <a:p>
                      <a:pPr algn="ctr"/>
                      <a:r>
                        <a:rPr sz="850" b="1">
                          <a:solidFill>
                            <a:srgbClr val="FFFFFF"/>
                          </a:solidFill>
                          <a:latin typeface="Calibri"/>
                        </a:rPr>
                        <a:t>2026</a:t>
                      </a:r>
                    </a:p>
                  </a:txBody>
                  <a:tcPr marL="36576" marR="36576" marT="9144" marB="9144" anchor="ctr">
                    <a:solidFill>
                      <a:srgbClr val="0B2E4A"/>
                    </a:solidFill>
                  </a:tcPr>
                </a:tc>
                <a:tc>
                  <a:txBody>
                    <a:bodyPr wrap="square"/>
                    <a:lstStyle/>
                    <a:p>
                      <a:pPr algn="ctr"/>
                      <a:r>
                        <a:rPr sz="850" b="1">
                          <a:solidFill>
                            <a:srgbClr val="FFFFFF"/>
                          </a:solidFill>
                          <a:latin typeface="Calibri"/>
                        </a:rPr>
                        <a:t>2036</a:t>
                      </a:r>
                    </a:p>
                  </a:txBody>
                  <a:tcPr marL="36576" marR="36576" marT="9144" marB="9144" anchor="ctr">
                    <a:solidFill>
                      <a:srgbClr val="0B2E4A"/>
                    </a:solidFill>
                  </a:tcPr>
                </a:tc>
                <a:tc>
                  <a:txBody>
                    <a:bodyPr wrap="square"/>
                    <a:lstStyle/>
                    <a:p>
                      <a:pPr algn="ctr"/>
                      <a:r>
                        <a:rPr sz="850" b="1">
                          <a:solidFill>
                            <a:srgbClr val="FFFFFF"/>
                          </a:solidFill>
                          <a:latin typeface="Calibri"/>
                        </a:rPr>
                        <a:t>CAGR 2026 to 2036</a:t>
                      </a:r>
                    </a:p>
                  </a:txBody>
                  <a:tcPr marL="36576" marR="36576" marT="9144" marB="9144" anchor="ctr">
                    <a:solidFill>
                      <a:srgbClr val="0B2E4A"/>
                    </a:solidFill>
                  </a:tcPr>
                </a:tc>
                <a:tc>
                  <a:txBody>
                    <a:bodyPr wrap="square"/>
                    <a:lstStyle/>
                    <a:p>
                      <a:pPr algn="ctr"/>
                      <a:r>
                        <a:rPr sz="850" b="1">
                          <a:solidFill>
                            <a:srgbClr val="FFFFFF"/>
                          </a:solidFill>
                          <a:latin typeface="Calibri"/>
                        </a:rPr>
                        <a:t>Index</a:t>
                      </a:r>
                    </a:p>
                  </a:txBody>
                  <a:tcPr marL="36576" marR="36576" marT="9144" marB="9144" anchor="ctr">
                    <a:solidFill>
                      <a:srgbClr val="0B2E4A"/>
                    </a:solidFill>
                  </a:tcPr>
                </a:tc>
              </a:tr>
              <a:tr h="461772">
                <a:tc>
                  <a:txBody>
                    <a:bodyPr wrap="square"/>
                    <a:lstStyle/>
                    <a:p>
                      <a:pPr algn="l"/>
                      <a:r>
                        <a:rPr sz="850" b="1">
                          <a:solidFill>
                            <a:srgbClr val="1F1F1F"/>
                          </a:solidFill>
                          <a:latin typeface="Calibri"/>
                        </a:rPr>
                        <a:t>Static Cold Storage Devices</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FFFFF"/>
                    </a:solidFill>
                  </a:tcPr>
                </a:tc>
                <a:tc>
                  <a:txBody>
                    <a:bodyPr wrap="square"/>
                    <a:lstStyle/>
                    <a:p>
                      <a:pPr algn="ctr"/>
                      <a:r>
                        <a:rPr sz="850"/>
                        <a:t> </a:t>
                      </a:r>
                    </a:p>
                  </a:txBody>
                  <a:tcPr marL="36576" marR="36576" marT="9144" marB="9144" anchor="ctr">
                    <a:solidFill>
                      <a:srgbClr val="F4B183"/>
                    </a:solidFill>
                  </a:tcPr>
                </a:tc>
              </a:tr>
              <a:tr h="461772">
                <a:tc>
                  <a:txBody>
                    <a:bodyPr wrap="square"/>
                    <a:lstStyle/>
                    <a:p>
                      <a:pPr algn="l"/>
                      <a:r>
                        <a:rPr sz="850" b="1">
                          <a:solidFill>
                            <a:srgbClr val="1F1F1F"/>
                          </a:solidFill>
                          <a:latin typeface="Calibri"/>
                        </a:rPr>
                        <a:t>Portable Machine Perfusion Devices</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9DC0E0"/>
                    </a:solidFill>
                  </a:tcPr>
                </a:tc>
              </a:tr>
              <a:tr h="461772">
                <a:tc>
                  <a:txBody>
                    <a:bodyPr wrap="square"/>
                    <a:lstStyle/>
                    <a:p>
                      <a:pPr algn="l"/>
                      <a:r>
                        <a:rPr sz="850" b="1">
                          <a:solidFill>
                            <a:srgbClr val="1F1F1F"/>
                          </a:solidFill>
                          <a:latin typeface="Calibri"/>
                        </a:rPr>
                        <a:t>Global Average</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c>
                  <a:txBody>
                    <a:bodyPr wrap="square"/>
                    <a:lstStyle/>
                    <a:p>
                      <a:pPr algn="ctr"/>
                      <a:r>
                        <a:rPr sz="850"/>
                        <a:t> </a:t>
                      </a:r>
                    </a:p>
                  </a:txBody>
                  <a:tcPr marL="36576" marR="36576" marT="9144" marB="9144" anchor="ctr">
                    <a:solidFill>
                      <a:srgbClr val="F3F6F9"/>
                    </a:solidFill>
                  </a:tcPr>
                </a:tc>
              </a:tr>
            </a:tbl>
          </a:graphicData>
        </a:graphic>
      </p:graphicFrame>
      <p:sp>
        <p:nvSpPr>
          <p:cNvPr id="19" name="Rectangle 18"/>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0" name="Oval 19"/>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1" name="TextBox 20"/>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Hierarchy</a:t>
            </a:r>
          </a:p>
        </p:txBody>
      </p:sp>
      <p:sp>
        <p:nvSpPr>
          <p:cNvPr id="22" name="TextBox 21"/>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3" name="Rectangle 22"/>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4" name="Oval 23"/>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5" name="TextBox 24"/>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Price Momentum</a:t>
            </a:r>
          </a:p>
        </p:txBody>
      </p:sp>
      <p:sp>
        <p:nvSpPr>
          <p:cNvPr id="26" name="TextBox 25"/>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7" name="Rectangle 26"/>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8" name="Oval 27"/>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9" name="TextBox 28"/>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Outlook</a:t>
            </a:r>
          </a:p>
        </p:txBody>
      </p:sp>
      <p:sp>
        <p:nvSpPr>
          <p:cNvPr id="30" name="TextBox 29"/>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1" name="TextBox 30"/>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Average price = market value (US$) / market volume (Units). 2021 to 2025 historical, 2026 to 2036 forecast.</a:t>
            </a:r>
          </a:p>
        </p:txBody>
      </p:sp>
      <p:sp>
        <p:nvSpPr>
          <p:cNvPr id="32" name="TextBox 3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3" name="Picture 32" descr="lock.png"/>
          <p:cNvPicPr>
            <a:picLocks noChangeAspect="1"/>
          </p:cNvPicPr>
          <p:nvPr/>
        </p:nvPicPr>
        <p:blipFill>
          <a:blip r:embed="rId6"/>
          <a:stretch>
            <a:fillRect/>
          </a:stretch>
        </p:blipFill>
        <p:spPr>
          <a:xfrm>
            <a:off x="10283571" y="4117466"/>
            <a:ext cx="330041" cy="480060"/>
          </a:xfrm>
          <a:prstGeom prst="rect">
            <a:avLst/>
          </a:prstGeom>
        </p:spPr>
      </p:pic>
      <p:sp>
        <p:nvSpPr>
          <p:cNvPr id="34" name="TextBox 33"/>
          <p:cNvSpPr txBox="1"/>
          <p:nvPr/>
        </p:nvSpPr>
        <p:spPr>
          <a:xfrm>
            <a:off x="411480" y="1110615"/>
            <a:ext cx="5092724" cy="217169"/>
          </a:xfrm>
          <a:prstGeom prst="rect">
            <a:avLst/>
          </a:prstGeom>
          <a:noFill/>
        </p:spPr>
        <p:txBody>
          <a:bodyPr wrap="none" lIns="0" rIns="0" tIns="0" bIns="0">
            <a:spAutoFit/>
          </a:bodyPr>
          <a:lstStyle/>
          <a:p>
            <a:r>
              <a:rPr sz="1300" b="1">
                <a:solidFill>
                  <a:srgbClr val="FFFFFF"/>
                </a:solidFill>
                <a:latin typeface="Calibri"/>
              </a:rPr>
              <a:t>Static Cold Storage Devices command the highest 2026 price point at US$</a:t>
            </a:r>
          </a:p>
        </p:txBody>
      </p:sp>
      <p:pic>
        <p:nvPicPr>
          <p:cNvPr id="35" name="Picture 34" descr="lock.png"/>
          <p:cNvPicPr>
            <a:picLocks noChangeAspect="1"/>
          </p:cNvPicPr>
          <p:nvPr/>
        </p:nvPicPr>
        <p:blipFill>
          <a:blip r:embed="rId6"/>
          <a:stretch>
            <a:fillRect/>
          </a:stretch>
        </p:blipFill>
        <p:spPr>
          <a:xfrm>
            <a:off x="5456665" y="1099058"/>
            <a:ext cx="152098" cy="221234"/>
          </a:xfrm>
          <a:prstGeom prst="rect">
            <a:avLst/>
          </a:prstGeom>
        </p:spPr>
      </p:pic>
      <p:sp>
        <p:nvSpPr>
          <p:cNvPr id="36" name="TextBox 35"/>
          <p:cNvSpPr txBox="1"/>
          <p:nvPr/>
        </p:nvSpPr>
        <p:spPr>
          <a:xfrm>
            <a:off x="5654615" y="1110615"/>
            <a:ext cx="668883" cy="217169"/>
          </a:xfrm>
          <a:prstGeom prst="rect">
            <a:avLst/>
          </a:prstGeom>
          <a:noFill/>
        </p:spPr>
        <p:txBody>
          <a:bodyPr wrap="none" lIns="0" rIns="0" tIns="0" bIns="0">
            <a:spAutoFit/>
          </a:bodyPr>
          <a:lstStyle/>
          <a:p>
            <a:r>
              <a:rPr sz="1300" b="1">
                <a:solidFill>
                  <a:srgbClr val="FFFFFF"/>
                </a:solidFill>
                <a:latin typeface="Calibri"/>
              </a:rPr>
              <a:t>/Units, a</a:t>
            </a:r>
          </a:p>
        </p:txBody>
      </p:sp>
      <p:pic>
        <p:nvPicPr>
          <p:cNvPr id="37" name="Picture 36" descr="lock.png"/>
          <p:cNvPicPr>
            <a:picLocks noChangeAspect="1"/>
          </p:cNvPicPr>
          <p:nvPr/>
        </p:nvPicPr>
        <p:blipFill>
          <a:blip r:embed="rId6"/>
          <a:stretch>
            <a:fillRect/>
          </a:stretch>
        </p:blipFill>
        <p:spPr>
          <a:xfrm>
            <a:off x="6275959" y="1099058"/>
            <a:ext cx="152098" cy="221234"/>
          </a:xfrm>
          <a:prstGeom prst="rect">
            <a:avLst/>
          </a:prstGeom>
        </p:spPr>
      </p:pic>
      <p:sp>
        <p:nvSpPr>
          <p:cNvPr id="38" name="TextBox 37"/>
          <p:cNvSpPr txBox="1"/>
          <p:nvPr/>
        </p:nvSpPr>
        <p:spPr>
          <a:xfrm>
            <a:off x="6473909" y="1110615"/>
            <a:ext cx="3606502" cy="217169"/>
          </a:xfrm>
          <a:prstGeom prst="rect">
            <a:avLst/>
          </a:prstGeom>
          <a:noFill/>
        </p:spPr>
        <p:txBody>
          <a:bodyPr wrap="none" lIns="0" rIns="0" tIns="0" bIns="0">
            <a:spAutoFit/>
          </a:bodyPr>
          <a:lstStyle/>
          <a:p>
            <a:r>
              <a:rPr sz="1300" b="1">
                <a:solidFill>
                  <a:srgbClr val="FFFFFF"/>
                </a:solidFill>
                <a:latin typeface="Calibri"/>
              </a:rPr>
              <a:t>premium over Portable Machine Perfusion Devices.</a:t>
            </a:r>
          </a:p>
        </p:txBody>
      </p:sp>
      <p:sp>
        <p:nvSpPr>
          <p:cNvPr id="39" name="TextBox 38"/>
          <p:cNvSpPr txBox="1"/>
          <p:nvPr/>
        </p:nvSpPr>
        <p:spPr>
          <a:xfrm>
            <a:off x="6995160" y="1602867"/>
            <a:ext cx="2164334" cy="180289"/>
          </a:xfrm>
          <a:prstGeom prst="rect">
            <a:avLst/>
          </a:prstGeom>
          <a:noFill/>
        </p:spPr>
        <p:txBody>
          <a:bodyPr wrap="none" lIns="0" rIns="0" tIns="0" bIns="0">
            <a:spAutoFit/>
          </a:bodyPr>
          <a:lstStyle/>
          <a:p>
            <a:r>
              <a:rPr sz="1057" b="1">
                <a:solidFill>
                  <a:srgbClr val="0B2E4A"/>
                </a:solidFill>
                <a:latin typeface="Calibri"/>
              </a:rPr>
              <a:t>2026 Price Index vs Global Average (=</a:t>
            </a:r>
          </a:p>
        </p:txBody>
      </p:sp>
      <p:pic>
        <p:nvPicPr>
          <p:cNvPr id="40" name="Picture 39" descr="lock.png"/>
          <p:cNvPicPr>
            <a:picLocks noChangeAspect="1"/>
          </p:cNvPicPr>
          <p:nvPr/>
        </p:nvPicPr>
        <p:blipFill>
          <a:blip r:embed="rId6"/>
          <a:stretch>
            <a:fillRect/>
          </a:stretch>
        </p:blipFill>
        <p:spPr>
          <a:xfrm>
            <a:off x="9106620" y="1593461"/>
            <a:ext cx="123784" cy="180050"/>
          </a:xfrm>
          <a:prstGeom prst="rect">
            <a:avLst/>
          </a:prstGeom>
        </p:spPr>
      </p:pic>
      <p:sp>
        <p:nvSpPr>
          <p:cNvPr id="41" name="TextBox 40"/>
          <p:cNvSpPr txBox="1"/>
          <p:nvPr/>
        </p:nvSpPr>
        <p:spPr>
          <a:xfrm>
            <a:off x="9267721" y="1602867"/>
            <a:ext cx="118189" cy="180289"/>
          </a:xfrm>
          <a:prstGeom prst="rect">
            <a:avLst/>
          </a:prstGeom>
          <a:noFill/>
        </p:spPr>
        <p:txBody>
          <a:bodyPr wrap="none" lIns="0" rIns="0" tIns="0" bIns="0">
            <a:spAutoFit/>
          </a:bodyPr>
          <a:lstStyle/>
          <a:p>
            <a:r>
              <a:rPr sz="1057" b="1">
                <a:solidFill>
                  <a:srgbClr val="0B2E4A"/>
                </a:solidFill>
                <a:latin typeface="Calibri"/>
              </a:rPr>
              <a:t>)</a:t>
            </a:r>
          </a:p>
        </p:txBody>
      </p:sp>
      <p:sp>
        <p:nvSpPr>
          <p:cNvPr id="42" name="TextBox 41"/>
          <p:cNvSpPr txBox="1"/>
          <p:nvPr/>
        </p:nvSpPr>
        <p:spPr>
          <a:xfrm>
            <a:off x="806576" y="5530976"/>
            <a:ext cx="3143250" cy="179069"/>
          </a:xfrm>
          <a:prstGeom prst="rect">
            <a:avLst/>
          </a:prstGeom>
          <a:noFill/>
        </p:spPr>
        <p:txBody>
          <a:bodyPr wrap="none" lIns="0" rIns="0" tIns="0" bIns="0">
            <a:spAutoFit/>
          </a:bodyPr>
          <a:lstStyle/>
          <a:p>
            <a:r>
              <a:rPr sz="1050" b="0">
                <a:solidFill>
                  <a:srgbClr val="1F1F1F"/>
                </a:solidFill>
                <a:latin typeface="Calibri"/>
              </a:rPr>
              <a:t>Static Cold Storage Devices sit at the top of the 2026 price</a:t>
            </a:r>
          </a:p>
        </p:txBody>
      </p:sp>
      <p:sp>
        <p:nvSpPr>
          <p:cNvPr id="43" name="TextBox 42"/>
          <p:cNvSpPr txBox="1"/>
          <p:nvPr/>
        </p:nvSpPr>
        <p:spPr>
          <a:xfrm>
            <a:off x="806576" y="5690996"/>
            <a:ext cx="1193266" cy="179069"/>
          </a:xfrm>
          <a:prstGeom prst="rect">
            <a:avLst/>
          </a:prstGeom>
          <a:noFill/>
        </p:spPr>
        <p:txBody>
          <a:bodyPr wrap="none" lIns="0" rIns="0" tIns="0" bIns="0">
            <a:spAutoFit/>
          </a:bodyPr>
          <a:lstStyle/>
          <a:p>
            <a:r>
              <a:rPr sz="1050" b="0">
                <a:solidFill>
                  <a:srgbClr val="1F1F1F"/>
                </a:solidFill>
                <a:latin typeface="Calibri"/>
              </a:rPr>
              <a:t>ladder at an index of</a:t>
            </a:r>
          </a:p>
        </p:txBody>
      </p:sp>
      <p:pic>
        <p:nvPicPr>
          <p:cNvPr id="44" name="Picture 43" descr="lock.png"/>
          <p:cNvPicPr>
            <a:picLocks noChangeAspect="1"/>
          </p:cNvPicPr>
          <p:nvPr/>
        </p:nvPicPr>
        <p:blipFill>
          <a:blip r:embed="rId6"/>
          <a:stretch>
            <a:fillRect/>
          </a:stretch>
        </p:blipFill>
        <p:spPr>
          <a:xfrm>
            <a:off x="1946792" y="5681662"/>
            <a:ext cx="122849" cy="178689"/>
          </a:xfrm>
          <a:prstGeom prst="rect">
            <a:avLst/>
          </a:prstGeom>
        </p:spPr>
      </p:pic>
      <p:sp>
        <p:nvSpPr>
          <p:cNvPr id="45" name="TextBox 44"/>
          <p:cNvSpPr txBox="1"/>
          <p:nvPr/>
        </p:nvSpPr>
        <p:spPr>
          <a:xfrm>
            <a:off x="2106675" y="5690996"/>
            <a:ext cx="1426889" cy="179069"/>
          </a:xfrm>
          <a:prstGeom prst="rect">
            <a:avLst/>
          </a:prstGeom>
          <a:noFill/>
        </p:spPr>
        <p:txBody>
          <a:bodyPr wrap="none" lIns="0" rIns="0" tIns="0" bIns="0">
            <a:spAutoFit/>
          </a:bodyPr>
          <a:lstStyle/>
          <a:p>
            <a:r>
              <a:rPr sz="1050" b="0">
                <a:solidFill>
                  <a:srgbClr val="1F1F1F"/>
                </a:solidFill>
                <a:latin typeface="Calibri"/>
              </a:rPr>
              <a:t>, while Portable Machine</a:t>
            </a:r>
          </a:p>
        </p:txBody>
      </p:sp>
      <p:sp>
        <p:nvSpPr>
          <p:cNvPr id="46" name="TextBox 45"/>
          <p:cNvSpPr txBox="1"/>
          <p:nvPr/>
        </p:nvSpPr>
        <p:spPr>
          <a:xfrm>
            <a:off x="806576" y="5851016"/>
            <a:ext cx="1497471" cy="179069"/>
          </a:xfrm>
          <a:prstGeom prst="rect">
            <a:avLst/>
          </a:prstGeom>
          <a:noFill/>
        </p:spPr>
        <p:txBody>
          <a:bodyPr wrap="none" lIns="0" rIns="0" tIns="0" bIns="0">
            <a:spAutoFit/>
          </a:bodyPr>
          <a:lstStyle/>
          <a:p>
            <a:r>
              <a:rPr sz="1050" b="0">
                <a:solidFill>
                  <a:srgbClr val="1F1F1F"/>
                </a:solidFill>
                <a:latin typeface="Calibri"/>
              </a:rPr>
              <a:t>Perfusion Devices trade at</a:t>
            </a:r>
          </a:p>
        </p:txBody>
      </p:sp>
      <p:pic>
        <p:nvPicPr>
          <p:cNvPr id="47" name="Picture 46" descr="lock.png"/>
          <p:cNvPicPr>
            <a:picLocks noChangeAspect="1"/>
          </p:cNvPicPr>
          <p:nvPr/>
        </p:nvPicPr>
        <p:blipFill>
          <a:blip r:embed="rId6"/>
          <a:stretch>
            <a:fillRect/>
          </a:stretch>
        </p:blipFill>
        <p:spPr>
          <a:xfrm>
            <a:off x="2250997" y="5841682"/>
            <a:ext cx="122849" cy="178689"/>
          </a:xfrm>
          <a:prstGeom prst="rect">
            <a:avLst/>
          </a:prstGeom>
        </p:spPr>
      </p:pic>
      <p:sp>
        <p:nvSpPr>
          <p:cNvPr id="48" name="TextBox 47"/>
          <p:cNvSpPr txBox="1"/>
          <p:nvPr/>
        </p:nvSpPr>
        <p:spPr>
          <a:xfrm>
            <a:off x="2410880" y="5851016"/>
            <a:ext cx="1222176" cy="179069"/>
          </a:xfrm>
          <a:prstGeom prst="rect">
            <a:avLst/>
          </a:prstGeom>
          <a:noFill/>
        </p:spPr>
        <p:txBody>
          <a:bodyPr wrap="none" lIns="0" rIns="0" tIns="0" bIns="0">
            <a:spAutoFit/>
          </a:bodyPr>
          <a:lstStyle/>
          <a:p>
            <a:r>
              <a:rPr sz="1050" b="0">
                <a:solidFill>
                  <a:srgbClr val="1F1F1F"/>
                </a:solidFill>
                <a:latin typeface="Calibri"/>
              </a:rPr>
              <a:t>, which keeps the full</a:t>
            </a:r>
          </a:p>
        </p:txBody>
      </p:sp>
      <p:sp>
        <p:nvSpPr>
          <p:cNvPr id="49" name="TextBox 48"/>
          <p:cNvSpPr txBox="1"/>
          <p:nvPr/>
        </p:nvSpPr>
        <p:spPr>
          <a:xfrm>
            <a:off x="806576" y="6011036"/>
            <a:ext cx="1830325" cy="179069"/>
          </a:xfrm>
          <a:prstGeom prst="rect">
            <a:avLst/>
          </a:prstGeom>
          <a:noFill/>
        </p:spPr>
        <p:txBody>
          <a:bodyPr wrap="none" lIns="0" rIns="0" tIns="0" bIns="0">
            <a:spAutoFit/>
          </a:bodyPr>
          <a:lstStyle/>
          <a:p>
            <a:r>
              <a:rPr sz="1050" b="0">
                <a:solidFill>
                  <a:srgbClr val="1F1F1F"/>
                </a:solidFill>
                <a:latin typeface="Calibri"/>
              </a:rPr>
              <a:t>device technology spread within</a:t>
            </a:r>
          </a:p>
        </p:txBody>
      </p:sp>
      <p:pic>
        <p:nvPicPr>
          <p:cNvPr id="50" name="Picture 49" descr="lock.png"/>
          <p:cNvPicPr>
            <a:picLocks noChangeAspect="1"/>
          </p:cNvPicPr>
          <p:nvPr/>
        </p:nvPicPr>
        <p:blipFill>
          <a:blip r:embed="rId6"/>
          <a:stretch>
            <a:fillRect/>
          </a:stretch>
        </p:blipFill>
        <p:spPr>
          <a:xfrm>
            <a:off x="2583851" y="6001702"/>
            <a:ext cx="122849" cy="178689"/>
          </a:xfrm>
          <a:prstGeom prst="rect">
            <a:avLst/>
          </a:prstGeom>
        </p:spPr>
      </p:pic>
      <p:sp>
        <p:nvSpPr>
          <p:cNvPr id="51" name="TextBox 50"/>
          <p:cNvSpPr txBox="1"/>
          <p:nvPr/>
        </p:nvSpPr>
        <p:spPr>
          <a:xfrm>
            <a:off x="2743734" y="6011036"/>
            <a:ext cx="109797" cy="179069"/>
          </a:xfrm>
          <a:prstGeom prst="rect">
            <a:avLst/>
          </a:prstGeom>
          <a:noFill/>
        </p:spPr>
        <p:txBody>
          <a:bodyPr wrap="none" lIns="0" rIns="0" tIns="0" bIns="0">
            <a:spAutoFit/>
          </a:bodyPr>
          <a:lstStyle/>
          <a:p>
            <a:r>
              <a:rPr sz="1050" b="0">
                <a:solidFill>
                  <a:srgbClr val="1F1F1F"/>
                </a:solidFill>
                <a:latin typeface="Calibri"/>
              </a:rPr>
              <a:t>.</a:t>
            </a:r>
          </a:p>
        </p:txBody>
      </p:sp>
      <p:sp>
        <p:nvSpPr>
          <p:cNvPr id="52" name="TextBox 51"/>
          <p:cNvSpPr txBox="1"/>
          <p:nvPr/>
        </p:nvSpPr>
        <p:spPr>
          <a:xfrm>
            <a:off x="4732401" y="5530976"/>
            <a:ext cx="3135696" cy="179069"/>
          </a:xfrm>
          <a:prstGeom prst="rect">
            <a:avLst/>
          </a:prstGeom>
          <a:noFill/>
        </p:spPr>
        <p:txBody>
          <a:bodyPr wrap="none" lIns="0" rIns="0" tIns="0" bIns="0">
            <a:spAutoFit/>
          </a:bodyPr>
          <a:lstStyle/>
          <a:p>
            <a:r>
              <a:rPr sz="1050" b="0">
                <a:solidFill>
                  <a:srgbClr val="1F1F1F"/>
                </a:solidFill>
                <a:latin typeface="Calibri"/>
              </a:rPr>
              <a:t>Static Cold Storage Devices post the fastest price growth</a:t>
            </a:r>
          </a:p>
        </p:txBody>
      </p:sp>
      <p:sp>
        <p:nvSpPr>
          <p:cNvPr id="53" name="TextBox 52"/>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4" name="Picture 53" descr="lock.png"/>
          <p:cNvPicPr>
            <a:picLocks noChangeAspect="1"/>
          </p:cNvPicPr>
          <p:nvPr/>
        </p:nvPicPr>
        <p:blipFill>
          <a:blip r:embed="rId6"/>
          <a:stretch>
            <a:fillRect/>
          </a:stretch>
        </p:blipFill>
        <p:spPr>
          <a:xfrm>
            <a:off x="4958179" y="5681662"/>
            <a:ext cx="122849" cy="178689"/>
          </a:xfrm>
          <a:prstGeom prst="rect">
            <a:avLst/>
          </a:prstGeom>
        </p:spPr>
      </p:pic>
      <p:sp>
        <p:nvSpPr>
          <p:cNvPr id="55" name="TextBox 54"/>
          <p:cNvSpPr txBox="1"/>
          <p:nvPr/>
        </p:nvSpPr>
        <p:spPr>
          <a:xfrm>
            <a:off x="5118062" y="5690996"/>
            <a:ext cx="2611917" cy="179069"/>
          </a:xfrm>
          <a:prstGeom prst="rect">
            <a:avLst/>
          </a:prstGeom>
          <a:noFill/>
        </p:spPr>
        <p:txBody>
          <a:bodyPr wrap="none" lIns="0" rIns="0" tIns="0" bIns="0">
            <a:spAutoFit/>
          </a:bodyPr>
          <a:lstStyle/>
          <a:p>
            <a:r>
              <a:rPr sz="1050" b="0">
                <a:solidFill>
                  <a:srgbClr val="1F1F1F"/>
                </a:solidFill>
                <a:latin typeface="Calibri"/>
              </a:rPr>
              <a:t>CAGR between 2026 and 2036, compared with</a:t>
            </a:r>
          </a:p>
        </p:txBody>
      </p:sp>
      <p:pic>
        <p:nvPicPr>
          <p:cNvPr id="56" name="Picture 55" descr="lock.png"/>
          <p:cNvPicPr>
            <a:picLocks noChangeAspect="1"/>
          </p:cNvPicPr>
          <p:nvPr/>
        </p:nvPicPr>
        <p:blipFill>
          <a:blip r:embed="rId6"/>
          <a:stretch>
            <a:fillRect/>
          </a:stretch>
        </p:blipFill>
        <p:spPr>
          <a:xfrm>
            <a:off x="4719545" y="5841682"/>
            <a:ext cx="122849" cy="178689"/>
          </a:xfrm>
          <a:prstGeom prst="rect">
            <a:avLst/>
          </a:prstGeom>
        </p:spPr>
      </p:pic>
      <p:sp>
        <p:nvSpPr>
          <p:cNvPr id="57" name="TextBox 56"/>
          <p:cNvSpPr txBox="1"/>
          <p:nvPr/>
        </p:nvSpPr>
        <p:spPr>
          <a:xfrm>
            <a:off x="4879428" y="5851016"/>
            <a:ext cx="2251992" cy="179069"/>
          </a:xfrm>
          <a:prstGeom prst="rect">
            <a:avLst/>
          </a:prstGeom>
          <a:noFill/>
        </p:spPr>
        <p:txBody>
          <a:bodyPr wrap="none" lIns="0" rIns="0" tIns="0" bIns="0">
            <a:spAutoFit/>
          </a:bodyPr>
          <a:lstStyle/>
          <a:p>
            <a:r>
              <a:rPr sz="1050" b="0">
                <a:solidFill>
                  <a:srgbClr val="1F1F1F"/>
                </a:solidFill>
                <a:latin typeface="Calibri"/>
              </a:rPr>
              <a:t>for Portable Machine Perfusion Devices.</a:t>
            </a:r>
          </a:p>
        </p:txBody>
      </p:sp>
      <p:sp>
        <p:nvSpPr>
          <p:cNvPr id="58" name="TextBox 57"/>
          <p:cNvSpPr txBox="1"/>
          <p:nvPr/>
        </p:nvSpPr>
        <p:spPr>
          <a:xfrm>
            <a:off x="8658225" y="5530976"/>
            <a:ext cx="2235844" cy="179069"/>
          </a:xfrm>
          <a:prstGeom prst="rect">
            <a:avLst/>
          </a:prstGeom>
          <a:noFill/>
        </p:spPr>
        <p:txBody>
          <a:bodyPr wrap="none" lIns="0" rIns="0" tIns="0" bIns="0">
            <a:spAutoFit/>
          </a:bodyPr>
          <a:lstStyle/>
          <a:p>
            <a:r>
              <a:rPr sz="1050" b="0">
                <a:solidFill>
                  <a:srgbClr val="1F1F1F"/>
                </a:solidFill>
                <a:latin typeface="Calibri"/>
              </a:rPr>
              <a:t>The Global average price rises from US$</a:t>
            </a:r>
          </a:p>
        </p:txBody>
      </p:sp>
      <p:pic>
        <p:nvPicPr>
          <p:cNvPr id="59" name="Picture 58" descr="lock.png"/>
          <p:cNvPicPr>
            <a:picLocks noChangeAspect="1"/>
          </p:cNvPicPr>
          <p:nvPr/>
        </p:nvPicPr>
        <p:blipFill>
          <a:blip r:embed="rId6"/>
          <a:stretch>
            <a:fillRect/>
          </a:stretch>
        </p:blipFill>
        <p:spPr>
          <a:xfrm>
            <a:off x="10841019" y="5521642"/>
            <a:ext cx="122849" cy="178689"/>
          </a:xfrm>
          <a:prstGeom prst="rect">
            <a:avLst/>
          </a:prstGeom>
        </p:spPr>
      </p:pic>
      <p:sp>
        <p:nvSpPr>
          <p:cNvPr id="60" name="TextBox 59"/>
          <p:cNvSpPr txBox="1"/>
          <p:nvPr/>
        </p:nvSpPr>
        <p:spPr>
          <a:xfrm>
            <a:off x="11000901" y="5530976"/>
            <a:ext cx="542143" cy="179069"/>
          </a:xfrm>
          <a:prstGeom prst="rect">
            <a:avLst/>
          </a:prstGeom>
          <a:noFill/>
        </p:spPr>
        <p:txBody>
          <a:bodyPr wrap="none" lIns="0" rIns="0" tIns="0" bIns="0">
            <a:spAutoFit/>
          </a:bodyPr>
          <a:lstStyle/>
          <a:p>
            <a:r>
              <a:rPr sz="1050" b="0">
                <a:solidFill>
                  <a:srgbClr val="1F1F1F"/>
                </a:solidFill>
                <a:latin typeface="Calibri"/>
              </a:rPr>
              <a:t>/Units in</a:t>
            </a:r>
          </a:p>
        </p:txBody>
      </p:sp>
      <p:sp>
        <p:nvSpPr>
          <p:cNvPr id="61" name="TextBox 60"/>
          <p:cNvSpPr txBox="1"/>
          <p:nvPr/>
        </p:nvSpPr>
        <p:spPr>
          <a:xfrm>
            <a:off x="8658225" y="5690996"/>
            <a:ext cx="737220" cy="179069"/>
          </a:xfrm>
          <a:prstGeom prst="rect">
            <a:avLst/>
          </a:prstGeom>
          <a:noFill/>
        </p:spPr>
        <p:txBody>
          <a:bodyPr wrap="none" lIns="0" rIns="0" tIns="0" bIns="0">
            <a:spAutoFit/>
          </a:bodyPr>
          <a:lstStyle/>
          <a:p>
            <a:r>
              <a:rPr sz="1050" b="0">
                <a:solidFill>
                  <a:srgbClr val="1F1F1F"/>
                </a:solidFill>
                <a:latin typeface="Calibri"/>
              </a:rPr>
              <a:t>2026 to US$</a:t>
            </a:r>
          </a:p>
        </p:txBody>
      </p:sp>
      <p:pic>
        <p:nvPicPr>
          <p:cNvPr id="62" name="Picture 61" descr="lock.png"/>
          <p:cNvPicPr>
            <a:picLocks noChangeAspect="1"/>
          </p:cNvPicPr>
          <p:nvPr/>
        </p:nvPicPr>
        <p:blipFill>
          <a:blip r:embed="rId6"/>
          <a:stretch>
            <a:fillRect/>
          </a:stretch>
        </p:blipFill>
        <p:spPr>
          <a:xfrm>
            <a:off x="9342394" y="5681662"/>
            <a:ext cx="122849" cy="178689"/>
          </a:xfrm>
          <a:prstGeom prst="rect">
            <a:avLst/>
          </a:prstGeom>
        </p:spPr>
      </p:pic>
      <p:sp>
        <p:nvSpPr>
          <p:cNvPr id="63" name="TextBox 62"/>
          <p:cNvSpPr txBox="1"/>
          <p:nvPr/>
        </p:nvSpPr>
        <p:spPr>
          <a:xfrm>
            <a:off x="9502276" y="5690996"/>
            <a:ext cx="2270224" cy="179069"/>
          </a:xfrm>
          <a:prstGeom prst="rect">
            <a:avLst/>
          </a:prstGeom>
          <a:noFill/>
        </p:spPr>
        <p:txBody>
          <a:bodyPr wrap="none" lIns="0" rIns="0" tIns="0" bIns="0">
            <a:spAutoFit/>
          </a:bodyPr>
          <a:lstStyle/>
          <a:p>
            <a:r>
              <a:rPr sz="1050" b="0">
                <a:solidFill>
                  <a:srgbClr val="1F1F1F"/>
                </a:solidFill>
                <a:latin typeface="Calibri"/>
              </a:rPr>
              <a:t>/Units in 2036, and the gap between the</a:t>
            </a:r>
          </a:p>
        </p:txBody>
      </p:sp>
      <p:sp>
        <p:nvSpPr>
          <p:cNvPr id="64" name="TextBox 63"/>
          <p:cNvSpPr txBox="1"/>
          <p:nvPr/>
        </p:nvSpPr>
        <p:spPr>
          <a:xfrm>
            <a:off x="8658225" y="5851016"/>
            <a:ext cx="3143250" cy="179069"/>
          </a:xfrm>
          <a:prstGeom prst="rect">
            <a:avLst/>
          </a:prstGeom>
          <a:noFill/>
        </p:spPr>
        <p:txBody>
          <a:bodyPr wrap="none" lIns="0" rIns="0" tIns="0" bIns="0">
            <a:spAutoFit/>
          </a:bodyPr>
          <a:lstStyle/>
          <a:p>
            <a:r>
              <a:rPr sz="1050" b="0">
                <a:solidFill>
                  <a:srgbClr val="1F1F1F"/>
                </a:solidFill>
                <a:latin typeface="Calibri"/>
              </a:rPr>
              <a:t>highest and lowest priced device technology moves from</a:t>
            </a:r>
          </a:p>
        </p:txBody>
      </p:sp>
      <p:pic>
        <p:nvPicPr>
          <p:cNvPr id="65" name="Picture 64" descr="lock.png"/>
          <p:cNvPicPr>
            <a:picLocks noChangeAspect="1"/>
          </p:cNvPicPr>
          <p:nvPr/>
        </p:nvPicPr>
        <p:blipFill>
          <a:blip r:embed="rId6"/>
          <a:stretch>
            <a:fillRect/>
          </a:stretch>
        </p:blipFill>
        <p:spPr>
          <a:xfrm>
            <a:off x="8645369" y="6001702"/>
            <a:ext cx="122849" cy="178689"/>
          </a:xfrm>
          <a:prstGeom prst="rect">
            <a:avLst/>
          </a:prstGeom>
        </p:spPr>
      </p:pic>
      <p:sp>
        <p:nvSpPr>
          <p:cNvPr id="66" name="TextBox 65"/>
          <p:cNvSpPr txBox="1"/>
          <p:nvPr/>
        </p:nvSpPr>
        <p:spPr>
          <a:xfrm>
            <a:off x="8805252" y="6011036"/>
            <a:ext cx="623403" cy="179069"/>
          </a:xfrm>
          <a:prstGeom prst="rect">
            <a:avLst/>
          </a:prstGeom>
          <a:noFill/>
        </p:spPr>
        <p:txBody>
          <a:bodyPr wrap="none" lIns="0" rIns="0" tIns="0" bIns="0">
            <a:spAutoFit/>
          </a:bodyPr>
          <a:lstStyle/>
          <a:p>
            <a:r>
              <a:rPr sz="1050" b="0">
                <a:solidFill>
                  <a:srgbClr val="1F1F1F"/>
                </a:solidFill>
                <a:latin typeface="Calibri"/>
              </a:rPr>
              <a:t>in 2021 to</a:t>
            </a:r>
          </a:p>
        </p:txBody>
      </p:sp>
      <p:pic>
        <p:nvPicPr>
          <p:cNvPr id="67" name="Picture 66" descr="lock.png"/>
          <p:cNvPicPr>
            <a:picLocks noChangeAspect="1"/>
          </p:cNvPicPr>
          <p:nvPr/>
        </p:nvPicPr>
        <p:blipFill>
          <a:blip r:embed="rId6"/>
          <a:stretch>
            <a:fillRect/>
          </a:stretch>
        </p:blipFill>
        <p:spPr>
          <a:xfrm>
            <a:off x="9375605" y="6001702"/>
            <a:ext cx="122849" cy="178689"/>
          </a:xfrm>
          <a:prstGeom prst="rect">
            <a:avLst/>
          </a:prstGeom>
        </p:spPr>
      </p:pic>
      <p:sp>
        <p:nvSpPr>
          <p:cNvPr id="68" name="TextBox 67"/>
          <p:cNvSpPr txBox="1"/>
          <p:nvPr/>
        </p:nvSpPr>
        <p:spPr>
          <a:xfrm>
            <a:off x="9535487" y="6011036"/>
            <a:ext cx="511671" cy="179069"/>
          </a:xfrm>
          <a:prstGeom prst="rect">
            <a:avLst/>
          </a:prstGeom>
          <a:noFill/>
        </p:spPr>
        <p:txBody>
          <a:bodyPr wrap="none" lIns="0" rIns="0" tIns="0" bIns="0">
            <a:spAutoFit/>
          </a:bodyPr>
          <a:lstStyle/>
          <a:p>
            <a:r>
              <a:rPr sz="1050" b="0">
                <a:solidFill>
                  <a:srgbClr val="1F1F1F"/>
                </a:solidFill>
                <a:latin typeface="Calibri"/>
              </a:rPr>
              <a:t>in 2036.</a:t>
            </a:r>
          </a:p>
        </p:txBody>
      </p:sp>
      <p:pic>
        <p:nvPicPr>
          <p:cNvPr id="69" name="Picture 68" descr="lock.png"/>
          <p:cNvPicPr>
            <a:picLocks noChangeAspect="1"/>
          </p:cNvPicPr>
          <p:nvPr/>
        </p:nvPicPr>
        <p:blipFill>
          <a:blip r:embed="rId6"/>
          <a:stretch>
            <a:fillRect/>
          </a:stretch>
        </p:blipFill>
        <p:spPr>
          <a:xfrm>
            <a:off x="3418190" y="3048804"/>
            <a:ext cx="454926" cy="661711"/>
          </a:xfrm>
          <a:prstGeom prst="rect">
            <a:avLst/>
          </a:prstGeom>
        </p:spPr>
      </p:pic>
      <p:pic>
        <p:nvPicPr>
          <p:cNvPr id="70" name="Picture 69" descr="lock.png"/>
          <p:cNvPicPr>
            <a:picLocks noChangeAspect="1"/>
          </p:cNvPicPr>
          <p:nvPr/>
        </p:nvPicPr>
        <p:blipFill>
          <a:blip r:embed="rId6"/>
          <a:stretch>
            <a:fillRect/>
          </a:stretch>
        </p:blipFill>
        <p:spPr>
          <a:xfrm>
            <a:off x="9403270" y="2219134"/>
            <a:ext cx="256698" cy="373379"/>
          </a:xfrm>
          <a:prstGeom prst="rect">
            <a:avLst/>
          </a:prstGeom>
        </p:spPr>
      </p:pic>
      <p:sp>
        <p:nvSpPr>
          <p:cNvPr id="71" name="lockshield_13"/>
          <p:cNvSpPr/>
          <p:nvPr/>
        </p:nvSpPr>
        <p:spPr>
          <a:xfrm>
            <a:off x="347472" y="1831467"/>
            <a:ext cx="6309360" cy="3182112"/>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lockshield_17"/>
          <p:cNvSpPr/>
          <p:nvPr/>
        </p:nvSpPr>
        <p:spPr>
          <a:xfrm>
            <a:off x="6903720" y="1785747"/>
            <a:ext cx="4965192" cy="132588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Price Matrix: Device Technology × Organ Compatibility</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Average price (US$/Units) for every device technology and organ compatibility combination, 2026</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Matrix (US$/Units), Shaded by Index vs Global Average</a:t>
            </a:r>
          </a:p>
        </p:txBody>
      </p:sp>
      <p:graphicFrame>
        <p:nvGraphicFramePr>
          <p:cNvPr id="13" name="Table 12"/>
          <p:cNvGraphicFramePr>
            <a:graphicFrameLocks noGrp="1"/>
          </p:cNvGraphicFramePr>
          <p:nvPr/>
        </p:nvGraphicFramePr>
        <p:xfrm>
          <a:off x="365760" y="1868043"/>
          <a:ext cx="7464955" cy="2834640"/>
        </p:xfrm>
        <a:graphic>
          <a:graphicData uri="http://schemas.openxmlformats.org/drawingml/2006/table">
            <a:tbl>
              <a:tblPr firstRow="1" bandRow="1">
                <a:tableStyleId>{5C22544A-7EE6-4342-B048-85BDC9FD1C3A}</a:tableStyleId>
              </a:tblPr>
              <a:tblGrid>
                <a:gridCol w="2555421"/>
                <a:gridCol w="2153015"/>
                <a:gridCol w="2153015"/>
                <a:gridCol w="603504"/>
              </a:tblGrid>
              <a:tr h="314960">
                <a:tc>
                  <a:txBody>
                    <a:bodyPr wrap="square"/>
                    <a:lstStyle/>
                    <a:p>
                      <a:pPr algn="l"/>
                      <a:r>
                        <a:rPr sz="800" b="1">
                          <a:solidFill>
                            <a:srgbClr val="FFFFFF"/>
                          </a:solidFill>
                          <a:latin typeface="Calibri"/>
                        </a:rPr>
                        <a:t>Device Technology</a:t>
                      </a:r>
                    </a:p>
                  </a:txBody>
                  <a:tcPr marL="36576" marR="36576" marT="9144" marB="9144" anchor="ctr">
                    <a:solidFill>
                      <a:srgbClr val="0B2E4A"/>
                    </a:solidFill>
                  </a:tcPr>
                </a:tc>
                <a:tc>
                  <a:txBody>
                    <a:bodyPr wrap="square"/>
                    <a:lstStyle/>
                    <a:p>
                      <a:pPr algn="ctr"/>
                      <a:r>
                        <a:rPr sz="800" b="1">
                          <a:solidFill>
                            <a:srgbClr val="FFFFFF"/>
                          </a:solidFill>
                          <a:latin typeface="Calibri"/>
                        </a:rPr>
                        <a:t>Organ-Specific Devices</a:t>
                      </a:r>
                    </a:p>
                  </a:txBody>
                  <a:tcPr marL="36576" marR="36576" marT="9144" marB="9144" anchor="ctr">
                    <a:solidFill>
                      <a:srgbClr val="0B2E4A"/>
                    </a:solidFill>
                  </a:tcPr>
                </a:tc>
                <a:tc>
                  <a:txBody>
                    <a:bodyPr wrap="square"/>
                    <a:lstStyle/>
                    <a:p>
                      <a:pPr algn="ctr"/>
                      <a:r>
                        <a:rPr sz="800" b="1">
                          <a:solidFill>
                            <a:srgbClr val="FFFFFF"/>
                          </a:solidFill>
                          <a:latin typeface="Calibri"/>
                        </a:rPr>
                        <a:t>Multi-Organ Compatible Devices</a:t>
                      </a:r>
                    </a:p>
                  </a:txBody>
                  <a:tcPr marL="36576" marR="36576" marT="9144" marB="9144" anchor="ctr">
                    <a:solidFill>
                      <a:srgbClr val="0B2E4A"/>
                    </a:solidFill>
                  </a:tcPr>
                </a:tc>
                <a:tc>
                  <a:txBody>
                    <a:bodyPr wrap="square"/>
                    <a:lstStyle/>
                    <a:p>
                      <a:pPr algn="ctr"/>
                      <a:r>
                        <a:rPr sz="800" b="1">
                          <a:solidFill>
                            <a:srgbClr val="FFFFFF"/>
                          </a:solidFill>
                          <a:latin typeface="Calibri"/>
                        </a:rPr>
                        <a:t>Row Avg.</a:t>
                      </a:r>
                    </a:p>
                  </a:txBody>
                  <a:tcPr marL="36576" marR="36576" marT="9144" marB="9144" anchor="ctr">
                    <a:solidFill>
                      <a:srgbClr val="0B2E4A"/>
                    </a:solidFill>
                  </a:tcPr>
                </a:tc>
              </a:tr>
              <a:tr h="314960">
                <a:tc>
                  <a:txBody>
                    <a:bodyPr wrap="square"/>
                    <a:lstStyle/>
                    <a:p>
                      <a:pPr algn="l"/>
                      <a:r>
                        <a:rPr sz="900" b="1">
                          <a:solidFill>
                            <a:srgbClr val="1F1F1F"/>
                          </a:solidFill>
                          <a:latin typeface="Calibri"/>
                        </a:rPr>
                        <a:t>Passive Insulated Transport Containers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Active Temperature-Controlled Transport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Hypothermic Non-Oxygenated Perfusion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Hypothermic Oxygenated Perfusion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Subnormothermic Perfusion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Normothermic Perfusion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Multi-Temperature Perfusion Devices</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314960">
                <a:tc>
                  <a:txBody>
                    <a:bodyPr wrap="square"/>
                    <a:lstStyle/>
                    <a:p>
                      <a:pPr algn="l"/>
                      <a:r>
                        <a:rPr sz="900" b="1">
                          <a:solidFill>
                            <a:srgbClr val="1F1F1F"/>
                          </a:solidFill>
                          <a:latin typeface="Calibri"/>
                        </a:rPr>
                        <a:t>Column Avg.</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4" name="Rectangle 13"/>
          <p:cNvSpPr/>
          <p:nvPr/>
        </p:nvSpPr>
        <p:spPr>
          <a:xfrm>
            <a:off x="384048" y="4794123"/>
            <a:ext cx="180975" cy="142875"/>
          </a:xfrm>
          <a:prstGeom prst="rect">
            <a:avLst/>
          </a:prstGeom>
          <a:solidFill>
            <a:srgbClr val="9DC0E0"/>
          </a:solidFill>
          <a:ln w="9525">
            <a:solidFill>
              <a:srgbClr val="D9DEE4"/>
            </a:solidFill>
          </a:ln>
          <a:effectLst/>
        </p:spPr>
        <p:txBody>
          <a:bodyPr rtlCol="0" anchor="ctr"/>
          <a:lstStyle/>
          <a:p>
            <a:pPr algn="ctr"/>
          </a:p>
        </p:txBody>
      </p:sp>
      <p:sp>
        <p:nvSpPr>
          <p:cNvPr id="15" name="FMI Scale legend"/>
          <p:cNvSpPr txBox="1"/>
          <p:nvPr/>
        </p:nvSpPr>
        <p:spPr>
          <a:xfrm>
            <a:off x="5935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below 97.5</a:t>
            </a:r>
          </a:p>
        </p:txBody>
      </p:sp>
      <p:sp>
        <p:nvSpPr>
          <p:cNvPr id="16" name="Rectangle 15"/>
          <p:cNvSpPr/>
          <p:nvPr/>
        </p:nvSpPr>
        <p:spPr>
          <a:xfrm>
            <a:off x="1850898" y="4794123"/>
            <a:ext cx="180975" cy="142875"/>
          </a:xfrm>
          <a:prstGeom prst="rect">
            <a:avLst/>
          </a:prstGeom>
          <a:solidFill>
            <a:srgbClr val="D9E6F2"/>
          </a:solidFill>
          <a:ln w="9525">
            <a:solidFill>
              <a:srgbClr val="D9DEE4"/>
            </a:solidFill>
          </a:ln>
          <a:effectLst/>
        </p:spPr>
        <p:txBody>
          <a:bodyPr rtlCol="0" anchor="ctr"/>
          <a:lstStyle/>
          <a:p>
            <a:pPr algn="ctr"/>
          </a:p>
        </p:txBody>
      </p:sp>
      <p:sp>
        <p:nvSpPr>
          <p:cNvPr id="17" name="FMI Scale legend"/>
          <p:cNvSpPr txBox="1"/>
          <p:nvPr/>
        </p:nvSpPr>
        <p:spPr>
          <a:xfrm>
            <a:off x="20604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97.5 to 99</a:t>
            </a:r>
          </a:p>
        </p:txBody>
      </p:sp>
      <p:sp>
        <p:nvSpPr>
          <p:cNvPr id="18" name="Rectangle 17"/>
          <p:cNvSpPr/>
          <p:nvPr/>
        </p:nvSpPr>
        <p:spPr>
          <a:xfrm>
            <a:off x="3317748" y="4794123"/>
            <a:ext cx="180975" cy="142875"/>
          </a:xfrm>
          <a:prstGeom prst="rect">
            <a:avLst/>
          </a:prstGeom>
          <a:solidFill>
            <a:srgbClr val="F7F7F7"/>
          </a:solidFill>
          <a:ln w="9525">
            <a:solidFill>
              <a:srgbClr val="D9DEE4"/>
            </a:solidFill>
          </a:ln>
          <a:effectLst/>
        </p:spPr>
        <p:txBody>
          <a:bodyPr rtlCol="0" anchor="ctr"/>
          <a:lstStyle/>
          <a:p>
            <a:pPr algn="ctr"/>
          </a:p>
        </p:txBody>
      </p:sp>
      <p:sp>
        <p:nvSpPr>
          <p:cNvPr id="19" name="FMI Scale legend"/>
          <p:cNvSpPr txBox="1"/>
          <p:nvPr/>
        </p:nvSpPr>
        <p:spPr>
          <a:xfrm>
            <a:off x="35272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Parity: 99 to 101</a:t>
            </a:r>
          </a:p>
        </p:txBody>
      </p:sp>
      <p:sp>
        <p:nvSpPr>
          <p:cNvPr id="20" name="Rectangle 19"/>
          <p:cNvSpPr/>
          <p:nvPr/>
        </p:nvSpPr>
        <p:spPr>
          <a:xfrm>
            <a:off x="4784598" y="4794123"/>
            <a:ext cx="180975" cy="142875"/>
          </a:xfrm>
          <a:prstGeom prst="rect">
            <a:avLst/>
          </a:prstGeom>
          <a:solidFill>
            <a:srgbClr val="FBE3D3"/>
          </a:solidFill>
          <a:ln w="9525">
            <a:solidFill>
              <a:srgbClr val="D9DEE4"/>
            </a:solidFill>
          </a:ln>
          <a:effectLst/>
        </p:spPr>
        <p:txBody>
          <a:bodyPr rtlCol="0" anchor="ctr"/>
          <a:lstStyle/>
          <a:p>
            <a:pPr algn="ctr"/>
          </a:p>
        </p:txBody>
      </p:sp>
      <p:sp>
        <p:nvSpPr>
          <p:cNvPr id="21" name="FMI Scale legend"/>
          <p:cNvSpPr txBox="1"/>
          <p:nvPr/>
        </p:nvSpPr>
        <p:spPr>
          <a:xfrm>
            <a:off x="499414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101 to 102.5</a:t>
            </a:r>
          </a:p>
        </p:txBody>
      </p:sp>
      <p:sp>
        <p:nvSpPr>
          <p:cNvPr id="22" name="Rectangle 21"/>
          <p:cNvSpPr/>
          <p:nvPr/>
        </p:nvSpPr>
        <p:spPr>
          <a:xfrm>
            <a:off x="6251448" y="4794123"/>
            <a:ext cx="180975" cy="142875"/>
          </a:xfrm>
          <a:prstGeom prst="rect">
            <a:avLst/>
          </a:prstGeom>
          <a:solidFill>
            <a:srgbClr val="F4B183"/>
          </a:solidFill>
          <a:ln w="9525">
            <a:solidFill>
              <a:srgbClr val="D9DEE4"/>
            </a:solidFill>
          </a:ln>
          <a:effectLst/>
        </p:spPr>
        <p:txBody>
          <a:bodyPr rtlCol="0" anchor="ctr"/>
          <a:lstStyle/>
          <a:p>
            <a:pPr algn="ctr"/>
          </a:p>
        </p:txBody>
      </p:sp>
      <p:sp>
        <p:nvSpPr>
          <p:cNvPr id="23" name="FMI Scale legend"/>
          <p:cNvSpPr txBox="1"/>
          <p:nvPr/>
        </p:nvSpPr>
        <p:spPr>
          <a:xfrm>
            <a:off x="6460998" y="4739259"/>
            <a:ext cx="1276350" cy="238125"/>
          </a:xfrm>
          <a:prstGeom prst="rect">
            <a:avLst/>
          </a:prstGeom>
          <a:noFill/>
        </p:spPr>
        <p:txBody>
          <a:bodyPr wrap="square" anchor="t" lIns="27432" rIns="27432" tIns="27432" bIns="27432">
            <a:spAutoFit/>
          </a:bodyPr>
          <a:lstStyle/>
          <a:p>
            <a:pPr algn="l"/>
            <a:r>
              <a:rPr sz="850" b="0" i="0">
                <a:solidFill>
                  <a:srgbClr val="59636E"/>
                </a:solidFill>
                <a:latin typeface="Calibri"/>
              </a:rPr>
              <a:t>Index above 102.5</a:t>
            </a:r>
          </a:p>
        </p:txBody>
      </p:sp>
      <p:sp>
        <p:nvSpPr>
          <p:cNvPr id="24" name="Rectangle 23"/>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25" name="TextBox 24"/>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Price Range Across All Organ Compatibility Sub-Types, 2026</a:t>
            </a:r>
          </a:p>
        </p:txBody>
      </p:sp>
      <p:sp>
        <p:nvSpPr>
          <p:cNvPr id="26" name="TextBox 25"/>
          <p:cNvSpPr txBox="1"/>
          <p:nvPr/>
        </p:nvSpPr>
        <p:spPr>
          <a:xfrm>
            <a:off x="8065008" y="1965579"/>
            <a:ext cx="3749040" cy="219075"/>
          </a:xfrm>
          <a:prstGeom prst="rect">
            <a:avLst/>
          </a:prstGeom>
          <a:noFill/>
        </p:spPr>
        <p:txBody>
          <a:bodyPr wrap="square" anchor="t" lIns="27432" rIns="27432" tIns="27432" bIns="27432">
            <a:spAutoFit/>
          </a:bodyPr>
          <a:lstStyle/>
          <a:p>
            <a:pPr algn="l"/>
            <a:r>
              <a:rPr sz="850" b="0" i="1">
                <a:solidFill>
                  <a:srgbClr val="59636E"/>
                </a:solidFill>
                <a:latin typeface="Calibri"/>
              </a:rPr>
              <a:t>Bar spans lowest to highest price (US$/Units) at the finest data level.</a:t>
            </a:r>
          </a:p>
        </p:txBody>
      </p:sp>
      <p:graphicFrame>
        <p:nvGraphicFramePr>
          <p:cNvPr id="27" name="FMI Price Chart"/>
          <p:cNvGraphicFramePr>
            <a:graphicFrameLocks noGrp="1"/>
          </p:cNvGraphicFramePr>
          <p:nvPr/>
        </p:nvGraphicFramePr>
        <p:xfrm>
          <a:off x="8001000" y="2032635"/>
          <a:ext cx="3867912" cy="2971800"/>
        </p:xfrm>
        <a:graphic>
          <a:graphicData uri="http://schemas.openxmlformats.org/drawingml/2006/chart">
            <c:chart xmlns:c="http://schemas.openxmlformats.org/drawingml/2006/chart" r:id="rId3"/>
          </a:graphicData>
        </a:graphic>
      </p:graphicFrame>
      <p:sp>
        <p:nvSpPr>
          <p:cNvPr id="28" name="Rectangle 2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29" name="Oval 2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30" name="TextBox 2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Premium Pockets</a:t>
            </a:r>
          </a:p>
        </p:txBody>
      </p:sp>
      <p:sp>
        <p:nvSpPr>
          <p:cNvPr id="31" name="TextBox 3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2" name="Rectangle 3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33" name="Oval 3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34" name="TextBox 3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Value Pockets</a:t>
            </a:r>
          </a:p>
        </p:txBody>
      </p:sp>
      <p:sp>
        <p:nvSpPr>
          <p:cNvPr id="35" name="TextBox 3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6" name="Rectangle 3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37" name="Oval 3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38" name="TextBox 3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Within-Type Spread</a:t>
            </a:r>
          </a:p>
        </p:txBody>
      </p:sp>
      <p:sp>
        <p:nvSpPr>
          <p:cNvPr id="39" name="TextBox 3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40" name="TextBox 3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
            </a:r>
          </a:p>
        </p:txBody>
      </p:sp>
      <p:sp>
        <p:nvSpPr>
          <p:cNvPr id="41" name="TextBox 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42" name="Picture 41" descr="lock.png"/>
          <p:cNvPicPr>
            <a:picLocks noChangeAspect="1"/>
          </p:cNvPicPr>
          <p:nvPr/>
        </p:nvPicPr>
        <p:blipFill>
          <a:blip r:embed="rId5"/>
          <a:stretch>
            <a:fillRect/>
          </a:stretch>
        </p:blipFill>
        <p:spPr>
          <a:xfrm>
            <a:off x="4636769" y="3176143"/>
            <a:ext cx="366712" cy="533400"/>
          </a:xfrm>
          <a:prstGeom prst="rect">
            <a:avLst/>
          </a:prstGeom>
        </p:spPr>
      </p:pic>
      <p:sp>
        <p:nvSpPr>
          <p:cNvPr id="43" name="TextBox 42"/>
          <p:cNvSpPr txBox="1"/>
          <p:nvPr/>
        </p:nvSpPr>
        <p:spPr>
          <a:xfrm>
            <a:off x="411480" y="1110615"/>
            <a:ext cx="7912000" cy="217169"/>
          </a:xfrm>
          <a:prstGeom prst="rect">
            <a:avLst/>
          </a:prstGeom>
          <a:noFill/>
        </p:spPr>
        <p:txBody>
          <a:bodyPr wrap="none" lIns="0" rIns="0" tIns="0" bIns="0">
            <a:spAutoFit/>
          </a:bodyPr>
          <a:lstStyle/>
          <a:p>
            <a:r>
              <a:rPr sz="1300" b="1">
                <a:solidFill>
                  <a:srgbClr val="FFFFFF"/>
                </a:solidFill>
                <a:latin typeface="Calibri"/>
              </a:rPr>
              <a:t>Passive Insulated Transport Containers for Organ-Specific Devices is the highest priced combination in 2026 at US$</a:t>
            </a:r>
          </a:p>
        </p:txBody>
      </p:sp>
      <p:pic>
        <p:nvPicPr>
          <p:cNvPr id="44" name="Picture 43" descr="lock.png"/>
          <p:cNvPicPr>
            <a:picLocks noChangeAspect="1"/>
          </p:cNvPicPr>
          <p:nvPr/>
        </p:nvPicPr>
        <p:blipFill>
          <a:blip r:embed="rId5"/>
          <a:stretch>
            <a:fillRect/>
          </a:stretch>
        </p:blipFill>
        <p:spPr>
          <a:xfrm>
            <a:off x="8275941" y="1099058"/>
            <a:ext cx="152098" cy="221234"/>
          </a:xfrm>
          <a:prstGeom prst="rect">
            <a:avLst/>
          </a:prstGeom>
        </p:spPr>
      </p:pic>
      <p:sp>
        <p:nvSpPr>
          <p:cNvPr id="45" name="TextBox 44"/>
          <p:cNvSpPr txBox="1"/>
          <p:nvPr/>
        </p:nvSpPr>
        <p:spPr>
          <a:xfrm>
            <a:off x="8473891" y="1110615"/>
            <a:ext cx="669528" cy="217169"/>
          </a:xfrm>
          <a:prstGeom prst="rect">
            <a:avLst/>
          </a:prstGeom>
          <a:noFill/>
        </p:spPr>
        <p:txBody>
          <a:bodyPr wrap="none" lIns="0" rIns="0" tIns="0" bIns="0">
            <a:spAutoFit/>
          </a:bodyPr>
          <a:lstStyle/>
          <a:p>
            <a:r>
              <a:rPr sz="1300" b="1">
                <a:solidFill>
                  <a:srgbClr val="FFFFFF"/>
                </a:solidFill>
                <a:latin typeface="Calibri"/>
              </a:rPr>
              <a:t>/Units, +</a:t>
            </a:r>
          </a:p>
        </p:txBody>
      </p:sp>
      <p:pic>
        <p:nvPicPr>
          <p:cNvPr id="46" name="Picture 45" descr="lock.png"/>
          <p:cNvPicPr>
            <a:picLocks noChangeAspect="1"/>
          </p:cNvPicPr>
          <p:nvPr/>
        </p:nvPicPr>
        <p:blipFill>
          <a:blip r:embed="rId5"/>
          <a:stretch>
            <a:fillRect/>
          </a:stretch>
        </p:blipFill>
        <p:spPr>
          <a:xfrm>
            <a:off x="9095880" y="1099058"/>
            <a:ext cx="152098" cy="221234"/>
          </a:xfrm>
          <a:prstGeom prst="rect">
            <a:avLst/>
          </a:prstGeom>
        </p:spPr>
      </p:pic>
      <p:sp>
        <p:nvSpPr>
          <p:cNvPr id="47" name="TextBox 46"/>
          <p:cNvSpPr txBox="1"/>
          <p:nvPr/>
        </p:nvSpPr>
        <p:spPr>
          <a:xfrm>
            <a:off x="9293830" y="1110615"/>
            <a:ext cx="1871984" cy="217169"/>
          </a:xfrm>
          <a:prstGeom prst="rect">
            <a:avLst/>
          </a:prstGeom>
          <a:noFill/>
        </p:spPr>
        <p:txBody>
          <a:bodyPr wrap="none" lIns="0" rIns="0" tIns="0" bIns="0">
            <a:spAutoFit/>
          </a:bodyPr>
          <a:lstStyle/>
          <a:p>
            <a:r>
              <a:rPr sz="1300" b="1">
                <a:solidFill>
                  <a:srgbClr val="FFFFFF"/>
                </a:solidFill>
                <a:latin typeface="Calibri"/>
              </a:rPr>
              <a:t>above the Global average.</a:t>
            </a:r>
          </a:p>
        </p:txBody>
      </p:sp>
      <p:sp>
        <p:nvSpPr>
          <p:cNvPr id="48" name="TextBox 47"/>
          <p:cNvSpPr txBox="1"/>
          <p:nvPr/>
        </p:nvSpPr>
        <p:spPr>
          <a:xfrm>
            <a:off x="806576" y="5530976"/>
            <a:ext cx="2954684" cy="179069"/>
          </a:xfrm>
          <a:prstGeom prst="rect">
            <a:avLst/>
          </a:prstGeom>
          <a:noFill/>
        </p:spPr>
        <p:txBody>
          <a:bodyPr wrap="none" lIns="0" rIns="0" tIns="0" bIns="0">
            <a:spAutoFit/>
          </a:bodyPr>
          <a:lstStyle/>
          <a:p>
            <a:r>
              <a:rPr sz="1050" b="0">
                <a:solidFill>
                  <a:srgbClr val="1F1F1F"/>
                </a:solidFill>
                <a:latin typeface="Calibri"/>
              </a:rPr>
              <a:t>Passive Insulated Transport Containers positioned on</a:t>
            </a:r>
          </a:p>
        </p:txBody>
      </p:sp>
      <p:sp>
        <p:nvSpPr>
          <p:cNvPr id="49" name="TextBox 48"/>
          <p:cNvSpPr txBox="1"/>
          <p:nvPr/>
        </p:nvSpPr>
        <p:spPr>
          <a:xfrm>
            <a:off x="806576" y="5690996"/>
            <a:ext cx="3143250" cy="179069"/>
          </a:xfrm>
          <a:prstGeom prst="rect">
            <a:avLst/>
          </a:prstGeom>
          <a:noFill/>
        </p:spPr>
        <p:txBody>
          <a:bodyPr wrap="none" lIns="0" rIns="0" tIns="0" bIns="0">
            <a:spAutoFit/>
          </a:bodyPr>
          <a:lstStyle/>
          <a:p>
            <a:r>
              <a:rPr sz="1050" b="0">
                <a:solidFill>
                  <a:srgbClr val="1F1F1F"/>
                </a:solidFill>
                <a:latin typeface="Calibri"/>
              </a:rPr>
              <a:t>Organ-Specific Devices carry the strongest premium at an</a:t>
            </a:r>
          </a:p>
        </p:txBody>
      </p:sp>
      <p:sp>
        <p:nvSpPr>
          <p:cNvPr id="50" name="TextBox 49"/>
          <p:cNvSpPr txBox="1"/>
          <p:nvPr/>
        </p:nvSpPr>
        <p:spPr>
          <a:xfrm>
            <a:off x="806576" y="5851016"/>
            <a:ext cx="512452" cy="179069"/>
          </a:xfrm>
          <a:prstGeom prst="rect">
            <a:avLst/>
          </a:prstGeom>
          <a:noFill/>
        </p:spPr>
        <p:txBody>
          <a:bodyPr wrap="none" lIns="0" rIns="0" tIns="0" bIns="0">
            <a:spAutoFit/>
          </a:bodyPr>
          <a:lstStyle/>
          <a:p>
            <a:r>
              <a:rPr sz="1050" b="0">
                <a:solidFill>
                  <a:srgbClr val="1F1F1F"/>
                </a:solidFill>
                <a:latin typeface="Calibri"/>
              </a:rPr>
              <a:t>index of</a:t>
            </a:r>
          </a:p>
        </p:txBody>
      </p:sp>
      <p:pic>
        <p:nvPicPr>
          <p:cNvPr id="51" name="Picture 50" descr="lock.png"/>
          <p:cNvPicPr>
            <a:picLocks noChangeAspect="1"/>
          </p:cNvPicPr>
          <p:nvPr/>
        </p:nvPicPr>
        <p:blipFill>
          <a:blip r:embed="rId5"/>
          <a:stretch>
            <a:fillRect/>
          </a:stretch>
        </p:blipFill>
        <p:spPr>
          <a:xfrm>
            <a:off x="1265978" y="5841682"/>
            <a:ext cx="122849" cy="178689"/>
          </a:xfrm>
          <a:prstGeom prst="rect">
            <a:avLst/>
          </a:prstGeom>
        </p:spPr>
      </p:pic>
      <p:sp>
        <p:nvSpPr>
          <p:cNvPr id="52" name="TextBox 51"/>
          <p:cNvSpPr txBox="1"/>
          <p:nvPr/>
        </p:nvSpPr>
        <p:spPr>
          <a:xfrm>
            <a:off x="1425861" y="5851016"/>
            <a:ext cx="2440037" cy="179069"/>
          </a:xfrm>
          <a:prstGeom prst="rect">
            <a:avLst/>
          </a:prstGeom>
          <a:noFill/>
        </p:spPr>
        <p:txBody>
          <a:bodyPr wrap="none" lIns="0" rIns="0" tIns="0" bIns="0">
            <a:spAutoFit/>
          </a:bodyPr>
          <a:lstStyle/>
          <a:p>
            <a:r>
              <a:rPr sz="1050" b="0">
                <a:solidFill>
                  <a:srgbClr val="1F1F1F"/>
                </a:solidFill>
                <a:latin typeface="Calibri"/>
              </a:rPr>
              <a:t>, which signals room for value-added claims</a:t>
            </a:r>
          </a:p>
        </p:txBody>
      </p:sp>
      <p:sp>
        <p:nvSpPr>
          <p:cNvPr id="53" name="TextBox 52"/>
          <p:cNvSpPr txBox="1"/>
          <p:nvPr/>
        </p:nvSpPr>
        <p:spPr>
          <a:xfrm>
            <a:off x="806576" y="6011036"/>
            <a:ext cx="1152636" cy="179069"/>
          </a:xfrm>
          <a:prstGeom prst="rect">
            <a:avLst/>
          </a:prstGeom>
          <a:noFill/>
        </p:spPr>
        <p:txBody>
          <a:bodyPr wrap="none" lIns="0" rIns="0" tIns="0" bIns="0">
            <a:spAutoFit/>
          </a:bodyPr>
          <a:lstStyle/>
          <a:p>
            <a:r>
              <a:rPr sz="1050" b="0">
                <a:solidFill>
                  <a:srgbClr val="1F1F1F"/>
                </a:solidFill>
                <a:latin typeface="Calibri"/>
              </a:rPr>
              <a:t>in this combination.</a:t>
            </a:r>
          </a:p>
        </p:txBody>
      </p:sp>
      <p:sp>
        <p:nvSpPr>
          <p:cNvPr id="54" name="TextBox 53"/>
          <p:cNvSpPr txBox="1"/>
          <p:nvPr/>
        </p:nvSpPr>
        <p:spPr>
          <a:xfrm>
            <a:off x="4732401" y="5530976"/>
            <a:ext cx="2959112" cy="179069"/>
          </a:xfrm>
          <a:prstGeom prst="rect">
            <a:avLst/>
          </a:prstGeom>
          <a:noFill/>
        </p:spPr>
        <p:txBody>
          <a:bodyPr wrap="none" lIns="0" rIns="0" tIns="0" bIns="0">
            <a:spAutoFit/>
          </a:bodyPr>
          <a:lstStyle/>
          <a:p>
            <a:r>
              <a:rPr sz="1050" b="0">
                <a:solidFill>
                  <a:srgbClr val="1F1F1F"/>
                </a:solidFill>
                <a:latin typeface="Calibri"/>
              </a:rPr>
              <a:t>Active Temperature-Controlled Transport Devices for</a:t>
            </a:r>
          </a:p>
        </p:txBody>
      </p:sp>
      <p:sp>
        <p:nvSpPr>
          <p:cNvPr id="55" name="TextBox 54"/>
          <p:cNvSpPr txBox="1"/>
          <p:nvPr/>
        </p:nvSpPr>
        <p:spPr>
          <a:xfrm>
            <a:off x="4732401" y="5690996"/>
            <a:ext cx="2923430" cy="179069"/>
          </a:xfrm>
          <a:prstGeom prst="rect">
            <a:avLst/>
          </a:prstGeom>
          <a:noFill/>
        </p:spPr>
        <p:txBody>
          <a:bodyPr wrap="none" lIns="0" rIns="0" tIns="0" bIns="0">
            <a:spAutoFit/>
          </a:bodyPr>
          <a:lstStyle/>
          <a:p>
            <a:r>
              <a:rPr sz="1050" b="0">
                <a:solidFill>
                  <a:srgbClr val="1F1F1F"/>
                </a:solidFill>
                <a:latin typeface="Calibri"/>
              </a:rPr>
              <a:t>Multi-Organ Compatible Devices is the lowest priced</a:t>
            </a:r>
          </a:p>
        </p:txBody>
      </p:sp>
      <p:sp>
        <p:nvSpPr>
          <p:cNvPr id="56" name="TextBox 55"/>
          <p:cNvSpPr txBox="1"/>
          <p:nvPr/>
        </p:nvSpPr>
        <p:spPr>
          <a:xfrm>
            <a:off x="4732401" y="5851016"/>
            <a:ext cx="1529506" cy="179069"/>
          </a:xfrm>
          <a:prstGeom prst="rect">
            <a:avLst/>
          </a:prstGeom>
          <a:noFill/>
        </p:spPr>
        <p:txBody>
          <a:bodyPr wrap="none" lIns="0" rIns="0" tIns="0" bIns="0">
            <a:spAutoFit/>
          </a:bodyPr>
          <a:lstStyle/>
          <a:p>
            <a:r>
              <a:rPr sz="1050" b="0">
                <a:solidFill>
                  <a:srgbClr val="1F1F1F"/>
                </a:solidFill>
                <a:latin typeface="Calibri"/>
              </a:rPr>
              <a:t>combination at an index of</a:t>
            </a:r>
          </a:p>
        </p:txBody>
      </p:sp>
      <p:pic>
        <p:nvPicPr>
          <p:cNvPr id="57" name="Picture 56" descr="lock.png"/>
          <p:cNvPicPr>
            <a:picLocks noChangeAspect="1"/>
          </p:cNvPicPr>
          <p:nvPr/>
        </p:nvPicPr>
        <p:blipFill>
          <a:blip r:embed="rId5"/>
          <a:stretch>
            <a:fillRect/>
          </a:stretch>
        </p:blipFill>
        <p:spPr>
          <a:xfrm>
            <a:off x="6208856" y="5841682"/>
            <a:ext cx="122849" cy="178689"/>
          </a:xfrm>
          <a:prstGeom prst="rect">
            <a:avLst/>
          </a:prstGeom>
        </p:spPr>
      </p:pic>
      <p:sp>
        <p:nvSpPr>
          <p:cNvPr id="58" name="TextBox 57"/>
          <p:cNvSpPr txBox="1"/>
          <p:nvPr/>
        </p:nvSpPr>
        <p:spPr>
          <a:xfrm>
            <a:off x="6368739" y="5851016"/>
            <a:ext cx="475729" cy="179069"/>
          </a:xfrm>
          <a:prstGeom prst="rect">
            <a:avLst/>
          </a:prstGeom>
          <a:noFill/>
        </p:spPr>
        <p:txBody>
          <a:bodyPr wrap="none" lIns="0" rIns="0" tIns="0" bIns="0">
            <a:spAutoFit/>
          </a:bodyPr>
          <a:lstStyle/>
          <a:p>
            <a:r>
              <a:rPr sz="1050" b="0">
                <a:solidFill>
                  <a:srgbClr val="1F1F1F"/>
                </a:solidFill>
                <a:latin typeface="Calibri"/>
              </a:rPr>
              <a:t>, sitting</a:t>
            </a:r>
          </a:p>
        </p:txBody>
      </p:sp>
      <p:pic>
        <p:nvPicPr>
          <p:cNvPr id="59" name="Picture 58" descr="lock.png"/>
          <p:cNvPicPr>
            <a:picLocks noChangeAspect="1"/>
          </p:cNvPicPr>
          <p:nvPr/>
        </p:nvPicPr>
        <p:blipFill>
          <a:blip r:embed="rId5"/>
          <a:stretch>
            <a:fillRect/>
          </a:stretch>
        </p:blipFill>
        <p:spPr>
          <a:xfrm>
            <a:off x="6791417" y="5841682"/>
            <a:ext cx="122849" cy="178689"/>
          </a:xfrm>
          <a:prstGeom prst="rect">
            <a:avLst/>
          </a:prstGeom>
        </p:spPr>
      </p:pic>
      <p:sp>
        <p:nvSpPr>
          <p:cNvPr id="60" name="TextBox 59"/>
          <p:cNvSpPr txBox="1"/>
          <p:nvPr/>
        </p:nvSpPr>
        <p:spPr>
          <a:xfrm>
            <a:off x="6951299" y="5851016"/>
            <a:ext cx="620538" cy="179069"/>
          </a:xfrm>
          <a:prstGeom prst="rect">
            <a:avLst/>
          </a:prstGeom>
          <a:noFill/>
        </p:spPr>
        <p:txBody>
          <a:bodyPr wrap="none" lIns="0" rIns="0" tIns="0" bIns="0">
            <a:spAutoFit/>
          </a:bodyPr>
          <a:lstStyle/>
          <a:p>
            <a:r>
              <a:rPr sz="1050" b="0">
                <a:solidFill>
                  <a:srgbClr val="1F1F1F"/>
                </a:solidFill>
                <a:latin typeface="Calibri"/>
              </a:rPr>
              <a:t>below the</a:t>
            </a:r>
          </a:p>
        </p:txBody>
      </p:sp>
      <p:sp>
        <p:nvSpPr>
          <p:cNvPr id="61" name="TextBox 60"/>
          <p:cNvSpPr txBox="1"/>
          <p:nvPr/>
        </p:nvSpPr>
        <p:spPr>
          <a:xfrm>
            <a:off x="4732401" y="6011036"/>
            <a:ext cx="1272182" cy="179069"/>
          </a:xfrm>
          <a:prstGeom prst="rect">
            <a:avLst/>
          </a:prstGeom>
          <a:noFill/>
        </p:spPr>
        <p:txBody>
          <a:bodyPr wrap="none" lIns="0" rIns="0" tIns="0" bIns="0">
            <a:spAutoFit/>
          </a:bodyPr>
          <a:lstStyle/>
          <a:p>
            <a:r>
              <a:rPr sz="1050" b="0">
                <a:solidFill>
                  <a:srgbClr val="1F1F1F"/>
                </a:solidFill>
                <a:latin typeface="Calibri"/>
              </a:rPr>
              <a:t>Global average of US$</a:t>
            </a:r>
          </a:p>
        </p:txBody>
      </p:sp>
      <p:pic>
        <p:nvPicPr>
          <p:cNvPr id="62" name="Picture 61" descr="lock.png"/>
          <p:cNvPicPr>
            <a:picLocks noChangeAspect="1"/>
          </p:cNvPicPr>
          <p:nvPr/>
        </p:nvPicPr>
        <p:blipFill>
          <a:blip r:embed="rId5"/>
          <a:stretch>
            <a:fillRect/>
          </a:stretch>
        </p:blipFill>
        <p:spPr>
          <a:xfrm>
            <a:off x="5951533" y="6001702"/>
            <a:ext cx="122849" cy="178689"/>
          </a:xfrm>
          <a:prstGeom prst="rect">
            <a:avLst/>
          </a:prstGeom>
        </p:spPr>
      </p:pic>
      <p:sp>
        <p:nvSpPr>
          <p:cNvPr id="63" name="TextBox 62"/>
          <p:cNvSpPr txBox="1"/>
          <p:nvPr/>
        </p:nvSpPr>
        <p:spPr>
          <a:xfrm>
            <a:off x="6111415" y="6011036"/>
            <a:ext cx="444735" cy="179069"/>
          </a:xfrm>
          <a:prstGeom prst="rect">
            <a:avLst/>
          </a:prstGeom>
          <a:noFill/>
        </p:spPr>
        <p:txBody>
          <a:bodyPr wrap="none" lIns="0" rIns="0" tIns="0" bIns="0">
            <a:spAutoFit/>
          </a:bodyPr>
          <a:lstStyle/>
          <a:p>
            <a:r>
              <a:rPr sz="1050" b="0">
                <a:solidFill>
                  <a:srgbClr val="1F1F1F"/>
                </a:solidFill>
                <a:latin typeface="Calibri"/>
              </a:rPr>
              <a:t>/Units.</a:t>
            </a:r>
          </a:p>
        </p:txBody>
      </p:sp>
      <p:sp>
        <p:nvSpPr>
          <p:cNvPr id="64" name="TextBox 63"/>
          <p:cNvSpPr txBox="1"/>
          <p:nvPr/>
        </p:nvSpPr>
        <p:spPr>
          <a:xfrm>
            <a:off x="8658225" y="5530976"/>
            <a:ext cx="3097410" cy="179069"/>
          </a:xfrm>
          <a:prstGeom prst="rect">
            <a:avLst/>
          </a:prstGeom>
          <a:noFill/>
        </p:spPr>
        <p:txBody>
          <a:bodyPr wrap="none" lIns="0" rIns="0" tIns="0" bIns="0">
            <a:spAutoFit/>
          </a:bodyPr>
          <a:lstStyle/>
          <a:p>
            <a:r>
              <a:rPr sz="1050" b="0">
                <a:solidFill>
                  <a:srgbClr val="1F1F1F"/>
                </a:solidFill>
                <a:latin typeface="Calibri"/>
              </a:rPr>
              <a:t>Passive Insulated Transport Containers show the widest</a:t>
            </a:r>
          </a:p>
        </p:txBody>
      </p:sp>
      <p:sp>
        <p:nvSpPr>
          <p:cNvPr id="65" name="TextBox 64"/>
          <p:cNvSpPr txBox="1"/>
          <p:nvPr/>
        </p:nvSpPr>
        <p:spPr>
          <a:xfrm>
            <a:off x="8658225" y="5690996"/>
            <a:ext cx="1338076" cy="179069"/>
          </a:xfrm>
          <a:prstGeom prst="rect">
            <a:avLst/>
          </a:prstGeom>
          <a:noFill/>
        </p:spPr>
        <p:txBody>
          <a:bodyPr wrap="none" lIns="0" rIns="0" tIns="0" bIns="0">
            <a:spAutoFit/>
          </a:bodyPr>
          <a:lstStyle/>
          <a:p>
            <a:r>
              <a:rPr sz="1050" b="0">
                <a:solidFill>
                  <a:srgbClr val="1F1F1F"/>
                </a:solidFill>
                <a:latin typeface="Calibri"/>
              </a:rPr>
              <a:t>internal price spread at</a:t>
            </a:r>
          </a:p>
        </p:txBody>
      </p:sp>
      <p:pic>
        <p:nvPicPr>
          <p:cNvPr id="66" name="Picture 65" descr="lock.png"/>
          <p:cNvPicPr>
            <a:picLocks noChangeAspect="1"/>
          </p:cNvPicPr>
          <p:nvPr/>
        </p:nvPicPr>
        <p:blipFill>
          <a:blip r:embed="rId5"/>
          <a:stretch>
            <a:fillRect/>
          </a:stretch>
        </p:blipFill>
        <p:spPr>
          <a:xfrm>
            <a:off x="9943250" y="5681662"/>
            <a:ext cx="122849" cy="178689"/>
          </a:xfrm>
          <a:prstGeom prst="rect">
            <a:avLst/>
          </a:prstGeom>
        </p:spPr>
      </p:pic>
      <p:sp>
        <p:nvSpPr>
          <p:cNvPr id="67" name="TextBox 66"/>
          <p:cNvSpPr txBox="1"/>
          <p:nvPr/>
        </p:nvSpPr>
        <p:spPr>
          <a:xfrm>
            <a:off x="10103133" y="5690996"/>
            <a:ext cx="1085701" cy="179069"/>
          </a:xfrm>
          <a:prstGeom prst="rect">
            <a:avLst/>
          </a:prstGeom>
          <a:noFill/>
        </p:spPr>
        <p:txBody>
          <a:bodyPr wrap="none" lIns="0" rIns="0" tIns="0" bIns="0">
            <a:spAutoFit/>
          </a:bodyPr>
          <a:lstStyle/>
          <a:p>
            <a:r>
              <a:rPr sz="1050" b="0">
                <a:solidFill>
                  <a:srgbClr val="1F1F1F"/>
                </a:solidFill>
                <a:latin typeface="Calibri"/>
              </a:rPr>
              <a:t>, ranging from US$</a:t>
            </a:r>
          </a:p>
        </p:txBody>
      </p:sp>
      <p:pic>
        <p:nvPicPr>
          <p:cNvPr id="68" name="Picture 67" descr="lock.png"/>
          <p:cNvPicPr>
            <a:picLocks noChangeAspect="1"/>
          </p:cNvPicPr>
          <p:nvPr/>
        </p:nvPicPr>
        <p:blipFill>
          <a:blip r:embed="rId5"/>
          <a:stretch>
            <a:fillRect/>
          </a:stretch>
        </p:blipFill>
        <p:spPr>
          <a:xfrm>
            <a:off x="11135783" y="5681662"/>
            <a:ext cx="122849" cy="178689"/>
          </a:xfrm>
          <a:prstGeom prst="rect">
            <a:avLst/>
          </a:prstGeom>
        </p:spPr>
      </p:pic>
      <p:sp>
        <p:nvSpPr>
          <p:cNvPr id="69" name="TextBox 68"/>
          <p:cNvSpPr txBox="1"/>
          <p:nvPr/>
        </p:nvSpPr>
        <p:spPr>
          <a:xfrm>
            <a:off x="11295665" y="5690996"/>
            <a:ext cx="411137" cy="179069"/>
          </a:xfrm>
          <a:prstGeom prst="rect">
            <a:avLst/>
          </a:prstGeom>
          <a:noFill/>
        </p:spPr>
        <p:txBody>
          <a:bodyPr wrap="none" lIns="0" rIns="0" tIns="0" bIns="0">
            <a:spAutoFit/>
          </a:bodyPr>
          <a:lstStyle/>
          <a:p>
            <a:r>
              <a:rPr sz="1050" b="0">
                <a:solidFill>
                  <a:srgbClr val="1F1F1F"/>
                </a:solidFill>
                <a:latin typeface="Calibri"/>
              </a:rPr>
              <a:t>/Units</a:t>
            </a:r>
          </a:p>
        </p:txBody>
      </p:sp>
      <p:sp>
        <p:nvSpPr>
          <p:cNvPr id="70" name="TextBox 69"/>
          <p:cNvSpPr txBox="1"/>
          <p:nvPr/>
        </p:nvSpPr>
        <p:spPr>
          <a:xfrm>
            <a:off x="8658225" y="5851016"/>
            <a:ext cx="436140" cy="179069"/>
          </a:xfrm>
          <a:prstGeom prst="rect">
            <a:avLst/>
          </a:prstGeom>
          <a:noFill/>
        </p:spPr>
        <p:txBody>
          <a:bodyPr wrap="none" lIns="0" rIns="0" tIns="0" bIns="0">
            <a:spAutoFit/>
          </a:bodyPr>
          <a:lstStyle/>
          <a:p>
            <a:r>
              <a:rPr sz="1050" b="0">
                <a:solidFill>
                  <a:srgbClr val="1F1F1F"/>
                </a:solidFill>
                <a:latin typeface="Calibri"/>
              </a:rPr>
              <a:t>to US$</a:t>
            </a:r>
          </a:p>
        </p:txBody>
      </p:sp>
      <p:pic>
        <p:nvPicPr>
          <p:cNvPr id="71" name="Picture 70" descr="lock.png"/>
          <p:cNvPicPr>
            <a:picLocks noChangeAspect="1"/>
          </p:cNvPicPr>
          <p:nvPr/>
        </p:nvPicPr>
        <p:blipFill>
          <a:blip r:embed="rId5"/>
          <a:stretch>
            <a:fillRect/>
          </a:stretch>
        </p:blipFill>
        <p:spPr>
          <a:xfrm>
            <a:off x="9041315" y="5841682"/>
            <a:ext cx="122849" cy="178689"/>
          </a:xfrm>
          <a:prstGeom prst="rect">
            <a:avLst/>
          </a:prstGeom>
        </p:spPr>
      </p:pic>
      <p:sp>
        <p:nvSpPr>
          <p:cNvPr id="72" name="TextBox 71"/>
          <p:cNvSpPr txBox="1"/>
          <p:nvPr/>
        </p:nvSpPr>
        <p:spPr>
          <a:xfrm>
            <a:off x="9201197" y="5851016"/>
            <a:ext cx="1373497" cy="179069"/>
          </a:xfrm>
          <a:prstGeom prst="rect">
            <a:avLst/>
          </a:prstGeom>
          <a:noFill/>
        </p:spPr>
        <p:txBody>
          <a:bodyPr wrap="none" lIns="0" rIns="0" tIns="0" bIns="0">
            <a:spAutoFit/>
          </a:bodyPr>
          <a:lstStyle/>
          <a:p>
            <a:r>
              <a:rPr sz="1050" b="0">
                <a:solidFill>
                  <a:srgbClr val="1F1F1F"/>
                </a:solidFill>
                <a:latin typeface="Calibri"/>
              </a:rPr>
              <a:t>/Units across sub-types.</a:t>
            </a:r>
          </a:p>
        </p:txBody>
      </p:sp>
      <p:sp>
        <p:nvSpPr>
          <p:cNvPr id="73" name="TextBox 72"/>
          <p:cNvSpPr txBox="1"/>
          <p:nvPr/>
        </p:nvSpPr>
        <p:spPr>
          <a:xfrm>
            <a:off x="301752" y="6391275"/>
            <a:ext cx="5851659" cy="143408"/>
          </a:xfrm>
          <a:prstGeom prst="rect">
            <a:avLst/>
          </a:prstGeom>
          <a:noFill/>
        </p:spPr>
        <p:txBody>
          <a:bodyPr wrap="none" lIns="0" rIns="0" tIns="0" bIns="0">
            <a:spAutoFit/>
          </a:bodyPr>
          <a:lstStyle/>
          <a:p>
            <a:r>
              <a:rPr sz="816" b="0">
                <a:solidFill>
                  <a:srgbClr val="59636E"/>
                </a:solidFill>
                <a:latin typeface="Calibri"/>
              </a:rPr>
              <a:t>Source: FMI analysis. Cell price = combined value (US$) / combined volume (Units); shading shows the index vs the Global average of US$</a:t>
            </a:r>
          </a:p>
        </p:txBody>
      </p:sp>
      <p:pic>
        <p:nvPicPr>
          <p:cNvPr id="74" name="Picture 73" descr="lock.png"/>
          <p:cNvPicPr>
            <a:picLocks noChangeAspect="1"/>
          </p:cNvPicPr>
          <p:nvPr/>
        </p:nvPicPr>
        <p:blipFill>
          <a:blip r:embed="rId5"/>
          <a:stretch>
            <a:fillRect/>
          </a:stretch>
        </p:blipFill>
        <p:spPr>
          <a:xfrm>
            <a:off x="6095202" y="6384020"/>
            <a:ext cx="95470" cy="138866"/>
          </a:xfrm>
          <a:prstGeom prst="rect">
            <a:avLst/>
          </a:prstGeom>
        </p:spPr>
      </p:pic>
      <p:sp>
        <p:nvSpPr>
          <p:cNvPr id="75" name="TextBox 74"/>
          <p:cNvSpPr txBox="1"/>
          <p:nvPr/>
        </p:nvSpPr>
        <p:spPr>
          <a:xfrm>
            <a:off x="6219453" y="6391275"/>
            <a:ext cx="362604" cy="143408"/>
          </a:xfrm>
          <a:prstGeom prst="rect">
            <a:avLst/>
          </a:prstGeom>
          <a:noFill/>
        </p:spPr>
        <p:txBody>
          <a:bodyPr wrap="none" lIns="0" rIns="0" tIns="0" bIns="0">
            <a:spAutoFit/>
          </a:bodyPr>
          <a:lstStyle/>
          <a:p>
            <a:r>
              <a:rPr sz="816" b="0">
                <a:solidFill>
                  <a:srgbClr val="59636E"/>
                </a:solidFill>
                <a:latin typeface="Calibri"/>
              </a:rPr>
              <a:t>/Units.</a:t>
            </a:r>
          </a:p>
        </p:txBody>
      </p:sp>
      <p:pic>
        <p:nvPicPr>
          <p:cNvPr id="76" name="Picture 75" descr="lock.png"/>
          <p:cNvPicPr>
            <a:picLocks noChangeAspect="1"/>
          </p:cNvPicPr>
          <p:nvPr/>
        </p:nvPicPr>
        <p:blipFill>
          <a:blip r:embed="rId5"/>
          <a:stretch>
            <a:fillRect/>
          </a:stretch>
        </p:blipFill>
        <p:spPr>
          <a:xfrm>
            <a:off x="9913437" y="3234020"/>
            <a:ext cx="332271" cy="483303"/>
          </a:xfrm>
          <a:prstGeom prst="rect">
            <a:avLst/>
          </a:prstGeom>
        </p:spPr>
      </p:pic>
      <p:sp>
        <p:nvSpPr>
          <p:cNvPr id="77" name="lockshield_27"/>
          <p:cNvSpPr/>
          <p:nvPr/>
        </p:nvSpPr>
        <p:spPr>
          <a:xfrm>
            <a:off x="8001000" y="2032635"/>
            <a:ext cx="3867912" cy="297180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Pricing Assessment: Region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 average price and price range across device technologys, 2026 (US$/Units)</a:t>
            </a:r>
          </a:p>
        </p:txBody>
      </p:sp>
      <p:sp>
        <p:nvSpPr>
          <p:cNvPr id="10" name="Rectangle 9"/>
          <p:cNvSpPr/>
          <p:nvPr/>
        </p:nvSpPr>
        <p:spPr>
          <a:xfrm>
            <a:off x="274320" y="981075"/>
            <a:ext cx="11640312" cy="457200"/>
          </a:xfrm>
          <a:prstGeom prst="rect">
            <a:avLst/>
          </a:prstGeom>
          <a:solidFill>
            <a:srgbClr val="0B2E4A"/>
          </a:solidFill>
          <a:ln>
            <a:noFill/>
          </a:ln>
          <a:effectLst/>
        </p:spPr>
        <p:txBody>
          <a:bodyPr rtlCol="0" anchor="ctr" wrap="square" lIns="137160"/>
          <a:lstStyle/>
          <a:p>
            <a:pPr algn="l"/>
            <a:r>
              <a:rPr sz="1300" b="1">
                <a:solidFill>
                  <a:srgbClr val="FFFFFF"/>
                </a:solidFill>
                <a:latin typeface="Calibri"/>
              </a:rPr>
              <a:t/>
            </a:r>
          </a:p>
        </p:txBody>
      </p:sp>
      <p:sp>
        <p:nvSpPr>
          <p:cNvPr id="11" name="Rectangle 10"/>
          <p:cNvSpPr/>
          <p:nvPr/>
        </p:nvSpPr>
        <p:spPr>
          <a:xfrm>
            <a:off x="274320" y="1529715"/>
            <a:ext cx="7543800" cy="3520440"/>
          </a:xfrm>
          <a:prstGeom prst="rect">
            <a:avLst/>
          </a:prstGeom>
          <a:solidFill>
            <a:srgbClr val="F3F6F9"/>
          </a:solidFill>
          <a:ln>
            <a:noFill/>
          </a:ln>
          <a:effectLst/>
        </p:spPr>
        <p:txBody>
          <a:bodyPr rtlCol="0" anchor="ctr"/>
          <a:lstStyle/>
          <a:p>
            <a:pPr algn="ctr"/>
          </a:p>
        </p:txBody>
      </p:sp>
      <p:sp>
        <p:nvSpPr>
          <p:cNvPr id="12" name="TextBox 11"/>
          <p:cNvSpPr txBox="1"/>
          <p:nvPr/>
        </p:nvSpPr>
        <p:spPr>
          <a:xfrm>
            <a:off x="384048" y="1575435"/>
            <a:ext cx="7315200" cy="257175"/>
          </a:xfrm>
          <a:prstGeom prst="rect">
            <a:avLst/>
          </a:prstGeom>
          <a:noFill/>
        </p:spPr>
        <p:txBody>
          <a:bodyPr wrap="square" anchor="t" lIns="27432" rIns="27432" tIns="27432" bIns="27432">
            <a:spAutoFit/>
          </a:bodyPr>
          <a:lstStyle/>
          <a:p>
            <a:pPr algn="l"/>
            <a:r>
              <a:rPr sz="1150" b="1" i="0">
                <a:solidFill>
                  <a:srgbClr val="0B2E4A"/>
                </a:solidFill>
                <a:latin typeface="Calibri"/>
              </a:rPr>
              <a:t>2026 Price Range Across Device Technologys by Region (US$/Units), Ranked by Average</a:t>
            </a:r>
          </a:p>
        </p:txBody>
      </p:sp>
      <p:graphicFrame>
        <p:nvGraphicFramePr>
          <p:cNvPr id="13" name="FMI Open Chart"/>
          <p:cNvGraphicFramePr>
            <a:graphicFrameLocks noGrp="1"/>
          </p:cNvGraphicFramePr>
          <p:nvPr/>
        </p:nvGraphicFramePr>
        <p:xfrm>
          <a:off x="347472" y="2014347"/>
          <a:ext cx="7406640" cy="3017520"/>
        </p:xfrm>
        <a:graphic>
          <a:graphicData uri="http://schemas.openxmlformats.org/drawingml/2006/chart">
            <c:chart xmlns:c="http://schemas.openxmlformats.org/drawingml/2006/chart" r:id="rId3"/>
          </a:graphicData>
        </a:graphic>
      </p:graphicFrame>
      <p:sp>
        <p:nvSpPr>
          <p:cNvPr id="14" name="TextBox 13"/>
          <p:cNvSpPr txBox="1"/>
          <p:nvPr/>
        </p:nvSpPr>
        <p:spPr>
          <a:xfrm>
            <a:off x="384048" y="1804035"/>
            <a:ext cx="7223760" cy="219075"/>
          </a:xfrm>
          <a:prstGeom prst="rect">
            <a:avLst/>
          </a:prstGeom>
          <a:noFill/>
        </p:spPr>
        <p:txBody>
          <a:bodyPr wrap="square" anchor="t" lIns="27432" rIns="27432" tIns="27432" bIns="27432">
            <a:spAutoFit/>
          </a:bodyPr>
          <a:lstStyle/>
          <a:p>
            <a:pPr algn="l"/>
            <a:r>
              <a:rPr sz="850" b="0" i="1">
                <a:solidFill>
                  <a:srgbClr val="59636E"/>
                </a:solidFill>
                <a:latin typeface="Calibri"/>
              </a:rPr>
              <a:t/>
            </a:r>
          </a:p>
        </p:txBody>
      </p:sp>
      <p:sp>
        <p:nvSpPr>
          <p:cNvPr id="15" name="Rectangle 14"/>
          <p:cNvSpPr/>
          <p:nvPr/>
        </p:nvSpPr>
        <p:spPr>
          <a:xfrm>
            <a:off x="7955280" y="1529715"/>
            <a:ext cx="3959352" cy="3520440"/>
          </a:xfrm>
          <a:prstGeom prst="rect">
            <a:avLst/>
          </a:prstGeom>
          <a:solidFill>
            <a:srgbClr val="F3F6F9"/>
          </a:solidFill>
          <a:ln>
            <a:noFill/>
          </a:ln>
          <a:effectLst/>
        </p:spPr>
        <p:txBody>
          <a:bodyPr rtlCol="0" anchor="ctr"/>
          <a:lstStyle/>
          <a:p>
            <a:pPr algn="ctr"/>
          </a:p>
        </p:txBody>
      </p:sp>
      <p:sp>
        <p:nvSpPr>
          <p:cNvPr id="16" name="TextBox 15"/>
          <p:cNvSpPr txBox="1"/>
          <p:nvPr/>
        </p:nvSpPr>
        <p:spPr>
          <a:xfrm>
            <a:off x="8065008" y="1575435"/>
            <a:ext cx="3749040" cy="257175"/>
          </a:xfrm>
          <a:prstGeom prst="rect">
            <a:avLst/>
          </a:prstGeom>
          <a:noFill/>
        </p:spPr>
        <p:txBody>
          <a:bodyPr wrap="square" anchor="t" lIns="27432" rIns="27432" tIns="27432" bIns="27432">
            <a:spAutoFit/>
          </a:bodyPr>
          <a:lstStyle/>
          <a:p>
            <a:pPr algn="l"/>
            <a:r>
              <a:rPr sz="1150" b="1" i="0">
                <a:solidFill>
                  <a:srgbClr val="0B2E4A"/>
                </a:solidFill>
                <a:latin typeface="Calibri"/>
              </a:rPr>
              <a:t>Premium and Discount Markets</a:t>
            </a:r>
          </a:p>
        </p:txBody>
      </p:sp>
      <p:graphicFrame>
        <p:nvGraphicFramePr>
          <p:cNvPr id="17" name="Table 16"/>
          <p:cNvGraphicFramePr>
            <a:graphicFrameLocks noGrp="1"/>
          </p:cNvGraphicFramePr>
          <p:nvPr/>
        </p:nvGraphicFramePr>
        <p:xfrm>
          <a:off x="8046720" y="1868043"/>
          <a:ext cx="3776472" cy="3090675"/>
        </p:xfrm>
        <a:graphic>
          <a:graphicData uri="http://schemas.openxmlformats.org/drawingml/2006/table">
            <a:tbl>
              <a:tblPr firstRow="1" bandRow="1">
                <a:tableStyleId>{5C22544A-7EE6-4342-B048-85BDC9FD1C3A}</a:tableStyleId>
              </a:tblPr>
              <a:tblGrid>
                <a:gridCol w="1417320"/>
                <a:gridCol w="786384"/>
                <a:gridCol w="658368"/>
                <a:gridCol w="914400"/>
              </a:tblGrid>
              <a:tr h="441525">
                <a:tc>
                  <a:txBody>
                    <a:bodyPr wrap="square"/>
                    <a:lstStyle/>
                    <a:p>
                      <a:pPr algn="l"/>
                      <a:r>
                        <a:rPr sz="900" b="1">
                          <a:solidFill>
                            <a:srgbClr val="FFFFFF"/>
                          </a:solidFill>
                          <a:latin typeface="Calibri"/>
                        </a:rPr>
                        <a:t>Region</a:t>
                      </a:r>
                    </a:p>
                  </a:txBody>
                  <a:tcPr marL="36576" marR="36576" marT="9144" marB="9144" anchor="ctr">
                    <a:solidFill>
                      <a:srgbClr val="0B2E4A"/>
                    </a:solidFill>
                  </a:tcPr>
                </a:tc>
                <a:tc>
                  <a:txBody>
                    <a:bodyPr wrap="square"/>
                    <a:lstStyle/>
                    <a:p>
                      <a:pPr algn="ctr"/>
                      <a:r>
                        <a:rPr sz="900" b="1">
                          <a:solidFill>
                            <a:srgbClr val="FFFFFF"/>
                          </a:solidFill>
                          <a:latin typeface="Calibri"/>
                        </a:rPr>
                        <a:t>Avg. 2026</a:t>
                      </a:r>
                    </a:p>
                  </a:txBody>
                  <a:tcPr marL="36576" marR="36576" marT="9144" marB="9144" anchor="ctr">
                    <a:solidFill>
                      <a:srgbClr val="0B2E4A"/>
                    </a:solidFill>
                  </a:tcPr>
                </a:tc>
                <a:tc>
                  <a:txBody>
                    <a:bodyPr wrap="square"/>
                    <a:lstStyle/>
                    <a:p>
                      <a:pPr algn="ctr"/>
                      <a:r>
                        <a:rPr sz="900" b="1">
                          <a:solidFill>
                            <a:srgbClr val="FFFFFF"/>
                          </a:solidFill>
                          <a:latin typeface="Calibri"/>
                        </a:rPr>
                        <a:t>Index</a:t>
                      </a:r>
                    </a:p>
                  </a:txBody>
                  <a:tcPr marL="36576" marR="36576" marT="9144" marB="9144" anchor="ctr">
                    <a:solidFill>
                      <a:srgbClr val="0B2E4A"/>
                    </a:solidFill>
                  </a:tcPr>
                </a:tc>
                <a:tc>
                  <a:txBody>
                    <a:bodyPr wrap="square"/>
                    <a:lstStyle/>
                    <a:p>
                      <a:pPr algn="ctr"/>
                      <a:r>
                        <a:rPr sz="900" b="1">
                          <a:solidFill>
                            <a:srgbClr val="FFFFFF"/>
                          </a:solidFill>
                          <a:latin typeface="Calibri"/>
                        </a:rPr>
                        <a:t>CAGR 2026 to 2036</a:t>
                      </a:r>
                    </a:p>
                  </a:txBody>
                  <a:tcPr marL="36576" marR="36576" marT="9144" marB="9144" anchor="ctr">
                    <a:solidFill>
                      <a:srgbClr val="0B2E4A"/>
                    </a:solidFill>
                  </a:tcPr>
                </a:tc>
              </a:tr>
              <a:tr h="441525">
                <a:tc>
                  <a:txBody>
                    <a:bodyPr wrap="square"/>
                    <a:lstStyle/>
                    <a:p>
                      <a:pPr algn="l"/>
                      <a:r>
                        <a:rPr sz="900" b="1">
                          <a:solidFill>
                            <a:srgbClr val="1F1F1F"/>
                          </a:solidFill>
                          <a:latin typeface="Calibri"/>
                        </a:rPr>
                        <a:t>North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Europe</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4B183"/>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Latin America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Middle East &amp; Africa</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r h="441525">
                <a:tc>
                  <a:txBody>
                    <a:bodyPr wrap="square"/>
                    <a:lstStyle/>
                    <a:p>
                      <a:pPr algn="l"/>
                      <a:r>
                        <a:rPr sz="900" b="1">
                          <a:solidFill>
                            <a:srgbClr val="1F1F1F"/>
                          </a:solidFill>
                          <a:latin typeface="Calibri"/>
                        </a:rPr>
                        <a:t>East Asia</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FFFFFF"/>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FFFFF"/>
                    </a:solidFill>
                  </a:tcPr>
                </a:tc>
              </a:tr>
              <a:tr h="441525">
                <a:tc>
                  <a:txBody>
                    <a:bodyPr wrap="square"/>
                    <a:lstStyle/>
                    <a:p>
                      <a:pPr algn="l"/>
                      <a:r>
                        <a:rPr sz="900" b="1">
                          <a:solidFill>
                            <a:srgbClr val="1F1F1F"/>
                          </a:solidFill>
                          <a:latin typeface="Calibri"/>
                        </a:rPr>
                        <a:t>South Asia &amp; Pacific</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F3F6F9"/>
                    </a:solidFill>
                  </a:tcPr>
                </a:tc>
                <a:tc>
                  <a:txBody>
                    <a:bodyPr wrap="square"/>
                    <a:lstStyle/>
                    <a:p>
                      <a:pPr algn="ctr"/>
                      <a:r>
                        <a:rPr sz="900"/>
                        <a:t> </a:t>
                      </a:r>
                    </a:p>
                  </a:txBody>
                  <a:tcPr marL="36576" marR="36576" marT="9144" marB="9144" anchor="ctr">
                    <a:solidFill>
                      <a:srgbClr val="9DC0E0"/>
                    </a:solidFill>
                  </a:tcPr>
                </a:tc>
                <a:tc>
                  <a:txBody>
                    <a:bodyPr wrap="square"/>
                    <a:lstStyle/>
                    <a:p>
                      <a:pPr algn="ctr"/>
                      <a:r>
                        <a:rPr sz="900"/>
                        <a:t> </a:t>
                      </a:r>
                    </a:p>
                  </a:txBody>
                  <a:tcPr marL="36576" marR="36576" marT="9144" marB="9144" anchor="ctr">
                    <a:solidFill>
                      <a:srgbClr val="F3F6F9"/>
                    </a:solidFill>
                  </a:tcPr>
                </a:tc>
              </a:tr>
            </a:tbl>
          </a:graphicData>
        </a:graphic>
      </p:graphicFrame>
      <p:sp>
        <p:nvSpPr>
          <p:cNvPr id="18" name="Rectangle 17"/>
          <p:cNvSpPr/>
          <p:nvPr/>
        </p:nvSpPr>
        <p:spPr>
          <a:xfrm>
            <a:off x="274320" y="5141595"/>
            <a:ext cx="3788664" cy="1234440"/>
          </a:xfrm>
          <a:prstGeom prst="rect">
            <a:avLst/>
          </a:prstGeom>
          <a:solidFill>
            <a:srgbClr val="F3F6F9"/>
          </a:solidFill>
          <a:ln>
            <a:noFill/>
          </a:ln>
          <a:effectLst/>
        </p:spPr>
        <p:txBody>
          <a:bodyPr rtlCol="0" anchor="ctr"/>
          <a:lstStyle/>
          <a:p>
            <a:pPr algn="ctr"/>
          </a:p>
        </p:txBody>
      </p:sp>
      <p:sp>
        <p:nvSpPr>
          <p:cNvPr id="19" name="Oval 18"/>
          <p:cNvSpPr/>
          <p:nvPr/>
        </p:nvSpPr>
        <p:spPr>
          <a:xfrm>
            <a:off x="388620"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1</a:t>
            </a:r>
          </a:p>
        </p:txBody>
      </p:sp>
      <p:sp>
        <p:nvSpPr>
          <p:cNvPr id="20" name="TextBox 19"/>
          <p:cNvSpPr txBox="1"/>
          <p:nvPr/>
        </p:nvSpPr>
        <p:spPr>
          <a:xfrm>
            <a:off x="779145"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Region Spread</a:t>
            </a:r>
          </a:p>
        </p:txBody>
      </p:sp>
      <p:sp>
        <p:nvSpPr>
          <p:cNvPr id="21" name="TextBox 20"/>
          <p:cNvSpPr txBox="1"/>
          <p:nvPr/>
        </p:nvSpPr>
        <p:spPr>
          <a:xfrm>
            <a:off x="779145"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2" name="Rectangle 21"/>
          <p:cNvSpPr/>
          <p:nvPr/>
        </p:nvSpPr>
        <p:spPr>
          <a:xfrm>
            <a:off x="4200144" y="5141595"/>
            <a:ext cx="3788664" cy="1234440"/>
          </a:xfrm>
          <a:prstGeom prst="rect">
            <a:avLst/>
          </a:prstGeom>
          <a:solidFill>
            <a:srgbClr val="F3F6F9"/>
          </a:solidFill>
          <a:ln>
            <a:noFill/>
          </a:ln>
          <a:effectLst/>
        </p:spPr>
        <p:txBody>
          <a:bodyPr rtlCol="0" anchor="ctr"/>
          <a:lstStyle/>
          <a:p>
            <a:pPr algn="ctr"/>
          </a:p>
        </p:txBody>
      </p:sp>
      <p:sp>
        <p:nvSpPr>
          <p:cNvPr id="23" name="Oval 22"/>
          <p:cNvSpPr/>
          <p:nvPr/>
        </p:nvSpPr>
        <p:spPr>
          <a:xfrm>
            <a:off x="4314444"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2</a:t>
            </a:r>
          </a:p>
        </p:txBody>
      </p:sp>
      <p:sp>
        <p:nvSpPr>
          <p:cNvPr id="24" name="TextBox 23"/>
          <p:cNvSpPr txBox="1"/>
          <p:nvPr/>
        </p:nvSpPr>
        <p:spPr>
          <a:xfrm>
            <a:off x="4704969"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Growth Leader</a:t>
            </a:r>
          </a:p>
        </p:txBody>
      </p:sp>
      <p:sp>
        <p:nvSpPr>
          <p:cNvPr id="25" name="TextBox 24"/>
          <p:cNvSpPr txBox="1"/>
          <p:nvPr/>
        </p:nvSpPr>
        <p:spPr>
          <a:xfrm>
            <a:off x="4704969"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26" name="Rectangle 25"/>
          <p:cNvSpPr/>
          <p:nvPr/>
        </p:nvSpPr>
        <p:spPr>
          <a:xfrm>
            <a:off x="8125968" y="5141595"/>
            <a:ext cx="3788664" cy="1234440"/>
          </a:xfrm>
          <a:prstGeom prst="rect">
            <a:avLst/>
          </a:prstGeom>
          <a:solidFill>
            <a:srgbClr val="F3F6F9"/>
          </a:solidFill>
          <a:ln>
            <a:noFill/>
          </a:ln>
          <a:effectLst/>
        </p:spPr>
        <p:txBody>
          <a:bodyPr rtlCol="0" anchor="ctr"/>
          <a:lstStyle/>
          <a:p>
            <a:pPr algn="ctr"/>
          </a:p>
        </p:txBody>
      </p:sp>
      <p:sp>
        <p:nvSpPr>
          <p:cNvPr id="27" name="Oval 26"/>
          <p:cNvSpPr/>
          <p:nvPr/>
        </p:nvSpPr>
        <p:spPr>
          <a:xfrm>
            <a:off x="8240268" y="5265420"/>
            <a:ext cx="314325" cy="314325"/>
          </a:xfrm>
          <a:prstGeom prst="ellipse">
            <a:avLst/>
          </a:prstGeom>
          <a:solidFill>
            <a:srgbClr val="0B2E4A"/>
          </a:solidFill>
          <a:ln>
            <a:noFill/>
          </a:ln>
          <a:effectLst/>
        </p:spPr>
        <p:txBody>
          <a:bodyPr rtlCol="0" anchor="ctr" lIns="0" rIns="0" wrap="none" tIns="0" bIns="0"/>
          <a:lstStyle/>
          <a:p>
            <a:pPr algn="ctr"/>
            <a:r>
              <a:rPr sz="1200" b="1">
                <a:solidFill>
                  <a:srgbClr val="FFFFFF"/>
                </a:solidFill>
                <a:latin typeface="Calibri"/>
              </a:rPr>
              <a:t>3</a:t>
            </a:r>
          </a:p>
        </p:txBody>
      </p:sp>
      <p:sp>
        <p:nvSpPr>
          <p:cNvPr id="28" name="TextBox 27"/>
          <p:cNvSpPr txBox="1"/>
          <p:nvPr/>
        </p:nvSpPr>
        <p:spPr>
          <a:xfrm>
            <a:off x="8630793" y="5227320"/>
            <a:ext cx="3198114" cy="266700"/>
          </a:xfrm>
          <a:prstGeom prst="rect">
            <a:avLst/>
          </a:prstGeom>
          <a:noFill/>
        </p:spPr>
        <p:txBody>
          <a:bodyPr wrap="square" anchor="t" lIns="27432" rIns="27432" tIns="27432" bIns="27432">
            <a:spAutoFit/>
          </a:bodyPr>
          <a:lstStyle/>
          <a:p>
            <a:pPr algn="l"/>
            <a:r>
              <a:rPr sz="1150" b="1" i="0">
                <a:solidFill>
                  <a:srgbClr val="0B2E4A"/>
                </a:solidFill>
                <a:latin typeface="Calibri"/>
              </a:rPr>
              <a:t>Mix Exposure</a:t>
            </a:r>
          </a:p>
        </p:txBody>
      </p:sp>
      <p:sp>
        <p:nvSpPr>
          <p:cNvPr id="29" name="TextBox 28"/>
          <p:cNvSpPr txBox="1"/>
          <p:nvPr/>
        </p:nvSpPr>
        <p:spPr>
          <a:xfrm>
            <a:off x="8630793" y="5503545"/>
            <a:ext cx="3198114" cy="834390"/>
          </a:xfrm>
          <a:prstGeom prst="rect">
            <a:avLst/>
          </a:prstGeom>
          <a:noFill/>
        </p:spPr>
        <p:txBody>
          <a:bodyPr wrap="square" anchor="t" lIns="27432" rIns="27432" tIns="27432" bIns="27432">
            <a:spAutoFit/>
          </a:bodyPr>
          <a:lstStyle/>
          <a:p>
            <a:pPr algn="l"/>
            <a:r>
              <a:rPr sz="1050" b="0" i="0">
                <a:solidFill>
                  <a:srgbClr val="1F1F1F"/>
                </a:solidFill>
                <a:latin typeface="Calibri"/>
              </a:rPr>
              <a:t/>
            </a:r>
          </a:p>
        </p:txBody>
      </p:sp>
      <p:sp>
        <p:nvSpPr>
          <p:cNvPr id="30" name="TextBox 29"/>
          <p:cNvSpPr txBox="1"/>
          <p:nvPr/>
        </p:nvSpPr>
        <p:spPr>
          <a:xfrm>
            <a:off x="274320" y="6363843"/>
            <a:ext cx="11612880" cy="209550"/>
          </a:xfrm>
          <a:prstGeom prst="rect">
            <a:avLst/>
          </a:prstGeom>
          <a:noFill/>
        </p:spPr>
        <p:txBody>
          <a:bodyPr wrap="square" anchor="t" lIns="27432" rIns="27432" tIns="27432" bIns="27432">
            <a:spAutoFit/>
          </a:bodyPr>
          <a:lstStyle/>
          <a:p>
            <a:pPr algn="l"/>
            <a:r>
              <a:rPr sz="850" b="0" i="0">
                <a:solidFill>
                  <a:srgbClr val="59636E"/>
                </a:solidFill>
                <a:latin typeface="Calibri"/>
              </a:rPr>
              <a:t>Source: FMI analysis. Range = lowest to highest device technology price in each region; ranked by average price. Other geographies grouped as 'Other' are excluded from the ranking.</a:t>
            </a:r>
          </a:p>
        </p:txBody>
      </p:sp>
      <p:sp>
        <p:nvSpPr>
          <p:cNvPr id="31" name="TextBox 3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2" name="Picture 31" descr="lock.png"/>
          <p:cNvPicPr>
            <a:picLocks noChangeAspect="1"/>
          </p:cNvPicPr>
          <p:nvPr/>
        </p:nvPicPr>
        <p:blipFill>
          <a:blip r:embed="rId5"/>
          <a:stretch>
            <a:fillRect/>
          </a:stretch>
        </p:blipFill>
        <p:spPr>
          <a:xfrm>
            <a:off x="10462494" y="3375398"/>
            <a:ext cx="355774" cy="517489"/>
          </a:xfrm>
          <a:prstGeom prst="rect">
            <a:avLst/>
          </a:prstGeom>
        </p:spPr>
      </p:pic>
      <p:sp>
        <p:nvSpPr>
          <p:cNvPr id="33" name="TextBox 32"/>
          <p:cNvSpPr txBox="1"/>
          <p:nvPr/>
        </p:nvSpPr>
        <p:spPr>
          <a:xfrm>
            <a:off x="411480" y="1110615"/>
            <a:ext cx="3985393" cy="217169"/>
          </a:xfrm>
          <a:prstGeom prst="rect">
            <a:avLst/>
          </a:prstGeom>
          <a:noFill/>
        </p:spPr>
        <p:txBody>
          <a:bodyPr wrap="none" lIns="0" rIns="0" tIns="0" bIns="0">
            <a:spAutoFit/>
          </a:bodyPr>
          <a:lstStyle/>
          <a:p>
            <a:r>
              <a:rPr sz="1300" b="1">
                <a:solidFill>
                  <a:srgbClr val="FFFFFF"/>
                </a:solidFill>
                <a:latin typeface="Calibri"/>
              </a:rPr>
              <a:t>North America is the most premium Global region at US$</a:t>
            </a:r>
          </a:p>
        </p:txBody>
      </p:sp>
      <p:pic>
        <p:nvPicPr>
          <p:cNvPr id="34" name="Picture 33" descr="lock.png"/>
          <p:cNvPicPr>
            <a:picLocks noChangeAspect="1"/>
          </p:cNvPicPr>
          <p:nvPr/>
        </p:nvPicPr>
        <p:blipFill>
          <a:blip r:embed="rId5"/>
          <a:stretch>
            <a:fillRect/>
          </a:stretch>
        </p:blipFill>
        <p:spPr>
          <a:xfrm>
            <a:off x="4349334" y="1099058"/>
            <a:ext cx="152098" cy="221234"/>
          </a:xfrm>
          <a:prstGeom prst="rect">
            <a:avLst/>
          </a:prstGeom>
        </p:spPr>
      </p:pic>
      <p:sp>
        <p:nvSpPr>
          <p:cNvPr id="35" name="TextBox 34"/>
          <p:cNvSpPr txBox="1"/>
          <p:nvPr/>
        </p:nvSpPr>
        <p:spPr>
          <a:xfrm>
            <a:off x="4547284" y="1110615"/>
            <a:ext cx="1209005" cy="217169"/>
          </a:xfrm>
          <a:prstGeom prst="rect">
            <a:avLst/>
          </a:prstGeom>
          <a:noFill/>
        </p:spPr>
        <p:txBody>
          <a:bodyPr wrap="none" lIns="0" rIns="0" tIns="0" bIns="0">
            <a:spAutoFit/>
          </a:bodyPr>
          <a:lstStyle/>
          <a:p>
            <a:r>
              <a:rPr sz="1300" b="1">
                <a:solidFill>
                  <a:srgbClr val="FFFFFF"/>
                </a:solidFill>
                <a:latin typeface="Calibri"/>
              </a:rPr>
              <a:t>/Units in 2026, +</a:t>
            </a:r>
          </a:p>
        </p:txBody>
      </p:sp>
      <p:pic>
        <p:nvPicPr>
          <p:cNvPr id="36" name="Picture 35" descr="lock.png"/>
          <p:cNvPicPr>
            <a:picLocks noChangeAspect="1"/>
          </p:cNvPicPr>
          <p:nvPr/>
        </p:nvPicPr>
        <p:blipFill>
          <a:blip r:embed="rId5"/>
          <a:stretch>
            <a:fillRect/>
          </a:stretch>
        </p:blipFill>
        <p:spPr>
          <a:xfrm>
            <a:off x="5708750" y="1099058"/>
            <a:ext cx="152098" cy="221234"/>
          </a:xfrm>
          <a:prstGeom prst="rect">
            <a:avLst/>
          </a:prstGeom>
        </p:spPr>
      </p:pic>
      <p:sp>
        <p:nvSpPr>
          <p:cNvPr id="37" name="TextBox 36"/>
          <p:cNvSpPr txBox="1"/>
          <p:nvPr/>
        </p:nvSpPr>
        <p:spPr>
          <a:xfrm>
            <a:off x="5906700" y="1110615"/>
            <a:ext cx="5071119" cy="217169"/>
          </a:xfrm>
          <a:prstGeom prst="rect">
            <a:avLst/>
          </a:prstGeom>
          <a:noFill/>
        </p:spPr>
        <p:txBody>
          <a:bodyPr wrap="none" lIns="0" rIns="0" tIns="0" bIns="0">
            <a:spAutoFit/>
          </a:bodyPr>
          <a:lstStyle/>
          <a:p>
            <a:r>
              <a:rPr sz="1300" b="1">
                <a:solidFill>
                  <a:srgbClr val="FFFFFF"/>
                </a:solidFill>
                <a:latin typeface="Calibri"/>
              </a:rPr>
              <a:t>above the global average, while South Asia &amp; Pacific is the lowest priced.</a:t>
            </a:r>
          </a:p>
        </p:txBody>
      </p:sp>
      <p:sp>
        <p:nvSpPr>
          <p:cNvPr id="38" name="TextBox 37"/>
          <p:cNvSpPr txBox="1"/>
          <p:nvPr/>
        </p:nvSpPr>
        <p:spPr>
          <a:xfrm>
            <a:off x="411480" y="1831467"/>
            <a:ext cx="4998922" cy="143408"/>
          </a:xfrm>
          <a:prstGeom prst="rect">
            <a:avLst/>
          </a:prstGeom>
          <a:noFill/>
        </p:spPr>
        <p:txBody>
          <a:bodyPr wrap="none" lIns="0" rIns="0" tIns="0" bIns="0">
            <a:spAutoFit/>
          </a:bodyPr>
          <a:lstStyle/>
          <a:p>
            <a:r>
              <a:rPr sz="816" b="0">
                <a:solidFill>
                  <a:srgbClr val="59636E"/>
                </a:solidFill>
                <a:latin typeface="Calibri"/>
              </a:rPr>
              <a:t>Bar spans the lowest to highest device technology price in each region, read on the price index axis (Global average =</a:t>
            </a:r>
          </a:p>
        </p:txBody>
      </p:sp>
      <p:pic>
        <p:nvPicPr>
          <p:cNvPr id="39" name="Picture 38" descr="lock.png"/>
          <p:cNvPicPr>
            <a:picLocks noChangeAspect="1"/>
          </p:cNvPicPr>
          <p:nvPr/>
        </p:nvPicPr>
        <p:blipFill>
          <a:blip r:embed="rId5"/>
          <a:stretch>
            <a:fillRect/>
          </a:stretch>
        </p:blipFill>
        <p:spPr>
          <a:xfrm>
            <a:off x="5352192" y="1824212"/>
            <a:ext cx="95470" cy="138866"/>
          </a:xfrm>
          <a:prstGeom prst="rect">
            <a:avLst/>
          </a:prstGeom>
        </p:spPr>
      </p:pic>
      <p:sp>
        <p:nvSpPr>
          <p:cNvPr id="40" name="TextBox 39"/>
          <p:cNvSpPr txBox="1"/>
          <p:nvPr/>
        </p:nvSpPr>
        <p:spPr>
          <a:xfrm>
            <a:off x="5476444" y="1831467"/>
            <a:ext cx="1958578" cy="143408"/>
          </a:xfrm>
          <a:prstGeom prst="rect">
            <a:avLst/>
          </a:prstGeom>
          <a:noFill/>
        </p:spPr>
        <p:txBody>
          <a:bodyPr wrap="none" lIns="0" rIns="0" tIns="0" bIns="0">
            <a:spAutoFit/>
          </a:bodyPr>
          <a:lstStyle/>
          <a:p>
            <a:r>
              <a:rPr sz="816" b="0">
                <a:solidFill>
                  <a:srgbClr val="59636E"/>
                </a:solidFill>
                <a:latin typeface="Calibri"/>
              </a:rPr>
              <a:t>). Teal = above Global average, blue = below.</a:t>
            </a:r>
          </a:p>
        </p:txBody>
      </p:sp>
      <p:sp>
        <p:nvSpPr>
          <p:cNvPr id="41" name="TextBox 40"/>
          <p:cNvSpPr txBox="1"/>
          <p:nvPr/>
        </p:nvSpPr>
        <p:spPr>
          <a:xfrm>
            <a:off x="806576" y="5530976"/>
            <a:ext cx="2778324" cy="179069"/>
          </a:xfrm>
          <a:prstGeom prst="rect">
            <a:avLst/>
          </a:prstGeom>
          <a:noFill/>
        </p:spPr>
        <p:txBody>
          <a:bodyPr wrap="none" lIns="0" rIns="0" tIns="0" bIns="0">
            <a:spAutoFit/>
          </a:bodyPr>
          <a:lstStyle/>
          <a:p>
            <a:r>
              <a:rPr sz="1050" b="0">
                <a:solidFill>
                  <a:srgbClr val="1F1F1F"/>
                </a:solidFill>
                <a:latin typeface="Calibri"/>
              </a:rPr>
              <a:t>Average prices across the ranked regions differ by</a:t>
            </a:r>
          </a:p>
        </p:txBody>
      </p:sp>
      <p:pic>
        <p:nvPicPr>
          <p:cNvPr id="42" name="Picture 41" descr="lock.png"/>
          <p:cNvPicPr>
            <a:picLocks noChangeAspect="1"/>
          </p:cNvPicPr>
          <p:nvPr/>
        </p:nvPicPr>
        <p:blipFill>
          <a:blip r:embed="rId5"/>
          <a:stretch>
            <a:fillRect/>
          </a:stretch>
        </p:blipFill>
        <p:spPr>
          <a:xfrm>
            <a:off x="3531850" y="5521642"/>
            <a:ext cx="122849" cy="178689"/>
          </a:xfrm>
          <a:prstGeom prst="rect">
            <a:avLst/>
          </a:prstGeom>
        </p:spPr>
      </p:pic>
      <p:sp>
        <p:nvSpPr>
          <p:cNvPr id="43" name="TextBox 42"/>
          <p:cNvSpPr txBox="1"/>
          <p:nvPr/>
        </p:nvSpPr>
        <p:spPr>
          <a:xfrm>
            <a:off x="3691732" y="5530976"/>
            <a:ext cx="176993" cy="179069"/>
          </a:xfrm>
          <a:prstGeom prst="rect">
            <a:avLst/>
          </a:prstGeom>
          <a:noFill/>
        </p:spPr>
        <p:txBody>
          <a:bodyPr wrap="none" lIns="0" rIns="0" tIns="0" bIns="0">
            <a:spAutoFit/>
          </a:bodyPr>
          <a:lstStyle/>
          <a:p>
            <a:r>
              <a:rPr sz="1050" b="0">
                <a:solidFill>
                  <a:srgbClr val="1F1F1F"/>
                </a:solidFill>
                <a:latin typeface="Calibri"/>
              </a:rPr>
              <a:t>in</a:t>
            </a:r>
          </a:p>
        </p:txBody>
      </p:sp>
      <p:sp>
        <p:nvSpPr>
          <p:cNvPr id="44" name="TextBox 43"/>
          <p:cNvSpPr txBox="1"/>
          <p:nvPr/>
        </p:nvSpPr>
        <p:spPr>
          <a:xfrm>
            <a:off x="806576" y="5690996"/>
            <a:ext cx="919534" cy="179069"/>
          </a:xfrm>
          <a:prstGeom prst="rect">
            <a:avLst/>
          </a:prstGeom>
          <a:noFill/>
        </p:spPr>
        <p:txBody>
          <a:bodyPr wrap="none" lIns="0" rIns="0" tIns="0" bIns="0">
            <a:spAutoFit/>
          </a:bodyPr>
          <a:lstStyle/>
          <a:p>
            <a:r>
              <a:rPr sz="1050" b="0">
                <a:solidFill>
                  <a:srgbClr val="1F1F1F"/>
                </a:solidFill>
                <a:latin typeface="Calibri"/>
              </a:rPr>
              <a:t>2026, from US$</a:t>
            </a:r>
          </a:p>
        </p:txBody>
      </p:sp>
      <p:pic>
        <p:nvPicPr>
          <p:cNvPr id="45" name="Picture 44" descr="lock.png"/>
          <p:cNvPicPr>
            <a:picLocks noChangeAspect="1"/>
          </p:cNvPicPr>
          <p:nvPr/>
        </p:nvPicPr>
        <p:blipFill>
          <a:blip r:embed="rId5"/>
          <a:stretch>
            <a:fillRect/>
          </a:stretch>
        </p:blipFill>
        <p:spPr>
          <a:xfrm>
            <a:off x="1673060" y="5681662"/>
            <a:ext cx="122849" cy="178689"/>
          </a:xfrm>
          <a:prstGeom prst="rect">
            <a:avLst/>
          </a:prstGeom>
        </p:spPr>
      </p:pic>
      <p:sp>
        <p:nvSpPr>
          <p:cNvPr id="46" name="TextBox 45"/>
          <p:cNvSpPr txBox="1"/>
          <p:nvPr/>
        </p:nvSpPr>
        <p:spPr>
          <a:xfrm>
            <a:off x="1832943" y="5690996"/>
            <a:ext cx="2032173" cy="179069"/>
          </a:xfrm>
          <a:prstGeom prst="rect">
            <a:avLst/>
          </a:prstGeom>
          <a:noFill/>
        </p:spPr>
        <p:txBody>
          <a:bodyPr wrap="none" lIns="0" rIns="0" tIns="0" bIns="0">
            <a:spAutoFit/>
          </a:bodyPr>
          <a:lstStyle/>
          <a:p>
            <a:r>
              <a:rPr sz="1050" b="0">
                <a:solidFill>
                  <a:srgbClr val="1F1F1F"/>
                </a:solidFill>
                <a:latin typeface="Calibri"/>
              </a:rPr>
              <a:t>/Units in South Asia &amp; Pacific to US$</a:t>
            </a:r>
          </a:p>
        </p:txBody>
      </p:sp>
      <p:pic>
        <p:nvPicPr>
          <p:cNvPr id="47" name="Picture 46" descr="lock.png"/>
          <p:cNvPicPr>
            <a:picLocks noChangeAspect="1"/>
          </p:cNvPicPr>
          <p:nvPr/>
        </p:nvPicPr>
        <p:blipFill>
          <a:blip r:embed="rId5"/>
          <a:stretch>
            <a:fillRect/>
          </a:stretch>
        </p:blipFill>
        <p:spPr>
          <a:xfrm>
            <a:off x="793721" y="5841682"/>
            <a:ext cx="122849" cy="178689"/>
          </a:xfrm>
          <a:prstGeom prst="rect">
            <a:avLst/>
          </a:prstGeom>
        </p:spPr>
      </p:pic>
      <p:sp>
        <p:nvSpPr>
          <p:cNvPr id="48" name="TextBox 47"/>
          <p:cNvSpPr txBox="1"/>
          <p:nvPr/>
        </p:nvSpPr>
        <p:spPr>
          <a:xfrm>
            <a:off x="953604" y="5851016"/>
            <a:ext cx="1401886" cy="179069"/>
          </a:xfrm>
          <a:prstGeom prst="rect">
            <a:avLst/>
          </a:prstGeom>
          <a:noFill/>
        </p:spPr>
        <p:txBody>
          <a:bodyPr wrap="none" lIns="0" rIns="0" tIns="0" bIns="0">
            <a:spAutoFit/>
          </a:bodyPr>
          <a:lstStyle/>
          <a:p>
            <a:r>
              <a:rPr sz="1050" b="0">
                <a:solidFill>
                  <a:srgbClr val="1F1F1F"/>
                </a:solidFill>
                <a:latin typeface="Calibri"/>
              </a:rPr>
              <a:t>/Units in North America.</a:t>
            </a:r>
          </a:p>
        </p:txBody>
      </p:sp>
      <p:sp>
        <p:nvSpPr>
          <p:cNvPr id="49" name="TextBox 48"/>
          <p:cNvSpPr txBox="1"/>
          <p:nvPr/>
        </p:nvSpPr>
        <p:spPr>
          <a:xfrm>
            <a:off x="4732401" y="5530976"/>
            <a:ext cx="3098192" cy="179069"/>
          </a:xfrm>
          <a:prstGeom prst="rect">
            <a:avLst/>
          </a:prstGeom>
          <a:noFill/>
        </p:spPr>
        <p:txBody>
          <a:bodyPr wrap="none" lIns="0" rIns="0" tIns="0" bIns="0">
            <a:spAutoFit/>
          </a:bodyPr>
          <a:lstStyle/>
          <a:p>
            <a:r>
              <a:rPr sz="1050" b="0">
                <a:solidFill>
                  <a:srgbClr val="1F1F1F"/>
                </a:solidFill>
                <a:latin typeface="Calibri"/>
              </a:rPr>
              <a:t>North America records the fastest average price growth</a:t>
            </a:r>
          </a:p>
        </p:txBody>
      </p:sp>
      <p:sp>
        <p:nvSpPr>
          <p:cNvPr id="50" name="TextBox 49"/>
          <p:cNvSpPr txBox="1"/>
          <p:nvPr/>
        </p:nvSpPr>
        <p:spPr>
          <a:xfrm>
            <a:off x="4732401" y="5690996"/>
            <a:ext cx="278829" cy="179069"/>
          </a:xfrm>
          <a:prstGeom prst="rect">
            <a:avLst/>
          </a:prstGeom>
          <a:noFill/>
        </p:spPr>
        <p:txBody>
          <a:bodyPr wrap="none" lIns="0" rIns="0" tIns="0" bIns="0">
            <a:spAutoFit/>
          </a:bodyPr>
          <a:lstStyle/>
          <a:p>
            <a:r>
              <a:rPr sz="1050" b="0">
                <a:solidFill>
                  <a:srgbClr val="1F1F1F"/>
                </a:solidFill>
                <a:latin typeface="Calibri"/>
              </a:rPr>
              <a:t>at a</a:t>
            </a:r>
          </a:p>
        </p:txBody>
      </p:sp>
      <p:pic>
        <p:nvPicPr>
          <p:cNvPr id="51" name="Picture 50" descr="lock.png"/>
          <p:cNvPicPr>
            <a:picLocks noChangeAspect="1"/>
          </p:cNvPicPr>
          <p:nvPr/>
        </p:nvPicPr>
        <p:blipFill>
          <a:blip r:embed="rId5"/>
          <a:stretch>
            <a:fillRect/>
          </a:stretch>
        </p:blipFill>
        <p:spPr>
          <a:xfrm>
            <a:off x="4958179" y="5681662"/>
            <a:ext cx="122849" cy="178689"/>
          </a:xfrm>
          <a:prstGeom prst="rect">
            <a:avLst/>
          </a:prstGeom>
        </p:spPr>
      </p:pic>
      <p:sp>
        <p:nvSpPr>
          <p:cNvPr id="52" name="TextBox 51"/>
          <p:cNvSpPr txBox="1"/>
          <p:nvPr/>
        </p:nvSpPr>
        <p:spPr>
          <a:xfrm>
            <a:off x="5118062" y="5690996"/>
            <a:ext cx="2178529" cy="179069"/>
          </a:xfrm>
          <a:prstGeom prst="rect">
            <a:avLst/>
          </a:prstGeom>
          <a:noFill/>
        </p:spPr>
        <p:txBody>
          <a:bodyPr wrap="none" lIns="0" rIns="0" tIns="0" bIns="0">
            <a:spAutoFit/>
          </a:bodyPr>
          <a:lstStyle/>
          <a:p>
            <a:r>
              <a:rPr sz="1050" b="0">
                <a:solidFill>
                  <a:srgbClr val="1F1F1F"/>
                </a:solidFill>
                <a:latin typeface="Calibri"/>
              </a:rPr>
              <a:t>CAGR between 2026 and 2036, against</a:t>
            </a:r>
          </a:p>
        </p:txBody>
      </p:sp>
      <p:pic>
        <p:nvPicPr>
          <p:cNvPr id="53" name="Picture 52" descr="lock.png"/>
          <p:cNvPicPr>
            <a:picLocks noChangeAspect="1"/>
          </p:cNvPicPr>
          <p:nvPr/>
        </p:nvPicPr>
        <p:blipFill>
          <a:blip r:embed="rId5"/>
          <a:stretch>
            <a:fillRect/>
          </a:stretch>
        </p:blipFill>
        <p:spPr>
          <a:xfrm>
            <a:off x="7243541" y="5681662"/>
            <a:ext cx="122849" cy="178689"/>
          </a:xfrm>
          <a:prstGeom prst="rect">
            <a:avLst/>
          </a:prstGeom>
        </p:spPr>
      </p:pic>
      <p:sp>
        <p:nvSpPr>
          <p:cNvPr id="54" name="TextBox 53"/>
          <p:cNvSpPr txBox="1"/>
          <p:nvPr/>
        </p:nvSpPr>
        <p:spPr>
          <a:xfrm>
            <a:off x="7403423" y="5690996"/>
            <a:ext cx="233771" cy="179069"/>
          </a:xfrm>
          <a:prstGeom prst="rect">
            <a:avLst/>
          </a:prstGeom>
          <a:noFill/>
        </p:spPr>
        <p:txBody>
          <a:bodyPr wrap="none" lIns="0" rIns="0" tIns="0" bIns="0">
            <a:spAutoFit/>
          </a:bodyPr>
          <a:lstStyle/>
          <a:p>
            <a:r>
              <a:rPr sz="1050" b="0">
                <a:solidFill>
                  <a:srgbClr val="1F1F1F"/>
                </a:solidFill>
                <a:latin typeface="Calibri"/>
              </a:rPr>
              <a:t>for</a:t>
            </a:r>
          </a:p>
        </p:txBody>
      </p:sp>
      <p:sp>
        <p:nvSpPr>
          <p:cNvPr id="55" name="TextBox 54"/>
          <p:cNvSpPr txBox="1"/>
          <p:nvPr/>
        </p:nvSpPr>
        <p:spPr>
          <a:xfrm>
            <a:off x="4732401" y="5851016"/>
            <a:ext cx="1062781" cy="179069"/>
          </a:xfrm>
          <a:prstGeom prst="rect">
            <a:avLst/>
          </a:prstGeom>
          <a:noFill/>
        </p:spPr>
        <p:txBody>
          <a:bodyPr wrap="none" lIns="0" rIns="0" tIns="0" bIns="0">
            <a:spAutoFit/>
          </a:bodyPr>
          <a:lstStyle/>
          <a:p>
            <a:r>
              <a:rPr sz="1050" b="0">
                <a:solidFill>
                  <a:srgbClr val="1F1F1F"/>
                </a:solidFill>
                <a:latin typeface="Calibri"/>
              </a:rPr>
              <a:t>Global as a whole.</a:t>
            </a:r>
          </a:p>
        </p:txBody>
      </p:sp>
      <p:sp>
        <p:nvSpPr>
          <p:cNvPr id="56" name="TextBox 55"/>
          <p:cNvSpPr txBox="1"/>
          <p:nvPr/>
        </p:nvSpPr>
        <p:spPr>
          <a:xfrm>
            <a:off x="8658225" y="5530976"/>
            <a:ext cx="2737730" cy="179069"/>
          </a:xfrm>
          <a:prstGeom prst="rect">
            <a:avLst/>
          </a:prstGeom>
          <a:noFill/>
        </p:spPr>
        <p:txBody>
          <a:bodyPr wrap="none" lIns="0" rIns="0" tIns="0" bIns="0">
            <a:spAutoFit/>
          </a:bodyPr>
          <a:lstStyle/>
          <a:p>
            <a:r>
              <a:rPr sz="1050" b="0">
                <a:solidFill>
                  <a:srgbClr val="1F1F1F"/>
                </a:solidFill>
                <a:latin typeface="Calibri"/>
              </a:rPr>
              <a:t>North America shows the widest gap between its</a:t>
            </a:r>
          </a:p>
        </p:txBody>
      </p:sp>
      <p:sp>
        <p:nvSpPr>
          <p:cNvPr id="57" name="TextBox 56"/>
          <p:cNvSpPr txBox="1"/>
          <p:nvPr/>
        </p:nvSpPr>
        <p:spPr>
          <a:xfrm>
            <a:off x="8658225" y="5690996"/>
            <a:ext cx="2826804" cy="179069"/>
          </a:xfrm>
          <a:prstGeom prst="rect">
            <a:avLst/>
          </a:prstGeom>
          <a:noFill/>
        </p:spPr>
        <p:txBody>
          <a:bodyPr wrap="none" lIns="0" rIns="0" tIns="0" bIns="0">
            <a:spAutoFit/>
          </a:bodyPr>
          <a:lstStyle/>
          <a:p>
            <a:r>
              <a:rPr sz="1050" b="0">
                <a:solidFill>
                  <a:srgbClr val="1F1F1F"/>
                </a:solidFill>
                <a:latin typeface="Calibri"/>
              </a:rPr>
              <a:t>cheapest and most expensive device technology at</a:t>
            </a:r>
          </a:p>
        </p:txBody>
      </p:sp>
      <p:pic>
        <p:nvPicPr>
          <p:cNvPr id="58" name="Picture 57" descr="lock.png"/>
          <p:cNvPicPr>
            <a:picLocks noChangeAspect="1"/>
          </p:cNvPicPr>
          <p:nvPr/>
        </p:nvPicPr>
        <p:blipFill>
          <a:blip r:embed="rId5"/>
          <a:stretch>
            <a:fillRect/>
          </a:stretch>
        </p:blipFill>
        <p:spPr>
          <a:xfrm>
            <a:off x="11431978" y="5681662"/>
            <a:ext cx="122849" cy="178689"/>
          </a:xfrm>
          <a:prstGeom prst="rect">
            <a:avLst/>
          </a:prstGeom>
        </p:spPr>
      </p:pic>
      <p:sp>
        <p:nvSpPr>
          <p:cNvPr id="59" name="TextBox 58"/>
          <p:cNvSpPr txBox="1"/>
          <p:nvPr/>
        </p:nvSpPr>
        <p:spPr>
          <a:xfrm>
            <a:off x="11591860" y="5690996"/>
            <a:ext cx="109537" cy="179069"/>
          </a:xfrm>
          <a:prstGeom prst="rect">
            <a:avLst/>
          </a:prstGeom>
          <a:noFill/>
        </p:spPr>
        <p:txBody>
          <a:bodyPr wrap="none" lIns="0" rIns="0" tIns="0" bIns="0">
            <a:spAutoFit/>
          </a:bodyPr>
          <a:lstStyle/>
          <a:p>
            <a:r>
              <a:rPr sz="1050" b="0">
                <a:solidFill>
                  <a:srgbClr val="1F1F1F"/>
                </a:solidFill>
                <a:latin typeface="Calibri"/>
              </a:rPr>
              <a:t>,</a:t>
            </a:r>
          </a:p>
        </p:txBody>
      </p:sp>
      <p:sp>
        <p:nvSpPr>
          <p:cNvPr id="60" name="TextBox 59"/>
          <p:cNvSpPr txBox="1"/>
          <p:nvPr/>
        </p:nvSpPr>
        <p:spPr>
          <a:xfrm>
            <a:off x="8658225" y="5851016"/>
            <a:ext cx="3004430" cy="179069"/>
          </a:xfrm>
          <a:prstGeom prst="rect">
            <a:avLst/>
          </a:prstGeom>
          <a:noFill/>
        </p:spPr>
        <p:txBody>
          <a:bodyPr wrap="none" lIns="0" rIns="0" tIns="0" bIns="0">
            <a:spAutoFit/>
          </a:bodyPr>
          <a:lstStyle/>
          <a:p>
            <a:r>
              <a:rPr sz="1050" b="0">
                <a:solidFill>
                  <a:srgbClr val="1F1F1F"/>
                </a:solidFill>
                <a:latin typeface="Calibri"/>
              </a:rPr>
              <a:t>so product mix shifts move its average price the most.</a:t>
            </a:r>
          </a:p>
        </p:txBody>
      </p:sp>
      <p:pic>
        <p:nvPicPr>
          <p:cNvPr id="61" name="Picture 60" descr="lock.png"/>
          <p:cNvPicPr>
            <a:picLocks noChangeAspect="1"/>
          </p:cNvPicPr>
          <p:nvPr/>
        </p:nvPicPr>
        <p:blipFill>
          <a:blip r:embed="rId5"/>
          <a:stretch>
            <a:fillRect/>
          </a:stretch>
        </p:blipFill>
        <p:spPr>
          <a:xfrm>
            <a:off x="3952821" y="3129375"/>
            <a:ext cx="482444" cy="701737"/>
          </a:xfrm>
          <a:prstGeom prst="rect">
            <a:avLst/>
          </a:prstGeom>
        </p:spPr>
      </p:pic>
      <p:sp>
        <p:nvSpPr>
          <p:cNvPr id="62" name="lockshield_13"/>
          <p:cNvSpPr/>
          <p:nvPr/>
        </p:nvSpPr>
        <p:spPr>
          <a:xfrm>
            <a:off x="347472" y="2014347"/>
            <a:ext cx="7406640" cy="3017520"/>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Price Positioning &amp; Key Findings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positioning of each region on a common axis with FMI's key findings on where premiums and discounts sit</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Average selling price and price range by region on a shared price scale (US$/Units).</a:t>
            </a:r>
          </a:p>
        </p:txBody>
      </p:sp>
      <p:sp>
        <p:nvSpPr>
          <p:cNvPr id="11" name="Rounded Rectangle 10"/>
          <p:cNvSpPr/>
          <p:nvPr/>
        </p:nvSpPr>
        <p:spPr>
          <a:xfrm>
            <a:off x="142875" y="1317574"/>
            <a:ext cx="769620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3" name="Connector 12"/>
          <p:cNvCxnSpPr/>
          <p:nvPr/>
        </p:nvCxnSpPr>
        <p:spPr>
          <a:xfrm>
            <a:off x="13620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144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1,910</a:t>
            </a:r>
          </a:p>
        </p:txBody>
      </p:sp>
      <p:cxnSp>
        <p:nvCxnSpPr>
          <p:cNvPr id="15" name="Connector 14"/>
          <p:cNvCxnSpPr/>
          <p:nvPr/>
        </p:nvCxnSpPr>
        <p:spPr>
          <a:xfrm>
            <a:off x="261175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36410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2,908</a:t>
            </a:r>
          </a:p>
        </p:txBody>
      </p:sp>
      <p:cxnSp>
        <p:nvCxnSpPr>
          <p:cNvPr id="17" name="Connector 16"/>
          <p:cNvCxnSpPr/>
          <p:nvPr/>
        </p:nvCxnSpPr>
        <p:spPr>
          <a:xfrm>
            <a:off x="386143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1378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3,907</a:t>
            </a:r>
          </a:p>
        </p:txBody>
      </p:sp>
      <p:cxnSp>
        <p:nvCxnSpPr>
          <p:cNvPr id="19" name="Connector 18"/>
          <p:cNvCxnSpPr/>
          <p:nvPr/>
        </p:nvCxnSpPr>
        <p:spPr>
          <a:xfrm>
            <a:off x="511111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86346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4,905</a:t>
            </a:r>
          </a:p>
        </p:txBody>
      </p:sp>
      <p:cxnSp>
        <p:nvCxnSpPr>
          <p:cNvPr id="21" name="Connector 20"/>
          <p:cNvCxnSpPr/>
          <p:nvPr/>
        </p:nvCxnSpPr>
        <p:spPr>
          <a:xfrm>
            <a:off x="636079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11314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5,904</a:t>
            </a:r>
          </a:p>
        </p:txBody>
      </p:sp>
      <p:cxnSp>
        <p:nvCxnSpPr>
          <p:cNvPr id="23" name="Connector 22"/>
          <p:cNvCxnSpPr/>
          <p:nvPr/>
        </p:nvCxnSpPr>
        <p:spPr>
          <a:xfrm>
            <a:off x="7610475" y="1889074"/>
            <a:ext cx="0" cy="4381561"/>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62825" y="6289685"/>
            <a:ext cx="495300" cy="114300"/>
          </a:xfrm>
          <a:prstGeom prst="rect">
            <a:avLst/>
          </a:prstGeom>
          <a:noFill/>
        </p:spPr>
        <p:txBody>
          <a:bodyPr wrap="square" lIns="28575" rIns="28575" tIns="9525" bIns="9525">
            <a:spAutoFit/>
          </a:bodyPr>
          <a:lstStyle/>
          <a:p>
            <a:pPr algn="ctr"/>
            <a:r>
              <a:rPr sz="1100" b="0">
                <a:solidFill>
                  <a:srgbClr val="6C7A89"/>
                </a:solidFill>
                <a:latin typeface="Calibri"/>
              </a:rPr>
              <a:t>6,903</a:t>
            </a:r>
          </a:p>
        </p:txBody>
      </p:sp>
      <p:sp>
        <p:nvSpPr>
          <p:cNvPr id="25" name="TextBox 24"/>
          <p:cNvSpPr txBox="1"/>
          <p:nvPr/>
        </p:nvSpPr>
        <p:spPr>
          <a:xfrm>
            <a:off x="238125" y="220340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North America</a:t>
            </a:r>
          </a:p>
        </p:txBody>
      </p:sp>
      <p:sp>
        <p:nvSpPr>
          <p:cNvPr id="26" name="Rectangle 25"/>
          <p:cNvSpPr/>
          <p:nvPr/>
        </p:nvSpPr>
        <p:spPr>
          <a:xfrm>
            <a:off x="5782427" y="2100912"/>
            <a:ext cx="114462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92829" y="222721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292731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Latin America</a:t>
            </a:r>
          </a:p>
        </p:txBody>
      </p:sp>
      <p:sp>
        <p:nvSpPr>
          <p:cNvPr id="29" name="Rectangle 28"/>
          <p:cNvSpPr/>
          <p:nvPr/>
        </p:nvSpPr>
        <p:spPr>
          <a:xfrm>
            <a:off x="3708099" y="2824823"/>
            <a:ext cx="745679"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019026" y="295112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51224"/>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Europe</a:t>
            </a:r>
          </a:p>
        </p:txBody>
      </p:sp>
      <p:sp>
        <p:nvSpPr>
          <p:cNvPr id="32" name="Rectangle 31"/>
          <p:cNvSpPr/>
          <p:nvPr/>
        </p:nvSpPr>
        <p:spPr>
          <a:xfrm>
            <a:off x="4990694" y="3548733"/>
            <a:ext cx="1000548"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429055" y="367503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37513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East Asia</a:t>
            </a:r>
          </a:p>
        </p:txBody>
      </p:sp>
      <p:sp>
        <p:nvSpPr>
          <p:cNvPr id="35" name="Rectangle 34"/>
          <p:cNvSpPr/>
          <p:nvPr/>
        </p:nvSpPr>
        <p:spPr>
          <a:xfrm>
            <a:off x="2502289" y="4272643"/>
            <a:ext cx="501205"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90979" y="439894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8125" y="509904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South Asia &amp; Pacific</a:t>
            </a:r>
          </a:p>
        </p:txBody>
      </p:sp>
      <p:sp>
        <p:nvSpPr>
          <p:cNvPr id="38" name="Rectangle 37"/>
          <p:cNvSpPr/>
          <p:nvPr/>
        </p:nvSpPr>
        <p:spPr>
          <a:xfrm>
            <a:off x="2045494" y="4996553"/>
            <a:ext cx="500072"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233617" y="5122857"/>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8125" y="5822955"/>
            <a:ext cx="1066800" cy="171450"/>
          </a:xfrm>
          <a:prstGeom prst="rect">
            <a:avLst/>
          </a:prstGeom>
          <a:noFill/>
        </p:spPr>
        <p:txBody>
          <a:bodyPr wrap="square" lIns="28575" rIns="28575" tIns="9525" bIns="9525" anchor="ctr">
            <a:spAutoFit/>
          </a:bodyPr>
          <a:lstStyle/>
          <a:p>
            <a:pPr algn="l"/>
            <a:r>
              <a:rPr sz="1100" b="1">
                <a:solidFill>
                  <a:srgbClr val="0B2E4A"/>
                </a:solidFill>
                <a:latin typeface="Calibri"/>
              </a:rPr>
              <a:t>Middle East &amp; Africa</a:t>
            </a:r>
          </a:p>
        </p:txBody>
      </p:sp>
      <p:sp>
        <p:nvSpPr>
          <p:cNvPr id="41" name="Rectangle 40"/>
          <p:cNvSpPr/>
          <p:nvPr/>
        </p:nvSpPr>
        <p:spPr>
          <a:xfrm>
            <a:off x="3545493" y="5720463"/>
            <a:ext cx="756757" cy="376433"/>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3861959" y="584676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62075" y="1727149"/>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95425" y="1717624"/>
            <a:ext cx="838200" cy="133350"/>
          </a:xfrm>
          <a:prstGeom prst="rect">
            <a:avLst/>
          </a:prstGeom>
          <a:noFill/>
        </p:spPr>
        <p:txBody>
          <a:bodyPr wrap="square" lIns="28575" rIns="28575" tIns="9525" bIns="9525">
            <a:spAutoFit/>
          </a:bodyPr>
          <a:lstStyle/>
          <a:p>
            <a:pPr algn="l"/>
            <a:r>
              <a:rPr sz="1100" b="0">
                <a:solidFill>
                  <a:srgbClr val="2E2E2E"/>
                </a:solidFill>
                <a:latin typeface="Calibri"/>
              </a:rPr>
              <a:t>Average Price</a:t>
            </a:r>
          </a:p>
        </p:txBody>
      </p:sp>
      <p:sp>
        <p:nvSpPr>
          <p:cNvPr id="45" name="Rectangle 44"/>
          <p:cNvSpPr/>
          <p:nvPr/>
        </p:nvSpPr>
        <p:spPr>
          <a:xfrm>
            <a:off x="2390775" y="1736674"/>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19375" y="1717624"/>
            <a:ext cx="800100" cy="133350"/>
          </a:xfrm>
          <a:prstGeom prst="rect">
            <a:avLst/>
          </a:prstGeom>
          <a:noFill/>
        </p:spPr>
        <p:txBody>
          <a:bodyPr wrap="square" lIns="28575" rIns="28575" tIns="9525" bIns="9525">
            <a:spAutoFit/>
          </a:bodyPr>
          <a:lstStyle/>
          <a:p>
            <a:pPr algn="l"/>
            <a:r>
              <a:rPr sz="1100" b="0">
                <a:solidFill>
                  <a:srgbClr val="2E2E2E"/>
                </a:solidFill>
                <a:latin typeface="Calibri"/>
              </a:rPr>
              <a:t>Price Range</a:t>
            </a:r>
          </a:p>
        </p:txBody>
      </p:sp>
      <p:sp>
        <p:nvSpPr>
          <p:cNvPr id="47" name="Rounded Rectangle 46"/>
          <p:cNvSpPr/>
          <p:nvPr/>
        </p:nvSpPr>
        <p:spPr>
          <a:xfrm>
            <a:off x="7915275" y="1317574"/>
            <a:ext cx="413385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49" name="Rectangle 48"/>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48625" y="1727149"/>
            <a:ext cx="3867150" cy="3438770"/>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51" name="Rounded Rectangle 50"/>
          <p:cNvSpPr/>
          <p:nvPr/>
        </p:nvSpPr>
        <p:spPr>
          <a:xfrm>
            <a:off x="7915275" y="5351641"/>
            <a:ext cx="4133850" cy="1204744"/>
          </a:xfrm>
          <a:prstGeom prst="roundRect">
            <a:avLst>
              <a:gd name="adj" fmla="val 632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the above information is indicative in nature and does not constitute any form of analysis.</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8048625" y="1736673"/>
            <a:ext cx="3848100" cy="194310"/>
          </a:xfrm>
          <a:prstGeom prst="rect">
            <a:avLst/>
          </a:prstGeom>
          <a:noFill/>
        </p:spPr>
        <p:txBody>
          <a:bodyPr wrap="none" lIns="0" rIns="0" tIns="0" bIns="0">
            <a:spAutoFit/>
          </a:bodyPr>
          <a:lstStyle/>
          <a:p>
            <a:r>
              <a:rPr sz="1150" b="0">
                <a:solidFill>
                  <a:srgbClr val="2E2E2E"/>
                </a:solidFill>
                <a:latin typeface="Calibri"/>
              </a:rPr>
              <a:t>Static cold storage devices segment is expected to command the</a:t>
            </a:r>
          </a:p>
        </p:txBody>
      </p:sp>
      <p:sp>
        <p:nvSpPr>
          <p:cNvPr id="54" name="TextBox 53"/>
          <p:cNvSpPr txBox="1"/>
          <p:nvPr/>
        </p:nvSpPr>
        <p:spPr>
          <a:xfrm>
            <a:off x="8048625" y="1911934"/>
            <a:ext cx="1766899" cy="194310"/>
          </a:xfrm>
          <a:prstGeom prst="rect">
            <a:avLst/>
          </a:prstGeom>
          <a:noFill/>
        </p:spPr>
        <p:txBody>
          <a:bodyPr wrap="none" lIns="0" rIns="0" tIns="0" bIns="0">
            <a:spAutoFit/>
          </a:bodyPr>
          <a:lstStyle/>
          <a:p>
            <a:r>
              <a:rPr sz="1150" b="0">
                <a:solidFill>
                  <a:srgbClr val="2E2E2E"/>
                </a:solidFill>
                <a:latin typeface="Calibri"/>
              </a:rPr>
              <a:t>highest average price of US$</a:t>
            </a:r>
          </a:p>
        </p:txBody>
      </p:sp>
      <p:pic>
        <p:nvPicPr>
          <p:cNvPr id="55" name="Picture 54" descr="lock.png"/>
          <p:cNvPicPr>
            <a:picLocks noChangeAspect="1"/>
          </p:cNvPicPr>
          <p:nvPr/>
        </p:nvPicPr>
        <p:blipFill>
          <a:blip r:embed="rId4"/>
          <a:stretch>
            <a:fillRect/>
          </a:stretch>
        </p:blipFill>
        <p:spPr>
          <a:xfrm>
            <a:off x="9764678" y="1901710"/>
            <a:ext cx="134549" cy="195707"/>
          </a:xfrm>
          <a:prstGeom prst="rect">
            <a:avLst/>
          </a:prstGeom>
        </p:spPr>
      </p:pic>
      <p:sp>
        <p:nvSpPr>
          <p:cNvPr id="56" name="TextBox 55"/>
          <p:cNvSpPr txBox="1"/>
          <p:nvPr/>
        </p:nvSpPr>
        <p:spPr>
          <a:xfrm>
            <a:off x="9939788" y="1911934"/>
            <a:ext cx="1591713" cy="194310"/>
          </a:xfrm>
          <a:prstGeom prst="rect">
            <a:avLst/>
          </a:prstGeom>
          <a:noFill/>
        </p:spPr>
        <p:txBody>
          <a:bodyPr wrap="none" lIns="0" rIns="0" tIns="0" bIns="0">
            <a:spAutoFit/>
          </a:bodyPr>
          <a:lstStyle/>
          <a:p>
            <a:r>
              <a:rPr sz="1150" b="0">
                <a:solidFill>
                  <a:srgbClr val="2E2E2E"/>
                </a:solidFill>
                <a:latin typeface="Calibri"/>
              </a:rPr>
              <a:t>per Unit in 2036. Average</a:t>
            </a:r>
          </a:p>
        </p:txBody>
      </p:sp>
      <p:sp>
        <p:nvSpPr>
          <p:cNvPr id="57" name="TextBox 56"/>
          <p:cNvSpPr txBox="1"/>
          <p:nvPr/>
        </p:nvSpPr>
        <p:spPr>
          <a:xfrm>
            <a:off x="8048625" y="2087194"/>
            <a:ext cx="3552018" cy="194310"/>
          </a:xfrm>
          <a:prstGeom prst="rect">
            <a:avLst/>
          </a:prstGeom>
          <a:noFill/>
        </p:spPr>
        <p:txBody>
          <a:bodyPr wrap="none" lIns="0" rIns="0" tIns="0" bIns="0">
            <a:spAutoFit/>
          </a:bodyPr>
          <a:lstStyle/>
          <a:p>
            <a:r>
              <a:rPr sz="1150" b="0">
                <a:solidFill>
                  <a:srgbClr val="2E2E2E"/>
                </a:solidFill>
                <a:latin typeface="Calibri"/>
              </a:rPr>
              <a:t>selling price of organ transport devices is estimated at US$</a:t>
            </a:r>
          </a:p>
        </p:txBody>
      </p:sp>
      <p:pic>
        <p:nvPicPr>
          <p:cNvPr id="58" name="Picture 57" descr="lock.png"/>
          <p:cNvPicPr>
            <a:picLocks noChangeAspect="1"/>
          </p:cNvPicPr>
          <p:nvPr/>
        </p:nvPicPr>
        <p:blipFill>
          <a:blip r:embed="rId4"/>
          <a:stretch>
            <a:fillRect/>
          </a:stretch>
        </p:blipFill>
        <p:spPr>
          <a:xfrm>
            <a:off x="11549797" y="2076970"/>
            <a:ext cx="134549" cy="195707"/>
          </a:xfrm>
          <a:prstGeom prst="rect">
            <a:avLst/>
          </a:prstGeom>
        </p:spPr>
      </p:pic>
      <p:sp>
        <p:nvSpPr>
          <p:cNvPr id="59" name="TextBox 58"/>
          <p:cNvSpPr txBox="1"/>
          <p:nvPr/>
        </p:nvSpPr>
        <p:spPr>
          <a:xfrm>
            <a:off x="8048625" y="2262454"/>
            <a:ext cx="3138115" cy="194310"/>
          </a:xfrm>
          <a:prstGeom prst="rect">
            <a:avLst/>
          </a:prstGeom>
          <a:noFill/>
        </p:spPr>
        <p:txBody>
          <a:bodyPr wrap="none" lIns="0" rIns="0" tIns="0" bIns="0">
            <a:spAutoFit/>
          </a:bodyPr>
          <a:lstStyle/>
          <a:p>
            <a:r>
              <a:rPr sz="1150" b="0">
                <a:solidFill>
                  <a:srgbClr val="2E2E2E"/>
                </a:solidFill>
                <a:latin typeface="Calibri"/>
              </a:rPr>
              <a:t>per Unit in 2025 and is projected to increase to US$</a:t>
            </a:r>
          </a:p>
        </p:txBody>
      </p:sp>
      <p:pic>
        <p:nvPicPr>
          <p:cNvPr id="60" name="Picture 59" descr="lock.png"/>
          <p:cNvPicPr>
            <a:picLocks noChangeAspect="1"/>
          </p:cNvPicPr>
          <p:nvPr/>
        </p:nvPicPr>
        <p:blipFill>
          <a:blip r:embed="rId4"/>
          <a:stretch>
            <a:fillRect/>
          </a:stretch>
        </p:blipFill>
        <p:spPr>
          <a:xfrm>
            <a:off x="11135894" y="2252230"/>
            <a:ext cx="134549" cy="195707"/>
          </a:xfrm>
          <a:prstGeom prst="rect">
            <a:avLst/>
          </a:prstGeom>
        </p:spPr>
      </p:pic>
      <p:sp>
        <p:nvSpPr>
          <p:cNvPr id="61" name="TextBox 60"/>
          <p:cNvSpPr txBox="1"/>
          <p:nvPr/>
        </p:nvSpPr>
        <p:spPr>
          <a:xfrm>
            <a:off x="11311003" y="2262454"/>
            <a:ext cx="276733" cy="194310"/>
          </a:xfrm>
          <a:prstGeom prst="rect">
            <a:avLst/>
          </a:prstGeom>
          <a:noFill/>
        </p:spPr>
        <p:txBody>
          <a:bodyPr wrap="none" lIns="0" rIns="0" tIns="0" bIns="0">
            <a:spAutoFit/>
          </a:bodyPr>
          <a:lstStyle/>
          <a:p>
            <a:r>
              <a:rPr sz="1150" b="0">
                <a:solidFill>
                  <a:srgbClr val="2E2E2E"/>
                </a:solidFill>
                <a:latin typeface="Calibri"/>
              </a:rPr>
              <a:t>per</a:t>
            </a:r>
          </a:p>
        </p:txBody>
      </p:sp>
      <p:sp>
        <p:nvSpPr>
          <p:cNvPr id="62" name="TextBox 61"/>
          <p:cNvSpPr txBox="1"/>
          <p:nvPr/>
        </p:nvSpPr>
        <p:spPr>
          <a:xfrm>
            <a:off x="8048625" y="2437714"/>
            <a:ext cx="872058" cy="194310"/>
          </a:xfrm>
          <a:prstGeom prst="rect">
            <a:avLst/>
          </a:prstGeom>
          <a:noFill/>
        </p:spPr>
        <p:txBody>
          <a:bodyPr wrap="none" lIns="0" rIns="0" tIns="0" bIns="0">
            <a:spAutoFit/>
          </a:bodyPr>
          <a:lstStyle/>
          <a:p>
            <a:r>
              <a:rPr sz="1150" b="0">
                <a:solidFill>
                  <a:srgbClr val="2E2E2E"/>
                </a:solidFill>
                <a:latin typeface="Calibri"/>
              </a:rPr>
              <a:t>Unit by 2036.</a:t>
            </a:r>
          </a:p>
        </p:txBody>
      </p:sp>
      <p:sp>
        <p:nvSpPr>
          <p:cNvPr id="63" name="TextBox 62"/>
          <p:cNvSpPr txBox="1"/>
          <p:nvPr/>
        </p:nvSpPr>
        <p:spPr>
          <a:xfrm>
            <a:off x="8048625" y="2665551"/>
            <a:ext cx="3783074" cy="194310"/>
          </a:xfrm>
          <a:prstGeom prst="rect">
            <a:avLst/>
          </a:prstGeom>
          <a:noFill/>
        </p:spPr>
        <p:txBody>
          <a:bodyPr wrap="none" lIns="0" rIns="0" tIns="0" bIns="0">
            <a:spAutoFit/>
          </a:bodyPr>
          <a:lstStyle/>
          <a:p>
            <a:r>
              <a:rPr sz="1150" b="0">
                <a:solidFill>
                  <a:srgbClr val="2E2E2E"/>
                </a:solidFill>
                <a:latin typeface="Calibri"/>
              </a:rPr>
              <a:t>North America is the highest-priced region, while South Asia &amp;</a:t>
            </a:r>
          </a:p>
        </p:txBody>
      </p:sp>
      <p:sp>
        <p:nvSpPr>
          <p:cNvPr id="64" name="TextBox 63"/>
          <p:cNvSpPr txBox="1"/>
          <p:nvPr/>
        </p:nvSpPr>
        <p:spPr>
          <a:xfrm>
            <a:off x="8048625" y="2840811"/>
            <a:ext cx="3787353" cy="194310"/>
          </a:xfrm>
          <a:prstGeom prst="rect">
            <a:avLst/>
          </a:prstGeom>
          <a:noFill/>
        </p:spPr>
        <p:txBody>
          <a:bodyPr wrap="none" lIns="0" rIns="0" tIns="0" bIns="0">
            <a:spAutoFit/>
          </a:bodyPr>
          <a:lstStyle/>
          <a:p>
            <a:r>
              <a:rPr sz="1150" b="0">
                <a:solidFill>
                  <a:srgbClr val="2E2E2E"/>
                </a:solidFill>
                <a:latin typeface="Calibri"/>
              </a:rPr>
              <a:t>Pacific is the most price-competitive market. The orange dot is</a:t>
            </a:r>
          </a:p>
        </p:txBody>
      </p:sp>
      <p:sp>
        <p:nvSpPr>
          <p:cNvPr id="65" name="TextBox 64"/>
          <p:cNvSpPr txBox="1"/>
          <p:nvPr/>
        </p:nvSpPr>
        <p:spPr>
          <a:xfrm>
            <a:off x="8048625" y="3016071"/>
            <a:ext cx="3517503" cy="194310"/>
          </a:xfrm>
          <a:prstGeom prst="rect">
            <a:avLst/>
          </a:prstGeom>
          <a:noFill/>
        </p:spPr>
        <p:txBody>
          <a:bodyPr wrap="none" lIns="0" rIns="0" tIns="0" bIns="0">
            <a:spAutoFit/>
          </a:bodyPr>
          <a:lstStyle/>
          <a:p>
            <a:r>
              <a:rPr sz="1150" b="0">
                <a:solidFill>
                  <a:srgbClr val="2E2E2E"/>
                </a:solidFill>
                <a:latin typeface="Calibri"/>
              </a:rPr>
              <a:t>each region's average selling price; the blue band is its full</a:t>
            </a:r>
          </a:p>
        </p:txBody>
      </p:sp>
      <p:sp>
        <p:nvSpPr>
          <p:cNvPr id="66" name="TextBox 65"/>
          <p:cNvSpPr txBox="1"/>
          <p:nvPr/>
        </p:nvSpPr>
        <p:spPr>
          <a:xfrm>
            <a:off x="8048625" y="3191331"/>
            <a:ext cx="3318395" cy="194310"/>
          </a:xfrm>
          <a:prstGeom prst="rect">
            <a:avLst/>
          </a:prstGeom>
          <a:noFill/>
        </p:spPr>
        <p:txBody>
          <a:bodyPr wrap="none" lIns="0" rIns="0" tIns="0" bIns="0">
            <a:spAutoFit/>
          </a:bodyPr>
          <a:lstStyle/>
          <a:p>
            <a:r>
              <a:rPr sz="1150" b="0">
                <a:solidFill>
                  <a:srgbClr val="2E2E2E"/>
                </a:solidFill>
                <a:latin typeface="Calibri"/>
              </a:rPr>
              <a:t>low-to-high price range, all derived as Value ÷ Volume.</a:t>
            </a:r>
          </a:p>
        </p:txBody>
      </p:sp>
      <p:sp>
        <p:nvSpPr>
          <p:cNvPr id="67" name="TextBox 66"/>
          <p:cNvSpPr txBox="1"/>
          <p:nvPr/>
        </p:nvSpPr>
        <p:spPr>
          <a:xfrm>
            <a:off x="8048625" y="3419169"/>
            <a:ext cx="3691793" cy="194310"/>
          </a:xfrm>
          <a:prstGeom prst="rect">
            <a:avLst/>
          </a:prstGeom>
          <a:noFill/>
        </p:spPr>
        <p:txBody>
          <a:bodyPr wrap="none" lIns="0" rIns="0" tIns="0" bIns="0">
            <a:spAutoFit/>
          </a:bodyPr>
          <a:lstStyle/>
          <a:p>
            <a:r>
              <a:rPr sz="1150" b="0">
                <a:solidFill>
                  <a:srgbClr val="2E2E2E"/>
                </a:solidFill>
                <a:latin typeface="Calibri"/>
              </a:rPr>
              <a:t>Narrow bands point to commoditised, price-led competition;</a:t>
            </a:r>
          </a:p>
        </p:txBody>
      </p:sp>
      <p:sp>
        <p:nvSpPr>
          <p:cNvPr id="68" name="TextBox 67"/>
          <p:cNvSpPr txBox="1"/>
          <p:nvPr/>
        </p:nvSpPr>
        <p:spPr>
          <a:xfrm>
            <a:off x="8048625" y="3594429"/>
            <a:ext cx="3812170" cy="194310"/>
          </a:xfrm>
          <a:prstGeom prst="rect">
            <a:avLst/>
          </a:prstGeom>
          <a:noFill/>
        </p:spPr>
        <p:txBody>
          <a:bodyPr wrap="none" lIns="0" rIns="0" tIns="0" bIns="0">
            <a:spAutoFit/>
          </a:bodyPr>
          <a:lstStyle/>
          <a:p>
            <a:r>
              <a:rPr sz="1150" b="0">
                <a:solidFill>
                  <a:srgbClr val="2E2E2E"/>
                </a:solidFill>
                <a:latin typeface="Calibri"/>
              </a:rPr>
              <a:t>wider bands flag premiumisation headroom to trade buyers up</a:t>
            </a:r>
          </a:p>
        </p:txBody>
      </p:sp>
      <p:sp>
        <p:nvSpPr>
          <p:cNvPr id="69" name="TextBox 68"/>
          <p:cNvSpPr txBox="1"/>
          <p:nvPr/>
        </p:nvSpPr>
        <p:spPr>
          <a:xfrm>
            <a:off x="8048625" y="3769689"/>
            <a:ext cx="558279" cy="194310"/>
          </a:xfrm>
          <a:prstGeom prst="rect">
            <a:avLst/>
          </a:prstGeom>
          <a:noFill/>
        </p:spPr>
        <p:txBody>
          <a:bodyPr wrap="none" lIns="0" rIns="0" tIns="0" bIns="0">
            <a:spAutoFit/>
          </a:bodyPr>
          <a:lstStyle/>
          <a:p>
            <a:r>
              <a:rPr sz="1150" b="0">
                <a:solidFill>
                  <a:srgbClr val="2E2E2E"/>
                </a:solidFill>
                <a:latin typeface="Calibri"/>
              </a:rPr>
              <a:t>the mix.</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Key Pricing Drivers Influencing Organ Transport Devices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input costs, market conditions and competitive forces shaping pricing strategies and profitability</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Analysis of input costs, market conditions, and competitive forces shaping pricing strategies and profitability across the value chain</a:t>
            </a:r>
          </a:p>
        </p:txBody>
      </p:sp>
      <p:sp>
        <p:nvSpPr>
          <p:cNvPr id="11" name="Rounded Rectangle 10"/>
          <p:cNvSpPr/>
          <p:nvPr/>
        </p:nvSpPr>
        <p:spPr>
          <a:xfrm>
            <a:off x="142875" y="1354081"/>
            <a:ext cx="702945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6838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3" name="Freeform 12"/>
          <p:cNvSpPr/>
          <p:nvPr/>
        </p:nvSpPr>
        <p:spPr>
          <a:xfrm>
            <a:off x="3295650" y="3705225"/>
            <a:ext cx="723900" cy="752475"/>
          </a:xfrm>
          <a:custGeom>
            <a:avLst/>
            <a:gdLst/>
            <a:ahLst/>
            <a:cxnLst/>
            <a:rect l="l" t="t" r="r" b="b"/>
            <a:pathLst>
              <a:path w="76" h="79">
                <a:moveTo>
                  <a:pt x="38" y="0"/>
                </a:moveTo>
                <a:lnTo>
                  <a:pt x="61" y="7"/>
                </a:lnTo>
                <a:lnTo>
                  <a:pt x="76" y="27"/>
                </a:lnTo>
                <a:lnTo>
                  <a:pt x="76" y="51"/>
                </a:lnTo>
                <a:lnTo>
                  <a:pt x="61" y="71"/>
                </a:lnTo>
                <a:lnTo>
                  <a:pt x="38" y="79"/>
                </a:lnTo>
                <a:lnTo>
                  <a:pt x="15" y="71"/>
                </a:lnTo>
                <a:lnTo>
                  <a:pt x="0" y="51"/>
                </a:lnTo>
                <a:lnTo>
                  <a:pt x="0" y="27"/>
                </a:lnTo>
                <a:lnTo>
                  <a:pt x="15" y="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2943225" y="3324225"/>
            <a:ext cx="1428750" cy="1504950"/>
          </a:xfrm>
          <a:custGeom>
            <a:avLst/>
            <a:gdLst/>
            <a:ahLst/>
            <a:cxnLst/>
            <a:rect l="l" t="t" r="r" b="b"/>
            <a:pathLst>
              <a:path w="150" h="158">
                <a:moveTo>
                  <a:pt x="75" y="0"/>
                </a:moveTo>
                <a:lnTo>
                  <a:pt x="122" y="15"/>
                </a:lnTo>
                <a:lnTo>
                  <a:pt x="150" y="55"/>
                </a:lnTo>
                <a:lnTo>
                  <a:pt x="150" y="104"/>
                </a:lnTo>
                <a:lnTo>
                  <a:pt x="122" y="143"/>
                </a:lnTo>
                <a:lnTo>
                  <a:pt x="75" y="158"/>
                </a:lnTo>
                <a:lnTo>
                  <a:pt x="28" y="143"/>
                </a:lnTo>
                <a:lnTo>
                  <a:pt x="0" y="104"/>
                </a:lnTo>
                <a:lnTo>
                  <a:pt x="0" y="55"/>
                </a:lnTo>
                <a:lnTo>
                  <a:pt x="28" y="15"/>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581275" y="2943225"/>
            <a:ext cx="2152650" cy="2266950"/>
          </a:xfrm>
          <a:custGeom>
            <a:avLst/>
            <a:gdLst/>
            <a:ahLst/>
            <a:cxnLst/>
            <a:rect l="l" t="t" r="r" b="b"/>
            <a:pathLst>
              <a:path w="226" h="238">
                <a:moveTo>
                  <a:pt x="113" y="0"/>
                </a:moveTo>
                <a:lnTo>
                  <a:pt x="183" y="23"/>
                </a:lnTo>
                <a:lnTo>
                  <a:pt x="226" y="82"/>
                </a:lnTo>
                <a:lnTo>
                  <a:pt x="226" y="156"/>
                </a:lnTo>
                <a:lnTo>
                  <a:pt x="183" y="215"/>
                </a:lnTo>
                <a:lnTo>
                  <a:pt x="113" y="238"/>
                </a:lnTo>
                <a:lnTo>
                  <a:pt x="43" y="215"/>
                </a:lnTo>
                <a:lnTo>
                  <a:pt x="0" y="156"/>
                </a:lnTo>
                <a:lnTo>
                  <a:pt x="0" y="82"/>
                </a:lnTo>
                <a:lnTo>
                  <a:pt x="43" y="2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219325" y="2571750"/>
            <a:ext cx="2876550" cy="3019425"/>
          </a:xfrm>
          <a:custGeom>
            <a:avLst/>
            <a:gdLst/>
            <a:ahLst/>
            <a:cxnLst/>
            <a:rect l="l" t="t" r="r" b="b"/>
            <a:pathLst>
              <a:path w="302" h="317">
                <a:moveTo>
                  <a:pt x="151" y="0"/>
                </a:moveTo>
                <a:lnTo>
                  <a:pt x="244" y="30"/>
                </a:lnTo>
                <a:lnTo>
                  <a:pt x="302" y="109"/>
                </a:lnTo>
                <a:lnTo>
                  <a:pt x="302" y="207"/>
                </a:lnTo>
                <a:lnTo>
                  <a:pt x="244" y="286"/>
                </a:lnTo>
                <a:lnTo>
                  <a:pt x="151" y="317"/>
                </a:lnTo>
                <a:lnTo>
                  <a:pt x="58" y="286"/>
                </a:lnTo>
                <a:lnTo>
                  <a:pt x="0" y="207"/>
                </a:lnTo>
                <a:lnTo>
                  <a:pt x="0" y="109"/>
                </a:lnTo>
                <a:lnTo>
                  <a:pt x="58" y="3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866900" y="2190750"/>
            <a:ext cx="3581400" cy="3771900"/>
          </a:xfrm>
          <a:custGeom>
            <a:avLst/>
            <a:gdLst/>
            <a:ahLst/>
            <a:cxnLst/>
            <a:rect l="l" t="t" r="r" b="b"/>
            <a:pathLst>
              <a:path w="376" h="396">
                <a:moveTo>
                  <a:pt x="188" y="0"/>
                </a:moveTo>
                <a:lnTo>
                  <a:pt x="304" y="38"/>
                </a:lnTo>
                <a:lnTo>
                  <a:pt x="376" y="137"/>
                </a:lnTo>
                <a:lnTo>
                  <a:pt x="376" y="259"/>
                </a:lnTo>
                <a:lnTo>
                  <a:pt x="304" y="358"/>
                </a:lnTo>
                <a:lnTo>
                  <a:pt x="188" y="396"/>
                </a:lnTo>
                <a:lnTo>
                  <a:pt x="72" y="358"/>
                </a:lnTo>
                <a:lnTo>
                  <a:pt x="0" y="259"/>
                </a:lnTo>
                <a:lnTo>
                  <a:pt x="0" y="137"/>
                </a:lnTo>
                <a:lnTo>
                  <a:pt x="72" y="3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3657600" y="2192281"/>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57600"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657600"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57600"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657600"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57600" y="4078660"/>
            <a:ext cx="0" cy="188637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548814" y="4078660"/>
            <a:ext cx="1108786" cy="152611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863547" y="4078660"/>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63547" y="3495737"/>
            <a:ext cx="1794053" cy="582923"/>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48814" y="2552548"/>
            <a:ext cx="1108786" cy="1526112"/>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95550" y="2381250"/>
            <a:ext cx="2505075" cy="3209925"/>
          </a:xfrm>
          <a:custGeom>
            <a:avLst/>
            <a:gdLst/>
            <a:ahLst/>
            <a:cxnLst/>
            <a:rect l="l" t="t" r="r" b="b"/>
            <a:pathLst>
              <a:path w="263" h="337">
                <a:moveTo>
                  <a:pt x="122" y="0"/>
                </a:moveTo>
                <a:lnTo>
                  <a:pt x="203" y="66"/>
                </a:lnTo>
                <a:lnTo>
                  <a:pt x="244" y="138"/>
                </a:lnTo>
                <a:lnTo>
                  <a:pt x="263" y="224"/>
                </a:lnTo>
                <a:lnTo>
                  <a:pt x="221" y="314"/>
                </a:lnTo>
                <a:lnTo>
                  <a:pt x="122" y="337"/>
                </a:lnTo>
                <a:lnTo>
                  <a:pt x="52" y="274"/>
                </a:lnTo>
                <a:lnTo>
                  <a:pt x="18" y="212"/>
                </a:lnTo>
                <a:lnTo>
                  <a:pt x="0" y="138"/>
                </a:lnTo>
                <a:lnTo>
                  <a:pt x="70" y="106"/>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624262" y="234758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00412" y="297704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790397"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969802" y="448251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66730" y="534251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24262" y="555442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58991" y="496099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37533" y="436593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458128" y="366642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125309" y="335857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86175" y="3634709"/>
            <a:ext cx="285750" cy="123825"/>
          </a:xfrm>
          <a:prstGeom prst="rect">
            <a:avLst/>
          </a:prstGeom>
          <a:noFill/>
        </p:spPr>
        <p:txBody>
          <a:bodyPr wrap="none" lIns="0" rIns="0" tIns="0" bIns="0" anchor="ctr">
            <a:spAutoFit/>
          </a:bodyPr>
          <a:lstStyle/>
          <a:p>
            <a:pPr algn="l"/>
            <a:r>
              <a:rPr sz="1100" b="0">
                <a:solidFill>
                  <a:srgbClr val="6C7A89"/>
                </a:solidFill>
                <a:latin typeface="Calibri"/>
              </a:rPr>
              <a:t>2</a:t>
            </a:r>
          </a:p>
        </p:txBody>
      </p:sp>
      <p:sp>
        <p:nvSpPr>
          <p:cNvPr id="40" name="TextBox 39"/>
          <p:cNvSpPr txBox="1"/>
          <p:nvPr/>
        </p:nvSpPr>
        <p:spPr>
          <a:xfrm>
            <a:off x="3686175" y="3257434"/>
            <a:ext cx="285750" cy="123825"/>
          </a:xfrm>
          <a:prstGeom prst="rect">
            <a:avLst/>
          </a:prstGeom>
          <a:noFill/>
        </p:spPr>
        <p:txBody>
          <a:bodyPr wrap="none" lIns="0" rIns="0" tIns="0" bIns="0" anchor="ctr">
            <a:spAutoFit/>
          </a:bodyPr>
          <a:lstStyle/>
          <a:p>
            <a:pPr algn="l"/>
            <a:r>
              <a:rPr sz="1100" b="0">
                <a:solidFill>
                  <a:srgbClr val="6C7A89"/>
                </a:solidFill>
                <a:latin typeface="Calibri"/>
              </a:rPr>
              <a:t>4</a:t>
            </a:r>
          </a:p>
        </p:txBody>
      </p:sp>
      <p:sp>
        <p:nvSpPr>
          <p:cNvPr id="41" name="TextBox 40"/>
          <p:cNvSpPr txBox="1"/>
          <p:nvPr/>
        </p:nvSpPr>
        <p:spPr>
          <a:xfrm>
            <a:off x="3686175" y="2880158"/>
            <a:ext cx="285750" cy="123825"/>
          </a:xfrm>
          <a:prstGeom prst="rect">
            <a:avLst/>
          </a:prstGeom>
          <a:noFill/>
        </p:spPr>
        <p:txBody>
          <a:bodyPr wrap="none" lIns="0" rIns="0" tIns="0" bIns="0" anchor="ctr">
            <a:spAutoFit/>
          </a:bodyPr>
          <a:lstStyle/>
          <a:p>
            <a:pPr algn="l"/>
            <a:r>
              <a:rPr sz="1100" b="0">
                <a:solidFill>
                  <a:srgbClr val="6C7A89"/>
                </a:solidFill>
                <a:latin typeface="Calibri"/>
              </a:rPr>
              <a:t>6</a:t>
            </a:r>
          </a:p>
        </p:txBody>
      </p:sp>
      <p:sp>
        <p:nvSpPr>
          <p:cNvPr id="42" name="TextBox 41"/>
          <p:cNvSpPr txBox="1"/>
          <p:nvPr/>
        </p:nvSpPr>
        <p:spPr>
          <a:xfrm>
            <a:off x="3686175" y="2502882"/>
            <a:ext cx="285750" cy="123825"/>
          </a:xfrm>
          <a:prstGeom prst="rect">
            <a:avLst/>
          </a:prstGeom>
          <a:noFill/>
        </p:spPr>
        <p:txBody>
          <a:bodyPr wrap="none" lIns="0" rIns="0" tIns="0" bIns="0" anchor="ctr">
            <a:spAutoFit/>
          </a:bodyPr>
          <a:lstStyle/>
          <a:p>
            <a:pPr algn="l"/>
            <a:r>
              <a:rPr sz="1100" b="0">
                <a:solidFill>
                  <a:srgbClr val="6C7A89"/>
                </a:solidFill>
                <a:latin typeface="Calibri"/>
              </a:rPr>
              <a:t>8</a:t>
            </a:r>
          </a:p>
        </p:txBody>
      </p:sp>
      <p:sp>
        <p:nvSpPr>
          <p:cNvPr id="43" name="TextBox 42"/>
          <p:cNvSpPr txBox="1"/>
          <p:nvPr/>
        </p:nvSpPr>
        <p:spPr>
          <a:xfrm>
            <a:off x="3686175" y="2125606"/>
            <a:ext cx="285750" cy="123825"/>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4" name="TextBox 43"/>
          <p:cNvSpPr txBox="1"/>
          <p:nvPr/>
        </p:nvSpPr>
        <p:spPr>
          <a:xfrm>
            <a:off x="3000375" y="1839856"/>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5" name="TextBox 44"/>
          <p:cNvSpPr txBox="1"/>
          <p:nvPr/>
        </p:nvSpPr>
        <p:spPr>
          <a:xfrm>
            <a:off x="4232331"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6" name="TextBox 45"/>
          <p:cNvSpPr txBox="1"/>
          <p:nvPr/>
        </p:nvSpPr>
        <p:spPr>
          <a:xfrm>
            <a:off x="4993722"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7" name="TextBox 46"/>
          <p:cNvSpPr txBox="1"/>
          <p:nvPr/>
        </p:nvSpPr>
        <p:spPr>
          <a:xfrm>
            <a:off x="4993722"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8" name="TextBox 47"/>
          <p:cNvSpPr txBox="1"/>
          <p:nvPr/>
        </p:nvSpPr>
        <p:spPr>
          <a:xfrm>
            <a:off x="4232331"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49" name="TextBox 48"/>
          <p:cNvSpPr txBox="1"/>
          <p:nvPr/>
        </p:nvSpPr>
        <p:spPr>
          <a:xfrm>
            <a:off x="3000375" y="6031714"/>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0" name="TextBox 49"/>
          <p:cNvSpPr txBox="1"/>
          <p:nvPr/>
        </p:nvSpPr>
        <p:spPr>
          <a:xfrm>
            <a:off x="1768419" y="5631427"/>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1" name="TextBox 50"/>
          <p:cNvSpPr txBox="1"/>
          <p:nvPr/>
        </p:nvSpPr>
        <p:spPr>
          <a:xfrm>
            <a:off x="1007028" y="458346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2" name="TextBox 51"/>
          <p:cNvSpPr txBox="1"/>
          <p:nvPr/>
        </p:nvSpPr>
        <p:spPr>
          <a:xfrm>
            <a:off x="1007028" y="3288108"/>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3" name="TextBox 52"/>
          <p:cNvSpPr txBox="1"/>
          <p:nvPr/>
        </p:nvSpPr>
        <p:spPr>
          <a:xfrm>
            <a:off x="1768419" y="2240143"/>
            <a:ext cx="1314450" cy="285750"/>
          </a:xfrm>
          <a:prstGeom prst="rect">
            <a:avLst/>
          </a:prstGeom>
          <a:noFill/>
        </p:spPr>
        <p:txBody>
          <a:bodyPr wrap="square" lIns="28575" rIns="28575" tIns="9525" bIns="9525" anchor="ctr">
            <a:spAutoFit/>
          </a:bodyPr>
          <a:lstStyle/>
          <a:p>
            <a:pPr algn="ctr"/>
            <a:r>
              <a:rPr sz="1100" b="0">
                <a:solidFill>
                  <a:srgbClr val="2E2E2E"/>
                </a:solidFill>
                <a:latin typeface="Calibri"/>
              </a:rPr>
              <a:t/>
            </a:r>
          </a:p>
        </p:txBody>
      </p:sp>
      <p:sp>
        <p:nvSpPr>
          <p:cNvPr id="54" name="Rounded Rectangle 53"/>
          <p:cNvSpPr/>
          <p:nvPr/>
        </p:nvSpPr>
        <p:spPr>
          <a:xfrm>
            <a:off x="7248525" y="1354081"/>
            <a:ext cx="4800600" cy="3479443"/>
          </a:xfrm>
          <a:prstGeom prst="roundRect">
            <a:avLst>
              <a:gd name="adj" fmla="val 219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81875" y="1439806"/>
            <a:ext cx="453390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6" name="Rectangle 55"/>
          <p:cNvSpPr/>
          <p:nvPr/>
        </p:nvSpPr>
        <p:spPr>
          <a:xfrm>
            <a:off x="7381875" y="1677931"/>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81875" y="1763656"/>
            <a:ext cx="4533900" cy="2993668"/>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Pricing across the Organ Transport Devices Market is shaped by a mix of input costs, operational efficiency and market dynamics with raw-material and input costs carrying the single heaviest weight on selling prices today.</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Demand strength, competitive intensity and supply-chain reliability together define the ceiling on pricing power across the Organ Transport Devices Market.</a:t>
            </a:r>
          </a:p>
          <a:p>
            <a:pPr algn="l">
              <a:lnSpc>
                <a:spcPct val="100000"/>
              </a:lnSpc>
              <a:spcBef>
                <a:spcPts val="0"/>
              </a:spcBef>
              <a:spcAft>
                <a:spcPts val="300"/>
              </a:spcAft>
            </a:pPr>
            <a:r>
              <a:rPr sz="1100" b="0">
                <a:solidFill>
                  <a:srgbClr val="0E72AE"/>
                </a:solidFill>
                <a:latin typeface="Calibri"/>
              </a:rPr>
              <a:t>▪  </a:t>
            </a:r>
            <a:r>
              <a:rPr sz="110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58" name="Rounded Rectangle 57"/>
          <p:cNvSpPr/>
          <p:nvPr/>
        </p:nvSpPr>
        <p:spPr>
          <a:xfrm>
            <a:off x="7248525" y="4943046"/>
            <a:ext cx="4800600" cy="1686354"/>
          </a:xfrm>
          <a:prstGeom prst="roundRect">
            <a:avLst>
              <a:gd name="adj" fmla="val 45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81875" y="5028771"/>
            <a:ext cx="453390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0" name="Rectangle 59"/>
          <p:cNvSpPr/>
          <p:nvPr/>
        </p:nvSpPr>
        <p:spPr>
          <a:xfrm>
            <a:off x="7381875" y="5266896"/>
            <a:ext cx="45339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81875" y="5352621"/>
            <a:ext cx="4533900" cy="1200579"/>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288771" y="1898910"/>
            <a:ext cx="659829" cy="186689"/>
          </a:xfrm>
          <a:prstGeom prst="rect">
            <a:avLst/>
          </a:prstGeom>
          <a:noFill/>
        </p:spPr>
        <p:txBody>
          <a:bodyPr wrap="none" lIns="0" rIns="0" tIns="0" bIns="0">
            <a:spAutoFit/>
          </a:bodyPr>
          <a:lstStyle/>
          <a:p>
            <a:r>
              <a:rPr sz="1100" b="0">
                <a:solidFill>
                  <a:srgbClr val="2E2E2E"/>
                </a:solidFill>
                <a:latin typeface="Calibri"/>
              </a:rPr>
              <a:t>Input Cost</a:t>
            </a:r>
          </a:p>
        </p:txBody>
      </p:sp>
      <p:pic>
        <p:nvPicPr>
          <p:cNvPr id="64" name="Picture 63" descr="lock.png"/>
          <p:cNvPicPr>
            <a:picLocks noChangeAspect="1"/>
          </p:cNvPicPr>
          <p:nvPr/>
        </p:nvPicPr>
        <p:blipFill>
          <a:blip r:embed="rId4"/>
          <a:stretch>
            <a:fillRect/>
          </a:stretch>
        </p:blipFill>
        <p:spPr>
          <a:xfrm>
            <a:off x="3896652" y="1889132"/>
            <a:ext cx="128699" cy="187198"/>
          </a:xfrm>
          <a:prstGeom prst="rect">
            <a:avLst/>
          </a:prstGeom>
        </p:spPr>
      </p:pic>
      <p:sp>
        <p:nvSpPr>
          <p:cNvPr id="65" name="TextBox 64"/>
          <p:cNvSpPr txBox="1"/>
          <p:nvPr/>
        </p:nvSpPr>
        <p:spPr>
          <a:xfrm>
            <a:off x="4314683" y="2322667"/>
            <a:ext cx="1115044" cy="139750"/>
          </a:xfrm>
          <a:prstGeom prst="rect">
            <a:avLst/>
          </a:prstGeom>
          <a:noFill/>
        </p:spPr>
        <p:txBody>
          <a:bodyPr wrap="none" lIns="0" rIns="0" tIns="0" bIns="0">
            <a:spAutoFit/>
          </a:bodyPr>
          <a:lstStyle/>
          <a:p>
            <a:r>
              <a:rPr sz="791" b="0">
                <a:solidFill>
                  <a:srgbClr val="2E2E2E"/>
                </a:solidFill>
                <a:latin typeface="Calibri"/>
              </a:rPr>
              <a:t>Labor &amp; Production Costs</a:t>
            </a:r>
          </a:p>
        </p:txBody>
      </p:sp>
      <p:pic>
        <p:nvPicPr>
          <p:cNvPr id="66" name="Picture 65" descr="lock.png"/>
          <p:cNvPicPr>
            <a:picLocks noChangeAspect="1"/>
          </p:cNvPicPr>
          <p:nvPr/>
        </p:nvPicPr>
        <p:blipFill>
          <a:blip r:embed="rId4"/>
          <a:stretch>
            <a:fillRect/>
          </a:stretch>
        </p:blipFill>
        <p:spPr>
          <a:xfrm>
            <a:off x="5370988" y="2315626"/>
            <a:ext cx="92663" cy="134782"/>
          </a:xfrm>
          <a:prstGeom prst="rect">
            <a:avLst/>
          </a:prstGeom>
        </p:spPr>
      </p:pic>
      <p:sp>
        <p:nvSpPr>
          <p:cNvPr id="67" name="TextBox 66"/>
          <p:cNvSpPr txBox="1"/>
          <p:nvPr/>
        </p:nvSpPr>
        <p:spPr>
          <a:xfrm>
            <a:off x="5083343" y="3370632"/>
            <a:ext cx="1100506" cy="139750"/>
          </a:xfrm>
          <a:prstGeom prst="rect">
            <a:avLst/>
          </a:prstGeom>
          <a:noFill/>
        </p:spPr>
        <p:txBody>
          <a:bodyPr wrap="none" lIns="0" rIns="0" tIns="0" bIns="0">
            <a:spAutoFit/>
          </a:bodyPr>
          <a:lstStyle/>
          <a:p>
            <a:r>
              <a:rPr sz="791" b="0">
                <a:solidFill>
                  <a:srgbClr val="2E2E2E"/>
                </a:solidFill>
                <a:latin typeface="Calibri"/>
              </a:rPr>
              <a:t>Technology &amp; Innovation</a:t>
            </a:r>
          </a:p>
        </p:txBody>
      </p:sp>
      <p:pic>
        <p:nvPicPr>
          <p:cNvPr id="68" name="Picture 67" descr="lock.png"/>
          <p:cNvPicPr>
            <a:picLocks noChangeAspect="1"/>
          </p:cNvPicPr>
          <p:nvPr/>
        </p:nvPicPr>
        <p:blipFill>
          <a:blip r:embed="rId4"/>
          <a:stretch>
            <a:fillRect/>
          </a:stretch>
        </p:blipFill>
        <p:spPr>
          <a:xfrm>
            <a:off x="6125111" y="3363591"/>
            <a:ext cx="92663" cy="134782"/>
          </a:xfrm>
          <a:prstGeom prst="rect">
            <a:avLst/>
          </a:prstGeom>
        </p:spPr>
      </p:pic>
      <p:sp>
        <p:nvSpPr>
          <p:cNvPr id="69" name="TextBox 68"/>
          <p:cNvSpPr txBox="1"/>
          <p:nvPr/>
        </p:nvSpPr>
        <p:spPr>
          <a:xfrm>
            <a:off x="5072546" y="4662634"/>
            <a:ext cx="1115939" cy="146456"/>
          </a:xfrm>
          <a:prstGeom prst="rect">
            <a:avLst/>
          </a:prstGeom>
          <a:noFill/>
        </p:spPr>
        <p:txBody>
          <a:bodyPr wrap="none" lIns="0" rIns="0" tIns="0" bIns="0">
            <a:spAutoFit/>
          </a:bodyPr>
          <a:lstStyle/>
          <a:p>
            <a:r>
              <a:rPr sz="835" b="0">
                <a:solidFill>
                  <a:srgbClr val="2E2E2E"/>
                </a:solidFill>
                <a:latin typeface="Calibri"/>
              </a:rPr>
              <a:t>Supply Chain &amp; Logistics</a:t>
            </a:r>
          </a:p>
        </p:txBody>
      </p:sp>
      <p:pic>
        <p:nvPicPr>
          <p:cNvPr id="70" name="Picture 69" descr="lock.png"/>
          <p:cNvPicPr>
            <a:picLocks noChangeAspect="1"/>
          </p:cNvPicPr>
          <p:nvPr/>
        </p:nvPicPr>
        <p:blipFill>
          <a:blip r:embed="rId4"/>
          <a:stretch>
            <a:fillRect/>
          </a:stretch>
        </p:blipFill>
        <p:spPr>
          <a:xfrm>
            <a:off x="6130716" y="4655202"/>
            <a:ext cx="97811" cy="142270"/>
          </a:xfrm>
          <a:prstGeom prst="rect">
            <a:avLst/>
          </a:prstGeom>
        </p:spPr>
      </p:pic>
      <p:sp>
        <p:nvSpPr>
          <p:cNvPr id="71" name="TextBox 70"/>
          <p:cNvSpPr txBox="1"/>
          <p:nvPr/>
        </p:nvSpPr>
        <p:spPr>
          <a:xfrm>
            <a:off x="4279667" y="5653601"/>
            <a:ext cx="1238538" cy="139750"/>
          </a:xfrm>
          <a:prstGeom prst="rect">
            <a:avLst/>
          </a:prstGeom>
          <a:noFill/>
        </p:spPr>
        <p:txBody>
          <a:bodyPr wrap="none" lIns="0" rIns="0" tIns="0" bIns="0">
            <a:spAutoFit/>
          </a:bodyPr>
          <a:lstStyle/>
          <a:p>
            <a:r>
              <a:rPr sz="791" b="0">
                <a:solidFill>
                  <a:srgbClr val="2E2E2E"/>
                </a:solidFill>
                <a:latin typeface="Calibri"/>
              </a:rPr>
              <a:t>Demand &amp; Market Conditions</a:t>
            </a:r>
          </a:p>
        </p:txBody>
      </p:sp>
      <p:pic>
        <p:nvPicPr>
          <p:cNvPr id="72" name="Picture 71" descr="lock.png"/>
          <p:cNvPicPr>
            <a:picLocks noChangeAspect="1"/>
          </p:cNvPicPr>
          <p:nvPr/>
        </p:nvPicPr>
        <p:blipFill>
          <a:blip r:embed="rId4"/>
          <a:stretch>
            <a:fillRect/>
          </a:stretch>
        </p:blipFill>
        <p:spPr>
          <a:xfrm>
            <a:off x="4837988" y="5767261"/>
            <a:ext cx="92663" cy="134782"/>
          </a:xfrm>
          <a:prstGeom prst="rect">
            <a:avLst/>
          </a:prstGeom>
        </p:spPr>
      </p:pic>
      <p:sp>
        <p:nvSpPr>
          <p:cNvPr id="73" name="TextBox 72"/>
          <p:cNvSpPr txBox="1"/>
          <p:nvPr/>
        </p:nvSpPr>
        <p:spPr>
          <a:xfrm>
            <a:off x="3097033" y="6110885"/>
            <a:ext cx="1080271" cy="146456"/>
          </a:xfrm>
          <a:prstGeom prst="rect">
            <a:avLst/>
          </a:prstGeom>
          <a:noFill/>
        </p:spPr>
        <p:txBody>
          <a:bodyPr wrap="none" lIns="0" rIns="0" tIns="0" bIns="0">
            <a:spAutoFit/>
          </a:bodyPr>
          <a:lstStyle/>
          <a:p>
            <a:r>
              <a:rPr sz="835" b="0">
                <a:solidFill>
                  <a:srgbClr val="2E2E2E"/>
                </a:solidFill>
                <a:latin typeface="Calibri"/>
              </a:rPr>
              <a:t>Competitive Landscape</a:t>
            </a:r>
          </a:p>
        </p:txBody>
      </p:sp>
      <p:pic>
        <p:nvPicPr>
          <p:cNvPr id="74" name="Picture 73" descr="lock.png"/>
          <p:cNvPicPr>
            <a:picLocks noChangeAspect="1"/>
          </p:cNvPicPr>
          <p:nvPr/>
        </p:nvPicPr>
        <p:blipFill>
          <a:blip r:embed="rId4"/>
          <a:stretch>
            <a:fillRect/>
          </a:stretch>
        </p:blipFill>
        <p:spPr>
          <a:xfrm>
            <a:off x="4119536" y="6103453"/>
            <a:ext cx="97811" cy="142270"/>
          </a:xfrm>
          <a:prstGeom prst="rect">
            <a:avLst/>
          </a:prstGeom>
        </p:spPr>
      </p:pic>
      <p:sp>
        <p:nvSpPr>
          <p:cNvPr id="75" name="TextBox 74"/>
          <p:cNvSpPr txBox="1"/>
          <p:nvPr/>
        </p:nvSpPr>
        <p:spPr>
          <a:xfrm>
            <a:off x="1906713" y="5653601"/>
            <a:ext cx="1114061" cy="139750"/>
          </a:xfrm>
          <a:prstGeom prst="rect">
            <a:avLst/>
          </a:prstGeom>
          <a:noFill/>
        </p:spPr>
        <p:txBody>
          <a:bodyPr wrap="none" lIns="0" rIns="0" tIns="0" bIns="0">
            <a:spAutoFit/>
          </a:bodyPr>
          <a:lstStyle/>
          <a:p>
            <a:r>
              <a:rPr sz="791" b="0">
                <a:solidFill>
                  <a:srgbClr val="2E2E2E"/>
                </a:solidFill>
                <a:latin typeface="Calibri"/>
              </a:rPr>
              <a:t>Regulatory &amp; Compliance</a:t>
            </a:r>
          </a:p>
        </p:txBody>
      </p:sp>
      <p:sp>
        <p:nvSpPr>
          <p:cNvPr id="76" name="TextBox 75"/>
          <p:cNvSpPr txBox="1"/>
          <p:nvPr/>
        </p:nvSpPr>
        <p:spPr>
          <a:xfrm>
            <a:off x="2260671" y="5774302"/>
            <a:ext cx="295245" cy="139750"/>
          </a:xfrm>
          <a:prstGeom prst="rect">
            <a:avLst/>
          </a:prstGeom>
          <a:noFill/>
        </p:spPr>
        <p:txBody>
          <a:bodyPr wrap="none" lIns="0" rIns="0" tIns="0" bIns="0">
            <a:spAutoFit/>
          </a:bodyPr>
          <a:lstStyle/>
          <a:p>
            <a:r>
              <a:rPr sz="791" b="0">
                <a:solidFill>
                  <a:srgbClr val="2E2E2E"/>
                </a:solidFill>
                <a:latin typeface="Calibri"/>
              </a:rPr>
              <a:t>Costs</a:t>
            </a:r>
          </a:p>
        </p:txBody>
      </p:sp>
      <p:pic>
        <p:nvPicPr>
          <p:cNvPr id="77" name="Picture 76" descr="lock.png"/>
          <p:cNvPicPr>
            <a:picLocks noChangeAspect="1"/>
          </p:cNvPicPr>
          <p:nvPr/>
        </p:nvPicPr>
        <p:blipFill>
          <a:blip r:embed="rId4"/>
          <a:stretch>
            <a:fillRect/>
          </a:stretch>
        </p:blipFill>
        <p:spPr>
          <a:xfrm>
            <a:off x="2497177" y="5767261"/>
            <a:ext cx="92663" cy="134782"/>
          </a:xfrm>
          <a:prstGeom prst="rect">
            <a:avLst/>
          </a:prstGeom>
        </p:spPr>
      </p:pic>
      <p:sp>
        <p:nvSpPr>
          <p:cNvPr id="78" name="TextBox 77"/>
          <p:cNvSpPr txBox="1"/>
          <p:nvPr/>
        </p:nvSpPr>
        <p:spPr>
          <a:xfrm>
            <a:off x="1097191" y="4605637"/>
            <a:ext cx="1195711" cy="139750"/>
          </a:xfrm>
          <a:prstGeom prst="rect">
            <a:avLst/>
          </a:prstGeom>
          <a:noFill/>
        </p:spPr>
        <p:txBody>
          <a:bodyPr wrap="none" lIns="0" rIns="0" tIns="0" bIns="0">
            <a:spAutoFit/>
          </a:bodyPr>
          <a:lstStyle/>
          <a:p>
            <a:r>
              <a:rPr sz="791" b="0">
                <a:solidFill>
                  <a:srgbClr val="2E2E2E"/>
                </a:solidFill>
                <a:latin typeface="Calibri"/>
              </a:rPr>
              <a:t>Currency &amp; Trade Dynamics</a:t>
            </a:r>
          </a:p>
        </p:txBody>
      </p:sp>
      <p:pic>
        <p:nvPicPr>
          <p:cNvPr id="79" name="Picture 78" descr="lock.png"/>
          <p:cNvPicPr>
            <a:picLocks noChangeAspect="1"/>
          </p:cNvPicPr>
          <p:nvPr/>
        </p:nvPicPr>
        <p:blipFill>
          <a:blip r:embed="rId4"/>
          <a:stretch>
            <a:fillRect/>
          </a:stretch>
        </p:blipFill>
        <p:spPr>
          <a:xfrm>
            <a:off x="1612685" y="4719297"/>
            <a:ext cx="92663" cy="134782"/>
          </a:xfrm>
          <a:prstGeom prst="rect">
            <a:avLst/>
          </a:prstGeom>
        </p:spPr>
      </p:pic>
      <p:sp>
        <p:nvSpPr>
          <p:cNvPr id="80" name="TextBox 79"/>
          <p:cNvSpPr txBox="1"/>
          <p:nvPr/>
        </p:nvSpPr>
        <p:spPr>
          <a:xfrm>
            <a:off x="1079852" y="3370632"/>
            <a:ext cx="1134100" cy="139750"/>
          </a:xfrm>
          <a:prstGeom prst="rect">
            <a:avLst/>
          </a:prstGeom>
          <a:noFill/>
        </p:spPr>
        <p:txBody>
          <a:bodyPr wrap="none" lIns="0" rIns="0" tIns="0" bIns="0">
            <a:spAutoFit/>
          </a:bodyPr>
          <a:lstStyle/>
          <a:p>
            <a:r>
              <a:rPr sz="791" b="0">
                <a:solidFill>
                  <a:srgbClr val="2E2E2E"/>
                </a:solidFill>
                <a:latin typeface="Calibri"/>
              </a:rPr>
              <a:t>Brand &amp; Value Perception</a:t>
            </a:r>
          </a:p>
        </p:txBody>
      </p:sp>
      <p:pic>
        <p:nvPicPr>
          <p:cNvPr id="81" name="Picture 80" descr="lock.png"/>
          <p:cNvPicPr>
            <a:picLocks noChangeAspect="1"/>
          </p:cNvPicPr>
          <p:nvPr/>
        </p:nvPicPr>
        <p:blipFill>
          <a:blip r:embed="rId4"/>
          <a:stretch>
            <a:fillRect/>
          </a:stretch>
        </p:blipFill>
        <p:spPr>
          <a:xfrm>
            <a:off x="2155213" y="3363591"/>
            <a:ext cx="92663" cy="134782"/>
          </a:xfrm>
          <a:prstGeom prst="rect">
            <a:avLst/>
          </a:prstGeom>
        </p:spPr>
      </p:pic>
      <p:sp>
        <p:nvSpPr>
          <p:cNvPr id="82" name="TextBox 81"/>
          <p:cNvSpPr txBox="1"/>
          <p:nvPr/>
        </p:nvSpPr>
        <p:spPr>
          <a:xfrm>
            <a:off x="1850723" y="2262317"/>
            <a:ext cx="1203570" cy="139750"/>
          </a:xfrm>
          <a:prstGeom prst="rect">
            <a:avLst/>
          </a:prstGeom>
          <a:noFill/>
        </p:spPr>
        <p:txBody>
          <a:bodyPr wrap="none" lIns="0" rIns="0" tIns="0" bIns="0">
            <a:spAutoFit/>
          </a:bodyPr>
          <a:lstStyle/>
          <a:p>
            <a:r>
              <a:rPr sz="791" b="0">
                <a:solidFill>
                  <a:srgbClr val="2E2E2E"/>
                </a:solidFill>
                <a:latin typeface="Calibri"/>
              </a:rPr>
              <a:t>Aftermarket &amp; Service Costs</a:t>
            </a:r>
          </a:p>
        </p:txBody>
      </p:sp>
      <p:pic>
        <p:nvPicPr>
          <p:cNvPr id="83" name="Picture 82" descr="lock.png"/>
          <p:cNvPicPr>
            <a:picLocks noChangeAspect="1"/>
          </p:cNvPicPr>
          <p:nvPr/>
        </p:nvPicPr>
        <p:blipFill>
          <a:blip r:embed="rId4"/>
          <a:stretch>
            <a:fillRect/>
          </a:stretch>
        </p:blipFill>
        <p:spPr>
          <a:xfrm>
            <a:off x="2374076" y="2375977"/>
            <a:ext cx="92663" cy="134782"/>
          </a:xfrm>
          <a:prstGeom prst="rect">
            <a:avLst/>
          </a:prstGeom>
        </p:spPr>
      </p:pic>
      <p:sp>
        <p:nvSpPr>
          <p:cNvPr id="84" name="TextBox 83"/>
          <p:cNvSpPr txBox="1"/>
          <p:nvPr/>
        </p:nvSpPr>
        <p:spPr>
          <a:xfrm>
            <a:off x="7381875" y="5362146"/>
            <a:ext cx="740866" cy="186689"/>
          </a:xfrm>
          <a:prstGeom prst="rect">
            <a:avLst/>
          </a:prstGeom>
          <a:noFill/>
        </p:spPr>
        <p:txBody>
          <a:bodyPr wrap="none" lIns="0" rIns="0" tIns="0" bIns="0">
            <a:spAutoFit/>
          </a:bodyPr>
          <a:lstStyle/>
          <a:p>
            <a:r>
              <a:rPr sz="1100" b="0">
                <a:solidFill>
                  <a:srgbClr val="2E2E2E"/>
                </a:solidFill>
                <a:latin typeface="Calibri"/>
              </a:rPr>
              <a:t>▪ Input Cost</a:t>
            </a:r>
          </a:p>
        </p:txBody>
      </p:sp>
      <p:pic>
        <p:nvPicPr>
          <p:cNvPr id="85" name="Picture 84" descr="lock.png"/>
          <p:cNvPicPr>
            <a:picLocks noChangeAspect="1"/>
          </p:cNvPicPr>
          <p:nvPr/>
        </p:nvPicPr>
        <p:blipFill>
          <a:blip r:embed="rId4"/>
          <a:stretch>
            <a:fillRect/>
          </a:stretch>
        </p:blipFill>
        <p:spPr>
          <a:xfrm>
            <a:off x="8070793" y="5352366"/>
            <a:ext cx="128699" cy="187198"/>
          </a:xfrm>
          <a:prstGeom prst="rect">
            <a:avLst/>
          </a:prstGeom>
        </p:spPr>
      </p:pic>
      <p:sp>
        <p:nvSpPr>
          <p:cNvPr id="86" name="TextBox 85"/>
          <p:cNvSpPr txBox="1"/>
          <p:nvPr/>
        </p:nvSpPr>
        <p:spPr>
          <a:xfrm>
            <a:off x="8238288" y="5362146"/>
            <a:ext cx="1744141" cy="186689"/>
          </a:xfrm>
          <a:prstGeom prst="rect">
            <a:avLst/>
          </a:prstGeom>
          <a:noFill/>
        </p:spPr>
        <p:txBody>
          <a:bodyPr wrap="none" lIns="0" rIns="0" tIns="0" bIns="0">
            <a:spAutoFit/>
          </a:bodyPr>
          <a:lstStyle/>
          <a:p>
            <a:r>
              <a:rPr sz="1100" b="0">
                <a:solidFill>
                  <a:srgbClr val="2E2E2E"/>
                </a:solidFill>
                <a:latin typeface="Calibri"/>
              </a:rPr>
              <a:t>/ 10 · dominant cost pressure</a:t>
            </a:r>
          </a:p>
        </p:txBody>
      </p:sp>
      <p:sp>
        <p:nvSpPr>
          <p:cNvPr id="87" name="TextBox 86"/>
          <p:cNvSpPr txBox="1"/>
          <p:nvPr/>
        </p:nvSpPr>
        <p:spPr>
          <a:xfrm>
            <a:off x="7381875" y="5580078"/>
            <a:ext cx="1851372" cy="186689"/>
          </a:xfrm>
          <a:prstGeom prst="rect">
            <a:avLst/>
          </a:prstGeom>
          <a:noFill/>
        </p:spPr>
        <p:txBody>
          <a:bodyPr wrap="none" lIns="0" rIns="0" tIns="0" bIns="0">
            <a:spAutoFit/>
          </a:bodyPr>
          <a:lstStyle/>
          <a:p>
            <a:r>
              <a:rPr sz="1100" b="0">
                <a:solidFill>
                  <a:srgbClr val="2E2E2E"/>
                </a:solidFill>
                <a:latin typeface="Calibri"/>
              </a:rPr>
              <a:t>▪ Demand &amp; Market Conditions</a:t>
            </a:r>
          </a:p>
        </p:txBody>
      </p:sp>
      <p:pic>
        <p:nvPicPr>
          <p:cNvPr id="88" name="Picture 87" descr="lock.png"/>
          <p:cNvPicPr>
            <a:picLocks noChangeAspect="1"/>
          </p:cNvPicPr>
          <p:nvPr/>
        </p:nvPicPr>
        <p:blipFill>
          <a:blip r:embed="rId4"/>
          <a:stretch>
            <a:fillRect/>
          </a:stretch>
        </p:blipFill>
        <p:spPr>
          <a:xfrm>
            <a:off x="9181298" y="5570298"/>
            <a:ext cx="128699" cy="187198"/>
          </a:xfrm>
          <a:prstGeom prst="rect">
            <a:avLst/>
          </a:prstGeom>
        </p:spPr>
      </p:pic>
      <p:sp>
        <p:nvSpPr>
          <p:cNvPr id="89" name="TextBox 88"/>
          <p:cNvSpPr txBox="1"/>
          <p:nvPr/>
        </p:nvSpPr>
        <p:spPr>
          <a:xfrm>
            <a:off x="9348794" y="5580078"/>
            <a:ext cx="1527224" cy="186689"/>
          </a:xfrm>
          <a:prstGeom prst="rect">
            <a:avLst/>
          </a:prstGeom>
          <a:noFill/>
        </p:spPr>
        <p:txBody>
          <a:bodyPr wrap="none" lIns="0" rIns="0" tIns="0" bIns="0">
            <a:spAutoFit/>
          </a:bodyPr>
          <a:lstStyle/>
          <a:p>
            <a:r>
              <a:rPr sz="1100" b="0">
                <a:solidFill>
                  <a:srgbClr val="2E2E2E"/>
                </a:solidFill>
                <a:latin typeface="Calibri"/>
              </a:rPr>
              <a:t>/ 10 · major cost pressure</a:t>
            </a:r>
          </a:p>
        </p:txBody>
      </p:sp>
      <p:sp>
        <p:nvSpPr>
          <p:cNvPr id="90" name="TextBox 89"/>
          <p:cNvSpPr txBox="1"/>
          <p:nvPr/>
        </p:nvSpPr>
        <p:spPr>
          <a:xfrm>
            <a:off x="7381875" y="5798010"/>
            <a:ext cx="1478384" cy="186689"/>
          </a:xfrm>
          <a:prstGeom prst="rect">
            <a:avLst/>
          </a:prstGeom>
          <a:noFill/>
        </p:spPr>
        <p:txBody>
          <a:bodyPr wrap="none" lIns="0" rIns="0" tIns="0" bIns="0">
            <a:spAutoFit/>
          </a:bodyPr>
          <a:lstStyle/>
          <a:p>
            <a:r>
              <a:rPr sz="1100" b="0">
                <a:solidFill>
                  <a:srgbClr val="2E2E2E"/>
                </a:solidFill>
                <a:latin typeface="Calibri"/>
              </a:rPr>
              <a:t>▪ Competitive Landscape</a:t>
            </a:r>
          </a:p>
        </p:txBody>
      </p:sp>
      <p:pic>
        <p:nvPicPr>
          <p:cNvPr id="91" name="Picture 90" descr="lock.png"/>
          <p:cNvPicPr>
            <a:picLocks noChangeAspect="1"/>
          </p:cNvPicPr>
          <p:nvPr/>
        </p:nvPicPr>
        <p:blipFill>
          <a:blip r:embed="rId4"/>
          <a:stretch>
            <a:fillRect/>
          </a:stretch>
        </p:blipFill>
        <p:spPr>
          <a:xfrm>
            <a:off x="8808310" y="5788230"/>
            <a:ext cx="128699" cy="187198"/>
          </a:xfrm>
          <a:prstGeom prst="rect">
            <a:avLst/>
          </a:prstGeom>
        </p:spPr>
      </p:pic>
      <p:sp>
        <p:nvSpPr>
          <p:cNvPr id="92" name="TextBox 91"/>
          <p:cNvSpPr txBox="1"/>
          <p:nvPr/>
        </p:nvSpPr>
        <p:spPr>
          <a:xfrm>
            <a:off x="8975806" y="5798010"/>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3" name="TextBox 92"/>
          <p:cNvSpPr txBox="1"/>
          <p:nvPr/>
        </p:nvSpPr>
        <p:spPr>
          <a:xfrm>
            <a:off x="7381875" y="6015942"/>
            <a:ext cx="1525314" cy="186689"/>
          </a:xfrm>
          <a:prstGeom prst="rect">
            <a:avLst/>
          </a:prstGeom>
          <a:noFill/>
        </p:spPr>
        <p:txBody>
          <a:bodyPr wrap="none" lIns="0" rIns="0" tIns="0" bIns="0">
            <a:spAutoFit/>
          </a:bodyPr>
          <a:lstStyle/>
          <a:p>
            <a:r>
              <a:rPr sz="1100" b="0">
                <a:solidFill>
                  <a:srgbClr val="2E2E2E"/>
                </a:solidFill>
                <a:latin typeface="Calibri"/>
              </a:rPr>
              <a:t>▪ Supply Chain &amp; Logistics</a:t>
            </a:r>
          </a:p>
        </p:txBody>
      </p:sp>
      <p:pic>
        <p:nvPicPr>
          <p:cNvPr id="94" name="Picture 93" descr="lock.png"/>
          <p:cNvPicPr>
            <a:picLocks noChangeAspect="1"/>
          </p:cNvPicPr>
          <p:nvPr/>
        </p:nvPicPr>
        <p:blipFill>
          <a:blip r:embed="rId4"/>
          <a:stretch>
            <a:fillRect/>
          </a:stretch>
        </p:blipFill>
        <p:spPr>
          <a:xfrm>
            <a:off x="8855241" y="6006162"/>
            <a:ext cx="128699" cy="187198"/>
          </a:xfrm>
          <a:prstGeom prst="rect">
            <a:avLst/>
          </a:prstGeom>
        </p:spPr>
      </p:pic>
      <p:sp>
        <p:nvSpPr>
          <p:cNvPr id="95" name="TextBox 94"/>
          <p:cNvSpPr txBox="1"/>
          <p:nvPr/>
        </p:nvSpPr>
        <p:spPr>
          <a:xfrm>
            <a:off x="9022737" y="6015942"/>
            <a:ext cx="1330225" cy="186689"/>
          </a:xfrm>
          <a:prstGeom prst="rect">
            <a:avLst/>
          </a:prstGeom>
          <a:noFill/>
        </p:spPr>
        <p:txBody>
          <a:bodyPr wrap="none" lIns="0" rIns="0" tIns="0" bIns="0">
            <a:spAutoFit/>
          </a:bodyPr>
          <a:lstStyle/>
          <a:p>
            <a:r>
              <a:rPr sz="1100" b="0">
                <a:solidFill>
                  <a:srgbClr val="2E2E2E"/>
                </a:solidFill>
                <a:latin typeface="Calibri"/>
              </a:rPr>
              <a:t>/ 10 · key pricing lever</a:t>
            </a:r>
          </a:p>
        </p:txBody>
      </p:sp>
      <p:sp>
        <p:nvSpPr>
          <p:cNvPr id="96" name="TextBox 95"/>
          <p:cNvSpPr txBox="1"/>
          <p:nvPr/>
        </p:nvSpPr>
        <p:spPr>
          <a:xfrm>
            <a:off x="7381875" y="6233874"/>
            <a:ext cx="1600075" cy="186689"/>
          </a:xfrm>
          <a:prstGeom prst="rect">
            <a:avLst/>
          </a:prstGeom>
          <a:noFill/>
        </p:spPr>
        <p:txBody>
          <a:bodyPr wrap="none" lIns="0" rIns="0" tIns="0" bIns="0">
            <a:spAutoFit/>
          </a:bodyPr>
          <a:lstStyle/>
          <a:p>
            <a:r>
              <a:rPr sz="1100" b="0">
                <a:solidFill>
                  <a:srgbClr val="2E2E2E"/>
                </a:solidFill>
                <a:latin typeface="Calibri"/>
              </a:rPr>
              <a:t>▪ Labor &amp; Production Costs</a:t>
            </a:r>
          </a:p>
        </p:txBody>
      </p:sp>
      <p:pic>
        <p:nvPicPr>
          <p:cNvPr id="97" name="Picture 96" descr="lock.png"/>
          <p:cNvPicPr>
            <a:picLocks noChangeAspect="1"/>
          </p:cNvPicPr>
          <p:nvPr/>
        </p:nvPicPr>
        <p:blipFill>
          <a:blip r:embed="rId4"/>
          <a:stretch>
            <a:fillRect/>
          </a:stretch>
        </p:blipFill>
        <p:spPr>
          <a:xfrm>
            <a:off x="8930002" y="6224094"/>
            <a:ext cx="128699" cy="187198"/>
          </a:xfrm>
          <a:prstGeom prst="rect">
            <a:avLst/>
          </a:prstGeom>
        </p:spPr>
      </p:pic>
      <p:sp>
        <p:nvSpPr>
          <p:cNvPr id="98" name="TextBox 97"/>
          <p:cNvSpPr txBox="1"/>
          <p:nvPr/>
        </p:nvSpPr>
        <p:spPr>
          <a:xfrm>
            <a:off x="9097498" y="6233874"/>
            <a:ext cx="1387524" cy="186689"/>
          </a:xfrm>
          <a:prstGeom prst="rect">
            <a:avLst/>
          </a:prstGeom>
          <a:noFill/>
        </p:spPr>
        <p:txBody>
          <a:bodyPr wrap="none" lIns="0" rIns="0" tIns="0" bIns="0">
            <a:spAutoFit/>
          </a:bodyPr>
          <a:lstStyle/>
          <a:p>
            <a:r>
              <a:rPr sz="1100" b="0">
                <a:solidFill>
                  <a:srgbClr val="2E2E2E"/>
                </a:solidFill>
                <a:latin typeface="Calibri"/>
              </a:rPr>
              <a:t>/ 10 · supporting factor</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Factors Impacting Pricing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Factors affecting the pricing decision of the product: category, price impact, direction of pressure and rationale</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1" name="Rounded Rectangle 10"/>
          <p:cNvSpPr/>
          <p:nvPr/>
        </p:nvSpPr>
        <p:spPr>
          <a:xfrm>
            <a:off x="142875" y="1314450"/>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0650"/>
          <a:ext cx="11887199" cy="2981326"/>
        </p:xfrm>
        <a:graphic>
          <a:graphicData uri="http://schemas.openxmlformats.org/drawingml/2006/table">
            <a:tbl>
              <a:tblPr>
                <a:tableStyleId>{5C22544A-7EE6-4342-B048-85BDC9FD1C3A}</a:tableStyleId>
              </a:tblPr>
              <a:tblGrid>
                <a:gridCol w="2561515"/>
                <a:gridCol w="2697613"/>
                <a:gridCol w="1098187"/>
                <a:gridCol w="1211368"/>
                <a:gridCol w="1098187"/>
                <a:gridCol w="3220329"/>
              </a:tblGrid>
              <a:tr h="246126">
                <a:tc>
                  <a:txBody>
                    <a:bodyPr wrap="none"/>
                    <a:lstStyle/>
                    <a:p>
                      <a:pPr algn="l"/>
                      <a:r>
                        <a:rPr sz="1100" b="1">
                          <a:solidFill>
                            <a:srgbClr val="0B2E4A"/>
                          </a:solidFill>
                          <a:latin typeface="Calibri"/>
                        </a:rPr>
                        <a:t>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Category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Impact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Score (0–10)</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How It Shapes Price</a:t>
                      </a:r>
                      <a:endParaRPr sz="1100"/>
                    </a:p>
                  </a:txBody>
                  <a:tcPr marL="47625" marR="38100" marT="19050" marB="19050" anchor="ctr">
                    <a:solidFill>
                      <a:srgbClr val="E0E8EF"/>
                    </a:solidFill>
                  </a:tcPr>
                </a:tc>
              </a:tr>
              <a:tr h="27352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Raw-material and input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Labour and production expenses.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Cost &amp; Input Pressures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Supply-chain and logistics conditions.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and broader market conditions.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Competitive intensity.</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Demand &amp; Competitive Forces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strength and value perception.</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Technology and process innovation.</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Innovation &amp; Operating Efficiency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Aftermarket and service costs.</a:t>
                      </a:r>
                      <a:endParaRPr sz="1100"/>
                    </a:p>
                  </a:txBody>
                  <a:tcPr marL="47625" marR="38100" marT="19050" marB="19050" anchor="ctr">
                    <a:solidFill>
                      <a:srgbClr val="F5F8FA"/>
                    </a:solidFill>
                  </a:tcPr>
                </a:tc>
              </a:tr>
              <a:tr h="27352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Regulatory and compliance costs.</a:t>
                      </a:r>
                      <a:endParaRPr sz="1100"/>
                    </a:p>
                  </a:txBody>
                  <a:tcPr marL="47625" marR="38100" marT="19050" marB="19050" anchor="ctr">
                    <a:solidFill>
                      <a:srgbClr val="FFFFFF"/>
                    </a:solidFill>
                  </a:tcPr>
                </a:tc>
              </a:tr>
              <a:tr h="27352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Regulatory, Currency &amp; Macro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Currency and trade dynamics.</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3815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52975"/>
            <a:ext cx="11906250" cy="1790700"/>
          </a:xfrm>
          <a:prstGeom prst="roundRect">
            <a:avLst>
              <a:gd name="adj" fmla="val 42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38700"/>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6" name="Rectangle 15"/>
          <p:cNvSpPr/>
          <p:nvPr/>
        </p:nvSpPr>
        <p:spPr>
          <a:xfrm>
            <a:off x="276225" y="50768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62550"/>
            <a:ext cx="11639550" cy="13049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102155" y="2764346"/>
            <a:ext cx="330041" cy="480060"/>
          </a:xfrm>
          <a:prstGeom prst="rect">
            <a:avLst/>
          </a:prstGeom>
        </p:spPr>
      </p:pic>
      <p:sp>
        <p:nvSpPr>
          <p:cNvPr id="20" name="TextBox 19"/>
          <p:cNvSpPr txBox="1"/>
          <p:nvPr/>
        </p:nvSpPr>
        <p:spPr>
          <a:xfrm>
            <a:off x="276225" y="5172075"/>
            <a:ext cx="5425566" cy="194310"/>
          </a:xfrm>
          <a:prstGeom prst="rect">
            <a:avLst/>
          </a:prstGeom>
          <a:noFill/>
        </p:spPr>
        <p:txBody>
          <a:bodyPr wrap="none" lIns="0" rIns="0" tIns="0" bIns="0">
            <a:spAutoFit/>
          </a:bodyPr>
          <a:lstStyle/>
          <a:p>
            <a:r>
              <a:rPr sz="1150" b="0">
                <a:solidFill>
                  <a:srgbClr val="2E2E2E"/>
                </a:solidFill>
                <a:latin typeface="Calibri"/>
              </a:rPr>
              <a:t>▪ Input Cost and Demand &amp; Market Conditions carry the heaviest weight on selling prices (</a:t>
            </a:r>
          </a:p>
        </p:txBody>
      </p:sp>
      <p:pic>
        <p:nvPicPr>
          <p:cNvPr id="21" name="Picture 20" descr="lock.png"/>
          <p:cNvPicPr>
            <a:picLocks noChangeAspect="1"/>
          </p:cNvPicPr>
          <p:nvPr/>
        </p:nvPicPr>
        <p:blipFill>
          <a:blip r:embed="rId4"/>
          <a:stretch>
            <a:fillRect/>
          </a:stretch>
        </p:blipFill>
        <p:spPr>
          <a:xfrm>
            <a:off x="5650945" y="5161851"/>
            <a:ext cx="134549" cy="195707"/>
          </a:xfrm>
          <a:prstGeom prst="rect">
            <a:avLst/>
          </a:prstGeom>
        </p:spPr>
      </p:pic>
      <p:sp>
        <p:nvSpPr>
          <p:cNvPr id="22" name="TextBox 21"/>
          <p:cNvSpPr txBox="1"/>
          <p:nvPr/>
        </p:nvSpPr>
        <p:spPr>
          <a:xfrm>
            <a:off x="5826054" y="5172075"/>
            <a:ext cx="299553" cy="194310"/>
          </a:xfrm>
          <a:prstGeom prst="rect">
            <a:avLst/>
          </a:prstGeom>
          <a:noFill/>
        </p:spPr>
        <p:txBody>
          <a:bodyPr wrap="none" lIns="0" rIns="0" tIns="0" bIns="0">
            <a:spAutoFit/>
          </a:bodyPr>
          <a:lstStyle/>
          <a:p>
            <a:r>
              <a:rPr sz="1150" b="0">
                <a:solidFill>
                  <a:srgbClr val="2E2E2E"/>
                </a:solidFill>
                <a:latin typeface="Calibri"/>
              </a:rPr>
              <a:t>and</a:t>
            </a:r>
          </a:p>
        </p:txBody>
      </p:sp>
      <p:pic>
        <p:nvPicPr>
          <p:cNvPr id="23" name="Picture 22" descr="lock.png"/>
          <p:cNvPicPr>
            <a:picLocks noChangeAspect="1"/>
          </p:cNvPicPr>
          <p:nvPr/>
        </p:nvPicPr>
        <p:blipFill>
          <a:blip r:embed="rId4"/>
          <a:stretch>
            <a:fillRect/>
          </a:stretch>
        </p:blipFill>
        <p:spPr>
          <a:xfrm>
            <a:off x="6074762" y="5161851"/>
            <a:ext cx="134549" cy="195707"/>
          </a:xfrm>
          <a:prstGeom prst="rect">
            <a:avLst/>
          </a:prstGeom>
        </p:spPr>
      </p:pic>
      <p:sp>
        <p:nvSpPr>
          <p:cNvPr id="24" name="TextBox 23"/>
          <p:cNvSpPr txBox="1"/>
          <p:nvPr/>
        </p:nvSpPr>
        <p:spPr>
          <a:xfrm>
            <a:off x="6249871" y="5172075"/>
            <a:ext cx="395113" cy="194310"/>
          </a:xfrm>
          <a:prstGeom prst="rect">
            <a:avLst/>
          </a:prstGeom>
          <a:noFill/>
        </p:spPr>
        <p:txBody>
          <a:bodyPr wrap="none" lIns="0" rIns="0" tIns="0" bIns="0">
            <a:spAutoFit/>
          </a:bodyPr>
          <a:lstStyle/>
          <a:p>
            <a:r>
              <a:rPr sz="1150" b="0">
                <a:solidFill>
                  <a:srgbClr val="2E2E2E"/>
                </a:solidFill>
                <a:latin typeface="Calibri"/>
              </a:rPr>
              <a:t>/ 10).</a:t>
            </a:r>
          </a:p>
        </p:txBody>
      </p:sp>
      <p:sp>
        <p:nvSpPr>
          <p:cNvPr id="25" name="TextBox 24"/>
          <p:cNvSpPr txBox="1"/>
          <p:nvPr/>
        </p:nvSpPr>
        <p:spPr>
          <a:xfrm>
            <a:off x="276225" y="5399913"/>
            <a:ext cx="8333444" cy="194310"/>
          </a:xfrm>
          <a:prstGeom prst="rect">
            <a:avLst/>
          </a:prstGeom>
          <a:noFill/>
        </p:spPr>
        <p:txBody>
          <a:bodyPr wrap="none" lIns="0" rIns="0" tIns="0" bIns="0">
            <a:spAutoFit/>
          </a:bodyPr>
          <a:lstStyle/>
          <a:p>
            <a:r>
              <a:rPr sz="1150" b="0">
                <a:solidFill>
                  <a:srgbClr val="2E2E2E"/>
                </a:solidFill>
                <a:latin typeface="Calibri"/>
              </a:rPr>
              <a:t>▪ 8 of 10 factors exert upward pressure on price; the rest pull prices down chiefly Technology &amp; Innovation and the Competitive Landscape.</a:t>
            </a:r>
          </a:p>
        </p:txBody>
      </p:sp>
      <p:sp>
        <p:nvSpPr>
          <p:cNvPr id="26" name="TextBox 25"/>
          <p:cNvSpPr txBox="1"/>
          <p:nvPr/>
        </p:nvSpPr>
        <p:spPr>
          <a:xfrm>
            <a:off x="276225" y="5627750"/>
            <a:ext cx="8053610" cy="194310"/>
          </a:xfrm>
          <a:prstGeom prst="rect">
            <a:avLst/>
          </a:prstGeom>
          <a:noFill/>
        </p:spPr>
        <p:txBody>
          <a:bodyPr wrap="none" lIns="0" rIns="0" tIns="0" bIns="0">
            <a:spAutoFit/>
          </a:bodyPr>
          <a:lstStyle/>
          <a:p>
            <a:r>
              <a:rPr sz="1150" b="0">
                <a:solidFill>
                  <a:srgbClr val="2E2E2E"/>
                </a:solidFill>
                <a:latin typeface="Calibri"/>
              </a:rPr>
              <a:t>▪ Cost-side factors set the price floor; demand, brand and competitive forces determine how much of that cost can be passed through.</a:t>
            </a:r>
          </a:p>
        </p:txBody>
      </p:sp>
      <p:sp>
        <p:nvSpPr>
          <p:cNvPr id="27" name="TextBox 26"/>
          <p:cNvSpPr txBox="1"/>
          <p:nvPr/>
        </p:nvSpPr>
        <p:spPr>
          <a:xfrm>
            <a:off x="276225" y="5855588"/>
            <a:ext cx="7048375" cy="194310"/>
          </a:xfrm>
          <a:prstGeom prst="rect">
            <a:avLst/>
          </a:prstGeom>
          <a:noFill/>
        </p:spPr>
        <p:txBody>
          <a:bodyPr wrap="none" lIns="0" rIns="0" tIns="0" bIns="0">
            <a:spAutoFit/>
          </a:bodyPr>
          <a:lstStyle/>
          <a:p>
            <a:r>
              <a:rPr sz="1150" b="0">
                <a:solidFill>
                  <a:srgbClr val="2E2E2E"/>
                </a:solidFill>
                <a:latin typeface="Calibri"/>
              </a:rPr>
              <a:t>▪ Aftermarket &amp; Service Costs exerts the least pressure a second-order effect to monitor rather than actively manage.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Regional Price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price assessment across the value chain, from manufacturer to retail, and average price by geography, 2026–2036</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price assessment across the value chain (US$/Units) and price trajectory to 2036.</a:t>
            </a:r>
          </a:p>
        </p:txBody>
      </p:sp>
      <p:sp>
        <p:nvSpPr>
          <p:cNvPr id="11" name="Rounded Rectangle 10"/>
          <p:cNvSpPr/>
          <p:nvPr/>
        </p:nvSpPr>
        <p:spPr>
          <a:xfrm>
            <a:off x="142875" y="1317574"/>
            <a:ext cx="590550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3" name="Table 12"/>
          <p:cNvGraphicFramePr>
            <a:graphicFrameLocks noGrp="1"/>
          </p:cNvGraphicFramePr>
          <p:nvPr/>
        </p:nvGraphicFramePr>
        <p:xfrm>
          <a:off x="152400" y="1574749"/>
          <a:ext cx="5886452" cy="2271330"/>
        </p:xfrm>
        <a:graphic>
          <a:graphicData uri="http://schemas.openxmlformats.org/drawingml/2006/table">
            <a:tbl>
              <a:tblPr>
                <a:tableStyleId>{5C22544A-7EE6-4342-B048-85BDC9FD1C3A}</a:tableStyleId>
              </a:tblPr>
              <a:tblGrid>
                <a:gridCol w="1370904"/>
                <a:gridCol w="1128887"/>
                <a:gridCol w="1128887"/>
                <a:gridCol w="1128887"/>
                <a:gridCol w="1128887"/>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Manufacturer</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Distribution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Retail</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Total Margin (%)</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855604"/>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6200775" y="1317574"/>
            <a:ext cx="5848350" cy="2738055"/>
          </a:xfrm>
          <a:prstGeom prst="roundRect">
            <a:avLst>
              <a:gd name="adj" fmla="val 27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6025" y="1374724"/>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7" name="Table 16"/>
          <p:cNvGraphicFramePr>
            <a:graphicFrameLocks noGrp="1"/>
          </p:cNvGraphicFramePr>
          <p:nvPr/>
        </p:nvGraphicFramePr>
        <p:xfrm>
          <a:off x="6210300" y="1574749"/>
          <a:ext cx="5829299" cy="2271330"/>
        </p:xfrm>
        <a:graphic>
          <a:graphicData uri="http://schemas.openxmlformats.org/drawingml/2006/table">
            <a:tbl>
              <a:tblPr>
                <a:tableStyleId>{5C22544A-7EE6-4342-B048-85BDC9FD1C3A}</a:tableStyleId>
              </a:tblPr>
              <a:tblGrid>
                <a:gridCol w="2038759"/>
                <a:gridCol w="947635"/>
                <a:gridCol w="947635"/>
                <a:gridCol w="947635"/>
                <a:gridCol w="947635"/>
              </a:tblGrid>
              <a:tr h="246126">
                <a:tc>
                  <a:txBody>
                    <a:bodyPr wrap="none"/>
                    <a:lstStyle/>
                    <a:p>
                      <a:pPr algn="l"/>
                      <a:r>
                        <a:rPr sz="1100" b="1">
                          <a:solidFill>
                            <a:srgbClr val="0B2E4A"/>
                          </a:solidFill>
                          <a:latin typeface="Calibri"/>
                        </a:rPr>
                        <a:t>Geography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2029F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337534">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37534">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37534">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8" name="TextBox 17"/>
          <p:cNvSpPr txBox="1"/>
          <p:nvPr/>
        </p:nvSpPr>
        <p:spPr>
          <a:xfrm>
            <a:off x="6276975" y="3855604"/>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142875" y="4201658"/>
            <a:ext cx="11906250" cy="2354727"/>
          </a:xfrm>
          <a:prstGeom prst="roundRect">
            <a:avLst>
              <a:gd name="adj" fmla="val 323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287383"/>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1" name="Rectangle 20"/>
          <p:cNvSpPr/>
          <p:nvPr/>
        </p:nvSpPr>
        <p:spPr>
          <a:xfrm>
            <a:off x="276225" y="4525508"/>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11233"/>
            <a:ext cx="11639550" cy="1868952"/>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3594387" y="2566777"/>
            <a:ext cx="366712" cy="533399"/>
          </a:xfrm>
          <a:prstGeom prst="rect">
            <a:avLst/>
          </a:prstGeom>
        </p:spPr>
      </p:pic>
      <p:pic>
        <p:nvPicPr>
          <p:cNvPr id="25" name="Picture 24" descr="lock.png"/>
          <p:cNvPicPr>
            <a:picLocks noChangeAspect="1"/>
          </p:cNvPicPr>
          <p:nvPr/>
        </p:nvPicPr>
        <p:blipFill>
          <a:blip r:embed="rId4"/>
          <a:stretch>
            <a:fillRect/>
          </a:stretch>
        </p:blipFill>
        <p:spPr>
          <a:xfrm>
            <a:off x="9957639" y="2566777"/>
            <a:ext cx="366712" cy="533400"/>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Global Pricing Benchmarking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price range by region and sub-segment against the weighted average price of each region</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Development-stage price assumptions and manufacturer benchmarking price range by device technology type and region (US$/Units).</a:t>
            </a:r>
          </a:p>
        </p:txBody>
      </p:sp>
      <p:sp>
        <p:nvSpPr>
          <p:cNvPr id="11" name="Rounded Rectangle 10"/>
          <p:cNvSpPr/>
          <p:nvPr/>
        </p:nvSpPr>
        <p:spPr>
          <a:xfrm>
            <a:off x="142875" y="1314450"/>
            <a:ext cx="11906250" cy="2876550"/>
          </a:xfrm>
          <a:prstGeom prst="roundRect">
            <a:avLst>
              <a:gd name="adj" fmla="val 26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16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Device Technology (US$/Units)</a:t>
            </a:r>
          </a:p>
        </p:txBody>
      </p:sp>
      <p:graphicFrame>
        <p:nvGraphicFramePr>
          <p:cNvPr id="13" name="Table 12"/>
          <p:cNvGraphicFramePr>
            <a:graphicFrameLocks noGrp="1"/>
          </p:cNvGraphicFramePr>
          <p:nvPr/>
        </p:nvGraphicFramePr>
        <p:xfrm>
          <a:off x="152400" y="1571625"/>
          <a:ext cx="11887201" cy="2409822"/>
        </p:xfrm>
        <a:graphic>
          <a:graphicData uri="http://schemas.openxmlformats.org/drawingml/2006/table">
            <a:tbl>
              <a:tblPr>
                <a:tableStyleId>{5C22544A-7EE6-4342-B048-85BDC9FD1C3A}</a:tableStyleId>
              </a:tblPr>
              <a:tblGrid>
                <a:gridCol w="1942705"/>
                <a:gridCol w="3314832"/>
                <a:gridCol w="3314832"/>
                <a:gridCol w="3314832"/>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Static Cold Storage Devices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Portable Machine Perfusion Devices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Weighted Avg</a:t>
                      </a:r>
                      <a:endParaRPr sz="1100"/>
                    </a:p>
                  </a:txBody>
                  <a:tcPr marL="47625" marR="38100" marT="19050" marB="19050" anchor="ctr">
                    <a:solidFill>
                      <a:srgbClr val="E0E8EF"/>
                    </a:solidFill>
                  </a:tcPr>
                </a:tc>
              </a:tr>
              <a:tr h="360616">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Latin America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East Asia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60616">
                <a:tc>
                  <a:txBody>
                    <a:bodyPr wrap="none"/>
                    <a:lstStyle/>
                    <a:p>
                      <a:pPr algn="l"/>
                      <a:r>
                        <a:rPr sz="1100" b="1">
                          <a:solidFill>
                            <a:srgbClr val="2E2E2E"/>
                          </a:solidFill>
                          <a:latin typeface="Calibri"/>
                        </a:rPr>
                        <a:t>South Asia &amp; Pacific</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60616">
                <a:tc>
                  <a:txBody>
                    <a:bodyPr wrap="none"/>
                    <a:lstStyle/>
                    <a:p>
                      <a:pPr algn="l"/>
                      <a:r>
                        <a:rPr sz="1100" b="1">
                          <a:solidFill>
                            <a:srgbClr val="2E2E2E"/>
                          </a:solidFill>
                          <a:latin typeface="Calibri"/>
                        </a:rPr>
                        <a:t>Middle East &amp; Africa</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9909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4333875"/>
            <a:ext cx="11906250" cy="2209800"/>
          </a:xfrm>
          <a:prstGeom prst="roundRect">
            <a:avLst>
              <a:gd name="adj" fmla="val 344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7" name="Rectangle 16"/>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743450"/>
            <a:ext cx="11639550" cy="172402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6880662" y="2632899"/>
            <a:ext cx="366712" cy="533400"/>
          </a:xfrm>
          <a:prstGeom prst="rect">
            <a:avLst/>
          </a:prstGeom>
        </p:spPr>
      </p:pic>
      <p:sp>
        <p:nvSpPr>
          <p:cNvPr id="21" name="TextBox 20"/>
          <p:cNvSpPr txBox="1"/>
          <p:nvPr/>
        </p:nvSpPr>
        <p:spPr>
          <a:xfrm>
            <a:off x="276225" y="4752975"/>
            <a:ext cx="4641688" cy="194310"/>
          </a:xfrm>
          <a:prstGeom prst="rect">
            <a:avLst/>
          </a:prstGeom>
          <a:noFill/>
        </p:spPr>
        <p:txBody>
          <a:bodyPr wrap="none" lIns="0" rIns="0" tIns="0" bIns="0">
            <a:spAutoFit/>
          </a:bodyPr>
          <a:lstStyle/>
          <a:p>
            <a:r>
              <a:rPr sz="1150" b="0">
                <a:solidFill>
                  <a:srgbClr val="2E2E2E"/>
                </a:solidFill>
                <a:latin typeface="Calibri"/>
              </a:rPr>
              <a:t>▪ On a weighted-average basis 'North America' is the highest-priced region (~</a:t>
            </a:r>
          </a:p>
        </p:txBody>
      </p:sp>
      <p:pic>
        <p:nvPicPr>
          <p:cNvPr id="22" name="Picture 21" descr="lock.png"/>
          <p:cNvPicPr>
            <a:picLocks noChangeAspect="1"/>
          </p:cNvPicPr>
          <p:nvPr/>
        </p:nvPicPr>
        <p:blipFill>
          <a:blip r:embed="rId4"/>
          <a:stretch>
            <a:fillRect/>
          </a:stretch>
        </p:blipFill>
        <p:spPr>
          <a:xfrm>
            <a:off x="4867067" y="4742751"/>
            <a:ext cx="134549" cy="195707"/>
          </a:xfrm>
          <a:prstGeom prst="rect">
            <a:avLst/>
          </a:prstGeom>
        </p:spPr>
      </p:pic>
      <p:sp>
        <p:nvSpPr>
          <p:cNvPr id="23" name="TextBox 22"/>
          <p:cNvSpPr txBox="1"/>
          <p:nvPr/>
        </p:nvSpPr>
        <p:spPr>
          <a:xfrm>
            <a:off x="5042176" y="4752975"/>
            <a:ext cx="3704629" cy="194310"/>
          </a:xfrm>
          <a:prstGeom prst="rect">
            <a:avLst/>
          </a:prstGeom>
          <a:noFill/>
        </p:spPr>
        <p:txBody>
          <a:bodyPr wrap="none" lIns="0" rIns="0" tIns="0" bIns="0">
            <a:spAutoFit/>
          </a:bodyPr>
          <a:lstStyle/>
          <a:p>
            <a:r>
              <a:rPr sz="1150" b="0">
                <a:solidFill>
                  <a:srgbClr val="2E2E2E"/>
                </a:solidFill>
                <a:latin typeface="Calibri"/>
              </a:rPr>
              <a:t>US$/Units) and 'South Asia &amp; Pacific' the most competitive (~</a:t>
            </a:r>
          </a:p>
        </p:txBody>
      </p:sp>
      <p:pic>
        <p:nvPicPr>
          <p:cNvPr id="24" name="Picture 23" descr="lock.png"/>
          <p:cNvPicPr>
            <a:picLocks noChangeAspect="1"/>
          </p:cNvPicPr>
          <p:nvPr/>
        </p:nvPicPr>
        <p:blipFill>
          <a:blip r:embed="rId4"/>
          <a:stretch>
            <a:fillRect/>
          </a:stretch>
        </p:blipFill>
        <p:spPr>
          <a:xfrm>
            <a:off x="8695960" y="4742751"/>
            <a:ext cx="134549" cy="195707"/>
          </a:xfrm>
          <a:prstGeom prst="rect">
            <a:avLst/>
          </a:prstGeom>
        </p:spPr>
      </p:pic>
      <p:sp>
        <p:nvSpPr>
          <p:cNvPr id="25" name="TextBox 24"/>
          <p:cNvSpPr txBox="1"/>
          <p:nvPr/>
        </p:nvSpPr>
        <p:spPr>
          <a:xfrm>
            <a:off x="8871069" y="4752975"/>
            <a:ext cx="759097" cy="194310"/>
          </a:xfrm>
          <a:prstGeom prst="rect">
            <a:avLst/>
          </a:prstGeom>
          <a:noFill/>
        </p:spPr>
        <p:txBody>
          <a:bodyPr wrap="none" lIns="0" rIns="0" tIns="0" bIns="0">
            <a:spAutoFit/>
          </a:bodyPr>
          <a:lstStyle/>
          <a:p>
            <a:r>
              <a:rPr sz="1150" b="0">
                <a:solidFill>
                  <a:srgbClr val="2E2E2E"/>
                </a:solidFill>
                <a:latin typeface="Calibri"/>
              </a:rPr>
              <a:t>US$/Units).</a:t>
            </a:r>
          </a:p>
        </p:txBody>
      </p:sp>
      <p:sp>
        <p:nvSpPr>
          <p:cNvPr id="26" name="TextBox 25"/>
          <p:cNvSpPr txBox="1"/>
          <p:nvPr/>
        </p:nvSpPr>
        <p:spPr>
          <a:xfrm>
            <a:off x="276225" y="4980813"/>
            <a:ext cx="6239110" cy="194310"/>
          </a:xfrm>
          <a:prstGeom prst="rect">
            <a:avLst/>
          </a:prstGeom>
          <a:noFill/>
        </p:spPr>
        <p:txBody>
          <a:bodyPr wrap="none" lIns="0" rIns="0" tIns="0" bIns="0">
            <a:spAutoFit/>
          </a:bodyPr>
          <a:lstStyle/>
          <a:p>
            <a:r>
              <a:rPr sz="1150" b="0">
                <a:solidFill>
                  <a:srgbClr val="2E2E2E"/>
                </a:solidFill>
                <a:latin typeface="Calibri"/>
              </a:rPr>
              <a:t>▪ Price ranges are benchmarked per device technology type at 2026, derived as Value ÷ Volume with a ±</a:t>
            </a:r>
          </a:p>
        </p:txBody>
      </p:sp>
      <p:pic>
        <p:nvPicPr>
          <p:cNvPr id="27" name="Picture 26" descr="lock.png"/>
          <p:cNvPicPr>
            <a:picLocks noChangeAspect="1"/>
          </p:cNvPicPr>
          <p:nvPr/>
        </p:nvPicPr>
        <p:blipFill>
          <a:blip r:embed="rId4"/>
          <a:stretch>
            <a:fillRect/>
          </a:stretch>
        </p:blipFill>
        <p:spPr>
          <a:xfrm>
            <a:off x="6464489" y="4970589"/>
            <a:ext cx="134549" cy="195707"/>
          </a:xfrm>
          <a:prstGeom prst="rect">
            <a:avLst/>
          </a:prstGeom>
        </p:spPr>
      </p:pic>
      <p:sp>
        <p:nvSpPr>
          <p:cNvPr id="28" name="TextBox 27"/>
          <p:cNvSpPr txBox="1"/>
          <p:nvPr/>
        </p:nvSpPr>
        <p:spPr>
          <a:xfrm>
            <a:off x="6639598" y="4980813"/>
            <a:ext cx="1455117" cy="194310"/>
          </a:xfrm>
          <a:prstGeom prst="rect">
            <a:avLst/>
          </a:prstGeom>
          <a:noFill/>
        </p:spPr>
        <p:txBody>
          <a:bodyPr wrap="none" lIns="0" rIns="0" tIns="0" bIns="0">
            <a:spAutoFit/>
          </a:bodyPr>
          <a:lstStyle/>
          <a:p>
            <a:r>
              <a:rPr sz="1150" b="0">
                <a:solidFill>
                  <a:srgbClr val="2E2E2E"/>
                </a:solidFill>
                <a:latin typeface="Calibri"/>
              </a:rPr>
              <a:t>observed trading band.</a:t>
            </a:r>
          </a:p>
        </p:txBody>
      </p:sp>
      <p:sp>
        <p:nvSpPr>
          <p:cNvPr id="29" name="TextBox 28"/>
          <p:cNvSpPr txBox="1"/>
          <p:nvPr/>
        </p:nvSpPr>
        <p:spPr>
          <a:xfrm>
            <a:off x="276225" y="5208650"/>
            <a:ext cx="2140867" cy="194310"/>
          </a:xfrm>
          <a:prstGeom prst="rect">
            <a:avLst/>
          </a:prstGeom>
          <a:noFill/>
        </p:spPr>
        <p:txBody>
          <a:bodyPr wrap="none" lIns="0" rIns="0" tIns="0" bIns="0">
            <a:spAutoFit/>
          </a:bodyPr>
          <a:lstStyle/>
          <a:p>
            <a:r>
              <a:rPr sz="1150" b="0">
                <a:solidFill>
                  <a:srgbClr val="2E2E2E"/>
                </a:solidFill>
                <a:latin typeface="Calibri"/>
              </a:rPr>
              <a:t>▪ Cross-region price dispersion of ~</a:t>
            </a:r>
          </a:p>
        </p:txBody>
      </p:sp>
      <p:pic>
        <p:nvPicPr>
          <p:cNvPr id="30" name="Picture 29" descr="lock.png"/>
          <p:cNvPicPr>
            <a:picLocks noChangeAspect="1"/>
          </p:cNvPicPr>
          <p:nvPr/>
        </p:nvPicPr>
        <p:blipFill>
          <a:blip r:embed="rId4"/>
          <a:stretch>
            <a:fillRect/>
          </a:stretch>
        </p:blipFill>
        <p:spPr>
          <a:xfrm>
            <a:off x="2366246" y="5198427"/>
            <a:ext cx="134549" cy="195707"/>
          </a:xfrm>
          <a:prstGeom prst="rect">
            <a:avLst/>
          </a:prstGeom>
        </p:spPr>
      </p:pic>
      <p:sp>
        <p:nvSpPr>
          <p:cNvPr id="31" name="TextBox 30"/>
          <p:cNvSpPr txBox="1"/>
          <p:nvPr/>
        </p:nvSpPr>
        <p:spPr>
          <a:xfrm>
            <a:off x="2541355" y="5208650"/>
            <a:ext cx="3627040" cy="194310"/>
          </a:xfrm>
          <a:prstGeom prst="rect">
            <a:avLst/>
          </a:prstGeom>
          <a:noFill/>
        </p:spPr>
        <p:txBody>
          <a:bodyPr wrap="none" lIns="0" rIns="0" tIns="0" bIns="0">
            <a:spAutoFit/>
          </a:bodyPr>
          <a:lstStyle/>
          <a:p>
            <a:r>
              <a:rPr sz="1150" b="0">
                <a:solidFill>
                  <a:srgbClr val="2E2E2E"/>
                </a:solidFill>
                <a:latin typeface="Calibri"/>
              </a:rPr>
              <a:t>× reflects differences in mix, logistics and channel structure.</a:t>
            </a:r>
          </a:p>
        </p:txBody>
      </p:sp>
      <p:sp>
        <p:nvSpPr>
          <p:cNvPr id="32" name="TextBox 31"/>
          <p:cNvSpPr txBox="1"/>
          <p:nvPr/>
        </p:nvSpPr>
        <p:spPr>
          <a:xfrm>
            <a:off x="276225" y="5436488"/>
            <a:ext cx="5691708" cy="194310"/>
          </a:xfrm>
          <a:prstGeom prst="rect">
            <a:avLst/>
          </a:prstGeom>
          <a:noFill/>
        </p:spPr>
        <p:txBody>
          <a:bodyPr wrap="none" lIns="0" rIns="0" tIns="0" bIns="0">
            <a:spAutoFit/>
          </a:bodyPr>
          <a:lstStyle/>
          <a:p>
            <a:r>
              <a:rPr sz="1150" b="0">
                <a:solidFill>
                  <a:srgbClr val="2E2E2E"/>
                </a:solidFill>
                <a:latin typeface="Calibri"/>
              </a:rPr>
              <a:t>▪ Benchmarks support price-corridor setting and margin-defence decisions across geographies.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Price Forecast &amp; Dynamics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Price forecast by sub-segment, 2026–2036, with the factors and dynamics shaping the trajectory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Forward price trajectory to 2036 by device technology type and the structural factors shaping it (US$/Units).</a:t>
            </a:r>
          </a:p>
        </p:txBody>
      </p:sp>
      <p:sp>
        <p:nvSpPr>
          <p:cNvPr id="11" name="Rounded Rectangle 10"/>
          <p:cNvSpPr/>
          <p:nvPr/>
        </p:nvSpPr>
        <p:spPr>
          <a:xfrm>
            <a:off x="142875" y="1317574"/>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74724"/>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Device Technology (US$/Units)</a:t>
            </a:r>
          </a:p>
        </p:txBody>
      </p:sp>
      <p:graphicFrame>
        <p:nvGraphicFramePr>
          <p:cNvPr id="13" name="Table 12"/>
          <p:cNvGraphicFramePr>
            <a:graphicFrameLocks noGrp="1"/>
          </p:cNvGraphicFramePr>
          <p:nvPr/>
        </p:nvGraphicFramePr>
        <p:xfrm>
          <a:off x="152400" y="1574749"/>
          <a:ext cx="11887199" cy="1504674"/>
        </p:xfrm>
        <a:graphic>
          <a:graphicData uri="http://schemas.openxmlformats.org/drawingml/2006/table">
            <a:tbl>
              <a:tblPr>
                <a:tableStyleId>{5C22544A-7EE6-4342-B048-85BDC9FD1C3A}</a:tableStyleId>
              </a:tblPr>
              <a:tblGrid>
                <a:gridCol w="4265861"/>
                <a:gridCol w="1270223"/>
                <a:gridCol w="1270223"/>
                <a:gridCol w="1270223"/>
                <a:gridCol w="1270223"/>
                <a:gridCol w="1270223"/>
                <a:gridCol w="1270223"/>
              </a:tblGrid>
              <a:tr h="246126">
                <a:tc>
                  <a:txBody>
                    <a:bodyPr wrap="none"/>
                    <a:lstStyle/>
                    <a:p>
                      <a:pPr algn="l"/>
                      <a:r>
                        <a:rPr sz="1100" b="1">
                          <a:solidFill>
                            <a:srgbClr val="0B2E4A"/>
                          </a:solidFill>
                          <a:latin typeface="Calibri"/>
                        </a:rPr>
                        <a:t>Device Technology</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2026E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2028F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2030F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2032F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2034F</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2036F</a:t>
                      </a:r>
                      <a:endParaRPr sz="1100"/>
                    </a:p>
                  </a:txBody>
                  <a:tcPr marL="47625" marR="38100" marT="19050" marB="19050" anchor="ctr">
                    <a:solidFill>
                      <a:srgbClr val="E0E8EF"/>
                    </a:solidFill>
                  </a:tcPr>
                </a:tc>
              </a:tr>
              <a:tr h="629274">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629274">
                <a:tc>
                  <a:txBody>
                    <a:bodyPr wrap="none"/>
                    <a:lstStyle/>
                    <a:p>
                      <a:pPr algn="l"/>
                      <a:r>
                        <a:rPr sz="1100" b="1">
                          <a:solidFill>
                            <a:srgbClr val="2E2E2E"/>
                          </a:solidFill>
                          <a:latin typeface="Calibri"/>
                        </a:rPr>
                        <a:t>Portable Machine Perfusion De…</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88948"/>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81350"/>
          </a:xfrm>
          <a:prstGeom prst="roundRect">
            <a:avLst>
              <a:gd name="adj" fmla="val 2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7" name="Table 16"/>
          <p:cNvGraphicFramePr>
            <a:graphicFrameLocks noGrp="1"/>
          </p:cNvGraphicFramePr>
          <p:nvPr/>
        </p:nvGraphicFramePr>
        <p:xfrm>
          <a:off x="152400" y="3655670"/>
          <a:ext cx="5886449" cy="2714626"/>
        </p:xfrm>
        <a:graphic>
          <a:graphicData uri="http://schemas.openxmlformats.org/drawingml/2006/table">
            <a:tbl>
              <a:tblPr>
                <a:tableStyleId>{5C22544A-7EE6-4342-B048-85BDC9FD1C3A}</a:tableStyleId>
              </a:tblPr>
              <a:tblGrid>
                <a:gridCol w="2867491"/>
                <a:gridCol w="1509479"/>
                <a:gridCol w="1509479"/>
              </a:tblGrid>
              <a:tr h="246126">
                <a:tc>
                  <a:txBody>
                    <a:bodyPr wrap="none"/>
                    <a:lstStyle/>
                    <a:p>
                      <a:pPr algn="l"/>
                      <a:r>
                        <a:rPr sz="1100" b="1">
                          <a:solidFill>
                            <a:srgbClr val="0B2E4A"/>
                          </a:solidFill>
                          <a:latin typeface="Calibri"/>
                        </a:rPr>
                        <a:t>Pricing Factor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Direction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Impact (H/M/L)</a:t>
                      </a:r>
                      <a:endParaRPr sz="1100"/>
                    </a:p>
                  </a:txBody>
                  <a:tcPr marL="47625" marR="38100" marT="19050" marB="19050" anchor="ctr">
                    <a:solidFill>
                      <a:srgbClr val="E0E8EF"/>
                    </a:solidFill>
                  </a:tcPr>
                </a:tc>
              </a:tr>
              <a:tr h="246850">
                <a:tc>
                  <a:txBody>
                    <a:bodyPr wrap="none"/>
                    <a:lstStyle/>
                    <a:p>
                      <a:pPr algn="l"/>
                      <a:r>
                        <a:rPr sz="1100" b="1">
                          <a:solidFill>
                            <a:srgbClr val="2E2E2E"/>
                          </a:solidFill>
                          <a:latin typeface="Calibri"/>
                        </a:rPr>
                        <a:t>Input Cost</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Labor &amp; Production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Technology &amp; Innovation</a:t>
                      </a:r>
                      <a:endParaRPr sz="1100"/>
                    </a:p>
                  </a:txBody>
                  <a:tcPr marL="47625" marR="38100" marT="19050" marB="19050" anchor="ctr">
                    <a:solidFill>
                      <a:srgbClr val="FFFFFF"/>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Supply Chain &amp; Logistics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Demand &amp; Market Conditions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Competitive Landscape</a:t>
                      </a:r>
                      <a:endParaRPr sz="1100"/>
                    </a:p>
                  </a:txBody>
                  <a:tcPr marL="47625" marR="38100" marT="19050" marB="19050" anchor="ctr">
                    <a:solidFill>
                      <a:srgbClr val="F5F8FA"/>
                    </a:solidFill>
                  </a:tcPr>
                </a:tc>
                <a:tc>
                  <a:txBody>
                    <a:bodyPr wrap="none"/>
                    <a:lstStyle/>
                    <a:p>
                      <a:pPr algn="l"/>
                      <a:r>
                        <a:rPr sz="1100" b="1">
                          <a:solidFill>
                            <a:srgbClr val="E44D3A"/>
                          </a:solidFill>
                          <a:latin typeface="Calibri"/>
                        </a:rPr>
                        <a:t>▼ Downward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Regulatory &amp; Compliance Costs</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Currency &amp; Trade Dynamics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r h="246850">
                <a:tc>
                  <a:txBody>
                    <a:bodyPr wrap="none"/>
                    <a:lstStyle/>
                    <a:p>
                      <a:pPr algn="l"/>
                      <a:r>
                        <a:rPr sz="1100" b="1">
                          <a:solidFill>
                            <a:srgbClr val="2E2E2E"/>
                          </a:solidFill>
                          <a:latin typeface="Calibri"/>
                        </a:rPr>
                        <a:t>Brand &amp; Value Perception</a:t>
                      </a:r>
                      <a:endParaRPr sz="1100"/>
                    </a:p>
                  </a:txBody>
                  <a:tcPr marL="47625" marR="38100" marT="19050" marB="19050" anchor="ctr">
                    <a:solidFill>
                      <a:srgbClr val="FFFFFF"/>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Medium</a:t>
                      </a:r>
                      <a:endParaRPr sz="1100"/>
                    </a:p>
                  </a:txBody>
                  <a:tcPr marL="47625" marR="38100" marT="19050" marB="19050" anchor="ctr">
                    <a:solidFill>
                      <a:srgbClr val="FFFFFF"/>
                    </a:solidFill>
                  </a:tcPr>
                </a:tc>
              </a:tr>
              <a:tr h="246850">
                <a:tc>
                  <a:txBody>
                    <a:bodyPr wrap="none"/>
                    <a:lstStyle/>
                    <a:p>
                      <a:pPr algn="l"/>
                      <a:r>
                        <a:rPr sz="1100" b="1">
                          <a:solidFill>
                            <a:srgbClr val="2E2E2E"/>
                          </a:solidFill>
                          <a:latin typeface="Calibri"/>
                        </a:rPr>
                        <a:t>Aftermarket &amp; Service Costs</a:t>
                      </a:r>
                      <a:endParaRPr sz="1100"/>
                    </a:p>
                  </a:txBody>
                  <a:tcPr marL="47625" marR="38100" marT="19050" marB="19050" anchor="ctr">
                    <a:solidFill>
                      <a:srgbClr val="F5F8FA"/>
                    </a:solidFill>
                  </a:tcPr>
                </a:tc>
                <a:tc>
                  <a:txBody>
                    <a:bodyPr wrap="none"/>
                    <a:lstStyle/>
                    <a:p>
                      <a:pPr algn="l"/>
                      <a:r>
                        <a:rPr sz="1100" b="1">
                          <a:solidFill>
                            <a:srgbClr val="2E7D32"/>
                          </a:solidFill>
                          <a:latin typeface="Calibri"/>
                        </a:rPr>
                        <a:t>▲ Upward</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Low</a:t>
                      </a:r>
                      <a:endParaRPr sz="1100"/>
                    </a:p>
                  </a:txBody>
                  <a:tcPr marL="47625" marR="38100" marT="19050" marB="19050" anchor="ctr">
                    <a:solidFill>
                      <a:srgbClr val="F5F8FA"/>
                    </a:solidFill>
                  </a:tcPr>
                </a:tc>
              </a:tr>
            </a:tbl>
          </a:graphicData>
        </a:graphic>
      </p:graphicFrame>
      <p:sp>
        <p:nvSpPr>
          <p:cNvPr id="18" name="TextBox 17"/>
          <p:cNvSpPr txBox="1"/>
          <p:nvPr/>
        </p:nvSpPr>
        <p:spPr>
          <a:xfrm>
            <a:off x="219075" y="6379820"/>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3398495"/>
            <a:ext cx="5848350" cy="3157890"/>
          </a:xfrm>
          <a:prstGeom prst="roundRect">
            <a:avLst>
              <a:gd name="adj" fmla="val 2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4125" y="3484220"/>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1" name="Rectangle 20"/>
          <p:cNvSpPr/>
          <p:nvPr/>
        </p:nvSpPr>
        <p:spPr>
          <a:xfrm>
            <a:off x="6334125" y="3722345"/>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3808070"/>
            <a:ext cx="5581650" cy="267211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8042240" y="2183449"/>
            <a:ext cx="366712" cy="533400"/>
          </a:xfrm>
          <a:prstGeom prst="rect">
            <a:avLst/>
          </a:prstGeom>
        </p:spPr>
      </p:pic>
      <p:sp>
        <p:nvSpPr>
          <p:cNvPr id="25" name="TextBox 24"/>
          <p:cNvSpPr txBox="1"/>
          <p:nvPr/>
        </p:nvSpPr>
        <p:spPr>
          <a:xfrm>
            <a:off x="6334125" y="3817595"/>
            <a:ext cx="3650106" cy="194310"/>
          </a:xfrm>
          <a:prstGeom prst="rect">
            <a:avLst/>
          </a:prstGeom>
          <a:noFill/>
        </p:spPr>
        <p:txBody>
          <a:bodyPr wrap="none" lIns="0" rIns="0" tIns="0" bIns="0">
            <a:spAutoFit/>
          </a:bodyPr>
          <a:lstStyle/>
          <a:p>
            <a:r>
              <a:rPr sz="1150" b="0">
                <a:solidFill>
                  <a:srgbClr val="2E2E2E"/>
                </a:solidFill>
                <a:latin typeface="Calibri"/>
              </a:rPr>
              <a:t>▪ Average device technology price is projected to rise from ~</a:t>
            </a:r>
          </a:p>
        </p:txBody>
      </p:sp>
      <p:pic>
        <p:nvPicPr>
          <p:cNvPr id="26" name="Picture 25" descr="lock.png"/>
          <p:cNvPicPr>
            <a:picLocks noChangeAspect="1"/>
          </p:cNvPicPr>
          <p:nvPr/>
        </p:nvPicPr>
        <p:blipFill>
          <a:blip r:embed="rId4"/>
          <a:stretch>
            <a:fillRect/>
          </a:stretch>
        </p:blipFill>
        <p:spPr>
          <a:xfrm>
            <a:off x="9933385" y="3807371"/>
            <a:ext cx="134549" cy="195707"/>
          </a:xfrm>
          <a:prstGeom prst="rect">
            <a:avLst/>
          </a:prstGeom>
        </p:spPr>
      </p:pic>
      <p:sp>
        <p:nvSpPr>
          <p:cNvPr id="27" name="TextBox 26"/>
          <p:cNvSpPr txBox="1"/>
          <p:nvPr/>
        </p:nvSpPr>
        <p:spPr>
          <a:xfrm>
            <a:off x="10108494" y="3817595"/>
            <a:ext cx="308111" cy="194310"/>
          </a:xfrm>
          <a:prstGeom prst="rect">
            <a:avLst/>
          </a:prstGeom>
          <a:noFill/>
        </p:spPr>
        <p:txBody>
          <a:bodyPr wrap="none" lIns="0" rIns="0" tIns="0" bIns="0">
            <a:spAutoFit/>
          </a:bodyPr>
          <a:lstStyle/>
          <a:p>
            <a:r>
              <a:rPr sz="1150" b="0">
                <a:solidFill>
                  <a:srgbClr val="2E2E2E"/>
                </a:solidFill>
                <a:latin typeface="Calibri"/>
              </a:rPr>
              <a:t>to ~</a:t>
            </a:r>
          </a:p>
        </p:txBody>
      </p:sp>
      <p:pic>
        <p:nvPicPr>
          <p:cNvPr id="28" name="Picture 27" descr="lock.png"/>
          <p:cNvPicPr>
            <a:picLocks noChangeAspect="1"/>
          </p:cNvPicPr>
          <p:nvPr/>
        </p:nvPicPr>
        <p:blipFill>
          <a:blip r:embed="rId4"/>
          <a:stretch>
            <a:fillRect/>
          </a:stretch>
        </p:blipFill>
        <p:spPr>
          <a:xfrm>
            <a:off x="10365759" y="3807371"/>
            <a:ext cx="134549" cy="195707"/>
          </a:xfrm>
          <a:prstGeom prst="rect">
            <a:avLst/>
          </a:prstGeom>
        </p:spPr>
      </p:pic>
      <p:sp>
        <p:nvSpPr>
          <p:cNvPr id="29" name="TextBox 28"/>
          <p:cNvSpPr txBox="1"/>
          <p:nvPr/>
        </p:nvSpPr>
        <p:spPr>
          <a:xfrm>
            <a:off x="10540868" y="3817595"/>
            <a:ext cx="1183840" cy="194310"/>
          </a:xfrm>
          <a:prstGeom prst="rect">
            <a:avLst/>
          </a:prstGeom>
          <a:noFill/>
        </p:spPr>
        <p:txBody>
          <a:bodyPr wrap="none" lIns="0" rIns="0" tIns="0" bIns="0">
            <a:spAutoFit/>
          </a:bodyPr>
          <a:lstStyle/>
          <a:p>
            <a:r>
              <a:rPr sz="1150" b="0">
                <a:solidFill>
                  <a:srgbClr val="2E2E2E"/>
                </a:solidFill>
                <a:latin typeface="Calibri"/>
              </a:rPr>
              <a:t>US$/Units by 2036</a:t>
            </a:r>
          </a:p>
        </p:txBody>
      </p:sp>
      <p:sp>
        <p:nvSpPr>
          <p:cNvPr id="30" name="TextBox 29"/>
          <p:cNvSpPr txBox="1"/>
          <p:nvPr/>
        </p:nvSpPr>
        <p:spPr>
          <a:xfrm>
            <a:off x="6334125" y="3992855"/>
            <a:ext cx="251916" cy="194310"/>
          </a:xfrm>
          <a:prstGeom prst="rect">
            <a:avLst/>
          </a:prstGeom>
          <a:noFill/>
        </p:spPr>
        <p:txBody>
          <a:bodyPr wrap="none" lIns="0" rIns="0" tIns="0" bIns="0">
            <a:spAutoFit/>
          </a:bodyPr>
          <a:lstStyle/>
          <a:p>
            <a:r>
              <a:rPr sz="1150" b="0">
                <a:solidFill>
                  <a:srgbClr val="2E2E2E"/>
                </a:solidFill>
                <a:latin typeface="Calibri"/>
              </a:rPr>
              <a:t>a +</a:t>
            </a:r>
          </a:p>
        </p:txBody>
      </p:sp>
      <p:pic>
        <p:nvPicPr>
          <p:cNvPr id="31" name="Picture 30" descr="lock.png"/>
          <p:cNvPicPr>
            <a:picLocks noChangeAspect="1"/>
          </p:cNvPicPr>
          <p:nvPr/>
        </p:nvPicPr>
        <p:blipFill>
          <a:blip r:embed="rId4"/>
          <a:stretch>
            <a:fillRect/>
          </a:stretch>
        </p:blipFill>
        <p:spPr>
          <a:xfrm>
            <a:off x="6535195" y="3982631"/>
            <a:ext cx="134549" cy="195707"/>
          </a:xfrm>
          <a:prstGeom prst="rect">
            <a:avLst/>
          </a:prstGeom>
        </p:spPr>
      </p:pic>
      <p:sp>
        <p:nvSpPr>
          <p:cNvPr id="32" name="TextBox 31"/>
          <p:cNvSpPr txBox="1"/>
          <p:nvPr/>
        </p:nvSpPr>
        <p:spPr>
          <a:xfrm>
            <a:off x="6710304" y="3992855"/>
            <a:ext cx="446726" cy="194310"/>
          </a:xfrm>
          <a:prstGeom prst="rect">
            <a:avLst/>
          </a:prstGeom>
          <a:noFill/>
        </p:spPr>
        <p:txBody>
          <a:bodyPr wrap="none" lIns="0" rIns="0" tIns="0" bIns="0">
            <a:spAutoFit/>
          </a:bodyPr>
          <a:lstStyle/>
          <a:p>
            <a:r>
              <a:rPr sz="1150" b="0">
                <a:solidFill>
                  <a:srgbClr val="2E2E2E"/>
                </a:solidFill>
                <a:latin typeface="Calibri"/>
              </a:rPr>
              <a:t>CAGR.</a:t>
            </a:r>
          </a:p>
        </p:txBody>
      </p:sp>
      <p:sp>
        <p:nvSpPr>
          <p:cNvPr id="33" name="TextBox 32"/>
          <p:cNvSpPr txBox="1"/>
          <p:nvPr/>
        </p:nvSpPr>
        <p:spPr>
          <a:xfrm>
            <a:off x="6334125" y="4220692"/>
            <a:ext cx="4836231" cy="194310"/>
          </a:xfrm>
          <a:prstGeom prst="rect">
            <a:avLst/>
          </a:prstGeom>
          <a:noFill/>
        </p:spPr>
        <p:txBody>
          <a:bodyPr wrap="none" lIns="0" rIns="0" tIns="0" bIns="0">
            <a:spAutoFit/>
          </a:bodyPr>
          <a:lstStyle/>
          <a:p>
            <a:r>
              <a:rPr sz="1150" b="0">
                <a:solidFill>
                  <a:srgbClr val="2E2E2E"/>
                </a:solidFill>
                <a:latin typeface="Calibri"/>
              </a:rPr>
              <a:t>▪ 'Static Cold Storage Devices' shows the strongest forecast price appreciation (+</a:t>
            </a:r>
          </a:p>
        </p:txBody>
      </p:sp>
      <p:pic>
        <p:nvPicPr>
          <p:cNvPr id="34" name="Picture 33" descr="lock.png"/>
          <p:cNvPicPr>
            <a:picLocks noChangeAspect="1"/>
          </p:cNvPicPr>
          <p:nvPr/>
        </p:nvPicPr>
        <p:blipFill>
          <a:blip r:embed="rId4"/>
          <a:stretch>
            <a:fillRect/>
          </a:stretch>
        </p:blipFill>
        <p:spPr>
          <a:xfrm>
            <a:off x="11119510" y="4210469"/>
            <a:ext cx="134549" cy="195707"/>
          </a:xfrm>
          <a:prstGeom prst="rect">
            <a:avLst/>
          </a:prstGeom>
        </p:spPr>
      </p:pic>
      <p:sp>
        <p:nvSpPr>
          <p:cNvPr id="35" name="TextBox 34"/>
          <p:cNvSpPr txBox="1"/>
          <p:nvPr/>
        </p:nvSpPr>
        <p:spPr>
          <a:xfrm>
            <a:off x="11294620" y="4220692"/>
            <a:ext cx="420216" cy="194310"/>
          </a:xfrm>
          <a:prstGeom prst="rect">
            <a:avLst/>
          </a:prstGeom>
          <a:noFill/>
        </p:spPr>
        <p:txBody>
          <a:bodyPr wrap="none" lIns="0" rIns="0" tIns="0" bIns="0">
            <a:spAutoFit/>
          </a:bodyPr>
          <a:lstStyle/>
          <a:p>
            <a:r>
              <a:rPr sz="1150" b="0">
                <a:solidFill>
                  <a:srgbClr val="2E2E2E"/>
                </a:solidFill>
                <a:latin typeface="Calibri"/>
              </a:rPr>
              <a:t>) over</a:t>
            </a:r>
          </a:p>
        </p:txBody>
      </p:sp>
      <p:sp>
        <p:nvSpPr>
          <p:cNvPr id="36" name="TextBox 35"/>
          <p:cNvSpPr txBox="1"/>
          <p:nvPr/>
        </p:nvSpPr>
        <p:spPr>
          <a:xfrm>
            <a:off x="6334125" y="4395952"/>
            <a:ext cx="794469" cy="194310"/>
          </a:xfrm>
          <a:prstGeom prst="rect">
            <a:avLst/>
          </a:prstGeom>
          <a:noFill/>
        </p:spPr>
        <p:txBody>
          <a:bodyPr wrap="none" lIns="0" rIns="0" tIns="0" bIns="0">
            <a:spAutoFit/>
          </a:bodyPr>
          <a:lstStyle/>
          <a:p>
            <a:r>
              <a:rPr sz="1150" b="0">
                <a:solidFill>
                  <a:srgbClr val="2E2E2E"/>
                </a:solidFill>
                <a:latin typeface="Calibri"/>
              </a:rPr>
              <a:t>the horizon.</a:t>
            </a:r>
          </a:p>
        </p:txBody>
      </p:sp>
      <p:sp>
        <p:nvSpPr>
          <p:cNvPr id="37" name="TextBox 36"/>
          <p:cNvSpPr txBox="1"/>
          <p:nvPr/>
        </p:nvSpPr>
        <p:spPr>
          <a:xfrm>
            <a:off x="6334125" y="4623790"/>
            <a:ext cx="5242433" cy="194310"/>
          </a:xfrm>
          <a:prstGeom prst="rect">
            <a:avLst/>
          </a:prstGeom>
          <a:noFill/>
        </p:spPr>
        <p:txBody>
          <a:bodyPr wrap="none" lIns="0" rIns="0" tIns="0" bIns="0">
            <a:spAutoFit/>
          </a:bodyPr>
          <a:lstStyle/>
          <a:p>
            <a:r>
              <a:rPr sz="1150" b="0">
                <a:solidFill>
                  <a:srgbClr val="2E2E2E"/>
                </a:solidFill>
                <a:latin typeface="Calibri"/>
              </a:rPr>
              <a:t>▪ Upward pressure is led by input cost and demand &amp; market conditions; efficiency and</a:t>
            </a:r>
          </a:p>
        </p:txBody>
      </p:sp>
      <p:sp>
        <p:nvSpPr>
          <p:cNvPr id="38" name="TextBox 37"/>
          <p:cNvSpPr txBox="1"/>
          <p:nvPr/>
        </p:nvSpPr>
        <p:spPr>
          <a:xfrm>
            <a:off x="6334125" y="4799050"/>
            <a:ext cx="2567037" cy="194310"/>
          </a:xfrm>
          <a:prstGeom prst="rect">
            <a:avLst/>
          </a:prstGeom>
          <a:noFill/>
        </p:spPr>
        <p:txBody>
          <a:bodyPr wrap="none" lIns="0" rIns="0" tIns="0" bIns="0">
            <a:spAutoFit/>
          </a:bodyPr>
          <a:lstStyle/>
          <a:p>
            <a:r>
              <a:rPr sz="1150" b="0">
                <a:solidFill>
                  <a:srgbClr val="2E2E2E"/>
                </a:solidFill>
                <a:latin typeface="Calibri"/>
              </a:rPr>
              <a:t>competitive intensity work the other way.</a:t>
            </a:r>
          </a:p>
        </p:txBody>
      </p:sp>
      <p:sp>
        <p:nvSpPr>
          <p:cNvPr id="39" name="TextBox 38"/>
          <p:cNvSpPr txBox="1"/>
          <p:nvPr/>
        </p:nvSpPr>
        <p:spPr>
          <a:xfrm>
            <a:off x="6334125" y="5026888"/>
            <a:ext cx="5203638" cy="194310"/>
          </a:xfrm>
          <a:prstGeom prst="rect">
            <a:avLst/>
          </a:prstGeom>
          <a:noFill/>
        </p:spPr>
        <p:txBody>
          <a:bodyPr wrap="none" lIns="0" rIns="0" tIns="0" bIns="0">
            <a:spAutoFit/>
          </a:bodyPr>
          <a:lstStyle/>
          <a:p>
            <a:r>
              <a:rPr sz="1150" b="0">
                <a:solidFill>
                  <a:srgbClr val="2E2E2E"/>
                </a:solidFill>
                <a:latin typeface="Calibri"/>
              </a:rPr>
              <a:t>▪ Net outlook: modest, structural price appreciation mix and geography will determine</a:t>
            </a:r>
          </a:p>
        </p:txBody>
      </p:sp>
      <p:sp>
        <p:nvSpPr>
          <p:cNvPr id="40" name="TextBox 39"/>
          <p:cNvSpPr txBox="1"/>
          <p:nvPr/>
        </p:nvSpPr>
        <p:spPr>
          <a:xfrm>
            <a:off x="6334125" y="5202148"/>
            <a:ext cx="1016111" cy="194310"/>
          </a:xfrm>
          <a:prstGeom prst="rect">
            <a:avLst/>
          </a:prstGeom>
          <a:noFill/>
        </p:spPr>
        <p:txBody>
          <a:bodyPr wrap="none" lIns="0" rIns="0" tIns="0" bIns="0">
            <a:spAutoFit/>
          </a:bodyPr>
          <a:lstStyle/>
          <a:p>
            <a:r>
              <a:rPr sz="1150" b="0">
                <a:solidFill>
                  <a:srgbClr val="2E2E2E"/>
                </a:solidFill>
                <a:latin typeface="Calibri"/>
              </a:rPr>
              <a:t>realised pricing.</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Competitor Pricing Strategies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how leading players position price: tier, price position versus peers and strategy focus</a:t>
            </a:r>
          </a:p>
        </p:txBody>
      </p:sp>
      <p:sp>
        <p:nvSpPr>
          <p:cNvPr id="10" name="Rounded Rectangle 9"/>
          <p:cNvSpPr/>
          <p:nvPr/>
        </p:nvSpPr>
        <p:spPr>
          <a:xfrm>
            <a:off x="142875" y="1007261"/>
            <a:ext cx="769620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Competitor pricing strategies how leading players position price and the levers they use to sustain it.</a:t>
            </a:r>
          </a:p>
        </p:txBody>
      </p:sp>
      <p:sp>
        <p:nvSpPr>
          <p:cNvPr id="11" name="Rounded Rectangle 10"/>
          <p:cNvSpPr/>
          <p:nvPr/>
        </p:nvSpPr>
        <p:spPr>
          <a:xfrm>
            <a:off x="142875" y="1317574"/>
            <a:ext cx="7696200" cy="3924545"/>
          </a:xfrm>
          <a:prstGeom prst="roundRect">
            <a:avLst>
              <a:gd name="adj" fmla="val 194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152400" y="1393774"/>
          <a:ext cx="7677149" cy="3619746"/>
        </p:xfrm>
        <a:graphic>
          <a:graphicData uri="http://schemas.openxmlformats.org/drawingml/2006/table">
            <a:tbl>
              <a:tblPr>
                <a:tableStyleId>{5C22544A-7EE6-4342-B048-85BDC9FD1C3A}</a:tableStyleId>
              </a:tblPr>
              <a:tblGrid>
                <a:gridCol w="2670163"/>
                <a:gridCol w="506741"/>
                <a:gridCol w="1065318"/>
                <a:gridCol w="997268"/>
                <a:gridCol w="2437659"/>
              </a:tblGrid>
              <a:tr h="246126">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Tier</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Price Position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ASP vs Peers</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Strategy Focus</a:t>
                      </a:r>
                      <a:endParaRPr sz="1100"/>
                    </a:p>
                  </a:txBody>
                  <a:tcPr marL="47625" marR="38100" marT="19050" marB="19050" anchor="ctr">
                    <a:solidFill>
                      <a:srgbClr val="E0E8EF"/>
                    </a:solidFill>
                  </a:tcPr>
                </a:tc>
              </a:tr>
              <a:tr h="562270">
                <a:tc>
                  <a:txBody>
                    <a:bodyPr wrap="none"/>
                    <a:lstStyle/>
                    <a:p>
                      <a:pPr algn="l"/>
                      <a:r>
                        <a:rPr sz="1100" b="1">
                          <a:solidFill>
                            <a:srgbClr val="2E2E2E"/>
                          </a:solidFill>
                          <a:latin typeface="Calibri"/>
                        </a:rPr>
                        <a:t>TransMedics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 brand-led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OrganOx</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Value-based premium pricing</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XVIVO Perfusion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Premium</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Innovation-led price leadership</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Paragonix Technologies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1</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 pricing with mix upsell</a:t>
                      </a:r>
                      <a:endParaRPr sz="1100"/>
                    </a:p>
                  </a:txBody>
                  <a:tcPr marL="47625" marR="38100" marT="19050" marB="19050" anchor="ctr">
                    <a:solidFill>
                      <a:srgbClr val="F5F8FA"/>
                    </a:solidFill>
                  </a:tcPr>
                </a:tc>
              </a:tr>
              <a:tr h="562270">
                <a:tc>
                  <a:txBody>
                    <a:bodyPr wrap="none"/>
                    <a:lstStyle/>
                    <a:p>
                      <a:pPr algn="l"/>
                      <a:r>
                        <a:rPr sz="1100" b="1">
                          <a:solidFill>
                            <a:srgbClr val="2E2E2E"/>
                          </a:solidFill>
                          <a:latin typeface="Calibri"/>
                        </a:rPr>
                        <a:t>Organ Recovery Systems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Penetration &amp; share-led pricing</a:t>
                      </a:r>
                      <a:endParaRPr sz="1100"/>
                    </a:p>
                  </a:txBody>
                  <a:tcPr marL="47625" marR="38100" marT="19050" marB="19050" anchor="ctr">
                    <a:solidFill>
                      <a:srgbClr val="FFFFFF"/>
                    </a:solidFill>
                  </a:tcPr>
                </a:tc>
              </a:tr>
              <a:tr h="562270">
                <a:tc>
                  <a:txBody>
                    <a:bodyPr wrap="none"/>
                    <a:lstStyle/>
                    <a:p>
                      <a:pPr algn="l"/>
                      <a:r>
                        <a:rPr sz="1100" b="1">
                          <a:solidFill>
                            <a:srgbClr val="2E2E2E"/>
                          </a:solidFill>
                          <a:latin typeface="Calibri"/>
                        </a:rPr>
                        <a:t>IGL Group / Waters Medical Systems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Tier 2</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Parity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Competitive / discount-led pricing</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5023044"/>
            <a:ext cx="75438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5351641"/>
            <a:ext cx="7696200" cy="365074"/>
          </a:xfrm>
          <a:prstGeom prst="roundRect">
            <a:avLst>
              <a:gd name="adj" fmla="val 208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Note: competitor figures are indicative derived from market modelling and expert validation, not company disclosures.</a:t>
            </a:r>
          </a:p>
        </p:txBody>
      </p:sp>
      <p:sp>
        <p:nvSpPr>
          <p:cNvPr id="15" name="Rounded Rectangle 14"/>
          <p:cNvSpPr/>
          <p:nvPr/>
        </p:nvSpPr>
        <p:spPr>
          <a:xfrm>
            <a:off x="7915275" y="1317574"/>
            <a:ext cx="4133850" cy="5238811"/>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8625" y="1403299"/>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7" name="Rectangle 16"/>
          <p:cNvSpPr/>
          <p:nvPr/>
        </p:nvSpPr>
        <p:spPr>
          <a:xfrm>
            <a:off x="8048625" y="1641424"/>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8625" y="1727149"/>
            <a:ext cx="3867150" cy="4753036"/>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4"/>
          <a:stretch>
            <a:fillRect/>
          </a:stretch>
        </p:blipFill>
        <p:spPr>
          <a:xfrm>
            <a:off x="4725235" y="3086680"/>
            <a:ext cx="330041" cy="480060"/>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Supply Chain Analysis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Supply Chain Analysis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17</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Supply Chain Analysis</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Value Chain &amp; Stakeholder Mapping</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Operating Margin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Buyers Assessment</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Value Chain &amp; Stakeholder Mapping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Mapping of the value chain stages, the stakeholders at each stage and the value added along the chain</a:t>
            </a:r>
          </a:p>
        </p:txBody>
      </p:sp>
      <p:sp>
        <p:nvSpPr>
          <p:cNvPr id="10" name="TextBox 9"/>
          <p:cNvSpPr txBox="1"/>
          <p:nvPr/>
        </p:nvSpPr>
        <p:spPr>
          <a:xfrm>
            <a:off x="285750" y="970754"/>
            <a:ext cx="10668000" cy="164283"/>
          </a:xfrm>
          <a:prstGeom prst="rect">
            <a:avLst/>
          </a:prstGeom>
          <a:noFill/>
        </p:spPr>
        <p:txBody>
          <a:bodyPr wrap="square" lIns="0" rIns="19050" tIns="0" bIns="0">
            <a:spAutoFit/>
          </a:bodyPr>
          <a:lstStyle/>
          <a:p>
            <a:pPr algn="l"/>
            <a:r>
              <a:rPr sz="1100" b="0">
                <a:solidFill>
                  <a:srgbClr val="6C7A89"/>
                </a:solidFill>
                <a:latin typeface="Calibri"/>
              </a:rPr>
              <a:t>End-to-end value chain with the key stakeholders at each stage and their indicative contribution to value addition.</a:t>
            </a:r>
          </a:p>
        </p:txBody>
      </p:sp>
      <p:sp>
        <p:nvSpPr>
          <p:cNvPr id="11" name="Right Arrow 10"/>
          <p:cNvSpPr/>
          <p:nvPr/>
        </p:nvSpPr>
        <p:spPr>
          <a:xfrm>
            <a:off x="1885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171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457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743950" y="2020341"/>
            <a:ext cx="1562100" cy="164283"/>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6" name="Oval 15"/>
          <p:cNvSpPr/>
          <p:nvPr/>
        </p:nvSpPr>
        <p:spPr>
          <a:xfrm>
            <a:off x="1076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3950" y="1719155"/>
            <a:ext cx="800100" cy="766655"/>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09712" y="2084229"/>
            <a:ext cx="28575" cy="1551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rot="19500000">
            <a:off x="1381125"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2100000">
            <a:off x="1524000" y="2020341"/>
            <a:ext cx="142875" cy="821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0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22" name="Rounded Rectangle 21"/>
          <p:cNvSpPr/>
          <p:nvPr/>
        </p:nvSpPr>
        <p:spPr>
          <a:xfrm>
            <a:off x="457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05646"/>
            <a:ext cx="2133600" cy="4563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2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5" name="TextBox 24"/>
          <p:cNvSpPr txBox="1"/>
          <p:nvPr/>
        </p:nvSpPr>
        <p:spPr>
          <a:xfrm>
            <a:off x="542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26" name="TextBox 25"/>
          <p:cNvSpPr txBox="1"/>
          <p:nvPr/>
        </p:nvSpPr>
        <p:spPr>
          <a:xfrm>
            <a:off x="542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719155"/>
            <a:ext cx="800100" cy="766655"/>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2084229"/>
            <a:ext cx="34290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983834"/>
            <a:ext cx="66675" cy="10952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2020341"/>
            <a:ext cx="66675" cy="7301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992961"/>
            <a:ext cx="66675" cy="10039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286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35" name="Rounded Rectangle 34"/>
          <p:cNvSpPr/>
          <p:nvPr/>
        </p:nvSpPr>
        <p:spPr>
          <a:xfrm>
            <a:off x="2743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905646"/>
            <a:ext cx="2133600" cy="4563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39" name="TextBox 38"/>
          <p:cNvSpPr txBox="1"/>
          <p:nvPr/>
        </p:nvSpPr>
        <p:spPr>
          <a:xfrm>
            <a:off x="2828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Convert inputs into finished and semi-finished product the single largest value-addition stage.</a:t>
            </a:r>
          </a:p>
        </p:txBody>
      </p:sp>
      <p:sp>
        <p:nvSpPr>
          <p:cNvPr id="40" name="TextBox 39"/>
          <p:cNvSpPr txBox="1"/>
          <p:nvPr/>
        </p:nvSpPr>
        <p:spPr>
          <a:xfrm>
            <a:off x="4991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1" name="Oval 40"/>
          <p:cNvSpPr/>
          <p:nvPr/>
        </p:nvSpPr>
        <p:spPr>
          <a:xfrm>
            <a:off x="5648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695950" y="1719155"/>
            <a:ext cx="800100" cy="76665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15025" y="2002088"/>
            <a:ext cx="209550" cy="16428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34100" y="2075102"/>
            <a:ext cx="123825" cy="912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972175"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153150" y="2148117"/>
            <a:ext cx="85725" cy="82142"/>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572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48" name="Rounded Rectangle 47"/>
          <p:cNvSpPr/>
          <p:nvPr/>
        </p:nvSpPr>
        <p:spPr>
          <a:xfrm>
            <a:off x="5029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0" y="2905646"/>
            <a:ext cx="2133600" cy="4563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114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1" name="TextBox 50"/>
          <p:cNvSpPr txBox="1"/>
          <p:nvPr/>
        </p:nvSpPr>
        <p:spPr>
          <a:xfrm>
            <a:off x="5114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52" name="TextBox 51"/>
          <p:cNvSpPr txBox="1"/>
          <p:nvPr/>
        </p:nvSpPr>
        <p:spPr>
          <a:xfrm>
            <a:off x="5114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Move product to market, hold inventory and provide logistics, reach and credit to downstream channels.</a:t>
            </a:r>
          </a:p>
        </p:txBody>
      </p:sp>
      <p:sp>
        <p:nvSpPr>
          <p:cNvPr id="53" name="TextBox 52"/>
          <p:cNvSpPr txBox="1"/>
          <p:nvPr/>
        </p:nvSpPr>
        <p:spPr>
          <a:xfrm>
            <a:off x="7277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4" name="Oval 53"/>
          <p:cNvSpPr/>
          <p:nvPr/>
        </p:nvSpPr>
        <p:spPr>
          <a:xfrm>
            <a:off x="7934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981950" y="1719155"/>
            <a:ext cx="800100" cy="766655"/>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Isosceles Triangle 55"/>
          <p:cNvSpPr/>
          <p:nvPr/>
        </p:nvSpPr>
        <p:spPr>
          <a:xfrm>
            <a:off x="8201025" y="1965580"/>
            <a:ext cx="361950" cy="109522"/>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39125" y="2065976"/>
            <a:ext cx="285750" cy="18253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343900" y="2138990"/>
            <a:ext cx="76200" cy="109522"/>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7858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60" name="Rounded Rectangle 59"/>
          <p:cNvSpPr/>
          <p:nvPr/>
        </p:nvSpPr>
        <p:spPr>
          <a:xfrm>
            <a:off x="7315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315200" y="2905646"/>
            <a:ext cx="2133600" cy="45634"/>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00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3" name="TextBox 62"/>
          <p:cNvSpPr txBox="1"/>
          <p:nvPr/>
        </p:nvSpPr>
        <p:spPr>
          <a:xfrm>
            <a:off x="7400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64" name="TextBox 63"/>
          <p:cNvSpPr txBox="1"/>
          <p:nvPr/>
        </p:nvSpPr>
        <p:spPr>
          <a:xfrm>
            <a:off x="7400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Sell to end customers across offline and online channels, capturing point-of-sale margin and brand visibility.</a:t>
            </a:r>
          </a:p>
        </p:txBody>
      </p:sp>
      <p:sp>
        <p:nvSpPr>
          <p:cNvPr id="65" name="TextBox 64"/>
          <p:cNvSpPr txBox="1"/>
          <p:nvPr/>
        </p:nvSpPr>
        <p:spPr>
          <a:xfrm>
            <a:off x="9563100" y="1262813"/>
            <a:ext cx="2209800" cy="34682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6" name="Oval 65"/>
          <p:cNvSpPr/>
          <p:nvPr/>
        </p:nvSpPr>
        <p:spPr>
          <a:xfrm>
            <a:off x="10220325" y="1673521"/>
            <a:ext cx="895350" cy="857924"/>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267950" y="1719155"/>
            <a:ext cx="800100" cy="766655"/>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0601325" y="1956453"/>
            <a:ext cx="133350" cy="1277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10544175" y="2111610"/>
            <a:ext cx="247650" cy="127776"/>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0144125" y="2595333"/>
            <a:ext cx="1047750" cy="219044"/>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100" b="1">
                <a:solidFill>
                  <a:srgbClr val="6F3CC2"/>
                </a:solidFill>
                <a:latin typeface="Calibri"/>
              </a:rPr>
              <a:t> </a:t>
            </a:r>
          </a:p>
        </p:txBody>
      </p:sp>
      <p:sp>
        <p:nvSpPr>
          <p:cNvPr id="71" name="Rounded Rectangle 70"/>
          <p:cNvSpPr/>
          <p:nvPr/>
        </p:nvSpPr>
        <p:spPr>
          <a:xfrm>
            <a:off x="9601200" y="2905646"/>
            <a:ext cx="2133600" cy="2281712"/>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601200" y="2905646"/>
            <a:ext cx="2133600" cy="4563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86925" y="3015168"/>
            <a:ext cx="1962150" cy="219044"/>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4" name="TextBox 73"/>
          <p:cNvSpPr txBox="1"/>
          <p:nvPr/>
        </p:nvSpPr>
        <p:spPr>
          <a:xfrm>
            <a:off x="9686925" y="3234212"/>
            <a:ext cx="1962150" cy="182537"/>
          </a:xfrm>
          <a:prstGeom prst="rect">
            <a:avLst/>
          </a:prstGeom>
          <a:noFill/>
        </p:spPr>
        <p:txBody>
          <a:bodyPr wrap="square" lIns="28575" rIns="28575" tIns="9525" bIns="9525">
            <a:spAutoFit/>
          </a:bodyPr>
          <a:lstStyle/>
          <a:p>
            <a:pPr algn="l">
              <a:lnSpc>
                <a:spcPct val="100000"/>
              </a:lnSpc>
            </a:pPr>
            <a:r>
              <a:rPr sz="1100" b="0">
                <a:solidFill>
                  <a:srgbClr val="6C7A89"/>
                </a:solidFill>
                <a:latin typeface="Calibri"/>
              </a:rPr>
              <a:t>Base Year: 2026</a:t>
            </a:r>
          </a:p>
        </p:txBody>
      </p:sp>
      <p:sp>
        <p:nvSpPr>
          <p:cNvPr id="75" name="TextBox 74"/>
          <p:cNvSpPr txBox="1"/>
          <p:nvPr/>
        </p:nvSpPr>
        <p:spPr>
          <a:xfrm>
            <a:off x="9686925" y="3453257"/>
            <a:ext cx="1962150" cy="1642833"/>
          </a:xfrm>
          <a:prstGeom prst="rect">
            <a:avLst/>
          </a:prstGeom>
          <a:noFill/>
        </p:spPr>
        <p:txBody>
          <a:bodyPr wrap="square" lIns="28575" rIns="28575" tIns="9525" bIns="9525">
            <a:spAutoFit/>
          </a:bodyPr>
          <a:lstStyle/>
          <a:p>
            <a:pPr algn="l">
              <a:lnSpc>
                <a:spcPct val="122000"/>
              </a:lnSpc>
            </a:pPr>
            <a:r>
              <a:rPr sz="1100" b="0">
                <a:solidFill>
                  <a:srgbClr val="2E2E2E"/>
                </a:solidFill>
                <a:latin typeface="Calibri"/>
              </a:rPr>
              <a:t>Consumers and downstream industries; large end users sometimes backward-integrate to secure supply and cost.</a:t>
            </a:r>
          </a:p>
        </p:txBody>
      </p:sp>
      <p:sp>
        <p:nvSpPr>
          <p:cNvPr id="76" name="Rounded Rectangle 75"/>
          <p:cNvSpPr/>
          <p:nvPr/>
        </p:nvSpPr>
        <p:spPr>
          <a:xfrm>
            <a:off x="381000" y="5315134"/>
            <a:ext cx="11430000" cy="1204744"/>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4350" y="5397275"/>
            <a:ext cx="11163300" cy="200791"/>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8" name="Rectangle 77"/>
          <p:cNvSpPr/>
          <p:nvPr/>
        </p:nvSpPr>
        <p:spPr>
          <a:xfrm>
            <a:off x="514350" y="5625447"/>
            <a:ext cx="11163300" cy="18254"/>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14350" y="5707588"/>
            <a:ext cx="11163300" cy="739275"/>
          </a:xfrm>
          <a:prstGeom prst="rect">
            <a:avLst/>
          </a:prstGeom>
          <a:noFill/>
        </p:spPr>
        <p:txBody>
          <a:bodyPr wrap="square" lIns="0" rIns="19050" tIns="9525" bIns="9525">
            <a:spAutoFit/>
          </a:bodyPr>
          <a:lstStyle/>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a:p>
            <a:pPr algn="l">
              <a:lnSpc>
                <a:spcPct val="100000"/>
              </a:lnSpc>
              <a:spcBef>
                <a:spcPts val="0"/>
              </a:spcBef>
              <a:spcAft>
                <a:spcPts val="300"/>
              </a:spcAft>
            </a:pPr>
            <a:r>
              <a:rPr sz="1100" b="0">
                <a:solidFill>
                  <a:srgbClr val="0E72AE"/>
                </a:solidFill>
                <a:latin typeface="Calibri"/>
              </a:rPr>
              <a:t/>
            </a:r>
            <a:r>
              <a:rPr sz="1100" b="0">
                <a:solidFill>
                  <a:srgbClr val="2E2E2E"/>
                </a:solidFill>
                <a:latin typeface="Calibri"/>
              </a:rPr>
              <a:t/>
            </a:r>
          </a:p>
        </p:txBody>
      </p:sp>
      <p:sp>
        <p:nvSpPr>
          <p:cNvPr id="80" name="TextBox 7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1" name="Picture 80" descr="lock.png"/>
          <p:cNvPicPr>
            <a:picLocks noChangeAspect="1"/>
          </p:cNvPicPr>
          <p:nvPr/>
        </p:nvPicPr>
        <p:blipFill>
          <a:blip r:embed="rId4"/>
          <a:stretch>
            <a:fillRect/>
          </a:stretch>
        </p:blipFill>
        <p:spPr>
          <a:xfrm>
            <a:off x="1459650" y="2611256"/>
            <a:ext cx="128699" cy="187198"/>
          </a:xfrm>
          <a:prstGeom prst="rect">
            <a:avLst/>
          </a:prstGeom>
        </p:spPr>
      </p:pic>
      <p:pic>
        <p:nvPicPr>
          <p:cNvPr id="82" name="Picture 81" descr="lock.png"/>
          <p:cNvPicPr>
            <a:picLocks noChangeAspect="1"/>
          </p:cNvPicPr>
          <p:nvPr/>
        </p:nvPicPr>
        <p:blipFill>
          <a:blip r:embed="rId4"/>
          <a:stretch>
            <a:fillRect/>
          </a:stretch>
        </p:blipFill>
        <p:spPr>
          <a:xfrm>
            <a:off x="3745650" y="2611256"/>
            <a:ext cx="128699" cy="187198"/>
          </a:xfrm>
          <a:prstGeom prst="rect">
            <a:avLst/>
          </a:prstGeom>
        </p:spPr>
      </p:pic>
      <p:pic>
        <p:nvPicPr>
          <p:cNvPr id="83" name="Picture 82" descr="lock.png"/>
          <p:cNvPicPr>
            <a:picLocks noChangeAspect="1"/>
          </p:cNvPicPr>
          <p:nvPr/>
        </p:nvPicPr>
        <p:blipFill>
          <a:blip r:embed="rId4"/>
          <a:stretch>
            <a:fillRect/>
          </a:stretch>
        </p:blipFill>
        <p:spPr>
          <a:xfrm>
            <a:off x="6031650" y="2611256"/>
            <a:ext cx="128699" cy="187198"/>
          </a:xfrm>
          <a:prstGeom prst="rect">
            <a:avLst/>
          </a:prstGeom>
        </p:spPr>
      </p:pic>
      <p:pic>
        <p:nvPicPr>
          <p:cNvPr id="84" name="Picture 83" descr="lock.png"/>
          <p:cNvPicPr>
            <a:picLocks noChangeAspect="1"/>
          </p:cNvPicPr>
          <p:nvPr/>
        </p:nvPicPr>
        <p:blipFill>
          <a:blip r:embed="rId4"/>
          <a:stretch>
            <a:fillRect/>
          </a:stretch>
        </p:blipFill>
        <p:spPr>
          <a:xfrm>
            <a:off x="8317650" y="2611256"/>
            <a:ext cx="128699" cy="187198"/>
          </a:xfrm>
          <a:prstGeom prst="rect">
            <a:avLst/>
          </a:prstGeom>
        </p:spPr>
      </p:pic>
      <p:pic>
        <p:nvPicPr>
          <p:cNvPr id="85" name="Picture 84" descr="lock.png"/>
          <p:cNvPicPr>
            <a:picLocks noChangeAspect="1"/>
          </p:cNvPicPr>
          <p:nvPr/>
        </p:nvPicPr>
        <p:blipFill>
          <a:blip r:embed="rId4"/>
          <a:stretch>
            <a:fillRect/>
          </a:stretch>
        </p:blipFill>
        <p:spPr>
          <a:xfrm>
            <a:off x="10603650" y="2611256"/>
            <a:ext cx="128699" cy="187198"/>
          </a:xfrm>
          <a:prstGeom prst="rect">
            <a:avLst/>
          </a:prstGeom>
        </p:spPr>
      </p:pic>
      <p:sp>
        <p:nvSpPr>
          <p:cNvPr id="86" name="TextBox 85"/>
          <p:cNvSpPr txBox="1"/>
          <p:nvPr/>
        </p:nvSpPr>
        <p:spPr>
          <a:xfrm>
            <a:off x="514350" y="5717113"/>
            <a:ext cx="6746220" cy="153161"/>
          </a:xfrm>
          <a:prstGeom prst="rect">
            <a:avLst/>
          </a:prstGeom>
          <a:noFill/>
        </p:spPr>
        <p:txBody>
          <a:bodyPr wrap="none" lIns="0" rIns="0" tIns="0" bIns="0">
            <a:spAutoFit/>
          </a:bodyPr>
          <a:lstStyle/>
          <a:p>
            <a:r>
              <a:rPr sz="879" b="0">
                <a:solidFill>
                  <a:srgbClr val="2E2E2E"/>
                </a:solidFill>
                <a:latin typeface="Calibri"/>
              </a:rPr>
              <a:t>▪ The Organ Transport Devices Market value chain runs from raw-material suppliers through manufacturers, distributors and retailers to end users.</a:t>
            </a:r>
          </a:p>
        </p:txBody>
      </p:sp>
      <p:sp>
        <p:nvSpPr>
          <p:cNvPr id="87" name="TextBox 86"/>
          <p:cNvSpPr txBox="1"/>
          <p:nvPr/>
        </p:nvSpPr>
        <p:spPr>
          <a:xfrm>
            <a:off x="514350" y="5891458"/>
            <a:ext cx="3108563" cy="153161"/>
          </a:xfrm>
          <a:prstGeom prst="rect">
            <a:avLst/>
          </a:prstGeom>
          <a:noFill/>
        </p:spPr>
        <p:txBody>
          <a:bodyPr wrap="none" lIns="0" rIns="0" tIns="0" bIns="0">
            <a:spAutoFit/>
          </a:bodyPr>
          <a:lstStyle/>
          <a:p>
            <a:r>
              <a:rPr sz="879" b="0">
                <a:solidFill>
                  <a:srgbClr val="2E2E2E"/>
                </a:solidFill>
                <a:latin typeface="Calibri"/>
              </a:rPr>
              <a:t>▪ 'Manufacturers / Processors' captures the largest value addition (</a:t>
            </a:r>
          </a:p>
        </p:txBody>
      </p:sp>
      <p:pic>
        <p:nvPicPr>
          <p:cNvPr id="88" name="Picture 87" descr="lock.png"/>
          <p:cNvPicPr>
            <a:picLocks noChangeAspect="1"/>
          </p:cNvPicPr>
          <p:nvPr/>
        </p:nvPicPr>
        <p:blipFill>
          <a:blip r:embed="rId4"/>
          <a:stretch>
            <a:fillRect/>
          </a:stretch>
        </p:blipFill>
        <p:spPr>
          <a:xfrm>
            <a:off x="3566114" y="5883635"/>
            <a:ext cx="102959" cy="149758"/>
          </a:xfrm>
          <a:prstGeom prst="rect">
            <a:avLst/>
          </a:prstGeom>
        </p:spPr>
      </p:pic>
      <p:sp>
        <p:nvSpPr>
          <p:cNvPr id="89" name="TextBox 88"/>
          <p:cNvSpPr txBox="1"/>
          <p:nvPr/>
        </p:nvSpPr>
        <p:spPr>
          <a:xfrm>
            <a:off x="3700111" y="5891458"/>
            <a:ext cx="2123678" cy="153161"/>
          </a:xfrm>
          <a:prstGeom prst="rect">
            <a:avLst/>
          </a:prstGeom>
          <a:noFill/>
        </p:spPr>
        <p:txBody>
          <a:bodyPr wrap="none" lIns="0" rIns="0" tIns="0" bIns="0">
            <a:spAutoFit/>
          </a:bodyPr>
          <a:lstStyle/>
          <a:p>
            <a:r>
              <a:rPr sz="879" b="0">
                <a:solidFill>
                  <a:srgbClr val="2E2E2E"/>
                </a:solidFill>
                <a:latin typeface="Calibri"/>
              </a:rPr>
              <a:t>), reflecting processing and scale advantages.</a:t>
            </a:r>
          </a:p>
        </p:txBody>
      </p:sp>
      <p:sp>
        <p:nvSpPr>
          <p:cNvPr id="90" name="TextBox 89"/>
          <p:cNvSpPr txBox="1"/>
          <p:nvPr/>
        </p:nvSpPr>
        <p:spPr>
          <a:xfrm>
            <a:off x="514350" y="6065804"/>
            <a:ext cx="5690369" cy="153161"/>
          </a:xfrm>
          <a:prstGeom prst="rect">
            <a:avLst/>
          </a:prstGeom>
          <a:noFill/>
        </p:spPr>
        <p:txBody>
          <a:bodyPr wrap="none" lIns="0" rIns="0" tIns="0" bIns="0">
            <a:spAutoFit/>
          </a:bodyPr>
          <a:lstStyle/>
          <a:p>
            <a:r>
              <a:rPr sz="879" b="0">
                <a:solidFill>
                  <a:srgbClr val="2E2E2E"/>
                </a:solidFill>
                <a:latin typeface="Calibri"/>
              </a:rPr>
              <a:t>▪ Forward and backward integration is common some suppliers process, and some large end users produce their own input.</a:t>
            </a:r>
          </a:p>
        </p:txBody>
      </p:sp>
      <p:sp>
        <p:nvSpPr>
          <p:cNvPr id="91" name="TextBox 90"/>
          <p:cNvSpPr txBox="1"/>
          <p:nvPr/>
        </p:nvSpPr>
        <p:spPr>
          <a:xfrm>
            <a:off x="514350" y="6240149"/>
            <a:ext cx="3730228" cy="153161"/>
          </a:xfrm>
          <a:prstGeom prst="rect">
            <a:avLst/>
          </a:prstGeom>
          <a:noFill/>
        </p:spPr>
        <p:txBody>
          <a:bodyPr wrap="none" lIns="0" rIns="0" tIns="0" bIns="0">
            <a:spAutoFit/>
          </a:bodyPr>
          <a:lstStyle/>
          <a:p>
            <a:r>
              <a:rPr sz="879" b="0">
                <a:solidFill>
                  <a:srgbClr val="2E2E2E"/>
                </a:solidFill>
                <a:latin typeface="Calibri"/>
              </a:rPr>
              <a:t>▪ Percentages show each stage's indicative share of value added along the chain.</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Industry-Wide Operating Margin Analysis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Operating margin by region and value chain node, highlighting where value concentrates along the chain</a:t>
            </a:r>
          </a:p>
        </p:txBody>
      </p:sp>
      <p:sp>
        <p:nvSpPr>
          <p:cNvPr id="10" name="Rounded Rectangle 9"/>
          <p:cNvSpPr/>
          <p:nvPr/>
        </p:nvSpPr>
        <p:spPr>
          <a:xfrm>
            <a:off x="142875" y="981075"/>
            <a:ext cx="11906250" cy="3667125"/>
          </a:xfrm>
          <a:prstGeom prst="roundRect">
            <a:avLst>
              <a:gd name="adj" fmla="val 20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Organ Transport Devices Market Operating Margin by Region &amp; Node</a:t>
            </a:r>
          </a:p>
        </p:txBody>
      </p:sp>
      <p:graphicFrame>
        <p:nvGraphicFramePr>
          <p:cNvPr id="12" name="Table 11"/>
          <p:cNvGraphicFramePr>
            <a:graphicFrameLocks noGrp="1"/>
          </p:cNvGraphicFramePr>
          <p:nvPr/>
        </p:nvGraphicFramePr>
        <p:xfrm>
          <a:off x="152400" y="1238250"/>
          <a:ext cx="11887202" cy="3200406"/>
        </p:xfrm>
        <a:graphic>
          <a:graphicData uri="http://schemas.openxmlformats.org/drawingml/2006/table">
            <a:tbl>
              <a:tblPr>
                <a:tableStyleId>{5C22544A-7EE6-4342-B048-85BDC9FD1C3A}</a:tableStyleId>
              </a:tblPr>
              <a:tblGrid>
                <a:gridCol w="1208402"/>
                <a:gridCol w="2669700"/>
                <a:gridCol w="2669700"/>
                <a:gridCol w="2669700"/>
                <a:gridCol w="2669700"/>
              </a:tblGrid>
              <a:tr h="246126">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Node of Supply Chain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Operating Margin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Comparison to Parent Market</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Notes</a:t>
                      </a:r>
                      <a:endParaRPr sz="1100"/>
                    </a:p>
                  </a:txBody>
                  <a:tcPr marL="47625" marR="38100" marT="19050" marB="19050" anchor="ctr">
                    <a:solidFill>
                      <a:srgbClr val="E0E8EF"/>
                    </a:solidFill>
                  </a:tcPr>
                </a:tc>
              </a:tr>
              <a:tr h="246190">
                <a:tc>
                  <a:txBody>
                    <a:bodyPr wrap="none"/>
                    <a:lstStyle/>
                    <a:p>
                      <a:pPr algn="l"/>
                      <a:r>
                        <a:rPr sz="1100" b="1">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r h="246190">
                <a:tc>
                  <a:txBody>
                    <a:bodyPr wrap="none"/>
                    <a:lstStyle/>
                    <a:p>
                      <a:pPr algn="l"/>
                      <a:r>
                        <a:rPr sz="1100" b="1">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Raw Material Suppliers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Commodity-linked</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Manufacturers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Highest margins (value-add + scale)</a:t>
                      </a:r>
                      <a:endParaRPr sz="1100"/>
                    </a:p>
                  </a:txBody>
                  <a:tcPr marL="47625" marR="38100" marT="19050" marB="19050" anchor="ctr">
                    <a:solidFill>
                      <a:srgbClr val="F5F8FA"/>
                    </a:solidFill>
                  </a:tcPr>
                </a:tc>
              </a:tr>
              <a:tr h="246190">
                <a:tc>
                  <a:txBody>
                    <a:bodyPr wrap="none"/>
                    <a:lstStyle/>
                    <a:p>
                      <a:pPr algn="l"/>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Distributors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Volume-led, thin</a:t>
                      </a:r>
                      <a:endParaRPr sz="1100"/>
                    </a:p>
                  </a:txBody>
                  <a:tcPr marL="47625" marR="38100" marT="19050" marB="19050" anchor="ctr">
                    <a:solidFill>
                      <a:srgbClr val="FFFFFF"/>
                    </a:solidFill>
                  </a:tcPr>
                </a:tc>
              </a:tr>
              <a:tr h="246190">
                <a:tc>
                  <a:txBody>
                    <a:bodyPr wrap="none"/>
                    <a:lstStyle/>
                    <a:p>
                      <a:pPr algn="l"/>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Retailers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Channel-dependent PoS margin</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448175"/>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781550"/>
            <a:ext cx="11906250" cy="1847850"/>
          </a:xfrm>
          <a:prstGeom prst="roundRect">
            <a:avLst>
              <a:gd name="adj" fmla="val 412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86727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6" name="Rectangle 15"/>
          <p:cNvSpPr/>
          <p:nvPr/>
        </p:nvSpPr>
        <p:spPr>
          <a:xfrm>
            <a:off x="276225" y="51054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191125"/>
            <a:ext cx="11639550" cy="136207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6513512" y="2694815"/>
            <a:ext cx="366712" cy="533400"/>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Buyers Assessment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Assessment of buyers and end users by volume, average price and revenue, highlighting purchasing power</a:t>
            </a:r>
          </a:p>
        </p:txBody>
      </p:sp>
      <p:sp>
        <p:nvSpPr>
          <p:cNvPr id="10" name="Rounded Rectangle 9"/>
          <p:cNvSpPr/>
          <p:nvPr/>
        </p:nvSpPr>
        <p:spPr>
          <a:xfrm>
            <a:off x="142875" y="981075"/>
            <a:ext cx="11906250" cy="3371850"/>
          </a:xfrm>
          <a:prstGeom prst="roundRect">
            <a:avLst>
              <a:gd name="adj" fmla="val 22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038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Organ Transport Devices Market Buyers / End-User Assessment</a:t>
            </a:r>
          </a:p>
        </p:txBody>
      </p:sp>
      <p:graphicFrame>
        <p:nvGraphicFramePr>
          <p:cNvPr id="12" name="Table 11"/>
          <p:cNvGraphicFramePr>
            <a:graphicFrameLocks noGrp="1"/>
          </p:cNvGraphicFramePr>
          <p:nvPr/>
        </p:nvGraphicFramePr>
        <p:xfrm>
          <a:off x="152400" y="1238250"/>
          <a:ext cx="11889638" cy="2905122"/>
        </p:xfrm>
        <a:graphic>
          <a:graphicData uri="http://schemas.openxmlformats.org/drawingml/2006/table">
            <a:tbl>
              <a:tblPr>
                <a:tableStyleId>{5C22544A-7EE6-4342-B048-85BDC9FD1C3A}</a:tableStyleId>
              </a:tblPr>
              <a:tblGrid>
                <a:gridCol w="2326821"/>
                <a:gridCol w="1348331"/>
                <a:gridCol w="966394"/>
                <a:gridCol w="1000104"/>
                <a:gridCol w="1387898"/>
                <a:gridCol w="1105169"/>
                <a:gridCol w="1253141"/>
                <a:gridCol w="1133871"/>
                <a:gridCol w="1367909"/>
              </a:tblGrid>
              <a:tr h="438912">
                <a:tc>
                  <a:txBody>
                    <a:bodyPr wrap="none"/>
                    <a:lstStyle/>
                    <a:p>
                      <a:pPr algn="l"/>
                      <a:r>
                        <a:rPr sz="1100" b="1">
                          <a:solidFill>
                            <a:srgbClr val="0B2E4A"/>
                          </a:solidFill>
                          <a:latin typeface="Calibri"/>
                        </a:rPr>
                        <a:t>Company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Country</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Region</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Category</a:t>
                      </a:r>
                      <a:endParaRPr sz="1100"/>
                    </a:p>
                  </a:txBody>
                  <a:tcPr marL="47625" marR="38100" marT="19050" marB="19050" anchor="ctr">
                    <a:solidFill>
                      <a:srgbClr val="E0E8EF"/>
                    </a:solidFill>
                  </a:tcPr>
                </a:tc>
                <a:tc>
                  <a:txBody>
                    <a:bodyPr wrap="square"/>
                    <a:lstStyle/>
                    <a:p>
                      <a:pPr algn="l"/>
                      <a:r>
                        <a:rPr sz="1100" b="1">
                          <a:solidFill>
                            <a:srgbClr val="0B2E4A"/>
                          </a:solidFill>
                          <a:latin typeface="Calibri"/>
                        </a:rPr>
                        <a:t>Buyer / End-User Type</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Procurement Vol.</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Avg Price (US$/Units)</a:t>
                      </a:r>
                      <a:endParaRPr sz="1100"/>
                    </a:p>
                  </a:txBody>
                  <a:tcPr marL="47625" marR="38100" marT="19050" marB="19050" anchor="ctr">
                    <a:solidFill>
                      <a:srgbClr val="E0E8EF"/>
                    </a:solidFill>
                  </a:tcPr>
                </a:tc>
                <a:tc>
                  <a:txBody>
                    <a:bodyPr wrap="square"/>
                    <a:lstStyle/>
                    <a:p>
                      <a:pPr algn="ctr"/>
                      <a:r>
                        <a:rPr sz="1100" b="1">
                          <a:solidFill>
                            <a:srgbClr val="0B2E4A"/>
                          </a:solidFill>
                          <a:latin typeface="Calibri"/>
                        </a:rPr>
                        <a:t>Revenue (US$ Mn)</a:t>
                      </a:r>
                      <a:endParaRPr sz="1100"/>
                    </a:p>
                  </a:txBody>
                  <a:tcPr marL="47625" marR="38100" marT="19050" marB="19050" anchor="ctr">
                    <a:solidFill>
                      <a:srgbClr val="E0E8EF"/>
                    </a:solidFill>
                  </a:tcPr>
                </a:tc>
                <a:tc>
                  <a:txBody>
                    <a:bodyPr wrap="none"/>
                    <a:lstStyle/>
                    <a:p>
                      <a:pPr algn="l"/>
                      <a:r>
                        <a:rPr sz="1100" b="1">
                          <a:solidFill>
                            <a:srgbClr val="0B2E4A"/>
                          </a:solidFill>
                          <a:latin typeface="Calibri"/>
                        </a:rPr>
                        <a:t>Key Selection Factor</a:t>
                      </a:r>
                      <a:endParaRPr sz="1100"/>
                    </a:p>
                  </a:txBody>
                  <a:tcPr marL="47625" marR="38100" marT="19050" marB="19050" anchor="ctr">
                    <a:solidFill>
                      <a:srgbClr val="E0E8EF"/>
                    </a:solidFill>
                  </a:tcPr>
                </a:tc>
              </a:tr>
              <a:tr h="246621">
                <a:tc>
                  <a:txBody>
                    <a:bodyPr wrap="none"/>
                    <a:lstStyle/>
                    <a:p>
                      <a:pPr algn="l"/>
                      <a:r>
                        <a:rPr sz="1100" b="1">
                          <a:solidFill>
                            <a:srgbClr val="2E2E2E"/>
                          </a:solidFill>
                          <a:latin typeface="Calibri"/>
                        </a:rPr>
                        <a:t>TransMedics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U.S.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OrganOx</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Canada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North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XVIVO Perfusion</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Brazil</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Paragonix Technologies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Mexico</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Organ Recovery Systems</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Colombia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IGL Group / Waters Medical Systems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Rest of 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Latin America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Price &amp; reliability</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Bridge to Life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Germany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Retailer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B2C / Retail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Quality &amp; compliance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Aferetica</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U.K.</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Others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Contract / OEM</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Lead time &amp; service</a:t>
                      </a:r>
                      <a:endParaRPr sz="1100"/>
                    </a:p>
                  </a:txBody>
                  <a:tcPr marL="47625" marR="38100" marT="19050" marB="19050" anchor="ctr">
                    <a:solidFill>
                      <a:srgbClr val="F5F8FA"/>
                    </a:solidFill>
                  </a:tcPr>
                </a:tc>
              </a:tr>
              <a:tr h="246621">
                <a:tc>
                  <a:txBody>
                    <a:bodyPr wrap="none"/>
                    <a:lstStyle/>
                    <a:p>
                      <a:pPr algn="l"/>
                      <a:r>
                        <a:rPr sz="1100" b="1">
                          <a:solidFill>
                            <a:srgbClr val="2E2E2E"/>
                          </a:solidFill>
                          <a:latin typeface="Calibri"/>
                        </a:rPr>
                        <a:t>EBERS Medical Technology</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France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Manufacturer</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B2B / Industrial</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l"/>
                      <a:r>
                        <a:rPr sz="1100" b="0">
                          <a:solidFill>
                            <a:srgbClr val="2E2E2E"/>
                          </a:solidFill>
                          <a:latin typeface="Calibri"/>
                        </a:rPr>
                        <a:t>Capacity &amp; scale</a:t>
                      </a:r>
                      <a:endParaRPr sz="1100"/>
                    </a:p>
                  </a:txBody>
                  <a:tcPr marL="47625" marR="38100" marT="19050" marB="19050" anchor="ctr">
                    <a:solidFill>
                      <a:srgbClr val="FFFFFF"/>
                    </a:solidFill>
                  </a:tcPr>
                </a:tc>
              </a:tr>
              <a:tr h="246621">
                <a:tc>
                  <a:txBody>
                    <a:bodyPr wrap="none"/>
                    <a:lstStyle/>
                    <a:p>
                      <a:pPr algn="l"/>
                      <a:r>
                        <a:rPr sz="1100" b="1">
                          <a:solidFill>
                            <a:srgbClr val="2E2E2E"/>
                          </a:solidFill>
                          <a:latin typeface="Calibri"/>
                        </a:rPr>
                        <a:t>Traferox Technologies</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Italy</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Europe</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Distributor</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B2B / Institutional</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l"/>
                      <a:r>
                        <a:rPr sz="1100" b="0">
                          <a:solidFill>
                            <a:srgbClr val="2E2E2E"/>
                          </a:solidFill>
                          <a:latin typeface="Calibri"/>
                        </a:rPr>
                        <a:t>Brand &amp; support</a:t>
                      </a:r>
                      <a:endParaRPr sz="1100"/>
                    </a:p>
                  </a:txBody>
                  <a:tcPr marL="47625" marR="38100" marT="19050" marB="19050" anchor="ctr">
                    <a:solidFill>
                      <a:srgbClr val="F5F8FA"/>
                    </a:solidFill>
                  </a:tcPr>
                </a:tc>
              </a:tr>
            </a:tbl>
          </a:graphicData>
        </a:graphic>
      </p:graphicFrame>
      <p:sp>
        <p:nvSpPr>
          <p:cNvPr id="13" name="TextBox 12"/>
          <p:cNvSpPr txBox="1"/>
          <p:nvPr/>
        </p:nvSpPr>
        <p:spPr>
          <a:xfrm>
            <a:off x="219075" y="4152900"/>
            <a:ext cx="117538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4" name="Rounded Rectangle 13"/>
          <p:cNvSpPr/>
          <p:nvPr/>
        </p:nvSpPr>
        <p:spPr>
          <a:xfrm>
            <a:off x="142875" y="4486275"/>
            <a:ext cx="11906250" cy="2143125"/>
          </a:xfrm>
          <a:prstGeom prst="roundRect">
            <a:avLst>
              <a:gd name="adj" fmla="val 355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457200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6" name="Rectangle 15"/>
          <p:cNvSpPr/>
          <p:nvPr/>
        </p:nvSpPr>
        <p:spPr>
          <a:xfrm>
            <a:off x="276225" y="4810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895850"/>
            <a:ext cx="11639550" cy="165735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8" name="TextBox 1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9" name="Picture 18" descr="lock.png"/>
          <p:cNvPicPr>
            <a:picLocks noChangeAspect="1"/>
          </p:cNvPicPr>
          <p:nvPr/>
        </p:nvPicPr>
        <p:blipFill>
          <a:blip r:embed="rId4"/>
          <a:stretch>
            <a:fillRect/>
          </a:stretch>
        </p:blipFill>
        <p:spPr>
          <a:xfrm>
            <a:off x="8735791" y="2643566"/>
            <a:ext cx="366712" cy="533400"/>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39407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3698875"/>
            <a:ext cx="7239000" cy="514350"/>
          </a:xfrm>
          <a:prstGeom prst="rect">
            <a:avLst/>
          </a:prstGeom>
          <a:noFill/>
        </p:spPr>
        <p:txBody>
          <a:bodyPr wrap="square" lIns="0" rIns="0" tIns="0">
            <a:spAutoFit/>
          </a:bodyPr>
          <a:lstStyle/>
          <a:p>
            <a:r>
              <a:rPr sz="3000" b="1" cap="all" spc="400">
                <a:solidFill>
                  <a:srgbClr val="FFFFFF"/>
                </a:solidFill>
                <a:latin typeface="Calibri"/>
              </a:rPr>
              <a:t>Market Dynamics</a:t>
            </a:r>
          </a:p>
        </p:txBody>
      </p:sp>
      <p:sp>
        <p:nvSpPr>
          <p:cNvPr id="7" name="TextBox 6"/>
          <p:cNvSpPr txBox="1"/>
          <p:nvPr/>
        </p:nvSpPr>
        <p:spPr>
          <a:xfrm>
            <a:off x="914400" y="4403725"/>
            <a:ext cx="7124700" cy="4889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Dynamics &amp; Forces</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18</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Dynamics &amp; Forces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Drivers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Restraints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Market Opportunities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Recent Developments &amp; Milestones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Five Forces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Dynamics by Region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growth driver, restraint and opportunity shaping each region of the global market</a:t>
            </a:r>
          </a:p>
        </p:txBody>
      </p:sp>
      <p:sp>
        <p:nvSpPr>
          <p:cNvPr id="10" name="TextBox 9"/>
          <p:cNvSpPr txBox="1"/>
          <p:nvPr/>
        </p:nvSpPr>
        <p:spPr>
          <a:xfrm>
            <a:off x="180975" y="1025515"/>
            <a:ext cx="8572500" cy="219044"/>
          </a:xfrm>
          <a:prstGeom prst="rect">
            <a:avLst/>
          </a:prstGeom>
          <a:noFill/>
        </p:spPr>
        <p:txBody>
          <a:bodyPr wrap="square" lIns="28575" rIns="28575" tIns="9525" bIns="9525" anchor="ctr">
            <a:spAutoFit/>
          </a:bodyPr>
          <a:lstStyle/>
          <a:p>
            <a:pPr algn="l"/>
            <a:r>
              <a:rPr sz="1150" b="1">
                <a:solidFill>
                  <a:srgbClr val="2E2E2E"/>
                </a:solidFill>
                <a:latin typeface="Calibri"/>
              </a:rPr>
              <a:t>Demand Dynamics by Region  ·  ranked by 2036 value</a:t>
            </a:r>
          </a:p>
        </p:txBody>
      </p:sp>
      <p:sp>
        <p:nvSpPr>
          <p:cNvPr id="11" name="Rectangle 10"/>
          <p:cNvSpPr/>
          <p:nvPr/>
        </p:nvSpPr>
        <p:spPr>
          <a:xfrm>
            <a:off x="142875" y="1262813"/>
            <a:ext cx="11906250" cy="255552"/>
          </a:xfrm>
          <a:prstGeom prst="rect">
            <a:avLst/>
          </a:prstGeom>
          <a:solidFill>
            <a:srgbClr val="DCE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0025" y="1262813"/>
            <a:ext cx="1428750" cy="255552"/>
          </a:xfrm>
          <a:prstGeom prst="rect">
            <a:avLst/>
          </a:prstGeom>
          <a:noFill/>
        </p:spPr>
        <p:txBody>
          <a:bodyPr wrap="square" lIns="28575" rIns="28575" tIns="9525" bIns="9525" anchor="ctr">
            <a:spAutoFit/>
          </a:bodyPr>
          <a:lstStyle/>
          <a:p>
            <a:pPr algn="l"/>
            <a:r>
              <a:rPr sz="1100" b="1">
                <a:solidFill>
                  <a:srgbClr val="0B2E4A"/>
                </a:solidFill>
                <a:latin typeface="Calibri"/>
              </a:rPr>
              <a:t>Region</a:t>
            </a:r>
          </a:p>
        </p:txBody>
      </p:sp>
      <p:sp>
        <p:nvSpPr>
          <p:cNvPr id="13" name="TextBox 12"/>
          <p:cNvSpPr txBox="1"/>
          <p:nvPr/>
        </p:nvSpPr>
        <p:spPr>
          <a:xfrm>
            <a:off x="1724025" y="1262813"/>
            <a:ext cx="3714750" cy="255552"/>
          </a:xfrm>
          <a:prstGeom prst="rect">
            <a:avLst/>
          </a:prstGeom>
          <a:noFill/>
        </p:spPr>
        <p:txBody>
          <a:bodyPr wrap="square" lIns="28575" rIns="28575" tIns="9525" bIns="9525" anchor="ctr">
            <a:spAutoFit/>
          </a:bodyPr>
          <a:lstStyle/>
          <a:p>
            <a:pPr algn="l"/>
            <a:r>
              <a:rPr sz="1100" b="1">
                <a:solidFill>
                  <a:srgbClr val="0B2E4A"/>
                </a:solidFill>
                <a:latin typeface="Calibri"/>
              </a:rPr>
              <a:t>Growth Drivers</a:t>
            </a:r>
          </a:p>
        </p:txBody>
      </p:sp>
      <p:sp>
        <p:nvSpPr>
          <p:cNvPr id="14" name="TextBox 13"/>
          <p:cNvSpPr txBox="1"/>
          <p:nvPr/>
        </p:nvSpPr>
        <p:spPr>
          <a:xfrm>
            <a:off x="5534025" y="1262813"/>
            <a:ext cx="2762250" cy="255552"/>
          </a:xfrm>
          <a:prstGeom prst="rect">
            <a:avLst/>
          </a:prstGeom>
          <a:noFill/>
        </p:spPr>
        <p:txBody>
          <a:bodyPr wrap="square" lIns="28575" rIns="28575" tIns="9525" bIns="9525" anchor="ctr">
            <a:spAutoFit/>
          </a:bodyPr>
          <a:lstStyle/>
          <a:p>
            <a:pPr algn="l"/>
            <a:r>
              <a:rPr sz="1100" b="1">
                <a:solidFill>
                  <a:srgbClr val="0B2E4A"/>
                </a:solidFill>
                <a:latin typeface="Calibri"/>
              </a:rPr>
              <a:t>Restraints</a:t>
            </a:r>
          </a:p>
        </p:txBody>
      </p:sp>
      <p:sp>
        <p:nvSpPr>
          <p:cNvPr id="15" name="TextBox 14"/>
          <p:cNvSpPr txBox="1"/>
          <p:nvPr/>
        </p:nvSpPr>
        <p:spPr>
          <a:xfrm>
            <a:off x="8391525" y="1262813"/>
            <a:ext cx="3619500" cy="255552"/>
          </a:xfrm>
          <a:prstGeom prst="rect">
            <a:avLst/>
          </a:prstGeom>
          <a:noFill/>
        </p:spPr>
        <p:txBody>
          <a:bodyPr wrap="square" lIns="28575" rIns="28575" tIns="9525" bIns="9525" anchor="ctr">
            <a:spAutoFit/>
          </a:bodyPr>
          <a:lstStyle/>
          <a:p>
            <a:pPr algn="l"/>
            <a:r>
              <a:rPr sz="1100" b="1">
                <a:solidFill>
                  <a:srgbClr val="0B2E4A"/>
                </a:solidFill>
                <a:latin typeface="Calibri"/>
              </a:rPr>
              <a:t>Priority Opportunities</a:t>
            </a:r>
          </a:p>
        </p:txBody>
      </p:sp>
      <p:sp>
        <p:nvSpPr>
          <p:cNvPr id="16" name="Rectangle 15"/>
          <p:cNvSpPr/>
          <p:nvPr/>
        </p:nvSpPr>
        <p:spPr>
          <a:xfrm>
            <a:off x="142875" y="1518365"/>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025" y="1518365"/>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North America</a:t>
            </a:r>
          </a:p>
        </p:txBody>
      </p:sp>
      <p:sp>
        <p:nvSpPr>
          <p:cNvPr id="18" name="TextBox 17"/>
          <p:cNvSpPr txBox="1"/>
          <p:nvPr/>
        </p:nvSpPr>
        <p:spPr>
          <a:xfrm>
            <a:off x="1724025" y="1545745"/>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9" name="TextBox 18"/>
          <p:cNvSpPr txBox="1"/>
          <p:nvPr/>
        </p:nvSpPr>
        <p:spPr>
          <a:xfrm>
            <a:off x="5534025" y="1545745"/>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0" name="TextBox 19"/>
          <p:cNvSpPr txBox="1"/>
          <p:nvPr/>
        </p:nvSpPr>
        <p:spPr>
          <a:xfrm>
            <a:off x="8391525" y="1545745"/>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2221132"/>
            <a:ext cx="11906250" cy="702767"/>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0025" y="2221132"/>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Europe</a:t>
            </a:r>
          </a:p>
        </p:txBody>
      </p:sp>
      <p:sp>
        <p:nvSpPr>
          <p:cNvPr id="23" name="TextBox 22"/>
          <p:cNvSpPr txBox="1"/>
          <p:nvPr/>
        </p:nvSpPr>
        <p:spPr>
          <a:xfrm>
            <a:off x="1724025" y="2248513"/>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5534025" y="2248513"/>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8391525" y="2248513"/>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6" name="Rectangle 25"/>
          <p:cNvSpPr/>
          <p:nvPr/>
        </p:nvSpPr>
        <p:spPr>
          <a:xfrm>
            <a:off x="142875" y="2923899"/>
            <a:ext cx="11906250" cy="7027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0025" y="2923899"/>
            <a:ext cx="1428750" cy="702767"/>
          </a:xfrm>
          <a:prstGeom prst="rect">
            <a:avLst/>
          </a:prstGeom>
          <a:noFill/>
        </p:spPr>
        <p:txBody>
          <a:bodyPr wrap="square" lIns="28575" rIns="28575" tIns="9525" bIns="9525" anchor="ctr">
            <a:spAutoFit/>
          </a:bodyPr>
          <a:lstStyle/>
          <a:p>
            <a:pPr algn="l"/>
            <a:r>
              <a:rPr sz="1100" b="1">
                <a:solidFill>
                  <a:srgbClr val="2E2E2E"/>
                </a:solidFill>
                <a:latin typeface="Calibri"/>
              </a:rPr>
              <a:t>South Asia &amp; Pacific</a:t>
            </a:r>
          </a:p>
        </p:txBody>
      </p:sp>
      <p:sp>
        <p:nvSpPr>
          <p:cNvPr id="28" name="TextBox 27"/>
          <p:cNvSpPr txBox="1"/>
          <p:nvPr/>
        </p:nvSpPr>
        <p:spPr>
          <a:xfrm>
            <a:off x="1724025" y="2951280"/>
            <a:ext cx="36766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TextBox 28"/>
          <p:cNvSpPr txBox="1"/>
          <p:nvPr/>
        </p:nvSpPr>
        <p:spPr>
          <a:xfrm>
            <a:off x="5534025" y="2951280"/>
            <a:ext cx="272415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Competitive intensity at scale.</a:t>
            </a:r>
          </a:p>
        </p:txBody>
      </p:sp>
      <p:sp>
        <p:nvSpPr>
          <p:cNvPr id="30" name="TextBox 29"/>
          <p:cNvSpPr txBox="1"/>
          <p:nvPr/>
        </p:nvSpPr>
        <p:spPr>
          <a:xfrm>
            <a:off x="8391525" y="2951280"/>
            <a:ext cx="3581400" cy="64800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1" name="Rectangle 30"/>
          <p:cNvSpPr/>
          <p:nvPr/>
        </p:nvSpPr>
        <p:spPr>
          <a:xfrm>
            <a:off x="142875" y="3626667"/>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0025" y="3626667"/>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East Asia</a:t>
            </a:r>
          </a:p>
        </p:txBody>
      </p:sp>
      <p:sp>
        <p:nvSpPr>
          <p:cNvPr id="33" name="TextBox 32"/>
          <p:cNvSpPr txBox="1"/>
          <p:nvPr/>
        </p:nvSpPr>
        <p:spPr>
          <a:xfrm>
            <a:off x="1724025" y="3654047"/>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4" name="TextBox 33"/>
          <p:cNvSpPr txBox="1"/>
          <p:nvPr/>
        </p:nvSpPr>
        <p:spPr>
          <a:xfrm>
            <a:off x="5534025" y="3654047"/>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8391525" y="3654047"/>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Rectangle 35"/>
          <p:cNvSpPr/>
          <p:nvPr/>
        </p:nvSpPr>
        <p:spPr>
          <a:xfrm>
            <a:off x="142875" y="4137770"/>
            <a:ext cx="11906250" cy="5111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0025" y="4137770"/>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Latin America</a:t>
            </a:r>
          </a:p>
        </p:txBody>
      </p:sp>
      <p:sp>
        <p:nvSpPr>
          <p:cNvPr id="38" name="TextBox 37"/>
          <p:cNvSpPr txBox="1"/>
          <p:nvPr/>
        </p:nvSpPr>
        <p:spPr>
          <a:xfrm>
            <a:off x="1724025" y="4165151"/>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9" name="TextBox 38"/>
          <p:cNvSpPr txBox="1"/>
          <p:nvPr/>
        </p:nvSpPr>
        <p:spPr>
          <a:xfrm>
            <a:off x="5534025" y="4165151"/>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0" name="TextBox 39"/>
          <p:cNvSpPr txBox="1"/>
          <p:nvPr/>
        </p:nvSpPr>
        <p:spPr>
          <a:xfrm>
            <a:off x="8391525" y="4165151"/>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Rectangle 40"/>
          <p:cNvSpPr/>
          <p:nvPr/>
        </p:nvSpPr>
        <p:spPr>
          <a:xfrm>
            <a:off x="142875" y="4648874"/>
            <a:ext cx="11906250" cy="51110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00025" y="4648874"/>
            <a:ext cx="1428750" cy="511104"/>
          </a:xfrm>
          <a:prstGeom prst="rect">
            <a:avLst/>
          </a:prstGeom>
          <a:noFill/>
        </p:spPr>
        <p:txBody>
          <a:bodyPr wrap="square" lIns="28575" rIns="28575" tIns="9525" bIns="9525" anchor="ctr">
            <a:spAutoFit/>
          </a:bodyPr>
          <a:lstStyle/>
          <a:p>
            <a:pPr algn="l"/>
            <a:r>
              <a:rPr sz="1100" b="1">
                <a:solidFill>
                  <a:srgbClr val="2E2E2E"/>
                </a:solidFill>
                <a:latin typeface="Calibri"/>
              </a:rPr>
              <a:t>Middle East &amp; Africa</a:t>
            </a:r>
          </a:p>
        </p:txBody>
      </p:sp>
      <p:sp>
        <p:nvSpPr>
          <p:cNvPr id="43" name="TextBox 42"/>
          <p:cNvSpPr txBox="1"/>
          <p:nvPr/>
        </p:nvSpPr>
        <p:spPr>
          <a:xfrm>
            <a:off x="1724025" y="4676254"/>
            <a:ext cx="36766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5534025" y="4676254"/>
            <a:ext cx="272415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TextBox 44"/>
          <p:cNvSpPr txBox="1"/>
          <p:nvPr/>
        </p:nvSpPr>
        <p:spPr>
          <a:xfrm>
            <a:off x="8391525" y="4676254"/>
            <a:ext cx="3581400" cy="45634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cxnSp>
        <p:nvCxnSpPr>
          <p:cNvPr id="46" name="Connector 45"/>
          <p:cNvCxnSpPr/>
          <p:nvPr/>
        </p:nvCxnSpPr>
        <p:spPr>
          <a:xfrm>
            <a:off x="142875" y="5159977"/>
            <a:ext cx="11906250" cy="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00025" y="5178231"/>
            <a:ext cx="3810000" cy="182537"/>
          </a:xfrm>
          <a:prstGeom prst="rect">
            <a:avLst/>
          </a:prstGeom>
          <a:noFill/>
        </p:spPr>
        <p:txBody>
          <a:bodyPr wrap="square" lIns="28575" rIns="28575" tIns="9525" bIns="9525" anchor="ctr">
            <a:spAutoFit/>
          </a:bodyPr>
          <a:lstStyle/>
          <a:p>
            <a:pPr algn="l"/>
            <a:r>
              <a:rPr sz="1100" b="0">
                <a:solidFill>
                  <a:srgbClr val="6C7A89"/>
                </a:solidFill>
                <a:latin typeface="Calibri"/>
              </a:rPr>
              <a:t>Source: FMI Analysis, 2026</a:t>
            </a:r>
          </a:p>
        </p:txBody>
      </p:sp>
      <p:sp>
        <p:nvSpPr>
          <p:cNvPr id="48" name="Rounded Rectangle 47"/>
          <p:cNvSpPr/>
          <p:nvPr/>
        </p:nvSpPr>
        <p:spPr>
          <a:xfrm>
            <a:off x="142875" y="5433783"/>
            <a:ext cx="11906250" cy="994827"/>
          </a:xfrm>
          <a:prstGeom prst="roundRect">
            <a:avLst>
              <a:gd name="adj" fmla="val 479"/>
            </a:avLst>
          </a:prstGeom>
          <a:solidFill>
            <a:srgbClr val="FFFFFF"/>
          </a:solidFill>
          <a:ln w="1270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6225" y="5470290"/>
            <a:ext cx="3810000" cy="219044"/>
          </a:xfrm>
          <a:prstGeom prst="rect">
            <a:avLst/>
          </a:prstGeom>
          <a:noFill/>
        </p:spPr>
        <p:txBody>
          <a:bodyPr wrap="square" lIns="28575" rIns="28575" tIns="9525" bIns="9525" anchor="ctr">
            <a:spAutoFit/>
          </a:bodyPr>
          <a:lstStyle/>
          <a:p>
            <a:pPr algn="l"/>
            <a:r>
              <a:rPr sz="1200" b="1">
                <a:solidFill>
                  <a:srgbClr val="0B2E4A"/>
                </a:solidFill>
                <a:latin typeface="Calibri"/>
              </a:rPr>
              <a:t>KEY TAKEAWAY</a:t>
            </a:r>
          </a:p>
        </p:txBody>
      </p:sp>
      <p:cxnSp>
        <p:nvCxnSpPr>
          <p:cNvPr id="50" name="Connector 49"/>
          <p:cNvCxnSpPr/>
          <p:nvPr/>
        </p:nvCxnSpPr>
        <p:spPr>
          <a:xfrm>
            <a:off x="276225" y="5707588"/>
            <a:ext cx="11639550" cy="0"/>
          </a:xfrm>
          <a:prstGeom prst="line">
            <a:avLst/>
          </a:prstGeom>
          <a:ln w="15875">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76225" y="5762349"/>
            <a:ext cx="1152525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2" name="TextBox 5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3" name="TextBox 52"/>
          <p:cNvSpPr txBox="1"/>
          <p:nvPr/>
        </p:nvSpPr>
        <p:spPr>
          <a:xfrm>
            <a:off x="1752600" y="1702107"/>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54" name="Picture 53" descr="lock.png"/>
          <p:cNvPicPr>
            <a:picLocks noChangeAspect="1"/>
          </p:cNvPicPr>
          <p:nvPr/>
        </p:nvPicPr>
        <p:blipFill>
          <a:blip r:embed="rId4"/>
          <a:stretch>
            <a:fillRect/>
          </a:stretch>
        </p:blipFill>
        <p:spPr>
          <a:xfrm>
            <a:off x="2438789" y="1692329"/>
            <a:ext cx="128699" cy="187198"/>
          </a:xfrm>
          <a:prstGeom prst="rect">
            <a:avLst/>
          </a:prstGeom>
        </p:spPr>
      </p:pic>
      <p:sp>
        <p:nvSpPr>
          <p:cNvPr id="55" name="TextBox 54"/>
          <p:cNvSpPr txBox="1"/>
          <p:nvPr/>
        </p:nvSpPr>
        <p:spPr>
          <a:xfrm>
            <a:off x="2606285" y="1702107"/>
            <a:ext cx="1556419" cy="186689"/>
          </a:xfrm>
          <a:prstGeom prst="rect">
            <a:avLst/>
          </a:prstGeom>
          <a:noFill/>
        </p:spPr>
        <p:txBody>
          <a:bodyPr wrap="none" lIns="0" rIns="0" tIns="0" bIns="0">
            <a:spAutoFit/>
          </a:bodyPr>
          <a:lstStyle/>
          <a:p>
            <a:r>
              <a:rPr sz="1100" b="0">
                <a:solidFill>
                  <a:srgbClr val="2E2E2E"/>
                </a:solidFill>
                <a:latin typeface="Calibri"/>
              </a:rPr>
              <a:t>share), Installed demand (</a:t>
            </a:r>
          </a:p>
        </p:txBody>
      </p:sp>
      <p:pic>
        <p:nvPicPr>
          <p:cNvPr id="56" name="Picture 55" descr="lock.png"/>
          <p:cNvPicPr>
            <a:picLocks noChangeAspect="1"/>
          </p:cNvPicPr>
          <p:nvPr/>
        </p:nvPicPr>
        <p:blipFill>
          <a:blip r:embed="rId4"/>
          <a:stretch>
            <a:fillRect/>
          </a:stretch>
        </p:blipFill>
        <p:spPr>
          <a:xfrm>
            <a:off x="4110756" y="1692329"/>
            <a:ext cx="128699" cy="187198"/>
          </a:xfrm>
          <a:prstGeom prst="rect">
            <a:avLst/>
          </a:prstGeom>
        </p:spPr>
      </p:pic>
      <p:sp>
        <p:nvSpPr>
          <p:cNvPr id="57" name="TextBox 56"/>
          <p:cNvSpPr txBox="1"/>
          <p:nvPr/>
        </p:nvSpPr>
        <p:spPr>
          <a:xfrm>
            <a:off x="4278252" y="1702107"/>
            <a:ext cx="988052" cy="186689"/>
          </a:xfrm>
          <a:prstGeom prst="rect">
            <a:avLst/>
          </a:prstGeom>
          <a:noFill/>
        </p:spPr>
        <p:txBody>
          <a:bodyPr wrap="none" lIns="0" rIns="0" tIns="0" bIns="0">
            <a:spAutoFit/>
          </a:bodyPr>
          <a:lstStyle/>
          <a:p>
            <a:r>
              <a:rPr sz="1100" b="0">
                <a:solidFill>
                  <a:srgbClr val="2E2E2E"/>
                </a:solidFill>
                <a:latin typeface="Calibri"/>
              </a:rPr>
              <a:t>CAGR), Portable</a:t>
            </a:r>
          </a:p>
        </p:txBody>
      </p:sp>
      <p:sp>
        <p:nvSpPr>
          <p:cNvPr id="58" name="TextBox 57"/>
          <p:cNvSpPr txBox="1"/>
          <p:nvPr/>
        </p:nvSpPr>
        <p:spPr>
          <a:xfrm>
            <a:off x="1752600" y="1869747"/>
            <a:ext cx="3488208" cy="186689"/>
          </a:xfrm>
          <a:prstGeom prst="rect">
            <a:avLst/>
          </a:prstGeom>
          <a:noFill/>
        </p:spPr>
        <p:txBody>
          <a:bodyPr wrap="none" lIns="0" rIns="0" tIns="0" bIns="0">
            <a:spAutoFit/>
          </a:bodyPr>
          <a:lstStyle/>
          <a:p>
            <a:r>
              <a:rPr sz="1100" b="0">
                <a:solidFill>
                  <a:srgbClr val="2E2E2E"/>
                </a:solidFill>
                <a:latin typeface="Calibri"/>
              </a:rPr>
              <a:t>Machine Perfusion Devices demand, Accelerating vs history.</a:t>
            </a:r>
          </a:p>
        </p:txBody>
      </p:sp>
      <p:sp>
        <p:nvSpPr>
          <p:cNvPr id="59" name="TextBox 58"/>
          <p:cNvSpPr txBox="1"/>
          <p:nvPr/>
        </p:nvSpPr>
        <p:spPr>
          <a:xfrm>
            <a:off x="5562600" y="1702107"/>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60" name="Picture 59" descr="lock.png"/>
          <p:cNvPicPr>
            <a:picLocks noChangeAspect="1"/>
          </p:cNvPicPr>
          <p:nvPr/>
        </p:nvPicPr>
        <p:blipFill>
          <a:blip r:embed="rId4"/>
          <a:stretch>
            <a:fillRect/>
          </a:stretch>
        </p:blipFill>
        <p:spPr>
          <a:xfrm>
            <a:off x="6797766" y="1692329"/>
            <a:ext cx="128699" cy="187198"/>
          </a:xfrm>
          <a:prstGeom prst="rect">
            <a:avLst/>
          </a:prstGeom>
        </p:spPr>
      </p:pic>
      <p:sp>
        <p:nvSpPr>
          <p:cNvPr id="61" name="TextBox 60"/>
          <p:cNvSpPr txBox="1"/>
          <p:nvPr/>
        </p:nvSpPr>
        <p:spPr>
          <a:xfrm>
            <a:off x="6965262" y="1702107"/>
            <a:ext cx="689297" cy="186689"/>
          </a:xfrm>
          <a:prstGeom prst="rect">
            <a:avLst/>
          </a:prstGeom>
          <a:noFill/>
        </p:spPr>
        <p:txBody>
          <a:bodyPr wrap="none" lIns="0" rIns="0" tIns="0" bIns="0">
            <a:spAutoFit/>
          </a:bodyPr>
          <a:lstStyle/>
          <a:p>
            <a:r>
              <a:rPr sz="1100" b="0">
                <a:solidFill>
                  <a:srgbClr val="2E2E2E"/>
                </a:solidFill>
                <a:latin typeface="Calibri"/>
              </a:rPr>
              <a:t>BPS, Rising</a:t>
            </a:r>
          </a:p>
        </p:txBody>
      </p:sp>
      <p:sp>
        <p:nvSpPr>
          <p:cNvPr id="62" name="TextBox 61"/>
          <p:cNvSpPr txBox="1"/>
          <p:nvPr/>
        </p:nvSpPr>
        <p:spPr>
          <a:xfrm>
            <a:off x="5562600" y="1869747"/>
            <a:ext cx="747414" cy="186689"/>
          </a:xfrm>
          <a:prstGeom prst="rect">
            <a:avLst/>
          </a:prstGeom>
          <a:noFill/>
        </p:spPr>
        <p:txBody>
          <a:bodyPr wrap="none" lIns="0" rIns="0" tIns="0" bIns="0">
            <a:spAutoFit/>
          </a:bodyPr>
          <a:lstStyle/>
          <a:p>
            <a:r>
              <a:rPr sz="1100" b="0">
                <a:solidFill>
                  <a:srgbClr val="2E2E2E"/>
                </a:solidFill>
                <a:latin typeface="Calibri"/>
              </a:rPr>
              <a:t>realisation (</a:t>
            </a:r>
          </a:p>
        </p:txBody>
      </p:sp>
      <p:pic>
        <p:nvPicPr>
          <p:cNvPr id="63" name="Picture 62" descr="lock.png"/>
          <p:cNvPicPr>
            <a:picLocks noChangeAspect="1"/>
          </p:cNvPicPr>
          <p:nvPr/>
        </p:nvPicPr>
        <p:blipFill>
          <a:blip r:embed="rId4"/>
          <a:stretch>
            <a:fillRect/>
          </a:stretch>
        </p:blipFill>
        <p:spPr>
          <a:xfrm>
            <a:off x="6258066" y="1859969"/>
            <a:ext cx="128699" cy="187198"/>
          </a:xfrm>
          <a:prstGeom prst="rect">
            <a:avLst/>
          </a:prstGeom>
        </p:spPr>
      </p:pic>
      <p:sp>
        <p:nvSpPr>
          <p:cNvPr id="64" name="TextBox 63"/>
          <p:cNvSpPr txBox="1"/>
          <p:nvPr/>
        </p:nvSpPr>
        <p:spPr>
          <a:xfrm>
            <a:off x="6425562" y="1869747"/>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65" name="TextBox 64"/>
          <p:cNvSpPr txBox="1"/>
          <p:nvPr/>
        </p:nvSpPr>
        <p:spPr>
          <a:xfrm>
            <a:off x="8420100" y="1702107"/>
            <a:ext cx="2008534" cy="186689"/>
          </a:xfrm>
          <a:prstGeom prst="rect">
            <a:avLst/>
          </a:prstGeom>
          <a:noFill/>
        </p:spPr>
        <p:txBody>
          <a:bodyPr wrap="none" lIns="0" rIns="0" tIns="0" bIns="0">
            <a:spAutoFit/>
          </a:bodyPr>
          <a:lstStyle/>
          <a:p>
            <a:r>
              <a:rPr sz="1100" b="0">
                <a:solidFill>
                  <a:srgbClr val="2E2E2E"/>
                </a:solidFill>
                <a:latin typeface="Calibri"/>
              </a:rPr>
              <a:t>Scale Static Cold Storage Devices (</a:t>
            </a:r>
          </a:p>
        </p:txBody>
      </p:sp>
      <p:pic>
        <p:nvPicPr>
          <p:cNvPr id="66" name="Picture 65" descr="lock.png"/>
          <p:cNvPicPr>
            <a:picLocks noChangeAspect="1"/>
          </p:cNvPicPr>
          <p:nvPr/>
        </p:nvPicPr>
        <p:blipFill>
          <a:blip r:embed="rId4"/>
          <a:stretch>
            <a:fillRect/>
          </a:stretch>
        </p:blipFill>
        <p:spPr>
          <a:xfrm>
            <a:off x="10376686" y="1692329"/>
            <a:ext cx="128699" cy="187198"/>
          </a:xfrm>
          <a:prstGeom prst="rect">
            <a:avLst/>
          </a:prstGeom>
        </p:spPr>
      </p:pic>
      <p:sp>
        <p:nvSpPr>
          <p:cNvPr id="67" name="TextBox 66"/>
          <p:cNvSpPr txBox="1"/>
          <p:nvPr/>
        </p:nvSpPr>
        <p:spPr>
          <a:xfrm>
            <a:off x="10544182" y="1702107"/>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8" name="Picture 67" descr="lock.png"/>
          <p:cNvPicPr>
            <a:picLocks noChangeAspect="1"/>
          </p:cNvPicPr>
          <p:nvPr/>
        </p:nvPicPr>
        <p:blipFill>
          <a:blip r:embed="rId4"/>
          <a:stretch>
            <a:fillRect/>
          </a:stretch>
        </p:blipFill>
        <p:spPr>
          <a:xfrm>
            <a:off x="10645650" y="1692329"/>
            <a:ext cx="128699" cy="187198"/>
          </a:xfrm>
          <a:prstGeom prst="rect">
            <a:avLst/>
          </a:prstGeom>
        </p:spPr>
      </p:pic>
      <p:sp>
        <p:nvSpPr>
          <p:cNvPr id="69" name="TextBox 68"/>
          <p:cNvSpPr txBox="1"/>
          <p:nvPr/>
        </p:nvSpPr>
        <p:spPr>
          <a:xfrm>
            <a:off x="10813146" y="1702107"/>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70" name="TextBox 69"/>
          <p:cNvSpPr txBox="1"/>
          <p:nvPr/>
        </p:nvSpPr>
        <p:spPr>
          <a:xfrm>
            <a:off x="8420100" y="1869747"/>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71" name="TextBox 70"/>
          <p:cNvSpPr txBox="1"/>
          <p:nvPr/>
        </p:nvSpPr>
        <p:spPr>
          <a:xfrm>
            <a:off x="1752600" y="2404876"/>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72" name="Picture 71" descr="lock.png"/>
          <p:cNvPicPr>
            <a:picLocks noChangeAspect="1"/>
          </p:cNvPicPr>
          <p:nvPr/>
        </p:nvPicPr>
        <p:blipFill>
          <a:blip r:embed="rId4"/>
          <a:stretch>
            <a:fillRect/>
          </a:stretch>
        </p:blipFill>
        <p:spPr>
          <a:xfrm>
            <a:off x="2438789" y="2395097"/>
            <a:ext cx="128699" cy="187198"/>
          </a:xfrm>
          <a:prstGeom prst="rect">
            <a:avLst/>
          </a:prstGeom>
        </p:spPr>
      </p:pic>
      <p:sp>
        <p:nvSpPr>
          <p:cNvPr id="73" name="TextBox 72"/>
          <p:cNvSpPr txBox="1"/>
          <p:nvPr/>
        </p:nvSpPr>
        <p:spPr>
          <a:xfrm>
            <a:off x="2606285" y="2404876"/>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74" name="Picture 73" descr="lock.png"/>
          <p:cNvPicPr>
            <a:picLocks noChangeAspect="1"/>
          </p:cNvPicPr>
          <p:nvPr/>
        </p:nvPicPr>
        <p:blipFill>
          <a:blip r:embed="rId4"/>
          <a:stretch>
            <a:fillRect/>
          </a:stretch>
        </p:blipFill>
        <p:spPr>
          <a:xfrm>
            <a:off x="4237905" y="2395097"/>
            <a:ext cx="128699" cy="187198"/>
          </a:xfrm>
          <a:prstGeom prst="rect">
            <a:avLst/>
          </a:prstGeom>
        </p:spPr>
      </p:pic>
      <p:sp>
        <p:nvSpPr>
          <p:cNvPr id="75" name="TextBox 74"/>
          <p:cNvSpPr txBox="1"/>
          <p:nvPr/>
        </p:nvSpPr>
        <p:spPr>
          <a:xfrm>
            <a:off x="4405401" y="2404876"/>
            <a:ext cx="668833" cy="186689"/>
          </a:xfrm>
          <a:prstGeom prst="rect">
            <a:avLst/>
          </a:prstGeom>
          <a:noFill/>
        </p:spPr>
        <p:txBody>
          <a:bodyPr wrap="none" lIns="0" rIns="0" tIns="0" bIns="0">
            <a:spAutoFit/>
          </a:bodyPr>
          <a:lstStyle/>
          <a:p>
            <a:r>
              <a:rPr sz="1100" b="0">
                <a:solidFill>
                  <a:srgbClr val="2E2E2E"/>
                </a:solidFill>
                <a:latin typeface="Calibri"/>
              </a:rPr>
              <a:t>), Portable</a:t>
            </a:r>
          </a:p>
        </p:txBody>
      </p:sp>
      <p:sp>
        <p:nvSpPr>
          <p:cNvPr id="76" name="TextBox 75"/>
          <p:cNvSpPr txBox="1"/>
          <p:nvPr/>
        </p:nvSpPr>
        <p:spPr>
          <a:xfrm>
            <a:off x="1752600" y="2572516"/>
            <a:ext cx="3488208" cy="186689"/>
          </a:xfrm>
          <a:prstGeom prst="rect">
            <a:avLst/>
          </a:prstGeom>
          <a:noFill/>
        </p:spPr>
        <p:txBody>
          <a:bodyPr wrap="none" lIns="0" rIns="0" tIns="0" bIns="0">
            <a:spAutoFit/>
          </a:bodyPr>
          <a:lstStyle/>
          <a:p>
            <a:r>
              <a:rPr sz="1100" b="0">
                <a:solidFill>
                  <a:srgbClr val="2E2E2E"/>
                </a:solidFill>
                <a:latin typeface="Calibri"/>
              </a:rPr>
              <a:t>Machine Perfusion Devices demand, Accelerating vs history.</a:t>
            </a:r>
          </a:p>
        </p:txBody>
      </p:sp>
      <p:sp>
        <p:nvSpPr>
          <p:cNvPr id="77" name="TextBox 76"/>
          <p:cNvSpPr txBox="1"/>
          <p:nvPr/>
        </p:nvSpPr>
        <p:spPr>
          <a:xfrm>
            <a:off x="5562600" y="2488696"/>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78" name="Picture 77" descr="lock.png"/>
          <p:cNvPicPr>
            <a:picLocks noChangeAspect="1"/>
          </p:cNvPicPr>
          <p:nvPr/>
        </p:nvPicPr>
        <p:blipFill>
          <a:blip r:embed="rId4"/>
          <a:stretch>
            <a:fillRect/>
          </a:stretch>
        </p:blipFill>
        <p:spPr>
          <a:xfrm>
            <a:off x="6623687" y="2478917"/>
            <a:ext cx="128699" cy="187198"/>
          </a:xfrm>
          <a:prstGeom prst="rect">
            <a:avLst/>
          </a:prstGeom>
        </p:spPr>
      </p:pic>
      <p:sp>
        <p:nvSpPr>
          <p:cNvPr id="79" name="TextBox 78"/>
          <p:cNvSpPr txBox="1"/>
          <p:nvPr/>
        </p:nvSpPr>
        <p:spPr>
          <a:xfrm>
            <a:off x="6791183" y="2488696"/>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80" name="TextBox 79"/>
          <p:cNvSpPr txBox="1"/>
          <p:nvPr/>
        </p:nvSpPr>
        <p:spPr>
          <a:xfrm>
            <a:off x="8420100" y="2404876"/>
            <a:ext cx="2008534" cy="186689"/>
          </a:xfrm>
          <a:prstGeom prst="rect">
            <a:avLst/>
          </a:prstGeom>
          <a:noFill/>
        </p:spPr>
        <p:txBody>
          <a:bodyPr wrap="none" lIns="0" rIns="0" tIns="0" bIns="0">
            <a:spAutoFit/>
          </a:bodyPr>
          <a:lstStyle/>
          <a:p>
            <a:r>
              <a:rPr sz="1100" b="0">
                <a:solidFill>
                  <a:srgbClr val="2E2E2E"/>
                </a:solidFill>
                <a:latin typeface="Calibri"/>
              </a:rPr>
              <a:t>Scale Static Cold Storage Devices (</a:t>
            </a:r>
          </a:p>
        </p:txBody>
      </p:sp>
      <p:pic>
        <p:nvPicPr>
          <p:cNvPr id="81" name="Picture 80" descr="lock.png"/>
          <p:cNvPicPr>
            <a:picLocks noChangeAspect="1"/>
          </p:cNvPicPr>
          <p:nvPr/>
        </p:nvPicPr>
        <p:blipFill>
          <a:blip r:embed="rId4"/>
          <a:stretch>
            <a:fillRect/>
          </a:stretch>
        </p:blipFill>
        <p:spPr>
          <a:xfrm>
            <a:off x="10376686" y="2395097"/>
            <a:ext cx="128699" cy="187198"/>
          </a:xfrm>
          <a:prstGeom prst="rect">
            <a:avLst/>
          </a:prstGeom>
        </p:spPr>
      </p:pic>
      <p:sp>
        <p:nvSpPr>
          <p:cNvPr id="82" name="TextBox 81"/>
          <p:cNvSpPr txBox="1"/>
          <p:nvPr/>
        </p:nvSpPr>
        <p:spPr>
          <a:xfrm>
            <a:off x="10544182" y="2404876"/>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83" name="Picture 82" descr="lock.png"/>
          <p:cNvPicPr>
            <a:picLocks noChangeAspect="1"/>
          </p:cNvPicPr>
          <p:nvPr/>
        </p:nvPicPr>
        <p:blipFill>
          <a:blip r:embed="rId4"/>
          <a:stretch>
            <a:fillRect/>
          </a:stretch>
        </p:blipFill>
        <p:spPr>
          <a:xfrm>
            <a:off x="10645650" y="2395097"/>
            <a:ext cx="128699" cy="187198"/>
          </a:xfrm>
          <a:prstGeom prst="rect">
            <a:avLst/>
          </a:prstGeom>
        </p:spPr>
      </p:pic>
      <p:sp>
        <p:nvSpPr>
          <p:cNvPr id="84" name="TextBox 83"/>
          <p:cNvSpPr txBox="1"/>
          <p:nvPr/>
        </p:nvSpPr>
        <p:spPr>
          <a:xfrm>
            <a:off x="10813146" y="2404876"/>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85" name="TextBox 84"/>
          <p:cNvSpPr txBox="1"/>
          <p:nvPr/>
        </p:nvSpPr>
        <p:spPr>
          <a:xfrm>
            <a:off x="8420100" y="2572516"/>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86" name="TextBox 85"/>
          <p:cNvSpPr txBox="1"/>
          <p:nvPr/>
        </p:nvSpPr>
        <p:spPr>
          <a:xfrm>
            <a:off x="1752600" y="3107643"/>
            <a:ext cx="738137" cy="186689"/>
          </a:xfrm>
          <a:prstGeom prst="rect">
            <a:avLst/>
          </a:prstGeom>
          <a:noFill/>
        </p:spPr>
        <p:txBody>
          <a:bodyPr wrap="none" lIns="0" rIns="0" tIns="0" bIns="0">
            <a:spAutoFit/>
          </a:bodyPr>
          <a:lstStyle/>
          <a:p>
            <a:r>
              <a:rPr sz="1100" b="0">
                <a:solidFill>
                  <a:srgbClr val="2E2E2E"/>
                </a:solidFill>
                <a:latin typeface="Calibri"/>
              </a:rPr>
              <a:t>Scale base (</a:t>
            </a:r>
          </a:p>
        </p:txBody>
      </p:sp>
      <p:pic>
        <p:nvPicPr>
          <p:cNvPr id="87" name="Picture 86" descr="lock.png"/>
          <p:cNvPicPr>
            <a:picLocks noChangeAspect="1"/>
          </p:cNvPicPr>
          <p:nvPr/>
        </p:nvPicPr>
        <p:blipFill>
          <a:blip r:embed="rId4"/>
          <a:stretch>
            <a:fillRect/>
          </a:stretch>
        </p:blipFill>
        <p:spPr>
          <a:xfrm>
            <a:off x="2438789" y="3097864"/>
            <a:ext cx="128699" cy="187198"/>
          </a:xfrm>
          <a:prstGeom prst="rect">
            <a:avLst/>
          </a:prstGeom>
        </p:spPr>
      </p:pic>
      <p:sp>
        <p:nvSpPr>
          <p:cNvPr id="88" name="TextBox 87"/>
          <p:cNvSpPr txBox="1"/>
          <p:nvPr/>
        </p:nvSpPr>
        <p:spPr>
          <a:xfrm>
            <a:off x="2606285" y="3107643"/>
            <a:ext cx="1683568" cy="186689"/>
          </a:xfrm>
          <a:prstGeom prst="rect">
            <a:avLst/>
          </a:prstGeom>
          <a:noFill/>
        </p:spPr>
        <p:txBody>
          <a:bodyPr wrap="none" lIns="0" rIns="0" tIns="0" bIns="0">
            <a:spAutoFit/>
          </a:bodyPr>
          <a:lstStyle/>
          <a:p>
            <a:r>
              <a:rPr sz="1100" b="0">
                <a:solidFill>
                  <a:srgbClr val="2E2E2E"/>
                </a:solidFill>
                <a:latin typeface="Calibri"/>
              </a:rPr>
              <a:t>share), Above-market pace (</a:t>
            </a:r>
          </a:p>
        </p:txBody>
      </p:sp>
      <p:pic>
        <p:nvPicPr>
          <p:cNvPr id="89" name="Picture 88" descr="lock.png"/>
          <p:cNvPicPr>
            <a:picLocks noChangeAspect="1"/>
          </p:cNvPicPr>
          <p:nvPr/>
        </p:nvPicPr>
        <p:blipFill>
          <a:blip r:embed="rId4"/>
          <a:stretch>
            <a:fillRect/>
          </a:stretch>
        </p:blipFill>
        <p:spPr>
          <a:xfrm>
            <a:off x="4237905" y="3097864"/>
            <a:ext cx="128699" cy="187198"/>
          </a:xfrm>
          <a:prstGeom prst="rect">
            <a:avLst/>
          </a:prstGeom>
        </p:spPr>
      </p:pic>
      <p:sp>
        <p:nvSpPr>
          <p:cNvPr id="90" name="TextBox 89"/>
          <p:cNvSpPr txBox="1"/>
          <p:nvPr/>
        </p:nvSpPr>
        <p:spPr>
          <a:xfrm>
            <a:off x="4405401" y="3107643"/>
            <a:ext cx="668833" cy="186689"/>
          </a:xfrm>
          <a:prstGeom prst="rect">
            <a:avLst/>
          </a:prstGeom>
          <a:noFill/>
        </p:spPr>
        <p:txBody>
          <a:bodyPr wrap="none" lIns="0" rIns="0" tIns="0" bIns="0">
            <a:spAutoFit/>
          </a:bodyPr>
          <a:lstStyle/>
          <a:p>
            <a:r>
              <a:rPr sz="1100" b="0">
                <a:solidFill>
                  <a:srgbClr val="2E2E2E"/>
                </a:solidFill>
                <a:latin typeface="Calibri"/>
              </a:rPr>
              <a:t>), Portable</a:t>
            </a:r>
          </a:p>
        </p:txBody>
      </p:sp>
      <p:sp>
        <p:nvSpPr>
          <p:cNvPr id="91" name="TextBox 90"/>
          <p:cNvSpPr txBox="1"/>
          <p:nvPr/>
        </p:nvSpPr>
        <p:spPr>
          <a:xfrm>
            <a:off x="1752600" y="3275283"/>
            <a:ext cx="3488208" cy="186689"/>
          </a:xfrm>
          <a:prstGeom prst="rect">
            <a:avLst/>
          </a:prstGeom>
          <a:noFill/>
        </p:spPr>
        <p:txBody>
          <a:bodyPr wrap="none" lIns="0" rIns="0" tIns="0" bIns="0">
            <a:spAutoFit/>
          </a:bodyPr>
          <a:lstStyle/>
          <a:p>
            <a:r>
              <a:rPr sz="1100" b="0">
                <a:solidFill>
                  <a:srgbClr val="2E2E2E"/>
                </a:solidFill>
                <a:latin typeface="Calibri"/>
              </a:rPr>
              <a:t>Machine Perfusion Devices demand, Accelerating vs history.</a:t>
            </a:r>
          </a:p>
        </p:txBody>
      </p:sp>
      <p:sp>
        <p:nvSpPr>
          <p:cNvPr id="92" name="TextBox 91"/>
          <p:cNvSpPr txBox="1"/>
          <p:nvPr/>
        </p:nvSpPr>
        <p:spPr>
          <a:xfrm>
            <a:off x="8420100" y="3107643"/>
            <a:ext cx="2521222" cy="186689"/>
          </a:xfrm>
          <a:prstGeom prst="rect">
            <a:avLst/>
          </a:prstGeom>
          <a:noFill/>
        </p:spPr>
        <p:txBody>
          <a:bodyPr wrap="none" lIns="0" rIns="0" tIns="0" bIns="0">
            <a:spAutoFit/>
          </a:bodyPr>
          <a:lstStyle/>
          <a:p>
            <a:r>
              <a:rPr sz="1100" b="0">
                <a:solidFill>
                  <a:srgbClr val="2E2E2E"/>
                </a:solidFill>
                <a:latin typeface="Calibri"/>
              </a:rPr>
              <a:t>Scale Portable Machine Perfusion Devices (</a:t>
            </a:r>
          </a:p>
        </p:txBody>
      </p:sp>
      <p:pic>
        <p:nvPicPr>
          <p:cNvPr id="93" name="Picture 92" descr="lock.png"/>
          <p:cNvPicPr>
            <a:picLocks noChangeAspect="1"/>
          </p:cNvPicPr>
          <p:nvPr/>
        </p:nvPicPr>
        <p:blipFill>
          <a:blip r:embed="rId4"/>
          <a:stretch>
            <a:fillRect/>
          </a:stretch>
        </p:blipFill>
        <p:spPr>
          <a:xfrm>
            <a:off x="10889374" y="3097864"/>
            <a:ext cx="128699" cy="187198"/>
          </a:xfrm>
          <a:prstGeom prst="rect">
            <a:avLst/>
          </a:prstGeom>
        </p:spPr>
      </p:pic>
      <p:sp>
        <p:nvSpPr>
          <p:cNvPr id="94" name="TextBox 93"/>
          <p:cNvSpPr txBox="1"/>
          <p:nvPr/>
        </p:nvSpPr>
        <p:spPr>
          <a:xfrm>
            <a:off x="11056870" y="3107643"/>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95" name="Picture 94" descr="lock.png"/>
          <p:cNvPicPr>
            <a:picLocks noChangeAspect="1"/>
          </p:cNvPicPr>
          <p:nvPr/>
        </p:nvPicPr>
        <p:blipFill>
          <a:blip r:embed="rId4"/>
          <a:stretch>
            <a:fillRect/>
          </a:stretch>
        </p:blipFill>
        <p:spPr>
          <a:xfrm>
            <a:off x="11158338" y="3097864"/>
            <a:ext cx="128699" cy="187198"/>
          </a:xfrm>
          <a:prstGeom prst="rect">
            <a:avLst/>
          </a:prstGeom>
        </p:spPr>
      </p:pic>
      <p:sp>
        <p:nvSpPr>
          <p:cNvPr id="96" name="TextBox 95"/>
          <p:cNvSpPr txBox="1"/>
          <p:nvPr/>
        </p:nvSpPr>
        <p:spPr>
          <a:xfrm>
            <a:off x="11325834" y="3107643"/>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97" name="TextBox 96"/>
          <p:cNvSpPr txBox="1"/>
          <p:nvPr/>
        </p:nvSpPr>
        <p:spPr>
          <a:xfrm>
            <a:off x="8420100" y="3275283"/>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98" name="TextBox 97"/>
          <p:cNvSpPr txBox="1"/>
          <p:nvPr/>
        </p:nvSpPr>
        <p:spPr>
          <a:xfrm>
            <a:off x="1752600" y="3714578"/>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99" name="Picture 98" descr="lock.png"/>
          <p:cNvPicPr>
            <a:picLocks noChangeAspect="1"/>
          </p:cNvPicPr>
          <p:nvPr/>
        </p:nvPicPr>
        <p:blipFill>
          <a:blip r:embed="rId4"/>
          <a:stretch>
            <a:fillRect/>
          </a:stretch>
        </p:blipFill>
        <p:spPr>
          <a:xfrm>
            <a:off x="2834969" y="3704799"/>
            <a:ext cx="128699" cy="187198"/>
          </a:xfrm>
          <a:prstGeom prst="rect">
            <a:avLst/>
          </a:prstGeom>
        </p:spPr>
      </p:pic>
      <p:sp>
        <p:nvSpPr>
          <p:cNvPr id="100" name="TextBox 99"/>
          <p:cNvSpPr txBox="1"/>
          <p:nvPr/>
        </p:nvSpPr>
        <p:spPr>
          <a:xfrm>
            <a:off x="3002465" y="3714578"/>
            <a:ext cx="2086007" cy="186689"/>
          </a:xfrm>
          <a:prstGeom prst="rect">
            <a:avLst/>
          </a:prstGeom>
          <a:noFill/>
        </p:spPr>
        <p:txBody>
          <a:bodyPr wrap="none" lIns="0" rIns="0" tIns="0" bIns="0">
            <a:spAutoFit/>
          </a:bodyPr>
          <a:lstStyle/>
          <a:p>
            <a:r>
              <a:rPr sz="1100" b="0">
                <a:solidFill>
                  <a:srgbClr val="2E2E2E"/>
                </a:solidFill>
                <a:latin typeface="Calibri"/>
              </a:rPr>
              <a:t>CAGR), Portable Machine Perfusion</a:t>
            </a:r>
          </a:p>
        </p:txBody>
      </p:sp>
      <p:sp>
        <p:nvSpPr>
          <p:cNvPr id="101" name="TextBox 100"/>
          <p:cNvSpPr txBox="1"/>
          <p:nvPr/>
        </p:nvSpPr>
        <p:spPr>
          <a:xfrm>
            <a:off x="1752600" y="3882218"/>
            <a:ext cx="2390254" cy="186689"/>
          </a:xfrm>
          <a:prstGeom prst="rect">
            <a:avLst/>
          </a:prstGeom>
          <a:noFill/>
        </p:spPr>
        <p:txBody>
          <a:bodyPr wrap="none" lIns="0" rIns="0" tIns="0" bIns="0">
            <a:spAutoFit/>
          </a:bodyPr>
          <a:lstStyle/>
          <a:p>
            <a:r>
              <a:rPr sz="1100" b="0">
                <a:solidFill>
                  <a:srgbClr val="2E2E2E"/>
                </a:solidFill>
                <a:latin typeface="Calibri"/>
              </a:rPr>
              <a:t>Devices demand, Accelerating vs history.</a:t>
            </a:r>
          </a:p>
        </p:txBody>
      </p:sp>
      <p:sp>
        <p:nvSpPr>
          <p:cNvPr id="102" name="TextBox 101"/>
          <p:cNvSpPr txBox="1"/>
          <p:nvPr/>
        </p:nvSpPr>
        <p:spPr>
          <a:xfrm>
            <a:off x="5562600" y="3798398"/>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03" name="Picture 102" descr="lock.png"/>
          <p:cNvPicPr>
            <a:picLocks noChangeAspect="1"/>
          </p:cNvPicPr>
          <p:nvPr/>
        </p:nvPicPr>
        <p:blipFill>
          <a:blip r:embed="rId4"/>
          <a:stretch>
            <a:fillRect/>
          </a:stretch>
        </p:blipFill>
        <p:spPr>
          <a:xfrm>
            <a:off x="6797766" y="3788619"/>
            <a:ext cx="128699" cy="187198"/>
          </a:xfrm>
          <a:prstGeom prst="rect">
            <a:avLst/>
          </a:prstGeom>
        </p:spPr>
      </p:pic>
      <p:sp>
        <p:nvSpPr>
          <p:cNvPr id="104" name="TextBox 103"/>
          <p:cNvSpPr txBox="1"/>
          <p:nvPr/>
        </p:nvSpPr>
        <p:spPr>
          <a:xfrm>
            <a:off x="6965262" y="3798398"/>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05" name="TextBox 104"/>
          <p:cNvSpPr txBox="1"/>
          <p:nvPr/>
        </p:nvSpPr>
        <p:spPr>
          <a:xfrm>
            <a:off x="8420100" y="3714578"/>
            <a:ext cx="2008534" cy="186689"/>
          </a:xfrm>
          <a:prstGeom prst="rect">
            <a:avLst/>
          </a:prstGeom>
          <a:noFill/>
        </p:spPr>
        <p:txBody>
          <a:bodyPr wrap="none" lIns="0" rIns="0" tIns="0" bIns="0">
            <a:spAutoFit/>
          </a:bodyPr>
          <a:lstStyle/>
          <a:p>
            <a:r>
              <a:rPr sz="1100" b="0">
                <a:solidFill>
                  <a:srgbClr val="2E2E2E"/>
                </a:solidFill>
                <a:latin typeface="Calibri"/>
              </a:rPr>
              <a:t>Scale Static Cold Storage Devices (</a:t>
            </a:r>
          </a:p>
        </p:txBody>
      </p:sp>
      <p:pic>
        <p:nvPicPr>
          <p:cNvPr id="106" name="Picture 105" descr="lock.png"/>
          <p:cNvPicPr>
            <a:picLocks noChangeAspect="1"/>
          </p:cNvPicPr>
          <p:nvPr/>
        </p:nvPicPr>
        <p:blipFill>
          <a:blip r:embed="rId4"/>
          <a:stretch>
            <a:fillRect/>
          </a:stretch>
        </p:blipFill>
        <p:spPr>
          <a:xfrm>
            <a:off x="10376686" y="3704799"/>
            <a:ext cx="128699" cy="187198"/>
          </a:xfrm>
          <a:prstGeom prst="rect">
            <a:avLst/>
          </a:prstGeom>
        </p:spPr>
      </p:pic>
      <p:sp>
        <p:nvSpPr>
          <p:cNvPr id="107" name="TextBox 106"/>
          <p:cNvSpPr txBox="1"/>
          <p:nvPr/>
        </p:nvSpPr>
        <p:spPr>
          <a:xfrm>
            <a:off x="10544182" y="3714578"/>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8" name="Picture 107" descr="lock.png"/>
          <p:cNvPicPr>
            <a:picLocks noChangeAspect="1"/>
          </p:cNvPicPr>
          <p:nvPr/>
        </p:nvPicPr>
        <p:blipFill>
          <a:blip r:embed="rId4"/>
          <a:stretch>
            <a:fillRect/>
          </a:stretch>
        </p:blipFill>
        <p:spPr>
          <a:xfrm>
            <a:off x="10645650" y="3704799"/>
            <a:ext cx="128699" cy="187198"/>
          </a:xfrm>
          <a:prstGeom prst="rect">
            <a:avLst/>
          </a:prstGeom>
        </p:spPr>
      </p:pic>
      <p:sp>
        <p:nvSpPr>
          <p:cNvPr id="109" name="TextBox 108"/>
          <p:cNvSpPr txBox="1"/>
          <p:nvPr/>
        </p:nvSpPr>
        <p:spPr>
          <a:xfrm>
            <a:off x="10813146" y="3714578"/>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10" name="TextBox 109"/>
          <p:cNvSpPr txBox="1"/>
          <p:nvPr/>
        </p:nvSpPr>
        <p:spPr>
          <a:xfrm>
            <a:off x="8420100" y="3882218"/>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11" name="TextBox 110"/>
          <p:cNvSpPr txBox="1"/>
          <p:nvPr/>
        </p:nvSpPr>
        <p:spPr>
          <a:xfrm>
            <a:off x="1752600" y="4225682"/>
            <a:ext cx="1261467" cy="186689"/>
          </a:xfrm>
          <a:prstGeom prst="rect">
            <a:avLst/>
          </a:prstGeom>
          <a:noFill/>
        </p:spPr>
        <p:txBody>
          <a:bodyPr wrap="none" lIns="0" rIns="0" tIns="0" bIns="0">
            <a:spAutoFit/>
          </a:bodyPr>
          <a:lstStyle/>
          <a:p>
            <a:r>
              <a:rPr sz="1100" b="0">
                <a:solidFill>
                  <a:srgbClr val="2E2E2E"/>
                </a:solidFill>
                <a:latin typeface="Calibri"/>
              </a:rPr>
              <a:t>Above-market pace (</a:t>
            </a:r>
          </a:p>
        </p:txBody>
      </p:sp>
      <p:pic>
        <p:nvPicPr>
          <p:cNvPr id="112" name="Picture 111" descr="lock.png"/>
          <p:cNvPicPr>
            <a:picLocks noChangeAspect="1"/>
          </p:cNvPicPr>
          <p:nvPr/>
        </p:nvPicPr>
        <p:blipFill>
          <a:blip r:embed="rId4"/>
          <a:stretch>
            <a:fillRect/>
          </a:stretch>
        </p:blipFill>
        <p:spPr>
          <a:xfrm>
            <a:off x="2962118" y="4215903"/>
            <a:ext cx="128699" cy="187198"/>
          </a:xfrm>
          <a:prstGeom prst="rect">
            <a:avLst/>
          </a:prstGeom>
        </p:spPr>
      </p:pic>
      <p:sp>
        <p:nvSpPr>
          <p:cNvPr id="113" name="TextBox 112"/>
          <p:cNvSpPr txBox="1"/>
          <p:nvPr/>
        </p:nvSpPr>
        <p:spPr>
          <a:xfrm>
            <a:off x="3129614" y="4225682"/>
            <a:ext cx="2232545" cy="186689"/>
          </a:xfrm>
          <a:prstGeom prst="rect">
            <a:avLst/>
          </a:prstGeom>
          <a:noFill/>
        </p:spPr>
        <p:txBody>
          <a:bodyPr wrap="none" lIns="0" rIns="0" tIns="0" bIns="0">
            <a:spAutoFit/>
          </a:bodyPr>
          <a:lstStyle/>
          <a:p>
            <a:r>
              <a:rPr sz="1100" b="0">
                <a:solidFill>
                  <a:srgbClr val="2E2E2E"/>
                </a:solidFill>
                <a:latin typeface="Calibri"/>
              </a:rPr>
              <a:t>), Portable Machine Perfusion Devices</a:t>
            </a:r>
          </a:p>
        </p:txBody>
      </p:sp>
      <p:sp>
        <p:nvSpPr>
          <p:cNvPr id="114" name="TextBox 113"/>
          <p:cNvSpPr txBox="1"/>
          <p:nvPr/>
        </p:nvSpPr>
        <p:spPr>
          <a:xfrm>
            <a:off x="1752600" y="4393322"/>
            <a:ext cx="1924496" cy="186689"/>
          </a:xfrm>
          <a:prstGeom prst="rect">
            <a:avLst/>
          </a:prstGeom>
          <a:noFill/>
        </p:spPr>
        <p:txBody>
          <a:bodyPr wrap="none" lIns="0" rIns="0" tIns="0" bIns="0">
            <a:spAutoFit/>
          </a:bodyPr>
          <a:lstStyle/>
          <a:p>
            <a:r>
              <a:rPr sz="1100" b="0">
                <a:solidFill>
                  <a:srgbClr val="2E2E2E"/>
                </a:solidFill>
                <a:latin typeface="Calibri"/>
              </a:rPr>
              <a:t>demand, Accelerating vs history.</a:t>
            </a:r>
          </a:p>
        </p:txBody>
      </p:sp>
      <p:sp>
        <p:nvSpPr>
          <p:cNvPr id="115" name="TextBox 114"/>
          <p:cNvSpPr txBox="1"/>
          <p:nvPr/>
        </p:nvSpPr>
        <p:spPr>
          <a:xfrm>
            <a:off x="5562600" y="4309502"/>
            <a:ext cx="1113035" cy="186689"/>
          </a:xfrm>
          <a:prstGeom prst="rect">
            <a:avLst/>
          </a:prstGeom>
          <a:noFill/>
        </p:spPr>
        <p:txBody>
          <a:bodyPr wrap="none" lIns="0" rIns="0" tIns="0" bIns="0">
            <a:spAutoFit/>
          </a:bodyPr>
          <a:lstStyle/>
          <a:p>
            <a:r>
              <a:rPr sz="1100" b="0">
                <a:solidFill>
                  <a:srgbClr val="2E2E2E"/>
                </a:solidFill>
                <a:latin typeface="Calibri"/>
              </a:rPr>
              <a:t>Rising realisation (</a:t>
            </a:r>
          </a:p>
        </p:txBody>
      </p:sp>
      <p:pic>
        <p:nvPicPr>
          <p:cNvPr id="116" name="Picture 115" descr="lock.png"/>
          <p:cNvPicPr>
            <a:picLocks noChangeAspect="1"/>
          </p:cNvPicPr>
          <p:nvPr/>
        </p:nvPicPr>
        <p:blipFill>
          <a:blip r:embed="rId4"/>
          <a:stretch>
            <a:fillRect/>
          </a:stretch>
        </p:blipFill>
        <p:spPr>
          <a:xfrm>
            <a:off x="6623687" y="4299723"/>
            <a:ext cx="128699" cy="187198"/>
          </a:xfrm>
          <a:prstGeom prst="rect">
            <a:avLst/>
          </a:prstGeom>
        </p:spPr>
      </p:pic>
      <p:sp>
        <p:nvSpPr>
          <p:cNvPr id="117" name="TextBox 116"/>
          <p:cNvSpPr txBox="1"/>
          <p:nvPr/>
        </p:nvSpPr>
        <p:spPr>
          <a:xfrm>
            <a:off x="6791183" y="4309502"/>
            <a:ext cx="153689" cy="186689"/>
          </a:xfrm>
          <a:prstGeom prst="rect">
            <a:avLst/>
          </a:prstGeom>
          <a:noFill/>
        </p:spPr>
        <p:txBody>
          <a:bodyPr wrap="none" lIns="0" rIns="0" tIns="0" bIns="0">
            <a:spAutoFit/>
          </a:bodyPr>
          <a:lstStyle/>
          <a:p>
            <a:r>
              <a:rPr sz="1100" b="0">
                <a:solidFill>
                  <a:srgbClr val="2E2E2E"/>
                </a:solidFill>
                <a:latin typeface="Calibri"/>
              </a:rPr>
              <a:t>).</a:t>
            </a:r>
          </a:p>
        </p:txBody>
      </p:sp>
      <p:sp>
        <p:nvSpPr>
          <p:cNvPr id="118" name="TextBox 117"/>
          <p:cNvSpPr txBox="1"/>
          <p:nvPr/>
        </p:nvSpPr>
        <p:spPr>
          <a:xfrm>
            <a:off x="8420100" y="4225682"/>
            <a:ext cx="2008534" cy="186689"/>
          </a:xfrm>
          <a:prstGeom prst="rect">
            <a:avLst/>
          </a:prstGeom>
          <a:noFill/>
        </p:spPr>
        <p:txBody>
          <a:bodyPr wrap="none" lIns="0" rIns="0" tIns="0" bIns="0">
            <a:spAutoFit/>
          </a:bodyPr>
          <a:lstStyle/>
          <a:p>
            <a:r>
              <a:rPr sz="1100" b="0">
                <a:solidFill>
                  <a:srgbClr val="2E2E2E"/>
                </a:solidFill>
                <a:latin typeface="Calibri"/>
              </a:rPr>
              <a:t>Scale Static Cold Storage Devices (</a:t>
            </a:r>
          </a:p>
        </p:txBody>
      </p:sp>
      <p:pic>
        <p:nvPicPr>
          <p:cNvPr id="119" name="Picture 118" descr="lock.png"/>
          <p:cNvPicPr>
            <a:picLocks noChangeAspect="1"/>
          </p:cNvPicPr>
          <p:nvPr/>
        </p:nvPicPr>
        <p:blipFill>
          <a:blip r:embed="rId4"/>
          <a:stretch>
            <a:fillRect/>
          </a:stretch>
        </p:blipFill>
        <p:spPr>
          <a:xfrm>
            <a:off x="10376686" y="4215903"/>
            <a:ext cx="128699" cy="187198"/>
          </a:xfrm>
          <a:prstGeom prst="rect">
            <a:avLst/>
          </a:prstGeom>
        </p:spPr>
      </p:pic>
      <p:sp>
        <p:nvSpPr>
          <p:cNvPr id="120" name="TextBox 119"/>
          <p:cNvSpPr txBox="1"/>
          <p:nvPr/>
        </p:nvSpPr>
        <p:spPr>
          <a:xfrm>
            <a:off x="10544182" y="4225682"/>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21" name="Picture 120" descr="lock.png"/>
          <p:cNvPicPr>
            <a:picLocks noChangeAspect="1"/>
          </p:cNvPicPr>
          <p:nvPr/>
        </p:nvPicPr>
        <p:blipFill>
          <a:blip r:embed="rId4"/>
          <a:stretch>
            <a:fillRect/>
          </a:stretch>
        </p:blipFill>
        <p:spPr>
          <a:xfrm>
            <a:off x="10645650" y="4215903"/>
            <a:ext cx="128699" cy="187198"/>
          </a:xfrm>
          <a:prstGeom prst="rect">
            <a:avLst/>
          </a:prstGeom>
        </p:spPr>
      </p:pic>
      <p:sp>
        <p:nvSpPr>
          <p:cNvPr id="122" name="TextBox 121"/>
          <p:cNvSpPr txBox="1"/>
          <p:nvPr/>
        </p:nvSpPr>
        <p:spPr>
          <a:xfrm>
            <a:off x="10813146" y="4225682"/>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23" name="TextBox 122"/>
          <p:cNvSpPr txBox="1"/>
          <p:nvPr/>
        </p:nvSpPr>
        <p:spPr>
          <a:xfrm>
            <a:off x="8420100" y="4393322"/>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24" name="TextBox 123"/>
          <p:cNvSpPr txBox="1"/>
          <p:nvPr/>
        </p:nvSpPr>
        <p:spPr>
          <a:xfrm>
            <a:off x="1752600" y="4736785"/>
            <a:ext cx="1134318" cy="186689"/>
          </a:xfrm>
          <a:prstGeom prst="rect">
            <a:avLst/>
          </a:prstGeom>
          <a:noFill/>
        </p:spPr>
        <p:txBody>
          <a:bodyPr wrap="none" lIns="0" rIns="0" tIns="0" bIns="0">
            <a:spAutoFit/>
          </a:bodyPr>
          <a:lstStyle/>
          <a:p>
            <a:r>
              <a:rPr sz="1100" b="0">
                <a:solidFill>
                  <a:srgbClr val="2E2E2E"/>
                </a:solidFill>
                <a:latin typeface="Calibri"/>
              </a:rPr>
              <a:t>Installed demand (</a:t>
            </a:r>
          </a:p>
        </p:txBody>
      </p:sp>
      <p:pic>
        <p:nvPicPr>
          <p:cNvPr id="125" name="Picture 124" descr="lock.png"/>
          <p:cNvPicPr>
            <a:picLocks noChangeAspect="1"/>
          </p:cNvPicPr>
          <p:nvPr/>
        </p:nvPicPr>
        <p:blipFill>
          <a:blip r:embed="rId4"/>
          <a:stretch>
            <a:fillRect/>
          </a:stretch>
        </p:blipFill>
        <p:spPr>
          <a:xfrm>
            <a:off x="2834969" y="4727006"/>
            <a:ext cx="128699" cy="187198"/>
          </a:xfrm>
          <a:prstGeom prst="rect">
            <a:avLst/>
          </a:prstGeom>
        </p:spPr>
      </p:pic>
      <p:sp>
        <p:nvSpPr>
          <p:cNvPr id="126" name="TextBox 125"/>
          <p:cNvSpPr txBox="1"/>
          <p:nvPr/>
        </p:nvSpPr>
        <p:spPr>
          <a:xfrm>
            <a:off x="3002465" y="4736785"/>
            <a:ext cx="2086007" cy="186689"/>
          </a:xfrm>
          <a:prstGeom prst="rect">
            <a:avLst/>
          </a:prstGeom>
          <a:noFill/>
        </p:spPr>
        <p:txBody>
          <a:bodyPr wrap="none" lIns="0" rIns="0" tIns="0" bIns="0">
            <a:spAutoFit/>
          </a:bodyPr>
          <a:lstStyle/>
          <a:p>
            <a:r>
              <a:rPr sz="1100" b="0">
                <a:solidFill>
                  <a:srgbClr val="2E2E2E"/>
                </a:solidFill>
                <a:latin typeface="Calibri"/>
              </a:rPr>
              <a:t>CAGR), Portable Machine Perfusion</a:t>
            </a:r>
          </a:p>
        </p:txBody>
      </p:sp>
      <p:sp>
        <p:nvSpPr>
          <p:cNvPr id="127" name="TextBox 126"/>
          <p:cNvSpPr txBox="1"/>
          <p:nvPr/>
        </p:nvSpPr>
        <p:spPr>
          <a:xfrm>
            <a:off x="1752600" y="4904425"/>
            <a:ext cx="2390254" cy="186689"/>
          </a:xfrm>
          <a:prstGeom prst="rect">
            <a:avLst/>
          </a:prstGeom>
          <a:noFill/>
        </p:spPr>
        <p:txBody>
          <a:bodyPr wrap="none" lIns="0" rIns="0" tIns="0" bIns="0">
            <a:spAutoFit/>
          </a:bodyPr>
          <a:lstStyle/>
          <a:p>
            <a:r>
              <a:rPr sz="1100" b="0">
                <a:solidFill>
                  <a:srgbClr val="2E2E2E"/>
                </a:solidFill>
                <a:latin typeface="Calibri"/>
              </a:rPr>
              <a:t>Devices demand, Accelerating vs history.</a:t>
            </a:r>
          </a:p>
        </p:txBody>
      </p:sp>
      <p:sp>
        <p:nvSpPr>
          <p:cNvPr id="128" name="TextBox 127"/>
          <p:cNvSpPr txBox="1"/>
          <p:nvPr/>
        </p:nvSpPr>
        <p:spPr>
          <a:xfrm>
            <a:off x="5562600" y="4820605"/>
            <a:ext cx="1287115" cy="186689"/>
          </a:xfrm>
          <a:prstGeom prst="rect">
            <a:avLst/>
          </a:prstGeom>
          <a:noFill/>
        </p:spPr>
        <p:txBody>
          <a:bodyPr wrap="none" lIns="0" rIns="0" tIns="0" bIns="0">
            <a:spAutoFit/>
          </a:bodyPr>
          <a:lstStyle/>
          <a:p>
            <a:r>
              <a:rPr sz="1100" b="0">
                <a:solidFill>
                  <a:srgbClr val="2E2E2E"/>
                </a:solidFill>
                <a:latin typeface="Calibri"/>
              </a:rPr>
              <a:t>Trails market pace by</a:t>
            </a:r>
          </a:p>
        </p:txBody>
      </p:sp>
      <p:pic>
        <p:nvPicPr>
          <p:cNvPr id="129" name="Picture 128" descr="lock.png"/>
          <p:cNvPicPr>
            <a:picLocks noChangeAspect="1"/>
          </p:cNvPicPr>
          <p:nvPr/>
        </p:nvPicPr>
        <p:blipFill>
          <a:blip r:embed="rId4"/>
          <a:stretch>
            <a:fillRect/>
          </a:stretch>
        </p:blipFill>
        <p:spPr>
          <a:xfrm>
            <a:off x="6797766" y="4810826"/>
            <a:ext cx="128699" cy="187198"/>
          </a:xfrm>
          <a:prstGeom prst="rect">
            <a:avLst/>
          </a:prstGeom>
        </p:spPr>
      </p:pic>
      <p:sp>
        <p:nvSpPr>
          <p:cNvPr id="130" name="TextBox 129"/>
          <p:cNvSpPr txBox="1"/>
          <p:nvPr/>
        </p:nvSpPr>
        <p:spPr>
          <a:xfrm>
            <a:off x="6965262" y="4820605"/>
            <a:ext cx="323949" cy="186689"/>
          </a:xfrm>
          <a:prstGeom prst="rect">
            <a:avLst/>
          </a:prstGeom>
          <a:noFill/>
        </p:spPr>
        <p:txBody>
          <a:bodyPr wrap="none" lIns="0" rIns="0" tIns="0" bIns="0">
            <a:spAutoFit/>
          </a:bodyPr>
          <a:lstStyle/>
          <a:p>
            <a:r>
              <a:rPr sz="1100" b="0">
                <a:solidFill>
                  <a:srgbClr val="2E2E2E"/>
                </a:solidFill>
                <a:latin typeface="Calibri"/>
              </a:rPr>
              <a:t>BPS.</a:t>
            </a:r>
          </a:p>
        </p:txBody>
      </p:sp>
      <p:sp>
        <p:nvSpPr>
          <p:cNvPr id="131" name="TextBox 130"/>
          <p:cNvSpPr txBox="1"/>
          <p:nvPr/>
        </p:nvSpPr>
        <p:spPr>
          <a:xfrm>
            <a:off x="8420100" y="4736785"/>
            <a:ext cx="2008534" cy="186689"/>
          </a:xfrm>
          <a:prstGeom prst="rect">
            <a:avLst/>
          </a:prstGeom>
          <a:noFill/>
        </p:spPr>
        <p:txBody>
          <a:bodyPr wrap="none" lIns="0" rIns="0" tIns="0" bIns="0">
            <a:spAutoFit/>
          </a:bodyPr>
          <a:lstStyle/>
          <a:p>
            <a:r>
              <a:rPr sz="1100" b="0">
                <a:solidFill>
                  <a:srgbClr val="2E2E2E"/>
                </a:solidFill>
                <a:latin typeface="Calibri"/>
              </a:rPr>
              <a:t>Scale Static Cold Storage Devices (</a:t>
            </a:r>
          </a:p>
        </p:txBody>
      </p:sp>
      <p:pic>
        <p:nvPicPr>
          <p:cNvPr id="132" name="Picture 131" descr="lock.png"/>
          <p:cNvPicPr>
            <a:picLocks noChangeAspect="1"/>
          </p:cNvPicPr>
          <p:nvPr/>
        </p:nvPicPr>
        <p:blipFill>
          <a:blip r:embed="rId4"/>
          <a:stretch>
            <a:fillRect/>
          </a:stretch>
        </p:blipFill>
        <p:spPr>
          <a:xfrm>
            <a:off x="10376686" y="4727006"/>
            <a:ext cx="128699" cy="187198"/>
          </a:xfrm>
          <a:prstGeom prst="rect">
            <a:avLst/>
          </a:prstGeom>
        </p:spPr>
      </p:pic>
      <p:sp>
        <p:nvSpPr>
          <p:cNvPr id="133" name="TextBox 132"/>
          <p:cNvSpPr txBox="1"/>
          <p:nvPr/>
        </p:nvSpPr>
        <p:spPr>
          <a:xfrm>
            <a:off x="10544182" y="4736785"/>
            <a:ext cx="153416"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34" name="Picture 133" descr="lock.png"/>
          <p:cNvPicPr>
            <a:picLocks noChangeAspect="1"/>
          </p:cNvPicPr>
          <p:nvPr/>
        </p:nvPicPr>
        <p:blipFill>
          <a:blip r:embed="rId4"/>
          <a:stretch>
            <a:fillRect/>
          </a:stretch>
        </p:blipFill>
        <p:spPr>
          <a:xfrm>
            <a:off x="10645650" y="4727006"/>
            <a:ext cx="128699" cy="187198"/>
          </a:xfrm>
          <a:prstGeom prst="rect">
            <a:avLst/>
          </a:prstGeom>
        </p:spPr>
      </p:pic>
      <p:sp>
        <p:nvSpPr>
          <p:cNvPr id="135" name="TextBox 134"/>
          <p:cNvSpPr txBox="1"/>
          <p:nvPr/>
        </p:nvSpPr>
        <p:spPr>
          <a:xfrm>
            <a:off x="10813146" y="4736785"/>
            <a:ext cx="525586" cy="186689"/>
          </a:xfrm>
          <a:prstGeom prst="rect">
            <a:avLst/>
          </a:prstGeom>
          <a:noFill/>
        </p:spPr>
        <p:txBody>
          <a:bodyPr wrap="none" lIns="0" rIns="0" tIns="0" bIns="0">
            <a:spAutoFit/>
          </a:bodyPr>
          <a:lstStyle/>
          <a:p>
            <a:r>
              <a:rPr sz="1100" b="0">
                <a:solidFill>
                  <a:srgbClr val="2E2E2E"/>
                </a:solidFill>
                <a:latin typeface="Calibri"/>
              </a:rPr>
              <a:t>US$ Mn</a:t>
            </a:r>
          </a:p>
        </p:txBody>
      </p:sp>
      <p:sp>
        <p:nvSpPr>
          <p:cNvPr id="136" name="TextBox 135"/>
          <p:cNvSpPr txBox="1"/>
          <p:nvPr/>
        </p:nvSpPr>
        <p:spPr>
          <a:xfrm>
            <a:off x="8420100" y="4904425"/>
            <a:ext cx="702394" cy="186689"/>
          </a:xfrm>
          <a:prstGeom prst="rect">
            <a:avLst/>
          </a:prstGeom>
          <a:noFill/>
        </p:spPr>
        <p:txBody>
          <a:bodyPr wrap="none" lIns="0" rIns="0" tIns="0" bIns="0">
            <a:spAutoFit/>
          </a:bodyPr>
          <a:lstStyle/>
          <a:p>
            <a:r>
              <a:rPr sz="1100" b="0">
                <a:solidFill>
                  <a:srgbClr val="2E2E2E"/>
                </a:solidFill>
                <a:latin typeface="Calibri"/>
              </a:rPr>
              <a:t>headroom.</a:t>
            </a:r>
          </a:p>
        </p:txBody>
      </p:sp>
      <p:sp>
        <p:nvSpPr>
          <p:cNvPr id="137" name="TextBox 136"/>
          <p:cNvSpPr txBox="1"/>
          <p:nvPr/>
        </p:nvSpPr>
        <p:spPr>
          <a:xfrm>
            <a:off x="304800" y="5807511"/>
            <a:ext cx="4373612" cy="186689"/>
          </a:xfrm>
          <a:prstGeom prst="rect">
            <a:avLst/>
          </a:prstGeom>
          <a:noFill/>
        </p:spPr>
        <p:txBody>
          <a:bodyPr wrap="none" lIns="0" rIns="0" tIns="0" bIns="0">
            <a:spAutoFit/>
          </a:bodyPr>
          <a:lstStyle/>
          <a:p>
            <a:r>
              <a:rPr sz="1100" b="0">
                <a:solidFill>
                  <a:srgbClr val="2E2E2E"/>
                </a:solidFill>
                <a:latin typeface="Calibri"/>
              </a:rPr>
              <a:t>▪ North America, Europe, South Asia &amp; Pacific anchor scale with a combined</a:t>
            </a:r>
          </a:p>
        </p:txBody>
      </p:sp>
      <p:pic>
        <p:nvPicPr>
          <p:cNvPr id="138" name="Picture 137" descr="lock.png"/>
          <p:cNvPicPr>
            <a:picLocks noChangeAspect="1"/>
          </p:cNvPicPr>
          <p:nvPr/>
        </p:nvPicPr>
        <p:blipFill>
          <a:blip r:embed="rId4"/>
          <a:stretch>
            <a:fillRect/>
          </a:stretch>
        </p:blipFill>
        <p:spPr>
          <a:xfrm>
            <a:off x="4626463" y="5797732"/>
            <a:ext cx="128699" cy="187198"/>
          </a:xfrm>
          <a:prstGeom prst="rect">
            <a:avLst/>
          </a:prstGeom>
        </p:spPr>
      </p:pic>
      <p:sp>
        <p:nvSpPr>
          <p:cNvPr id="139" name="TextBox 138"/>
          <p:cNvSpPr txBox="1"/>
          <p:nvPr/>
        </p:nvSpPr>
        <p:spPr>
          <a:xfrm>
            <a:off x="4793959" y="5807511"/>
            <a:ext cx="4622998" cy="186689"/>
          </a:xfrm>
          <a:prstGeom prst="rect">
            <a:avLst/>
          </a:prstGeom>
          <a:noFill/>
        </p:spPr>
        <p:txBody>
          <a:bodyPr wrap="none" lIns="0" rIns="0" tIns="0" bIns="0">
            <a:spAutoFit/>
          </a:bodyPr>
          <a:lstStyle/>
          <a:p>
            <a:r>
              <a:rPr sz="1100" b="0">
                <a:solidFill>
                  <a:srgbClr val="2E2E2E"/>
                </a:solidFill>
                <a:latin typeface="Calibri"/>
              </a:rPr>
              <a:t>of Global value in 2036, while 'South Asia &amp; Pacific' offers the steepest upside at</a:t>
            </a:r>
          </a:p>
        </p:txBody>
      </p:sp>
      <p:pic>
        <p:nvPicPr>
          <p:cNvPr id="140" name="Picture 139" descr="lock.png"/>
          <p:cNvPicPr>
            <a:picLocks noChangeAspect="1"/>
          </p:cNvPicPr>
          <p:nvPr/>
        </p:nvPicPr>
        <p:blipFill>
          <a:blip r:embed="rId4"/>
          <a:stretch>
            <a:fillRect/>
          </a:stretch>
        </p:blipFill>
        <p:spPr>
          <a:xfrm>
            <a:off x="9365009" y="5797732"/>
            <a:ext cx="128699" cy="187198"/>
          </a:xfrm>
          <a:prstGeom prst="rect">
            <a:avLst/>
          </a:prstGeom>
        </p:spPr>
      </p:pic>
      <p:sp>
        <p:nvSpPr>
          <p:cNvPr id="141" name="TextBox 140"/>
          <p:cNvSpPr txBox="1"/>
          <p:nvPr/>
        </p:nvSpPr>
        <p:spPr>
          <a:xfrm>
            <a:off x="9532505" y="5807511"/>
            <a:ext cx="1819704" cy="186689"/>
          </a:xfrm>
          <a:prstGeom prst="rect">
            <a:avLst/>
          </a:prstGeom>
          <a:noFill/>
        </p:spPr>
        <p:txBody>
          <a:bodyPr wrap="none" lIns="0" rIns="0" tIns="0" bIns="0">
            <a:spAutoFit/>
          </a:bodyPr>
          <a:lstStyle/>
          <a:p>
            <a:r>
              <a:rPr sz="1100" b="0">
                <a:solidFill>
                  <a:srgbClr val="2E2E2E"/>
                </a:solidFill>
                <a:latin typeface="Calibri"/>
              </a:rPr>
              <a:t>CAGR against a market pace of</a:t>
            </a:r>
          </a:p>
        </p:txBody>
      </p:sp>
      <p:pic>
        <p:nvPicPr>
          <p:cNvPr id="142" name="Picture 141" descr="lock.png"/>
          <p:cNvPicPr>
            <a:picLocks noChangeAspect="1"/>
          </p:cNvPicPr>
          <p:nvPr/>
        </p:nvPicPr>
        <p:blipFill>
          <a:blip r:embed="rId4"/>
          <a:stretch>
            <a:fillRect/>
          </a:stretch>
        </p:blipFill>
        <p:spPr>
          <a:xfrm>
            <a:off x="291332" y="5965372"/>
            <a:ext cx="128699" cy="187198"/>
          </a:xfrm>
          <a:prstGeom prst="rect">
            <a:avLst/>
          </a:prstGeom>
        </p:spPr>
      </p:pic>
      <p:sp>
        <p:nvSpPr>
          <p:cNvPr id="143" name="TextBox 142"/>
          <p:cNvSpPr txBox="1"/>
          <p:nvPr/>
        </p:nvSpPr>
        <p:spPr>
          <a:xfrm>
            <a:off x="458828" y="5975151"/>
            <a:ext cx="11008816" cy="186689"/>
          </a:xfrm>
          <a:prstGeom prst="rect">
            <a:avLst/>
          </a:prstGeom>
          <a:noFill/>
        </p:spPr>
        <p:txBody>
          <a:bodyPr wrap="none" lIns="0" rIns="0" tIns="0" bIns="0">
            <a:spAutoFit/>
          </a:bodyPr>
          <a:lstStyle/>
          <a:p>
            <a:r>
              <a:rPr sz="1100" b="0">
                <a:solidFill>
                  <a:srgbClr val="2E2E2E"/>
                </a:solidFill>
                <a:latin typeface="Calibri"/>
              </a:rPr>
              <a:t>. 3 of 6 regions grow at or above that pace, so entry logic has to differ by region scale defence in the leaders, mix and premiumisation in the mid-tier, and availability-led expansion in the fastest</a:t>
            </a:r>
          </a:p>
        </p:txBody>
      </p:sp>
      <p:sp>
        <p:nvSpPr>
          <p:cNvPr id="144" name="TextBox 143"/>
          <p:cNvSpPr txBox="1"/>
          <p:nvPr/>
        </p:nvSpPr>
        <p:spPr>
          <a:xfrm>
            <a:off x="304800" y="6142791"/>
            <a:ext cx="532680" cy="186689"/>
          </a:xfrm>
          <a:prstGeom prst="rect">
            <a:avLst/>
          </a:prstGeom>
          <a:noFill/>
        </p:spPr>
        <p:txBody>
          <a:bodyPr wrap="none" lIns="0" rIns="0" tIns="0" bIns="0">
            <a:spAutoFit/>
          </a:bodyPr>
          <a:lstStyle/>
          <a:p>
            <a:r>
              <a:rPr sz="1100" b="0">
                <a:solidFill>
                  <a:srgbClr val="2E2E2E"/>
                </a:solidFill>
                <a:latin typeface="Calibri"/>
              </a:rPr>
              <a:t>movers.</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Global Driving Factors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economic and supply-side factors scored by their impact on the global market</a:t>
            </a:r>
          </a:p>
        </p:txBody>
      </p:sp>
      <p:sp>
        <p:nvSpPr>
          <p:cNvPr id="10" name="Oval 9"/>
          <p:cNvSpPr/>
          <p:nvPr/>
        </p:nvSpPr>
        <p:spPr>
          <a:xfrm>
            <a:off x="2381250" y="1609633"/>
            <a:ext cx="4762500" cy="4563424"/>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19375" y="1837804"/>
            <a:ext cx="4286250" cy="410708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857500" y="2065976"/>
            <a:ext cx="3810000" cy="365074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95625" y="2294147"/>
            <a:ext cx="3333750" cy="319439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333750" y="2522318"/>
            <a:ext cx="2857500" cy="273805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1875" y="2750489"/>
            <a:ext cx="2381250" cy="228171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810000" y="2978660"/>
            <a:ext cx="1905000" cy="1825370"/>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48125" y="3206832"/>
            <a:ext cx="1428750" cy="1369027"/>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86250" y="3435003"/>
            <a:ext cx="952500" cy="912685"/>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4375" y="3663174"/>
            <a:ext cx="476250" cy="456342"/>
          </a:xfrm>
          <a:prstGeom prst="ellipse">
            <a:avLst/>
          </a:prstGeom>
          <a:solidFill>
            <a:srgbClr val="DCE7F3"/>
          </a:solidFill>
          <a:ln w="12700">
            <a:solidFill>
              <a:srgbClr val="B9C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762500" y="1609633"/>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3729314" y="1835594"/>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900764" y="2468721"/>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440953" y="3383617"/>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440953" y="3891345"/>
            <a:ext cx="2321547" cy="507729"/>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00764" y="3891345"/>
            <a:ext cx="1861736" cy="1422624"/>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3729314" y="3891345"/>
            <a:ext cx="1033186" cy="205575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762500" y="3891345"/>
            <a:ext cx="0" cy="2281712"/>
          </a:xfrm>
          <a:prstGeom prst="line">
            <a:avLst/>
          </a:prstGeom>
          <a:ln w="9525">
            <a:solidFill>
              <a:srgbClr val="B9CDE3"/>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2438400" y="2640967"/>
            <a:ext cx="2324100" cy="2153936"/>
          </a:xfrm>
          <a:custGeom>
            <a:avLst/>
            <a:gdLst/>
            <a:ahLst/>
            <a:cxnLst/>
            <a:rect l="l" t="t" r="r" b="b"/>
            <a:pathLst>
              <a:path w="244" h="236">
                <a:moveTo>
                  <a:pt x="244" y="0"/>
                </a:moveTo>
                <a:lnTo>
                  <a:pt x="180" y="3"/>
                </a:lnTo>
                <a:lnTo>
                  <a:pt x="114" y="33"/>
                </a:lnTo>
                <a:lnTo>
                  <a:pt x="96" y="103"/>
                </a:lnTo>
                <a:lnTo>
                  <a:pt x="0" y="193"/>
                </a:lnTo>
                <a:lnTo>
                  <a:pt x="181" y="188"/>
                </a:lnTo>
                <a:lnTo>
                  <a:pt x="230" y="165"/>
                </a:lnTo>
                <a:lnTo>
                  <a:pt x="244" y="236"/>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14875" y="1563999"/>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00300" y="128106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1" name="Oval 30"/>
          <p:cNvSpPr/>
          <p:nvPr/>
        </p:nvSpPr>
        <p:spPr>
          <a:xfrm>
            <a:off x="3681689" y="178996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85456" y="151968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3" name="Oval 32"/>
          <p:cNvSpPr/>
          <p:nvPr/>
        </p:nvSpPr>
        <p:spPr>
          <a:xfrm>
            <a:off x="2853139" y="2423087"/>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0507" y="227040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5" name="Oval 34"/>
          <p:cNvSpPr/>
          <p:nvPr/>
        </p:nvSpPr>
        <p:spPr>
          <a:xfrm>
            <a:off x="2393328" y="3337982"/>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4946" y="3236535"/>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7" name="Oval 36"/>
          <p:cNvSpPr/>
          <p:nvPr/>
        </p:nvSpPr>
        <p:spPr>
          <a:xfrm>
            <a:off x="2393328" y="4353440"/>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946" y="4308858"/>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39" name="Oval 38"/>
          <p:cNvSpPr/>
          <p:nvPr/>
        </p:nvSpPr>
        <p:spPr>
          <a:xfrm>
            <a:off x="2853139" y="5268335"/>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0507" y="5274987"/>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1" name="Oval 40"/>
          <p:cNvSpPr/>
          <p:nvPr/>
        </p:nvSpPr>
        <p:spPr>
          <a:xfrm>
            <a:off x="3681689" y="590146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85456" y="6025711"/>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3" name="Oval 42"/>
          <p:cNvSpPr/>
          <p:nvPr/>
        </p:nvSpPr>
        <p:spPr>
          <a:xfrm>
            <a:off x="4714875" y="6127423"/>
            <a:ext cx="95250" cy="91268"/>
          </a:xfrm>
          <a:prstGeom prst="ellipse">
            <a:avLst/>
          </a:prstGeom>
          <a:solidFill>
            <a:srgbClr val="2F6DA8"/>
          </a:solidFill>
          <a:ln w="12700">
            <a:solidFill>
              <a:srgbClr val="2F6D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00300" y="6264326"/>
            <a:ext cx="2286000" cy="237298"/>
          </a:xfrm>
          <a:prstGeom prst="rect">
            <a:avLst/>
          </a:prstGeom>
          <a:noFill/>
        </p:spPr>
        <p:txBody>
          <a:bodyPr wrap="square" lIns="28575" rIns="28575" tIns="9525" bIns="9525" anchor="ctr">
            <a:spAutoFit/>
          </a:bodyPr>
          <a:lstStyle/>
          <a:p>
            <a:pPr algn="r"/>
            <a:r>
              <a:rPr sz="1100" b="0">
                <a:solidFill>
                  <a:srgbClr val="2E2E2E"/>
                </a:solidFill>
                <a:latin typeface="Calibri"/>
              </a:rPr>
              <a:t/>
            </a:r>
          </a:p>
        </p:txBody>
      </p:sp>
      <p:sp>
        <p:nvSpPr>
          <p:cNvPr id="45" name="Rectangle 44"/>
          <p:cNvSpPr/>
          <p:nvPr/>
        </p:nvSpPr>
        <p:spPr>
          <a:xfrm>
            <a:off x="476250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4286250" y="3818331"/>
            <a:ext cx="419100" cy="146030"/>
          </a:xfrm>
          <a:prstGeom prst="rect">
            <a:avLst/>
          </a:prstGeom>
          <a:noFill/>
        </p:spPr>
        <p:txBody>
          <a:bodyPr wrap="none" lIns="0" rIns="0" tIns="0" bIns="0" anchor="ctr">
            <a:spAutoFit/>
          </a:bodyPr>
          <a:lstStyle/>
          <a:p>
            <a:pPr algn="r"/>
            <a:r>
              <a:rPr sz="1100" b="0">
                <a:solidFill>
                  <a:srgbClr val="6C7A89"/>
                </a:solidFill>
                <a:latin typeface="Calibri"/>
              </a:rPr>
              <a:t>0%</a:t>
            </a:r>
          </a:p>
        </p:txBody>
      </p:sp>
      <p:sp>
        <p:nvSpPr>
          <p:cNvPr id="47" name="FMI Scale 1"/>
          <p:cNvSpPr txBox="1"/>
          <p:nvPr/>
        </p:nvSpPr>
        <p:spPr>
          <a:xfrm>
            <a:off x="4286250" y="3590159"/>
            <a:ext cx="419100" cy="146030"/>
          </a:xfrm>
          <a:prstGeom prst="rect">
            <a:avLst/>
          </a:prstGeom>
          <a:noFill/>
        </p:spPr>
        <p:txBody>
          <a:bodyPr wrap="none" lIns="0" rIns="0" tIns="0" bIns="0" anchor="ctr">
            <a:spAutoFit/>
          </a:bodyPr>
          <a:lstStyle/>
          <a:p>
            <a:pPr algn="r"/>
            <a:r>
              <a:rPr sz="1100" b="0">
                <a:solidFill>
                  <a:srgbClr val="6C7A89"/>
                </a:solidFill>
                <a:latin typeface="Calibri"/>
              </a:rPr>
              <a:t>10%</a:t>
            </a:r>
          </a:p>
        </p:txBody>
      </p:sp>
      <p:sp>
        <p:nvSpPr>
          <p:cNvPr id="48" name="FMI Scale 2"/>
          <p:cNvSpPr txBox="1"/>
          <p:nvPr/>
        </p:nvSpPr>
        <p:spPr>
          <a:xfrm>
            <a:off x="4286250" y="3361988"/>
            <a:ext cx="419100" cy="146030"/>
          </a:xfrm>
          <a:prstGeom prst="rect">
            <a:avLst/>
          </a:prstGeom>
          <a:noFill/>
        </p:spPr>
        <p:txBody>
          <a:bodyPr wrap="none" lIns="0" rIns="0" tIns="0" bIns="0" anchor="ctr">
            <a:spAutoFit/>
          </a:bodyPr>
          <a:lstStyle/>
          <a:p>
            <a:pPr algn="r"/>
            <a:r>
              <a:rPr sz="1100" b="0">
                <a:solidFill>
                  <a:srgbClr val="6C7A89"/>
                </a:solidFill>
                <a:latin typeface="Calibri"/>
              </a:rPr>
              <a:t>20%</a:t>
            </a:r>
          </a:p>
        </p:txBody>
      </p:sp>
      <p:sp>
        <p:nvSpPr>
          <p:cNvPr id="49" name="FMI Scale 3"/>
          <p:cNvSpPr txBox="1"/>
          <p:nvPr/>
        </p:nvSpPr>
        <p:spPr>
          <a:xfrm>
            <a:off x="4286250" y="3133817"/>
            <a:ext cx="419100" cy="146030"/>
          </a:xfrm>
          <a:prstGeom prst="rect">
            <a:avLst/>
          </a:prstGeom>
          <a:noFill/>
        </p:spPr>
        <p:txBody>
          <a:bodyPr wrap="none" lIns="0" rIns="0" tIns="0" bIns="0" anchor="ctr">
            <a:spAutoFit/>
          </a:bodyPr>
          <a:lstStyle/>
          <a:p>
            <a:pPr algn="r"/>
            <a:r>
              <a:rPr sz="1100" b="0">
                <a:solidFill>
                  <a:srgbClr val="6C7A89"/>
                </a:solidFill>
                <a:latin typeface="Calibri"/>
              </a:rPr>
              <a:t>30%</a:t>
            </a:r>
          </a:p>
        </p:txBody>
      </p:sp>
      <p:sp>
        <p:nvSpPr>
          <p:cNvPr id="50" name="FMI Scale 4"/>
          <p:cNvSpPr txBox="1"/>
          <p:nvPr/>
        </p:nvSpPr>
        <p:spPr>
          <a:xfrm>
            <a:off x="4286250" y="2905646"/>
            <a:ext cx="419100" cy="146030"/>
          </a:xfrm>
          <a:prstGeom prst="rect">
            <a:avLst/>
          </a:prstGeom>
          <a:noFill/>
        </p:spPr>
        <p:txBody>
          <a:bodyPr wrap="none" lIns="0" rIns="0" tIns="0" bIns="0" anchor="ctr">
            <a:spAutoFit/>
          </a:bodyPr>
          <a:lstStyle/>
          <a:p>
            <a:pPr algn="r"/>
            <a:r>
              <a:rPr sz="1100" b="0">
                <a:solidFill>
                  <a:srgbClr val="6C7A89"/>
                </a:solidFill>
                <a:latin typeface="Calibri"/>
              </a:rPr>
              <a:t>40%</a:t>
            </a:r>
          </a:p>
        </p:txBody>
      </p:sp>
      <p:sp>
        <p:nvSpPr>
          <p:cNvPr id="51" name="FMI Scale 5"/>
          <p:cNvSpPr txBox="1"/>
          <p:nvPr/>
        </p:nvSpPr>
        <p:spPr>
          <a:xfrm>
            <a:off x="4286250" y="2677474"/>
            <a:ext cx="419100" cy="146030"/>
          </a:xfrm>
          <a:prstGeom prst="rect">
            <a:avLst/>
          </a:prstGeom>
          <a:noFill/>
        </p:spPr>
        <p:txBody>
          <a:bodyPr wrap="none" lIns="0" rIns="0" tIns="0" bIns="0" anchor="ctr">
            <a:spAutoFit/>
          </a:bodyPr>
          <a:lstStyle/>
          <a:p>
            <a:pPr algn="r"/>
            <a:r>
              <a:rPr sz="1100" b="0">
                <a:solidFill>
                  <a:srgbClr val="6C7A89"/>
                </a:solidFill>
                <a:latin typeface="Calibri"/>
              </a:rPr>
              <a:t>50%</a:t>
            </a:r>
          </a:p>
        </p:txBody>
      </p:sp>
      <p:sp>
        <p:nvSpPr>
          <p:cNvPr id="52" name="FMI Scale 6"/>
          <p:cNvSpPr txBox="1"/>
          <p:nvPr/>
        </p:nvSpPr>
        <p:spPr>
          <a:xfrm>
            <a:off x="4286250" y="2449303"/>
            <a:ext cx="419100" cy="146030"/>
          </a:xfrm>
          <a:prstGeom prst="rect">
            <a:avLst/>
          </a:prstGeom>
          <a:noFill/>
        </p:spPr>
        <p:txBody>
          <a:bodyPr wrap="none" lIns="0" rIns="0" tIns="0" bIns="0" anchor="ctr">
            <a:spAutoFit/>
          </a:bodyPr>
          <a:lstStyle/>
          <a:p>
            <a:pPr algn="r"/>
            <a:r>
              <a:rPr sz="1100" b="0">
                <a:solidFill>
                  <a:srgbClr val="6C7A89"/>
                </a:solidFill>
                <a:latin typeface="Calibri"/>
              </a:rPr>
              <a:t>60%</a:t>
            </a:r>
          </a:p>
        </p:txBody>
      </p:sp>
      <p:sp>
        <p:nvSpPr>
          <p:cNvPr id="53" name="FMI Scale 7"/>
          <p:cNvSpPr txBox="1"/>
          <p:nvPr/>
        </p:nvSpPr>
        <p:spPr>
          <a:xfrm>
            <a:off x="4286250" y="2221132"/>
            <a:ext cx="419100" cy="146030"/>
          </a:xfrm>
          <a:prstGeom prst="rect">
            <a:avLst/>
          </a:prstGeom>
          <a:noFill/>
        </p:spPr>
        <p:txBody>
          <a:bodyPr wrap="none" lIns="0" rIns="0" tIns="0" bIns="0" anchor="ctr">
            <a:spAutoFit/>
          </a:bodyPr>
          <a:lstStyle/>
          <a:p>
            <a:pPr algn="r"/>
            <a:r>
              <a:rPr sz="1100" b="0">
                <a:solidFill>
                  <a:srgbClr val="6C7A89"/>
                </a:solidFill>
                <a:latin typeface="Calibri"/>
              </a:rPr>
              <a:t>70%</a:t>
            </a:r>
          </a:p>
        </p:txBody>
      </p:sp>
      <p:sp>
        <p:nvSpPr>
          <p:cNvPr id="54" name="FMI Scale 8"/>
          <p:cNvSpPr txBox="1"/>
          <p:nvPr/>
        </p:nvSpPr>
        <p:spPr>
          <a:xfrm>
            <a:off x="4286250" y="1992961"/>
            <a:ext cx="419100" cy="146030"/>
          </a:xfrm>
          <a:prstGeom prst="rect">
            <a:avLst/>
          </a:prstGeom>
          <a:noFill/>
        </p:spPr>
        <p:txBody>
          <a:bodyPr wrap="none" lIns="0" rIns="0" tIns="0" bIns="0" anchor="ctr">
            <a:spAutoFit/>
          </a:bodyPr>
          <a:lstStyle/>
          <a:p>
            <a:pPr algn="r"/>
            <a:r>
              <a:rPr sz="1100" b="0">
                <a:solidFill>
                  <a:srgbClr val="6C7A89"/>
                </a:solidFill>
                <a:latin typeface="Calibri"/>
              </a:rPr>
              <a:t>80%</a:t>
            </a:r>
          </a:p>
        </p:txBody>
      </p:sp>
      <p:sp>
        <p:nvSpPr>
          <p:cNvPr id="55" name="FMI Scale 9"/>
          <p:cNvSpPr txBox="1"/>
          <p:nvPr/>
        </p:nvSpPr>
        <p:spPr>
          <a:xfrm>
            <a:off x="4286250" y="1764790"/>
            <a:ext cx="419100" cy="146030"/>
          </a:xfrm>
          <a:prstGeom prst="rect">
            <a:avLst/>
          </a:prstGeom>
          <a:noFill/>
        </p:spPr>
        <p:txBody>
          <a:bodyPr wrap="none" lIns="0" rIns="0" tIns="0" bIns="0" anchor="ctr">
            <a:spAutoFit/>
          </a:bodyPr>
          <a:lstStyle/>
          <a:p>
            <a:pPr algn="r"/>
            <a:r>
              <a:rPr sz="1100" b="0">
                <a:solidFill>
                  <a:srgbClr val="6C7A89"/>
                </a:solidFill>
                <a:latin typeface="Calibri"/>
              </a:rPr>
              <a:t>90%</a:t>
            </a:r>
          </a:p>
        </p:txBody>
      </p:sp>
      <p:sp>
        <p:nvSpPr>
          <p:cNvPr id="56" name="FMI Scale 10"/>
          <p:cNvSpPr txBox="1"/>
          <p:nvPr/>
        </p:nvSpPr>
        <p:spPr>
          <a:xfrm>
            <a:off x="4286250" y="1536618"/>
            <a:ext cx="419100" cy="146030"/>
          </a:xfrm>
          <a:prstGeom prst="rect">
            <a:avLst/>
          </a:prstGeom>
          <a:noFill/>
        </p:spPr>
        <p:txBody>
          <a:bodyPr wrap="none" lIns="0" rIns="0" tIns="0" bIns="0" anchor="ctr">
            <a:spAutoFit/>
          </a:bodyPr>
          <a:lstStyle/>
          <a:p>
            <a:pPr algn="r"/>
            <a:r>
              <a:rPr sz="1100" b="0">
                <a:solidFill>
                  <a:srgbClr val="6C7A89"/>
                </a:solidFill>
                <a:latin typeface="Calibri"/>
              </a:rPr>
              <a:t>100%</a:t>
            </a:r>
          </a:p>
        </p:txBody>
      </p:sp>
      <p:cxnSp>
        <p:nvCxnSpPr>
          <p:cNvPr id="57" name="Connector 56"/>
          <p:cNvCxnSpPr/>
          <p:nvPr/>
        </p:nvCxnSpPr>
        <p:spPr>
          <a:xfrm>
            <a:off x="4762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2050" y="1080276"/>
            <a:ext cx="7077075" cy="219044"/>
          </a:xfrm>
          <a:prstGeom prst="rect">
            <a:avLst/>
          </a:prstGeom>
          <a:noFill/>
        </p:spPr>
        <p:txBody>
          <a:bodyPr wrap="square" lIns="28575" rIns="28575" tIns="9525" bIns="9525" anchor="ctr">
            <a:spAutoFit/>
          </a:bodyPr>
          <a:lstStyle/>
          <a:p>
            <a:pPr algn="l"/>
            <a:r>
              <a:rPr sz="1200" b="1">
                <a:solidFill>
                  <a:srgbClr val="0B2E4A"/>
                </a:solidFill>
                <a:latin typeface="Calibri"/>
              </a:rPr>
              <a:t>Economic and Supply-side Factors</a:t>
            </a:r>
          </a:p>
        </p:txBody>
      </p:sp>
      <p:cxnSp>
        <p:nvCxnSpPr>
          <p:cNvPr id="59" name="Connector 58"/>
          <p:cNvCxnSpPr/>
          <p:nvPr/>
        </p:nvCxnSpPr>
        <p:spPr>
          <a:xfrm>
            <a:off x="4972050" y="1335828"/>
            <a:ext cx="70770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972050" y="142709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4972050" y="1883439"/>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4972050" y="2339781"/>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4972050" y="2613586"/>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Portfolio breadth spans 2 device technology lines and 2 sales channel routes, giving producers focused reformulation and channel latitude.</a:t>
            </a:r>
          </a:p>
        </p:txBody>
      </p:sp>
      <p:sp>
        <p:nvSpPr>
          <p:cNvPr id="64" name="TextBox 63"/>
          <p:cNvSpPr txBox="1"/>
          <p:nvPr/>
        </p:nvSpPr>
        <p:spPr>
          <a:xfrm>
            <a:off x="4972050" y="3069929"/>
            <a:ext cx="70770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4972050" y="3343734"/>
            <a:ext cx="70770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3466991" y="1322601"/>
            <a:ext cx="1125226" cy="173278"/>
          </a:xfrm>
          <a:prstGeom prst="rect">
            <a:avLst/>
          </a:prstGeom>
          <a:noFill/>
        </p:spPr>
        <p:txBody>
          <a:bodyPr wrap="none" lIns="0" rIns="0" tIns="0" bIns="0">
            <a:spAutoFit/>
          </a:bodyPr>
          <a:lstStyle/>
          <a:p>
            <a:r>
              <a:rPr sz="1011" b="0">
                <a:solidFill>
                  <a:srgbClr val="2E2E2E"/>
                </a:solidFill>
                <a:latin typeface="Calibri"/>
              </a:rPr>
              <a:t>Production Scale-up</a:t>
            </a:r>
          </a:p>
        </p:txBody>
      </p:sp>
      <p:pic>
        <p:nvPicPr>
          <p:cNvPr id="68" name="Picture 67" descr="lock.png"/>
          <p:cNvPicPr>
            <a:picLocks noChangeAspect="1"/>
          </p:cNvPicPr>
          <p:nvPr/>
        </p:nvPicPr>
        <p:blipFill>
          <a:blip r:embed="rId4"/>
          <a:stretch>
            <a:fillRect/>
          </a:stretch>
        </p:blipFill>
        <p:spPr>
          <a:xfrm>
            <a:off x="4538330" y="1313604"/>
            <a:ext cx="118403" cy="172222"/>
          </a:xfrm>
          <a:prstGeom prst="rect">
            <a:avLst/>
          </a:prstGeom>
        </p:spPr>
      </p:pic>
      <p:sp>
        <p:nvSpPr>
          <p:cNvPr id="69" name="TextBox 68"/>
          <p:cNvSpPr txBox="1"/>
          <p:nvPr/>
        </p:nvSpPr>
        <p:spPr>
          <a:xfrm>
            <a:off x="2482772" y="1561215"/>
            <a:ext cx="1094602" cy="173278"/>
          </a:xfrm>
          <a:prstGeom prst="rect">
            <a:avLst/>
          </a:prstGeom>
          <a:noFill/>
        </p:spPr>
        <p:txBody>
          <a:bodyPr wrap="none" lIns="0" rIns="0" tIns="0" bIns="0">
            <a:spAutoFit/>
          </a:bodyPr>
          <a:lstStyle/>
          <a:p>
            <a:r>
              <a:rPr sz="1011" b="0">
                <a:solidFill>
                  <a:srgbClr val="2E2E2E"/>
                </a:solidFill>
                <a:latin typeface="Calibri"/>
              </a:rPr>
              <a:t>Input Cost Pressure</a:t>
            </a:r>
          </a:p>
        </p:txBody>
      </p:sp>
      <p:pic>
        <p:nvPicPr>
          <p:cNvPr id="70" name="Picture 69" descr="lock.png"/>
          <p:cNvPicPr>
            <a:picLocks noChangeAspect="1"/>
          </p:cNvPicPr>
          <p:nvPr/>
        </p:nvPicPr>
        <p:blipFill>
          <a:blip r:embed="rId4"/>
          <a:stretch>
            <a:fillRect/>
          </a:stretch>
        </p:blipFill>
        <p:spPr>
          <a:xfrm>
            <a:off x="3523486" y="1552218"/>
            <a:ext cx="118403" cy="172222"/>
          </a:xfrm>
          <a:prstGeom prst="rect">
            <a:avLst/>
          </a:prstGeom>
        </p:spPr>
      </p:pic>
      <p:sp>
        <p:nvSpPr>
          <p:cNvPr id="71" name="TextBox 70"/>
          <p:cNvSpPr txBox="1"/>
          <p:nvPr/>
        </p:nvSpPr>
        <p:spPr>
          <a:xfrm>
            <a:off x="1943191" y="2311939"/>
            <a:ext cx="759234" cy="173278"/>
          </a:xfrm>
          <a:prstGeom prst="rect">
            <a:avLst/>
          </a:prstGeom>
          <a:noFill/>
        </p:spPr>
        <p:txBody>
          <a:bodyPr wrap="none" lIns="0" rIns="0" tIns="0" bIns="0">
            <a:spAutoFit/>
          </a:bodyPr>
          <a:lstStyle/>
          <a:p>
            <a:r>
              <a:rPr sz="1011" b="0">
                <a:solidFill>
                  <a:srgbClr val="2E2E2E"/>
                </a:solidFill>
                <a:latin typeface="Calibri"/>
              </a:rPr>
              <a:t>Capacity Add</a:t>
            </a:r>
          </a:p>
        </p:txBody>
      </p:sp>
      <p:pic>
        <p:nvPicPr>
          <p:cNvPr id="72" name="Picture 71" descr="lock.png"/>
          <p:cNvPicPr>
            <a:picLocks noChangeAspect="1"/>
          </p:cNvPicPr>
          <p:nvPr/>
        </p:nvPicPr>
        <p:blipFill>
          <a:blip r:embed="rId4"/>
          <a:stretch>
            <a:fillRect/>
          </a:stretch>
        </p:blipFill>
        <p:spPr>
          <a:xfrm>
            <a:off x="2648537" y="2302942"/>
            <a:ext cx="118403" cy="172222"/>
          </a:xfrm>
          <a:prstGeom prst="rect">
            <a:avLst/>
          </a:prstGeom>
        </p:spPr>
      </p:pic>
      <p:sp>
        <p:nvSpPr>
          <p:cNvPr id="73" name="TextBox 72"/>
          <p:cNvSpPr txBox="1"/>
          <p:nvPr/>
        </p:nvSpPr>
        <p:spPr>
          <a:xfrm>
            <a:off x="1014573" y="3278069"/>
            <a:ext cx="1202291" cy="173278"/>
          </a:xfrm>
          <a:prstGeom prst="rect">
            <a:avLst/>
          </a:prstGeom>
          <a:noFill/>
        </p:spPr>
        <p:txBody>
          <a:bodyPr wrap="none" lIns="0" rIns="0" tIns="0" bIns="0">
            <a:spAutoFit/>
          </a:bodyPr>
          <a:lstStyle/>
          <a:p>
            <a:r>
              <a:rPr sz="1011" b="0">
                <a:solidFill>
                  <a:srgbClr val="2E2E2E"/>
                </a:solidFill>
                <a:latin typeface="Calibri"/>
              </a:rPr>
              <a:t>Supply Concentration</a:t>
            </a:r>
          </a:p>
        </p:txBody>
      </p:sp>
      <p:pic>
        <p:nvPicPr>
          <p:cNvPr id="74" name="Picture 73" descr="lock.png"/>
          <p:cNvPicPr>
            <a:picLocks noChangeAspect="1"/>
          </p:cNvPicPr>
          <p:nvPr/>
        </p:nvPicPr>
        <p:blipFill>
          <a:blip r:embed="rId4"/>
          <a:stretch>
            <a:fillRect/>
          </a:stretch>
        </p:blipFill>
        <p:spPr>
          <a:xfrm>
            <a:off x="2162976" y="3269072"/>
            <a:ext cx="118403" cy="172222"/>
          </a:xfrm>
          <a:prstGeom prst="rect">
            <a:avLst/>
          </a:prstGeom>
        </p:spPr>
      </p:pic>
      <p:sp>
        <p:nvSpPr>
          <p:cNvPr id="75" name="TextBox 74"/>
          <p:cNvSpPr txBox="1"/>
          <p:nvPr/>
        </p:nvSpPr>
        <p:spPr>
          <a:xfrm>
            <a:off x="1148118" y="4350392"/>
            <a:ext cx="1068746" cy="173278"/>
          </a:xfrm>
          <a:prstGeom prst="rect">
            <a:avLst/>
          </a:prstGeom>
          <a:noFill/>
        </p:spPr>
        <p:txBody>
          <a:bodyPr wrap="none" lIns="0" rIns="0" tIns="0" bIns="0">
            <a:spAutoFit/>
          </a:bodyPr>
          <a:lstStyle/>
          <a:p>
            <a:r>
              <a:rPr sz="1011" b="0">
                <a:solidFill>
                  <a:srgbClr val="2E2E2E"/>
                </a:solidFill>
                <a:latin typeface="Calibri"/>
              </a:rPr>
              <a:t>Geographic Spread</a:t>
            </a:r>
          </a:p>
        </p:txBody>
      </p:sp>
      <p:pic>
        <p:nvPicPr>
          <p:cNvPr id="76" name="Picture 75" descr="lock.png"/>
          <p:cNvPicPr>
            <a:picLocks noChangeAspect="1"/>
          </p:cNvPicPr>
          <p:nvPr/>
        </p:nvPicPr>
        <p:blipFill>
          <a:blip r:embed="rId4"/>
          <a:stretch>
            <a:fillRect/>
          </a:stretch>
        </p:blipFill>
        <p:spPr>
          <a:xfrm>
            <a:off x="2162976" y="4341395"/>
            <a:ext cx="118403" cy="172222"/>
          </a:xfrm>
          <a:prstGeom prst="rect">
            <a:avLst/>
          </a:prstGeom>
        </p:spPr>
      </p:pic>
      <p:sp>
        <p:nvSpPr>
          <p:cNvPr id="77" name="TextBox 76"/>
          <p:cNvSpPr txBox="1"/>
          <p:nvPr/>
        </p:nvSpPr>
        <p:spPr>
          <a:xfrm>
            <a:off x="1722039" y="5316521"/>
            <a:ext cx="980386" cy="173278"/>
          </a:xfrm>
          <a:prstGeom prst="rect">
            <a:avLst/>
          </a:prstGeom>
          <a:noFill/>
        </p:spPr>
        <p:txBody>
          <a:bodyPr wrap="none" lIns="0" rIns="0" tIns="0" bIns="0">
            <a:spAutoFit/>
          </a:bodyPr>
          <a:lstStyle/>
          <a:p>
            <a:r>
              <a:rPr sz="1011" b="0">
                <a:solidFill>
                  <a:srgbClr val="2E2E2E"/>
                </a:solidFill>
                <a:latin typeface="Calibri"/>
              </a:rPr>
              <a:t>Portfolio Breadth</a:t>
            </a:r>
          </a:p>
        </p:txBody>
      </p:sp>
      <p:pic>
        <p:nvPicPr>
          <p:cNvPr id="78" name="Picture 77" descr="lock.png"/>
          <p:cNvPicPr>
            <a:picLocks noChangeAspect="1"/>
          </p:cNvPicPr>
          <p:nvPr/>
        </p:nvPicPr>
        <p:blipFill>
          <a:blip r:embed="rId4"/>
          <a:stretch>
            <a:fillRect/>
          </a:stretch>
        </p:blipFill>
        <p:spPr>
          <a:xfrm>
            <a:off x="2648537" y="5307524"/>
            <a:ext cx="118403" cy="172222"/>
          </a:xfrm>
          <a:prstGeom prst="rect">
            <a:avLst/>
          </a:prstGeom>
        </p:spPr>
      </p:pic>
      <p:sp>
        <p:nvSpPr>
          <p:cNvPr id="79" name="TextBox 78"/>
          <p:cNvSpPr txBox="1"/>
          <p:nvPr/>
        </p:nvSpPr>
        <p:spPr>
          <a:xfrm>
            <a:off x="2838472" y="6067245"/>
            <a:ext cx="738901" cy="173278"/>
          </a:xfrm>
          <a:prstGeom prst="rect">
            <a:avLst/>
          </a:prstGeom>
          <a:noFill/>
        </p:spPr>
        <p:txBody>
          <a:bodyPr wrap="none" lIns="0" rIns="0" tIns="0" bIns="0">
            <a:spAutoFit/>
          </a:bodyPr>
          <a:lstStyle/>
          <a:p>
            <a:r>
              <a:rPr sz="1011" b="0">
                <a:solidFill>
                  <a:srgbClr val="2E2E2E"/>
                </a:solidFill>
                <a:latin typeface="Calibri"/>
              </a:rPr>
              <a:t>Route Depth</a:t>
            </a:r>
          </a:p>
        </p:txBody>
      </p:sp>
      <p:pic>
        <p:nvPicPr>
          <p:cNvPr id="80" name="Picture 79" descr="lock.png"/>
          <p:cNvPicPr>
            <a:picLocks noChangeAspect="1"/>
          </p:cNvPicPr>
          <p:nvPr/>
        </p:nvPicPr>
        <p:blipFill>
          <a:blip r:embed="rId4"/>
          <a:stretch>
            <a:fillRect/>
          </a:stretch>
        </p:blipFill>
        <p:spPr>
          <a:xfrm>
            <a:off x="3523486" y="6058248"/>
            <a:ext cx="118403" cy="172222"/>
          </a:xfrm>
          <a:prstGeom prst="rect">
            <a:avLst/>
          </a:prstGeom>
        </p:spPr>
      </p:pic>
      <p:sp>
        <p:nvSpPr>
          <p:cNvPr id="81" name="TextBox 80"/>
          <p:cNvSpPr txBox="1"/>
          <p:nvPr/>
        </p:nvSpPr>
        <p:spPr>
          <a:xfrm>
            <a:off x="3616852" y="6305860"/>
            <a:ext cx="975365" cy="173278"/>
          </a:xfrm>
          <a:prstGeom prst="rect">
            <a:avLst/>
          </a:prstGeom>
          <a:noFill/>
        </p:spPr>
        <p:txBody>
          <a:bodyPr wrap="none" lIns="0" rIns="0" tIns="0" bIns="0">
            <a:spAutoFit/>
          </a:bodyPr>
          <a:lstStyle/>
          <a:p>
            <a:r>
              <a:rPr sz="1011" b="0">
                <a:solidFill>
                  <a:srgbClr val="2E2E2E"/>
                </a:solidFill>
                <a:latin typeface="Calibri"/>
              </a:rPr>
              <a:t>Value Realisation</a:t>
            </a:r>
          </a:p>
        </p:txBody>
      </p:sp>
      <p:pic>
        <p:nvPicPr>
          <p:cNvPr id="82" name="Picture 81" descr="lock.png"/>
          <p:cNvPicPr>
            <a:picLocks noChangeAspect="1"/>
          </p:cNvPicPr>
          <p:nvPr/>
        </p:nvPicPr>
        <p:blipFill>
          <a:blip r:embed="rId4"/>
          <a:stretch>
            <a:fillRect/>
          </a:stretch>
        </p:blipFill>
        <p:spPr>
          <a:xfrm>
            <a:off x="4538330" y="6296863"/>
            <a:ext cx="118403" cy="172222"/>
          </a:xfrm>
          <a:prstGeom prst="rect">
            <a:avLst/>
          </a:prstGeom>
        </p:spPr>
      </p:pic>
      <p:sp>
        <p:nvSpPr>
          <p:cNvPr id="83" name="TextBox 82"/>
          <p:cNvSpPr txBox="1"/>
          <p:nvPr/>
        </p:nvSpPr>
        <p:spPr>
          <a:xfrm>
            <a:off x="5000625" y="1496754"/>
            <a:ext cx="3210445" cy="186689"/>
          </a:xfrm>
          <a:prstGeom prst="rect">
            <a:avLst/>
          </a:prstGeom>
          <a:noFill/>
        </p:spPr>
        <p:txBody>
          <a:bodyPr wrap="none" lIns="0" rIns="0" tIns="0" bIns="0">
            <a:spAutoFit/>
          </a:bodyPr>
          <a:lstStyle/>
          <a:p>
            <a:r>
              <a:rPr sz="1100" b="0">
                <a:solidFill>
                  <a:srgbClr val="2E2E2E"/>
                </a:solidFill>
                <a:latin typeface="Calibri"/>
              </a:rPr>
              <a:t>▪ Supply-side conditions are led by Geographic Spread (</a:t>
            </a:r>
          </a:p>
        </p:txBody>
      </p:sp>
      <p:pic>
        <p:nvPicPr>
          <p:cNvPr id="84" name="Picture 83" descr="lock.png"/>
          <p:cNvPicPr>
            <a:picLocks noChangeAspect="1"/>
          </p:cNvPicPr>
          <p:nvPr/>
        </p:nvPicPr>
        <p:blipFill>
          <a:blip r:embed="rId4"/>
          <a:stretch>
            <a:fillRect/>
          </a:stretch>
        </p:blipFill>
        <p:spPr>
          <a:xfrm>
            <a:off x="8159122" y="1486975"/>
            <a:ext cx="128699" cy="187198"/>
          </a:xfrm>
          <a:prstGeom prst="rect">
            <a:avLst/>
          </a:prstGeom>
        </p:spPr>
      </p:pic>
      <p:sp>
        <p:nvSpPr>
          <p:cNvPr id="85" name="TextBox 84"/>
          <p:cNvSpPr txBox="1"/>
          <p:nvPr/>
        </p:nvSpPr>
        <p:spPr>
          <a:xfrm>
            <a:off x="8326618" y="1496754"/>
            <a:ext cx="1197347" cy="186689"/>
          </a:xfrm>
          <a:prstGeom prst="rect">
            <a:avLst/>
          </a:prstGeom>
          <a:noFill/>
        </p:spPr>
        <p:txBody>
          <a:bodyPr wrap="none" lIns="0" rIns="0" tIns="0" bIns="0">
            <a:spAutoFit/>
          </a:bodyPr>
          <a:lstStyle/>
          <a:p>
            <a:r>
              <a:rPr sz="1100" b="0">
                <a:solidFill>
                  <a:srgbClr val="2E2E2E"/>
                </a:solidFill>
                <a:latin typeface="Calibri"/>
              </a:rPr>
              <a:t>/10), Capacity Add (</a:t>
            </a:r>
          </a:p>
        </p:txBody>
      </p:sp>
      <p:pic>
        <p:nvPicPr>
          <p:cNvPr id="86" name="Picture 85" descr="lock.png"/>
          <p:cNvPicPr>
            <a:picLocks noChangeAspect="1"/>
          </p:cNvPicPr>
          <p:nvPr/>
        </p:nvPicPr>
        <p:blipFill>
          <a:blip r:embed="rId4"/>
          <a:stretch>
            <a:fillRect/>
          </a:stretch>
        </p:blipFill>
        <p:spPr>
          <a:xfrm>
            <a:off x="9472016" y="1486975"/>
            <a:ext cx="128699" cy="187198"/>
          </a:xfrm>
          <a:prstGeom prst="rect">
            <a:avLst/>
          </a:prstGeom>
        </p:spPr>
      </p:pic>
      <p:sp>
        <p:nvSpPr>
          <p:cNvPr id="87" name="TextBox 86"/>
          <p:cNvSpPr txBox="1"/>
          <p:nvPr/>
        </p:nvSpPr>
        <p:spPr>
          <a:xfrm>
            <a:off x="9639512" y="1496754"/>
            <a:ext cx="1678930" cy="186689"/>
          </a:xfrm>
          <a:prstGeom prst="rect">
            <a:avLst/>
          </a:prstGeom>
          <a:noFill/>
        </p:spPr>
        <p:txBody>
          <a:bodyPr wrap="none" lIns="0" rIns="0" tIns="0" bIns="0">
            <a:spAutoFit/>
          </a:bodyPr>
          <a:lstStyle/>
          <a:p>
            <a:r>
              <a:rPr sz="1100" b="0">
                <a:solidFill>
                  <a:srgbClr val="2E2E2E"/>
                </a:solidFill>
                <a:latin typeface="Calibri"/>
              </a:rPr>
              <a:t>/10), Supply Concentration (</a:t>
            </a:r>
          </a:p>
        </p:txBody>
      </p:sp>
      <p:pic>
        <p:nvPicPr>
          <p:cNvPr id="88" name="Picture 87" descr="lock.png"/>
          <p:cNvPicPr>
            <a:picLocks noChangeAspect="1"/>
          </p:cNvPicPr>
          <p:nvPr/>
        </p:nvPicPr>
        <p:blipFill>
          <a:blip r:embed="rId4"/>
          <a:stretch>
            <a:fillRect/>
          </a:stretch>
        </p:blipFill>
        <p:spPr>
          <a:xfrm>
            <a:off x="11266494" y="1486975"/>
            <a:ext cx="128699" cy="187198"/>
          </a:xfrm>
          <a:prstGeom prst="rect">
            <a:avLst/>
          </a:prstGeom>
        </p:spPr>
      </p:pic>
      <p:sp>
        <p:nvSpPr>
          <p:cNvPr id="89" name="TextBox 88"/>
          <p:cNvSpPr txBox="1"/>
          <p:nvPr/>
        </p:nvSpPr>
        <p:spPr>
          <a:xfrm>
            <a:off x="11433990" y="1496754"/>
            <a:ext cx="493117" cy="186689"/>
          </a:xfrm>
          <a:prstGeom prst="rect">
            <a:avLst/>
          </a:prstGeom>
          <a:noFill/>
        </p:spPr>
        <p:txBody>
          <a:bodyPr wrap="none" lIns="0" rIns="0" tIns="0" bIns="0">
            <a:spAutoFit/>
          </a:bodyPr>
          <a:lstStyle/>
          <a:p>
            <a:r>
              <a:rPr sz="1100" b="0">
                <a:solidFill>
                  <a:srgbClr val="2E2E2E"/>
                </a:solidFill>
                <a:latin typeface="Calibri"/>
              </a:rPr>
              <a:t>/10) on</a:t>
            </a:r>
          </a:p>
        </p:txBody>
      </p:sp>
      <p:sp>
        <p:nvSpPr>
          <p:cNvPr id="90" name="TextBox 89"/>
          <p:cNvSpPr txBox="1"/>
          <p:nvPr/>
        </p:nvSpPr>
        <p:spPr>
          <a:xfrm>
            <a:off x="5000625" y="1664394"/>
            <a:ext cx="2862560" cy="186689"/>
          </a:xfrm>
          <a:prstGeom prst="rect">
            <a:avLst/>
          </a:prstGeom>
          <a:noFill/>
        </p:spPr>
        <p:txBody>
          <a:bodyPr wrap="none" lIns="0" rIns="0" tIns="0" bIns="0">
            <a:spAutoFit/>
          </a:bodyPr>
          <a:lstStyle/>
          <a:p>
            <a:r>
              <a:rPr sz="1100" b="0">
                <a:solidFill>
                  <a:srgbClr val="2E2E2E"/>
                </a:solidFill>
                <a:latin typeface="Calibri"/>
              </a:rPr>
              <a:t>a 0-10 scale scored from the global dataset itself.</a:t>
            </a:r>
          </a:p>
        </p:txBody>
      </p:sp>
      <p:sp>
        <p:nvSpPr>
          <p:cNvPr id="91" name="TextBox 90"/>
          <p:cNvSpPr txBox="1"/>
          <p:nvPr/>
        </p:nvSpPr>
        <p:spPr>
          <a:xfrm>
            <a:off x="5000625" y="1953097"/>
            <a:ext cx="1245914" cy="186689"/>
          </a:xfrm>
          <a:prstGeom prst="rect">
            <a:avLst/>
          </a:prstGeom>
          <a:noFill/>
        </p:spPr>
        <p:txBody>
          <a:bodyPr wrap="none" lIns="0" rIns="0" tIns="0" bIns="0">
            <a:spAutoFit/>
          </a:bodyPr>
          <a:lstStyle/>
          <a:p>
            <a:r>
              <a:rPr sz="1100" b="0">
                <a:solidFill>
                  <a:srgbClr val="2E2E2E"/>
                </a:solidFill>
                <a:latin typeface="Calibri"/>
              </a:rPr>
              <a:t>▪ Volume expands at</a:t>
            </a:r>
          </a:p>
        </p:txBody>
      </p:sp>
      <p:pic>
        <p:nvPicPr>
          <p:cNvPr id="92" name="Picture 91" descr="lock.png"/>
          <p:cNvPicPr>
            <a:picLocks noChangeAspect="1"/>
          </p:cNvPicPr>
          <p:nvPr/>
        </p:nvPicPr>
        <p:blipFill>
          <a:blip r:embed="rId4"/>
          <a:stretch>
            <a:fillRect/>
          </a:stretch>
        </p:blipFill>
        <p:spPr>
          <a:xfrm>
            <a:off x="6194591" y="1943318"/>
            <a:ext cx="128699" cy="187198"/>
          </a:xfrm>
          <a:prstGeom prst="rect">
            <a:avLst/>
          </a:prstGeom>
        </p:spPr>
      </p:pic>
      <p:sp>
        <p:nvSpPr>
          <p:cNvPr id="93" name="TextBox 92"/>
          <p:cNvSpPr txBox="1"/>
          <p:nvPr/>
        </p:nvSpPr>
        <p:spPr>
          <a:xfrm>
            <a:off x="6362087" y="1953097"/>
            <a:ext cx="3002788" cy="186689"/>
          </a:xfrm>
          <a:prstGeom prst="rect">
            <a:avLst/>
          </a:prstGeom>
          <a:noFill/>
        </p:spPr>
        <p:txBody>
          <a:bodyPr wrap="none" lIns="0" rIns="0" tIns="0" bIns="0">
            <a:spAutoFit/>
          </a:bodyPr>
          <a:lstStyle/>
          <a:p>
            <a:r>
              <a:rPr sz="1100" b="0">
                <a:solidFill>
                  <a:srgbClr val="2E2E2E"/>
                </a:solidFill>
                <a:latin typeface="Calibri"/>
              </a:rPr>
              <a:t>CAGR (2026–2036) while average realisation moves</a:t>
            </a:r>
          </a:p>
        </p:txBody>
      </p:sp>
      <p:pic>
        <p:nvPicPr>
          <p:cNvPr id="94" name="Picture 93" descr="lock.png"/>
          <p:cNvPicPr>
            <a:picLocks noChangeAspect="1"/>
          </p:cNvPicPr>
          <p:nvPr/>
        </p:nvPicPr>
        <p:blipFill>
          <a:blip r:embed="rId4"/>
          <a:stretch>
            <a:fillRect/>
          </a:stretch>
        </p:blipFill>
        <p:spPr>
          <a:xfrm>
            <a:off x="9312927" y="1943318"/>
            <a:ext cx="128699" cy="187198"/>
          </a:xfrm>
          <a:prstGeom prst="rect">
            <a:avLst/>
          </a:prstGeom>
        </p:spPr>
      </p:pic>
      <p:sp>
        <p:nvSpPr>
          <p:cNvPr id="95" name="TextBox 94"/>
          <p:cNvSpPr txBox="1"/>
          <p:nvPr/>
        </p:nvSpPr>
        <p:spPr>
          <a:xfrm>
            <a:off x="9480423" y="1953097"/>
            <a:ext cx="2346597" cy="186689"/>
          </a:xfrm>
          <a:prstGeom prst="rect">
            <a:avLst/>
          </a:prstGeom>
          <a:noFill/>
        </p:spPr>
        <p:txBody>
          <a:bodyPr wrap="none" lIns="0" rIns="0" tIns="0" bIns="0">
            <a:spAutoFit/>
          </a:bodyPr>
          <a:lstStyle/>
          <a:p>
            <a:r>
              <a:rPr sz="1100" b="0">
                <a:solidFill>
                  <a:srgbClr val="2E2E2E"/>
                </a:solidFill>
                <a:latin typeface="Calibri"/>
              </a:rPr>
              <a:t>a year the balance of those two sets the</a:t>
            </a:r>
          </a:p>
        </p:txBody>
      </p:sp>
      <p:sp>
        <p:nvSpPr>
          <p:cNvPr id="96" name="TextBox 95"/>
          <p:cNvSpPr txBox="1"/>
          <p:nvPr/>
        </p:nvSpPr>
        <p:spPr>
          <a:xfrm>
            <a:off x="5000625" y="2120737"/>
            <a:ext cx="1571426" cy="186689"/>
          </a:xfrm>
          <a:prstGeom prst="rect">
            <a:avLst/>
          </a:prstGeom>
          <a:noFill/>
        </p:spPr>
        <p:txBody>
          <a:bodyPr wrap="none" lIns="0" rIns="0" tIns="0" bIns="0">
            <a:spAutoFit/>
          </a:bodyPr>
          <a:lstStyle/>
          <a:p>
            <a:r>
              <a:rPr sz="1100" b="0">
                <a:solidFill>
                  <a:srgbClr val="2E2E2E"/>
                </a:solidFill>
                <a:latin typeface="Calibri"/>
              </a:rPr>
              <a:t>cost-pass-through picture.</a:t>
            </a:r>
          </a:p>
        </p:txBody>
      </p:sp>
      <p:sp>
        <p:nvSpPr>
          <p:cNvPr id="97" name="TextBox 96"/>
          <p:cNvSpPr txBox="1"/>
          <p:nvPr/>
        </p:nvSpPr>
        <p:spPr>
          <a:xfrm>
            <a:off x="5000625" y="2401990"/>
            <a:ext cx="2540049" cy="186689"/>
          </a:xfrm>
          <a:prstGeom prst="rect">
            <a:avLst/>
          </a:prstGeom>
          <a:noFill/>
        </p:spPr>
        <p:txBody>
          <a:bodyPr wrap="none" lIns="0" rIns="0" tIns="0" bIns="0">
            <a:spAutoFit/>
          </a:bodyPr>
          <a:lstStyle/>
          <a:p>
            <a:r>
              <a:rPr sz="1100" b="0">
                <a:solidFill>
                  <a:srgbClr val="2E2E2E"/>
                </a:solidFill>
                <a:latin typeface="Calibri"/>
              </a:rPr>
              <a:t>▪ Supply is dispersed: 'North America' holds</a:t>
            </a:r>
          </a:p>
        </p:txBody>
      </p:sp>
      <p:pic>
        <p:nvPicPr>
          <p:cNvPr id="98" name="Picture 97" descr="lock.png"/>
          <p:cNvPicPr>
            <a:picLocks noChangeAspect="1"/>
          </p:cNvPicPr>
          <p:nvPr/>
        </p:nvPicPr>
        <p:blipFill>
          <a:blip r:embed="rId4"/>
          <a:stretch>
            <a:fillRect/>
          </a:stretch>
        </p:blipFill>
        <p:spPr>
          <a:xfrm>
            <a:off x="7488726" y="2392211"/>
            <a:ext cx="128699" cy="187198"/>
          </a:xfrm>
          <a:prstGeom prst="rect">
            <a:avLst/>
          </a:prstGeom>
        </p:spPr>
      </p:pic>
      <p:sp>
        <p:nvSpPr>
          <p:cNvPr id="99" name="TextBox 98"/>
          <p:cNvSpPr txBox="1"/>
          <p:nvPr/>
        </p:nvSpPr>
        <p:spPr>
          <a:xfrm>
            <a:off x="7656222" y="2401990"/>
            <a:ext cx="1821358" cy="186689"/>
          </a:xfrm>
          <a:prstGeom prst="rect">
            <a:avLst/>
          </a:prstGeom>
          <a:noFill/>
        </p:spPr>
        <p:txBody>
          <a:bodyPr wrap="none" lIns="0" rIns="0" tIns="0" bIns="0">
            <a:spAutoFit/>
          </a:bodyPr>
          <a:lstStyle/>
          <a:p>
            <a:r>
              <a:rPr sz="1100" b="0">
                <a:solidFill>
                  <a:srgbClr val="2E2E2E"/>
                </a:solidFill>
                <a:latin typeface="Calibri"/>
              </a:rPr>
              <a:t>of 2036 value across 6 regions.</a:t>
            </a:r>
          </a:p>
        </p:txBody>
      </p:sp>
      <p:sp>
        <p:nvSpPr>
          <p:cNvPr id="100" name="TextBox 99"/>
          <p:cNvSpPr txBox="1"/>
          <p:nvPr/>
        </p:nvSpPr>
        <p:spPr>
          <a:xfrm>
            <a:off x="5000625" y="3132138"/>
            <a:ext cx="2931591" cy="186689"/>
          </a:xfrm>
          <a:prstGeom prst="rect">
            <a:avLst/>
          </a:prstGeom>
          <a:noFill/>
        </p:spPr>
        <p:txBody>
          <a:bodyPr wrap="none" lIns="0" rIns="0" tIns="0" bIns="0">
            <a:spAutoFit/>
          </a:bodyPr>
          <a:lstStyle/>
          <a:p>
            <a:r>
              <a:rPr sz="1100" b="0">
                <a:solidFill>
                  <a:srgbClr val="2E2E2E"/>
                </a:solidFill>
                <a:latin typeface="Calibri"/>
              </a:rPr>
              <a:t>▪ Capacity added between 2026 and 2036 is worth</a:t>
            </a:r>
          </a:p>
        </p:txBody>
      </p:sp>
      <p:pic>
        <p:nvPicPr>
          <p:cNvPr id="101" name="Picture 100" descr="lock.png"/>
          <p:cNvPicPr>
            <a:picLocks noChangeAspect="1"/>
          </p:cNvPicPr>
          <p:nvPr/>
        </p:nvPicPr>
        <p:blipFill>
          <a:blip r:embed="rId4"/>
          <a:stretch>
            <a:fillRect/>
          </a:stretch>
        </p:blipFill>
        <p:spPr>
          <a:xfrm>
            <a:off x="7880268" y="3122359"/>
            <a:ext cx="128699" cy="187198"/>
          </a:xfrm>
          <a:prstGeom prst="rect">
            <a:avLst/>
          </a:prstGeom>
        </p:spPr>
      </p:pic>
      <p:sp>
        <p:nvSpPr>
          <p:cNvPr id="102" name="TextBox 101"/>
          <p:cNvSpPr txBox="1"/>
          <p:nvPr/>
        </p:nvSpPr>
        <p:spPr>
          <a:xfrm>
            <a:off x="8047764" y="3132138"/>
            <a:ext cx="659010" cy="186689"/>
          </a:xfrm>
          <a:prstGeom prst="rect">
            <a:avLst/>
          </a:prstGeom>
          <a:noFill/>
        </p:spPr>
        <p:txBody>
          <a:bodyPr wrap="none" lIns="0" rIns="0" tIns="0" bIns="0">
            <a:spAutoFit/>
          </a:bodyPr>
          <a:lstStyle/>
          <a:p>
            <a:r>
              <a:rPr sz="1100" b="0">
                <a:solidFill>
                  <a:srgbClr val="2E2E2E"/>
                </a:solidFill>
                <a:latin typeface="Calibri"/>
              </a:rPr>
              <a:t>US$ Mn, a</a:t>
            </a:r>
          </a:p>
        </p:txBody>
      </p:sp>
      <p:pic>
        <p:nvPicPr>
          <p:cNvPr id="103" name="Picture 102" descr="lock.png"/>
          <p:cNvPicPr>
            <a:picLocks noChangeAspect="1"/>
          </p:cNvPicPr>
          <p:nvPr/>
        </p:nvPicPr>
        <p:blipFill>
          <a:blip r:embed="rId4"/>
          <a:stretch>
            <a:fillRect/>
          </a:stretch>
        </p:blipFill>
        <p:spPr>
          <a:xfrm>
            <a:off x="8654826" y="3122359"/>
            <a:ext cx="128699" cy="187198"/>
          </a:xfrm>
          <a:prstGeom prst="rect">
            <a:avLst/>
          </a:prstGeom>
        </p:spPr>
      </p:pic>
      <p:sp>
        <p:nvSpPr>
          <p:cNvPr id="104" name="TextBox 103"/>
          <p:cNvSpPr txBox="1"/>
          <p:nvPr/>
        </p:nvSpPr>
        <p:spPr>
          <a:xfrm>
            <a:off x="8822322" y="3132138"/>
            <a:ext cx="1801986" cy="186689"/>
          </a:xfrm>
          <a:prstGeom prst="rect">
            <a:avLst/>
          </a:prstGeom>
          <a:noFill/>
        </p:spPr>
        <p:txBody>
          <a:bodyPr wrap="none" lIns="0" rIns="0" tIns="0" bIns="0">
            <a:spAutoFit/>
          </a:bodyPr>
          <a:lstStyle/>
          <a:p>
            <a:r>
              <a:rPr sz="1100" b="0">
                <a:solidFill>
                  <a:srgbClr val="2E2E2E"/>
                </a:solidFill>
                <a:latin typeface="Calibri"/>
              </a:rPr>
              <a:t>× expansion on the 2026 base.</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Global Driving Factors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demand-side factors scored by their impact on the global market</a:t>
            </a:r>
          </a:p>
        </p:txBody>
      </p:sp>
      <p:sp>
        <p:nvSpPr>
          <p:cNvPr id="10" name="Oval 9"/>
          <p:cNvSpPr/>
          <p:nvPr/>
        </p:nvSpPr>
        <p:spPr>
          <a:xfrm>
            <a:off x="5048250" y="1609633"/>
            <a:ext cx="4762500" cy="4563424"/>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286375" y="1837804"/>
            <a:ext cx="4286250" cy="410708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4500" y="2065976"/>
            <a:ext cx="3810000" cy="365074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62625" y="2294147"/>
            <a:ext cx="3333750" cy="319439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000750" y="2522318"/>
            <a:ext cx="2857500" cy="273805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238875" y="2750489"/>
            <a:ext cx="2381250" cy="228171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7000" y="2978660"/>
            <a:ext cx="1905000" cy="1825370"/>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715125" y="3206832"/>
            <a:ext cx="1428750" cy="1369027"/>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53250" y="3435003"/>
            <a:ext cx="952500" cy="912685"/>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91375" y="3663174"/>
            <a:ext cx="476250" cy="456342"/>
          </a:xfrm>
          <a:prstGeom prst="ellipse">
            <a:avLst/>
          </a:prstGeom>
          <a:solidFill>
            <a:srgbClr val="E2F0CF"/>
          </a:solidFill>
          <a:ln w="12700">
            <a:solidFill>
              <a:srgbClr val="C5DF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7429500" y="1609633"/>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429500" y="1835594"/>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429500" y="2468721"/>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429500" y="3383617"/>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429500" y="3891345"/>
            <a:ext cx="2321547" cy="507729"/>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29500" y="3891345"/>
            <a:ext cx="1861736" cy="1422624"/>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429500" y="3891345"/>
            <a:ext cx="1033186" cy="205575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429500" y="3891345"/>
            <a:ext cx="0" cy="2281712"/>
          </a:xfrm>
          <a:prstGeom prst="line">
            <a:avLst/>
          </a:prstGeom>
          <a:ln w="9525">
            <a:solidFill>
              <a:srgbClr val="C5DFA4"/>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7429500" y="2659221"/>
            <a:ext cx="1524000" cy="3285666"/>
          </a:xfrm>
          <a:custGeom>
            <a:avLst/>
            <a:gdLst/>
            <a:ahLst/>
            <a:cxnLst/>
            <a:rect l="l" t="t" r="r" b="b"/>
            <a:pathLst>
              <a:path w="160" h="360">
                <a:moveTo>
                  <a:pt x="0" y="11"/>
                </a:moveTo>
                <a:lnTo>
                  <a:pt x="65" y="0"/>
                </a:lnTo>
                <a:lnTo>
                  <a:pt x="24" y="116"/>
                </a:lnTo>
                <a:lnTo>
                  <a:pt x="97" y="113"/>
                </a:lnTo>
                <a:lnTo>
                  <a:pt x="160" y="171"/>
                </a:lnTo>
                <a:lnTo>
                  <a:pt x="100" y="214"/>
                </a:lnTo>
                <a:lnTo>
                  <a:pt x="108" y="360"/>
                </a:lnTo>
                <a:lnTo>
                  <a:pt x="0" y="255"/>
                </a:lnTo>
              </a:path>
            </a:pathLst>
          </a:custGeom>
          <a:noFill/>
          <a:ln w="31750">
            <a:solidFill>
              <a:srgbClr val="0F5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81875" y="1563999"/>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5700" y="128106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1" name="Oval 30"/>
          <p:cNvSpPr/>
          <p:nvPr/>
        </p:nvSpPr>
        <p:spPr>
          <a:xfrm>
            <a:off x="8415061" y="178996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20544" y="151968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3" name="Oval 32"/>
          <p:cNvSpPr/>
          <p:nvPr/>
        </p:nvSpPr>
        <p:spPr>
          <a:xfrm>
            <a:off x="9243611" y="2423087"/>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95493" y="2270405"/>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5" name="Oval 34"/>
          <p:cNvSpPr/>
          <p:nvPr/>
        </p:nvSpPr>
        <p:spPr>
          <a:xfrm>
            <a:off x="9703422" y="3337982"/>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81054" y="3236535"/>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7" name="Oval 36"/>
          <p:cNvSpPr/>
          <p:nvPr/>
        </p:nvSpPr>
        <p:spPr>
          <a:xfrm>
            <a:off x="9703422" y="4353440"/>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81054" y="4308858"/>
            <a:ext cx="2168071"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39" name="Oval 38"/>
          <p:cNvSpPr/>
          <p:nvPr/>
        </p:nvSpPr>
        <p:spPr>
          <a:xfrm>
            <a:off x="9243611" y="5268335"/>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95493" y="5274987"/>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1" name="Oval 40"/>
          <p:cNvSpPr/>
          <p:nvPr/>
        </p:nvSpPr>
        <p:spPr>
          <a:xfrm>
            <a:off x="8415061" y="590146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20544" y="6025711"/>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3" name="Oval 42"/>
          <p:cNvSpPr/>
          <p:nvPr/>
        </p:nvSpPr>
        <p:spPr>
          <a:xfrm>
            <a:off x="7381875" y="6127423"/>
            <a:ext cx="95250" cy="91268"/>
          </a:xfrm>
          <a:prstGeom prst="ellipse">
            <a:avLst/>
          </a:prstGeom>
          <a:solidFill>
            <a:srgbClr val="8CC152"/>
          </a:solidFill>
          <a:ln w="12700">
            <a:solidFill>
              <a:srgbClr val="8CC1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5700" y="6264326"/>
            <a:ext cx="2286000" cy="237298"/>
          </a:xfrm>
          <a:prstGeom prst="rect">
            <a:avLst/>
          </a:prstGeom>
          <a:noFill/>
        </p:spPr>
        <p:txBody>
          <a:bodyPr wrap="square" lIns="28575" rIns="28575" tIns="9525" bIns="9525" anchor="ctr">
            <a:spAutoFit/>
          </a:bodyPr>
          <a:lstStyle/>
          <a:p>
            <a:pPr algn="l"/>
            <a:r>
              <a:rPr sz="1100" b="0">
                <a:solidFill>
                  <a:srgbClr val="2E2E2E"/>
                </a:solidFill>
                <a:latin typeface="Calibri"/>
              </a:rPr>
              <a:t/>
            </a:r>
          </a:p>
        </p:txBody>
      </p:sp>
      <p:sp>
        <p:nvSpPr>
          <p:cNvPr id="45" name="Rectangle 44"/>
          <p:cNvSpPr/>
          <p:nvPr/>
        </p:nvSpPr>
        <p:spPr>
          <a:xfrm>
            <a:off x="0" y="970754"/>
            <a:ext cx="7429500" cy="56403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MI Scale 0"/>
          <p:cNvSpPr txBox="1"/>
          <p:nvPr/>
        </p:nvSpPr>
        <p:spPr>
          <a:xfrm>
            <a:off x="7486650" y="3818331"/>
            <a:ext cx="419100" cy="146030"/>
          </a:xfrm>
          <a:prstGeom prst="rect">
            <a:avLst/>
          </a:prstGeom>
          <a:noFill/>
        </p:spPr>
        <p:txBody>
          <a:bodyPr wrap="none" lIns="0" rIns="0" tIns="0" bIns="0" anchor="ctr">
            <a:spAutoFit/>
          </a:bodyPr>
          <a:lstStyle/>
          <a:p>
            <a:pPr algn="l"/>
            <a:r>
              <a:rPr sz="1100" b="0">
                <a:solidFill>
                  <a:srgbClr val="6C7A89"/>
                </a:solidFill>
                <a:latin typeface="Calibri"/>
              </a:rPr>
              <a:t>0%</a:t>
            </a:r>
          </a:p>
        </p:txBody>
      </p:sp>
      <p:sp>
        <p:nvSpPr>
          <p:cNvPr id="47" name="FMI Scale 1"/>
          <p:cNvSpPr txBox="1"/>
          <p:nvPr/>
        </p:nvSpPr>
        <p:spPr>
          <a:xfrm>
            <a:off x="7486650" y="3590159"/>
            <a:ext cx="419100" cy="146030"/>
          </a:xfrm>
          <a:prstGeom prst="rect">
            <a:avLst/>
          </a:prstGeom>
          <a:noFill/>
        </p:spPr>
        <p:txBody>
          <a:bodyPr wrap="none" lIns="0" rIns="0" tIns="0" bIns="0" anchor="ctr">
            <a:spAutoFit/>
          </a:bodyPr>
          <a:lstStyle/>
          <a:p>
            <a:pPr algn="l"/>
            <a:r>
              <a:rPr sz="1100" b="0">
                <a:solidFill>
                  <a:srgbClr val="6C7A89"/>
                </a:solidFill>
                <a:latin typeface="Calibri"/>
              </a:rPr>
              <a:t>10%</a:t>
            </a:r>
          </a:p>
        </p:txBody>
      </p:sp>
      <p:sp>
        <p:nvSpPr>
          <p:cNvPr id="48" name="FMI Scale 2"/>
          <p:cNvSpPr txBox="1"/>
          <p:nvPr/>
        </p:nvSpPr>
        <p:spPr>
          <a:xfrm>
            <a:off x="7486650" y="3361988"/>
            <a:ext cx="419100" cy="146030"/>
          </a:xfrm>
          <a:prstGeom prst="rect">
            <a:avLst/>
          </a:prstGeom>
          <a:noFill/>
        </p:spPr>
        <p:txBody>
          <a:bodyPr wrap="none" lIns="0" rIns="0" tIns="0" bIns="0" anchor="ctr">
            <a:spAutoFit/>
          </a:bodyPr>
          <a:lstStyle/>
          <a:p>
            <a:pPr algn="l"/>
            <a:r>
              <a:rPr sz="1100" b="0">
                <a:solidFill>
                  <a:srgbClr val="6C7A89"/>
                </a:solidFill>
                <a:latin typeface="Calibri"/>
              </a:rPr>
              <a:t>20%</a:t>
            </a:r>
          </a:p>
        </p:txBody>
      </p:sp>
      <p:sp>
        <p:nvSpPr>
          <p:cNvPr id="49" name="FMI Scale 3"/>
          <p:cNvSpPr txBox="1"/>
          <p:nvPr/>
        </p:nvSpPr>
        <p:spPr>
          <a:xfrm>
            <a:off x="7486650" y="3133817"/>
            <a:ext cx="419100" cy="146030"/>
          </a:xfrm>
          <a:prstGeom prst="rect">
            <a:avLst/>
          </a:prstGeom>
          <a:noFill/>
        </p:spPr>
        <p:txBody>
          <a:bodyPr wrap="none" lIns="0" rIns="0" tIns="0" bIns="0" anchor="ctr">
            <a:spAutoFit/>
          </a:bodyPr>
          <a:lstStyle/>
          <a:p>
            <a:pPr algn="l"/>
            <a:r>
              <a:rPr sz="1100" b="0">
                <a:solidFill>
                  <a:srgbClr val="6C7A89"/>
                </a:solidFill>
                <a:latin typeface="Calibri"/>
              </a:rPr>
              <a:t>30%</a:t>
            </a:r>
          </a:p>
        </p:txBody>
      </p:sp>
      <p:sp>
        <p:nvSpPr>
          <p:cNvPr id="50" name="FMI Scale 4"/>
          <p:cNvSpPr txBox="1"/>
          <p:nvPr/>
        </p:nvSpPr>
        <p:spPr>
          <a:xfrm>
            <a:off x="7486650" y="2905646"/>
            <a:ext cx="419100" cy="146030"/>
          </a:xfrm>
          <a:prstGeom prst="rect">
            <a:avLst/>
          </a:prstGeom>
          <a:noFill/>
        </p:spPr>
        <p:txBody>
          <a:bodyPr wrap="none" lIns="0" rIns="0" tIns="0" bIns="0" anchor="ctr">
            <a:spAutoFit/>
          </a:bodyPr>
          <a:lstStyle/>
          <a:p>
            <a:pPr algn="l"/>
            <a:r>
              <a:rPr sz="1100" b="0">
                <a:solidFill>
                  <a:srgbClr val="6C7A89"/>
                </a:solidFill>
                <a:latin typeface="Calibri"/>
              </a:rPr>
              <a:t>40%</a:t>
            </a:r>
          </a:p>
        </p:txBody>
      </p:sp>
      <p:sp>
        <p:nvSpPr>
          <p:cNvPr id="51" name="FMI Scale 5"/>
          <p:cNvSpPr txBox="1"/>
          <p:nvPr/>
        </p:nvSpPr>
        <p:spPr>
          <a:xfrm>
            <a:off x="7486650" y="2677474"/>
            <a:ext cx="419100" cy="146030"/>
          </a:xfrm>
          <a:prstGeom prst="rect">
            <a:avLst/>
          </a:prstGeom>
          <a:noFill/>
        </p:spPr>
        <p:txBody>
          <a:bodyPr wrap="none" lIns="0" rIns="0" tIns="0" bIns="0" anchor="ctr">
            <a:spAutoFit/>
          </a:bodyPr>
          <a:lstStyle/>
          <a:p>
            <a:pPr algn="l"/>
            <a:r>
              <a:rPr sz="1100" b="0">
                <a:solidFill>
                  <a:srgbClr val="6C7A89"/>
                </a:solidFill>
                <a:latin typeface="Calibri"/>
              </a:rPr>
              <a:t>50%</a:t>
            </a:r>
          </a:p>
        </p:txBody>
      </p:sp>
      <p:sp>
        <p:nvSpPr>
          <p:cNvPr id="52" name="FMI Scale 6"/>
          <p:cNvSpPr txBox="1"/>
          <p:nvPr/>
        </p:nvSpPr>
        <p:spPr>
          <a:xfrm>
            <a:off x="7486650" y="2449303"/>
            <a:ext cx="419100" cy="146030"/>
          </a:xfrm>
          <a:prstGeom prst="rect">
            <a:avLst/>
          </a:prstGeom>
          <a:noFill/>
        </p:spPr>
        <p:txBody>
          <a:bodyPr wrap="none" lIns="0" rIns="0" tIns="0" bIns="0" anchor="ctr">
            <a:spAutoFit/>
          </a:bodyPr>
          <a:lstStyle/>
          <a:p>
            <a:pPr algn="l"/>
            <a:r>
              <a:rPr sz="1100" b="0">
                <a:solidFill>
                  <a:srgbClr val="6C7A89"/>
                </a:solidFill>
                <a:latin typeface="Calibri"/>
              </a:rPr>
              <a:t>60%</a:t>
            </a:r>
          </a:p>
        </p:txBody>
      </p:sp>
      <p:sp>
        <p:nvSpPr>
          <p:cNvPr id="53" name="FMI Scale 7"/>
          <p:cNvSpPr txBox="1"/>
          <p:nvPr/>
        </p:nvSpPr>
        <p:spPr>
          <a:xfrm>
            <a:off x="7486650" y="2221132"/>
            <a:ext cx="419100" cy="146030"/>
          </a:xfrm>
          <a:prstGeom prst="rect">
            <a:avLst/>
          </a:prstGeom>
          <a:noFill/>
        </p:spPr>
        <p:txBody>
          <a:bodyPr wrap="none" lIns="0" rIns="0" tIns="0" bIns="0" anchor="ctr">
            <a:spAutoFit/>
          </a:bodyPr>
          <a:lstStyle/>
          <a:p>
            <a:pPr algn="l"/>
            <a:r>
              <a:rPr sz="1100" b="0">
                <a:solidFill>
                  <a:srgbClr val="6C7A89"/>
                </a:solidFill>
                <a:latin typeface="Calibri"/>
              </a:rPr>
              <a:t>70%</a:t>
            </a:r>
          </a:p>
        </p:txBody>
      </p:sp>
      <p:sp>
        <p:nvSpPr>
          <p:cNvPr id="54" name="FMI Scale 8"/>
          <p:cNvSpPr txBox="1"/>
          <p:nvPr/>
        </p:nvSpPr>
        <p:spPr>
          <a:xfrm>
            <a:off x="7486650" y="1992961"/>
            <a:ext cx="419100" cy="146030"/>
          </a:xfrm>
          <a:prstGeom prst="rect">
            <a:avLst/>
          </a:prstGeom>
          <a:noFill/>
        </p:spPr>
        <p:txBody>
          <a:bodyPr wrap="none" lIns="0" rIns="0" tIns="0" bIns="0" anchor="ctr">
            <a:spAutoFit/>
          </a:bodyPr>
          <a:lstStyle/>
          <a:p>
            <a:pPr algn="l"/>
            <a:r>
              <a:rPr sz="1100" b="0">
                <a:solidFill>
                  <a:srgbClr val="6C7A89"/>
                </a:solidFill>
                <a:latin typeface="Calibri"/>
              </a:rPr>
              <a:t>80%</a:t>
            </a:r>
          </a:p>
        </p:txBody>
      </p:sp>
      <p:sp>
        <p:nvSpPr>
          <p:cNvPr id="55" name="FMI Scale 9"/>
          <p:cNvSpPr txBox="1"/>
          <p:nvPr/>
        </p:nvSpPr>
        <p:spPr>
          <a:xfrm>
            <a:off x="7486650" y="1764790"/>
            <a:ext cx="419100" cy="146030"/>
          </a:xfrm>
          <a:prstGeom prst="rect">
            <a:avLst/>
          </a:prstGeom>
          <a:noFill/>
        </p:spPr>
        <p:txBody>
          <a:bodyPr wrap="none" lIns="0" rIns="0" tIns="0" bIns="0" anchor="ctr">
            <a:spAutoFit/>
          </a:bodyPr>
          <a:lstStyle/>
          <a:p>
            <a:pPr algn="l"/>
            <a:r>
              <a:rPr sz="1100" b="0">
                <a:solidFill>
                  <a:srgbClr val="6C7A89"/>
                </a:solidFill>
                <a:latin typeface="Calibri"/>
              </a:rPr>
              <a:t>90%</a:t>
            </a:r>
          </a:p>
        </p:txBody>
      </p:sp>
      <p:sp>
        <p:nvSpPr>
          <p:cNvPr id="56" name="FMI Scale 10"/>
          <p:cNvSpPr txBox="1"/>
          <p:nvPr/>
        </p:nvSpPr>
        <p:spPr>
          <a:xfrm>
            <a:off x="7486650" y="1536618"/>
            <a:ext cx="419100" cy="146030"/>
          </a:xfrm>
          <a:prstGeom prst="rect">
            <a:avLst/>
          </a:prstGeom>
          <a:noFill/>
        </p:spPr>
        <p:txBody>
          <a:bodyPr wrap="none" lIns="0" rIns="0" tIns="0" bIns="0" anchor="ctr">
            <a:spAutoFit/>
          </a:bodyPr>
          <a:lstStyle/>
          <a:p>
            <a:pPr algn="l"/>
            <a:r>
              <a:rPr sz="1100" b="0">
                <a:solidFill>
                  <a:srgbClr val="6C7A89"/>
                </a:solidFill>
                <a:latin typeface="Calibri"/>
              </a:rPr>
              <a:t>100%</a:t>
            </a:r>
          </a:p>
        </p:txBody>
      </p:sp>
      <p:cxnSp>
        <p:nvCxnSpPr>
          <p:cNvPr id="57" name="Connector 56"/>
          <p:cNvCxnSpPr/>
          <p:nvPr/>
        </p:nvCxnSpPr>
        <p:spPr>
          <a:xfrm>
            <a:off x="7429500" y="1025515"/>
            <a:ext cx="0" cy="5549124"/>
          </a:xfrm>
          <a:prstGeom prst="line">
            <a:avLst/>
          </a:prstGeom>
          <a:ln w="12700">
            <a:solidFill>
              <a:srgbClr val="D5DBE1"/>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80975" y="1080276"/>
            <a:ext cx="7038975" cy="219044"/>
          </a:xfrm>
          <a:prstGeom prst="rect">
            <a:avLst/>
          </a:prstGeom>
          <a:noFill/>
        </p:spPr>
        <p:txBody>
          <a:bodyPr wrap="square" lIns="28575" rIns="28575" tIns="9525" bIns="9525" anchor="ctr">
            <a:spAutoFit/>
          </a:bodyPr>
          <a:lstStyle/>
          <a:p>
            <a:pPr algn="l"/>
            <a:r>
              <a:rPr sz="1200" b="1">
                <a:solidFill>
                  <a:srgbClr val="0B2E4A"/>
                </a:solidFill>
                <a:latin typeface="Calibri"/>
              </a:rPr>
              <a:t>Demand-side Factors</a:t>
            </a:r>
          </a:p>
        </p:txBody>
      </p:sp>
      <p:cxnSp>
        <p:nvCxnSpPr>
          <p:cNvPr id="59" name="Connector 58"/>
          <p:cNvCxnSpPr/>
          <p:nvPr/>
        </p:nvCxnSpPr>
        <p:spPr>
          <a:xfrm>
            <a:off x="180975" y="1335828"/>
            <a:ext cx="7038975" cy="0"/>
          </a:xfrm>
          <a:prstGeom prst="line">
            <a:avLst/>
          </a:prstGeom>
          <a:ln w="31750">
            <a:solidFill>
              <a:srgbClr val="1F6FB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80975" y="142709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1" name="TextBox 60"/>
          <p:cNvSpPr txBox="1"/>
          <p:nvPr/>
        </p:nvSpPr>
        <p:spPr>
          <a:xfrm>
            <a:off x="180975" y="1883439"/>
            <a:ext cx="7038975" cy="292059"/>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2" name="TextBox 61"/>
          <p:cNvSpPr txBox="1"/>
          <p:nvPr/>
        </p:nvSpPr>
        <p:spPr>
          <a:xfrm>
            <a:off x="180975" y="2157244"/>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3" name="TextBox 62"/>
          <p:cNvSpPr txBox="1"/>
          <p:nvPr/>
        </p:nvSpPr>
        <p:spPr>
          <a:xfrm>
            <a:off x="180975" y="2613586"/>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4" name="TextBox 63"/>
          <p:cNvSpPr txBox="1"/>
          <p:nvPr/>
        </p:nvSpPr>
        <p:spPr>
          <a:xfrm>
            <a:off x="180975" y="3069929"/>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65" name="TextBox 64"/>
          <p:cNvSpPr txBox="1"/>
          <p:nvPr/>
        </p:nvSpPr>
        <p:spPr>
          <a:xfrm>
            <a:off x="180975" y="3526271"/>
            <a:ext cx="7038975"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Note: the dynamics framing is indicative factors, impact ratings and narrative are generated from the loaded dataset's own values.</a:t>
            </a:r>
          </a:p>
        </p:txBody>
      </p:sp>
      <p:sp>
        <p:nvSpPr>
          <p:cNvPr id="66" name="TextBox 6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7" name="TextBox 66"/>
          <p:cNvSpPr txBox="1"/>
          <p:nvPr/>
        </p:nvSpPr>
        <p:spPr>
          <a:xfrm>
            <a:off x="7534275" y="1322601"/>
            <a:ext cx="943988" cy="173278"/>
          </a:xfrm>
          <a:prstGeom prst="rect">
            <a:avLst/>
          </a:prstGeom>
          <a:noFill/>
        </p:spPr>
        <p:txBody>
          <a:bodyPr wrap="none" lIns="0" rIns="0" tIns="0" bIns="0">
            <a:spAutoFit/>
          </a:bodyPr>
          <a:lstStyle/>
          <a:p>
            <a:r>
              <a:rPr sz="1011" b="0">
                <a:solidFill>
                  <a:srgbClr val="2E2E2E"/>
                </a:solidFill>
                <a:latin typeface="Calibri"/>
              </a:rPr>
              <a:t>Demand Growth</a:t>
            </a:r>
          </a:p>
        </p:txBody>
      </p:sp>
      <p:pic>
        <p:nvPicPr>
          <p:cNvPr id="68" name="Picture 67" descr="lock.png"/>
          <p:cNvPicPr>
            <a:picLocks noChangeAspect="1"/>
          </p:cNvPicPr>
          <p:nvPr/>
        </p:nvPicPr>
        <p:blipFill>
          <a:blip r:embed="rId4"/>
          <a:stretch>
            <a:fillRect/>
          </a:stretch>
        </p:blipFill>
        <p:spPr>
          <a:xfrm>
            <a:off x="8424374" y="1313604"/>
            <a:ext cx="118403" cy="172222"/>
          </a:xfrm>
          <a:prstGeom prst="rect">
            <a:avLst/>
          </a:prstGeom>
        </p:spPr>
      </p:pic>
      <p:sp>
        <p:nvSpPr>
          <p:cNvPr id="69" name="TextBox 68"/>
          <p:cNvSpPr txBox="1"/>
          <p:nvPr/>
        </p:nvSpPr>
        <p:spPr>
          <a:xfrm>
            <a:off x="8549119" y="1561215"/>
            <a:ext cx="903573" cy="173278"/>
          </a:xfrm>
          <a:prstGeom prst="rect">
            <a:avLst/>
          </a:prstGeom>
          <a:noFill/>
        </p:spPr>
        <p:txBody>
          <a:bodyPr wrap="none" lIns="0" rIns="0" tIns="0" bIns="0">
            <a:spAutoFit/>
          </a:bodyPr>
          <a:lstStyle/>
          <a:p>
            <a:r>
              <a:rPr sz="1011" b="0">
                <a:solidFill>
                  <a:srgbClr val="2E2E2E"/>
                </a:solidFill>
                <a:latin typeface="Calibri"/>
              </a:rPr>
              <a:t>Premiumisation</a:t>
            </a:r>
          </a:p>
        </p:txBody>
      </p:sp>
      <p:pic>
        <p:nvPicPr>
          <p:cNvPr id="70" name="Picture 69" descr="lock.png"/>
          <p:cNvPicPr>
            <a:picLocks noChangeAspect="1"/>
          </p:cNvPicPr>
          <p:nvPr/>
        </p:nvPicPr>
        <p:blipFill>
          <a:blip r:embed="rId4"/>
          <a:stretch>
            <a:fillRect/>
          </a:stretch>
        </p:blipFill>
        <p:spPr>
          <a:xfrm>
            <a:off x="9398803" y="1552218"/>
            <a:ext cx="118403" cy="172222"/>
          </a:xfrm>
          <a:prstGeom prst="rect">
            <a:avLst/>
          </a:prstGeom>
        </p:spPr>
      </p:pic>
      <p:sp>
        <p:nvSpPr>
          <p:cNvPr id="71" name="TextBox 70"/>
          <p:cNvSpPr txBox="1"/>
          <p:nvPr/>
        </p:nvSpPr>
        <p:spPr>
          <a:xfrm>
            <a:off x="9424068" y="2311939"/>
            <a:ext cx="765761" cy="173278"/>
          </a:xfrm>
          <a:prstGeom prst="rect">
            <a:avLst/>
          </a:prstGeom>
          <a:noFill/>
        </p:spPr>
        <p:txBody>
          <a:bodyPr wrap="none" lIns="0" rIns="0" tIns="0" bIns="0">
            <a:spAutoFit/>
          </a:bodyPr>
          <a:lstStyle/>
          <a:p>
            <a:r>
              <a:rPr sz="1011" b="0">
                <a:solidFill>
                  <a:srgbClr val="2E2E2E"/>
                </a:solidFill>
                <a:latin typeface="Calibri"/>
              </a:rPr>
              <a:t>App. Breadth</a:t>
            </a:r>
          </a:p>
        </p:txBody>
      </p:sp>
      <p:pic>
        <p:nvPicPr>
          <p:cNvPr id="72" name="Picture 71" descr="lock.png"/>
          <p:cNvPicPr>
            <a:picLocks noChangeAspect="1"/>
          </p:cNvPicPr>
          <p:nvPr/>
        </p:nvPicPr>
        <p:blipFill>
          <a:blip r:embed="rId4"/>
          <a:stretch>
            <a:fillRect/>
          </a:stretch>
        </p:blipFill>
        <p:spPr>
          <a:xfrm>
            <a:off x="10135940" y="2302942"/>
            <a:ext cx="118403" cy="172222"/>
          </a:xfrm>
          <a:prstGeom prst="rect">
            <a:avLst/>
          </a:prstGeom>
        </p:spPr>
      </p:pic>
      <p:sp>
        <p:nvSpPr>
          <p:cNvPr id="73" name="TextBox 72"/>
          <p:cNvSpPr txBox="1"/>
          <p:nvPr/>
        </p:nvSpPr>
        <p:spPr>
          <a:xfrm>
            <a:off x="9909628" y="3278069"/>
            <a:ext cx="791114" cy="173278"/>
          </a:xfrm>
          <a:prstGeom prst="rect">
            <a:avLst/>
          </a:prstGeom>
          <a:noFill/>
        </p:spPr>
        <p:txBody>
          <a:bodyPr wrap="none" lIns="0" rIns="0" tIns="0" bIns="0">
            <a:spAutoFit/>
          </a:bodyPr>
          <a:lstStyle/>
          <a:p>
            <a:r>
              <a:rPr sz="1011" b="0">
                <a:solidFill>
                  <a:srgbClr val="2E2E2E"/>
                </a:solidFill>
                <a:latin typeface="Calibri"/>
              </a:rPr>
              <a:t>Emerging Pull</a:t>
            </a:r>
          </a:p>
        </p:txBody>
      </p:sp>
      <p:pic>
        <p:nvPicPr>
          <p:cNvPr id="74" name="Picture 73" descr="lock.png"/>
          <p:cNvPicPr>
            <a:picLocks noChangeAspect="1"/>
          </p:cNvPicPr>
          <p:nvPr/>
        </p:nvPicPr>
        <p:blipFill>
          <a:blip r:embed="rId4"/>
          <a:stretch>
            <a:fillRect/>
          </a:stretch>
        </p:blipFill>
        <p:spPr>
          <a:xfrm>
            <a:off x="10646855" y="3269072"/>
            <a:ext cx="118403" cy="172222"/>
          </a:xfrm>
          <a:prstGeom prst="rect">
            <a:avLst/>
          </a:prstGeom>
        </p:spPr>
      </p:pic>
      <p:sp>
        <p:nvSpPr>
          <p:cNvPr id="75" name="TextBox 74"/>
          <p:cNvSpPr txBox="1"/>
          <p:nvPr/>
        </p:nvSpPr>
        <p:spPr>
          <a:xfrm>
            <a:off x="9909628" y="4350392"/>
            <a:ext cx="1135267" cy="173278"/>
          </a:xfrm>
          <a:prstGeom prst="rect">
            <a:avLst/>
          </a:prstGeom>
          <a:noFill/>
        </p:spPr>
        <p:txBody>
          <a:bodyPr wrap="none" lIns="0" rIns="0" tIns="0" bIns="0">
            <a:spAutoFit/>
          </a:bodyPr>
          <a:lstStyle/>
          <a:p>
            <a:r>
              <a:rPr sz="1011" b="0">
                <a:solidFill>
                  <a:srgbClr val="2E2E2E"/>
                </a:solidFill>
                <a:latin typeface="Calibri"/>
              </a:rPr>
              <a:t>Volume Momentum</a:t>
            </a:r>
          </a:p>
        </p:txBody>
      </p:sp>
      <p:pic>
        <p:nvPicPr>
          <p:cNvPr id="76" name="Picture 75" descr="lock.png"/>
          <p:cNvPicPr>
            <a:picLocks noChangeAspect="1"/>
          </p:cNvPicPr>
          <p:nvPr/>
        </p:nvPicPr>
        <p:blipFill>
          <a:blip r:embed="rId4"/>
          <a:stretch>
            <a:fillRect/>
          </a:stretch>
        </p:blipFill>
        <p:spPr>
          <a:xfrm>
            <a:off x="10991008" y="4341395"/>
            <a:ext cx="118403" cy="172222"/>
          </a:xfrm>
          <a:prstGeom prst="rect">
            <a:avLst/>
          </a:prstGeom>
        </p:spPr>
      </p:pic>
      <p:sp>
        <p:nvSpPr>
          <p:cNvPr id="77" name="TextBox 76"/>
          <p:cNvSpPr txBox="1"/>
          <p:nvPr/>
        </p:nvSpPr>
        <p:spPr>
          <a:xfrm>
            <a:off x="9424068" y="5316521"/>
            <a:ext cx="1032097" cy="173278"/>
          </a:xfrm>
          <a:prstGeom prst="rect">
            <a:avLst/>
          </a:prstGeom>
          <a:noFill/>
        </p:spPr>
        <p:txBody>
          <a:bodyPr wrap="none" lIns="0" rIns="0" tIns="0" bIns="0">
            <a:spAutoFit/>
          </a:bodyPr>
          <a:lstStyle/>
          <a:p>
            <a:r>
              <a:rPr sz="1011" b="0">
                <a:solidFill>
                  <a:srgbClr val="2E2E2E"/>
                </a:solidFill>
                <a:latin typeface="Calibri"/>
              </a:rPr>
              <a:t>Category Maturity</a:t>
            </a:r>
          </a:p>
        </p:txBody>
      </p:sp>
      <p:pic>
        <p:nvPicPr>
          <p:cNvPr id="78" name="Picture 77" descr="lock.png"/>
          <p:cNvPicPr>
            <a:picLocks noChangeAspect="1"/>
          </p:cNvPicPr>
          <p:nvPr/>
        </p:nvPicPr>
        <p:blipFill>
          <a:blip r:embed="rId4"/>
          <a:stretch>
            <a:fillRect/>
          </a:stretch>
        </p:blipFill>
        <p:spPr>
          <a:xfrm>
            <a:off x="10402276" y="5307524"/>
            <a:ext cx="118403" cy="172222"/>
          </a:xfrm>
          <a:prstGeom prst="rect">
            <a:avLst/>
          </a:prstGeom>
        </p:spPr>
      </p:pic>
      <p:sp>
        <p:nvSpPr>
          <p:cNvPr id="79" name="TextBox 78"/>
          <p:cNvSpPr txBox="1"/>
          <p:nvPr/>
        </p:nvSpPr>
        <p:spPr>
          <a:xfrm>
            <a:off x="8549119" y="6067245"/>
            <a:ext cx="911857" cy="173278"/>
          </a:xfrm>
          <a:prstGeom prst="rect">
            <a:avLst/>
          </a:prstGeom>
          <a:noFill/>
        </p:spPr>
        <p:txBody>
          <a:bodyPr wrap="none" lIns="0" rIns="0" tIns="0" bIns="0">
            <a:spAutoFit/>
          </a:bodyPr>
          <a:lstStyle/>
          <a:p>
            <a:r>
              <a:rPr sz="1011" b="0">
                <a:solidFill>
                  <a:srgbClr val="2E2E2E"/>
                </a:solidFill>
                <a:latin typeface="Calibri"/>
              </a:rPr>
              <a:t>Adoption Depth</a:t>
            </a:r>
          </a:p>
        </p:txBody>
      </p:sp>
      <p:pic>
        <p:nvPicPr>
          <p:cNvPr id="80" name="Picture 79" descr="lock.png"/>
          <p:cNvPicPr>
            <a:picLocks noChangeAspect="1"/>
          </p:cNvPicPr>
          <p:nvPr/>
        </p:nvPicPr>
        <p:blipFill>
          <a:blip r:embed="rId4"/>
          <a:stretch>
            <a:fillRect/>
          </a:stretch>
        </p:blipFill>
        <p:spPr>
          <a:xfrm>
            <a:off x="9407087" y="6058248"/>
            <a:ext cx="118403" cy="172222"/>
          </a:xfrm>
          <a:prstGeom prst="rect">
            <a:avLst/>
          </a:prstGeom>
        </p:spPr>
      </p:pic>
      <p:sp>
        <p:nvSpPr>
          <p:cNvPr id="81" name="TextBox 80"/>
          <p:cNvSpPr txBox="1"/>
          <p:nvPr/>
        </p:nvSpPr>
        <p:spPr>
          <a:xfrm>
            <a:off x="7534275" y="6305860"/>
            <a:ext cx="955786" cy="173278"/>
          </a:xfrm>
          <a:prstGeom prst="rect">
            <a:avLst/>
          </a:prstGeom>
          <a:noFill/>
        </p:spPr>
        <p:txBody>
          <a:bodyPr wrap="none" lIns="0" rIns="0" tIns="0" bIns="0">
            <a:spAutoFit/>
          </a:bodyPr>
          <a:lstStyle/>
          <a:p>
            <a:r>
              <a:rPr sz="1011" b="0">
                <a:solidFill>
                  <a:srgbClr val="2E2E2E"/>
                </a:solidFill>
                <a:latin typeface="Calibri"/>
              </a:rPr>
              <a:t>Consumer Reach</a:t>
            </a:r>
          </a:p>
        </p:txBody>
      </p:sp>
      <p:pic>
        <p:nvPicPr>
          <p:cNvPr id="82" name="Picture 81" descr="lock.png"/>
          <p:cNvPicPr>
            <a:picLocks noChangeAspect="1"/>
          </p:cNvPicPr>
          <p:nvPr/>
        </p:nvPicPr>
        <p:blipFill>
          <a:blip r:embed="rId4"/>
          <a:stretch>
            <a:fillRect/>
          </a:stretch>
        </p:blipFill>
        <p:spPr>
          <a:xfrm>
            <a:off x="8436172" y="6296863"/>
            <a:ext cx="118403" cy="172222"/>
          </a:xfrm>
          <a:prstGeom prst="rect">
            <a:avLst/>
          </a:prstGeom>
        </p:spPr>
      </p:pic>
      <p:sp>
        <p:nvSpPr>
          <p:cNvPr id="83" name="TextBox 82"/>
          <p:cNvSpPr txBox="1"/>
          <p:nvPr/>
        </p:nvSpPr>
        <p:spPr>
          <a:xfrm>
            <a:off x="209550" y="1496754"/>
            <a:ext cx="3140868" cy="186689"/>
          </a:xfrm>
          <a:prstGeom prst="rect">
            <a:avLst/>
          </a:prstGeom>
          <a:noFill/>
        </p:spPr>
        <p:txBody>
          <a:bodyPr wrap="none" lIns="0" rIns="0" tIns="0" bIns="0">
            <a:spAutoFit/>
          </a:bodyPr>
          <a:lstStyle/>
          <a:p>
            <a:r>
              <a:rPr sz="1100" b="0">
                <a:solidFill>
                  <a:srgbClr val="2E2E2E"/>
                </a:solidFill>
                <a:latin typeface="Calibri"/>
              </a:rPr>
              <a:t>▪ Demand-side conditions are led by Adoption Depth (</a:t>
            </a:r>
          </a:p>
        </p:txBody>
      </p:sp>
      <p:pic>
        <p:nvPicPr>
          <p:cNvPr id="84" name="Picture 83" descr="lock.png"/>
          <p:cNvPicPr>
            <a:picLocks noChangeAspect="1"/>
          </p:cNvPicPr>
          <p:nvPr/>
        </p:nvPicPr>
        <p:blipFill>
          <a:blip r:embed="rId4"/>
          <a:stretch>
            <a:fillRect/>
          </a:stretch>
        </p:blipFill>
        <p:spPr>
          <a:xfrm>
            <a:off x="3298470" y="1486975"/>
            <a:ext cx="128699" cy="187198"/>
          </a:xfrm>
          <a:prstGeom prst="rect">
            <a:avLst/>
          </a:prstGeom>
        </p:spPr>
      </p:pic>
      <p:sp>
        <p:nvSpPr>
          <p:cNvPr id="85" name="TextBox 84"/>
          <p:cNvSpPr txBox="1"/>
          <p:nvPr/>
        </p:nvSpPr>
        <p:spPr>
          <a:xfrm>
            <a:off x="3465966" y="1496754"/>
            <a:ext cx="1606078" cy="186689"/>
          </a:xfrm>
          <a:prstGeom prst="rect">
            <a:avLst/>
          </a:prstGeom>
          <a:noFill/>
        </p:spPr>
        <p:txBody>
          <a:bodyPr wrap="none" lIns="0" rIns="0" tIns="0" bIns="0">
            <a:spAutoFit/>
          </a:bodyPr>
          <a:lstStyle/>
          <a:p>
            <a:r>
              <a:rPr sz="1100" b="0">
                <a:solidFill>
                  <a:srgbClr val="2E2E2E"/>
                </a:solidFill>
                <a:latin typeface="Calibri"/>
              </a:rPr>
              <a:t>/10), Volume Momentum (</a:t>
            </a:r>
          </a:p>
        </p:txBody>
      </p:sp>
      <p:pic>
        <p:nvPicPr>
          <p:cNvPr id="86" name="Picture 85" descr="lock.png"/>
          <p:cNvPicPr>
            <a:picLocks noChangeAspect="1"/>
          </p:cNvPicPr>
          <p:nvPr/>
        </p:nvPicPr>
        <p:blipFill>
          <a:blip r:embed="rId4"/>
          <a:stretch>
            <a:fillRect/>
          </a:stretch>
        </p:blipFill>
        <p:spPr>
          <a:xfrm>
            <a:off x="5020096" y="1486975"/>
            <a:ext cx="128699" cy="187198"/>
          </a:xfrm>
          <a:prstGeom prst="rect">
            <a:avLst/>
          </a:prstGeom>
        </p:spPr>
      </p:pic>
      <p:sp>
        <p:nvSpPr>
          <p:cNvPr id="87" name="TextBox 86"/>
          <p:cNvSpPr txBox="1"/>
          <p:nvPr/>
        </p:nvSpPr>
        <p:spPr>
          <a:xfrm>
            <a:off x="5187592" y="1496754"/>
            <a:ext cx="1354236" cy="186689"/>
          </a:xfrm>
          <a:prstGeom prst="rect">
            <a:avLst/>
          </a:prstGeom>
          <a:noFill/>
        </p:spPr>
        <p:txBody>
          <a:bodyPr wrap="none" lIns="0" rIns="0" tIns="0" bIns="0">
            <a:spAutoFit/>
          </a:bodyPr>
          <a:lstStyle/>
          <a:p>
            <a:r>
              <a:rPr sz="1100" b="0">
                <a:solidFill>
                  <a:srgbClr val="2E2E2E"/>
                </a:solidFill>
                <a:latin typeface="Calibri"/>
              </a:rPr>
              <a:t>/10), Premiumisation (</a:t>
            </a:r>
          </a:p>
        </p:txBody>
      </p:sp>
      <p:pic>
        <p:nvPicPr>
          <p:cNvPr id="88" name="Picture 87" descr="lock.png"/>
          <p:cNvPicPr>
            <a:picLocks noChangeAspect="1"/>
          </p:cNvPicPr>
          <p:nvPr/>
        </p:nvPicPr>
        <p:blipFill>
          <a:blip r:embed="rId4"/>
          <a:stretch>
            <a:fillRect/>
          </a:stretch>
        </p:blipFill>
        <p:spPr>
          <a:xfrm>
            <a:off x="6489880" y="1486975"/>
            <a:ext cx="128699" cy="187198"/>
          </a:xfrm>
          <a:prstGeom prst="rect">
            <a:avLst/>
          </a:prstGeom>
        </p:spPr>
      </p:pic>
      <p:sp>
        <p:nvSpPr>
          <p:cNvPr id="89" name="TextBox 88"/>
          <p:cNvSpPr txBox="1"/>
          <p:nvPr/>
        </p:nvSpPr>
        <p:spPr>
          <a:xfrm>
            <a:off x="6657376" y="1496754"/>
            <a:ext cx="314399" cy="186689"/>
          </a:xfrm>
          <a:prstGeom prst="rect">
            <a:avLst/>
          </a:prstGeom>
          <a:noFill/>
        </p:spPr>
        <p:txBody>
          <a:bodyPr wrap="none" lIns="0" rIns="0" tIns="0" bIns="0">
            <a:spAutoFit/>
          </a:bodyPr>
          <a:lstStyle/>
          <a:p>
            <a:r>
              <a:rPr sz="1100" b="0">
                <a:solidFill>
                  <a:srgbClr val="2E2E2E"/>
                </a:solidFill>
                <a:latin typeface="Calibri"/>
              </a:rPr>
              <a:t>/10)</a:t>
            </a:r>
          </a:p>
        </p:txBody>
      </p:sp>
      <p:sp>
        <p:nvSpPr>
          <p:cNvPr id="90" name="TextBox 89"/>
          <p:cNvSpPr txBox="1"/>
          <p:nvPr/>
        </p:nvSpPr>
        <p:spPr>
          <a:xfrm>
            <a:off x="209550" y="1664394"/>
            <a:ext cx="3041277" cy="186689"/>
          </a:xfrm>
          <a:prstGeom prst="rect">
            <a:avLst/>
          </a:prstGeom>
          <a:noFill/>
        </p:spPr>
        <p:txBody>
          <a:bodyPr wrap="none" lIns="0" rIns="0" tIns="0" bIns="0">
            <a:spAutoFit/>
          </a:bodyPr>
          <a:lstStyle/>
          <a:p>
            <a:r>
              <a:rPr sz="1100" b="0">
                <a:solidFill>
                  <a:srgbClr val="2E2E2E"/>
                </a:solidFill>
                <a:latin typeface="Calibri"/>
              </a:rPr>
              <a:t>on a 0-10 scale scored from the global dataset itself.</a:t>
            </a:r>
          </a:p>
        </p:txBody>
      </p:sp>
      <p:sp>
        <p:nvSpPr>
          <p:cNvPr id="91" name="TextBox 90"/>
          <p:cNvSpPr txBox="1"/>
          <p:nvPr/>
        </p:nvSpPr>
        <p:spPr>
          <a:xfrm>
            <a:off x="209550" y="1945648"/>
            <a:ext cx="998438" cy="186689"/>
          </a:xfrm>
          <a:prstGeom prst="rect">
            <a:avLst/>
          </a:prstGeom>
          <a:noFill/>
        </p:spPr>
        <p:txBody>
          <a:bodyPr wrap="none" lIns="0" rIns="0" tIns="0" bIns="0">
            <a:spAutoFit/>
          </a:bodyPr>
          <a:lstStyle/>
          <a:p>
            <a:r>
              <a:rPr sz="1100" b="0">
                <a:solidFill>
                  <a:srgbClr val="2E2E2E"/>
                </a:solidFill>
                <a:latin typeface="Calibri"/>
              </a:rPr>
              <a:t>▪ Value grows at</a:t>
            </a:r>
          </a:p>
        </p:txBody>
      </p:sp>
      <p:pic>
        <p:nvPicPr>
          <p:cNvPr id="92" name="Picture 91" descr="lock.png"/>
          <p:cNvPicPr>
            <a:picLocks noChangeAspect="1"/>
          </p:cNvPicPr>
          <p:nvPr/>
        </p:nvPicPr>
        <p:blipFill>
          <a:blip r:embed="rId4"/>
          <a:stretch>
            <a:fillRect/>
          </a:stretch>
        </p:blipFill>
        <p:spPr>
          <a:xfrm>
            <a:off x="1156039" y="1935869"/>
            <a:ext cx="128699" cy="187198"/>
          </a:xfrm>
          <a:prstGeom prst="rect">
            <a:avLst/>
          </a:prstGeom>
        </p:spPr>
      </p:pic>
      <p:sp>
        <p:nvSpPr>
          <p:cNvPr id="93" name="TextBox 92"/>
          <p:cNvSpPr txBox="1"/>
          <p:nvPr/>
        </p:nvSpPr>
        <p:spPr>
          <a:xfrm>
            <a:off x="1323535" y="1945648"/>
            <a:ext cx="1083295" cy="186689"/>
          </a:xfrm>
          <a:prstGeom prst="rect">
            <a:avLst/>
          </a:prstGeom>
          <a:noFill/>
        </p:spPr>
        <p:txBody>
          <a:bodyPr wrap="none" lIns="0" rIns="0" tIns="0" bIns="0">
            <a:spAutoFit/>
          </a:bodyPr>
          <a:lstStyle/>
          <a:p>
            <a:r>
              <a:rPr sz="1100" b="0">
                <a:solidFill>
                  <a:srgbClr val="2E2E2E"/>
                </a:solidFill>
                <a:latin typeface="Calibri"/>
              </a:rPr>
              <a:t>against volume at</a:t>
            </a:r>
          </a:p>
        </p:txBody>
      </p:sp>
      <p:pic>
        <p:nvPicPr>
          <p:cNvPr id="94" name="Picture 93" descr="lock.png"/>
          <p:cNvPicPr>
            <a:picLocks noChangeAspect="1"/>
          </p:cNvPicPr>
          <p:nvPr/>
        </p:nvPicPr>
        <p:blipFill>
          <a:blip r:embed="rId4"/>
          <a:stretch>
            <a:fillRect/>
          </a:stretch>
        </p:blipFill>
        <p:spPr>
          <a:xfrm>
            <a:off x="2354882" y="1935869"/>
            <a:ext cx="128699" cy="187198"/>
          </a:xfrm>
          <a:prstGeom prst="rect">
            <a:avLst/>
          </a:prstGeom>
        </p:spPr>
      </p:pic>
      <p:sp>
        <p:nvSpPr>
          <p:cNvPr id="95" name="TextBox 94"/>
          <p:cNvSpPr txBox="1"/>
          <p:nvPr/>
        </p:nvSpPr>
        <p:spPr>
          <a:xfrm>
            <a:off x="2522378" y="1945648"/>
            <a:ext cx="2230090" cy="186689"/>
          </a:xfrm>
          <a:prstGeom prst="rect">
            <a:avLst/>
          </a:prstGeom>
          <a:noFill/>
        </p:spPr>
        <p:txBody>
          <a:bodyPr wrap="none" lIns="0" rIns="0" tIns="0" bIns="0">
            <a:spAutoFit/>
          </a:bodyPr>
          <a:lstStyle/>
          <a:p>
            <a:r>
              <a:rPr sz="1100" b="0">
                <a:solidFill>
                  <a:srgbClr val="2E2E2E"/>
                </a:solidFill>
                <a:latin typeface="Calibri"/>
              </a:rPr>
              <a:t>a premiumising market through 2036.</a:t>
            </a:r>
          </a:p>
        </p:txBody>
      </p:sp>
      <p:sp>
        <p:nvSpPr>
          <p:cNvPr id="96" name="TextBox 95"/>
          <p:cNvSpPr txBox="1"/>
          <p:nvPr/>
        </p:nvSpPr>
        <p:spPr>
          <a:xfrm>
            <a:off x="209550" y="2226902"/>
            <a:ext cx="2678112" cy="186689"/>
          </a:xfrm>
          <a:prstGeom prst="rect">
            <a:avLst/>
          </a:prstGeom>
          <a:noFill/>
        </p:spPr>
        <p:txBody>
          <a:bodyPr wrap="none" lIns="0" rIns="0" tIns="0" bIns="0">
            <a:spAutoFit/>
          </a:bodyPr>
          <a:lstStyle/>
          <a:p>
            <a:r>
              <a:rPr sz="1100" b="0">
                <a:solidFill>
                  <a:srgbClr val="2E2E2E"/>
                </a:solidFill>
                <a:latin typeface="Calibri"/>
              </a:rPr>
              <a:t>▪ 'Portable Machine Perfusion Devices' carries</a:t>
            </a:r>
          </a:p>
        </p:txBody>
      </p:sp>
      <p:pic>
        <p:nvPicPr>
          <p:cNvPr id="97" name="Picture 96" descr="lock.png"/>
          <p:cNvPicPr>
            <a:picLocks noChangeAspect="1"/>
          </p:cNvPicPr>
          <p:nvPr/>
        </p:nvPicPr>
        <p:blipFill>
          <a:blip r:embed="rId4"/>
          <a:stretch>
            <a:fillRect/>
          </a:stretch>
        </p:blipFill>
        <p:spPr>
          <a:xfrm>
            <a:off x="2835714" y="2217123"/>
            <a:ext cx="128699" cy="187198"/>
          </a:xfrm>
          <a:prstGeom prst="rect">
            <a:avLst/>
          </a:prstGeom>
        </p:spPr>
      </p:pic>
      <p:sp>
        <p:nvSpPr>
          <p:cNvPr id="98" name="TextBox 97"/>
          <p:cNvSpPr txBox="1"/>
          <p:nvPr/>
        </p:nvSpPr>
        <p:spPr>
          <a:xfrm>
            <a:off x="3003209" y="2226902"/>
            <a:ext cx="3720678" cy="186689"/>
          </a:xfrm>
          <a:prstGeom prst="rect">
            <a:avLst/>
          </a:prstGeom>
          <a:noFill/>
        </p:spPr>
        <p:txBody>
          <a:bodyPr wrap="none" lIns="0" rIns="0" tIns="0" bIns="0">
            <a:spAutoFit/>
          </a:bodyPr>
          <a:lstStyle/>
          <a:p>
            <a:r>
              <a:rPr sz="1100" b="0">
                <a:solidFill>
                  <a:srgbClr val="2E2E2E"/>
                </a:solidFill>
                <a:latin typeface="Calibri"/>
              </a:rPr>
              <a:t>of device technology demand while 'Static Cold Storage Devices'</a:t>
            </a:r>
          </a:p>
        </p:txBody>
      </p:sp>
      <p:sp>
        <p:nvSpPr>
          <p:cNvPr id="99" name="TextBox 98"/>
          <p:cNvSpPr txBox="1"/>
          <p:nvPr/>
        </p:nvSpPr>
        <p:spPr>
          <a:xfrm>
            <a:off x="209550" y="2394542"/>
            <a:ext cx="1301576" cy="186689"/>
          </a:xfrm>
          <a:prstGeom prst="rect">
            <a:avLst/>
          </a:prstGeom>
          <a:noFill/>
        </p:spPr>
        <p:txBody>
          <a:bodyPr wrap="none" lIns="0" rIns="0" tIns="0" bIns="0">
            <a:spAutoFit/>
          </a:bodyPr>
          <a:lstStyle/>
          <a:p>
            <a:r>
              <a:rPr sz="1100" b="0">
                <a:solidFill>
                  <a:srgbClr val="2E2E2E"/>
                </a:solidFill>
                <a:latin typeface="Calibri"/>
              </a:rPr>
              <a:t>compounds fastest at</a:t>
            </a:r>
          </a:p>
        </p:txBody>
      </p:sp>
      <p:pic>
        <p:nvPicPr>
          <p:cNvPr id="100" name="Picture 99" descr="lock.png"/>
          <p:cNvPicPr>
            <a:picLocks noChangeAspect="1"/>
          </p:cNvPicPr>
          <p:nvPr/>
        </p:nvPicPr>
        <p:blipFill>
          <a:blip r:embed="rId4"/>
          <a:stretch>
            <a:fillRect/>
          </a:stretch>
        </p:blipFill>
        <p:spPr>
          <a:xfrm>
            <a:off x="1459177" y="2384763"/>
            <a:ext cx="128699" cy="187198"/>
          </a:xfrm>
          <a:prstGeom prst="rect">
            <a:avLst/>
          </a:prstGeom>
        </p:spPr>
      </p:pic>
      <p:sp>
        <p:nvSpPr>
          <p:cNvPr id="101" name="TextBox 100"/>
          <p:cNvSpPr txBox="1"/>
          <p:nvPr/>
        </p:nvSpPr>
        <p:spPr>
          <a:xfrm>
            <a:off x="1626673" y="2394542"/>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102" name="TextBox 101"/>
          <p:cNvSpPr txBox="1"/>
          <p:nvPr/>
        </p:nvSpPr>
        <p:spPr>
          <a:xfrm>
            <a:off x="209550" y="2767064"/>
            <a:ext cx="2476748" cy="186689"/>
          </a:xfrm>
          <a:prstGeom prst="rect">
            <a:avLst/>
          </a:prstGeom>
          <a:noFill/>
        </p:spPr>
        <p:txBody>
          <a:bodyPr wrap="none" lIns="0" rIns="0" tIns="0" bIns="0">
            <a:spAutoFit/>
          </a:bodyPr>
          <a:lstStyle/>
          <a:p>
            <a:r>
              <a:rPr sz="1100" b="0">
                <a:solidFill>
                  <a:srgbClr val="2E2E2E"/>
                </a:solidFill>
                <a:latin typeface="Calibri"/>
              </a:rPr>
              <a:t>▪ Pull is strongest in 'South Asia &amp; Pacific' (</a:t>
            </a:r>
          </a:p>
        </p:txBody>
      </p:sp>
      <p:pic>
        <p:nvPicPr>
          <p:cNvPr id="103" name="Picture 102" descr="lock.png"/>
          <p:cNvPicPr>
            <a:picLocks noChangeAspect="1"/>
          </p:cNvPicPr>
          <p:nvPr/>
        </p:nvPicPr>
        <p:blipFill>
          <a:blip r:embed="rId4"/>
          <a:stretch>
            <a:fillRect/>
          </a:stretch>
        </p:blipFill>
        <p:spPr>
          <a:xfrm>
            <a:off x="2634349" y="2757285"/>
            <a:ext cx="128699" cy="187198"/>
          </a:xfrm>
          <a:prstGeom prst="rect">
            <a:avLst/>
          </a:prstGeom>
        </p:spPr>
      </p:pic>
      <p:sp>
        <p:nvSpPr>
          <p:cNvPr id="104" name="TextBox 103"/>
          <p:cNvSpPr txBox="1"/>
          <p:nvPr/>
        </p:nvSpPr>
        <p:spPr>
          <a:xfrm>
            <a:off x="2801845" y="2767064"/>
            <a:ext cx="531572"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105" name="Picture 104" descr="lock.png"/>
          <p:cNvPicPr>
            <a:picLocks noChangeAspect="1"/>
          </p:cNvPicPr>
          <p:nvPr/>
        </p:nvPicPr>
        <p:blipFill>
          <a:blip r:embed="rId4"/>
          <a:stretch>
            <a:fillRect/>
          </a:stretch>
        </p:blipFill>
        <p:spPr>
          <a:xfrm>
            <a:off x="3281469" y="2757285"/>
            <a:ext cx="128699" cy="187198"/>
          </a:xfrm>
          <a:prstGeom prst="rect">
            <a:avLst/>
          </a:prstGeom>
        </p:spPr>
      </p:pic>
      <p:sp>
        <p:nvSpPr>
          <p:cNvPr id="106" name="TextBox 105"/>
          <p:cNvSpPr txBox="1"/>
          <p:nvPr/>
        </p:nvSpPr>
        <p:spPr>
          <a:xfrm>
            <a:off x="3448965" y="2767064"/>
            <a:ext cx="3522588" cy="186689"/>
          </a:xfrm>
          <a:prstGeom prst="rect">
            <a:avLst/>
          </a:prstGeom>
          <a:noFill/>
        </p:spPr>
        <p:txBody>
          <a:bodyPr wrap="none" lIns="0" rIns="0" tIns="0" bIns="0">
            <a:spAutoFit/>
          </a:bodyPr>
          <a:lstStyle/>
          <a:p>
            <a:r>
              <a:rPr sz="1100" b="0">
                <a:solidFill>
                  <a:srgbClr val="2E2E2E"/>
                </a:solidFill>
                <a:latin typeface="Calibri"/>
              </a:rPr>
              <a:t>BPS versus the market), with 3 of 6 regions at or above pace.</a:t>
            </a:r>
          </a:p>
        </p:txBody>
      </p:sp>
      <p:sp>
        <p:nvSpPr>
          <p:cNvPr id="107" name="TextBox 106"/>
          <p:cNvSpPr txBox="1"/>
          <p:nvPr/>
        </p:nvSpPr>
        <p:spPr>
          <a:xfrm>
            <a:off x="209550" y="3223407"/>
            <a:ext cx="3871838" cy="186689"/>
          </a:xfrm>
          <a:prstGeom prst="rect">
            <a:avLst/>
          </a:prstGeom>
          <a:noFill/>
        </p:spPr>
        <p:txBody>
          <a:bodyPr wrap="none" lIns="0" rIns="0" tIns="0" bIns="0">
            <a:spAutoFit/>
          </a:bodyPr>
          <a:lstStyle/>
          <a:p>
            <a:r>
              <a:rPr sz="1100" b="0">
                <a:solidFill>
                  <a:srgbClr val="2E2E2E"/>
                </a:solidFill>
                <a:latin typeface="Calibri"/>
              </a:rPr>
              <a:t>▪ Reach runs through 2 sales channel routes, led by 'Direct Sales' at</a:t>
            </a:r>
          </a:p>
        </p:txBody>
      </p:sp>
      <p:pic>
        <p:nvPicPr>
          <p:cNvPr id="108" name="Picture 107" descr="lock.png"/>
          <p:cNvPicPr>
            <a:picLocks noChangeAspect="1"/>
          </p:cNvPicPr>
          <p:nvPr/>
        </p:nvPicPr>
        <p:blipFill>
          <a:blip r:embed="rId4"/>
          <a:stretch>
            <a:fillRect/>
          </a:stretch>
        </p:blipFill>
        <p:spPr>
          <a:xfrm>
            <a:off x="4029439" y="3213628"/>
            <a:ext cx="128699" cy="187198"/>
          </a:xfrm>
          <a:prstGeom prst="rect">
            <a:avLst/>
          </a:prstGeom>
        </p:spPr>
      </p:pic>
      <p:sp>
        <p:nvSpPr>
          <p:cNvPr id="109" name="TextBox 108"/>
          <p:cNvSpPr txBox="1"/>
          <p:nvPr/>
        </p:nvSpPr>
        <p:spPr>
          <a:xfrm>
            <a:off x="4196935" y="3223407"/>
            <a:ext cx="2653283" cy="186689"/>
          </a:xfrm>
          <a:prstGeom prst="rect">
            <a:avLst/>
          </a:prstGeom>
          <a:noFill/>
        </p:spPr>
        <p:txBody>
          <a:bodyPr wrap="none" lIns="0" rIns="0" tIns="0" bIns="0">
            <a:spAutoFit/>
          </a:bodyPr>
          <a:lstStyle/>
          <a:p>
            <a:r>
              <a:rPr sz="1100" b="0">
                <a:solidFill>
                  <a:srgbClr val="2E2E2E"/>
                </a:solidFill>
                <a:latin typeface="Calibri"/>
              </a:rPr>
              <a:t>and with 'Distributor Sales' growing fastest at</a:t>
            </a:r>
          </a:p>
        </p:txBody>
      </p:sp>
      <p:pic>
        <p:nvPicPr>
          <p:cNvPr id="110" name="Picture 109" descr="lock.png"/>
          <p:cNvPicPr>
            <a:picLocks noChangeAspect="1"/>
          </p:cNvPicPr>
          <p:nvPr/>
        </p:nvPicPr>
        <p:blipFill>
          <a:blip r:embed="rId4"/>
          <a:stretch>
            <a:fillRect/>
          </a:stretch>
        </p:blipFill>
        <p:spPr>
          <a:xfrm>
            <a:off x="6798270" y="3213628"/>
            <a:ext cx="128699" cy="187198"/>
          </a:xfrm>
          <a:prstGeom prst="rect">
            <a:avLst/>
          </a:prstGeom>
        </p:spPr>
      </p:pic>
      <p:sp>
        <p:nvSpPr>
          <p:cNvPr id="111" name="TextBox 110"/>
          <p:cNvSpPr txBox="1"/>
          <p:nvPr/>
        </p:nvSpPr>
        <p:spPr>
          <a:xfrm>
            <a:off x="6965765" y="3223407"/>
            <a:ext cx="111397" cy="186689"/>
          </a:xfrm>
          <a:prstGeom prst="rect">
            <a:avLst/>
          </a:prstGeom>
          <a:noFill/>
        </p:spPr>
        <p:txBody>
          <a:bodyPr wrap="none" lIns="0" rIns="0" tIns="0" bIns="0">
            <a:spAutoFit/>
          </a:bodyPr>
          <a:lstStyle/>
          <a:p>
            <a:r>
              <a:rPr sz="1100" b="0">
                <a:solidFill>
                  <a:srgbClr val="2E2E2E"/>
                </a:solidFill>
                <a:latin typeface="Calibri"/>
              </a:rPr>
              <a:t>.</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Restraints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restraints on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Restraints</a:t>
            </a:r>
          </a:p>
        </p:txBody>
      </p:sp>
      <p:sp>
        <p:nvSpPr>
          <p:cNvPr id="12" name="Rectangle 11"/>
          <p:cNvSpPr/>
          <p:nvPr/>
        </p:nvSpPr>
        <p:spPr>
          <a:xfrm>
            <a:off x="142875" y="139058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Portable Machine Perfusion Devices Lags the Category and Dilutes Blended Growth</a:t>
            </a:r>
          </a:p>
        </p:txBody>
      </p:sp>
      <p:sp>
        <p:nvSpPr>
          <p:cNvPr id="14" name="TextBox 13"/>
          <p:cNvSpPr txBox="1"/>
          <p:nvPr/>
        </p:nvSpPr>
        <p:spPr>
          <a:xfrm>
            <a:off x="161925" y="170090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48" name="TextBox 47"/>
          <p:cNvSpPr txBox="1"/>
          <p:nvPr/>
        </p:nvSpPr>
        <p:spPr>
          <a:xfrm>
            <a:off x="161925" y="5205612"/>
            <a:ext cx="9439275"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53513"/>
            <a:ext cx="2979340" cy="186689"/>
          </a:xfrm>
          <a:prstGeom prst="rect">
            <a:avLst/>
          </a:prstGeom>
          <a:noFill/>
        </p:spPr>
        <p:txBody>
          <a:bodyPr wrap="none" lIns="0" rIns="0" tIns="0" bIns="0">
            <a:spAutoFit/>
          </a:bodyPr>
          <a:lstStyle/>
          <a:p>
            <a:r>
              <a:rPr sz="1100" b="0">
                <a:solidFill>
                  <a:srgbClr val="2E2E2E"/>
                </a:solidFill>
                <a:latin typeface="Calibri"/>
              </a:rPr>
              <a:t>'Portable Machine Perfusion Devices' grows at only</a:t>
            </a:r>
          </a:p>
        </p:txBody>
      </p:sp>
      <p:pic>
        <p:nvPicPr>
          <p:cNvPr id="64" name="Picture 63" descr="lock.png"/>
          <p:cNvPicPr>
            <a:picLocks noChangeAspect="1"/>
          </p:cNvPicPr>
          <p:nvPr/>
        </p:nvPicPr>
        <p:blipFill>
          <a:blip r:embed="rId4"/>
          <a:stretch>
            <a:fillRect/>
          </a:stretch>
        </p:blipFill>
        <p:spPr>
          <a:xfrm>
            <a:off x="3117892" y="1743734"/>
            <a:ext cx="128699" cy="187198"/>
          </a:xfrm>
          <a:prstGeom prst="rect">
            <a:avLst/>
          </a:prstGeom>
        </p:spPr>
      </p:pic>
      <p:sp>
        <p:nvSpPr>
          <p:cNvPr id="65" name="TextBox 64"/>
          <p:cNvSpPr txBox="1"/>
          <p:nvPr/>
        </p:nvSpPr>
        <p:spPr>
          <a:xfrm>
            <a:off x="3285388" y="1753513"/>
            <a:ext cx="1579595" cy="186689"/>
          </a:xfrm>
          <a:prstGeom prst="rect">
            <a:avLst/>
          </a:prstGeom>
          <a:noFill/>
        </p:spPr>
        <p:txBody>
          <a:bodyPr wrap="none" lIns="0" rIns="0" tIns="0" bIns="0">
            <a:spAutoFit/>
          </a:bodyPr>
          <a:lstStyle/>
          <a:p>
            <a:r>
              <a:rPr sz="1100" b="0">
                <a:solidFill>
                  <a:srgbClr val="2E2E2E"/>
                </a:solidFill>
                <a:latin typeface="Calibri"/>
              </a:rPr>
              <a:t>CAGR against the market's</a:t>
            </a:r>
          </a:p>
        </p:txBody>
      </p:sp>
      <p:pic>
        <p:nvPicPr>
          <p:cNvPr id="66" name="Picture 65" descr="lock.png"/>
          <p:cNvPicPr>
            <a:picLocks noChangeAspect="1"/>
          </p:cNvPicPr>
          <p:nvPr/>
        </p:nvPicPr>
        <p:blipFill>
          <a:blip r:embed="rId4"/>
          <a:stretch>
            <a:fillRect/>
          </a:stretch>
        </p:blipFill>
        <p:spPr>
          <a:xfrm>
            <a:off x="4813034" y="1743734"/>
            <a:ext cx="128699" cy="187198"/>
          </a:xfrm>
          <a:prstGeom prst="rect">
            <a:avLst/>
          </a:prstGeom>
        </p:spPr>
      </p:pic>
      <p:sp>
        <p:nvSpPr>
          <p:cNvPr id="67" name="TextBox 66"/>
          <p:cNvSpPr txBox="1"/>
          <p:nvPr/>
        </p:nvSpPr>
        <p:spPr>
          <a:xfrm>
            <a:off x="4980530" y="1753513"/>
            <a:ext cx="284112" cy="186689"/>
          </a:xfrm>
          <a:prstGeom prst="rect">
            <a:avLst/>
          </a:prstGeom>
          <a:noFill/>
        </p:spPr>
        <p:txBody>
          <a:bodyPr wrap="none" lIns="0" rIns="0" tIns="0" bIns="0">
            <a:spAutoFit/>
          </a:bodyPr>
          <a:lstStyle/>
          <a:p>
            <a:r>
              <a:rPr sz="1100" b="0">
                <a:solidFill>
                  <a:srgbClr val="2E2E2E"/>
                </a:solidFill>
                <a:latin typeface="Calibri"/>
              </a:rPr>
              <a:t>, a -</a:t>
            </a:r>
          </a:p>
        </p:txBody>
      </p:sp>
      <p:pic>
        <p:nvPicPr>
          <p:cNvPr id="68" name="Picture 67" descr="lock.png"/>
          <p:cNvPicPr>
            <a:picLocks noChangeAspect="1"/>
          </p:cNvPicPr>
          <p:nvPr/>
        </p:nvPicPr>
        <p:blipFill>
          <a:blip r:embed="rId4"/>
          <a:stretch>
            <a:fillRect/>
          </a:stretch>
        </p:blipFill>
        <p:spPr>
          <a:xfrm>
            <a:off x="5212694" y="1743734"/>
            <a:ext cx="128699" cy="187198"/>
          </a:xfrm>
          <a:prstGeom prst="rect">
            <a:avLst/>
          </a:prstGeom>
        </p:spPr>
      </p:pic>
      <p:sp>
        <p:nvSpPr>
          <p:cNvPr id="69" name="TextBox 68"/>
          <p:cNvSpPr txBox="1"/>
          <p:nvPr/>
        </p:nvSpPr>
        <p:spPr>
          <a:xfrm>
            <a:off x="5380190" y="1753513"/>
            <a:ext cx="3594075" cy="186689"/>
          </a:xfrm>
          <a:prstGeom prst="rect">
            <a:avLst/>
          </a:prstGeom>
          <a:noFill/>
        </p:spPr>
        <p:txBody>
          <a:bodyPr wrap="none" lIns="0" rIns="0" tIns="0" bIns="0">
            <a:spAutoFit/>
          </a:bodyPr>
          <a:lstStyle/>
          <a:p>
            <a:r>
              <a:rPr sz="1100" b="0">
                <a:solidFill>
                  <a:srgbClr val="2E2E2E"/>
                </a:solidFill>
                <a:latin typeface="Calibri"/>
              </a:rPr>
              <a:t>BPS gap, and 'Portable Machine Perfusion Devices' surrenders</a:t>
            </a:r>
          </a:p>
        </p:txBody>
      </p:sp>
      <p:pic>
        <p:nvPicPr>
          <p:cNvPr id="70" name="Picture 69" descr="lock.png"/>
          <p:cNvPicPr>
            <a:picLocks noChangeAspect="1"/>
          </p:cNvPicPr>
          <p:nvPr/>
        </p:nvPicPr>
        <p:blipFill>
          <a:blip r:embed="rId4"/>
          <a:stretch>
            <a:fillRect/>
          </a:stretch>
        </p:blipFill>
        <p:spPr>
          <a:xfrm>
            <a:off x="8922317" y="1743734"/>
            <a:ext cx="128699" cy="187198"/>
          </a:xfrm>
          <a:prstGeom prst="rect">
            <a:avLst/>
          </a:prstGeom>
        </p:spPr>
      </p:pic>
      <p:sp>
        <p:nvSpPr>
          <p:cNvPr id="71" name="TextBox 70"/>
          <p:cNvSpPr txBox="1"/>
          <p:nvPr/>
        </p:nvSpPr>
        <p:spPr>
          <a:xfrm>
            <a:off x="190500" y="1921153"/>
            <a:ext cx="9161338" cy="186689"/>
          </a:xfrm>
          <a:prstGeom prst="rect">
            <a:avLst/>
          </a:prstGeom>
          <a:noFill/>
        </p:spPr>
        <p:txBody>
          <a:bodyPr wrap="none" lIns="0" rIns="0" tIns="0" bIns="0">
            <a:spAutoFit/>
          </a:bodyPr>
          <a:lstStyle/>
          <a:p>
            <a:r>
              <a:rPr sz="1100" b="0">
                <a:solidFill>
                  <a:srgbClr val="2E2E2E"/>
                </a:solidFill>
                <a:latin typeface="Calibri"/>
              </a:rPr>
              <a:t>BPS of device technology share between 2026 and 2036. Because these lines still carry meaningful volume, the drag is absorbed by the whole category: blended</a:t>
            </a:r>
          </a:p>
        </p:txBody>
      </p:sp>
      <p:sp>
        <p:nvSpPr>
          <p:cNvPr id="72" name="TextBox 71"/>
          <p:cNvSpPr txBox="1"/>
          <p:nvPr/>
        </p:nvSpPr>
        <p:spPr>
          <a:xfrm>
            <a:off x="190500" y="2088793"/>
            <a:ext cx="9098582" cy="186689"/>
          </a:xfrm>
          <a:prstGeom prst="rect">
            <a:avLst/>
          </a:prstGeom>
          <a:noFill/>
        </p:spPr>
        <p:txBody>
          <a:bodyPr wrap="none" lIns="0" rIns="0" tIns="0" bIns="0">
            <a:spAutoFit/>
          </a:bodyPr>
          <a:lstStyle/>
          <a:p>
            <a:r>
              <a:rPr sz="1100" b="0">
                <a:solidFill>
                  <a:srgbClr val="2E2E2E"/>
                </a:solidFill>
                <a:latin typeface="Calibri"/>
              </a:rPr>
              <a:t>growth sits below what the leading lines achieve on their own. Rationalising or repositioning the lagging end of a 2-line portfolio is therefore a precondition for</a:t>
            </a:r>
          </a:p>
        </p:txBody>
      </p:sp>
      <p:sp>
        <p:nvSpPr>
          <p:cNvPr id="73" name="TextBox 72"/>
          <p:cNvSpPr txBox="1"/>
          <p:nvPr/>
        </p:nvSpPr>
        <p:spPr>
          <a:xfrm>
            <a:off x="190500" y="2256433"/>
            <a:ext cx="1824632" cy="186689"/>
          </a:xfrm>
          <a:prstGeom prst="rect">
            <a:avLst/>
          </a:prstGeom>
          <a:noFill/>
        </p:spPr>
        <p:txBody>
          <a:bodyPr wrap="none" lIns="0" rIns="0" tIns="0" bIns="0">
            <a:spAutoFit/>
          </a:bodyPr>
          <a:lstStyle/>
          <a:p>
            <a:r>
              <a:rPr sz="1100" b="0">
                <a:solidFill>
                  <a:srgbClr val="2E2E2E"/>
                </a:solidFill>
                <a:latin typeface="Calibri"/>
              </a:rPr>
              <a:t>realising the headline forecast.</a:t>
            </a:r>
          </a:p>
        </p:txBody>
      </p:sp>
      <p:sp>
        <p:nvSpPr>
          <p:cNvPr id="74" name="TextBox 73"/>
          <p:cNvSpPr txBox="1"/>
          <p:nvPr/>
        </p:nvSpPr>
        <p:spPr>
          <a:xfrm>
            <a:off x="190500" y="3498419"/>
            <a:ext cx="1731590" cy="186689"/>
          </a:xfrm>
          <a:prstGeom prst="rect">
            <a:avLst/>
          </a:prstGeom>
          <a:noFill/>
        </p:spPr>
        <p:txBody>
          <a:bodyPr wrap="none" lIns="0" rIns="0" tIns="0" bIns="0">
            <a:spAutoFit/>
          </a:bodyPr>
          <a:lstStyle/>
          <a:p>
            <a:r>
              <a:rPr sz="1100" b="0">
                <a:solidFill>
                  <a:srgbClr val="2E2E2E"/>
                </a:solidFill>
                <a:latin typeface="Calibri"/>
              </a:rPr>
              <a:t>'North America' grows at just</a:t>
            </a:r>
          </a:p>
        </p:txBody>
      </p:sp>
      <p:pic>
        <p:nvPicPr>
          <p:cNvPr id="75" name="Picture 74" descr="lock.png"/>
          <p:cNvPicPr>
            <a:picLocks noChangeAspect="1"/>
          </p:cNvPicPr>
          <p:nvPr/>
        </p:nvPicPr>
        <p:blipFill>
          <a:blip r:embed="rId4"/>
          <a:stretch>
            <a:fillRect/>
          </a:stretch>
        </p:blipFill>
        <p:spPr>
          <a:xfrm>
            <a:off x="1870142" y="3488640"/>
            <a:ext cx="128699" cy="187198"/>
          </a:xfrm>
          <a:prstGeom prst="rect">
            <a:avLst/>
          </a:prstGeom>
        </p:spPr>
      </p:pic>
      <p:sp>
        <p:nvSpPr>
          <p:cNvPr id="76" name="TextBox 75"/>
          <p:cNvSpPr txBox="1"/>
          <p:nvPr/>
        </p:nvSpPr>
        <p:spPr>
          <a:xfrm>
            <a:off x="2037637" y="3498419"/>
            <a:ext cx="469907" cy="186689"/>
          </a:xfrm>
          <a:prstGeom prst="rect">
            <a:avLst/>
          </a:prstGeom>
          <a:noFill/>
        </p:spPr>
        <p:txBody>
          <a:bodyPr wrap="none" lIns="0" rIns="0" tIns="0" bIns="0">
            <a:spAutoFit/>
          </a:bodyPr>
          <a:lstStyle/>
          <a:p>
            <a:r>
              <a:rPr sz="1100" b="0">
                <a:solidFill>
                  <a:srgbClr val="2E2E2E"/>
                </a:solidFill>
                <a:latin typeface="Calibri"/>
              </a:rPr>
              <a:t>CAGR -</a:t>
            </a:r>
          </a:p>
        </p:txBody>
      </p:sp>
      <p:pic>
        <p:nvPicPr>
          <p:cNvPr id="77" name="Picture 76" descr="lock.png"/>
          <p:cNvPicPr>
            <a:picLocks noChangeAspect="1"/>
          </p:cNvPicPr>
          <p:nvPr/>
        </p:nvPicPr>
        <p:blipFill>
          <a:blip r:embed="rId4"/>
          <a:stretch>
            <a:fillRect/>
          </a:stretch>
        </p:blipFill>
        <p:spPr>
          <a:xfrm>
            <a:off x="2455597" y="3488640"/>
            <a:ext cx="128699" cy="187198"/>
          </a:xfrm>
          <a:prstGeom prst="rect">
            <a:avLst/>
          </a:prstGeom>
        </p:spPr>
      </p:pic>
      <p:sp>
        <p:nvSpPr>
          <p:cNvPr id="78" name="TextBox 77"/>
          <p:cNvSpPr txBox="1"/>
          <p:nvPr/>
        </p:nvSpPr>
        <p:spPr>
          <a:xfrm>
            <a:off x="2623093" y="3498419"/>
            <a:ext cx="6616997" cy="186689"/>
          </a:xfrm>
          <a:prstGeom prst="rect">
            <a:avLst/>
          </a:prstGeom>
          <a:noFill/>
        </p:spPr>
        <p:txBody>
          <a:bodyPr wrap="none" lIns="0" rIns="0" tIns="0" bIns="0">
            <a:spAutoFit/>
          </a:bodyPr>
          <a:lstStyle/>
          <a:p>
            <a:r>
              <a:rPr sz="1100" b="0">
                <a:solidFill>
                  <a:srgbClr val="2E2E2E"/>
                </a:solidFill>
                <a:latin typeface="Calibri"/>
              </a:rPr>
              <a:t>BPS against the market and 3 of 6 regions sit below the market pace altogether. Demand is therefore not uniformly</a:t>
            </a:r>
          </a:p>
        </p:txBody>
      </p:sp>
      <p:sp>
        <p:nvSpPr>
          <p:cNvPr id="79" name="TextBox 78"/>
          <p:cNvSpPr txBox="1"/>
          <p:nvPr/>
        </p:nvSpPr>
        <p:spPr>
          <a:xfrm>
            <a:off x="190500" y="3666059"/>
            <a:ext cx="8618091" cy="186689"/>
          </a:xfrm>
          <a:prstGeom prst="rect">
            <a:avLst/>
          </a:prstGeom>
          <a:noFill/>
        </p:spPr>
        <p:txBody>
          <a:bodyPr wrap="none" lIns="0" rIns="0" tIns="0" bIns="0">
            <a:spAutoFit/>
          </a:bodyPr>
          <a:lstStyle/>
          <a:p>
            <a:r>
              <a:rPr sz="1100" b="0">
                <a:solidFill>
                  <a:srgbClr val="2E2E2E"/>
                </a:solidFill>
                <a:latin typeface="Calibri"/>
              </a:rPr>
              <a:t>available: suppliers carrying a broad geographic footprint fund presence in slow regions out of returns earned in the fast ones. With 'North America' at</a:t>
            </a:r>
          </a:p>
        </p:txBody>
      </p:sp>
      <p:pic>
        <p:nvPicPr>
          <p:cNvPr id="80" name="Picture 79" descr="lock.png"/>
          <p:cNvPicPr>
            <a:picLocks noChangeAspect="1"/>
          </p:cNvPicPr>
          <p:nvPr/>
        </p:nvPicPr>
        <p:blipFill>
          <a:blip r:embed="rId4"/>
          <a:stretch>
            <a:fillRect/>
          </a:stretch>
        </p:blipFill>
        <p:spPr>
          <a:xfrm>
            <a:off x="8756642" y="3656280"/>
            <a:ext cx="128699" cy="187198"/>
          </a:xfrm>
          <a:prstGeom prst="rect">
            <a:avLst/>
          </a:prstGeom>
        </p:spPr>
      </p:pic>
      <p:sp>
        <p:nvSpPr>
          <p:cNvPr id="81" name="TextBox 80"/>
          <p:cNvSpPr txBox="1"/>
          <p:nvPr/>
        </p:nvSpPr>
        <p:spPr>
          <a:xfrm>
            <a:off x="8924138" y="3666059"/>
            <a:ext cx="564058" cy="186689"/>
          </a:xfrm>
          <a:prstGeom prst="rect">
            <a:avLst/>
          </a:prstGeom>
          <a:noFill/>
        </p:spPr>
        <p:txBody>
          <a:bodyPr wrap="none" lIns="0" rIns="0" tIns="0" bIns="0">
            <a:spAutoFit/>
          </a:bodyPr>
          <a:lstStyle/>
          <a:p>
            <a:r>
              <a:rPr sz="1100" b="0">
                <a:solidFill>
                  <a:srgbClr val="2E2E2E"/>
                </a:solidFill>
                <a:latin typeface="Calibri"/>
              </a:rPr>
              <a:t>of value,</a:t>
            </a:r>
          </a:p>
        </p:txBody>
      </p:sp>
      <p:sp>
        <p:nvSpPr>
          <p:cNvPr id="82" name="TextBox 81"/>
          <p:cNvSpPr txBox="1"/>
          <p:nvPr/>
        </p:nvSpPr>
        <p:spPr>
          <a:xfrm>
            <a:off x="190500" y="3833699"/>
            <a:ext cx="5170338" cy="186689"/>
          </a:xfrm>
          <a:prstGeom prst="rect">
            <a:avLst/>
          </a:prstGeom>
          <a:noFill/>
        </p:spPr>
        <p:txBody>
          <a:bodyPr wrap="none" lIns="0" rIns="0" tIns="0" bIns="0">
            <a:spAutoFit/>
          </a:bodyPr>
          <a:lstStyle/>
          <a:p>
            <a:r>
              <a:rPr sz="1100" b="0">
                <a:solidFill>
                  <a:srgbClr val="2E2E2E"/>
                </a:solidFill>
                <a:latin typeface="Calibri"/>
              </a:rPr>
              <a:t>a shortfall in a single leading region is difficult to offset elsewhere in the forecast window.</a:t>
            </a:r>
          </a:p>
        </p:txBody>
      </p:sp>
      <p:sp>
        <p:nvSpPr>
          <p:cNvPr id="83" name="TextBox 82"/>
          <p:cNvSpPr txBox="1"/>
          <p:nvPr/>
        </p:nvSpPr>
        <p:spPr>
          <a:xfrm>
            <a:off x="190500" y="5342043"/>
            <a:ext cx="3337594" cy="186689"/>
          </a:xfrm>
          <a:prstGeom prst="rect">
            <a:avLst/>
          </a:prstGeom>
          <a:noFill/>
        </p:spPr>
        <p:txBody>
          <a:bodyPr wrap="none" lIns="0" rIns="0" tIns="0" bIns="0">
            <a:spAutoFit/>
          </a:bodyPr>
          <a:lstStyle/>
          <a:p>
            <a:r>
              <a:rPr sz="1100" b="0">
                <a:solidFill>
                  <a:srgbClr val="2E2E2E"/>
                </a:solidFill>
                <a:latin typeface="Calibri"/>
              </a:rPr>
              <a:t>The market is concentrated: 'North America' accounts for</a:t>
            </a:r>
          </a:p>
        </p:txBody>
      </p:sp>
      <p:pic>
        <p:nvPicPr>
          <p:cNvPr id="84" name="Picture 83" descr="lock.png"/>
          <p:cNvPicPr>
            <a:picLocks noChangeAspect="1"/>
          </p:cNvPicPr>
          <p:nvPr/>
        </p:nvPicPr>
        <p:blipFill>
          <a:blip r:embed="rId4"/>
          <a:stretch>
            <a:fillRect/>
          </a:stretch>
        </p:blipFill>
        <p:spPr>
          <a:xfrm>
            <a:off x="3476146" y="5332264"/>
            <a:ext cx="128699" cy="187198"/>
          </a:xfrm>
          <a:prstGeom prst="rect">
            <a:avLst/>
          </a:prstGeom>
        </p:spPr>
      </p:pic>
      <p:sp>
        <p:nvSpPr>
          <p:cNvPr id="85" name="TextBox 84"/>
          <p:cNvSpPr txBox="1"/>
          <p:nvPr/>
        </p:nvSpPr>
        <p:spPr>
          <a:xfrm>
            <a:off x="3643642" y="5342043"/>
            <a:ext cx="3253556" cy="186689"/>
          </a:xfrm>
          <a:prstGeom prst="rect">
            <a:avLst/>
          </a:prstGeom>
          <a:noFill/>
        </p:spPr>
        <p:txBody>
          <a:bodyPr wrap="none" lIns="0" rIns="0" tIns="0" bIns="0">
            <a:spAutoFit/>
          </a:bodyPr>
          <a:lstStyle/>
          <a:p>
            <a:r>
              <a:rPr sz="1100" b="0">
                <a:solidFill>
                  <a:srgbClr val="2E2E2E"/>
                </a:solidFill>
                <a:latin typeface="Calibri"/>
              </a:rPr>
              <a:t>of 2036 value and the leading device technology line for</a:t>
            </a:r>
          </a:p>
        </p:txBody>
      </p:sp>
      <p:pic>
        <p:nvPicPr>
          <p:cNvPr id="86" name="Picture 85" descr="lock.png"/>
          <p:cNvPicPr>
            <a:picLocks noChangeAspect="1"/>
          </p:cNvPicPr>
          <p:nvPr/>
        </p:nvPicPr>
        <p:blipFill>
          <a:blip r:embed="rId4"/>
          <a:stretch>
            <a:fillRect/>
          </a:stretch>
        </p:blipFill>
        <p:spPr>
          <a:xfrm>
            <a:off x="6845250" y="5332264"/>
            <a:ext cx="128699" cy="187198"/>
          </a:xfrm>
          <a:prstGeom prst="rect">
            <a:avLst/>
          </a:prstGeom>
        </p:spPr>
      </p:pic>
      <p:sp>
        <p:nvSpPr>
          <p:cNvPr id="87" name="TextBox 86"/>
          <p:cNvSpPr txBox="1"/>
          <p:nvPr/>
        </p:nvSpPr>
        <p:spPr>
          <a:xfrm>
            <a:off x="7012746" y="5342043"/>
            <a:ext cx="2040965" cy="186689"/>
          </a:xfrm>
          <a:prstGeom prst="rect">
            <a:avLst/>
          </a:prstGeom>
          <a:noFill/>
        </p:spPr>
        <p:txBody>
          <a:bodyPr wrap="none" lIns="0" rIns="0" tIns="0" bIns="0">
            <a:spAutoFit/>
          </a:bodyPr>
          <a:lstStyle/>
          <a:p>
            <a:r>
              <a:rPr sz="1100" b="0">
                <a:solidFill>
                  <a:srgbClr val="2E2E2E"/>
                </a:solidFill>
                <a:latin typeface="Calibri"/>
              </a:rPr>
              <a:t>of its segment. Average realisation</a:t>
            </a:r>
          </a:p>
        </p:txBody>
      </p:sp>
      <p:sp>
        <p:nvSpPr>
          <p:cNvPr id="88" name="TextBox 87"/>
          <p:cNvSpPr txBox="1"/>
          <p:nvPr/>
        </p:nvSpPr>
        <p:spPr>
          <a:xfrm>
            <a:off x="190500" y="5509683"/>
            <a:ext cx="448642" cy="186689"/>
          </a:xfrm>
          <a:prstGeom prst="rect">
            <a:avLst/>
          </a:prstGeom>
          <a:noFill/>
        </p:spPr>
        <p:txBody>
          <a:bodyPr wrap="none" lIns="0" rIns="0" tIns="0" bIns="0">
            <a:spAutoFit/>
          </a:bodyPr>
          <a:lstStyle/>
          <a:p>
            <a:r>
              <a:rPr sz="1100" b="0">
                <a:solidFill>
                  <a:srgbClr val="2E2E2E"/>
                </a:solidFill>
                <a:latin typeface="Calibri"/>
              </a:rPr>
              <a:t>moves</a:t>
            </a:r>
          </a:p>
        </p:txBody>
      </p:sp>
      <p:pic>
        <p:nvPicPr>
          <p:cNvPr id="89" name="Picture 88" descr="lock.png"/>
          <p:cNvPicPr>
            <a:picLocks noChangeAspect="1"/>
          </p:cNvPicPr>
          <p:nvPr/>
        </p:nvPicPr>
        <p:blipFill>
          <a:blip r:embed="rId4"/>
          <a:stretch>
            <a:fillRect/>
          </a:stretch>
        </p:blipFill>
        <p:spPr>
          <a:xfrm>
            <a:off x="587193" y="5499904"/>
            <a:ext cx="128699" cy="187198"/>
          </a:xfrm>
          <a:prstGeom prst="rect">
            <a:avLst/>
          </a:prstGeom>
        </p:spPr>
      </p:pic>
      <p:sp>
        <p:nvSpPr>
          <p:cNvPr id="90" name="TextBox 89"/>
          <p:cNvSpPr txBox="1"/>
          <p:nvPr/>
        </p:nvSpPr>
        <p:spPr>
          <a:xfrm>
            <a:off x="754689" y="5509683"/>
            <a:ext cx="8685758" cy="186689"/>
          </a:xfrm>
          <a:prstGeom prst="rect">
            <a:avLst/>
          </a:prstGeom>
          <a:noFill/>
        </p:spPr>
        <p:txBody>
          <a:bodyPr wrap="none" lIns="0" rIns="0" tIns="0" bIns="0">
            <a:spAutoFit/>
          </a:bodyPr>
          <a:lstStyle/>
          <a:p>
            <a:r>
              <a:rPr sz="1100" b="0">
                <a:solidFill>
                  <a:srgbClr val="2E2E2E"/>
                </a:solidFill>
                <a:latin typeface="Calibri"/>
              </a:rPr>
              <a:t>a year, so cost movements cannot be passed on evenly across 6 regions. The practical constraint is the same in either case commercial terms set for the</a:t>
            </a:r>
          </a:p>
        </p:txBody>
      </p:sp>
      <p:sp>
        <p:nvSpPr>
          <p:cNvPr id="91" name="TextBox 90"/>
          <p:cNvSpPr txBox="1"/>
          <p:nvPr/>
        </p:nvSpPr>
        <p:spPr>
          <a:xfrm>
            <a:off x="190500" y="5677323"/>
            <a:ext cx="6630913" cy="186689"/>
          </a:xfrm>
          <a:prstGeom prst="rect">
            <a:avLst/>
          </a:prstGeom>
          <a:noFill/>
        </p:spPr>
        <p:txBody>
          <a:bodyPr wrap="none" lIns="0" rIns="0" tIns="0" bIns="0">
            <a:spAutoFit/>
          </a:bodyPr>
          <a:lstStyle/>
          <a:p>
            <a:r>
              <a:rPr sz="1100" b="0">
                <a:solidFill>
                  <a:srgbClr val="2E2E2E"/>
                </a:solidFill>
                <a:latin typeface="Calibri"/>
              </a:rPr>
              <a:t>market as a whole underserve part of it, and margin is lost in the mismatch rather than in the headline growth rate.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Opportunities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the key opportunities in the global market and the likelihood of their impact across 2021–2036</a:t>
            </a:r>
          </a:p>
        </p:txBody>
      </p:sp>
      <p:sp>
        <p:nvSpPr>
          <p:cNvPr id="10" name="Rounded Rectangle 9"/>
          <p:cNvSpPr/>
          <p:nvPr/>
        </p:nvSpPr>
        <p:spPr>
          <a:xfrm>
            <a:off x="142875" y="1025515"/>
            <a:ext cx="2038350" cy="255552"/>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2038350" cy="255552"/>
          </a:xfrm>
          <a:prstGeom prst="rect">
            <a:avLst/>
          </a:prstGeom>
          <a:noFill/>
        </p:spPr>
        <p:txBody>
          <a:bodyPr wrap="square" lIns="28575" rIns="28575" tIns="9525" bIns="9525" anchor="ctr">
            <a:spAutoFit/>
          </a:bodyPr>
          <a:lstStyle/>
          <a:p>
            <a:pPr algn="ctr"/>
            <a:r>
              <a:rPr sz="1100" b="1">
                <a:solidFill>
                  <a:srgbClr val="FFFFFF"/>
                </a:solidFill>
                <a:latin typeface="Calibri"/>
              </a:rPr>
              <a:t>Market Opportunities</a:t>
            </a:r>
          </a:p>
        </p:txBody>
      </p:sp>
      <p:sp>
        <p:nvSpPr>
          <p:cNvPr id="12" name="Rectangle 11"/>
          <p:cNvSpPr/>
          <p:nvPr/>
        </p:nvSpPr>
        <p:spPr>
          <a:xfrm>
            <a:off x="142875" y="139058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9058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U.S. Carries the Largest Absolute Opportunity</a:t>
            </a:r>
          </a:p>
        </p:txBody>
      </p:sp>
      <p:sp>
        <p:nvSpPr>
          <p:cNvPr id="14" name="TextBox 13"/>
          <p:cNvSpPr txBox="1"/>
          <p:nvPr/>
        </p:nvSpPr>
        <p:spPr>
          <a:xfrm>
            <a:off x="161925" y="170090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9810750" y="139058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16" name="TextBox 15"/>
          <p:cNvSpPr txBox="1"/>
          <p:nvPr/>
        </p:nvSpPr>
        <p:spPr>
          <a:xfrm>
            <a:off x="981075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17" name="Rectangle 16"/>
          <p:cNvSpPr/>
          <p:nvPr/>
        </p:nvSpPr>
        <p:spPr>
          <a:xfrm>
            <a:off x="9810750" y="1938200"/>
            <a:ext cx="990600" cy="310313"/>
          </a:xfrm>
          <a:prstGeom prst="rect">
            <a:avLst/>
          </a:prstGeom>
          <a:solidFill>
            <a:srgbClr val="FBF0C4"/>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075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19" name="TextBox 18"/>
          <p:cNvSpPr txBox="1"/>
          <p:nvPr/>
        </p:nvSpPr>
        <p:spPr>
          <a:xfrm>
            <a:off x="10896600" y="177391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20" name="Rectangle 19"/>
          <p:cNvSpPr/>
          <p:nvPr/>
        </p:nvSpPr>
        <p:spPr>
          <a:xfrm>
            <a:off x="10896600" y="193820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896600" y="193820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2" name="TextBox 21"/>
          <p:cNvSpPr txBox="1"/>
          <p:nvPr/>
        </p:nvSpPr>
        <p:spPr>
          <a:xfrm>
            <a:off x="981075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23" name="Rectangle 22"/>
          <p:cNvSpPr/>
          <p:nvPr/>
        </p:nvSpPr>
        <p:spPr>
          <a:xfrm>
            <a:off x="981075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sp>
        <p:nvSpPr>
          <p:cNvPr id="25" name="TextBox 24"/>
          <p:cNvSpPr txBox="1"/>
          <p:nvPr/>
        </p:nvSpPr>
        <p:spPr>
          <a:xfrm>
            <a:off x="10896600" y="229414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26" name="Rectangle 25"/>
          <p:cNvSpPr/>
          <p:nvPr/>
        </p:nvSpPr>
        <p:spPr>
          <a:xfrm>
            <a:off x="10896600" y="245843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2458430"/>
            <a:ext cx="990600" cy="310313"/>
          </a:xfrm>
          <a:prstGeom prst="rect">
            <a:avLst/>
          </a:prstGeom>
          <a:noFill/>
        </p:spPr>
        <p:txBody>
          <a:bodyPr wrap="square" lIns="28575" rIns="28575" tIns="9525" bIns="9525" anchor="ctr">
            <a:spAutoFit/>
          </a:bodyPr>
          <a:lstStyle/>
          <a:p>
            <a:pPr algn="ctr"/>
            <a:r>
              <a:rPr sz="1100" b="1">
                <a:solidFill>
                  <a:srgbClr val="9AA0A6"/>
                </a:solidFill>
                <a:latin typeface="Calibri"/>
              </a:rPr>
              <a:t>Low</a:t>
            </a:r>
          </a:p>
        </p:txBody>
      </p:sp>
      <p:cxnSp>
        <p:nvCxnSpPr>
          <p:cNvPr id="28" name="Connector 27"/>
          <p:cNvCxnSpPr/>
          <p:nvPr/>
        </p:nvCxnSpPr>
        <p:spPr>
          <a:xfrm>
            <a:off x="142875" y="3088183"/>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42875" y="3142944"/>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3142944"/>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Saudi Arabia Offers Under-penetrated, Above-pace Headroom</a:t>
            </a:r>
          </a:p>
        </p:txBody>
      </p:sp>
      <p:sp>
        <p:nvSpPr>
          <p:cNvPr id="31" name="TextBox 30"/>
          <p:cNvSpPr txBox="1"/>
          <p:nvPr/>
        </p:nvSpPr>
        <p:spPr>
          <a:xfrm>
            <a:off x="161925" y="3453257"/>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2" name="TextBox 31"/>
          <p:cNvSpPr txBox="1"/>
          <p:nvPr/>
        </p:nvSpPr>
        <p:spPr>
          <a:xfrm>
            <a:off x="9810750" y="3142944"/>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33" name="TextBox 32"/>
          <p:cNvSpPr txBox="1"/>
          <p:nvPr/>
        </p:nvSpPr>
        <p:spPr>
          <a:xfrm>
            <a:off x="981075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34" name="Rectangle 33"/>
          <p:cNvSpPr/>
          <p:nvPr/>
        </p:nvSpPr>
        <p:spPr>
          <a:xfrm>
            <a:off x="9810750" y="3690555"/>
            <a:ext cx="990600" cy="310313"/>
          </a:xfrm>
          <a:prstGeom prst="rect">
            <a:avLst/>
          </a:prstGeom>
          <a:solidFill>
            <a:srgbClr val="C99A0A"/>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1075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6" name="TextBox 35"/>
          <p:cNvSpPr txBox="1"/>
          <p:nvPr/>
        </p:nvSpPr>
        <p:spPr>
          <a:xfrm>
            <a:off x="10896600" y="3526271"/>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37" name="Rectangle 36"/>
          <p:cNvSpPr/>
          <p:nvPr/>
        </p:nvSpPr>
        <p:spPr>
          <a:xfrm>
            <a:off x="10896600" y="369055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896600" y="369055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39" name="TextBox 38"/>
          <p:cNvSpPr txBox="1"/>
          <p:nvPr/>
        </p:nvSpPr>
        <p:spPr>
          <a:xfrm>
            <a:off x="981075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40" name="Rectangle 39"/>
          <p:cNvSpPr/>
          <p:nvPr/>
        </p:nvSpPr>
        <p:spPr>
          <a:xfrm>
            <a:off x="981075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sp>
        <p:nvSpPr>
          <p:cNvPr id="42" name="TextBox 41"/>
          <p:cNvSpPr txBox="1"/>
          <p:nvPr/>
        </p:nvSpPr>
        <p:spPr>
          <a:xfrm>
            <a:off x="10896600" y="4046502"/>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43" name="Rectangle 42"/>
          <p:cNvSpPr/>
          <p:nvPr/>
        </p:nvSpPr>
        <p:spPr>
          <a:xfrm>
            <a:off x="10896600" y="4210785"/>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4210785"/>
            <a:ext cx="990600" cy="310313"/>
          </a:xfrm>
          <a:prstGeom prst="rect">
            <a:avLst/>
          </a:prstGeom>
          <a:noFill/>
        </p:spPr>
        <p:txBody>
          <a:bodyPr wrap="square" lIns="28575" rIns="28575" tIns="9525" bIns="9525" anchor="ctr">
            <a:spAutoFit/>
          </a:bodyPr>
          <a:lstStyle/>
          <a:p>
            <a:pPr algn="ctr"/>
            <a:r>
              <a:rPr sz="1100" b="1">
                <a:solidFill>
                  <a:srgbClr val="4A3A05"/>
                </a:solidFill>
                <a:latin typeface="Calibri"/>
              </a:rPr>
              <a:t>High</a:t>
            </a:r>
          </a:p>
        </p:txBody>
      </p:sp>
      <p:cxnSp>
        <p:nvCxnSpPr>
          <p:cNvPr id="45" name="Connector 44"/>
          <p:cNvCxnSpPr/>
          <p:nvPr/>
        </p:nvCxnSpPr>
        <p:spPr>
          <a:xfrm>
            <a:off x="142875" y="4840538"/>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142875" y="4895299"/>
            <a:ext cx="9496425" cy="255552"/>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76225" y="4895299"/>
            <a:ext cx="9267825" cy="255552"/>
          </a:xfrm>
          <a:prstGeom prst="rect">
            <a:avLst/>
          </a:prstGeom>
          <a:noFill/>
        </p:spPr>
        <p:txBody>
          <a:bodyPr wrap="square" lIns="28575" rIns="28575" tIns="9525" bIns="9525" anchor="ctr">
            <a:spAutoFit/>
          </a:bodyPr>
          <a:lstStyle/>
          <a:p>
            <a:pPr algn="l"/>
            <a:r>
              <a:rPr sz="1100" b="1">
                <a:solidFill>
                  <a:srgbClr val="0B2E4A"/>
                </a:solidFill>
                <a:latin typeface="Calibri"/>
              </a:rPr>
              <a:t>Distributor Sales Opens the Fastest Route to Market</a:t>
            </a:r>
          </a:p>
        </p:txBody>
      </p:sp>
      <p:sp>
        <p:nvSpPr>
          <p:cNvPr id="48" name="TextBox 47"/>
          <p:cNvSpPr txBox="1"/>
          <p:nvPr/>
        </p:nvSpPr>
        <p:spPr>
          <a:xfrm>
            <a:off x="161925" y="5205612"/>
            <a:ext cx="9439275"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TextBox 48"/>
          <p:cNvSpPr txBox="1"/>
          <p:nvPr/>
        </p:nvSpPr>
        <p:spPr>
          <a:xfrm>
            <a:off x="9810750" y="4895299"/>
            <a:ext cx="2238375" cy="365074"/>
          </a:xfrm>
          <a:prstGeom prst="rect">
            <a:avLst/>
          </a:prstGeom>
          <a:noFill/>
        </p:spPr>
        <p:txBody>
          <a:bodyPr wrap="square" lIns="28575" rIns="28575" tIns="9525" bIns="9525" anchor="ctr">
            <a:spAutoFit/>
          </a:bodyPr>
          <a:lstStyle/>
          <a:p>
            <a:pPr algn="l">
              <a:lnSpc>
                <a:spcPct val="115000"/>
              </a:lnSpc>
            </a:pPr>
            <a:r>
              <a:rPr sz="1100" b="1">
                <a:solidFill>
                  <a:srgbClr val="6C7A89"/>
                </a:solidFill>
                <a:latin typeface="Calibri"/>
              </a:rPr>
              <a:t>Likelihood of impact on timeline</a:t>
            </a:r>
          </a:p>
        </p:txBody>
      </p:sp>
      <p:sp>
        <p:nvSpPr>
          <p:cNvPr id="50" name="TextBox 49"/>
          <p:cNvSpPr txBox="1"/>
          <p:nvPr/>
        </p:nvSpPr>
        <p:spPr>
          <a:xfrm>
            <a:off x="981075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2021–22</a:t>
            </a:r>
          </a:p>
        </p:txBody>
      </p:sp>
      <p:sp>
        <p:nvSpPr>
          <p:cNvPr id="51" name="Rectangle 50"/>
          <p:cNvSpPr/>
          <p:nvPr/>
        </p:nvSpPr>
        <p:spPr>
          <a:xfrm>
            <a:off x="9810750" y="5442910"/>
            <a:ext cx="990600" cy="310313"/>
          </a:xfrm>
          <a:prstGeom prst="rect">
            <a:avLst/>
          </a:prstGeom>
          <a:solidFill>
            <a:srgbClr val="F2C94C"/>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1075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3" name="TextBox 52"/>
          <p:cNvSpPr txBox="1"/>
          <p:nvPr/>
        </p:nvSpPr>
        <p:spPr>
          <a:xfrm>
            <a:off x="10896600" y="5278626"/>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2023–25</a:t>
            </a:r>
          </a:p>
        </p:txBody>
      </p:sp>
      <p:sp>
        <p:nvSpPr>
          <p:cNvPr id="54" name="Rectangle 53"/>
          <p:cNvSpPr/>
          <p:nvPr/>
        </p:nvSpPr>
        <p:spPr>
          <a:xfrm>
            <a:off x="10896600" y="544291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896600" y="544291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6" name="TextBox 55"/>
          <p:cNvSpPr txBox="1"/>
          <p:nvPr/>
        </p:nvSpPr>
        <p:spPr>
          <a:xfrm>
            <a:off x="981075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2026–28</a:t>
            </a:r>
          </a:p>
        </p:txBody>
      </p:sp>
      <p:sp>
        <p:nvSpPr>
          <p:cNvPr id="57" name="Rectangle 56"/>
          <p:cNvSpPr/>
          <p:nvPr/>
        </p:nvSpPr>
        <p:spPr>
          <a:xfrm>
            <a:off x="981075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59" name="TextBox 58"/>
          <p:cNvSpPr txBox="1"/>
          <p:nvPr/>
        </p:nvSpPr>
        <p:spPr>
          <a:xfrm>
            <a:off x="10896600" y="5798857"/>
            <a:ext cx="990600" cy="155156"/>
          </a:xfrm>
          <a:prstGeom prst="rect">
            <a:avLst/>
          </a:prstGeom>
          <a:noFill/>
        </p:spPr>
        <p:txBody>
          <a:bodyPr wrap="square" lIns="28575" rIns="28575" tIns="9525" bIns="9525" anchor="ctr">
            <a:spAutoFit/>
          </a:bodyPr>
          <a:lstStyle/>
          <a:p>
            <a:pPr algn="ctr"/>
            <a:r>
              <a:rPr sz="1100" b="1">
                <a:solidFill>
                  <a:srgbClr val="6C7A89"/>
                </a:solidFill>
                <a:latin typeface="Calibri"/>
              </a:rPr>
              <a:t>2029–36</a:t>
            </a:r>
          </a:p>
        </p:txBody>
      </p:sp>
      <p:sp>
        <p:nvSpPr>
          <p:cNvPr id="60" name="Rectangle 59"/>
          <p:cNvSpPr/>
          <p:nvPr/>
        </p:nvSpPr>
        <p:spPr>
          <a:xfrm>
            <a:off x="10896600" y="5963140"/>
            <a:ext cx="990600" cy="310313"/>
          </a:xfrm>
          <a:prstGeom prst="rect">
            <a:avLst/>
          </a:prstGeom>
          <a:solidFill>
            <a:srgbClr val="FFFFFF"/>
          </a:solidFill>
          <a:ln w="15875">
            <a:solidFill>
              <a:srgbClr val="A8740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963140"/>
            <a:ext cx="990600" cy="310313"/>
          </a:xfrm>
          <a:prstGeom prst="rect">
            <a:avLst/>
          </a:prstGeom>
          <a:noFill/>
        </p:spPr>
        <p:txBody>
          <a:bodyPr wrap="square" lIns="28575" rIns="28575" tIns="9525" bIns="9525" anchor="ctr">
            <a:spAutoFit/>
          </a:bodyPr>
          <a:lstStyle/>
          <a:p>
            <a:pPr algn="ctr"/>
            <a:r>
              <a:rPr sz="1100" b="1">
                <a:solidFill>
                  <a:srgbClr val="6B5613"/>
                </a:solidFill>
                <a:latin typeface="Calibri"/>
              </a:rPr>
              <a:t>Medium</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190500" y="1746064"/>
            <a:ext cx="662012" cy="186689"/>
          </a:xfrm>
          <a:prstGeom prst="rect">
            <a:avLst/>
          </a:prstGeom>
          <a:noFill/>
        </p:spPr>
        <p:txBody>
          <a:bodyPr wrap="none" lIns="0" rIns="0" tIns="0" bIns="0">
            <a:spAutoFit/>
          </a:bodyPr>
          <a:lstStyle/>
          <a:p>
            <a:r>
              <a:rPr sz="1100" b="0">
                <a:solidFill>
                  <a:srgbClr val="2E2E2E"/>
                </a:solidFill>
                <a:latin typeface="Calibri"/>
              </a:rPr>
              <a:t>'U.S.' adds</a:t>
            </a:r>
          </a:p>
        </p:txBody>
      </p:sp>
      <p:pic>
        <p:nvPicPr>
          <p:cNvPr id="64" name="Picture 63" descr="lock.png"/>
          <p:cNvPicPr>
            <a:picLocks noChangeAspect="1"/>
          </p:cNvPicPr>
          <p:nvPr/>
        </p:nvPicPr>
        <p:blipFill>
          <a:blip r:embed="rId4"/>
          <a:stretch>
            <a:fillRect/>
          </a:stretch>
        </p:blipFill>
        <p:spPr>
          <a:xfrm>
            <a:off x="800563" y="1736285"/>
            <a:ext cx="128699" cy="187198"/>
          </a:xfrm>
          <a:prstGeom prst="rect">
            <a:avLst/>
          </a:prstGeom>
        </p:spPr>
      </p:pic>
      <p:sp>
        <p:nvSpPr>
          <p:cNvPr id="65" name="TextBox 64"/>
          <p:cNvSpPr txBox="1"/>
          <p:nvPr/>
        </p:nvSpPr>
        <p:spPr>
          <a:xfrm>
            <a:off x="968059" y="1746064"/>
            <a:ext cx="8433097" cy="186689"/>
          </a:xfrm>
          <a:prstGeom prst="rect">
            <a:avLst/>
          </a:prstGeom>
          <a:noFill/>
        </p:spPr>
        <p:txBody>
          <a:bodyPr wrap="none" lIns="0" rIns="0" tIns="0" bIns="0">
            <a:spAutoFit/>
          </a:bodyPr>
          <a:lstStyle/>
          <a:p>
            <a:r>
              <a:rPr sz="1100" b="0">
                <a:solidFill>
                  <a:srgbClr val="2E2E2E"/>
                </a:solidFill>
                <a:latin typeface="Calibri"/>
              </a:rPr>
              <a:t>US$ Mn between 2026 and 2036 the single largest absolute increment of any geography in the dataset. Capturing it is a question of scale execution</a:t>
            </a:r>
          </a:p>
        </p:txBody>
      </p:sp>
      <p:sp>
        <p:nvSpPr>
          <p:cNvPr id="66" name="TextBox 65"/>
          <p:cNvSpPr txBox="1"/>
          <p:nvPr/>
        </p:nvSpPr>
        <p:spPr>
          <a:xfrm>
            <a:off x="190500" y="1913704"/>
            <a:ext cx="3769245" cy="186689"/>
          </a:xfrm>
          <a:prstGeom prst="rect">
            <a:avLst/>
          </a:prstGeom>
          <a:noFill/>
        </p:spPr>
        <p:txBody>
          <a:bodyPr wrap="none" lIns="0" rIns="0" tIns="0" bIns="0">
            <a:spAutoFit/>
          </a:bodyPr>
          <a:lstStyle/>
          <a:p>
            <a:r>
              <a:rPr sz="1100" b="0">
                <a:solidFill>
                  <a:srgbClr val="2E2E2E"/>
                </a:solidFill>
                <a:latin typeface="Calibri"/>
              </a:rPr>
              <a:t>rather than market creation: demand already exists and grows at</a:t>
            </a:r>
          </a:p>
        </p:txBody>
      </p:sp>
      <p:pic>
        <p:nvPicPr>
          <p:cNvPr id="67" name="Picture 66" descr="lock.png"/>
          <p:cNvPicPr>
            <a:picLocks noChangeAspect="1"/>
          </p:cNvPicPr>
          <p:nvPr/>
        </p:nvPicPr>
        <p:blipFill>
          <a:blip r:embed="rId4"/>
          <a:stretch>
            <a:fillRect/>
          </a:stretch>
        </p:blipFill>
        <p:spPr>
          <a:xfrm>
            <a:off x="3907797" y="1903925"/>
            <a:ext cx="128699" cy="187198"/>
          </a:xfrm>
          <a:prstGeom prst="rect">
            <a:avLst/>
          </a:prstGeom>
        </p:spPr>
      </p:pic>
      <p:sp>
        <p:nvSpPr>
          <p:cNvPr id="68" name="TextBox 67"/>
          <p:cNvSpPr txBox="1"/>
          <p:nvPr/>
        </p:nvSpPr>
        <p:spPr>
          <a:xfrm>
            <a:off x="4075293" y="1913704"/>
            <a:ext cx="5402535" cy="186689"/>
          </a:xfrm>
          <a:prstGeom prst="rect">
            <a:avLst/>
          </a:prstGeom>
          <a:noFill/>
        </p:spPr>
        <p:txBody>
          <a:bodyPr wrap="none" lIns="0" rIns="0" tIns="0" bIns="0">
            <a:spAutoFit/>
          </a:bodyPr>
          <a:lstStyle/>
          <a:p>
            <a:r>
              <a:rPr sz="1100" b="0">
                <a:solidFill>
                  <a:srgbClr val="2E2E2E"/>
                </a:solidFill>
                <a:latin typeface="Calibri"/>
              </a:rPr>
              <a:t>at the market level. Prioritising supply, channel coverage and service levels there converts the</a:t>
            </a:r>
          </a:p>
        </p:txBody>
      </p:sp>
      <p:sp>
        <p:nvSpPr>
          <p:cNvPr id="69" name="TextBox 68"/>
          <p:cNvSpPr txBox="1"/>
          <p:nvPr/>
        </p:nvSpPr>
        <p:spPr>
          <a:xfrm>
            <a:off x="190500" y="2081344"/>
            <a:ext cx="1175246" cy="186689"/>
          </a:xfrm>
          <a:prstGeom prst="rect">
            <a:avLst/>
          </a:prstGeom>
          <a:noFill/>
        </p:spPr>
        <p:txBody>
          <a:bodyPr wrap="none" lIns="0" rIns="0" tIns="0" bIns="0">
            <a:spAutoFit/>
          </a:bodyPr>
          <a:lstStyle/>
          <a:p>
            <a:r>
              <a:rPr sz="1100" b="0">
                <a:solidFill>
                  <a:srgbClr val="2E2E2E"/>
                </a:solidFill>
                <a:latin typeface="Calibri"/>
              </a:rPr>
              <a:t>largest share of the</a:t>
            </a:r>
          </a:p>
        </p:txBody>
      </p:sp>
      <p:pic>
        <p:nvPicPr>
          <p:cNvPr id="70" name="Picture 69" descr="lock.png"/>
          <p:cNvPicPr>
            <a:picLocks noChangeAspect="1"/>
          </p:cNvPicPr>
          <p:nvPr/>
        </p:nvPicPr>
        <p:blipFill>
          <a:blip r:embed="rId4"/>
          <a:stretch>
            <a:fillRect/>
          </a:stretch>
        </p:blipFill>
        <p:spPr>
          <a:xfrm>
            <a:off x="1313797" y="2071565"/>
            <a:ext cx="128699" cy="187198"/>
          </a:xfrm>
          <a:prstGeom prst="rect">
            <a:avLst/>
          </a:prstGeom>
        </p:spPr>
      </p:pic>
      <p:sp>
        <p:nvSpPr>
          <p:cNvPr id="71" name="TextBox 70"/>
          <p:cNvSpPr txBox="1"/>
          <p:nvPr/>
        </p:nvSpPr>
        <p:spPr>
          <a:xfrm>
            <a:off x="1481293" y="2081344"/>
            <a:ext cx="3306489" cy="186689"/>
          </a:xfrm>
          <a:prstGeom prst="rect">
            <a:avLst/>
          </a:prstGeom>
          <a:noFill/>
        </p:spPr>
        <p:txBody>
          <a:bodyPr wrap="none" lIns="0" rIns="0" tIns="0" bIns="0">
            <a:spAutoFit/>
          </a:bodyPr>
          <a:lstStyle/>
          <a:p>
            <a:r>
              <a:rPr sz="1100" b="0">
                <a:solidFill>
                  <a:srgbClr val="2E2E2E"/>
                </a:solidFill>
                <a:latin typeface="Calibri"/>
              </a:rPr>
              <a:t>US$ Mn the whole market adds over the forecast period.</a:t>
            </a:r>
          </a:p>
        </p:txBody>
      </p:sp>
      <p:sp>
        <p:nvSpPr>
          <p:cNvPr id="72" name="TextBox 71"/>
          <p:cNvSpPr txBox="1"/>
          <p:nvPr/>
        </p:nvSpPr>
        <p:spPr>
          <a:xfrm>
            <a:off x="190500" y="3498419"/>
            <a:ext cx="1691754" cy="186689"/>
          </a:xfrm>
          <a:prstGeom prst="rect">
            <a:avLst/>
          </a:prstGeom>
          <a:noFill/>
        </p:spPr>
        <p:txBody>
          <a:bodyPr wrap="none" lIns="0" rIns="0" tIns="0" bIns="0">
            <a:spAutoFit/>
          </a:bodyPr>
          <a:lstStyle/>
          <a:p>
            <a:r>
              <a:rPr sz="1100" b="0">
                <a:solidFill>
                  <a:srgbClr val="2E2E2E"/>
                </a:solidFill>
                <a:latin typeface="Calibri"/>
              </a:rPr>
              <a:t>'Saudi Arabia' compounds at</a:t>
            </a:r>
          </a:p>
        </p:txBody>
      </p:sp>
      <p:pic>
        <p:nvPicPr>
          <p:cNvPr id="73" name="Picture 72" descr="lock.png"/>
          <p:cNvPicPr>
            <a:picLocks noChangeAspect="1"/>
          </p:cNvPicPr>
          <p:nvPr/>
        </p:nvPicPr>
        <p:blipFill>
          <a:blip r:embed="rId4"/>
          <a:stretch>
            <a:fillRect/>
          </a:stretch>
        </p:blipFill>
        <p:spPr>
          <a:xfrm>
            <a:off x="1830305" y="3488640"/>
            <a:ext cx="128699" cy="187198"/>
          </a:xfrm>
          <a:prstGeom prst="rect">
            <a:avLst/>
          </a:prstGeom>
        </p:spPr>
      </p:pic>
      <p:sp>
        <p:nvSpPr>
          <p:cNvPr id="74" name="TextBox 73"/>
          <p:cNvSpPr txBox="1"/>
          <p:nvPr/>
        </p:nvSpPr>
        <p:spPr>
          <a:xfrm>
            <a:off x="1997801" y="3498419"/>
            <a:ext cx="7315207" cy="186689"/>
          </a:xfrm>
          <a:prstGeom prst="rect">
            <a:avLst/>
          </a:prstGeom>
          <a:noFill/>
        </p:spPr>
        <p:txBody>
          <a:bodyPr wrap="none" lIns="0" rIns="0" tIns="0" bIns="0">
            <a:spAutoFit/>
          </a:bodyPr>
          <a:lstStyle/>
          <a:p>
            <a:r>
              <a:rPr sz="1100" b="0">
                <a:solidFill>
                  <a:srgbClr val="2E2E2E"/>
                </a:solidFill>
                <a:latin typeface="Calibri"/>
              </a:rPr>
              <a:t>CAGR from a below-median base one of 9 geographies in the dataset combining above-median growth with below-median size.</a:t>
            </a:r>
          </a:p>
        </p:txBody>
      </p:sp>
      <p:sp>
        <p:nvSpPr>
          <p:cNvPr id="75" name="TextBox 74"/>
          <p:cNvSpPr txBox="1"/>
          <p:nvPr/>
        </p:nvSpPr>
        <p:spPr>
          <a:xfrm>
            <a:off x="190500" y="3666059"/>
            <a:ext cx="5046191" cy="186689"/>
          </a:xfrm>
          <a:prstGeom prst="rect">
            <a:avLst/>
          </a:prstGeom>
          <a:noFill/>
        </p:spPr>
        <p:txBody>
          <a:bodyPr wrap="none" lIns="0" rIns="0" tIns="0" bIns="0">
            <a:spAutoFit/>
          </a:bodyPr>
          <a:lstStyle/>
          <a:p>
            <a:r>
              <a:rPr sz="1100" b="0">
                <a:solidFill>
                  <a:srgbClr val="2E2E2E"/>
                </a:solidFill>
                <a:latin typeface="Calibri"/>
              </a:rPr>
              <a:t>That profile is where share is cheapest to buy: competitive intensity is lower than in the</a:t>
            </a:r>
          </a:p>
        </p:txBody>
      </p:sp>
      <p:pic>
        <p:nvPicPr>
          <p:cNvPr id="76" name="Picture 75" descr="lock.png"/>
          <p:cNvPicPr>
            <a:picLocks noChangeAspect="1"/>
          </p:cNvPicPr>
          <p:nvPr/>
        </p:nvPicPr>
        <p:blipFill>
          <a:blip r:embed="rId4"/>
          <a:stretch>
            <a:fillRect/>
          </a:stretch>
        </p:blipFill>
        <p:spPr>
          <a:xfrm>
            <a:off x="5184742" y="3656280"/>
            <a:ext cx="128699" cy="187198"/>
          </a:xfrm>
          <a:prstGeom prst="rect">
            <a:avLst/>
          </a:prstGeom>
        </p:spPr>
      </p:pic>
      <p:sp>
        <p:nvSpPr>
          <p:cNvPr id="77" name="TextBox 76"/>
          <p:cNvSpPr txBox="1"/>
          <p:nvPr/>
        </p:nvSpPr>
        <p:spPr>
          <a:xfrm>
            <a:off x="5352238" y="3666059"/>
            <a:ext cx="2075929" cy="186689"/>
          </a:xfrm>
          <a:prstGeom prst="rect">
            <a:avLst/>
          </a:prstGeom>
          <a:noFill/>
        </p:spPr>
        <p:txBody>
          <a:bodyPr wrap="none" lIns="0" rIns="0" tIns="0" bIns="0">
            <a:spAutoFit/>
          </a:bodyPr>
          <a:lstStyle/>
          <a:p>
            <a:r>
              <a:rPr sz="1100" b="0">
                <a:solidFill>
                  <a:srgbClr val="2E2E2E"/>
                </a:solidFill>
                <a:latin typeface="Calibri"/>
              </a:rPr>
              <a:t>-share leaders, while growth runs +</a:t>
            </a:r>
          </a:p>
        </p:txBody>
      </p:sp>
      <p:pic>
        <p:nvPicPr>
          <p:cNvPr id="78" name="Picture 77" descr="lock.png"/>
          <p:cNvPicPr>
            <a:picLocks noChangeAspect="1"/>
          </p:cNvPicPr>
          <p:nvPr/>
        </p:nvPicPr>
        <p:blipFill>
          <a:blip r:embed="rId4"/>
          <a:stretch>
            <a:fillRect/>
          </a:stretch>
        </p:blipFill>
        <p:spPr>
          <a:xfrm>
            <a:off x="7376219" y="3656280"/>
            <a:ext cx="128699" cy="187198"/>
          </a:xfrm>
          <a:prstGeom prst="rect">
            <a:avLst/>
          </a:prstGeom>
        </p:spPr>
      </p:pic>
      <p:sp>
        <p:nvSpPr>
          <p:cNvPr id="79" name="TextBox 78"/>
          <p:cNvSpPr txBox="1"/>
          <p:nvPr/>
        </p:nvSpPr>
        <p:spPr>
          <a:xfrm>
            <a:off x="7543715" y="3666059"/>
            <a:ext cx="1825144" cy="186689"/>
          </a:xfrm>
          <a:prstGeom prst="rect">
            <a:avLst/>
          </a:prstGeom>
          <a:noFill/>
        </p:spPr>
        <p:txBody>
          <a:bodyPr wrap="none" lIns="0" rIns="0" tIns="0" bIns="0">
            <a:spAutoFit/>
          </a:bodyPr>
          <a:lstStyle/>
          <a:p>
            <a:r>
              <a:rPr sz="1100" b="0">
                <a:solidFill>
                  <a:srgbClr val="2E2E2E"/>
                </a:solidFill>
                <a:latin typeface="Calibri"/>
              </a:rPr>
              <a:t>BPS ahead of the market. Early</a:t>
            </a:r>
          </a:p>
        </p:txBody>
      </p:sp>
      <p:sp>
        <p:nvSpPr>
          <p:cNvPr id="80" name="TextBox 79"/>
          <p:cNvSpPr txBox="1"/>
          <p:nvPr/>
        </p:nvSpPr>
        <p:spPr>
          <a:xfrm>
            <a:off x="190500" y="3833699"/>
            <a:ext cx="4556695" cy="186689"/>
          </a:xfrm>
          <a:prstGeom prst="rect">
            <a:avLst/>
          </a:prstGeom>
          <a:noFill/>
        </p:spPr>
        <p:txBody>
          <a:bodyPr wrap="none" lIns="0" rIns="0" tIns="0" bIns="0">
            <a:spAutoFit/>
          </a:bodyPr>
          <a:lstStyle/>
          <a:p>
            <a:r>
              <a:rPr sz="1100" b="0">
                <a:solidFill>
                  <a:srgbClr val="2E2E2E"/>
                </a:solidFill>
                <a:latin typeface="Calibri"/>
              </a:rPr>
              <a:t>distribution and reference accounts established here compound through 2036.</a:t>
            </a:r>
          </a:p>
        </p:txBody>
      </p:sp>
      <p:sp>
        <p:nvSpPr>
          <p:cNvPr id="81" name="TextBox 80"/>
          <p:cNvSpPr txBox="1"/>
          <p:nvPr/>
        </p:nvSpPr>
        <p:spPr>
          <a:xfrm>
            <a:off x="190500" y="5250774"/>
            <a:ext cx="1593527" cy="186689"/>
          </a:xfrm>
          <a:prstGeom prst="rect">
            <a:avLst/>
          </a:prstGeom>
          <a:noFill/>
        </p:spPr>
        <p:txBody>
          <a:bodyPr wrap="none" lIns="0" rIns="0" tIns="0" bIns="0">
            <a:spAutoFit/>
          </a:bodyPr>
          <a:lstStyle/>
          <a:p>
            <a:r>
              <a:rPr sz="1100" b="0">
                <a:solidFill>
                  <a:srgbClr val="2E2E2E"/>
                </a:solidFill>
                <a:latin typeface="Calibri"/>
              </a:rPr>
              <a:t>'Distributor Sales' grows at</a:t>
            </a:r>
          </a:p>
        </p:txBody>
      </p:sp>
      <p:pic>
        <p:nvPicPr>
          <p:cNvPr id="82" name="Picture 81" descr="lock.png"/>
          <p:cNvPicPr>
            <a:picLocks noChangeAspect="1"/>
          </p:cNvPicPr>
          <p:nvPr/>
        </p:nvPicPr>
        <p:blipFill>
          <a:blip r:embed="rId4"/>
          <a:stretch>
            <a:fillRect/>
          </a:stretch>
        </p:blipFill>
        <p:spPr>
          <a:xfrm>
            <a:off x="1732079" y="5240995"/>
            <a:ext cx="128699" cy="187198"/>
          </a:xfrm>
          <a:prstGeom prst="rect">
            <a:avLst/>
          </a:prstGeom>
        </p:spPr>
      </p:pic>
      <p:sp>
        <p:nvSpPr>
          <p:cNvPr id="83" name="TextBox 82"/>
          <p:cNvSpPr txBox="1"/>
          <p:nvPr/>
        </p:nvSpPr>
        <p:spPr>
          <a:xfrm>
            <a:off x="1899574" y="5250774"/>
            <a:ext cx="3083825" cy="186689"/>
          </a:xfrm>
          <a:prstGeom prst="rect">
            <a:avLst/>
          </a:prstGeom>
          <a:noFill/>
        </p:spPr>
        <p:txBody>
          <a:bodyPr wrap="none" lIns="0" rIns="0" tIns="0" bIns="0">
            <a:spAutoFit/>
          </a:bodyPr>
          <a:lstStyle/>
          <a:p>
            <a:r>
              <a:rPr sz="1100" b="0">
                <a:solidFill>
                  <a:srgbClr val="2E2E2E"/>
                </a:solidFill>
                <a:latin typeface="Calibri"/>
              </a:rPr>
              <a:t>CAGR, the fastest of 2 sales channel routes, and adds</a:t>
            </a:r>
          </a:p>
        </p:txBody>
      </p:sp>
      <p:pic>
        <p:nvPicPr>
          <p:cNvPr id="84" name="Picture 83" descr="lock.png"/>
          <p:cNvPicPr>
            <a:picLocks noChangeAspect="1"/>
          </p:cNvPicPr>
          <p:nvPr/>
        </p:nvPicPr>
        <p:blipFill>
          <a:blip r:embed="rId4"/>
          <a:stretch>
            <a:fillRect/>
          </a:stretch>
        </p:blipFill>
        <p:spPr>
          <a:xfrm>
            <a:off x="4931452" y="5240995"/>
            <a:ext cx="128699" cy="187198"/>
          </a:xfrm>
          <a:prstGeom prst="rect">
            <a:avLst/>
          </a:prstGeom>
        </p:spPr>
      </p:pic>
      <p:sp>
        <p:nvSpPr>
          <p:cNvPr id="85" name="TextBox 84"/>
          <p:cNvSpPr txBox="1"/>
          <p:nvPr/>
        </p:nvSpPr>
        <p:spPr>
          <a:xfrm>
            <a:off x="5098948" y="5250774"/>
            <a:ext cx="3665835" cy="186689"/>
          </a:xfrm>
          <a:prstGeom prst="rect">
            <a:avLst/>
          </a:prstGeom>
          <a:noFill/>
        </p:spPr>
        <p:txBody>
          <a:bodyPr wrap="none" lIns="0" rIns="0" tIns="0" bIns="0">
            <a:spAutoFit/>
          </a:bodyPr>
          <a:lstStyle/>
          <a:p>
            <a:r>
              <a:rPr sz="1100" b="0">
                <a:solidFill>
                  <a:srgbClr val="2E2E2E"/>
                </a:solidFill>
                <a:latin typeface="Calibri"/>
              </a:rPr>
              <a:t>US$ Mn over the forecast period while 'Direct Sales' still carries</a:t>
            </a:r>
          </a:p>
        </p:txBody>
      </p:sp>
      <p:pic>
        <p:nvPicPr>
          <p:cNvPr id="86" name="Picture 85" descr="lock.png"/>
          <p:cNvPicPr>
            <a:picLocks noChangeAspect="1"/>
          </p:cNvPicPr>
          <p:nvPr/>
        </p:nvPicPr>
        <p:blipFill>
          <a:blip r:embed="rId4"/>
          <a:stretch>
            <a:fillRect/>
          </a:stretch>
        </p:blipFill>
        <p:spPr>
          <a:xfrm>
            <a:off x="8712834" y="5240995"/>
            <a:ext cx="128699" cy="187198"/>
          </a:xfrm>
          <a:prstGeom prst="rect">
            <a:avLst/>
          </a:prstGeom>
        </p:spPr>
      </p:pic>
      <p:sp>
        <p:nvSpPr>
          <p:cNvPr id="87" name="TextBox 86"/>
          <p:cNvSpPr txBox="1"/>
          <p:nvPr/>
        </p:nvSpPr>
        <p:spPr>
          <a:xfrm>
            <a:off x="8880330" y="5250774"/>
            <a:ext cx="192434" cy="186689"/>
          </a:xfrm>
          <a:prstGeom prst="rect">
            <a:avLst/>
          </a:prstGeom>
          <a:noFill/>
        </p:spPr>
        <p:txBody>
          <a:bodyPr wrap="none" lIns="0" rIns="0" tIns="0" bIns="0">
            <a:spAutoFit/>
          </a:bodyPr>
          <a:lstStyle/>
          <a:p>
            <a:r>
              <a:rPr sz="1100" b="0">
                <a:solidFill>
                  <a:srgbClr val="2E2E2E"/>
                </a:solidFill>
                <a:latin typeface="Calibri"/>
              </a:rPr>
              <a:t>of</a:t>
            </a:r>
          </a:p>
        </p:txBody>
      </p:sp>
      <p:sp>
        <p:nvSpPr>
          <p:cNvPr id="88" name="TextBox 87"/>
          <p:cNvSpPr txBox="1"/>
          <p:nvPr/>
        </p:nvSpPr>
        <p:spPr>
          <a:xfrm>
            <a:off x="190500" y="5418414"/>
            <a:ext cx="7868840" cy="186689"/>
          </a:xfrm>
          <a:prstGeom prst="rect">
            <a:avLst/>
          </a:prstGeom>
          <a:noFill/>
        </p:spPr>
        <p:txBody>
          <a:bodyPr wrap="none" lIns="0" rIns="0" tIns="0" bIns="0">
            <a:spAutoFit/>
          </a:bodyPr>
          <a:lstStyle/>
          <a:p>
            <a:r>
              <a:rPr sz="1100" b="0">
                <a:solidFill>
                  <a:srgbClr val="2E2E2E"/>
                </a:solidFill>
                <a:latin typeface="Calibri"/>
              </a:rPr>
              <a:t>demand today. Pairing the incumbent route for volume with the fastest route for growth and leading with 'Static Cold Storage Devices' at</a:t>
            </a:r>
          </a:p>
        </p:txBody>
      </p:sp>
      <p:pic>
        <p:nvPicPr>
          <p:cNvPr id="89" name="Picture 88" descr="lock.png"/>
          <p:cNvPicPr>
            <a:picLocks noChangeAspect="1"/>
          </p:cNvPicPr>
          <p:nvPr/>
        </p:nvPicPr>
        <p:blipFill>
          <a:blip r:embed="rId4"/>
          <a:stretch>
            <a:fillRect/>
          </a:stretch>
        </p:blipFill>
        <p:spPr>
          <a:xfrm>
            <a:off x="8007392" y="5408635"/>
            <a:ext cx="128699" cy="187198"/>
          </a:xfrm>
          <a:prstGeom prst="rect">
            <a:avLst/>
          </a:prstGeom>
        </p:spPr>
      </p:pic>
      <p:sp>
        <p:nvSpPr>
          <p:cNvPr id="90" name="TextBox 89"/>
          <p:cNvSpPr txBox="1"/>
          <p:nvPr/>
        </p:nvSpPr>
        <p:spPr>
          <a:xfrm>
            <a:off x="8174888" y="5418414"/>
            <a:ext cx="1145505" cy="186689"/>
          </a:xfrm>
          <a:prstGeom prst="rect">
            <a:avLst/>
          </a:prstGeom>
          <a:noFill/>
        </p:spPr>
        <p:txBody>
          <a:bodyPr wrap="none" lIns="0" rIns="0" tIns="0" bIns="0">
            <a:spAutoFit/>
          </a:bodyPr>
          <a:lstStyle/>
          <a:p>
            <a:r>
              <a:rPr sz="1100" b="0">
                <a:solidFill>
                  <a:srgbClr val="2E2E2E"/>
                </a:solidFill>
                <a:latin typeface="Calibri"/>
              </a:rPr>
              <a:t>is the highest-yield</a:t>
            </a:r>
          </a:p>
        </p:txBody>
      </p:sp>
      <p:sp>
        <p:nvSpPr>
          <p:cNvPr id="91" name="TextBox 90"/>
          <p:cNvSpPr txBox="1"/>
          <p:nvPr/>
        </p:nvSpPr>
        <p:spPr>
          <a:xfrm>
            <a:off x="190500" y="5586054"/>
            <a:ext cx="2036638" cy="186689"/>
          </a:xfrm>
          <a:prstGeom prst="rect">
            <a:avLst/>
          </a:prstGeom>
          <a:noFill/>
        </p:spPr>
        <p:txBody>
          <a:bodyPr wrap="none" lIns="0" rIns="0" tIns="0" bIns="0">
            <a:spAutoFit/>
          </a:bodyPr>
          <a:lstStyle/>
          <a:p>
            <a:r>
              <a:rPr sz="1100" b="0">
                <a:solidFill>
                  <a:srgbClr val="2E2E2E"/>
                </a:solidFill>
                <a:latin typeface="Calibri"/>
              </a:rPr>
              <a:t>combination the dataset supports.</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Global Organ Transport Devices Market Recent Developments &amp; Milestones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Recent developments and milestones shaping the global market, by year</a:t>
            </a:r>
          </a:p>
        </p:txBody>
      </p:sp>
      <p:sp>
        <p:nvSpPr>
          <p:cNvPr id="10" name="Rectangle 9"/>
          <p:cNvSpPr/>
          <p:nvPr/>
        </p:nvSpPr>
        <p:spPr>
          <a:xfrm>
            <a:off x="142875" y="1025515"/>
            <a:ext cx="11906250" cy="292059"/>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2875" y="1025515"/>
            <a:ext cx="1428750" cy="292059"/>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2" name="TextBox 11"/>
          <p:cNvSpPr txBox="1"/>
          <p:nvPr/>
        </p:nvSpPr>
        <p:spPr>
          <a:xfrm>
            <a:off x="1714500" y="1025515"/>
            <a:ext cx="10239375" cy="292059"/>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3" name="Rectangle 12"/>
          <p:cNvSpPr/>
          <p:nvPr/>
        </p:nvSpPr>
        <p:spPr>
          <a:xfrm>
            <a:off x="142875" y="1317574"/>
            <a:ext cx="11906250" cy="1296013"/>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1317574"/>
            <a:ext cx="1428750" cy="1296013"/>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5" name="Connector 14"/>
          <p:cNvCxnSpPr/>
          <p:nvPr/>
        </p:nvCxnSpPr>
        <p:spPr>
          <a:xfrm>
            <a:off x="1571625" y="1317574"/>
            <a:ext cx="0" cy="1296013"/>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714500" y="1668957"/>
            <a:ext cx="102108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7" name="Rectangle 16"/>
          <p:cNvSpPr/>
          <p:nvPr/>
        </p:nvSpPr>
        <p:spPr>
          <a:xfrm>
            <a:off x="142875" y="26135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875" y="26135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19" name="Connector 18"/>
          <p:cNvCxnSpPr/>
          <p:nvPr/>
        </p:nvCxnSpPr>
        <p:spPr>
          <a:xfrm>
            <a:off x="1571625" y="26135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714500" y="2905646"/>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1" name="Rectangle 20"/>
          <p:cNvSpPr/>
          <p:nvPr/>
        </p:nvSpPr>
        <p:spPr>
          <a:xfrm>
            <a:off x="142875" y="35992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875" y="35992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2035</a:t>
            </a:r>
          </a:p>
        </p:txBody>
      </p:sp>
      <p:cxnSp>
        <p:nvCxnSpPr>
          <p:cNvPr id="23" name="Connector 22"/>
          <p:cNvCxnSpPr/>
          <p:nvPr/>
        </p:nvCxnSpPr>
        <p:spPr>
          <a:xfrm>
            <a:off x="1571625" y="35992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14500" y="38913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Rectangle 24"/>
          <p:cNvSpPr/>
          <p:nvPr/>
        </p:nvSpPr>
        <p:spPr>
          <a:xfrm>
            <a:off x="142875" y="4584986"/>
            <a:ext cx="11906250" cy="985700"/>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875" y="45849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7" name="Connector 26"/>
          <p:cNvCxnSpPr/>
          <p:nvPr/>
        </p:nvCxnSpPr>
        <p:spPr>
          <a:xfrm>
            <a:off x="1571625" y="45849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14500" y="48770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9" name="Rectangle 28"/>
          <p:cNvSpPr/>
          <p:nvPr/>
        </p:nvSpPr>
        <p:spPr>
          <a:xfrm>
            <a:off x="142875" y="5570686"/>
            <a:ext cx="11906250" cy="985700"/>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2875" y="5570686"/>
            <a:ext cx="1428750" cy="985700"/>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1" name="Connector 30"/>
          <p:cNvCxnSpPr/>
          <p:nvPr/>
        </p:nvCxnSpPr>
        <p:spPr>
          <a:xfrm>
            <a:off x="1571625" y="5570686"/>
            <a:ext cx="0" cy="985700"/>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714500" y="5862745"/>
            <a:ext cx="102108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TextBox 3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34" name="TextBox 33"/>
          <p:cNvSpPr txBox="1"/>
          <p:nvPr/>
        </p:nvSpPr>
        <p:spPr>
          <a:xfrm>
            <a:off x="1743075" y="1797939"/>
            <a:ext cx="3516585" cy="186689"/>
          </a:xfrm>
          <a:prstGeom prst="rect">
            <a:avLst/>
          </a:prstGeom>
          <a:noFill/>
        </p:spPr>
        <p:txBody>
          <a:bodyPr wrap="none" lIns="0" rIns="0" tIns="0" bIns="0">
            <a:spAutoFit/>
          </a:bodyPr>
          <a:lstStyle/>
          <a:p>
            <a:r>
              <a:rPr sz="1100" b="0">
                <a:solidFill>
                  <a:srgbClr val="2E2E2E"/>
                </a:solidFill>
                <a:latin typeface="Calibri"/>
              </a:rPr>
              <a:t>Strongest historical expansion on record: Global value rose +</a:t>
            </a:r>
          </a:p>
        </p:txBody>
      </p:sp>
      <p:pic>
        <p:nvPicPr>
          <p:cNvPr id="35" name="Picture 34" descr="lock.png"/>
          <p:cNvPicPr>
            <a:picLocks noChangeAspect="1"/>
          </p:cNvPicPr>
          <p:nvPr/>
        </p:nvPicPr>
        <p:blipFill>
          <a:blip r:embed="rId4"/>
          <a:stretch>
            <a:fillRect/>
          </a:stretch>
        </p:blipFill>
        <p:spPr>
          <a:xfrm>
            <a:off x="5207711" y="1788160"/>
            <a:ext cx="128699" cy="187198"/>
          </a:xfrm>
          <a:prstGeom prst="rect">
            <a:avLst/>
          </a:prstGeom>
        </p:spPr>
      </p:pic>
      <p:sp>
        <p:nvSpPr>
          <p:cNvPr id="36" name="TextBox 35"/>
          <p:cNvSpPr txBox="1"/>
          <p:nvPr/>
        </p:nvSpPr>
        <p:spPr>
          <a:xfrm>
            <a:off x="5375207" y="1797939"/>
            <a:ext cx="935955" cy="186689"/>
          </a:xfrm>
          <a:prstGeom prst="rect">
            <a:avLst/>
          </a:prstGeom>
          <a:noFill/>
        </p:spPr>
        <p:txBody>
          <a:bodyPr wrap="none" lIns="0" rIns="0" tIns="0" bIns="0">
            <a:spAutoFit/>
          </a:bodyPr>
          <a:lstStyle/>
          <a:p>
            <a:r>
              <a:rPr sz="1100" b="0">
                <a:solidFill>
                  <a:srgbClr val="2E2E2E"/>
                </a:solidFill>
                <a:latin typeface="Calibri"/>
              </a:rPr>
              <a:t>year on year to</a:t>
            </a:r>
          </a:p>
        </p:txBody>
      </p:sp>
      <p:pic>
        <p:nvPicPr>
          <p:cNvPr id="37" name="Picture 36" descr="lock.png"/>
          <p:cNvPicPr>
            <a:picLocks noChangeAspect="1"/>
          </p:cNvPicPr>
          <p:nvPr/>
        </p:nvPicPr>
        <p:blipFill>
          <a:blip r:embed="rId4"/>
          <a:stretch>
            <a:fillRect/>
          </a:stretch>
        </p:blipFill>
        <p:spPr>
          <a:xfrm>
            <a:off x="6259214" y="1788160"/>
            <a:ext cx="128699" cy="187198"/>
          </a:xfrm>
          <a:prstGeom prst="rect">
            <a:avLst/>
          </a:prstGeom>
        </p:spPr>
      </p:pic>
      <p:sp>
        <p:nvSpPr>
          <p:cNvPr id="38" name="TextBox 37"/>
          <p:cNvSpPr txBox="1"/>
          <p:nvPr/>
        </p:nvSpPr>
        <p:spPr>
          <a:xfrm>
            <a:off x="6426710" y="1797939"/>
            <a:ext cx="5030638" cy="186689"/>
          </a:xfrm>
          <a:prstGeom prst="rect">
            <a:avLst/>
          </a:prstGeom>
          <a:noFill/>
        </p:spPr>
        <p:txBody>
          <a:bodyPr wrap="none" lIns="0" rIns="0" tIns="0" bIns="0">
            <a:spAutoFit/>
          </a:bodyPr>
          <a:lstStyle/>
          <a:p>
            <a:r>
              <a:rPr sz="1100" b="0">
                <a:solidFill>
                  <a:srgbClr val="2E2E2E"/>
                </a:solidFill>
                <a:latin typeface="Calibri"/>
              </a:rPr>
              <a:t>US$ Mn, the steepest single-year move of the 2021–2025 period. Demand for 'Portable</a:t>
            </a:r>
          </a:p>
        </p:txBody>
      </p:sp>
      <p:sp>
        <p:nvSpPr>
          <p:cNvPr id="39" name="TextBox 38"/>
          <p:cNvSpPr txBox="1"/>
          <p:nvPr/>
        </p:nvSpPr>
        <p:spPr>
          <a:xfrm>
            <a:off x="1743075" y="1965579"/>
            <a:ext cx="1639093" cy="186689"/>
          </a:xfrm>
          <a:prstGeom prst="rect">
            <a:avLst/>
          </a:prstGeom>
          <a:noFill/>
        </p:spPr>
        <p:txBody>
          <a:bodyPr wrap="none" lIns="0" rIns="0" tIns="0" bIns="0">
            <a:spAutoFit/>
          </a:bodyPr>
          <a:lstStyle/>
          <a:p>
            <a:r>
              <a:rPr sz="1100" b="0">
                <a:solidFill>
                  <a:srgbClr val="2E2E2E"/>
                </a:solidFill>
                <a:latin typeface="Calibri"/>
              </a:rPr>
              <a:t>Machine Perfusion Devices'</a:t>
            </a:r>
          </a:p>
        </p:txBody>
      </p:sp>
      <p:pic>
        <p:nvPicPr>
          <p:cNvPr id="40" name="Picture 39" descr="lock.png"/>
          <p:cNvPicPr>
            <a:picLocks noChangeAspect="1"/>
          </p:cNvPicPr>
          <p:nvPr/>
        </p:nvPicPr>
        <p:blipFill>
          <a:blip r:embed="rId4"/>
          <a:stretch>
            <a:fillRect/>
          </a:stretch>
        </p:blipFill>
        <p:spPr>
          <a:xfrm>
            <a:off x="3330220" y="1955800"/>
            <a:ext cx="128699" cy="187198"/>
          </a:xfrm>
          <a:prstGeom prst="rect">
            <a:avLst/>
          </a:prstGeom>
        </p:spPr>
      </p:pic>
      <p:sp>
        <p:nvSpPr>
          <p:cNvPr id="41" name="TextBox 40"/>
          <p:cNvSpPr txBox="1"/>
          <p:nvPr/>
        </p:nvSpPr>
        <p:spPr>
          <a:xfrm>
            <a:off x="3497716" y="1965579"/>
            <a:ext cx="7416998" cy="186689"/>
          </a:xfrm>
          <a:prstGeom prst="rect">
            <a:avLst/>
          </a:prstGeom>
          <a:noFill/>
        </p:spPr>
        <p:txBody>
          <a:bodyPr wrap="none" lIns="0" rIns="0" tIns="0" bIns="0">
            <a:spAutoFit/>
          </a:bodyPr>
          <a:lstStyle/>
          <a:p>
            <a:r>
              <a:rPr sz="1100" b="0">
                <a:solidFill>
                  <a:srgbClr val="2E2E2E"/>
                </a:solidFill>
                <a:latin typeface="Calibri"/>
              </a:rPr>
              <a:t>of device technology value by 2036 set the pace, and the 2 sales channel routes tracked here all carried volume through the year.</a:t>
            </a:r>
          </a:p>
        </p:txBody>
      </p:sp>
      <p:sp>
        <p:nvSpPr>
          <p:cNvPr id="42" name="TextBox 41"/>
          <p:cNvSpPr txBox="1"/>
          <p:nvPr/>
        </p:nvSpPr>
        <p:spPr>
          <a:xfrm>
            <a:off x="1743075" y="2945502"/>
            <a:ext cx="3340465" cy="179984"/>
          </a:xfrm>
          <a:prstGeom prst="rect">
            <a:avLst/>
          </a:prstGeom>
          <a:noFill/>
        </p:spPr>
        <p:txBody>
          <a:bodyPr wrap="none" lIns="0" rIns="0" tIns="0" bIns="0">
            <a:spAutoFit/>
          </a:bodyPr>
          <a:lstStyle/>
          <a:p>
            <a:r>
              <a:rPr sz="1055" b="0">
                <a:solidFill>
                  <a:srgbClr val="2E2E2E"/>
                </a:solidFill>
                <a:latin typeface="Calibri"/>
              </a:rPr>
              <a:t>Base year for the forecast: the global market is estimated at</a:t>
            </a:r>
          </a:p>
        </p:txBody>
      </p:sp>
      <p:pic>
        <p:nvPicPr>
          <p:cNvPr id="43" name="Picture 42" descr="lock.png"/>
          <p:cNvPicPr>
            <a:picLocks noChangeAspect="1"/>
          </p:cNvPicPr>
          <p:nvPr/>
        </p:nvPicPr>
        <p:blipFill>
          <a:blip r:embed="rId4"/>
          <a:stretch>
            <a:fillRect/>
          </a:stretch>
        </p:blipFill>
        <p:spPr>
          <a:xfrm>
            <a:off x="5030621" y="2936114"/>
            <a:ext cx="123551" cy="179710"/>
          </a:xfrm>
          <a:prstGeom prst="rect">
            <a:avLst/>
          </a:prstGeom>
        </p:spPr>
      </p:pic>
      <p:sp>
        <p:nvSpPr>
          <p:cNvPr id="44" name="TextBox 43"/>
          <p:cNvSpPr txBox="1"/>
          <p:nvPr/>
        </p:nvSpPr>
        <p:spPr>
          <a:xfrm>
            <a:off x="5191417" y="2945502"/>
            <a:ext cx="1825680" cy="179984"/>
          </a:xfrm>
          <a:prstGeom prst="rect">
            <a:avLst/>
          </a:prstGeom>
          <a:noFill/>
        </p:spPr>
        <p:txBody>
          <a:bodyPr wrap="none" lIns="0" rIns="0" tIns="0" bIns="0">
            <a:spAutoFit/>
          </a:bodyPr>
          <a:lstStyle/>
          <a:p>
            <a:r>
              <a:rPr sz="1055" b="0">
                <a:solidFill>
                  <a:srgbClr val="2E2E2E"/>
                </a:solidFill>
                <a:latin typeface="Calibri"/>
              </a:rPr>
              <a:t>US$ Mn, having compounded at</a:t>
            </a:r>
          </a:p>
        </p:txBody>
      </p:sp>
      <p:pic>
        <p:nvPicPr>
          <p:cNvPr id="45" name="Picture 44" descr="lock.png"/>
          <p:cNvPicPr>
            <a:picLocks noChangeAspect="1"/>
          </p:cNvPicPr>
          <p:nvPr/>
        </p:nvPicPr>
        <p:blipFill>
          <a:blip r:embed="rId4"/>
          <a:stretch>
            <a:fillRect/>
          </a:stretch>
        </p:blipFill>
        <p:spPr>
          <a:xfrm>
            <a:off x="6964179" y="2936114"/>
            <a:ext cx="123551" cy="179710"/>
          </a:xfrm>
          <a:prstGeom prst="rect">
            <a:avLst/>
          </a:prstGeom>
        </p:spPr>
      </p:pic>
      <p:sp>
        <p:nvSpPr>
          <p:cNvPr id="46" name="TextBox 45"/>
          <p:cNvSpPr txBox="1"/>
          <p:nvPr/>
        </p:nvSpPr>
        <p:spPr>
          <a:xfrm>
            <a:off x="7124975" y="2945502"/>
            <a:ext cx="2310788" cy="179984"/>
          </a:xfrm>
          <a:prstGeom prst="rect">
            <a:avLst/>
          </a:prstGeom>
          <a:noFill/>
        </p:spPr>
        <p:txBody>
          <a:bodyPr wrap="none" lIns="0" rIns="0" tIns="0" bIns="0">
            <a:spAutoFit/>
          </a:bodyPr>
          <a:lstStyle/>
          <a:p>
            <a:r>
              <a:rPr sz="1055" b="0">
                <a:solidFill>
                  <a:srgbClr val="2E2E2E"/>
                </a:solidFill>
                <a:latin typeface="Calibri"/>
              </a:rPr>
              <a:t>across 2021–2025. 'North America' holds</a:t>
            </a:r>
          </a:p>
        </p:txBody>
      </p:sp>
      <p:pic>
        <p:nvPicPr>
          <p:cNvPr id="47" name="Picture 46" descr="lock.png"/>
          <p:cNvPicPr>
            <a:picLocks noChangeAspect="1"/>
          </p:cNvPicPr>
          <p:nvPr/>
        </p:nvPicPr>
        <p:blipFill>
          <a:blip r:embed="rId4"/>
          <a:stretch>
            <a:fillRect/>
          </a:stretch>
        </p:blipFill>
        <p:spPr>
          <a:xfrm>
            <a:off x="9382846" y="2936114"/>
            <a:ext cx="123551" cy="179710"/>
          </a:xfrm>
          <a:prstGeom prst="rect">
            <a:avLst/>
          </a:prstGeom>
        </p:spPr>
      </p:pic>
      <p:sp>
        <p:nvSpPr>
          <p:cNvPr id="48" name="TextBox 47"/>
          <p:cNvSpPr txBox="1"/>
          <p:nvPr/>
        </p:nvSpPr>
        <p:spPr>
          <a:xfrm>
            <a:off x="9543642" y="2945502"/>
            <a:ext cx="1896665" cy="179984"/>
          </a:xfrm>
          <a:prstGeom prst="rect">
            <a:avLst/>
          </a:prstGeom>
          <a:noFill/>
        </p:spPr>
        <p:txBody>
          <a:bodyPr wrap="none" lIns="0" rIns="0" tIns="0" bIns="0">
            <a:spAutoFit/>
          </a:bodyPr>
          <a:lstStyle/>
          <a:p>
            <a:r>
              <a:rPr sz="1055" b="0">
                <a:solidFill>
                  <a:srgbClr val="2E2E2E"/>
                </a:solidFill>
                <a:latin typeface="Calibri"/>
              </a:rPr>
              <a:t>of value across 6 regions, and the</a:t>
            </a:r>
          </a:p>
        </p:txBody>
      </p:sp>
      <p:sp>
        <p:nvSpPr>
          <p:cNvPr id="49" name="TextBox 48"/>
          <p:cNvSpPr txBox="1"/>
          <p:nvPr/>
        </p:nvSpPr>
        <p:spPr>
          <a:xfrm>
            <a:off x="1743075" y="3106436"/>
            <a:ext cx="4437721" cy="179984"/>
          </a:xfrm>
          <a:prstGeom prst="rect">
            <a:avLst/>
          </a:prstGeom>
          <a:noFill/>
        </p:spPr>
        <p:txBody>
          <a:bodyPr wrap="none" lIns="0" rIns="0" tIns="0" bIns="0">
            <a:spAutoFit/>
          </a:bodyPr>
          <a:lstStyle/>
          <a:p>
            <a:r>
              <a:rPr sz="1055" b="0">
                <a:solidFill>
                  <a:srgbClr val="2E2E2E"/>
                </a:solidFill>
                <a:latin typeface="Calibri"/>
              </a:rPr>
              <a:t>forecast is built from 9 segment breakdowns covering 2 device technology lines.</a:t>
            </a:r>
          </a:p>
        </p:txBody>
      </p:sp>
      <p:sp>
        <p:nvSpPr>
          <p:cNvPr id="50" name="TextBox 49"/>
          <p:cNvSpPr txBox="1"/>
          <p:nvPr/>
        </p:nvSpPr>
        <p:spPr>
          <a:xfrm>
            <a:off x="1743075" y="3931201"/>
            <a:ext cx="1089374" cy="179984"/>
          </a:xfrm>
          <a:prstGeom prst="rect">
            <a:avLst/>
          </a:prstGeom>
          <a:noFill/>
        </p:spPr>
        <p:txBody>
          <a:bodyPr wrap="none" lIns="0" rIns="0" tIns="0" bIns="0">
            <a:spAutoFit/>
          </a:bodyPr>
          <a:lstStyle/>
          <a:p>
            <a:r>
              <a:rPr sz="1055" b="0">
                <a:solidFill>
                  <a:srgbClr val="2E2E2E"/>
                </a:solidFill>
                <a:latin typeface="Calibri"/>
              </a:rPr>
              <a:t>The market passes</a:t>
            </a:r>
          </a:p>
        </p:txBody>
      </p:sp>
      <p:pic>
        <p:nvPicPr>
          <p:cNvPr id="51" name="Picture 50" descr="lock.png"/>
          <p:cNvPicPr>
            <a:picLocks noChangeAspect="1"/>
          </p:cNvPicPr>
          <p:nvPr/>
        </p:nvPicPr>
        <p:blipFill>
          <a:blip r:embed="rId4"/>
          <a:stretch>
            <a:fillRect/>
          </a:stretch>
        </p:blipFill>
        <p:spPr>
          <a:xfrm>
            <a:off x="2779530" y="3921813"/>
            <a:ext cx="123551" cy="179710"/>
          </a:xfrm>
          <a:prstGeom prst="rect">
            <a:avLst/>
          </a:prstGeom>
        </p:spPr>
      </p:pic>
      <p:sp>
        <p:nvSpPr>
          <p:cNvPr id="52" name="TextBox 51"/>
          <p:cNvSpPr txBox="1"/>
          <p:nvPr/>
        </p:nvSpPr>
        <p:spPr>
          <a:xfrm>
            <a:off x="2940326" y="3931201"/>
            <a:ext cx="2945201" cy="179984"/>
          </a:xfrm>
          <a:prstGeom prst="rect">
            <a:avLst/>
          </a:prstGeom>
          <a:noFill/>
        </p:spPr>
        <p:txBody>
          <a:bodyPr wrap="none" lIns="0" rIns="0" tIns="0" bIns="0">
            <a:spAutoFit/>
          </a:bodyPr>
          <a:lstStyle/>
          <a:p>
            <a:r>
              <a:rPr sz="1055" b="0">
                <a:solidFill>
                  <a:srgbClr val="2E2E2E"/>
                </a:solidFill>
                <a:latin typeface="Calibri"/>
              </a:rPr>
              <a:t>US$ Mn one and a half times the 2026 base reaching</a:t>
            </a:r>
          </a:p>
        </p:txBody>
      </p:sp>
      <p:pic>
        <p:nvPicPr>
          <p:cNvPr id="53" name="Picture 52" descr="lock.png"/>
          <p:cNvPicPr>
            <a:picLocks noChangeAspect="1"/>
          </p:cNvPicPr>
          <p:nvPr/>
        </p:nvPicPr>
        <p:blipFill>
          <a:blip r:embed="rId4"/>
          <a:stretch>
            <a:fillRect/>
          </a:stretch>
        </p:blipFill>
        <p:spPr>
          <a:xfrm>
            <a:off x="5832609" y="3921813"/>
            <a:ext cx="123551" cy="179710"/>
          </a:xfrm>
          <a:prstGeom prst="rect">
            <a:avLst/>
          </a:prstGeom>
        </p:spPr>
      </p:pic>
      <p:sp>
        <p:nvSpPr>
          <p:cNvPr id="54" name="TextBox 53"/>
          <p:cNvSpPr txBox="1"/>
          <p:nvPr/>
        </p:nvSpPr>
        <p:spPr>
          <a:xfrm>
            <a:off x="5993405" y="3931201"/>
            <a:ext cx="3870626" cy="179984"/>
          </a:xfrm>
          <a:prstGeom prst="rect">
            <a:avLst/>
          </a:prstGeom>
          <a:noFill/>
        </p:spPr>
        <p:txBody>
          <a:bodyPr wrap="none" lIns="0" rIns="0" tIns="0" bIns="0">
            <a:spAutoFit/>
          </a:bodyPr>
          <a:lstStyle/>
          <a:p>
            <a:r>
              <a:rPr sz="1055" b="0">
                <a:solidFill>
                  <a:srgbClr val="2E2E2E"/>
                </a:solidFill>
                <a:latin typeface="Calibri"/>
              </a:rPr>
              <a:t>US$ Mn. Growth by this point is led by 'Static Cold Storage Devices' at</a:t>
            </a:r>
          </a:p>
        </p:txBody>
      </p:sp>
      <p:pic>
        <p:nvPicPr>
          <p:cNvPr id="55" name="Picture 54" descr="lock.png"/>
          <p:cNvPicPr>
            <a:picLocks noChangeAspect="1"/>
          </p:cNvPicPr>
          <p:nvPr/>
        </p:nvPicPr>
        <p:blipFill>
          <a:blip r:embed="rId4"/>
          <a:stretch>
            <a:fillRect/>
          </a:stretch>
        </p:blipFill>
        <p:spPr>
          <a:xfrm>
            <a:off x="9811113" y="3921813"/>
            <a:ext cx="123551" cy="179710"/>
          </a:xfrm>
          <a:prstGeom prst="rect">
            <a:avLst/>
          </a:prstGeom>
        </p:spPr>
      </p:pic>
      <p:sp>
        <p:nvSpPr>
          <p:cNvPr id="56" name="TextBox 55"/>
          <p:cNvSpPr txBox="1"/>
          <p:nvPr/>
        </p:nvSpPr>
        <p:spPr>
          <a:xfrm>
            <a:off x="9971909" y="3931201"/>
            <a:ext cx="1535175" cy="179984"/>
          </a:xfrm>
          <a:prstGeom prst="rect">
            <a:avLst/>
          </a:prstGeom>
          <a:noFill/>
        </p:spPr>
        <p:txBody>
          <a:bodyPr wrap="none" lIns="0" rIns="0" tIns="0" bIns="0">
            <a:spAutoFit/>
          </a:bodyPr>
          <a:lstStyle/>
          <a:p>
            <a:r>
              <a:rPr sz="1055" b="0">
                <a:solidFill>
                  <a:srgbClr val="2E2E2E"/>
                </a:solidFill>
                <a:latin typeface="Calibri"/>
              </a:rPr>
              <a:t>CAGR and by 'South Asia &amp;</a:t>
            </a:r>
          </a:p>
        </p:txBody>
      </p:sp>
      <p:sp>
        <p:nvSpPr>
          <p:cNvPr id="57" name="TextBox 56"/>
          <p:cNvSpPr txBox="1"/>
          <p:nvPr/>
        </p:nvSpPr>
        <p:spPr>
          <a:xfrm>
            <a:off x="1743075" y="4092135"/>
            <a:ext cx="1433036" cy="179984"/>
          </a:xfrm>
          <a:prstGeom prst="rect">
            <a:avLst/>
          </a:prstGeom>
          <a:noFill/>
        </p:spPr>
        <p:txBody>
          <a:bodyPr wrap="none" lIns="0" rIns="0" tIns="0" bIns="0">
            <a:spAutoFit/>
          </a:bodyPr>
          <a:lstStyle/>
          <a:p>
            <a:r>
              <a:rPr sz="1055" b="0">
                <a:solidFill>
                  <a:srgbClr val="2E2E2E"/>
                </a:solidFill>
                <a:latin typeface="Calibri"/>
              </a:rPr>
              <a:t>Pacific' among regions at</a:t>
            </a:r>
          </a:p>
        </p:txBody>
      </p:sp>
      <p:pic>
        <p:nvPicPr>
          <p:cNvPr id="58" name="Picture 57" descr="lock.png"/>
          <p:cNvPicPr>
            <a:picLocks noChangeAspect="1"/>
          </p:cNvPicPr>
          <p:nvPr/>
        </p:nvPicPr>
        <p:blipFill>
          <a:blip r:embed="rId4"/>
          <a:stretch>
            <a:fillRect/>
          </a:stretch>
        </p:blipFill>
        <p:spPr>
          <a:xfrm>
            <a:off x="3123192" y="4082747"/>
            <a:ext cx="123551" cy="179710"/>
          </a:xfrm>
          <a:prstGeom prst="rect">
            <a:avLst/>
          </a:prstGeom>
        </p:spPr>
      </p:pic>
      <p:sp>
        <p:nvSpPr>
          <p:cNvPr id="59" name="TextBox 58"/>
          <p:cNvSpPr txBox="1"/>
          <p:nvPr/>
        </p:nvSpPr>
        <p:spPr>
          <a:xfrm>
            <a:off x="3283988" y="4092135"/>
            <a:ext cx="3178063" cy="179984"/>
          </a:xfrm>
          <a:prstGeom prst="rect">
            <a:avLst/>
          </a:prstGeom>
          <a:noFill/>
        </p:spPr>
        <p:txBody>
          <a:bodyPr wrap="none" lIns="0" rIns="0" tIns="0" bIns="0">
            <a:spAutoFit/>
          </a:bodyPr>
          <a:lstStyle/>
          <a:p>
            <a:r>
              <a:rPr sz="1055" b="0">
                <a:solidFill>
                  <a:srgbClr val="2E2E2E"/>
                </a:solidFill>
                <a:latin typeface="Calibri"/>
              </a:rPr>
              <a:t>, with 3 of 6 regions running at or above the market rate.</a:t>
            </a:r>
          </a:p>
        </p:txBody>
      </p:sp>
      <p:sp>
        <p:nvSpPr>
          <p:cNvPr id="60" name="TextBox 59"/>
          <p:cNvSpPr txBox="1"/>
          <p:nvPr/>
        </p:nvSpPr>
        <p:spPr>
          <a:xfrm>
            <a:off x="1743075" y="4916901"/>
            <a:ext cx="2190297" cy="179984"/>
          </a:xfrm>
          <a:prstGeom prst="rect">
            <a:avLst/>
          </a:prstGeom>
          <a:noFill/>
        </p:spPr>
        <p:txBody>
          <a:bodyPr wrap="none" lIns="0" rIns="0" tIns="0" bIns="0">
            <a:spAutoFit/>
          </a:bodyPr>
          <a:lstStyle/>
          <a:p>
            <a:r>
              <a:rPr sz="1055" b="0">
                <a:solidFill>
                  <a:srgbClr val="2E2E2E"/>
                </a:solidFill>
                <a:latin typeface="Calibri"/>
              </a:rPr>
              <a:t>Mid-horizon checkpoint: value reaches</a:t>
            </a:r>
          </a:p>
        </p:txBody>
      </p:sp>
      <p:pic>
        <p:nvPicPr>
          <p:cNvPr id="61" name="Picture 60" descr="lock.png"/>
          <p:cNvPicPr>
            <a:picLocks noChangeAspect="1"/>
          </p:cNvPicPr>
          <p:nvPr/>
        </p:nvPicPr>
        <p:blipFill>
          <a:blip r:embed="rId4"/>
          <a:stretch>
            <a:fillRect/>
          </a:stretch>
        </p:blipFill>
        <p:spPr>
          <a:xfrm>
            <a:off x="3880454" y="4907513"/>
            <a:ext cx="123551" cy="179710"/>
          </a:xfrm>
          <a:prstGeom prst="rect">
            <a:avLst/>
          </a:prstGeom>
        </p:spPr>
      </p:pic>
      <p:sp>
        <p:nvSpPr>
          <p:cNvPr id="62" name="TextBox 61"/>
          <p:cNvSpPr txBox="1"/>
          <p:nvPr/>
        </p:nvSpPr>
        <p:spPr>
          <a:xfrm>
            <a:off x="4041250" y="4916901"/>
            <a:ext cx="541139" cy="179984"/>
          </a:xfrm>
          <a:prstGeom prst="rect">
            <a:avLst/>
          </a:prstGeom>
          <a:noFill/>
        </p:spPr>
        <p:txBody>
          <a:bodyPr wrap="none" lIns="0" rIns="0" tIns="0" bIns="0">
            <a:spAutoFit/>
          </a:bodyPr>
          <a:lstStyle/>
          <a:p>
            <a:r>
              <a:rPr sz="1055" b="0">
                <a:solidFill>
                  <a:srgbClr val="2E2E2E"/>
                </a:solidFill>
                <a:latin typeface="Calibri"/>
              </a:rPr>
              <a:t>US$ Mn,</a:t>
            </a:r>
          </a:p>
        </p:txBody>
      </p:sp>
      <p:pic>
        <p:nvPicPr>
          <p:cNvPr id="63" name="Picture 62" descr="lock.png"/>
          <p:cNvPicPr>
            <a:picLocks noChangeAspect="1"/>
          </p:cNvPicPr>
          <p:nvPr/>
        </p:nvPicPr>
        <p:blipFill>
          <a:blip r:embed="rId4"/>
          <a:stretch>
            <a:fillRect/>
          </a:stretch>
        </p:blipFill>
        <p:spPr>
          <a:xfrm>
            <a:off x="4529470" y="4907513"/>
            <a:ext cx="123551" cy="179710"/>
          </a:xfrm>
          <a:prstGeom prst="rect">
            <a:avLst/>
          </a:prstGeom>
        </p:spPr>
      </p:pic>
      <p:sp>
        <p:nvSpPr>
          <p:cNvPr id="64" name="TextBox 63"/>
          <p:cNvSpPr txBox="1"/>
          <p:nvPr/>
        </p:nvSpPr>
        <p:spPr>
          <a:xfrm>
            <a:off x="4690266" y="4916901"/>
            <a:ext cx="2581333" cy="179984"/>
          </a:xfrm>
          <a:prstGeom prst="rect">
            <a:avLst/>
          </a:prstGeom>
          <a:noFill/>
        </p:spPr>
        <p:txBody>
          <a:bodyPr wrap="none" lIns="0" rIns="0" tIns="0" bIns="0">
            <a:spAutoFit/>
          </a:bodyPr>
          <a:lstStyle/>
          <a:p>
            <a:r>
              <a:rPr sz="1055" b="0">
                <a:solidFill>
                  <a:srgbClr val="2E2E2E"/>
                </a:solidFill>
                <a:latin typeface="Calibri"/>
              </a:rPr>
              <a:t>× the 2026 base. Average realisation stands at</a:t>
            </a:r>
          </a:p>
        </p:txBody>
      </p:sp>
      <p:pic>
        <p:nvPicPr>
          <p:cNvPr id="65" name="Picture 64" descr="lock.png"/>
          <p:cNvPicPr>
            <a:picLocks noChangeAspect="1"/>
          </p:cNvPicPr>
          <p:nvPr/>
        </p:nvPicPr>
        <p:blipFill>
          <a:blip r:embed="rId4"/>
          <a:stretch>
            <a:fillRect/>
          </a:stretch>
        </p:blipFill>
        <p:spPr>
          <a:xfrm>
            <a:off x="7218681" y="4907513"/>
            <a:ext cx="123551" cy="179710"/>
          </a:xfrm>
          <a:prstGeom prst="rect">
            <a:avLst/>
          </a:prstGeom>
        </p:spPr>
      </p:pic>
      <p:sp>
        <p:nvSpPr>
          <p:cNvPr id="66" name="TextBox 65"/>
          <p:cNvSpPr txBox="1"/>
          <p:nvPr/>
        </p:nvSpPr>
        <p:spPr>
          <a:xfrm>
            <a:off x="7379477" y="4916901"/>
            <a:ext cx="1845063" cy="179984"/>
          </a:xfrm>
          <a:prstGeom prst="rect">
            <a:avLst/>
          </a:prstGeom>
          <a:noFill/>
        </p:spPr>
        <p:txBody>
          <a:bodyPr wrap="none" lIns="0" rIns="0" tIns="0" bIns="0">
            <a:spAutoFit/>
          </a:bodyPr>
          <a:lstStyle/>
          <a:p>
            <a:r>
              <a:rPr sz="1055" b="0">
                <a:solidFill>
                  <a:srgbClr val="2E2E2E"/>
                </a:solidFill>
                <a:latin typeface="Calibri"/>
              </a:rPr>
              <a:t>US$/Units, and mix has moved +</a:t>
            </a:r>
          </a:p>
        </p:txBody>
      </p:sp>
      <p:pic>
        <p:nvPicPr>
          <p:cNvPr id="67" name="Picture 66" descr="lock.png"/>
          <p:cNvPicPr>
            <a:picLocks noChangeAspect="1"/>
          </p:cNvPicPr>
          <p:nvPr/>
        </p:nvPicPr>
        <p:blipFill>
          <a:blip r:embed="rId4"/>
          <a:stretch>
            <a:fillRect/>
          </a:stretch>
        </p:blipFill>
        <p:spPr>
          <a:xfrm>
            <a:off x="9171623" y="4907513"/>
            <a:ext cx="123551" cy="179710"/>
          </a:xfrm>
          <a:prstGeom prst="rect">
            <a:avLst/>
          </a:prstGeom>
        </p:spPr>
      </p:pic>
      <p:sp>
        <p:nvSpPr>
          <p:cNvPr id="68" name="TextBox 67"/>
          <p:cNvSpPr txBox="1"/>
          <p:nvPr/>
        </p:nvSpPr>
        <p:spPr>
          <a:xfrm>
            <a:off x="9332419" y="4916901"/>
            <a:ext cx="2266783" cy="179984"/>
          </a:xfrm>
          <a:prstGeom prst="rect">
            <a:avLst/>
          </a:prstGeom>
          <a:noFill/>
        </p:spPr>
        <p:txBody>
          <a:bodyPr wrap="none" lIns="0" rIns="0" tIns="0" bIns="0">
            <a:spAutoFit/>
          </a:bodyPr>
          <a:lstStyle/>
          <a:p>
            <a:r>
              <a:rPr sz="1055" b="0">
                <a:solidFill>
                  <a:srgbClr val="2E2E2E"/>
                </a:solidFill>
                <a:latin typeface="Calibri"/>
              </a:rPr>
              <a:t>BPS toward 'Static Cold Storage Devices'</a:t>
            </a:r>
          </a:p>
        </p:txBody>
      </p:sp>
      <p:sp>
        <p:nvSpPr>
          <p:cNvPr id="69" name="TextBox 68"/>
          <p:cNvSpPr txBox="1"/>
          <p:nvPr/>
        </p:nvSpPr>
        <p:spPr>
          <a:xfrm>
            <a:off x="1743075" y="5077835"/>
            <a:ext cx="2901719" cy="179984"/>
          </a:xfrm>
          <a:prstGeom prst="rect">
            <a:avLst/>
          </a:prstGeom>
          <a:noFill/>
        </p:spPr>
        <p:txBody>
          <a:bodyPr wrap="none" lIns="0" rIns="0" tIns="0" bIns="0">
            <a:spAutoFit/>
          </a:bodyPr>
          <a:lstStyle/>
          <a:p>
            <a:r>
              <a:rPr sz="1055" b="0">
                <a:solidFill>
                  <a:srgbClr val="2E2E2E"/>
                </a:solidFill>
                <a:latin typeface="Calibri"/>
              </a:rPr>
              <a:t>while 'Portable Machine Perfusion Devices' gives up</a:t>
            </a:r>
          </a:p>
        </p:txBody>
      </p:sp>
      <p:pic>
        <p:nvPicPr>
          <p:cNvPr id="70" name="Picture 69" descr="lock.png"/>
          <p:cNvPicPr>
            <a:picLocks noChangeAspect="1"/>
          </p:cNvPicPr>
          <p:nvPr/>
        </p:nvPicPr>
        <p:blipFill>
          <a:blip r:embed="rId4"/>
          <a:stretch>
            <a:fillRect/>
          </a:stretch>
        </p:blipFill>
        <p:spPr>
          <a:xfrm>
            <a:off x="4591876" y="5068447"/>
            <a:ext cx="123551" cy="179710"/>
          </a:xfrm>
          <a:prstGeom prst="rect">
            <a:avLst/>
          </a:prstGeom>
        </p:spPr>
      </p:pic>
      <p:sp>
        <p:nvSpPr>
          <p:cNvPr id="71" name="TextBox 70"/>
          <p:cNvSpPr txBox="1"/>
          <p:nvPr/>
        </p:nvSpPr>
        <p:spPr>
          <a:xfrm>
            <a:off x="4752672" y="5077835"/>
            <a:ext cx="314039" cy="179984"/>
          </a:xfrm>
          <a:prstGeom prst="rect">
            <a:avLst/>
          </a:prstGeom>
          <a:noFill/>
        </p:spPr>
        <p:txBody>
          <a:bodyPr wrap="none" lIns="0" rIns="0" tIns="0" bIns="0">
            <a:spAutoFit/>
          </a:bodyPr>
          <a:lstStyle/>
          <a:p>
            <a:r>
              <a:rPr sz="1055" b="0">
                <a:solidFill>
                  <a:srgbClr val="2E2E2E"/>
                </a:solidFill>
                <a:latin typeface="Calibri"/>
              </a:rPr>
              <a:t>BPS.</a:t>
            </a:r>
          </a:p>
        </p:txBody>
      </p:sp>
      <p:sp>
        <p:nvSpPr>
          <p:cNvPr id="72" name="TextBox 71"/>
          <p:cNvSpPr txBox="1"/>
          <p:nvPr/>
        </p:nvSpPr>
        <p:spPr>
          <a:xfrm>
            <a:off x="1743075" y="5902601"/>
            <a:ext cx="2544146" cy="179984"/>
          </a:xfrm>
          <a:prstGeom prst="rect">
            <a:avLst/>
          </a:prstGeom>
          <a:noFill/>
        </p:spPr>
        <p:txBody>
          <a:bodyPr wrap="none" lIns="0" rIns="0" tIns="0" bIns="0">
            <a:spAutoFit/>
          </a:bodyPr>
          <a:lstStyle/>
          <a:p>
            <a:r>
              <a:rPr sz="1055" b="0">
                <a:solidFill>
                  <a:srgbClr val="2E2E2E"/>
                </a:solidFill>
                <a:latin typeface="Calibri"/>
              </a:rPr>
              <a:t>Forecast outcome: the global market reaches</a:t>
            </a:r>
          </a:p>
        </p:txBody>
      </p:sp>
      <p:pic>
        <p:nvPicPr>
          <p:cNvPr id="73" name="Picture 72" descr="lock.png"/>
          <p:cNvPicPr>
            <a:picLocks noChangeAspect="1"/>
          </p:cNvPicPr>
          <p:nvPr/>
        </p:nvPicPr>
        <p:blipFill>
          <a:blip r:embed="rId4"/>
          <a:stretch>
            <a:fillRect/>
          </a:stretch>
        </p:blipFill>
        <p:spPr>
          <a:xfrm>
            <a:off x="4234303" y="5893213"/>
            <a:ext cx="123551" cy="179710"/>
          </a:xfrm>
          <a:prstGeom prst="rect">
            <a:avLst/>
          </a:prstGeom>
        </p:spPr>
      </p:pic>
      <p:sp>
        <p:nvSpPr>
          <p:cNvPr id="74" name="TextBox 73"/>
          <p:cNvSpPr txBox="1"/>
          <p:nvPr/>
        </p:nvSpPr>
        <p:spPr>
          <a:xfrm>
            <a:off x="4395098" y="5902601"/>
            <a:ext cx="635698" cy="179984"/>
          </a:xfrm>
          <a:prstGeom prst="rect">
            <a:avLst/>
          </a:prstGeom>
          <a:noFill/>
        </p:spPr>
        <p:txBody>
          <a:bodyPr wrap="none" lIns="0" rIns="0" tIns="0" bIns="0">
            <a:spAutoFit/>
          </a:bodyPr>
          <a:lstStyle/>
          <a:p>
            <a:r>
              <a:rPr sz="1055" b="0">
                <a:solidFill>
                  <a:srgbClr val="2E2E2E"/>
                </a:solidFill>
                <a:latin typeface="Calibri"/>
              </a:rPr>
              <a:t>US$ Mn, a</a:t>
            </a:r>
          </a:p>
        </p:txBody>
      </p:sp>
      <p:pic>
        <p:nvPicPr>
          <p:cNvPr id="75" name="Picture 74" descr="lock.png"/>
          <p:cNvPicPr>
            <a:picLocks noChangeAspect="1"/>
          </p:cNvPicPr>
          <p:nvPr/>
        </p:nvPicPr>
        <p:blipFill>
          <a:blip r:embed="rId4"/>
          <a:stretch>
            <a:fillRect/>
          </a:stretch>
        </p:blipFill>
        <p:spPr>
          <a:xfrm>
            <a:off x="4977879" y="5893213"/>
            <a:ext cx="123551" cy="179710"/>
          </a:xfrm>
          <a:prstGeom prst="rect">
            <a:avLst/>
          </a:prstGeom>
        </p:spPr>
      </p:pic>
      <p:sp>
        <p:nvSpPr>
          <p:cNvPr id="76" name="TextBox 75"/>
          <p:cNvSpPr txBox="1"/>
          <p:nvPr/>
        </p:nvSpPr>
        <p:spPr>
          <a:xfrm>
            <a:off x="5138675" y="5902601"/>
            <a:ext cx="1437751" cy="179984"/>
          </a:xfrm>
          <a:prstGeom prst="rect">
            <a:avLst/>
          </a:prstGeom>
          <a:noFill/>
        </p:spPr>
        <p:txBody>
          <a:bodyPr wrap="none" lIns="0" rIns="0" tIns="0" bIns="0">
            <a:spAutoFit/>
          </a:bodyPr>
          <a:lstStyle/>
          <a:p>
            <a:r>
              <a:rPr sz="1055" b="0">
                <a:solidFill>
                  <a:srgbClr val="2E2E2E"/>
                </a:solidFill>
                <a:latin typeface="Calibri"/>
              </a:rPr>
              <a:t>× expansion on 2026 and</a:t>
            </a:r>
          </a:p>
        </p:txBody>
      </p:sp>
      <p:pic>
        <p:nvPicPr>
          <p:cNvPr id="77" name="Picture 76" descr="lock.png"/>
          <p:cNvPicPr>
            <a:picLocks noChangeAspect="1"/>
          </p:cNvPicPr>
          <p:nvPr/>
        </p:nvPicPr>
        <p:blipFill>
          <a:blip r:embed="rId4"/>
          <a:stretch>
            <a:fillRect/>
          </a:stretch>
        </p:blipFill>
        <p:spPr>
          <a:xfrm>
            <a:off x="6523507" y="5893213"/>
            <a:ext cx="123551" cy="179710"/>
          </a:xfrm>
          <a:prstGeom prst="rect">
            <a:avLst/>
          </a:prstGeom>
        </p:spPr>
      </p:pic>
      <p:sp>
        <p:nvSpPr>
          <p:cNvPr id="78" name="TextBox 77"/>
          <p:cNvSpPr txBox="1"/>
          <p:nvPr/>
        </p:nvSpPr>
        <p:spPr>
          <a:xfrm>
            <a:off x="6684303" y="5902601"/>
            <a:ext cx="1799224" cy="179984"/>
          </a:xfrm>
          <a:prstGeom prst="rect">
            <a:avLst/>
          </a:prstGeom>
          <a:noFill/>
        </p:spPr>
        <p:txBody>
          <a:bodyPr wrap="none" lIns="0" rIns="0" tIns="0" bIns="0">
            <a:spAutoFit/>
          </a:bodyPr>
          <a:lstStyle/>
          <a:p>
            <a:r>
              <a:rPr sz="1055" b="0">
                <a:solidFill>
                  <a:srgbClr val="2E2E2E"/>
                </a:solidFill>
                <a:latin typeface="Calibri"/>
              </a:rPr>
              <a:t>US$ Mn of incremental value at</a:t>
            </a:r>
          </a:p>
        </p:txBody>
      </p:sp>
      <p:pic>
        <p:nvPicPr>
          <p:cNvPr id="79" name="Picture 78" descr="lock.png"/>
          <p:cNvPicPr>
            <a:picLocks noChangeAspect="1"/>
          </p:cNvPicPr>
          <p:nvPr/>
        </p:nvPicPr>
        <p:blipFill>
          <a:blip r:embed="rId4"/>
          <a:stretch>
            <a:fillRect/>
          </a:stretch>
        </p:blipFill>
        <p:spPr>
          <a:xfrm>
            <a:off x="8430610" y="5893213"/>
            <a:ext cx="123551" cy="179710"/>
          </a:xfrm>
          <a:prstGeom prst="rect">
            <a:avLst/>
          </a:prstGeom>
        </p:spPr>
      </p:pic>
      <p:sp>
        <p:nvSpPr>
          <p:cNvPr id="80" name="TextBox 79"/>
          <p:cNvSpPr txBox="1"/>
          <p:nvPr/>
        </p:nvSpPr>
        <p:spPr>
          <a:xfrm>
            <a:off x="8591406" y="5902601"/>
            <a:ext cx="1678717" cy="179984"/>
          </a:xfrm>
          <a:prstGeom prst="rect">
            <a:avLst/>
          </a:prstGeom>
          <a:noFill/>
        </p:spPr>
        <p:txBody>
          <a:bodyPr wrap="none" lIns="0" rIns="0" tIns="0" bIns="0">
            <a:spAutoFit/>
          </a:bodyPr>
          <a:lstStyle/>
          <a:p>
            <a:r>
              <a:rPr sz="1055" b="0">
                <a:solidFill>
                  <a:srgbClr val="2E2E2E"/>
                </a:solidFill>
                <a:latin typeface="Calibri"/>
              </a:rPr>
              <a:t>CAGR. Volume compounds at</a:t>
            </a:r>
          </a:p>
        </p:txBody>
      </p:sp>
      <p:pic>
        <p:nvPicPr>
          <p:cNvPr id="81" name="Picture 80" descr="lock.png"/>
          <p:cNvPicPr>
            <a:picLocks noChangeAspect="1"/>
          </p:cNvPicPr>
          <p:nvPr/>
        </p:nvPicPr>
        <p:blipFill>
          <a:blip r:embed="rId4"/>
          <a:stretch>
            <a:fillRect/>
          </a:stretch>
        </p:blipFill>
        <p:spPr>
          <a:xfrm>
            <a:off x="10217204" y="5893213"/>
            <a:ext cx="123551" cy="179710"/>
          </a:xfrm>
          <a:prstGeom prst="rect">
            <a:avLst/>
          </a:prstGeom>
        </p:spPr>
      </p:pic>
      <p:sp>
        <p:nvSpPr>
          <p:cNvPr id="82" name="TextBox 81"/>
          <p:cNvSpPr txBox="1"/>
          <p:nvPr/>
        </p:nvSpPr>
        <p:spPr>
          <a:xfrm>
            <a:off x="10378000" y="5902601"/>
            <a:ext cx="854678" cy="179984"/>
          </a:xfrm>
          <a:prstGeom prst="rect">
            <a:avLst/>
          </a:prstGeom>
          <a:noFill/>
        </p:spPr>
        <p:txBody>
          <a:bodyPr wrap="none" lIns="0" rIns="0" tIns="0" bIns="0">
            <a:spAutoFit/>
          </a:bodyPr>
          <a:lstStyle/>
          <a:p>
            <a:r>
              <a:rPr sz="1055" b="0">
                <a:solidFill>
                  <a:srgbClr val="2E2E2E"/>
                </a:solidFill>
                <a:latin typeface="Calibri"/>
              </a:rPr>
              <a:t>over the same</a:t>
            </a:r>
          </a:p>
        </p:txBody>
      </p:sp>
      <p:sp>
        <p:nvSpPr>
          <p:cNvPr id="83" name="TextBox 82"/>
          <p:cNvSpPr txBox="1"/>
          <p:nvPr/>
        </p:nvSpPr>
        <p:spPr>
          <a:xfrm>
            <a:off x="1743075" y="6063535"/>
            <a:ext cx="1565052" cy="179984"/>
          </a:xfrm>
          <a:prstGeom prst="rect">
            <a:avLst/>
          </a:prstGeom>
          <a:noFill/>
        </p:spPr>
        <p:txBody>
          <a:bodyPr wrap="none" lIns="0" rIns="0" tIns="0" bIns="0">
            <a:spAutoFit/>
          </a:bodyPr>
          <a:lstStyle/>
          <a:p>
            <a:r>
              <a:rPr sz="1055" b="0">
                <a:solidFill>
                  <a:srgbClr val="2E2E2E"/>
                </a:solidFill>
                <a:latin typeface="Calibri"/>
              </a:rPr>
              <a:t>window, leaving realisation</a:t>
            </a:r>
          </a:p>
        </p:txBody>
      </p:sp>
      <p:pic>
        <p:nvPicPr>
          <p:cNvPr id="84" name="Picture 83" descr="lock.png"/>
          <p:cNvPicPr>
            <a:picLocks noChangeAspect="1"/>
          </p:cNvPicPr>
          <p:nvPr/>
        </p:nvPicPr>
        <p:blipFill>
          <a:blip r:embed="rId4"/>
          <a:stretch>
            <a:fillRect/>
          </a:stretch>
        </p:blipFill>
        <p:spPr>
          <a:xfrm>
            <a:off x="3255209" y="6054147"/>
            <a:ext cx="123551" cy="179710"/>
          </a:xfrm>
          <a:prstGeom prst="rect">
            <a:avLst/>
          </a:prstGeom>
        </p:spPr>
      </p:pic>
      <p:sp>
        <p:nvSpPr>
          <p:cNvPr id="85" name="TextBox 84"/>
          <p:cNvSpPr txBox="1"/>
          <p:nvPr/>
        </p:nvSpPr>
        <p:spPr>
          <a:xfrm>
            <a:off x="3416005" y="6063535"/>
            <a:ext cx="4255412" cy="179984"/>
          </a:xfrm>
          <a:prstGeom prst="rect">
            <a:avLst/>
          </a:prstGeom>
          <a:noFill/>
        </p:spPr>
        <p:txBody>
          <a:bodyPr wrap="none" lIns="0" rIns="0" tIns="0" bIns="0">
            <a:spAutoFit/>
          </a:bodyPr>
          <a:lstStyle/>
          <a:p>
            <a:r>
              <a:rPr sz="1055" b="0">
                <a:solidFill>
                  <a:srgbClr val="2E2E2E"/>
                </a:solidFill>
                <a:latin typeface="Calibri"/>
              </a:rPr>
              <a:t>a year the gap between the two is the premiumisation the forecast assumes.</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Porter's Five Forces Analysis Global Organ Transport Devices Market</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supplier power, buyer power, competition, substitutes and entry barriers shaping the market's profitability</a:t>
            </a:r>
          </a:p>
        </p:txBody>
      </p:sp>
      <p:sp>
        <p:nvSpPr>
          <p:cNvPr id="10" name="TextBox 9"/>
          <p:cNvSpPr txBox="1"/>
          <p:nvPr/>
        </p:nvSpPr>
        <p:spPr>
          <a:xfrm>
            <a:off x="142875" y="989007"/>
            <a:ext cx="11906250" cy="328567"/>
          </a:xfrm>
          <a:prstGeom prst="rect">
            <a:avLst/>
          </a:prstGeom>
          <a:noFill/>
        </p:spPr>
        <p:txBody>
          <a:bodyPr wrap="square" lIns="28575" rIns="28575" tIns="9525" bIns="9525" anchor="ctr">
            <a:spAutoFit/>
          </a:bodyPr>
          <a:lstStyle/>
          <a:p>
            <a:pPr algn="l">
              <a:lnSpc>
                <a:spcPct val="115000"/>
              </a:lnSpc>
            </a:pPr>
            <a:r>
              <a:rPr sz="1100" b="0">
                <a:solidFill>
                  <a:srgbClr val="6C7A89"/>
                </a:solidFill>
                <a:latin typeface="Calibri"/>
              </a:rPr>
              <a:t/>
            </a:r>
          </a:p>
        </p:txBody>
      </p:sp>
      <p:sp>
        <p:nvSpPr>
          <p:cNvPr id="11" name="Oval 10"/>
          <p:cNvSpPr/>
          <p:nvPr/>
        </p:nvSpPr>
        <p:spPr>
          <a:xfrm>
            <a:off x="876300" y="1427096"/>
            <a:ext cx="914400" cy="876177"/>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1664394"/>
            <a:ext cx="571500" cy="401581"/>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3" name="TextBox 12"/>
          <p:cNvSpPr txBox="1"/>
          <p:nvPr/>
        </p:nvSpPr>
        <p:spPr>
          <a:xfrm>
            <a:off x="219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4" name="TextBox 13"/>
          <p:cNvSpPr txBox="1"/>
          <p:nvPr/>
        </p:nvSpPr>
        <p:spPr>
          <a:xfrm>
            <a:off x="247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5" name="TextBox 14"/>
          <p:cNvSpPr txBox="1"/>
          <p:nvPr/>
        </p:nvSpPr>
        <p:spPr>
          <a:xfrm>
            <a:off x="2476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16" name="TextBox 15"/>
          <p:cNvSpPr txBox="1"/>
          <p:nvPr/>
        </p:nvSpPr>
        <p:spPr>
          <a:xfrm>
            <a:off x="247650" y="4530225"/>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Buyers can rebalance across 2 device technology lines, which caps supplier leverage in commodity grades.</a:t>
            </a:r>
          </a:p>
        </p:txBody>
      </p:sp>
      <p:sp>
        <p:nvSpPr>
          <p:cNvPr id="17" name="Oval 16"/>
          <p:cNvSpPr/>
          <p:nvPr/>
        </p:nvSpPr>
        <p:spPr>
          <a:xfrm>
            <a:off x="3257550" y="1427096"/>
            <a:ext cx="914400" cy="876177"/>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3476625" y="1710028"/>
            <a:ext cx="152400" cy="209918"/>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3609975" y="1783043"/>
            <a:ext cx="342900" cy="155156"/>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48075"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29050" y="1983834"/>
            <a:ext cx="76200" cy="73015"/>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03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3" name="TextBox 22"/>
          <p:cNvSpPr txBox="1"/>
          <p:nvPr/>
        </p:nvSpPr>
        <p:spPr>
          <a:xfrm>
            <a:off x="262890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4" name="TextBox 23"/>
          <p:cNvSpPr txBox="1"/>
          <p:nvPr/>
        </p:nvSpPr>
        <p:spPr>
          <a:xfrm>
            <a:off x="262890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25" name="TextBox 24"/>
          <p:cNvSpPr txBox="1"/>
          <p:nvPr/>
        </p:nvSpPr>
        <p:spPr>
          <a:xfrm>
            <a:off x="2628900" y="4347688"/>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Switching is easiest where 2 comparable device technology lines compete for the same demand.</a:t>
            </a:r>
          </a:p>
        </p:txBody>
      </p:sp>
      <p:sp>
        <p:nvSpPr>
          <p:cNvPr id="26" name="Oval 25"/>
          <p:cNvSpPr/>
          <p:nvPr/>
        </p:nvSpPr>
        <p:spPr>
          <a:xfrm>
            <a:off x="5638800" y="1427096"/>
            <a:ext cx="914400" cy="876177"/>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876925" y="1655267"/>
            <a:ext cx="438150" cy="419835"/>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43600" y="1719155"/>
            <a:ext cx="304800" cy="292059"/>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10275" y="1783043"/>
            <a:ext cx="171450" cy="164283"/>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062662" y="1833240"/>
            <a:ext cx="66675" cy="63888"/>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6134100" y="1627887"/>
            <a:ext cx="209550" cy="200791"/>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267450" y="1591379"/>
            <a:ext cx="114300" cy="109522"/>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815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4" name="TextBox 33"/>
          <p:cNvSpPr txBox="1"/>
          <p:nvPr/>
        </p:nvSpPr>
        <p:spPr>
          <a:xfrm>
            <a:off x="50101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5" name="TextBox 34"/>
          <p:cNvSpPr txBox="1"/>
          <p:nvPr/>
        </p:nvSpPr>
        <p:spPr>
          <a:xfrm>
            <a:off x="5010150" y="3663174"/>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6" name="TextBox 35"/>
          <p:cNvSpPr txBox="1"/>
          <p:nvPr/>
        </p:nvSpPr>
        <p:spPr>
          <a:xfrm>
            <a:off x="501015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Oval 36"/>
          <p:cNvSpPr/>
          <p:nvPr/>
        </p:nvSpPr>
        <p:spPr>
          <a:xfrm>
            <a:off x="8020050" y="1427096"/>
            <a:ext cx="914400" cy="876177"/>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82000" y="1637014"/>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2486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515350" y="1874312"/>
            <a:ext cx="190500" cy="182537"/>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6282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2" name="TextBox 41"/>
          <p:cNvSpPr txBox="1"/>
          <p:nvPr/>
        </p:nvSpPr>
        <p:spPr>
          <a:xfrm>
            <a:off x="7391400" y="2796123"/>
            <a:ext cx="2171700" cy="1149983"/>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3" name="TextBox 42"/>
          <p:cNvSpPr txBox="1"/>
          <p:nvPr/>
        </p:nvSpPr>
        <p:spPr>
          <a:xfrm>
            <a:off x="7391400" y="4037375"/>
            <a:ext cx="2171700"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4" name="TextBox 43"/>
          <p:cNvSpPr txBox="1"/>
          <p:nvPr/>
        </p:nvSpPr>
        <p:spPr>
          <a:xfrm>
            <a:off x="7391400" y="4530225"/>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5" name="Oval 44"/>
          <p:cNvSpPr/>
          <p:nvPr/>
        </p:nvSpPr>
        <p:spPr>
          <a:xfrm>
            <a:off x="10401300" y="1427096"/>
            <a:ext cx="914400" cy="876177"/>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10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10563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850" y="1700902"/>
            <a:ext cx="114300" cy="109522"/>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944225" y="1837804"/>
            <a:ext cx="209550" cy="182537"/>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782300" y="1609633"/>
            <a:ext cx="152400" cy="14603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715625" y="1783043"/>
            <a:ext cx="285750" cy="255552"/>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44075" y="2376288"/>
            <a:ext cx="2228850" cy="365074"/>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3" name="TextBox 52"/>
          <p:cNvSpPr txBox="1"/>
          <p:nvPr/>
        </p:nvSpPr>
        <p:spPr>
          <a:xfrm>
            <a:off x="9772650" y="2796123"/>
            <a:ext cx="2171700" cy="775782"/>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4" name="TextBox 53"/>
          <p:cNvSpPr txBox="1"/>
          <p:nvPr/>
        </p:nvSpPr>
        <p:spPr>
          <a:xfrm>
            <a:off x="9772650" y="3663174"/>
            <a:ext cx="2171700" cy="593245"/>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5" name="TextBox 54"/>
          <p:cNvSpPr txBox="1"/>
          <p:nvPr/>
        </p:nvSpPr>
        <p:spPr>
          <a:xfrm>
            <a:off x="9772650" y="4347688"/>
            <a:ext cx="2171700" cy="96744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56" name="TextBox 55"/>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57" name="TextBox 56"/>
          <p:cNvSpPr txBox="1"/>
          <p:nvPr/>
        </p:nvSpPr>
        <p:spPr>
          <a:xfrm>
            <a:off x="171450" y="1069470"/>
            <a:ext cx="10302403" cy="186689"/>
          </a:xfrm>
          <a:prstGeom prst="rect">
            <a:avLst/>
          </a:prstGeom>
          <a:noFill/>
        </p:spPr>
        <p:txBody>
          <a:bodyPr wrap="none" lIns="0" rIns="0" tIns="0" bIns="0">
            <a:spAutoFit/>
          </a:bodyPr>
          <a:lstStyle/>
          <a:p>
            <a:r>
              <a:rPr sz="1100" b="0">
                <a:solidFill>
                  <a:srgbClr val="6C7A89"/>
                </a:solidFill>
                <a:latin typeface="Calibri"/>
              </a:rPr>
              <a:t>Supplier power, buyer power, competitive intensity, substitution and entry barriers scored from the global dataset 2 device technology lines, 2 sales channel routes and 6 regions at</a:t>
            </a:r>
          </a:p>
        </p:txBody>
      </p:sp>
      <p:pic>
        <p:nvPicPr>
          <p:cNvPr id="58" name="Picture 57" descr="lock.png"/>
          <p:cNvPicPr>
            <a:picLocks noChangeAspect="1"/>
          </p:cNvPicPr>
          <p:nvPr/>
        </p:nvPicPr>
        <p:blipFill>
          <a:blip r:embed="rId4"/>
          <a:stretch>
            <a:fillRect/>
          </a:stretch>
        </p:blipFill>
        <p:spPr>
          <a:xfrm>
            <a:off x="10421905" y="1059691"/>
            <a:ext cx="128699" cy="187198"/>
          </a:xfrm>
          <a:prstGeom prst="rect">
            <a:avLst/>
          </a:prstGeom>
        </p:spPr>
      </p:pic>
      <p:sp>
        <p:nvSpPr>
          <p:cNvPr id="59" name="TextBox 58"/>
          <p:cNvSpPr txBox="1"/>
          <p:nvPr/>
        </p:nvSpPr>
        <p:spPr>
          <a:xfrm>
            <a:off x="10589401" y="1069470"/>
            <a:ext cx="430617" cy="186689"/>
          </a:xfrm>
          <a:prstGeom prst="rect">
            <a:avLst/>
          </a:prstGeom>
          <a:noFill/>
        </p:spPr>
        <p:txBody>
          <a:bodyPr wrap="none" lIns="0" rIns="0" tIns="0" bIns="0">
            <a:spAutoFit/>
          </a:bodyPr>
          <a:lstStyle/>
          <a:p>
            <a:r>
              <a:rPr sz="1100" b="0">
                <a:solidFill>
                  <a:srgbClr val="6C7A89"/>
                </a:solidFill>
                <a:latin typeface="Calibri"/>
              </a:rPr>
              <a:t>CAGR.</a:t>
            </a:r>
          </a:p>
        </p:txBody>
      </p:sp>
      <p:sp>
        <p:nvSpPr>
          <p:cNvPr id="60" name="TextBox 59"/>
          <p:cNvSpPr txBox="1"/>
          <p:nvPr/>
        </p:nvSpPr>
        <p:spPr>
          <a:xfrm>
            <a:off x="276225" y="2848734"/>
            <a:ext cx="2114550" cy="186689"/>
          </a:xfrm>
          <a:prstGeom prst="rect">
            <a:avLst/>
          </a:prstGeom>
          <a:noFill/>
        </p:spPr>
        <p:txBody>
          <a:bodyPr wrap="none" lIns="0" rIns="0" tIns="0" bIns="0">
            <a:spAutoFit/>
          </a:bodyPr>
          <a:lstStyle/>
          <a:p>
            <a:r>
              <a:rPr sz="1100" b="0">
                <a:solidFill>
                  <a:srgbClr val="2E2E2E"/>
                </a:solidFill>
                <a:latin typeface="Calibri"/>
              </a:rPr>
              <a:t>▸ Assessed moderate to high. 'North</a:t>
            </a:r>
          </a:p>
        </p:txBody>
      </p:sp>
      <p:sp>
        <p:nvSpPr>
          <p:cNvPr id="61" name="TextBox 60"/>
          <p:cNvSpPr txBox="1"/>
          <p:nvPr/>
        </p:nvSpPr>
        <p:spPr>
          <a:xfrm>
            <a:off x="276225" y="3016374"/>
            <a:ext cx="1071016" cy="186689"/>
          </a:xfrm>
          <a:prstGeom prst="rect">
            <a:avLst/>
          </a:prstGeom>
          <a:noFill/>
        </p:spPr>
        <p:txBody>
          <a:bodyPr wrap="none" lIns="0" rIns="0" tIns="0" bIns="0">
            <a:spAutoFit/>
          </a:bodyPr>
          <a:lstStyle/>
          <a:p>
            <a:r>
              <a:rPr sz="1100" b="0">
                <a:solidFill>
                  <a:srgbClr val="2E2E2E"/>
                </a:solidFill>
                <a:latin typeface="Calibri"/>
              </a:rPr>
              <a:t>America' supplies</a:t>
            </a:r>
          </a:p>
        </p:txBody>
      </p:sp>
      <p:pic>
        <p:nvPicPr>
          <p:cNvPr id="62" name="Picture 61" descr="lock.png"/>
          <p:cNvPicPr>
            <a:picLocks noChangeAspect="1"/>
          </p:cNvPicPr>
          <p:nvPr/>
        </p:nvPicPr>
        <p:blipFill>
          <a:blip r:embed="rId4"/>
          <a:stretch>
            <a:fillRect/>
          </a:stretch>
        </p:blipFill>
        <p:spPr>
          <a:xfrm>
            <a:off x="1295293" y="3006595"/>
            <a:ext cx="128699" cy="187198"/>
          </a:xfrm>
          <a:prstGeom prst="rect">
            <a:avLst/>
          </a:prstGeom>
        </p:spPr>
      </p:pic>
      <p:sp>
        <p:nvSpPr>
          <p:cNvPr id="63" name="TextBox 62"/>
          <p:cNvSpPr txBox="1"/>
          <p:nvPr/>
        </p:nvSpPr>
        <p:spPr>
          <a:xfrm>
            <a:off x="1462789" y="3016374"/>
            <a:ext cx="844549" cy="186689"/>
          </a:xfrm>
          <a:prstGeom prst="rect">
            <a:avLst/>
          </a:prstGeom>
          <a:noFill/>
        </p:spPr>
        <p:txBody>
          <a:bodyPr wrap="none" lIns="0" rIns="0" tIns="0" bIns="0">
            <a:spAutoFit/>
          </a:bodyPr>
          <a:lstStyle/>
          <a:p>
            <a:r>
              <a:rPr sz="1100" b="0">
                <a:solidFill>
                  <a:srgbClr val="2E2E2E"/>
                </a:solidFill>
                <a:latin typeface="Calibri"/>
              </a:rPr>
              <a:t>of 2036 value</a:t>
            </a:r>
          </a:p>
        </p:txBody>
      </p:sp>
      <p:sp>
        <p:nvSpPr>
          <p:cNvPr id="64" name="TextBox 63"/>
          <p:cNvSpPr txBox="1"/>
          <p:nvPr/>
        </p:nvSpPr>
        <p:spPr>
          <a:xfrm>
            <a:off x="276225" y="3184014"/>
            <a:ext cx="1842095" cy="186689"/>
          </a:xfrm>
          <a:prstGeom prst="rect">
            <a:avLst/>
          </a:prstGeom>
          <a:noFill/>
        </p:spPr>
        <p:txBody>
          <a:bodyPr wrap="none" lIns="0" rIns="0" tIns="0" bIns="0">
            <a:spAutoFit/>
          </a:bodyPr>
          <a:lstStyle/>
          <a:p>
            <a:r>
              <a:rPr sz="1100" b="0">
                <a:solidFill>
                  <a:srgbClr val="2E2E2E"/>
                </a:solidFill>
                <a:latin typeface="Calibri"/>
              </a:rPr>
              <a:t>across 6 regions, concentrating</a:t>
            </a:r>
          </a:p>
        </p:txBody>
      </p:sp>
      <p:sp>
        <p:nvSpPr>
          <p:cNvPr id="65" name="TextBox 64"/>
          <p:cNvSpPr txBox="1"/>
          <p:nvPr/>
        </p:nvSpPr>
        <p:spPr>
          <a:xfrm>
            <a:off x="276225" y="3351654"/>
            <a:ext cx="1173608" cy="186689"/>
          </a:xfrm>
          <a:prstGeom prst="rect">
            <a:avLst/>
          </a:prstGeom>
          <a:noFill/>
        </p:spPr>
        <p:txBody>
          <a:bodyPr wrap="none" lIns="0" rIns="0" tIns="0" bIns="0">
            <a:spAutoFit/>
          </a:bodyPr>
          <a:lstStyle/>
          <a:p>
            <a:r>
              <a:rPr sz="1100" b="0">
                <a:solidFill>
                  <a:srgbClr val="2E2E2E"/>
                </a:solidFill>
                <a:latin typeface="Calibri"/>
              </a:rPr>
              <a:t>upstream leverage.</a:t>
            </a:r>
          </a:p>
        </p:txBody>
      </p:sp>
      <p:sp>
        <p:nvSpPr>
          <p:cNvPr id="66" name="TextBox 65"/>
          <p:cNvSpPr txBox="1"/>
          <p:nvPr/>
        </p:nvSpPr>
        <p:spPr>
          <a:xfrm>
            <a:off x="276225" y="3799605"/>
            <a:ext cx="1676163" cy="186689"/>
          </a:xfrm>
          <a:prstGeom prst="rect">
            <a:avLst/>
          </a:prstGeom>
          <a:noFill/>
        </p:spPr>
        <p:txBody>
          <a:bodyPr wrap="none" lIns="0" rIns="0" tIns="0" bIns="0">
            <a:spAutoFit/>
          </a:bodyPr>
          <a:lstStyle/>
          <a:p>
            <a:r>
              <a:rPr sz="1100" b="0">
                <a:solidFill>
                  <a:srgbClr val="2E2E2E"/>
                </a:solidFill>
                <a:latin typeface="Calibri"/>
              </a:rPr>
              <a:t>▸ Average realisation moves</a:t>
            </a:r>
          </a:p>
        </p:txBody>
      </p:sp>
      <p:pic>
        <p:nvPicPr>
          <p:cNvPr id="67" name="Picture 66" descr="lock.png"/>
          <p:cNvPicPr>
            <a:picLocks noChangeAspect="1"/>
          </p:cNvPicPr>
          <p:nvPr/>
        </p:nvPicPr>
        <p:blipFill>
          <a:blip r:embed="rId4"/>
          <a:stretch>
            <a:fillRect/>
          </a:stretch>
        </p:blipFill>
        <p:spPr>
          <a:xfrm>
            <a:off x="1900439" y="3789826"/>
            <a:ext cx="128699" cy="187198"/>
          </a:xfrm>
          <a:prstGeom prst="rect">
            <a:avLst/>
          </a:prstGeom>
        </p:spPr>
      </p:pic>
      <p:sp>
        <p:nvSpPr>
          <p:cNvPr id="68" name="TextBox 67"/>
          <p:cNvSpPr txBox="1"/>
          <p:nvPr/>
        </p:nvSpPr>
        <p:spPr>
          <a:xfrm>
            <a:off x="2067935" y="3799605"/>
            <a:ext cx="143048" cy="186689"/>
          </a:xfrm>
          <a:prstGeom prst="rect">
            <a:avLst/>
          </a:prstGeom>
          <a:noFill/>
        </p:spPr>
        <p:txBody>
          <a:bodyPr wrap="none" lIns="0" rIns="0" tIns="0" bIns="0">
            <a:spAutoFit/>
          </a:bodyPr>
          <a:lstStyle/>
          <a:p>
            <a:r>
              <a:rPr sz="1100" b="0">
                <a:solidFill>
                  <a:srgbClr val="2E2E2E"/>
                </a:solidFill>
                <a:latin typeface="Calibri"/>
              </a:rPr>
              <a:t>a</a:t>
            </a:r>
          </a:p>
        </p:txBody>
      </p:sp>
      <p:sp>
        <p:nvSpPr>
          <p:cNvPr id="69" name="TextBox 68"/>
          <p:cNvSpPr txBox="1"/>
          <p:nvPr/>
        </p:nvSpPr>
        <p:spPr>
          <a:xfrm>
            <a:off x="276225" y="3967245"/>
            <a:ext cx="2031181" cy="186689"/>
          </a:xfrm>
          <a:prstGeom prst="rect">
            <a:avLst/>
          </a:prstGeom>
          <a:noFill/>
        </p:spPr>
        <p:txBody>
          <a:bodyPr wrap="none" lIns="0" rIns="0" tIns="0" bIns="0">
            <a:spAutoFit/>
          </a:bodyPr>
          <a:lstStyle/>
          <a:p>
            <a:r>
              <a:rPr sz="1100" b="0">
                <a:solidFill>
                  <a:srgbClr val="2E2E2E"/>
                </a:solidFill>
                <a:latin typeface="Calibri"/>
              </a:rPr>
              <a:t>year (2026–2036), indicating input</a:t>
            </a:r>
          </a:p>
        </p:txBody>
      </p:sp>
      <p:sp>
        <p:nvSpPr>
          <p:cNvPr id="70" name="TextBox 69"/>
          <p:cNvSpPr txBox="1"/>
          <p:nvPr/>
        </p:nvSpPr>
        <p:spPr>
          <a:xfrm>
            <a:off x="276225" y="4134885"/>
            <a:ext cx="1874291" cy="186689"/>
          </a:xfrm>
          <a:prstGeom prst="rect">
            <a:avLst/>
          </a:prstGeom>
          <a:noFill/>
        </p:spPr>
        <p:txBody>
          <a:bodyPr wrap="none" lIns="0" rIns="0" tIns="0" bIns="0">
            <a:spAutoFit/>
          </a:bodyPr>
          <a:lstStyle/>
          <a:p>
            <a:r>
              <a:rPr sz="1100" b="0">
                <a:solidFill>
                  <a:srgbClr val="2E2E2E"/>
                </a:solidFill>
                <a:latin typeface="Calibri"/>
              </a:rPr>
              <a:t>costs are being passed through.</a:t>
            </a:r>
          </a:p>
        </p:txBody>
      </p:sp>
      <p:sp>
        <p:nvSpPr>
          <p:cNvPr id="71" name="TextBox 70"/>
          <p:cNvSpPr txBox="1"/>
          <p:nvPr/>
        </p:nvSpPr>
        <p:spPr>
          <a:xfrm>
            <a:off x="2657475" y="2848734"/>
            <a:ext cx="1830089" cy="186689"/>
          </a:xfrm>
          <a:prstGeom prst="rect">
            <a:avLst/>
          </a:prstGeom>
          <a:noFill/>
        </p:spPr>
        <p:txBody>
          <a:bodyPr wrap="none" lIns="0" rIns="0" tIns="0" bIns="0">
            <a:spAutoFit/>
          </a:bodyPr>
          <a:lstStyle/>
          <a:p>
            <a:r>
              <a:rPr sz="1100" b="0">
                <a:solidFill>
                  <a:srgbClr val="2E2E2E"/>
                </a:solidFill>
                <a:latin typeface="Calibri"/>
              </a:rPr>
              <a:t>▸ Assessed moderate. Demand</a:t>
            </a:r>
          </a:p>
        </p:txBody>
      </p:sp>
      <p:sp>
        <p:nvSpPr>
          <p:cNvPr id="72" name="TextBox 71"/>
          <p:cNvSpPr txBox="1"/>
          <p:nvPr/>
        </p:nvSpPr>
        <p:spPr>
          <a:xfrm>
            <a:off x="2657475" y="3016374"/>
            <a:ext cx="1821904" cy="186689"/>
          </a:xfrm>
          <a:prstGeom prst="rect">
            <a:avLst/>
          </a:prstGeom>
          <a:noFill/>
        </p:spPr>
        <p:txBody>
          <a:bodyPr wrap="none" lIns="0" rIns="0" tIns="0" bIns="0">
            <a:spAutoFit/>
          </a:bodyPr>
          <a:lstStyle/>
          <a:p>
            <a:r>
              <a:rPr sz="1100" b="0">
                <a:solidFill>
                  <a:srgbClr val="2E2E2E"/>
                </a:solidFill>
                <a:latin typeface="Calibri"/>
              </a:rPr>
              <a:t>routes through 2 sales channel</a:t>
            </a:r>
          </a:p>
        </p:txBody>
      </p:sp>
      <p:sp>
        <p:nvSpPr>
          <p:cNvPr id="73" name="TextBox 72"/>
          <p:cNvSpPr txBox="1"/>
          <p:nvPr/>
        </p:nvSpPr>
        <p:spPr>
          <a:xfrm>
            <a:off x="2657475" y="3184014"/>
            <a:ext cx="1854373" cy="186689"/>
          </a:xfrm>
          <a:prstGeom prst="rect">
            <a:avLst/>
          </a:prstGeom>
          <a:noFill/>
        </p:spPr>
        <p:txBody>
          <a:bodyPr wrap="none" lIns="0" rIns="0" tIns="0" bIns="0">
            <a:spAutoFit/>
          </a:bodyPr>
          <a:lstStyle/>
          <a:p>
            <a:r>
              <a:rPr sz="1100" b="0">
                <a:solidFill>
                  <a:srgbClr val="2E2E2E"/>
                </a:solidFill>
                <a:latin typeface="Calibri"/>
              </a:rPr>
              <a:t>channels led by 'Direct Sales' at</a:t>
            </a:r>
          </a:p>
        </p:txBody>
      </p:sp>
      <p:pic>
        <p:nvPicPr>
          <p:cNvPr id="74" name="Picture 73" descr="lock.png"/>
          <p:cNvPicPr>
            <a:picLocks noChangeAspect="1"/>
          </p:cNvPicPr>
          <p:nvPr/>
        </p:nvPicPr>
        <p:blipFill>
          <a:blip r:embed="rId4"/>
          <a:stretch>
            <a:fillRect/>
          </a:stretch>
        </p:blipFill>
        <p:spPr>
          <a:xfrm>
            <a:off x="4459900" y="3174235"/>
            <a:ext cx="128699" cy="187198"/>
          </a:xfrm>
          <a:prstGeom prst="rect">
            <a:avLst/>
          </a:prstGeom>
        </p:spPr>
      </p:pic>
      <p:sp>
        <p:nvSpPr>
          <p:cNvPr id="75" name="TextBox 74"/>
          <p:cNvSpPr txBox="1"/>
          <p:nvPr/>
        </p:nvSpPr>
        <p:spPr>
          <a:xfrm>
            <a:off x="4627396" y="3184014"/>
            <a:ext cx="111125" cy="186689"/>
          </a:xfrm>
          <a:prstGeom prst="rect">
            <a:avLst/>
          </a:prstGeom>
          <a:noFill/>
        </p:spPr>
        <p:txBody>
          <a:bodyPr wrap="none" lIns="0" rIns="0" tIns="0" bIns="0">
            <a:spAutoFit/>
          </a:bodyPr>
          <a:lstStyle/>
          <a:p>
            <a:r>
              <a:rPr sz="1100" b="0">
                <a:solidFill>
                  <a:srgbClr val="2E2E2E"/>
                </a:solidFill>
                <a:latin typeface="Calibri"/>
              </a:rPr>
              <a:t>,</a:t>
            </a:r>
          </a:p>
        </p:txBody>
      </p:sp>
      <p:sp>
        <p:nvSpPr>
          <p:cNvPr id="76" name="TextBox 75"/>
          <p:cNvSpPr txBox="1"/>
          <p:nvPr/>
        </p:nvSpPr>
        <p:spPr>
          <a:xfrm>
            <a:off x="2657475" y="3351654"/>
            <a:ext cx="1487388" cy="186689"/>
          </a:xfrm>
          <a:prstGeom prst="rect">
            <a:avLst/>
          </a:prstGeom>
          <a:noFill/>
        </p:spPr>
        <p:txBody>
          <a:bodyPr wrap="none" lIns="0" rIns="0" tIns="0" bIns="0">
            <a:spAutoFit/>
          </a:bodyPr>
          <a:lstStyle/>
          <a:p>
            <a:r>
              <a:rPr sz="1100" b="0">
                <a:solidFill>
                  <a:srgbClr val="2E2E2E"/>
                </a:solidFill>
                <a:latin typeface="Calibri"/>
              </a:rPr>
              <a:t>giving large buyers scale.</a:t>
            </a:r>
          </a:p>
        </p:txBody>
      </p:sp>
      <p:sp>
        <p:nvSpPr>
          <p:cNvPr id="77" name="TextBox 76"/>
          <p:cNvSpPr txBox="1"/>
          <p:nvPr/>
        </p:nvSpPr>
        <p:spPr>
          <a:xfrm>
            <a:off x="2657475" y="3708336"/>
            <a:ext cx="2062013" cy="186689"/>
          </a:xfrm>
          <a:prstGeom prst="rect">
            <a:avLst/>
          </a:prstGeom>
          <a:noFill/>
        </p:spPr>
        <p:txBody>
          <a:bodyPr wrap="none" lIns="0" rIns="0" tIns="0" bIns="0">
            <a:spAutoFit/>
          </a:bodyPr>
          <a:lstStyle/>
          <a:p>
            <a:r>
              <a:rPr sz="1100" b="0">
                <a:solidFill>
                  <a:srgbClr val="2E2E2E"/>
                </a:solidFill>
                <a:latin typeface="Calibri"/>
              </a:rPr>
              <a:t>▸ Price sensitivity tracks realisation</a:t>
            </a:r>
          </a:p>
        </p:txBody>
      </p:sp>
      <p:sp>
        <p:nvSpPr>
          <p:cNvPr id="78" name="TextBox 77"/>
          <p:cNvSpPr txBox="1"/>
          <p:nvPr/>
        </p:nvSpPr>
        <p:spPr>
          <a:xfrm>
            <a:off x="2657475" y="3875976"/>
            <a:ext cx="495845" cy="186689"/>
          </a:xfrm>
          <a:prstGeom prst="rect">
            <a:avLst/>
          </a:prstGeom>
          <a:noFill/>
        </p:spPr>
        <p:txBody>
          <a:bodyPr wrap="none" lIns="0" rIns="0" tIns="0" bIns="0">
            <a:spAutoFit/>
          </a:bodyPr>
          <a:lstStyle/>
          <a:p>
            <a:r>
              <a:rPr sz="1100" b="0">
                <a:solidFill>
                  <a:srgbClr val="2E2E2E"/>
                </a:solidFill>
                <a:latin typeface="Calibri"/>
              </a:rPr>
              <a:t>moving</a:t>
            </a:r>
          </a:p>
        </p:txBody>
      </p:sp>
      <p:pic>
        <p:nvPicPr>
          <p:cNvPr id="79" name="Picture 78" descr="lock.png"/>
          <p:cNvPicPr>
            <a:picLocks noChangeAspect="1"/>
          </p:cNvPicPr>
          <p:nvPr/>
        </p:nvPicPr>
        <p:blipFill>
          <a:blip r:embed="rId4"/>
          <a:stretch>
            <a:fillRect/>
          </a:stretch>
        </p:blipFill>
        <p:spPr>
          <a:xfrm>
            <a:off x="3101372" y="3866197"/>
            <a:ext cx="128699" cy="187198"/>
          </a:xfrm>
          <a:prstGeom prst="rect">
            <a:avLst/>
          </a:prstGeom>
        </p:spPr>
      </p:pic>
      <p:sp>
        <p:nvSpPr>
          <p:cNvPr id="80" name="TextBox 79"/>
          <p:cNvSpPr txBox="1"/>
          <p:nvPr/>
        </p:nvSpPr>
        <p:spPr>
          <a:xfrm>
            <a:off x="3268868" y="3875976"/>
            <a:ext cx="1316583" cy="186689"/>
          </a:xfrm>
          <a:prstGeom prst="rect">
            <a:avLst/>
          </a:prstGeom>
          <a:noFill/>
        </p:spPr>
        <p:txBody>
          <a:bodyPr wrap="none" lIns="0" rIns="0" tIns="0" bIns="0">
            <a:spAutoFit/>
          </a:bodyPr>
          <a:lstStyle/>
          <a:p>
            <a:r>
              <a:rPr sz="1100" b="0">
                <a:solidFill>
                  <a:srgbClr val="2E2E2E"/>
                </a:solidFill>
                <a:latin typeface="Calibri"/>
              </a:rPr>
              <a:t>a year against volume</a:t>
            </a:r>
          </a:p>
        </p:txBody>
      </p:sp>
      <p:sp>
        <p:nvSpPr>
          <p:cNvPr id="81" name="TextBox 80"/>
          <p:cNvSpPr txBox="1"/>
          <p:nvPr/>
        </p:nvSpPr>
        <p:spPr>
          <a:xfrm>
            <a:off x="2657475" y="4043616"/>
            <a:ext cx="632544" cy="186689"/>
          </a:xfrm>
          <a:prstGeom prst="rect">
            <a:avLst/>
          </a:prstGeom>
          <a:noFill/>
        </p:spPr>
        <p:txBody>
          <a:bodyPr wrap="none" lIns="0" rIns="0" tIns="0" bIns="0">
            <a:spAutoFit/>
          </a:bodyPr>
          <a:lstStyle/>
          <a:p>
            <a:r>
              <a:rPr sz="1100" b="0">
                <a:solidFill>
                  <a:srgbClr val="2E2E2E"/>
                </a:solidFill>
                <a:latin typeface="Calibri"/>
              </a:rPr>
              <a:t>growth of</a:t>
            </a:r>
          </a:p>
        </p:txBody>
      </p:sp>
      <p:pic>
        <p:nvPicPr>
          <p:cNvPr id="82" name="Picture 81" descr="lock.png"/>
          <p:cNvPicPr>
            <a:picLocks noChangeAspect="1"/>
          </p:cNvPicPr>
          <p:nvPr/>
        </p:nvPicPr>
        <p:blipFill>
          <a:blip r:embed="rId4"/>
          <a:stretch>
            <a:fillRect/>
          </a:stretch>
        </p:blipFill>
        <p:spPr>
          <a:xfrm>
            <a:off x="3238070" y="4033837"/>
            <a:ext cx="128699" cy="187198"/>
          </a:xfrm>
          <a:prstGeom prst="rect">
            <a:avLst/>
          </a:prstGeom>
        </p:spPr>
      </p:pic>
      <p:sp>
        <p:nvSpPr>
          <p:cNvPr id="83" name="TextBox 82"/>
          <p:cNvSpPr txBox="1"/>
          <p:nvPr/>
        </p:nvSpPr>
        <p:spPr>
          <a:xfrm>
            <a:off x="3405566" y="4043616"/>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4" name="TextBox 83"/>
          <p:cNvSpPr txBox="1"/>
          <p:nvPr/>
        </p:nvSpPr>
        <p:spPr>
          <a:xfrm>
            <a:off x="5038725" y="2932554"/>
            <a:ext cx="2114550" cy="186689"/>
          </a:xfrm>
          <a:prstGeom prst="rect">
            <a:avLst/>
          </a:prstGeom>
          <a:noFill/>
        </p:spPr>
        <p:txBody>
          <a:bodyPr wrap="none" lIns="0" rIns="0" tIns="0" bIns="0">
            <a:spAutoFit/>
          </a:bodyPr>
          <a:lstStyle/>
          <a:p>
            <a:r>
              <a:rPr sz="1100" b="0">
                <a:solidFill>
                  <a:srgbClr val="2E2E2E"/>
                </a:solidFill>
                <a:latin typeface="Calibri"/>
              </a:rPr>
              <a:t>▸ Assessed low. 2 device technology</a:t>
            </a:r>
          </a:p>
        </p:txBody>
      </p:sp>
      <p:sp>
        <p:nvSpPr>
          <p:cNvPr id="85" name="TextBox 84"/>
          <p:cNvSpPr txBox="1"/>
          <p:nvPr/>
        </p:nvSpPr>
        <p:spPr>
          <a:xfrm>
            <a:off x="5038725" y="3100194"/>
            <a:ext cx="2022723" cy="186689"/>
          </a:xfrm>
          <a:prstGeom prst="rect">
            <a:avLst/>
          </a:prstGeom>
          <a:noFill/>
        </p:spPr>
        <p:txBody>
          <a:bodyPr wrap="none" lIns="0" rIns="0" tIns="0" bIns="0">
            <a:spAutoFit/>
          </a:bodyPr>
          <a:lstStyle/>
          <a:p>
            <a:r>
              <a:rPr sz="1100" b="0">
                <a:solidFill>
                  <a:srgbClr val="2E2E2E"/>
                </a:solidFill>
                <a:latin typeface="Calibri"/>
              </a:rPr>
              <a:t>lines compete inside the segment;</a:t>
            </a:r>
          </a:p>
        </p:txBody>
      </p:sp>
      <p:sp>
        <p:nvSpPr>
          <p:cNvPr id="86" name="TextBox 85"/>
          <p:cNvSpPr txBox="1"/>
          <p:nvPr/>
        </p:nvSpPr>
        <p:spPr>
          <a:xfrm>
            <a:off x="5038725" y="3267834"/>
            <a:ext cx="997074" cy="186689"/>
          </a:xfrm>
          <a:prstGeom prst="rect">
            <a:avLst/>
          </a:prstGeom>
          <a:noFill/>
        </p:spPr>
        <p:txBody>
          <a:bodyPr wrap="none" lIns="0" rIns="0" tIns="0" bIns="0">
            <a:spAutoFit/>
          </a:bodyPr>
          <a:lstStyle/>
          <a:p>
            <a:r>
              <a:rPr sz="1100" b="0">
                <a:solidFill>
                  <a:srgbClr val="2E2E2E"/>
                </a:solidFill>
                <a:latin typeface="Calibri"/>
              </a:rPr>
              <a:t>the leader holds</a:t>
            </a:r>
          </a:p>
        </p:txBody>
      </p:sp>
      <p:pic>
        <p:nvPicPr>
          <p:cNvPr id="87" name="Picture 86" descr="lock.png"/>
          <p:cNvPicPr>
            <a:picLocks noChangeAspect="1"/>
          </p:cNvPicPr>
          <p:nvPr/>
        </p:nvPicPr>
        <p:blipFill>
          <a:blip r:embed="rId4"/>
          <a:stretch>
            <a:fillRect/>
          </a:stretch>
        </p:blipFill>
        <p:spPr>
          <a:xfrm>
            <a:off x="5983850" y="3258055"/>
            <a:ext cx="128699" cy="187198"/>
          </a:xfrm>
          <a:prstGeom prst="rect">
            <a:avLst/>
          </a:prstGeom>
        </p:spPr>
      </p:pic>
      <p:sp>
        <p:nvSpPr>
          <p:cNvPr id="88" name="TextBox 87"/>
          <p:cNvSpPr txBox="1"/>
          <p:nvPr/>
        </p:nvSpPr>
        <p:spPr>
          <a:xfrm>
            <a:off x="6151346" y="3267834"/>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89" name="TextBox 88"/>
          <p:cNvSpPr txBox="1"/>
          <p:nvPr/>
        </p:nvSpPr>
        <p:spPr>
          <a:xfrm>
            <a:off x="5038725" y="3715785"/>
            <a:ext cx="1934046" cy="186689"/>
          </a:xfrm>
          <a:prstGeom prst="rect">
            <a:avLst/>
          </a:prstGeom>
          <a:noFill/>
        </p:spPr>
        <p:txBody>
          <a:bodyPr wrap="none" lIns="0" rIns="0" tIns="0" bIns="0">
            <a:spAutoFit/>
          </a:bodyPr>
          <a:lstStyle/>
          <a:p>
            <a:r>
              <a:rPr sz="1100" b="0">
                <a:solidFill>
                  <a:srgbClr val="2E2E2E"/>
                </a:solidFill>
                <a:latin typeface="Calibri"/>
              </a:rPr>
              <a:t>▸ Growth is unevenly distributed</a:t>
            </a:r>
          </a:p>
        </p:txBody>
      </p:sp>
      <p:sp>
        <p:nvSpPr>
          <p:cNvPr id="90" name="TextBox 89"/>
          <p:cNvSpPr txBox="1"/>
          <p:nvPr/>
        </p:nvSpPr>
        <p:spPr>
          <a:xfrm>
            <a:off x="5038725" y="3883425"/>
            <a:ext cx="1818084" cy="186689"/>
          </a:xfrm>
          <a:prstGeom prst="rect">
            <a:avLst/>
          </a:prstGeom>
          <a:noFill/>
        </p:spPr>
        <p:txBody>
          <a:bodyPr wrap="none" lIns="0" rIns="0" tIns="0" bIns="0">
            <a:spAutoFit/>
          </a:bodyPr>
          <a:lstStyle/>
          <a:p>
            <a:r>
              <a:rPr sz="1100" b="0">
                <a:solidFill>
                  <a:srgbClr val="2E2E2E"/>
                </a:solidFill>
                <a:latin typeface="Calibri"/>
              </a:rPr>
              <a:t>'Static Cold Storage Devices' at</a:t>
            </a:r>
          </a:p>
        </p:txBody>
      </p:sp>
      <p:pic>
        <p:nvPicPr>
          <p:cNvPr id="91" name="Picture 90" descr="lock.png"/>
          <p:cNvPicPr>
            <a:picLocks noChangeAspect="1"/>
          </p:cNvPicPr>
          <p:nvPr/>
        </p:nvPicPr>
        <p:blipFill>
          <a:blip r:embed="rId4"/>
          <a:stretch>
            <a:fillRect/>
          </a:stretch>
        </p:blipFill>
        <p:spPr>
          <a:xfrm>
            <a:off x="6804860" y="3873646"/>
            <a:ext cx="128699" cy="187198"/>
          </a:xfrm>
          <a:prstGeom prst="rect">
            <a:avLst/>
          </a:prstGeom>
        </p:spPr>
      </p:pic>
      <p:sp>
        <p:nvSpPr>
          <p:cNvPr id="92" name="TextBox 91"/>
          <p:cNvSpPr txBox="1"/>
          <p:nvPr/>
        </p:nvSpPr>
        <p:spPr>
          <a:xfrm>
            <a:off x="5038725" y="4051065"/>
            <a:ext cx="2114550" cy="186689"/>
          </a:xfrm>
          <a:prstGeom prst="rect">
            <a:avLst/>
          </a:prstGeom>
          <a:noFill/>
        </p:spPr>
        <p:txBody>
          <a:bodyPr wrap="none" lIns="0" rIns="0" tIns="0" bIns="0">
            <a:spAutoFit/>
          </a:bodyPr>
          <a:lstStyle/>
          <a:p>
            <a:r>
              <a:rPr sz="1100" b="0">
                <a:solidFill>
                  <a:srgbClr val="2E2E2E"/>
                </a:solidFill>
                <a:latin typeface="Calibri"/>
              </a:rPr>
              <a:t>against 'Portable Machine Perfusion</a:t>
            </a:r>
          </a:p>
        </p:txBody>
      </p:sp>
      <p:sp>
        <p:nvSpPr>
          <p:cNvPr id="93" name="TextBox 92"/>
          <p:cNvSpPr txBox="1"/>
          <p:nvPr/>
        </p:nvSpPr>
        <p:spPr>
          <a:xfrm>
            <a:off x="5038725" y="4218705"/>
            <a:ext cx="686568" cy="186689"/>
          </a:xfrm>
          <a:prstGeom prst="rect">
            <a:avLst/>
          </a:prstGeom>
          <a:noFill/>
        </p:spPr>
        <p:txBody>
          <a:bodyPr wrap="none" lIns="0" rIns="0" tIns="0" bIns="0">
            <a:spAutoFit/>
          </a:bodyPr>
          <a:lstStyle/>
          <a:p>
            <a:r>
              <a:rPr sz="1100" b="0">
                <a:solidFill>
                  <a:srgbClr val="2E2E2E"/>
                </a:solidFill>
                <a:latin typeface="Calibri"/>
              </a:rPr>
              <a:t>Devices' at</a:t>
            </a:r>
          </a:p>
        </p:txBody>
      </p:sp>
      <p:pic>
        <p:nvPicPr>
          <p:cNvPr id="94" name="Picture 93" descr="lock.png"/>
          <p:cNvPicPr>
            <a:picLocks noChangeAspect="1"/>
          </p:cNvPicPr>
          <p:nvPr/>
        </p:nvPicPr>
        <p:blipFill>
          <a:blip r:embed="rId4"/>
          <a:stretch>
            <a:fillRect/>
          </a:stretch>
        </p:blipFill>
        <p:spPr>
          <a:xfrm>
            <a:off x="5673345" y="4208926"/>
            <a:ext cx="128699" cy="187198"/>
          </a:xfrm>
          <a:prstGeom prst="rect">
            <a:avLst/>
          </a:prstGeom>
        </p:spPr>
      </p:pic>
      <p:sp>
        <p:nvSpPr>
          <p:cNvPr id="95" name="TextBox 94"/>
          <p:cNvSpPr txBox="1"/>
          <p:nvPr/>
        </p:nvSpPr>
        <p:spPr>
          <a:xfrm>
            <a:off x="5840841" y="4218705"/>
            <a:ext cx="111397" cy="186689"/>
          </a:xfrm>
          <a:prstGeom prst="rect">
            <a:avLst/>
          </a:prstGeom>
          <a:noFill/>
        </p:spPr>
        <p:txBody>
          <a:bodyPr wrap="none" lIns="0" rIns="0" tIns="0" bIns="0">
            <a:spAutoFit/>
          </a:bodyPr>
          <a:lstStyle/>
          <a:p>
            <a:r>
              <a:rPr sz="1100" b="0">
                <a:solidFill>
                  <a:srgbClr val="2E2E2E"/>
                </a:solidFill>
                <a:latin typeface="Calibri"/>
              </a:rPr>
              <a:t>.</a:t>
            </a:r>
          </a:p>
        </p:txBody>
      </p:sp>
      <p:sp>
        <p:nvSpPr>
          <p:cNvPr id="96" name="TextBox 95"/>
          <p:cNvSpPr txBox="1"/>
          <p:nvPr/>
        </p:nvSpPr>
        <p:spPr>
          <a:xfrm>
            <a:off x="5038725" y="4575387"/>
            <a:ext cx="2114550" cy="186689"/>
          </a:xfrm>
          <a:prstGeom prst="rect">
            <a:avLst/>
          </a:prstGeom>
          <a:noFill/>
        </p:spPr>
        <p:txBody>
          <a:bodyPr wrap="none" lIns="0" rIns="0" tIns="0" bIns="0">
            <a:spAutoFit/>
          </a:bodyPr>
          <a:lstStyle/>
          <a:p>
            <a:r>
              <a:rPr sz="1100" b="0">
                <a:solidFill>
                  <a:srgbClr val="2E2E2E"/>
                </a:solidFill>
                <a:latin typeface="Calibri"/>
              </a:rPr>
              <a:t>▸ 3 of 6 regions grow at or above the</a:t>
            </a:r>
          </a:p>
        </p:txBody>
      </p:sp>
      <p:pic>
        <p:nvPicPr>
          <p:cNvPr id="97" name="Picture 96" descr="lock.png"/>
          <p:cNvPicPr>
            <a:picLocks noChangeAspect="1"/>
          </p:cNvPicPr>
          <p:nvPr/>
        </p:nvPicPr>
        <p:blipFill>
          <a:blip r:embed="rId4"/>
          <a:stretch>
            <a:fillRect/>
          </a:stretch>
        </p:blipFill>
        <p:spPr>
          <a:xfrm>
            <a:off x="5025257" y="4733248"/>
            <a:ext cx="128699" cy="187198"/>
          </a:xfrm>
          <a:prstGeom prst="rect">
            <a:avLst/>
          </a:prstGeom>
        </p:spPr>
      </p:pic>
      <p:sp>
        <p:nvSpPr>
          <p:cNvPr id="98" name="TextBox 97"/>
          <p:cNvSpPr txBox="1"/>
          <p:nvPr/>
        </p:nvSpPr>
        <p:spPr>
          <a:xfrm>
            <a:off x="5192753" y="4743027"/>
            <a:ext cx="1643186" cy="186689"/>
          </a:xfrm>
          <a:prstGeom prst="rect">
            <a:avLst/>
          </a:prstGeom>
          <a:noFill/>
        </p:spPr>
        <p:txBody>
          <a:bodyPr wrap="none" lIns="0" rIns="0" tIns="0" bIns="0">
            <a:spAutoFit/>
          </a:bodyPr>
          <a:lstStyle/>
          <a:p>
            <a:r>
              <a:rPr sz="1100" b="0">
                <a:solidFill>
                  <a:srgbClr val="2E2E2E"/>
                </a:solidFill>
                <a:latin typeface="Calibri"/>
              </a:rPr>
              <a:t>market pace, keeping share</a:t>
            </a:r>
          </a:p>
        </p:txBody>
      </p:sp>
      <p:sp>
        <p:nvSpPr>
          <p:cNvPr id="99" name="TextBox 98"/>
          <p:cNvSpPr txBox="1"/>
          <p:nvPr/>
        </p:nvSpPr>
        <p:spPr>
          <a:xfrm>
            <a:off x="5038725" y="4910667"/>
            <a:ext cx="678656" cy="186689"/>
          </a:xfrm>
          <a:prstGeom prst="rect">
            <a:avLst/>
          </a:prstGeom>
          <a:noFill/>
        </p:spPr>
        <p:txBody>
          <a:bodyPr wrap="none" lIns="0" rIns="0" tIns="0" bIns="0">
            <a:spAutoFit/>
          </a:bodyPr>
          <a:lstStyle/>
          <a:p>
            <a:r>
              <a:rPr sz="1100" b="0">
                <a:solidFill>
                  <a:srgbClr val="2E2E2E"/>
                </a:solidFill>
                <a:latin typeface="Calibri"/>
              </a:rPr>
              <a:t>contested.</a:t>
            </a:r>
          </a:p>
        </p:txBody>
      </p:sp>
      <p:sp>
        <p:nvSpPr>
          <p:cNvPr id="100" name="TextBox 99"/>
          <p:cNvSpPr txBox="1"/>
          <p:nvPr/>
        </p:nvSpPr>
        <p:spPr>
          <a:xfrm>
            <a:off x="7419975" y="2952014"/>
            <a:ext cx="2035001" cy="186689"/>
          </a:xfrm>
          <a:prstGeom prst="rect">
            <a:avLst/>
          </a:prstGeom>
          <a:noFill/>
        </p:spPr>
        <p:txBody>
          <a:bodyPr wrap="none" lIns="0" rIns="0" tIns="0" bIns="0">
            <a:spAutoFit/>
          </a:bodyPr>
          <a:lstStyle/>
          <a:p>
            <a:r>
              <a:rPr sz="1100" b="0">
                <a:solidFill>
                  <a:srgbClr val="2E2E2E"/>
                </a:solidFill>
                <a:latin typeface="Calibri"/>
              </a:rPr>
              <a:t>▸ Assessed low. 'Portable Machine</a:t>
            </a:r>
          </a:p>
        </p:txBody>
      </p:sp>
      <p:sp>
        <p:nvSpPr>
          <p:cNvPr id="101" name="TextBox 100"/>
          <p:cNvSpPr txBox="1"/>
          <p:nvPr/>
        </p:nvSpPr>
        <p:spPr>
          <a:xfrm>
            <a:off x="7419975" y="3119654"/>
            <a:ext cx="1429543" cy="186689"/>
          </a:xfrm>
          <a:prstGeom prst="rect">
            <a:avLst/>
          </a:prstGeom>
          <a:noFill/>
        </p:spPr>
        <p:txBody>
          <a:bodyPr wrap="none" lIns="0" rIns="0" tIns="0" bIns="0">
            <a:spAutoFit/>
          </a:bodyPr>
          <a:lstStyle/>
          <a:p>
            <a:r>
              <a:rPr sz="1100" b="0">
                <a:solidFill>
                  <a:srgbClr val="2E2E2E"/>
                </a:solidFill>
                <a:latin typeface="Calibri"/>
              </a:rPr>
              <a:t>Perfusion Devices' loses</a:t>
            </a:r>
          </a:p>
        </p:txBody>
      </p:sp>
      <p:pic>
        <p:nvPicPr>
          <p:cNvPr id="102" name="Picture 101" descr="lock.png"/>
          <p:cNvPicPr>
            <a:picLocks noChangeAspect="1"/>
          </p:cNvPicPr>
          <p:nvPr/>
        </p:nvPicPr>
        <p:blipFill>
          <a:blip r:embed="rId4"/>
          <a:stretch>
            <a:fillRect/>
          </a:stretch>
        </p:blipFill>
        <p:spPr>
          <a:xfrm>
            <a:off x="8797570" y="3109875"/>
            <a:ext cx="128699" cy="187198"/>
          </a:xfrm>
          <a:prstGeom prst="rect">
            <a:avLst/>
          </a:prstGeom>
        </p:spPr>
      </p:pic>
      <p:sp>
        <p:nvSpPr>
          <p:cNvPr id="103" name="TextBox 102"/>
          <p:cNvSpPr txBox="1"/>
          <p:nvPr/>
        </p:nvSpPr>
        <p:spPr>
          <a:xfrm>
            <a:off x="8965066" y="3119654"/>
            <a:ext cx="436636" cy="186689"/>
          </a:xfrm>
          <a:prstGeom prst="rect">
            <a:avLst/>
          </a:prstGeom>
          <a:noFill/>
        </p:spPr>
        <p:txBody>
          <a:bodyPr wrap="none" lIns="0" rIns="0" tIns="0" bIns="0">
            <a:spAutoFit/>
          </a:bodyPr>
          <a:lstStyle/>
          <a:p>
            <a:r>
              <a:rPr sz="1100" b="0">
                <a:solidFill>
                  <a:srgbClr val="2E2E2E"/>
                </a:solidFill>
                <a:latin typeface="Calibri"/>
              </a:rPr>
              <a:t>BPS of</a:t>
            </a:r>
          </a:p>
        </p:txBody>
      </p:sp>
      <p:sp>
        <p:nvSpPr>
          <p:cNvPr id="104" name="TextBox 103"/>
          <p:cNvSpPr txBox="1"/>
          <p:nvPr/>
        </p:nvSpPr>
        <p:spPr>
          <a:xfrm>
            <a:off x="7419975" y="3287294"/>
            <a:ext cx="2114550" cy="186689"/>
          </a:xfrm>
          <a:prstGeom prst="rect">
            <a:avLst/>
          </a:prstGeom>
          <a:noFill/>
        </p:spPr>
        <p:txBody>
          <a:bodyPr wrap="none" lIns="0" rIns="0" tIns="0" bIns="0">
            <a:spAutoFit/>
          </a:bodyPr>
          <a:lstStyle/>
          <a:p>
            <a:r>
              <a:rPr sz="1100" b="0">
                <a:solidFill>
                  <a:srgbClr val="2E2E2E"/>
                </a:solidFill>
                <a:latin typeface="Calibri"/>
              </a:rPr>
              <a:t>share to 'Static Cold Storage Devices'</a:t>
            </a:r>
          </a:p>
        </p:txBody>
      </p:sp>
      <p:sp>
        <p:nvSpPr>
          <p:cNvPr id="105" name="TextBox 104"/>
          <p:cNvSpPr txBox="1"/>
          <p:nvPr/>
        </p:nvSpPr>
        <p:spPr>
          <a:xfrm>
            <a:off x="7419975" y="3454934"/>
            <a:ext cx="188069"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106" name="Picture 105" descr="lock.png"/>
          <p:cNvPicPr>
            <a:picLocks noChangeAspect="1"/>
          </p:cNvPicPr>
          <p:nvPr/>
        </p:nvPicPr>
        <p:blipFill>
          <a:blip r:embed="rId4"/>
          <a:stretch>
            <a:fillRect/>
          </a:stretch>
        </p:blipFill>
        <p:spPr>
          <a:xfrm>
            <a:off x="7556095" y="3445155"/>
            <a:ext cx="128699" cy="187198"/>
          </a:xfrm>
          <a:prstGeom prst="rect">
            <a:avLst/>
          </a:prstGeom>
        </p:spPr>
      </p:pic>
      <p:sp>
        <p:nvSpPr>
          <p:cNvPr id="107" name="TextBox 106"/>
          <p:cNvSpPr txBox="1"/>
          <p:nvPr/>
        </p:nvSpPr>
        <p:spPr>
          <a:xfrm>
            <a:off x="7723591" y="3454934"/>
            <a:ext cx="1646460" cy="186689"/>
          </a:xfrm>
          <a:prstGeom prst="rect">
            <a:avLst/>
          </a:prstGeom>
          <a:noFill/>
        </p:spPr>
        <p:txBody>
          <a:bodyPr wrap="none" lIns="0" rIns="0" tIns="0" bIns="0">
            <a:spAutoFit/>
          </a:bodyPr>
          <a:lstStyle/>
          <a:p>
            <a:r>
              <a:rPr sz="1100" b="0">
                <a:solidFill>
                  <a:srgbClr val="2E2E2E"/>
                </a:solidFill>
                <a:latin typeface="Calibri"/>
              </a:rPr>
              <a:t>BPS) by 2036 substitution is</a:t>
            </a:r>
          </a:p>
        </p:txBody>
      </p:sp>
      <p:sp>
        <p:nvSpPr>
          <p:cNvPr id="108" name="TextBox 107"/>
          <p:cNvSpPr txBox="1"/>
          <p:nvPr/>
        </p:nvSpPr>
        <p:spPr>
          <a:xfrm>
            <a:off x="7419975" y="3622574"/>
            <a:ext cx="1293117" cy="186689"/>
          </a:xfrm>
          <a:prstGeom prst="rect">
            <a:avLst/>
          </a:prstGeom>
          <a:noFill/>
        </p:spPr>
        <p:txBody>
          <a:bodyPr wrap="none" lIns="0" rIns="0" tIns="0" bIns="0">
            <a:spAutoFit/>
          </a:bodyPr>
          <a:lstStyle/>
          <a:p>
            <a:r>
              <a:rPr sz="1100" b="0">
                <a:solidFill>
                  <a:srgbClr val="2E2E2E"/>
                </a:solidFill>
                <a:latin typeface="Calibri"/>
              </a:rPr>
              <a:t>visible inside the mix.</a:t>
            </a:r>
          </a:p>
        </p:txBody>
      </p:sp>
      <p:sp>
        <p:nvSpPr>
          <p:cNvPr id="109" name="TextBox 108"/>
          <p:cNvSpPr txBox="1"/>
          <p:nvPr/>
        </p:nvSpPr>
        <p:spPr>
          <a:xfrm>
            <a:off x="7419975" y="4077231"/>
            <a:ext cx="1550384" cy="179984"/>
          </a:xfrm>
          <a:prstGeom prst="rect">
            <a:avLst/>
          </a:prstGeom>
          <a:noFill/>
        </p:spPr>
        <p:txBody>
          <a:bodyPr wrap="none" lIns="0" rIns="0" tIns="0" bIns="0">
            <a:spAutoFit/>
          </a:bodyPr>
          <a:lstStyle/>
          <a:p>
            <a:r>
              <a:rPr sz="1055" b="0">
                <a:solidFill>
                  <a:srgbClr val="2E2E2E"/>
                </a:solidFill>
                <a:latin typeface="Calibri"/>
              </a:rPr>
              <a:t>▸ The slowest line grows at</a:t>
            </a:r>
          </a:p>
        </p:txBody>
      </p:sp>
      <p:pic>
        <p:nvPicPr>
          <p:cNvPr id="110" name="Picture 109" descr="lock.png"/>
          <p:cNvPicPr>
            <a:picLocks noChangeAspect="1"/>
          </p:cNvPicPr>
          <p:nvPr/>
        </p:nvPicPr>
        <p:blipFill>
          <a:blip r:embed="rId4"/>
          <a:stretch>
            <a:fillRect/>
          </a:stretch>
        </p:blipFill>
        <p:spPr>
          <a:xfrm>
            <a:off x="8917440" y="4067843"/>
            <a:ext cx="123551" cy="179710"/>
          </a:xfrm>
          <a:prstGeom prst="rect">
            <a:avLst/>
          </a:prstGeom>
        </p:spPr>
      </p:pic>
      <p:sp>
        <p:nvSpPr>
          <p:cNvPr id="111" name="TextBox 110"/>
          <p:cNvSpPr txBox="1"/>
          <p:nvPr/>
        </p:nvSpPr>
        <p:spPr>
          <a:xfrm>
            <a:off x="9078236" y="4077231"/>
            <a:ext cx="181236" cy="179984"/>
          </a:xfrm>
          <a:prstGeom prst="rect">
            <a:avLst/>
          </a:prstGeom>
          <a:noFill/>
        </p:spPr>
        <p:txBody>
          <a:bodyPr wrap="none" lIns="0" rIns="0" tIns="0" bIns="0">
            <a:spAutoFit/>
          </a:bodyPr>
          <a:lstStyle/>
          <a:p>
            <a:r>
              <a:rPr sz="1055" b="0">
                <a:solidFill>
                  <a:srgbClr val="2E2E2E"/>
                </a:solidFill>
                <a:latin typeface="Calibri"/>
              </a:rPr>
              <a:t>, -</a:t>
            </a:r>
          </a:p>
        </p:txBody>
      </p:sp>
      <p:pic>
        <p:nvPicPr>
          <p:cNvPr id="112" name="Picture 111" descr="lock.png"/>
          <p:cNvPicPr>
            <a:picLocks noChangeAspect="1"/>
          </p:cNvPicPr>
          <p:nvPr/>
        </p:nvPicPr>
        <p:blipFill>
          <a:blip r:embed="rId4"/>
          <a:stretch>
            <a:fillRect/>
          </a:stretch>
        </p:blipFill>
        <p:spPr>
          <a:xfrm>
            <a:off x="9206555" y="4067843"/>
            <a:ext cx="123551" cy="179710"/>
          </a:xfrm>
          <a:prstGeom prst="rect">
            <a:avLst/>
          </a:prstGeom>
        </p:spPr>
      </p:pic>
      <p:sp>
        <p:nvSpPr>
          <p:cNvPr id="113" name="TextBox 112"/>
          <p:cNvSpPr txBox="1"/>
          <p:nvPr/>
        </p:nvSpPr>
        <p:spPr>
          <a:xfrm>
            <a:off x="7419975" y="4238165"/>
            <a:ext cx="1368861" cy="179984"/>
          </a:xfrm>
          <a:prstGeom prst="rect">
            <a:avLst/>
          </a:prstGeom>
          <a:noFill/>
        </p:spPr>
        <p:txBody>
          <a:bodyPr wrap="none" lIns="0" rIns="0" tIns="0" bIns="0">
            <a:spAutoFit/>
          </a:bodyPr>
          <a:lstStyle/>
          <a:p>
            <a:r>
              <a:rPr sz="1055" b="0">
                <a:solidFill>
                  <a:srgbClr val="2E2E2E"/>
                </a:solidFill>
                <a:latin typeface="Calibri"/>
              </a:rPr>
              <a:t>BPS against the market.</a:t>
            </a:r>
          </a:p>
        </p:txBody>
      </p:sp>
      <p:sp>
        <p:nvSpPr>
          <p:cNvPr id="114" name="TextBox 113"/>
          <p:cNvSpPr txBox="1"/>
          <p:nvPr/>
        </p:nvSpPr>
        <p:spPr>
          <a:xfrm>
            <a:off x="7419975" y="4575387"/>
            <a:ext cx="1254373" cy="186689"/>
          </a:xfrm>
          <a:prstGeom prst="rect">
            <a:avLst/>
          </a:prstGeom>
          <a:noFill/>
        </p:spPr>
        <p:txBody>
          <a:bodyPr wrap="none" lIns="0" rIns="0" tIns="0" bIns="0">
            <a:spAutoFit/>
          </a:bodyPr>
          <a:lstStyle/>
          <a:p>
            <a:r>
              <a:rPr sz="1100" b="0">
                <a:solidFill>
                  <a:srgbClr val="2E2E2E"/>
                </a:solidFill>
                <a:latin typeface="Calibri"/>
              </a:rPr>
              <a:t>▸ Realisation moving</a:t>
            </a:r>
          </a:p>
        </p:txBody>
      </p:sp>
      <p:pic>
        <p:nvPicPr>
          <p:cNvPr id="115" name="Picture 114" descr="lock.png"/>
          <p:cNvPicPr>
            <a:picLocks noChangeAspect="1"/>
          </p:cNvPicPr>
          <p:nvPr/>
        </p:nvPicPr>
        <p:blipFill>
          <a:blip r:embed="rId4"/>
          <a:stretch>
            <a:fillRect/>
          </a:stretch>
        </p:blipFill>
        <p:spPr>
          <a:xfrm>
            <a:off x="8622399" y="4565608"/>
            <a:ext cx="128699" cy="187198"/>
          </a:xfrm>
          <a:prstGeom prst="rect">
            <a:avLst/>
          </a:prstGeom>
        </p:spPr>
      </p:pic>
      <p:sp>
        <p:nvSpPr>
          <p:cNvPr id="116" name="TextBox 115"/>
          <p:cNvSpPr txBox="1"/>
          <p:nvPr/>
        </p:nvSpPr>
        <p:spPr>
          <a:xfrm>
            <a:off x="8789895" y="4575387"/>
            <a:ext cx="423267" cy="186689"/>
          </a:xfrm>
          <a:prstGeom prst="rect">
            <a:avLst/>
          </a:prstGeom>
          <a:noFill/>
        </p:spPr>
        <p:txBody>
          <a:bodyPr wrap="none" lIns="0" rIns="0" tIns="0" bIns="0">
            <a:spAutoFit/>
          </a:bodyPr>
          <a:lstStyle/>
          <a:p>
            <a:r>
              <a:rPr sz="1100" b="0">
                <a:solidFill>
                  <a:srgbClr val="2E2E2E"/>
                </a:solidFill>
                <a:latin typeface="Calibri"/>
              </a:rPr>
              <a:t>a year</a:t>
            </a:r>
          </a:p>
        </p:txBody>
      </p:sp>
      <p:sp>
        <p:nvSpPr>
          <p:cNvPr id="117" name="TextBox 116"/>
          <p:cNvSpPr txBox="1"/>
          <p:nvPr/>
        </p:nvSpPr>
        <p:spPr>
          <a:xfrm>
            <a:off x="7419975" y="4743027"/>
            <a:ext cx="1911399" cy="186689"/>
          </a:xfrm>
          <a:prstGeom prst="rect">
            <a:avLst/>
          </a:prstGeom>
          <a:noFill/>
        </p:spPr>
        <p:txBody>
          <a:bodyPr wrap="none" lIns="0" rIns="0" tIns="0" bIns="0">
            <a:spAutoFit/>
          </a:bodyPr>
          <a:lstStyle/>
          <a:p>
            <a:r>
              <a:rPr sz="1100" b="0">
                <a:solidFill>
                  <a:srgbClr val="2E2E2E"/>
                </a:solidFill>
                <a:latin typeface="Calibri"/>
              </a:rPr>
              <a:t>widens the price gap substitutes</a:t>
            </a:r>
          </a:p>
        </p:txBody>
      </p:sp>
      <p:sp>
        <p:nvSpPr>
          <p:cNvPr id="118" name="TextBox 117"/>
          <p:cNvSpPr txBox="1"/>
          <p:nvPr/>
        </p:nvSpPr>
        <p:spPr>
          <a:xfrm>
            <a:off x="7419975" y="4910667"/>
            <a:ext cx="718765" cy="186689"/>
          </a:xfrm>
          <a:prstGeom prst="rect">
            <a:avLst/>
          </a:prstGeom>
          <a:noFill/>
        </p:spPr>
        <p:txBody>
          <a:bodyPr wrap="none" lIns="0" rIns="0" tIns="0" bIns="0">
            <a:spAutoFit/>
          </a:bodyPr>
          <a:lstStyle/>
          <a:p>
            <a:r>
              <a:rPr sz="1100" b="0">
                <a:solidFill>
                  <a:srgbClr val="2E2E2E"/>
                </a:solidFill>
                <a:latin typeface="Calibri"/>
              </a:rPr>
              <a:t>must close.</a:t>
            </a:r>
          </a:p>
        </p:txBody>
      </p:sp>
      <p:sp>
        <p:nvSpPr>
          <p:cNvPr id="119" name="TextBox 118"/>
          <p:cNvSpPr txBox="1"/>
          <p:nvPr/>
        </p:nvSpPr>
        <p:spPr>
          <a:xfrm>
            <a:off x="9801225" y="2848734"/>
            <a:ext cx="1989162" cy="186689"/>
          </a:xfrm>
          <a:prstGeom prst="rect">
            <a:avLst/>
          </a:prstGeom>
          <a:noFill/>
        </p:spPr>
        <p:txBody>
          <a:bodyPr wrap="none" lIns="0" rIns="0" tIns="0" bIns="0">
            <a:spAutoFit/>
          </a:bodyPr>
          <a:lstStyle/>
          <a:p>
            <a:r>
              <a:rPr sz="1100" b="0">
                <a:solidFill>
                  <a:srgbClr val="2E2E2E"/>
                </a:solidFill>
                <a:latin typeface="Calibri"/>
              </a:rPr>
              <a:t>▸ Assessed moderate to high. The</a:t>
            </a:r>
          </a:p>
        </p:txBody>
      </p:sp>
      <p:sp>
        <p:nvSpPr>
          <p:cNvPr id="120" name="TextBox 119"/>
          <p:cNvSpPr txBox="1"/>
          <p:nvPr/>
        </p:nvSpPr>
        <p:spPr>
          <a:xfrm>
            <a:off x="9801225" y="3016374"/>
            <a:ext cx="1003349" cy="186689"/>
          </a:xfrm>
          <a:prstGeom prst="rect">
            <a:avLst/>
          </a:prstGeom>
          <a:noFill/>
        </p:spPr>
        <p:txBody>
          <a:bodyPr wrap="none" lIns="0" rIns="0" tIns="0" bIns="0">
            <a:spAutoFit/>
          </a:bodyPr>
          <a:lstStyle/>
          <a:p>
            <a:r>
              <a:rPr sz="1100" b="0">
                <a:solidFill>
                  <a:srgbClr val="2E2E2E"/>
                </a:solidFill>
                <a:latin typeface="Calibri"/>
              </a:rPr>
              <a:t>market grows at</a:t>
            </a:r>
          </a:p>
        </p:txBody>
      </p:sp>
      <p:pic>
        <p:nvPicPr>
          <p:cNvPr id="121" name="Picture 120" descr="lock.png"/>
          <p:cNvPicPr>
            <a:picLocks noChangeAspect="1"/>
          </p:cNvPicPr>
          <p:nvPr/>
        </p:nvPicPr>
        <p:blipFill>
          <a:blip r:embed="rId4"/>
          <a:stretch>
            <a:fillRect/>
          </a:stretch>
        </p:blipFill>
        <p:spPr>
          <a:xfrm>
            <a:off x="10752626" y="3006595"/>
            <a:ext cx="128699" cy="187198"/>
          </a:xfrm>
          <a:prstGeom prst="rect">
            <a:avLst/>
          </a:prstGeom>
        </p:spPr>
      </p:pic>
      <p:sp>
        <p:nvSpPr>
          <p:cNvPr id="122" name="TextBox 121"/>
          <p:cNvSpPr txBox="1"/>
          <p:nvPr/>
        </p:nvSpPr>
        <p:spPr>
          <a:xfrm>
            <a:off x="10920122" y="3016374"/>
            <a:ext cx="940576" cy="186689"/>
          </a:xfrm>
          <a:prstGeom prst="rect">
            <a:avLst/>
          </a:prstGeom>
          <a:noFill/>
        </p:spPr>
        <p:txBody>
          <a:bodyPr wrap="none" lIns="0" rIns="0" tIns="0" bIns="0">
            <a:spAutoFit/>
          </a:bodyPr>
          <a:lstStyle/>
          <a:p>
            <a:r>
              <a:rPr sz="1100" b="0">
                <a:solidFill>
                  <a:srgbClr val="2E2E2E"/>
                </a:solidFill>
                <a:latin typeface="Calibri"/>
              </a:rPr>
              <a:t>CAGR and adds</a:t>
            </a:r>
          </a:p>
        </p:txBody>
      </p:sp>
      <p:pic>
        <p:nvPicPr>
          <p:cNvPr id="123" name="Picture 122" descr="lock.png"/>
          <p:cNvPicPr>
            <a:picLocks noChangeAspect="1"/>
          </p:cNvPicPr>
          <p:nvPr/>
        </p:nvPicPr>
        <p:blipFill>
          <a:blip r:embed="rId4"/>
          <a:stretch>
            <a:fillRect/>
          </a:stretch>
        </p:blipFill>
        <p:spPr>
          <a:xfrm>
            <a:off x="9787757" y="3174235"/>
            <a:ext cx="128699" cy="187198"/>
          </a:xfrm>
          <a:prstGeom prst="rect">
            <a:avLst/>
          </a:prstGeom>
        </p:spPr>
      </p:pic>
      <p:sp>
        <p:nvSpPr>
          <p:cNvPr id="124" name="TextBox 123"/>
          <p:cNvSpPr txBox="1"/>
          <p:nvPr/>
        </p:nvSpPr>
        <p:spPr>
          <a:xfrm>
            <a:off x="9955253" y="3184014"/>
            <a:ext cx="1629816" cy="186689"/>
          </a:xfrm>
          <a:prstGeom prst="rect">
            <a:avLst/>
          </a:prstGeom>
          <a:noFill/>
        </p:spPr>
        <p:txBody>
          <a:bodyPr wrap="none" lIns="0" rIns="0" tIns="0" bIns="0">
            <a:spAutoFit/>
          </a:bodyPr>
          <a:lstStyle/>
          <a:p>
            <a:r>
              <a:rPr sz="1100" b="0">
                <a:solidFill>
                  <a:srgbClr val="2E2E2E"/>
                </a:solidFill>
                <a:latin typeface="Calibri"/>
              </a:rPr>
              <a:t>US$ Mn by 2036, attracting</a:t>
            </a:r>
          </a:p>
        </p:txBody>
      </p:sp>
      <p:sp>
        <p:nvSpPr>
          <p:cNvPr id="125" name="TextBox 124"/>
          <p:cNvSpPr txBox="1"/>
          <p:nvPr/>
        </p:nvSpPr>
        <p:spPr>
          <a:xfrm>
            <a:off x="9801225" y="3351654"/>
            <a:ext cx="413444" cy="186689"/>
          </a:xfrm>
          <a:prstGeom prst="rect">
            <a:avLst/>
          </a:prstGeom>
          <a:noFill/>
        </p:spPr>
        <p:txBody>
          <a:bodyPr wrap="none" lIns="0" rIns="0" tIns="0" bIns="0">
            <a:spAutoFit/>
          </a:bodyPr>
          <a:lstStyle/>
          <a:p>
            <a:r>
              <a:rPr sz="1100" b="0">
                <a:solidFill>
                  <a:srgbClr val="2E2E2E"/>
                </a:solidFill>
                <a:latin typeface="Calibri"/>
              </a:rPr>
              <a:t>entry.</a:t>
            </a:r>
          </a:p>
        </p:txBody>
      </p:sp>
      <p:sp>
        <p:nvSpPr>
          <p:cNvPr id="126" name="TextBox 125"/>
          <p:cNvSpPr txBox="1"/>
          <p:nvPr/>
        </p:nvSpPr>
        <p:spPr>
          <a:xfrm>
            <a:off x="9801225" y="3708336"/>
            <a:ext cx="1971426" cy="186689"/>
          </a:xfrm>
          <a:prstGeom prst="rect">
            <a:avLst/>
          </a:prstGeom>
          <a:noFill/>
        </p:spPr>
        <p:txBody>
          <a:bodyPr wrap="none" lIns="0" rIns="0" tIns="0" bIns="0">
            <a:spAutoFit/>
          </a:bodyPr>
          <a:lstStyle/>
          <a:p>
            <a:r>
              <a:rPr sz="1100" b="0">
                <a:solidFill>
                  <a:srgbClr val="2E2E2E"/>
                </a:solidFill>
                <a:latin typeface="Calibri"/>
              </a:rPr>
              <a:t>▸ Demand spreads over 6 regions</a:t>
            </a:r>
          </a:p>
        </p:txBody>
      </p:sp>
      <p:sp>
        <p:nvSpPr>
          <p:cNvPr id="127" name="TextBox 126"/>
          <p:cNvSpPr txBox="1"/>
          <p:nvPr/>
        </p:nvSpPr>
        <p:spPr>
          <a:xfrm>
            <a:off x="9801225" y="3875976"/>
            <a:ext cx="1493118" cy="186689"/>
          </a:xfrm>
          <a:prstGeom prst="rect">
            <a:avLst/>
          </a:prstGeom>
          <a:noFill/>
        </p:spPr>
        <p:txBody>
          <a:bodyPr wrap="none" lIns="0" rIns="0" tIns="0" bIns="0">
            <a:spAutoFit/>
          </a:bodyPr>
          <a:lstStyle/>
          <a:p>
            <a:r>
              <a:rPr sz="1100" b="0">
                <a:solidFill>
                  <a:srgbClr val="2E2E2E"/>
                </a:solidFill>
                <a:latin typeface="Calibri"/>
              </a:rPr>
              <a:t>with no single one above</a:t>
            </a:r>
          </a:p>
        </p:txBody>
      </p:sp>
      <p:pic>
        <p:nvPicPr>
          <p:cNvPr id="128" name="Picture 127" descr="lock.png"/>
          <p:cNvPicPr>
            <a:picLocks noChangeAspect="1"/>
          </p:cNvPicPr>
          <p:nvPr/>
        </p:nvPicPr>
        <p:blipFill>
          <a:blip r:embed="rId4"/>
          <a:stretch>
            <a:fillRect/>
          </a:stretch>
        </p:blipFill>
        <p:spPr>
          <a:xfrm>
            <a:off x="11242394" y="3866197"/>
            <a:ext cx="128699" cy="187198"/>
          </a:xfrm>
          <a:prstGeom prst="rect">
            <a:avLst/>
          </a:prstGeom>
        </p:spPr>
      </p:pic>
      <p:sp>
        <p:nvSpPr>
          <p:cNvPr id="129" name="TextBox 128"/>
          <p:cNvSpPr txBox="1"/>
          <p:nvPr/>
        </p:nvSpPr>
        <p:spPr>
          <a:xfrm>
            <a:off x="11409890" y="3875976"/>
            <a:ext cx="271016" cy="186689"/>
          </a:xfrm>
          <a:prstGeom prst="rect">
            <a:avLst/>
          </a:prstGeom>
          <a:noFill/>
        </p:spPr>
        <p:txBody>
          <a:bodyPr wrap="none" lIns="0" rIns="0" tIns="0" bIns="0">
            <a:spAutoFit/>
          </a:bodyPr>
          <a:lstStyle/>
          <a:p>
            <a:r>
              <a:rPr sz="1100" b="0">
                <a:solidFill>
                  <a:srgbClr val="2E2E2E"/>
                </a:solidFill>
                <a:latin typeface="Calibri"/>
              </a:rPr>
              <a:t>, so</a:t>
            </a:r>
          </a:p>
        </p:txBody>
      </p:sp>
      <p:sp>
        <p:nvSpPr>
          <p:cNvPr id="130" name="TextBox 129"/>
          <p:cNvSpPr txBox="1"/>
          <p:nvPr/>
        </p:nvSpPr>
        <p:spPr>
          <a:xfrm>
            <a:off x="9801225" y="4043616"/>
            <a:ext cx="1498575" cy="186689"/>
          </a:xfrm>
          <a:prstGeom prst="rect">
            <a:avLst/>
          </a:prstGeom>
          <a:noFill/>
        </p:spPr>
        <p:txBody>
          <a:bodyPr wrap="none" lIns="0" rIns="0" tIns="0" bIns="0">
            <a:spAutoFit/>
          </a:bodyPr>
          <a:lstStyle/>
          <a:p>
            <a:r>
              <a:rPr sz="1100" b="0">
                <a:solidFill>
                  <a:srgbClr val="2E2E2E"/>
                </a:solidFill>
                <a:latin typeface="Calibri"/>
              </a:rPr>
              <a:t>regional entry is feasible.</a:t>
            </a:r>
          </a:p>
        </p:txBody>
      </p:sp>
      <p:sp>
        <p:nvSpPr>
          <p:cNvPr id="131" name="TextBox 130"/>
          <p:cNvSpPr txBox="1"/>
          <p:nvPr/>
        </p:nvSpPr>
        <p:spPr>
          <a:xfrm>
            <a:off x="9801225" y="4496131"/>
            <a:ext cx="2114550" cy="186689"/>
          </a:xfrm>
          <a:prstGeom prst="rect">
            <a:avLst/>
          </a:prstGeom>
          <a:noFill/>
        </p:spPr>
        <p:txBody>
          <a:bodyPr wrap="none" lIns="0" rIns="0" tIns="0" bIns="0">
            <a:spAutoFit/>
          </a:bodyPr>
          <a:lstStyle/>
          <a:p>
            <a:r>
              <a:rPr sz="1100" b="0">
                <a:solidFill>
                  <a:srgbClr val="2E2E2E"/>
                </a:solidFill>
                <a:latin typeface="Calibri"/>
              </a:rPr>
              <a:t>▸ Incumbent scale in 'North America'</a:t>
            </a:r>
          </a:p>
        </p:txBody>
      </p:sp>
      <p:sp>
        <p:nvSpPr>
          <p:cNvPr id="132" name="TextBox 131"/>
          <p:cNvSpPr txBox="1"/>
          <p:nvPr/>
        </p:nvSpPr>
        <p:spPr>
          <a:xfrm>
            <a:off x="9801225" y="4663771"/>
            <a:ext cx="1934046" cy="186689"/>
          </a:xfrm>
          <a:prstGeom prst="rect">
            <a:avLst/>
          </a:prstGeom>
          <a:noFill/>
        </p:spPr>
        <p:txBody>
          <a:bodyPr wrap="none" lIns="0" rIns="0" tIns="0" bIns="0">
            <a:spAutoFit/>
          </a:bodyPr>
          <a:lstStyle/>
          <a:p>
            <a:r>
              <a:rPr sz="1100" b="0">
                <a:solidFill>
                  <a:srgbClr val="2E2E2E"/>
                </a:solidFill>
                <a:latin typeface="Calibri"/>
              </a:rPr>
              <a:t>and 'Portable Machine Perfusion</a:t>
            </a:r>
          </a:p>
        </p:txBody>
      </p:sp>
      <p:sp>
        <p:nvSpPr>
          <p:cNvPr id="133" name="TextBox 132"/>
          <p:cNvSpPr txBox="1"/>
          <p:nvPr/>
        </p:nvSpPr>
        <p:spPr>
          <a:xfrm>
            <a:off x="9801225" y="4831411"/>
            <a:ext cx="615081" cy="186689"/>
          </a:xfrm>
          <a:prstGeom prst="rect">
            <a:avLst/>
          </a:prstGeom>
          <a:noFill/>
        </p:spPr>
        <p:txBody>
          <a:bodyPr wrap="none" lIns="0" rIns="0" tIns="0" bIns="0">
            <a:spAutoFit/>
          </a:bodyPr>
          <a:lstStyle/>
          <a:p>
            <a:r>
              <a:rPr sz="1100" b="0">
                <a:solidFill>
                  <a:srgbClr val="2E2E2E"/>
                </a:solidFill>
                <a:latin typeface="Calibri"/>
              </a:rPr>
              <a:t>Devices' (</a:t>
            </a:r>
          </a:p>
        </p:txBody>
      </p:sp>
      <p:pic>
        <p:nvPicPr>
          <p:cNvPr id="134" name="Picture 133" descr="lock.png"/>
          <p:cNvPicPr>
            <a:picLocks noChangeAspect="1"/>
          </p:cNvPicPr>
          <p:nvPr/>
        </p:nvPicPr>
        <p:blipFill>
          <a:blip r:embed="rId4"/>
          <a:stretch>
            <a:fillRect/>
          </a:stretch>
        </p:blipFill>
        <p:spPr>
          <a:xfrm>
            <a:off x="10364358" y="4821632"/>
            <a:ext cx="128699" cy="187198"/>
          </a:xfrm>
          <a:prstGeom prst="rect">
            <a:avLst/>
          </a:prstGeom>
        </p:spPr>
      </p:pic>
      <p:sp>
        <p:nvSpPr>
          <p:cNvPr id="135" name="TextBox 134"/>
          <p:cNvSpPr txBox="1"/>
          <p:nvPr/>
        </p:nvSpPr>
        <p:spPr>
          <a:xfrm>
            <a:off x="10531854" y="4831411"/>
            <a:ext cx="1246460" cy="186689"/>
          </a:xfrm>
          <a:prstGeom prst="rect">
            <a:avLst/>
          </a:prstGeom>
          <a:noFill/>
        </p:spPr>
        <p:txBody>
          <a:bodyPr wrap="none" lIns="0" rIns="0" tIns="0" bIns="0">
            <a:spAutoFit/>
          </a:bodyPr>
          <a:lstStyle/>
          <a:p>
            <a:r>
              <a:rPr sz="1100" b="0">
                <a:solidFill>
                  <a:srgbClr val="2E2E2E"/>
                </a:solidFill>
                <a:latin typeface="Calibri"/>
              </a:rPr>
              <a:t>of segment) remains</a:t>
            </a:r>
          </a:p>
        </p:txBody>
      </p:sp>
      <p:sp>
        <p:nvSpPr>
          <p:cNvPr id="136" name="TextBox 135"/>
          <p:cNvSpPr txBox="1"/>
          <p:nvPr/>
        </p:nvSpPr>
        <p:spPr>
          <a:xfrm>
            <a:off x="9801225" y="4999051"/>
            <a:ext cx="1244823" cy="186689"/>
          </a:xfrm>
          <a:prstGeom prst="rect">
            <a:avLst/>
          </a:prstGeom>
          <a:noFill/>
        </p:spPr>
        <p:txBody>
          <a:bodyPr wrap="none" lIns="0" rIns="0" tIns="0" bIns="0">
            <a:spAutoFit/>
          </a:bodyPr>
          <a:lstStyle/>
          <a:p>
            <a:r>
              <a:rPr sz="1100" b="0">
                <a:solidFill>
                  <a:srgbClr val="2E2E2E"/>
                </a:solidFill>
                <a:latin typeface="Calibri"/>
              </a:rPr>
              <a:t>the principal barrier.</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0A2A63"/>
        </a:solidFill>
        <a:effectLst/>
      </p:bgPr>
    </p:bg>
    <p:spTree>
      <p:nvGrpSpPr>
        <p:cNvPr id="1" name=""/>
        <p:cNvGrpSpPr/>
        <p:nvPr/>
      </p:nvGrpSpPr>
      <p:grpSpPr/>
      <p:sp>
        <p:nvSpPr>
          <p:cNvPr id="2" name="FMI Section Breaker"/>
          <p:cNvSpPr/>
          <p:nvPr/>
        </p:nvSpPr>
        <p:spPr>
          <a:xfrm>
            <a:off x="0" y="0"/>
            <a:ext cx="12192000" cy="6858000"/>
          </a:xfrm>
          <a:prstGeom prst="rect">
            <a:avLst/>
          </a:prstGeom>
          <a:gradFill rotWithShape="1">
            <a:gsLst>
              <a:gs pos="0">
                <a:srgbClr val="0A2A63"/>
              </a:gs>
              <a:gs pos="100000">
                <a:srgbClr val="0F3F8F"/>
              </a:gs>
            </a:gsLst>
            <a:lin scaled="0" ang="19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9064" y="525547"/>
            <a:ext cx="1340395" cy="8234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5" name="TextBox 4"/>
          <p:cNvSpPr txBox="1"/>
          <p:nvPr/>
        </p:nvSpPr>
        <p:spPr>
          <a:xfrm>
            <a:off x="914400" y="3000375"/>
            <a:ext cx="7239000" cy="247650"/>
          </a:xfrm>
          <a:prstGeom prst="rect">
            <a:avLst/>
          </a:prstGeom>
          <a:noFill/>
        </p:spPr>
        <p:txBody>
          <a:bodyPr wrap="none" lIns="0" tIns="0">
            <a:spAutoFit/>
          </a:bodyPr>
          <a:lstStyle/>
          <a:p>
            <a:r>
              <a:rPr sz="1400" b="0">
                <a:solidFill>
                  <a:srgbClr val="8FC8F2"/>
                </a:solidFill>
                <a:latin typeface="Calibri"/>
              </a:rPr>
              <a:t>Organ Transport Devices Market</a:t>
            </a:r>
          </a:p>
        </p:txBody>
      </p:sp>
      <p:sp>
        <p:nvSpPr>
          <p:cNvPr id="6" name="FMI Breaker Title"/>
          <p:cNvSpPr txBox="1"/>
          <p:nvPr/>
        </p:nvSpPr>
        <p:spPr>
          <a:xfrm>
            <a:off x="914400" y="3305175"/>
            <a:ext cx="7239000" cy="514350"/>
          </a:xfrm>
          <a:prstGeom prst="rect">
            <a:avLst/>
          </a:prstGeom>
          <a:noFill/>
        </p:spPr>
        <p:txBody>
          <a:bodyPr wrap="square" lIns="0" rIns="0" tIns="0">
            <a:spAutoFit/>
          </a:bodyPr>
          <a:lstStyle/>
          <a:p>
            <a:r>
              <a:rPr sz="3000" b="1" cap="all" spc="400">
                <a:solidFill>
                  <a:srgbClr val="FFFFFF"/>
                </a:solidFill>
                <a:latin typeface="Calibri"/>
              </a:rPr>
              <a:t>Competition Assessment</a:t>
            </a:r>
          </a:p>
        </p:txBody>
      </p:sp>
      <p:sp>
        <p:nvSpPr>
          <p:cNvPr id="7" name="TextBox 6"/>
          <p:cNvSpPr txBox="1"/>
          <p:nvPr/>
        </p:nvSpPr>
        <p:spPr>
          <a:xfrm>
            <a:off x="914400" y="4010025"/>
            <a:ext cx="71247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Competitive Landscape</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Market Share by Leading Players</a:t>
            </a:r>
          </a:p>
          <a:p>
            <a:pPr marL="342900" indent="-323850">
              <a:lnSpc>
                <a:spcPct val="100000"/>
              </a:lnSpc>
              <a:spcAft>
                <a:spcPts val="800"/>
              </a:spcAft>
            </a:pPr>
            <a:r>
              <a:rPr sz="2000" b="0">
                <a:solidFill>
                  <a:srgbClr val="FFD447"/>
                </a:solidFill>
                <a:latin typeface="Calibri"/>
              </a:rPr>
              <a:t>➤	</a:t>
            </a:r>
            <a:r>
              <a:rPr sz="2000" b="0">
                <a:solidFill>
                  <a:srgbClr val="FFD447"/>
                </a:solidFill>
                <a:latin typeface="Calibri"/>
              </a:rPr>
              <a:t>Company Profiles &amp; Strategic Benchmarking</a:t>
            </a:r>
          </a:p>
        </p:txBody>
      </p:sp>
      <p:sp>
        <p:nvSpPr>
          <p:cNvPr id="8" name="TextBox 7"/>
          <p:cNvSpPr txBox="1"/>
          <p:nvPr/>
        </p:nvSpPr>
        <p:spPr>
          <a:xfrm>
            <a:off x="4000500" y="6734175"/>
            <a:ext cx="8020050" cy="123825"/>
          </a:xfrm>
          <a:prstGeom prst="rect">
            <a:avLst/>
          </a:prstGeom>
          <a:noFill/>
        </p:spPr>
        <p:txBody>
          <a:bodyPr wrap="square" lIns="28575" rIns="28575" tIns="9525" bIns="9525">
            <a:spAutoFit/>
          </a:bodyPr>
          <a:lstStyle/>
          <a:p>
            <a:pPr algn="r"/>
            <a:r>
              <a:rPr sz="700" b="0">
                <a:solidFill>
                  <a:srgbClr val="C9DCEE"/>
                </a:solidFill>
                <a:latin typeface="Calibri"/>
              </a:rPr>
              <a:t>©2026 Future Market Insights, All Rights Reserved</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19</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Market Share by Leading Players</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Advice for Vendors &amp; Suppliers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Value Share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Product Type</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Company Share by Region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Who Shaped Growth</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Advice for Market Vendors / Suppliers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Strategic advice for vendors and suppliers on pricing, product, geography, channel and competitive risk</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Strategic advice for vendors and suppliers where to compete, how to price, and which risks to manage across the Organ Transport Devices Market.</a:t>
            </a:r>
          </a:p>
        </p:txBody>
      </p:sp>
      <p:sp>
        <p:nvSpPr>
          <p:cNvPr id="11" name="Rounded Rectangle 10"/>
          <p:cNvSpPr/>
          <p:nvPr/>
        </p:nvSpPr>
        <p:spPr>
          <a:xfrm>
            <a:off x="142875"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3" name="Rectangle 12"/>
          <p:cNvSpPr/>
          <p:nvPr/>
        </p:nvSpPr>
        <p:spPr>
          <a:xfrm>
            <a:off x="276225"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5" name="Rounded Rectangle 14"/>
          <p:cNvSpPr/>
          <p:nvPr/>
        </p:nvSpPr>
        <p:spPr>
          <a:xfrm>
            <a:off x="6191250" y="1354081"/>
            <a:ext cx="5857875" cy="2601152"/>
          </a:xfrm>
          <a:prstGeom prst="roundRect">
            <a:avLst>
              <a:gd name="adj" fmla="val 29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4600" y="1439806"/>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7" name="Rectangle 16"/>
          <p:cNvSpPr/>
          <p:nvPr/>
        </p:nvSpPr>
        <p:spPr>
          <a:xfrm>
            <a:off x="6324600" y="1677931"/>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1763656"/>
            <a:ext cx="5591175" cy="2115377"/>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19" name="Rounded Rectangle 18"/>
          <p:cNvSpPr/>
          <p:nvPr/>
        </p:nvSpPr>
        <p:spPr>
          <a:xfrm>
            <a:off x="142875"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1" name="Rectangle 20"/>
          <p:cNvSpPr/>
          <p:nvPr/>
        </p:nvSpPr>
        <p:spPr>
          <a:xfrm>
            <a:off x="276225"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1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3" name="Rounded Rectangle 22"/>
          <p:cNvSpPr/>
          <p:nvPr/>
        </p:nvSpPr>
        <p:spPr>
          <a:xfrm>
            <a:off x="6191250" y="4046502"/>
            <a:ext cx="5857875" cy="2509883"/>
          </a:xfrm>
          <a:prstGeom prst="roundRect">
            <a:avLst>
              <a:gd name="adj" fmla="val 303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4600" y="4132227"/>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5" name="Rectangle 24"/>
          <p:cNvSpPr/>
          <p:nvPr/>
        </p:nvSpPr>
        <p:spPr>
          <a:xfrm>
            <a:off x="6324600" y="4370352"/>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600" y="4456077"/>
            <a:ext cx="5591175" cy="2024108"/>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7" name="TextBox 26"/>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28" name="TextBox 27"/>
          <p:cNvSpPr txBox="1"/>
          <p:nvPr/>
        </p:nvSpPr>
        <p:spPr>
          <a:xfrm>
            <a:off x="276225" y="1773181"/>
            <a:ext cx="3235387" cy="194310"/>
          </a:xfrm>
          <a:prstGeom prst="rect">
            <a:avLst/>
          </a:prstGeom>
          <a:noFill/>
        </p:spPr>
        <p:txBody>
          <a:bodyPr wrap="none" lIns="0" rIns="0" tIns="0" bIns="0">
            <a:spAutoFit/>
          </a:bodyPr>
          <a:lstStyle/>
          <a:p>
            <a:r>
              <a:rPr sz="1150" b="0">
                <a:solidFill>
                  <a:srgbClr val="2E2E2E"/>
                </a:solidFill>
                <a:latin typeface="Calibri"/>
              </a:rPr>
              <a:t>▪ Hold price discipline: with the top three players at ~</a:t>
            </a:r>
          </a:p>
        </p:txBody>
      </p:sp>
      <p:pic>
        <p:nvPicPr>
          <p:cNvPr id="29" name="Picture 28" descr="lock.png"/>
          <p:cNvPicPr>
            <a:picLocks noChangeAspect="1"/>
          </p:cNvPicPr>
          <p:nvPr/>
        </p:nvPicPr>
        <p:blipFill>
          <a:blip r:embed="rId4"/>
          <a:stretch>
            <a:fillRect/>
          </a:stretch>
        </p:blipFill>
        <p:spPr>
          <a:xfrm>
            <a:off x="3460765" y="1762957"/>
            <a:ext cx="134549" cy="195707"/>
          </a:xfrm>
          <a:prstGeom prst="rect">
            <a:avLst/>
          </a:prstGeom>
        </p:spPr>
      </p:pic>
      <p:sp>
        <p:nvSpPr>
          <p:cNvPr id="30" name="TextBox 29"/>
          <p:cNvSpPr txBox="1"/>
          <p:nvPr/>
        </p:nvSpPr>
        <p:spPr>
          <a:xfrm>
            <a:off x="3635875" y="1773181"/>
            <a:ext cx="1859892" cy="194310"/>
          </a:xfrm>
          <a:prstGeom prst="rect">
            <a:avLst/>
          </a:prstGeom>
          <a:noFill/>
        </p:spPr>
        <p:txBody>
          <a:bodyPr wrap="none" lIns="0" rIns="0" tIns="0" bIns="0">
            <a:spAutoFit/>
          </a:bodyPr>
          <a:lstStyle/>
          <a:p>
            <a:r>
              <a:rPr sz="1150" b="0">
                <a:solidFill>
                  <a:srgbClr val="2E2E2E"/>
                </a:solidFill>
                <a:latin typeface="Calibri"/>
              </a:rPr>
              <a:t>share, avoid value-destructive</a:t>
            </a:r>
          </a:p>
        </p:txBody>
      </p:sp>
      <p:sp>
        <p:nvSpPr>
          <p:cNvPr id="31" name="TextBox 30"/>
          <p:cNvSpPr txBox="1"/>
          <p:nvPr/>
        </p:nvSpPr>
        <p:spPr>
          <a:xfrm>
            <a:off x="276225" y="1948441"/>
            <a:ext cx="3646723" cy="194310"/>
          </a:xfrm>
          <a:prstGeom prst="rect">
            <a:avLst/>
          </a:prstGeom>
          <a:noFill/>
        </p:spPr>
        <p:txBody>
          <a:bodyPr wrap="none" lIns="0" rIns="0" tIns="0" bIns="0">
            <a:spAutoFit/>
          </a:bodyPr>
          <a:lstStyle/>
          <a:p>
            <a:r>
              <a:rPr sz="1150" b="0">
                <a:solidFill>
                  <a:srgbClr val="2E2E2E"/>
                </a:solidFill>
                <a:latin typeface="Calibri"/>
              </a:rPr>
              <a:t>discounting compete on mix and service, not headline price.</a:t>
            </a:r>
          </a:p>
        </p:txBody>
      </p:sp>
      <p:sp>
        <p:nvSpPr>
          <p:cNvPr id="32" name="TextBox 31"/>
          <p:cNvSpPr txBox="1"/>
          <p:nvPr/>
        </p:nvSpPr>
        <p:spPr>
          <a:xfrm>
            <a:off x="276225" y="2176279"/>
            <a:ext cx="5572125" cy="194310"/>
          </a:xfrm>
          <a:prstGeom prst="rect">
            <a:avLst/>
          </a:prstGeom>
          <a:noFill/>
        </p:spPr>
        <p:txBody>
          <a:bodyPr wrap="none" lIns="0" rIns="0" tIns="0" bIns="0">
            <a:spAutoFit/>
          </a:bodyPr>
          <a:lstStyle/>
          <a:p>
            <a:r>
              <a:rPr sz="1150" b="0">
                <a:solidFill>
                  <a:srgbClr val="2E2E2E"/>
                </a:solidFill>
                <a:latin typeface="Calibri"/>
              </a:rPr>
              <a:t>▪ Premiumise toward higher-value formulations (e.g. 'Portable Machine Perfusion Devices') to</a:t>
            </a:r>
          </a:p>
        </p:txBody>
      </p:sp>
      <p:sp>
        <p:nvSpPr>
          <p:cNvPr id="33" name="TextBox 32"/>
          <p:cNvSpPr txBox="1"/>
          <p:nvPr/>
        </p:nvSpPr>
        <p:spPr>
          <a:xfrm>
            <a:off x="276225" y="2351539"/>
            <a:ext cx="3419375" cy="194310"/>
          </a:xfrm>
          <a:prstGeom prst="rect">
            <a:avLst/>
          </a:prstGeom>
          <a:noFill/>
        </p:spPr>
        <p:txBody>
          <a:bodyPr wrap="none" lIns="0" rIns="0" tIns="0" bIns="0">
            <a:spAutoFit/>
          </a:bodyPr>
          <a:lstStyle/>
          <a:p>
            <a:r>
              <a:rPr sz="1150" b="0">
                <a:solidFill>
                  <a:srgbClr val="2E2E2E"/>
                </a:solidFill>
                <a:latin typeface="Calibri"/>
              </a:rPr>
              <a:t>lift blended ASP and defend margin as input costs move.</a:t>
            </a:r>
          </a:p>
        </p:txBody>
      </p:sp>
      <p:sp>
        <p:nvSpPr>
          <p:cNvPr id="34" name="TextBox 33"/>
          <p:cNvSpPr txBox="1"/>
          <p:nvPr/>
        </p:nvSpPr>
        <p:spPr>
          <a:xfrm>
            <a:off x="276225" y="2579377"/>
            <a:ext cx="4816264" cy="194310"/>
          </a:xfrm>
          <a:prstGeom prst="rect">
            <a:avLst/>
          </a:prstGeom>
          <a:noFill/>
        </p:spPr>
        <p:txBody>
          <a:bodyPr wrap="none" lIns="0" rIns="0" tIns="0" bIns="0">
            <a:spAutoFit/>
          </a:bodyPr>
          <a:lstStyle/>
          <a:p>
            <a:r>
              <a:rPr sz="1150" b="0">
                <a:solidFill>
                  <a:srgbClr val="2E2E2E"/>
                </a:solidFill>
                <a:latin typeface="Calibri"/>
              </a:rPr>
              <a:t>▪ Set transparent, corridor-based regional pricing to limit grey-market arbitrage.</a:t>
            </a:r>
          </a:p>
        </p:txBody>
      </p:sp>
      <p:sp>
        <p:nvSpPr>
          <p:cNvPr id="35" name="TextBox 34"/>
          <p:cNvSpPr txBox="1"/>
          <p:nvPr/>
        </p:nvSpPr>
        <p:spPr>
          <a:xfrm>
            <a:off x="6324600" y="1773181"/>
            <a:ext cx="5495453" cy="194310"/>
          </a:xfrm>
          <a:prstGeom prst="rect">
            <a:avLst/>
          </a:prstGeom>
          <a:noFill/>
        </p:spPr>
        <p:txBody>
          <a:bodyPr wrap="none" lIns="0" rIns="0" tIns="0" bIns="0">
            <a:spAutoFit/>
          </a:bodyPr>
          <a:lstStyle/>
          <a:p>
            <a:r>
              <a:rPr sz="1150" b="0">
                <a:solidFill>
                  <a:srgbClr val="2E2E2E"/>
                </a:solidFill>
                <a:latin typeface="Calibri"/>
              </a:rPr>
              <a:t>▪ Prioritise R&amp;D in the fastest-growing formulations a differentiated portfolio is the clearest</a:t>
            </a:r>
          </a:p>
        </p:txBody>
      </p:sp>
      <p:sp>
        <p:nvSpPr>
          <p:cNvPr id="36" name="TextBox 35"/>
          <p:cNvSpPr txBox="1"/>
          <p:nvPr/>
        </p:nvSpPr>
        <p:spPr>
          <a:xfrm>
            <a:off x="6324600" y="1948441"/>
            <a:ext cx="1660500" cy="194310"/>
          </a:xfrm>
          <a:prstGeom prst="rect">
            <a:avLst/>
          </a:prstGeom>
          <a:noFill/>
        </p:spPr>
        <p:txBody>
          <a:bodyPr wrap="none" lIns="0" rIns="0" tIns="0" bIns="0">
            <a:spAutoFit/>
          </a:bodyPr>
          <a:lstStyle/>
          <a:p>
            <a:r>
              <a:rPr sz="1150" b="0">
                <a:solidFill>
                  <a:srgbClr val="2E2E2E"/>
                </a:solidFill>
                <a:latin typeface="Calibri"/>
              </a:rPr>
              <a:t>route to out-growing the ~</a:t>
            </a:r>
          </a:p>
        </p:txBody>
      </p:sp>
      <p:pic>
        <p:nvPicPr>
          <p:cNvPr id="37" name="Picture 36" descr="lock.png"/>
          <p:cNvPicPr>
            <a:picLocks noChangeAspect="1"/>
          </p:cNvPicPr>
          <p:nvPr/>
        </p:nvPicPr>
        <p:blipFill>
          <a:blip r:embed="rId4"/>
          <a:stretch>
            <a:fillRect/>
          </a:stretch>
        </p:blipFill>
        <p:spPr>
          <a:xfrm>
            <a:off x="7934254" y="1938217"/>
            <a:ext cx="134549" cy="195707"/>
          </a:xfrm>
          <a:prstGeom prst="rect">
            <a:avLst/>
          </a:prstGeom>
        </p:spPr>
      </p:pic>
      <p:sp>
        <p:nvSpPr>
          <p:cNvPr id="38" name="TextBox 37"/>
          <p:cNvSpPr txBox="1"/>
          <p:nvPr/>
        </p:nvSpPr>
        <p:spPr>
          <a:xfrm>
            <a:off x="8109363" y="1948441"/>
            <a:ext cx="905700" cy="194310"/>
          </a:xfrm>
          <a:prstGeom prst="rect">
            <a:avLst/>
          </a:prstGeom>
          <a:noFill/>
        </p:spPr>
        <p:txBody>
          <a:bodyPr wrap="none" lIns="0" rIns="0" tIns="0" bIns="0">
            <a:spAutoFit/>
          </a:bodyPr>
          <a:lstStyle/>
          <a:p>
            <a:r>
              <a:rPr sz="1150" b="0">
                <a:solidFill>
                  <a:srgbClr val="2E2E2E"/>
                </a:solidFill>
                <a:latin typeface="Calibri"/>
              </a:rPr>
              <a:t>market CAGR.</a:t>
            </a:r>
          </a:p>
        </p:txBody>
      </p:sp>
      <p:sp>
        <p:nvSpPr>
          <p:cNvPr id="39" name="TextBox 38"/>
          <p:cNvSpPr txBox="1"/>
          <p:nvPr/>
        </p:nvSpPr>
        <p:spPr>
          <a:xfrm>
            <a:off x="6324600" y="2176279"/>
            <a:ext cx="5383919" cy="194310"/>
          </a:xfrm>
          <a:prstGeom prst="rect">
            <a:avLst/>
          </a:prstGeom>
          <a:noFill/>
        </p:spPr>
        <p:txBody>
          <a:bodyPr wrap="none" lIns="0" rIns="0" tIns="0" bIns="0">
            <a:spAutoFit/>
          </a:bodyPr>
          <a:lstStyle/>
          <a:p>
            <a:r>
              <a:rPr sz="1150" b="0">
                <a:solidFill>
                  <a:srgbClr val="2E2E2E"/>
                </a:solidFill>
                <a:latin typeface="Calibri"/>
              </a:rPr>
              <a:t>▪ Pursue certification and clinical validation to build switching costs and support premium</a:t>
            </a:r>
          </a:p>
        </p:txBody>
      </p:sp>
      <p:sp>
        <p:nvSpPr>
          <p:cNvPr id="40" name="TextBox 39"/>
          <p:cNvSpPr txBox="1"/>
          <p:nvPr/>
        </p:nvSpPr>
        <p:spPr>
          <a:xfrm>
            <a:off x="6324600" y="2351539"/>
            <a:ext cx="773075" cy="194310"/>
          </a:xfrm>
          <a:prstGeom prst="rect">
            <a:avLst/>
          </a:prstGeom>
          <a:noFill/>
        </p:spPr>
        <p:txBody>
          <a:bodyPr wrap="none" lIns="0" rIns="0" tIns="0" bIns="0">
            <a:spAutoFit/>
          </a:bodyPr>
          <a:lstStyle/>
          <a:p>
            <a:r>
              <a:rPr sz="1150" b="0">
                <a:solidFill>
                  <a:srgbClr val="2E2E2E"/>
                </a:solidFill>
                <a:latin typeface="Calibri"/>
              </a:rPr>
              <a:t>positioning.</a:t>
            </a:r>
          </a:p>
        </p:txBody>
      </p:sp>
      <p:sp>
        <p:nvSpPr>
          <p:cNvPr id="41" name="TextBox 40"/>
          <p:cNvSpPr txBox="1"/>
          <p:nvPr/>
        </p:nvSpPr>
        <p:spPr>
          <a:xfrm>
            <a:off x="6324600" y="2579377"/>
            <a:ext cx="3931406" cy="194310"/>
          </a:xfrm>
          <a:prstGeom prst="rect">
            <a:avLst/>
          </a:prstGeom>
          <a:noFill/>
        </p:spPr>
        <p:txBody>
          <a:bodyPr wrap="none" lIns="0" rIns="0" tIns="0" bIns="0">
            <a:spAutoFit/>
          </a:bodyPr>
          <a:lstStyle/>
          <a:p>
            <a:r>
              <a:rPr sz="1150" b="0">
                <a:solidFill>
                  <a:srgbClr val="2E2E2E"/>
                </a:solidFill>
                <a:latin typeface="Calibri"/>
              </a:rPr>
              <a:t>▪ Localise formats and pack sizes to each channel and geography.</a:t>
            </a:r>
          </a:p>
        </p:txBody>
      </p:sp>
      <p:sp>
        <p:nvSpPr>
          <p:cNvPr id="42" name="TextBox 41"/>
          <p:cNvSpPr txBox="1"/>
          <p:nvPr/>
        </p:nvSpPr>
        <p:spPr>
          <a:xfrm>
            <a:off x="6324600" y="4465602"/>
            <a:ext cx="3000908" cy="194310"/>
          </a:xfrm>
          <a:prstGeom prst="rect">
            <a:avLst/>
          </a:prstGeom>
          <a:noFill/>
        </p:spPr>
        <p:txBody>
          <a:bodyPr wrap="none" lIns="0" rIns="0" tIns="0" bIns="0">
            <a:spAutoFit/>
          </a:bodyPr>
          <a:lstStyle/>
          <a:p>
            <a:r>
              <a:rPr sz="1150" b="0">
                <a:solidFill>
                  <a:srgbClr val="2E2E2E"/>
                </a:solidFill>
                <a:latin typeface="Calibri"/>
              </a:rPr>
              <a:t>▪ Benchmark relentlessly against 'TransMedics' (~</a:t>
            </a:r>
          </a:p>
        </p:txBody>
      </p:sp>
      <p:pic>
        <p:nvPicPr>
          <p:cNvPr id="43" name="Picture 42" descr="lock.png"/>
          <p:cNvPicPr>
            <a:picLocks noChangeAspect="1"/>
          </p:cNvPicPr>
          <p:nvPr/>
        </p:nvPicPr>
        <p:blipFill>
          <a:blip r:embed="rId4"/>
          <a:stretch>
            <a:fillRect/>
          </a:stretch>
        </p:blipFill>
        <p:spPr>
          <a:xfrm>
            <a:off x="9274662" y="4455378"/>
            <a:ext cx="134549" cy="195707"/>
          </a:xfrm>
          <a:prstGeom prst="rect">
            <a:avLst/>
          </a:prstGeom>
        </p:spPr>
      </p:pic>
      <p:sp>
        <p:nvSpPr>
          <p:cNvPr id="44" name="TextBox 43"/>
          <p:cNvSpPr txBox="1"/>
          <p:nvPr/>
        </p:nvSpPr>
        <p:spPr>
          <a:xfrm>
            <a:off x="9449771" y="4465602"/>
            <a:ext cx="2219597" cy="194310"/>
          </a:xfrm>
          <a:prstGeom prst="rect">
            <a:avLst/>
          </a:prstGeom>
          <a:noFill/>
        </p:spPr>
        <p:txBody>
          <a:bodyPr wrap="none" lIns="0" rIns="0" tIns="0" bIns="0">
            <a:spAutoFit/>
          </a:bodyPr>
          <a:lstStyle/>
          <a:p>
            <a:r>
              <a:rPr sz="1150" b="0">
                <a:solidFill>
                  <a:srgbClr val="2E2E2E"/>
                </a:solidFill>
                <a:latin typeface="Calibri"/>
              </a:rPr>
              <a:t>share) match on service and lead on</a:t>
            </a:r>
          </a:p>
        </p:txBody>
      </p:sp>
      <p:sp>
        <p:nvSpPr>
          <p:cNvPr id="45" name="TextBox 44"/>
          <p:cNvSpPr txBox="1"/>
          <p:nvPr/>
        </p:nvSpPr>
        <p:spPr>
          <a:xfrm>
            <a:off x="6324600" y="4640861"/>
            <a:ext cx="1560376" cy="194310"/>
          </a:xfrm>
          <a:prstGeom prst="rect">
            <a:avLst/>
          </a:prstGeom>
          <a:noFill/>
        </p:spPr>
        <p:txBody>
          <a:bodyPr wrap="none" lIns="0" rIns="0" tIns="0" bIns="0">
            <a:spAutoFit/>
          </a:bodyPr>
          <a:lstStyle/>
          <a:p>
            <a:r>
              <a:rPr sz="1150" b="0">
                <a:solidFill>
                  <a:srgbClr val="2E2E2E"/>
                </a:solidFill>
                <a:latin typeface="Calibri"/>
              </a:rPr>
              <a:t>innovation to take share.</a:t>
            </a:r>
          </a:p>
        </p:txBody>
      </p:sp>
      <p:sp>
        <p:nvSpPr>
          <p:cNvPr id="46" name="TextBox 45"/>
          <p:cNvSpPr txBox="1"/>
          <p:nvPr/>
        </p:nvSpPr>
        <p:spPr>
          <a:xfrm>
            <a:off x="6324600" y="4868699"/>
            <a:ext cx="5455518" cy="194310"/>
          </a:xfrm>
          <a:prstGeom prst="rect">
            <a:avLst/>
          </a:prstGeom>
          <a:noFill/>
        </p:spPr>
        <p:txBody>
          <a:bodyPr wrap="none" lIns="0" rIns="0" tIns="0" bIns="0">
            <a:spAutoFit/>
          </a:bodyPr>
          <a:lstStyle/>
          <a:p>
            <a:r>
              <a:rPr sz="1150" b="0">
                <a:solidFill>
                  <a:srgbClr val="2E2E2E"/>
                </a:solidFill>
                <a:latin typeface="Calibri"/>
              </a:rPr>
              <a:t>▪ Diversify the customer base to cut dependence on a few large accounts and single-region</a:t>
            </a:r>
          </a:p>
        </p:txBody>
      </p:sp>
      <p:sp>
        <p:nvSpPr>
          <p:cNvPr id="47" name="TextBox 46"/>
          <p:cNvSpPr txBox="1"/>
          <p:nvPr/>
        </p:nvSpPr>
        <p:spPr>
          <a:xfrm>
            <a:off x="6324600" y="5043959"/>
            <a:ext cx="660400" cy="194310"/>
          </a:xfrm>
          <a:prstGeom prst="rect">
            <a:avLst/>
          </a:prstGeom>
          <a:noFill/>
        </p:spPr>
        <p:txBody>
          <a:bodyPr wrap="none" lIns="0" rIns="0" tIns="0" bIns="0">
            <a:spAutoFit/>
          </a:bodyPr>
          <a:lstStyle/>
          <a:p>
            <a:r>
              <a:rPr sz="1150" b="0">
                <a:solidFill>
                  <a:srgbClr val="2E2E2E"/>
                </a:solidFill>
                <a:latin typeface="Calibri"/>
              </a:rPr>
              <a:t>exposure.</a:t>
            </a:r>
          </a:p>
        </p:txBody>
      </p:sp>
      <p:sp>
        <p:nvSpPr>
          <p:cNvPr id="48" name="TextBox 47"/>
          <p:cNvSpPr txBox="1"/>
          <p:nvPr/>
        </p:nvSpPr>
        <p:spPr>
          <a:xfrm>
            <a:off x="6324600" y="5271797"/>
            <a:ext cx="5230167" cy="194310"/>
          </a:xfrm>
          <a:prstGeom prst="rect">
            <a:avLst/>
          </a:prstGeom>
          <a:noFill/>
        </p:spPr>
        <p:txBody>
          <a:bodyPr wrap="none" lIns="0" rIns="0" tIns="0" bIns="0">
            <a:spAutoFit/>
          </a:bodyPr>
          <a:lstStyle/>
          <a:p>
            <a:r>
              <a:rPr sz="1150" b="0">
                <a:solidFill>
                  <a:srgbClr val="2E2E2E"/>
                </a:solidFill>
                <a:latin typeface="Calibri"/>
              </a:rPr>
              <a:t>▪ Stress-test for regulatory, currency and supply shocks; keep flexible capacity and dual</a:t>
            </a:r>
          </a:p>
        </p:txBody>
      </p:sp>
      <p:sp>
        <p:nvSpPr>
          <p:cNvPr id="49" name="TextBox 48"/>
          <p:cNvSpPr txBox="1"/>
          <p:nvPr/>
        </p:nvSpPr>
        <p:spPr>
          <a:xfrm>
            <a:off x="6324600" y="5447057"/>
            <a:ext cx="615900" cy="194310"/>
          </a:xfrm>
          <a:prstGeom prst="rect">
            <a:avLst/>
          </a:prstGeom>
          <a:noFill/>
        </p:spPr>
        <p:txBody>
          <a:bodyPr wrap="none" lIns="0" rIns="0" tIns="0" bIns="0">
            <a:spAutoFit/>
          </a:bodyPr>
          <a:lstStyle/>
          <a:p>
            <a:r>
              <a:rPr sz="1150" b="0">
                <a:solidFill>
                  <a:srgbClr val="2E2E2E"/>
                </a:solidFill>
                <a:latin typeface="Calibri"/>
              </a:rPr>
              <a:t>sourcing.</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Company Value Share (Global)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value share by company in the global market, 2025, highlighting leadership and the long tail</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Target market value share by key companies leadership, concentration and how the competitive mix shifts by region.</a:t>
            </a:r>
          </a:p>
        </p:txBody>
      </p:sp>
      <p:sp>
        <p:nvSpPr>
          <p:cNvPr id="11" name="Rounded Rectangle 10"/>
          <p:cNvSpPr/>
          <p:nvPr/>
        </p:nvSpPr>
        <p:spPr>
          <a:xfrm>
            <a:off x="142875" y="1354081"/>
            <a:ext cx="7543800" cy="5220558"/>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3" name="Chart 12"/>
          <p:cNvGraphicFramePr>
            <a:graphicFrameLocks noGrp="1"/>
          </p:cNvGraphicFramePr>
          <p:nvPr/>
        </p:nvGraphicFramePr>
        <p:xfrm>
          <a:off x="238125" y="1639831"/>
          <a:ext cx="7353300" cy="4877658"/>
        </p:xfrm>
        <a:graphic>
          <a:graphicData uri="http://schemas.openxmlformats.org/drawingml/2006/chart">
            <c:chart xmlns:c="http://schemas.openxmlformats.org/drawingml/2006/chart" r:id="rId3"/>
          </a:graphicData>
        </a:graphic>
      </p:graphicFrame>
      <p:sp>
        <p:nvSpPr>
          <p:cNvPr id="14" name="TextBox 13"/>
          <p:cNvSpPr txBox="1"/>
          <p:nvPr/>
        </p:nvSpPr>
        <p:spPr>
          <a:xfrm>
            <a:off x="2049780" y="387863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
            </a:r>
          </a:p>
          <a:p>
            <a:pPr algn="ctr"/>
            <a:r>
              <a:rPr sz="1300" b="1">
                <a:solidFill>
                  <a:srgbClr val="2E2E2E"/>
                </a:solidFill>
                <a:latin typeface="Calibri"/>
              </a:rPr>
              <a:t/>
            </a:r>
          </a:p>
        </p:txBody>
      </p:sp>
      <p:sp>
        <p:nvSpPr>
          <p:cNvPr id="15" name="Rounded Rectangle 14"/>
          <p:cNvSpPr/>
          <p:nvPr/>
        </p:nvSpPr>
        <p:spPr>
          <a:xfrm>
            <a:off x="7800975" y="1354081"/>
            <a:ext cx="4248150" cy="5220558"/>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4325" y="1439806"/>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7" name="Rectangle 16"/>
          <p:cNvSpPr/>
          <p:nvPr/>
        </p:nvSpPr>
        <p:spPr>
          <a:xfrm>
            <a:off x="7934325" y="1677931"/>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763656"/>
            <a:ext cx="3981450" cy="4734783"/>
          </a:xfrm>
          <a:prstGeom prst="rect">
            <a:avLst/>
          </a:prstGeom>
          <a:noFill/>
        </p:spPr>
        <p:txBody>
          <a:bodyPr wrap="square" lIns="0" rIns="19050" tIns="9525" bIns="9525">
            <a:spAutoFit/>
          </a:bodyPr>
          <a:lstStyle/>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a:p>
            <a:pPr algn="l">
              <a:lnSpc>
                <a:spcPct val="110000"/>
              </a:lnSpc>
              <a:spcBef>
                <a:spcPts val="0"/>
              </a:spcBef>
              <a:spcAft>
                <a:spcPts val="500"/>
              </a:spcAft>
            </a:pPr>
            <a:r>
              <a:rPr sz="1150" b="0">
                <a:solidFill>
                  <a:srgbClr val="2E2E2E"/>
                </a:solidFill>
                <a:latin typeface="Calibri"/>
              </a:rPr>
              <a:t/>
            </a:r>
          </a:p>
        </p:txBody>
      </p:sp>
      <p:sp>
        <p:nvSpPr>
          <p:cNvPr id="19" name="TextBox 1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0" name="Picture 19" descr="lock.png"/>
          <p:cNvPicPr>
            <a:picLocks noChangeAspect="1"/>
          </p:cNvPicPr>
          <p:nvPr/>
        </p:nvPicPr>
        <p:blipFill>
          <a:blip r:embed="rId5"/>
          <a:stretch>
            <a:fillRect/>
          </a:stretch>
        </p:blipFill>
        <p:spPr>
          <a:xfrm>
            <a:off x="2533173" y="3678610"/>
            <a:ext cx="523875" cy="762000"/>
          </a:xfrm>
          <a:prstGeom prst="rect">
            <a:avLst/>
          </a:prstGeom>
        </p:spPr>
      </p:pic>
      <p:sp>
        <p:nvSpPr>
          <p:cNvPr id="21" name="TextBox 20"/>
          <p:cNvSpPr txBox="1"/>
          <p:nvPr/>
        </p:nvSpPr>
        <p:spPr>
          <a:xfrm>
            <a:off x="2634865" y="3914616"/>
            <a:ext cx="430029" cy="161696"/>
          </a:xfrm>
          <a:prstGeom prst="rect">
            <a:avLst/>
          </a:prstGeom>
          <a:noFill/>
        </p:spPr>
        <p:txBody>
          <a:bodyPr wrap="none" lIns="0" rIns="0" tIns="0" bIns="0">
            <a:spAutoFit/>
          </a:bodyPr>
          <a:lstStyle/>
          <a:p>
            <a:r>
              <a:rPr sz="935" b="1">
                <a:solidFill>
                  <a:srgbClr val="2E2E2E"/>
                </a:solidFill>
                <a:latin typeface="Calibri"/>
              </a:rPr>
              <a:t>100% =</a:t>
            </a:r>
          </a:p>
        </p:txBody>
      </p:sp>
      <p:pic>
        <p:nvPicPr>
          <p:cNvPr id="22" name="Picture 21" descr="lock.png"/>
          <p:cNvPicPr>
            <a:picLocks noChangeAspect="1"/>
          </p:cNvPicPr>
          <p:nvPr/>
        </p:nvPicPr>
        <p:blipFill>
          <a:blip r:embed="rId5"/>
          <a:stretch>
            <a:fillRect/>
          </a:stretch>
        </p:blipFill>
        <p:spPr>
          <a:xfrm>
            <a:off x="2540344" y="4091735"/>
            <a:ext cx="109510" cy="159288"/>
          </a:xfrm>
          <a:prstGeom prst="rect">
            <a:avLst/>
          </a:prstGeom>
        </p:spPr>
      </p:pic>
      <p:sp>
        <p:nvSpPr>
          <p:cNvPr id="23" name="TextBox 22"/>
          <p:cNvSpPr txBox="1"/>
          <p:nvPr/>
        </p:nvSpPr>
        <p:spPr>
          <a:xfrm>
            <a:off x="2682868" y="4100056"/>
            <a:ext cx="465087" cy="161696"/>
          </a:xfrm>
          <a:prstGeom prst="rect">
            <a:avLst/>
          </a:prstGeom>
          <a:noFill/>
        </p:spPr>
        <p:txBody>
          <a:bodyPr wrap="none" lIns="0" rIns="0" tIns="0" bIns="0">
            <a:spAutoFit/>
          </a:bodyPr>
          <a:lstStyle/>
          <a:p>
            <a:r>
              <a:rPr sz="935" b="1">
                <a:solidFill>
                  <a:srgbClr val="2E2E2E"/>
                </a:solidFill>
                <a:latin typeface="Calibri"/>
              </a:rPr>
              <a:t>US$ Mn</a:t>
            </a:r>
          </a:p>
        </p:txBody>
      </p:sp>
      <p:sp>
        <p:nvSpPr>
          <p:cNvPr id="24" name="TextBox 23"/>
          <p:cNvSpPr txBox="1"/>
          <p:nvPr/>
        </p:nvSpPr>
        <p:spPr>
          <a:xfrm>
            <a:off x="7934325" y="1773181"/>
            <a:ext cx="3873785" cy="194310"/>
          </a:xfrm>
          <a:prstGeom prst="rect">
            <a:avLst/>
          </a:prstGeom>
          <a:noFill/>
        </p:spPr>
        <p:txBody>
          <a:bodyPr wrap="none" lIns="0" rIns="0" tIns="0" bIns="0">
            <a:spAutoFit/>
          </a:bodyPr>
          <a:lstStyle/>
          <a:p>
            <a:r>
              <a:rPr sz="1150" b="0">
                <a:solidFill>
                  <a:srgbClr val="2E2E2E"/>
                </a:solidFill>
                <a:latin typeface="Calibri"/>
              </a:rPr>
              <a:t>TransMedics accounted for the largest share of the global organ</a:t>
            </a:r>
          </a:p>
        </p:txBody>
      </p:sp>
      <p:sp>
        <p:nvSpPr>
          <p:cNvPr id="25" name="TextBox 24"/>
          <p:cNvSpPr txBox="1"/>
          <p:nvPr/>
        </p:nvSpPr>
        <p:spPr>
          <a:xfrm>
            <a:off x="7934325" y="1948441"/>
            <a:ext cx="3690652" cy="194310"/>
          </a:xfrm>
          <a:prstGeom prst="rect">
            <a:avLst/>
          </a:prstGeom>
          <a:noFill/>
        </p:spPr>
        <p:txBody>
          <a:bodyPr wrap="none" lIns="0" rIns="0" tIns="0" bIns="0">
            <a:spAutoFit/>
          </a:bodyPr>
          <a:lstStyle/>
          <a:p>
            <a:r>
              <a:rPr sz="1150" b="0">
                <a:solidFill>
                  <a:srgbClr val="2E2E2E"/>
                </a:solidFill>
                <a:latin typeface="Calibri"/>
              </a:rPr>
              <a:t>transport devices market in 2026. The global organ transport</a:t>
            </a:r>
          </a:p>
        </p:txBody>
      </p:sp>
      <p:sp>
        <p:nvSpPr>
          <p:cNvPr id="26" name="TextBox 25"/>
          <p:cNvSpPr txBox="1"/>
          <p:nvPr/>
        </p:nvSpPr>
        <p:spPr>
          <a:xfrm>
            <a:off x="7934325" y="2123701"/>
            <a:ext cx="3448471" cy="194310"/>
          </a:xfrm>
          <a:prstGeom prst="rect">
            <a:avLst/>
          </a:prstGeom>
          <a:noFill/>
        </p:spPr>
        <p:txBody>
          <a:bodyPr wrap="none" lIns="0" rIns="0" tIns="0" bIns="0">
            <a:spAutoFit/>
          </a:bodyPr>
          <a:lstStyle/>
          <a:p>
            <a:r>
              <a:rPr sz="1150" b="0">
                <a:solidFill>
                  <a:srgbClr val="2E2E2E"/>
                </a:solidFill>
                <a:latin typeface="Calibri"/>
              </a:rPr>
              <a:t>devices market is fragmented, with the top three players</a:t>
            </a:r>
          </a:p>
        </p:txBody>
      </p:sp>
      <p:sp>
        <p:nvSpPr>
          <p:cNvPr id="27" name="TextBox 26"/>
          <p:cNvSpPr txBox="1"/>
          <p:nvPr/>
        </p:nvSpPr>
        <p:spPr>
          <a:xfrm>
            <a:off x="7934325" y="2298961"/>
            <a:ext cx="1744650" cy="194310"/>
          </a:xfrm>
          <a:prstGeom prst="rect">
            <a:avLst/>
          </a:prstGeom>
          <a:noFill/>
        </p:spPr>
        <p:txBody>
          <a:bodyPr wrap="none" lIns="0" rIns="0" tIns="0" bIns="0">
            <a:spAutoFit/>
          </a:bodyPr>
          <a:lstStyle/>
          <a:p>
            <a:r>
              <a:rPr sz="1150" b="0">
                <a:solidFill>
                  <a:srgbClr val="2E2E2E"/>
                </a:solidFill>
                <a:latin typeface="Calibri"/>
              </a:rPr>
              <a:t>accounting for an estimated</a:t>
            </a:r>
          </a:p>
        </p:txBody>
      </p:sp>
      <p:pic>
        <p:nvPicPr>
          <p:cNvPr id="28" name="Picture 27" descr="lock.png"/>
          <p:cNvPicPr>
            <a:picLocks noChangeAspect="1"/>
          </p:cNvPicPr>
          <p:nvPr/>
        </p:nvPicPr>
        <p:blipFill>
          <a:blip r:embed="rId5"/>
          <a:stretch>
            <a:fillRect/>
          </a:stretch>
        </p:blipFill>
        <p:spPr>
          <a:xfrm>
            <a:off x="9628129" y="2288737"/>
            <a:ext cx="134549" cy="195707"/>
          </a:xfrm>
          <a:prstGeom prst="rect">
            <a:avLst/>
          </a:prstGeom>
        </p:spPr>
      </p:pic>
      <p:sp>
        <p:nvSpPr>
          <p:cNvPr id="29" name="TextBox 28"/>
          <p:cNvSpPr txBox="1"/>
          <p:nvPr/>
        </p:nvSpPr>
        <p:spPr>
          <a:xfrm>
            <a:off x="9803238" y="2298961"/>
            <a:ext cx="1758912" cy="194310"/>
          </a:xfrm>
          <a:prstGeom prst="rect">
            <a:avLst/>
          </a:prstGeom>
          <a:noFill/>
        </p:spPr>
        <p:txBody>
          <a:bodyPr wrap="none" lIns="0" rIns="0" tIns="0" bIns="0">
            <a:spAutoFit/>
          </a:bodyPr>
          <a:lstStyle/>
          <a:p>
            <a:r>
              <a:rPr sz="1150" b="0">
                <a:solidFill>
                  <a:srgbClr val="2E2E2E"/>
                </a:solidFill>
                <a:latin typeface="Calibri"/>
              </a:rPr>
              <a:t>share of the market in 2026.</a:t>
            </a:r>
          </a:p>
        </p:txBody>
      </p:sp>
      <p:sp>
        <p:nvSpPr>
          <p:cNvPr id="30" name="TextBox 29"/>
          <p:cNvSpPr txBox="1"/>
          <p:nvPr/>
        </p:nvSpPr>
        <p:spPr>
          <a:xfrm>
            <a:off x="7934325" y="2526799"/>
            <a:ext cx="2501143" cy="194310"/>
          </a:xfrm>
          <a:prstGeom prst="rect">
            <a:avLst/>
          </a:prstGeom>
          <a:noFill/>
        </p:spPr>
        <p:txBody>
          <a:bodyPr wrap="none" lIns="0" rIns="0" tIns="0" bIns="0">
            <a:spAutoFit/>
          </a:bodyPr>
          <a:lstStyle/>
          <a:p>
            <a:r>
              <a:rPr sz="1150" b="0">
                <a:solidFill>
                  <a:srgbClr val="2E2E2E"/>
                </a:solidFill>
                <a:latin typeface="Calibri"/>
              </a:rPr>
              <a:t>TransMedics accounted for an estimated</a:t>
            </a:r>
          </a:p>
        </p:txBody>
      </p:sp>
      <p:pic>
        <p:nvPicPr>
          <p:cNvPr id="31" name="Picture 30" descr="lock.png"/>
          <p:cNvPicPr>
            <a:picLocks noChangeAspect="1"/>
          </p:cNvPicPr>
          <p:nvPr/>
        </p:nvPicPr>
        <p:blipFill>
          <a:blip r:embed="rId5"/>
          <a:stretch>
            <a:fillRect/>
          </a:stretch>
        </p:blipFill>
        <p:spPr>
          <a:xfrm>
            <a:off x="10384622" y="2516575"/>
            <a:ext cx="134549" cy="195707"/>
          </a:xfrm>
          <a:prstGeom prst="rect">
            <a:avLst/>
          </a:prstGeom>
        </p:spPr>
      </p:pic>
      <p:sp>
        <p:nvSpPr>
          <p:cNvPr id="32" name="TextBox 31"/>
          <p:cNvSpPr txBox="1"/>
          <p:nvPr/>
        </p:nvSpPr>
        <p:spPr>
          <a:xfrm>
            <a:off x="10559731" y="2526799"/>
            <a:ext cx="1285391" cy="194310"/>
          </a:xfrm>
          <a:prstGeom prst="rect">
            <a:avLst/>
          </a:prstGeom>
          <a:noFill/>
        </p:spPr>
        <p:txBody>
          <a:bodyPr wrap="none" lIns="0" rIns="0" tIns="0" bIns="0">
            <a:spAutoFit/>
          </a:bodyPr>
          <a:lstStyle/>
          <a:p>
            <a:r>
              <a:rPr sz="1150" b="0">
                <a:solidFill>
                  <a:srgbClr val="2E2E2E"/>
                </a:solidFill>
                <a:latin typeface="Calibri"/>
              </a:rPr>
              <a:t>share of the market,</a:t>
            </a:r>
          </a:p>
        </p:txBody>
      </p:sp>
      <p:sp>
        <p:nvSpPr>
          <p:cNvPr id="33" name="TextBox 32"/>
          <p:cNvSpPr txBox="1"/>
          <p:nvPr/>
        </p:nvSpPr>
        <p:spPr>
          <a:xfrm>
            <a:off x="7934325" y="2702058"/>
            <a:ext cx="1625115" cy="194310"/>
          </a:xfrm>
          <a:prstGeom prst="rect">
            <a:avLst/>
          </a:prstGeom>
          <a:noFill/>
        </p:spPr>
        <p:txBody>
          <a:bodyPr wrap="none" lIns="0" rIns="0" tIns="0" bIns="0">
            <a:spAutoFit/>
          </a:bodyPr>
          <a:lstStyle/>
          <a:p>
            <a:r>
              <a:rPr sz="1150" b="0">
                <a:solidFill>
                  <a:srgbClr val="2E2E2E"/>
                </a:solidFill>
                <a:latin typeface="Calibri"/>
              </a:rPr>
              <a:t>followed by OrganOx with</a:t>
            </a:r>
          </a:p>
        </p:txBody>
      </p:sp>
      <p:pic>
        <p:nvPicPr>
          <p:cNvPr id="34" name="Picture 33" descr="lock.png"/>
          <p:cNvPicPr>
            <a:picLocks noChangeAspect="1"/>
          </p:cNvPicPr>
          <p:nvPr/>
        </p:nvPicPr>
        <p:blipFill>
          <a:blip r:embed="rId5"/>
          <a:stretch>
            <a:fillRect/>
          </a:stretch>
        </p:blipFill>
        <p:spPr>
          <a:xfrm>
            <a:off x="9508594" y="2691835"/>
            <a:ext cx="134549" cy="195707"/>
          </a:xfrm>
          <a:prstGeom prst="rect">
            <a:avLst/>
          </a:prstGeom>
        </p:spPr>
      </p:pic>
      <p:sp>
        <p:nvSpPr>
          <p:cNvPr id="35" name="TextBox 34"/>
          <p:cNvSpPr txBox="1"/>
          <p:nvPr/>
        </p:nvSpPr>
        <p:spPr>
          <a:xfrm>
            <a:off x="9683703" y="2702058"/>
            <a:ext cx="1764292" cy="194310"/>
          </a:xfrm>
          <a:prstGeom prst="rect">
            <a:avLst/>
          </a:prstGeom>
          <a:noFill/>
        </p:spPr>
        <p:txBody>
          <a:bodyPr wrap="none" lIns="0" rIns="0" tIns="0" bIns="0">
            <a:spAutoFit/>
          </a:bodyPr>
          <a:lstStyle/>
          <a:p>
            <a:r>
              <a:rPr sz="1150" b="0">
                <a:solidFill>
                  <a:srgbClr val="2E2E2E"/>
                </a:solidFill>
                <a:latin typeface="Calibri"/>
              </a:rPr>
              <a:t>. Key players are focusing on</a:t>
            </a:r>
          </a:p>
        </p:txBody>
      </p:sp>
      <p:sp>
        <p:nvSpPr>
          <p:cNvPr id="36" name="TextBox 35"/>
          <p:cNvSpPr txBox="1"/>
          <p:nvPr/>
        </p:nvSpPr>
        <p:spPr>
          <a:xfrm>
            <a:off x="7934325" y="2877318"/>
            <a:ext cx="3381437" cy="194310"/>
          </a:xfrm>
          <a:prstGeom prst="rect">
            <a:avLst/>
          </a:prstGeom>
          <a:noFill/>
        </p:spPr>
        <p:txBody>
          <a:bodyPr wrap="none" lIns="0" rIns="0" tIns="0" bIns="0">
            <a:spAutoFit/>
          </a:bodyPr>
          <a:lstStyle/>
          <a:p>
            <a:r>
              <a:rPr sz="1150" b="0">
                <a:solidFill>
                  <a:srgbClr val="2E2E2E"/>
                </a:solidFill>
                <a:latin typeface="Calibri"/>
              </a:rPr>
              <a:t>product innovation, geographic expansion and strategic</a:t>
            </a:r>
          </a:p>
        </p:txBody>
      </p:sp>
      <p:sp>
        <p:nvSpPr>
          <p:cNvPr id="37" name="TextBox 36"/>
          <p:cNvSpPr txBox="1"/>
          <p:nvPr/>
        </p:nvSpPr>
        <p:spPr>
          <a:xfrm>
            <a:off x="7934325" y="3052578"/>
            <a:ext cx="2993776" cy="194310"/>
          </a:xfrm>
          <a:prstGeom prst="rect">
            <a:avLst/>
          </a:prstGeom>
          <a:noFill/>
        </p:spPr>
        <p:txBody>
          <a:bodyPr wrap="none" lIns="0" rIns="0" tIns="0" bIns="0">
            <a:spAutoFit/>
          </a:bodyPr>
          <a:lstStyle/>
          <a:p>
            <a:r>
              <a:rPr sz="1150" b="0">
                <a:solidFill>
                  <a:srgbClr val="2E2E2E"/>
                </a:solidFill>
                <a:latin typeface="Calibri"/>
              </a:rPr>
              <a:t>partnerships to strengthen their market position.</a:t>
            </a:r>
          </a:p>
        </p:txBody>
      </p:sp>
      <p:sp>
        <p:nvSpPr>
          <p:cNvPr id="38" name="TextBox 37"/>
          <p:cNvSpPr txBox="1"/>
          <p:nvPr/>
        </p:nvSpPr>
        <p:spPr>
          <a:xfrm>
            <a:off x="7934325" y="3280416"/>
            <a:ext cx="3647864" cy="194310"/>
          </a:xfrm>
          <a:prstGeom prst="rect">
            <a:avLst/>
          </a:prstGeom>
          <a:noFill/>
        </p:spPr>
        <p:txBody>
          <a:bodyPr wrap="none" lIns="0" rIns="0" tIns="0" bIns="0">
            <a:spAutoFit/>
          </a:bodyPr>
          <a:lstStyle/>
          <a:p>
            <a:r>
              <a:rPr sz="1150" b="0">
                <a:solidFill>
                  <a:srgbClr val="2E2E2E"/>
                </a:solidFill>
                <a:latin typeface="Calibri"/>
              </a:rPr>
              <a:t>Regional share differs from the global picture use the region</a:t>
            </a:r>
          </a:p>
        </p:txBody>
      </p:sp>
      <p:sp>
        <p:nvSpPr>
          <p:cNvPr id="39" name="TextBox 38"/>
          <p:cNvSpPr txBox="1"/>
          <p:nvPr/>
        </p:nvSpPr>
        <p:spPr>
          <a:xfrm>
            <a:off x="7934325" y="3455676"/>
            <a:ext cx="3444763" cy="194310"/>
          </a:xfrm>
          <a:prstGeom prst="rect">
            <a:avLst/>
          </a:prstGeom>
          <a:noFill/>
        </p:spPr>
        <p:txBody>
          <a:bodyPr wrap="none" lIns="0" rIns="0" tIns="0" bIns="0">
            <a:spAutoFit/>
          </a:bodyPr>
          <a:lstStyle/>
          <a:p>
            <a:r>
              <a:rPr sz="1150" b="0">
                <a:solidFill>
                  <a:srgbClr val="2E2E2E"/>
                </a:solidFill>
                <a:latin typeface="Calibri"/>
              </a:rPr>
              <a:t>selector to see how leadership shifts across geographies.</a:t>
            </a:r>
          </a:p>
        </p:txBody>
      </p:sp>
      <p:sp>
        <p:nvSpPr>
          <p:cNvPr id="40" name="lockshield_13"/>
          <p:cNvSpPr/>
          <p:nvPr/>
        </p:nvSpPr>
        <p:spPr>
          <a:xfrm>
            <a:off x="238125" y="1639831"/>
            <a:ext cx="7353300" cy="4877658"/>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Company Share by Product Type (Top 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company value share within each leading device technology, highlighting where leadership differs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leading product types where each player concentrates, and how leadership varies by formulation.</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Portable Machine Perfusion Devices</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Static Cold Storage Devices</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19" name="Rectangle 18"/>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1" name="TextBox 2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2" name="Picture 21" descr="lock.png"/>
          <p:cNvPicPr>
            <a:picLocks noChangeAspect="1"/>
          </p:cNvPicPr>
          <p:nvPr/>
        </p:nvPicPr>
        <p:blipFill>
          <a:blip r:embed="rId6"/>
          <a:stretch>
            <a:fillRect/>
          </a:stretch>
        </p:blipFill>
        <p:spPr>
          <a:xfrm>
            <a:off x="1233011" y="2619895"/>
            <a:ext cx="523875" cy="762000"/>
          </a:xfrm>
          <a:prstGeom prst="rect">
            <a:avLst/>
          </a:prstGeom>
        </p:spPr>
      </p:pic>
      <p:pic>
        <p:nvPicPr>
          <p:cNvPr id="23" name="Picture 22" descr="lock.png"/>
          <p:cNvPicPr>
            <a:picLocks noChangeAspect="1"/>
          </p:cNvPicPr>
          <p:nvPr/>
        </p:nvPicPr>
        <p:blipFill>
          <a:blip r:embed="rId6"/>
          <a:stretch>
            <a:fillRect/>
          </a:stretch>
        </p:blipFill>
        <p:spPr>
          <a:xfrm>
            <a:off x="5214461" y="2619895"/>
            <a:ext cx="523875" cy="762000"/>
          </a:xfrm>
          <a:prstGeom prst="rect">
            <a:avLst/>
          </a:prstGeom>
        </p:spPr>
      </p:pic>
      <p:sp>
        <p:nvSpPr>
          <p:cNvPr id="24" name="TextBox 23"/>
          <p:cNvSpPr txBox="1"/>
          <p:nvPr/>
        </p:nvSpPr>
        <p:spPr>
          <a:xfrm>
            <a:off x="276225" y="5022340"/>
            <a:ext cx="3792202" cy="194310"/>
          </a:xfrm>
          <a:prstGeom prst="rect">
            <a:avLst/>
          </a:prstGeom>
          <a:noFill/>
        </p:spPr>
        <p:txBody>
          <a:bodyPr wrap="none" lIns="0" rIns="0" tIns="0" bIns="0">
            <a:spAutoFit/>
          </a:bodyPr>
          <a:lstStyle/>
          <a:p>
            <a:r>
              <a:rPr sz="1150" b="0">
                <a:solidFill>
                  <a:srgbClr val="2E2E2E"/>
                </a:solidFill>
                <a:latin typeface="Calibri"/>
              </a:rPr>
              <a:t>▪ Portable Machine Perfusion Devices: 'TransMedics' leads at ~</a:t>
            </a:r>
          </a:p>
        </p:txBody>
      </p:sp>
      <p:pic>
        <p:nvPicPr>
          <p:cNvPr id="25" name="Picture 24" descr="lock.png"/>
          <p:cNvPicPr>
            <a:picLocks noChangeAspect="1"/>
          </p:cNvPicPr>
          <p:nvPr/>
        </p:nvPicPr>
        <p:blipFill>
          <a:blip r:embed="rId6"/>
          <a:stretch>
            <a:fillRect/>
          </a:stretch>
        </p:blipFill>
        <p:spPr>
          <a:xfrm>
            <a:off x="4017581" y="5012116"/>
            <a:ext cx="134549" cy="195707"/>
          </a:xfrm>
          <a:prstGeom prst="rect">
            <a:avLst/>
          </a:prstGeom>
        </p:spPr>
      </p:pic>
      <p:sp>
        <p:nvSpPr>
          <p:cNvPr id="26" name="TextBox 25"/>
          <p:cNvSpPr txBox="1"/>
          <p:nvPr/>
        </p:nvSpPr>
        <p:spPr>
          <a:xfrm>
            <a:off x="4192690" y="5022340"/>
            <a:ext cx="2312305" cy="194310"/>
          </a:xfrm>
          <a:prstGeom prst="rect">
            <a:avLst/>
          </a:prstGeom>
          <a:noFill/>
        </p:spPr>
        <p:txBody>
          <a:bodyPr wrap="none" lIns="0" rIns="0" tIns="0" bIns="0">
            <a:spAutoFit/>
          </a:bodyPr>
          <a:lstStyle/>
          <a:p>
            <a:r>
              <a:rPr sz="1150" b="0">
                <a:solidFill>
                  <a:srgbClr val="2E2E2E"/>
                </a:solidFill>
                <a:latin typeface="Calibri"/>
              </a:rPr>
              <a:t>, ahead of 'Paragonix Technologies' (~</a:t>
            </a:r>
          </a:p>
        </p:txBody>
      </p:sp>
      <p:pic>
        <p:nvPicPr>
          <p:cNvPr id="27" name="Picture 26" descr="lock.png"/>
          <p:cNvPicPr>
            <a:picLocks noChangeAspect="1"/>
          </p:cNvPicPr>
          <p:nvPr/>
        </p:nvPicPr>
        <p:blipFill>
          <a:blip r:embed="rId6"/>
          <a:stretch>
            <a:fillRect/>
          </a:stretch>
        </p:blipFill>
        <p:spPr>
          <a:xfrm>
            <a:off x="6454150" y="5012116"/>
            <a:ext cx="134549" cy="195707"/>
          </a:xfrm>
          <a:prstGeom prst="rect">
            <a:avLst/>
          </a:prstGeom>
        </p:spPr>
      </p:pic>
      <p:sp>
        <p:nvSpPr>
          <p:cNvPr id="28" name="TextBox 27"/>
          <p:cNvSpPr txBox="1"/>
          <p:nvPr/>
        </p:nvSpPr>
        <p:spPr>
          <a:xfrm>
            <a:off x="6629259"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29" name="Picture 28" descr="lock.png"/>
          <p:cNvPicPr>
            <a:picLocks noChangeAspect="1"/>
          </p:cNvPicPr>
          <p:nvPr/>
        </p:nvPicPr>
        <p:blipFill>
          <a:blip r:embed="rId6"/>
          <a:stretch>
            <a:fillRect/>
          </a:stretch>
        </p:blipFill>
        <p:spPr>
          <a:xfrm>
            <a:off x="7963928" y="5012116"/>
            <a:ext cx="134549" cy="195707"/>
          </a:xfrm>
          <a:prstGeom prst="rect">
            <a:avLst/>
          </a:prstGeom>
        </p:spPr>
      </p:pic>
      <p:sp>
        <p:nvSpPr>
          <p:cNvPr id="30" name="TextBox 29"/>
          <p:cNvSpPr txBox="1"/>
          <p:nvPr/>
        </p:nvSpPr>
        <p:spPr>
          <a:xfrm>
            <a:off x="8139038"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1" name="Picture 30" descr="lock.png"/>
          <p:cNvPicPr>
            <a:picLocks noChangeAspect="1"/>
          </p:cNvPicPr>
          <p:nvPr/>
        </p:nvPicPr>
        <p:blipFill>
          <a:blip r:embed="rId6"/>
          <a:stretch>
            <a:fillRect/>
          </a:stretch>
        </p:blipFill>
        <p:spPr>
          <a:xfrm>
            <a:off x="9694493" y="5012116"/>
            <a:ext cx="134549" cy="195707"/>
          </a:xfrm>
          <a:prstGeom prst="rect">
            <a:avLst/>
          </a:prstGeom>
        </p:spPr>
      </p:pic>
      <p:sp>
        <p:nvSpPr>
          <p:cNvPr id="32" name="TextBox 31"/>
          <p:cNvSpPr txBox="1"/>
          <p:nvPr/>
        </p:nvSpPr>
        <p:spPr>
          <a:xfrm>
            <a:off x="9869603"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3" name="TextBox 32"/>
          <p:cNvSpPr txBox="1"/>
          <p:nvPr/>
        </p:nvSpPr>
        <p:spPr>
          <a:xfrm>
            <a:off x="276225" y="5250177"/>
            <a:ext cx="3476711" cy="194310"/>
          </a:xfrm>
          <a:prstGeom prst="rect">
            <a:avLst/>
          </a:prstGeom>
          <a:noFill/>
        </p:spPr>
        <p:txBody>
          <a:bodyPr wrap="none" lIns="0" rIns="0" tIns="0" bIns="0">
            <a:spAutoFit/>
          </a:bodyPr>
          <a:lstStyle/>
          <a:p>
            <a:r>
              <a:rPr sz="1150" b="0">
                <a:solidFill>
                  <a:srgbClr val="2E2E2E"/>
                </a:solidFill>
                <a:latin typeface="Calibri"/>
              </a:rPr>
              <a:t>▪ Static Cold Storage Devices: 'XVIVO Perfusion' leads at ~</a:t>
            </a:r>
          </a:p>
        </p:txBody>
      </p:sp>
      <p:pic>
        <p:nvPicPr>
          <p:cNvPr id="34" name="Picture 33" descr="lock.png"/>
          <p:cNvPicPr>
            <a:picLocks noChangeAspect="1"/>
          </p:cNvPicPr>
          <p:nvPr/>
        </p:nvPicPr>
        <p:blipFill>
          <a:blip r:embed="rId6"/>
          <a:stretch>
            <a:fillRect/>
          </a:stretch>
        </p:blipFill>
        <p:spPr>
          <a:xfrm>
            <a:off x="3702090" y="5239954"/>
            <a:ext cx="134549" cy="195707"/>
          </a:xfrm>
          <a:prstGeom prst="rect">
            <a:avLst/>
          </a:prstGeom>
        </p:spPr>
      </p:pic>
      <p:sp>
        <p:nvSpPr>
          <p:cNvPr id="35" name="TextBox 34"/>
          <p:cNvSpPr txBox="1"/>
          <p:nvPr/>
        </p:nvSpPr>
        <p:spPr>
          <a:xfrm>
            <a:off x="3877200" y="5250177"/>
            <a:ext cx="1437133" cy="194310"/>
          </a:xfrm>
          <a:prstGeom prst="rect">
            <a:avLst/>
          </a:prstGeom>
          <a:noFill/>
        </p:spPr>
        <p:txBody>
          <a:bodyPr wrap="none" lIns="0" rIns="0" tIns="0" bIns="0">
            <a:spAutoFit/>
          </a:bodyPr>
          <a:lstStyle/>
          <a:p>
            <a:r>
              <a:rPr sz="1150" b="0">
                <a:solidFill>
                  <a:srgbClr val="2E2E2E"/>
                </a:solidFill>
                <a:latin typeface="Calibri"/>
              </a:rPr>
              <a:t>, ahead of 'OrganOx' (~</a:t>
            </a:r>
          </a:p>
        </p:txBody>
      </p:sp>
      <p:pic>
        <p:nvPicPr>
          <p:cNvPr id="36" name="Picture 35" descr="lock.png"/>
          <p:cNvPicPr>
            <a:picLocks noChangeAspect="1"/>
          </p:cNvPicPr>
          <p:nvPr/>
        </p:nvPicPr>
        <p:blipFill>
          <a:blip r:embed="rId6"/>
          <a:stretch>
            <a:fillRect/>
          </a:stretch>
        </p:blipFill>
        <p:spPr>
          <a:xfrm>
            <a:off x="5263486" y="5239954"/>
            <a:ext cx="134549" cy="195707"/>
          </a:xfrm>
          <a:prstGeom prst="rect">
            <a:avLst/>
          </a:prstGeom>
        </p:spPr>
      </p:pic>
      <p:sp>
        <p:nvSpPr>
          <p:cNvPr id="37" name="TextBox 36"/>
          <p:cNvSpPr txBox="1"/>
          <p:nvPr/>
        </p:nvSpPr>
        <p:spPr>
          <a:xfrm>
            <a:off x="5438596"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8" name="Picture 37" descr="lock.png"/>
          <p:cNvPicPr>
            <a:picLocks noChangeAspect="1"/>
          </p:cNvPicPr>
          <p:nvPr/>
        </p:nvPicPr>
        <p:blipFill>
          <a:blip r:embed="rId6"/>
          <a:stretch>
            <a:fillRect/>
          </a:stretch>
        </p:blipFill>
        <p:spPr>
          <a:xfrm>
            <a:off x="6773265" y="5239954"/>
            <a:ext cx="134549" cy="195707"/>
          </a:xfrm>
          <a:prstGeom prst="rect">
            <a:avLst/>
          </a:prstGeom>
        </p:spPr>
      </p:pic>
      <p:sp>
        <p:nvSpPr>
          <p:cNvPr id="39" name="TextBox 38"/>
          <p:cNvSpPr txBox="1"/>
          <p:nvPr/>
        </p:nvSpPr>
        <p:spPr>
          <a:xfrm>
            <a:off x="6948374"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0" name="Picture 39" descr="lock.png"/>
          <p:cNvPicPr>
            <a:picLocks noChangeAspect="1"/>
          </p:cNvPicPr>
          <p:nvPr/>
        </p:nvPicPr>
        <p:blipFill>
          <a:blip r:embed="rId6"/>
          <a:stretch>
            <a:fillRect/>
          </a:stretch>
        </p:blipFill>
        <p:spPr>
          <a:xfrm>
            <a:off x="8503830" y="5239954"/>
            <a:ext cx="134549" cy="195707"/>
          </a:xfrm>
          <a:prstGeom prst="rect">
            <a:avLst/>
          </a:prstGeom>
        </p:spPr>
      </p:pic>
      <p:sp>
        <p:nvSpPr>
          <p:cNvPr id="41" name="TextBox 40"/>
          <p:cNvSpPr txBox="1"/>
          <p:nvPr/>
        </p:nvSpPr>
        <p:spPr>
          <a:xfrm>
            <a:off x="8678940"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2" name="TextBox 41"/>
          <p:cNvSpPr txBox="1"/>
          <p:nvPr/>
        </p:nvSpPr>
        <p:spPr>
          <a:xfrm>
            <a:off x="276225" y="5478015"/>
            <a:ext cx="8908516" cy="194310"/>
          </a:xfrm>
          <a:prstGeom prst="rect">
            <a:avLst/>
          </a:prstGeom>
          <a:noFill/>
        </p:spPr>
        <p:txBody>
          <a:bodyPr wrap="none" lIns="0" rIns="0" tIns="0" bIns="0">
            <a:spAutoFit/>
          </a:bodyPr>
          <a:lstStyle/>
          <a:p>
            <a:r>
              <a:rPr sz="1150" b="0">
                <a:solidFill>
                  <a:srgbClr val="2E2E2E"/>
                </a:solidFill>
                <a:latin typeface="Calibri"/>
              </a:rPr>
              <a:t>▪ Leadership shifts across formulations a strong position in one product type does not carry over to the others, so product-level targeting is essential.</a:t>
            </a:r>
          </a:p>
        </p:txBody>
      </p:sp>
      <p:sp>
        <p:nvSpPr>
          <p:cNvPr id="43" name="TextBox 42"/>
          <p:cNvSpPr txBox="1"/>
          <p:nvPr/>
        </p:nvSpPr>
        <p:spPr>
          <a:xfrm>
            <a:off x="276225" y="5705853"/>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44"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Company Share by Region (Top 3)</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Company value share within the largest regions, highlighting where leadership shifts across geographies</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Company value share within each of the largest regions where each player concentrates, and how leadership varies by geography.</a:t>
            </a:r>
          </a:p>
        </p:txBody>
      </p:sp>
      <p:sp>
        <p:nvSpPr>
          <p:cNvPr id="11" name="Rounded Rectangle 10"/>
          <p:cNvSpPr/>
          <p:nvPr/>
        </p:nvSpPr>
        <p:spPr>
          <a:xfrm>
            <a:off x="14287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3" name="Chart 12"/>
          <p:cNvGraphicFramePr>
            <a:graphicFrameLocks noGrp="1"/>
          </p:cNvGraphicFramePr>
          <p:nvPr/>
        </p:nvGraphicFramePr>
        <p:xfrm>
          <a:off x="238125" y="1585070"/>
          <a:ext cx="3638550" cy="2869751"/>
        </p:xfrm>
        <a:graphic>
          <a:graphicData uri="http://schemas.openxmlformats.org/drawingml/2006/chart">
            <c:chart xmlns:c="http://schemas.openxmlformats.org/drawingml/2006/chart" r:id="rId3"/>
          </a:graphicData>
        </a:graphic>
      </p:graphicFrame>
      <p:sp>
        <p:nvSpPr>
          <p:cNvPr id="14" name="Rounded Rectangle 13"/>
          <p:cNvSpPr/>
          <p:nvPr/>
        </p:nvSpPr>
        <p:spPr>
          <a:xfrm>
            <a:off x="4124325" y="1299320"/>
            <a:ext cx="38290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9575" y="135647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Europe</a:t>
            </a:r>
          </a:p>
        </p:txBody>
      </p:sp>
      <p:graphicFrame>
        <p:nvGraphicFramePr>
          <p:cNvPr id="16" name="Chart 15"/>
          <p:cNvGraphicFramePr>
            <a:graphicFrameLocks noGrp="1"/>
          </p:cNvGraphicFramePr>
          <p:nvPr/>
        </p:nvGraphicFramePr>
        <p:xfrm>
          <a:off x="4219575" y="1585070"/>
          <a:ext cx="3638550" cy="2869751"/>
        </p:xfrm>
        <a:graphic>
          <a:graphicData uri="http://schemas.openxmlformats.org/drawingml/2006/chart">
            <c:chart xmlns:c="http://schemas.openxmlformats.org/drawingml/2006/chart" r:id="rId4"/>
          </a:graphicData>
        </a:graphic>
      </p:graphicFrame>
      <p:sp>
        <p:nvSpPr>
          <p:cNvPr id="17" name="Rounded Rectangle 16"/>
          <p:cNvSpPr/>
          <p:nvPr/>
        </p:nvSpPr>
        <p:spPr>
          <a:xfrm>
            <a:off x="8105775" y="1299320"/>
            <a:ext cx="3943350" cy="3212651"/>
          </a:xfrm>
          <a:prstGeom prst="roundRect">
            <a:avLst>
              <a:gd name="adj" fmla="val 23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1025" y="135647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South Asia &amp; Pacific</a:t>
            </a:r>
          </a:p>
        </p:txBody>
      </p:sp>
      <p:graphicFrame>
        <p:nvGraphicFramePr>
          <p:cNvPr id="19" name="Chart 18"/>
          <p:cNvGraphicFramePr>
            <a:graphicFrameLocks noGrp="1"/>
          </p:cNvGraphicFramePr>
          <p:nvPr/>
        </p:nvGraphicFramePr>
        <p:xfrm>
          <a:off x="8201025" y="1585070"/>
          <a:ext cx="3752850" cy="2869751"/>
        </p:xfrm>
        <a:graphic>
          <a:graphicData uri="http://schemas.openxmlformats.org/drawingml/2006/chart">
            <c:chart xmlns:c="http://schemas.openxmlformats.org/drawingml/2006/chart" r:id="rId5"/>
          </a:graphicData>
        </a:graphic>
      </p:graphicFrame>
      <p:sp>
        <p:nvSpPr>
          <p:cNvPr id="20" name="Rounded Rectangle 19"/>
          <p:cNvSpPr/>
          <p:nvPr/>
        </p:nvSpPr>
        <p:spPr>
          <a:xfrm>
            <a:off x="142875" y="4603240"/>
            <a:ext cx="11906250" cy="1971399"/>
          </a:xfrm>
          <a:prstGeom prst="roundRect">
            <a:avLst>
              <a:gd name="adj" fmla="val 386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68896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2" name="Rectangle 21"/>
          <p:cNvSpPr/>
          <p:nvPr/>
        </p:nvSpPr>
        <p:spPr>
          <a:xfrm>
            <a:off x="276225" y="492709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012815"/>
            <a:ext cx="11639550" cy="1485624"/>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7"/>
          <a:stretch>
            <a:fillRect/>
          </a:stretch>
        </p:blipFill>
        <p:spPr>
          <a:xfrm>
            <a:off x="1233011" y="2619895"/>
            <a:ext cx="523875" cy="762000"/>
          </a:xfrm>
          <a:prstGeom prst="rect">
            <a:avLst/>
          </a:prstGeom>
        </p:spPr>
      </p:pic>
      <p:pic>
        <p:nvPicPr>
          <p:cNvPr id="26" name="Picture 25" descr="lock.png"/>
          <p:cNvPicPr>
            <a:picLocks noChangeAspect="1"/>
          </p:cNvPicPr>
          <p:nvPr/>
        </p:nvPicPr>
        <p:blipFill>
          <a:blip r:embed="rId7"/>
          <a:stretch>
            <a:fillRect/>
          </a:stretch>
        </p:blipFill>
        <p:spPr>
          <a:xfrm>
            <a:off x="5214461" y="2619895"/>
            <a:ext cx="523875" cy="762000"/>
          </a:xfrm>
          <a:prstGeom prst="rect">
            <a:avLst/>
          </a:prstGeom>
        </p:spPr>
      </p:pic>
      <p:pic>
        <p:nvPicPr>
          <p:cNvPr id="27" name="Picture 26" descr="lock.png"/>
          <p:cNvPicPr>
            <a:picLocks noChangeAspect="1"/>
          </p:cNvPicPr>
          <p:nvPr/>
        </p:nvPicPr>
        <p:blipFill>
          <a:blip r:embed="rId7"/>
          <a:stretch>
            <a:fillRect/>
          </a:stretch>
        </p:blipFill>
        <p:spPr>
          <a:xfrm>
            <a:off x="9235916" y="2619895"/>
            <a:ext cx="523875" cy="762000"/>
          </a:xfrm>
          <a:prstGeom prst="rect">
            <a:avLst/>
          </a:prstGeom>
        </p:spPr>
      </p:pic>
      <p:sp>
        <p:nvSpPr>
          <p:cNvPr id="28" name="TextBox 27"/>
          <p:cNvSpPr txBox="1"/>
          <p:nvPr/>
        </p:nvSpPr>
        <p:spPr>
          <a:xfrm>
            <a:off x="276225" y="5022340"/>
            <a:ext cx="2523393" cy="194310"/>
          </a:xfrm>
          <a:prstGeom prst="rect">
            <a:avLst/>
          </a:prstGeom>
          <a:noFill/>
        </p:spPr>
        <p:txBody>
          <a:bodyPr wrap="none" lIns="0" rIns="0" tIns="0" bIns="0">
            <a:spAutoFit/>
          </a:bodyPr>
          <a:lstStyle/>
          <a:p>
            <a:r>
              <a:rPr sz="1150" b="0">
                <a:solidFill>
                  <a:srgbClr val="2E2E2E"/>
                </a:solidFill>
                <a:latin typeface="Calibri"/>
              </a:rPr>
              <a:t>▪ North America: 'TransMedics' leads at ~</a:t>
            </a:r>
          </a:p>
        </p:txBody>
      </p:sp>
      <p:pic>
        <p:nvPicPr>
          <p:cNvPr id="29" name="Picture 28" descr="lock.png"/>
          <p:cNvPicPr>
            <a:picLocks noChangeAspect="1"/>
          </p:cNvPicPr>
          <p:nvPr/>
        </p:nvPicPr>
        <p:blipFill>
          <a:blip r:embed="rId7"/>
          <a:stretch>
            <a:fillRect/>
          </a:stretch>
        </p:blipFill>
        <p:spPr>
          <a:xfrm>
            <a:off x="2748772" y="5012116"/>
            <a:ext cx="134549" cy="195707"/>
          </a:xfrm>
          <a:prstGeom prst="rect">
            <a:avLst/>
          </a:prstGeom>
        </p:spPr>
      </p:pic>
      <p:sp>
        <p:nvSpPr>
          <p:cNvPr id="30" name="TextBox 29"/>
          <p:cNvSpPr txBox="1"/>
          <p:nvPr/>
        </p:nvSpPr>
        <p:spPr>
          <a:xfrm>
            <a:off x="2923881" y="5022340"/>
            <a:ext cx="1437133" cy="194310"/>
          </a:xfrm>
          <a:prstGeom prst="rect">
            <a:avLst/>
          </a:prstGeom>
          <a:noFill/>
        </p:spPr>
        <p:txBody>
          <a:bodyPr wrap="none" lIns="0" rIns="0" tIns="0" bIns="0">
            <a:spAutoFit/>
          </a:bodyPr>
          <a:lstStyle/>
          <a:p>
            <a:r>
              <a:rPr sz="1150" b="0">
                <a:solidFill>
                  <a:srgbClr val="2E2E2E"/>
                </a:solidFill>
                <a:latin typeface="Calibri"/>
              </a:rPr>
              <a:t>, ahead of 'OrganOx' (~</a:t>
            </a:r>
          </a:p>
        </p:txBody>
      </p:sp>
      <p:pic>
        <p:nvPicPr>
          <p:cNvPr id="31" name="Picture 30" descr="lock.png"/>
          <p:cNvPicPr>
            <a:picLocks noChangeAspect="1"/>
          </p:cNvPicPr>
          <p:nvPr/>
        </p:nvPicPr>
        <p:blipFill>
          <a:blip r:embed="rId7"/>
          <a:stretch>
            <a:fillRect/>
          </a:stretch>
        </p:blipFill>
        <p:spPr>
          <a:xfrm>
            <a:off x="4310168" y="5012116"/>
            <a:ext cx="134549" cy="195707"/>
          </a:xfrm>
          <a:prstGeom prst="rect">
            <a:avLst/>
          </a:prstGeom>
        </p:spPr>
      </p:pic>
      <p:sp>
        <p:nvSpPr>
          <p:cNvPr id="32" name="TextBox 31"/>
          <p:cNvSpPr txBox="1"/>
          <p:nvPr/>
        </p:nvSpPr>
        <p:spPr>
          <a:xfrm>
            <a:off x="4485277" y="5022340"/>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33" name="Picture 32" descr="lock.png"/>
          <p:cNvPicPr>
            <a:picLocks noChangeAspect="1"/>
          </p:cNvPicPr>
          <p:nvPr/>
        </p:nvPicPr>
        <p:blipFill>
          <a:blip r:embed="rId7"/>
          <a:stretch>
            <a:fillRect/>
          </a:stretch>
        </p:blipFill>
        <p:spPr>
          <a:xfrm>
            <a:off x="5819947" y="5012116"/>
            <a:ext cx="134549" cy="195707"/>
          </a:xfrm>
          <a:prstGeom prst="rect">
            <a:avLst/>
          </a:prstGeom>
        </p:spPr>
      </p:pic>
      <p:sp>
        <p:nvSpPr>
          <p:cNvPr id="34" name="TextBox 33"/>
          <p:cNvSpPr txBox="1"/>
          <p:nvPr/>
        </p:nvSpPr>
        <p:spPr>
          <a:xfrm>
            <a:off x="5995056" y="5022340"/>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35" name="Picture 34" descr="lock.png"/>
          <p:cNvPicPr>
            <a:picLocks noChangeAspect="1"/>
          </p:cNvPicPr>
          <p:nvPr/>
        </p:nvPicPr>
        <p:blipFill>
          <a:blip r:embed="rId7"/>
          <a:stretch>
            <a:fillRect/>
          </a:stretch>
        </p:blipFill>
        <p:spPr>
          <a:xfrm>
            <a:off x="7550512" y="5012116"/>
            <a:ext cx="134549" cy="195707"/>
          </a:xfrm>
          <a:prstGeom prst="rect">
            <a:avLst/>
          </a:prstGeom>
        </p:spPr>
      </p:pic>
      <p:sp>
        <p:nvSpPr>
          <p:cNvPr id="36" name="TextBox 35"/>
          <p:cNvSpPr txBox="1"/>
          <p:nvPr/>
        </p:nvSpPr>
        <p:spPr>
          <a:xfrm>
            <a:off x="7725621" y="5022340"/>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37" name="TextBox 36"/>
          <p:cNvSpPr txBox="1"/>
          <p:nvPr/>
        </p:nvSpPr>
        <p:spPr>
          <a:xfrm>
            <a:off x="276225" y="5250177"/>
            <a:ext cx="2077256" cy="194310"/>
          </a:xfrm>
          <a:prstGeom prst="rect">
            <a:avLst/>
          </a:prstGeom>
          <a:noFill/>
        </p:spPr>
        <p:txBody>
          <a:bodyPr wrap="none" lIns="0" rIns="0" tIns="0" bIns="0">
            <a:spAutoFit/>
          </a:bodyPr>
          <a:lstStyle/>
          <a:p>
            <a:r>
              <a:rPr sz="1150" b="0">
                <a:solidFill>
                  <a:srgbClr val="2E2E2E"/>
                </a:solidFill>
                <a:latin typeface="Calibri"/>
              </a:rPr>
              <a:t>▪ Europe: 'TransMedics' leads at ~</a:t>
            </a:r>
          </a:p>
        </p:txBody>
      </p:sp>
      <p:pic>
        <p:nvPicPr>
          <p:cNvPr id="38" name="Picture 37" descr="lock.png"/>
          <p:cNvPicPr>
            <a:picLocks noChangeAspect="1"/>
          </p:cNvPicPr>
          <p:nvPr/>
        </p:nvPicPr>
        <p:blipFill>
          <a:blip r:embed="rId7"/>
          <a:stretch>
            <a:fillRect/>
          </a:stretch>
        </p:blipFill>
        <p:spPr>
          <a:xfrm>
            <a:off x="2302635" y="5239954"/>
            <a:ext cx="134549" cy="195707"/>
          </a:xfrm>
          <a:prstGeom prst="rect">
            <a:avLst/>
          </a:prstGeom>
        </p:spPr>
      </p:pic>
      <p:sp>
        <p:nvSpPr>
          <p:cNvPr id="39" name="TextBox 38"/>
          <p:cNvSpPr txBox="1"/>
          <p:nvPr/>
        </p:nvSpPr>
        <p:spPr>
          <a:xfrm>
            <a:off x="2477744" y="5250177"/>
            <a:ext cx="2312305" cy="194310"/>
          </a:xfrm>
          <a:prstGeom prst="rect">
            <a:avLst/>
          </a:prstGeom>
          <a:noFill/>
        </p:spPr>
        <p:txBody>
          <a:bodyPr wrap="none" lIns="0" rIns="0" tIns="0" bIns="0">
            <a:spAutoFit/>
          </a:bodyPr>
          <a:lstStyle/>
          <a:p>
            <a:r>
              <a:rPr sz="1150" b="0">
                <a:solidFill>
                  <a:srgbClr val="2E2E2E"/>
                </a:solidFill>
                <a:latin typeface="Calibri"/>
              </a:rPr>
              <a:t>, ahead of 'Paragonix Technologies' (~</a:t>
            </a:r>
          </a:p>
        </p:txBody>
      </p:sp>
      <p:pic>
        <p:nvPicPr>
          <p:cNvPr id="40" name="Picture 39" descr="lock.png"/>
          <p:cNvPicPr>
            <a:picLocks noChangeAspect="1"/>
          </p:cNvPicPr>
          <p:nvPr/>
        </p:nvPicPr>
        <p:blipFill>
          <a:blip r:embed="rId7"/>
          <a:stretch>
            <a:fillRect/>
          </a:stretch>
        </p:blipFill>
        <p:spPr>
          <a:xfrm>
            <a:off x="4739203" y="5239954"/>
            <a:ext cx="134549" cy="195707"/>
          </a:xfrm>
          <a:prstGeom prst="rect">
            <a:avLst/>
          </a:prstGeom>
        </p:spPr>
      </p:pic>
      <p:sp>
        <p:nvSpPr>
          <p:cNvPr id="41" name="TextBox 40"/>
          <p:cNvSpPr txBox="1"/>
          <p:nvPr/>
        </p:nvSpPr>
        <p:spPr>
          <a:xfrm>
            <a:off x="4914312" y="5250177"/>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42" name="Picture 41" descr="lock.png"/>
          <p:cNvPicPr>
            <a:picLocks noChangeAspect="1"/>
          </p:cNvPicPr>
          <p:nvPr/>
        </p:nvPicPr>
        <p:blipFill>
          <a:blip r:embed="rId7"/>
          <a:stretch>
            <a:fillRect/>
          </a:stretch>
        </p:blipFill>
        <p:spPr>
          <a:xfrm>
            <a:off x="6248982" y="5239954"/>
            <a:ext cx="134549" cy="195707"/>
          </a:xfrm>
          <a:prstGeom prst="rect">
            <a:avLst/>
          </a:prstGeom>
        </p:spPr>
      </p:pic>
      <p:sp>
        <p:nvSpPr>
          <p:cNvPr id="43" name="TextBox 42"/>
          <p:cNvSpPr txBox="1"/>
          <p:nvPr/>
        </p:nvSpPr>
        <p:spPr>
          <a:xfrm>
            <a:off x="6424091" y="5250177"/>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44" name="Picture 43" descr="lock.png"/>
          <p:cNvPicPr>
            <a:picLocks noChangeAspect="1"/>
          </p:cNvPicPr>
          <p:nvPr/>
        </p:nvPicPr>
        <p:blipFill>
          <a:blip r:embed="rId7"/>
          <a:stretch>
            <a:fillRect/>
          </a:stretch>
        </p:blipFill>
        <p:spPr>
          <a:xfrm>
            <a:off x="7979547" y="5239954"/>
            <a:ext cx="134549" cy="195707"/>
          </a:xfrm>
          <a:prstGeom prst="rect">
            <a:avLst/>
          </a:prstGeom>
        </p:spPr>
      </p:pic>
      <p:sp>
        <p:nvSpPr>
          <p:cNvPr id="45" name="TextBox 44"/>
          <p:cNvSpPr txBox="1"/>
          <p:nvPr/>
        </p:nvSpPr>
        <p:spPr>
          <a:xfrm>
            <a:off x="8154656" y="5250177"/>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478015"/>
            <a:ext cx="3043696" cy="194310"/>
          </a:xfrm>
          <a:prstGeom prst="rect">
            <a:avLst/>
          </a:prstGeom>
          <a:noFill/>
        </p:spPr>
        <p:txBody>
          <a:bodyPr wrap="none" lIns="0" rIns="0" tIns="0" bIns="0">
            <a:spAutoFit/>
          </a:bodyPr>
          <a:lstStyle/>
          <a:p>
            <a:r>
              <a:rPr sz="1150" b="0">
                <a:solidFill>
                  <a:srgbClr val="2E2E2E"/>
                </a:solidFill>
                <a:latin typeface="Calibri"/>
              </a:rPr>
              <a:t>▪ South Asia &amp; Pacific: 'XVIVO Perfusion' leads at ~</a:t>
            </a:r>
          </a:p>
        </p:txBody>
      </p:sp>
      <p:pic>
        <p:nvPicPr>
          <p:cNvPr id="47" name="Picture 46" descr="lock.png"/>
          <p:cNvPicPr>
            <a:picLocks noChangeAspect="1"/>
          </p:cNvPicPr>
          <p:nvPr/>
        </p:nvPicPr>
        <p:blipFill>
          <a:blip r:embed="rId7"/>
          <a:stretch>
            <a:fillRect/>
          </a:stretch>
        </p:blipFill>
        <p:spPr>
          <a:xfrm>
            <a:off x="3269075" y="5467792"/>
            <a:ext cx="134549" cy="195707"/>
          </a:xfrm>
          <a:prstGeom prst="rect">
            <a:avLst/>
          </a:prstGeom>
        </p:spPr>
      </p:pic>
      <p:sp>
        <p:nvSpPr>
          <p:cNvPr id="48" name="TextBox 47"/>
          <p:cNvSpPr txBox="1"/>
          <p:nvPr/>
        </p:nvSpPr>
        <p:spPr>
          <a:xfrm>
            <a:off x="3444184" y="5478015"/>
            <a:ext cx="1437133" cy="194310"/>
          </a:xfrm>
          <a:prstGeom prst="rect">
            <a:avLst/>
          </a:prstGeom>
          <a:noFill/>
        </p:spPr>
        <p:txBody>
          <a:bodyPr wrap="none" lIns="0" rIns="0" tIns="0" bIns="0">
            <a:spAutoFit/>
          </a:bodyPr>
          <a:lstStyle/>
          <a:p>
            <a:r>
              <a:rPr sz="1150" b="0">
                <a:solidFill>
                  <a:srgbClr val="2E2E2E"/>
                </a:solidFill>
                <a:latin typeface="Calibri"/>
              </a:rPr>
              <a:t>, ahead of 'OrganOx' (~</a:t>
            </a:r>
          </a:p>
        </p:txBody>
      </p:sp>
      <p:pic>
        <p:nvPicPr>
          <p:cNvPr id="49" name="Picture 48" descr="lock.png"/>
          <p:cNvPicPr>
            <a:picLocks noChangeAspect="1"/>
          </p:cNvPicPr>
          <p:nvPr/>
        </p:nvPicPr>
        <p:blipFill>
          <a:blip r:embed="rId7"/>
          <a:stretch>
            <a:fillRect/>
          </a:stretch>
        </p:blipFill>
        <p:spPr>
          <a:xfrm>
            <a:off x="4830471" y="5467792"/>
            <a:ext cx="134549" cy="195707"/>
          </a:xfrm>
          <a:prstGeom prst="rect">
            <a:avLst/>
          </a:prstGeom>
        </p:spPr>
      </p:pic>
      <p:sp>
        <p:nvSpPr>
          <p:cNvPr id="50" name="TextBox 49"/>
          <p:cNvSpPr txBox="1"/>
          <p:nvPr/>
        </p:nvSpPr>
        <p:spPr>
          <a:xfrm>
            <a:off x="5005580" y="5478015"/>
            <a:ext cx="1385515" cy="194310"/>
          </a:xfrm>
          <a:prstGeom prst="rect">
            <a:avLst/>
          </a:prstGeom>
          <a:noFill/>
        </p:spPr>
        <p:txBody>
          <a:bodyPr wrap="none" lIns="0" rIns="0" tIns="0" bIns="0">
            <a:spAutoFit/>
          </a:bodyPr>
          <a:lstStyle/>
          <a:p>
            <a:r>
              <a:rPr sz="1150" b="0">
                <a:solidFill>
                  <a:srgbClr val="2E2E2E"/>
                </a:solidFill>
                <a:latin typeface="Calibri"/>
              </a:rPr>
              <a:t>); the top three hold ~</a:t>
            </a:r>
          </a:p>
        </p:txBody>
      </p:sp>
      <p:pic>
        <p:nvPicPr>
          <p:cNvPr id="51" name="Picture 50" descr="lock.png"/>
          <p:cNvPicPr>
            <a:picLocks noChangeAspect="1"/>
          </p:cNvPicPr>
          <p:nvPr/>
        </p:nvPicPr>
        <p:blipFill>
          <a:blip r:embed="rId7"/>
          <a:stretch>
            <a:fillRect/>
          </a:stretch>
        </p:blipFill>
        <p:spPr>
          <a:xfrm>
            <a:off x="6340250" y="5467792"/>
            <a:ext cx="134549" cy="195707"/>
          </a:xfrm>
          <a:prstGeom prst="rect">
            <a:avLst/>
          </a:prstGeom>
        </p:spPr>
      </p:pic>
      <p:sp>
        <p:nvSpPr>
          <p:cNvPr id="52" name="TextBox 51"/>
          <p:cNvSpPr txBox="1"/>
          <p:nvPr/>
        </p:nvSpPr>
        <p:spPr>
          <a:xfrm>
            <a:off x="6515359" y="5478015"/>
            <a:ext cx="1606301" cy="194310"/>
          </a:xfrm>
          <a:prstGeom prst="rect">
            <a:avLst/>
          </a:prstGeom>
          <a:noFill/>
        </p:spPr>
        <p:txBody>
          <a:bodyPr wrap="none" lIns="0" rIns="0" tIns="0" bIns="0">
            <a:spAutoFit/>
          </a:bodyPr>
          <a:lstStyle/>
          <a:p>
            <a:r>
              <a:rPr sz="1150" b="0">
                <a:solidFill>
                  <a:srgbClr val="2E2E2E"/>
                </a:solidFill>
                <a:latin typeface="Calibri"/>
              </a:rPr>
              <a:t>and a long tail ('Others') ~</a:t>
            </a:r>
          </a:p>
        </p:txBody>
      </p:sp>
      <p:pic>
        <p:nvPicPr>
          <p:cNvPr id="53" name="Picture 52" descr="lock.png"/>
          <p:cNvPicPr>
            <a:picLocks noChangeAspect="1"/>
          </p:cNvPicPr>
          <p:nvPr/>
        </p:nvPicPr>
        <p:blipFill>
          <a:blip r:embed="rId7"/>
          <a:stretch>
            <a:fillRect/>
          </a:stretch>
        </p:blipFill>
        <p:spPr>
          <a:xfrm>
            <a:off x="8070815" y="5467792"/>
            <a:ext cx="134549" cy="195707"/>
          </a:xfrm>
          <a:prstGeom prst="rect">
            <a:avLst/>
          </a:prstGeom>
        </p:spPr>
      </p:pic>
      <p:sp>
        <p:nvSpPr>
          <p:cNvPr id="54" name="TextBox 53"/>
          <p:cNvSpPr txBox="1"/>
          <p:nvPr/>
        </p:nvSpPr>
        <p:spPr>
          <a:xfrm>
            <a:off x="8245924" y="5478015"/>
            <a:ext cx="112997" cy="194310"/>
          </a:xfrm>
          <a:prstGeom prst="rect">
            <a:avLst/>
          </a:prstGeom>
          <a:noFill/>
        </p:spPr>
        <p:txBody>
          <a:bodyPr wrap="none" lIns="0" rIns="0" tIns="0" bIns="0">
            <a:spAutoFit/>
          </a:bodyPr>
          <a:lstStyle/>
          <a:p>
            <a:r>
              <a:rPr sz="1150" b="0">
                <a:solidFill>
                  <a:srgbClr val="2E2E2E"/>
                </a:solidFill>
                <a:latin typeface="Calibri"/>
              </a:rPr>
              <a:t>.</a:t>
            </a:r>
          </a:p>
        </p:txBody>
      </p:sp>
      <p:sp>
        <p:nvSpPr>
          <p:cNvPr id="55" name="TextBox 54"/>
          <p:cNvSpPr txBox="1"/>
          <p:nvPr/>
        </p:nvSpPr>
        <p:spPr>
          <a:xfrm>
            <a:off x="276225" y="5705853"/>
            <a:ext cx="9705801" cy="194310"/>
          </a:xfrm>
          <a:prstGeom prst="rect">
            <a:avLst/>
          </a:prstGeom>
          <a:noFill/>
        </p:spPr>
        <p:txBody>
          <a:bodyPr wrap="none" lIns="0" rIns="0" tIns="0" bIns="0">
            <a:spAutoFit/>
          </a:bodyPr>
          <a:lstStyle/>
          <a:p>
            <a:r>
              <a:rPr sz="1150" b="0">
                <a:solidFill>
                  <a:srgbClr val="2E2E2E"/>
                </a:solidFill>
                <a:latin typeface="Calibri"/>
              </a:rPr>
              <a:t>▪ Leadership is not uniform across geographies a strong position in one region does not carry over to the others, so region-level go-to-market planning is essential.</a:t>
            </a:r>
          </a:p>
        </p:txBody>
      </p:sp>
      <p:sp>
        <p:nvSpPr>
          <p:cNvPr id="56" name="TextBox 55"/>
          <p:cNvSpPr txBox="1"/>
          <p:nvPr/>
        </p:nvSpPr>
        <p:spPr>
          <a:xfrm>
            <a:off x="276225" y="5933691"/>
            <a:ext cx="7218957" cy="194310"/>
          </a:xfrm>
          <a:prstGeom prst="rect">
            <a:avLst/>
          </a:prstGeom>
          <a:noFill/>
        </p:spPr>
        <p:txBody>
          <a:bodyPr wrap="none" lIns="0" rIns="0" tIns="0" bIns="0">
            <a:spAutoFit/>
          </a:bodyPr>
          <a:lstStyle/>
          <a:p>
            <a:r>
              <a:rPr sz="1150" b="0">
                <a:solidFill>
                  <a:srgbClr val="2E2E2E"/>
                </a:solidFill>
                <a:latin typeface="Calibri"/>
              </a:rPr>
              <a:t>▪ Note: competitor figures are indicative derived from market modelling and expert validation, not company disclosures.</a:t>
            </a:r>
          </a:p>
        </p:txBody>
      </p:sp>
      <p:sp>
        <p:nvSpPr>
          <p:cNvPr id="57" name="lockshield_13"/>
          <p:cNvSpPr/>
          <p:nvPr/>
        </p:nvSpPr>
        <p:spPr>
          <a:xfrm>
            <a:off x="23812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lockshield_16"/>
          <p:cNvSpPr/>
          <p:nvPr/>
        </p:nvSpPr>
        <p:spPr>
          <a:xfrm>
            <a:off x="4219575" y="1585070"/>
            <a:ext cx="36385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19"/>
          <p:cNvSpPr/>
          <p:nvPr/>
        </p:nvSpPr>
        <p:spPr>
          <a:xfrm>
            <a:off x="8201025" y="1585070"/>
            <a:ext cx="3752850" cy="2869751"/>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Who Shaped Growth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Ranking of the players that shaped growth, by value share, growth role and signature move</a:t>
            </a:r>
          </a:p>
        </p:txBody>
      </p:sp>
      <p:sp>
        <p:nvSpPr>
          <p:cNvPr id="10" name="TextBox 9"/>
          <p:cNvSpPr txBox="1"/>
          <p:nvPr/>
        </p:nvSpPr>
        <p:spPr>
          <a:xfrm>
            <a:off x="142875" y="970754"/>
            <a:ext cx="11906250" cy="182537"/>
          </a:xfrm>
          <a:prstGeom prst="rect">
            <a:avLst/>
          </a:prstGeom>
          <a:noFill/>
        </p:spPr>
        <p:txBody>
          <a:bodyPr wrap="square" lIns="28575" rIns="28575" tIns="9525" bIns="9525" anchor="ctr">
            <a:spAutoFit/>
          </a:bodyPr>
          <a:lstStyle/>
          <a:p>
            <a:pPr algn="l"/>
            <a:r>
              <a:rPr sz="1100" b="0">
                <a:solidFill>
                  <a:srgbClr val="6C7A89"/>
                </a:solidFill>
                <a:latin typeface="Calibri"/>
              </a:rPr>
              <a:t>A framework to identify the companies that most influenced annual Organ Transport Devices Market growth, ranked by growth-shaping impact.</a:t>
            </a:r>
          </a:p>
        </p:txBody>
      </p:sp>
      <p:sp>
        <p:nvSpPr>
          <p:cNvPr id="11" name="Rounded Rectangle 10"/>
          <p:cNvSpPr/>
          <p:nvPr/>
        </p:nvSpPr>
        <p:spPr>
          <a:xfrm>
            <a:off x="3619500" y="1189798"/>
            <a:ext cx="4953000" cy="419835"/>
          </a:xfrm>
          <a:prstGeom prst="roundRect">
            <a:avLst>
              <a:gd name="adj" fmla="val 1538"/>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33800" y="1226305"/>
            <a:ext cx="4724400" cy="173410"/>
          </a:xfrm>
          <a:prstGeom prst="rect">
            <a:avLst/>
          </a:prstGeom>
          <a:noFill/>
        </p:spPr>
        <p:txBody>
          <a:bodyPr wrap="square" lIns="28575" rIns="28575" tIns="9525" bIns="9525" anchor="ctr">
            <a:spAutoFit/>
          </a:bodyPr>
          <a:lstStyle/>
          <a:p>
            <a:pPr algn="ctr"/>
            <a:r>
              <a:rPr sz="1100" b="1">
                <a:solidFill>
                  <a:srgbClr val="0B2E4A"/>
                </a:solidFill>
                <a:latin typeface="Calibri"/>
              </a:rPr>
              <a:t>RANKED BY GROWTH-SHAPING IMPACT</a:t>
            </a:r>
          </a:p>
        </p:txBody>
      </p:sp>
      <p:sp>
        <p:nvSpPr>
          <p:cNvPr id="13" name="TextBox 12"/>
          <p:cNvSpPr txBox="1"/>
          <p:nvPr/>
        </p:nvSpPr>
        <p:spPr>
          <a:xfrm>
            <a:off x="3733800" y="1399716"/>
            <a:ext cx="4724400" cy="173410"/>
          </a:xfrm>
          <a:prstGeom prst="rect">
            <a:avLst/>
          </a:prstGeom>
          <a:noFill/>
        </p:spPr>
        <p:txBody>
          <a:bodyPr wrap="square" lIns="28575" rIns="28575" tIns="9525" bIns="9525" anchor="ctr">
            <a:spAutoFit/>
          </a:bodyPr>
          <a:lstStyle/>
          <a:p>
            <a:pPr algn="ctr"/>
            <a:r>
              <a:rPr sz="1100" b="0">
                <a:solidFill>
                  <a:srgbClr val="6C7A89"/>
                </a:solidFill>
                <a:latin typeface="Calibri"/>
              </a:rPr>
              <a:t>Ranked by overall contribution to category growth, not share alone.</a:t>
            </a:r>
          </a:p>
        </p:txBody>
      </p:sp>
      <p:cxnSp>
        <p:nvCxnSpPr>
          <p:cNvPr id="14" name="Connector 13"/>
          <p:cNvCxnSpPr/>
          <p:nvPr/>
        </p:nvCxnSpPr>
        <p:spPr>
          <a:xfrm>
            <a:off x="428625"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43950" y="1399716"/>
            <a:ext cx="3019425"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23875" y="179217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7" name="Freeform 16"/>
          <p:cNvSpPr/>
          <p:nvPr/>
        </p:nvSpPr>
        <p:spPr>
          <a:xfrm>
            <a:off x="11630025" y="1728282"/>
            <a:ext cx="171450" cy="127776"/>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52525" y="1655267"/>
            <a:ext cx="285750" cy="273805"/>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5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0" name="Rounded Rectangle 19"/>
          <p:cNvSpPr/>
          <p:nvPr/>
        </p:nvSpPr>
        <p:spPr>
          <a:xfrm>
            <a:off x="142875" y="1992961"/>
            <a:ext cx="2305050" cy="2135683"/>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875" y="1992961"/>
            <a:ext cx="2305050" cy="310313"/>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571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71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4" name="TextBox 23"/>
          <p:cNvSpPr txBox="1"/>
          <p:nvPr/>
        </p:nvSpPr>
        <p:spPr>
          <a:xfrm>
            <a:off x="5238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TransMedics</a:t>
            </a:r>
          </a:p>
        </p:txBody>
      </p:sp>
      <p:sp>
        <p:nvSpPr>
          <p:cNvPr id="25" name="TextBox 24"/>
          <p:cNvSpPr txBox="1"/>
          <p:nvPr/>
        </p:nvSpPr>
        <p:spPr>
          <a:xfrm>
            <a:off x="2381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6" name="TextBox 25"/>
          <p:cNvSpPr txBox="1"/>
          <p:nvPr/>
        </p:nvSpPr>
        <p:spPr>
          <a:xfrm>
            <a:off x="4286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27" name="Connector 26"/>
          <p:cNvCxnSpPr/>
          <p:nvPr/>
        </p:nvCxnSpPr>
        <p:spPr>
          <a:xfrm>
            <a:off x="2381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81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29" name="TextBox 28"/>
          <p:cNvSpPr txBox="1"/>
          <p:nvPr/>
        </p:nvSpPr>
        <p:spPr>
          <a:xfrm>
            <a:off x="4286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30" name="TextBox 29"/>
          <p:cNvSpPr txBox="1"/>
          <p:nvPr/>
        </p:nvSpPr>
        <p:spPr>
          <a:xfrm>
            <a:off x="428625" y="2805250"/>
            <a:ext cx="1924050" cy="164283"/>
          </a:xfrm>
          <a:prstGeom prst="rect">
            <a:avLst/>
          </a:prstGeom>
          <a:noFill/>
        </p:spPr>
        <p:txBody>
          <a:bodyPr wrap="square" lIns="28575" rIns="28575" tIns="9525" bIns="9525" anchor="ctr">
            <a:spAutoFit/>
          </a:bodyPr>
          <a:lstStyle/>
          <a:p>
            <a:pPr algn="l"/>
            <a:r>
              <a:rPr sz="1100" b="1">
                <a:solidFill>
                  <a:srgbClr val="0E72AE"/>
                </a:solidFill>
                <a:latin typeface="Calibri"/>
              </a:rPr>
              <a:t>Market leader</a:t>
            </a:r>
          </a:p>
        </p:txBody>
      </p:sp>
      <p:cxnSp>
        <p:nvCxnSpPr>
          <p:cNvPr id="31" name="Connector 30"/>
          <p:cNvCxnSpPr/>
          <p:nvPr/>
        </p:nvCxnSpPr>
        <p:spPr>
          <a:xfrm>
            <a:off x="2381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381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3" name="TextBox 32"/>
          <p:cNvSpPr txBox="1"/>
          <p:nvPr/>
        </p:nvSpPr>
        <p:spPr>
          <a:xfrm>
            <a:off x="4286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34" name="TextBox 33"/>
          <p:cNvSpPr txBox="1"/>
          <p:nvPr/>
        </p:nvSpPr>
        <p:spPr>
          <a:xfrm>
            <a:off x="4286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Expanded reach across its core segment</a:t>
            </a:r>
          </a:p>
        </p:txBody>
      </p:sp>
      <p:cxnSp>
        <p:nvCxnSpPr>
          <p:cNvPr id="35" name="Connector 34"/>
          <p:cNvCxnSpPr/>
          <p:nvPr/>
        </p:nvCxnSpPr>
        <p:spPr>
          <a:xfrm>
            <a:off x="2381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381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37" name="TextBox 36"/>
          <p:cNvSpPr txBox="1"/>
          <p:nvPr/>
        </p:nvSpPr>
        <p:spPr>
          <a:xfrm>
            <a:off x="4286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38" name="TextBox 37"/>
          <p:cNvSpPr txBox="1"/>
          <p:nvPr/>
        </p:nvSpPr>
        <p:spPr>
          <a:xfrm>
            <a:off x="4286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New launch</a:t>
            </a:r>
          </a:p>
        </p:txBody>
      </p:sp>
      <p:sp>
        <p:nvSpPr>
          <p:cNvPr id="39" name="Oval 38"/>
          <p:cNvSpPr/>
          <p:nvPr/>
        </p:nvSpPr>
        <p:spPr>
          <a:xfrm>
            <a:off x="3552825" y="1655267"/>
            <a:ext cx="285750" cy="27380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528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Rounded Rectangle 40"/>
          <p:cNvSpPr/>
          <p:nvPr/>
        </p:nvSpPr>
        <p:spPr>
          <a:xfrm>
            <a:off x="2543175" y="1992961"/>
            <a:ext cx="2305050" cy="2135683"/>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3175" y="1992961"/>
            <a:ext cx="2305050" cy="310313"/>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6574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574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5" name="TextBox 44"/>
          <p:cNvSpPr txBox="1"/>
          <p:nvPr/>
        </p:nvSpPr>
        <p:spPr>
          <a:xfrm>
            <a:off x="29241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OrganOx</a:t>
            </a:r>
          </a:p>
        </p:txBody>
      </p:sp>
      <p:sp>
        <p:nvSpPr>
          <p:cNvPr id="46" name="TextBox 45"/>
          <p:cNvSpPr txBox="1"/>
          <p:nvPr/>
        </p:nvSpPr>
        <p:spPr>
          <a:xfrm>
            <a:off x="26384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47" name="TextBox 46"/>
          <p:cNvSpPr txBox="1"/>
          <p:nvPr/>
        </p:nvSpPr>
        <p:spPr>
          <a:xfrm>
            <a:off x="28289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48" name="Connector 47"/>
          <p:cNvCxnSpPr/>
          <p:nvPr/>
        </p:nvCxnSpPr>
        <p:spPr>
          <a:xfrm>
            <a:off x="26384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6384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0" name="TextBox 49"/>
          <p:cNvSpPr txBox="1"/>
          <p:nvPr/>
        </p:nvSpPr>
        <p:spPr>
          <a:xfrm>
            <a:off x="28289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51" name="TextBox 50"/>
          <p:cNvSpPr txBox="1"/>
          <p:nvPr/>
        </p:nvSpPr>
        <p:spPr>
          <a:xfrm>
            <a:off x="2828925" y="2805250"/>
            <a:ext cx="1924050" cy="164283"/>
          </a:xfrm>
          <a:prstGeom prst="rect">
            <a:avLst/>
          </a:prstGeom>
          <a:noFill/>
        </p:spPr>
        <p:txBody>
          <a:bodyPr wrap="square" lIns="28575" rIns="28575" tIns="9525" bIns="9525" anchor="ctr">
            <a:spAutoFit/>
          </a:bodyPr>
          <a:lstStyle/>
          <a:p>
            <a:pPr algn="l"/>
            <a:r>
              <a:rPr sz="1100" b="1">
                <a:solidFill>
                  <a:srgbClr val="A35313"/>
                </a:solidFill>
                <a:latin typeface="Calibri"/>
              </a:rPr>
              <a:t>Portfolio expander</a:t>
            </a:r>
          </a:p>
        </p:txBody>
      </p:sp>
      <p:cxnSp>
        <p:nvCxnSpPr>
          <p:cNvPr id="52" name="Connector 51"/>
          <p:cNvCxnSpPr/>
          <p:nvPr/>
        </p:nvCxnSpPr>
        <p:spPr>
          <a:xfrm>
            <a:off x="26384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26384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4" name="TextBox 53"/>
          <p:cNvSpPr txBox="1"/>
          <p:nvPr/>
        </p:nvSpPr>
        <p:spPr>
          <a:xfrm>
            <a:off x="28289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55" name="TextBox 54"/>
          <p:cNvSpPr txBox="1"/>
          <p:nvPr/>
        </p:nvSpPr>
        <p:spPr>
          <a:xfrm>
            <a:off x="28289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Drove new customer adoption</a:t>
            </a:r>
          </a:p>
        </p:txBody>
      </p:sp>
      <p:cxnSp>
        <p:nvCxnSpPr>
          <p:cNvPr id="56" name="Connector 55"/>
          <p:cNvCxnSpPr/>
          <p:nvPr/>
        </p:nvCxnSpPr>
        <p:spPr>
          <a:xfrm>
            <a:off x="26384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26384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58" name="TextBox 57"/>
          <p:cNvSpPr txBox="1"/>
          <p:nvPr/>
        </p:nvSpPr>
        <p:spPr>
          <a:xfrm>
            <a:off x="28289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59" name="TextBox 58"/>
          <p:cNvSpPr txBox="1"/>
          <p:nvPr/>
        </p:nvSpPr>
        <p:spPr>
          <a:xfrm>
            <a:off x="28289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expansion</a:t>
            </a:r>
          </a:p>
        </p:txBody>
      </p:sp>
      <p:sp>
        <p:nvSpPr>
          <p:cNvPr id="60" name="Oval 59"/>
          <p:cNvSpPr/>
          <p:nvPr/>
        </p:nvSpPr>
        <p:spPr>
          <a:xfrm>
            <a:off x="5953125" y="1655267"/>
            <a:ext cx="285750" cy="273805"/>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531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2" name="Rounded Rectangle 61"/>
          <p:cNvSpPr/>
          <p:nvPr/>
        </p:nvSpPr>
        <p:spPr>
          <a:xfrm>
            <a:off x="4943475" y="1992961"/>
            <a:ext cx="2305050" cy="2135683"/>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43475" y="1992961"/>
            <a:ext cx="2305050" cy="310313"/>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0577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577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6" name="TextBox 65"/>
          <p:cNvSpPr txBox="1"/>
          <p:nvPr/>
        </p:nvSpPr>
        <p:spPr>
          <a:xfrm>
            <a:off x="53244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XVIVO Perfusion</a:t>
            </a:r>
          </a:p>
        </p:txBody>
      </p:sp>
      <p:sp>
        <p:nvSpPr>
          <p:cNvPr id="67" name="TextBox 66"/>
          <p:cNvSpPr txBox="1"/>
          <p:nvPr/>
        </p:nvSpPr>
        <p:spPr>
          <a:xfrm>
            <a:off x="50387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68" name="TextBox 67"/>
          <p:cNvSpPr txBox="1"/>
          <p:nvPr/>
        </p:nvSpPr>
        <p:spPr>
          <a:xfrm>
            <a:off x="52292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69" name="Connector 68"/>
          <p:cNvCxnSpPr/>
          <p:nvPr/>
        </p:nvCxnSpPr>
        <p:spPr>
          <a:xfrm>
            <a:off x="50387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0387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1" name="TextBox 70"/>
          <p:cNvSpPr txBox="1"/>
          <p:nvPr/>
        </p:nvSpPr>
        <p:spPr>
          <a:xfrm>
            <a:off x="52292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72" name="TextBox 71"/>
          <p:cNvSpPr txBox="1"/>
          <p:nvPr/>
        </p:nvSpPr>
        <p:spPr>
          <a:xfrm>
            <a:off x="5229225" y="2805250"/>
            <a:ext cx="1924050" cy="164283"/>
          </a:xfrm>
          <a:prstGeom prst="rect">
            <a:avLst/>
          </a:prstGeom>
          <a:noFill/>
        </p:spPr>
        <p:txBody>
          <a:bodyPr wrap="square" lIns="28575" rIns="28575" tIns="9525" bIns="9525" anchor="ctr">
            <a:spAutoFit/>
          </a:bodyPr>
          <a:lstStyle/>
          <a:p>
            <a:pPr algn="l"/>
            <a:r>
              <a:rPr sz="1100" b="1">
                <a:solidFill>
                  <a:srgbClr val="69B1E0"/>
                </a:solidFill>
                <a:latin typeface="Calibri"/>
              </a:rPr>
              <a:t>Access builder</a:t>
            </a:r>
          </a:p>
        </p:txBody>
      </p:sp>
      <p:cxnSp>
        <p:nvCxnSpPr>
          <p:cNvPr id="73" name="Connector 72"/>
          <p:cNvCxnSpPr/>
          <p:nvPr/>
        </p:nvCxnSpPr>
        <p:spPr>
          <a:xfrm>
            <a:off x="50387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387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5" name="TextBox 74"/>
          <p:cNvSpPr txBox="1"/>
          <p:nvPr/>
        </p:nvSpPr>
        <p:spPr>
          <a:xfrm>
            <a:off x="52292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76" name="TextBox 75"/>
          <p:cNvSpPr txBox="1"/>
          <p:nvPr/>
        </p:nvSpPr>
        <p:spPr>
          <a:xfrm>
            <a:off x="52292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Won through wider channel availability</a:t>
            </a:r>
          </a:p>
        </p:txBody>
      </p:sp>
      <p:cxnSp>
        <p:nvCxnSpPr>
          <p:cNvPr id="77" name="Connector 76"/>
          <p:cNvCxnSpPr/>
          <p:nvPr/>
        </p:nvCxnSpPr>
        <p:spPr>
          <a:xfrm>
            <a:off x="50387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387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79" name="TextBox 78"/>
          <p:cNvSpPr txBox="1"/>
          <p:nvPr/>
        </p:nvSpPr>
        <p:spPr>
          <a:xfrm>
            <a:off x="52292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80" name="TextBox 79"/>
          <p:cNvSpPr txBox="1"/>
          <p:nvPr/>
        </p:nvSpPr>
        <p:spPr>
          <a:xfrm>
            <a:off x="52292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Pricing strategy</a:t>
            </a:r>
          </a:p>
        </p:txBody>
      </p:sp>
      <p:sp>
        <p:nvSpPr>
          <p:cNvPr id="81" name="Oval 80"/>
          <p:cNvSpPr/>
          <p:nvPr/>
        </p:nvSpPr>
        <p:spPr>
          <a:xfrm>
            <a:off x="8353425" y="1655267"/>
            <a:ext cx="285750" cy="27380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534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3" name="Rounded Rectangle 82"/>
          <p:cNvSpPr/>
          <p:nvPr/>
        </p:nvSpPr>
        <p:spPr>
          <a:xfrm>
            <a:off x="7343775" y="1992961"/>
            <a:ext cx="2305050" cy="2135683"/>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343775" y="1992961"/>
            <a:ext cx="2305050" cy="310313"/>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4580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4580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7" name="TextBox 86"/>
          <p:cNvSpPr txBox="1"/>
          <p:nvPr/>
        </p:nvSpPr>
        <p:spPr>
          <a:xfrm>
            <a:off x="77247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Paragonix Technologies</a:t>
            </a:r>
          </a:p>
        </p:txBody>
      </p:sp>
      <p:sp>
        <p:nvSpPr>
          <p:cNvPr id="88" name="TextBox 87"/>
          <p:cNvSpPr txBox="1"/>
          <p:nvPr/>
        </p:nvSpPr>
        <p:spPr>
          <a:xfrm>
            <a:off x="74390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89" name="TextBox 88"/>
          <p:cNvSpPr txBox="1"/>
          <p:nvPr/>
        </p:nvSpPr>
        <p:spPr>
          <a:xfrm>
            <a:off x="76295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90" name="Connector 89"/>
          <p:cNvCxnSpPr/>
          <p:nvPr/>
        </p:nvCxnSpPr>
        <p:spPr>
          <a:xfrm>
            <a:off x="74390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74390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2" name="TextBox 91"/>
          <p:cNvSpPr txBox="1"/>
          <p:nvPr/>
        </p:nvSpPr>
        <p:spPr>
          <a:xfrm>
            <a:off x="76295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93" name="TextBox 92"/>
          <p:cNvSpPr txBox="1"/>
          <p:nvPr/>
        </p:nvSpPr>
        <p:spPr>
          <a:xfrm>
            <a:off x="7629525" y="2805250"/>
            <a:ext cx="1924050" cy="164283"/>
          </a:xfrm>
          <a:prstGeom prst="rect">
            <a:avLst/>
          </a:prstGeom>
          <a:noFill/>
        </p:spPr>
        <p:txBody>
          <a:bodyPr wrap="square" lIns="28575" rIns="28575" tIns="9525" bIns="9525" anchor="ctr">
            <a:spAutoFit/>
          </a:bodyPr>
          <a:lstStyle/>
          <a:p>
            <a:pPr algn="l"/>
            <a:r>
              <a:rPr sz="1100" b="1">
                <a:solidFill>
                  <a:srgbClr val="6F3CC2"/>
                </a:solidFill>
                <a:latin typeface="Calibri"/>
              </a:rPr>
              <a:t>Premiumiser</a:t>
            </a:r>
          </a:p>
        </p:txBody>
      </p:sp>
      <p:cxnSp>
        <p:nvCxnSpPr>
          <p:cNvPr id="94" name="Connector 93"/>
          <p:cNvCxnSpPr/>
          <p:nvPr/>
        </p:nvCxnSpPr>
        <p:spPr>
          <a:xfrm>
            <a:off x="74390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74390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96" name="TextBox 95"/>
          <p:cNvSpPr txBox="1"/>
          <p:nvPr/>
        </p:nvSpPr>
        <p:spPr>
          <a:xfrm>
            <a:off x="76295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97" name="TextBox 96"/>
          <p:cNvSpPr txBox="1"/>
          <p:nvPr/>
        </p:nvSpPr>
        <p:spPr>
          <a:xfrm>
            <a:off x="76295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Supported premium SKU growth</a:t>
            </a:r>
          </a:p>
        </p:txBody>
      </p:sp>
      <p:cxnSp>
        <p:nvCxnSpPr>
          <p:cNvPr id="98" name="Connector 97"/>
          <p:cNvCxnSpPr/>
          <p:nvPr/>
        </p:nvCxnSpPr>
        <p:spPr>
          <a:xfrm>
            <a:off x="74390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4390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00" name="TextBox 99"/>
          <p:cNvSpPr txBox="1"/>
          <p:nvPr/>
        </p:nvSpPr>
        <p:spPr>
          <a:xfrm>
            <a:off x="76295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01" name="TextBox 100"/>
          <p:cNvSpPr txBox="1"/>
          <p:nvPr/>
        </p:nvSpPr>
        <p:spPr>
          <a:xfrm>
            <a:off x="76295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Portfolio/brand investment</a:t>
            </a:r>
          </a:p>
        </p:txBody>
      </p:sp>
      <p:sp>
        <p:nvSpPr>
          <p:cNvPr id="102" name="Oval 101"/>
          <p:cNvSpPr/>
          <p:nvPr/>
        </p:nvSpPr>
        <p:spPr>
          <a:xfrm>
            <a:off x="10753725" y="1655267"/>
            <a:ext cx="285750" cy="27380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753725" y="1710028"/>
            <a:ext cx="285750" cy="164283"/>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4" name="Rounded Rectangle 103"/>
          <p:cNvSpPr/>
          <p:nvPr/>
        </p:nvSpPr>
        <p:spPr>
          <a:xfrm>
            <a:off x="9744075" y="1992961"/>
            <a:ext cx="2305050" cy="2135683"/>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744075" y="1992961"/>
            <a:ext cx="2305050" cy="310313"/>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858375" y="2038595"/>
            <a:ext cx="228600" cy="219044"/>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58375" y="2065976"/>
            <a:ext cx="228600" cy="164283"/>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8" name="TextBox 107"/>
          <p:cNvSpPr txBox="1"/>
          <p:nvPr/>
        </p:nvSpPr>
        <p:spPr>
          <a:xfrm>
            <a:off x="10125075" y="2065976"/>
            <a:ext cx="1828800" cy="173410"/>
          </a:xfrm>
          <a:prstGeom prst="rect">
            <a:avLst/>
          </a:prstGeom>
          <a:noFill/>
        </p:spPr>
        <p:txBody>
          <a:bodyPr wrap="square" lIns="28575" rIns="28575" tIns="9525" bIns="9525" anchor="ctr">
            <a:spAutoFit/>
          </a:bodyPr>
          <a:lstStyle/>
          <a:p>
            <a:pPr algn="ctr"/>
            <a:r>
              <a:rPr sz="1100" b="1">
                <a:solidFill>
                  <a:srgbClr val="FFFFFF"/>
                </a:solidFill>
                <a:latin typeface="Calibri"/>
              </a:rPr>
              <a:t>Organ Recovery Systems</a:t>
            </a:r>
          </a:p>
        </p:txBody>
      </p:sp>
      <p:sp>
        <p:nvSpPr>
          <p:cNvPr id="109" name="TextBox 108"/>
          <p:cNvSpPr txBox="1"/>
          <p:nvPr/>
        </p:nvSpPr>
        <p:spPr>
          <a:xfrm>
            <a:off x="9839325" y="2376288"/>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0" name="TextBox 109"/>
          <p:cNvSpPr txBox="1"/>
          <p:nvPr/>
        </p:nvSpPr>
        <p:spPr>
          <a:xfrm>
            <a:off x="10029825" y="2376288"/>
            <a:ext cx="1924050" cy="164283"/>
          </a:xfrm>
          <a:prstGeom prst="rect">
            <a:avLst/>
          </a:prstGeom>
          <a:noFill/>
        </p:spPr>
        <p:txBody>
          <a:bodyPr wrap="square" lIns="28575" rIns="28575" tIns="9525" bIns="9525" anchor="ctr">
            <a:spAutoFit/>
          </a:bodyPr>
          <a:lstStyle/>
          <a:p>
            <a:pPr algn="l"/>
            <a:r>
              <a:rPr sz="1100" b="1">
                <a:solidFill>
                  <a:srgbClr val="2E2E2E"/>
                </a:solidFill>
                <a:latin typeface="Calibri"/>
              </a:rPr>
              <a:t/>
            </a:r>
          </a:p>
        </p:txBody>
      </p:sp>
      <p:cxnSp>
        <p:nvCxnSpPr>
          <p:cNvPr id="111" name="Connector 110"/>
          <p:cNvCxnSpPr/>
          <p:nvPr/>
        </p:nvCxnSpPr>
        <p:spPr>
          <a:xfrm>
            <a:off x="9839325" y="2595333"/>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839325" y="272310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3" name="TextBox 112"/>
          <p:cNvSpPr txBox="1"/>
          <p:nvPr/>
        </p:nvSpPr>
        <p:spPr>
          <a:xfrm>
            <a:off x="10029825" y="2640967"/>
            <a:ext cx="1924050" cy="164283"/>
          </a:xfrm>
          <a:prstGeom prst="rect">
            <a:avLst/>
          </a:prstGeom>
          <a:noFill/>
        </p:spPr>
        <p:txBody>
          <a:bodyPr wrap="square" lIns="28575" rIns="28575" tIns="9525" bIns="9525" anchor="ctr">
            <a:spAutoFit/>
          </a:bodyPr>
          <a:lstStyle/>
          <a:p>
            <a:pPr algn="l"/>
            <a:r>
              <a:rPr sz="1100" b="0">
                <a:solidFill>
                  <a:srgbClr val="6C7A89"/>
                </a:solidFill>
                <a:latin typeface="Calibri"/>
              </a:rPr>
              <a:t>Growth role:</a:t>
            </a:r>
          </a:p>
        </p:txBody>
      </p:sp>
      <p:sp>
        <p:nvSpPr>
          <p:cNvPr id="114" name="TextBox 113"/>
          <p:cNvSpPr txBox="1"/>
          <p:nvPr/>
        </p:nvSpPr>
        <p:spPr>
          <a:xfrm>
            <a:off x="10029825" y="2805250"/>
            <a:ext cx="1924050" cy="164283"/>
          </a:xfrm>
          <a:prstGeom prst="rect">
            <a:avLst/>
          </a:prstGeom>
          <a:noFill/>
        </p:spPr>
        <p:txBody>
          <a:bodyPr wrap="square" lIns="28575" rIns="28575" tIns="9525" bIns="9525" anchor="ctr">
            <a:spAutoFit/>
          </a:bodyPr>
          <a:lstStyle/>
          <a:p>
            <a:pPr algn="l"/>
            <a:r>
              <a:rPr sz="1100" b="1">
                <a:solidFill>
                  <a:srgbClr val="A86F00"/>
                </a:solidFill>
                <a:latin typeface="Calibri"/>
              </a:rPr>
              <a:t>Disruptor</a:t>
            </a:r>
          </a:p>
        </p:txBody>
      </p:sp>
      <p:cxnSp>
        <p:nvCxnSpPr>
          <p:cNvPr id="115" name="Connector 114"/>
          <p:cNvCxnSpPr/>
          <p:nvPr/>
        </p:nvCxnSpPr>
        <p:spPr>
          <a:xfrm>
            <a:off x="9839325" y="3015168"/>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9325" y="3124690"/>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17" name="TextBox 116"/>
          <p:cNvSpPr txBox="1"/>
          <p:nvPr/>
        </p:nvSpPr>
        <p:spPr>
          <a:xfrm>
            <a:off x="10029825" y="306080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Why it shaped growth:</a:t>
            </a:r>
          </a:p>
        </p:txBody>
      </p:sp>
      <p:sp>
        <p:nvSpPr>
          <p:cNvPr id="118" name="TextBox 117"/>
          <p:cNvSpPr txBox="1"/>
          <p:nvPr/>
        </p:nvSpPr>
        <p:spPr>
          <a:xfrm>
            <a:off x="10029825" y="3225085"/>
            <a:ext cx="1924050" cy="383328"/>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Strengthened end-user and specifier pull</a:t>
            </a:r>
          </a:p>
        </p:txBody>
      </p:sp>
      <p:cxnSp>
        <p:nvCxnSpPr>
          <p:cNvPr id="119" name="Connector 118"/>
          <p:cNvCxnSpPr/>
          <p:nvPr/>
        </p:nvCxnSpPr>
        <p:spPr>
          <a:xfrm>
            <a:off x="9839325" y="3654047"/>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9839325" y="3763569"/>
            <a:ext cx="171450" cy="164283"/>
          </a:xfrm>
          <a:prstGeom prst="rect">
            <a:avLst/>
          </a:prstGeom>
          <a:noFill/>
        </p:spPr>
        <p:txBody>
          <a:bodyPr wrap="none" lIns="0" rIns="0" tIns="0" bIns="0" anchor="ctr">
            <a:spAutoFit/>
          </a:bodyPr>
          <a:lstStyle/>
          <a:p>
            <a:pPr algn="l"/>
            <a:r>
              <a:rPr sz="1100" b="0">
                <a:solidFill>
                  <a:srgbClr val="2E2E2E"/>
                </a:solidFill>
                <a:latin typeface="Calibri"/>
              </a:rPr>
              <a:t>🚀</a:t>
            </a:r>
          </a:p>
        </p:txBody>
      </p:sp>
      <p:sp>
        <p:nvSpPr>
          <p:cNvPr id="121" name="TextBox 120"/>
          <p:cNvSpPr txBox="1"/>
          <p:nvPr/>
        </p:nvSpPr>
        <p:spPr>
          <a:xfrm>
            <a:off x="10029825" y="3699682"/>
            <a:ext cx="1924050" cy="164283"/>
          </a:xfrm>
          <a:prstGeom prst="rect">
            <a:avLst/>
          </a:prstGeom>
          <a:noFill/>
        </p:spPr>
        <p:txBody>
          <a:bodyPr wrap="square" lIns="28575" rIns="28575" tIns="9525" bIns="9525" anchor="ctr">
            <a:spAutoFit/>
          </a:bodyPr>
          <a:lstStyle/>
          <a:p>
            <a:pPr algn="l"/>
            <a:r>
              <a:rPr sz="1100" b="1">
                <a:solidFill>
                  <a:srgbClr val="0B2E4A"/>
                </a:solidFill>
                <a:latin typeface="Calibri"/>
              </a:rPr>
              <a:t>Signature move:</a:t>
            </a:r>
          </a:p>
        </p:txBody>
      </p:sp>
      <p:sp>
        <p:nvSpPr>
          <p:cNvPr id="122" name="TextBox 121"/>
          <p:cNvSpPr txBox="1"/>
          <p:nvPr/>
        </p:nvSpPr>
        <p:spPr>
          <a:xfrm>
            <a:off x="10029825" y="3863965"/>
            <a:ext cx="1924050" cy="219044"/>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Partnership / acquisition</a:t>
            </a:r>
          </a:p>
        </p:txBody>
      </p:sp>
      <p:sp>
        <p:nvSpPr>
          <p:cNvPr id="123" name="Rounded Rectangle 122"/>
          <p:cNvSpPr/>
          <p:nvPr/>
        </p:nvSpPr>
        <p:spPr>
          <a:xfrm>
            <a:off x="142875" y="4238166"/>
            <a:ext cx="7886700" cy="2391234"/>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42875" y="4311180"/>
            <a:ext cx="7886700" cy="182537"/>
          </a:xfrm>
          <a:prstGeom prst="rect">
            <a:avLst/>
          </a:prstGeom>
          <a:noFill/>
        </p:spPr>
        <p:txBody>
          <a:bodyPr wrap="square" lIns="28575" rIns="28575" tIns="9525" bIns="9525" anchor="ctr">
            <a:spAutoFit/>
          </a:bodyPr>
          <a:lstStyle/>
          <a:p>
            <a:pPr algn="ctr"/>
            <a:r>
              <a:rPr sz="1100" b="1">
                <a:solidFill>
                  <a:srgbClr val="0B2E4A"/>
                </a:solidFill>
                <a:latin typeface="Calibri"/>
              </a:rPr>
              <a:t>HOW TO DECIDE WHO SHAPED GROWTH</a:t>
            </a:r>
          </a:p>
        </p:txBody>
      </p:sp>
      <p:sp>
        <p:nvSpPr>
          <p:cNvPr id="125" name="Oval 124"/>
          <p:cNvSpPr/>
          <p:nvPr/>
        </p:nvSpPr>
        <p:spPr>
          <a:xfrm>
            <a:off x="815340" y="4539352"/>
            <a:ext cx="400050" cy="383328"/>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1534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7" name="TextBox 126"/>
          <p:cNvSpPr txBox="1"/>
          <p:nvPr/>
        </p:nvSpPr>
        <p:spPr>
          <a:xfrm>
            <a:off x="27622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0E72AE"/>
                </a:solidFill>
                <a:latin typeface="Calibri"/>
              </a:rPr>
              <a:t>1. SHARE GAIN</a:t>
            </a:r>
          </a:p>
        </p:txBody>
      </p:sp>
      <p:sp>
        <p:nvSpPr>
          <p:cNvPr id="128" name="TextBox 127"/>
          <p:cNvSpPr txBox="1"/>
          <p:nvPr/>
        </p:nvSpPr>
        <p:spPr>
          <a:xfrm>
            <a:off x="27622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Company gained value or volume share</a:t>
            </a:r>
          </a:p>
        </p:txBody>
      </p:sp>
      <p:sp>
        <p:nvSpPr>
          <p:cNvPr id="129" name="Rounded Rectangle 128"/>
          <p:cNvSpPr/>
          <p:nvPr/>
        </p:nvSpPr>
        <p:spPr>
          <a:xfrm>
            <a:off x="520065" y="6027028"/>
            <a:ext cx="990600" cy="237298"/>
          </a:xfrm>
          <a:prstGeom prst="roundRect">
            <a:avLst>
              <a:gd name="adj" fmla="val 11538"/>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520065" y="6036155"/>
            <a:ext cx="990600" cy="219044"/>
          </a:xfrm>
          <a:prstGeom prst="rect">
            <a:avLst/>
          </a:prstGeom>
          <a:noFill/>
        </p:spPr>
        <p:txBody>
          <a:bodyPr wrap="square" lIns="28575" rIns="28575" tIns="9525" bIns="9525" anchor="ctr">
            <a:spAutoFit/>
          </a:bodyPr>
          <a:lstStyle/>
          <a:p>
            <a:pPr algn="ctr"/>
            <a:r>
              <a:rPr sz="1100" b="1">
                <a:solidFill>
                  <a:srgbClr val="0E72AE"/>
                </a:solidFill>
                <a:latin typeface="Calibri"/>
              </a:rPr>
              <a:t> </a:t>
            </a:r>
          </a:p>
        </p:txBody>
      </p:sp>
      <p:sp>
        <p:nvSpPr>
          <p:cNvPr id="131" name="TextBox 130"/>
          <p:cNvSpPr txBox="1"/>
          <p:nvPr/>
        </p:nvSpPr>
        <p:spPr>
          <a:xfrm>
            <a:off x="175450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2" name="Oval 131"/>
          <p:cNvSpPr/>
          <p:nvPr/>
        </p:nvSpPr>
        <p:spPr>
          <a:xfrm>
            <a:off x="2350770" y="4539352"/>
            <a:ext cx="400050" cy="383328"/>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35077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4" name="TextBox 133"/>
          <p:cNvSpPr txBox="1"/>
          <p:nvPr/>
        </p:nvSpPr>
        <p:spPr>
          <a:xfrm>
            <a:off x="181165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35313"/>
                </a:solidFill>
                <a:latin typeface="Calibri"/>
              </a:rPr>
              <a:t>2. DISTRIBUTION EXPANSION</a:t>
            </a:r>
          </a:p>
        </p:txBody>
      </p:sp>
      <p:sp>
        <p:nvSpPr>
          <p:cNvPr id="135" name="TextBox 134"/>
          <p:cNvSpPr txBox="1"/>
          <p:nvPr/>
        </p:nvSpPr>
        <p:spPr>
          <a:xfrm>
            <a:off x="181165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Expanded channel, retail or e-commerce reach</a:t>
            </a:r>
          </a:p>
        </p:txBody>
      </p:sp>
      <p:sp>
        <p:nvSpPr>
          <p:cNvPr id="136" name="Rounded Rectangle 135"/>
          <p:cNvSpPr/>
          <p:nvPr/>
        </p:nvSpPr>
        <p:spPr>
          <a:xfrm>
            <a:off x="2055495" y="6027028"/>
            <a:ext cx="990600" cy="237298"/>
          </a:xfrm>
          <a:prstGeom prst="roundRect">
            <a:avLst>
              <a:gd name="adj" fmla="val 11538"/>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055495" y="6036155"/>
            <a:ext cx="990600" cy="219044"/>
          </a:xfrm>
          <a:prstGeom prst="rect">
            <a:avLst/>
          </a:prstGeom>
          <a:noFill/>
        </p:spPr>
        <p:txBody>
          <a:bodyPr wrap="square" lIns="28575" rIns="28575" tIns="9525" bIns="9525" anchor="ctr">
            <a:spAutoFit/>
          </a:bodyPr>
          <a:lstStyle/>
          <a:p>
            <a:pPr algn="ctr"/>
            <a:r>
              <a:rPr sz="1100" b="1">
                <a:solidFill>
                  <a:srgbClr val="A35313"/>
                </a:solidFill>
                <a:latin typeface="Calibri"/>
              </a:rPr>
              <a:t> </a:t>
            </a:r>
          </a:p>
        </p:txBody>
      </p:sp>
      <p:sp>
        <p:nvSpPr>
          <p:cNvPr id="138" name="TextBox 137"/>
          <p:cNvSpPr txBox="1"/>
          <p:nvPr/>
        </p:nvSpPr>
        <p:spPr>
          <a:xfrm>
            <a:off x="328993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39" name="Oval 138"/>
          <p:cNvSpPr/>
          <p:nvPr/>
        </p:nvSpPr>
        <p:spPr>
          <a:xfrm>
            <a:off x="3886200" y="4539352"/>
            <a:ext cx="400050" cy="383328"/>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388620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1" name="TextBox 140"/>
          <p:cNvSpPr txBox="1"/>
          <p:nvPr/>
        </p:nvSpPr>
        <p:spPr>
          <a:xfrm>
            <a:off x="334708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9B1E0"/>
                </a:solidFill>
                <a:latin typeface="Calibri"/>
              </a:rPr>
              <a:t>3. INNOVATION / LAUNCHES</a:t>
            </a:r>
          </a:p>
        </p:txBody>
      </p:sp>
      <p:sp>
        <p:nvSpPr>
          <p:cNvPr id="142" name="TextBox 141"/>
          <p:cNvSpPr txBox="1"/>
          <p:nvPr/>
        </p:nvSpPr>
        <p:spPr>
          <a:xfrm>
            <a:off x="334708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New SKUs, pack sizes or product improvements</a:t>
            </a:r>
          </a:p>
        </p:txBody>
      </p:sp>
      <p:sp>
        <p:nvSpPr>
          <p:cNvPr id="143" name="Rounded Rectangle 142"/>
          <p:cNvSpPr/>
          <p:nvPr/>
        </p:nvSpPr>
        <p:spPr>
          <a:xfrm>
            <a:off x="3590925" y="6027028"/>
            <a:ext cx="990600" cy="237298"/>
          </a:xfrm>
          <a:prstGeom prst="roundRect">
            <a:avLst>
              <a:gd name="adj" fmla="val 11538"/>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590925" y="6036155"/>
            <a:ext cx="990600" cy="219044"/>
          </a:xfrm>
          <a:prstGeom prst="rect">
            <a:avLst/>
          </a:prstGeom>
          <a:noFill/>
        </p:spPr>
        <p:txBody>
          <a:bodyPr wrap="square" lIns="28575" rIns="28575" tIns="9525" bIns="9525" anchor="ctr">
            <a:spAutoFit/>
          </a:bodyPr>
          <a:lstStyle/>
          <a:p>
            <a:pPr algn="ctr"/>
            <a:r>
              <a:rPr sz="1100" b="1">
                <a:solidFill>
                  <a:srgbClr val="69B1E0"/>
                </a:solidFill>
                <a:latin typeface="Calibri"/>
              </a:rPr>
              <a:t> </a:t>
            </a:r>
          </a:p>
        </p:txBody>
      </p:sp>
      <p:sp>
        <p:nvSpPr>
          <p:cNvPr id="145" name="TextBox 144"/>
          <p:cNvSpPr txBox="1"/>
          <p:nvPr/>
        </p:nvSpPr>
        <p:spPr>
          <a:xfrm>
            <a:off x="482536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46" name="Oval 145"/>
          <p:cNvSpPr/>
          <p:nvPr/>
        </p:nvSpPr>
        <p:spPr>
          <a:xfrm>
            <a:off x="5421630" y="4539352"/>
            <a:ext cx="400050" cy="383328"/>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542163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8" name="TextBox 147"/>
          <p:cNvSpPr txBox="1"/>
          <p:nvPr/>
        </p:nvSpPr>
        <p:spPr>
          <a:xfrm>
            <a:off x="488251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6F3CC2"/>
                </a:solidFill>
                <a:latin typeface="Calibri"/>
              </a:rPr>
              <a:t>4. BUYER INFLUENCE</a:t>
            </a:r>
          </a:p>
        </p:txBody>
      </p:sp>
      <p:sp>
        <p:nvSpPr>
          <p:cNvPr id="149" name="TextBox 148"/>
          <p:cNvSpPr txBox="1"/>
          <p:nvPr/>
        </p:nvSpPr>
        <p:spPr>
          <a:xfrm>
            <a:off x="488251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Stronger specifier, channel or end-user pull</a:t>
            </a:r>
          </a:p>
        </p:txBody>
      </p:sp>
      <p:sp>
        <p:nvSpPr>
          <p:cNvPr id="150" name="Rounded Rectangle 149"/>
          <p:cNvSpPr/>
          <p:nvPr/>
        </p:nvSpPr>
        <p:spPr>
          <a:xfrm>
            <a:off x="5126355" y="6027028"/>
            <a:ext cx="990600" cy="237298"/>
          </a:xfrm>
          <a:prstGeom prst="roundRect">
            <a:avLst>
              <a:gd name="adj" fmla="val 11538"/>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126355" y="6036155"/>
            <a:ext cx="990600" cy="219044"/>
          </a:xfrm>
          <a:prstGeom prst="rect">
            <a:avLst/>
          </a:prstGeom>
          <a:noFill/>
        </p:spPr>
        <p:txBody>
          <a:bodyPr wrap="square" lIns="28575" rIns="28575" tIns="9525" bIns="9525" anchor="ctr">
            <a:spAutoFit/>
          </a:bodyPr>
          <a:lstStyle/>
          <a:p>
            <a:pPr algn="ctr"/>
            <a:r>
              <a:rPr sz="1100" b="1">
                <a:solidFill>
                  <a:srgbClr val="6F3CC2"/>
                </a:solidFill>
                <a:latin typeface="Calibri"/>
              </a:rPr>
              <a:t> </a:t>
            </a:r>
          </a:p>
        </p:txBody>
      </p:sp>
      <p:sp>
        <p:nvSpPr>
          <p:cNvPr id="152" name="TextBox 151"/>
          <p:cNvSpPr txBox="1"/>
          <p:nvPr/>
        </p:nvSpPr>
        <p:spPr>
          <a:xfrm>
            <a:off x="6360795" y="4648874"/>
            <a:ext cx="57150" cy="164283"/>
          </a:xfrm>
          <a:prstGeom prst="rect">
            <a:avLst/>
          </a:prstGeom>
          <a:noFill/>
        </p:spPr>
        <p:txBody>
          <a:bodyPr wrap="none" lIns="0" rIns="0" tIns="0" bIns="0" anchor="ctr">
            <a:spAutoFit/>
          </a:bodyPr>
          <a:lstStyle/>
          <a:p>
            <a:pPr algn="ctr"/>
            <a:r>
              <a:rPr sz="1100" b="1">
                <a:solidFill>
                  <a:srgbClr val="6C7A89"/>
                </a:solidFill>
                <a:latin typeface="Calibri"/>
              </a:rPr>
              <a:t>+</a:t>
            </a:r>
          </a:p>
        </p:txBody>
      </p:sp>
      <p:sp>
        <p:nvSpPr>
          <p:cNvPr id="153" name="Oval 152"/>
          <p:cNvSpPr/>
          <p:nvPr/>
        </p:nvSpPr>
        <p:spPr>
          <a:xfrm>
            <a:off x="6957060" y="4539352"/>
            <a:ext cx="400050" cy="383328"/>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6957060" y="4630620"/>
            <a:ext cx="400050" cy="200791"/>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5" name="TextBox 154"/>
          <p:cNvSpPr txBox="1"/>
          <p:nvPr/>
        </p:nvSpPr>
        <p:spPr>
          <a:xfrm>
            <a:off x="6417945" y="4968314"/>
            <a:ext cx="1478280" cy="346820"/>
          </a:xfrm>
          <a:prstGeom prst="rect">
            <a:avLst/>
          </a:prstGeom>
          <a:noFill/>
        </p:spPr>
        <p:txBody>
          <a:bodyPr wrap="square" lIns="28575" rIns="28575" tIns="9525" bIns="9525" anchor="ctr">
            <a:spAutoFit/>
          </a:bodyPr>
          <a:lstStyle/>
          <a:p>
            <a:pPr algn="ctr">
              <a:lnSpc>
                <a:spcPct val="115000"/>
              </a:lnSpc>
            </a:pPr>
            <a:r>
              <a:rPr sz="1100" b="1">
                <a:solidFill>
                  <a:srgbClr val="A86F00"/>
                </a:solidFill>
                <a:latin typeface="Calibri"/>
              </a:rPr>
              <a:t>5. BRAND / PRICING POWER</a:t>
            </a:r>
          </a:p>
        </p:txBody>
      </p:sp>
      <p:sp>
        <p:nvSpPr>
          <p:cNvPr id="156" name="TextBox 155"/>
          <p:cNvSpPr txBox="1"/>
          <p:nvPr/>
        </p:nvSpPr>
        <p:spPr>
          <a:xfrm>
            <a:off x="6417945" y="5333387"/>
            <a:ext cx="1478280" cy="602372"/>
          </a:xfrm>
          <a:prstGeom prst="rect">
            <a:avLst/>
          </a:prstGeom>
          <a:noFill/>
        </p:spPr>
        <p:txBody>
          <a:bodyPr wrap="square" lIns="28575" rIns="28575" tIns="9525" bIns="9525" anchor="ctr">
            <a:spAutoFit/>
          </a:bodyPr>
          <a:lstStyle/>
          <a:p>
            <a:pPr algn="ctr">
              <a:lnSpc>
                <a:spcPct val="115000"/>
              </a:lnSpc>
            </a:pPr>
            <a:r>
              <a:rPr sz="1100" b="0">
                <a:solidFill>
                  <a:srgbClr val="6C7A89"/>
                </a:solidFill>
                <a:latin typeface="Calibri"/>
              </a:rPr>
              <a:t>Premiumisation, positioning or pricing execution</a:t>
            </a:r>
          </a:p>
        </p:txBody>
      </p:sp>
      <p:sp>
        <p:nvSpPr>
          <p:cNvPr id="157" name="Rounded Rectangle 156"/>
          <p:cNvSpPr/>
          <p:nvPr/>
        </p:nvSpPr>
        <p:spPr>
          <a:xfrm>
            <a:off x="6661785" y="6027028"/>
            <a:ext cx="990600" cy="237298"/>
          </a:xfrm>
          <a:prstGeom prst="roundRect">
            <a:avLst>
              <a:gd name="adj" fmla="val 11538"/>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6661785" y="6036155"/>
            <a:ext cx="990600" cy="219044"/>
          </a:xfrm>
          <a:prstGeom prst="rect">
            <a:avLst/>
          </a:prstGeom>
          <a:noFill/>
        </p:spPr>
        <p:txBody>
          <a:bodyPr wrap="square" lIns="28575" rIns="28575" tIns="9525" bIns="9525" anchor="ctr">
            <a:spAutoFit/>
          </a:bodyPr>
          <a:lstStyle/>
          <a:p>
            <a:pPr algn="ctr"/>
            <a:r>
              <a:rPr sz="1100" b="1">
                <a:solidFill>
                  <a:srgbClr val="A86F00"/>
                </a:solidFill>
                <a:latin typeface="Calibri"/>
              </a:rPr>
              <a:t> </a:t>
            </a:r>
          </a:p>
        </p:txBody>
      </p:sp>
      <p:sp>
        <p:nvSpPr>
          <p:cNvPr id="159" name="Rounded Rectangle 158"/>
          <p:cNvSpPr/>
          <p:nvPr/>
        </p:nvSpPr>
        <p:spPr>
          <a:xfrm>
            <a:off x="8191500" y="4238166"/>
            <a:ext cx="3857625" cy="2391234"/>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8191500" y="4311180"/>
            <a:ext cx="3857625" cy="182537"/>
          </a:xfrm>
          <a:prstGeom prst="rect">
            <a:avLst/>
          </a:prstGeom>
          <a:noFill/>
        </p:spPr>
        <p:txBody>
          <a:bodyPr wrap="square" lIns="28575" rIns="28575" tIns="9525" bIns="9525" anchor="ctr">
            <a:spAutoFit/>
          </a:bodyPr>
          <a:lstStyle/>
          <a:p>
            <a:pPr algn="ctr"/>
            <a:r>
              <a:rPr sz="1100" b="1">
                <a:solidFill>
                  <a:srgbClr val="1F6F63"/>
                </a:solidFill>
                <a:latin typeface="Calibri"/>
              </a:rPr>
              <a:t>BEST WAY TO USE THIS SLIDE</a:t>
            </a:r>
          </a:p>
        </p:txBody>
      </p:sp>
      <p:cxnSp>
        <p:nvCxnSpPr>
          <p:cNvPr id="161" name="Connector 160"/>
          <p:cNvCxnSpPr/>
          <p:nvPr/>
        </p:nvCxnSpPr>
        <p:spPr>
          <a:xfrm>
            <a:off x="8343900" y="4548478"/>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8372475" y="4721889"/>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8372475" y="4767523"/>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4" name="TextBox 163"/>
          <p:cNvSpPr txBox="1"/>
          <p:nvPr/>
        </p:nvSpPr>
        <p:spPr>
          <a:xfrm>
            <a:off x="8743950" y="4694508"/>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Rank companies by impact on category growth</a:t>
            </a:r>
          </a:p>
        </p:txBody>
      </p:sp>
      <p:sp>
        <p:nvSpPr>
          <p:cNvPr id="165" name="Oval 164"/>
          <p:cNvSpPr/>
          <p:nvPr/>
        </p:nvSpPr>
        <p:spPr>
          <a:xfrm>
            <a:off x="8372475" y="5360768"/>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372475" y="540640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7" name="TextBox 166"/>
          <p:cNvSpPr txBox="1"/>
          <p:nvPr/>
        </p:nvSpPr>
        <p:spPr>
          <a:xfrm>
            <a:off x="8743950" y="533338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Mention the one move that explains their impact</a:t>
            </a:r>
          </a:p>
        </p:txBody>
      </p:sp>
      <p:sp>
        <p:nvSpPr>
          <p:cNvPr id="168" name="Oval 167"/>
          <p:cNvSpPr/>
          <p:nvPr/>
        </p:nvSpPr>
        <p:spPr>
          <a:xfrm>
            <a:off x="8372475" y="5999647"/>
            <a:ext cx="285750" cy="273805"/>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372475" y="6045282"/>
            <a:ext cx="285750" cy="182537"/>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0" name="TextBox 169"/>
          <p:cNvSpPr txBox="1"/>
          <p:nvPr/>
        </p:nvSpPr>
        <p:spPr>
          <a:xfrm>
            <a:off x="8743950" y="5972267"/>
            <a:ext cx="3152775" cy="401581"/>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Do not rely on market share alone</a:t>
            </a:r>
          </a:p>
        </p:txBody>
      </p:sp>
      <p:sp>
        <p:nvSpPr>
          <p:cNvPr id="171" name="TextBox 17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2" name="Picture 171" descr="lock.png"/>
          <p:cNvPicPr>
            <a:picLocks noChangeAspect="1"/>
          </p:cNvPicPr>
          <p:nvPr/>
        </p:nvPicPr>
        <p:blipFill>
          <a:blip r:embed="rId4"/>
          <a:stretch>
            <a:fillRect/>
          </a:stretch>
        </p:blipFill>
        <p:spPr>
          <a:xfrm>
            <a:off x="951015" y="6052078"/>
            <a:ext cx="128699" cy="187198"/>
          </a:xfrm>
          <a:prstGeom prst="rect">
            <a:avLst/>
          </a:prstGeom>
        </p:spPr>
      </p:pic>
      <p:pic>
        <p:nvPicPr>
          <p:cNvPr id="173" name="Picture 172" descr="lock.png"/>
          <p:cNvPicPr>
            <a:picLocks noChangeAspect="1"/>
          </p:cNvPicPr>
          <p:nvPr/>
        </p:nvPicPr>
        <p:blipFill>
          <a:blip r:embed="rId4"/>
          <a:stretch>
            <a:fillRect/>
          </a:stretch>
        </p:blipFill>
        <p:spPr>
          <a:xfrm>
            <a:off x="2486445" y="6052078"/>
            <a:ext cx="128699" cy="187198"/>
          </a:xfrm>
          <a:prstGeom prst="rect">
            <a:avLst/>
          </a:prstGeom>
        </p:spPr>
      </p:pic>
      <p:pic>
        <p:nvPicPr>
          <p:cNvPr id="174" name="Picture 173" descr="lock.png"/>
          <p:cNvPicPr>
            <a:picLocks noChangeAspect="1"/>
          </p:cNvPicPr>
          <p:nvPr/>
        </p:nvPicPr>
        <p:blipFill>
          <a:blip r:embed="rId4"/>
          <a:stretch>
            <a:fillRect/>
          </a:stretch>
        </p:blipFill>
        <p:spPr>
          <a:xfrm>
            <a:off x="4021875" y="6052078"/>
            <a:ext cx="128699" cy="187198"/>
          </a:xfrm>
          <a:prstGeom prst="rect">
            <a:avLst/>
          </a:prstGeom>
        </p:spPr>
      </p:pic>
      <p:pic>
        <p:nvPicPr>
          <p:cNvPr id="175" name="Picture 174" descr="lock.png"/>
          <p:cNvPicPr>
            <a:picLocks noChangeAspect="1"/>
          </p:cNvPicPr>
          <p:nvPr/>
        </p:nvPicPr>
        <p:blipFill>
          <a:blip r:embed="rId4"/>
          <a:stretch>
            <a:fillRect/>
          </a:stretch>
        </p:blipFill>
        <p:spPr>
          <a:xfrm>
            <a:off x="5557305" y="6052078"/>
            <a:ext cx="128699" cy="187198"/>
          </a:xfrm>
          <a:prstGeom prst="rect">
            <a:avLst/>
          </a:prstGeom>
        </p:spPr>
      </p:pic>
      <p:pic>
        <p:nvPicPr>
          <p:cNvPr id="176" name="Picture 175" descr="lock.png"/>
          <p:cNvPicPr>
            <a:picLocks noChangeAspect="1"/>
          </p:cNvPicPr>
          <p:nvPr/>
        </p:nvPicPr>
        <p:blipFill>
          <a:blip r:embed="rId4"/>
          <a:stretch>
            <a:fillRect/>
          </a:stretch>
        </p:blipFill>
        <p:spPr>
          <a:xfrm>
            <a:off x="7092735" y="6052078"/>
            <a:ext cx="128699" cy="187198"/>
          </a:xfrm>
          <a:prstGeom prst="rect">
            <a:avLst/>
          </a:prstGeom>
        </p:spPr>
      </p:pic>
      <p:sp>
        <p:nvSpPr>
          <p:cNvPr id="177" name="TextBox 176"/>
          <p:cNvSpPr txBox="1"/>
          <p:nvPr/>
        </p:nvSpPr>
        <p:spPr>
          <a:xfrm>
            <a:off x="4572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78" name="Picture 177" descr="lock.png"/>
          <p:cNvPicPr>
            <a:picLocks noChangeAspect="1"/>
          </p:cNvPicPr>
          <p:nvPr/>
        </p:nvPicPr>
        <p:blipFill>
          <a:blip r:embed="rId4"/>
          <a:stretch>
            <a:fillRect/>
          </a:stretch>
        </p:blipFill>
        <p:spPr>
          <a:xfrm>
            <a:off x="994083" y="2391038"/>
            <a:ext cx="92663" cy="134782"/>
          </a:xfrm>
          <a:prstGeom prst="rect">
            <a:avLst/>
          </a:prstGeom>
        </p:spPr>
      </p:pic>
      <p:sp>
        <p:nvSpPr>
          <p:cNvPr id="179" name="TextBox 178"/>
          <p:cNvSpPr txBox="1"/>
          <p:nvPr/>
        </p:nvSpPr>
        <p:spPr>
          <a:xfrm>
            <a:off x="28575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0" name="Picture 179" descr="lock.png"/>
          <p:cNvPicPr>
            <a:picLocks noChangeAspect="1"/>
          </p:cNvPicPr>
          <p:nvPr/>
        </p:nvPicPr>
        <p:blipFill>
          <a:blip r:embed="rId4"/>
          <a:stretch>
            <a:fillRect/>
          </a:stretch>
        </p:blipFill>
        <p:spPr>
          <a:xfrm>
            <a:off x="3394383" y="2391038"/>
            <a:ext cx="92663" cy="134782"/>
          </a:xfrm>
          <a:prstGeom prst="rect">
            <a:avLst/>
          </a:prstGeom>
        </p:spPr>
      </p:pic>
      <p:sp>
        <p:nvSpPr>
          <p:cNvPr id="181" name="TextBox 180"/>
          <p:cNvSpPr txBox="1"/>
          <p:nvPr/>
        </p:nvSpPr>
        <p:spPr>
          <a:xfrm>
            <a:off x="52578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2" name="Picture 181" descr="lock.png"/>
          <p:cNvPicPr>
            <a:picLocks noChangeAspect="1"/>
          </p:cNvPicPr>
          <p:nvPr/>
        </p:nvPicPr>
        <p:blipFill>
          <a:blip r:embed="rId4"/>
          <a:stretch>
            <a:fillRect/>
          </a:stretch>
        </p:blipFill>
        <p:spPr>
          <a:xfrm>
            <a:off x="5794683" y="2391038"/>
            <a:ext cx="92663" cy="134782"/>
          </a:xfrm>
          <a:prstGeom prst="rect">
            <a:avLst/>
          </a:prstGeom>
        </p:spPr>
      </p:pic>
      <p:sp>
        <p:nvSpPr>
          <p:cNvPr id="183" name="TextBox 182"/>
          <p:cNvSpPr txBox="1"/>
          <p:nvPr/>
        </p:nvSpPr>
        <p:spPr>
          <a:xfrm>
            <a:off x="76581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4" name="Picture 183" descr="lock.png"/>
          <p:cNvPicPr>
            <a:picLocks noChangeAspect="1"/>
          </p:cNvPicPr>
          <p:nvPr/>
        </p:nvPicPr>
        <p:blipFill>
          <a:blip r:embed="rId4"/>
          <a:stretch>
            <a:fillRect/>
          </a:stretch>
        </p:blipFill>
        <p:spPr>
          <a:xfrm>
            <a:off x="8194983" y="2391038"/>
            <a:ext cx="92663" cy="134782"/>
          </a:xfrm>
          <a:prstGeom prst="rect">
            <a:avLst/>
          </a:prstGeom>
        </p:spPr>
      </p:pic>
      <p:sp>
        <p:nvSpPr>
          <p:cNvPr id="185" name="TextBox 184"/>
          <p:cNvSpPr txBox="1"/>
          <p:nvPr/>
        </p:nvSpPr>
        <p:spPr>
          <a:xfrm>
            <a:off x="10058400" y="2398079"/>
            <a:ext cx="595622" cy="139750"/>
          </a:xfrm>
          <a:prstGeom prst="rect">
            <a:avLst/>
          </a:prstGeom>
          <a:noFill/>
        </p:spPr>
        <p:txBody>
          <a:bodyPr wrap="none" lIns="0" rIns="0" tIns="0" bIns="0">
            <a:spAutoFit/>
          </a:bodyPr>
          <a:lstStyle/>
          <a:p>
            <a:r>
              <a:rPr sz="791" b="1">
                <a:solidFill>
                  <a:srgbClr val="2E2E2E"/>
                </a:solidFill>
                <a:latin typeface="Calibri"/>
              </a:rPr>
              <a:t>Value share:</a:t>
            </a:r>
          </a:p>
        </p:txBody>
      </p:sp>
      <p:pic>
        <p:nvPicPr>
          <p:cNvPr id="186" name="Picture 185" descr="lock.png"/>
          <p:cNvPicPr>
            <a:picLocks noChangeAspect="1"/>
          </p:cNvPicPr>
          <p:nvPr/>
        </p:nvPicPr>
        <p:blipFill>
          <a:blip r:embed="rId4"/>
          <a:stretch>
            <a:fillRect/>
          </a:stretch>
        </p:blipFill>
        <p:spPr>
          <a:xfrm>
            <a:off x="10595283" y="2391038"/>
            <a:ext cx="92663" cy="134782"/>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20</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3590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2701925"/>
            <a:ext cx="8572500" cy="514350"/>
          </a:xfrm>
          <a:prstGeom prst="rect">
            <a:avLst/>
          </a:prstGeom>
          <a:noFill/>
        </p:spPr>
        <p:txBody>
          <a:bodyPr wrap="square" lIns="0" rIns="0" tIns="0">
            <a:spAutoFit/>
          </a:bodyPr>
          <a:lstStyle/>
          <a:p>
            <a:r>
              <a:rPr sz="3000" b="1">
                <a:solidFill>
                  <a:srgbClr val="0B3C8C"/>
                </a:solidFill>
                <a:latin typeface="Calibri"/>
              </a:rPr>
              <a:t>Company Profiles &amp; Strategic Benchmarking</a:t>
            </a:r>
          </a:p>
        </p:txBody>
      </p:sp>
      <p:sp>
        <p:nvSpPr>
          <p:cNvPr id="11" name="TextBox 10"/>
          <p:cNvSpPr txBox="1"/>
          <p:nvPr/>
        </p:nvSpPr>
        <p:spPr>
          <a:xfrm>
            <a:off x="914400" y="3387725"/>
            <a:ext cx="8458200" cy="20637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TransMedics Snapshot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TransMedics Penetration &amp; Win</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TransMedics SWOT Analysis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TransMedics Key Financials</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TransMedics Strategy Analysis</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TransMedics Executive Market Snapshot (1/5)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Overview of total market, addressable opportunity and share of market by end-market, region and product</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Executive snapshot and strategic positioning TransMedics: market, addressable opportunity and SOM splits by end-market, region and product.</a:t>
            </a:r>
          </a:p>
        </p:txBody>
      </p:sp>
      <p:sp>
        <p:nvSpPr>
          <p:cNvPr id="11" name="Rounded Rectangle 10"/>
          <p:cNvSpPr/>
          <p:nvPr/>
        </p:nvSpPr>
        <p:spPr>
          <a:xfrm>
            <a:off x="1428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TAM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Total market</a:t>
            </a:r>
          </a:p>
        </p:txBody>
      </p:sp>
      <p:sp>
        <p:nvSpPr>
          <p:cNvPr id="12" name="Rounded Rectangle 11"/>
          <p:cNvSpPr/>
          <p:nvPr/>
        </p:nvSpPr>
        <p:spPr>
          <a:xfrm>
            <a:off x="254317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SAM (US$ MN)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Addressable</a:t>
            </a:r>
          </a:p>
        </p:txBody>
      </p:sp>
      <p:sp>
        <p:nvSpPr>
          <p:cNvPr id="13" name="Rounded Rectangle 12"/>
          <p:cNvSpPr/>
          <p:nvPr/>
        </p:nvSpPr>
        <p:spPr>
          <a:xfrm>
            <a:off x="49530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
            </a:r>
          </a:p>
          <a:p>
            <a:pPr algn="ctr">
              <a:lnSpc>
                <a:spcPct val="95000"/>
              </a:lnSpc>
            </a:pPr>
            <a:r>
              <a:rPr sz="1500" b="1">
                <a:solidFill>
                  <a:srgbClr val="0E72AE"/>
                </a:solidFill>
                <a:latin typeface="Calibri"/>
              </a:rPr>
              <a:t/>
            </a:r>
          </a:p>
          <a:p>
            <a:pPr algn="ctr">
              <a:lnSpc>
                <a:spcPct val="95000"/>
              </a:lnSpc>
            </a:pPr>
            <a:r>
              <a:rPr sz="1100" b="0">
                <a:solidFill>
                  <a:srgbClr val="6C7A89"/>
                </a:solidFill>
                <a:latin typeface="Calibri"/>
              </a:rPr>
              <a:t/>
            </a:r>
          </a:p>
        </p:txBody>
      </p:sp>
      <p:sp>
        <p:nvSpPr>
          <p:cNvPr id="14" name="Rounded Rectangle 13"/>
          <p:cNvSpPr/>
          <p:nvPr/>
        </p:nvSpPr>
        <p:spPr>
          <a:xfrm>
            <a:off x="7353300"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35828"/>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8" name="Chart 17"/>
          <p:cNvGraphicFramePr>
            <a:graphicFrameLocks noGrp="1"/>
          </p:cNvGraphicFramePr>
          <p:nvPr/>
        </p:nvGraphicFramePr>
        <p:xfrm>
          <a:off x="238125" y="2351726"/>
          <a:ext cx="3638550" cy="2267379"/>
        </p:xfrm>
        <a:graphic>
          <a:graphicData uri="http://schemas.openxmlformats.org/drawingml/2006/chart">
            <c:chart xmlns:c="http://schemas.openxmlformats.org/drawingml/2006/chart" r:id="rId3"/>
          </a:graphicData>
        </a:graphic>
      </p:graphicFrame>
      <p:sp>
        <p:nvSpPr>
          <p:cNvPr id="19" name="Rounded Rectangle 18"/>
          <p:cNvSpPr/>
          <p:nvPr/>
        </p:nvSpPr>
        <p:spPr>
          <a:xfrm>
            <a:off x="4124325" y="2065976"/>
            <a:ext cx="38290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19575" y="2123126"/>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1" name="Chart 20"/>
          <p:cNvGraphicFramePr>
            <a:graphicFrameLocks noGrp="1"/>
          </p:cNvGraphicFramePr>
          <p:nvPr/>
        </p:nvGraphicFramePr>
        <p:xfrm>
          <a:off x="4219575" y="2351726"/>
          <a:ext cx="3638550" cy="2267379"/>
        </p:xfrm>
        <a:graphic>
          <a:graphicData uri="http://schemas.openxmlformats.org/drawingml/2006/chart">
            <c:chart xmlns:c="http://schemas.openxmlformats.org/drawingml/2006/chart" r:id="rId4"/>
          </a:graphicData>
        </a:graphic>
      </p:graphicFrame>
      <p:sp>
        <p:nvSpPr>
          <p:cNvPr id="22" name="Rounded Rectangle 21"/>
          <p:cNvSpPr/>
          <p:nvPr/>
        </p:nvSpPr>
        <p:spPr>
          <a:xfrm>
            <a:off x="8105775" y="2065976"/>
            <a:ext cx="3943350" cy="2610279"/>
          </a:xfrm>
          <a:prstGeom prst="roundRect">
            <a:avLst>
              <a:gd name="adj" fmla="val 29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1025" y="2123126"/>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4" name="Chart 23"/>
          <p:cNvGraphicFramePr>
            <a:graphicFrameLocks noGrp="1"/>
          </p:cNvGraphicFramePr>
          <p:nvPr/>
        </p:nvGraphicFramePr>
        <p:xfrm>
          <a:off x="8201025" y="2351726"/>
          <a:ext cx="3752850" cy="2267379"/>
        </p:xfrm>
        <a:graphic>
          <a:graphicData uri="http://schemas.openxmlformats.org/drawingml/2006/chart">
            <c:chart xmlns:c="http://schemas.openxmlformats.org/drawingml/2006/chart" r:id="rId5"/>
          </a:graphicData>
        </a:graphic>
      </p:graphicFrame>
      <p:sp>
        <p:nvSpPr>
          <p:cNvPr id="25" name="Rounded Rectangle 24"/>
          <p:cNvSpPr/>
          <p:nvPr/>
        </p:nvSpPr>
        <p:spPr>
          <a:xfrm>
            <a:off x="142875" y="4785777"/>
            <a:ext cx="11906250" cy="1807116"/>
          </a:xfrm>
          <a:prstGeom prst="roundRect">
            <a:avLst>
              <a:gd name="adj" fmla="val 42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6225" y="4871502"/>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7" name="Rectangle 26"/>
          <p:cNvSpPr/>
          <p:nvPr/>
        </p:nvSpPr>
        <p:spPr>
          <a:xfrm>
            <a:off x="276225" y="5109627"/>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5195352"/>
            <a:ext cx="11639550" cy="1321341"/>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9" name="TextBox 2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0" name="Picture 29" descr="lock.png"/>
          <p:cNvPicPr>
            <a:picLocks noChangeAspect="1"/>
          </p:cNvPicPr>
          <p:nvPr/>
        </p:nvPicPr>
        <p:blipFill>
          <a:blip r:embed="rId7"/>
          <a:stretch>
            <a:fillRect/>
          </a:stretch>
        </p:blipFill>
        <p:spPr>
          <a:xfrm>
            <a:off x="1202531" y="1522714"/>
            <a:ext cx="157162" cy="228600"/>
          </a:xfrm>
          <a:prstGeom prst="rect">
            <a:avLst/>
          </a:prstGeom>
        </p:spPr>
      </p:pic>
      <p:pic>
        <p:nvPicPr>
          <p:cNvPr id="31" name="Picture 30" descr="lock.png"/>
          <p:cNvPicPr>
            <a:picLocks noChangeAspect="1"/>
          </p:cNvPicPr>
          <p:nvPr/>
        </p:nvPicPr>
        <p:blipFill>
          <a:blip r:embed="rId7"/>
          <a:stretch>
            <a:fillRect/>
          </a:stretch>
        </p:blipFill>
        <p:spPr>
          <a:xfrm>
            <a:off x="3602831" y="1522714"/>
            <a:ext cx="157162" cy="228600"/>
          </a:xfrm>
          <a:prstGeom prst="rect">
            <a:avLst/>
          </a:prstGeom>
        </p:spPr>
      </p:pic>
      <p:pic>
        <p:nvPicPr>
          <p:cNvPr id="32" name="Picture 31" descr="lock.png"/>
          <p:cNvPicPr>
            <a:picLocks noChangeAspect="1"/>
          </p:cNvPicPr>
          <p:nvPr/>
        </p:nvPicPr>
        <p:blipFill>
          <a:blip r:embed="rId7"/>
          <a:stretch>
            <a:fillRect/>
          </a:stretch>
        </p:blipFill>
        <p:spPr>
          <a:xfrm>
            <a:off x="8412956" y="1522714"/>
            <a:ext cx="157162" cy="228600"/>
          </a:xfrm>
          <a:prstGeom prst="rect">
            <a:avLst/>
          </a:prstGeom>
        </p:spPr>
      </p:pic>
      <p:pic>
        <p:nvPicPr>
          <p:cNvPr id="33" name="Picture 32" descr="lock.png"/>
          <p:cNvPicPr>
            <a:picLocks noChangeAspect="1"/>
          </p:cNvPicPr>
          <p:nvPr/>
        </p:nvPicPr>
        <p:blipFill>
          <a:blip r:embed="rId7"/>
          <a:stretch>
            <a:fillRect/>
          </a:stretch>
        </p:blipFill>
        <p:spPr>
          <a:xfrm>
            <a:off x="10822781" y="1522714"/>
            <a:ext cx="157162" cy="228600"/>
          </a:xfrm>
          <a:prstGeom prst="rect">
            <a:avLst/>
          </a:prstGeom>
        </p:spPr>
      </p:pic>
      <p:pic>
        <p:nvPicPr>
          <p:cNvPr id="34" name="Picture 33" descr="lock.png"/>
          <p:cNvPicPr>
            <a:picLocks noChangeAspect="1"/>
          </p:cNvPicPr>
          <p:nvPr/>
        </p:nvPicPr>
        <p:blipFill>
          <a:blip r:embed="rId7"/>
          <a:stretch>
            <a:fillRect/>
          </a:stretch>
        </p:blipFill>
        <p:spPr>
          <a:xfrm>
            <a:off x="6086073" y="3299104"/>
            <a:ext cx="197242" cy="286897"/>
          </a:xfrm>
          <a:prstGeom prst="rect">
            <a:avLst/>
          </a:prstGeom>
        </p:spPr>
      </p:pic>
      <p:pic>
        <p:nvPicPr>
          <p:cNvPr id="35" name="Picture 34" descr="lock.png"/>
          <p:cNvPicPr>
            <a:picLocks noChangeAspect="1"/>
          </p:cNvPicPr>
          <p:nvPr/>
        </p:nvPicPr>
        <p:blipFill>
          <a:blip r:embed="rId7"/>
          <a:stretch>
            <a:fillRect/>
          </a:stretch>
        </p:blipFill>
        <p:spPr>
          <a:xfrm>
            <a:off x="9278088" y="3145920"/>
            <a:ext cx="444576" cy="646656"/>
          </a:xfrm>
          <a:prstGeom prst="rect">
            <a:avLst/>
          </a:prstGeom>
        </p:spPr>
      </p:pic>
      <p:sp>
        <p:nvSpPr>
          <p:cNvPr id="36" name="TextBox 35"/>
          <p:cNvSpPr txBox="1"/>
          <p:nvPr/>
        </p:nvSpPr>
        <p:spPr>
          <a:xfrm>
            <a:off x="5758516" y="1377568"/>
            <a:ext cx="741641" cy="146456"/>
          </a:xfrm>
          <a:prstGeom prst="rect">
            <a:avLst/>
          </a:prstGeom>
          <a:noFill/>
        </p:spPr>
        <p:txBody>
          <a:bodyPr wrap="none" lIns="0" rIns="0" tIns="0" bIns="0">
            <a:spAutoFit/>
          </a:bodyPr>
          <a:lstStyle/>
          <a:p>
            <a:r>
              <a:rPr sz="835" b="1">
                <a:solidFill>
                  <a:srgbClr val="6C7A89"/>
                </a:solidFill>
                <a:latin typeface="Calibri"/>
              </a:rPr>
              <a:t>SOM (US$ MN)</a:t>
            </a:r>
          </a:p>
        </p:txBody>
      </p:sp>
      <p:pic>
        <p:nvPicPr>
          <p:cNvPr id="37" name="Picture 36" descr="lock.png"/>
          <p:cNvPicPr>
            <a:picLocks noChangeAspect="1"/>
          </p:cNvPicPr>
          <p:nvPr/>
        </p:nvPicPr>
        <p:blipFill>
          <a:blip r:embed="rId7"/>
          <a:stretch>
            <a:fillRect/>
          </a:stretch>
        </p:blipFill>
        <p:spPr>
          <a:xfrm>
            <a:off x="6017010" y="1533061"/>
            <a:ext cx="133378" cy="194005"/>
          </a:xfrm>
          <a:prstGeom prst="rect">
            <a:avLst/>
          </a:prstGeom>
        </p:spPr>
      </p:pic>
      <p:pic>
        <p:nvPicPr>
          <p:cNvPr id="38" name="Picture 37" descr="lock.png"/>
          <p:cNvPicPr>
            <a:picLocks noChangeAspect="1"/>
          </p:cNvPicPr>
          <p:nvPr/>
        </p:nvPicPr>
        <p:blipFill>
          <a:blip r:embed="rId7"/>
          <a:stretch>
            <a:fillRect/>
          </a:stretch>
        </p:blipFill>
        <p:spPr>
          <a:xfrm>
            <a:off x="5865805" y="1761621"/>
            <a:ext cx="97811" cy="142270"/>
          </a:xfrm>
          <a:prstGeom prst="rect">
            <a:avLst/>
          </a:prstGeom>
        </p:spPr>
      </p:pic>
      <p:sp>
        <p:nvSpPr>
          <p:cNvPr id="39" name="TextBox 38"/>
          <p:cNvSpPr txBox="1"/>
          <p:nvPr/>
        </p:nvSpPr>
        <p:spPr>
          <a:xfrm>
            <a:off x="5993102" y="1769053"/>
            <a:ext cx="389531" cy="146456"/>
          </a:xfrm>
          <a:prstGeom prst="rect">
            <a:avLst/>
          </a:prstGeom>
          <a:noFill/>
        </p:spPr>
        <p:txBody>
          <a:bodyPr wrap="none" lIns="0" rIns="0" tIns="0" bIns="0">
            <a:spAutoFit/>
          </a:bodyPr>
          <a:lstStyle/>
          <a:p>
            <a:r>
              <a:rPr sz="835" b="0">
                <a:solidFill>
                  <a:srgbClr val="6C7A89"/>
                </a:solidFill>
                <a:latin typeface="Calibri"/>
              </a:rPr>
              <a:t>of SAM</a:t>
            </a:r>
          </a:p>
        </p:txBody>
      </p:sp>
      <p:sp>
        <p:nvSpPr>
          <p:cNvPr id="40" name="TextBox 39"/>
          <p:cNvSpPr txBox="1"/>
          <p:nvPr/>
        </p:nvSpPr>
        <p:spPr>
          <a:xfrm>
            <a:off x="276225" y="5204877"/>
            <a:ext cx="2587290" cy="194310"/>
          </a:xfrm>
          <a:prstGeom prst="rect">
            <a:avLst/>
          </a:prstGeom>
          <a:noFill/>
        </p:spPr>
        <p:txBody>
          <a:bodyPr wrap="none" lIns="0" rIns="0" tIns="0" bIns="0">
            <a:spAutoFit/>
          </a:bodyPr>
          <a:lstStyle/>
          <a:p>
            <a:r>
              <a:rPr sz="1150" b="0">
                <a:solidFill>
                  <a:srgbClr val="2E2E2E"/>
                </a:solidFill>
                <a:latin typeface="Calibri"/>
              </a:rPr>
              <a:t>▪ Market Position: TransMedics captures ~</a:t>
            </a:r>
          </a:p>
        </p:txBody>
      </p:sp>
      <p:pic>
        <p:nvPicPr>
          <p:cNvPr id="41" name="Picture 40" descr="lock.png"/>
          <p:cNvPicPr>
            <a:picLocks noChangeAspect="1"/>
          </p:cNvPicPr>
          <p:nvPr/>
        </p:nvPicPr>
        <p:blipFill>
          <a:blip r:embed="rId7"/>
          <a:stretch>
            <a:fillRect/>
          </a:stretch>
        </p:blipFill>
        <p:spPr>
          <a:xfrm>
            <a:off x="2812669" y="5194653"/>
            <a:ext cx="134549" cy="195707"/>
          </a:xfrm>
          <a:prstGeom prst="rect">
            <a:avLst/>
          </a:prstGeom>
        </p:spPr>
      </p:pic>
      <p:sp>
        <p:nvSpPr>
          <p:cNvPr id="42" name="TextBox 41"/>
          <p:cNvSpPr txBox="1"/>
          <p:nvPr/>
        </p:nvSpPr>
        <p:spPr>
          <a:xfrm>
            <a:off x="2987778" y="5204877"/>
            <a:ext cx="3910583" cy="194310"/>
          </a:xfrm>
          <a:prstGeom prst="rect">
            <a:avLst/>
          </a:prstGeom>
          <a:noFill/>
        </p:spPr>
        <p:txBody>
          <a:bodyPr wrap="none" lIns="0" rIns="0" tIns="0" bIns="0">
            <a:spAutoFit/>
          </a:bodyPr>
          <a:lstStyle/>
          <a:p>
            <a:r>
              <a:rPr sz="1150" b="0">
                <a:solidFill>
                  <a:srgbClr val="2E2E2E"/>
                </a:solidFill>
                <a:latin typeface="Calibri"/>
              </a:rPr>
              <a:t>of a US$ Mn SAM, with its strongest end-market in 'Direct Sales'.</a:t>
            </a:r>
          </a:p>
        </p:txBody>
      </p:sp>
      <p:sp>
        <p:nvSpPr>
          <p:cNvPr id="43" name="TextBox 42"/>
          <p:cNvSpPr txBox="1"/>
          <p:nvPr/>
        </p:nvSpPr>
        <p:spPr>
          <a:xfrm>
            <a:off x="276225" y="5432715"/>
            <a:ext cx="7358446" cy="194310"/>
          </a:xfrm>
          <a:prstGeom prst="rect">
            <a:avLst/>
          </a:prstGeom>
          <a:noFill/>
        </p:spPr>
        <p:txBody>
          <a:bodyPr wrap="none" lIns="0" rIns="0" tIns="0" bIns="0">
            <a:spAutoFit/>
          </a:bodyPr>
          <a:lstStyle/>
          <a:p>
            <a:r>
              <a:rPr sz="1150" b="0">
                <a:solidFill>
                  <a:srgbClr val="2E2E2E"/>
                </a:solidFill>
                <a:latin typeface="Calibri"/>
              </a:rPr>
              <a:t>▪ Geographic Balance: 'North America' is the largest SOM region; 'Rest of the World' shows the highest SAM penetration (~</a:t>
            </a:r>
          </a:p>
        </p:txBody>
      </p:sp>
      <p:pic>
        <p:nvPicPr>
          <p:cNvPr id="44" name="Picture 43" descr="lock.png"/>
          <p:cNvPicPr>
            <a:picLocks noChangeAspect="1"/>
          </p:cNvPicPr>
          <p:nvPr/>
        </p:nvPicPr>
        <p:blipFill>
          <a:blip r:embed="rId7"/>
          <a:stretch>
            <a:fillRect/>
          </a:stretch>
        </p:blipFill>
        <p:spPr>
          <a:xfrm>
            <a:off x="7583825" y="5422491"/>
            <a:ext cx="134549" cy="195707"/>
          </a:xfrm>
          <a:prstGeom prst="rect">
            <a:avLst/>
          </a:prstGeom>
        </p:spPr>
      </p:pic>
      <p:sp>
        <p:nvSpPr>
          <p:cNvPr id="45" name="TextBox 44"/>
          <p:cNvSpPr txBox="1"/>
          <p:nvPr/>
        </p:nvSpPr>
        <p:spPr>
          <a:xfrm>
            <a:off x="7758935" y="5432715"/>
            <a:ext cx="157212" cy="194310"/>
          </a:xfrm>
          <a:prstGeom prst="rect">
            <a:avLst/>
          </a:prstGeom>
          <a:noFill/>
        </p:spPr>
        <p:txBody>
          <a:bodyPr wrap="none" lIns="0" rIns="0" tIns="0" bIns="0">
            <a:spAutoFit/>
          </a:bodyPr>
          <a:lstStyle/>
          <a:p>
            <a:r>
              <a:rPr sz="1150" b="0">
                <a:solidFill>
                  <a:srgbClr val="2E2E2E"/>
                </a:solidFill>
                <a:latin typeface="Calibri"/>
              </a:rPr>
              <a:t>).</a:t>
            </a:r>
          </a:p>
        </p:txBody>
      </p:sp>
      <p:sp>
        <p:nvSpPr>
          <p:cNvPr id="46" name="TextBox 45"/>
          <p:cNvSpPr txBox="1"/>
          <p:nvPr/>
        </p:nvSpPr>
        <p:spPr>
          <a:xfrm>
            <a:off x="276225" y="5660552"/>
            <a:ext cx="1391791" cy="194310"/>
          </a:xfrm>
          <a:prstGeom prst="rect">
            <a:avLst/>
          </a:prstGeom>
          <a:noFill/>
        </p:spPr>
        <p:txBody>
          <a:bodyPr wrap="none" lIns="0" rIns="0" tIns="0" bIns="0">
            <a:spAutoFit/>
          </a:bodyPr>
          <a:lstStyle/>
          <a:p>
            <a:r>
              <a:rPr sz="1150" b="0">
                <a:solidFill>
                  <a:srgbClr val="2E2E2E"/>
                </a:solidFill>
                <a:latin typeface="Calibri"/>
              </a:rPr>
              <a:t>▪ Growth Trajectory: a</a:t>
            </a:r>
          </a:p>
        </p:txBody>
      </p:sp>
      <p:pic>
        <p:nvPicPr>
          <p:cNvPr id="47" name="Picture 46" descr="lock.png"/>
          <p:cNvPicPr>
            <a:picLocks noChangeAspect="1"/>
          </p:cNvPicPr>
          <p:nvPr/>
        </p:nvPicPr>
        <p:blipFill>
          <a:blip r:embed="rId7"/>
          <a:stretch>
            <a:fillRect/>
          </a:stretch>
        </p:blipFill>
        <p:spPr>
          <a:xfrm>
            <a:off x="1617169" y="5650329"/>
            <a:ext cx="134549" cy="195707"/>
          </a:xfrm>
          <a:prstGeom prst="rect">
            <a:avLst/>
          </a:prstGeom>
        </p:spPr>
      </p:pic>
      <p:sp>
        <p:nvSpPr>
          <p:cNvPr id="48" name="TextBox 47"/>
          <p:cNvSpPr txBox="1"/>
          <p:nvPr/>
        </p:nvSpPr>
        <p:spPr>
          <a:xfrm>
            <a:off x="1792279" y="5660552"/>
            <a:ext cx="1129072" cy="194310"/>
          </a:xfrm>
          <a:prstGeom prst="rect">
            <a:avLst/>
          </a:prstGeom>
          <a:noFill/>
        </p:spPr>
        <p:txBody>
          <a:bodyPr wrap="none" lIns="0" rIns="0" tIns="0" bIns="0">
            <a:spAutoFit/>
          </a:bodyPr>
          <a:lstStyle/>
          <a:p>
            <a:r>
              <a:rPr sz="1150" b="0">
                <a:solidFill>
                  <a:srgbClr val="2E2E2E"/>
                </a:solidFill>
                <a:latin typeface="Calibri"/>
              </a:rPr>
              <a:t>book-to-bill and ~</a:t>
            </a:r>
          </a:p>
        </p:txBody>
      </p:sp>
      <p:pic>
        <p:nvPicPr>
          <p:cNvPr id="49" name="Picture 48" descr="lock.png"/>
          <p:cNvPicPr>
            <a:picLocks noChangeAspect="1"/>
          </p:cNvPicPr>
          <p:nvPr/>
        </p:nvPicPr>
        <p:blipFill>
          <a:blip r:embed="rId7"/>
          <a:stretch>
            <a:fillRect/>
          </a:stretch>
        </p:blipFill>
        <p:spPr>
          <a:xfrm>
            <a:off x="2870505" y="5650329"/>
            <a:ext cx="134549" cy="195707"/>
          </a:xfrm>
          <a:prstGeom prst="rect">
            <a:avLst/>
          </a:prstGeom>
        </p:spPr>
      </p:pic>
      <p:sp>
        <p:nvSpPr>
          <p:cNvPr id="50" name="TextBox 49"/>
          <p:cNvSpPr txBox="1"/>
          <p:nvPr/>
        </p:nvSpPr>
        <p:spPr>
          <a:xfrm>
            <a:off x="3045614" y="5660552"/>
            <a:ext cx="4503594" cy="194310"/>
          </a:xfrm>
          <a:prstGeom prst="rect">
            <a:avLst/>
          </a:prstGeom>
          <a:noFill/>
        </p:spPr>
        <p:txBody>
          <a:bodyPr wrap="none" lIns="0" rIns="0" tIns="0" bIns="0">
            <a:spAutoFit/>
          </a:bodyPr>
          <a:lstStyle/>
          <a:p>
            <a:r>
              <a:rPr sz="1150" b="0">
                <a:solidFill>
                  <a:srgbClr val="2E2E2E"/>
                </a:solidFill>
                <a:latin typeface="Calibri"/>
              </a:rPr>
              <a:t>EBITDA margin point to a path to capture more of the addressable market.</a:t>
            </a:r>
          </a:p>
        </p:txBody>
      </p:sp>
      <p:sp>
        <p:nvSpPr>
          <p:cNvPr id="51" name="TextBox 50"/>
          <p:cNvSpPr txBox="1"/>
          <p:nvPr/>
        </p:nvSpPr>
        <p:spPr>
          <a:xfrm>
            <a:off x="276225" y="5888390"/>
            <a:ext cx="1353535" cy="194310"/>
          </a:xfrm>
          <a:prstGeom prst="rect">
            <a:avLst/>
          </a:prstGeom>
          <a:noFill/>
        </p:spPr>
        <p:txBody>
          <a:bodyPr wrap="none" lIns="0" rIns="0" tIns="0" bIns="0">
            <a:spAutoFit/>
          </a:bodyPr>
          <a:lstStyle/>
          <a:p>
            <a:r>
              <a:rPr sz="1150" b="0">
                <a:solidFill>
                  <a:srgbClr val="2E2E2E"/>
                </a:solidFill>
                <a:latin typeface="Calibri"/>
              </a:rPr>
              <a:t>▪ Competitive Edge: ~</a:t>
            </a:r>
          </a:p>
        </p:txBody>
      </p:sp>
      <p:pic>
        <p:nvPicPr>
          <p:cNvPr id="52" name="Picture 51" descr="lock.png"/>
          <p:cNvPicPr>
            <a:picLocks noChangeAspect="1"/>
          </p:cNvPicPr>
          <p:nvPr/>
        </p:nvPicPr>
        <p:blipFill>
          <a:blip r:embed="rId7"/>
          <a:stretch>
            <a:fillRect/>
          </a:stretch>
        </p:blipFill>
        <p:spPr>
          <a:xfrm>
            <a:off x="1578914" y="5878167"/>
            <a:ext cx="134549" cy="195707"/>
          </a:xfrm>
          <a:prstGeom prst="rect">
            <a:avLst/>
          </a:prstGeom>
        </p:spPr>
      </p:pic>
      <p:sp>
        <p:nvSpPr>
          <p:cNvPr id="53" name="TextBox 52"/>
          <p:cNvSpPr txBox="1"/>
          <p:nvPr/>
        </p:nvSpPr>
        <p:spPr>
          <a:xfrm>
            <a:off x="1754024" y="5888390"/>
            <a:ext cx="1072591" cy="194310"/>
          </a:xfrm>
          <a:prstGeom prst="rect">
            <a:avLst/>
          </a:prstGeom>
          <a:noFill/>
        </p:spPr>
        <p:txBody>
          <a:bodyPr wrap="none" lIns="0" rIns="0" tIns="0" bIns="0">
            <a:spAutoFit/>
          </a:bodyPr>
          <a:lstStyle/>
          <a:p>
            <a:r>
              <a:rPr sz="1150" b="0">
                <a:solidFill>
                  <a:srgbClr val="2E2E2E"/>
                </a:solidFill>
                <a:latin typeface="Calibri"/>
              </a:rPr>
              <a:t>win rate with a +</a:t>
            </a:r>
          </a:p>
        </p:txBody>
      </p:sp>
      <p:pic>
        <p:nvPicPr>
          <p:cNvPr id="54" name="Picture 53" descr="lock.png"/>
          <p:cNvPicPr>
            <a:picLocks noChangeAspect="1"/>
          </p:cNvPicPr>
          <p:nvPr/>
        </p:nvPicPr>
        <p:blipFill>
          <a:blip r:embed="rId7"/>
          <a:stretch>
            <a:fillRect/>
          </a:stretch>
        </p:blipFill>
        <p:spPr>
          <a:xfrm>
            <a:off x="2775769" y="5878167"/>
            <a:ext cx="134549" cy="195707"/>
          </a:xfrm>
          <a:prstGeom prst="rect">
            <a:avLst/>
          </a:prstGeom>
        </p:spPr>
      </p:pic>
      <p:sp>
        <p:nvSpPr>
          <p:cNvPr id="55" name="TextBox 54"/>
          <p:cNvSpPr txBox="1"/>
          <p:nvPr/>
        </p:nvSpPr>
        <p:spPr>
          <a:xfrm>
            <a:off x="2950879" y="5888390"/>
            <a:ext cx="1137059" cy="194310"/>
          </a:xfrm>
          <a:prstGeom prst="rect">
            <a:avLst/>
          </a:prstGeom>
          <a:noFill/>
        </p:spPr>
        <p:txBody>
          <a:bodyPr wrap="none" lIns="0" rIns="0" tIns="0" bIns="0">
            <a:spAutoFit/>
          </a:bodyPr>
          <a:lstStyle/>
          <a:p>
            <a:r>
              <a:rPr sz="1150" b="0">
                <a:solidFill>
                  <a:srgbClr val="2E2E2E"/>
                </a:solidFill>
                <a:latin typeface="Calibri"/>
              </a:rPr>
              <a:t>ASP premium and</a:t>
            </a:r>
          </a:p>
        </p:txBody>
      </p:sp>
      <p:pic>
        <p:nvPicPr>
          <p:cNvPr id="56" name="Picture 55" descr="lock.png"/>
          <p:cNvPicPr>
            <a:picLocks noChangeAspect="1"/>
          </p:cNvPicPr>
          <p:nvPr/>
        </p:nvPicPr>
        <p:blipFill>
          <a:blip r:embed="rId7"/>
          <a:stretch>
            <a:fillRect/>
          </a:stretch>
        </p:blipFill>
        <p:spPr>
          <a:xfrm>
            <a:off x="4037092" y="5878167"/>
            <a:ext cx="134549" cy="195707"/>
          </a:xfrm>
          <a:prstGeom prst="rect">
            <a:avLst/>
          </a:prstGeom>
        </p:spPr>
      </p:pic>
      <p:sp>
        <p:nvSpPr>
          <p:cNvPr id="57" name="TextBox 56"/>
          <p:cNvSpPr txBox="1"/>
          <p:nvPr/>
        </p:nvSpPr>
        <p:spPr>
          <a:xfrm>
            <a:off x="4212201" y="5888390"/>
            <a:ext cx="1259147" cy="194310"/>
          </a:xfrm>
          <a:prstGeom prst="rect">
            <a:avLst/>
          </a:prstGeom>
          <a:noFill/>
        </p:spPr>
        <p:txBody>
          <a:bodyPr wrap="none" lIns="0" rIns="0" tIns="0" bIns="0">
            <a:spAutoFit/>
          </a:bodyPr>
          <a:lstStyle/>
          <a:p>
            <a:r>
              <a:rPr sz="1150" b="0">
                <a:solidFill>
                  <a:srgbClr val="2E2E2E"/>
                </a:solidFill>
                <a:latin typeface="Calibri"/>
              </a:rPr>
              <a:t>x pipeline coverage.</a:t>
            </a:r>
          </a:p>
        </p:txBody>
      </p:sp>
      <p:sp>
        <p:nvSpPr>
          <p:cNvPr id="58" name="lockshield_18"/>
          <p:cNvSpPr/>
          <p:nvPr/>
        </p:nvSpPr>
        <p:spPr>
          <a:xfrm>
            <a:off x="23812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lockshield_21"/>
          <p:cNvSpPr/>
          <p:nvPr/>
        </p:nvSpPr>
        <p:spPr>
          <a:xfrm>
            <a:off x="4219575" y="2351726"/>
            <a:ext cx="36385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lockshield_24"/>
          <p:cNvSpPr/>
          <p:nvPr/>
        </p:nvSpPr>
        <p:spPr>
          <a:xfrm>
            <a:off x="8201025" y="2351726"/>
            <a:ext cx="3752850" cy="226737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TransMedics Regional Penetration &amp; Win Position (2/5)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Regional penetration and competitive positioning highlighting growth potential, win rates and sales efficiency</a:t>
            </a:r>
          </a:p>
        </p:txBody>
      </p:sp>
      <p:sp>
        <p:nvSpPr>
          <p:cNvPr id="10" name="Rounded Rectangle 9"/>
          <p:cNvSpPr/>
          <p:nvPr/>
        </p:nvSpPr>
        <p:spPr>
          <a:xfrm>
            <a:off x="142875" y="1007261"/>
            <a:ext cx="11906250" cy="255552"/>
          </a:xfrm>
          <a:prstGeom prst="roundRect">
            <a:avLst>
              <a:gd name="adj" fmla="val 2981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Regional penetration and competitive positioning TransMedics: SOM vs SAM by region, win position, TAM/SAM/SOM and go-to-market benchmarks.</a:t>
            </a:r>
          </a:p>
        </p:txBody>
      </p:sp>
      <p:sp>
        <p:nvSpPr>
          <p:cNvPr id="11" name="Rounded Rectangle 10"/>
          <p:cNvSpPr/>
          <p:nvPr/>
        </p:nvSpPr>
        <p:spPr>
          <a:xfrm>
            <a:off x="142875" y="1299320"/>
            <a:ext cx="590550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35647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3" name="Chart 12"/>
          <p:cNvGraphicFramePr>
            <a:graphicFrameLocks noGrp="1"/>
          </p:cNvGraphicFramePr>
          <p:nvPr/>
        </p:nvGraphicFramePr>
        <p:xfrm>
          <a:off x="238125" y="1585070"/>
          <a:ext cx="5715000" cy="1920559"/>
        </p:xfrm>
        <a:graphic>
          <a:graphicData uri="http://schemas.openxmlformats.org/drawingml/2006/chart">
            <c:chart xmlns:c="http://schemas.openxmlformats.org/drawingml/2006/chart" r:id="rId3"/>
          </a:graphicData>
        </a:graphic>
      </p:graphicFrame>
      <p:sp>
        <p:nvSpPr>
          <p:cNvPr id="14" name="Rounded Rectangle 13"/>
          <p:cNvSpPr/>
          <p:nvPr/>
        </p:nvSpPr>
        <p:spPr>
          <a:xfrm>
            <a:off x="6162675" y="1299320"/>
            <a:ext cx="5886450" cy="2263459"/>
          </a:xfrm>
          <a:prstGeom prst="roundRect">
            <a:avLst>
              <a:gd name="adj" fmla="val 33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7925" y="135647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6" name="Connector 15"/>
          <p:cNvCxnSpPr/>
          <p:nvPr/>
        </p:nvCxnSpPr>
        <p:spPr>
          <a:xfrm>
            <a:off x="6581775" y="3219879"/>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581775" y="1680320"/>
            <a:ext cx="0" cy="1539559"/>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67475" y="3238929"/>
            <a:ext cx="228600" cy="114300"/>
          </a:xfrm>
          <a:prstGeom prst="rect">
            <a:avLst/>
          </a:prstGeom>
          <a:noFill/>
        </p:spPr>
        <p:txBody>
          <a:bodyPr wrap="none" lIns="0" rIns="0" tIns="0" bIns="0">
            <a:spAutoFit/>
          </a:bodyPr>
          <a:lstStyle/>
          <a:p>
            <a:pPr algn="ctr"/>
            <a:r>
              <a:rPr sz="1100" b="0">
                <a:solidFill>
                  <a:srgbClr val="6C7A89"/>
                </a:solidFill>
                <a:latin typeface="Calibri"/>
              </a:rPr>
              <a:t>0</a:t>
            </a:r>
          </a:p>
        </p:txBody>
      </p:sp>
      <p:sp>
        <p:nvSpPr>
          <p:cNvPr id="19" name="TextBox 18"/>
          <p:cNvSpPr txBox="1"/>
          <p:nvPr/>
        </p:nvSpPr>
        <p:spPr>
          <a:xfrm>
            <a:off x="7969704" y="3238929"/>
            <a:ext cx="228600" cy="114300"/>
          </a:xfrm>
          <a:prstGeom prst="rect">
            <a:avLst/>
          </a:prstGeom>
          <a:noFill/>
        </p:spPr>
        <p:txBody>
          <a:bodyPr wrap="none" lIns="0" rIns="0" tIns="0" bIns="0">
            <a:spAutoFit/>
          </a:bodyPr>
          <a:lstStyle/>
          <a:p>
            <a:pPr algn="ctr"/>
            <a:r>
              <a:rPr sz="1100" b="0">
                <a:solidFill>
                  <a:srgbClr val="6C7A89"/>
                </a:solidFill>
                <a:latin typeface="Calibri"/>
              </a:rPr>
              <a:t>1</a:t>
            </a:r>
          </a:p>
        </p:txBody>
      </p:sp>
      <p:sp>
        <p:nvSpPr>
          <p:cNvPr id="20" name="TextBox 19"/>
          <p:cNvSpPr txBox="1"/>
          <p:nvPr/>
        </p:nvSpPr>
        <p:spPr>
          <a:xfrm>
            <a:off x="9471932" y="3238929"/>
            <a:ext cx="228600" cy="114300"/>
          </a:xfrm>
          <a:prstGeom prst="rect">
            <a:avLst/>
          </a:prstGeom>
          <a:noFill/>
        </p:spPr>
        <p:txBody>
          <a:bodyPr wrap="none" lIns="0" rIns="0" tIns="0" bIns="0">
            <a:spAutoFit/>
          </a:bodyPr>
          <a:lstStyle/>
          <a:p>
            <a:pPr algn="ctr"/>
            <a:r>
              <a:rPr sz="1100" b="0">
                <a:solidFill>
                  <a:srgbClr val="6C7A89"/>
                </a:solidFill>
                <a:latin typeface="Calibri"/>
              </a:rPr>
              <a:t>2</a:t>
            </a:r>
          </a:p>
        </p:txBody>
      </p:sp>
      <p:sp>
        <p:nvSpPr>
          <p:cNvPr id="21" name="TextBox 20"/>
          <p:cNvSpPr txBox="1"/>
          <p:nvPr/>
        </p:nvSpPr>
        <p:spPr>
          <a:xfrm>
            <a:off x="10974161" y="3238929"/>
            <a:ext cx="228600" cy="114300"/>
          </a:xfrm>
          <a:prstGeom prst="rect">
            <a:avLst/>
          </a:prstGeom>
          <a:noFill/>
        </p:spPr>
        <p:txBody>
          <a:bodyPr wrap="none" lIns="0" rIns="0" tIns="0" bIns="0">
            <a:spAutoFit/>
          </a:bodyPr>
          <a:lstStyle/>
          <a:p>
            <a:pPr algn="ctr"/>
            <a:r>
              <a:rPr sz="1100" b="0">
                <a:solidFill>
                  <a:srgbClr val="6C7A89"/>
                </a:solidFill>
                <a:latin typeface="Calibri"/>
              </a:rPr>
              <a:t>3</a:t>
            </a:r>
          </a:p>
        </p:txBody>
      </p:sp>
      <p:sp>
        <p:nvSpPr>
          <p:cNvPr id="22" name="TextBox 21"/>
          <p:cNvSpPr txBox="1"/>
          <p:nvPr/>
        </p:nvSpPr>
        <p:spPr>
          <a:xfrm>
            <a:off x="6581775" y="3353229"/>
            <a:ext cx="5257800" cy="114300"/>
          </a:xfrm>
          <a:prstGeom prst="rect">
            <a:avLst/>
          </a:prstGeom>
          <a:noFill/>
        </p:spPr>
        <p:txBody>
          <a:bodyPr wrap="square" lIns="28575" rIns="28575" tIns="9525" bIns="9525">
            <a:spAutoFit/>
          </a:bodyPr>
          <a:lstStyle/>
          <a:p>
            <a:pPr algn="ctr"/>
            <a:r>
              <a:rPr sz="1100" b="0">
                <a:solidFill>
                  <a:srgbClr val="6C7A89"/>
                </a:solidFill>
                <a:latin typeface="Calibri"/>
              </a:rPr>
              <a:t>Win Rate %</a:t>
            </a:r>
          </a:p>
        </p:txBody>
      </p:sp>
      <p:sp>
        <p:nvSpPr>
          <p:cNvPr id="23" name="TextBox 22"/>
          <p:cNvSpPr txBox="1"/>
          <p:nvPr/>
        </p:nvSpPr>
        <p:spPr>
          <a:xfrm rot="16200000">
            <a:off x="6029325" y="2373900"/>
            <a:ext cx="571500" cy="152400"/>
          </a:xfrm>
          <a:prstGeom prst="rect">
            <a:avLst/>
          </a:prstGeom>
          <a:noFill/>
        </p:spPr>
        <p:txBody>
          <a:bodyPr wrap="square" lIns="28575" rIns="28575" tIns="9525" bIns="9525">
            <a:spAutoFit/>
          </a:bodyPr>
          <a:lstStyle/>
          <a:p>
            <a:pPr algn="ctr"/>
            <a:r>
              <a:rPr sz="1100" b="0">
                <a:solidFill>
                  <a:srgbClr val="6C7A89"/>
                </a:solidFill>
                <a:latin typeface="Calibri"/>
              </a:rPr>
              <a:t>ASP vs Peer</a:t>
            </a:r>
          </a:p>
        </p:txBody>
      </p:sp>
      <p:sp>
        <p:nvSpPr>
          <p:cNvPr id="24" name="Oval 23"/>
          <p:cNvSpPr/>
          <p:nvPr/>
        </p:nvSpPr>
        <p:spPr>
          <a:xfrm>
            <a:off x="7359287" y="1979874"/>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45037" y="201797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TransMedics</a:t>
            </a:r>
          </a:p>
        </p:txBody>
      </p:sp>
      <p:sp>
        <p:nvSpPr>
          <p:cNvPr id="26" name="Oval 25"/>
          <p:cNvSpPr/>
          <p:nvPr/>
        </p:nvSpPr>
        <p:spPr>
          <a:xfrm>
            <a:off x="9283609" y="1912810"/>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6509" y="1979485"/>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Industry Avg.</a:t>
            </a:r>
          </a:p>
        </p:txBody>
      </p:sp>
      <p:sp>
        <p:nvSpPr>
          <p:cNvPr id="28" name="Oval 27"/>
          <p:cNvSpPr/>
          <p:nvPr/>
        </p:nvSpPr>
        <p:spPr>
          <a:xfrm>
            <a:off x="10513967" y="2711164"/>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706100" y="2749264"/>
            <a:ext cx="1428750" cy="171450"/>
          </a:xfrm>
          <a:prstGeom prst="rect">
            <a:avLst/>
          </a:prstGeom>
          <a:noFill/>
        </p:spPr>
        <p:txBody>
          <a:bodyPr wrap="square" lIns="28575" rIns="28575" tIns="9525" bIns="9525" anchor="ctr">
            <a:spAutoFit/>
          </a:bodyPr>
          <a:lstStyle/>
          <a:p>
            <a:pPr algn="l"/>
            <a:r>
              <a:rPr sz="1100" b="1">
                <a:solidFill>
                  <a:srgbClr val="2E2E2E"/>
                </a:solidFill>
                <a:latin typeface="Calibri"/>
              </a:rPr>
              <a:t>Market Leader</a:t>
            </a:r>
          </a:p>
        </p:txBody>
      </p:sp>
      <p:sp>
        <p:nvSpPr>
          <p:cNvPr id="30" name="Rounded Rectangle 29"/>
          <p:cNvSpPr/>
          <p:nvPr/>
        </p:nvSpPr>
        <p:spPr>
          <a:xfrm>
            <a:off x="142875" y="3635794"/>
            <a:ext cx="590550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8125" y="3692944"/>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2" name="Rectangle 31"/>
          <p:cNvSpPr/>
          <p:nvPr/>
        </p:nvSpPr>
        <p:spPr>
          <a:xfrm>
            <a:off x="238125" y="3921544"/>
            <a:ext cx="5715000" cy="363195"/>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3" name="Rectangle 32"/>
          <p:cNvSpPr/>
          <p:nvPr/>
        </p:nvSpPr>
        <p:spPr>
          <a:xfrm>
            <a:off x="238125" y="4399039"/>
            <a:ext cx="4400550" cy="363195"/>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4" name="Rectangle 33"/>
          <p:cNvSpPr/>
          <p:nvPr/>
        </p:nvSpPr>
        <p:spPr>
          <a:xfrm>
            <a:off x="238125" y="4876535"/>
            <a:ext cx="3086100" cy="363195"/>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
            </a:r>
          </a:p>
        </p:txBody>
      </p:sp>
      <p:sp>
        <p:nvSpPr>
          <p:cNvPr id="35" name="Rounded Rectangle 34"/>
          <p:cNvSpPr/>
          <p:nvPr/>
        </p:nvSpPr>
        <p:spPr>
          <a:xfrm>
            <a:off x="6162675" y="3635794"/>
            <a:ext cx="5886450" cy="1661086"/>
          </a:xfrm>
          <a:prstGeom prst="roundRect">
            <a:avLst>
              <a:gd name="adj" fmla="val 45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7925" y="3692944"/>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7" name="Rectangle 36"/>
          <p:cNvSpPr/>
          <p:nvPr/>
        </p:nvSpPr>
        <p:spPr>
          <a:xfrm>
            <a:off x="10391775" y="3940594"/>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0607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Target</a:t>
            </a:r>
          </a:p>
        </p:txBody>
      </p:sp>
      <p:sp>
        <p:nvSpPr>
          <p:cNvPr id="39" name="Rectangle 38"/>
          <p:cNvSpPr/>
          <p:nvPr/>
        </p:nvSpPr>
        <p:spPr>
          <a:xfrm>
            <a:off x="11134725" y="3940594"/>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249025" y="3912019"/>
            <a:ext cx="571500" cy="133350"/>
          </a:xfrm>
          <a:prstGeom prst="rect">
            <a:avLst/>
          </a:prstGeom>
          <a:noFill/>
        </p:spPr>
        <p:txBody>
          <a:bodyPr wrap="square" lIns="28575" rIns="28575" tIns="9525" bIns="9525">
            <a:spAutoFit/>
          </a:bodyPr>
          <a:lstStyle/>
          <a:p>
            <a:pPr algn="l"/>
            <a:r>
              <a:rPr sz="1100" b="0">
                <a:solidFill>
                  <a:srgbClr val="2E2E2E"/>
                </a:solidFill>
                <a:latin typeface="Calibri"/>
              </a:rPr>
              <a:t>Actual</a:t>
            </a:r>
          </a:p>
        </p:txBody>
      </p:sp>
      <p:sp>
        <p:nvSpPr>
          <p:cNvPr id="41" name="TextBox 40"/>
          <p:cNvSpPr txBox="1"/>
          <p:nvPr/>
        </p:nvSpPr>
        <p:spPr>
          <a:xfrm>
            <a:off x="6276975" y="4153941"/>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Conversion (%)</a:t>
            </a:r>
          </a:p>
        </p:txBody>
      </p:sp>
      <p:sp>
        <p:nvSpPr>
          <p:cNvPr id="42" name="Rectangle 41"/>
          <p:cNvSpPr/>
          <p:nvPr/>
        </p:nvSpPr>
        <p:spPr>
          <a:xfrm>
            <a:off x="7381875" y="4164998"/>
            <a:ext cx="1597914"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81875" y="4277766"/>
            <a:ext cx="301828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6975" y="4466337"/>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Sales Cycle (Days)</a:t>
            </a:r>
          </a:p>
        </p:txBody>
      </p:sp>
      <p:sp>
        <p:nvSpPr>
          <p:cNvPr id="45" name="Rectangle 44"/>
          <p:cNvSpPr/>
          <p:nvPr/>
        </p:nvSpPr>
        <p:spPr>
          <a:xfrm>
            <a:off x="7381875" y="4477393"/>
            <a:ext cx="3817239"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381875" y="4590162"/>
            <a:ext cx="2219325"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76975" y="4778732"/>
            <a:ext cx="1066800" cy="228600"/>
          </a:xfrm>
          <a:prstGeom prst="rect">
            <a:avLst/>
          </a:prstGeom>
          <a:noFill/>
        </p:spPr>
        <p:txBody>
          <a:bodyPr wrap="square" lIns="28575" rIns="28575" tIns="9525" bIns="9525" anchor="ctr">
            <a:spAutoFit/>
          </a:bodyPr>
          <a:lstStyle/>
          <a:p>
            <a:pPr algn="l"/>
            <a:r>
              <a:rPr sz="1100" b="0">
                <a:solidFill>
                  <a:srgbClr val="2E2E2E"/>
                </a:solidFill>
                <a:latin typeface="Calibri"/>
              </a:rPr>
              <a:t>Pipeline Coverage</a:t>
            </a:r>
          </a:p>
        </p:txBody>
      </p:sp>
      <p:sp>
        <p:nvSpPr>
          <p:cNvPr id="48" name="Rectangle 47"/>
          <p:cNvSpPr/>
          <p:nvPr/>
        </p:nvSpPr>
        <p:spPr>
          <a:xfrm>
            <a:off x="7381875" y="4789789"/>
            <a:ext cx="2130552" cy="93719"/>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81875" y="4902557"/>
            <a:ext cx="3906012" cy="93719"/>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42875" y="5369895"/>
            <a:ext cx="11906250" cy="1259505"/>
          </a:xfrm>
          <a:prstGeom prst="roundRect">
            <a:avLst>
              <a:gd name="adj" fmla="val 60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6225" y="5455620"/>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2" name="Rectangle 51"/>
          <p:cNvSpPr/>
          <p:nvPr/>
        </p:nvSpPr>
        <p:spPr>
          <a:xfrm>
            <a:off x="276225" y="569374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5779470"/>
            <a:ext cx="11639550" cy="773730"/>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00" b="0">
                <a:solidFill>
                  <a:srgbClr val="2E2E2E"/>
                </a:solidFill>
                <a:latin typeface="Calibri"/>
              </a:rPr>
              <a:t/>
            </a:r>
          </a:p>
        </p:txBody>
      </p:sp>
      <p:sp>
        <p:nvSpPr>
          <p:cNvPr id="54" name="TextBox 5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55" name="Picture 54" descr="lock.png"/>
          <p:cNvPicPr>
            <a:picLocks noChangeAspect="1"/>
          </p:cNvPicPr>
          <p:nvPr/>
        </p:nvPicPr>
        <p:blipFill>
          <a:blip r:embed="rId5"/>
          <a:stretch>
            <a:fillRect/>
          </a:stretch>
        </p:blipFill>
        <p:spPr>
          <a:xfrm>
            <a:off x="3327425" y="2314517"/>
            <a:ext cx="199521" cy="290213"/>
          </a:xfrm>
          <a:prstGeom prst="rect">
            <a:avLst/>
          </a:prstGeom>
        </p:spPr>
      </p:pic>
      <p:sp>
        <p:nvSpPr>
          <p:cNvPr id="56" name="TextBox 55"/>
          <p:cNvSpPr txBox="1"/>
          <p:nvPr/>
        </p:nvSpPr>
        <p:spPr>
          <a:xfrm>
            <a:off x="352425" y="4015511"/>
            <a:ext cx="871202" cy="194310"/>
          </a:xfrm>
          <a:prstGeom prst="rect">
            <a:avLst/>
          </a:prstGeom>
          <a:noFill/>
        </p:spPr>
        <p:txBody>
          <a:bodyPr wrap="none" lIns="0" rIns="0" tIns="0" bIns="0">
            <a:spAutoFit/>
          </a:bodyPr>
          <a:lstStyle/>
          <a:p>
            <a:r>
              <a:rPr sz="1150" b="1">
                <a:solidFill>
                  <a:srgbClr val="FFFFFF"/>
                </a:solidFill>
                <a:latin typeface="Calibri"/>
              </a:rPr>
              <a:t>TAM · 100% ·</a:t>
            </a:r>
          </a:p>
        </p:txBody>
      </p:sp>
      <p:pic>
        <p:nvPicPr>
          <p:cNvPr id="57" name="Picture 56" descr="lock.png"/>
          <p:cNvPicPr>
            <a:picLocks noChangeAspect="1"/>
          </p:cNvPicPr>
          <p:nvPr/>
        </p:nvPicPr>
        <p:blipFill>
          <a:blip r:embed="rId5"/>
          <a:stretch>
            <a:fillRect/>
          </a:stretch>
        </p:blipFill>
        <p:spPr>
          <a:xfrm>
            <a:off x="1172781" y="4005288"/>
            <a:ext cx="134549" cy="195707"/>
          </a:xfrm>
          <a:prstGeom prst="rect">
            <a:avLst/>
          </a:prstGeom>
        </p:spPr>
      </p:pic>
      <p:sp>
        <p:nvSpPr>
          <p:cNvPr id="58" name="TextBox 57"/>
          <p:cNvSpPr txBox="1"/>
          <p:nvPr/>
        </p:nvSpPr>
        <p:spPr>
          <a:xfrm>
            <a:off x="1347890" y="4015511"/>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59" name="TextBox 58"/>
          <p:cNvSpPr txBox="1"/>
          <p:nvPr/>
        </p:nvSpPr>
        <p:spPr>
          <a:xfrm>
            <a:off x="352425" y="4493006"/>
            <a:ext cx="433623" cy="194310"/>
          </a:xfrm>
          <a:prstGeom prst="rect">
            <a:avLst/>
          </a:prstGeom>
          <a:noFill/>
        </p:spPr>
        <p:txBody>
          <a:bodyPr wrap="none" lIns="0" rIns="0" tIns="0" bIns="0">
            <a:spAutoFit/>
          </a:bodyPr>
          <a:lstStyle/>
          <a:p>
            <a:r>
              <a:rPr sz="1150" b="1">
                <a:solidFill>
                  <a:srgbClr val="FFFFFF"/>
                </a:solidFill>
                <a:latin typeface="Calibri"/>
              </a:rPr>
              <a:t>SAM ·</a:t>
            </a:r>
          </a:p>
        </p:txBody>
      </p:sp>
      <p:pic>
        <p:nvPicPr>
          <p:cNvPr id="60" name="Picture 59" descr="lock.png"/>
          <p:cNvPicPr>
            <a:picLocks noChangeAspect="1"/>
          </p:cNvPicPr>
          <p:nvPr/>
        </p:nvPicPr>
        <p:blipFill>
          <a:blip r:embed="rId5"/>
          <a:stretch>
            <a:fillRect/>
          </a:stretch>
        </p:blipFill>
        <p:spPr>
          <a:xfrm>
            <a:off x="735202" y="4482783"/>
            <a:ext cx="134549" cy="195707"/>
          </a:xfrm>
          <a:prstGeom prst="rect">
            <a:avLst/>
          </a:prstGeom>
        </p:spPr>
      </p:pic>
      <p:sp>
        <p:nvSpPr>
          <p:cNvPr id="61" name="TextBox 60"/>
          <p:cNvSpPr txBox="1"/>
          <p:nvPr/>
        </p:nvSpPr>
        <p:spPr>
          <a:xfrm>
            <a:off x="910311" y="4493006"/>
            <a:ext cx="594791" cy="194310"/>
          </a:xfrm>
          <a:prstGeom prst="rect">
            <a:avLst/>
          </a:prstGeom>
          <a:noFill/>
        </p:spPr>
        <p:txBody>
          <a:bodyPr wrap="none" lIns="0" rIns="0" tIns="0" bIns="0">
            <a:spAutoFit/>
          </a:bodyPr>
          <a:lstStyle/>
          <a:p>
            <a:r>
              <a:rPr sz="1150" b="1">
                <a:solidFill>
                  <a:srgbClr val="FFFFFF"/>
                </a:solidFill>
                <a:latin typeface="Calibri"/>
              </a:rPr>
              <a:t>of TAM ·</a:t>
            </a:r>
          </a:p>
        </p:txBody>
      </p:sp>
      <p:pic>
        <p:nvPicPr>
          <p:cNvPr id="62" name="Picture 61" descr="lock.png"/>
          <p:cNvPicPr>
            <a:picLocks noChangeAspect="1"/>
          </p:cNvPicPr>
          <p:nvPr/>
        </p:nvPicPr>
        <p:blipFill>
          <a:blip r:embed="rId5"/>
          <a:stretch>
            <a:fillRect/>
          </a:stretch>
        </p:blipFill>
        <p:spPr>
          <a:xfrm>
            <a:off x="1454256" y="4482783"/>
            <a:ext cx="134549" cy="195707"/>
          </a:xfrm>
          <a:prstGeom prst="rect">
            <a:avLst/>
          </a:prstGeom>
        </p:spPr>
      </p:pic>
      <p:sp>
        <p:nvSpPr>
          <p:cNvPr id="63" name="TextBox 62"/>
          <p:cNvSpPr txBox="1"/>
          <p:nvPr/>
        </p:nvSpPr>
        <p:spPr>
          <a:xfrm>
            <a:off x="1629366" y="4493006"/>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4" name="TextBox 63"/>
          <p:cNvSpPr txBox="1"/>
          <p:nvPr/>
        </p:nvSpPr>
        <p:spPr>
          <a:xfrm>
            <a:off x="352425" y="4970502"/>
            <a:ext cx="443892" cy="194310"/>
          </a:xfrm>
          <a:prstGeom prst="rect">
            <a:avLst/>
          </a:prstGeom>
          <a:noFill/>
        </p:spPr>
        <p:txBody>
          <a:bodyPr wrap="none" lIns="0" rIns="0" tIns="0" bIns="0">
            <a:spAutoFit/>
          </a:bodyPr>
          <a:lstStyle/>
          <a:p>
            <a:r>
              <a:rPr sz="1150" b="1">
                <a:solidFill>
                  <a:srgbClr val="FFFFFF"/>
                </a:solidFill>
                <a:latin typeface="Calibri"/>
              </a:rPr>
              <a:t>SOM ·</a:t>
            </a:r>
          </a:p>
        </p:txBody>
      </p:sp>
      <p:pic>
        <p:nvPicPr>
          <p:cNvPr id="65" name="Picture 64" descr="lock.png"/>
          <p:cNvPicPr>
            <a:picLocks noChangeAspect="1"/>
          </p:cNvPicPr>
          <p:nvPr/>
        </p:nvPicPr>
        <p:blipFill>
          <a:blip r:embed="rId5"/>
          <a:stretch>
            <a:fillRect/>
          </a:stretch>
        </p:blipFill>
        <p:spPr>
          <a:xfrm>
            <a:off x="745471" y="4960279"/>
            <a:ext cx="134549" cy="195707"/>
          </a:xfrm>
          <a:prstGeom prst="rect">
            <a:avLst/>
          </a:prstGeom>
        </p:spPr>
      </p:pic>
      <p:sp>
        <p:nvSpPr>
          <p:cNvPr id="66" name="TextBox 65"/>
          <p:cNvSpPr txBox="1"/>
          <p:nvPr/>
        </p:nvSpPr>
        <p:spPr>
          <a:xfrm>
            <a:off x="920580" y="4970502"/>
            <a:ext cx="591368" cy="194310"/>
          </a:xfrm>
          <a:prstGeom prst="rect">
            <a:avLst/>
          </a:prstGeom>
          <a:noFill/>
        </p:spPr>
        <p:txBody>
          <a:bodyPr wrap="none" lIns="0" rIns="0" tIns="0" bIns="0">
            <a:spAutoFit/>
          </a:bodyPr>
          <a:lstStyle/>
          <a:p>
            <a:r>
              <a:rPr sz="1150" b="1">
                <a:solidFill>
                  <a:srgbClr val="FFFFFF"/>
                </a:solidFill>
                <a:latin typeface="Calibri"/>
              </a:rPr>
              <a:t>of SAM ·</a:t>
            </a:r>
          </a:p>
        </p:txBody>
      </p:sp>
      <p:pic>
        <p:nvPicPr>
          <p:cNvPr id="67" name="Picture 66" descr="lock.png"/>
          <p:cNvPicPr>
            <a:picLocks noChangeAspect="1"/>
          </p:cNvPicPr>
          <p:nvPr/>
        </p:nvPicPr>
        <p:blipFill>
          <a:blip r:embed="rId5"/>
          <a:stretch>
            <a:fillRect/>
          </a:stretch>
        </p:blipFill>
        <p:spPr>
          <a:xfrm>
            <a:off x="1461102" y="4960279"/>
            <a:ext cx="134549" cy="195707"/>
          </a:xfrm>
          <a:prstGeom prst="rect">
            <a:avLst/>
          </a:prstGeom>
        </p:spPr>
      </p:pic>
      <p:sp>
        <p:nvSpPr>
          <p:cNvPr id="68" name="TextBox 67"/>
          <p:cNvSpPr txBox="1"/>
          <p:nvPr/>
        </p:nvSpPr>
        <p:spPr>
          <a:xfrm>
            <a:off x="1636212" y="4970502"/>
            <a:ext cx="554000" cy="194310"/>
          </a:xfrm>
          <a:prstGeom prst="rect">
            <a:avLst/>
          </a:prstGeom>
          <a:noFill/>
        </p:spPr>
        <p:txBody>
          <a:bodyPr wrap="none" lIns="0" rIns="0" tIns="0" bIns="0">
            <a:spAutoFit/>
          </a:bodyPr>
          <a:lstStyle/>
          <a:p>
            <a:r>
              <a:rPr sz="1150" b="1">
                <a:solidFill>
                  <a:srgbClr val="FFFFFF"/>
                </a:solidFill>
                <a:latin typeface="Calibri"/>
              </a:rPr>
              <a:t>US$ Mn</a:t>
            </a:r>
          </a:p>
        </p:txBody>
      </p:sp>
      <p:sp>
        <p:nvSpPr>
          <p:cNvPr id="69" name="TextBox 68"/>
          <p:cNvSpPr txBox="1"/>
          <p:nvPr/>
        </p:nvSpPr>
        <p:spPr>
          <a:xfrm>
            <a:off x="276225" y="5788995"/>
            <a:ext cx="7663656" cy="186689"/>
          </a:xfrm>
          <a:prstGeom prst="rect">
            <a:avLst/>
          </a:prstGeom>
          <a:noFill/>
        </p:spPr>
        <p:txBody>
          <a:bodyPr wrap="none" lIns="0" rIns="0" tIns="0" bIns="0">
            <a:spAutoFit/>
          </a:bodyPr>
          <a:lstStyle/>
          <a:p>
            <a:r>
              <a:rPr sz="1100" b="0">
                <a:solidFill>
                  <a:srgbClr val="2E2E2E"/>
                </a:solidFill>
                <a:latin typeface="Calibri"/>
              </a:rPr>
              <a:t>▪ Regional Opportunity: 'Rest of the World' shows the highest SAM penetration; lower-penetration regions are the growth headroom.</a:t>
            </a:r>
          </a:p>
        </p:txBody>
      </p:sp>
      <p:sp>
        <p:nvSpPr>
          <p:cNvPr id="70" name="TextBox 69"/>
          <p:cNvSpPr txBox="1"/>
          <p:nvPr/>
        </p:nvSpPr>
        <p:spPr>
          <a:xfrm>
            <a:off x="276225" y="6006927"/>
            <a:ext cx="1297999" cy="186689"/>
          </a:xfrm>
          <a:prstGeom prst="rect">
            <a:avLst/>
          </a:prstGeom>
          <a:noFill/>
        </p:spPr>
        <p:txBody>
          <a:bodyPr wrap="none" lIns="0" rIns="0" tIns="0" bIns="0">
            <a:spAutoFit/>
          </a:bodyPr>
          <a:lstStyle/>
          <a:p>
            <a:r>
              <a:rPr sz="1100" b="0">
                <a:solidFill>
                  <a:srgbClr val="2E2E2E"/>
                </a:solidFill>
                <a:latin typeface="Calibri"/>
              </a:rPr>
              <a:t>▪ Competitive Edge: ~</a:t>
            </a:r>
          </a:p>
        </p:txBody>
      </p:sp>
      <p:pic>
        <p:nvPicPr>
          <p:cNvPr id="71" name="Picture 70" descr="lock.png"/>
          <p:cNvPicPr>
            <a:picLocks noChangeAspect="1"/>
          </p:cNvPicPr>
          <p:nvPr/>
        </p:nvPicPr>
        <p:blipFill>
          <a:blip r:embed="rId5"/>
          <a:stretch>
            <a:fillRect/>
          </a:stretch>
        </p:blipFill>
        <p:spPr>
          <a:xfrm>
            <a:off x="1522276" y="5997147"/>
            <a:ext cx="128699" cy="187198"/>
          </a:xfrm>
          <a:prstGeom prst="rect">
            <a:avLst/>
          </a:prstGeom>
        </p:spPr>
      </p:pic>
      <p:sp>
        <p:nvSpPr>
          <p:cNvPr id="72" name="TextBox 71"/>
          <p:cNvSpPr txBox="1"/>
          <p:nvPr/>
        </p:nvSpPr>
        <p:spPr>
          <a:xfrm>
            <a:off x="1689771" y="6006927"/>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73" name="Picture 72" descr="lock.png"/>
          <p:cNvPicPr>
            <a:picLocks noChangeAspect="1"/>
          </p:cNvPicPr>
          <p:nvPr/>
        </p:nvPicPr>
        <p:blipFill>
          <a:blip r:embed="rId5"/>
          <a:stretch>
            <a:fillRect/>
          </a:stretch>
        </p:blipFill>
        <p:spPr>
          <a:xfrm>
            <a:off x="2667093" y="5997147"/>
            <a:ext cx="128699" cy="187198"/>
          </a:xfrm>
          <a:prstGeom prst="rect">
            <a:avLst/>
          </a:prstGeom>
        </p:spPr>
      </p:pic>
      <p:sp>
        <p:nvSpPr>
          <p:cNvPr id="74" name="TextBox 73"/>
          <p:cNvSpPr txBox="1"/>
          <p:nvPr/>
        </p:nvSpPr>
        <p:spPr>
          <a:xfrm>
            <a:off x="2834589" y="6006927"/>
            <a:ext cx="2311400" cy="186689"/>
          </a:xfrm>
          <a:prstGeom prst="rect">
            <a:avLst/>
          </a:prstGeom>
          <a:noFill/>
        </p:spPr>
        <p:txBody>
          <a:bodyPr wrap="none" lIns="0" rIns="0" tIns="0" bIns="0">
            <a:spAutoFit/>
          </a:bodyPr>
          <a:lstStyle/>
          <a:p>
            <a:r>
              <a:rPr sz="1100" b="0">
                <a:solidFill>
                  <a:srgbClr val="2E2E2E"/>
                </a:solidFill>
                <a:latin typeface="Calibri"/>
              </a:rPr>
              <a:t>ASP premium signals value recognition;</a:t>
            </a:r>
          </a:p>
        </p:txBody>
      </p:sp>
      <p:pic>
        <p:nvPicPr>
          <p:cNvPr id="75" name="Picture 74" descr="lock.png"/>
          <p:cNvPicPr>
            <a:picLocks noChangeAspect="1"/>
          </p:cNvPicPr>
          <p:nvPr/>
        </p:nvPicPr>
        <p:blipFill>
          <a:blip r:embed="rId5"/>
          <a:stretch>
            <a:fillRect/>
          </a:stretch>
        </p:blipFill>
        <p:spPr>
          <a:xfrm>
            <a:off x="5094041" y="5997147"/>
            <a:ext cx="128699" cy="187198"/>
          </a:xfrm>
          <a:prstGeom prst="rect">
            <a:avLst/>
          </a:prstGeom>
        </p:spPr>
      </p:pic>
      <p:sp>
        <p:nvSpPr>
          <p:cNvPr id="76" name="TextBox 75"/>
          <p:cNvSpPr txBox="1"/>
          <p:nvPr/>
        </p:nvSpPr>
        <p:spPr>
          <a:xfrm>
            <a:off x="5261537" y="6006927"/>
            <a:ext cx="2251645" cy="186689"/>
          </a:xfrm>
          <a:prstGeom prst="rect">
            <a:avLst/>
          </a:prstGeom>
          <a:noFill/>
        </p:spPr>
        <p:txBody>
          <a:bodyPr wrap="none" lIns="0" rIns="0" tIns="0" bIns="0">
            <a:spAutoFit/>
          </a:bodyPr>
          <a:lstStyle/>
          <a:p>
            <a:r>
              <a:rPr sz="1100" b="0">
                <a:solidFill>
                  <a:srgbClr val="2E2E2E"/>
                </a:solidFill>
                <a:latin typeface="Calibri"/>
              </a:rPr>
              <a:t>x pipeline coverage underpins growth.</a:t>
            </a:r>
          </a:p>
        </p:txBody>
      </p:sp>
      <p:sp>
        <p:nvSpPr>
          <p:cNvPr id="77" name="TextBox 76"/>
          <p:cNvSpPr txBox="1"/>
          <p:nvPr/>
        </p:nvSpPr>
        <p:spPr>
          <a:xfrm>
            <a:off x="276225" y="6224859"/>
            <a:ext cx="2615015" cy="186689"/>
          </a:xfrm>
          <a:prstGeom prst="rect">
            <a:avLst/>
          </a:prstGeom>
          <a:noFill/>
        </p:spPr>
        <p:txBody>
          <a:bodyPr wrap="none" lIns="0" rIns="0" tIns="0" bIns="0">
            <a:spAutoFit/>
          </a:bodyPr>
          <a:lstStyle/>
          <a:p>
            <a:r>
              <a:rPr sz="1100" b="0">
                <a:solidFill>
                  <a:srgbClr val="2E2E2E"/>
                </a:solidFill>
                <a:latin typeface="Calibri"/>
              </a:rPr>
              <a:t>▪ Sales Efficiency: a ~95-day sales cycle and ~</a:t>
            </a:r>
          </a:p>
        </p:txBody>
      </p:sp>
      <p:pic>
        <p:nvPicPr>
          <p:cNvPr id="78" name="Picture 77" descr="lock.png"/>
          <p:cNvPicPr>
            <a:picLocks noChangeAspect="1"/>
          </p:cNvPicPr>
          <p:nvPr/>
        </p:nvPicPr>
        <p:blipFill>
          <a:blip r:embed="rId5"/>
          <a:stretch>
            <a:fillRect/>
          </a:stretch>
        </p:blipFill>
        <p:spPr>
          <a:xfrm>
            <a:off x="2839292" y="6215079"/>
            <a:ext cx="128699" cy="187198"/>
          </a:xfrm>
          <a:prstGeom prst="rect">
            <a:avLst/>
          </a:prstGeom>
        </p:spPr>
      </p:pic>
      <p:sp>
        <p:nvSpPr>
          <p:cNvPr id="79" name="TextBox 78"/>
          <p:cNvSpPr txBox="1"/>
          <p:nvPr/>
        </p:nvSpPr>
        <p:spPr>
          <a:xfrm>
            <a:off x="3006787" y="6224859"/>
            <a:ext cx="2384524" cy="186689"/>
          </a:xfrm>
          <a:prstGeom prst="rect">
            <a:avLst/>
          </a:prstGeom>
          <a:noFill/>
        </p:spPr>
        <p:txBody>
          <a:bodyPr wrap="none" lIns="0" rIns="0" tIns="0" bIns="0">
            <a:spAutoFit/>
          </a:bodyPr>
          <a:lstStyle/>
          <a:p>
            <a:r>
              <a:rPr sz="1100" b="0">
                <a:solidFill>
                  <a:srgbClr val="2E2E2E"/>
                </a:solidFill>
                <a:latin typeface="Calibri"/>
              </a:rPr>
              <a:t>conversion support faster share capture.</a:t>
            </a:r>
          </a:p>
        </p:txBody>
      </p:sp>
      <p:sp>
        <p:nvSpPr>
          <p:cNvPr id="80" name="lockshield_13"/>
          <p:cNvSpPr/>
          <p:nvPr/>
        </p:nvSpPr>
        <p:spPr>
          <a:xfrm>
            <a:off x="238125" y="1585070"/>
            <a:ext cx="5715000" cy="1920559"/>
          </a:xfrm>
          <a:prstGeom prst="rect">
            <a:avLst/>
          </a:prstGeom>
          <a:solidFill>
            <a:srgbClr val="FFFFFF">
              <a:alpha val="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TransMedics SWOT Analysis (3/5)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SWOT assessment of TransMedics: strengths, weaknesses, opportunities and threats shaping its competitive position</a:t>
            </a:r>
          </a:p>
        </p:txBody>
      </p:sp>
      <p:sp>
        <p:nvSpPr>
          <p:cNvPr id="10" name="TextBox 9"/>
          <p:cNvSpPr txBox="1"/>
          <p:nvPr/>
        </p:nvSpPr>
        <p:spPr>
          <a:xfrm>
            <a:off x="142875" y="1007261"/>
            <a:ext cx="11906250" cy="164283"/>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TransMedics: strengths, weaknesses, opportunities and threats (indicative).</a:t>
            </a:r>
          </a:p>
        </p:txBody>
      </p:sp>
      <p:cxnSp>
        <p:nvCxnSpPr>
          <p:cNvPr id="11" name="Connector 10"/>
          <p:cNvCxnSpPr/>
          <p:nvPr/>
        </p:nvCxnSpPr>
        <p:spPr>
          <a:xfrm>
            <a:off x="3810000" y="3891345"/>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6000" y="1919946"/>
            <a:ext cx="0" cy="3942799"/>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57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29612" y="38411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43612" y="1869748"/>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5812547"/>
            <a:ext cx="104775" cy="10039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24400" y="2577079"/>
            <a:ext cx="1257300" cy="1204744"/>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0300" y="2577079"/>
            <a:ext cx="1257300" cy="1204744"/>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24400" y="4000868"/>
            <a:ext cx="1257300" cy="1204744"/>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0300" y="4000868"/>
            <a:ext cx="1257300" cy="1204744"/>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5524500" y="2978660"/>
            <a:ext cx="1143000" cy="803163"/>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4000868"/>
            <a:ext cx="1143000" cy="803163"/>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3500" y="3343734"/>
            <a:ext cx="838200" cy="1095222"/>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6210300" y="3343734"/>
            <a:ext cx="838200" cy="1095222"/>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86450" y="3243339"/>
            <a:ext cx="419100" cy="273805"/>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6" name="TextBox 25"/>
          <p:cNvSpPr txBox="1"/>
          <p:nvPr/>
        </p:nvSpPr>
        <p:spPr>
          <a:xfrm>
            <a:off x="5886450" y="4265546"/>
            <a:ext cx="419100" cy="273805"/>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7" name="TextBox 26"/>
          <p:cNvSpPr txBox="1"/>
          <p:nvPr/>
        </p:nvSpPr>
        <p:spPr>
          <a:xfrm>
            <a:off x="53530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8" name="TextBox 27"/>
          <p:cNvSpPr txBox="1"/>
          <p:nvPr/>
        </p:nvSpPr>
        <p:spPr>
          <a:xfrm>
            <a:off x="6419850" y="3754443"/>
            <a:ext cx="419100" cy="273805"/>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29" name="TextBox 28"/>
          <p:cNvSpPr txBox="1"/>
          <p:nvPr/>
        </p:nvSpPr>
        <p:spPr>
          <a:xfrm>
            <a:off x="190500" y="1299320"/>
            <a:ext cx="3667125" cy="182537"/>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0" name="Rectangle 29"/>
          <p:cNvSpPr/>
          <p:nvPr/>
        </p:nvSpPr>
        <p:spPr>
          <a:xfrm>
            <a:off x="190500" y="1500111"/>
            <a:ext cx="1428750" cy="1825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04788" y="1605070"/>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3375"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3" name="Oval 32"/>
          <p:cNvSpPr/>
          <p:nvPr/>
        </p:nvSpPr>
        <p:spPr>
          <a:xfrm>
            <a:off x="204788" y="2116174"/>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3375"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Balanced SOM across regions and end-markets; strongest in 'North America'.</a:t>
            </a:r>
          </a:p>
        </p:txBody>
      </p:sp>
      <p:sp>
        <p:nvSpPr>
          <p:cNvPr id="35" name="Oval 34"/>
          <p:cNvSpPr/>
          <p:nvPr/>
        </p:nvSpPr>
        <p:spPr>
          <a:xfrm>
            <a:off x="204788" y="2627277"/>
            <a:ext cx="66675" cy="63888"/>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3375"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37" name="TextBox 36"/>
          <p:cNvSpPr txBox="1"/>
          <p:nvPr/>
        </p:nvSpPr>
        <p:spPr>
          <a:xfrm>
            <a:off x="8334375" y="1299320"/>
            <a:ext cx="3667125" cy="182537"/>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8" name="Rectangle 37"/>
          <p:cNvSpPr/>
          <p:nvPr/>
        </p:nvSpPr>
        <p:spPr>
          <a:xfrm>
            <a:off x="8334375" y="1500111"/>
            <a:ext cx="1428750" cy="18254"/>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48662" y="1605070"/>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77250" y="1573126"/>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1" name="Oval 40"/>
          <p:cNvSpPr/>
          <p:nvPr/>
        </p:nvSpPr>
        <p:spPr>
          <a:xfrm>
            <a:off x="8348662" y="2116174"/>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7250" y="2084229"/>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Uneven SAM penetration strong in 'Rest of the World', thin elsewhere.</a:t>
            </a:r>
          </a:p>
        </p:txBody>
      </p:sp>
      <p:sp>
        <p:nvSpPr>
          <p:cNvPr id="43" name="Oval 42"/>
          <p:cNvSpPr/>
          <p:nvPr/>
        </p:nvSpPr>
        <p:spPr>
          <a:xfrm>
            <a:off x="8348662" y="2627277"/>
            <a:ext cx="66675" cy="63888"/>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77250" y="2595333"/>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Reliance on a few large accounts/regions raises concentration risk.</a:t>
            </a:r>
          </a:p>
        </p:txBody>
      </p:sp>
      <p:sp>
        <p:nvSpPr>
          <p:cNvPr id="45" name="TextBox 44"/>
          <p:cNvSpPr txBox="1"/>
          <p:nvPr/>
        </p:nvSpPr>
        <p:spPr>
          <a:xfrm>
            <a:off x="190500" y="4055629"/>
            <a:ext cx="3667125" cy="182537"/>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6" name="Rectangle 45"/>
          <p:cNvSpPr/>
          <p:nvPr/>
        </p:nvSpPr>
        <p:spPr>
          <a:xfrm>
            <a:off x="190500" y="4256419"/>
            <a:ext cx="1428750" cy="18254"/>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04788" y="4361379"/>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3375"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
            </a:r>
          </a:p>
        </p:txBody>
      </p:sp>
      <p:sp>
        <p:nvSpPr>
          <p:cNvPr id="49" name="Oval 48"/>
          <p:cNvSpPr/>
          <p:nvPr/>
        </p:nvSpPr>
        <p:spPr>
          <a:xfrm>
            <a:off x="204788" y="4872482"/>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33375"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Input-cost inflation and price pressure can squeeze margin.</a:t>
            </a:r>
          </a:p>
        </p:txBody>
      </p:sp>
      <p:sp>
        <p:nvSpPr>
          <p:cNvPr id="51" name="Oval 50"/>
          <p:cNvSpPr/>
          <p:nvPr/>
        </p:nvSpPr>
        <p:spPr>
          <a:xfrm>
            <a:off x="204788" y="5383586"/>
            <a:ext cx="66675" cy="63888"/>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3375"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Tier-1 incumbents and regulation raise barriers and switching friction.</a:t>
            </a:r>
          </a:p>
        </p:txBody>
      </p:sp>
      <p:sp>
        <p:nvSpPr>
          <p:cNvPr id="53" name="TextBox 52"/>
          <p:cNvSpPr txBox="1"/>
          <p:nvPr/>
        </p:nvSpPr>
        <p:spPr>
          <a:xfrm>
            <a:off x="8334375" y="4055629"/>
            <a:ext cx="3667125" cy="182537"/>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4" name="Rectangle 53"/>
          <p:cNvSpPr/>
          <p:nvPr/>
        </p:nvSpPr>
        <p:spPr>
          <a:xfrm>
            <a:off x="8334375" y="4256419"/>
            <a:ext cx="1428750" cy="18254"/>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348662" y="4361379"/>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77250" y="4329434"/>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Premiumisation headroom in 'Portable Machine Perfusion Devices' and adjacent high-value lines.</a:t>
            </a:r>
          </a:p>
        </p:txBody>
      </p:sp>
      <p:sp>
        <p:nvSpPr>
          <p:cNvPr id="57" name="Oval 56"/>
          <p:cNvSpPr/>
          <p:nvPr/>
        </p:nvSpPr>
        <p:spPr>
          <a:xfrm>
            <a:off x="8348662" y="4872482"/>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77250" y="4840538"/>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Under-penetrated regions offer share-capture runway.</a:t>
            </a:r>
          </a:p>
        </p:txBody>
      </p:sp>
      <p:sp>
        <p:nvSpPr>
          <p:cNvPr id="59" name="Oval 58"/>
          <p:cNvSpPr/>
          <p:nvPr/>
        </p:nvSpPr>
        <p:spPr>
          <a:xfrm>
            <a:off x="8348662" y="5383586"/>
            <a:ext cx="66675" cy="63888"/>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77250" y="5351641"/>
            <a:ext cx="3505200" cy="474596"/>
          </a:xfrm>
          <a:prstGeom prst="rect">
            <a:avLst/>
          </a:prstGeom>
          <a:noFill/>
        </p:spPr>
        <p:txBody>
          <a:bodyPr wrap="square" lIns="28575" rIns="28575" tIns="9525" bIns="9525" anchor="ctr">
            <a:spAutoFit/>
          </a:bodyPr>
          <a:lstStyle/>
          <a:p>
            <a:pPr algn="l">
              <a:lnSpc>
                <a:spcPct val="115000"/>
              </a:lnSpc>
            </a:pPr>
            <a:r>
              <a:rPr sz="1100" b="0">
                <a:solidFill>
                  <a:srgbClr val="2E2E2E"/>
                </a:solidFill>
                <a:latin typeface="Calibri"/>
              </a:rPr>
              <a:t>Channel shift to online and clinics opens new demand pools.</a:t>
            </a:r>
          </a:p>
        </p:txBody>
      </p:sp>
      <p:sp>
        <p:nvSpPr>
          <p:cNvPr id="61" name="TextBox 60"/>
          <p:cNvSpPr txBox="1"/>
          <p:nvPr/>
        </p:nvSpPr>
        <p:spPr>
          <a:xfrm>
            <a:off x="2857500" y="6428609"/>
            <a:ext cx="9191625" cy="182537"/>
          </a:xfrm>
          <a:prstGeom prst="rect">
            <a:avLst/>
          </a:prstGeom>
          <a:noFill/>
        </p:spPr>
        <p:txBody>
          <a:bodyPr wrap="square" lIns="28575" rIns="28575" tIns="9525" bIns="9525" anchor="ctr">
            <a:spAutoFit/>
          </a:bodyPr>
          <a:lstStyle/>
          <a:p>
            <a:pPr algn="l"/>
            <a:r>
              <a:rPr sz="1100" b="0">
                <a:solidFill>
                  <a:srgbClr val="C0392B"/>
                </a:solidFill>
                <a:latin typeface="Calibri"/>
              </a:rPr>
              <a:t>Note: competitor figures are indicative derived from market modelling and expert validation, not company disclosures.</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63" name="TextBox 62"/>
          <p:cNvSpPr txBox="1"/>
          <p:nvPr/>
        </p:nvSpPr>
        <p:spPr>
          <a:xfrm>
            <a:off x="361950" y="1642784"/>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64" name="Picture 63" descr="lock.png"/>
          <p:cNvPicPr>
            <a:picLocks noChangeAspect="1"/>
          </p:cNvPicPr>
          <p:nvPr/>
        </p:nvPicPr>
        <p:blipFill>
          <a:blip r:embed="rId4"/>
          <a:stretch>
            <a:fillRect/>
          </a:stretch>
        </p:blipFill>
        <p:spPr>
          <a:xfrm>
            <a:off x="455778" y="1633005"/>
            <a:ext cx="128699" cy="187198"/>
          </a:xfrm>
          <a:prstGeom prst="rect">
            <a:avLst/>
          </a:prstGeom>
        </p:spPr>
      </p:pic>
      <p:sp>
        <p:nvSpPr>
          <p:cNvPr id="65" name="TextBox 64"/>
          <p:cNvSpPr txBox="1"/>
          <p:nvPr/>
        </p:nvSpPr>
        <p:spPr>
          <a:xfrm>
            <a:off x="623274" y="1642784"/>
            <a:ext cx="1029270" cy="186689"/>
          </a:xfrm>
          <a:prstGeom prst="rect">
            <a:avLst/>
          </a:prstGeom>
          <a:noFill/>
        </p:spPr>
        <p:txBody>
          <a:bodyPr wrap="none" lIns="0" rIns="0" tIns="0" bIns="0">
            <a:spAutoFit/>
          </a:bodyPr>
          <a:lstStyle/>
          <a:p>
            <a:r>
              <a:rPr sz="1100" b="0">
                <a:solidFill>
                  <a:srgbClr val="2E2E2E"/>
                </a:solidFill>
                <a:latin typeface="Calibri"/>
              </a:rPr>
              <a:t>win rate with a +</a:t>
            </a:r>
          </a:p>
        </p:txBody>
      </p:sp>
      <p:pic>
        <p:nvPicPr>
          <p:cNvPr id="66" name="Picture 65" descr="lock.png"/>
          <p:cNvPicPr>
            <a:picLocks noChangeAspect="1"/>
          </p:cNvPicPr>
          <p:nvPr/>
        </p:nvPicPr>
        <p:blipFill>
          <a:blip r:embed="rId4"/>
          <a:stretch>
            <a:fillRect/>
          </a:stretch>
        </p:blipFill>
        <p:spPr>
          <a:xfrm>
            <a:off x="1600596" y="1633005"/>
            <a:ext cx="128699" cy="187198"/>
          </a:xfrm>
          <a:prstGeom prst="rect">
            <a:avLst/>
          </a:prstGeom>
        </p:spPr>
      </p:pic>
      <p:sp>
        <p:nvSpPr>
          <p:cNvPr id="67" name="TextBox 66"/>
          <p:cNvSpPr txBox="1"/>
          <p:nvPr/>
        </p:nvSpPr>
        <p:spPr>
          <a:xfrm>
            <a:off x="1768092" y="1642784"/>
            <a:ext cx="1490662" cy="186689"/>
          </a:xfrm>
          <a:prstGeom prst="rect">
            <a:avLst/>
          </a:prstGeom>
          <a:noFill/>
        </p:spPr>
        <p:txBody>
          <a:bodyPr wrap="none" lIns="0" rIns="0" tIns="0" bIns="0">
            <a:spAutoFit/>
          </a:bodyPr>
          <a:lstStyle/>
          <a:p>
            <a:r>
              <a:rPr sz="1100" b="0">
                <a:solidFill>
                  <a:srgbClr val="2E2E2E"/>
                </a:solidFill>
                <a:latin typeface="Calibri"/>
              </a:rPr>
              <a:t>ASP premium clear value</a:t>
            </a:r>
          </a:p>
        </p:txBody>
      </p:sp>
      <p:sp>
        <p:nvSpPr>
          <p:cNvPr id="68" name="TextBox 67"/>
          <p:cNvSpPr txBox="1"/>
          <p:nvPr/>
        </p:nvSpPr>
        <p:spPr>
          <a:xfrm>
            <a:off x="361950" y="1810424"/>
            <a:ext cx="760238" cy="186689"/>
          </a:xfrm>
          <a:prstGeom prst="rect">
            <a:avLst/>
          </a:prstGeom>
          <a:noFill/>
        </p:spPr>
        <p:txBody>
          <a:bodyPr wrap="none" lIns="0" rIns="0" tIns="0" bIns="0">
            <a:spAutoFit/>
          </a:bodyPr>
          <a:lstStyle/>
          <a:p>
            <a:r>
              <a:rPr sz="1100" b="0">
                <a:solidFill>
                  <a:srgbClr val="2E2E2E"/>
                </a:solidFill>
                <a:latin typeface="Calibri"/>
              </a:rPr>
              <a:t>recognition.</a:t>
            </a:r>
          </a:p>
        </p:txBody>
      </p:sp>
      <p:pic>
        <p:nvPicPr>
          <p:cNvPr id="69" name="Picture 68" descr="lock.png"/>
          <p:cNvPicPr>
            <a:picLocks noChangeAspect="1"/>
          </p:cNvPicPr>
          <p:nvPr/>
        </p:nvPicPr>
        <p:blipFill>
          <a:blip r:embed="rId4"/>
          <a:stretch>
            <a:fillRect/>
          </a:stretch>
        </p:blipFill>
        <p:spPr>
          <a:xfrm>
            <a:off x="348482" y="2655212"/>
            <a:ext cx="128699" cy="187198"/>
          </a:xfrm>
          <a:prstGeom prst="rect">
            <a:avLst/>
          </a:prstGeom>
        </p:spPr>
      </p:pic>
      <p:sp>
        <p:nvSpPr>
          <p:cNvPr id="70" name="TextBox 69"/>
          <p:cNvSpPr txBox="1"/>
          <p:nvPr/>
        </p:nvSpPr>
        <p:spPr>
          <a:xfrm>
            <a:off x="515978" y="2664991"/>
            <a:ext cx="1083295" cy="186689"/>
          </a:xfrm>
          <a:prstGeom prst="rect">
            <a:avLst/>
          </a:prstGeom>
          <a:noFill/>
        </p:spPr>
        <p:txBody>
          <a:bodyPr wrap="none" lIns="0" rIns="0" tIns="0" bIns="0">
            <a:spAutoFit/>
          </a:bodyPr>
          <a:lstStyle/>
          <a:p>
            <a:r>
              <a:rPr sz="1100" b="0">
                <a:solidFill>
                  <a:srgbClr val="2E2E2E"/>
                </a:solidFill>
                <a:latin typeface="Calibri"/>
              </a:rPr>
              <a:t>book-to-bill and ~</a:t>
            </a:r>
          </a:p>
        </p:txBody>
      </p:sp>
      <p:pic>
        <p:nvPicPr>
          <p:cNvPr id="71" name="Picture 70" descr="lock.png"/>
          <p:cNvPicPr>
            <a:picLocks noChangeAspect="1"/>
          </p:cNvPicPr>
          <p:nvPr/>
        </p:nvPicPr>
        <p:blipFill>
          <a:blip r:embed="rId4"/>
          <a:stretch>
            <a:fillRect/>
          </a:stretch>
        </p:blipFill>
        <p:spPr>
          <a:xfrm>
            <a:off x="1547325" y="2655212"/>
            <a:ext cx="128699" cy="187198"/>
          </a:xfrm>
          <a:prstGeom prst="rect">
            <a:avLst/>
          </a:prstGeom>
        </p:spPr>
      </p:pic>
      <p:sp>
        <p:nvSpPr>
          <p:cNvPr id="72" name="TextBox 71"/>
          <p:cNvSpPr txBox="1"/>
          <p:nvPr/>
        </p:nvSpPr>
        <p:spPr>
          <a:xfrm>
            <a:off x="1714820" y="2664991"/>
            <a:ext cx="1304547" cy="186689"/>
          </a:xfrm>
          <a:prstGeom prst="rect">
            <a:avLst/>
          </a:prstGeom>
          <a:noFill/>
        </p:spPr>
        <p:txBody>
          <a:bodyPr wrap="none" lIns="0" rIns="0" tIns="0" bIns="0">
            <a:spAutoFit/>
          </a:bodyPr>
          <a:lstStyle/>
          <a:p>
            <a:r>
              <a:rPr sz="1100" b="0">
                <a:solidFill>
                  <a:srgbClr val="2E2E2E"/>
                </a:solidFill>
                <a:latin typeface="Calibri"/>
              </a:rPr>
              <a:t>EBITDA signal healthy</a:t>
            </a:r>
          </a:p>
        </p:txBody>
      </p:sp>
      <p:sp>
        <p:nvSpPr>
          <p:cNvPr id="73" name="TextBox 72"/>
          <p:cNvSpPr txBox="1"/>
          <p:nvPr/>
        </p:nvSpPr>
        <p:spPr>
          <a:xfrm>
            <a:off x="361950" y="2832631"/>
            <a:ext cx="783158" cy="186689"/>
          </a:xfrm>
          <a:prstGeom prst="rect">
            <a:avLst/>
          </a:prstGeom>
          <a:noFill/>
        </p:spPr>
        <p:txBody>
          <a:bodyPr wrap="none" lIns="0" rIns="0" tIns="0" bIns="0">
            <a:spAutoFit/>
          </a:bodyPr>
          <a:lstStyle/>
          <a:p>
            <a:r>
              <a:rPr sz="1100" b="0">
                <a:solidFill>
                  <a:srgbClr val="2E2E2E"/>
                </a:solidFill>
                <a:latin typeface="Calibri"/>
              </a:rPr>
              <a:t>momentum.</a:t>
            </a:r>
          </a:p>
        </p:txBody>
      </p:sp>
      <p:sp>
        <p:nvSpPr>
          <p:cNvPr id="74" name="TextBox 73"/>
          <p:cNvSpPr txBox="1"/>
          <p:nvPr/>
        </p:nvSpPr>
        <p:spPr>
          <a:xfrm>
            <a:off x="8505825" y="1726603"/>
            <a:ext cx="145777" cy="186689"/>
          </a:xfrm>
          <a:prstGeom prst="rect">
            <a:avLst/>
          </a:prstGeom>
          <a:noFill/>
        </p:spPr>
        <p:txBody>
          <a:bodyPr wrap="none" lIns="0" rIns="0" tIns="0" bIns="0">
            <a:spAutoFit/>
          </a:bodyPr>
          <a:lstStyle/>
          <a:p>
            <a:r>
              <a:rPr sz="1100" b="0">
                <a:solidFill>
                  <a:srgbClr val="2E2E2E"/>
                </a:solidFill>
                <a:latin typeface="Calibri"/>
              </a:rPr>
              <a:t>~</a:t>
            </a:r>
          </a:p>
        </p:txBody>
      </p:sp>
      <p:pic>
        <p:nvPicPr>
          <p:cNvPr id="75" name="Picture 74" descr="lock.png"/>
          <p:cNvPicPr>
            <a:picLocks noChangeAspect="1"/>
          </p:cNvPicPr>
          <p:nvPr/>
        </p:nvPicPr>
        <p:blipFill>
          <a:blip r:embed="rId4"/>
          <a:stretch>
            <a:fillRect/>
          </a:stretch>
        </p:blipFill>
        <p:spPr>
          <a:xfrm>
            <a:off x="8599653" y="1716825"/>
            <a:ext cx="128699" cy="187198"/>
          </a:xfrm>
          <a:prstGeom prst="rect">
            <a:avLst/>
          </a:prstGeom>
        </p:spPr>
      </p:pic>
      <p:sp>
        <p:nvSpPr>
          <p:cNvPr id="76" name="TextBox 75"/>
          <p:cNvSpPr txBox="1"/>
          <p:nvPr/>
        </p:nvSpPr>
        <p:spPr>
          <a:xfrm>
            <a:off x="8767149" y="1726603"/>
            <a:ext cx="2910582" cy="186689"/>
          </a:xfrm>
          <a:prstGeom prst="rect">
            <a:avLst/>
          </a:prstGeom>
          <a:noFill/>
        </p:spPr>
        <p:txBody>
          <a:bodyPr wrap="none" lIns="0" rIns="0" tIns="0" bIns="0">
            <a:spAutoFit/>
          </a:bodyPr>
          <a:lstStyle/>
          <a:p>
            <a:r>
              <a:rPr sz="1100" b="0">
                <a:solidFill>
                  <a:srgbClr val="2E2E2E"/>
                </a:solidFill>
                <a:latin typeface="Calibri"/>
              </a:rPr>
              <a:t>share leaves a scale gap versus the market leader.</a:t>
            </a:r>
          </a:p>
        </p:txBody>
      </p:sp>
      <p:sp>
        <p:nvSpPr>
          <p:cNvPr id="77" name="TextBox 76"/>
          <p:cNvSpPr txBox="1"/>
          <p:nvPr/>
        </p:nvSpPr>
        <p:spPr>
          <a:xfrm>
            <a:off x="361950" y="4482912"/>
            <a:ext cx="1324495" cy="186689"/>
          </a:xfrm>
          <a:prstGeom prst="rect">
            <a:avLst/>
          </a:prstGeom>
          <a:noFill/>
        </p:spPr>
        <p:txBody>
          <a:bodyPr wrap="none" lIns="0" rIns="0" tIns="0" bIns="0">
            <a:spAutoFit/>
          </a:bodyPr>
          <a:lstStyle/>
          <a:p>
            <a:r>
              <a:rPr sz="1100" b="0">
                <a:solidFill>
                  <a:srgbClr val="2E2E2E"/>
                </a:solidFill>
                <a:latin typeface="Calibri"/>
              </a:rPr>
              <a:t>Intense competition ~</a:t>
            </a:r>
          </a:p>
        </p:txBody>
      </p:sp>
      <p:pic>
        <p:nvPicPr>
          <p:cNvPr id="78" name="Picture 77" descr="lock.png"/>
          <p:cNvPicPr>
            <a:picLocks noChangeAspect="1"/>
          </p:cNvPicPr>
          <p:nvPr/>
        </p:nvPicPr>
        <p:blipFill>
          <a:blip r:embed="rId4"/>
          <a:stretch>
            <a:fillRect/>
          </a:stretch>
        </p:blipFill>
        <p:spPr>
          <a:xfrm>
            <a:off x="1634497" y="4473133"/>
            <a:ext cx="128699" cy="187198"/>
          </a:xfrm>
          <a:prstGeom prst="rect">
            <a:avLst/>
          </a:prstGeom>
        </p:spPr>
      </p:pic>
      <p:sp>
        <p:nvSpPr>
          <p:cNvPr id="79" name="TextBox 78"/>
          <p:cNvSpPr txBox="1"/>
          <p:nvPr/>
        </p:nvSpPr>
        <p:spPr>
          <a:xfrm>
            <a:off x="1801993" y="4482912"/>
            <a:ext cx="1738684" cy="186689"/>
          </a:xfrm>
          <a:prstGeom prst="rect">
            <a:avLst/>
          </a:prstGeom>
          <a:noFill/>
        </p:spPr>
        <p:txBody>
          <a:bodyPr wrap="none" lIns="0" rIns="0" tIns="0" bIns="0">
            <a:spAutoFit/>
          </a:bodyPr>
          <a:lstStyle/>
          <a:p>
            <a:r>
              <a:rPr sz="1100" b="0">
                <a:solidFill>
                  <a:srgbClr val="2E2E2E"/>
                </a:solidFill>
                <a:latin typeface="Calibri"/>
              </a:rPr>
              <a:t>x pipeline needed to convert.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TransMedics Key Financials (4/5)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TransMedics's financial performance, key ratios and pricing, highlighting margin and momentum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Key financials and pricing TransMedics (all figures indicative, USD Mn unless noted).</a:t>
            </a:r>
          </a:p>
        </p:txBody>
      </p:sp>
      <p:sp>
        <p:nvSpPr>
          <p:cNvPr id="11" name="Rounded Rectangle 10"/>
          <p:cNvSpPr/>
          <p:nvPr/>
        </p:nvSpPr>
        <p:spPr>
          <a:xfrm>
            <a:off x="142875" y="1354081"/>
            <a:ext cx="5905500" cy="1916638"/>
          </a:xfrm>
          <a:prstGeom prst="roundRect">
            <a:avLst>
              <a:gd name="adj" fmla="val 397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1411231"/>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TransMedics Financial Performance</a:t>
            </a:r>
          </a:p>
        </p:txBody>
      </p:sp>
      <p:graphicFrame>
        <p:nvGraphicFramePr>
          <p:cNvPr id="13" name="Table 12"/>
          <p:cNvGraphicFramePr>
            <a:graphicFrameLocks noGrp="1"/>
          </p:cNvGraphicFramePr>
          <p:nvPr/>
        </p:nvGraphicFramePr>
        <p:xfrm>
          <a:off x="152400" y="1611256"/>
          <a:ext cx="5886449" cy="1449914"/>
        </p:xfrm>
        <a:graphic>
          <a:graphicData uri="http://schemas.openxmlformats.org/drawingml/2006/table">
            <a:tbl>
              <a:tblPr>
                <a:tableStyleId>{5C22544A-7EE6-4342-B048-85BDC9FD1C3A}</a:tableStyleId>
              </a:tblPr>
              <a:tblGrid>
                <a:gridCol w="2446649"/>
                <a:gridCol w="687960"/>
                <a:gridCol w="687960"/>
                <a:gridCol w="687960"/>
                <a:gridCol w="687960"/>
                <a:gridCol w="687960"/>
              </a:tblGrid>
              <a:tr h="246126">
                <a:tc>
                  <a:txBody>
                    <a:bodyPr wrap="none"/>
                    <a:lstStyle/>
                    <a:p>
                      <a:pPr algn="l"/>
                      <a:r>
                        <a:rPr sz="1100" b="1">
                          <a:solidFill>
                            <a:srgbClr val="0B2E4A"/>
                          </a:solidFill>
                          <a:latin typeface="Calibri"/>
                        </a:rPr>
                        <a:t>USD Mn</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300947">
                <a:tc>
                  <a:txBody>
                    <a:bodyPr wrap="none"/>
                    <a:lstStyle/>
                    <a:p>
                      <a:pPr algn="l"/>
                      <a:r>
                        <a:rPr sz="1100" b="1">
                          <a:solidFill>
                            <a:srgbClr val="2E2E2E"/>
                          </a:solidFill>
                          <a:latin typeface="Calibri"/>
                        </a:rPr>
                        <a:t>Revenue</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Gross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300947">
                <a:tc>
                  <a:txBody>
                    <a:bodyPr wrap="none"/>
                    <a:lstStyle/>
                    <a:p>
                      <a:pPr algn="l"/>
                      <a:r>
                        <a:rPr sz="1100" b="1">
                          <a:solidFill>
                            <a:srgbClr val="2E2E2E"/>
                          </a:solidFill>
                          <a:latin typeface="Calibri"/>
                        </a:rPr>
                        <a:t>Pre-Tax Profit</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300947">
                <a:tc>
                  <a:txBody>
                    <a:bodyPr wrap="none"/>
                    <a:lstStyle/>
                    <a:p>
                      <a:pPr algn="l"/>
                      <a:r>
                        <a:rPr sz="1100" b="1">
                          <a:solidFill>
                            <a:srgbClr val="2E2E2E"/>
                          </a:solidFill>
                          <a:latin typeface="Calibri"/>
                        </a:rPr>
                        <a:t>Profit After Tax / Net Profit</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14" name="TextBox 13"/>
          <p:cNvSpPr txBox="1"/>
          <p:nvPr/>
        </p:nvSpPr>
        <p:spPr>
          <a:xfrm>
            <a:off x="219075" y="3070695"/>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5" name="Rounded Rectangle 14"/>
          <p:cNvSpPr/>
          <p:nvPr/>
        </p:nvSpPr>
        <p:spPr>
          <a:xfrm>
            <a:off x="142875" y="3398495"/>
            <a:ext cx="5905500" cy="3194397"/>
          </a:xfrm>
          <a:prstGeom prst="roundRect">
            <a:avLst>
              <a:gd name="adj" fmla="val 23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125" y="3455645"/>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TransMedics Key Ratios</a:t>
            </a:r>
          </a:p>
        </p:txBody>
      </p:sp>
      <p:graphicFrame>
        <p:nvGraphicFramePr>
          <p:cNvPr id="17" name="Table 16"/>
          <p:cNvGraphicFramePr>
            <a:graphicFrameLocks noGrp="1"/>
          </p:cNvGraphicFramePr>
          <p:nvPr/>
        </p:nvGraphicFramePr>
        <p:xfrm>
          <a:off x="152400" y="3655670"/>
          <a:ext cx="5886450" cy="2727671"/>
        </p:xfrm>
        <a:graphic>
          <a:graphicData uri="http://schemas.openxmlformats.org/drawingml/2006/table">
            <a:tbl>
              <a:tblPr>
                <a:tableStyleId>{5C22544A-7EE6-4342-B048-85BDC9FD1C3A}</a:tableStyleId>
              </a:tblPr>
              <a:tblGrid>
                <a:gridCol w="1859260"/>
                <a:gridCol w="805438"/>
                <a:gridCol w="805438"/>
                <a:gridCol w="805438"/>
                <a:gridCol w="805438"/>
                <a:gridCol w="805438"/>
              </a:tblGrid>
              <a:tr h="246126">
                <a:tc>
                  <a:txBody>
                    <a:bodyPr wrap="none"/>
                    <a:lstStyle/>
                    <a:p>
                      <a:pPr algn="l"/>
                      <a:r>
                        <a:rPr sz="1100" b="1">
                          <a:solidFill>
                            <a:srgbClr val="0B2E4A"/>
                          </a:solidFill>
                          <a:latin typeface="Calibri"/>
                        </a:rPr>
                        <a:t>Key Ratios</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2021A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2022A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2023A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496309">
                <a:tc>
                  <a:txBody>
                    <a:bodyPr wrap="none"/>
                    <a:lstStyle/>
                    <a:p>
                      <a:pPr algn="l"/>
                      <a:r>
                        <a:rPr sz="1100" b="1">
                          <a:solidFill>
                            <a:srgbClr val="2E2E2E"/>
                          </a:solidFill>
                          <a:latin typeface="Calibri"/>
                        </a:rPr>
                        <a:t>Gross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Pre-Tax Margin</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Net Margin</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496309">
                <a:tc>
                  <a:txBody>
                    <a:bodyPr wrap="none"/>
                    <a:lstStyle/>
                    <a:p>
                      <a:pPr algn="l"/>
                      <a:r>
                        <a:rPr sz="1100" b="1">
                          <a:solidFill>
                            <a:srgbClr val="2E2E2E"/>
                          </a:solidFill>
                          <a:latin typeface="Calibri"/>
                        </a:rPr>
                        <a:t>Return on Equity</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r h="496309">
                <a:tc>
                  <a:txBody>
                    <a:bodyPr wrap="none"/>
                    <a:lstStyle/>
                    <a:p>
                      <a:pPr algn="l"/>
                      <a:r>
                        <a:rPr sz="1100" b="1">
                          <a:solidFill>
                            <a:srgbClr val="2E2E2E"/>
                          </a:solidFill>
                          <a:latin typeface="Calibri"/>
                        </a:rPr>
                        <a:t>Return on Assets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bl>
          </a:graphicData>
        </a:graphic>
      </p:graphicFrame>
      <p:sp>
        <p:nvSpPr>
          <p:cNvPr id="18" name="TextBox 17"/>
          <p:cNvSpPr txBox="1"/>
          <p:nvPr/>
        </p:nvSpPr>
        <p:spPr>
          <a:xfrm>
            <a:off x="219075" y="6392868"/>
            <a:ext cx="575310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19" name="Rounded Rectangle 18"/>
          <p:cNvSpPr/>
          <p:nvPr/>
        </p:nvSpPr>
        <p:spPr>
          <a:xfrm>
            <a:off x="6200775" y="1354081"/>
            <a:ext cx="5848350" cy="5238811"/>
          </a:xfrm>
          <a:prstGeom prst="roundRect">
            <a:avLst>
              <a:gd name="adj" fmla="val 14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6025" y="1411231"/>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TransMedics Pricing Analysis (US$/Units)</a:t>
            </a:r>
          </a:p>
        </p:txBody>
      </p:sp>
      <p:graphicFrame>
        <p:nvGraphicFramePr>
          <p:cNvPr id="21" name="Table 20"/>
          <p:cNvGraphicFramePr>
            <a:graphicFrameLocks noGrp="1"/>
          </p:cNvGraphicFramePr>
          <p:nvPr/>
        </p:nvGraphicFramePr>
        <p:xfrm>
          <a:off x="6210300" y="1611256"/>
          <a:ext cx="5829301" cy="4772086"/>
        </p:xfrm>
        <a:graphic>
          <a:graphicData uri="http://schemas.openxmlformats.org/drawingml/2006/table">
            <a:tbl>
              <a:tblPr>
                <a:tableStyleId>{5C22544A-7EE6-4342-B048-85BDC9FD1C3A}</a:tableStyleId>
              </a:tblPr>
              <a:tblGrid>
                <a:gridCol w="4080993"/>
                <a:gridCol w="874154"/>
                <a:gridCol w="874154"/>
              </a:tblGrid>
              <a:tr h="246126">
                <a:tc>
                  <a:txBody>
                    <a:bodyPr wrap="none"/>
                    <a:lstStyle/>
                    <a:p>
                      <a:pPr algn="l"/>
                      <a:r>
                        <a:rPr sz="1100" b="1">
                          <a:solidFill>
                            <a:srgbClr val="0B2E4A"/>
                          </a:solidFill>
                          <a:latin typeface="Calibri"/>
                        </a:rPr>
                        <a:t>Product Type</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2020A</a:t>
                      </a:r>
                      <a:endParaRPr sz="1100"/>
                    </a:p>
                  </a:txBody>
                  <a:tcPr marL="47625" marR="38100" marT="19050" marB="19050" anchor="ctr">
                    <a:solidFill>
                      <a:srgbClr val="E0E8EF"/>
                    </a:solidFill>
                  </a:tcPr>
                </a:tc>
                <a:tc>
                  <a:txBody>
                    <a:bodyPr wrap="none"/>
                    <a:lstStyle/>
                    <a:p>
                      <a:pPr algn="ctr"/>
                      <a:r>
                        <a:rPr sz="1100" b="1">
                          <a:solidFill>
                            <a:srgbClr val="0B2E4A"/>
                          </a:solidFill>
                          <a:latin typeface="Calibri"/>
                        </a:rPr>
                        <a:t>2024A</a:t>
                      </a:r>
                      <a:endParaRPr sz="1100"/>
                    </a:p>
                  </a:txBody>
                  <a:tcPr marL="47625" marR="38100" marT="19050" marB="19050" anchor="ctr">
                    <a:solidFill>
                      <a:srgbClr val="E0E8EF"/>
                    </a:solidFill>
                  </a:tcPr>
                </a:tc>
              </a:tr>
              <a:tr h="2262980">
                <a:tc>
                  <a:txBody>
                    <a:bodyPr wrap="none"/>
                    <a:lstStyle/>
                    <a:p>
                      <a:pPr algn="l"/>
                      <a:r>
                        <a:rPr sz="1100" b="1">
                          <a:solidFill>
                            <a:srgbClr val="2E2E2E"/>
                          </a:solidFill>
                          <a:latin typeface="Calibri"/>
                        </a:rPr>
                        <a:t>Portable Machine Perfusion Devices</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c>
                  <a:txBody>
                    <a:bodyPr wrap="none"/>
                    <a:lstStyle/>
                    <a:p>
                      <a:pPr algn="ctr"/>
                      <a:r>
                        <a:rPr sz="1100"/>
                        <a:t> </a:t>
                      </a:r>
                      <a:endParaRPr sz="1100"/>
                    </a:p>
                  </a:txBody>
                  <a:tcPr marL="47625" marR="38100" marT="19050" marB="19050" anchor="ctr">
                    <a:solidFill>
                      <a:srgbClr val="FFFFFF"/>
                    </a:solidFill>
                  </a:tcPr>
                </a:tc>
              </a:tr>
              <a:tr h="2262980">
                <a:tc>
                  <a:txBody>
                    <a:bodyPr wrap="none"/>
                    <a:lstStyle/>
                    <a:p>
                      <a:pPr algn="l"/>
                      <a:r>
                        <a:rPr sz="1100" b="1">
                          <a:solidFill>
                            <a:srgbClr val="2E2E2E"/>
                          </a:solidFill>
                          <a:latin typeface="Calibri"/>
                        </a:rPr>
                        <a:t>Static Cold Storage Devices</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c>
                  <a:txBody>
                    <a:bodyPr wrap="none"/>
                    <a:lstStyle/>
                    <a:p>
                      <a:pPr algn="ctr"/>
                      <a:r>
                        <a:rPr sz="1100"/>
                        <a:t> </a:t>
                      </a:r>
                      <a:endParaRPr sz="1100"/>
                    </a:p>
                  </a:txBody>
                  <a:tcPr marL="47625" marR="38100" marT="19050" marB="19050" anchor="ctr">
                    <a:solidFill>
                      <a:srgbClr val="F5F8FA"/>
                    </a:solidFill>
                  </a:tcPr>
                </a:tc>
              </a:tr>
            </a:tbl>
          </a:graphicData>
        </a:graphic>
      </p:graphicFrame>
      <p:sp>
        <p:nvSpPr>
          <p:cNvPr id="22" name="TextBox 21"/>
          <p:cNvSpPr txBox="1"/>
          <p:nvPr/>
        </p:nvSpPr>
        <p:spPr>
          <a:xfrm>
            <a:off x="6276975" y="6392868"/>
            <a:ext cx="5695950" cy="171450"/>
          </a:xfrm>
          <a:prstGeom prst="rect">
            <a:avLst/>
          </a:prstGeom>
          <a:noFill/>
        </p:spPr>
        <p:txBody>
          <a:bodyPr wrap="square" lIns="0" rIns="0" tIns="0" bIns="0" anchor="b">
            <a:spAutoFit/>
          </a:bodyPr>
          <a:lstStyle/>
          <a:p>
            <a:pPr algn="l"/>
            <a:r>
              <a:rPr sz="1100" b="0" i="1">
                <a:solidFill>
                  <a:srgbClr val="6C7A89"/>
                </a:solidFill>
                <a:latin typeface="Calibri"/>
              </a:rPr>
              <a:t>Source: FMI Analysis, 2026</a:t>
            </a:r>
          </a:p>
        </p:txBody>
      </p:sp>
      <p:sp>
        <p:nvSpPr>
          <p:cNvPr id="23" name="TextBox 2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4" name="Picture 23" descr="lock.png"/>
          <p:cNvPicPr>
            <a:picLocks noChangeAspect="1"/>
          </p:cNvPicPr>
          <p:nvPr/>
        </p:nvPicPr>
        <p:blipFill>
          <a:blip r:embed="rId4"/>
          <a:stretch>
            <a:fillRect/>
          </a:stretch>
        </p:blipFill>
        <p:spPr>
          <a:xfrm>
            <a:off x="4150927" y="2219245"/>
            <a:ext cx="330041" cy="480060"/>
          </a:xfrm>
          <a:prstGeom prst="rect">
            <a:avLst/>
          </a:prstGeom>
        </p:spPr>
      </p:pic>
      <p:pic>
        <p:nvPicPr>
          <p:cNvPr id="25" name="Picture 24" descr="lock.png"/>
          <p:cNvPicPr>
            <a:picLocks noChangeAspect="1"/>
          </p:cNvPicPr>
          <p:nvPr/>
        </p:nvPicPr>
        <p:blipFill>
          <a:blip r:embed="rId4"/>
          <a:stretch>
            <a:fillRect/>
          </a:stretch>
        </p:blipFill>
        <p:spPr>
          <a:xfrm>
            <a:off x="3838564" y="4875868"/>
            <a:ext cx="366712" cy="533400"/>
          </a:xfrm>
          <a:prstGeom prst="rect">
            <a:avLst/>
          </a:prstGeom>
        </p:spPr>
      </p:pic>
      <p:pic>
        <p:nvPicPr>
          <p:cNvPr id="26" name="Picture 25" descr="lock.png"/>
          <p:cNvPicPr>
            <a:picLocks noChangeAspect="1"/>
          </p:cNvPicPr>
          <p:nvPr/>
        </p:nvPicPr>
        <p:blipFill>
          <a:blip r:embed="rId4"/>
          <a:stretch>
            <a:fillRect/>
          </a:stretch>
        </p:blipFill>
        <p:spPr>
          <a:xfrm>
            <a:off x="10978757" y="3853662"/>
            <a:ext cx="366712" cy="533400"/>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TransMedics Strategy Analysis (5/5)</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Analysis of TransMedics's strategic priorities and the competitive moves that support them</a:t>
            </a:r>
          </a:p>
        </p:txBody>
      </p:sp>
      <p:sp>
        <p:nvSpPr>
          <p:cNvPr id="10" name="Rounded Rectangle 9"/>
          <p:cNvSpPr/>
          <p:nvPr/>
        </p:nvSpPr>
        <p:spPr>
          <a:xfrm>
            <a:off x="142875" y="1007261"/>
            <a:ext cx="11906250" cy="273805"/>
          </a:xfrm>
          <a:prstGeom prst="roundRect">
            <a:avLst>
              <a:gd name="adj" fmla="val 2782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100" b="0">
                <a:solidFill>
                  <a:srgbClr val="2E2E2E"/>
                </a:solidFill>
                <a:latin typeface="Calibri"/>
              </a:rPr>
              <a:t>Strategy analysis TransMedics: strategic priorities and the competitive moves that support them (indicative).</a:t>
            </a:r>
          </a:p>
        </p:txBody>
      </p:sp>
      <p:sp>
        <p:nvSpPr>
          <p:cNvPr id="11" name="Rounded Rectangle 10"/>
          <p:cNvSpPr/>
          <p:nvPr/>
        </p:nvSpPr>
        <p:spPr>
          <a:xfrm>
            <a:off x="1428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MARKET SHARE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of global value</a:t>
            </a:r>
          </a:p>
        </p:txBody>
      </p:sp>
      <p:sp>
        <p:nvSpPr>
          <p:cNvPr id="12" name="Rounded Rectangle 11"/>
          <p:cNvSpPr/>
          <p:nvPr/>
        </p:nvSpPr>
        <p:spPr>
          <a:xfrm>
            <a:off x="254317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WIN RATE</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deals won</a:t>
            </a:r>
          </a:p>
        </p:txBody>
      </p:sp>
      <p:sp>
        <p:nvSpPr>
          <p:cNvPr id="13" name="Rounded Rectangle 12"/>
          <p:cNvSpPr/>
          <p:nvPr/>
        </p:nvSpPr>
        <p:spPr>
          <a:xfrm>
            <a:off x="49530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ASP PREMIUM</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vs peers</a:t>
            </a:r>
          </a:p>
        </p:txBody>
      </p:sp>
      <p:sp>
        <p:nvSpPr>
          <p:cNvPr id="14" name="Rounded Rectangle 13"/>
          <p:cNvSpPr/>
          <p:nvPr/>
        </p:nvSpPr>
        <p:spPr>
          <a:xfrm>
            <a:off x="7353300"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BOOK-TO-BILL</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order momentum</a:t>
            </a:r>
          </a:p>
        </p:txBody>
      </p:sp>
      <p:sp>
        <p:nvSpPr>
          <p:cNvPr id="15" name="Rounded Rectangle 14"/>
          <p:cNvSpPr/>
          <p:nvPr/>
        </p:nvSpPr>
        <p:spPr>
          <a:xfrm>
            <a:off x="9763125" y="1354081"/>
            <a:ext cx="2276475" cy="602372"/>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57150" rIns="57150" tIns="9525" bIns="9525"/>
          <a:lstStyle/>
          <a:p>
            <a:pPr algn="ctr">
              <a:lnSpc>
                <a:spcPct val="95000"/>
              </a:lnSpc>
            </a:pPr>
            <a:r>
              <a:rPr sz="1100" b="1">
                <a:solidFill>
                  <a:srgbClr val="6C7A89"/>
                </a:solidFill>
                <a:latin typeface="Calibri"/>
              </a:rPr>
              <a:t>EBITDA MARGIN</a:t>
            </a:r>
          </a:p>
          <a:p>
            <a:pPr algn="ctr">
              <a:lnSpc>
                <a:spcPct val="95000"/>
              </a:lnSpc>
            </a:pPr>
            <a:r>
              <a:rPr sz="1500" b="1">
                <a:solidFill>
                  <a:srgbClr val="0E72AE"/>
                </a:solidFill>
                <a:latin typeface="Calibri"/>
              </a:rPr>
              <a:t> </a:t>
            </a:r>
          </a:p>
          <a:p>
            <a:pPr algn="ctr">
              <a:lnSpc>
                <a:spcPct val="95000"/>
              </a:lnSpc>
            </a:pPr>
            <a:r>
              <a:rPr sz="1100" b="0">
                <a:solidFill>
                  <a:srgbClr val="6C7A89"/>
                </a:solidFill>
                <a:latin typeface="Calibri"/>
              </a:rPr>
              <a:t>profitability</a:t>
            </a:r>
          </a:p>
        </p:txBody>
      </p:sp>
      <p:sp>
        <p:nvSpPr>
          <p:cNvPr id="16" name="Rounded Rectangle 15"/>
          <p:cNvSpPr/>
          <p:nvPr/>
        </p:nvSpPr>
        <p:spPr>
          <a:xfrm>
            <a:off x="142875" y="2084229"/>
            <a:ext cx="590550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2169954"/>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8" name="Rectangle 17"/>
          <p:cNvSpPr/>
          <p:nvPr/>
        </p:nvSpPr>
        <p:spPr>
          <a:xfrm>
            <a:off x="276225" y="2408079"/>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2493804"/>
            <a:ext cx="563880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0" name="Rounded Rectangle 19"/>
          <p:cNvSpPr/>
          <p:nvPr/>
        </p:nvSpPr>
        <p:spPr>
          <a:xfrm>
            <a:off x="6200775" y="2084229"/>
            <a:ext cx="5848350" cy="4490410"/>
          </a:xfrm>
          <a:prstGeom prst="roundRect">
            <a:avLst>
              <a:gd name="adj" fmla="val 16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2169954"/>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2" name="Rectangle 21"/>
          <p:cNvSpPr/>
          <p:nvPr/>
        </p:nvSpPr>
        <p:spPr>
          <a:xfrm>
            <a:off x="6334125" y="2408079"/>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2493804"/>
            <a:ext cx="5581650" cy="4004635"/>
          </a:xfrm>
          <a:prstGeom prst="rect">
            <a:avLst/>
          </a:prstGeom>
          <a:noFill/>
        </p:spPr>
        <p:txBody>
          <a:bodyPr wrap="square" lIns="0" rIns="19050" tIns="9525" bIns="9525">
            <a:spAutoFit/>
          </a:bodyPr>
          <a:lstStyle/>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a:p>
            <a:pPr algn="l">
              <a:lnSpc>
                <a:spcPct val="110000"/>
              </a:lnSpc>
              <a:spcBef>
                <a:spcPts val="0"/>
              </a:spcBef>
              <a:spcAft>
                <a:spcPts val="500"/>
              </a:spcAft>
            </a:pPr>
            <a:r>
              <a:rPr sz="1100" b="0">
                <a:solidFill>
                  <a:srgbClr val="0E72AE"/>
                </a:solidFill>
                <a:latin typeface="Calibri"/>
              </a:rPr>
              <a:t/>
            </a:r>
            <a:r>
              <a:rPr sz="1150" b="0">
                <a:solidFill>
                  <a:srgbClr val="2E2E2E"/>
                </a:solidFill>
                <a:latin typeface="Calibri"/>
              </a:rPr>
              <a:t/>
            </a:r>
          </a:p>
        </p:txBody>
      </p:sp>
      <p:sp>
        <p:nvSpPr>
          <p:cNvPr id="24" name="TextBox 2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5" name="Picture 24" descr="lock.png"/>
          <p:cNvPicPr>
            <a:picLocks noChangeAspect="1"/>
          </p:cNvPicPr>
          <p:nvPr/>
        </p:nvPicPr>
        <p:blipFill>
          <a:blip r:embed="rId4"/>
          <a:stretch>
            <a:fillRect/>
          </a:stretch>
        </p:blipFill>
        <p:spPr>
          <a:xfrm>
            <a:off x="1202531" y="1540967"/>
            <a:ext cx="157162" cy="228600"/>
          </a:xfrm>
          <a:prstGeom prst="rect">
            <a:avLst/>
          </a:prstGeom>
        </p:spPr>
      </p:pic>
      <p:pic>
        <p:nvPicPr>
          <p:cNvPr id="26" name="Picture 25" descr="lock.png"/>
          <p:cNvPicPr>
            <a:picLocks noChangeAspect="1"/>
          </p:cNvPicPr>
          <p:nvPr/>
        </p:nvPicPr>
        <p:blipFill>
          <a:blip r:embed="rId4"/>
          <a:stretch>
            <a:fillRect/>
          </a:stretch>
        </p:blipFill>
        <p:spPr>
          <a:xfrm>
            <a:off x="3602831" y="1540967"/>
            <a:ext cx="157162" cy="228600"/>
          </a:xfrm>
          <a:prstGeom prst="rect">
            <a:avLst/>
          </a:prstGeom>
        </p:spPr>
      </p:pic>
      <p:pic>
        <p:nvPicPr>
          <p:cNvPr id="27" name="Picture 26" descr="lock.png"/>
          <p:cNvPicPr>
            <a:picLocks noChangeAspect="1"/>
          </p:cNvPicPr>
          <p:nvPr/>
        </p:nvPicPr>
        <p:blipFill>
          <a:blip r:embed="rId4"/>
          <a:stretch>
            <a:fillRect/>
          </a:stretch>
        </p:blipFill>
        <p:spPr>
          <a:xfrm>
            <a:off x="6012656" y="1540967"/>
            <a:ext cx="157162" cy="228600"/>
          </a:xfrm>
          <a:prstGeom prst="rect">
            <a:avLst/>
          </a:prstGeom>
        </p:spPr>
      </p:pic>
      <p:pic>
        <p:nvPicPr>
          <p:cNvPr id="28" name="Picture 27" descr="lock.png"/>
          <p:cNvPicPr>
            <a:picLocks noChangeAspect="1"/>
          </p:cNvPicPr>
          <p:nvPr/>
        </p:nvPicPr>
        <p:blipFill>
          <a:blip r:embed="rId4"/>
          <a:stretch>
            <a:fillRect/>
          </a:stretch>
        </p:blipFill>
        <p:spPr>
          <a:xfrm>
            <a:off x="8412956" y="1540967"/>
            <a:ext cx="157162" cy="228600"/>
          </a:xfrm>
          <a:prstGeom prst="rect">
            <a:avLst/>
          </a:prstGeom>
        </p:spPr>
      </p:pic>
      <p:pic>
        <p:nvPicPr>
          <p:cNvPr id="29" name="Picture 28" descr="lock.png"/>
          <p:cNvPicPr>
            <a:picLocks noChangeAspect="1"/>
          </p:cNvPicPr>
          <p:nvPr/>
        </p:nvPicPr>
        <p:blipFill>
          <a:blip r:embed="rId4"/>
          <a:stretch>
            <a:fillRect/>
          </a:stretch>
        </p:blipFill>
        <p:spPr>
          <a:xfrm>
            <a:off x="10822781" y="1540967"/>
            <a:ext cx="157162" cy="228600"/>
          </a:xfrm>
          <a:prstGeom prst="rect">
            <a:avLst/>
          </a:prstGeom>
        </p:spPr>
      </p:pic>
      <p:sp>
        <p:nvSpPr>
          <p:cNvPr id="30" name="TextBox 29"/>
          <p:cNvSpPr txBox="1"/>
          <p:nvPr/>
        </p:nvSpPr>
        <p:spPr>
          <a:xfrm>
            <a:off x="276225" y="2503329"/>
            <a:ext cx="5433268" cy="194310"/>
          </a:xfrm>
          <a:prstGeom prst="rect">
            <a:avLst/>
          </a:prstGeom>
          <a:noFill/>
        </p:spPr>
        <p:txBody>
          <a:bodyPr wrap="none" lIns="0" rIns="0" tIns="0" bIns="0">
            <a:spAutoFit/>
          </a:bodyPr>
          <a:lstStyle/>
          <a:p>
            <a:r>
              <a:rPr sz="1150" b="0">
                <a:solidFill>
                  <a:srgbClr val="2E2E2E"/>
                </a:solidFill>
                <a:latin typeface="Calibri"/>
              </a:rPr>
              <a:t>▪ Defend and extend leadership in 'Direct Sales' TransMedics's strongest end-market while</a:t>
            </a:r>
          </a:p>
        </p:txBody>
      </p:sp>
      <p:sp>
        <p:nvSpPr>
          <p:cNvPr id="31" name="TextBox 30"/>
          <p:cNvSpPr txBox="1"/>
          <p:nvPr/>
        </p:nvSpPr>
        <p:spPr>
          <a:xfrm>
            <a:off x="276225" y="2678589"/>
            <a:ext cx="2090663" cy="194310"/>
          </a:xfrm>
          <a:prstGeom prst="rect">
            <a:avLst/>
          </a:prstGeom>
          <a:noFill/>
        </p:spPr>
        <p:txBody>
          <a:bodyPr wrap="none" lIns="0" rIns="0" tIns="0" bIns="0">
            <a:spAutoFit/>
          </a:bodyPr>
          <a:lstStyle/>
          <a:p>
            <a:r>
              <a:rPr sz="1150" b="0">
                <a:solidFill>
                  <a:srgbClr val="2E2E2E"/>
                </a:solidFill>
                <a:latin typeface="Calibri"/>
              </a:rPr>
              <a:t>scaling the next-best applications.</a:t>
            </a:r>
          </a:p>
        </p:txBody>
      </p:sp>
      <p:sp>
        <p:nvSpPr>
          <p:cNvPr id="32" name="TextBox 31"/>
          <p:cNvSpPr txBox="1"/>
          <p:nvPr/>
        </p:nvSpPr>
        <p:spPr>
          <a:xfrm>
            <a:off x="276225" y="2906426"/>
            <a:ext cx="909997" cy="194310"/>
          </a:xfrm>
          <a:prstGeom prst="rect">
            <a:avLst/>
          </a:prstGeom>
          <a:noFill/>
        </p:spPr>
        <p:txBody>
          <a:bodyPr wrap="none" lIns="0" rIns="0" tIns="0" bIns="0">
            <a:spAutoFit/>
          </a:bodyPr>
          <a:lstStyle/>
          <a:p>
            <a:r>
              <a:rPr sz="1150" b="0">
                <a:solidFill>
                  <a:srgbClr val="2E2E2E"/>
                </a:solidFill>
                <a:latin typeface="Calibri"/>
              </a:rPr>
              <a:t>▪ Convert its ~</a:t>
            </a:r>
          </a:p>
        </p:txBody>
      </p:sp>
      <p:pic>
        <p:nvPicPr>
          <p:cNvPr id="33" name="Picture 32" descr="lock.png"/>
          <p:cNvPicPr>
            <a:picLocks noChangeAspect="1"/>
          </p:cNvPicPr>
          <p:nvPr/>
        </p:nvPicPr>
        <p:blipFill>
          <a:blip r:embed="rId4"/>
          <a:stretch>
            <a:fillRect/>
          </a:stretch>
        </p:blipFill>
        <p:spPr>
          <a:xfrm>
            <a:off x="1135376" y="2896203"/>
            <a:ext cx="134549" cy="195707"/>
          </a:xfrm>
          <a:prstGeom prst="rect">
            <a:avLst/>
          </a:prstGeom>
        </p:spPr>
      </p:pic>
      <p:sp>
        <p:nvSpPr>
          <p:cNvPr id="34" name="TextBox 33"/>
          <p:cNvSpPr txBox="1"/>
          <p:nvPr/>
        </p:nvSpPr>
        <p:spPr>
          <a:xfrm>
            <a:off x="1310485" y="2906426"/>
            <a:ext cx="929109" cy="194310"/>
          </a:xfrm>
          <a:prstGeom prst="rect">
            <a:avLst/>
          </a:prstGeom>
          <a:noFill/>
        </p:spPr>
        <p:txBody>
          <a:bodyPr wrap="none" lIns="0" rIns="0" tIns="0" bIns="0">
            <a:spAutoFit/>
          </a:bodyPr>
          <a:lstStyle/>
          <a:p>
            <a:r>
              <a:rPr sz="1150" b="0">
                <a:solidFill>
                  <a:srgbClr val="2E2E2E"/>
                </a:solidFill>
                <a:latin typeface="Calibri"/>
              </a:rPr>
              <a:t>win rate and +</a:t>
            </a:r>
          </a:p>
        </p:txBody>
      </p:sp>
      <p:pic>
        <p:nvPicPr>
          <p:cNvPr id="35" name="Picture 34" descr="lock.png"/>
          <p:cNvPicPr>
            <a:picLocks noChangeAspect="1"/>
          </p:cNvPicPr>
          <p:nvPr/>
        </p:nvPicPr>
        <p:blipFill>
          <a:blip r:embed="rId4"/>
          <a:stretch>
            <a:fillRect/>
          </a:stretch>
        </p:blipFill>
        <p:spPr>
          <a:xfrm>
            <a:off x="2188748" y="2896203"/>
            <a:ext cx="134549" cy="195707"/>
          </a:xfrm>
          <a:prstGeom prst="rect">
            <a:avLst/>
          </a:prstGeom>
        </p:spPr>
      </p:pic>
      <p:sp>
        <p:nvSpPr>
          <p:cNvPr id="36" name="TextBox 35"/>
          <p:cNvSpPr txBox="1"/>
          <p:nvPr/>
        </p:nvSpPr>
        <p:spPr>
          <a:xfrm>
            <a:off x="2363857" y="2906426"/>
            <a:ext cx="3109019" cy="194310"/>
          </a:xfrm>
          <a:prstGeom prst="rect">
            <a:avLst/>
          </a:prstGeom>
          <a:noFill/>
        </p:spPr>
        <p:txBody>
          <a:bodyPr wrap="none" lIns="0" rIns="0" tIns="0" bIns="0">
            <a:spAutoFit/>
          </a:bodyPr>
          <a:lstStyle/>
          <a:p>
            <a:r>
              <a:rPr sz="1150" b="0">
                <a:solidFill>
                  <a:srgbClr val="2E2E2E"/>
                </a:solidFill>
                <a:latin typeface="Calibri"/>
              </a:rPr>
              <a:t>ASP premium into share gains through value-based</a:t>
            </a:r>
          </a:p>
        </p:txBody>
      </p:sp>
      <p:sp>
        <p:nvSpPr>
          <p:cNvPr id="37" name="TextBox 36"/>
          <p:cNvSpPr txBox="1"/>
          <p:nvPr/>
        </p:nvSpPr>
        <p:spPr>
          <a:xfrm>
            <a:off x="276225" y="3081686"/>
            <a:ext cx="489247" cy="194310"/>
          </a:xfrm>
          <a:prstGeom prst="rect">
            <a:avLst/>
          </a:prstGeom>
          <a:noFill/>
        </p:spPr>
        <p:txBody>
          <a:bodyPr wrap="none" lIns="0" rIns="0" tIns="0" bIns="0">
            <a:spAutoFit/>
          </a:bodyPr>
          <a:lstStyle/>
          <a:p>
            <a:r>
              <a:rPr sz="1150" b="0">
                <a:solidFill>
                  <a:srgbClr val="2E2E2E"/>
                </a:solidFill>
                <a:latin typeface="Calibri"/>
              </a:rPr>
              <a:t>selling.</a:t>
            </a:r>
          </a:p>
        </p:txBody>
      </p:sp>
      <p:sp>
        <p:nvSpPr>
          <p:cNvPr id="38" name="TextBox 37"/>
          <p:cNvSpPr txBox="1"/>
          <p:nvPr/>
        </p:nvSpPr>
        <p:spPr>
          <a:xfrm>
            <a:off x="276225" y="3309524"/>
            <a:ext cx="3294434" cy="194310"/>
          </a:xfrm>
          <a:prstGeom prst="rect">
            <a:avLst/>
          </a:prstGeom>
          <a:noFill/>
        </p:spPr>
        <p:txBody>
          <a:bodyPr wrap="none" lIns="0" rIns="0" tIns="0" bIns="0">
            <a:spAutoFit/>
          </a:bodyPr>
          <a:lstStyle/>
          <a:p>
            <a:r>
              <a:rPr sz="1150" b="0">
                <a:solidFill>
                  <a:srgbClr val="2E2E2E"/>
                </a:solidFill>
                <a:latin typeface="Calibri"/>
              </a:rPr>
              <a:t>▪ Raise SAM penetration beyond 'Rest of the World' (~</a:t>
            </a:r>
          </a:p>
        </p:txBody>
      </p:sp>
      <p:pic>
        <p:nvPicPr>
          <p:cNvPr id="39" name="Picture 38" descr="lock.png"/>
          <p:cNvPicPr>
            <a:picLocks noChangeAspect="1"/>
          </p:cNvPicPr>
          <p:nvPr/>
        </p:nvPicPr>
        <p:blipFill>
          <a:blip r:embed="rId4"/>
          <a:stretch>
            <a:fillRect/>
          </a:stretch>
        </p:blipFill>
        <p:spPr>
          <a:xfrm>
            <a:off x="3519813" y="3299301"/>
            <a:ext cx="134549" cy="195707"/>
          </a:xfrm>
          <a:prstGeom prst="rect">
            <a:avLst/>
          </a:prstGeom>
        </p:spPr>
      </p:pic>
      <p:sp>
        <p:nvSpPr>
          <p:cNvPr id="40" name="TextBox 39"/>
          <p:cNvSpPr txBox="1"/>
          <p:nvPr/>
        </p:nvSpPr>
        <p:spPr>
          <a:xfrm>
            <a:off x="3694922" y="3309524"/>
            <a:ext cx="2019064" cy="194310"/>
          </a:xfrm>
          <a:prstGeom prst="rect">
            <a:avLst/>
          </a:prstGeom>
          <a:noFill/>
        </p:spPr>
        <p:txBody>
          <a:bodyPr wrap="none" lIns="0" rIns="0" tIns="0" bIns="0">
            <a:spAutoFit/>
          </a:bodyPr>
          <a:lstStyle/>
          <a:p>
            <a:r>
              <a:rPr sz="1150" b="0">
                <a:solidFill>
                  <a:srgbClr val="2E2E2E"/>
                </a:solidFill>
                <a:latin typeface="Calibri"/>
              </a:rPr>
              <a:t>) into lower-penetration regions.</a:t>
            </a:r>
          </a:p>
        </p:txBody>
      </p:sp>
      <p:sp>
        <p:nvSpPr>
          <p:cNvPr id="41" name="TextBox 40"/>
          <p:cNvSpPr txBox="1"/>
          <p:nvPr/>
        </p:nvSpPr>
        <p:spPr>
          <a:xfrm>
            <a:off x="276225" y="3537362"/>
            <a:ext cx="694059" cy="194310"/>
          </a:xfrm>
          <a:prstGeom prst="rect">
            <a:avLst/>
          </a:prstGeom>
          <a:noFill/>
        </p:spPr>
        <p:txBody>
          <a:bodyPr wrap="none" lIns="0" rIns="0" tIns="0" bIns="0">
            <a:spAutoFit/>
          </a:bodyPr>
          <a:lstStyle/>
          <a:p>
            <a:r>
              <a:rPr sz="1150" b="0">
                <a:solidFill>
                  <a:srgbClr val="2E2E2E"/>
                </a:solidFill>
                <a:latin typeface="Calibri"/>
              </a:rPr>
              <a:t>▪ Sustain a</a:t>
            </a:r>
          </a:p>
        </p:txBody>
      </p:sp>
      <p:pic>
        <p:nvPicPr>
          <p:cNvPr id="42" name="Picture 41" descr="lock.png"/>
          <p:cNvPicPr>
            <a:picLocks noChangeAspect="1"/>
          </p:cNvPicPr>
          <p:nvPr/>
        </p:nvPicPr>
        <p:blipFill>
          <a:blip r:embed="rId4"/>
          <a:stretch>
            <a:fillRect/>
          </a:stretch>
        </p:blipFill>
        <p:spPr>
          <a:xfrm>
            <a:off x="919438" y="3527139"/>
            <a:ext cx="134549" cy="195707"/>
          </a:xfrm>
          <a:prstGeom prst="rect">
            <a:avLst/>
          </a:prstGeom>
        </p:spPr>
      </p:pic>
      <p:sp>
        <p:nvSpPr>
          <p:cNvPr id="43" name="TextBox 42"/>
          <p:cNvSpPr txBox="1"/>
          <p:nvPr/>
        </p:nvSpPr>
        <p:spPr>
          <a:xfrm>
            <a:off x="1094548" y="3537362"/>
            <a:ext cx="3750555" cy="194310"/>
          </a:xfrm>
          <a:prstGeom prst="rect">
            <a:avLst/>
          </a:prstGeom>
          <a:noFill/>
        </p:spPr>
        <p:txBody>
          <a:bodyPr wrap="none" lIns="0" rIns="0" tIns="0" bIns="0">
            <a:spAutoFit/>
          </a:bodyPr>
          <a:lstStyle/>
          <a:p>
            <a:r>
              <a:rPr sz="1150" b="0">
                <a:solidFill>
                  <a:srgbClr val="2E2E2E"/>
                </a:solidFill>
                <a:latin typeface="Calibri"/>
              </a:rPr>
              <a:t>book-to-bill with disciplined capacity and channel investment.</a:t>
            </a:r>
          </a:p>
        </p:txBody>
      </p:sp>
      <p:sp>
        <p:nvSpPr>
          <p:cNvPr id="44" name="TextBox 43"/>
          <p:cNvSpPr txBox="1"/>
          <p:nvPr/>
        </p:nvSpPr>
        <p:spPr>
          <a:xfrm>
            <a:off x="276225" y="3765200"/>
            <a:ext cx="5321163" cy="194310"/>
          </a:xfrm>
          <a:prstGeom prst="rect">
            <a:avLst/>
          </a:prstGeom>
          <a:noFill/>
        </p:spPr>
        <p:txBody>
          <a:bodyPr wrap="none" lIns="0" rIns="0" tIns="0" bIns="0">
            <a:spAutoFit/>
          </a:bodyPr>
          <a:lstStyle/>
          <a:p>
            <a:r>
              <a:rPr sz="1150" b="0">
                <a:solidFill>
                  <a:srgbClr val="2E2E2E"/>
                </a:solidFill>
                <a:latin typeface="Calibri"/>
              </a:rPr>
              <a:t>▪ Protect margin through corridor-based pricing and cost discipline as input prices move.</a:t>
            </a:r>
          </a:p>
        </p:txBody>
      </p:sp>
      <p:sp>
        <p:nvSpPr>
          <p:cNvPr id="45" name="TextBox 44"/>
          <p:cNvSpPr txBox="1"/>
          <p:nvPr/>
        </p:nvSpPr>
        <p:spPr>
          <a:xfrm>
            <a:off x="6334125" y="2503329"/>
            <a:ext cx="5152863" cy="194310"/>
          </a:xfrm>
          <a:prstGeom prst="rect">
            <a:avLst/>
          </a:prstGeom>
          <a:noFill/>
        </p:spPr>
        <p:txBody>
          <a:bodyPr wrap="none" lIns="0" rIns="0" tIns="0" bIns="0">
            <a:spAutoFit/>
          </a:bodyPr>
          <a:lstStyle/>
          <a:p>
            <a:r>
              <a:rPr sz="1150" b="0">
                <a:solidFill>
                  <a:srgbClr val="2E2E2E"/>
                </a:solidFill>
                <a:latin typeface="Calibri"/>
              </a:rPr>
              <a:t>▪ Premiumise the portfolio around 'Portable Machine Perfusion Devices' and adjacent</a:t>
            </a:r>
          </a:p>
        </p:txBody>
      </p:sp>
      <p:sp>
        <p:nvSpPr>
          <p:cNvPr id="46" name="TextBox 45"/>
          <p:cNvSpPr txBox="1"/>
          <p:nvPr/>
        </p:nvSpPr>
        <p:spPr>
          <a:xfrm>
            <a:off x="6334125" y="2678589"/>
            <a:ext cx="2347391" cy="194310"/>
          </a:xfrm>
          <a:prstGeom prst="rect">
            <a:avLst/>
          </a:prstGeom>
          <a:noFill/>
        </p:spPr>
        <p:txBody>
          <a:bodyPr wrap="none" lIns="0" rIns="0" tIns="0" bIns="0">
            <a:spAutoFit/>
          </a:bodyPr>
          <a:lstStyle/>
          <a:p>
            <a:r>
              <a:rPr sz="1150" b="0">
                <a:solidFill>
                  <a:srgbClr val="2E2E2E"/>
                </a:solidFill>
                <a:latin typeface="Calibri"/>
              </a:rPr>
              <a:t>high-value lines to lift blended pricing.</a:t>
            </a:r>
          </a:p>
        </p:txBody>
      </p:sp>
      <p:sp>
        <p:nvSpPr>
          <p:cNvPr id="47" name="TextBox 46"/>
          <p:cNvSpPr txBox="1"/>
          <p:nvPr/>
        </p:nvSpPr>
        <p:spPr>
          <a:xfrm>
            <a:off x="6334125" y="2906426"/>
            <a:ext cx="5219613" cy="194310"/>
          </a:xfrm>
          <a:prstGeom prst="rect">
            <a:avLst/>
          </a:prstGeom>
          <a:noFill/>
        </p:spPr>
        <p:txBody>
          <a:bodyPr wrap="none" lIns="0" rIns="0" tIns="0" bIns="0">
            <a:spAutoFit/>
          </a:bodyPr>
          <a:lstStyle/>
          <a:p>
            <a:r>
              <a:rPr sz="1150" b="0">
                <a:solidFill>
                  <a:srgbClr val="2E2E2E"/>
                </a:solidFill>
                <a:latin typeface="Calibri"/>
              </a:rPr>
              <a:t>▪ Deepen presence in 'North America' (largest SOM region) and build out under-served</a:t>
            </a:r>
          </a:p>
        </p:txBody>
      </p:sp>
      <p:sp>
        <p:nvSpPr>
          <p:cNvPr id="48" name="TextBox 47"/>
          <p:cNvSpPr txBox="1"/>
          <p:nvPr/>
        </p:nvSpPr>
        <p:spPr>
          <a:xfrm>
            <a:off x="6334125" y="3081686"/>
            <a:ext cx="838113" cy="194310"/>
          </a:xfrm>
          <a:prstGeom prst="rect">
            <a:avLst/>
          </a:prstGeom>
          <a:noFill/>
        </p:spPr>
        <p:txBody>
          <a:bodyPr wrap="none" lIns="0" rIns="0" tIns="0" bIns="0">
            <a:spAutoFit/>
          </a:bodyPr>
          <a:lstStyle/>
          <a:p>
            <a:r>
              <a:rPr sz="1150" b="0">
                <a:solidFill>
                  <a:srgbClr val="2E2E2E"/>
                </a:solidFill>
                <a:latin typeface="Calibri"/>
              </a:rPr>
              <a:t>geographies.</a:t>
            </a:r>
          </a:p>
        </p:txBody>
      </p:sp>
      <p:sp>
        <p:nvSpPr>
          <p:cNvPr id="49" name="TextBox 48"/>
          <p:cNvSpPr txBox="1"/>
          <p:nvPr/>
        </p:nvSpPr>
        <p:spPr>
          <a:xfrm>
            <a:off x="6334125" y="3309524"/>
            <a:ext cx="5471144" cy="194310"/>
          </a:xfrm>
          <a:prstGeom prst="rect">
            <a:avLst/>
          </a:prstGeom>
          <a:noFill/>
        </p:spPr>
        <p:txBody>
          <a:bodyPr wrap="none" lIns="0" rIns="0" tIns="0" bIns="0">
            <a:spAutoFit/>
          </a:bodyPr>
          <a:lstStyle/>
          <a:p>
            <a:r>
              <a:rPr sz="1150" b="0">
                <a:solidFill>
                  <a:srgbClr val="2E2E2E"/>
                </a:solidFill>
                <a:latin typeface="Calibri"/>
              </a:rPr>
              <a:t>▪ Invest in R&amp;D, certification and selective M&amp;A to move up the price ladder and widen the</a:t>
            </a:r>
          </a:p>
        </p:txBody>
      </p:sp>
      <p:sp>
        <p:nvSpPr>
          <p:cNvPr id="50" name="TextBox 49"/>
          <p:cNvSpPr txBox="1"/>
          <p:nvPr/>
        </p:nvSpPr>
        <p:spPr>
          <a:xfrm>
            <a:off x="6334125" y="3484784"/>
            <a:ext cx="425636" cy="194310"/>
          </a:xfrm>
          <a:prstGeom prst="rect">
            <a:avLst/>
          </a:prstGeom>
          <a:noFill/>
        </p:spPr>
        <p:txBody>
          <a:bodyPr wrap="none" lIns="0" rIns="0" tIns="0" bIns="0">
            <a:spAutoFit/>
          </a:bodyPr>
          <a:lstStyle/>
          <a:p>
            <a:r>
              <a:rPr sz="1150" b="0">
                <a:solidFill>
                  <a:srgbClr val="2E2E2E"/>
                </a:solidFill>
                <a:latin typeface="Calibri"/>
              </a:rPr>
              <a:t>moat.</a:t>
            </a:r>
          </a:p>
        </p:txBody>
      </p:sp>
      <p:sp>
        <p:nvSpPr>
          <p:cNvPr id="51" name="TextBox 50"/>
          <p:cNvSpPr txBox="1"/>
          <p:nvPr/>
        </p:nvSpPr>
        <p:spPr>
          <a:xfrm>
            <a:off x="6334125" y="3712622"/>
            <a:ext cx="5267535" cy="194310"/>
          </a:xfrm>
          <a:prstGeom prst="rect">
            <a:avLst/>
          </a:prstGeom>
          <a:noFill/>
        </p:spPr>
        <p:txBody>
          <a:bodyPr wrap="none" lIns="0" rIns="0" tIns="0" bIns="0">
            <a:spAutoFit/>
          </a:bodyPr>
          <a:lstStyle/>
          <a:p>
            <a:r>
              <a:rPr sz="1150" b="0">
                <a:solidFill>
                  <a:srgbClr val="2E2E2E"/>
                </a:solidFill>
                <a:latin typeface="Calibri"/>
              </a:rPr>
              <a:t>▪ Diversify the customer base and secure supply to de-risk concentration and input-cost</a:t>
            </a:r>
          </a:p>
        </p:txBody>
      </p:sp>
      <p:sp>
        <p:nvSpPr>
          <p:cNvPr id="52" name="TextBox 51"/>
          <p:cNvSpPr txBox="1"/>
          <p:nvPr/>
        </p:nvSpPr>
        <p:spPr>
          <a:xfrm>
            <a:off x="6334125" y="3887882"/>
            <a:ext cx="509215" cy="194310"/>
          </a:xfrm>
          <a:prstGeom prst="rect">
            <a:avLst/>
          </a:prstGeom>
          <a:noFill/>
        </p:spPr>
        <p:txBody>
          <a:bodyPr wrap="none" lIns="0" rIns="0" tIns="0" bIns="0">
            <a:spAutoFit/>
          </a:bodyPr>
          <a:lstStyle/>
          <a:p>
            <a:r>
              <a:rPr sz="1150" b="0">
                <a:solidFill>
                  <a:srgbClr val="2E2E2E"/>
                </a:solidFill>
                <a:latin typeface="Calibri"/>
              </a:rPr>
              <a:t>shocks.</a:t>
            </a:r>
          </a:p>
        </p:txBody>
      </p:sp>
      <p:sp>
        <p:nvSpPr>
          <p:cNvPr id="53" name="TextBox 52"/>
          <p:cNvSpPr txBox="1"/>
          <p:nvPr/>
        </p:nvSpPr>
        <p:spPr>
          <a:xfrm>
            <a:off x="6334125" y="4115720"/>
            <a:ext cx="3102173" cy="194310"/>
          </a:xfrm>
          <a:prstGeom prst="rect">
            <a:avLst/>
          </a:prstGeom>
          <a:noFill/>
        </p:spPr>
        <p:txBody>
          <a:bodyPr wrap="none" lIns="0" rIns="0" tIns="0" bIns="0">
            <a:spAutoFit/>
          </a:bodyPr>
          <a:lstStyle/>
          <a:p>
            <a:r>
              <a:rPr sz="1150" b="0">
                <a:solidFill>
                  <a:srgbClr val="2E2E2E"/>
                </a:solidFill>
                <a:latin typeface="Calibri"/>
              </a:rPr>
              <a:t>▪ Sharpen go-to-market a ~95-day sales cycle and ~</a:t>
            </a:r>
          </a:p>
        </p:txBody>
      </p:sp>
      <p:pic>
        <p:nvPicPr>
          <p:cNvPr id="54" name="Picture 53" descr="lock.png"/>
          <p:cNvPicPr>
            <a:picLocks noChangeAspect="1"/>
          </p:cNvPicPr>
          <p:nvPr/>
        </p:nvPicPr>
        <p:blipFill>
          <a:blip r:embed="rId4"/>
          <a:stretch>
            <a:fillRect/>
          </a:stretch>
        </p:blipFill>
        <p:spPr>
          <a:xfrm>
            <a:off x="9385452" y="4105497"/>
            <a:ext cx="134549" cy="195707"/>
          </a:xfrm>
          <a:prstGeom prst="rect">
            <a:avLst/>
          </a:prstGeom>
        </p:spPr>
      </p:pic>
      <p:sp>
        <p:nvSpPr>
          <p:cNvPr id="55" name="TextBox 54"/>
          <p:cNvSpPr txBox="1"/>
          <p:nvPr/>
        </p:nvSpPr>
        <p:spPr>
          <a:xfrm>
            <a:off x="9560561" y="4115720"/>
            <a:ext cx="2003660" cy="194310"/>
          </a:xfrm>
          <a:prstGeom prst="rect">
            <a:avLst/>
          </a:prstGeom>
          <a:noFill/>
        </p:spPr>
        <p:txBody>
          <a:bodyPr wrap="none" lIns="0" rIns="0" tIns="0" bIns="0">
            <a:spAutoFit/>
          </a:bodyPr>
          <a:lstStyle/>
          <a:p>
            <a:r>
              <a:rPr sz="1150" b="0">
                <a:solidFill>
                  <a:srgbClr val="2E2E2E"/>
                </a:solidFill>
                <a:latin typeface="Calibri"/>
              </a:rPr>
              <a:t>conversion speed share capture.</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1F8FE"/>
        </a:solidFill>
        <a:effectLst/>
      </p:bgPr>
    </p:bg>
    <p:spTree>
      <p:nvGrpSpPr>
        <p:cNvPr id="1" name=""/>
        <p:cNvGrpSpPr/>
        <p:nvPr/>
      </p:nvGrpSpPr>
      <p:grpSpPr/>
      <p:sp>
        <p:nvSpPr>
          <p:cNvPr id="2" name="Rectangle 1"/>
          <p:cNvSpPr/>
          <p:nvPr/>
        </p:nvSpPr>
        <p:spPr>
          <a:xfrm>
            <a:off x="0" y="0"/>
            <a:ext cx="12192000" cy="6858000"/>
          </a:xfrm>
          <a:prstGeom prst="rect">
            <a:avLst/>
          </a:prstGeom>
          <a:gradFill rotWithShape="1">
            <a:gsLst>
              <a:gs pos="0">
                <a:srgbClr val="F1F8FE"/>
              </a:gs>
              <a:gs pos="100000">
                <a:srgbClr val="DAEAF9"/>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0" y="5591183"/>
            <a:ext cx="12192000" cy="1266817"/>
          </a:xfrm>
          <a:custGeom>
            <a:avLst/>
            <a:gdLst/>
            <a:ahLst/>
            <a:cxnLst/>
            <a:rect l="l" t="t" r="r" b="b"/>
            <a:pathLst>
              <a:path w="12192000" h="1266817">
                <a:moveTo>
                  <a:pt x="0" y="1266817"/>
                </a:moveTo>
                <a:lnTo>
                  <a:pt x="0" y="475605"/>
                </a:lnTo>
                <a:lnTo>
                  <a:pt x="152400" y="486239"/>
                </a:lnTo>
                <a:lnTo>
                  <a:pt x="304800" y="495887"/>
                </a:lnTo>
                <a:lnTo>
                  <a:pt x="457200" y="504505"/>
                </a:lnTo>
                <a:lnTo>
                  <a:pt x="609600" y="512056"/>
                </a:lnTo>
                <a:lnTo>
                  <a:pt x="762000" y="518505"/>
                </a:lnTo>
                <a:lnTo>
                  <a:pt x="914400" y="523824"/>
                </a:lnTo>
                <a:lnTo>
                  <a:pt x="1066800" y="527988"/>
                </a:lnTo>
                <a:lnTo>
                  <a:pt x="1219200" y="530979"/>
                </a:lnTo>
                <a:lnTo>
                  <a:pt x="1371600" y="532783"/>
                </a:lnTo>
                <a:lnTo>
                  <a:pt x="1524000" y="533392"/>
                </a:lnTo>
                <a:lnTo>
                  <a:pt x="1676400" y="532804"/>
                </a:lnTo>
                <a:lnTo>
                  <a:pt x="1828800" y="531021"/>
                </a:lnTo>
                <a:lnTo>
                  <a:pt x="1981200" y="528051"/>
                </a:lnTo>
                <a:lnTo>
                  <a:pt x="2133600" y="523907"/>
                </a:lnTo>
                <a:lnTo>
                  <a:pt x="2286000" y="518609"/>
                </a:lnTo>
                <a:lnTo>
                  <a:pt x="2438400" y="512179"/>
                </a:lnTo>
                <a:lnTo>
                  <a:pt x="2590800" y="504648"/>
                </a:lnTo>
                <a:lnTo>
                  <a:pt x="2743200" y="496047"/>
                </a:lnTo>
                <a:lnTo>
                  <a:pt x="2895600" y="486417"/>
                </a:lnTo>
                <a:lnTo>
                  <a:pt x="3048000" y="475801"/>
                </a:lnTo>
                <a:lnTo>
                  <a:pt x="3200400" y="464245"/>
                </a:lnTo>
                <a:lnTo>
                  <a:pt x="3352800" y="451803"/>
                </a:lnTo>
                <a:lnTo>
                  <a:pt x="3505200" y="438529"/>
                </a:lnTo>
                <a:lnTo>
                  <a:pt x="3657600" y="424484"/>
                </a:lnTo>
                <a:lnTo>
                  <a:pt x="3810000" y="409730"/>
                </a:lnTo>
                <a:lnTo>
                  <a:pt x="3962400" y="394334"/>
                </a:lnTo>
                <a:lnTo>
                  <a:pt x="4114800" y="378365"/>
                </a:lnTo>
                <a:lnTo>
                  <a:pt x="4267200" y="361894"/>
                </a:lnTo>
                <a:lnTo>
                  <a:pt x="4419600" y="344996"/>
                </a:lnTo>
                <a:lnTo>
                  <a:pt x="4572000" y="327746"/>
                </a:lnTo>
                <a:lnTo>
                  <a:pt x="4724400" y="310223"/>
                </a:lnTo>
                <a:lnTo>
                  <a:pt x="4876800" y="292503"/>
                </a:lnTo>
                <a:lnTo>
                  <a:pt x="5029200" y="274668"/>
                </a:lnTo>
                <a:lnTo>
                  <a:pt x="5181600" y="256797"/>
                </a:lnTo>
                <a:lnTo>
                  <a:pt x="5334000" y="238971"/>
                </a:lnTo>
                <a:lnTo>
                  <a:pt x="5486400" y="221269"/>
                </a:lnTo>
                <a:lnTo>
                  <a:pt x="5638800" y="203771"/>
                </a:lnTo>
                <a:lnTo>
                  <a:pt x="5791200" y="186555"/>
                </a:lnTo>
                <a:lnTo>
                  <a:pt x="5943600" y="169699"/>
                </a:lnTo>
                <a:lnTo>
                  <a:pt x="6096000" y="153279"/>
                </a:lnTo>
                <a:lnTo>
                  <a:pt x="6248400" y="137368"/>
                </a:lnTo>
                <a:lnTo>
                  <a:pt x="6400800" y="122038"/>
                </a:lnTo>
                <a:lnTo>
                  <a:pt x="6553200" y="107357"/>
                </a:lnTo>
                <a:lnTo>
                  <a:pt x="6705600" y="93391"/>
                </a:lnTo>
                <a:lnTo>
                  <a:pt x="6858000" y="80204"/>
                </a:lnTo>
                <a:lnTo>
                  <a:pt x="7010400" y="67854"/>
                </a:lnTo>
                <a:lnTo>
                  <a:pt x="7162800" y="56397"/>
                </a:lnTo>
                <a:lnTo>
                  <a:pt x="7315200" y="45884"/>
                </a:lnTo>
                <a:lnTo>
                  <a:pt x="7467600" y="36363"/>
                </a:lnTo>
                <a:lnTo>
                  <a:pt x="7620000" y="27876"/>
                </a:lnTo>
                <a:lnTo>
                  <a:pt x="7772400" y="20461"/>
                </a:lnTo>
                <a:lnTo>
                  <a:pt x="7924800" y="14151"/>
                </a:lnTo>
                <a:lnTo>
                  <a:pt x="8077200" y="8976"/>
                </a:lnTo>
                <a:lnTo>
                  <a:pt x="8229600" y="4958"/>
                </a:lnTo>
                <a:lnTo>
                  <a:pt x="8382000" y="2115"/>
                </a:lnTo>
                <a:lnTo>
                  <a:pt x="8534400" y="460"/>
                </a:lnTo>
                <a:lnTo>
                  <a:pt x="8686800" y="0"/>
                </a:lnTo>
                <a:lnTo>
                  <a:pt x="8839200" y="738"/>
                </a:lnTo>
                <a:lnTo>
                  <a:pt x="8991600" y="2670"/>
                </a:lnTo>
                <a:lnTo>
                  <a:pt x="9144000" y="5787"/>
                </a:lnTo>
                <a:lnTo>
                  <a:pt x="9296400" y="10076"/>
                </a:lnTo>
                <a:lnTo>
                  <a:pt x="9448800" y="15518"/>
                </a:lnTo>
                <a:lnTo>
                  <a:pt x="9601200" y="22086"/>
                </a:lnTo>
                <a:lnTo>
                  <a:pt x="9753600" y="29754"/>
                </a:lnTo>
                <a:lnTo>
                  <a:pt x="9906000" y="38485"/>
                </a:lnTo>
                <a:lnTo>
                  <a:pt x="10058400" y="48241"/>
                </a:lnTo>
                <a:lnTo>
                  <a:pt x="10210800" y="58977"/>
                </a:lnTo>
                <a:lnTo>
                  <a:pt x="10363200" y="70647"/>
                </a:lnTo>
                <a:lnTo>
                  <a:pt x="10515600" y="83196"/>
                </a:lnTo>
                <a:lnTo>
                  <a:pt x="10668000" y="96570"/>
                </a:lnTo>
                <a:lnTo>
                  <a:pt x="10820400" y="110707"/>
                </a:lnTo>
                <a:lnTo>
                  <a:pt x="10972800" y="125545"/>
                </a:lnTo>
                <a:lnTo>
                  <a:pt x="11125200" y="141016"/>
                </a:lnTo>
                <a:lnTo>
                  <a:pt x="11277600" y="157052"/>
                </a:lnTo>
                <a:lnTo>
                  <a:pt x="11430000" y="173580"/>
                </a:lnTo>
                <a:lnTo>
                  <a:pt x="11582400" y="190527"/>
                </a:lnTo>
                <a:lnTo>
                  <a:pt x="11734800" y="207815"/>
                </a:lnTo>
                <a:lnTo>
                  <a:pt x="11887200" y="225367"/>
                </a:lnTo>
                <a:lnTo>
                  <a:pt x="12039600" y="243105"/>
                </a:lnTo>
                <a:lnTo>
                  <a:pt x="12192000" y="260949"/>
                </a:lnTo>
                <a:lnTo>
                  <a:pt x="12192000" y="1266817"/>
                </a:lnTo>
                <a:close/>
              </a:path>
            </a:pathLst>
          </a:custGeom>
          <a:solidFill>
            <a:srgbClr val="C8E0F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0" y="5905543"/>
            <a:ext cx="12192000" cy="952457"/>
          </a:xfrm>
          <a:custGeom>
            <a:avLst/>
            <a:gdLst/>
            <a:ahLst/>
            <a:cxnLst/>
            <a:rect l="l" t="t" r="r" b="b"/>
            <a:pathLst>
              <a:path w="12192000" h="952457">
                <a:moveTo>
                  <a:pt x="0" y="952457"/>
                </a:moveTo>
                <a:lnTo>
                  <a:pt x="0" y="288660"/>
                </a:lnTo>
                <a:lnTo>
                  <a:pt x="152400" y="275228"/>
                </a:lnTo>
                <a:lnTo>
                  <a:pt x="304800" y="261249"/>
                </a:lnTo>
                <a:lnTo>
                  <a:pt x="457200" y="246812"/>
                </a:lnTo>
                <a:lnTo>
                  <a:pt x="609600" y="232010"/>
                </a:lnTo>
                <a:lnTo>
                  <a:pt x="762000" y="216940"/>
                </a:lnTo>
                <a:lnTo>
                  <a:pt x="914400" y="201698"/>
                </a:lnTo>
                <a:lnTo>
                  <a:pt x="1066800" y="186384"/>
                </a:lnTo>
                <a:lnTo>
                  <a:pt x="1219200" y="171097"/>
                </a:lnTo>
                <a:lnTo>
                  <a:pt x="1371600" y="155934"/>
                </a:lnTo>
                <a:lnTo>
                  <a:pt x="1524000" y="140995"/>
                </a:lnTo>
                <a:lnTo>
                  <a:pt x="1676400" y="126375"/>
                </a:lnTo>
                <a:lnTo>
                  <a:pt x="1828800" y="112170"/>
                </a:lnTo>
                <a:lnTo>
                  <a:pt x="1981200" y="98470"/>
                </a:lnTo>
                <a:lnTo>
                  <a:pt x="2133600" y="85366"/>
                </a:lnTo>
                <a:lnTo>
                  <a:pt x="2286000" y="72940"/>
                </a:lnTo>
                <a:lnTo>
                  <a:pt x="2438400" y="61275"/>
                </a:lnTo>
                <a:lnTo>
                  <a:pt x="2590800" y="50444"/>
                </a:lnTo>
                <a:lnTo>
                  <a:pt x="2743200" y="40519"/>
                </a:lnTo>
                <a:lnTo>
                  <a:pt x="2895600" y="31563"/>
                </a:lnTo>
                <a:lnTo>
                  <a:pt x="3048000" y="23634"/>
                </a:lnTo>
                <a:lnTo>
                  <a:pt x="3200400" y="16784"/>
                </a:lnTo>
                <a:lnTo>
                  <a:pt x="3352800" y="11056"/>
                </a:lnTo>
                <a:lnTo>
                  <a:pt x="3505200" y="6489"/>
                </a:lnTo>
                <a:lnTo>
                  <a:pt x="3657600" y="3110"/>
                </a:lnTo>
                <a:lnTo>
                  <a:pt x="3810000" y="943"/>
                </a:lnTo>
                <a:lnTo>
                  <a:pt x="3962400" y="0"/>
                </a:lnTo>
                <a:lnTo>
                  <a:pt x="4114800" y="289"/>
                </a:lnTo>
                <a:lnTo>
                  <a:pt x="4267200" y="1808"/>
                </a:lnTo>
                <a:lnTo>
                  <a:pt x="4419600" y="4546"/>
                </a:lnTo>
                <a:lnTo>
                  <a:pt x="4572000" y="8485"/>
                </a:lnTo>
                <a:lnTo>
                  <a:pt x="4724400" y="13601"/>
                </a:lnTo>
                <a:lnTo>
                  <a:pt x="4876800" y="19861"/>
                </a:lnTo>
                <a:lnTo>
                  <a:pt x="5029200" y="27223"/>
                </a:lnTo>
                <a:lnTo>
                  <a:pt x="5181600" y="35641"/>
                </a:lnTo>
                <a:lnTo>
                  <a:pt x="5334000" y="45059"/>
                </a:lnTo>
                <a:lnTo>
                  <a:pt x="5486400" y="55417"/>
                </a:lnTo>
                <a:lnTo>
                  <a:pt x="5638800" y="66649"/>
                </a:lnTo>
                <a:lnTo>
                  <a:pt x="5791200" y="78680"/>
                </a:lnTo>
                <a:lnTo>
                  <a:pt x="5943600" y="91435"/>
                </a:lnTo>
                <a:lnTo>
                  <a:pt x="6096000" y="104829"/>
                </a:lnTo>
                <a:lnTo>
                  <a:pt x="6248400" y="118777"/>
                </a:lnTo>
                <a:lnTo>
                  <a:pt x="6400800" y="133188"/>
                </a:lnTo>
                <a:lnTo>
                  <a:pt x="6553200" y="147970"/>
                </a:lnTo>
                <a:lnTo>
                  <a:pt x="6705600" y="163026"/>
                </a:lnTo>
                <a:lnTo>
                  <a:pt x="6858000" y="178260"/>
                </a:lnTo>
                <a:lnTo>
                  <a:pt x="7010400" y="193572"/>
                </a:lnTo>
                <a:lnTo>
                  <a:pt x="7162800" y="208865"/>
                </a:lnTo>
                <a:lnTo>
                  <a:pt x="7315200" y="224038"/>
                </a:lnTo>
                <a:lnTo>
                  <a:pt x="7467600" y="238994"/>
                </a:lnTo>
                <a:lnTo>
                  <a:pt x="7620000" y="253637"/>
                </a:lnTo>
                <a:lnTo>
                  <a:pt x="7772400" y="267871"/>
                </a:lnTo>
                <a:lnTo>
                  <a:pt x="7924800" y="281604"/>
                </a:lnTo>
                <a:lnTo>
                  <a:pt x="8077200" y="294748"/>
                </a:lnTo>
                <a:lnTo>
                  <a:pt x="8229600" y="307218"/>
                </a:lnTo>
                <a:lnTo>
                  <a:pt x="8382000" y="318934"/>
                </a:lnTo>
                <a:lnTo>
                  <a:pt x="8534400" y="329818"/>
                </a:lnTo>
                <a:lnTo>
                  <a:pt x="8686800" y="339802"/>
                </a:lnTo>
                <a:lnTo>
                  <a:pt x="8839200" y="348821"/>
                </a:lnTo>
                <a:lnTo>
                  <a:pt x="8991600" y="356815"/>
                </a:lnTo>
                <a:lnTo>
                  <a:pt x="9144000" y="363734"/>
                </a:lnTo>
                <a:lnTo>
                  <a:pt x="9296400" y="369533"/>
                </a:lnTo>
                <a:lnTo>
                  <a:pt x="9448800" y="374174"/>
                </a:lnTo>
                <a:lnTo>
                  <a:pt x="9601200" y="377628"/>
                </a:lnTo>
                <a:lnTo>
                  <a:pt x="9753600" y="379872"/>
                </a:lnTo>
                <a:lnTo>
                  <a:pt x="9906000" y="380891"/>
                </a:lnTo>
                <a:lnTo>
                  <a:pt x="10058400" y="380679"/>
                </a:lnTo>
                <a:lnTo>
                  <a:pt x="10210800" y="379237"/>
                </a:lnTo>
                <a:lnTo>
                  <a:pt x="10363200" y="376575"/>
                </a:lnTo>
                <a:lnTo>
                  <a:pt x="10515600" y="372710"/>
                </a:lnTo>
                <a:lnTo>
                  <a:pt x="10668000" y="367666"/>
                </a:lnTo>
                <a:lnTo>
                  <a:pt x="10820400" y="361477"/>
                </a:lnTo>
                <a:lnTo>
                  <a:pt x="10972800" y="354182"/>
                </a:lnTo>
                <a:lnTo>
                  <a:pt x="11125200" y="345829"/>
                </a:lnTo>
                <a:lnTo>
                  <a:pt x="11277600" y="336472"/>
                </a:lnTo>
                <a:lnTo>
                  <a:pt x="11430000" y="326170"/>
                </a:lnTo>
                <a:lnTo>
                  <a:pt x="11582400" y="314991"/>
                </a:lnTo>
                <a:lnTo>
                  <a:pt x="11734800" y="303008"/>
                </a:lnTo>
                <a:lnTo>
                  <a:pt x="11887200" y="290296"/>
                </a:lnTo>
                <a:lnTo>
                  <a:pt x="12039600" y="276939"/>
                </a:lnTo>
                <a:lnTo>
                  <a:pt x="12192000" y="263023"/>
                </a:lnTo>
                <a:lnTo>
                  <a:pt x="12192000" y="952457"/>
                </a:lnTo>
                <a:close/>
              </a:path>
            </a:pathLst>
          </a:custGeom>
          <a:solidFill>
            <a:srgbClr val="A7CDF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38925"/>
            <a:ext cx="12192000" cy="219075"/>
          </a:xfrm>
          <a:prstGeom prst="rect">
            <a:avLst/>
          </a:prstGeom>
          <a:solidFill>
            <a:srgbClr val="A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38875"/>
            <a:ext cx="12192000" cy="400050"/>
          </a:xfrm>
          <a:prstGeom prst="rect">
            <a:avLst/>
          </a:prstGeom>
          <a:gradFill rotWithShape="1">
            <a:gsLst>
              <a:gs pos="0">
                <a:srgbClr val="2C6BB2"/>
              </a:gs>
              <a:gs pos="100000">
                <a:srgbClr val="7FB5E4"/>
              </a:gs>
            </a:gsLst>
            <a:lin scaled="0" ang="162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MI Section Bar"/>
          <p:cNvSpPr txBox="1"/>
          <p:nvPr/>
        </p:nvSpPr>
        <p:spPr>
          <a:xfrm>
            <a:off x="285750" y="6238875"/>
            <a:ext cx="3810000" cy="400050"/>
          </a:xfrm>
          <a:prstGeom prst="rect">
            <a:avLst/>
          </a:prstGeom>
          <a:noFill/>
        </p:spPr>
        <p:txBody>
          <a:bodyPr wrap="none" anchor="ctr" lIns="0" tIns="0" bIns="0">
            <a:spAutoFit/>
          </a:bodyPr>
          <a:lstStyle/>
          <a:p>
            <a:r>
              <a:rPr sz="1500" b="1">
                <a:solidFill>
                  <a:srgbClr val="FFFFFF"/>
                </a:solidFill>
                <a:latin typeface="Calibri"/>
              </a:rPr>
              <a:t>Section 21</a:t>
            </a:r>
          </a:p>
        </p:txBody>
      </p:sp>
      <p:pic>
        <p:nvPicPr>
          <p:cNvPr id="8" name="Picture 7" descr="fmi_logo_template.png"/>
          <p:cNvPicPr>
            <a:picLocks noChangeAspect="1"/>
          </p:cNvPicPr>
          <p:nvPr/>
        </p:nvPicPr>
        <p:blipFill>
          <a:blip r:embed="rId2"/>
          <a:stretch>
            <a:fillRect/>
          </a:stretch>
        </p:blipFill>
        <p:spPr>
          <a:xfrm>
            <a:off x="411480" y="274320"/>
            <a:ext cx="1307592" cy="1325880"/>
          </a:xfrm>
          <a:prstGeom prst="rect">
            <a:avLst/>
          </a:prstGeom>
        </p:spPr>
      </p:pic>
      <p:sp>
        <p:nvSpPr>
          <p:cNvPr id="9" name="TextBox 8"/>
          <p:cNvSpPr txBox="1"/>
          <p:nvPr/>
        </p:nvSpPr>
        <p:spPr>
          <a:xfrm>
            <a:off x="914400" y="2752725"/>
            <a:ext cx="8572500" cy="304800"/>
          </a:xfrm>
          <a:prstGeom prst="rect">
            <a:avLst/>
          </a:prstGeom>
          <a:noFill/>
        </p:spPr>
        <p:txBody>
          <a:bodyPr wrap="none" lIns="0" tIns="0">
            <a:spAutoFit/>
          </a:bodyPr>
          <a:lstStyle/>
          <a:p>
            <a:r>
              <a:rPr sz="1800" b="0">
                <a:solidFill>
                  <a:srgbClr val="0E72AE"/>
                </a:solidFill>
                <a:latin typeface="Calibri"/>
              </a:rPr>
              <a:t>Organ Transport Devices Market</a:t>
            </a:r>
          </a:p>
        </p:txBody>
      </p:sp>
      <p:sp>
        <p:nvSpPr>
          <p:cNvPr id="10" name="FMI Section Title"/>
          <p:cNvSpPr txBox="1"/>
          <p:nvPr/>
        </p:nvSpPr>
        <p:spPr>
          <a:xfrm>
            <a:off x="914400" y="3095625"/>
            <a:ext cx="8572500" cy="514350"/>
          </a:xfrm>
          <a:prstGeom prst="rect">
            <a:avLst/>
          </a:prstGeom>
          <a:noFill/>
        </p:spPr>
        <p:txBody>
          <a:bodyPr wrap="square" lIns="0" rIns="0" tIns="0">
            <a:spAutoFit/>
          </a:bodyPr>
          <a:lstStyle/>
          <a:p>
            <a:r>
              <a:rPr sz="3000" b="1">
                <a:solidFill>
                  <a:srgbClr val="0B3C8C"/>
                </a:solidFill>
                <a:latin typeface="Calibri"/>
              </a:rPr>
              <a:t>Competitive Landscape</a:t>
            </a:r>
          </a:p>
        </p:txBody>
      </p:sp>
      <p:sp>
        <p:nvSpPr>
          <p:cNvPr id="11" name="TextBox 10"/>
          <p:cNvSpPr txBox="1"/>
          <p:nvPr/>
        </p:nvSpPr>
        <p:spPr>
          <a:xfrm>
            <a:off x="914400" y="3781425"/>
            <a:ext cx="8458200" cy="1276350"/>
          </a:xfrm>
          <a:prstGeom prst="rect">
            <a:avLst/>
          </a:prstGeom>
          <a:noFill/>
        </p:spPr>
        <p:txBody>
          <a:bodyPr wrap="square" lIns="0" rIns="0" tIns="0" bIns="0">
            <a:spAutoFit/>
          </a:bodyPr>
          <a:lstStyle/>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Pipeline Assessment</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Strategic Outlook</a:t>
            </a:r>
          </a:p>
          <a:p>
            <a:pPr marL="342900" indent="-323850">
              <a:lnSpc>
                <a:spcPct val="100000"/>
              </a:lnSpc>
              <a:spcAft>
                <a:spcPts val="800"/>
              </a:spcAft>
            </a:pPr>
            <a:r>
              <a:rPr sz="2000" b="0">
                <a:solidFill>
                  <a:srgbClr val="000000"/>
                </a:solidFill>
                <a:latin typeface="Calibri"/>
              </a:rPr>
              <a:t>➤	</a:t>
            </a:r>
            <a:r>
              <a:rPr sz="2000" b="0">
                <a:solidFill>
                  <a:srgbClr val="000000"/>
                </a:solidFill>
                <a:latin typeface="Calibri"/>
              </a:rPr>
              <a:t>Competition Dashboard</a:t>
            </a:r>
          </a:p>
        </p:txBody>
      </p:sp>
      <p:sp>
        <p:nvSpPr>
          <p:cNvPr id="12" name="TextBox 1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Competitive Landscape at a Glance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Market concentration, segment leadership and the moves that will shift share, 2026–2036, in one page</a:t>
            </a:r>
          </a:p>
        </p:txBody>
      </p:sp>
      <p:cxnSp>
        <p:nvCxnSpPr>
          <p:cNvPr id="10" name="Connector 9"/>
          <p:cNvCxnSpPr/>
          <p:nvPr/>
        </p:nvCxnSpPr>
        <p:spPr>
          <a:xfrm>
            <a:off x="190500" y="10477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476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2" name="TextBox 11"/>
          <p:cNvSpPr txBox="1"/>
          <p:nvPr/>
        </p:nvSpPr>
        <p:spPr>
          <a:xfrm>
            <a:off x="2476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E87722"/>
                </a:solidFill>
                <a:latin typeface="Calibri"/>
              </a:rPr>
              <a:t> </a:t>
            </a:r>
          </a:p>
        </p:txBody>
      </p:sp>
      <p:cxnSp>
        <p:nvCxnSpPr>
          <p:cNvPr id="13" name="Connector 12"/>
          <p:cNvCxnSpPr/>
          <p:nvPr/>
        </p:nvCxnSpPr>
        <p:spPr>
          <a:xfrm>
            <a:off x="16668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240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5" name="TextBox 14"/>
          <p:cNvSpPr txBox="1"/>
          <p:nvPr/>
        </p:nvSpPr>
        <p:spPr>
          <a:xfrm>
            <a:off x="17240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6" name="Connector 15"/>
          <p:cNvCxnSpPr/>
          <p:nvPr/>
        </p:nvCxnSpPr>
        <p:spPr>
          <a:xfrm>
            <a:off x="31432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2004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Top 3 product types</a:t>
            </a:r>
          </a:p>
        </p:txBody>
      </p:sp>
      <p:sp>
        <p:nvSpPr>
          <p:cNvPr id="18" name="TextBox 17"/>
          <p:cNvSpPr txBox="1"/>
          <p:nvPr/>
        </p:nvSpPr>
        <p:spPr>
          <a:xfrm>
            <a:off x="32004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19" name="Connector 18"/>
          <p:cNvCxnSpPr/>
          <p:nvPr/>
        </p:nvCxnSpPr>
        <p:spPr>
          <a:xfrm>
            <a:off x="46196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767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end use</a:t>
            </a:r>
          </a:p>
        </p:txBody>
      </p:sp>
      <p:sp>
        <p:nvSpPr>
          <p:cNvPr id="21" name="TextBox 20"/>
          <p:cNvSpPr txBox="1"/>
          <p:nvPr/>
        </p:nvSpPr>
        <p:spPr>
          <a:xfrm>
            <a:off x="46767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r>
          </a:p>
        </p:txBody>
      </p:sp>
      <p:cxnSp>
        <p:nvCxnSpPr>
          <p:cNvPr id="22" name="Connector 21"/>
          <p:cNvCxnSpPr/>
          <p:nvPr/>
        </p:nvCxnSpPr>
        <p:spPr>
          <a:xfrm>
            <a:off x="609600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5315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Named competitors</a:t>
            </a:r>
          </a:p>
        </p:txBody>
      </p:sp>
      <p:sp>
        <p:nvSpPr>
          <p:cNvPr id="24" name="TextBox 23"/>
          <p:cNvSpPr txBox="1"/>
          <p:nvPr/>
        </p:nvSpPr>
        <p:spPr>
          <a:xfrm>
            <a:off x="615315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10</a:t>
            </a:r>
          </a:p>
        </p:txBody>
      </p:sp>
      <p:cxnSp>
        <p:nvCxnSpPr>
          <p:cNvPr id="25" name="Connector 24"/>
          <p:cNvCxnSpPr/>
          <p:nvPr/>
        </p:nvCxnSpPr>
        <p:spPr>
          <a:xfrm>
            <a:off x="757237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62952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Moves tracked</a:t>
            </a:r>
          </a:p>
        </p:txBody>
      </p:sp>
      <p:sp>
        <p:nvSpPr>
          <p:cNvPr id="27" name="TextBox 26"/>
          <p:cNvSpPr txBox="1"/>
          <p:nvPr/>
        </p:nvSpPr>
        <p:spPr>
          <a:xfrm>
            <a:off x="762952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50</a:t>
            </a:r>
          </a:p>
        </p:txBody>
      </p:sp>
      <p:cxnSp>
        <p:nvCxnSpPr>
          <p:cNvPr id="28" name="Connector 27"/>
          <p:cNvCxnSpPr/>
          <p:nvPr/>
        </p:nvCxnSpPr>
        <p:spPr>
          <a:xfrm>
            <a:off x="9048750"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05900"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Largest player</a:t>
            </a:r>
          </a:p>
        </p:txBody>
      </p:sp>
      <p:sp>
        <p:nvSpPr>
          <p:cNvPr id="30" name="TextBox 29"/>
          <p:cNvSpPr txBox="1"/>
          <p:nvPr/>
        </p:nvSpPr>
        <p:spPr>
          <a:xfrm>
            <a:off x="9105900"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TransMedics</a:t>
            </a:r>
          </a:p>
        </p:txBody>
      </p:sp>
      <p:cxnSp>
        <p:nvCxnSpPr>
          <p:cNvPr id="31" name="Connector 30"/>
          <p:cNvCxnSpPr/>
          <p:nvPr/>
        </p:nvCxnSpPr>
        <p:spPr>
          <a:xfrm>
            <a:off x="10525125" y="1123950"/>
            <a:ext cx="0" cy="4762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582275" y="1104900"/>
            <a:ext cx="1381125" cy="17145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sp>
        <p:nvSpPr>
          <p:cNvPr id="33" name="TextBox 32"/>
          <p:cNvSpPr txBox="1"/>
          <p:nvPr/>
        </p:nvSpPr>
        <p:spPr>
          <a:xfrm>
            <a:off x="10582275" y="1295400"/>
            <a:ext cx="1381125" cy="400050"/>
          </a:xfrm>
          <a:prstGeom prst="rect">
            <a:avLst/>
          </a:prstGeom>
          <a:noFill/>
        </p:spPr>
        <p:txBody>
          <a:bodyPr wrap="square" lIns="28575" rIns="28575" tIns="9525" bIns="9525" anchor="t">
            <a:spAutoFit/>
          </a:bodyPr>
          <a:lstStyle/>
          <a:p>
            <a:pPr algn="l">
              <a:lnSpc>
                <a:spcPct val="115000"/>
              </a:lnSpc>
            </a:pPr>
            <a:r>
              <a:rPr sz="1100" b="1">
                <a:solidFill>
                  <a:srgbClr val="0F2D52"/>
                </a:solidFill>
                <a:latin typeface="Calibri"/>
              </a:rPr>
              <a:t> </a:t>
            </a:r>
          </a:p>
        </p:txBody>
      </p:sp>
      <p:cxnSp>
        <p:nvCxnSpPr>
          <p:cNvPr id="34" name="Connector 33"/>
          <p:cNvCxnSpPr/>
          <p:nvPr/>
        </p:nvCxnSpPr>
        <p:spPr>
          <a:xfrm>
            <a:off x="190500" y="1733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7" name="TextBox 36"/>
          <p:cNvSpPr txBox="1"/>
          <p:nvPr/>
        </p:nvSpPr>
        <p:spPr>
          <a:xfrm>
            <a:off x="495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Leadership is concentrated in value, spread in capability</a:t>
            </a:r>
          </a:p>
        </p:txBody>
      </p:sp>
      <p:sp>
        <p:nvSpPr>
          <p:cNvPr id="38" name="TextBox 37"/>
          <p:cNvSpPr txBox="1"/>
          <p:nvPr/>
        </p:nvSpPr>
        <p:spPr>
          <a:xfrm>
            <a:off x="495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39" name="Rectangle 38"/>
          <p:cNvSpPr/>
          <p:nvPr/>
        </p:nvSpPr>
        <p:spPr>
          <a:xfrm>
            <a:off x="190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0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1" name="TextBox 40"/>
          <p:cNvSpPr txBox="1"/>
          <p:nvPr/>
        </p:nvSpPr>
        <p:spPr>
          <a:xfrm>
            <a:off x="495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The tier structure is steep</a:t>
            </a:r>
          </a:p>
        </p:txBody>
      </p:sp>
      <p:sp>
        <p:nvSpPr>
          <p:cNvPr id="42" name="TextBox 41"/>
          <p:cNvSpPr txBox="1"/>
          <p:nvPr/>
        </p:nvSpPr>
        <p:spPr>
          <a:xfrm>
            <a:off x="495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3" name="Rectangle 42"/>
          <p:cNvSpPr/>
          <p:nvPr/>
        </p:nvSpPr>
        <p:spPr>
          <a:xfrm>
            <a:off x="190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45" name="TextBox 44"/>
          <p:cNvSpPr txBox="1"/>
          <p:nvPr/>
        </p:nvSpPr>
        <p:spPr>
          <a:xfrm>
            <a:off x="495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Growth is shifting inside the product mix</a:t>
            </a:r>
          </a:p>
        </p:txBody>
      </p:sp>
      <p:sp>
        <p:nvSpPr>
          <p:cNvPr id="46" name="TextBox 45"/>
          <p:cNvSpPr txBox="1"/>
          <p:nvPr/>
        </p:nvSpPr>
        <p:spPr>
          <a:xfrm>
            <a:off x="495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47" name="Rectangle 46"/>
          <p:cNvSpPr/>
          <p:nvPr/>
        </p:nvSpPr>
        <p:spPr>
          <a:xfrm>
            <a:off x="6286500" y="19240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86500" y="1924050"/>
            <a:ext cx="209550" cy="2095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49" name="TextBox 48"/>
          <p:cNvSpPr txBox="1"/>
          <p:nvPr/>
        </p:nvSpPr>
        <p:spPr>
          <a:xfrm>
            <a:off x="6591300" y="19050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Reach divides the field</a:t>
            </a:r>
          </a:p>
        </p:txBody>
      </p:sp>
      <p:sp>
        <p:nvSpPr>
          <p:cNvPr id="50" name="TextBox 49"/>
          <p:cNvSpPr txBox="1"/>
          <p:nvPr/>
        </p:nvSpPr>
        <p:spPr>
          <a:xfrm>
            <a:off x="6591300" y="21145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players compete globally, 2 regionally and 4 in one market or niche.</a:t>
            </a:r>
          </a:p>
        </p:txBody>
      </p:sp>
      <p:sp>
        <p:nvSpPr>
          <p:cNvPr id="51" name="Rectangle 50"/>
          <p:cNvSpPr/>
          <p:nvPr/>
        </p:nvSpPr>
        <p:spPr>
          <a:xfrm>
            <a:off x="6286500" y="30289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86500" y="3028950"/>
            <a:ext cx="209550" cy="2095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53" name="TextBox 52"/>
          <p:cNvSpPr txBox="1"/>
          <p:nvPr/>
        </p:nvSpPr>
        <p:spPr>
          <a:xfrm>
            <a:off x="6591300" y="30099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Consolidation is an active lever</a:t>
            </a:r>
          </a:p>
        </p:txBody>
      </p:sp>
      <p:sp>
        <p:nvSpPr>
          <p:cNvPr id="54" name="TextBox 53"/>
          <p:cNvSpPr txBox="1"/>
          <p:nvPr/>
        </p:nvSpPr>
        <p:spPr>
          <a:xfrm>
            <a:off x="6591300" y="32194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is an active strategy at 5 of 10 named players; the independent target list is shrinking.</a:t>
            </a:r>
          </a:p>
        </p:txBody>
      </p:sp>
      <p:sp>
        <p:nvSpPr>
          <p:cNvPr id="55" name="Rectangle 54"/>
          <p:cNvSpPr/>
          <p:nvPr/>
        </p:nvSpPr>
        <p:spPr>
          <a:xfrm>
            <a:off x="6286500" y="4133850"/>
            <a:ext cx="20955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86500" y="4133850"/>
            <a:ext cx="209550" cy="209550"/>
          </a:xfrm>
          <a:prstGeom prst="rect">
            <a:avLst/>
          </a:prstGeom>
          <a:noFill/>
        </p:spPr>
        <p:txBody>
          <a:bodyPr wrap="none" lIns="0" rIns="0" tIns="0" bIns="0" anchor="ctr">
            <a:spAutoFit/>
          </a:bodyPr>
          <a:lstStyle/>
          <a:p>
            <a:pPr algn="ctr"/>
            <a:r>
              <a:rPr sz="1100" b="1">
                <a:solidFill>
                  <a:srgbClr val="FFFFFF"/>
                </a:solidFill>
                <a:latin typeface="Calibri"/>
              </a:rPr>
              <a:t>6</a:t>
            </a:r>
          </a:p>
        </p:txBody>
      </p:sp>
      <p:sp>
        <p:nvSpPr>
          <p:cNvPr id="57" name="TextBox 56"/>
          <p:cNvSpPr txBox="1"/>
          <p:nvPr/>
        </p:nvSpPr>
        <p:spPr>
          <a:xfrm>
            <a:off x="6591300" y="4114800"/>
            <a:ext cx="5410200" cy="190500"/>
          </a:xfrm>
          <a:prstGeom prst="rect">
            <a:avLst/>
          </a:prstGeom>
          <a:noFill/>
        </p:spPr>
        <p:txBody>
          <a:bodyPr wrap="square" lIns="28575" rIns="28575" tIns="9525" bIns="9525" anchor="t">
            <a:spAutoFit/>
          </a:bodyPr>
          <a:lstStyle/>
          <a:p>
            <a:pPr algn="l"/>
            <a:r>
              <a:rPr sz="1100" b="1">
                <a:solidFill>
                  <a:srgbClr val="1F2933"/>
                </a:solidFill>
                <a:latin typeface="Calibri"/>
              </a:rPr>
              <a:t>Success factors, in order</a:t>
            </a:r>
          </a:p>
        </p:txBody>
      </p:sp>
      <p:sp>
        <p:nvSpPr>
          <p:cNvPr id="58" name="TextBox 57"/>
          <p:cNvSpPr txBox="1"/>
          <p:nvPr/>
        </p:nvSpPr>
        <p:spPr>
          <a:xfrm>
            <a:off x="6591300" y="4324350"/>
            <a:ext cx="5410200" cy="7620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 segment breadth, 2 scale and share, 3 geographic reach, 4 innovation pipeline, 5 strategic momentum.  Ranking leads: TransMedics, OrganOx, Paragonix Technologies.</a:t>
            </a:r>
          </a:p>
        </p:txBody>
      </p:sp>
      <p:cxnSp>
        <p:nvCxnSpPr>
          <p:cNvPr id="59" name="Connector 58"/>
          <p:cNvCxnSpPr/>
          <p:nvPr/>
        </p:nvCxnSpPr>
        <p:spPr>
          <a:xfrm>
            <a:off x="190500" y="521970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90500" y="5276850"/>
            <a:ext cx="3810000" cy="152400"/>
          </a:xfrm>
          <a:prstGeom prst="rect">
            <a:avLst/>
          </a:prstGeom>
          <a:noFill/>
        </p:spPr>
        <p:txBody>
          <a:bodyPr wrap="square" lIns="28575" rIns="28575" tIns="9525" bIns="9525" anchor="t">
            <a:spAutoFit/>
          </a:bodyPr>
          <a:lstStyle/>
          <a:p>
            <a:pPr algn="l"/>
            <a:r>
              <a:rPr sz="1100" b="1">
                <a:solidFill>
                  <a:srgbClr val="0F2D52"/>
                </a:solidFill>
                <a:latin typeface="Calibri"/>
              </a:rPr>
              <a:t>HOW THIS SECTION IS BUILT</a:t>
            </a:r>
          </a:p>
        </p:txBody>
      </p:sp>
      <p:sp>
        <p:nvSpPr>
          <p:cNvPr id="61" name="TextBox 60"/>
          <p:cNvSpPr txBox="1"/>
          <p:nvPr/>
        </p:nvSpPr>
        <p:spPr>
          <a:xfrm>
            <a:off x="190500" y="5448300"/>
            <a:ext cx="11811000" cy="5715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Pages 2 to 4 show where the market is and who plays.  Pages 5 to 7 rate every named company on twenty Ps (who they are, what they sell, how they win); a cell reads n/a where no evidence exists.  Page 8 turns the pattern into five success factors and a ranking.  Pages 9 and 10 list what each player is doing and what each of your departments should do about it.</a:t>
            </a:r>
          </a:p>
        </p:txBody>
      </p:sp>
      <p:sp>
        <p:nvSpPr>
          <p:cNvPr id="62" name="TextBox 61"/>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63" name="Picture 62" descr="lock.png"/>
          <p:cNvPicPr>
            <a:picLocks noChangeAspect="1"/>
          </p:cNvPicPr>
          <p:nvPr/>
        </p:nvPicPr>
        <p:blipFill>
          <a:blip r:embed="rId4"/>
          <a:stretch>
            <a:fillRect/>
          </a:stretch>
        </p:blipFill>
        <p:spPr>
          <a:xfrm>
            <a:off x="873863" y="1401826"/>
            <a:ext cx="128699" cy="187198"/>
          </a:xfrm>
          <a:prstGeom prst="rect">
            <a:avLst/>
          </a:prstGeom>
        </p:spPr>
      </p:pic>
      <p:pic>
        <p:nvPicPr>
          <p:cNvPr id="64" name="Picture 63" descr="lock.png"/>
          <p:cNvPicPr>
            <a:picLocks noChangeAspect="1"/>
          </p:cNvPicPr>
          <p:nvPr/>
        </p:nvPicPr>
        <p:blipFill>
          <a:blip r:embed="rId4"/>
          <a:stretch>
            <a:fillRect/>
          </a:stretch>
        </p:blipFill>
        <p:spPr>
          <a:xfrm>
            <a:off x="2350238" y="1401826"/>
            <a:ext cx="128699" cy="187198"/>
          </a:xfrm>
          <a:prstGeom prst="rect">
            <a:avLst/>
          </a:prstGeom>
        </p:spPr>
      </p:pic>
      <p:pic>
        <p:nvPicPr>
          <p:cNvPr id="65" name="Picture 64" descr="lock.png"/>
          <p:cNvPicPr>
            <a:picLocks noChangeAspect="1"/>
          </p:cNvPicPr>
          <p:nvPr/>
        </p:nvPicPr>
        <p:blipFill>
          <a:blip r:embed="rId4"/>
          <a:stretch>
            <a:fillRect/>
          </a:stretch>
        </p:blipFill>
        <p:spPr>
          <a:xfrm>
            <a:off x="3826613" y="1401826"/>
            <a:ext cx="128699" cy="187198"/>
          </a:xfrm>
          <a:prstGeom prst="rect">
            <a:avLst/>
          </a:prstGeom>
        </p:spPr>
      </p:pic>
      <p:pic>
        <p:nvPicPr>
          <p:cNvPr id="66" name="Picture 65" descr="lock.png"/>
          <p:cNvPicPr>
            <a:picLocks noChangeAspect="1"/>
          </p:cNvPicPr>
          <p:nvPr/>
        </p:nvPicPr>
        <p:blipFill>
          <a:blip r:embed="rId4"/>
          <a:stretch>
            <a:fillRect/>
          </a:stretch>
        </p:blipFill>
        <p:spPr>
          <a:xfrm>
            <a:off x="11208488" y="1401826"/>
            <a:ext cx="128699" cy="187198"/>
          </a:xfrm>
          <a:prstGeom prst="rect">
            <a:avLst/>
          </a:prstGeom>
        </p:spPr>
      </p:pic>
      <p:sp>
        <p:nvSpPr>
          <p:cNvPr id="67" name="TextBox 66"/>
          <p:cNvSpPr txBox="1"/>
          <p:nvPr/>
        </p:nvSpPr>
        <p:spPr>
          <a:xfrm>
            <a:off x="4705350" y="1304925"/>
            <a:ext cx="788888" cy="186689"/>
          </a:xfrm>
          <a:prstGeom prst="rect">
            <a:avLst/>
          </a:prstGeom>
          <a:noFill/>
        </p:spPr>
        <p:txBody>
          <a:bodyPr wrap="none" lIns="0" rIns="0" tIns="0" bIns="0">
            <a:spAutoFit/>
          </a:bodyPr>
          <a:lstStyle/>
          <a:p>
            <a:r>
              <a:rPr sz="1100" b="1">
                <a:solidFill>
                  <a:srgbClr val="0F2D52"/>
                </a:solidFill>
                <a:latin typeface="Calibri"/>
              </a:rPr>
              <a:t>Direct Sales,</a:t>
            </a:r>
          </a:p>
        </p:txBody>
      </p:sp>
      <p:pic>
        <p:nvPicPr>
          <p:cNvPr id="68" name="Picture 67" descr="lock.png"/>
          <p:cNvPicPr>
            <a:picLocks noChangeAspect="1"/>
          </p:cNvPicPr>
          <p:nvPr/>
        </p:nvPicPr>
        <p:blipFill>
          <a:blip r:embed="rId4"/>
          <a:stretch>
            <a:fillRect/>
          </a:stretch>
        </p:blipFill>
        <p:spPr>
          <a:xfrm>
            <a:off x="5442289" y="1295146"/>
            <a:ext cx="128699" cy="187198"/>
          </a:xfrm>
          <a:prstGeom prst="rect">
            <a:avLst/>
          </a:prstGeom>
        </p:spPr>
      </p:pic>
      <p:sp>
        <p:nvSpPr>
          <p:cNvPr id="69" name="TextBox 68"/>
          <p:cNvSpPr txBox="1"/>
          <p:nvPr/>
        </p:nvSpPr>
        <p:spPr>
          <a:xfrm>
            <a:off x="523875" y="2124075"/>
            <a:ext cx="1137319" cy="186689"/>
          </a:xfrm>
          <a:prstGeom prst="rect">
            <a:avLst/>
          </a:prstGeom>
          <a:noFill/>
        </p:spPr>
        <p:txBody>
          <a:bodyPr wrap="none" lIns="0" rIns="0" tIns="0" bIns="0">
            <a:spAutoFit/>
          </a:bodyPr>
          <a:lstStyle/>
          <a:p>
            <a:r>
              <a:rPr sz="1100" b="0">
                <a:solidFill>
                  <a:srgbClr val="1F2933"/>
                </a:solidFill>
                <a:latin typeface="Calibri"/>
              </a:rPr>
              <a:t>The top three hold</a:t>
            </a:r>
          </a:p>
        </p:txBody>
      </p:sp>
      <p:pic>
        <p:nvPicPr>
          <p:cNvPr id="70" name="Picture 69" descr="lock.png"/>
          <p:cNvPicPr>
            <a:picLocks noChangeAspect="1"/>
          </p:cNvPicPr>
          <p:nvPr/>
        </p:nvPicPr>
        <p:blipFill>
          <a:blip r:embed="rId4"/>
          <a:stretch>
            <a:fillRect/>
          </a:stretch>
        </p:blipFill>
        <p:spPr>
          <a:xfrm>
            <a:off x="1609246" y="2114296"/>
            <a:ext cx="128699" cy="187198"/>
          </a:xfrm>
          <a:prstGeom prst="rect">
            <a:avLst/>
          </a:prstGeom>
        </p:spPr>
      </p:pic>
      <p:sp>
        <p:nvSpPr>
          <p:cNvPr id="71" name="TextBox 70"/>
          <p:cNvSpPr txBox="1"/>
          <p:nvPr/>
        </p:nvSpPr>
        <p:spPr>
          <a:xfrm>
            <a:off x="1776742" y="2124075"/>
            <a:ext cx="3949327" cy="186689"/>
          </a:xfrm>
          <a:prstGeom prst="rect">
            <a:avLst/>
          </a:prstGeom>
          <a:noFill/>
        </p:spPr>
        <p:txBody>
          <a:bodyPr wrap="none" lIns="0" rIns="0" tIns="0" bIns="0">
            <a:spAutoFit/>
          </a:bodyPr>
          <a:lstStyle/>
          <a:p>
            <a:r>
              <a:rPr sz="1100" b="0">
                <a:solidFill>
                  <a:srgbClr val="1F2933"/>
                </a:solidFill>
                <a:latin typeface="Calibri"/>
              </a:rPr>
              <a:t>of 2026 value, but 2 companies lead the 4 sub-segments tracked; no</a:t>
            </a:r>
          </a:p>
        </p:txBody>
      </p:sp>
      <p:sp>
        <p:nvSpPr>
          <p:cNvPr id="72" name="TextBox 71"/>
          <p:cNvSpPr txBox="1"/>
          <p:nvPr/>
        </p:nvSpPr>
        <p:spPr>
          <a:xfrm>
            <a:off x="523875" y="2291715"/>
            <a:ext cx="1386433" cy="186689"/>
          </a:xfrm>
          <a:prstGeom prst="rect">
            <a:avLst/>
          </a:prstGeom>
          <a:noFill/>
        </p:spPr>
        <p:txBody>
          <a:bodyPr wrap="none" lIns="0" rIns="0" tIns="0" bIns="0">
            <a:spAutoFit/>
          </a:bodyPr>
          <a:lstStyle/>
          <a:p>
            <a:r>
              <a:rPr sz="1100" b="0">
                <a:solidFill>
                  <a:srgbClr val="1F2933"/>
                </a:solidFill>
                <a:latin typeface="Calibri"/>
              </a:rPr>
              <a:t>one leads more than 3.</a:t>
            </a:r>
          </a:p>
        </p:txBody>
      </p:sp>
      <p:sp>
        <p:nvSpPr>
          <p:cNvPr id="73" name="TextBox 72"/>
          <p:cNvSpPr txBox="1"/>
          <p:nvPr/>
        </p:nvSpPr>
        <p:spPr>
          <a:xfrm>
            <a:off x="523875" y="3228975"/>
            <a:ext cx="1364059" cy="186689"/>
          </a:xfrm>
          <a:prstGeom prst="rect">
            <a:avLst/>
          </a:prstGeom>
          <a:noFill/>
        </p:spPr>
        <p:txBody>
          <a:bodyPr wrap="none" lIns="0" rIns="0" tIns="0" bIns="0">
            <a:spAutoFit/>
          </a:bodyPr>
          <a:lstStyle/>
          <a:p>
            <a:r>
              <a:rPr sz="1100" b="0">
                <a:solidFill>
                  <a:srgbClr val="1F2933"/>
                </a:solidFill>
                <a:latin typeface="Calibri"/>
              </a:rPr>
              <a:t>Tier 1 (4 players) holds</a:t>
            </a:r>
          </a:p>
        </p:txBody>
      </p:sp>
      <p:pic>
        <p:nvPicPr>
          <p:cNvPr id="74" name="Picture 73" descr="lock.png"/>
          <p:cNvPicPr>
            <a:picLocks noChangeAspect="1"/>
          </p:cNvPicPr>
          <p:nvPr/>
        </p:nvPicPr>
        <p:blipFill>
          <a:blip r:embed="rId4"/>
          <a:stretch>
            <a:fillRect/>
          </a:stretch>
        </p:blipFill>
        <p:spPr>
          <a:xfrm>
            <a:off x="1835985" y="3219196"/>
            <a:ext cx="128699" cy="187198"/>
          </a:xfrm>
          <a:prstGeom prst="rect">
            <a:avLst/>
          </a:prstGeom>
        </p:spPr>
      </p:pic>
      <p:sp>
        <p:nvSpPr>
          <p:cNvPr id="75" name="TextBox 74"/>
          <p:cNvSpPr txBox="1"/>
          <p:nvPr/>
        </p:nvSpPr>
        <p:spPr>
          <a:xfrm>
            <a:off x="2003481" y="3228975"/>
            <a:ext cx="1875656" cy="186689"/>
          </a:xfrm>
          <a:prstGeom prst="rect">
            <a:avLst/>
          </a:prstGeom>
          <a:noFill/>
        </p:spPr>
        <p:txBody>
          <a:bodyPr wrap="none" lIns="0" rIns="0" tIns="0" bIns="0">
            <a:spAutoFit/>
          </a:bodyPr>
          <a:lstStyle/>
          <a:p>
            <a:r>
              <a:rPr sz="1100" b="0">
                <a:solidFill>
                  <a:srgbClr val="1F2933"/>
                </a:solidFill>
                <a:latin typeface="Calibri"/>
              </a:rPr>
              <a:t>; Tier 2 and Tier 3 together hold</a:t>
            </a:r>
          </a:p>
        </p:txBody>
      </p:sp>
      <p:pic>
        <p:nvPicPr>
          <p:cNvPr id="76" name="Picture 75" descr="lock.png"/>
          <p:cNvPicPr>
            <a:picLocks noChangeAspect="1"/>
          </p:cNvPicPr>
          <p:nvPr/>
        </p:nvPicPr>
        <p:blipFill>
          <a:blip r:embed="rId4"/>
          <a:stretch>
            <a:fillRect/>
          </a:stretch>
        </p:blipFill>
        <p:spPr>
          <a:xfrm>
            <a:off x="3827189" y="3219196"/>
            <a:ext cx="128699" cy="187198"/>
          </a:xfrm>
          <a:prstGeom prst="rect">
            <a:avLst/>
          </a:prstGeom>
        </p:spPr>
      </p:pic>
      <p:sp>
        <p:nvSpPr>
          <p:cNvPr id="77" name="TextBox 76"/>
          <p:cNvSpPr txBox="1"/>
          <p:nvPr/>
        </p:nvSpPr>
        <p:spPr>
          <a:xfrm>
            <a:off x="3994685" y="3228975"/>
            <a:ext cx="111397" cy="186689"/>
          </a:xfrm>
          <a:prstGeom prst="rect">
            <a:avLst/>
          </a:prstGeom>
          <a:noFill/>
        </p:spPr>
        <p:txBody>
          <a:bodyPr wrap="none" lIns="0" rIns="0" tIns="0" bIns="0">
            <a:spAutoFit/>
          </a:bodyPr>
          <a:lstStyle/>
          <a:p>
            <a:r>
              <a:rPr sz="1100" b="0">
                <a:solidFill>
                  <a:srgbClr val="1F2933"/>
                </a:solidFill>
                <a:latin typeface="Calibri"/>
              </a:rPr>
              <a:t>.</a:t>
            </a:r>
          </a:p>
        </p:txBody>
      </p:sp>
      <p:sp>
        <p:nvSpPr>
          <p:cNvPr id="78" name="TextBox 77"/>
          <p:cNvSpPr txBox="1"/>
          <p:nvPr/>
        </p:nvSpPr>
        <p:spPr>
          <a:xfrm>
            <a:off x="523875" y="4333875"/>
            <a:ext cx="4846191" cy="186689"/>
          </a:xfrm>
          <a:prstGeom prst="rect">
            <a:avLst/>
          </a:prstGeom>
          <a:noFill/>
        </p:spPr>
        <p:txBody>
          <a:bodyPr wrap="none" lIns="0" rIns="0" tIns="0" bIns="0">
            <a:spAutoFit/>
          </a:bodyPr>
          <a:lstStyle/>
          <a:p>
            <a:r>
              <a:rPr sz="1100" b="0">
                <a:solidFill>
                  <a:srgbClr val="1F2933"/>
                </a:solidFill>
                <a:latin typeface="Calibri"/>
              </a:rPr>
              <a:t>'Portable Machine Perfusion Devices' is the largest line; 'Static Cold Storage Devices'</a:t>
            </a:r>
          </a:p>
        </p:txBody>
      </p:sp>
      <p:sp>
        <p:nvSpPr>
          <p:cNvPr id="79" name="TextBox 78"/>
          <p:cNvSpPr txBox="1"/>
          <p:nvPr/>
        </p:nvSpPr>
        <p:spPr>
          <a:xfrm>
            <a:off x="523875" y="4501515"/>
            <a:ext cx="1301576" cy="186689"/>
          </a:xfrm>
          <a:prstGeom prst="rect">
            <a:avLst/>
          </a:prstGeom>
          <a:noFill/>
        </p:spPr>
        <p:txBody>
          <a:bodyPr wrap="none" lIns="0" rIns="0" tIns="0" bIns="0">
            <a:spAutoFit/>
          </a:bodyPr>
          <a:lstStyle/>
          <a:p>
            <a:r>
              <a:rPr sz="1100" b="0">
                <a:solidFill>
                  <a:srgbClr val="1F2933"/>
                </a:solidFill>
                <a:latin typeface="Calibri"/>
              </a:rPr>
              <a:t>compounds fastest at</a:t>
            </a:r>
          </a:p>
        </p:txBody>
      </p:sp>
      <p:pic>
        <p:nvPicPr>
          <p:cNvPr id="80" name="Picture 79" descr="lock.png"/>
          <p:cNvPicPr>
            <a:picLocks noChangeAspect="1"/>
          </p:cNvPicPr>
          <p:nvPr/>
        </p:nvPicPr>
        <p:blipFill>
          <a:blip r:embed="rId4"/>
          <a:stretch>
            <a:fillRect/>
          </a:stretch>
        </p:blipFill>
        <p:spPr>
          <a:xfrm>
            <a:off x="1773502" y="4491736"/>
            <a:ext cx="128699" cy="187198"/>
          </a:xfrm>
          <a:prstGeom prst="rect">
            <a:avLst/>
          </a:prstGeom>
        </p:spPr>
      </p:pic>
      <p:sp>
        <p:nvSpPr>
          <p:cNvPr id="81" name="TextBox 80"/>
          <p:cNvSpPr txBox="1"/>
          <p:nvPr/>
        </p:nvSpPr>
        <p:spPr>
          <a:xfrm>
            <a:off x="1940998" y="4501515"/>
            <a:ext cx="430617" cy="186689"/>
          </a:xfrm>
          <a:prstGeom prst="rect">
            <a:avLst/>
          </a:prstGeom>
          <a:noFill/>
        </p:spPr>
        <p:txBody>
          <a:bodyPr wrap="none" lIns="0" rIns="0" tIns="0" bIns="0">
            <a:spAutoFit/>
          </a:bodyPr>
          <a:lstStyle/>
          <a:p>
            <a:r>
              <a:rPr sz="1100" b="0">
                <a:solidFill>
                  <a:srgbClr val="1F2933"/>
                </a:solidFill>
                <a:latin typeface="Calibri"/>
              </a:rPr>
              <a:t>CAGR.</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Segment Leadership Map</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Share by player group and which named player leads or is active in each sub-segment, 2026</a:t>
            </a:r>
          </a:p>
        </p:txBody>
      </p:sp>
      <p:sp>
        <p:nvSpPr>
          <p:cNvPr id="10" name="TextBox 9"/>
          <p:cNvSpPr txBox="1"/>
          <p:nvPr/>
        </p:nvSpPr>
        <p:spPr>
          <a:xfrm>
            <a:off x="190500" y="104775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Who holds the market, 2026</a:t>
            </a:r>
          </a:p>
        </p:txBody>
      </p:sp>
      <p:sp>
        <p:nvSpPr>
          <p:cNvPr id="11" name="Rectangle 10"/>
          <p:cNvSpPr/>
          <p:nvPr/>
        </p:nvSpPr>
        <p:spPr>
          <a:xfrm>
            <a:off x="190500" y="1257300"/>
            <a:ext cx="4509884" cy="266700"/>
          </a:xfrm>
          <a:prstGeom prst="rect">
            <a:avLst/>
          </a:prstGeom>
          <a:solidFill>
            <a:srgbClr val="0F2D52"/>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 y="1257300"/>
            <a:ext cx="4433684"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3" name="Rectangle 12"/>
          <p:cNvSpPr/>
          <p:nvPr/>
        </p:nvSpPr>
        <p:spPr>
          <a:xfrm>
            <a:off x="4700384" y="1257300"/>
            <a:ext cx="1536162" cy="266700"/>
          </a:xfrm>
          <a:prstGeom prst="rect">
            <a:avLst/>
          </a:prstGeom>
          <a:solidFill>
            <a:srgbClr val="1F6FA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7534" y="1257300"/>
            <a:ext cx="1459962"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5" name="Rectangle 14"/>
          <p:cNvSpPr/>
          <p:nvPr/>
        </p:nvSpPr>
        <p:spPr>
          <a:xfrm>
            <a:off x="6236546" y="1257300"/>
            <a:ext cx="2242416" cy="266700"/>
          </a:xfrm>
          <a:prstGeom prst="rect">
            <a:avLst/>
          </a:prstGeom>
          <a:solidFill>
            <a:srgbClr val="6FA0C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3696" y="1257300"/>
            <a:ext cx="2166216" cy="266700"/>
          </a:xfrm>
          <a:prstGeom prst="rect">
            <a:avLst/>
          </a:prstGeom>
          <a:noFill/>
        </p:spPr>
        <p:txBody>
          <a:bodyPr wrap="square" lIns="28575" rIns="28575" tIns="9525" bIns="9525" anchor="ctr">
            <a:spAutoFit/>
          </a:bodyPr>
          <a:lstStyle/>
          <a:p>
            <a:pPr algn="l"/>
            <a:r>
              <a:rPr sz="1100" b="1">
                <a:solidFill>
                  <a:srgbClr val="FFFFFF"/>
                </a:solidFill>
                <a:latin typeface="Calibri"/>
              </a:rPr>
              <a:t/>
            </a:r>
          </a:p>
        </p:txBody>
      </p:sp>
      <p:sp>
        <p:nvSpPr>
          <p:cNvPr id="17" name="Rectangle 16"/>
          <p:cNvSpPr/>
          <p:nvPr/>
        </p:nvSpPr>
        <p:spPr>
          <a:xfrm>
            <a:off x="8478962" y="1257300"/>
            <a:ext cx="3522538" cy="266700"/>
          </a:xfrm>
          <a:prstGeom prst="rect">
            <a:avLst/>
          </a:prstGeom>
          <a:solidFill>
            <a:srgbClr val="A9C6E3"/>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6112" y="1257300"/>
            <a:ext cx="3446338" cy="266700"/>
          </a:xfrm>
          <a:prstGeom prst="rect">
            <a:avLst/>
          </a:prstGeom>
          <a:noFill/>
        </p:spPr>
        <p:txBody>
          <a:bodyPr wrap="square" lIns="28575" rIns="28575" tIns="9525" bIns="9525" anchor="ctr">
            <a:spAutoFit/>
          </a:bodyPr>
          <a:lstStyle/>
          <a:p>
            <a:pPr algn="l"/>
            <a:r>
              <a:rPr sz="1100" b="1">
                <a:solidFill>
                  <a:srgbClr val="0F2D52"/>
                </a:solidFill>
                <a:latin typeface="Calibri"/>
              </a:rPr>
              <a:t/>
            </a:r>
          </a:p>
        </p:txBody>
      </p:sp>
      <p:sp>
        <p:nvSpPr>
          <p:cNvPr id="19" name="Rectangle 18"/>
          <p:cNvSpPr/>
          <p:nvPr/>
        </p:nvSpPr>
        <p:spPr>
          <a:xfrm>
            <a:off x="190500" y="1600200"/>
            <a:ext cx="85725" cy="857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3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TransMedics, OrganOx, XVIVO Perfusion</a:t>
            </a:r>
          </a:p>
        </p:txBody>
      </p:sp>
      <p:sp>
        <p:nvSpPr>
          <p:cNvPr id="21" name="Rectangle 20"/>
          <p:cNvSpPr/>
          <p:nvPr/>
        </p:nvSpPr>
        <p:spPr>
          <a:xfrm>
            <a:off x="3143250" y="1600200"/>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670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Paragonix Technologies, Organ Recovery Systems</a:t>
            </a:r>
          </a:p>
        </p:txBody>
      </p:sp>
      <p:sp>
        <p:nvSpPr>
          <p:cNvPr id="23" name="Rectangle 22"/>
          <p:cNvSpPr/>
          <p:nvPr/>
        </p:nvSpPr>
        <p:spPr>
          <a:xfrm>
            <a:off x="6096000" y="1600200"/>
            <a:ext cx="85725" cy="85725"/>
          </a:xfrm>
          <a:prstGeom prst="rect">
            <a:avLst/>
          </a:prstGeom>
          <a:solidFill>
            <a:srgbClr val="6FA0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982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IGL Group / Waters Medical Systems, Bridge to Life, Aferetica, EBERS Medical Technology, Traferox Technologies</a:t>
            </a:r>
          </a:p>
        </p:txBody>
      </p:sp>
      <p:sp>
        <p:nvSpPr>
          <p:cNvPr id="25" name="Rectangle 24"/>
          <p:cNvSpPr/>
          <p:nvPr/>
        </p:nvSpPr>
        <p:spPr>
          <a:xfrm>
            <a:off x="9048750" y="1600200"/>
            <a:ext cx="85725" cy="857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2575" y="1543050"/>
            <a:ext cx="276225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Long tail of regional and niche suppliers</a:t>
            </a:r>
          </a:p>
        </p:txBody>
      </p:sp>
      <p:cxnSp>
        <p:nvCxnSpPr>
          <p:cNvPr id="27" name="Connector 26"/>
          <p:cNvCxnSpPr/>
          <p:nvPr/>
        </p:nvCxnSpPr>
        <p:spPr>
          <a:xfrm>
            <a:off x="190500" y="19240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90500" y="1981200"/>
            <a:ext cx="8572500" cy="171450"/>
          </a:xfrm>
          <a:prstGeom prst="rect">
            <a:avLst/>
          </a:prstGeom>
          <a:noFill/>
        </p:spPr>
        <p:txBody>
          <a:bodyPr wrap="square" lIns="28575" rIns="28575" tIns="9525" bIns="9525" anchor="t">
            <a:spAutoFit/>
          </a:bodyPr>
          <a:lstStyle/>
          <a:p>
            <a:pPr algn="l"/>
            <a:r>
              <a:rPr sz="1100" b="1">
                <a:solidFill>
                  <a:srgbClr val="0F2D52"/>
                </a:solidFill>
                <a:latin typeface="Calibri"/>
              </a:rPr>
              <a:t>Who leads which sub-segment, 2026  (full = leader, half = active)</a:t>
            </a:r>
          </a:p>
        </p:txBody>
      </p:sp>
      <p:sp>
        <p:nvSpPr>
          <p:cNvPr id="29" name="TextBox 28"/>
          <p:cNvSpPr txBox="1"/>
          <p:nvPr/>
        </p:nvSpPr>
        <p:spPr>
          <a:xfrm>
            <a:off x="2842687" y="2114550"/>
            <a:ext cx="2256366"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Portable Machine Perfusion Devices</a:t>
            </a:r>
          </a:p>
        </p:txBody>
      </p:sp>
      <p:sp>
        <p:nvSpPr>
          <p:cNvPr id="30" name="TextBox 29"/>
          <p:cNvSpPr txBox="1"/>
          <p:nvPr/>
        </p:nvSpPr>
        <p:spPr>
          <a:xfrm>
            <a:off x="5137153" y="2114550"/>
            <a:ext cx="2256366"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Static Cold Storage Devices</a:t>
            </a:r>
          </a:p>
        </p:txBody>
      </p:sp>
      <p:sp>
        <p:nvSpPr>
          <p:cNvPr id="31" name="TextBox 30"/>
          <p:cNvSpPr txBox="1"/>
          <p:nvPr/>
        </p:nvSpPr>
        <p:spPr>
          <a:xfrm>
            <a:off x="7431618" y="2114550"/>
            <a:ext cx="2256366"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Direct Sales</a:t>
            </a:r>
          </a:p>
        </p:txBody>
      </p:sp>
      <p:sp>
        <p:nvSpPr>
          <p:cNvPr id="32" name="TextBox 31"/>
          <p:cNvSpPr txBox="1"/>
          <p:nvPr/>
        </p:nvSpPr>
        <p:spPr>
          <a:xfrm>
            <a:off x="9726084" y="2114550"/>
            <a:ext cx="2256366" cy="476250"/>
          </a:xfrm>
          <a:prstGeom prst="rect">
            <a:avLst/>
          </a:prstGeom>
          <a:noFill/>
        </p:spPr>
        <p:txBody>
          <a:bodyPr wrap="square" lIns="28575" rIns="28575" tIns="9525" bIns="9525" anchor="ctr">
            <a:spAutoFit/>
          </a:bodyPr>
          <a:lstStyle/>
          <a:p>
            <a:pPr algn="ctr">
              <a:lnSpc>
                <a:spcPct val="115000"/>
              </a:lnSpc>
            </a:pPr>
            <a:r>
              <a:rPr sz="1100" b="1">
                <a:solidFill>
                  <a:srgbClr val="0F2D52"/>
                </a:solidFill>
                <a:latin typeface="Calibri"/>
              </a:rPr>
              <a:t>Distributor Sales</a:t>
            </a:r>
          </a:p>
        </p:txBody>
      </p:sp>
      <p:cxnSp>
        <p:nvCxnSpPr>
          <p:cNvPr id="33" name="Connector 32"/>
          <p:cNvCxnSpPr/>
          <p:nvPr/>
        </p:nvCxnSpPr>
        <p:spPr>
          <a:xfrm>
            <a:off x="190500" y="2609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90500" y="2638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5750" y="26289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TransMedics</a:t>
            </a:r>
          </a:p>
        </p:txBody>
      </p:sp>
      <p:sp>
        <p:nvSpPr>
          <p:cNvPr id="36" name="TextBox 35"/>
          <p:cNvSpPr txBox="1"/>
          <p:nvPr/>
        </p:nvSpPr>
        <p:spPr>
          <a:xfrm>
            <a:off x="285750" y="27908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7" name="Oval 36"/>
          <p:cNvSpPr/>
          <p:nvPr/>
        </p:nvSpPr>
        <p:spPr>
          <a:xfrm>
            <a:off x="3894670" y="2705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3971925" y="2705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89136"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83601"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10778067" y="2705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90500" y="2952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190500" y="2981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5750" y="29718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OrganOx</a:t>
            </a:r>
          </a:p>
        </p:txBody>
      </p:sp>
      <p:sp>
        <p:nvSpPr>
          <p:cNvPr id="45" name="TextBox 44"/>
          <p:cNvSpPr txBox="1"/>
          <p:nvPr/>
        </p:nvSpPr>
        <p:spPr>
          <a:xfrm>
            <a:off x="285750" y="31337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6" name="Oval 45"/>
          <p:cNvSpPr/>
          <p:nvPr/>
        </p:nvSpPr>
        <p:spPr>
          <a:xfrm>
            <a:off x="3894670"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3971925"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189136"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6267450" y="30480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83601"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8562975" y="30480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778067" y="3048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a:off x="190500" y="3295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190500" y="3324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5750" y="33147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XVIVO Perfusion</a:t>
            </a:r>
          </a:p>
        </p:txBody>
      </p:sp>
      <p:sp>
        <p:nvSpPr>
          <p:cNvPr id="56" name="TextBox 55"/>
          <p:cNvSpPr txBox="1"/>
          <p:nvPr/>
        </p:nvSpPr>
        <p:spPr>
          <a:xfrm>
            <a:off x="285750" y="34766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7" name="Oval 56"/>
          <p:cNvSpPr/>
          <p:nvPr/>
        </p:nvSpPr>
        <p:spPr>
          <a:xfrm>
            <a:off x="3894670" y="3390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189136"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483601"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778067" y="3390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10858500" y="33909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667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5750" y="36576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Paragonix Technologies</a:t>
            </a:r>
          </a:p>
        </p:txBody>
      </p:sp>
      <p:sp>
        <p:nvSpPr>
          <p:cNvPr id="65" name="TextBox 64"/>
          <p:cNvSpPr txBox="1"/>
          <p:nvPr/>
        </p:nvSpPr>
        <p:spPr>
          <a:xfrm>
            <a:off x="285750" y="38195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6" name="Oval 65"/>
          <p:cNvSpPr/>
          <p:nvPr/>
        </p:nvSpPr>
        <p:spPr>
          <a:xfrm>
            <a:off x="3894670"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189136"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6267450" y="3733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483601"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8562975"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0778067" y="3733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10858500" y="37338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190500" y="3981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4010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5750" y="40005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 Recovery Systems</a:t>
            </a:r>
          </a:p>
        </p:txBody>
      </p:sp>
      <p:sp>
        <p:nvSpPr>
          <p:cNvPr id="76" name="TextBox 75"/>
          <p:cNvSpPr txBox="1"/>
          <p:nvPr/>
        </p:nvSpPr>
        <p:spPr>
          <a:xfrm>
            <a:off x="285750" y="41624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7" name="Oval 76"/>
          <p:cNvSpPr/>
          <p:nvPr/>
        </p:nvSpPr>
        <p:spPr>
          <a:xfrm>
            <a:off x="3894670"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3971925"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189136"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6267450" y="4076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483601"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8562975" y="40767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778067" y="4076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a:off x="190500" y="4324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352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85750" y="43434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IGL Group / Waters Medical Systems</a:t>
            </a:r>
          </a:p>
        </p:txBody>
      </p:sp>
      <p:sp>
        <p:nvSpPr>
          <p:cNvPr id="87" name="TextBox 86"/>
          <p:cNvSpPr txBox="1"/>
          <p:nvPr/>
        </p:nvSpPr>
        <p:spPr>
          <a:xfrm>
            <a:off x="285750" y="45053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8" name="Oval 87"/>
          <p:cNvSpPr/>
          <p:nvPr/>
        </p:nvSpPr>
        <p:spPr>
          <a:xfrm>
            <a:off x="3894670"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3971925"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6189136"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6267450" y="4419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483601"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0778067" y="4419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10858500" y="44196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190500" y="4667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695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5750" y="46863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Bridge to Life</a:t>
            </a:r>
          </a:p>
        </p:txBody>
      </p:sp>
      <p:sp>
        <p:nvSpPr>
          <p:cNvPr id="98" name="TextBox 97"/>
          <p:cNvSpPr txBox="1"/>
          <p:nvPr/>
        </p:nvSpPr>
        <p:spPr>
          <a:xfrm>
            <a:off x="285750" y="48482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9" name="Oval 98"/>
          <p:cNvSpPr/>
          <p:nvPr/>
        </p:nvSpPr>
        <p:spPr>
          <a:xfrm>
            <a:off x="3894670"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Freeform 99"/>
          <p:cNvSpPr/>
          <p:nvPr/>
        </p:nvSpPr>
        <p:spPr>
          <a:xfrm>
            <a:off x="3971925" y="4762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6189136"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483601"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8562975"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778067" y="4762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10858500" y="47625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a:off x="190500" y="5010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038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85750" y="50292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Aferetica</a:t>
            </a:r>
          </a:p>
        </p:txBody>
      </p:sp>
      <p:sp>
        <p:nvSpPr>
          <p:cNvPr id="109" name="TextBox 108"/>
          <p:cNvSpPr txBox="1"/>
          <p:nvPr/>
        </p:nvSpPr>
        <p:spPr>
          <a:xfrm>
            <a:off x="285750" y="51911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0" name="Oval 109"/>
          <p:cNvSpPr/>
          <p:nvPr/>
        </p:nvSpPr>
        <p:spPr>
          <a:xfrm>
            <a:off x="3894670"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189136"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Freeform 111"/>
          <p:cNvSpPr/>
          <p:nvPr/>
        </p:nvSpPr>
        <p:spPr>
          <a:xfrm>
            <a:off x="6267450" y="51054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8483601"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Freeform 113"/>
          <p:cNvSpPr/>
          <p:nvPr/>
        </p:nvSpPr>
        <p:spPr>
          <a:xfrm>
            <a:off x="8562975" y="51054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778067" y="5105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190500" y="5353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7" name="Rectangle 116"/>
          <p:cNvSpPr/>
          <p:nvPr/>
        </p:nvSpPr>
        <p:spPr>
          <a:xfrm>
            <a:off x="190500" y="5381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85750" y="53721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EBERS Medical Technology</a:t>
            </a:r>
          </a:p>
        </p:txBody>
      </p:sp>
      <p:sp>
        <p:nvSpPr>
          <p:cNvPr id="119" name="TextBox 118"/>
          <p:cNvSpPr txBox="1"/>
          <p:nvPr/>
        </p:nvSpPr>
        <p:spPr>
          <a:xfrm>
            <a:off x="285750" y="55340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0" name="Oval 119"/>
          <p:cNvSpPr/>
          <p:nvPr/>
        </p:nvSpPr>
        <p:spPr>
          <a:xfrm>
            <a:off x="3894670"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3971925"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6189136"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6267450" y="5448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483601"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0778067" y="5448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Freeform 125"/>
          <p:cNvSpPr/>
          <p:nvPr/>
        </p:nvSpPr>
        <p:spPr>
          <a:xfrm>
            <a:off x="10858500" y="54483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190500" y="5695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8" name="Rectangle 127"/>
          <p:cNvSpPr/>
          <p:nvPr/>
        </p:nvSpPr>
        <p:spPr>
          <a:xfrm>
            <a:off x="190500" y="5724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85750" y="57150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Traferox Technologies</a:t>
            </a:r>
          </a:p>
        </p:txBody>
      </p:sp>
      <p:sp>
        <p:nvSpPr>
          <p:cNvPr id="130" name="TextBox 129"/>
          <p:cNvSpPr txBox="1"/>
          <p:nvPr/>
        </p:nvSpPr>
        <p:spPr>
          <a:xfrm>
            <a:off x="285750" y="58769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1" name="Oval 130"/>
          <p:cNvSpPr/>
          <p:nvPr/>
        </p:nvSpPr>
        <p:spPr>
          <a:xfrm>
            <a:off x="3894670"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3971925"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6189136"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267450" y="57912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483601"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8562975"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7" y="4"/>
                </a:lnTo>
                <a:lnTo>
                  <a:pt x="7" y="5"/>
                </a:lnTo>
                <a:lnTo>
                  <a:pt x="8" y="7"/>
                </a:lnTo>
                <a:lnTo>
                  <a:pt x="8" y="8"/>
                </a:lnTo>
                <a:lnTo>
                  <a:pt x="8" y="9"/>
                </a:lnTo>
                <a:lnTo>
                  <a:pt x="7" y="11"/>
                </a:lnTo>
                <a:lnTo>
                  <a:pt x="7"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10778067" y="5791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Freeform 137"/>
          <p:cNvSpPr/>
          <p:nvPr/>
        </p:nvSpPr>
        <p:spPr>
          <a:xfrm>
            <a:off x="10858500" y="5791200"/>
            <a:ext cx="76200" cy="152400"/>
          </a:xfrm>
          <a:custGeom>
            <a:avLst/>
            <a:gdLst/>
            <a:ahLst/>
            <a:cxnLst/>
            <a:rect l="l" t="t" r="r" b="b"/>
            <a:pathLst>
              <a:path w="8" h="16">
                <a:moveTo>
                  <a:pt x="0" y="8"/>
                </a:moveTo>
                <a:lnTo>
                  <a:pt x="0" y="0"/>
                </a:lnTo>
                <a:lnTo>
                  <a:pt x="1" y="0"/>
                </a:lnTo>
                <a:lnTo>
                  <a:pt x="2" y="0"/>
                </a:lnTo>
                <a:lnTo>
                  <a:pt x="4" y="1"/>
                </a:lnTo>
                <a:lnTo>
                  <a:pt x="5" y="2"/>
                </a:lnTo>
                <a:lnTo>
                  <a:pt x="6" y="3"/>
                </a:lnTo>
                <a:lnTo>
                  <a:pt x="6" y="4"/>
                </a:lnTo>
                <a:lnTo>
                  <a:pt x="7" y="5"/>
                </a:lnTo>
                <a:lnTo>
                  <a:pt x="7" y="7"/>
                </a:lnTo>
                <a:lnTo>
                  <a:pt x="8" y="8"/>
                </a:lnTo>
                <a:lnTo>
                  <a:pt x="7" y="9"/>
                </a:lnTo>
                <a:lnTo>
                  <a:pt x="7" y="11"/>
                </a:lnTo>
                <a:lnTo>
                  <a:pt x="6" y="12"/>
                </a:lnTo>
                <a:lnTo>
                  <a:pt x="6" y="13"/>
                </a:lnTo>
                <a:lnTo>
                  <a:pt x="5" y="14"/>
                </a:lnTo>
                <a:lnTo>
                  <a:pt x="4" y="15"/>
                </a:lnTo>
                <a:lnTo>
                  <a:pt x="2"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9" name="Connector 138"/>
          <p:cNvCxnSpPr/>
          <p:nvPr/>
        </p:nvCxnSpPr>
        <p:spPr>
          <a:xfrm>
            <a:off x="190500" y="6038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190500" y="6124575"/>
            <a:ext cx="85725" cy="857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1432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1</a:t>
            </a:r>
          </a:p>
        </p:txBody>
      </p:sp>
      <p:sp>
        <p:nvSpPr>
          <p:cNvPr id="142" name="Rectangle 141"/>
          <p:cNvSpPr/>
          <p:nvPr/>
        </p:nvSpPr>
        <p:spPr>
          <a:xfrm>
            <a:off x="847725" y="6124575"/>
            <a:ext cx="85725" cy="85725"/>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1550"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2</a:t>
            </a:r>
          </a:p>
        </p:txBody>
      </p:sp>
      <p:sp>
        <p:nvSpPr>
          <p:cNvPr id="144" name="Rectangle 143"/>
          <p:cNvSpPr/>
          <p:nvPr/>
        </p:nvSpPr>
        <p:spPr>
          <a:xfrm>
            <a:off x="1504950" y="6124575"/>
            <a:ext cx="85725" cy="85725"/>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628775" y="6076950"/>
            <a:ext cx="2095500" cy="171450"/>
          </a:xfrm>
          <a:prstGeom prst="rect">
            <a:avLst/>
          </a:prstGeom>
          <a:noFill/>
        </p:spPr>
        <p:txBody>
          <a:bodyPr wrap="square" lIns="28575" rIns="28575" tIns="9525" bIns="9525" anchor="t">
            <a:spAutoFit/>
          </a:bodyPr>
          <a:lstStyle/>
          <a:p>
            <a:pPr algn="l"/>
            <a:r>
              <a:rPr sz="1100" b="0">
                <a:solidFill>
                  <a:srgbClr val="1F2933"/>
                </a:solidFill>
                <a:latin typeface="Calibri"/>
              </a:rPr>
              <a:t>Tier 3</a:t>
            </a:r>
          </a:p>
        </p:txBody>
      </p:sp>
      <p:sp>
        <p:nvSpPr>
          <p:cNvPr id="146" name="TextBox 145"/>
          <p:cNvSpPr txBox="1"/>
          <p:nvPr/>
        </p:nvSpPr>
        <p:spPr>
          <a:xfrm>
            <a:off x="190500" y="6286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7" name="TextBox 146"/>
          <p:cNvSpPr txBox="1"/>
          <p:nvPr/>
        </p:nvSpPr>
        <p:spPr>
          <a:xfrm>
            <a:off x="190500" y="64008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Read across a row to see breadth; down a column to see contestability.  'Portable Machine Perfusion Devices' is the most contested column (8 players active); 'Direct Sales' is the most open (7).</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49" name="TextBox 148"/>
          <p:cNvSpPr txBox="1"/>
          <p:nvPr/>
        </p:nvSpPr>
        <p:spPr>
          <a:xfrm>
            <a:off x="276225" y="1306830"/>
            <a:ext cx="398164" cy="186689"/>
          </a:xfrm>
          <a:prstGeom prst="rect">
            <a:avLst/>
          </a:prstGeom>
          <a:noFill/>
        </p:spPr>
        <p:txBody>
          <a:bodyPr wrap="none" lIns="0" rIns="0" tIns="0" bIns="0">
            <a:spAutoFit/>
          </a:bodyPr>
          <a:lstStyle/>
          <a:p>
            <a:r>
              <a:rPr sz="1100" b="1">
                <a:solidFill>
                  <a:srgbClr val="FFFFFF"/>
                </a:solidFill>
                <a:latin typeface="Calibri"/>
              </a:rPr>
              <a:t>Top 3</a:t>
            </a:r>
          </a:p>
        </p:txBody>
      </p:sp>
      <p:pic>
        <p:nvPicPr>
          <p:cNvPr id="150" name="Picture 149" descr="lock.png"/>
          <p:cNvPicPr>
            <a:picLocks noChangeAspect="1"/>
          </p:cNvPicPr>
          <p:nvPr/>
        </p:nvPicPr>
        <p:blipFill>
          <a:blip r:embed="rId4"/>
          <a:stretch>
            <a:fillRect/>
          </a:stretch>
        </p:blipFill>
        <p:spPr>
          <a:xfrm>
            <a:off x="622441" y="1297051"/>
            <a:ext cx="128699" cy="187198"/>
          </a:xfrm>
          <a:prstGeom prst="rect">
            <a:avLst/>
          </a:prstGeom>
        </p:spPr>
      </p:pic>
      <p:sp>
        <p:nvSpPr>
          <p:cNvPr id="151" name="TextBox 150"/>
          <p:cNvSpPr txBox="1"/>
          <p:nvPr/>
        </p:nvSpPr>
        <p:spPr>
          <a:xfrm>
            <a:off x="4786109" y="1306830"/>
            <a:ext cx="813172" cy="186689"/>
          </a:xfrm>
          <a:prstGeom prst="rect">
            <a:avLst/>
          </a:prstGeom>
          <a:noFill/>
        </p:spPr>
        <p:txBody>
          <a:bodyPr wrap="none" lIns="0" rIns="0" tIns="0" bIns="0">
            <a:spAutoFit/>
          </a:bodyPr>
          <a:lstStyle/>
          <a:p>
            <a:r>
              <a:rPr sz="1100" b="1">
                <a:solidFill>
                  <a:srgbClr val="FFFFFF"/>
                </a:solidFill>
                <a:latin typeface="Calibri"/>
              </a:rPr>
              <a:t>Rest of top 5</a:t>
            </a:r>
          </a:p>
        </p:txBody>
      </p:sp>
      <p:pic>
        <p:nvPicPr>
          <p:cNvPr id="152" name="Picture 151" descr="lock.png"/>
          <p:cNvPicPr>
            <a:picLocks noChangeAspect="1"/>
          </p:cNvPicPr>
          <p:nvPr/>
        </p:nvPicPr>
        <p:blipFill>
          <a:blip r:embed="rId4"/>
          <a:stretch>
            <a:fillRect/>
          </a:stretch>
        </p:blipFill>
        <p:spPr>
          <a:xfrm>
            <a:off x="5547332" y="1297051"/>
            <a:ext cx="128699" cy="187198"/>
          </a:xfrm>
          <a:prstGeom prst="rect">
            <a:avLst/>
          </a:prstGeom>
        </p:spPr>
      </p:pic>
      <p:sp>
        <p:nvSpPr>
          <p:cNvPr id="153" name="TextBox 152"/>
          <p:cNvSpPr txBox="1"/>
          <p:nvPr/>
        </p:nvSpPr>
        <p:spPr>
          <a:xfrm>
            <a:off x="6322271" y="1306830"/>
            <a:ext cx="620266" cy="186689"/>
          </a:xfrm>
          <a:prstGeom prst="rect">
            <a:avLst/>
          </a:prstGeom>
          <a:noFill/>
        </p:spPr>
        <p:txBody>
          <a:bodyPr wrap="none" lIns="0" rIns="0" tIns="0" bIns="0">
            <a:spAutoFit/>
          </a:bodyPr>
          <a:lstStyle/>
          <a:p>
            <a:r>
              <a:rPr sz="1100" b="1">
                <a:solidFill>
                  <a:srgbClr val="FFFFFF"/>
                </a:solidFill>
                <a:latin typeface="Calibri"/>
              </a:rPr>
              <a:t>Emerging</a:t>
            </a:r>
          </a:p>
        </p:txBody>
      </p:sp>
      <p:pic>
        <p:nvPicPr>
          <p:cNvPr id="154" name="Picture 153" descr="lock.png"/>
          <p:cNvPicPr>
            <a:picLocks noChangeAspect="1"/>
          </p:cNvPicPr>
          <p:nvPr/>
        </p:nvPicPr>
        <p:blipFill>
          <a:blip r:embed="rId4"/>
          <a:stretch>
            <a:fillRect/>
          </a:stretch>
        </p:blipFill>
        <p:spPr>
          <a:xfrm>
            <a:off x="6890588" y="1297051"/>
            <a:ext cx="128699" cy="187198"/>
          </a:xfrm>
          <a:prstGeom prst="rect">
            <a:avLst/>
          </a:prstGeom>
        </p:spPr>
      </p:pic>
      <p:sp>
        <p:nvSpPr>
          <p:cNvPr id="155" name="TextBox 154"/>
          <p:cNvSpPr txBox="1"/>
          <p:nvPr/>
        </p:nvSpPr>
        <p:spPr>
          <a:xfrm>
            <a:off x="8564687" y="1306830"/>
            <a:ext cx="469924" cy="186689"/>
          </a:xfrm>
          <a:prstGeom prst="rect">
            <a:avLst/>
          </a:prstGeom>
          <a:noFill/>
        </p:spPr>
        <p:txBody>
          <a:bodyPr wrap="none" lIns="0" rIns="0" tIns="0" bIns="0">
            <a:spAutoFit/>
          </a:bodyPr>
          <a:lstStyle/>
          <a:p>
            <a:r>
              <a:rPr sz="1100" b="1">
                <a:solidFill>
                  <a:srgbClr val="0F2D52"/>
                </a:solidFill>
                <a:latin typeface="Calibri"/>
              </a:rPr>
              <a:t>Others</a:t>
            </a:r>
          </a:p>
        </p:txBody>
      </p:sp>
      <p:pic>
        <p:nvPicPr>
          <p:cNvPr id="156" name="Picture 155" descr="lock.png"/>
          <p:cNvPicPr>
            <a:picLocks noChangeAspect="1"/>
          </p:cNvPicPr>
          <p:nvPr/>
        </p:nvPicPr>
        <p:blipFill>
          <a:blip r:embed="rId4"/>
          <a:stretch>
            <a:fillRect/>
          </a:stretch>
        </p:blipFill>
        <p:spPr>
          <a:xfrm>
            <a:off x="8982663" y="1297051"/>
            <a:ext cx="128699" cy="187198"/>
          </a:xfrm>
          <a:prstGeom prst="rect">
            <a:avLst/>
          </a:prstGeom>
        </p:spPr>
      </p:pic>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Value Chain Positioning of Leading Players</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How the market is organised by product type and end use, and who leads at each stage</a:t>
            </a:r>
          </a:p>
        </p:txBody>
      </p:sp>
      <p:sp>
        <p:nvSpPr>
          <p:cNvPr id="10" name="TextBox 9"/>
          <p:cNvSpPr txBox="1"/>
          <p:nvPr/>
        </p:nvSpPr>
        <p:spPr>
          <a:xfrm>
            <a:off x="24765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Calibri"/>
              </a:rPr>
              <a:t>Top 3 share, 2026</a:t>
            </a:r>
          </a:p>
        </p:txBody>
      </p:sp>
      <p:sp>
        <p:nvSpPr>
          <p:cNvPr id="11" name="TextBox 10"/>
          <p:cNvSpPr txBox="1"/>
          <p:nvPr/>
        </p:nvSpPr>
        <p:spPr>
          <a:xfrm>
            <a:off x="247650" y="1238250"/>
            <a:ext cx="2857500" cy="228600"/>
          </a:xfrm>
          <a:prstGeom prst="rect">
            <a:avLst/>
          </a:prstGeom>
          <a:noFill/>
        </p:spPr>
        <p:txBody>
          <a:bodyPr wrap="square" lIns="28575" rIns="28575" tIns="9525" bIns="9525" anchor="t">
            <a:spAutoFit/>
          </a:bodyPr>
          <a:lstStyle/>
          <a:p>
            <a:pPr algn="l"/>
            <a:r>
              <a:rPr sz="1100" b="1">
                <a:solidFill>
                  <a:srgbClr val="E87722"/>
                </a:solidFill>
                <a:latin typeface="Calibri"/>
              </a:rPr>
              <a:t> </a:t>
            </a:r>
          </a:p>
        </p:txBody>
      </p:sp>
      <p:cxnSp>
        <p:nvCxnSpPr>
          <p:cNvPr id="12" name="Connector 11"/>
          <p:cNvCxnSpPr/>
          <p:nvPr/>
        </p:nvCxnSpPr>
        <p:spPr>
          <a:xfrm>
            <a:off x="314325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0040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Calibri"/>
              </a:rPr>
              <a:t>Top 5 share</a:t>
            </a:r>
          </a:p>
        </p:txBody>
      </p:sp>
      <p:sp>
        <p:nvSpPr>
          <p:cNvPr id="14" name="TextBox 13"/>
          <p:cNvSpPr txBox="1"/>
          <p:nvPr/>
        </p:nvSpPr>
        <p:spPr>
          <a:xfrm>
            <a:off x="320040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5" name="Connector 14"/>
          <p:cNvCxnSpPr/>
          <p:nvPr/>
        </p:nvCxnSpPr>
        <p:spPr>
          <a:xfrm>
            <a:off x="609600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5315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Calibri"/>
              </a:rPr>
              <a:t>Portable Machine Perfusion Devices, share</a:t>
            </a:r>
          </a:p>
        </p:txBody>
      </p:sp>
      <p:sp>
        <p:nvSpPr>
          <p:cNvPr id="17" name="TextBox 16"/>
          <p:cNvSpPr txBox="1"/>
          <p:nvPr/>
        </p:nvSpPr>
        <p:spPr>
          <a:xfrm>
            <a:off x="615315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18" name="Connector 17"/>
          <p:cNvCxnSpPr/>
          <p:nvPr/>
        </p:nvCxnSpPr>
        <p:spPr>
          <a:xfrm>
            <a:off x="9048750" y="1085850"/>
            <a:ext cx="0" cy="40005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05900" y="1047750"/>
            <a:ext cx="2857500" cy="171450"/>
          </a:xfrm>
          <a:prstGeom prst="rect">
            <a:avLst/>
          </a:prstGeom>
          <a:noFill/>
        </p:spPr>
        <p:txBody>
          <a:bodyPr wrap="square" lIns="28575" rIns="28575" tIns="9525" bIns="9525" anchor="t">
            <a:spAutoFit/>
          </a:bodyPr>
          <a:lstStyle/>
          <a:p>
            <a:pPr algn="l"/>
            <a:r>
              <a:rPr sz="1100" b="0">
                <a:solidFill>
                  <a:srgbClr val="5F6B7A"/>
                </a:solidFill>
                <a:latin typeface="Calibri"/>
              </a:rPr>
              <a:t>Static Cold Storage Devices, share</a:t>
            </a:r>
          </a:p>
        </p:txBody>
      </p:sp>
      <p:sp>
        <p:nvSpPr>
          <p:cNvPr id="20" name="TextBox 19"/>
          <p:cNvSpPr txBox="1"/>
          <p:nvPr/>
        </p:nvSpPr>
        <p:spPr>
          <a:xfrm>
            <a:off x="9105900" y="1238250"/>
            <a:ext cx="2857500" cy="228600"/>
          </a:xfrm>
          <a:prstGeom prst="rect">
            <a:avLst/>
          </a:prstGeom>
          <a:noFill/>
        </p:spPr>
        <p:txBody>
          <a:bodyPr wrap="square" lIns="28575" rIns="28575" tIns="9525" bIns="9525" anchor="t">
            <a:spAutoFit/>
          </a:bodyPr>
          <a:lstStyle/>
          <a:p>
            <a:pPr algn="l"/>
            <a:r>
              <a:rPr sz="1100" b="1">
                <a:solidFill>
                  <a:srgbClr val="0F2D52"/>
                </a:solidFill>
                <a:latin typeface="Calibri"/>
              </a:rPr>
              <a:t> </a:t>
            </a:r>
          </a:p>
        </p:txBody>
      </p:sp>
      <p:cxnSp>
        <p:nvCxnSpPr>
          <p:cNvPr id="21" name="Connector 20"/>
          <p:cNvCxnSpPr/>
          <p:nvPr/>
        </p:nvCxnSpPr>
        <p:spPr>
          <a:xfrm>
            <a:off x="190500" y="1543050"/>
            <a:ext cx="11811000"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90500"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90500"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5750"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1. Portable Machine Perfusion Devices</a:t>
            </a:r>
          </a:p>
        </p:txBody>
      </p:sp>
      <p:sp>
        <p:nvSpPr>
          <p:cNvPr id="25" name="TextBox 24"/>
          <p:cNvSpPr txBox="1"/>
          <p:nvPr/>
        </p:nvSpPr>
        <p:spPr>
          <a:xfrm>
            <a:off x="285750"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26" name="TextBox 25"/>
          <p:cNvSpPr txBox="1"/>
          <p:nvPr/>
        </p:nvSpPr>
        <p:spPr>
          <a:xfrm>
            <a:off x="971550"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27" name="TextBox 26"/>
          <p:cNvSpPr txBox="1"/>
          <p:nvPr/>
        </p:nvSpPr>
        <p:spPr>
          <a:xfrm>
            <a:off x="285750"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28" name="TextBox 27"/>
          <p:cNvSpPr txBox="1"/>
          <p:nvPr/>
        </p:nvSpPr>
        <p:spPr>
          <a:xfrm>
            <a:off x="971550"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29" name="Connector 28"/>
          <p:cNvCxnSpPr/>
          <p:nvPr/>
        </p:nvCxnSpPr>
        <p:spPr>
          <a:xfrm>
            <a:off x="285750"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5750"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31" name="TextBox 30"/>
          <p:cNvSpPr txBox="1"/>
          <p:nvPr/>
        </p:nvSpPr>
        <p:spPr>
          <a:xfrm>
            <a:off x="285750"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XVIVO Perfusion</a:t>
            </a:r>
          </a:p>
        </p:txBody>
      </p:sp>
      <p:sp>
        <p:nvSpPr>
          <p:cNvPr id="32" name="TextBox 31"/>
          <p:cNvSpPr txBox="1"/>
          <p:nvPr/>
        </p:nvSpPr>
        <p:spPr>
          <a:xfrm>
            <a:off x="285750"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33" name="TextBox 32"/>
          <p:cNvSpPr txBox="1"/>
          <p:nvPr/>
        </p:nvSpPr>
        <p:spPr>
          <a:xfrm>
            <a:off x="285750"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TransMedics</a:t>
            </a:r>
          </a:p>
        </p:txBody>
      </p:sp>
      <p:sp>
        <p:nvSpPr>
          <p:cNvPr id="34" name="TextBox 33"/>
          <p:cNvSpPr txBox="1"/>
          <p:nvPr/>
        </p:nvSpPr>
        <p:spPr>
          <a:xfrm>
            <a:off x="285750"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OrganOx</a:t>
            </a:r>
          </a:p>
        </p:txBody>
      </p:sp>
      <p:sp>
        <p:nvSpPr>
          <p:cNvPr id="35" name="TextBox 34"/>
          <p:cNvSpPr txBox="1"/>
          <p:nvPr/>
        </p:nvSpPr>
        <p:spPr>
          <a:xfrm>
            <a:off x="285750"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Organ Recovery Systems</a:t>
            </a:r>
          </a:p>
        </p:txBody>
      </p:sp>
      <p:sp>
        <p:nvSpPr>
          <p:cNvPr id="36" name="TextBox 35"/>
          <p:cNvSpPr txBox="1"/>
          <p:nvPr/>
        </p:nvSpPr>
        <p:spPr>
          <a:xfrm>
            <a:off x="285750"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IGL Group / Waters Medical Systems</a:t>
            </a:r>
          </a:p>
        </p:txBody>
      </p:sp>
      <p:cxnSp>
        <p:nvCxnSpPr>
          <p:cNvPr id="37" name="Connector 36"/>
          <p:cNvCxnSpPr/>
          <p:nvPr/>
        </p:nvCxnSpPr>
        <p:spPr>
          <a:xfrm>
            <a:off x="285750"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85750"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39" name="TextBox 38"/>
          <p:cNvSpPr txBox="1"/>
          <p:nvPr/>
        </p:nvSpPr>
        <p:spPr>
          <a:xfrm>
            <a:off x="285750"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40" name="Connector 39"/>
          <p:cNvCxnSpPr/>
          <p:nvPr/>
        </p:nvCxnSpPr>
        <p:spPr>
          <a:xfrm>
            <a:off x="2995612"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41" name="Freeform 40"/>
          <p:cNvSpPr/>
          <p:nvPr/>
        </p:nvSpPr>
        <p:spPr>
          <a:xfrm>
            <a:off x="3105150" y="3448050"/>
            <a:ext cx="57150" cy="95250"/>
          </a:xfrm>
          <a:custGeom>
            <a:avLst/>
            <a:gdLst/>
            <a:ahLst/>
            <a:cxnLst/>
            <a:rect l="l" t="t" r="r" b="b"/>
            <a:pathLst>
              <a:path w="6" h="10">
                <a:moveTo>
                  <a:pt x="6"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205162"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5162"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00412"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2. Static Cold Storage Devices</a:t>
            </a:r>
          </a:p>
        </p:txBody>
      </p:sp>
      <p:sp>
        <p:nvSpPr>
          <p:cNvPr id="45" name="TextBox 44"/>
          <p:cNvSpPr txBox="1"/>
          <p:nvPr/>
        </p:nvSpPr>
        <p:spPr>
          <a:xfrm>
            <a:off x="3300412" y="1924050"/>
            <a:ext cx="666750" cy="190500"/>
          </a:xfrm>
          <a:prstGeom prst="rect">
            <a:avLst/>
          </a:prstGeom>
          <a:noFill/>
        </p:spPr>
        <p:txBody>
          <a:bodyPr wrap="none" lIns="0" rIns="0" tIns="0" bIns="0" anchor="t">
            <a:spAutoFit/>
          </a:bodyPr>
          <a:lstStyle/>
          <a:p>
            <a:pPr algn="l"/>
            <a:r>
              <a:rPr sz="1100" b="1">
                <a:solidFill>
                  <a:srgbClr val="1F2933"/>
                </a:solidFill>
                <a:latin typeface="Calibri"/>
              </a:rPr>
              <a:t> </a:t>
            </a:r>
          </a:p>
        </p:txBody>
      </p:sp>
      <p:sp>
        <p:nvSpPr>
          <p:cNvPr id="46" name="TextBox 45"/>
          <p:cNvSpPr txBox="1"/>
          <p:nvPr/>
        </p:nvSpPr>
        <p:spPr>
          <a:xfrm>
            <a:off x="3986212" y="1924050"/>
            <a:ext cx="1890712" cy="190500"/>
          </a:xfrm>
          <a:prstGeom prst="rect">
            <a:avLst/>
          </a:prstGeom>
          <a:noFill/>
        </p:spPr>
        <p:txBody>
          <a:bodyPr wrap="square" lIns="28575" rIns="28575" tIns="9525" bIns="9525" anchor="t">
            <a:spAutoFit/>
          </a:bodyPr>
          <a:lstStyle/>
          <a:p>
            <a:pPr algn="l"/>
            <a:r>
              <a:rPr sz="1100" b="1">
                <a:solidFill>
                  <a:srgbClr val="1F2933"/>
                </a:solidFill>
                <a:latin typeface="Calibri"/>
              </a:rPr>
              <a:t>of market</a:t>
            </a:r>
          </a:p>
        </p:txBody>
      </p:sp>
      <p:sp>
        <p:nvSpPr>
          <p:cNvPr id="47" name="TextBox 46"/>
          <p:cNvSpPr txBox="1"/>
          <p:nvPr/>
        </p:nvSpPr>
        <p:spPr>
          <a:xfrm>
            <a:off x="3300412" y="2133600"/>
            <a:ext cx="666750" cy="190500"/>
          </a:xfrm>
          <a:prstGeom prst="rect">
            <a:avLst/>
          </a:prstGeom>
          <a:noFill/>
        </p:spPr>
        <p:txBody>
          <a:bodyPr wrap="none" lIns="0" rIns="0" tIns="0" bIns="0" anchor="t">
            <a:spAutoFit/>
          </a:bodyPr>
          <a:lstStyle/>
          <a:p>
            <a:pPr algn="l"/>
            <a:r>
              <a:rPr sz="1100" b="0">
                <a:solidFill>
                  <a:srgbClr val="5F6B7A"/>
                </a:solidFill>
                <a:latin typeface="Calibri"/>
              </a:rPr>
              <a:t> </a:t>
            </a:r>
          </a:p>
        </p:txBody>
      </p:sp>
      <p:sp>
        <p:nvSpPr>
          <p:cNvPr id="48" name="TextBox 47"/>
          <p:cNvSpPr txBox="1"/>
          <p:nvPr/>
        </p:nvSpPr>
        <p:spPr>
          <a:xfrm>
            <a:off x="3986212" y="2133600"/>
            <a:ext cx="1890712" cy="190500"/>
          </a:xfrm>
          <a:prstGeom prst="rect">
            <a:avLst/>
          </a:prstGeom>
          <a:noFill/>
        </p:spPr>
        <p:txBody>
          <a:bodyPr wrap="square" lIns="28575" rIns="28575" tIns="9525" bIns="9525" anchor="t">
            <a:spAutoFit/>
          </a:bodyPr>
          <a:lstStyle/>
          <a:p>
            <a:pPr algn="l"/>
            <a:r>
              <a:rPr sz="1100" b="0">
                <a:solidFill>
                  <a:srgbClr val="5F6B7A"/>
                </a:solidFill>
                <a:latin typeface="Calibri"/>
              </a:rPr>
              <a:t>CAGR 2026–2036</a:t>
            </a:r>
          </a:p>
        </p:txBody>
      </p:sp>
      <p:cxnSp>
        <p:nvCxnSpPr>
          <p:cNvPr id="49" name="Connector 48"/>
          <p:cNvCxnSpPr/>
          <p:nvPr/>
        </p:nvCxnSpPr>
        <p:spPr>
          <a:xfrm>
            <a:off x="3300412" y="236220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00412" y="241935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LEADS</a:t>
            </a:r>
          </a:p>
        </p:txBody>
      </p:sp>
      <p:sp>
        <p:nvSpPr>
          <p:cNvPr id="51" name="TextBox 50"/>
          <p:cNvSpPr txBox="1"/>
          <p:nvPr/>
        </p:nvSpPr>
        <p:spPr>
          <a:xfrm>
            <a:off x="3300412" y="2590800"/>
            <a:ext cx="2576512" cy="171450"/>
          </a:xfrm>
          <a:prstGeom prst="rect">
            <a:avLst/>
          </a:prstGeom>
          <a:noFill/>
        </p:spPr>
        <p:txBody>
          <a:bodyPr wrap="square" lIns="28575" rIns="28575" tIns="9525" bIns="9525" anchor="t">
            <a:spAutoFit/>
          </a:bodyPr>
          <a:lstStyle/>
          <a:p>
            <a:pPr algn="l"/>
            <a:r>
              <a:rPr sz="1100" b="1">
                <a:solidFill>
                  <a:srgbClr val="1F2933"/>
                </a:solidFill>
                <a:latin typeface="Calibri"/>
              </a:rPr>
              <a:t>●  TransMedics</a:t>
            </a:r>
          </a:p>
        </p:txBody>
      </p:sp>
      <p:sp>
        <p:nvSpPr>
          <p:cNvPr id="52" name="TextBox 51"/>
          <p:cNvSpPr txBox="1"/>
          <p:nvPr/>
        </p:nvSpPr>
        <p:spPr>
          <a:xfrm>
            <a:off x="3300412" y="28194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ALSO ACTIVE</a:t>
            </a:r>
          </a:p>
        </p:txBody>
      </p:sp>
      <p:sp>
        <p:nvSpPr>
          <p:cNvPr id="53" name="TextBox 52"/>
          <p:cNvSpPr txBox="1"/>
          <p:nvPr/>
        </p:nvSpPr>
        <p:spPr>
          <a:xfrm>
            <a:off x="3300412" y="29908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OrganOx</a:t>
            </a:r>
          </a:p>
        </p:txBody>
      </p:sp>
      <p:sp>
        <p:nvSpPr>
          <p:cNvPr id="54" name="TextBox 53"/>
          <p:cNvSpPr txBox="1"/>
          <p:nvPr/>
        </p:nvSpPr>
        <p:spPr>
          <a:xfrm>
            <a:off x="3300412" y="31623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Paragonix Technologies</a:t>
            </a:r>
          </a:p>
        </p:txBody>
      </p:sp>
      <p:sp>
        <p:nvSpPr>
          <p:cNvPr id="55" name="TextBox 54"/>
          <p:cNvSpPr txBox="1"/>
          <p:nvPr/>
        </p:nvSpPr>
        <p:spPr>
          <a:xfrm>
            <a:off x="3300412" y="333375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Organ Recovery Systems</a:t>
            </a:r>
          </a:p>
        </p:txBody>
      </p:sp>
      <p:sp>
        <p:nvSpPr>
          <p:cNvPr id="56" name="TextBox 55"/>
          <p:cNvSpPr txBox="1"/>
          <p:nvPr/>
        </p:nvSpPr>
        <p:spPr>
          <a:xfrm>
            <a:off x="3300412" y="3505200"/>
            <a:ext cx="2576512" cy="171450"/>
          </a:xfrm>
          <a:prstGeom prst="rect">
            <a:avLst/>
          </a:prstGeom>
          <a:noFill/>
        </p:spPr>
        <p:txBody>
          <a:bodyPr wrap="square" lIns="28575" rIns="28575" tIns="9525" bIns="9525" anchor="t">
            <a:spAutoFit/>
          </a:bodyPr>
          <a:lstStyle/>
          <a:p>
            <a:pPr algn="l"/>
            <a:r>
              <a:rPr sz="1100" b="0">
                <a:solidFill>
                  <a:srgbClr val="1F2933"/>
                </a:solidFill>
                <a:latin typeface="Calibri"/>
              </a:rPr>
              <a:t>●  IGL Group / Waters Medical Systems</a:t>
            </a:r>
          </a:p>
        </p:txBody>
      </p:sp>
      <p:cxnSp>
        <p:nvCxnSpPr>
          <p:cNvPr id="57" name="Connector 56"/>
          <p:cNvCxnSpPr/>
          <p:nvPr/>
        </p:nvCxnSpPr>
        <p:spPr>
          <a:xfrm>
            <a:off x="3300412" y="4438650"/>
            <a:ext cx="2576513"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3300412"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59" name="TextBox 58"/>
          <p:cNvSpPr txBox="1"/>
          <p:nvPr/>
        </p:nvSpPr>
        <p:spPr>
          <a:xfrm>
            <a:off x="3300412"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cxnSp>
        <p:nvCxnSpPr>
          <p:cNvPr id="60" name="Connector 59"/>
          <p:cNvCxnSpPr/>
          <p:nvPr/>
        </p:nvCxnSpPr>
        <p:spPr>
          <a:xfrm>
            <a:off x="6010275" y="3495675"/>
            <a:ext cx="152400" cy="0"/>
          </a:xfrm>
          <a:prstGeom prst="line">
            <a:avLst/>
          </a:prstGeom>
          <a:ln w="254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61" name="Freeform 60"/>
          <p:cNvSpPr/>
          <p:nvPr/>
        </p:nvSpPr>
        <p:spPr>
          <a:xfrm>
            <a:off x="6115050" y="3448050"/>
            <a:ext cx="66675" cy="95250"/>
          </a:xfrm>
          <a:custGeom>
            <a:avLst/>
            <a:gdLst/>
            <a:ahLst/>
            <a:cxnLst/>
            <a:rect l="l" t="t" r="r" b="b"/>
            <a:pathLst>
              <a:path w="7" h="10">
                <a:moveTo>
                  <a:pt x="7" y="5"/>
                </a:moveTo>
                <a:lnTo>
                  <a:pt x="0" y="0"/>
                </a:lnTo>
                <a:lnTo>
                  <a:pt x="0" y="10"/>
                </a:lnTo>
                <a:close/>
              </a:path>
            </a:pathLst>
          </a:custGeom>
          <a:solidFill>
            <a:srgbClr val="0F2D52"/>
          </a:solidFill>
          <a:ln w="9525">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34488" y="1638300"/>
            <a:ext cx="2767012" cy="37147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234488" y="1638300"/>
            <a:ext cx="2767012" cy="476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329738" y="1733550"/>
            <a:ext cx="2576512" cy="171450"/>
          </a:xfrm>
          <a:prstGeom prst="rect">
            <a:avLst/>
          </a:prstGeom>
          <a:noFill/>
        </p:spPr>
        <p:txBody>
          <a:bodyPr wrap="square" lIns="28575" rIns="28575" tIns="9525" bIns="9525" anchor="t">
            <a:spAutoFit/>
          </a:bodyPr>
          <a:lstStyle/>
          <a:p>
            <a:pPr algn="l"/>
            <a:r>
              <a:rPr sz="1100" b="1">
                <a:solidFill>
                  <a:srgbClr val="0F2D52"/>
                </a:solidFill>
                <a:latin typeface="Calibri"/>
              </a:rPr>
              <a:t>4. Sales Channel</a:t>
            </a:r>
          </a:p>
        </p:txBody>
      </p:sp>
      <p:sp>
        <p:nvSpPr>
          <p:cNvPr id="65" name="TextBox 64"/>
          <p:cNvSpPr txBox="1"/>
          <p:nvPr/>
        </p:nvSpPr>
        <p:spPr>
          <a:xfrm>
            <a:off x="9329738" y="1924050"/>
            <a:ext cx="2576512" cy="190500"/>
          </a:xfrm>
          <a:prstGeom prst="rect">
            <a:avLst/>
          </a:prstGeom>
          <a:noFill/>
        </p:spPr>
        <p:txBody>
          <a:bodyPr wrap="square" lIns="28575" rIns="28575" tIns="9525" bIns="9525" anchor="t">
            <a:spAutoFit/>
          </a:bodyPr>
          <a:lstStyle/>
          <a:p>
            <a:pPr algn="l"/>
            <a:r>
              <a:rPr sz="1100" b="1">
                <a:solidFill>
                  <a:srgbClr val="1F2933"/>
                </a:solidFill>
                <a:latin typeface="Calibri"/>
              </a:rPr>
              <a:t>By application</a:t>
            </a:r>
          </a:p>
        </p:txBody>
      </p:sp>
      <p:sp>
        <p:nvSpPr>
          <p:cNvPr id="66" name="TextBox 65"/>
          <p:cNvSpPr txBox="1"/>
          <p:nvPr/>
        </p:nvSpPr>
        <p:spPr>
          <a:xfrm>
            <a:off x="9329738" y="2133600"/>
            <a:ext cx="2576512" cy="190500"/>
          </a:xfrm>
          <a:prstGeom prst="rect">
            <a:avLst/>
          </a:prstGeom>
          <a:noFill/>
        </p:spPr>
        <p:txBody>
          <a:bodyPr wrap="square" lIns="28575" rIns="28575" tIns="9525" bIns="9525" anchor="t">
            <a:spAutoFit/>
          </a:bodyPr>
          <a:lstStyle/>
          <a:p>
            <a:pPr algn="l"/>
            <a:r>
              <a:rPr sz="1100" b="0">
                <a:solidFill>
                  <a:srgbClr val="5F6B7A"/>
                </a:solidFill>
                <a:latin typeface="Calibri"/>
              </a:rPr>
              <a:t>Who buys the output.</a:t>
            </a:r>
          </a:p>
        </p:txBody>
      </p:sp>
      <p:cxnSp>
        <p:nvCxnSpPr>
          <p:cNvPr id="67" name="Connector 66"/>
          <p:cNvCxnSpPr/>
          <p:nvPr/>
        </p:nvCxnSpPr>
        <p:spPr>
          <a:xfrm>
            <a:off x="9329738" y="236220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9329738" y="241935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a:t>
            </a:r>
          </a:p>
        </p:txBody>
      </p:sp>
      <p:sp>
        <p:nvSpPr>
          <p:cNvPr id="69" name="Rectangle 68"/>
          <p:cNvSpPr/>
          <p:nvPr/>
        </p:nvSpPr>
        <p:spPr>
          <a:xfrm>
            <a:off x="10682288" y="2524125"/>
            <a:ext cx="766762"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487150" y="248602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sp>
        <p:nvSpPr>
          <p:cNvPr id="71" name="TextBox 70"/>
          <p:cNvSpPr txBox="1"/>
          <p:nvPr/>
        </p:nvSpPr>
        <p:spPr>
          <a:xfrm>
            <a:off x="9329738" y="2743200"/>
            <a:ext cx="1333500" cy="3238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 Sales</a:t>
            </a:r>
          </a:p>
        </p:txBody>
      </p:sp>
      <p:sp>
        <p:nvSpPr>
          <p:cNvPr id="72" name="Rectangle 71"/>
          <p:cNvSpPr/>
          <p:nvPr/>
        </p:nvSpPr>
        <p:spPr>
          <a:xfrm>
            <a:off x="10682288" y="2847975"/>
            <a:ext cx="472245" cy="1143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92633" y="2809875"/>
            <a:ext cx="476250" cy="1905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4" name="Connector 73"/>
          <p:cNvCxnSpPr/>
          <p:nvPr/>
        </p:nvCxnSpPr>
        <p:spPr>
          <a:xfrm>
            <a:off x="9329738" y="4438650"/>
            <a:ext cx="2576512" cy="0"/>
          </a:xfrm>
          <a:prstGeom prst="line">
            <a:avLst/>
          </a:prstGeom>
          <a:ln w="9525">
            <a:solidFill>
              <a:srgbClr val="D5DDE6"/>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329738" y="4495800"/>
            <a:ext cx="2576512" cy="152400"/>
          </a:xfrm>
          <a:prstGeom prst="rect">
            <a:avLst/>
          </a:prstGeom>
          <a:noFill/>
        </p:spPr>
        <p:txBody>
          <a:bodyPr wrap="square" lIns="28575" rIns="28575" tIns="9525" bIns="9525" anchor="t">
            <a:spAutoFit/>
          </a:bodyPr>
          <a:lstStyle/>
          <a:p>
            <a:pPr algn="l"/>
            <a:r>
              <a:rPr sz="1100" b="1">
                <a:solidFill>
                  <a:srgbClr val="0F2D52"/>
                </a:solidFill>
                <a:latin typeface="Calibri"/>
              </a:rPr>
              <a:t>WHAT TO WATCH</a:t>
            </a:r>
          </a:p>
        </p:txBody>
      </p:sp>
      <p:sp>
        <p:nvSpPr>
          <p:cNvPr id="76" name="TextBox 75"/>
          <p:cNvSpPr txBox="1"/>
          <p:nvPr/>
        </p:nvSpPr>
        <p:spPr>
          <a:xfrm>
            <a:off x="9329738" y="4667250"/>
            <a:ext cx="2576512" cy="6667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The top two end uses pay for 100% of the market; vendors package for one vertical at a time.</a:t>
            </a:r>
          </a:p>
        </p:txBody>
      </p:sp>
      <p:sp>
        <p:nvSpPr>
          <p:cNvPr id="77" name="Rectangle 76"/>
          <p:cNvSpPr/>
          <p:nvPr/>
        </p:nvSpPr>
        <p:spPr>
          <a:xfrm>
            <a:off x="190500" y="54673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90500" y="5467350"/>
            <a:ext cx="47625" cy="4000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04800" y="5467350"/>
            <a:ext cx="1047750" cy="400050"/>
          </a:xfrm>
          <a:prstGeom prst="rect">
            <a:avLst/>
          </a:prstGeom>
          <a:noFill/>
        </p:spPr>
        <p:txBody>
          <a:bodyPr wrap="square" lIns="28575" rIns="28575" tIns="9525" bIns="9525" anchor="ctr">
            <a:spAutoFit/>
          </a:bodyPr>
          <a:lstStyle/>
          <a:p>
            <a:pPr algn="l"/>
            <a:r>
              <a:rPr sz="1100" b="1">
                <a:solidFill>
                  <a:srgbClr val="0F2D52"/>
                </a:solidFill>
                <a:latin typeface="Calibri"/>
              </a:rPr>
              <a:t>ENABLERS</a:t>
            </a:r>
          </a:p>
        </p:txBody>
      </p:sp>
      <p:sp>
        <p:nvSpPr>
          <p:cNvPr id="80" name="TextBox 79"/>
          <p:cNvSpPr txBox="1"/>
          <p:nvPr/>
        </p:nvSpPr>
        <p:spPr>
          <a:xfrm>
            <a:off x="1428750" y="54673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Static Cold Storage Devices Compounds Fastest Across the Device Technology Mix  |  South Asia &amp; Pacific Emerges as the Growth Engine Among Regions  |  Premiumisation Lifts Average Realisation</a:t>
            </a:r>
          </a:p>
        </p:txBody>
      </p:sp>
      <p:sp>
        <p:nvSpPr>
          <p:cNvPr id="81" name="Rectangle 80"/>
          <p:cNvSpPr/>
          <p:nvPr/>
        </p:nvSpPr>
        <p:spPr>
          <a:xfrm>
            <a:off x="190500" y="5924550"/>
            <a:ext cx="11811000" cy="400050"/>
          </a:xfrm>
          <a:prstGeom prst="rect">
            <a:avLst/>
          </a:prstGeom>
          <a:solidFill>
            <a:srgbClr val="FFFFFF"/>
          </a:solidFill>
          <a:ln w="9525">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90500" y="5924550"/>
            <a:ext cx="47625" cy="400050"/>
          </a:xfrm>
          <a:prstGeom prst="rect">
            <a:avLst/>
          </a:prstGeom>
          <a:solidFill>
            <a:srgbClr val="8B1E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4800" y="5924550"/>
            <a:ext cx="1047750" cy="400050"/>
          </a:xfrm>
          <a:prstGeom prst="rect">
            <a:avLst/>
          </a:prstGeom>
          <a:noFill/>
        </p:spPr>
        <p:txBody>
          <a:bodyPr wrap="square" lIns="28575" rIns="28575" tIns="9525" bIns="9525" anchor="ctr">
            <a:spAutoFit/>
          </a:bodyPr>
          <a:lstStyle/>
          <a:p>
            <a:pPr algn="l"/>
            <a:r>
              <a:rPr sz="1100" b="1">
                <a:solidFill>
                  <a:srgbClr val="8B1E2D"/>
                </a:solidFill>
                <a:latin typeface="Calibri"/>
              </a:rPr>
              <a:t>CONSTRAINTS</a:t>
            </a:r>
          </a:p>
        </p:txBody>
      </p:sp>
      <p:sp>
        <p:nvSpPr>
          <p:cNvPr id="84" name="TextBox 83"/>
          <p:cNvSpPr txBox="1"/>
          <p:nvPr/>
        </p:nvSpPr>
        <p:spPr>
          <a:xfrm>
            <a:off x="1428750" y="5924550"/>
            <a:ext cx="10477500" cy="40005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Portable Machine Perfusion Devices Lags the Category and Dilutes Blended Growth  |  Uneven Region Performance Caps the Blended Rate  |  Concentration Risk Limits Pricing and Sourcing Flexibility</a:t>
            </a:r>
          </a:p>
        </p:txBody>
      </p:sp>
      <p:sp>
        <p:nvSpPr>
          <p:cNvPr id="85" name="TextBox 8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86" name="Picture 85" descr="lock.png"/>
          <p:cNvPicPr>
            <a:picLocks noChangeAspect="1"/>
          </p:cNvPicPr>
          <p:nvPr/>
        </p:nvPicPr>
        <p:blipFill>
          <a:blip r:embed="rId4"/>
          <a:stretch>
            <a:fillRect/>
          </a:stretch>
        </p:blipFill>
        <p:spPr>
          <a:xfrm>
            <a:off x="1612050" y="1258951"/>
            <a:ext cx="128699" cy="187198"/>
          </a:xfrm>
          <a:prstGeom prst="rect">
            <a:avLst/>
          </a:prstGeom>
        </p:spPr>
      </p:pic>
      <p:pic>
        <p:nvPicPr>
          <p:cNvPr id="87" name="Picture 86" descr="lock.png"/>
          <p:cNvPicPr>
            <a:picLocks noChangeAspect="1"/>
          </p:cNvPicPr>
          <p:nvPr/>
        </p:nvPicPr>
        <p:blipFill>
          <a:blip r:embed="rId4"/>
          <a:stretch>
            <a:fillRect/>
          </a:stretch>
        </p:blipFill>
        <p:spPr>
          <a:xfrm>
            <a:off x="4564800" y="1258951"/>
            <a:ext cx="128699" cy="187198"/>
          </a:xfrm>
          <a:prstGeom prst="rect">
            <a:avLst/>
          </a:prstGeom>
        </p:spPr>
      </p:pic>
      <p:pic>
        <p:nvPicPr>
          <p:cNvPr id="88" name="Picture 87" descr="lock.png"/>
          <p:cNvPicPr>
            <a:picLocks noChangeAspect="1"/>
          </p:cNvPicPr>
          <p:nvPr/>
        </p:nvPicPr>
        <p:blipFill>
          <a:blip r:embed="rId4"/>
          <a:stretch>
            <a:fillRect/>
          </a:stretch>
        </p:blipFill>
        <p:spPr>
          <a:xfrm>
            <a:off x="7517550" y="1258951"/>
            <a:ext cx="128699" cy="187198"/>
          </a:xfrm>
          <a:prstGeom prst="rect">
            <a:avLst/>
          </a:prstGeom>
        </p:spPr>
      </p:pic>
      <p:pic>
        <p:nvPicPr>
          <p:cNvPr id="89" name="Picture 88" descr="lock.png"/>
          <p:cNvPicPr>
            <a:picLocks noChangeAspect="1"/>
          </p:cNvPicPr>
          <p:nvPr/>
        </p:nvPicPr>
        <p:blipFill>
          <a:blip r:embed="rId4"/>
          <a:stretch>
            <a:fillRect/>
          </a:stretch>
        </p:blipFill>
        <p:spPr>
          <a:xfrm>
            <a:off x="10470300" y="1258951"/>
            <a:ext cx="128699" cy="187198"/>
          </a:xfrm>
          <a:prstGeom prst="rect">
            <a:avLst/>
          </a:prstGeom>
        </p:spPr>
      </p:pic>
      <p:pic>
        <p:nvPicPr>
          <p:cNvPr id="90" name="Picture 89" descr="lock.png"/>
          <p:cNvPicPr>
            <a:picLocks noChangeAspect="1"/>
          </p:cNvPicPr>
          <p:nvPr/>
        </p:nvPicPr>
        <p:blipFill>
          <a:blip r:embed="rId4"/>
          <a:stretch>
            <a:fillRect/>
          </a:stretch>
        </p:blipFill>
        <p:spPr>
          <a:xfrm>
            <a:off x="554775" y="1925701"/>
            <a:ext cx="128699" cy="187198"/>
          </a:xfrm>
          <a:prstGeom prst="rect">
            <a:avLst/>
          </a:prstGeom>
        </p:spPr>
      </p:pic>
      <p:pic>
        <p:nvPicPr>
          <p:cNvPr id="91" name="Picture 90" descr="lock.png"/>
          <p:cNvPicPr>
            <a:picLocks noChangeAspect="1"/>
          </p:cNvPicPr>
          <p:nvPr/>
        </p:nvPicPr>
        <p:blipFill>
          <a:blip r:embed="rId4"/>
          <a:stretch>
            <a:fillRect/>
          </a:stretch>
        </p:blipFill>
        <p:spPr>
          <a:xfrm>
            <a:off x="554775" y="2135251"/>
            <a:ext cx="128699" cy="187198"/>
          </a:xfrm>
          <a:prstGeom prst="rect">
            <a:avLst/>
          </a:prstGeom>
        </p:spPr>
      </p:pic>
      <p:pic>
        <p:nvPicPr>
          <p:cNvPr id="92" name="Picture 91" descr="lock.png"/>
          <p:cNvPicPr>
            <a:picLocks noChangeAspect="1"/>
          </p:cNvPicPr>
          <p:nvPr/>
        </p:nvPicPr>
        <p:blipFill>
          <a:blip r:embed="rId4"/>
          <a:stretch>
            <a:fillRect/>
          </a:stretch>
        </p:blipFill>
        <p:spPr>
          <a:xfrm>
            <a:off x="3569437" y="1925701"/>
            <a:ext cx="128699" cy="187198"/>
          </a:xfrm>
          <a:prstGeom prst="rect">
            <a:avLst/>
          </a:prstGeom>
        </p:spPr>
      </p:pic>
      <p:pic>
        <p:nvPicPr>
          <p:cNvPr id="93" name="Picture 92" descr="lock.png"/>
          <p:cNvPicPr>
            <a:picLocks noChangeAspect="1"/>
          </p:cNvPicPr>
          <p:nvPr/>
        </p:nvPicPr>
        <p:blipFill>
          <a:blip r:embed="rId4"/>
          <a:stretch>
            <a:fillRect/>
          </a:stretch>
        </p:blipFill>
        <p:spPr>
          <a:xfrm>
            <a:off x="3569437" y="2135251"/>
            <a:ext cx="128699" cy="187198"/>
          </a:xfrm>
          <a:prstGeom prst="rect">
            <a:avLst/>
          </a:prstGeom>
        </p:spPr>
      </p:pic>
      <p:pic>
        <p:nvPicPr>
          <p:cNvPr id="94" name="Picture 93" descr="lock.png"/>
          <p:cNvPicPr>
            <a:picLocks noChangeAspect="1"/>
          </p:cNvPicPr>
          <p:nvPr/>
        </p:nvPicPr>
        <p:blipFill>
          <a:blip r:embed="rId4"/>
          <a:stretch>
            <a:fillRect/>
          </a:stretch>
        </p:blipFill>
        <p:spPr>
          <a:xfrm>
            <a:off x="11660925" y="2487676"/>
            <a:ext cx="128699" cy="187198"/>
          </a:xfrm>
          <a:prstGeom prst="rect">
            <a:avLst/>
          </a:prstGeom>
        </p:spPr>
      </p:pic>
      <p:pic>
        <p:nvPicPr>
          <p:cNvPr id="95" name="Picture 94" descr="lock.png"/>
          <p:cNvPicPr>
            <a:picLocks noChangeAspect="1"/>
          </p:cNvPicPr>
          <p:nvPr/>
        </p:nvPicPr>
        <p:blipFill>
          <a:blip r:embed="rId4"/>
          <a:stretch>
            <a:fillRect/>
          </a:stretch>
        </p:blipFill>
        <p:spPr>
          <a:xfrm>
            <a:off x="11366408" y="2811526"/>
            <a:ext cx="128699" cy="187198"/>
          </a:xfrm>
          <a:prstGeom prst="rect">
            <a:avLst/>
          </a:prstGeom>
        </p:spPr>
      </p:pic>
      <p:sp>
        <p:nvSpPr>
          <p:cNvPr id="96" name="TextBox 95"/>
          <p:cNvSpPr txBox="1"/>
          <p:nvPr/>
        </p:nvSpPr>
        <p:spPr>
          <a:xfrm>
            <a:off x="314325" y="4676775"/>
            <a:ext cx="2426270" cy="186689"/>
          </a:xfrm>
          <a:prstGeom prst="rect">
            <a:avLst/>
          </a:prstGeom>
          <a:noFill/>
        </p:spPr>
        <p:txBody>
          <a:bodyPr wrap="none" lIns="0" rIns="0" tIns="0" bIns="0">
            <a:spAutoFit/>
          </a:bodyPr>
          <a:lstStyle/>
          <a:p>
            <a:r>
              <a:rPr sz="1100" b="0">
                <a:solidFill>
                  <a:srgbClr val="1F2933"/>
                </a:solidFill>
                <a:latin typeface="Calibri"/>
              </a:rPr>
              <a:t>5 named players compete here; 'Portable</a:t>
            </a:r>
          </a:p>
        </p:txBody>
      </p:sp>
      <p:sp>
        <p:nvSpPr>
          <p:cNvPr id="97" name="TextBox 96"/>
          <p:cNvSpPr txBox="1"/>
          <p:nvPr/>
        </p:nvSpPr>
        <p:spPr>
          <a:xfrm>
            <a:off x="314325" y="4844415"/>
            <a:ext cx="1938957" cy="186689"/>
          </a:xfrm>
          <a:prstGeom prst="rect">
            <a:avLst/>
          </a:prstGeom>
          <a:noFill/>
        </p:spPr>
        <p:txBody>
          <a:bodyPr wrap="none" lIns="0" rIns="0" tIns="0" bIns="0">
            <a:spAutoFit/>
          </a:bodyPr>
          <a:lstStyle/>
          <a:p>
            <a:r>
              <a:rPr sz="1100" b="0">
                <a:solidFill>
                  <a:srgbClr val="1F2933"/>
                </a:solidFill>
                <a:latin typeface="Calibri"/>
              </a:rPr>
              <a:t>Machine Perfusion Devices' adds</a:t>
            </a:r>
          </a:p>
        </p:txBody>
      </p:sp>
      <p:pic>
        <p:nvPicPr>
          <p:cNvPr id="98" name="Picture 97" descr="lock.png"/>
          <p:cNvPicPr>
            <a:picLocks noChangeAspect="1"/>
          </p:cNvPicPr>
          <p:nvPr/>
        </p:nvPicPr>
        <p:blipFill>
          <a:blip r:embed="rId4"/>
          <a:stretch>
            <a:fillRect/>
          </a:stretch>
        </p:blipFill>
        <p:spPr>
          <a:xfrm>
            <a:off x="2201334" y="4834636"/>
            <a:ext cx="128699" cy="187198"/>
          </a:xfrm>
          <a:prstGeom prst="rect">
            <a:avLst/>
          </a:prstGeom>
        </p:spPr>
      </p:pic>
      <p:sp>
        <p:nvSpPr>
          <p:cNvPr id="99" name="TextBox 98"/>
          <p:cNvSpPr txBox="1"/>
          <p:nvPr/>
        </p:nvSpPr>
        <p:spPr>
          <a:xfrm>
            <a:off x="2368830" y="4844415"/>
            <a:ext cx="301029" cy="186689"/>
          </a:xfrm>
          <a:prstGeom prst="rect">
            <a:avLst/>
          </a:prstGeom>
          <a:noFill/>
        </p:spPr>
        <p:txBody>
          <a:bodyPr wrap="none" lIns="0" rIns="0" tIns="0" bIns="0">
            <a:spAutoFit/>
          </a:bodyPr>
          <a:lstStyle/>
          <a:p>
            <a:r>
              <a:rPr sz="1100" b="0">
                <a:solidFill>
                  <a:srgbClr val="1F2933"/>
                </a:solidFill>
                <a:latin typeface="Calibri"/>
              </a:rPr>
              <a:t>US$</a:t>
            </a:r>
          </a:p>
        </p:txBody>
      </p:sp>
      <p:sp>
        <p:nvSpPr>
          <p:cNvPr id="100" name="TextBox 99"/>
          <p:cNvSpPr txBox="1"/>
          <p:nvPr/>
        </p:nvSpPr>
        <p:spPr>
          <a:xfrm>
            <a:off x="314325" y="5012055"/>
            <a:ext cx="788069" cy="186689"/>
          </a:xfrm>
          <a:prstGeom prst="rect">
            <a:avLst/>
          </a:prstGeom>
          <a:noFill/>
        </p:spPr>
        <p:txBody>
          <a:bodyPr wrap="none" lIns="0" rIns="0" tIns="0" bIns="0">
            <a:spAutoFit/>
          </a:bodyPr>
          <a:lstStyle/>
          <a:p>
            <a:r>
              <a:rPr sz="1100" b="0">
                <a:solidFill>
                  <a:srgbClr val="1F2933"/>
                </a:solidFill>
                <a:latin typeface="Calibri"/>
              </a:rPr>
              <a:t>Mn by 2036.</a:t>
            </a:r>
          </a:p>
        </p:txBody>
      </p:sp>
      <p:sp>
        <p:nvSpPr>
          <p:cNvPr id="101" name="TextBox 100"/>
          <p:cNvSpPr txBox="1"/>
          <p:nvPr/>
        </p:nvSpPr>
        <p:spPr>
          <a:xfrm>
            <a:off x="3328987" y="4676775"/>
            <a:ext cx="2519362" cy="186689"/>
          </a:xfrm>
          <a:prstGeom prst="rect">
            <a:avLst/>
          </a:prstGeom>
          <a:noFill/>
        </p:spPr>
        <p:txBody>
          <a:bodyPr wrap="none" lIns="0" rIns="0" tIns="0" bIns="0">
            <a:spAutoFit/>
          </a:bodyPr>
          <a:lstStyle/>
          <a:p>
            <a:r>
              <a:rPr sz="1100" b="0">
                <a:solidFill>
                  <a:srgbClr val="1F2933"/>
                </a:solidFill>
                <a:latin typeface="Calibri"/>
              </a:rPr>
              <a:t>5 named players compete here; 'Static Cold</a:t>
            </a:r>
          </a:p>
        </p:txBody>
      </p:sp>
      <p:sp>
        <p:nvSpPr>
          <p:cNvPr id="102" name="TextBox 101"/>
          <p:cNvSpPr txBox="1"/>
          <p:nvPr/>
        </p:nvSpPr>
        <p:spPr>
          <a:xfrm>
            <a:off x="3328987" y="4844415"/>
            <a:ext cx="1308397" cy="186689"/>
          </a:xfrm>
          <a:prstGeom prst="rect">
            <a:avLst/>
          </a:prstGeom>
          <a:noFill/>
        </p:spPr>
        <p:txBody>
          <a:bodyPr wrap="none" lIns="0" rIns="0" tIns="0" bIns="0">
            <a:spAutoFit/>
          </a:bodyPr>
          <a:lstStyle/>
          <a:p>
            <a:r>
              <a:rPr sz="1100" b="0">
                <a:solidFill>
                  <a:srgbClr val="1F2933"/>
                </a:solidFill>
                <a:latin typeface="Calibri"/>
              </a:rPr>
              <a:t>Storage Devices' adds</a:t>
            </a:r>
          </a:p>
        </p:txBody>
      </p:sp>
      <p:pic>
        <p:nvPicPr>
          <p:cNvPr id="103" name="Picture 102" descr="lock.png"/>
          <p:cNvPicPr>
            <a:picLocks noChangeAspect="1"/>
          </p:cNvPicPr>
          <p:nvPr/>
        </p:nvPicPr>
        <p:blipFill>
          <a:blip r:embed="rId4"/>
          <a:stretch>
            <a:fillRect/>
          </a:stretch>
        </p:blipFill>
        <p:spPr>
          <a:xfrm>
            <a:off x="4585436" y="4834636"/>
            <a:ext cx="128699" cy="187198"/>
          </a:xfrm>
          <a:prstGeom prst="rect">
            <a:avLst/>
          </a:prstGeom>
        </p:spPr>
      </p:pic>
      <p:sp>
        <p:nvSpPr>
          <p:cNvPr id="104" name="TextBox 103"/>
          <p:cNvSpPr txBox="1"/>
          <p:nvPr/>
        </p:nvSpPr>
        <p:spPr>
          <a:xfrm>
            <a:off x="4752932" y="4844415"/>
            <a:ext cx="1044550" cy="186689"/>
          </a:xfrm>
          <a:prstGeom prst="rect">
            <a:avLst/>
          </a:prstGeom>
          <a:noFill/>
        </p:spPr>
        <p:txBody>
          <a:bodyPr wrap="none" lIns="0" rIns="0" tIns="0" bIns="0">
            <a:spAutoFit/>
          </a:bodyPr>
          <a:lstStyle/>
          <a:p>
            <a:r>
              <a:rPr sz="1100" b="0">
                <a:solidFill>
                  <a:srgbClr val="1F2933"/>
                </a:solidFill>
                <a:latin typeface="Calibri"/>
              </a:rPr>
              <a:t>US$ Mn by 2036.</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Player Landscape by Business Type and Reach</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Named players by business type and geographic reach, with how each group competes</a:t>
            </a:r>
          </a:p>
        </p:txBody>
      </p:sp>
      <p:sp>
        <p:nvSpPr>
          <p:cNvPr id="10" name="Rectangle 9"/>
          <p:cNvSpPr/>
          <p:nvPr/>
        </p:nvSpPr>
        <p:spPr>
          <a:xfrm>
            <a:off x="1638300" y="1047750"/>
            <a:ext cx="3422650" cy="2667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145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1  (4)</a:t>
            </a:r>
          </a:p>
        </p:txBody>
      </p:sp>
      <p:sp>
        <p:nvSpPr>
          <p:cNvPr id="12" name="Rectangle 11"/>
          <p:cNvSpPr/>
          <p:nvPr/>
        </p:nvSpPr>
        <p:spPr>
          <a:xfrm>
            <a:off x="5099050" y="1047750"/>
            <a:ext cx="3422650" cy="2667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25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2  (2)</a:t>
            </a:r>
          </a:p>
        </p:txBody>
      </p:sp>
      <p:sp>
        <p:nvSpPr>
          <p:cNvPr id="14" name="Rectangle 13"/>
          <p:cNvSpPr/>
          <p:nvPr/>
        </p:nvSpPr>
        <p:spPr>
          <a:xfrm>
            <a:off x="8559800" y="1047750"/>
            <a:ext cx="3422650" cy="2667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047750"/>
            <a:ext cx="3308350" cy="266700"/>
          </a:xfrm>
          <a:prstGeom prst="rect">
            <a:avLst/>
          </a:prstGeom>
          <a:noFill/>
        </p:spPr>
        <p:txBody>
          <a:bodyPr wrap="square" lIns="28575" rIns="28575" tIns="9525" bIns="9525" anchor="ctr">
            <a:spAutoFit/>
          </a:bodyPr>
          <a:lstStyle/>
          <a:p>
            <a:pPr algn="l"/>
            <a:r>
              <a:rPr sz="1100" b="1">
                <a:solidFill>
                  <a:srgbClr val="FFFFFF"/>
                </a:solidFill>
                <a:latin typeface="Calibri"/>
              </a:rPr>
              <a:t>Tier 3  (4)</a:t>
            </a:r>
          </a:p>
        </p:txBody>
      </p:sp>
      <p:sp>
        <p:nvSpPr>
          <p:cNvPr id="16" name="TextBox 15"/>
          <p:cNvSpPr txBox="1"/>
          <p:nvPr/>
        </p:nvSpPr>
        <p:spPr>
          <a:xfrm>
            <a:off x="190500" y="14097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Global (4)</a:t>
            </a:r>
          </a:p>
        </p:txBody>
      </p:sp>
      <p:sp>
        <p:nvSpPr>
          <p:cNvPr id="17" name="TextBox 16"/>
          <p:cNvSpPr txBox="1"/>
          <p:nvPr/>
        </p:nvSpPr>
        <p:spPr>
          <a:xfrm>
            <a:off x="190500" y="15811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Sells in most major regions</a:t>
            </a:r>
          </a:p>
        </p:txBody>
      </p:sp>
      <p:cxnSp>
        <p:nvCxnSpPr>
          <p:cNvPr id="18" name="Connector 17"/>
          <p:cNvCxnSpPr/>
          <p:nvPr/>
        </p:nvCxnSpPr>
        <p:spPr>
          <a:xfrm>
            <a:off x="1647825" y="13906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733550" y="1447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33550" y="1438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TextBox 20"/>
          <p:cNvSpPr txBox="1"/>
          <p:nvPr/>
        </p:nvSpPr>
        <p:spPr>
          <a:xfrm>
            <a:off x="1924050" y="1428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TransMedics</a:t>
            </a:r>
          </a:p>
        </p:txBody>
      </p:sp>
      <p:sp>
        <p:nvSpPr>
          <p:cNvPr id="22" name="Rectangle 21"/>
          <p:cNvSpPr/>
          <p:nvPr/>
        </p:nvSpPr>
        <p:spPr>
          <a:xfrm>
            <a:off x="1733550" y="1638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33550" y="1628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4" name="TextBox 23"/>
          <p:cNvSpPr txBox="1"/>
          <p:nvPr/>
        </p:nvSpPr>
        <p:spPr>
          <a:xfrm>
            <a:off x="1924050" y="1619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OrganOx</a:t>
            </a:r>
          </a:p>
        </p:txBody>
      </p:sp>
      <p:sp>
        <p:nvSpPr>
          <p:cNvPr id="25" name="Rectangle 24"/>
          <p:cNvSpPr/>
          <p:nvPr/>
        </p:nvSpPr>
        <p:spPr>
          <a:xfrm>
            <a:off x="1733550" y="18288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33550" y="18192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7" name="TextBox 26"/>
          <p:cNvSpPr txBox="1"/>
          <p:nvPr/>
        </p:nvSpPr>
        <p:spPr>
          <a:xfrm>
            <a:off x="1924050" y="18097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XVIVO Perfusion</a:t>
            </a:r>
          </a:p>
        </p:txBody>
      </p:sp>
      <p:sp>
        <p:nvSpPr>
          <p:cNvPr id="28" name="Rectangle 27"/>
          <p:cNvSpPr/>
          <p:nvPr/>
        </p:nvSpPr>
        <p:spPr>
          <a:xfrm>
            <a:off x="1733550" y="2019300"/>
            <a:ext cx="142875" cy="1428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33550" y="2009775"/>
            <a:ext cx="142875" cy="161925"/>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30" name="TextBox 29"/>
          <p:cNvSpPr txBox="1"/>
          <p:nvPr/>
        </p:nvSpPr>
        <p:spPr>
          <a:xfrm>
            <a:off x="1924050" y="2000250"/>
            <a:ext cx="3079750" cy="171450"/>
          </a:xfrm>
          <a:prstGeom prst="rect">
            <a:avLst/>
          </a:prstGeom>
          <a:noFill/>
        </p:spPr>
        <p:txBody>
          <a:bodyPr wrap="square" lIns="28575" rIns="28575" tIns="9525" bIns="9525" anchor="t">
            <a:spAutoFit/>
          </a:bodyPr>
          <a:lstStyle/>
          <a:p>
            <a:pPr algn="l"/>
            <a:r>
              <a:rPr sz="1100" b="1">
                <a:solidFill>
                  <a:srgbClr val="1F2933"/>
                </a:solidFill>
                <a:latin typeface="Calibri"/>
              </a:rPr>
              <a:t>Paragonix Technologies</a:t>
            </a:r>
          </a:p>
        </p:txBody>
      </p:sp>
      <p:cxnSp>
        <p:nvCxnSpPr>
          <p:cNvPr id="31" name="Connector 30"/>
          <p:cNvCxnSpPr/>
          <p:nvPr/>
        </p:nvCxnSpPr>
        <p:spPr>
          <a:xfrm>
            <a:off x="5108575" y="13906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69325" y="13906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90500" y="24384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Regional (2)</a:t>
            </a:r>
          </a:p>
        </p:txBody>
      </p:sp>
      <p:sp>
        <p:nvSpPr>
          <p:cNvPr id="34" name="TextBox 33"/>
          <p:cNvSpPr txBox="1"/>
          <p:nvPr/>
        </p:nvSpPr>
        <p:spPr>
          <a:xfrm>
            <a:off x="190500" y="26098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Strong in one or two regions</a:t>
            </a:r>
          </a:p>
        </p:txBody>
      </p:sp>
      <p:cxnSp>
        <p:nvCxnSpPr>
          <p:cNvPr id="35" name="Connector 34"/>
          <p:cNvCxnSpPr/>
          <p:nvPr/>
        </p:nvCxnSpPr>
        <p:spPr>
          <a:xfrm>
            <a:off x="190500" y="240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647825" y="24193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08575" y="24193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194300" y="24765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94300" y="24669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0" name="TextBox 39"/>
          <p:cNvSpPr txBox="1"/>
          <p:nvPr/>
        </p:nvSpPr>
        <p:spPr>
          <a:xfrm>
            <a:off x="5384800" y="24574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Organ Recovery Systems</a:t>
            </a:r>
          </a:p>
        </p:txBody>
      </p:sp>
      <p:sp>
        <p:nvSpPr>
          <p:cNvPr id="41" name="Rectangle 40"/>
          <p:cNvSpPr/>
          <p:nvPr/>
        </p:nvSpPr>
        <p:spPr>
          <a:xfrm>
            <a:off x="5194300" y="2667000"/>
            <a:ext cx="142875" cy="14287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94300" y="2657475"/>
            <a:ext cx="142875" cy="161925"/>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3" name="TextBox 42"/>
          <p:cNvSpPr txBox="1"/>
          <p:nvPr/>
        </p:nvSpPr>
        <p:spPr>
          <a:xfrm>
            <a:off x="5384800" y="26479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IGL Group / Waters Medical Systems</a:t>
            </a:r>
          </a:p>
        </p:txBody>
      </p:sp>
      <p:cxnSp>
        <p:nvCxnSpPr>
          <p:cNvPr id="44" name="Connector 43"/>
          <p:cNvCxnSpPr/>
          <p:nvPr/>
        </p:nvCxnSpPr>
        <p:spPr>
          <a:xfrm>
            <a:off x="8569325" y="24193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90500" y="3467100"/>
            <a:ext cx="1381125" cy="171450"/>
          </a:xfrm>
          <a:prstGeom prst="rect">
            <a:avLst/>
          </a:prstGeom>
          <a:noFill/>
        </p:spPr>
        <p:txBody>
          <a:bodyPr wrap="square" lIns="28575" rIns="28575" tIns="9525" bIns="9525" anchor="t">
            <a:spAutoFit/>
          </a:bodyPr>
          <a:lstStyle/>
          <a:p>
            <a:pPr algn="l"/>
            <a:r>
              <a:rPr sz="1100" b="1">
                <a:solidFill>
                  <a:srgbClr val="0F2D52"/>
                </a:solidFill>
                <a:latin typeface="Calibri"/>
              </a:rPr>
              <a:t>Local or niche (4)</a:t>
            </a:r>
          </a:p>
        </p:txBody>
      </p:sp>
      <p:sp>
        <p:nvSpPr>
          <p:cNvPr id="46" name="TextBox 45"/>
          <p:cNvSpPr txBox="1"/>
          <p:nvPr/>
        </p:nvSpPr>
        <p:spPr>
          <a:xfrm>
            <a:off x="190500" y="3638550"/>
            <a:ext cx="1333500" cy="3810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One market or one specialist use</a:t>
            </a:r>
          </a:p>
        </p:txBody>
      </p:sp>
      <p:cxnSp>
        <p:nvCxnSpPr>
          <p:cNvPr id="47" name="Connector 46"/>
          <p:cNvCxnSpPr/>
          <p:nvPr/>
        </p:nvCxnSpPr>
        <p:spPr>
          <a:xfrm>
            <a:off x="190500" y="3429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647825" y="3448050"/>
            <a:ext cx="0" cy="971550"/>
          </a:xfrm>
          <a:prstGeom prst="line">
            <a:avLst/>
          </a:prstGeom>
          <a:ln w="31750">
            <a:solidFill>
              <a:srgbClr val="1F6FA8"/>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08575" y="3448050"/>
            <a:ext cx="0" cy="971550"/>
          </a:xfrm>
          <a:prstGeom prst="line">
            <a:avLst/>
          </a:prstGeom>
          <a:ln w="31750">
            <a:solidFill>
              <a:srgbClr val="E07B24"/>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69325" y="3448050"/>
            <a:ext cx="0" cy="971550"/>
          </a:xfrm>
          <a:prstGeom prst="line">
            <a:avLst/>
          </a:prstGeom>
          <a:ln w="317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655050" y="3505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5050" y="3495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3" name="TextBox 52"/>
          <p:cNvSpPr txBox="1"/>
          <p:nvPr/>
        </p:nvSpPr>
        <p:spPr>
          <a:xfrm>
            <a:off x="8845550" y="3486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Bridge to Life</a:t>
            </a:r>
          </a:p>
        </p:txBody>
      </p:sp>
      <p:sp>
        <p:nvSpPr>
          <p:cNvPr id="54" name="Rectangle 53"/>
          <p:cNvSpPr/>
          <p:nvPr/>
        </p:nvSpPr>
        <p:spPr>
          <a:xfrm>
            <a:off x="8655050" y="3695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55050" y="3686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6" name="TextBox 55"/>
          <p:cNvSpPr txBox="1"/>
          <p:nvPr/>
        </p:nvSpPr>
        <p:spPr>
          <a:xfrm>
            <a:off x="8845550" y="3676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Aferetica</a:t>
            </a:r>
          </a:p>
        </p:txBody>
      </p:sp>
      <p:sp>
        <p:nvSpPr>
          <p:cNvPr id="57" name="Rectangle 56"/>
          <p:cNvSpPr/>
          <p:nvPr/>
        </p:nvSpPr>
        <p:spPr>
          <a:xfrm>
            <a:off x="8655050" y="38862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655050" y="38766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59" name="TextBox 58"/>
          <p:cNvSpPr txBox="1"/>
          <p:nvPr/>
        </p:nvSpPr>
        <p:spPr>
          <a:xfrm>
            <a:off x="8845550" y="38671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EBERS Medical Technology</a:t>
            </a:r>
          </a:p>
        </p:txBody>
      </p:sp>
      <p:sp>
        <p:nvSpPr>
          <p:cNvPr id="60" name="Rectangle 59"/>
          <p:cNvSpPr/>
          <p:nvPr/>
        </p:nvSpPr>
        <p:spPr>
          <a:xfrm>
            <a:off x="8655050" y="4076700"/>
            <a:ext cx="142875" cy="14287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55050" y="4067175"/>
            <a:ext cx="142875" cy="161925"/>
          </a:xfrm>
          <a:prstGeom prst="rect">
            <a:avLst/>
          </a:prstGeom>
          <a:noFill/>
        </p:spPr>
        <p:txBody>
          <a:bodyPr wrap="none" lIns="0" rIns="0" tIns="0" bIns="0" anchor="ctr">
            <a:spAutoFit/>
          </a:bodyPr>
          <a:lstStyle/>
          <a:p>
            <a:pPr algn="ctr"/>
            <a:r>
              <a:rPr sz="1100" b="1">
                <a:solidFill>
                  <a:srgbClr val="0F2D52"/>
                </a:solidFill>
                <a:latin typeface="Calibri"/>
              </a:rPr>
              <a:t>3</a:t>
            </a:r>
          </a:p>
        </p:txBody>
      </p:sp>
      <p:sp>
        <p:nvSpPr>
          <p:cNvPr id="62" name="TextBox 61"/>
          <p:cNvSpPr txBox="1"/>
          <p:nvPr/>
        </p:nvSpPr>
        <p:spPr>
          <a:xfrm>
            <a:off x="8845550" y="4057650"/>
            <a:ext cx="3079750" cy="171450"/>
          </a:xfrm>
          <a:prstGeom prst="rect">
            <a:avLst/>
          </a:prstGeom>
          <a:noFill/>
        </p:spPr>
        <p:txBody>
          <a:bodyPr wrap="square" lIns="28575" rIns="28575" tIns="9525" bIns="9525" anchor="t">
            <a:spAutoFit/>
          </a:bodyPr>
          <a:lstStyle/>
          <a:p>
            <a:pPr algn="l"/>
            <a:r>
              <a:rPr sz="1100" b="0">
                <a:solidFill>
                  <a:srgbClr val="1F2933"/>
                </a:solidFill>
                <a:latin typeface="Calibri"/>
              </a:rPr>
              <a:t>Traferox Technologies</a:t>
            </a:r>
          </a:p>
        </p:txBody>
      </p:sp>
      <p:sp>
        <p:nvSpPr>
          <p:cNvPr id="63" name="Rectangle 62"/>
          <p:cNvSpPr/>
          <p:nvPr/>
        </p:nvSpPr>
        <p:spPr>
          <a:xfrm>
            <a:off x="190500" y="4524375"/>
            <a:ext cx="123825" cy="12382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19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1</a:t>
            </a:r>
          </a:p>
        </p:txBody>
      </p:sp>
      <p:sp>
        <p:nvSpPr>
          <p:cNvPr id="65" name="TextBox 64"/>
          <p:cNvSpPr txBox="1"/>
          <p:nvPr/>
        </p:nvSpPr>
        <p:spPr>
          <a:xfrm>
            <a:off x="8191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66" name="TextBox 65"/>
          <p:cNvSpPr txBox="1"/>
          <p:nvPr/>
        </p:nvSpPr>
        <p:spPr>
          <a:xfrm>
            <a:off x="14478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67" name="Rectangle 66"/>
          <p:cNvSpPr/>
          <p:nvPr/>
        </p:nvSpPr>
        <p:spPr>
          <a:xfrm>
            <a:off x="2952750" y="4524375"/>
            <a:ext cx="123825" cy="123825"/>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2420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2</a:t>
            </a:r>
          </a:p>
        </p:txBody>
      </p:sp>
      <p:sp>
        <p:nvSpPr>
          <p:cNvPr id="69" name="TextBox 68"/>
          <p:cNvSpPr txBox="1"/>
          <p:nvPr/>
        </p:nvSpPr>
        <p:spPr>
          <a:xfrm>
            <a:off x="358140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0" name="TextBox 69"/>
          <p:cNvSpPr txBox="1"/>
          <p:nvPr/>
        </p:nvSpPr>
        <p:spPr>
          <a:xfrm>
            <a:off x="421005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1" name="Rectangle 70"/>
          <p:cNvSpPr/>
          <p:nvPr/>
        </p:nvSpPr>
        <p:spPr>
          <a:xfrm>
            <a:off x="5715000" y="4524375"/>
            <a:ext cx="123825" cy="123825"/>
          </a:xfrm>
          <a:prstGeom prst="rect">
            <a:avLst/>
          </a:prstGeom>
          <a:solidFill>
            <a:srgbClr val="A9C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86450" y="4476750"/>
            <a:ext cx="476250" cy="209550"/>
          </a:xfrm>
          <a:prstGeom prst="rect">
            <a:avLst/>
          </a:prstGeom>
          <a:noFill/>
        </p:spPr>
        <p:txBody>
          <a:bodyPr wrap="square" lIns="28575" rIns="28575" tIns="9525" bIns="9525" anchor="ctr">
            <a:spAutoFit/>
          </a:bodyPr>
          <a:lstStyle/>
          <a:p>
            <a:pPr algn="l"/>
            <a:r>
              <a:rPr sz="1100" b="0">
                <a:solidFill>
                  <a:srgbClr val="1F2933"/>
                </a:solidFill>
                <a:latin typeface="Calibri"/>
              </a:rPr>
              <a:t>Tier 3</a:t>
            </a:r>
          </a:p>
        </p:txBody>
      </p:sp>
      <p:sp>
        <p:nvSpPr>
          <p:cNvPr id="73" name="TextBox 72"/>
          <p:cNvSpPr txBox="1"/>
          <p:nvPr/>
        </p:nvSpPr>
        <p:spPr>
          <a:xfrm>
            <a:off x="6343650" y="4476750"/>
            <a:ext cx="609600" cy="209550"/>
          </a:xfrm>
          <a:prstGeom prst="rect">
            <a:avLst/>
          </a:prstGeom>
          <a:noFill/>
        </p:spPr>
        <p:txBody>
          <a:bodyPr wrap="square" lIns="28575" rIns="28575" tIns="9525" bIns="9525" anchor="ctr">
            <a:spAutoFit/>
          </a:bodyPr>
          <a:lstStyle/>
          <a:p>
            <a:pPr algn="l"/>
            <a:r>
              <a:rPr sz="1100" b="1">
                <a:solidFill>
                  <a:srgbClr val="1F2933"/>
                </a:solidFill>
                <a:latin typeface="Calibri"/>
              </a:rPr>
              <a:t> </a:t>
            </a:r>
          </a:p>
        </p:txBody>
      </p:sp>
      <p:sp>
        <p:nvSpPr>
          <p:cNvPr id="74" name="TextBox 73"/>
          <p:cNvSpPr txBox="1"/>
          <p:nvPr/>
        </p:nvSpPr>
        <p:spPr>
          <a:xfrm>
            <a:off x="6972300" y="4476750"/>
            <a:ext cx="1238250" cy="209550"/>
          </a:xfrm>
          <a:prstGeom prst="rect">
            <a:avLst/>
          </a:prstGeom>
          <a:noFill/>
        </p:spPr>
        <p:txBody>
          <a:bodyPr wrap="square" lIns="28575" rIns="28575" tIns="9525" bIns="9525" anchor="ctr">
            <a:spAutoFit/>
          </a:bodyPr>
          <a:lstStyle/>
          <a:p>
            <a:pPr algn="l"/>
            <a:r>
              <a:rPr sz="1100" b="0">
                <a:solidFill>
                  <a:srgbClr val="1F2933"/>
                </a:solidFill>
                <a:latin typeface="Calibri"/>
              </a:rPr>
              <a:t>combined share</a:t>
            </a:r>
          </a:p>
        </p:txBody>
      </p:sp>
      <p:sp>
        <p:nvSpPr>
          <p:cNvPr id="75" name="TextBox 74"/>
          <p:cNvSpPr txBox="1"/>
          <p:nvPr/>
        </p:nvSpPr>
        <p:spPr>
          <a:xfrm>
            <a:off x="190500" y="4705350"/>
            <a:ext cx="11811000" cy="171450"/>
          </a:xfrm>
          <a:prstGeom prst="rect">
            <a:avLst/>
          </a:prstGeom>
          <a:noFill/>
        </p:spPr>
        <p:txBody>
          <a:bodyPr wrap="square" lIns="28575" rIns="28575" tIns="9525" bIns="9525" anchor="t">
            <a:spAutoFit/>
          </a:bodyPr>
          <a:lstStyle/>
          <a:p>
            <a:pPr algn="l"/>
            <a:r>
              <a:rPr sz="1100" b="0">
                <a:solidFill>
                  <a:srgbClr val="1F2933"/>
                </a:solidFill>
                <a:latin typeface="Calibri"/>
              </a:rPr>
              <a:t>BY TYPE   Tier 1 4   |   Tier 2 2   |   Tier 3 4      BY REACH   Global 4   |   Regional 2   |   Local or niche 4</a:t>
            </a:r>
          </a:p>
        </p:txBody>
      </p:sp>
      <p:sp>
        <p:nvSpPr>
          <p:cNvPr id="76" name="Rectangle 75"/>
          <p:cNvSpPr/>
          <p:nvPr/>
        </p:nvSpPr>
        <p:spPr>
          <a:xfrm>
            <a:off x="190500" y="4972050"/>
            <a:ext cx="2809875" cy="38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050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78" name="TextBox 77"/>
          <p:cNvSpPr txBox="1"/>
          <p:nvPr/>
        </p:nvSpPr>
        <p:spPr>
          <a:xfrm>
            <a:off x="19050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79" name="TextBox 78"/>
          <p:cNvSpPr txBox="1"/>
          <p:nvPr/>
        </p:nvSpPr>
        <p:spPr>
          <a:xfrm>
            <a:off x="19050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Direct + key accounts; premium / bundled positioning.</a:t>
            </a:r>
          </a:p>
        </p:txBody>
      </p:sp>
      <p:sp>
        <p:nvSpPr>
          <p:cNvPr id="80" name="TextBox 79"/>
          <p:cNvSpPr txBox="1"/>
          <p:nvPr/>
        </p:nvSpPr>
        <p:spPr>
          <a:xfrm>
            <a:off x="19050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1" name="TextBox 80"/>
          <p:cNvSpPr txBox="1"/>
          <p:nvPr/>
        </p:nvSpPr>
        <p:spPr>
          <a:xfrm>
            <a:off x="19050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2" name="Rectangle 81"/>
          <p:cNvSpPr/>
          <p:nvPr/>
        </p:nvSpPr>
        <p:spPr>
          <a:xfrm>
            <a:off x="3190875" y="4972050"/>
            <a:ext cx="2809875" cy="38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90875"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84" name="TextBox 83"/>
          <p:cNvSpPr txBox="1"/>
          <p:nvPr/>
        </p:nvSpPr>
        <p:spPr>
          <a:xfrm>
            <a:off x="3190875"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85" name="TextBox 84"/>
          <p:cNvSpPr txBox="1"/>
          <p:nvPr/>
        </p:nvSpPr>
        <p:spPr>
          <a:xfrm>
            <a:off x="3190875"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Distributors; mid / value-added positioning.</a:t>
            </a:r>
          </a:p>
        </p:txBody>
      </p:sp>
      <p:sp>
        <p:nvSpPr>
          <p:cNvPr id="86" name="TextBox 85"/>
          <p:cNvSpPr txBox="1"/>
          <p:nvPr/>
        </p:nvSpPr>
        <p:spPr>
          <a:xfrm>
            <a:off x="3190875"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87" name="TextBox 86"/>
          <p:cNvSpPr txBox="1"/>
          <p:nvPr/>
        </p:nvSpPr>
        <p:spPr>
          <a:xfrm>
            <a:off x="3190875"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88" name="Rectangle 87"/>
          <p:cNvSpPr/>
          <p:nvPr/>
        </p:nvSpPr>
        <p:spPr>
          <a:xfrm>
            <a:off x="6191250" y="4972050"/>
            <a:ext cx="2809875" cy="38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91250" y="5048250"/>
            <a:ext cx="2809875"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90" name="TextBox 89"/>
          <p:cNvSpPr txBox="1"/>
          <p:nvPr/>
        </p:nvSpPr>
        <p:spPr>
          <a:xfrm>
            <a:off x="6191250" y="52197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HOW IT EARNS</a:t>
            </a:r>
          </a:p>
        </p:txBody>
      </p:sp>
      <p:sp>
        <p:nvSpPr>
          <p:cNvPr id="91" name="TextBox 90"/>
          <p:cNvSpPr txBox="1"/>
          <p:nvPr/>
        </p:nvSpPr>
        <p:spPr>
          <a:xfrm>
            <a:off x="6191250" y="53721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Regional partners; value / entry positioning.</a:t>
            </a:r>
          </a:p>
        </p:txBody>
      </p:sp>
      <p:sp>
        <p:nvSpPr>
          <p:cNvPr id="92" name="TextBox 91"/>
          <p:cNvSpPr txBox="1"/>
          <p:nvPr/>
        </p:nvSpPr>
        <p:spPr>
          <a:xfrm>
            <a:off x="6191250" y="5715000"/>
            <a:ext cx="2809875" cy="152400"/>
          </a:xfrm>
          <a:prstGeom prst="rect">
            <a:avLst/>
          </a:prstGeom>
          <a:noFill/>
        </p:spPr>
        <p:txBody>
          <a:bodyPr wrap="square" lIns="28575" rIns="28575" tIns="9525" bIns="9525" anchor="t">
            <a:spAutoFit/>
          </a:bodyPr>
          <a:lstStyle/>
          <a:p>
            <a:pPr algn="l"/>
            <a:r>
              <a:rPr sz="1100" b="1">
                <a:solidFill>
                  <a:srgbClr val="0F2D52"/>
                </a:solidFill>
                <a:latin typeface="Calibri"/>
              </a:rPr>
              <a:t>DOMINANT STRATEGY</a:t>
            </a:r>
          </a:p>
        </p:txBody>
      </p:sp>
      <p:sp>
        <p:nvSpPr>
          <p:cNvPr id="93" name="TextBox 92"/>
          <p:cNvSpPr txBox="1"/>
          <p:nvPr/>
        </p:nvSpPr>
        <p:spPr>
          <a:xfrm>
            <a:off x="6191250" y="5867400"/>
            <a:ext cx="2809875"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
            </a:r>
          </a:p>
        </p:txBody>
      </p:sp>
      <p:sp>
        <p:nvSpPr>
          <p:cNvPr id="94" name="TextBox 93"/>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95" name="Picture 94" descr="lock.png"/>
          <p:cNvPicPr>
            <a:picLocks noChangeAspect="1"/>
          </p:cNvPicPr>
          <p:nvPr/>
        </p:nvPicPr>
        <p:blipFill>
          <a:blip r:embed="rId4"/>
          <a:stretch>
            <a:fillRect/>
          </a:stretch>
        </p:blipFill>
        <p:spPr>
          <a:xfrm>
            <a:off x="1059600" y="4487926"/>
            <a:ext cx="128699" cy="187198"/>
          </a:xfrm>
          <a:prstGeom prst="rect">
            <a:avLst/>
          </a:prstGeom>
        </p:spPr>
      </p:pic>
      <p:pic>
        <p:nvPicPr>
          <p:cNvPr id="96" name="Picture 95" descr="lock.png"/>
          <p:cNvPicPr>
            <a:picLocks noChangeAspect="1"/>
          </p:cNvPicPr>
          <p:nvPr/>
        </p:nvPicPr>
        <p:blipFill>
          <a:blip r:embed="rId4"/>
          <a:stretch>
            <a:fillRect/>
          </a:stretch>
        </p:blipFill>
        <p:spPr>
          <a:xfrm>
            <a:off x="3821850" y="4487926"/>
            <a:ext cx="128699" cy="187198"/>
          </a:xfrm>
          <a:prstGeom prst="rect">
            <a:avLst/>
          </a:prstGeom>
        </p:spPr>
      </p:pic>
      <p:pic>
        <p:nvPicPr>
          <p:cNvPr id="97" name="Picture 96" descr="lock.png"/>
          <p:cNvPicPr>
            <a:picLocks noChangeAspect="1"/>
          </p:cNvPicPr>
          <p:nvPr/>
        </p:nvPicPr>
        <p:blipFill>
          <a:blip r:embed="rId4"/>
          <a:stretch>
            <a:fillRect/>
          </a:stretch>
        </p:blipFill>
        <p:spPr>
          <a:xfrm>
            <a:off x="6584100" y="4487926"/>
            <a:ext cx="128699" cy="187198"/>
          </a:xfrm>
          <a:prstGeom prst="rect">
            <a:avLst/>
          </a:prstGeom>
        </p:spPr>
      </p:pic>
      <p:sp>
        <p:nvSpPr>
          <p:cNvPr id="98" name="TextBox 97"/>
          <p:cNvSpPr txBox="1"/>
          <p:nvPr/>
        </p:nvSpPr>
        <p:spPr>
          <a:xfrm>
            <a:off x="21907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99" name="Picture 98" descr="lock.png"/>
          <p:cNvPicPr>
            <a:picLocks noChangeAspect="1"/>
          </p:cNvPicPr>
          <p:nvPr/>
        </p:nvPicPr>
        <p:blipFill>
          <a:blip r:embed="rId4"/>
          <a:stretch>
            <a:fillRect/>
          </a:stretch>
        </p:blipFill>
        <p:spPr>
          <a:xfrm>
            <a:off x="959834" y="5867145"/>
            <a:ext cx="128699" cy="187198"/>
          </a:xfrm>
          <a:prstGeom prst="rect">
            <a:avLst/>
          </a:prstGeom>
        </p:spPr>
      </p:pic>
      <p:sp>
        <p:nvSpPr>
          <p:cNvPr id="100" name="TextBox 99"/>
          <p:cNvSpPr txBox="1"/>
          <p:nvPr/>
        </p:nvSpPr>
        <p:spPr>
          <a:xfrm>
            <a:off x="112733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1" name="TextBox 100"/>
          <p:cNvSpPr txBox="1"/>
          <p:nvPr/>
        </p:nvSpPr>
        <p:spPr>
          <a:xfrm>
            <a:off x="3219450"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2" name="Picture 101" descr="lock.png"/>
          <p:cNvPicPr>
            <a:picLocks noChangeAspect="1"/>
          </p:cNvPicPr>
          <p:nvPr/>
        </p:nvPicPr>
        <p:blipFill>
          <a:blip r:embed="rId4"/>
          <a:stretch>
            <a:fillRect/>
          </a:stretch>
        </p:blipFill>
        <p:spPr>
          <a:xfrm>
            <a:off x="3960209" y="5867145"/>
            <a:ext cx="128699" cy="187198"/>
          </a:xfrm>
          <a:prstGeom prst="rect">
            <a:avLst/>
          </a:prstGeom>
        </p:spPr>
      </p:pic>
      <p:sp>
        <p:nvSpPr>
          <p:cNvPr id="103" name="TextBox 102"/>
          <p:cNvSpPr txBox="1"/>
          <p:nvPr/>
        </p:nvSpPr>
        <p:spPr>
          <a:xfrm>
            <a:off x="4127705"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
        <p:nvSpPr>
          <p:cNvPr id="104" name="TextBox 103"/>
          <p:cNvSpPr txBox="1"/>
          <p:nvPr/>
        </p:nvSpPr>
        <p:spPr>
          <a:xfrm>
            <a:off x="6219825" y="5876925"/>
            <a:ext cx="792708" cy="186689"/>
          </a:xfrm>
          <a:prstGeom prst="rect">
            <a:avLst/>
          </a:prstGeom>
          <a:noFill/>
        </p:spPr>
        <p:txBody>
          <a:bodyPr wrap="none" lIns="0" rIns="0" tIns="0" bIns="0">
            <a:spAutoFit/>
          </a:bodyPr>
          <a:lstStyle/>
          <a:p>
            <a:r>
              <a:rPr sz="1100" b="0">
                <a:solidFill>
                  <a:srgbClr val="1F2933"/>
                </a:solidFill>
                <a:latin typeface="Calibri"/>
              </a:rPr>
              <a:t>Buy to scale;</a:t>
            </a:r>
          </a:p>
        </p:txBody>
      </p:sp>
      <p:pic>
        <p:nvPicPr>
          <p:cNvPr id="105" name="Picture 104" descr="lock.png"/>
          <p:cNvPicPr>
            <a:picLocks noChangeAspect="1"/>
          </p:cNvPicPr>
          <p:nvPr/>
        </p:nvPicPr>
        <p:blipFill>
          <a:blip r:embed="rId4"/>
          <a:stretch>
            <a:fillRect/>
          </a:stretch>
        </p:blipFill>
        <p:spPr>
          <a:xfrm>
            <a:off x="6960584" y="5867145"/>
            <a:ext cx="128699" cy="187198"/>
          </a:xfrm>
          <a:prstGeom prst="rect">
            <a:avLst/>
          </a:prstGeom>
        </p:spPr>
      </p:pic>
      <p:sp>
        <p:nvSpPr>
          <p:cNvPr id="106" name="TextBox 105"/>
          <p:cNvSpPr txBox="1"/>
          <p:nvPr/>
        </p:nvSpPr>
        <p:spPr>
          <a:xfrm>
            <a:off x="7128080" y="5876925"/>
            <a:ext cx="1022722" cy="186689"/>
          </a:xfrm>
          <a:prstGeom prst="rect">
            <a:avLst/>
          </a:prstGeom>
          <a:noFill/>
        </p:spPr>
        <p:txBody>
          <a:bodyPr wrap="none" lIns="0" rIns="0" tIns="0" bIns="0">
            <a:spAutoFit/>
          </a:bodyPr>
          <a:lstStyle/>
          <a:p>
            <a:r>
              <a:rPr sz="1100" b="0">
                <a:solidFill>
                  <a:srgbClr val="1F2933"/>
                </a:solidFill>
                <a:latin typeface="Calibri"/>
              </a:rPr>
              <a:t>combined share.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Corporate Scorecard: Who They Are</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Eight corporate Ps for every named competitor: ownership, strategy, breadth, presence, scale and performance</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1, CORPORATE: WHO THEY ARE</a:t>
            </a:r>
          </a:p>
        </p:txBody>
      </p:sp>
      <p:sp>
        <p:nvSpPr>
          <p:cNvPr id="12" name="TextBox 11"/>
          <p:cNvSpPr txBox="1"/>
          <p:nvPr/>
        </p:nvSpPr>
        <p:spPr>
          <a:xfrm>
            <a:off x="2861737" y="1295400"/>
            <a:ext cx="210900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Parent and ownership</a:t>
            </a:r>
          </a:p>
        </p:txBody>
      </p:sp>
      <p:sp>
        <p:nvSpPr>
          <p:cNvPr id="13" name="TextBox 12"/>
          <p:cNvSpPr txBox="1"/>
          <p:nvPr/>
        </p:nvSpPr>
        <p:spPr>
          <a:xfrm>
            <a:off x="2861737" y="1657350"/>
            <a:ext cx="210900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From the company roster</a:t>
            </a:r>
          </a:p>
        </p:txBody>
      </p:sp>
      <p:sp>
        <p:nvSpPr>
          <p:cNvPr id="14" name="TextBox 13"/>
          <p:cNvSpPr txBox="1"/>
          <p:nvPr/>
        </p:nvSpPr>
        <p:spPr>
          <a:xfrm>
            <a:off x="5046942" y="1295400"/>
            <a:ext cx="108924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Purpose (strategy)</a:t>
            </a:r>
          </a:p>
        </p:txBody>
      </p:sp>
      <p:sp>
        <p:nvSpPr>
          <p:cNvPr id="15" name="TextBox 14"/>
          <p:cNvSpPr txBox="1"/>
          <p:nvPr/>
        </p:nvSpPr>
        <p:spPr>
          <a:xfrm>
            <a:off x="5046942" y="1657350"/>
            <a:ext cx="108924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Dominant active move</a:t>
            </a:r>
          </a:p>
        </p:txBody>
      </p:sp>
      <p:sp>
        <p:nvSpPr>
          <p:cNvPr id="16" name="TextBox 15"/>
          <p:cNvSpPr txBox="1"/>
          <p:nvPr/>
        </p:nvSpPr>
        <p:spPr>
          <a:xfrm>
            <a:off x="6212385"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Portfolio breadth</a:t>
            </a:r>
          </a:p>
        </p:txBody>
      </p:sp>
      <p:sp>
        <p:nvSpPr>
          <p:cNvPr id="17" name="TextBox 16"/>
          <p:cNvSpPr txBox="1"/>
          <p:nvPr/>
        </p:nvSpPr>
        <p:spPr>
          <a:xfrm>
            <a:off x="6212385"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Sub-segments: 6+ 3, 4+ 2, 2+ 1</a:t>
            </a:r>
          </a:p>
        </p:txBody>
      </p:sp>
      <p:sp>
        <p:nvSpPr>
          <p:cNvPr id="18" name="TextBox 17"/>
          <p:cNvSpPr txBox="1"/>
          <p:nvPr/>
        </p:nvSpPr>
        <p:spPr>
          <a:xfrm>
            <a:off x="7183588"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Presence</a:t>
            </a:r>
          </a:p>
        </p:txBody>
      </p:sp>
      <p:sp>
        <p:nvSpPr>
          <p:cNvPr id="19" name="TextBox 18"/>
          <p:cNvSpPr txBox="1"/>
          <p:nvPr/>
        </p:nvSpPr>
        <p:spPr>
          <a:xfrm>
            <a:off x="7183588"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3, regional 2, local 1</a:t>
            </a:r>
          </a:p>
        </p:txBody>
      </p:sp>
      <p:sp>
        <p:nvSpPr>
          <p:cNvPr id="20" name="TextBox 19"/>
          <p:cNvSpPr txBox="1"/>
          <p:nvPr/>
        </p:nvSpPr>
        <p:spPr>
          <a:xfrm>
            <a:off x="8154790"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Power (scale)</a:t>
            </a:r>
          </a:p>
        </p:txBody>
      </p:sp>
      <p:sp>
        <p:nvSpPr>
          <p:cNvPr id="21" name="TextBox 20"/>
          <p:cNvSpPr txBox="1"/>
          <p:nvPr/>
        </p:nvSpPr>
        <p:spPr>
          <a:xfrm>
            <a:off x="8154790"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1 = 3, 2 = 2, 3 = 1</a:t>
            </a:r>
          </a:p>
        </p:txBody>
      </p:sp>
      <p:sp>
        <p:nvSpPr>
          <p:cNvPr id="22" name="TextBox 21"/>
          <p:cNvSpPr txBox="1"/>
          <p:nvPr/>
        </p:nvSpPr>
        <p:spPr>
          <a:xfrm>
            <a:off x="9125993"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Performance</a:t>
            </a:r>
          </a:p>
        </p:txBody>
      </p:sp>
      <p:sp>
        <p:nvSpPr>
          <p:cNvPr id="23" name="TextBox 22"/>
          <p:cNvSpPr txBox="1"/>
          <p:nvPr/>
        </p:nvSpPr>
        <p:spPr>
          <a:xfrm>
            <a:off x="9125993"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
            </a:r>
          </a:p>
        </p:txBody>
      </p:sp>
      <p:sp>
        <p:nvSpPr>
          <p:cNvPr id="24" name="TextBox 23"/>
          <p:cNvSpPr txBox="1"/>
          <p:nvPr/>
        </p:nvSpPr>
        <p:spPr>
          <a:xfrm>
            <a:off x="10097195"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People</a:t>
            </a:r>
          </a:p>
        </p:txBody>
      </p:sp>
      <p:sp>
        <p:nvSpPr>
          <p:cNvPr id="25" name="TextBox 24"/>
          <p:cNvSpPr txBox="1"/>
          <p:nvPr/>
        </p:nvSpPr>
        <p:spPr>
          <a:xfrm>
            <a:off x="10097195"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Talent; not assessed</a:t>
            </a:r>
          </a:p>
        </p:txBody>
      </p:sp>
      <p:sp>
        <p:nvSpPr>
          <p:cNvPr id="26" name="TextBox 25"/>
          <p:cNvSpPr txBox="1"/>
          <p:nvPr/>
        </p:nvSpPr>
        <p:spPr>
          <a:xfrm>
            <a:off x="11068398" y="1295400"/>
            <a:ext cx="895002"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Partnerships</a:t>
            </a:r>
          </a:p>
        </p:txBody>
      </p:sp>
      <p:sp>
        <p:nvSpPr>
          <p:cNvPr id="27" name="TextBox 26"/>
          <p:cNvSpPr txBox="1"/>
          <p:nvPr/>
        </p:nvSpPr>
        <p:spPr>
          <a:xfrm>
            <a:off x="11068398" y="1657350"/>
            <a:ext cx="895002"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alliances</a:t>
            </a:r>
          </a:p>
        </p:txBody>
      </p:sp>
      <p:cxnSp>
        <p:nvCxnSpPr>
          <p:cNvPr id="28" name="Connector 27"/>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5750" y="22479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TransMedics</a:t>
            </a:r>
          </a:p>
        </p:txBody>
      </p:sp>
      <p:sp>
        <p:nvSpPr>
          <p:cNvPr id="31" name="TextBox 30"/>
          <p:cNvSpPr txBox="1"/>
          <p:nvPr/>
        </p:nvSpPr>
        <p:spPr>
          <a:xfrm>
            <a:off x="285750" y="24098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2" name="TextBox 31"/>
          <p:cNvSpPr txBox="1"/>
          <p:nvPr/>
        </p:nvSpPr>
        <p:spPr>
          <a:xfrm>
            <a:off x="2823637" y="22288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TextBox 32"/>
          <p:cNvSpPr txBox="1"/>
          <p:nvPr/>
        </p:nvSpPr>
        <p:spPr>
          <a:xfrm>
            <a:off x="5046942" y="22288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34" name="Oval 33"/>
          <p:cNvSpPr/>
          <p:nvPr/>
        </p:nvSpPr>
        <p:spPr>
          <a:xfrm>
            <a:off x="6583687"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657975" y="23241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554889"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26091"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497294"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9095" y="22288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TextBox 39"/>
          <p:cNvSpPr txBox="1"/>
          <p:nvPr/>
        </p:nvSpPr>
        <p:spPr>
          <a:xfrm>
            <a:off x="11030298" y="22288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41" name="Connector 40"/>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5750" y="25908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OrganOx</a:t>
            </a:r>
          </a:p>
        </p:txBody>
      </p:sp>
      <p:sp>
        <p:nvSpPr>
          <p:cNvPr id="44" name="TextBox 43"/>
          <p:cNvSpPr txBox="1"/>
          <p:nvPr/>
        </p:nvSpPr>
        <p:spPr>
          <a:xfrm>
            <a:off x="285750" y="27527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5" name="TextBox 44"/>
          <p:cNvSpPr txBox="1"/>
          <p:nvPr/>
        </p:nvSpPr>
        <p:spPr>
          <a:xfrm>
            <a:off x="2823637" y="25717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6" name="TextBox 45"/>
          <p:cNvSpPr txBox="1"/>
          <p:nvPr/>
        </p:nvSpPr>
        <p:spPr>
          <a:xfrm>
            <a:off x="5046942" y="25717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47" name="Oval 46"/>
          <p:cNvSpPr/>
          <p:nvPr/>
        </p:nvSpPr>
        <p:spPr>
          <a:xfrm>
            <a:off x="6583687"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6657975" y="26670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554889"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526091"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497294"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59095" y="25717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TextBox 52"/>
          <p:cNvSpPr txBox="1"/>
          <p:nvPr/>
        </p:nvSpPr>
        <p:spPr>
          <a:xfrm>
            <a:off x="11030298" y="25717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54" name="Connector 5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29337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XVIVO Perfusion</a:t>
            </a:r>
          </a:p>
        </p:txBody>
      </p:sp>
      <p:sp>
        <p:nvSpPr>
          <p:cNvPr id="57" name="TextBox 56"/>
          <p:cNvSpPr txBox="1"/>
          <p:nvPr/>
        </p:nvSpPr>
        <p:spPr>
          <a:xfrm>
            <a:off x="285750" y="30956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823637" y="29146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9" name="TextBox 58"/>
          <p:cNvSpPr txBox="1"/>
          <p:nvPr/>
        </p:nvSpPr>
        <p:spPr>
          <a:xfrm>
            <a:off x="5046942" y="29146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60" name="Oval 59"/>
          <p:cNvSpPr/>
          <p:nvPr/>
        </p:nvSpPr>
        <p:spPr>
          <a:xfrm>
            <a:off x="6583687"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6657975" y="30099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554889"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526091"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497294"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957262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059095" y="29146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7" name="TextBox 66"/>
          <p:cNvSpPr txBox="1"/>
          <p:nvPr/>
        </p:nvSpPr>
        <p:spPr>
          <a:xfrm>
            <a:off x="11030298" y="29146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68" name="Connector 6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85750" y="32766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Paragonix Technologies</a:t>
            </a:r>
          </a:p>
        </p:txBody>
      </p:sp>
      <p:sp>
        <p:nvSpPr>
          <p:cNvPr id="71" name="TextBox 70"/>
          <p:cNvSpPr txBox="1"/>
          <p:nvPr/>
        </p:nvSpPr>
        <p:spPr>
          <a:xfrm>
            <a:off x="285750" y="34385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72" name="TextBox 71"/>
          <p:cNvSpPr txBox="1"/>
          <p:nvPr/>
        </p:nvSpPr>
        <p:spPr>
          <a:xfrm>
            <a:off x="2823637" y="32575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TextBox 72"/>
          <p:cNvSpPr txBox="1"/>
          <p:nvPr/>
        </p:nvSpPr>
        <p:spPr>
          <a:xfrm>
            <a:off x="5046942" y="32575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74" name="Oval 73"/>
          <p:cNvSpPr/>
          <p:nvPr/>
        </p:nvSpPr>
        <p:spPr>
          <a:xfrm>
            <a:off x="6583687"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6657975" y="33528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554889"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8526091"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9497294"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9572625" y="33528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059095" y="32575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TextBox 80"/>
          <p:cNvSpPr txBox="1"/>
          <p:nvPr/>
        </p:nvSpPr>
        <p:spPr>
          <a:xfrm>
            <a:off x="11030298" y="32575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82" name="Connector 81"/>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3" name="Rectangle 82"/>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85750" y="36195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 Recovery Systems</a:t>
            </a:r>
          </a:p>
        </p:txBody>
      </p:sp>
      <p:sp>
        <p:nvSpPr>
          <p:cNvPr id="85" name="TextBox 84"/>
          <p:cNvSpPr txBox="1"/>
          <p:nvPr/>
        </p:nvSpPr>
        <p:spPr>
          <a:xfrm>
            <a:off x="285750" y="37814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6" name="TextBox 85"/>
          <p:cNvSpPr txBox="1"/>
          <p:nvPr/>
        </p:nvSpPr>
        <p:spPr>
          <a:xfrm>
            <a:off x="2823637" y="36004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7" name="TextBox 86"/>
          <p:cNvSpPr txBox="1"/>
          <p:nvPr/>
        </p:nvSpPr>
        <p:spPr>
          <a:xfrm>
            <a:off x="5046942" y="36004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88" name="Oval 87"/>
          <p:cNvSpPr/>
          <p:nvPr/>
        </p:nvSpPr>
        <p:spPr>
          <a:xfrm>
            <a:off x="658368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6657975" y="36957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554889"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762952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526091"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860107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97294"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Freeform 94"/>
          <p:cNvSpPr/>
          <p:nvPr/>
        </p:nvSpPr>
        <p:spPr>
          <a:xfrm>
            <a:off x="95726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59095" y="36004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7" name="TextBox 96"/>
          <p:cNvSpPr txBox="1"/>
          <p:nvPr/>
        </p:nvSpPr>
        <p:spPr>
          <a:xfrm>
            <a:off x="11030298" y="36004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98" name="Connector 97"/>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285750" y="39624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IGL Group / Waters Medical Systems</a:t>
            </a:r>
          </a:p>
        </p:txBody>
      </p:sp>
      <p:sp>
        <p:nvSpPr>
          <p:cNvPr id="101" name="TextBox 100"/>
          <p:cNvSpPr txBox="1"/>
          <p:nvPr/>
        </p:nvSpPr>
        <p:spPr>
          <a:xfrm>
            <a:off x="285750" y="41243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102" name="TextBox 101"/>
          <p:cNvSpPr txBox="1"/>
          <p:nvPr/>
        </p:nvSpPr>
        <p:spPr>
          <a:xfrm>
            <a:off x="2823637" y="39433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TextBox 102"/>
          <p:cNvSpPr txBox="1"/>
          <p:nvPr/>
        </p:nvSpPr>
        <p:spPr>
          <a:xfrm>
            <a:off x="5046942" y="39433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04" name="Oval 103"/>
          <p:cNvSpPr/>
          <p:nvPr/>
        </p:nvSpPr>
        <p:spPr>
          <a:xfrm>
            <a:off x="658368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6657975" y="40386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7554889"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762952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8526091"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86010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497294"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9572625" y="40386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0059095" y="39433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1030298" y="39433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14" name="Connector 113"/>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3053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Bridge to Life</a:t>
            </a:r>
          </a:p>
        </p:txBody>
      </p:sp>
      <p:sp>
        <p:nvSpPr>
          <p:cNvPr id="117" name="TextBox 116"/>
          <p:cNvSpPr txBox="1"/>
          <p:nvPr/>
        </p:nvSpPr>
        <p:spPr>
          <a:xfrm>
            <a:off x="285750" y="44672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TextBox 117"/>
          <p:cNvSpPr txBox="1"/>
          <p:nvPr/>
        </p:nvSpPr>
        <p:spPr>
          <a:xfrm>
            <a:off x="2823637" y="42862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9" name="TextBox 118"/>
          <p:cNvSpPr txBox="1"/>
          <p:nvPr/>
        </p:nvSpPr>
        <p:spPr>
          <a:xfrm>
            <a:off x="5046942" y="42862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20" name="Oval 119"/>
          <p:cNvSpPr/>
          <p:nvPr/>
        </p:nvSpPr>
        <p:spPr>
          <a:xfrm>
            <a:off x="658368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66579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554889"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Freeform 122"/>
          <p:cNvSpPr/>
          <p:nvPr/>
        </p:nvSpPr>
        <p:spPr>
          <a:xfrm>
            <a:off x="762952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526091"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Freeform 124"/>
          <p:cNvSpPr/>
          <p:nvPr/>
        </p:nvSpPr>
        <p:spPr>
          <a:xfrm>
            <a:off x="860107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9497294"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Freeform 126"/>
          <p:cNvSpPr/>
          <p:nvPr/>
        </p:nvSpPr>
        <p:spPr>
          <a:xfrm>
            <a:off x="95726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59095" y="42862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9" name="TextBox 128"/>
          <p:cNvSpPr txBox="1"/>
          <p:nvPr/>
        </p:nvSpPr>
        <p:spPr>
          <a:xfrm>
            <a:off x="11030298" y="42862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30" name="Connector 129"/>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Rectangle 130"/>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85750" y="46482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Aferetica</a:t>
            </a:r>
          </a:p>
        </p:txBody>
      </p:sp>
      <p:sp>
        <p:nvSpPr>
          <p:cNvPr id="133" name="TextBox 132"/>
          <p:cNvSpPr txBox="1"/>
          <p:nvPr/>
        </p:nvSpPr>
        <p:spPr>
          <a:xfrm>
            <a:off x="285750" y="48101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34" name="TextBox 133"/>
          <p:cNvSpPr txBox="1"/>
          <p:nvPr/>
        </p:nvSpPr>
        <p:spPr>
          <a:xfrm>
            <a:off x="2823637" y="46291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5046942" y="46291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36" name="Oval 135"/>
          <p:cNvSpPr/>
          <p:nvPr/>
        </p:nvSpPr>
        <p:spPr>
          <a:xfrm>
            <a:off x="658368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66579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7554889"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reeform 138"/>
          <p:cNvSpPr/>
          <p:nvPr/>
        </p:nvSpPr>
        <p:spPr>
          <a:xfrm>
            <a:off x="762952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8526091"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Freeform 140"/>
          <p:cNvSpPr/>
          <p:nvPr/>
        </p:nvSpPr>
        <p:spPr>
          <a:xfrm>
            <a:off x="860107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9497294"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9572625" y="47244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059095" y="46291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45" name="TextBox 144"/>
          <p:cNvSpPr txBox="1"/>
          <p:nvPr/>
        </p:nvSpPr>
        <p:spPr>
          <a:xfrm>
            <a:off x="11030298" y="46291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46" name="Connector 145"/>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7" name="Rectangle 146"/>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285750" y="49911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EBERS Medical Technology</a:t>
            </a:r>
          </a:p>
        </p:txBody>
      </p:sp>
      <p:sp>
        <p:nvSpPr>
          <p:cNvPr id="149" name="TextBox 148"/>
          <p:cNvSpPr txBox="1"/>
          <p:nvPr/>
        </p:nvSpPr>
        <p:spPr>
          <a:xfrm>
            <a:off x="285750" y="51530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50" name="TextBox 149"/>
          <p:cNvSpPr txBox="1"/>
          <p:nvPr/>
        </p:nvSpPr>
        <p:spPr>
          <a:xfrm>
            <a:off x="2823637" y="49720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51" name="TextBox 150"/>
          <p:cNvSpPr txBox="1"/>
          <p:nvPr/>
        </p:nvSpPr>
        <p:spPr>
          <a:xfrm>
            <a:off x="5046942" y="49720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Buy to scale</a:t>
            </a:r>
          </a:p>
        </p:txBody>
      </p:sp>
      <p:sp>
        <p:nvSpPr>
          <p:cNvPr id="152" name="Oval 151"/>
          <p:cNvSpPr/>
          <p:nvPr/>
        </p:nvSpPr>
        <p:spPr>
          <a:xfrm>
            <a:off x="658368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eeform 152"/>
          <p:cNvSpPr/>
          <p:nvPr/>
        </p:nvSpPr>
        <p:spPr>
          <a:xfrm>
            <a:off x="66579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7554889"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Freeform 154"/>
          <p:cNvSpPr/>
          <p:nvPr/>
        </p:nvSpPr>
        <p:spPr>
          <a:xfrm>
            <a:off x="762952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8526091"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Freeform 156"/>
          <p:cNvSpPr/>
          <p:nvPr/>
        </p:nvSpPr>
        <p:spPr>
          <a:xfrm>
            <a:off x="860107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9497294"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Freeform 158"/>
          <p:cNvSpPr/>
          <p:nvPr/>
        </p:nvSpPr>
        <p:spPr>
          <a:xfrm>
            <a:off x="9572625" y="50673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059095" y="49720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1" name="TextBox 160"/>
          <p:cNvSpPr txBox="1"/>
          <p:nvPr/>
        </p:nvSpPr>
        <p:spPr>
          <a:xfrm>
            <a:off x="11030298" y="49720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62" name="Connector 161"/>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63" name="Rectangle 162"/>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285750" y="53340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Traferox Technologies</a:t>
            </a:r>
          </a:p>
        </p:txBody>
      </p:sp>
      <p:sp>
        <p:nvSpPr>
          <p:cNvPr id="165" name="TextBox 164"/>
          <p:cNvSpPr txBox="1"/>
          <p:nvPr/>
        </p:nvSpPr>
        <p:spPr>
          <a:xfrm>
            <a:off x="285750" y="54959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66" name="TextBox 165"/>
          <p:cNvSpPr txBox="1"/>
          <p:nvPr/>
        </p:nvSpPr>
        <p:spPr>
          <a:xfrm>
            <a:off x="2823637" y="5314950"/>
            <a:ext cx="2185206"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67" name="TextBox 166"/>
          <p:cNvSpPr txBox="1"/>
          <p:nvPr/>
        </p:nvSpPr>
        <p:spPr>
          <a:xfrm>
            <a:off x="5046942" y="5314950"/>
            <a:ext cx="108924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Launch-led growth</a:t>
            </a:r>
          </a:p>
        </p:txBody>
      </p:sp>
      <p:sp>
        <p:nvSpPr>
          <p:cNvPr id="168" name="Oval 167"/>
          <p:cNvSpPr/>
          <p:nvPr/>
        </p:nvSpPr>
        <p:spPr>
          <a:xfrm>
            <a:off x="658368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6579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7554889"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Freeform 170"/>
          <p:cNvSpPr/>
          <p:nvPr/>
        </p:nvSpPr>
        <p:spPr>
          <a:xfrm>
            <a:off x="762952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8526091"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Freeform 172"/>
          <p:cNvSpPr/>
          <p:nvPr/>
        </p:nvSpPr>
        <p:spPr>
          <a:xfrm>
            <a:off x="8601075" y="54102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9497294"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Freeform 174"/>
          <p:cNvSpPr/>
          <p:nvPr/>
        </p:nvSpPr>
        <p:spPr>
          <a:xfrm>
            <a:off x="9572625" y="541020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059095" y="53149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77" name="TextBox 176"/>
          <p:cNvSpPr txBox="1"/>
          <p:nvPr/>
        </p:nvSpPr>
        <p:spPr>
          <a:xfrm>
            <a:off x="11030298" y="5314950"/>
            <a:ext cx="971202"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cxnSp>
        <p:nvCxnSpPr>
          <p:cNvPr id="178" name="Connector 177"/>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79" name="Oval 178"/>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81" name="Oval 180"/>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Freeform 181"/>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84" name="Oval 183"/>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Freeform 184"/>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87" name="Oval 186"/>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89" name="TextBox 188"/>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90" name="TextBox 189"/>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4 of 10 named players compete globally; scale and share follow the tier structure.</a:t>
            </a:r>
          </a:p>
        </p:txBody>
      </p:sp>
      <p:sp>
        <p:nvSpPr>
          <p:cNvPr id="191" name="TextBox 19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
        <p:nvSpPr>
          <p:cNvPr id="192" name="TextBox 191"/>
          <p:cNvSpPr txBox="1"/>
          <p:nvPr/>
        </p:nvSpPr>
        <p:spPr>
          <a:xfrm>
            <a:off x="9154568" y="1666875"/>
            <a:ext cx="373160" cy="173278"/>
          </a:xfrm>
          <a:prstGeom prst="rect">
            <a:avLst/>
          </a:prstGeom>
          <a:noFill/>
        </p:spPr>
        <p:txBody>
          <a:bodyPr wrap="none" lIns="0" rIns="0" tIns="0" bIns="0">
            <a:spAutoFit/>
          </a:bodyPr>
          <a:lstStyle/>
          <a:p>
            <a:r>
              <a:rPr sz="1011" b="0">
                <a:solidFill>
                  <a:srgbClr val="5F6B7A"/>
                </a:solidFill>
                <a:latin typeface="Calibri"/>
              </a:rPr>
              <a:t>Share</a:t>
            </a:r>
          </a:p>
        </p:txBody>
      </p:sp>
      <p:pic>
        <p:nvPicPr>
          <p:cNvPr id="193" name="Picture 192" descr="lock.png"/>
          <p:cNvPicPr>
            <a:picLocks noChangeAspect="1"/>
          </p:cNvPicPr>
          <p:nvPr/>
        </p:nvPicPr>
        <p:blipFill>
          <a:blip r:embed="rId4"/>
          <a:stretch>
            <a:fillRect/>
          </a:stretch>
        </p:blipFill>
        <p:spPr>
          <a:xfrm>
            <a:off x="9473840" y="1657878"/>
            <a:ext cx="118403" cy="172222"/>
          </a:xfrm>
          <a:prstGeom prst="rect">
            <a:avLst/>
          </a:prstGeom>
        </p:spPr>
      </p:pic>
      <p:sp>
        <p:nvSpPr>
          <p:cNvPr id="194" name="TextBox 193"/>
          <p:cNvSpPr txBox="1"/>
          <p:nvPr/>
        </p:nvSpPr>
        <p:spPr>
          <a:xfrm>
            <a:off x="9627936" y="1666875"/>
            <a:ext cx="359856" cy="173278"/>
          </a:xfrm>
          <a:prstGeom prst="rect">
            <a:avLst/>
          </a:prstGeom>
          <a:noFill/>
        </p:spPr>
        <p:txBody>
          <a:bodyPr wrap="none" lIns="0" rIns="0" tIns="0" bIns="0">
            <a:spAutoFit/>
          </a:bodyPr>
          <a:lstStyle/>
          <a:p>
            <a:r>
              <a:rPr sz="1011" b="0">
                <a:solidFill>
                  <a:srgbClr val="5F6B7A"/>
                </a:solidFill>
                <a:latin typeface="Calibri"/>
              </a:rPr>
              <a:t>+ = 3,</a:t>
            </a:r>
          </a:p>
        </p:txBody>
      </p:sp>
      <p:pic>
        <p:nvPicPr>
          <p:cNvPr id="195" name="Picture 194" descr="lock.png"/>
          <p:cNvPicPr>
            <a:picLocks noChangeAspect="1"/>
          </p:cNvPicPr>
          <p:nvPr/>
        </p:nvPicPr>
        <p:blipFill>
          <a:blip r:embed="rId4"/>
          <a:stretch>
            <a:fillRect/>
          </a:stretch>
        </p:blipFill>
        <p:spPr>
          <a:xfrm>
            <a:off x="9142177" y="1812107"/>
            <a:ext cx="118403" cy="172222"/>
          </a:xfrm>
          <a:prstGeom prst="rect">
            <a:avLst/>
          </a:prstGeom>
        </p:spPr>
      </p:pic>
      <p:sp>
        <p:nvSpPr>
          <p:cNvPr id="196" name="TextBox 195"/>
          <p:cNvSpPr txBox="1"/>
          <p:nvPr/>
        </p:nvSpPr>
        <p:spPr>
          <a:xfrm>
            <a:off x="9296274" y="1821103"/>
            <a:ext cx="598077" cy="173278"/>
          </a:xfrm>
          <a:prstGeom prst="rect">
            <a:avLst/>
          </a:prstGeom>
          <a:noFill/>
        </p:spPr>
        <p:txBody>
          <a:bodyPr wrap="none" lIns="0" rIns="0" tIns="0" bIns="0">
            <a:spAutoFit/>
          </a:bodyPr>
          <a:lstStyle/>
          <a:p>
            <a:r>
              <a:rPr sz="1011" b="0">
                <a:solidFill>
                  <a:srgbClr val="5F6B7A"/>
                </a:solidFill>
                <a:latin typeface="Calibri"/>
              </a:rPr>
              <a:t>= 2, else 1</a:t>
            </a:r>
          </a:p>
        </p:txBody>
      </p:sp>
      <p:pic>
        <p:nvPicPr>
          <p:cNvPr id="197" name="Picture 196" descr="lock.png"/>
          <p:cNvPicPr>
            <a:picLocks noChangeAspect="1"/>
          </p:cNvPicPr>
          <p:nvPr/>
        </p:nvPicPr>
        <p:blipFill>
          <a:blip r:embed="rId4"/>
          <a:stretch>
            <a:fillRect/>
          </a:stretch>
        </p:blipFill>
        <p:spPr>
          <a:xfrm>
            <a:off x="3851890" y="2306701"/>
            <a:ext cx="128699" cy="187198"/>
          </a:xfrm>
          <a:prstGeom prst="rect">
            <a:avLst/>
          </a:prstGeom>
        </p:spPr>
      </p:pic>
      <p:pic>
        <p:nvPicPr>
          <p:cNvPr id="198" name="Picture 197" descr="lock.png"/>
          <p:cNvPicPr>
            <a:picLocks noChangeAspect="1"/>
          </p:cNvPicPr>
          <p:nvPr/>
        </p:nvPicPr>
        <p:blipFill>
          <a:blip r:embed="rId4"/>
          <a:stretch>
            <a:fillRect/>
          </a:stretch>
        </p:blipFill>
        <p:spPr>
          <a:xfrm>
            <a:off x="10480346" y="2306701"/>
            <a:ext cx="128699" cy="187198"/>
          </a:xfrm>
          <a:prstGeom prst="rect">
            <a:avLst/>
          </a:prstGeom>
        </p:spPr>
      </p:pic>
      <p:pic>
        <p:nvPicPr>
          <p:cNvPr id="199" name="Picture 198" descr="lock.png"/>
          <p:cNvPicPr>
            <a:picLocks noChangeAspect="1"/>
          </p:cNvPicPr>
          <p:nvPr/>
        </p:nvPicPr>
        <p:blipFill>
          <a:blip r:embed="rId4"/>
          <a:stretch>
            <a:fillRect/>
          </a:stretch>
        </p:blipFill>
        <p:spPr>
          <a:xfrm>
            <a:off x="11451549" y="2306701"/>
            <a:ext cx="128699" cy="187198"/>
          </a:xfrm>
          <a:prstGeom prst="rect">
            <a:avLst/>
          </a:prstGeom>
        </p:spPr>
      </p:pic>
      <p:pic>
        <p:nvPicPr>
          <p:cNvPr id="200" name="Picture 199" descr="lock.png"/>
          <p:cNvPicPr>
            <a:picLocks noChangeAspect="1"/>
          </p:cNvPicPr>
          <p:nvPr/>
        </p:nvPicPr>
        <p:blipFill>
          <a:blip r:embed="rId4"/>
          <a:stretch>
            <a:fillRect/>
          </a:stretch>
        </p:blipFill>
        <p:spPr>
          <a:xfrm>
            <a:off x="3851890" y="2649601"/>
            <a:ext cx="128699" cy="187198"/>
          </a:xfrm>
          <a:prstGeom prst="rect">
            <a:avLst/>
          </a:prstGeom>
        </p:spPr>
      </p:pic>
      <p:pic>
        <p:nvPicPr>
          <p:cNvPr id="201" name="Picture 200" descr="lock.png"/>
          <p:cNvPicPr>
            <a:picLocks noChangeAspect="1"/>
          </p:cNvPicPr>
          <p:nvPr/>
        </p:nvPicPr>
        <p:blipFill>
          <a:blip r:embed="rId4"/>
          <a:stretch>
            <a:fillRect/>
          </a:stretch>
        </p:blipFill>
        <p:spPr>
          <a:xfrm>
            <a:off x="10480346" y="2649601"/>
            <a:ext cx="128699" cy="187198"/>
          </a:xfrm>
          <a:prstGeom prst="rect">
            <a:avLst/>
          </a:prstGeom>
        </p:spPr>
      </p:pic>
      <p:pic>
        <p:nvPicPr>
          <p:cNvPr id="202" name="Picture 201" descr="lock.png"/>
          <p:cNvPicPr>
            <a:picLocks noChangeAspect="1"/>
          </p:cNvPicPr>
          <p:nvPr/>
        </p:nvPicPr>
        <p:blipFill>
          <a:blip r:embed="rId4"/>
          <a:stretch>
            <a:fillRect/>
          </a:stretch>
        </p:blipFill>
        <p:spPr>
          <a:xfrm>
            <a:off x="11451549" y="2649601"/>
            <a:ext cx="128699" cy="187198"/>
          </a:xfrm>
          <a:prstGeom prst="rect">
            <a:avLst/>
          </a:prstGeom>
        </p:spPr>
      </p:pic>
      <p:pic>
        <p:nvPicPr>
          <p:cNvPr id="203" name="Picture 202" descr="lock.png"/>
          <p:cNvPicPr>
            <a:picLocks noChangeAspect="1"/>
          </p:cNvPicPr>
          <p:nvPr/>
        </p:nvPicPr>
        <p:blipFill>
          <a:blip r:embed="rId4"/>
          <a:stretch>
            <a:fillRect/>
          </a:stretch>
        </p:blipFill>
        <p:spPr>
          <a:xfrm>
            <a:off x="3851890" y="2992501"/>
            <a:ext cx="128699" cy="187198"/>
          </a:xfrm>
          <a:prstGeom prst="rect">
            <a:avLst/>
          </a:prstGeom>
        </p:spPr>
      </p:pic>
      <p:pic>
        <p:nvPicPr>
          <p:cNvPr id="204" name="Picture 203" descr="lock.png"/>
          <p:cNvPicPr>
            <a:picLocks noChangeAspect="1"/>
          </p:cNvPicPr>
          <p:nvPr/>
        </p:nvPicPr>
        <p:blipFill>
          <a:blip r:embed="rId4"/>
          <a:stretch>
            <a:fillRect/>
          </a:stretch>
        </p:blipFill>
        <p:spPr>
          <a:xfrm>
            <a:off x="10480346" y="2992501"/>
            <a:ext cx="128699" cy="187198"/>
          </a:xfrm>
          <a:prstGeom prst="rect">
            <a:avLst/>
          </a:prstGeom>
        </p:spPr>
      </p:pic>
      <p:pic>
        <p:nvPicPr>
          <p:cNvPr id="205" name="Picture 204" descr="lock.png"/>
          <p:cNvPicPr>
            <a:picLocks noChangeAspect="1"/>
          </p:cNvPicPr>
          <p:nvPr/>
        </p:nvPicPr>
        <p:blipFill>
          <a:blip r:embed="rId4"/>
          <a:stretch>
            <a:fillRect/>
          </a:stretch>
        </p:blipFill>
        <p:spPr>
          <a:xfrm>
            <a:off x="11451549" y="2992501"/>
            <a:ext cx="128699" cy="187198"/>
          </a:xfrm>
          <a:prstGeom prst="rect">
            <a:avLst/>
          </a:prstGeom>
        </p:spPr>
      </p:pic>
      <p:pic>
        <p:nvPicPr>
          <p:cNvPr id="206" name="Picture 205" descr="lock.png"/>
          <p:cNvPicPr>
            <a:picLocks noChangeAspect="1"/>
          </p:cNvPicPr>
          <p:nvPr/>
        </p:nvPicPr>
        <p:blipFill>
          <a:blip r:embed="rId4"/>
          <a:stretch>
            <a:fillRect/>
          </a:stretch>
        </p:blipFill>
        <p:spPr>
          <a:xfrm>
            <a:off x="3851890" y="3335401"/>
            <a:ext cx="128699" cy="187198"/>
          </a:xfrm>
          <a:prstGeom prst="rect">
            <a:avLst/>
          </a:prstGeom>
        </p:spPr>
      </p:pic>
      <p:pic>
        <p:nvPicPr>
          <p:cNvPr id="207" name="Picture 206" descr="lock.png"/>
          <p:cNvPicPr>
            <a:picLocks noChangeAspect="1"/>
          </p:cNvPicPr>
          <p:nvPr/>
        </p:nvPicPr>
        <p:blipFill>
          <a:blip r:embed="rId4"/>
          <a:stretch>
            <a:fillRect/>
          </a:stretch>
        </p:blipFill>
        <p:spPr>
          <a:xfrm>
            <a:off x="10480346" y="3335401"/>
            <a:ext cx="128699" cy="187198"/>
          </a:xfrm>
          <a:prstGeom prst="rect">
            <a:avLst/>
          </a:prstGeom>
        </p:spPr>
      </p:pic>
      <p:pic>
        <p:nvPicPr>
          <p:cNvPr id="208" name="Picture 207" descr="lock.png"/>
          <p:cNvPicPr>
            <a:picLocks noChangeAspect="1"/>
          </p:cNvPicPr>
          <p:nvPr/>
        </p:nvPicPr>
        <p:blipFill>
          <a:blip r:embed="rId4"/>
          <a:stretch>
            <a:fillRect/>
          </a:stretch>
        </p:blipFill>
        <p:spPr>
          <a:xfrm>
            <a:off x="11451549" y="3335401"/>
            <a:ext cx="128699" cy="187198"/>
          </a:xfrm>
          <a:prstGeom prst="rect">
            <a:avLst/>
          </a:prstGeom>
        </p:spPr>
      </p:pic>
      <p:pic>
        <p:nvPicPr>
          <p:cNvPr id="209" name="Picture 208" descr="lock.png"/>
          <p:cNvPicPr>
            <a:picLocks noChangeAspect="1"/>
          </p:cNvPicPr>
          <p:nvPr/>
        </p:nvPicPr>
        <p:blipFill>
          <a:blip r:embed="rId4"/>
          <a:stretch>
            <a:fillRect/>
          </a:stretch>
        </p:blipFill>
        <p:spPr>
          <a:xfrm>
            <a:off x="3851890" y="3678301"/>
            <a:ext cx="128699" cy="187198"/>
          </a:xfrm>
          <a:prstGeom prst="rect">
            <a:avLst/>
          </a:prstGeom>
        </p:spPr>
      </p:pic>
      <p:pic>
        <p:nvPicPr>
          <p:cNvPr id="210" name="Picture 209" descr="lock.png"/>
          <p:cNvPicPr>
            <a:picLocks noChangeAspect="1"/>
          </p:cNvPicPr>
          <p:nvPr/>
        </p:nvPicPr>
        <p:blipFill>
          <a:blip r:embed="rId4"/>
          <a:stretch>
            <a:fillRect/>
          </a:stretch>
        </p:blipFill>
        <p:spPr>
          <a:xfrm>
            <a:off x="10480346" y="3678301"/>
            <a:ext cx="128699" cy="187198"/>
          </a:xfrm>
          <a:prstGeom prst="rect">
            <a:avLst/>
          </a:prstGeom>
        </p:spPr>
      </p:pic>
      <p:pic>
        <p:nvPicPr>
          <p:cNvPr id="211" name="Picture 210" descr="lock.png"/>
          <p:cNvPicPr>
            <a:picLocks noChangeAspect="1"/>
          </p:cNvPicPr>
          <p:nvPr/>
        </p:nvPicPr>
        <p:blipFill>
          <a:blip r:embed="rId4"/>
          <a:stretch>
            <a:fillRect/>
          </a:stretch>
        </p:blipFill>
        <p:spPr>
          <a:xfrm>
            <a:off x="11451549" y="3678301"/>
            <a:ext cx="128699" cy="187198"/>
          </a:xfrm>
          <a:prstGeom prst="rect">
            <a:avLst/>
          </a:prstGeom>
        </p:spPr>
      </p:pic>
      <p:pic>
        <p:nvPicPr>
          <p:cNvPr id="212" name="Picture 211" descr="lock.png"/>
          <p:cNvPicPr>
            <a:picLocks noChangeAspect="1"/>
          </p:cNvPicPr>
          <p:nvPr/>
        </p:nvPicPr>
        <p:blipFill>
          <a:blip r:embed="rId4"/>
          <a:stretch>
            <a:fillRect/>
          </a:stretch>
        </p:blipFill>
        <p:spPr>
          <a:xfrm>
            <a:off x="3851890" y="4021201"/>
            <a:ext cx="128699" cy="187198"/>
          </a:xfrm>
          <a:prstGeom prst="rect">
            <a:avLst/>
          </a:prstGeom>
        </p:spPr>
      </p:pic>
      <p:pic>
        <p:nvPicPr>
          <p:cNvPr id="213" name="Picture 212" descr="lock.png"/>
          <p:cNvPicPr>
            <a:picLocks noChangeAspect="1"/>
          </p:cNvPicPr>
          <p:nvPr/>
        </p:nvPicPr>
        <p:blipFill>
          <a:blip r:embed="rId4"/>
          <a:stretch>
            <a:fillRect/>
          </a:stretch>
        </p:blipFill>
        <p:spPr>
          <a:xfrm>
            <a:off x="10480346" y="4021201"/>
            <a:ext cx="128699" cy="187198"/>
          </a:xfrm>
          <a:prstGeom prst="rect">
            <a:avLst/>
          </a:prstGeom>
        </p:spPr>
      </p:pic>
      <p:pic>
        <p:nvPicPr>
          <p:cNvPr id="214" name="Picture 213" descr="lock.png"/>
          <p:cNvPicPr>
            <a:picLocks noChangeAspect="1"/>
          </p:cNvPicPr>
          <p:nvPr/>
        </p:nvPicPr>
        <p:blipFill>
          <a:blip r:embed="rId4"/>
          <a:stretch>
            <a:fillRect/>
          </a:stretch>
        </p:blipFill>
        <p:spPr>
          <a:xfrm>
            <a:off x="11451549" y="4021201"/>
            <a:ext cx="128699" cy="187198"/>
          </a:xfrm>
          <a:prstGeom prst="rect">
            <a:avLst/>
          </a:prstGeom>
        </p:spPr>
      </p:pic>
      <p:pic>
        <p:nvPicPr>
          <p:cNvPr id="215" name="Picture 214" descr="lock.png"/>
          <p:cNvPicPr>
            <a:picLocks noChangeAspect="1"/>
          </p:cNvPicPr>
          <p:nvPr/>
        </p:nvPicPr>
        <p:blipFill>
          <a:blip r:embed="rId4"/>
          <a:stretch>
            <a:fillRect/>
          </a:stretch>
        </p:blipFill>
        <p:spPr>
          <a:xfrm>
            <a:off x="3851890" y="4364101"/>
            <a:ext cx="128699" cy="187198"/>
          </a:xfrm>
          <a:prstGeom prst="rect">
            <a:avLst/>
          </a:prstGeom>
        </p:spPr>
      </p:pic>
      <p:pic>
        <p:nvPicPr>
          <p:cNvPr id="216" name="Picture 215" descr="lock.png"/>
          <p:cNvPicPr>
            <a:picLocks noChangeAspect="1"/>
          </p:cNvPicPr>
          <p:nvPr/>
        </p:nvPicPr>
        <p:blipFill>
          <a:blip r:embed="rId4"/>
          <a:stretch>
            <a:fillRect/>
          </a:stretch>
        </p:blipFill>
        <p:spPr>
          <a:xfrm>
            <a:off x="10480346" y="4364101"/>
            <a:ext cx="128699" cy="187198"/>
          </a:xfrm>
          <a:prstGeom prst="rect">
            <a:avLst/>
          </a:prstGeom>
        </p:spPr>
      </p:pic>
      <p:pic>
        <p:nvPicPr>
          <p:cNvPr id="217" name="Picture 216" descr="lock.png"/>
          <p:cNvPicPr>
            <a:picLocks noChangeAspect="1"/>
          </p:cNvPicPr>
          <p:nvPr/>
        </p:nvPicPr>
        <p:blipFill>
          <a:blip r:embed="rId4"/>
          <a:stretch>
            <a:fillRect/>
          </a:stretch>
        </p:blipFill>
        <p:spPr>
          <a:xfrm>
            <a:off x="11451549" y="4364101"/>
            <a:ext cx="128699" cy="187198"/>
          </a:xfrm>
          <a:prstGeom prst="rect">
            <a:avLst/>
          </a:prstGeom>
        </p:spPr>
      </p:pic>
      <p:pic>
        <p:nvPicPr>
          <p:cNvPr id="218" name="Picture 217" descr="lock.png"/>
          <p:cNvPicPr>
            <a:picLocks noChangeAspect="1"/>
          </p:cNvPicPr>
          <p:nvPr/>
        </p:nvPicPr>
        <p:blipFill>
          <a:blip r:embed="rId4"/>
          <a:stretch>
            <a:fillRect/>
          </a:stretch>
        </p:blipFill>
        <p:spPr>
          <a:xfrm>
            <a:off x="3851890" y="4707001"/>
            <a:ext cx="128699" cy="187198"/>
          </a:xfrm>
          <a:prstGeom prst="rect">
            <a:avLst/>
          </a:prstGeom>
        </p:spPr>
      </p:pic>
      <p:pic>
        <p:nvPicPr>
          <p:cNvPr id="219" name="Picture 218" descr="lock.png"/>
          <p:cNvPicPr>
            <a:picLocks noChangeAspect="1"/>
          </p:cNvPicPr>
          <p:nvPr/>
        </p:nvPicPr>
        <p:blipFill>
          <a:blip r:embed="rId4"/>
          <a:stretch>
            <a:fillRect/>
          </a:stretch>
        </p:blipFill>
        <p:spPr>
          <a:xfrm>
            <a:off x="10480346" y="4707001"/>
            <a:ext cx="128699" cy="187198"/>
          </a:xfrm>
          <a:prstGeom prst="rect">
            <a:avLst/>
          </a:prstGeom>
        </p:spPr>
      </p:pic>
      <p:pic>
        <p:nvPicPr>
          <p:cNvPr id="220" name="Picture 219" descr="lock.png"/>
          <p:cNvPicPr>
            <a:picLocks noChangeAspect="1"/>
          </p:cNvPicPr>
          <p:nvPr/>
        </p:nvPicPr>
        <p:blipFill>
          <a:blip r:embed="rId4"/>
          <a:stretch>
            <a:fillRect/>
          </a:stretch>
        </p:blipFill>
        <p:spPr>
          <a:xfrm>
            <a:off x="11451549" y="4707001"/>
            <a:ext cx="128699" cy="187198"/>
          </a:xfrm>
          <a:prstGeom prst="rect">
            <a:avLst/>
          </a:prstGeom>
        </p:spPr>
      </p:pic>
      <p:pic>
        <p:nvPicPr>
          <p:cNvPr id="221" name="Picture 220" descr="lock.png"/>
          <p:cNvPicPr>
            <a:picLocks noChangeAspect="1"/>
          </p:cNvPicPr>
          <p:nvPr/>
        </p:nvPicPr>
        <p:blipFill>
          <a:blip r:embed="rId4"/>
          <a:stretch>
            <a:fillRect/>
          </a:stretch>
        </p:blipFill>
        <p:spPr>
          <a:xfrm>
            <a:off x="3851890" y="5049901"/>
            <a:ext cx="128699" cy="187198"/>
          </a:xfrm>
          <a:prstGeom prst="rect">
            <a:avLst/>
          </a:prstGeom>
        </p:spPr>
      </p:pic>
      <p:pic>
        <p:nvPicPr>
          <p:cNvPr id="222" name="Picture 221" descr="lock.png"/>
          <p:cNvPicPr>
            <a:picLocks noChangeAspect="1"/>
          </p:cNvPicPr>
          <p:nvPr/>
        </p:nvPicPr>
        <p:blipFill>
          <a:blip r:embed="rId4"/>
          <a:stretch>
            <a:fillRect/>
          </a:stretch>
        </p:blipFill>
        <p:spPr>
          <a:xfrm>
            <a:off x="10480346" y="5049901"/>
            <a:ext cx="128699" cy="187198"/>
          </a:xfrm>
          <a:prstGeom prst="rect">
            <a:avLst/>
          </a:prstGeom>
        </p:spPr>
      </p:pic>
      <p:pic>
        <p:nvPicPr>
          <p:cNvPr id="223" name="Picture 222" descr="lock.png"/>
          <p:cNvPicPr>
            <a:picLocks noChangeAspect="1"/>
          </p:cNvPicPr>
          <p:nvPr/>
        </p:nvPicPr>
        <p:blipFill>
          <a:blip r:embed="rId4"/>
          <a:stretch>
            <a:fillRect/>
          </a:stretch>
        </p:blipFill>
        <p:spPr>
          <a:xfrm>
            <a:off x="11451549" y="5049901"/>
            <a:ext cx="128699" cy="187198"/>
          </a:xfrm>
          <a:prstGeom prst="rect">
            <a:avLst/>
          </a:prstGeom>
        </p:spPr>
      </p:pic>
      <p:pic>
        <p:nvPicPr>
          <p:cNvPr id="224" name="Picture 223" descr="lock.png"/>
          <p:cNvPicPr>
            <a:picLocks noChangeAspect="1"/>
          </p:cNvPicPr>
          <p:nvPr/>
        </p:nvPicPr>
        <p:blipFill>
          <a:blip r:embed="rId4"/>
          <a:stretch>
            <a:fillRect/>
          </a:stretch>
        </p:blipFill>
        <p:spPr>
          <a:xfrm>
            <a:off x="3851890" y="5392801"/>
            <a:ext cx="128699" cy="187198"/>
          </a:xfrm>
          <a:prstGeom prst="rect">
            <a:avLst/>
          </a:prstGeom>
        </p:spPr>
      </p:pic>
      <p:pic>
        <p:nvPicPr>
          <p:cNvPr id="225" name="Picture 224" descr="lock.png"/>
          <p:cNvPicPr>
            <a:picLocks noChangeAspect="1"/>
          </p:cNvPicPr>
          <p:nvPr/>
        </p:nvPicPr>
        <p:blipFill>
          <a:blip r:embed="rId4"/>
          <a:stretch>
            <a:fillRect/>
          </a:stretch>
        </p:blipFill>
        <p:spPr>
          <a:xfrm>
            <a:off x="10480346" y="5392801"/>
            <a:ext cx="128699" cy="187198"/>
          </a:xfrm>
          <a:prstGeom prst="rect">
            <a:avLst/>
          </a:prstGeom>
        </p:spPr>
      </p:pic>
      <p:pic>
        <p:nvPicPr>
          <p:cNvPr id="226" name="Picture 225" descr="lock.png"/>
          <p:cNvPicPr>
            <a:picLocks noChangeAspect="1"/>
          </p:cNvPicPr>
          <p:nvPr/>
        </p:nvPicPr>
        <p:blipFill>
          <a:blip r:embed="rId4"/>
          <a:stretch>
            <a:fillRect/>
          </a:stretch>
        </p:blipFill>
        <p:spPr>
          <a:xfrm>
            <a:off x="11451549" y="5392801"/>
            <a:ext cx="128699" cy="187198"/>
          </a:xfrm>
          <a:prstGeom prst="rect">
            <a:avLst/>
          </a:prstGeom>
        </p:spPr>
      </p:pic>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Offering Scorecard: What They Sell</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offering Ps: product, technology, price and model, verticals, proof and IP</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2, OFFERING: WHAT THEY SELL</a:t>
            </a:r>
          </a:p>
        </p:txBody>
      </p:sp>
      <p:sp>
        <p:nvSpPr>
          <p:cNvPr id="12" name="TextBox 11"/>
          <p:cNvSpPr txBox="1"/>
          <p:nvPr/>
        </p:nvSpPr>
        <p:spPr>
          <a:xfrm>
            <a:off x="2861737" y="1295400"/>
            <a:ext cx="12734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Product</a:t>
            </a:r>
          </a:p>
        </p:txBody>
      </p:sp>
      <p:sp>
        <p:nvSpPr>
          <p:cNvPr id="13" name="TextBox 12"/>
          <p:cNvSpPr txBox="1"/>
          <p:nvPr/>
        </p:nvSpPr>
        <p:spPr>
          <a:xfrm>
            <a:off x="2861737" y="1657350"/>
            <a:ext cx="12734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Of the top three types offered</a:t>
            </a:r>
          </a:p>
        </p:txBody>
      </p:sp>
      <p:sp>
        <p:nvSpPr>
          <p:cNvPr id="14" name="TextBox 13"/>
          <p:cNvSpPr txBox="1"/>
          <p:nvPr/>
        </p:nvSpPr>
        <p:spPr>
          <a:xfrm>
            <a:off x="4211423" y="1295400"/>
            <a:ext cx="12734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Platform (technology)</a:t>
            </a:r>
          </a:p>
        </p:txBody>
      </p:sp>
      <p:sp>
        <p:nvSpPr>
          <p:cNvPr id="15" name="TextBox 14"/>
          <p:cNvSpPr txBox="1"/>
          <p:nvPr/>
        </p:nvSpPr>
        <p:spPr>
          <a:xfrm>
            <a:off x="4211423" y="1657350"/>
            <a:ext cx="12734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development: both 3, one 2</a:t>
            </a:r>
          </a:p>
        </p:txBody>
      </p:sp>
      <p:sp>
        <p:nvSpPr>
          <p:cNvPr id="16" name="TextBox 15"/>
          <p:cNvSpPr txBox="1"/>
          <p:nvPr/>
        </p:nvSpPr>
        <p:spPr>
          <a:xfrm>
            <a:off x="5561108"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Price and model</a:t>
            </a:r>
          </a:p>
        </p:txBody>
      </p:sp>
      <p:sp>
        <p:nvSpPr>
          <p:cNvPr id="17" name="TextBox 16"/>
          <p:cNvSpPr txBox="1"/>
          <p:nvPr/>
        </p:nvSpPr>
        <p:spPr>
          <a:xfrm>
            <a:off x="5561108"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Positioning by tier</a:t>
            </a:r>
          </a:p>
        </p:txBody>
      </p:sp>
      <p:sp>
        <p:nvSpPr>
          <p:cNvPr id="18" name="TextBox 17"/>
          <p:cNvSpPr txBox="1"/>
          <p:nvPr/>
        </p:nvSpPr>
        <p:spPr>
          <a:xfrm>
            <a:off x="7180731"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Positioning (verticals)</a:t>
            </a:r>
          </a:p>
        </p:txBody>
      </p:sp>
      <p:sp>
        <p:nvSpPr>
          <p:cNvPr id="19" name="TextBox 18"/>
          <p:cNvSpPr txBox="1"/>
          <p:nvPr/>
        </p:nvSpPr>
        <p:spPr>
          <a:xfrm>
            <a:off x="7180731"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End uses served</a:t>
            </a:r>
          </a:p>
        </p:txBody>
      </p:sp>
      <p:sp>
        <p:nvSpPr>
          <p:cNvPr id="20" name="TextBox 19"/>
          <p:cNvSpPr txBox="1"/>
          <p:nvPr/>
        </p:nvSpPr>
        <p:spPr>
          <a:xfrm>
            <a:off x="8800354"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Proof</a:t>
            </a:r>
          </a:p>
        </p:txBody>
      </p:sp>
      <p:sp>
        <p:nvSpPr>
          <p:cNvPr id="21" name="TextBox 20"/>
          <p:cNvSpPr txBox="1"/>
          <p:nvPr/>
        </p:nvSpPr>
        <p:spPr>
          <a:xfrm>
            <a:off x="8800354"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Named customer references</a:t>
            </a:r>
          </a:p>
        </p:txBody>
      </p:sp>
      <p:sp>
        <p:nvSpPr>
          <p:cNvPr id="22" name="TextBox 21"/>
          <p:cNvSpPr txBox="1"/>
          <p:nvPr/>
        </p:nvSpPr>
        <p:spPr>
          <a:xfrm>
            <a:off x="10419977"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Patents and IP</a:t>
            </a:r>
          </a:p>
        </p:txBody>
      </p:sp>
      <p:sp>
        <p:nvSpPr>
          <p:cNvPr id="23" name="TextBox 22"/>
          <p:cNvSpPr txBox="1"/>
          <p:nvPr/>
        </p:nvSpPr>
        <p:spPr>
          <a:xfrm>
            <a:off x="10419977"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Where the study covers patents</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TransMedics</a:t>
            </a:r>
          </a:p>
        </p:txBody>
      </p:sp>
      <p:sp>
        <p:nvSpPr>
          <p:cNvPr id="27" name="TextBox 26"/>
          <p:cNvSpPr txBox="1"/>
          <p:nvPr/>
        </p:nvSpPr>
        <p:spPr>
          <a:xfrm>
            <a:off x="285750" y="24098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Oval 27"/>
          <p:cNvSpPr/>
          <p:nvPr/>
        </p:nvSpPr>
        <p:spPr>
          <a:xfrm>
            <a:off x="3422280"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71965" y="23241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4848225" y="23241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61108" y="22288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32" name="TextBox 31"/>
          <p:cNvSpPr txBox="1"/>
          <p:nvPr/>
        </p:nvSpPr>
        <p:spPr>
          <a:xfrm>
            <a:off x="7180731" y="22288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 Distributor Sales</a:t>
            </a:r>
          </a:p>
        </p:txBody>
      </p:sp>
      <p:sp>
        <p:nvSpPr>
          <p:cNvPr id="33" name="TextBox 32"/>
          <p:cNvSpPr txBox="1"/>
          <p:nvPr/>
        </p:nvSpPr>
        <p:spPr>
          <a:xfrm>
            <a:off x="8762254" y="22288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4" name="TextBox 33"/>
          <p:cNvSpPr txBox="1"/>
          <p:nvPr/>
        </p:nvSpPr>
        <p:spPr>
          <a:xfrm>
            <a:off x="10419977" y="22288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35" name="Connector 34"/>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750" y="25908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OrganOx</a:t>
            </a:r>
          </a:p>
        </p:txBody>
      </p:sp>
      <p:sp>
        <p:nvSpPr>
          <p:cNvPr id="38" name="TextBox 37"/>
          <p:cNvSpPr txBox="1"/>
          <p:nvPr/>
        </p:nvSpPr>
        <p:spPr>
          <a:xfrm>
            <a:off x="285750" y="27527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9" name="Oval 38"/>
          <p:cNvSpPr/>
          <p:nvPr/>
        </p:nvSpPr>
        <p:spPr>
          <a:xfrm>
            <a:off x="3422280" y="26670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3495675" y="26670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771965"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61108" y="25717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43" name="TextBox 42"/>
          <p:cNvSpPr txBox="1"/>
          <p:nvPr/>
        </p:nvSpPr>
        <p:spPr>
          <a:xfrm>
            <a:off x="7180731" y="25717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a:t>
            </a:r>
          </a:p>
        </p:txBody>
      </p:sp>
      <p:sp>
        <p:nvSpPr>
          <p:cNvPr id="44" name="TextBox 43"/>
          <p:cNvSpPr txBox="1"/>
          <p:nvPr/>
        </p:nvSpPr>
        <p:spPr>
          <a:xfrm>
            <a:off x="8762254" y="25717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5" name="TextBox 44"/>
          <p:cNvSpPr txBox="1"/>
          <p:nvPr/>
        </p:nvSpPr>
        <p:spPr>
          <a:xfrm>
            <a:off x="10419977" y="25717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46" name="Connector 45"/>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750" y="29337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XVIVO Perfusion</a:t>
            </a:r>
          </a:p>
        </p:txBody>
      </p:sp>
      <p:sp>
        <p:nvSpPr>
          <p:cNvPr id="49" name="TextBox 48"/>
          <p:cNvSpPr txBox="1"/>
          <p:nvPr/>
        </p:nvSpPr>
        <p:spPr>
          <a:xfrm>
            <a:off x="285750" y="30956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0" name="Oval 49"/>
          <p:cNvSpPr/>
          <p:nvPr/>
        </p:nvSpPr>
        <p:spPr>
          <a:xfrm>
            <a:off x="3422280"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3495675" y="30099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771965" y="30099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4848225" y="30099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61108" y="29146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55" name="TextBox 54"/>
          <p:cNvSpPr txBox="1"/>
          <p:nvPr/>
        </p:nvSpPr>
        <p:spPr>
          <a:xfrm>
            <a:off x="7180731" y="29146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 Sales</a:t>
            </a:r>
          </a:p>
        </p:txBody>
      </p:sp>
      <p:sp>
        <p:nvSpPr>
          <p:cNvPr id="56" name="TextBox 55"/>
          <p:cNvSpPr txBox="1"/>
          <p:nvPr/>
        </p:nvSpPr>
        <p:spPr>
          <a:xfrm>
            <a:off x="8762254" y="29146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7" name="TextBox 56"/>
          <p:cNvSpPr txBox="1"/>
          <p:nvPr/>
        </p:nvSpPr>
        <p:spPr>
          <a:xfrm>
            <a:off x="10419977" y="29146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58" name="Connector 57"/>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85750" y="32766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Paragonix Technologies</a:t>
            </a:r>
          </a:p>
        </p:txBody>
      </p:sp>
      <p:sp>
        <p:nvSpPr>
          <p:cNvPr id="61" name="TextBox 60"/>
          <p:cNvSpPr txBox="1"/>
          <p:nvPr/>
        </p:nvSpPr>
        <p:spPr>
          <a:xfrm>
            <a:off x="285750" y="34385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62" name="Oval 61"/>
          <p:cNvSpPr/>
          <p:nvPr/>
        </p:nvSpPr>
        <p:spPr>
          <a:xfrm>
            <a:off x="3422280" y="33528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495675" y="33528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771965"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561108" y="32575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Premium / bundled</a:t>
            </a:r>
          </a:p>
        </p:txBody>
      </p:sp>
      <p:sp>
        <p:nvSpPr>
          <p:cNvPr id="66" name="TextBox 65"/>
          <p:cNvSpPr txBox="1"/>
          <p:nvPr/>
        </p:nvSpPr>
        <p:spPr>
          <a:xfrm>
            <a:off x="7180731" y="32575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 Distributor Sales</a:t>
            </a:r>
          </a:p>
        </p:txBody>
      </p:sp>
      <p:sp>
        <p:nvSpPr>
          <p:cNvPr id="67" name="TextBox 66"/>
          <p:cNvSpPr txBox="1"/>
          <p:nvPr/>
        </p:nvSpPr>
        <p:spPr>
          <a:xfrm>
            <a:off x="8762254" y="32575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8" name="TextBox 67"/>
          <p:cNvSpPr txBox="1"/>
          <p:nvPr/>
        </p:nvSpPr>
        <p:spPr>
          <a:xfrm>
            <a:off x="10419977" y="32575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69" name="Connector 68"/>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5750" y="36195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 Recovery Systems</a:t>
            </a:r>
          </a:p>
        </p:txBody>
      </p:sp>
      <p:sp>
        <p:nvSpPr>
          <p:cNvPr id="72" name="TextBox 71"/>
          <p:cNvSpPr txBox="1"/>
          <p:nvPr/>
        </p:nvSpPr>
        <p:spPr>
          <a:xfrm>
            <a:off x="285750" y="37814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3" name="Oval 72"/>
          <p:cNvSpPr/>
          <p:nvPr/>
        </p:nvSpPr>
        <p:spPr>
          <a:xfrm>
            <a:off x="3422280"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771965"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4848225" y="36957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561108" y="36004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77" name="TextBox 76"/>
          <p:cNvSpPr txBox="1"/>
          <p:nvPr/>
        </p:nvSpPr>
        <p:spPr>
          <a:xfrm>
            <a:off x="7180731" y="36004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a:t>
            </a:r>
          </a:p>
        </p:txBody>
      </p:sp>
      <p:sp>
        <p:nvSpPr>
          <p:cNvPr id="78" name="TextBox 77"/>
          <p:cNvSpPr txBox="1"/>
          <p:nvPr/>
        </p:nvSpPr>
        <p:spPr>
          <a:xfrm>
            <a:off x="8762254" y="36004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9" name="TextBox 78"/>
          <p:cNvSpPr txBox="1"/>
          <p:nvPr/>
        </p:nvSpPr>
        <p:spPr>
          <a:xfrm>
            <a:off x="10419977" y="36004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80" name="Connector 79"/>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85750" y="39624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IGL Group / Waters Medical Systems</a:t>
            </a:r>
          </a:p>
        </p:txBody>
      </p:sp>
      <p:sp>
        <p:nvSpPr>
          <p:cNvPr id="83" name="TextBox 82"/>
          <p:cNvSpPr txBox="1"/>
          <p:nvPr/>
        </p:nvSpPr>
        <p:spPr>
          <a:xfrm>
            <a:off x="285750" y="41243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84" name="Oval 83"/>
          <p:cNvSpPr/>
          <p:nvPr/>
        </p:nvSpPr>
        <p:spPr>
          <a:xfrm>
            <a:off x="3422280"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349567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771965"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561108" y="39433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Mid / value-added</a:t>
            </a:r>
          </a:p>
        </p:txBody>
      </p:sp>
      <p:sp>
        <p:nvSpPr>
          <p:cNvPr id="88" name="TextBox 87"/>
          <p:cNvSpPr txBox="1"/>
          <p:nvPr/>
        </p:nvSpPr>
        <p:spPr>
          <a:xfrm>
            <a:off x="7180731" y="39433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 Sales</a:t>
            </a:r>
          </a:p>
        </p:txBody>
      </p:sp>
      <p:sp>
        <p:nvSpPr>
          <p:cNvPr id="89" name="TextBox 88"/>
          <p:cNvSpPr txBox="1"/>
          <p:nvPr/>
        </p:nvSpPr>
        <p:spPr>
          <a:xfrm>
            <a:off x="8762254" y="39433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0" name="TextBox 89"/>
          <p:cNvSpPr txBox="1"/>
          <p:nvPr/>
        </p:nvSpPr>
        <p:spPr>
          <a:xfrm>
            <a:off x="10419977" y="39433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91" name="Connector 90"/>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5750" y="43053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Bridge to Life</a:t>
            </a:r>
          </a:p>
        </p:txBody>
      </p:sp>
      <p:sp>
        <p:nvSpPr>
          <p:cNvPr id="94" name="TextBox 93"/>
          <p:cNvSpPr txBox="1"/>
          <p:nvPr/>
        </p:nvSpPr>
        <p:spPr>
          <a:xfrm>
            <a:off x="285750" y="44672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5" name="Oval 94"/>
          <p:cNvSpPr/>
          <p:nvPr/>
        </p:nvSpPr>
        <p:spPr>
          <a:xfrm>
            <a:off x="3422280"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3495675" y="43815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771965"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Freeform 97"/>
          <p:cNvSpPr/>
          <p:nvPr/>
        </p:nvSpPr>
        <p:spPr>
          <a:xfrm>
            <a:off x="4848225" y="43815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561108" y="42862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00" name="TextBox 99"/>
          <p:cNvSpPr txBox="1"/>
          <p:nvPr/>
        </p:nvSpPr>
        <p:spPr>
          <a:xfrm>
            <a:off x="7180731" y="42862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 Distributor Sales</a:t>
            </a:r>
          </a:p>
        </p:txBody>
      </p:sp>
      <p:sp>
        <p:nvSpPr>
          <p:cNvPr id="101" name="TextBox 100"/>
          <p:cNvSpPr txBox="1"/>
          <p:nvPr/>
        </p:nvSpPr>
        <p:spPr>
          <a:xfrm>
            <a:off x="8762254" y="42862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2" name="TextBox 101"/>
          <p:cNvSpPr txBox="1"/>
          <p:nvPr/>
        </p:nvSpPr>
        <p:spPr>
          <a:xfrm>
            <a:off x="10419977" y="42862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03" name="Connector 102"/>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5750" y="46482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Aferetica</a:t>
            </a:r>
          </a:p>
        </p:txBody>
      </p:sp>
      <p:sp>
        <p:nvSpPr>
          <p:cNvPr id="106" name="TextBox 105"/>
          <p:cNvSpPr txBox="1"/>
          <p:nvPr/>
        </p:nvSpPr>
        <p:spPr>
          <a:xfrm>
            <a:off x="285750" y="48101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7" name="Oval 106"/>
          <p:cNvSpPr/>
          <p:nvPr/>
        </p:nvSpPr>
        <p:spPr>
          <a:xfrm>
            <a:off x="3422280"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3495675" y="47244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771965"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561108" y="46291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11" name="TextBox 110"/>
          <p:cNvSpPr txBox="1"/>
          <p:nvPr/>
        </p:nvSpPr>
        <p:spPr>
          <a:xfrm>
            <a:off x="7180731" y="46291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a:t>
            </a:r>
          </a:p>
        </p:txBody>
      </p:sp>
      <p:sp>
        <p:nvSpPr>
          <p:cNvPr id="112" name="TextBox 111"/>
          <p:cNvSpPr txBox="1"/>
          <p:nvPr/>
        </p:nvSpPr>
        <p:spPr>
          <a:xfrm>
            <a:off x="8762254" y="46291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3" name="TextBox 112"/>
          <p:cNvSpPr txBox="1"/>
          <p:nvPr/>
        </p:nvSpPr>
        <p:spPr>
          <a:xfrm>
            <a:off x="10419977" y="46291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14" name="Connector 113"/>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85750" y="49911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EBERS Medical Technology</a:t>
            </a:r>
          </a:p>
        </p:txBody>
      </p:sp>
      <p:sp>
        <p:nvSpPr>
          <p:cNvPr id="117" name="TextBox 116"/>
          <p:cNvSpPr txBox="1"/>
          <p:nvPr/>
        </p:nvSpPr>
        <p:spPr>
          <a:xfrm>
            <a:off x="285750" y="51530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8" name="Oval 117"/>
          <p:cNvSpPr/>
          <p:nvPr/>
        </p:nvSpPr>
        <p:spPr>
          <a:xfrm>
            <a:off x="3422280"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771965"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Freeform 119"/>
          <p:cNvSpPr/>
          <p:nvPr/>
        </p:nvSpPr>
        <p:spPr>
          <a:xfrm>
            <a:off x="4848225" y="506730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561108" y="49720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22" name="TextBox 121"/>
          <p:cNvSpPr txBox="1"/>
          <p:nvPr/>
        </p:nvSpPr>
        <p:spPr>
          <a:xfrm>
            <a:off x="7180731" y="49720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 Sales</a:t>
            </a:r>
          </a:p>
        </p:txBody>
      </p:sp>
      <p:sp>
        <p:nvSpPr>
          <p:cNvPr id="123" name="TextBox 122"/>
          <p:cNvSpPr txBox="1"/>
          <p:nvPr/>
        </p:nvSpPr>
        <p:spPr>
          <a:xfrm>
            <a:off x="8762254" y="49720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4" name="TextBox 123"/>
          <p:cNvSpPr txBox="1"/>
          <p:nvPr/>
        </p:nvSpPr>
        <p:spPr>
          <a:xfrm>
            <a:off x="10419977" y="49720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25" name="Connector 124"/>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6" name="Rectangle 125"/>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85750" y="53340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Traferox Technologies</a:t>
            </a:r>
          </a:p>
        </p:txBody>
      </p:sp>
      <p:sp>
        <p:nvSpPr>
          <p:cNvPr id="128" name="TextBox 127"/>
          <p:cNvSpPr txBox="1"/>
          <p:nvPr/>
        </p:nvSpPr>
        <p:spPr>
          <a:xfrm>
            <a:off x="285750" y="54959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9" name="Oval 128"/>
          <p:cNvSpPr/>
          <p:nvPr/>
        </p:nvSpPr>
        <p:spPr>
          <a:xfrm>
            <a:off x="3422280"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349567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771965"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5561108" y="53149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Value / entry</a:t>
            </a:r>
          </a:p>
        </p:txBody>
      </p:sp>
      <p:sp>
        <p:nvSpPr>
          <p:cNvPr id="133" name="TextBox 132"/>
          <p:cNvSpPr txBox="1"/>
          <p:nvPr/>
        </p:nvSpPr>
        <p:spPr>
          <a:xfrm>
            <a:off x="7180731" y="53149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Sales, Distributor Sales</a:t>
            </a:r>
          </a:p>
        </p:txBody>
      </p:sp>
      <p:sp>
        <p:nvSpPr>
          <p:cNvPr id="134" name="TextBox 133"/>
          <p:cNvSpPr txBox="1"/>
          <p:nvPr/>
        </p:nvSpPr>
        <p:spPr>
          <a:xfrm>
            <a:off x="8762254" y="53149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35" name="TextBox 134"/>
          <p:cNvSpPr txBox="1"/>
          <p:nvPr/>
        </p:nvSpPr>
        <p:spPr>
          <a:xfrm>
            <a:off x="10419977" y="53149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In full study</a:t>
            </a:r>
          </a:p>
        </p:txBody>
      </p:sp>
      <p:cxnSp>
        <p:nvCxnSpPr>
          <p:cNvPr id="136" name="Connector 135"/>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9" name="Oval 138"/>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42" name="Oval 141"/>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Freeform 142"/>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45" name="Oval 144"/>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7" name="TextBox 146"/>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8" name="TextBox 147"/>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breadth and technology strength do not always go together; the end uses each player serves show where it competes head to head.  Proof needs customer research.</a:t>
            </a:r>
          </a:p>
        </p:txBody>
      </p:sp>
      <p:sp>
        <p:nvSpPr>
          <p:cNvPr id="149" name="TextBox 148"/>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50" name="Picture 149" descr="lock.png"/>
          <p:cNvPicPr>
            <a:picLocks noChangeAspect="1"/>
          </p:cNvPicPr>
          <p:nvPr/>
        </p:nvPicPr>
        <p:blipFill>
          <a:blip r:embed="rId4"/>
          <a:stretch>
            <a:fillRect/>
          </a:stretch>
        </p:blipFill>
        <p:spPr>
          <a:xfrm>
            <a:off x="9507716" y="23067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507716" y="2649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9507716" y="29925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507716"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9507716"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9507716" y="40212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507716" y="4364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9507716" y="47070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507716" y="5049901"/>
            <a:ext cx="128699" cy="187198"/>
          </a:xfrm>
          <a:prstGeom prst="rect">
            <a:avLst/>
          </a:prstGeom>
        </p:spPr>
      </p:pic>
      <p:pic>
        <p:nvPicPr>
          <p:cNvPr id="159" name="Picture 158" descr="lock.png"/>
          <p:cNvPicPr>
            <a:picLocks noChangeAspect="1"/>
          </p:cNvPicPr>
          <p:nvPr/>
        </p:nvPicPr>
        <p:blipFill>
          <a:blip r:embed="rId4"/>
          <a:stretch>
            <a:fillRect/>
          </a:stretch>
        </p:blipFill>
        <p:spPr>
          <a:xfrm>
            <a:off x="9507716" y="5392801"/>
            <a:ext cx="128699" cy="187198"/>
          </a:xfrm>
          <a:prstGeom prst="rect">
            <a:avLst/>
          </a:prstGeom>
        </p:spPr>
      </p:pic>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Execution Scorecard: How They Win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Six execution Ps: channel, promotion, momentum, pipeline, policy exposure and prospects</a:t>
            </a:r>
          </a:p>
        </p:txBody>
      </p:sp>
      <p:sp>
        <p:nvSpPr>
          <p:cNvPr id="10" name="Rectangle 9"/>
          <p:cNvSpPr/>
          <p:nvPr/>
        </p:nvSpPr>
        <p:spPr>
          <a:xfrm>
            <a:off x="190500" y="1047750"/>
            <a:ext cx="11811000" cy="2095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6700" y="1047750"/>
            <a:ext cx="6667500" cy="209550"/>
          </a:xfrm>
          <a:prstGeom prst="rect">
            <a:avLst/>
          </a:prstGeom>
          <a:noFill/>
        </p:spPr>
        <p:txBody>
          <a:bodyPr wrap="square" lIns="28575" rIns="28575" tIns="9525" bIns="9525" anchor="ctr">
            <a:spAutoFit/>
          </a:bodyPr>
          <a:lstStyle/>
          <a:p>
            <a:pPr algn="l"/>
            <a:r>
              <a:rPr sz="1100" b="1">
                <a:solidFill>
                  <a:srgbClr val="FFFFFF"/>
                </a:solidFill>
                <a:latin typeface="Calibri"/>
              </a:rPr>
              <a:t>LEVEL 3, EXECUTION: HOW THEY WIN</a:t>
            </a:r>
          </a:p>
        </p:txBody>
      </p:sp>
      <p:sp>
        <p:nvSpPr>
          <p:cNvPr id="12" name="TextBox 11"/>
          <p:cNvSpPr txBox="1"/>
          <p:nvPr/>
        </p:nvSpPr>
        <p:spPr>
          <a:xfrm>
            <a:off x="2861737"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Place (channel)</a:t>
            </a:r>
          </a:p>
        </p:txBody>
      </p:sp>
      <p:sp>
        <p:nvSpPr>
          <p:cNvPr id="13" name="TextBox 12"/>
          <p:cNvSpPr txBox="1"/>
          <p:nvPr/>
        </p:nvSpPr>
        <p:spPr>
          <a:xfrm>
            <a:off x="2861737"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Route to market by tier</a:t>
            </a:r>
          </a:p>
        </p:txBody>
      </p:sp>
      <p:sp>
        <p:nvSpPr>
          <p:cNvPr id="14" name="TextBox 13"/>
          <p:cNvSpPr txBox="1"/>
          <p:nvPr/>
        </p:nvSpPr>
        <p:spPr>
          <a:xfrm>
            <a:off x="4481360"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Promotion</a:t>
            </a:r>
          </a:p>
        </p:txBody>
      </p:sp>
      <p:sp>
        <p:nvSpPr>
          <p:cNvPr id="15" name="TextBox 14"/>
          <p:cNvSpPr txBox="1"/>
          <p:nvPr/>
        </p:nvSpPr>
        <p:spPr>
          <a:xfrm>
            <a:off x="4481360"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Go-to-market; not assessed</a:t>
            </a:r>
          </a:p>
        </p:txBody>
      </p:sp>
      <p:sp>
        <p:nvSpPr>
          <p:cNvPr id="16" name="TextBox 15"/>
          <p:cNvSpPr txBox="1"/>
          <p:nvPr/>
        </p:nvSpPr>
        <p:spPr>
          <a:xfrm>
            <a:off x="6100983" y="1295400"/>
            <a:ext cx="12734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Pace (momentum)</a:t>
            </a:r>
          </a:p>
        </p:txBody>
      </p:sp>
      <p:sp>
        <p:nvSpPr>
          <p:cNvPr id="17" name="TextBox 16"/>
          <p:cNvSpPr txBox="1"/>
          <p:nvPr/>
        </p:nvSpPr>
        <p:spPr>
          <a:xfrm>
            <a:off x="6100983" y="1657350"/>
            <a:ext cx="12734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Active moves: 5+ = 3, 3-4 = 2</a:t>
            </a:r>
          </a:p>
        </p:txBody>
      </p:sp>
      <p:sp>
        <p:nvSpPr>
          <p:cNvPr id="18" name="TextBox 17"/>
          <p:cNvSpPr txBox="1"/>
          <p:nvPr/>
        </p:nvSpPr>
        <p:spPr>
          <a:xfrm>
            <a:off x="7450668"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Pipeline</a:t>
            </a:r>
          </a:p>
        </p:txBody>
      </p:sp>
      <p:sp>
        <p:nvSpPr>
          <p:cNvPr id="19" name="TextBox 18"/>
          <p:cNvSpPr txBox="1"/>
          <p:nvPr/>
        </p:nvSpPr>
        <p:spPr>
          <a:xfrm>
            <a:off x="7450668"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Launch or development in motion</a:t>
            </a:r>
          </a:p>
        </p:txBody>
      </p:sp>
      <p:sp>
        <p:nvSpPr>
          <p:cNvPr id="20" name="TextBox 19"/>
          <p:cNvSpPr txBox="1"/>
          <p:nvPr/>
        </p:nvSpPr>
        <p:spPr>
          <a:xfrm>
            <a:off x="9070291" y="1295400"/>
            <a:ext cx="1543423"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Policy exposure</a:t>
            </a:r>
          </a:p>
        </p:txBody>
      </p:sp>
      <p:sp>
        <p:nvSpPr>
          <p:cNvPr id="21" name="TextBox 20"/>
          <p:cNvSpPr txBox="1"/>
          <p:nvPr/>
        </p:nvSpPr>
        <p:spPr>
          <a:xfrm>
            <a:off x="9070291" y="1657350"/>
            <a:ext cx="1543423"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Regulation in its favour or against</a:t>
            </a:r>
          </a:p>
        </p:txBody>
      </p:sp>
      <p:sp>
        <p:nvSpPr>
          <p:cNvPr id="22" name="TextBox 21"/>
          <p:cNvSpPr txBox="1"/>
          <p:nvPr/>
        </p:nvSpPr>
        <p:spPr>
          <a:xfrm>
            <a:off x="10689914" y="1295400"/>
            <a:ext cx="1273486" cy="342900"/>
          </a:xfrm>
          <a:prstGeom prst="rect">
            <a:avLst/>
          </a:prstGeom>
          <a:noFill/>
        </p:spPr>
        <p:txBody>
          <a:bodyPr wrap="square" lIns="28575" rIns="28575" tIns="9525" bIns="9525" anchor="ctr">
            <a:spAutoFit/>
          </a:bodyPr>
          <a:lstStyle/>
          <a:p>
            <a:pPr algn="l">
              <a:lnSpc>
                <a:spcPct val="115000"/>
              </a:lnSpc>
            </a:pPr>
            <a:r>
              <a:rPr sz="1100" b="1">
                <a:solidFill>
                  <a:srgbClr val="0F2D52"/>
                </a:solidFill>
                <a:latin typeface="Calibri"/>
              </a:rPr>
              <a:t>Prospects</a:t>
            </a:r>
          </a:p>
        </p:txBody>
      </p:sp>
      <p:sp>
        <p:nvSpPr>
          <p:cNvPr id="23" name="TextBox 22"/>
          <p:cNvSpPr txBox="1"/>
          <p:nvPr/>
        </p:nvSpPr>
        <p:spPr>
          <a:xfrm>
            <a:off x="10689914" y="1657350"/>
            <a:ext cx="1273486" cy="5143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Gaining 3, holding 2, at risk 1</a:t>
            </a:r>
          </a:p>
        </p:txBody>
      </p:sp>
      <p:cxnSp>
        <p:nvCxnSpPr>
          <p:cNvPr id="24" name="Connector 23"/>
          <p:cNvCxnSpPr/>
          <p:nvPr/>
        </p:nvCxnSpPr>
        <p:spPr>
          <a:xfrm>
            <a:off x="190500" y="22098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190500" y="22574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5750" y="22479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TransMedics</a:t>
            </a:r>
          </a:p>
        </p:txBody>
      </p:sp>
      <p:sp>
        <p:nvSpPr>
          <p:cNvPr id="27" name="TextBox 26"/>
          <p:cNvSpPr txBox="1"/>
          <p:nvPr/>
        </p:nvSpPr>
        <p:spPr>
          <a:xfrm>
            <a:off x="285750" y="24098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28" name="TextBox 27"/>
          <p:cNvSpPr txBox="1"/>
          <p:nvPr/>
        </p:nvSpPr>
        <p:spPr>
          <a:xfrm>
            <a:off x="2861737" y="22288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29" name="TextBox 28"/>
          <p:cNvSpPr txBox="1"/>
          <p:nvPr/>
        </p:nvSpPr>
        <p:spPr>
          <a:xfrm>
            <a:off x="4443260" y="22288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0" name="Oval 29"/>
          <p:cNvSpPr/>
          <p:nvPr/>
        </p:nvSpPr>
        <p:spPr>
          <a:xfrm>
            <a:off x="6661526"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12568" y="22288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2" name="TextBox 31"/>
          <p:cNvSpPr txBox="1"/>
          <p:nvPr/>
        </p:nvSpPr>
        <p:spPr>
          <a:xfrm>
            <a:off x="9032191" y="22288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33" name="Oval 32"/>
          <p:cNvSpPr/>
          <p:nvPr/>
        </p:nvSpPr>
        <p:spPr>
          <a:xfrm>
            <a:off x="11250457" y="23241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90500" y="2571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90500" y="26003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5750" y="25908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OrganOx</a:t>
            </a:r>
          </a:p>
        </p:txBody>
      </p:sp>
      <p:sp>
        <p:nvSpPr>
          <p:cNvPr id="37" name="TextBox 36"/>
          <p:cNvSpPr txBox="1"/>
          <p:nvPr/>
        </p:nvSpPr>
        <p:spPr>
          <a:xfrm>
            <a:off x="285750" y="27527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38" name="TextBox 37"/>
          <p:cNvSpPr txBox="1"/>
          <p:nvPr/>
        </p:nvSpPr>
        <p:spPr>
          <a:xfrm>
            <a:off x="2861737" y="25717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39" name="TextBox 38"/>
          <p:cNvSpPr txBox="1"/>
          <p:nvPr/>
        </p:nvSpPr>
        <p:spPr>
          <a:xfrm>
            <a:off x="4443260" y="25717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0" name="Oval 39"/>
          <p:cNvSpPr/>
          <p:nvPr/>
        </p:nvSpPr>
        <p:spPr>
          <a:xfrm>
            <a:off x="6661526"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50668" y="25717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42" name="TextBox 41"/>
          <p:cNvSpPr txBox="1"/>
          <p:nvPr/>
        </p:nvSpPr>
        <p:spPr>
          <a:xfrm>
            <a:off x="9032191" y="25717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43" name="Oval 42"/>
          <p:cNvSpPr/>
          <p:nvPr/>
        </p:nvSpPr>
        <p:spPr>
          <a:xfrm>
            <a:off x="11250457" y="26670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190500" y="29146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90500" y="29432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85750" y="29337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XVIVO Perfusion</a:t>
            </a:r>
          </a:p>
        </p:txBody>
      </p:sp>
      <p:sp>
        <p:nvSpPr>
          <p:cNvPr id="47" name="TextBox 46"/>
          <p:cNvSpPr txBox="1"/>
          <p:nvPr/>
        </p:nvSpPr>
        <p:spPr>
          <a:xfrm>
            <a:off x="285750" y="30956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48" name="TextBox 47"/>
          <p:cNvSpPr txBox="1"/>
          <p:nvPr/>
        </p:nvSpPr>
        <p:spPr>
          <a:xfrm>
            <a:off x="2861737" y="29146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49" name="TextBox 48"/>
          <p:cNvSpPr txBox="1"/>
          <p:nvPr/>
        </p:nvSpPr>
        <p:spPr>
          <a:xfrm>
            <a:off x="4443260" y="29146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0" name="Oval 49"/>
          <p:cNvSpPr/>
          <p:nvPr/>
        </p:nvSpPr>
        <p:spPr>
          <a:xfrm>
            <a:off x="6661526"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12568" y="29146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2" name="TextBox 51"/>
          <p:cNvSpPr txBox="1"/>
          <p:nvPr/>
        </p:nvSpPr>
        <p:spPr>
          <a:xfrm>
            <a:off x="9032191" y="29146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53" name="Oval 52"/>
          <p:cNvSpPr/>
          <p:nvPr/>
        </p:nvSpPr>
        <p:spPr>
          <a:xfrm>
            <a:off x="11250457" y="30099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90500" y="3257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190500" y="3286125"/>
            <a:ext cx="38100" cy="2857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85750" y="32766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Paragonix Technologies</a:t>
            </a:r>
          </a:p>
        </p:txBody>
      </p:sp>
      <p:sp>
        <p:nvSpPr>
          <p:cNvPr id="57" name="TextBox 56"/>
          <p:cNvSpPr txBox="1"/>
          <p:nvPr/>
        </p:nvSpPr>
        <p:spPr>
          <a:xfrm>
            <a:off x="285750" y="34385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1</a:t>
            </a:r>
          </a:p>
        </p:txBody>
      </p:sp>
      <p:sp>
        <p:nvSpPr>
          <p:cNvPr id="58" name="TextBox 57"/>
          <p:cNvSpPr txBox="1"/>
          <p:nvPr/>
        </p:nvSpPr>
        <p:spPr>
          <a:xfrm>
            <a:off x="2861737" y="32575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Direct + key accounts</a:t>
            </a:r>
          </a:p>
        </p:txBody>
      </p:sp>
      <p:sp>
        <p:nvSpPr>
          <p:cNvPr id="59" name="TextBox 58"/>
          <p:cNvSpPr txBox="1"/>
          <p:nvPr/>
        </p:nvSpPr>
        <p:spPr>
          <a:xfrm>
            <a:off x="4443260" y="32575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0" name="Oval 59"/>
          <p:cNvSpPr/>
          <p:nvPr/>
        </p:nvSpPr>
        <p:spPr>
          <a:xfrm>
            <a:off x="6661526"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50668" y="32575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62" name="TextBox 61"/>
          <p:cNvSpPr txBox="1"/>
          <p:nvPr/>
        </p:nvSpPr>
        <p:spPr>
          <a:xfrm>
            <a:off x="9032191" y="32575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63" name="Oval 62"/>
          <p:cNvSpPr/>
          <p:nvPr/>
        </p:nvSpPr>
        <p:spPr>
          <a:xfrm>
            <a:off x="11250457" y="33528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190500" y="36004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90500" y="36290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85750" y="36195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Organ Recovery Systems</a:t>
            </a:r>
          </a:p>
        </p:txBody>
      </p:sp>
      <p:sp>
        <p:nvSpPr>
          <p:cNvPr id="67" name="TextBox 66"/>
          <p:cNvSpPr txBox="1"/>
          <p:nvPr/>
        </p:nvSpPr>
        <p:spPr>
          <a:xfrm>
            <a:off x="285750" y="37814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68" name="TextBox 67"/>
          <p:cNvSpPr txBox="1"/>
          <p:nvPr/>
        </p:nvSpPr>
        <p:spPr>
          <a:xfrm>
            <a:off x="2861737" y="36004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69" name="TextBox 68"/>
          <p:cNvSpPr txBox="1"/>
          <p:nvPr/>
        </p:nvSpPr>
        <p:spPr>
          <a:xfrm>
            <a:off x="4443260" y="36004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0" name="Oval 69"/>
          <p:cNvSpPr/>
          <p:nvPr/>
        </p:nvSpPr>
        <p:spPr>
          <a:xfrm>
            <a:off x="6661526" y="36957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412568" y="36004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2" name="TextBox 71"/>
          <p:cNvSpPr txBox="1"/>
          <p:nvPr/>
        </p:nvSpPr>
        <p:spPr>
          <a:xfrm>
            <a:off x="9032191" y="36004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73" name="Oval 72"/>
          <p:cNvSpPr/>
          <p:nvPr/>
        </p:nvSpPr>
        <p:spPr>
          <a:xfrm>
            <a:off x="11250457" y="36957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11325225" y="36957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5" name="Connector 74"/>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190500" y="3971925"/>
            <a:ext cx="38100" cy="2857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85750" y="39624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IGL Group / Waters Medical Systems</a:t>
            </a:r>
          </a:p>
        </p:txBody>
      </p:sp>
      <p:sp>
        <p:nvSpPr>
          <p:cNvPr id="78" name="TextBox 77"/>
          <p:cNvSpPr txBox="1"/>
          <p:nvPr/>
        </p:nvSpPr>
        <p:spPr>
          <a:xfrm>
            <a:off x="285750" y="41243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2</a:t>
            </a:r>
          </a:p>
        </p:txBody>
      </p:sp>
      <p:sp>
        <p:nvSpPr>
          <p:cNvPr id="79" name="TextBox 78"/>
          <p:cNvSpPr txBox="1"/>
          <p:nvPr/>
        </p:nvSpPr>
        <p:spPr>
          <a:xfrm>
            <a:off x="2861737" y="39433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Distributors</a:t>
            </a:r>
          </a:p>
        </p:txBody>
      </p:sp>
      <p:sp>
        <p:nvSpPr>
          <p:cNvPr id="80" name="TextBox 79"/>
          <p:cNvSpPr txBox="1"/>
          <p:nvPr/>
        </p:nvSpPr>
        <p:spPr>
          <a:xfrm>
            <a:off x="4443260" y="39433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1" name="Oval 80"/>
          <p:cNvSpPr/>
          <p:nvPr/>
        </p:nvSpPr>
        <p:spPr>
          <a:xfrm>
            <a:off x="6661526" y="40386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50668" y="39433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83" name="TextBox 82"/>
          <p:cNvSpPr txBox="1"/>
          <p:nvPr/>
        </p:nvSpPr>
        <p:spPr>
          <a:xfrm>
            <a:off x="9032191" y="39433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84" name="Oval 83"/>
          <p:cNvSpPr/>
          <p:nvPr/>
        </p:nvSpPr>
        <p:spPr>
          <a:xfrm>
            <a:off x="11250457" y="40386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325225" y="40386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190500" y="42862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43148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43053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Bridge to Life</a:t>
            </a:r>
          </a:p>
        </p:txBody>
      </p:sp>
      <p:sp>
        <p:nvSpPr>
          <p:cNvPr id="89" name="TextBox 88"/>
          <p:cNvSpPr txBox="1"/>
          <p:nvPr/>
        </p:nvSpPr>
        <p:spPr>
          <a:xfrm>
            <a:off x="285750" y="44672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90" name="TextBox 89"/>
          <p:cNvSpPr txBox="1"/>
          <p:nvPr/>
        </p:nvSpPr>
        <p:spPr>
          <a:xfrm>
            <a:off x="2861737" y="42862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91" name="TextBox 90"/>
          <p:cNvSpPr txBox="1"/>
          <p:nvPr/>
        </p:nvSpPr>
        <p:spPr>
          <a:xfrm>
            <a:off x="4443260" y="42862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2" name="Oval 91"/>
          <p:cNvSpPr/>
          <p:nvPr/>
        </p:nvSpPr>
        <p:spPr>
          <a:xfrm>
            <a:off x="6661526" y="43815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412568" y="42862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4" name="TextBox 93"/>
          <p:cNvSpPr txBox="1"/>
          <p:nvPr/>
        </p:nvSpPr>
        <p:spPr>
          <a:xfrm>
            <a:off x="9032191" y="42862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95" name="Oval 94"/>
          <p:cNvSpPr/>
          <p:nvPr/>
        </p:nvSpPr>
        <p:spPr>
          <a:xfrm>
            <a:off x="11250457" y="43815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Freeform 95"/>
          <p:cNvSpPr/>
          <p:nvPr/>
        </p:nvSpPr>
        <p:spPr>
          <a:xfrm>
            <a:off x="11325225" y="43815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Connector 96"/>
          <p:cNvCxnSpPr/>
          <p:nvPr/>
        </p:nvCxnSpPr>
        <p:spPr>
          <a:xfrm>
            <a:off x="190500" y="4629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8" name="Rectangle 97"/>
          <p:cNvSpPr/>
          <p:nvPr/>
        </p:nvSpPr>
        <p:spPr>
          <a:xfrm>
            <a:off x="190500" y="46577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5750" y="46482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Aferetica</a:t>
            </a:r>
          </a:p>
        </p:txBody>
      </p:sp>
      <p:sp>
        <p:nvSpPr>
          <p:cNvPr id="100" name="TextBox 99"/>
          <p:cNvSpPr txBox="1"/>
          <p:nvPr/>
        </p:nvSpPr>
        <p:spPr>
          <a:xfrm>
            <a:off x="285750" y="48101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01" name="TextBox 100"/>
          <p:cNvSpPr txBox="1"/>
          <p:nvPr/>
        </p:nvSpPr>
        <p:spPr>
          <a:xfrm>
            <a:off x="2861737" y="46291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02" name="TextBox 101"/>
          <p:cNvSpPr txBox="1"/>
          <p:nvPr/>
        </p:nvSpPr>
        <p:spPr>
          <a:xfrm>
            <a:off x="4443260" y="46291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3" name="Oval 102"/>
          <p:cNvSpPr/>
          <p:nvPr/>
        </p:nvSpPr>
        <p:spPr>
          <a:xfrm>
            <a:off x="6661526" y="47244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7450668" y="46291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05" name="TextBox 104"/>
          <p:cNvSpPr txBox="1"/>
          <p:nvPr/>
        </p:nvSpPr>
        <p:spPr>
          <a:xfrm>
            <a:off x="9032191" y="46291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06" name="Oval 105"/>
          <p:cNvSpPr/>
          <p:nvPr/>
        </p:nvSpPr>
        <p:spPr>
          <a:xfrm>
            <a:off x="11250457" y="47244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11325225" y="47244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90500" y="49720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90500" y="50006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85750" y="49911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EBERS Medical Technology</a:t>
            </a:r>
          </a:p>
        </p:txBody>
      </p:sp>
      <p:sp>
        <p:nvSpPr>
          <p:cNvPr id="111" name="TextBox 110"/>
          <p:cNvSpPr txBox="1"/>
          <p:nvPr/>
        </p:nvSpPr>
        <p:spPr>
          <a:xfrm>
            <a:off x="285750" y="51530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12" name="TextBox 111"/>
          <p:cNvSpPr txBox="1"/>
          <p:nvPr/>
        </p:nvSpPr>
        <p:spPr>
          <a:xfrm>
            <a:off x="2861737" y="49720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13" name="TextBox 112"/>
          <p:cNvSpPr txBox="1"/>
          <p:nvPr/>
        </p:nvSpPr>
        <p:spPr>
          <a:xfrm>
            <a:off x="4443260" y="49720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4" name="Oval 113"/>
          <p:cNvSpPr/>
          <p:nvPr/>
        </p:nvSpPr>
        <p:spPr>
          <a:xfrm>
            <a:off x="6661526" y="50673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12568" y="49720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6" name="TextBox 115"/>
          <p:cNvSpPr txBox="1"/>
          <p:nvPr/>
        </p:nvSpPr>
        <p:spPr>
          <a:xfrm>
            <a:off x="9032191" y="49720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17" name="Oval 116"/>
          <p:cNvSpPr/>
          <p:nvPr/>
        </p:nvSpPr>
        <p:spPr>
          <a:xfrm>
            <a:off x="11250457" y="50673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Freeform 117"/>
          <p:cNvSpPr/>
          <p:nvPr/>
        </p:nvSpPr>
        <p:spPr>
          <a:xfrm>
            <a:off x="11325225" y="5067300"/>
            <a:ext cx="76200" cy="76200"/>
          </a:xfrm>
          <a:custGeom>
            <a:avLst/>
            <a:gdLst/>
            <a:ahLst/>
            <a:cxnLst/>
            <a:rect l="l" t="t" r="r" b="b"/>
            <a:pathLst>
              <a:path w="8" h="8">
                <a:moveTo>
                  <a:pt x="0" y="8"/>
                </a:moveTo>
                <a:lnTo>
                  <a:pt x="0" y="0"/>
                </a:lnTo>
                <a:lnTo>
                  <a:pt x="2"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190500" y="5314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0" name="Rectangle 119"/>
          <p:cNvSpPr/>
          <p:nvPr/>
        </p:nvSpPr>
        <p:spPr>
          <a:xfrm>
            <a:off x="190500" y="5343525"/>
            <a:ext cx="38100" cy="2857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85750" y="5334000"/>
            <a:ext cx="2518837" cy="171450"/>
          </a:xfrm>
          <a:prstGeom prst="rect">
            <a:avLst/>
          </a:prstGeom>
          <a:noFill/>
        </p:spPr>
        <p:txBody>
          <a:bodyPr wrap="square" lIns="28575" rIns="28575" tIns="9525" bIns="9525" anchor="t">
            <a:spAutoFit/>
          </a:bodyPr>
          <a:lstStyle/>
          <a:p>
            <a:pPr algn="l"/>
            <a:r>
              <a:rPr sz="1100" b="1">
                <a:solidFill>
                  <a:srgbClr val="1F2933"/>
                </a:solidFill>
                <a:latin typeface="Calibri"/>
              </a:rPr>
              <a:t>Traferox Technologies</a:t>
            </a:r>
          </a:p>
        </p:txBody>
      </p:sp>
      <p:sp>
        <p:nvSpPr>
          <p:cNvPr id="122" name="TextBox 121"/>
          <p:cNvSpPr txBox="1"/>
          <p:nvPr/>
        </p:nvSpPr>
        <p:spPr>
          <a:xfrm>
            <a:off x="285750" y="5495925"/>
            <a:ext cx="2518837" cy="152400"/>
          </a:xfrm>
          <a:prstGeom prst="rect">
            <a:avLst/>
          </a:prstGeom>
          <a:noFill/>
        </p:spPr>
        <p:txBody>
          <a:bodyPr wrap="square" lIns="28575" rIns="28575" tIns="9525" bIns="9525" anchor="t">
            <a:spAutoFit/>
          </a:bodyPr>
          <a:lstStyle/>
          <a:p>
            <a:pPr algn="l"/>
            <a:r>
              <a:rPr sz="1100" b="0">
                <a:solidFill>
                  <a:srgbClr val="5F6B7A"/>
                </a:solidFill>
                <a:latin typeface="Calibri"/>
              </a:rPr>
              <a:t>Tier 3</a:t>
            </a:r>
          </a:p>
        </p:txBody>
      </p:sp>
      <p:sp>
        <p:nvSpPr>
          <p:cNvPr id="123" name="TextBox 122"/>
          <p:cNvSpPr txBox="1"/>
          <p:nvPr/>
        </p:nvSpPr>
        <p:spPr>
          <a:xfrm>
            <a:off x="2861737" y="53149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Regional partners</a:t>
            </a:r>
          </a:p>
        </p:txBody>
      </p:sp>
      <p:sp>
        <p:nvSpPr>
          <p:cNvPr id="124" name="TextBox 123"/>
          <p:cNvSpPr txBox="1"/>
          <p:nvPr/>
        </p:nvSpPr>
        <p:spPr>
          <a:xfrm>
            <a:off x="4443260" y="53149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5" name="Oval 124"/>
          <p:cNvSpPr/>
          <p:nvPr/>
        </p:nvSpPr>
        <p:spPr>
          <a:xfrm>
            <a:off x="6661526" y="541020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450668" y="5314950"/>
            <a:ext cx="1543423" cy="342900"/>
          </a:xfrm>
          <a:prstGeom prst="rect">
            <a:avLst/>
          </a:prstGeom>
          <a:noFill/>
        </p:spPr>
        <p:txBody>
          <a:bodyPr wrap="square" lIns="28575" rIns="28575" tIns="9525" bIns="9525" anchor="ctr">
            <a:spAutoFit/>
          </a:bodyPr>
          <a:lstStyle/>
          <a:p>
            <a:pPr algn="l">
              <a:lnSpc>
                <a:spcPct val="115000"/>
              </a:lnSpc>
            </a:pPr>
            <a:r>
              <a:rPr sz="1100" b="0">
                <a:solidFill>
                  <a:srgbClr val="1F2933"/>
                </a:solidFill>
                <a:latin typeface="Calibri"/>
              </a:rPr>
              <a:t>Launch pipeline</a:t>
            </a:r>
          </a:p>
        </p:txBody>
      </p:sp>
      <p:sp>
        <p:nvSpPr>
          <p:cNvPr id="127" name="TextBox 126"/>
          <p:cNvSpPr txBox="1"/>
          <p:nvPr/>
        </p:nvSpPr>
        <p:spPr>
          <a:xfrm>
            <a:off x="9032191" y="5314950"/>
            <a:ext cx="1619623" cy="342900"/>
          </a:xfrm>
          <a:prstGeom prst="rect">
            <a:avLst/>
          </a:prstGeom>
          <a:noFill/>
        </p:spPr>
        <p:txBody>
          <a:bodyPr wrap="square" lIns="28575" rIns="28575" tIns="9525" bIns="9525" anchor="ctr">
            <a:spAutoFit/>
          </a:bodyPr>
          <a:lstStyle/>
          <a:p>
            <a:pPr algn="ctr"/>
            <a:r>
              <a:rPr sz="1100" b="0">
                <a:solidFill>
                  <a:srgbClr val="5F6B7A"/>
                </a:solidFill>
                <a:latin typeface="Calibri"/>
              </a:rPr>
              <a:t/>
            </a:r>
          </a:p>
        </p:txBody>
      </p:sp>
      <p:sp>
        <p:nvSpPr>
          <p:cNvPr id="128" name="Oval 127"/>
          <p:cNvSpPr/>
          <p:nvPr/>
        </p:nvSpPr>
        <p:spPr>
          <a:xfrm>
            <a:off x="11250457" y="541020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Freeform 128"/>
          <p:cNvSpPr/>
          <p:nvPr/>
        </p:nvSpPr>
        <p:spPr>
          <a:xfrm>
            <a:off x="11325225" y="5410200"/>
            <a:ext cx="76200" cy="152400"/>
          </a:xfrm>
          <a:custGeom>
            <a:avLst/>
            <a:gdLst/>
            <a:ahLst/>
            <a:cxnLst/>
            <a:rect l="l" t="t" r="r" b="b"/>
            <a:pathLst>
              <a:path w="8" h="16">
                <a:moveTo>
                  <a:pt x="0" y="8"/>
                </a:moveTo>
                <a:lnTo>
                  <a:pt x="0" y="0"/>
                </a:lnTo>
                <a:lnTo>
                  <a:pt x="2"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2"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90500" y="56578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200025" y="57340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38100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33" name="Oval 132"/>
          <p:cNvSpPr/>
          <p:nvPr/>
        </p:nvSpPr>
        <p:spPr>
          <a:xfrm>
            <a:off x="2065020"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2133600" y="57340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245995"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36" name="Oval 135"/>
          <p:cNvSpPr/>
          <p:nvPr/>
        </p:nvSpPr>
        <p:spPr>
          <a:xfrm>
            <a:off x="367855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Freeform 136"/>
          <p:cNvSpPr/>
          <p:nvPr/>
        </p:nvSpPr>
        <p:spPr>
          <a:xfrm>
            <a:off x="3743325" y="57340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85953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39" name="Oval 138"/>
          <p:cNvSpPr/>
          <p:nvPr/>
        </p:nvSpPr>
        <p:spPr>
          <a:xfrm>
            <a:off x="5103495" y="57340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5284470" y="57150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41" name="TextBox 140"/>
          <p:cNvSpPr txBox="1"/>
          <p:nvPr/>
        </p:nvSpPr>
        <p:spPr>
          <a:xfrm>
            <a:off x="190500" y="59436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READING</a:t>
            </a:r>
          </a:p>
        </p:txBody>
      </p:sp>
      <p:sp>
        <p:nvSpPr>
          <p:cNvPr id="142" name="TextBox 141"/>
          <p:cNvSpPr txBox="1"/>
          <p:nvPr/>
        </p:nvSpPr>
        <p:spPr>
          <a:xfrm>
            <a:off x="190500" y="6096000"/>
            <a:ext cx="11811000" cy="2286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Momentum sits with the players running the most strategic moves; prospects combine breadth, reach, scale and pace.  Promotion and policy exposure need market and regulatory research.</a:t>
            </a:r>
          </a:p>
        </p:txBody>
      </p:sp>
      <p:sp>
        <p:nvSpPr>
          <p:cNvPr id="143" name="TextBox 14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4" name="Picture 143" descr="lock.png"/>
          <p:cNvPicPr>
            <a:picLocks noChangeAspect="1"/>
          </p:cNvPicPr>
          <p:nvPr/>
        </p:nvPicPr>
        <p:blipFill>
          <a:blip r:embed="rId4"/>
          <a:stretch>
            <a:fillRect/>
          </a:stretch>
        </p:blipFill>
        <p:spPr>
          <a:xfrm>
            <a:off x="5188722" y="2306701"/>
            <a:ext cx="128699" cy="187198"/>
          </a:xfrm>
          <a:prstGeom prst="rect">
            <a:avLst/>
          </a:prstGeom>
        </p:spPr>
      </p:pic>
      <p:pic>
        <p:nvPicPr>
          <p:cNvPr id="145" name="Picture 144" descr="lock.png"/>
          <p:cNvPicPr>
            <a:picLocks noChangeAspect="1"/>
          </p:cNvPicPr>
          <p:nvPr/>
        </p:nvPicPr>
        <p:blipFill>
          <a:blip r:embed="rId4"/>
          <a:stretch>
            <a:fillRect/>
          </a:stretch>
        </p:blipFill>
        <p:spPr>
          <a:xfrm>
            <a:off x="8158030" y="2306701"/>
            <a:ext cx="128699" cy="187198"/>
          </a:xfrm>
          <a:prstGeom prst="rect">
            <a:avLst/>
          </a:prstGeom>
        </p:spPr>
      </p:pic>
      <p:pic>
        <p:nvPicPr>
          <p:cNvPr id="146" name="Picture 145" descr="lock.png"/>
          <p:cNvPicPr>
            <a:picLocks noChangeAspect="1"/>
          </p:cNvPicPr>
          <p:nvPr/>
        </p:nvPicPr>
        <p:blipFill>
          <a:blip r:embed="rId4"/>
          <a:stretch>
            <a:fillRect/>
          </a:stretch>
        </p:blipFill>
        <p:spPr>
          <a:xfrm>
            <a:off x="9777653" y="2306701"/>
            <a:ext cx="128699" cy="187198"/>
          </a:xfrm>
          <a:prstGeom prst="rect">
            <a:avLst/>
          </a:prstGeom>
        </p:spPr>
      </p:pic>
      <p:pic>
        <p:nvPicPr>
          <p:cNvPr id="147" name="Picture 146" descr="lock.png"/>
          <p:cNvPicPr>
            <a:picLocks noChangeAspect="1"/>
          </p:cNvPicPr>
          <p:nvPr/>
        </p:nvPicPr>
        <p:blipFill>
          <a:blip r:embed="rId4"/>
          <a:stretch>
            <a:fillRect/>
          </a:stretch>
        </p:blipFill>
        <p:spPr>
          <a:xfrm>
            <a:off x="5188722" y="2649601"/>
            <a:ext cx="128699" cy="187198"/>
          </a:xfrm>
          <a:prstGeom prst="rect">
            <a:avLst/>
          </a:prstGeom>
        </p:spPr>
      </p:pic>
      <p:pic>
        <p:nvPicPr>
          <p:cNvPr id="148" name="Picture 147" descr="lock.png"/>
          <p:cNvPicPr>
            <a:picLocks noChangeAspect="1"/>
          </p:cNvPicPr>
          <p:nvPr/>
        </p:nvPicPr>
        <p:blipFill>
          <a:blip r:embed="rId4"/>
          <a:stretch>
            <a:fillRect/>
          </a:stretch>
        </p:blipFill>
        <p:spPr>
          <a:xfrm>
            <a:off x="9777653" y="2649601"/>
            <a:ext cx="128699" cy="187198"/>
          </a:xfrm>
          <a:prstGeom prst="rect">
            <a:avLst/>
          </a:prstGeom>
        </p:spPr>
      </p:pic>
      <p:pic>
        <p:nvPicPr>
          <p:cNvPr id="149" name="Picture 148" descr="lock.png"/>
          <p:cNvPicPr>
            <a:picLocks noChangeAspect="1"/>
          </p:cNvPicPr>
          <p:nvPr/>
        </p:nvPicPr>
        <p:blipFill>
          <a:blip r:embed="rId4"/>
          <a:stretch>
            <a:fillRect/>
          </a:stretch>
        </p:blipFill>
        <p:spPr>
          <a:xfrm>
            <a:off x="5188722" y="2992501"/>
            <a:ext cx="128699" cy="187198"/>
          </a:xfrm>
          <a:prstGeom prst="rect">
            <a:avLst/>
          </a:prstGeom>
        </p:spPr>
      </p:pic>
      <p:pic>
        <p:nvPicPr>
          <p:cNvPr id="150" name="Picture 149" descr="lock.png"/>
          <p:cNvPicPr>
            <a:picLocks noChangeAspect="1"/>
          </p:cNvPicPr>
          <p:nvPr/>
        </p:nvPicPr>
        <p:blipFill>
          <a:blip r:embed="rId4"/>
          <a:stretch>
            <a:fillRect/>
          </a:stretch>
        </p:blipFill>
        <p:spPr>
          <a:xfrm>
            <a:off x="8158030" y="2992501"/>
            <a:ext cx="128699" cy="187198"/>
          </a:xfrm>
          <a:prstGeom prst="rect">
            <a:avLst/>
          </a:prstGeom>
        </p:spPr>
      </p:pic>
      <p:pic>
        <p:nvPicPr>
          <p:cNvPr id="151" name="Picture 150" descr="lock.png"/>
          <p:cNvPicPr>
            <a:picLocks noChangeAspect="1"/>
          </p:cNvPicPr>
          <p:nvPr/>
        </p:nvPicPr>
        <p:blipFill>
          <a:blip r:embed="rId4"/>
          <a:stretch>
            <a:fillRect/>
          </a:stretch>
        </p:blipFill>
        <p:spPr>
          <a:xfrm>
            <a:off x="9777653" y="2992501"/>
            <a:ext cx="128699" cy="187198"/>
          </a:xfrm>
          <a:prstGeom prst="rect">
            <a:avLst/>
          </a:prstGeom>
        </p:spPr>
      </p:pic>
      <p:pic>
        <p:nvPicPr>
          <p:cNvPr id="152" name="Picture 151" descr="lock.png"/>
          <p:cNvPicPr>
            <a:picLocks noChangeAspect="1"/>
          </p:cNvPicPr>
          <p:nvPr/>
        </p:nvPicPr>
        <p:blipFill>
          <a:blip r:embed="rId4"/>
          <a:stretch>
            <a:fillRect/>
          </a:stretch>
        </p:blipFill>
        <p:spPr>
          <a:xfrm>
            <a:off x="5188722" y="3335401"/>
            <a:ext cx="128699" cy="187198"/>
          </a:xfrm>
          <a:prstGeom prst="rect">
            <a:avLst/>
          </a:prstGeom>
        </p:spPr>
      </p:pic>
      <p:pic>
        <p:nvPicPr>
          <p:cNvPr id="153" name="Picture 152" descr="lock.png"/>
          <p:cNvPicPr>
            <a:picLocks noChangeAspect="1"/>
          </p:cNvPicPr>
          <p:nvPr/>
        </p:nvPicPr>
        <p:blipFill>
          <a:blip r:embed="rId4"/>
          <a:stretch>
            <a:fillRect/>
          </a:stretch>
        </p:blipFill>
        <p:spPr>
          <a:xfrm>
            <a:off x="9777653" y="3335401"/>
            <a:ext cx="128699" cy="187198"/>
          </a:xfrm>
          <a:prstGeom prst="rect">
            <a:avLst/>
          </a:prstGeom>
        </p:spPr>
      </p:pic>
      <p:pic>
        <p:nvPicPr>
          <p:cNvPr id="154" name="Picture 153" descr="lock.png"/>
          <p:cNvPicPr>
            <a:picLocks noChangeAspect="1"/>
          </p:cNvPicPr>
          <p:nvPr/>
        </p:nvPicPr>
        <p:blipFill>
          <a:blip r:embed="rId4"/>
          <a:stretch>
            <a:fillRect/>
          </a:stretch>
        </p:blipFill>
        <p:spPr>
          <a:xfrm>
            <a:off x="5188722" y="3678301"/>
            <a:ext cx="128699" cy="187198"/>
          </a:xfrm>
          <a:prstGeom prst="rect">
            <a:avLst/>
          </a:prstGeom>
        </p:spPr>
      </p:pic>
      <p:pic>
        <p:nvPicPr>
          <p:cNvPr id="155" name="Picture 154" descr="lock.png"/>
          <p:cNvPicPr>
            <a:picLocks noChangeAspect="1"/>
          </p:cNvPicPr>
          <p:nvPr/>
        </p:nvPicPr>
        <p:blipFill>
          <a:blip r:embed="rId4"/>
          <a:stretch>
            <a:fillRect/>
          </a:stretch>
        </p:blipFill>
        <p:spPr>
          <a:xfrm>
            <a:off x="8158030" y="3678301"/>
            <a:ext cx="128699" cy="187198"/>
          </a:xfrm>
          <a:prstGeom prst="rect">
            <a:avLst/>
          </a:prstGeom>
        </p:spPr>
      </p:pic>
      <p:pic>
        <p:nvPicPr>
          <p:cNvPr id="156" name="Picture 155" descr="lock.png"/>
          <p:cNvPicPr>
            <a:picLocks noChangeAspect="1"/>
          </p:cNvPicPr>
          <p:nvPr/>
        </p:nvPicPr>
        <p:blipFill>
          <a:blip r:embed="rId4"/>
          <a:stretch>
            <a:fillRect/>
          </a:stretch>
        </p:blipFill>
        <p:spPr>
          <a:xfrm>
            <a:off x="9777653" y="3678301"/>
            <a:ext cx="128699" cy="187198"/>
          </a:xfrm>
          <a:prstGeom prst="rect">
            <a:avLst/>
          </a:prstGeom>
        </p:spPr>
      </p:pic>
      <p:pic>
        <p:nvPicPr>
          <p:cNvPr id="157" name="Picture 156" descr="lock.png"/>
          <p:cNvPicPr>
            <a:picLocks noChangeAspect="1"/>
          </p:cNvPicPr>
          <p:nvPr/>
        </p:nvPicPr>
        <p:blipFill>
          <a:blip r:embed="rId4"/>
          <a:stretch>
            <a:fillRect/>
          </a:stretch>
        </p:blipFill>
        <p:spPr>
          <a:xfrm>
            <a:off x="5188722" y="4021201"/>
            <a:ext cx="128699" cy="187198"/>
          </a:xfrm>
          <a:prstGeom prst="rect">
            <a:avLst/>
          </a:prstGeom>
        </p:spPr>
      </p:pic>
      <p:pic>
        <p:nvPicPr>
          <p:cNvPr id="158" name="Picture 157" descr="lock.png"/>
          <p:cNvPicPr>
            <a:picLocks noChangeAspect="1"/>
          </p:cNvPicPr>
          <p:nvPr/>
        </p:nvPicPr>
        <p:blipFill>
          <a:blip r:embed="rId4"/>
          <a:stretch>
            <a:fillRect/>
          </a:stretch>
        </p:blipFill>
        <p:spPr>
          <a:xfrm>
            <a:off x="9777653" y="4021201"/>
            <a:ext cx="128699" cy="187198"/>
          </a:xfrm>
          <a:prstGeom prst="rect">
            <a:avLst/>
          </a:prstGeom>
        </p:spPr>
      </p:pic>
      <p:pic>
        <p:nvPicPr>
          <p:cNvPr id="159" name="Picture 158" descr="lock.png"/>
          <p:cNvPicPr>
            <a:picLocks noChangeAspect="1"/>
          </p:cNvPicPr>
          <p:nvPr/>
        </p:nvPicPr>
        <p:blipFill>
          <a:blip r:embed="rId4"/>
          <a:stretch>
            <a:fillRect/>
          </a:stretch>
        </p:blipFill>
        <p:spPr>
          <a:xfrm>
            <a:off x="5188722" y="4364101"/>
            <a:ext cx="128699" cy="187198"/>
          </a:xfrm>
          <a:prstGeom prst="rect">
            <a:avLst/>
          </a:prstGeom>
        </p:spPr>
      </p:pic>
      <p:pic>
        <p:nvPicPr>
          <p:cNvPr id="160" name="Picture 159" descr="lock.png"/>
          <p:cNvPicPr>
            <a:picLocks noChangeAspect="1"/>
          </p:cNvPicPr>
          <p:nvPr/>
        </p:nvPicPr>
        <p:blipFill>
          <a:blip r:embed="rId4"/>
          <a:stretch>
            <a:fillRect/>
          </a:stretch>
        </p:blipFill>
        <p:spPr>
          <a:xfrm>
            <a:off x="8158030" y="4364101"/>
            <a:ext cx="128699" cy="187198"/>
          </a:xfrm>
          <a:prstGeom prst="rect">
            <a:avLst/>
          </a:prstGeom>
        </p:spPr>
      </p:pic>
      <p:pic>
        <p:nvPicPr>
          <p:cNvPr id="161" name="Picture 160" descr="lock.png"/>
          <p:cNvPicPr>
            <a:picLocks noChangeAspect="1"/>
          </p:cNvPicPr>
          <p:nvPr/>
        </p:nvPicPr>
        <p:blipFill>
          <a:blip r:embed="rId4"/>
          <a:stretch>
            <a:fillRect/>
          </a:stretch>
        </p:blipFill>
        <p:spPr>
          <a:xfrm>
            <a:off x="9777653" y="4364101"/>
            <a:ext cx="128699" cy="187198"/>
          </a:xfrm>
          <a:prstGeom prst="rect">
            <a:avLst/>
          </a:prstGeom>
        </p:spPr>
      </p:pic>
      <p:pic>
        <p:nvPicPr>
          <p:cNvPr id="162" name="Picture 161" descr="lock.png"/>
          <p:cNvPicPr>
            <a:picLocks noChangeAspect="1"/>
          </p:cNvPicPr>
          <p:nvPr/>
        </p:nvPicPr>
        <p:blipFill>
          <a:blip r:embed="rId4"/>
          <a:stretch>
            <a:fillRect/>
          </a:stretch>
        </p:blipFill>
        <p:spPr>
          <a:xfrm>
            <a:off x="5188722" y="4707001"/>
            <a:ext cx="128699" cy="187198"/>
          </a:xfrm>
          <a:prstGeom prst="rect">
            <a:avLst/>
          </a:prstGeom>
        </p:spPr>
      </p:pic>
      <p:pic>
        <p:nvPicPr>
          <p:cNvPr id="163" name="Picture 162" descr="lock.png"/>
          <p:cNvPicPr>
            <a:picLocks noChangeAspect="1"/>
          </p:cNvPicPr>
          <p:nvPr/>
        </p:nvPicPr>
        <p:blipFill>
          <a:blip r:embed="rId4"/>
          <a:stretch>
            <a:fillRect/>
          </a:stretch>
        </p:blipFill>
        <p:spPr>
          <a:xfrm>
            <a:off x="9777653" y="4707001"/>
            <a:ext cx="128699" cy="187198"/>
          </a:xfrm>
          <a:prstGeom prst="rect">
            <a:avLst/>
          </a:prstGeom>
        </p:spPr>
      </p:pic>
      <p:pic>
        <p:nvPicPr>
          <p:cNvPr id="164" name="Picture 163" descr="lock.png"/>
          <p:cNvPicPr>
            <a:picLocks noChangeAspect="1"/>
          </p:cNvPicPr>
          <p:nvPr/>
        </p:nvPicPr>
        <p:blipFill>
          <a:blip r:embed="rId4"/>
          <a:stretch>
            <a:fillRect/>
          </a:stretch>
        </p:blipFill>
        <p:spPr>
          <a:xfrm>
            <a:off x="5188722" y="5049901"/>
            <a:ext cx="128699" cy="187198"/>
          </a:xfrm>
          <a:prstGeom prst="rect">
            <a:avLst/>
          </a:prstGeom>
        </p:spPr>
      </p:pic>
      <p:pic>
        <p:nvPicPr>
          <p:cNvPr id="165" name="Picture 164" descr="lock.png"/>
          <p:cNvPicPr>
            <a:picLocks noChangeAspect="1"/>
          </p:cNvPicPr>
          <p:nvPr/>
        </p:nvPicPr>
        <p:blipFill>
          <a:blip r:embed="rId4"/>
          <a:stretch>
            <a:fillRect/>
          </a:stretch>
        </p:blipFill>
        <p:spPr>
          <a:xfrm>
            <a:off x="8158030" y="5049901"/>
            <a:ext cx="128699" cy="187198"/>
          </a:xfrm>
          <a:prstGeom prst="rect">
            <a:avLst/>
          </a:prstGeom>
        </p:spPr>
      </p:pic>
      <p:pic>
        <p:nvPicPr>
          <p:cNvPr id="166" name="Picture 165" descr="lock.png"/>
          <p:cNvPicPr>
            <a:picLocks noChangeAspect="1"/>
          </p:cNvPicPr>
          <p:nvPr/>
        </p:nvPicPr>
        <p:blipFill>
          <a:blip r:embed="rId4"/>
          <a:stretch>
            <a:fillRect/>
          </a:stretch>
        </p:blipFill>
        <p:spPr>
          <a:xfrm>
            <a:off x="9777653" y="5049901"/>
            <a:ext cx="128699" cy="187198"/>
          </a:xfrm>
          <a:prstGeom prst="rect">
            <a:avLst/>
          </a:prstGeom>
        </p:spPr>
      </p:pic>
      <p:pic>
        <p:nvPicPr>
          <p:cNvPr id="167" name="Picture 166" descr="lock.png"/>
          <p:cNvPicPr>
            <a:picLocks noChangeAspect="1"/>
          </p:cNvPicPr>
          <p:nvPr/>
        </p:nvPicPr>
        <p:blipFill>
          <a:blip r:embed="rId4"/>
          <a:stretch>
            <a:fillRect/>
          </a:stretch>
        </p:blipFill>
        <p:spPr>
          <a:xfrm>
            <a:off x="5188722" y="5392801"/>
            <a:ext cx="128699" cy="187198"/>
          </a:xfrm>
          <a:prstGeom prst="rect">
            <a:avLst/>
          </a:prstGeom>
        </p:spPr>
      </p:pic>
      <p:pic>
        <p:nvPicPr>
          <p:cNvPr id="168" name="Picture 167" descr="lock.png"/>
          <p:cNvPicPr>
            <a:picLocks noChangeAspect="1"/>
          </p:cNvPicPr>
          <p:nvPr/>
        </p:nvPicPr>
        <p:blipFill>
          <a:blip r:embed="rId4"/>
          <a:stretch>
            <a:fillRect/>
          </a:stretch>
        </p:blipFill>
        <p:spPr>
          <a:xfrm>
            <a:off x="9777653" y="5392801"/>
            <a:ext cx="128699" cy="187198"/>
          </a:xfrm>
          <a:prstGeom prst="rect">
            <a:avLst/>
          </a:prstGeom>
        </p:spPr>
      </p:pic>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Success Factors and Composite Ranking</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Five weighted success factors and the composite ranking they produce</a:t>
            </a:r>
          </a:p>
        </p:txBody>
      </p:sp>
      <p:sp>
        <p:nvSpPr>
          <p:cNvPr id="10" name="TextBox 9"/>
          <p:cNvSpPr txBox="1"/>
          <p:nvPr/>
        </p:nvSpPr>
        <p:spPr>
          <a:xfrm>
            <a:off x="21336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1. Segment breadth</a:t>
            </a:r>
          </a:p>
        </p:txBody>
      </p:sp>
      <p:sp>
        <p:nvSpPr>
          <p:cNvPr id="11" name="TextBox 10"/>
          <p:cNvSpPr txBox="1"/>
          <p:nvPr/>
        </p:nvSpPr>
        <p:spPr>
          <a:xfrm>
            <a:off x="21336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2" name="TextBox 11"/>
          <p:cNvSpPr txBox="1"/>
          <p:nvPr/>
        </p:nvSpPr>
        <p:spPr>
          <a:xfrm>
            <a:off x="21336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Lead or be active in several sub-segments</a:t>
            </a:r>
          </a:p>
        </p:txBody>
      </p:sp>
      <p:sp>
        <p:nvSpPr>
          <p:cNvPr id="13" name="TextBox 12"/>
          <p:cNvSpPr txBox="1"/>
          <p:nvPr/>
        </p:nvSpPr>
        <p:spPr>
          <a:xfrm>
            <a:off x="37909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2. Scale and share</a:t>
            </a:r>
          </a:p>
        </p:txBody>
      </p:sp>
      <p:sp>
        <p:nvSpPr>
          <p:cNvPr id="14" name="TextBox 13"/>
          <p:cNvSpPr txBox="1"/>
          <p:nvPr/>
        </p:nvSpPr>
        <p:spPr>
          <a:xfrm>
            <a:off x="37909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5" name="TextBox 14"/>
          <p:cNvSpPr txBox="1"/>
          <p:nvPr/>
        </p:nvSpPr>
        <p:spPr>
          <a:xfrm>
            <a:off x="37909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Tier position and share of market value</a:t>
            </a:r>
          </a:p>
        </p:txBody>
      </p:sp>
      <p:sp>
        <p:nvSpPr>
          <p:cNvPr id="16" name="TextBox 15"/>
          <p:cNvSpPr txBox="1"/>
          <p:nvPr/>
        </p:nvSpPr>
        <p:spPr>
          <a:xfrm>
            <a:off x="54483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3. Geographic reach</a:t>
            </a:r>
          </a:p>
        </p:txBody>
      </p:sp>
      <p:sp>
        <p:nvSpPr>
          <p:cNvPr id="17" name="TextBox 16"/>
          <p:cNvSpPr txBox="1"/>
          <p:nvPr/>
        </p:nvSpPr>
        <p:spPr>
          <a:xfrm>
            <a:off x="54483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18" name="TextBox 17"/>
          <p:cNvSpPr txBox="1"/>
          <p:nvPr/>
        </p:nvSpPr>
        <p:spPr>
          <a:xfrm>
            <a:off x="54483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Global, regional or single-market footprint</a:t>
            </a:r>
          </a:p>
        </p:txBody>
      </p:sp>
      <p:sp>
        <p:nvSpPr>
          <p:cNvPr id="19" name="TextBox 18"/>
          <p:cNvSpPr txBox="1"/>
          <p:nvPr/>
        </p:nvSpPr>
        <p:spPr>
          <a:xfrm>
            <a:off x="710565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4. Innovation pipeline</a:t>
            </a:r>
          </a:p>
        </p:txBody>
      </p:sp>
      <p:sp>
        <p:nvSpPr>
          <p:cNvPr id="20" name="TextBox 19"/>
          <p:cNvSpPr txBox="1"/>
          <p:nvPr/>
        </p:nvSpPr>
        <p:spPr>
          <a:xfrm>
            <a:off x="710565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1" name="TextBox 20"/>
          <p:cNvSpPr txBox="1"/>
          <p:nvPr/>
        </p:nvSpPr>
        <p:spPr>
          <a:xfrm>
            <a:off x="710565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R&amp;D and product development in motion</a:t>
            </a:r>
          </a:p>
        </p:txBody>
      </p:sp>
      <p:sp>
        <p:nvSpPr>
          <p:cNvPr id="22" name="TextBox 21"/>
          <p:cNvSpPr txBox="1"/>
          <p:nvPr/>
        </p:nvSpPr>
        <p:spPr>
          <a:xfrm>
            <a:off x="8763000" y="1047750"/>
            <a:ext cx="1581150" cy="171450"/>
          </a:xfrm>
          <a:prstGeom prst="rect">
            <a:avLst/>
          </a:prstGeom>
          <a:noFill/>
        </p:spPr>
        <p:txBody>
          <a:bodyPr wrap="square" lIns="28575" rIns="28575" tIns="9525" bIns="9525" anchor="t">
            <a:spAutoFit/>
          </a:bodyPr>
          <a:lstStyle/>
          <a:p>
            <a:pPr algn="l"/>
            <a:r>
              <a:rPr sz="1100" b="1">
                <a:solidFill>
                  <a:srgbClr val="0F2D52"/>
                </a:solidFill>
                <a:latin typeface="Calibri"/>
              </a:rPr>
              <a:t>5. Strategic momentum</a:t>
            </a:r>
          </a:p>
        </p:txBody>
      </p:sp>
      <p:sp>
        <p:nvSpPr>
          <p:cNvPr id="23" name="TextBox 22"/>
          <p:cNvSpPr txBox="1"/>
          <p:nvPr/>
        </p:nvSpPr>
        <p:spPr>
          <a:xfrm>
            <a:off x="8763000" y="1209675"/>
            <a:ext cx="1581150" cy="190500"/>
          </a:xfrm>
          <a:prstGeom prst="rect">
            <a:avLst/>
          </a:prstGeom>
          <a:noFill/>
        </p:spPr>
        <p:txBody>
          <a:bodyPr wrap="square" lIns="28575" rIns="28575" tIns="9525" bIns="9525" anchor="t">
            <a:spAutoFit/>
          </a:bodyPr>
          <a:lstStyle/>
          <a:p>
            <a:pPr algn="l"/>
            <a:r>
              <a:rPr sz="1100" b="1">
                <a:solidFill>
                  <a:srgbClr val="1F2933"/>
                </a:solidFill>
                <a:latin typeface="Calibri"/>
              </a:rPr>
              <a:t/>
            </a:r>
          </a:p>
        </p:txBody>
      </p:sp>
      <p:sp>
        <p:nvSpPr>
          <p:cNvPr id="24" name="TextBox 23"/>
          <p:cNvSpPr txBox="1"/>
          <p:nvPr/>
        </p:nvSpPr>
        <p:spPr>
          <a:xfrm>
            <a:off x="8763000" y="1371600"/>
            <a:ext cx="1581150" cy="34290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Number of active strategic moves</a:t>
            </a:r>
          </a:p>
        </p:txBody>
      </p:sp>
      <p:sp>
        <p:nvSpPr>
          <p:cNvPr id="25" name="TextBox 24"/>
          <p:cNvSpPr txBox="1"/>
          <p:nvPr/>
        </p:nvSpPr>
        <p:spPr>
          <a:xfrm>
            <a:off x="10420350" y="1047750"/>
            <a:ext cx="1619250" cy="171450"/>
          </a:xfrm>
          <a:prstGeom prst="rect">
            <a:avLst/>
          </a:prstGeom>
          <a:noFill/>
        </p:spPr>
        <p:txBody>
          <a:bodyPr wrap="square" lIns="28575" rIns="28575" tIns="9525" bIns="9525" anchor="t">
            <a:spAutoFit/>
          </a:bodyPr>
          <a:lstStyle/>
          <a:p>
            <a:pPr algn="l"/>
            <a:r>
              <a:rPr sz="1100" b="1">
                <a:solidFill>
                  <a:srgbClr val="0F2D52"/>
                </a:solidFill>
                <a:latin typeface="Calibri"/>
              </a:rPr>
              <a:t>Composite</a:t>
            </a:r>
          </a:p>
        </p:txBody>
      </p:sp>
      <p:sp>
        <p:nvSpPr>
          <p:cNvPr id="26" name="TextBox 25"/>
          <p:cNvSpPr txBox="1"/>
          <p:nvPr/>
        </p:nvSpPr>
        <p:spPr>
          <a:xfrm>
            <a:off x="10420350" y="1219200"/>
            <a:ext cx="1619250" cy="152400"/>
          </a:xfrm>
          <a:prstGeom prst="rect">
            <a:avLst/>
          </a:prstGeom>
          <a:noFill/>
        </p:spPr>
        <p:txBody>
          <a:bodyPr wrap="square" lIns="28575" rIns="28575" tIns="9525" bIns="9525" anchor="t">
            <a:spAutoFit/>
          </a:bodyPr>
          <a:lstStyle/>
          <a:p>
            <a:pPr algn="l"/>
            <a:r>
              <a:rPr sz="1100" b="0">
                <a:solidFill>
                  <a:srgbClr val="1F2933"/>
                </a:solidFill>
                <a:latin typeface="Calibri"/>
              </a:rPr>
              <a:t>weighted 0 to 3</a:t>
            </a:r>
          </a:p>
        </p:txBody>
      </p:sp>
      <p:cxnSp>
        <p:nvCxnSpPr>
          <p:cNvPr id="27" name="Connector 26"/>
          <p:cNvCxnSpPr/>
          <p:nvPr/>
        </p:nvCxnSpPr>
        <p:spPr>
          <a:xfrm>
            <a:off x="190500" y="1752600"/>
            <a:ext cx="11811000" cy="0"/>
          </a:xfrm>
          <a:prstGeom prst="line">
            <a:avLst/>
          </a:prstGeom>
          <a:ln w="1270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90500" y="18478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1809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TransMedics</a:t>
            </a:r>
          </a:p>
        </p:txBody>
      </p:sp>
      <p:sp>
        <p:nvSpPr>
          <p:cNvPr id="30" name="Oval 29"/>
          <p:cNvSpPr/>
          <p:nvPr/>
        </p:nvSpPr>
        <p:spPr>
          <a:xfrm>
            <a:off x="284797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292417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0532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626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820025" y="1885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896225" y="1885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477375" y="1885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420350" y="1895475"/>
            <a:ext cx="9715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430000" y="1809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39" name="Connector 38"/>
          <p:cNvCxnSpPr/>
          <p:nvPr/>
        </p:nvCxnSpPr>
        <p:spPr>
          <a:xfrm>
            <a:off x="190500" y="2114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90500" y="21526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5750" y="2114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OrganOx</a:t>
            </a:r>
          </a:p>
        </p:txBody>
      </p:sp>
      <p:sp>
        <p:nvSpPr>
          <p:cNvPr id="42" name="Oval 41"/>
          <p:cNvSpPr/>
          <p:nvPr/>
        </p:nvSpPr>
        <p:spPr>
          <a:xfrm>
            <a:off x="2847975" y="2190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924175" y="2190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5053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626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782002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477375" y="2190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420350" y="2200275"/>
            <a:ext cx="9144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372850" y="2114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50" name="Connector 49"/>
          <p:cNvCxnSpPr/>
          <p:nvPr/>
        </p:nvCxnSpPr>
        <p:spPr>
          <a:xfrm>
            <a:off x="190500" y="2419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90500" y="24574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5750" y="2419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Paragonix Technologies</a:t>
            </a:r>
          </a:p>
        </p:txBody>
      </p:sp>
      <p:sp>
        <p:nvSpPr>
          <p:cNvPr id="53" name="Oval 52"/>
          <p:cNvSpPr/>
          <p:nvPr/>
        </p:nvSpPr>
        <p:spPr>
          <a:xfrm>
            <a:off x="2847975" y="2495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2924175" y="2495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5053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1626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82002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9477375" y="2495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420350" y="2505075"/>
            <a:ext cx="9144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372850" y="2419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61" name="Connector 60"/>
          <p:cNvCxnSpPr/>
          <p:nvPr/>
        </p:nvCxnSpPr>
        <p:spPr>
          <a:xfrm>
            <a:off x="190500" y="2724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90500" y="2762250"/>
            <a:ext cx="38100" cy="2286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5750" y="2724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XVIVO Perfusion</a:t>
            </a:r>
          </a:p>
        </p:txBody>
      </p:sp>
      <p:sp>
        <p:nvSpPr>
          <p:cNvPr id="64" name="Oval 63"/>
          <p:cNvSpPr/>
          <p:nvPr/>
        </p:nvSpPr>
        <p:spPr>
          <a:xfrm>
            <a:off x="284797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2924175" y="2800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50532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1626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820025" y="2800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7896225" y="2800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9477375" y="2800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420350" y="2809875"/>
            <a:ext cx="8572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315700" y="2724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73" name="Connector 72"/>
          <p:cNvCxnSpPr/>
          <p:nvPr/>
        </p:nvCxnSpPr>
        <p:spPr>
          <a:xfrm>
            <a:off x="190500" y="3028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0670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5750" y="3028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IGL Group / Waters Medical Systems</a:t>
            </a:r>
          </a:p>
        </p:txBody>
      </p:sp>
      <p:sp>
        <p:nvSpPr>
          <p:cNvPr id="76" name="Oval 75"/>
          <p:cNvSpPr/>
          <p:nvPr/>
        </p:nvSpPr>
        <p:spPr>
          <a:xfrm>
            <a:off x="28479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2924175" y="3105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50532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458152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162675" y="3105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6238875" y="3105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82002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477375" y="3105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420350" y="3114675"/>
            <a:ext cx="7620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220450" y="3028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86" name="Connector 85"/>
          <p:cNvCxnSpPr/>
          <p:nvPr/>
        </p:nvCxnSpPr>
        <p:spPr>
          <a:xfrm>
            <a:off x="190500" y="3333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190500" y="33718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85750" y="33337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Traferox Technologies</a:t>
            </a:r>
          </a:p>
        </p:txBody>
      </p:sp>
      <p:sp>
        <p:nvSpPr>
          <p:cNvPr id="89" name="Oval 88"/>
          <p:cNvSpPr/>
          <p:nvPr/>
        </p:nvSpPr>
        <p:spPr>
          <a:xfrm>
            <a:off x="28479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2924175" y="34099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450532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4581525" y="34099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6162675" y="34099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Freeform 93"/>
          <p:cNvSpPr/>
          <p:nvPr/>
        </p:nvSpPr>
        <p:spPr>
          <a:xfrm>
            <a:off x="6238875" y="34099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782002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477375" y="34099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420350" y="3419475"/>
            <a:ext cx="7239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1182350" y="33337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99" name="Connector 98"/>
          <p:cNvCxnSpPr/>
          <p:nvPr/>
        </p:nvCxnSpPr>
        <p:spPr>
          <a:xfrm>
            <a:off x="190500" y="36385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190500" y="3676650"/>
            <a:ext cx="38100" cy="2286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5750" y="36385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Organ Recovery Systems</a:t>
            </a:r>
          </a:p>
        </p:txBody>
      </p:sp>
      <p:sp>
        <p:nvSpPr>
          <p:cNvPr id="102" name="Oval 101"/>
          <p:cNvSpPr/>
          <p:nvPr/>
        </p:nvSpPr>
        <p:spPr>
          <a:xfrm>
            <a:off x="28479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Freeform 102"/>
          <p:cNvSpPr/>
          <p:nvPr/>
        </p:nvSpPr>
        <p:spPr>
          <a:xfrm>
            <a:off x="2924175" y="37147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5053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Freeform 104"/>
          <p:cNvSpPr/>
          <p:nvPr/>
        </p:nvSpPr>
        <p:spPr>
          <a:xfrm>
            <a:off x="458152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16267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Freeform 106"/>
          <p:cNvSpPr/>
          <p:nvPr/>
        </p:nvSpPr>
        <p:spPr>
          <a:xfrm>
            <a:off x="623887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820025" y="37147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7896225" y="37147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477375" y="37147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420350" y="3724275"/>
            <a:ext cx="7048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1163300" y="36385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13" name="Connector 112"/>
          <p:cNvCxnSpPr/>
          <p:nvPr/>
        </p:nvCxnSpPr>
        <p:spPr>
          <a:xfrm>
            <a:off x="190500" y="39433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4" name="Rectangle 113"/>
          <p:cNvSpPr/>
          <p:nvPr/>
        </p:nvSpPr>
        <p:spPr>
          <a:xfrm>
            <a:off x="190500" y="39814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5750" y="39433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Aferetica</a:t>
            </a:r>
          </a:p>
        </p:txBody>
      </p:sp>
      <p:sp>
        <p:nvSpPr>
          <p:cNvPr id="116" name="Oval 115"/>
          <p:cNvSpPr/>
          <p:nvPr/>
        </p:nvSpPr>
        <p:spPr>
          <a:xfrm>
            <a:off x="28479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Freeform 116"/>
          <p:cNvSpPr/>
          <p:nvPr/>
        </p:nvSpPr>
        <p:spPr>
          <a:xfrm>
            <a:off x="29241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450532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Freeform 118"/>
          <p:cNvSpPr/>
          <p:nvPr/>
        </p:nvSpPr>
        <p:spPr>
          <a:xfrm>
            <a:off x="458152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6162675" y="40195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Freeform 120"/>
          <p:cNvSpPr/>
          <p:nvPr/>
        </p:nvSpPr>
        <p:spPr>
          <a:xfrm>
            <a:off x="6238875" y="40195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82002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477375" y="40195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420350" y="4029075"/>
            <a:ext cx="60960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068050" y="39433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26" name="Connector 125"/>
          <p:cNvCxnSpPr/>
          <p:nvPr/>
        </p:nvCxnSpPr>
        <p:spPr>
          <a:xfrm>
            <a:off x="190500" y="42481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7" name="Rectangle 126"/>
          <p:cNvSpPr/>
          <p:nvPr/>
        </p:nvSpPr>
        <p:spPr>
          <a:xfrm>
            <a:off x="190500" y="42862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85750" y="42481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Bridge to Life</a:t>
            </a:r>
          </a:p>
        </p:txBody>
      </p:sp>
      <p:sp>
        <p:nvSpPr>
          <p:cNvPr id="129" name="Oval 128"/>
          <p:cNvSpPr/>
          <p:nvPr/>
        </p:nvSpPr>
        <p:spPr>
          <a:xfrm>
            <a:off x="28479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Freeform 129"/>
          <p:cNvSpPr/>
          <p:nvPr/>
        </p:nvSpPr>
        <p:spPr>
          <a:xfrm>
            <a:off x="29241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45053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Freeform 131"/>
          <p:cNvSpPr/>
          <p:nvPr/>
        </p:nvSpPr>
        <p:spPr>
          <a:xfrm>
            <a:off x="458152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616267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reeform 133"/>
          <p:cNvSpPr/>
          <p:nvPr/>
        </p:nvSpPr>
        <p:spPr>
          <a:xfrm>
            <a:off x="6238875" y="43243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7820025" y="43243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Freeform 135"/>
          <p:cNvSpPr/>
          <p:nvPr/>
        </p:nvSpPr>
        <p:spPr>
          <a:xfrm>
            <a:off x="7896225" y="43243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477375" y="43243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420350" y="4333875"/>
            <a:ext cx="5524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1010900" y="42481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40" name="Connector 139"/>
          <p:cNvCxnSpPr/>
          <p:nvPr/>
        </p:nvCxnSpPr>
        <p:spPr>
          <a:xfrm>
            <a:off x="190500" y="45529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41" name="Rectangle 140"/>
          <p:cNvSpPr/>
          <p:nvPr/>
        </p:nvSpPr>
        <p:spPr>
          <a:xfrm>
            <a:off x="190500" y="4591050"/>
            <a:ext cx="38100" cy="228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85750" y="4552950"/>
            <a:ext cx="1809750" cy="304800"/>
          </a:xfrm>
          <a:prstGeom prst="rect">
            <a:avLst/>
          </a:prstGeom>
          <a:noFill/>
        </p:spPr>
        <p:txBody>
          <a:bodyPr wrap="square" lIns="28575" rIns="28575" tIns="9525" bIns="9525" anchor="ctr">
            <a:spAutoFit/>
          </a:bodyPr>
          <a:lstStyle/>
          <a:p>
            <a:pPr algn="l"/>
            <a:r>
              <a:rPr sz="1100" b="1">
                <a:solidFill>
                  <a:srgbClr val="1F2933"/>
                </a:solidFill>
                <a:latin typeface="Calibri"/>
              </a:rPr>
              <a:t>EBERS Medical Technology</a:t>
            </a:r>
          </a:p>
        </p:txBody>
      </p:sp>
      <p:sp>
        <p:nvSpPr>
          <p:cNvPr id="143" name="Oval 142"/>
          <p:cNvSpPr/>
          <p:nvPr/>
        </p:nvSpPr>
        <p:spPr>
          <a:xfrm>
            <a:off x="28479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Freeform 143"/>
          <p:cNvSpPr/>
          <p:nvPr/>
        </p:nvSpPr>
        <p:spPr>
          <a:xfrm>
            <a:off x="29241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45053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Freeform 145"/>
          <p:cNvSpPr/>
          <p:nvPr/>
        </p:nvSpPr>
        <p:spPr>
          <a:xfrm>
            <a:off x="458152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616267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6238875" y="4629150"/>
            <a:ext cx="76200" cy="76200"/>
          </a:xfrm>
          <a:custGeom>
            <a:avLst/>
            <a:gdLst/>
            <a:ahLst/>
            <a:cxnLst/>
            <a:rect l="l" t="t" r="r" b="b"/>
            <a:pathLst>
              <a:path w="8" h="8">
                <a:moveTo>
                  <a:pt x="0" y="8"/>
                </a:moveTo>
                <a:lnTo>
                  <a:pt x="0" y="0"/>
                </a:lnTo>
                <a:lnTo>
                  <a:pt x="1" y="0"/>
                </a:lnTo>
                <a:lnTo>
                  <a:pt x="3" y="0"/>
                </a:lnTo>
                <a:lnTo>
                  <a:pt x="4" y="1"/>
                </a:lnTo>
                <a:lnTo>
                  <a:pt x="5" y="2"/>
                </a:lnTo>
                <a:lnTo>
                  <a:pt x="6" y="3"/>
                </a:lnTo>
                <a:lnTo>
                  <a:pt x="7" y="4"/>
                </a:lnTo>
                <a:lnTo>
                  <a:pt x="8" y="5"/>
                </a:lnTo>
                <a:lnTo>
                  <a:pt x="8" y="7"/>
                </a:lnTo>
                <a:lnTo>
                  <a:pt x="8" y="8"/>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7820025" y="4629150"/>
            <a:ext cx="152400" cy="15240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Freeform 149"/>
          <p:cNvSpPr/>
          <p:nvPr/>
        </p:nvSpPr>
        <p:spPr>
          <a:xfrm>
            <a:off x="7896225" y="4629150"/>
            <a:ext cx="76200" cy="152400"/>
          </a:xfrm>
          <a:custGeom>
            <a:avLst/>
            <a:gdLst/>
            <a:ahLst/>
            <a:cxnLst/>
            <a:rect l="l" t="t" r="r" b="b"/>
            <a:pathLst>
              <a:path w="8" h="16">
                <a:moveTo>
                  <a:pt x="0" y="8"/>
                </a:moveTo>
                <a:lnTo>
                  <a:pt x="0" y="0"/>
                </a:lnTo>
                <a:lnTo>
                  <a:pt x="1" y="0"/>
                </a:lnTo>
                <a:lnTo>
                  <a:pt x="3" y="0"/>
                </a:lnTo>
                <a:lnTo>
                  <a:pt x="4" y="1"/>
                </a:lnTo>
                <a:lnTo>
                  <a:pt x="5" y="2"/>
                </a:lnTo>
                <a:lnTo>
                  <a:pt x="6" y="3"/>
                </a:lnTo>
                <a:lnTo>
                  <a:pt x="7" y="4"/>
                </a:lnTo>
                <a:lnTo>
                  <a:pt x="8" y="5"/>
                </a:lnTo>
                <a:lnTo>
                  <a:pt x="8" y="7"/>
                </a:lnTo>
                <a:lnTo>
                  <a:pt x="8" y="8"/>
                </a:lnTo>
                <a:lnTo>
                  <a:pt x="8" y="9"/>
                </a:lnTo>
                <a:lnTo>
                  <a:pt x="8" y="11"/>
                </a:lnTo>
                <a:lnTo>
                  <a:pt x="7" y="12"/>
                </a:lnTo>
                <a:lnTo>
                  <a:pt x="6" y="13"/>
                </a:lnTo>
                <a:lnTo>
                  <a:pt x="5" y="14"/>
                </a:lnTo>
                <a:lnTo>
                  <a:pt x="4" y="15"/>
                </a:lnTo>
                <a:lnTo>
                  <a:pt x="3" y="16"/>
                </a:lnTo>
                <a:lnTo>
                  <a:pt x="1" y="16"/>
                </a:lnTo>
                <a:lnTo>
                  <a:pt x="0" y="16"/>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9477375" y="4629150"/>
            <a:ext cx="152400" cy="15240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0420350" y="4638675"/>
            <a:ext cx="552450" cy="13335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1010900" y="4552950"/>
            <a:ext cx="419100" cy="304800"/>
          </a:xfrm>
          <a:prstGeom prst="rect">
            <a:avLst/>
          </a:prstGeom>
          <a:noFill/>
        </p:spPr>
        <p:txBody>
          <a:bodyPr wrap="none" lIns="0" rIns="0" tIns="0" bIns="0" anchor="ctr">
            <a:spAutoFit/>
          </a:bodyPr>
          <a:lstStyle/>
          <a:p>
            <a:pPr algn="l"/>
            <a:r>
              <a:rPr sz="1100" b="1">
                <a:solidFill>
                  <a:srgbClr val="1F2933"/>
                </a:solidFill>
                <a:latin typeface="Calibri"/>
              </a:rPr>
              <a:t> </a:t>
            </a:r>
          </a:p>
        </p:txBody>
      </p:sp>
      <p:cxnSp>
        <p:nvCxnSpPr>
          <p:cNvPr id="154" name="Connector 153"/>
          <p:cNvCxnSpPr/>
          <p:nvPr/>
        </p:nvCxnSpPr>
        <p:spPr>
          <a:xfrm>
            <a:off x="190500" y="485775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55" name="Oval 154"/>
          <p:cNvSpPr/>
          <p:nvPr/>
        </p:nvSpPr>
        <p:spPr>
          <a:xfrm>
            <a:off x="200025" y="4933950"/>
            <a:ext cx="133350" cy="133350"/>
          </a:xfrm>
          <a:prstGeom prst="ellipse">
            <a:avLst/>
          </a:prstGeom>
          <a:solidFill>
            <a:srgbClr val="0F2D52"/>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38100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Strong, direct evidence</a:t>
            </a:r>
          </a:p>
        </p:txBody>
      </p:sp>
      <p:sp>
        <p:nvSpPr>
          <p:cNvPr id="157" name="Oval 156"/>
          <p:cNvSpPr/>
          <p:nvPr/>
        </p:nvSpPr>
        <p:spPr>
          <a:xfrm>
            <a:off x="2065020"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Freeform 157"/>
          <p:cNvSpPr/>
          <p:nvPr/>
        </p:nvSpPr>
        <p:spPr>
          <a:xfrm>
            <a:off x="2133600" y="4933950"/>
            <a:ext cx="66675" cy="133350"/>
          </a:xfrm>
          <a:custGeom>
            <a:avLst/>
            <a:gdLst/>
            <a:ahLst/>
            <a:cxnLst/>
            <a:rect l="l" t="t" r="r" b="b"/>
            <a:pathLst>
              <a:path w="7" h="14">
                <a:moveTo>
                  <a:pt x="0" y="7"/>
                </a:moveTo>
                <a:lnTo>
                  <a:pt x="0" y="0"/>
                </a:lnTo>
                <a:lnTo>
                  <a:pt x="1" y="0"/>
                </a:lnTo>
                <a:lnTo>
                  <a:pt x="2" y="0"/>
                </a:lnTo>
                <a:lnTo>
                  <a:pt x="3" y="1"/>
                </a:lnTo>
                <a:lnTo>
                  <a:pt x="4" y="2"/>
                </a:lnTo>
                <a:lnTo>
                  <a:pt x="5" y="3"/>
                </a:lnTo>
                <a:lnTo>
                  <a:pt x="6" y="4"/>
                </a:lnTo>
                <a:lnTo>
                  <a:pt x="6" y="5"/>
                </a:lnTo>
                <a:lnTo>
                  <a:pt x="7" y="6"/>
                </a:lnTo>
                <a:lnTo>
                  <a:pt x="7" y="7"/>
                </a:lnTo>
                <a:lnTo>
                  <a:pt x="7" y="8"/>
                </a:lnTo>
                <a:lnTo>
                  <a:pt x="6" y="9"/>
                </a:lnTo>
                <a:lnTo>
                  <a:pt x="6" y="10"/>
                </a:lnTo>
                <a:lnTo>
                  <a:pt x="5" y="11"/>
                </a:lnTo>
                <a:lnTo>
                  <a:pt x="4" y="12"/>
                </a:lnTo>
                <a:lnTo>
                  <a:pt x="3" y="13"/>
                </a:lnTo>
                <a:lnTo>
                  <a:pt x="2" y="14"/>
                </a:lnTo>
                <a:lnTo>
                  <a:pt x="1" y="14"/>
                </a:lnTo>
                <a:lnTo>
                  <a:pt x="0" y="14"/>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2245995"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Moderate or partial</a:t>
            </a:r>
          </a:p>
        </p:txBody>
      </p:sp>
      <p:sp>
        <p:nvSpPr>
          <p:cNvPr id="160" name="Oval 159"/>
          <p:cNvSpPr/>
          <p:nvPr/>
        </p:nvSpPr>
        <p:spPr>
          <a:xfrm>
            <a:off x="367855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Freeform 160"/>
          <p:cNvSpPr/>
          <p:nvPr/>
        </p:nvSpPr>
        <p:spPr>
          <a:xfrm>
            <a:off x="3743325" y="4933950"/>
            <a:ext cx="66675" cy="66675"/>
          </a:xfrm>
          <a:custGeom>
            <a:avLst/>
            <a:gdLst/>
            <a:ahLst/>
            <a:cxnLst/>
            <a:rect l="l" t="t" r="r" b="b"/>
            <a:pathLst>
              <a:path w="7" h="7">
                <a:moveTo>
                  <a:pt x="0" y="7"/>
                </a:moveTo>
                <a:lnTo>
                  <a:pt x="0" y="0"/>
                </a:lnTo>
                <a:lnTo>
                  <a:pt x="1" y="0"/>
                </a:lnTo>
                <a:lnTo>
                  <a:pt x="3" y="0"/>
                </a:lnTo>
                <a:lnTo>
                  <a:pt x="4" y="1"/>
                </a:lnTo>
                <a:lnTo>
                  <a:pt x="5" y="2"/>
                </a:lnTo>
                <a:lnTo>
                  <a:pt x="6" y="3"/>
                </a:lnTo>
                <a:lnTo>
                  <a:pt x="6" y="4"/>
                </a:lnTo>
                <a:lnTo>
                  <a:pt x="7" y="5"/>
                </a:lnTo>
                <a:lnTo>
                  <a:pt x="7" y="6"/>
                </a:lnTo>
                <a:lnTo>
                  <a:pt x="7" y="7"/>
                </a:lnTo>
                <a:close/>
              </a:path>
            </a:pathLst>
          </a:custGeom>
          <a:solidFill>
            <a:srgbClr val="0F2D52"/>
          </a:solidFill>
          <a:ln w="635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385953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Weak or indirect</a:t>
            </a:r>
          </a:p>
        </p:txBody>
      </p:sp>
      <p:sp>
        <p:nvSpPr>
          <p:cNvPr id="163" name="Oval 162"/>
          <p:cNvSpPr/>
          <p:nvPr/>
        </p:nvSpPr>
        <p:spPr>
          <a:xfrm>
            <a:off x="5103495" y="4933950"/>
            <a:ext cx="133350" cy="133350"/>
          </a:xfrm>
          <a:prstGeom prst="ellipse">
            <a:avLst/>
          </a:prstGeom>
          <a:solidFill>
            <a:srgbClr val="FFFFFF"/>
          </a:solidFill>
          <a:ln w="12700">
            <a:solidFill>
              <a:srgbClr val="0F2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5284470" y="4914900"/>
            <a:ext cx="1619250" cy="171450"/>
          </a:xfrm>
          <a:prstGeom prst="rect">
            <a:avLst/>
          </a:prstGeom>
          <a:noFill/>
        </p:spPr>
        <p:txBody>
          <a:bodyPr wrap="square" lIns="28575" rIns="28575" tIns="9525" bIns="9525" anchor="ctr">
            <a:spAutoFit/>
          </a:bodyPr>
          <a:lstStyle/>
          <a:p>
            <a:pPr algn="l"/>
            <a:r>
              <a:rPr sz="1100" b="0">
                <a:solidFill>
                  <a:srgbClr val="1F2933"/>
                </a:solidFill>
                <a:latin typeface="Calibri"/>
              </a:rPr>
              <a:t>None found</a:t>
            </a:r>
          </a:p>
        </p:txBody>
      </p:sp>
      <p:sp>
        <p:nvSpPr>
          <p:cNvPr id="165" name="TextBox 164"/>
          <p:cNvSpPr txBox="1"/>
          <p:nvPr/>
        </p:nvSpPr>
        <p:spPr>
          <a:xfrm>
            <a:off x="190500" y="5143500"/>
            <a:ext cx="2857500" cy="152400"/>
          </a:xfrm>
          <a:prstGeom prst="rect">
            <a:avLst/>
          </a:prstGeom>
          <a:noFill/>
        </p:spPr>
        <p:txBody>
          <a:bodyPr wrap="square" lIns="28575" rIns="28575" tIns="9525" bIns="9525" anchor="t">
            <a:spAutoFit/>
          </a:bodyPr>
          <a:lstStyle/>
          <a:p>
            <a:pPr algn="l"/>
            <a:r>
              <a:rPr sz="1100" b="1">
                <a:solidFill>
                  <a:srgbClr val="0F2D52"/>
                </a:solidFill>
                <a:latin typeface="Calibri"/>
              </a:rPr>
              <a:t>STRATEGIC GROUPS</a:t>
            </a:r>
          </a:p>
        </p:txBody>
      </p:sp>
      <p:sp>
        <p:nvSpPr>
          <p:cNvPr id="166" name="Rectangle 165"/>
          <p:cNvSpPr/>
          <p:nvPr/>
        </p:nvSpPr>
        <p:spPr>
          <a:xfrm>
            <a:off x="190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90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1</a:t>
            </a:r>
          </a:p>
        </p:txBody>
      </p:sp>
      <p:sp>
        <p:nvSpPr>
          <p:cNvPr id="168" name="TextBox 167"/>
          <p:cNvSpPr txBox="1"/>
          <p:nvPr/>
        </p:nvSpPr>
        <p:spPr>
          <a:xfrm>
            <a:off x="190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TransMedics, OrganOx, Paragonix Technologies, XVIVO Perfusion</a:t>
            </a:r>
          </a:p>
        </p:txBody>
      </p:sp>
      <p:sp>
        <p:nvSpPr>
          <p:cNvPr id="169" name="TextBox 168"/>
          <p:cNvSpPr txBox="1"/>
          <p:nvPr/>
        </p:nvSpPr>
        <p:spPr>
          <a:xfrm>
            <a:off x="190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scale and share; weakest on segment breadth.</a:t>
            </a:r>
          </a:p>
        </p:txBody>
      </p:sp>
      <p:sp>
        <p:nvSpPr>
          <p:cNvPr id="170" name="Rectangle 169"/>
          <p:cNvSpPr/>
          <p:nvPr/>
        </p:nvSpPr>
        <p:spPr>
          <a:xfrm>
            <a:off x="41910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41910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2</a:t>
            </a:r>
          </a:p>
        </p:txBody>
      </p:sp>
      <p:sp>
        <p:nvSpPr>
          <p:cNvPr id="172" name="TextBox 171"/>
          <p:cNvSpPr txBox="1"/>
          <p:nvPr/>
        </p:nvSpPr>
        <p:spPr>
          <a:xfrm>
            <a:off x="41910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IGL Group / Waters Medical Systems, Organ Recovery Systems</a:t>
            </a:r>
          </a:p>
        </p:txBody>
      </p:sp>
      <p:sp>
        <p:nvSpPr>
          <p:cNvPr id="173" name="TextBox 172"/>
          <p:cNvSpPr txBox="1"/>
          <p:nvPr/>
        </p:nvSpPr>
        <p:spPr>
          <a:xfrm>
            <a:off x="41910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segment breadth.</a:t>
            </a:r>
          </a:p>
        </p:txBody>
      </p:sp>
      <p:sp>
        <p:nvSpPr>
          <p:cNvPr id="174" name="Rectangle 173"/>
          <p:cNvSpPr/>
          <p:nvPr/>
        </p:nvSpPr>
        <p:spPr>
          <a:xfrm>
            <a:off x="8191500" y="5334000"/>
            <a:ext cx="3810000" cy="28575"/>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8191500" y="5391150"/>
            <a:ext cx="3810000" cy="171450"/>
          </a:xfrm>
          <a:prstGeom prst="rect">
            <a:avLst/>
          </a:prstGeom>
          <a:noFill/>
        </p:spPr>
        <p:txBody>
          <a:bodyPr wrap="square" lIns="28575" rIns="28575" tIns="9525" bIns="9525" anchor="t">
            <a:spAutoFit/>
          </a:bodyPr>
          <a:lstStyle/>
          <a:p>
            <a:pPr algn="l"/>
            <a:r>
              <a:rPr sz="1100" b="1">
                <a:solidFill>
                  <a:srgbClr val="1F2933"/>
                </a:solidFill>
                <a:latin typeface="Calibri"/>
              </a:rPr>
              <a:t>Tier 3</a:t>
            </a:r>
          </a:p>
        </p:txBody>
      </p:sp>
      <p:sp>
        <p:nvSpPr>
          <p:cNvPr id="176" name="TextBox 175"/>
          <p:cNvSpPr txBox="1"/>
          <p:nvPr/>
        </p:nvSpPr>
        <p:spPr>
          <a:xfrm>
            <a:off x="8191500" y="5562600"/>
            <a:ext cx="3810000" cy="3238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Traferox Technologies, Aferetica, Bridge to Life, EBERS Medical Technology</a:t>
            </a:r>
          </a:p>
        </p:txBody>
      </p:sp>
      <p:sp>
        <p:nvSpPr>
          <p:cNvPr id="177" name="TextBox 176"/>
          <p:cNvSpPr txBox="1"/>
          <p:nvPr/>
        </p:nvSpPr>
        <p:spPr>
          <a:xfrm>
            <a:off x="8191500" y="5924550"/>
            <a:ext cx="3810000" cy="34290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Wins on strategic momentum; weakest on scale and share.</a:t>
            </a:r>
          </a:p>
        </p:txBody>
      </p:sp>
      <p:sp>
        <p:nvSpPr>
          <p:cNvPr id="178" name="TextBox 17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79" name="Picture 178" descr="lock.png"/>
          <p:cNvPicPr>
            <a:picLocks noChangeAspect="1"/>
          </p:cNvPicPr>
          <p:nvPr/>
        </p:nvPicPr>
        <p:blipFill>
          <a:blip r:embed="rId4"/>
          <a:stretch>
            <a:fillRect/>
          </a:stretch>
        </p:blipFill>
        <p:spPr>
          <a:xfrm>
            <a:off x="11575200" y="1868551"/>
            <a:ext cx="128699" cy="187198"/>
          </a:xfrm>
          <a:prstGeom prst="rect">
            <a:avLst/>
          </a:prstGeom>
        </p:spPr>
      </p:pic>
      <p:pic>
        <p:nvPicPr>
          <p:cNvPr id="180" name="Picture 179" descr="lock.png"/>
          <p:cNvPicPr>
            <a:picLocks noChangeAspect="1"/>
          </p:cNvPicPr>
          <p:nvPr/>
        </p:nvPicPr>
        <p:blipFill>
          <a:blip r:embed="rId4"/>
          <a:stretch>
            <a:fillRect/>
          </a:stretch>
        </p:blipFill>
        <p:spPr>
          <a:xfrm>
            <a:off x="11518050" y="2173351"/>
            <a:ext cx="128699" cy="187198"/>
          </a:xfrm>
          <a:prstGeom prst="rect">
            <a:avLst/>
          </a:prstGeom>
        </p:spPr>
      </p:pic>
      <p:pic>
        <p:nvPicPr>
          <p:cNvPr id="181" name="Picture 180" descr="lock.png"/>
          <p:cNvPicPr>
            <a:picLocks noChangeAspect="1"/>
          </p:cNvPicPr>
          <p:nvPr/>
        </p:nvPicPr>
        <p:blipFill>
          <a:blip r:embed="rId4"/>
          <a:stretch>
            <a:fillRect/>
          </a:stretch>
        </p:blipFill>
        <p:spPr>
          <a:xfrm>
            <a:off x="11518050" y="2478151"/>
            <a:ext cx="128699" cy="187198"/>
          </a:xfrm>
          <a:prstGeom prst="rect">
            <a:avLst/>
          </a:prstGeom>
        </p:spPr>
      </p:pic>
      <p:pic>
        <p:nvPicPr>
          <p:cNvPr id="182" name="Picture 181" descr="lock.png"/>
          <p:cNvPicPr>
            <a:picLocks noChangeAspect="1"/>
          </p:cNvPicPr>
          <p:nvPr/>
        </p:nvPicPr>
        <p:blipFill>
          <a:blip r:embed="rId4"/>
          <a:stretch>
            <a:fillRect/>
          </a:stretch>
        </p:blipFill>
        <p:spPr>
          <a:xfrm>
            <a:off x="11460900" y="2782951"/>
            <a:ext cx="128699" cy="187198"/>
          </a:xfrm>
          <a:prstGeom prst="rect">
            <a:avLst/>
          </a:prstGeom>
        </p:spPr>
      </p:pic>
      <p:pic>
        <p:nvPicPr>
          <p:cNvPr id="183" name="Picture 182" descr="lock.png"/>
          <p:cNvPicPr>
            <a:picLocks noChangeAspect="1"/>
          </p:cNvPicPr>
          <p:nvPr/>
        </p:nvPicPr>
        <p:blipFill>
          <a:blip r:embed="rId4"/>
          <a:stretch>
            <a:fillRect/>
          </a:stretch>
        </p:blipFill>
        <p:spPr>
          <a:xfrm>
            <a:off x="11365650" y="3087751"/>
            <a:ext cx="128699" cy="187198"/>
          </a:xfrm>
          <a:prstGeom prst="rect">
            <a:avLst/>
          </a:prstGeom>
        </p:spPr>
      </p:pic>
      <p:pic>
        <p:nvPicPr>
          <p:cNvPr id="184" name="Picture 183" descr="lock.png"/>
          <p:cNvPicPr>
            <a:picLocks noChangeAspect="1"/>
          </p:cNvPicPr>
          <p:nvPr/>
        </p:nvPicPr>
        <p:blipFill>
          <a:blip r:embed="rId4"/>
          <a:stretch>
            <a:fillRect/>
          </a:stretch>
        </p:blipFill>
        <p:spPr>
          <a:xfrm>
            <a:off x="11327550" y="3392551"/>
            <a:ext cx="128699" cy="187198"/>
          </a:xfrm>
          <a:prstGeom prst="rect">
            <a:avLst/>
          </a:prstGeom>
        </p:spPr>
      </p:pic>
      <p:pic>
        <p:nvPicPr>
          <p:cNvPr id="185" name="Picture 184" descr="lock.png"/>
          <p:cNvPicPr>
            <a:picLocks noChangeAspect="1"/>
          </p:cNvPicPr>
          <p:nvPr/>
        </p:nvPicPr>
        <p:blipFill>
          <a:blip r:embed="rId4"/>
          <a:stretch>
            <a:fillRect/>
          </a:stretch>
        </p:blipFill>
        <p:spPr>
          <a:xfrm>
            <a:off x="11308500" y="3697351"/>
            <a:ext cx="128699" cy="187198"/>
          </a:xfrm>
          <a:prstGeom prst="rect">
            <a:avLst/>
          </a:prstGeom>
        </p:spPr>
      </p:pic>
      <p:pic>
        <p:nvPicPr>
          <p:cNvPr id="186" name="Picture 185" descr="lock.png"/>
          <p:cNvPicPr>
            <a:picLocks noChangeAspect="1"/>
          </p:cNvPicPr>
          <p:nvPr/>
        </p:nvPicPr>
        <p:blipFill>
          <a:blip r:embed="rId4"/>
          <a:stretch>
            <a:fillRect/>
          </a:stretch>
        </p:blipFill>
        <p:spPr>
          <a:xfrm>
            <a:off x="11213250" y="4002151"/>
            <a:ext cx="128699" cy="187198"/>
          </a:xfrm>
          <a:prstGeom prst="rect">
            <a:avLst/>
          </a:prstGeom>
        </p:spPr>
      </p:pic>
      <p:pic>
        <p:nvPicPr>
          <p:cNvPr id="187" name="Picture 186" descr="lock.png"/>
          <p:cNvPicPr>
            <a:picLocks noChangeAspect="1"/>
          </p:cNvPicPr>
          <p:nvPr/>
        </p:nvPicPr>
        <p:blipFill>
          <a:blip r:embed="rId4"/>
          <a:stretch>
            <a:fillRect/>
          </a:stretch>
        </p:blipFill>
        <p:spPr>
          <a:xfrm>
            <a:off x="11156100" y="4306951"/>
            <a:ext cx="128699" cy="187198"/>
          </a:xfrm>
          <a:prstGeom prst="rect">
            <a:avLst/>
          </a:prstGeom>
        </p:spPr>
      </p:pic>
      <p:pic>
        <p:nvPicPr>
          <p:cNvPr id="188" name="Picture 187" descr="lock.png"/>
          <p:cNvPicPr>
            <a:picLocks noChangeAspect="1"/>
          </p:cNvPicPr>
          <p:nvPr/>
        </p:nvPicPr>
        <p:blipFill>
          <a:blip r:embed="rId4"/>
          <a:stretch>
            <a:fillRect/>
          </a:stretch>
        </p:blipFill>
        <p:spPr>
          <a:xfrm>
            <a:off x="11156100" y="4611751"/>
            <a:ext cx="128699" cy="187198"/>
          </a:xfrm>
          <a:prstGeom prst="rect">
            <a:avLst/>
          </a:prstGeom>
        </p:spPr>
      </p:pic>
      <p:sp>
        <p:nvSpPr>
          <p:cNvPr id="189" name="TextBox 188"/>
          <p:cNvSpPr txBox="1"/>
          <p:nvPr/>
        </p:nvSpPr>
        <p:spPr>
          <a:xfrm>
            <a:off x="21621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0" name="Picture 189" descr="lock.png"/>
          <p:cNvPicPr>
            <a:picLocks noChangeAspect="1"/>
          </p:cNvPicPr>
          <p:nvPr/>
        </p:nvPicPr>
        <p:blipFill>
          <a:blip r:embed="rId4"/>
          <a:stretch>
            <a:fillRect/>
          </a:stretch>
        </p:blipFill>
        <p:spPr>
          <a:xfrm>
            <a:off x="2482959" y="1212159"/>
            <a:ext cx="92663" cy="134782"/>
          </a:xfrm>
          <a:prstGeom prst="rect">
            <a:avLst/>
          </a:prstGeom>
        </p:spPr>
      </p:pic>
      <p:sp>
        <p:nvSpPr>
          <p:cNvPr id="191" name="TextBox 190"/>
          <p:cNvSpPr txBox="1"/>
          <p:nvPr/>
        </p:nvSpPr>
        <p:spPr>
          <a:xfrm>
            <a:off x="38195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2" name="Picture 191" descr="lock.png"/>
          <p:cNvPicPr>
            <a:picLocks noChangeAspect="1"/>
          </p:cNvPicPr>
          <p:nvPr/>
        </p:nvPicPr>
        <p:blipFill>
          <a:blip r:embed="rId4"/>
          <a:stretch>
            <a:fillRect/>
          </a:stretch>
        </p:blipFill>
        <p:spPr>
          <a:xfrm>
            <a:off x="4140309" y="1212159"/>
            <a:ext cx="92663" cy="134782"/>
          </a:xfrm>
          <a:prstGeom prst="rect">
            <a:avLst/>
          </a:prstGeom>
        </p:spPr>
      </p:pic>
      <p:sp>
        <p:nvSpPr>
          <p:cNvPr id="193" name="TextBox 192"/>
          <p:cNvSpPr txBox="1"/>
          <p:nvPr/>
        </p:nvSpPr>
        <p:spPr>
          <a:xfrm>
            <a:off x="54768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4" name="Picture 193" descr="lock.png"/>
          <p:cNvPicPr>
            <a:picLocks noChangeAspect="1"/>
          </p:cNvPicPr>
          <p:nvPr/>
        </p:nvPicPr>
        <p:blipFill>
          <a:blip r:embed="rId4"/>
          <a:stretch>
            <a:fillRect/>
          </a:stretch>
        </p:blipFill>
        <p:spPr>
          <a:xfrm>
            <a:off x="5797659" y="1212159"/>
            <a:ext cx="92663" cy="134782"/>
          </a:xfrm>
          <a:prstGeom prst="rect">
            <a:avLst/>
          </a:prstGeom>
        </p:spPr>
      </p:pic>
      <p:sp>
        <p:nvSpPr>
          <p:cNvPr id="195" name="TextBox 194"/>
          <p:cNvSpPr txBox="1"/>
          <p:nvPr/>
        </p:nvSpPr>
        <p:spPr>
          <a:xfrm>
            <a:off x="713422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6" name="Picture 195" descr="lock.png"/>
          <p:cNvPicPr>
            <a:picLocks noChangeAspect="1"/>
          </p:cNvPicPr>
          <p:nvPr/>
        </p:nvPicPr>
        <p:blipFill>
          <a:blip r:embed="rId4"/>
          <a:stretch>
            <a:fillRect/>
          </a:stretch>
        </p:blipFill>
        <p:spPr>
          <a:xfrm>
            <a:off x="7455009" y="1212159"/>
            <a:ext cx="92663" cy="134782"/>
          </a:xfrm>
          <a:prstGeom prst="rect">
            <a:avLst/>
          </a:prstGeom>
        </p:spPr>
      </p:pic>
      <p:sp>
        <p:nvSpPr>
          <p:cNvPr id="197" name="TextBox 196"/>
          <p:cNvSpPr txBox="1"/>
          <p:nvPr/>
        </p:nvSpPr>
        <p:spPr>
          <a:xfrm>
            <a:off x="8791575" y="1219200"/>
            <a:ext cx="379523" cy="139750"/>
          </a:xfrm>
          <a:prstGeom prst="rect">
            <a:avLst/>
          </a:prstGeom>
          <a:noFill/>
        </p:spPr>
        <p:txBody>
          <a:bodyPr wrap="none" lIns="0" rIns="0" tIns="0" bIns="0">
            <a:spAutoFit/>
          </a:bodyPr>
          <a:lstStyle/>
          <a:p>
            <a:r>
              <a:rPr sz="791" b="1">
                <a:solidFill>
                  <a:srgbClr val="1F2933"/>
                </a:solidFill>
                <a:latin typeface="Calibri"/>
              </a:rPr>
              <a:t>Weight</a:t>
            </a:r>
          </a:p>
        </p:txBody>
      </p:sp>
      <p:pic>
        <p:nvPicPr>
          <p:cNvPr id="198" name="Picture 197" descr="lock.png"/>
          <p:cNvPicPr>
            <a:picLocks noChangeAspect="1"/>
          </p:cNvPicPr>
          <p:nvPr/>
        </p:nvPicPr>
        <p:blipFill>
          <a:blip r:embed="rId4"/>
          <a:stretch>
            <a:fillRect/>
          </a:stretch>
        </p:blipFill>
        <p:spPr>
          <a:xfrm>
            <a:off x="9112359" y="1212159"/>
            <a:ext cx="92663" cy="134782"/>
          </a:xfrm>
          <a:prstGeom prst="rect">
            <a:avLst/>
          </a:prstGeom>
        </p:spPr>
      </p:pic>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Strategic Activity Tracker</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Each player's active strategic moves: what, type, source department, signal and who should act</a:t>
            </a:r>
          </a:p>
        </p:txBody>
      </p:sp>
      <p:sp>
        <p:nvSpPr>
          <p:cNvPr id="10" name="TextBox 9"/>
          <p:cNvSpPr txBox="1"/>
          <p:nvPr/>
        </p:nvSpPr>
        <p:spPr>
          <a:xfrm>
            <a:off x="209550" y="1047750"/>
            <a:ext cx="1295400" cy="171450"/>
          </a:xfrm>
          <a:prstGeom prst="rect">
            <a:avLst/>
          </a:prstGeom>
          <a:noFill/>
        </p:spPr>
        <p:txBody>
          <a:bodyPr wrap="square" lIns="28575" rIns="28575" tIns="9525" bIns="9525" anchor="t">
            <a:spAutoFit/>
          </a:bodyPr>
          <a:lstStyle/>
          <a:p>
            <a:pPr algn="l"/>
            <a:r>
              <a:rPr sz="1100" b="1">
                <a:solidFill>
                  <a:srgbClr val="0F2D52"/>
                </a:solidFill>
                <a:latin typeface="Calibri"/>
              </a:rPr>
              <a:t>COMPANY</a:t>
            </a:r>
          </a:p>
        </p:txBody>
      </p:sp>
      <p:sp>
        <p:nvSpPr>
          <p:cNvPr id="11" name="TextBox 10"/>
          <p:cNvSpPr txBox="1"/>
          <p:nvPr/>
        </p:nvSpPr>
        <p:spPr>
          <a:xfrm>
            <a:off x="1543050" y="1047750"/>
            <a:ext cx="2343150" cy="171450"/>
          </a:xfrm>
          <a:prstGeom prst="rect">
            <a:avLst/>
          </a:prstGeom>
          <a:noFill/>
        </p:spPr>
        <p:txBody>
          <a:bodyPr wrap="square" lIns="28575" rIns="28575" tIns="9525" bIns="9525" anchor="t">
            <a:spAutoFit/>
          </a:bodyPr>
          <a:lstStyle/>
          <a:p>
            <a:pPr algn="l"/>
            <a:r>
              <a:rPr sz="1100" b="1">
                <a:solidFill>
                  <a:srgbClr val="0F2D52"/>
                </a:solidFill>
                <a:latin typeface="Calibri"/>
              </a:rPr>
              <a:t>DEVELOPMENT (WHAT IS HAPPENING)</a:t>
            </a:r>
          </a:p>
        </p:txBody>
      </p:sp>
      <p:sp>
        <p:nvSpPr>
          <p:cNvPr id="12" name="TextBox 11"/>
          <p:cNvSpPr txBox="1"/>
          <p:nvPr/>
        </p:nvSpPr>
        <p:spPr>
          <a:xfrm>
            <a:off x="3924300" y="1047750"/>
            <a:ext cx="533400" cy="171450"/>
          </a:xfrm>
          <a:prstGeom prst="rect">
            <a:avLst/>
          </a:prstGeom>
          <a:noFill/>
        </p:spPr>
        <p:txBody>
          <a:bodyPr wrap="none" lIns="0" rIns="0" tIns="0" bIns="0" anchor="t">
            <a:spAutoFit/>
          </a:bodyPr>
          <a:lstStyle/>
          <a:p>
            <a:pPr algn="l"/>
            <a:r>
              <a:rPr sz="1100" b="1">
                <a:solidFill>
                  <a:srgbClr val="0F2D52"/>
                </a:solidFill>
                <a:latin typeface="Calibri"/>
              </a:rPr>
              <a:t>DATE</a:t>
            </a:r>
          </a:p>
        </p:txBody>
      </p:sp>
      <p:sp>
        <p:nvSpPr>
          <p:cNvPr id="13" name="TextBox 12"/>
          <p:cNvSpPr txBox="1"/>
          <p:nvPr/>
        </p:nvSpPr>
        <p:spPr>
          <a:xfrm>
            <a:off x="4495800" y="1047750"/>
            <a:ext cx="438150" cy="171450"/>
          </a:xfrm>
          <a:prstGeom prst="rect">
            <a:avLst/>
          </a:prstGeom>
          <a:noFill/>
        </p:spPr>
        <p:txBody>
          <a:bodyPr wrap="none" lIns="0" rIns="0" tIns="0" bIns="0" anchor="t">
            <a:spAutoFit/>
          </a:bodyPr>
          <a:lstStyle/>
          <a:p>
            <a:pPr algn="l"/>
            <a:r>
              <a:rPr sz="1100" b="1">
                <a:solidFill>
                  <a:srgbClr val="0F2D52"/>
                </a:solidFill>
                <a:latin typeface="Calibri"/>
              </a:rPr>
              <a:t>TYPE</a:t>
            </a:r>
          </a:p>
        </p:txBody>
      </p:sp>
      <p:sp>
        <p:nvSpPr>
          <p:cNvPr id="14" name="TextBox 13"/>
          <p:cNvSpPr txBox="1"/>
          <p:nvPr/>
        </p:nvSpPr>
        <p:spPr>
          <a:xfrm>
            <a:off x="4972050" y="1047750"/>
            <a:ext cx="1200150" cy="171450"/>
          </a:xfrm>
          <a:prstGeom prst="rect">
            <a:avLst/>
          </a:prstGeom>
          <a:noFill/>
        </p:spPr>
        <p:txBody>
          <a:bodyPr wrap="square" lIns="28575" rIns="28575" tIns="9525" bIns="9525" anchor="t">
            <a:spAutoFit/>
          </a:bodyPr>
          <a:lstStyle/>
          <a:p>
            <a:pPr algn="l"/>
            <a:r>
              <a:rPr sz="1100" b="1">
                <a:solidFill>
                  <a:srgbClr val="0F2D52"/>
                </a:solidFill>
                <a:latin typeface="Calibri"/>
              </a:rPr>
              <a:t>SOURCE DEPT</a:t>
            </a:r>
          </a:p>
        </p:txBody>
      </p:sp>
      <p:sp>
        <p:nvSpPr>
          <p:cNvPr id="15" name="TextBox 14"/>
          <p:cNvSpPr txBox="1"/>
          <p:nvPr/>
        </p:nvSpPr>
        <p:spPr>
          <a:xfrm>
            <a:off x="6210300" y="1047750"/>
            <a:ext cx="914400" cy="171450"/>
          </a:xfrm>
          <a:prstGeom prst="rect">
            <a:avLst/>
          </a:prstGeom>
          <a:noFill/>
        </p:spPr>
        <p:txBody>
          <a:bodyPr wrap="square" lIns="28575" rIns="28575" tIns="9525" bIns="9525" anchor="t">
            <a:spAutoFit/>
          </a:bodyPr>
          <a:lstStyle/>
          <a:p>
            <a:pPr algn="l"/>
            <a:r>
              <a:rPr sz="1100" b="1">
                <a:solidFill>
                  <a:srgbClr val="0F2D52"/>
                </a:solidFill>
                <a:latin typeface="Calibri"/>
              </a:rPr>
              <a:t>EVIDENCE</a:t>
            </a:r>
          </a:p>
        </p:txBody>
      </p:sp>
      <p:sp>
        <p:nvSpPr>
          <p:cNvPr id="16" name="TextBox 15"/>
          <p:cNvSpPr txBox="1"/>
          <p:nvPr/>
        </p:nvSpPr>
        <p:spPr>
          <a:xfrm>
            <a:off x="7162800" y="1047750"/>
            <a:ext cx="2152650" cy="171450"/>
          </a:xfrm>
          <a:prstGeom prst="rect">
            <a:avLst/>
          </a:prstGeom>
          <a:noFill/>
        </p:spPr>
        <p:txBody>
          <a:bodyPr wrap="square" lIns="28575" rIns="28575" tIns="9525" bIns="9525" anchor="t">
            <a:spAutoFit/>
          </a:bodyPr>
          <a:lstStyle/>
          <a:p>
            <a:pPr algn="l"/>
            <a:r>
              <a:rPr sz="1100" b="1">
                <a:solidFill>
                  <a:srgbClr val="0F2D52"/>
                </a:solidFill>
                <a:latin typeface="Calibri"/>
              </a:rPr>
              <a:t>SIGNAL (WHAT IT INDICATES)</a:t>
            </a:r>
          </a:p>
        </p:txBody>
      </p:sp>
      <p:sp>
        <p:nvSpPr>
          <p:cNvPr id="17" name="TextBox 16"/>
          <p:cNvSpPr txBox="1"/>
          <p:nvPr/>
        </p:nvSpPr>
        <p:spPr>
          <a:xfrm>
            <a:off x="9353550" y="1047750"/>
            <a:ext cx="2628900" cy="171450"/>
          </a:xfrm>
          <a:prstGeom prst="rect">
            <a:avLst/>
          </a:prstGeom>
          <a:noFill/>
        </p:spPr>
        <p:txBody>
          <a:bodyPr wrap="square" lIns="28575" rIns="28575" tIns="9525" bIns="9525" anchor="t">
            <a:spAutoFit/>
          </a:bodyPr>
          <a:lstStyle/>
          <a:p>
            <a:pPr algn="l"/>
            <a:r>
              <a:rPr sz="1100" b="1">
                <a:solidFill>
                  <a:srgbClr val="0F2D52"/>
                </a:solidFill>
                <a:latin typeface="Calibri"/>
              </a:rPr>
              <a:t>WHO SHOULD ACT</a:t>
            </a:r>
          </a:p>
        </p:txBody>
      </p:sp>
      <p:cxnSp>
        <p:nvCxnSpPr>
          <p:cNvPr id="18" name="Connector 17"/>
          <p:cNvCxnSpPr/>
          <p:nvPr/>
        </p:nvCxnSpPr>
        <p:spPr>
          <a:xfrm>
            <a:off x="190500" y="12382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90500" y="12954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6700" y="12858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TransMedics</a:t>
            </a:r>
          </a:p>
        </p:txBody>
      </p:sp>
      <p:sp>
        <p:nvSpPr>
          <p:cNvPr id="21" name="TextBox 20"/>
          <p:cNvSpPr txBox="1"/>
          <p:nvPr/>
        </p:nvSpPr>
        <p:spPr>
          <a:xfrm>
            <a:off x="1543050" y="12858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22" name="TextBox 21"/>
          <p:cNvSpPr txBox="1"/>
          <p:nvPr/>
        </p:nvSpPr>
        <p:spPr>
          <a:xfrm>
            <a:off x="3924300" y="12858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23" name="Rectangle 22"/>
          <p:cNvSpPr/>
          <p:nvPr/>
        </p:nvSpPr>
        <p:spPr>
          <a:xfrm>
            <a:off x="4514850" y="13144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4850" y="13144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25" name="TextBox 24"/>
          <p:cNvSpPr txBox="1"/>
          <p:nvPr/>
        </p:nvSpPr>
        <p:spPr>
          <a:xfrm>
            <a:off x="4972050" y="12858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26" name="TextBox 25"/>
          <p:cNvSpPr txBox="1"/>
          <p:nvPr/>
        </p:nvSpPr>
        <p:spPr>
          <a:xfrm>
            <a:off x="6210300" y="12858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27" name="TextBox 26"/>
          <p:cNvSpPr txBox="1"/>
          <p:nvPr/>
        </p:nvSpPr>
        <p:spPr>
          <a:xfrm>
            <a:off x="7162800" y="12858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28" name="TextBox 27"/>
          <p:cNvSpPr txBox="1"/>
          <p:nvPr/>
        </p:nvSpPr>
        <p:spPr>
          <a:xfrm>
            <a:off x="9353550" y="12858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29" name="Connector 28"/>
          <p:cNvCxnSpPr/>
          <p:nvPr/>
        </p:nvCxnSpPr>
        <p:spPr>
          <a:xfrm>
            <a:off x="190500" y="17526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190500" y="17907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6700" y="17811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OrganOx</a:t>
            </a:r>
          </a:p>
        </p:txBody>
      </p:sp>
      <p:sp>
        <p:nvSpPr>
          <p:cNvPr id="32" name="TextBox 31"/>
          <p:cNvSpPr txBox="1"/>
          <p:nvPr/>
        </p:nvSpPr>
        <p:spPr>
          <a:xfrm>
            <a:off x="1543050" y="17811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Portable Machine Perfusion Devices</a:t>
            </a:r>
          </a:p>
        </p:txBody>
      </p:sp>
      <p:sp>
        <p:nvSpPr>
          <p:cNvPr id="33" name="TextBox 32"/>
          <p:cNvSpPr txBox="1"/>
          <p:nvPr/>
        </p:nvSpPr>
        <p:spPr>
          <a:xfrm>
            <a:off x="3924300" y="17811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34" name="Rectangle 33"/>
          <p:cNvSpPr/>
          <p:nvPr/>
        </p:nvSpPr>
        <p:spPr>
          <a:xfrm>
            <a:off x="4514850" y="18097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14850" y="18097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36" name="TextBox 35"/>
          <p:cNvSpPr txBox="1"/>
          <p:nvPr/>
        </p:nvSpPr>
        <p:spPr>
          <a:xfrm>
            <a:off x="4972050" y="17811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37" name="TextBox 36"/>
          <p:cNvSpPr txBox="1"/>
          <p:nvPr/>
        </p:nvSpPr>
        <p:spPr>
          <a:xfrm>
            <a:off x="6210300" y="17811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38" name="TextBox 37"/>
          <p:cNvSpPr txBox="1"/>
          <p:nvPr/>
        </p:nvSpPr>
        <p:spPr>
          <a:xfrm>
            <a:off x="7162800" y="17811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39" name="TextBox 38"/>
          <p:cNvSpPr txBox="1"/>
          <p:nvPr/>
        </p:nvSpPr>
        <p:spPr>
          <a:xfrm>
            <a:off x="9353550" y="17811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40" name="Connector 39"/>
          <p:cNvCxnSpPr/>
          <p:nvPr/>
        </p:nvCxnSpPr>
        <p:spPr>
          <a:xfrm>
            <a:off x="190500" y="22479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90500" y="22860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6700" y="22764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XVIVO Perfusion</a:t>
            </a:r>
          </a:p>
        </p:txBody>
      </p:sp>
      <p:sp>
        <p:nvSpPr>
          <p:cNvPr id="43" name="TextBox 42"/>
          <p:cNvSpPr txBox="1"/>
          <p:nvPr/>
        </p:nvSpPr>
        <p:spPr>
          <a:xfrm>
            <a:off x="1543050" y="22764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44" name="TextBox 43"/>
          <p:cNvSpPr txBox="1"/>
          <p:nvPr/>
        </p:nvSpPr>
        <p:spPr>
          <a:xfrm>
            <a:off x="3924300" y="22764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45" name="Rectangle 44"/>
          <p:cNvSpPr/>
          <p:nvPr/>
        </p:nvSpPr>
        <p:spPr>
          <a:xfrm>
            <a:off x="4514850" y="23050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14850" y="23050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47" name="TextBox 46"/>
          <p:cNvSpPr txBox="1"/>
          <p:nvPr/>
        </p:nvSpPr>
        <p:spPr>
          <a:xfrm>
            <a:off x="4972050" y="22764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48" name="TextBox 47"/>
          <p:cNvSpPr txBox="1"/>
          <p:nvPr/>
        </p:nvSpPr>
        <p:spPr>
          <a:xfrm>
            <a:off x="6210300" y="22764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49" name="TextBox 48"/>
          <p:cNvSpPr txBox="1"/>
          <p:nvPr/>
        </p:nvSpPr>
        <p:spPr>
          <a:xfrm>
            <a:off x="7162800" y="22764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50" name="TextBox 49"/>
          <p:cNvSpPr txBox="1"/>
          <p:nvPr/>
        </p:nvSpPr>
        <p:spPr>
          <a:xfrm>
            <a:off x="9353550" y="22764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51" name="Connector 50"/>
          <p:cNvCxnSpPr/>
          <p:nvPr/>
        </p:nvCxnSpPr>
        <p:spPr>
          <a:xfrm>
            <a:off x="190500" y="27432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90500" y="2781300"/>
            <a:ext cx="38100" cy="4191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6700" y="27717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Paragonix Technologies</a:t>
            </a:r>
          </a:p>
        </p:txBody>
      </p:sp>
      <p:sp>
        <p:nvSpPr>
          <p:cNvPr id="54" name="TextBox 53"/>
          <p:cNvSpPr txBox="1"/>
          <p:nvPr/>
        </p:nvSpPr>
        <p:spPr>
          <a:xfrm>
            <a:off x="1543050" y="27717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Static Cold Storage Devices</a:t>
            </a:r>
          </a:p>
        </p:txBody>
      </p:sp>
      <p:sp>
        <p:nvSpPr>
          <p:cNvPr id="55" name="TextBox 54"/>
          <p:cNvSpPr txBox="1"/>
          <p:nvPr/>
        </p:nvSpPr>
        <p:spPr>
          <a:xfrm>
            <a:off x="3924300" y="27717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56" name="Rectangle 55"/>
          <p:cNvSpPr/>
          <p:nvPr/>
        </p:nvSpPr>
        <p:spPr>
          <a:xfrm>
            <a:off x="4514850" y="28003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4850" y="28003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58" name="TextBox 57"/>
          <p:cNvSpPr txBox="1"/>
          <p:nvPr/>
        </p:nvSpPr>
        <p:spPr>
          <a:xfrm>
            <a:off x="4972050" y="27717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59" name="TextBox 58"/>
          <p:cNvSpPr txBox="1"/>
          <p:nvPr/>
        </p:nvSpPr>
        <p:spPr>
          <a:xfrm>
            <a:off x="6210300" y="27717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60" name="TextBox 59"/>
          <p:cNvSpPr txBox="1"/>
          <p:nvPr/>
        </p:nvSpPr>
        <p:spPr>
          <a:xfrm>
            <a:off x="7162800" y="27717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61" name="TextBox 60"/>
          <p:cNvSpPr txBox="1"/>
          <p:nvPr/>
        </p:nvSpPr>
        <p:spPr>
          <a:xfrm>
            <a:off x="9353550" y="27717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62" name="Connector 61"/>
          <p:cNvCxnSpPr/>
          <p:nvPr/>
        </p:nvCxnSpPr>
        <p:spPr>
          <a:xfrm>
            <a:off x="190500" y="32385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90500" y="32766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700" y="32670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Organ Recovery Systems</a:t>
            </a:r>
          </a:p>
        </p:txBody>
      </p:sp>
      <p:sp>
        <p:nvSpPr>
          <p:cNvPr id="65" name="TextBox 64"/>
          <p:cNvSpPr txBox="1"/>
          <p:nvPr/>
        </p:nvSpPr>
        <p:spPr>
          <a:xfrm>
            <a:off x="1543050" y="32670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Latin America</a:t>
            </a:r>
          </a:p>
        </p:txBody>
      </p:sp>
      <p:sp>
        <p:nvSpPr>
          <p:cNvPr id="66" name="TextBox 65"/>
          <p:cNvSpPr txBox="1"/>
          <p:nvPr/>
        </p:nvSpPr>
        <p:spPr>
          <a:xfrm>
            <a:off x="3924300" y="32670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67" name="Rectangle 66"/>
          <p:cNvSpPr/>
          <p:nvPr/>
        </p:nvSpPr>
        <p:spPr>
          <a:xfrm>
            <a:off x="4514850" y="32956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14850" y="32956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69" name="TextBox 68"/>
          <p:cNvSpPr txBox="1"/>
          <p:nvPr/>
        </p:nvSpPr>
        <p:spPr>
          <a:xfrm>
            <a:off x="4972050" y="32670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70" name="TextBox 69"/>
          <p:cNvSpPr txBox="1"/>
          <p:nvPr/>
        </p:nvSpPr>
        <p:spPr>
          <a:xfrm>
            <a:off x="6210300" y="32670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71" name="TextBox 70"/>
          <p:cNvSpPr txBox="1"/>
          <p:nvPr/>
        </p:nvSpPr>
        <p:spPr>
          <a:xfrm>
            <a:off x="7162800" y="32670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72" name="TextBox 71"/>
          <p:cNvSpPr txBox="1"/>
          <p:nvPr/>
        </p:nvSpPr>
        <p:spPr>
          <a:xfrm>
            <a:off x="9353550" y="32670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73" name="Connector 72"/>
          <p:cNvCxnSpPr/>
          <p:nvPr/>
        </p:nvCxnSpPr>
        <p:spPr>
          <a:xfrm>
            <a:off x="190500" y="37338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74" name="Rectangle 73"/>
          <p:cNvSpPr/>
          <p:nvPr/>
        </p:nvSpPr>
        <p:spPr>
          <a:xfrm>
            <a:off x="190500" y="3771900"/>
            <a:ext cx="38100" cy="41910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66700" y="37623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IGL Group / Waters Medical Systems</a:t>
            </a:r>
          </a:p>
        </p:txBody>
      </p:sp>
      <p:sp>
        <p:nvSpPr>
          <p:cNvPr id="76" name="TextBox 75"/>
          <p:cNvSpPr txBox="1"/>
          <p:nvPr/>
        </p:nvSpPr>
        <p:spPr>
          <a:xfrm>
            <a:off x="1543050" y="37623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Portable Machine Perfusion Devices</a:t>
            </a:r>
          </a:p>
        </p:txBody>
      </p:sp>
      <p:sp>
        <p:nvSpPr>
          <p:cNvPr id="77" name="TextBox 76"/>
          <p:cNvSpPr txBox="1"/>
          <p:nvPr/>
        </p:nvSpPr>
        <p:spPr>
          <a:xfrm>
            <a:off x="3924300" y="37623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78" name="Rectangle 77"/>
          <p:cNvSpPr/>
          <p:nvPr/>
        </p:nvSpPr>
        <p:spPr>
          <a:xfrm>
            <a:off x="4514850" y="37909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514850" y="37909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80" name="TextBox 79"/>
          <p:cNvSpPr txBox="1"/>
          <p:nvPr/>
        </p:nvSpPr>
        <p:spPr>
          <a:xfrm>
            <a:off x="4972050" y="37623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81" name="TextBox 80"/>
          <p:cNvSpPr txBox="1"/>
          <p:nvPr/>
        </p:nvSpPr>
        <p:spPr>
          <a:xfrm>
            <a:off x="6210300" y="37623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82" name="TextBox 81"/>
          <p:cNvSpPr txBox="1"/>
          <p:nvPr/>
        </p:nvSpPr>
        <p:spPr>
          <a:xfrm>
            <a:off x="7162800" y="37623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83" name="TextBox 82"/>
          <p:cNvSpPr txBox="1"/>
          <p:nvPr/>
        </p:nvSpPr>
        <p:spPr>
          <a:xfrm>
            <a:off x="9353550" y="37623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84" name="Connector 83"/>
          <p:cNvCxnSpPr/>
          <p:nvPr/>
        </p:nvCxnSpPr>
        <p:spPr>
          <a:xfrm>
            <a:off x="190500" y="42291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190500" y="42672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66700" y="42576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Bridge to Life</a:t>
            </a:r>
          </a:p>
        </p:txBody>
      </p:sp>
      <p:sp>
        <p:nvSpPr>
          <p:cNvPr id="87" name="TextBox 86"/>
          <p:cNvSpPr txBox="1"/>
          <p:nvPr/>
        </p:nvSpPr>
        <p:spPr>
          <a:xfrm>
            <a:off x="1543050" y="42576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North America</a:t>
            </a:r>
          </a:p>
        </p:txBody>
      </p:sp>
      <p:sp>
        <p:nvSpPr>
          <p:cNvPr id="88" name="TextBox 87"/>
          <p:cNvSpPr txBox="1"/>
          <p:nvPr/>
        </p:nvSpPr>
        <p:spPr>
          <a:xfrm>
            <a:off x="3924300" y="42576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89" name="Rectangle 88"/>
          <p:cNvSpPr/>
          <p:nvPr/>
        </p:nvSpPr>
        <p:spPr>
          <a:xfrm>
            <a:off x="4514850" y="42862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14850" y="42862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91" name="TextBox 90"/>
          <p:cNvSpPr txBox="1"/>
          <p:nvPr/>
        </p:nvSpPr>
        <p:spPr>
          <a:xfrm>
            <a:off x="4972050" y="42576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92" name="TextBox 91"/>
          <p:cNvSpPr txBox="1"/>
          <p:nvPr/>
        </p:nvSpPr>
        <p:spPr>
          <a:xfrm>
            <a:off x="6210300" y="42576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93" name="TextBox 92"/>
          <p:cNvSpPr txBox="1"/>
          <p:nvPr/>
        </p:nvSpPr>
        <p:spPr>
          <a:xfrm>
            <a:off x="7162800" y="42576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94" name="TextBox 93"/>
          <p:cNvSpPr txBox="1"/>
          <p:nvPr/>
        </p:nvSpPr>
        <p:spPr>
          <a:xfrm>
            <a:off x="9353550" y="42576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95" name="Connector 94"/>
          <p:cNvCxnSpPr/>
          <p:nvPr/>
        </p:nvCxnSpPr>
        <p:spPr>
          <a:xfrm>
            <a:off x="190500" y="47244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96" name="Rectangle 95"/>
          <p:cNvSpPr/>
          <p:nvPr/>
        </p:nvSpPr>
        <p:spPr>
          <a:xfrm>
            <a:off x="190500" y="47625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66700" y="47529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Aferetica</a:t>
            </a:r>
          </a:p>
        </p:txBody>
      </p:sp>
      <p:sp>
        <p:nvSpPr>
          <p:cNvPr id="98" name="TextBox 97"/>
          <p:cNvSpPr txBox="1"/>
          <p:nvPr/>
        </p:nvSpPr>
        <p:spPr>
          <a:xfrm>
            <a:off x="1543050" y="47529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Static Cold Storage Devices</a:t>
            </a:r>
          </a:p>
        </p:txBody>
      </p:sp>
      <p:sp>
        <p:nvSpPr>
          <p:cNvPr id="99" name="TextBox 98"/>
          <p:cNvSpPr txBox="1"/>
          <p:nvPr/>
        </p:nvSpPr>
        <p:spPr>
          <a:xfrm>
            <a:off x="3924300" y="47529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00" name="Rectangle 99"/>
          <p:cNvSpPr/>
          <p:nvPr/>
        </p:nvSpPr>
        <p:spPr>
          <a:xfrm>
            <a:off x="4514850" y="47815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14850" y="47815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02" name="TextBox 101"/>
          <p:cNvSpPr txBox="1"/>
          <p:nvPr/>
        </p:nvSpPr>
        <p:spPr>
          <a:xfrm>
            <a:off x="4972050" y="47529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03" name="TextBox 102"/>
          <p:cNvSpPr txBox="1"/>
          <p:nvPr/>
        </p:nvSpPr>
        <p:spPr>
          <a:xfrm>
            <a:off x="6210300" y="47529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04" name="TextBox 103"/>
          <p:cNvSpPr txBox="1"/>
          <p:nvPr/>
        </p:nvSpPr>
        <p:spPr>
          <a:xfrm>
            <a:off x="7162800" y="47529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05" name="TextBox 104"/>
          <p:cNvSpPr txBox="1"/>
          <p:nvPr/>
        </p:nvSpPr>
        <p:spPr>
          <a:xfrm>
            <a:off x="9353550" y="47529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06" name="Connector 105"/>
          <p:cNvCxnSpPr/>
          <p:nvPr/>
        </p:nvCxnSpPr>
        <p:spPr>
          <a:xfrm>
            <a:off x="190500" y="52197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90500" y="52578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66700" y="52482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EBERS Medical Technology</a:t>
            </a:r>
          </a:p>
        </p:txBody>
      </p:sp>
      <p:sp>
        <p:nvSpPr>
          <p:cNvPr id="109" name="TextBox 108"/>
          <p:cNvSpPr txBox="1"/>
          <p:nvPr/>
        </p:nvSpPr>
        <p:spPr>
          <a:xfrm>
            <a:off x="1543050" y="52482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Acquisition to add scale or capability in South Asia &amp; Pacific</a:t>
            </a:r>
          </a:p>
        </p:txBody>
      </p:sp>
      <p:sp>
        <p:nvSpPr>
          <p:cNvPr id="110" name="TextBox 109"/>
          <p:cNvSpPr txBox="1"/>
          <p:nvPr/>
        </p:nvSpPr>
        <p:spPr>
          <a:xfrm>
            <a:off x="3924300" y="52482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11" name="Rectangle 110"/>
          <p:cNvSpPr/>
          <p:nvPr/>
        </p:nvSpPr>
        <p:spPr>
          <a:xfrm>
            <a:off x="4514850" y="5276850"/>
            <a:ext cx="285750" cy="17145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514850" y="5276850"/>
            <a:ext cx="285750" cy="17145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13" name="TextBox 112"/>
          <p:cNvSpPr txBox="1"/>
          <p:nvPr/>
        </p:nvSpPr>
        <p:spPr>
          <a:xfrm>
            <a:off x="4972050" y="52482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a:t>
            </a:r>
          </a:p>
        </p:txBody>
      </p:sp>
      <p:sp>
        <p:nvSpPr>
          <p:cNvPr id="114" name="TextBox 113"/>
          <p:cNvSpPr txBox="1"/>
          <p:nvPr/>
        </p:nvSpPr>
        <p:spPr>
          <a:xfrm>
            <a:off x="6210300" y="52482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15" name="TextBox 114"/>
          <p:cNvSpPr txBox="1"/>
          <p:nvPr/>
        </p:nvSpPr>
        <p:spPr>
          <a:xfrm>
            <a:off x="7162800" y="52482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Consolidation: capability is being bought, not built</a:t>
            </a:r>
          </a:p>
        </p:txBody>
      </p:sp>
      <p:sp>
        <p:nvSpPr>
          <p:cNvPr id="116" name="TextBox 115"/>
          <p:cNvSpPr txBox="1"/>
          <p:nvPr/>
        </p:nvSpPr>
        <p:spPr>
          <a:xfrm>
            <a:off x="9353550" y="52482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Corporate development: track targets and deal multiples</a:t>
            </a:r>
          </a:p>
        </p:txBody>
      </p:sp>
      <p:cxnSp>
        <p:nvCxnSpPr>
          <p:cNvPr id="117" name="Connector 116"/>
          <p:cNvCxnSpPr/>
          <p:nvPr/>
        </p:nvCxnSpPr>
        <p:spPr>
          <a:xfrm>
            <a:off x="190500" y="57150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18" name="Rectangle 117"/>
          <p:cNvSpPr/>
          <p:nvPr/>
        </p:nvSpPr>
        <p:spPr>
          <a:xfrm>
            <a:off x="190500" y="5753100"/>
            <a:ext cx="38100" cy="4191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6700" y="5743575"/>
            <a:ext cx="1238250" cy="438150"/>
          </a:xfrm>
          <a:prstGeom prst="rect">
            <a:avLst/>
          </a:prstGeom>
          <a:noFill/>
        </p:spPr>
        <p:txBody>
          <a:bodyPr wrap="square" lIns="28575" rIns="28575" tIns="9525" bIns="9525" anchor="t">
            <a:spAutoFit/>
          </a:bodyPr>
          <a:lstStyle/>
          <a:p>
            <a:pPr algn="l">
              <a:lnSpc>
                <a:spcPct val="115000"/>
              </a:lnSpc>
            </a:pPr>
            <a:r>
              <a:rPr sz="1100" b="1">
                <a:solidFill>
                  <a:srgbClr val="1F2933"/>
                </a:solidFill>
                <a:latin typeface="Calibri"/>
              </a:rPr>
              <a:t>Traferox Technologies</a:t>
            </a:r>
          </a:p>
        </p:txBody>
      </p:sp>
      <p:sp>
        <p:nvSpPr>
          <p:cNvPr id="120" name="TextBox 119"/>
          <p:cNvSpPr txBox="1"/>
          <p:nvPr/>
        </p:nvSpPr>
        <p:spPr>
          <a:xfrm>
            <a:off x="1543050" y="5743575"/>
            <a:ext cx="2324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development programme in Portable Machine Perfusion Devices</a:t>
            </a:r>
          </a:p>
        </p:txBody>
      </p:sp>
      <p:sp>
        <p:nvSpPr>
          <p:cNvPr id="121" name="TextBox 120"/>
          <p:cNvSpPr txBox="1"/>
          <p:nvPr/>
        </p:nvSpPr>
        <p:spPr>
          <a:xfrm>
            <a:off x="3924300" y="5743575"/>
            <a:ext cx="533400" cy="171450"/>
          </a:xfrm>
          <a:prstGeom prst="rect">
            <a:avLst/>
          </a:prstGeom>
          <a:noFill/>
        </p:spPr>
        <p:txBody>
          <a:bodyPr wrap="none" lIns="0" rIns="0" tIns="0" bIns="0" anchor="t">
            <a:spAutoFit/>
          </a:bodyPr>
          <a:lstStyle/>
          <a:p>
            <a:pPr algn="l"/>
            <a:r>
              <a:rPr sz="1100" b="0">
                <a:solidFill>
                  <a:srgbClr val="5F6B7A"/>
                </a:solidFill>
                <a:latin typeface="Calibri"/>
              </a:rPr>
              <a:t/>
            </a:r>
          </a:p>
        </p:txBody>
      </p:sp>
      <p:sp>
        <p:nvSpPr>
          <p:cNvPr id="122" name="Rectangle 121"/>
          <p:cNvSpPr/>
          <p:nvPr/>
        </p:nvSpPr>
        <p:spPr>
          <a:xfrm>
            <a:off x="4514850" y="5772150"/>
            <a:ext cx="28575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514850" y="5772150"/>
            <a:ext cx="285750" cy="17145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24" name="TextBox 123"/>
          <p:cNvSpPr txBox="1"/>
          <p:nvPr/>
        </p:nvSpPr>
        <p:spPr>
          <a:xfrm>
            <a:off x="4972050" y="5743575"/>
            <a:ext cx="11811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and R&amp;D</a:t>
            </a:r>
          </a:p>
        </p:txBody>
      </p:sp>
      <p:sp>
        <p:nvSpPr>
          <p:cNvPr id="125" name="TextBox 124"/>
          <p:cNvSpPr txBox="1"/>
          <p:nvPr/>
        </p:nvSpPr>
        <p:spPr>
          <a:xfrm>
            <a:off x="6210300" y="5743575"/>
            <a:ext cx="895350" cy="438150"/>
          </a:xfrm>
          <a:prstGeom prst="rect">
            <a:avLst/>
          </a:prstGeom>
          <a:noFill/>
        </p:spPr>
        <p:txBody>
          <a:bodyPr wrap="square" lIns="28575" rIns="28575" tIns="9525" bIns="9525" anchor="t">
            <a:spAutoFit/>
          </a:bodyPr>
          <a:lstStyle/>
          <a:p>
            <a:pPr algn="l">
              <a:lnSpc>
                <a:spcPct val="115000"/>
              </a:lnSpc>
            </a:pPr>
            <a:r>
              <a:rPr sz="1100" b="0">
                <a:solidFill>
                  <a:srgbClr val="5F6B7A"/>
                </a:solidFill>
                <a:latin typeface="Calibri"/>
              </a:rPr>
              <a:t>FMI company profiling</a:t>
            </a:r>
          </a:p>
        </p:txBody>
      </p:sp>
      <p:sp>
        <p:nvSpPr>
          <p:cNvPr id="126" name="TextBox 125"/>
          <p:cNvSpPr txBox="1"/>
          <p:nvPr/>
        </p:nvSpPr>
        <p:spPr>
          <a:xfrm>
            <a:off x="7162800" y="5743575"/>
            <a:ext cx="21336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Capability build ahead of demand</a:t>
            </a:r>
          </a:p>
        </p:txBody>
      </p:sp>
      <p:sp>
        <p:nvSpPr>
          <p:cNvPr id="127" name="TextBox 126"/>
          <p:cNvSpPr txBox="1"/>
          <p:nvPr/>
        </p:nvSpPr>
        <p:spPr>
          <a:xfrm>
            <a:off x="9353550" y="5743575"/>
            <a:ext cx="2628900" cy="4381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Product: watch the roadmap</a:t>
            </a:r>
          </a:p>
        </p:txBody>
      </p:sp>
      <p:cxnSp>
        <p:nvCxnSpPr>
          <p:cNvPr id="128" name="Connector 127"/>
          <p:cNvCxnSpPr/>
          <p:nvPr/>
        </p:nvCxnSpPr>
        <p:spPr>
          <a:xfrm>
            <a:off x="190500" y="6210300"/>
            <a:ext cx="11811000" cy="0"/>
          </a:xfrm>
          <a:prstGeom prst="line">
            <a:avLst/>
          </a:prstGeom>
          <a:ln w="9525">
            <a:solidFill>
              <a:srgbClr val="E3E8EE"/>
            </a:solidFill>
          </a:ln>
          <a:effectLst/>
        </p:spPr>
        <p:style>
          <a:lnRef idx="2">
            <a:schemeClr val="accent1"/>
          </a:lnRef>
          <a:fillRef idx="0">
            <a:schemeClr val="accent1"/>
          </a:fillRef>
          <a:effectRef idx="1">
            <a:schemeClr val="accent1"/>
          </a:effectRef>
          <a:fontRef idx="minor">
            <a:schemeClr val="tx1"/>
          </a:fontRef>
        </p:style>
      </p:cxnSp>
      <p:sp>
        <p:nvSpPr>
          <p:cNvPr id="129" name="Rectangle 128"/>
          <p:cNvSpPr/>
          <p:nvPr/>
        </p:nvSpPr>
        <p:spPr>
          <a:xfrm>
            <a:off x="190500" y="6276975"/>
            <a:ext cx="285750" cy="152400"/>
          </a:xfrm>
          <a:prstGeom prst="rect">
            <a:avLst/>
          </a:prstGeom>
          <a:solidFill>
            <a:srgbClr val="8E3A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9050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MA</a:t>
            </a:r>
          </a:p>
        </p:txBody>
      </p:sp>
      <p:sp>
        <p:nvSpPr>
          <p:cNvPr id="131" name="TextBox 130"/>
          <p:cNvSpPr txBox="1"/>
          <p:nvPr/>
        </p:nvSpPr>
        <p:spPr>
          <a:xfrm>
            <a:off x="51435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M&amp;A</a:t>
            </a:r>
          </a:p>
        </p:txBody>
      </p:sp>
      <p:sp>
        <p:nvSpPr>
          <p:cNvPr id="132" name="Rectangle 131"/>
          <p:cNvSpPr/>
          <p:nvPr/>
        </p:nvSpPr>
        <p:spPr>
          <a:xfrm>
            <a:off x="923925" y="6276975"/>
            <a:ext cx="285750" cy="15240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239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PR</a:t>
            </a:r>
          </a:p>
        </p:txBody>
      </p:sp>
      <p:sp>
        <p:nvSpPr>
          <p:cNvPr id="134" name="TextBox 133"/>
          <p:cNvSpPr txBox="1"/>
          <p:nvPr/>
        </p:nvSpPr>
        <p:spPr>
          <a:xfrm>
            <a:off x="12477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Product / portfolio</a:t>
            </a:r>
          </a:p>
        </p:txBody>
      </p:sp>
      <p:sp>
        <p:nvSpPr>
          <p:cNvPr id="135" name="Rectangle 134"/>
          <p:cNvSpPr/>
          <p:nvPr/>
        </p:nvSpPr>
        <p:spPr>
          <a:xfrm>
            <a:off x="2724150" y="6276975"/>
            <a:ext cx="285750" cy="152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7241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EX</a:t>
            </a:r>
          </a:p>
        </p:txBody>
      </p:sp>
      <p:sp>
        <p:nvSpPr>
          <p:cNvPr id="137" name="TextBox 136"/>
          <p:cNvSpPr txBox="1"/>
          <p:nvPr/>
        </p:nvSpPr>
        <p:spPr>
          <a:xfrm>
            <a:off x="30480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Expansion</a:t>
            </a:r>
          </a:p>
        </p:txBody>
      </p:sp>
      <p:sp>
        <p:nvSpPr>
          <p:cNvPr id="138" name="Rectangle 137"/>
          <p:cNvSpPr/>
          <p:nvPr/>
        </p:nvSpPr>
        <p:spPr>
          <a:xfrm>
            <a:off x="3857625" y="6276975"/>
            <a:ext cx="285750" cy="1524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38576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RD</a:t>
            </a:r>
          </a:p>
        </p:txBody>
      </p:sp>
      <p:sp>
        <p:nvSpPr>
          <p:cNvPr id="140" name="TextBox 139"/>
          <p:cNvSpPr txBox="1"/>
          <p:nvPr/>
        </p:nvSpPr>
        <p:spPr>
          <a:xfrm>
            <a:off x="41814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R&amp;D / technology</a:t>
            </a:r>
          </a:p>
        </p:txBody>
      </p:sp>
      <p:sp>
        <p:nvSpPr>
          <p:cNvPr id="141" name="Rectangle 140"/>
          <p:cNvSpPr/>
          <p:nvPr/>
        </p:nvSpPr>
        <p:spPr>
          <a:xfrm>
            <a:off x="5457825" y="6276975"/>
            <a:ext cx="285750" cy="152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457825"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RG</a:t>
            </a:r>
          </a:p>
        </p:txBody>
      </p:sp>
      <p:sp>
        <p:nvSpPr>
          <p:cNvPr id="143" name="TextBox 142"/>
          <p:cNvSpPr txBox="1"/>
          <p:nvPr/>
        </p:nvSpPr>
        <p:spPr>
          <a:xfrm>
            <a:off x="5781675"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Regulation / compliance</a:t>
            </a:r>
          </a:p>
        </p:txBody>
      </p:sp>
      <p:sp>
        <p:nvSpPr>
          <p:cNvPr id="144" name="Rectangle 143"/>
          <p:cNvSpPr/>
          <p:nvPr/>
        </p:nvSpPr>
        <p:spPr>
          <a:xfrm>
            <a:off x="7524750" y="6276975"/>
            <a:ext cx="285750" cy="152400"/>
          </a:xfrm>
          <a:prstGeom prst="rect">
            <a:avLst/>
          </a:prstGeom>
          <a:solidFill>
            <a:srgbClr val="177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7524750" y="6276975"/>
            <a:ext cx="285750" cy="152400"/>
          </a:xfrm>
          <a:prstGeom prst="rect">
            <a:avLst/>
          </a:prstGeom>
          <a:noFill/>
        </p:spPr>
        <p:txBody>
          <a:bodyPr wrap="none" lIns="0" rIns="0" tIns="0" bIns="0" anchor="ctr">
            <a:spAutoFit/>
          </a:bodyPr>
          <a:lstStyle/>
          <a:p>
            <a:pPr algn="ctr"/>
            <a:r>
              <a:rPr sz="1100" b="1">
                <a:solidFill>
                  <a:srgbClr val="FFFFFF"/>
                </a:solidFill>
                <a:latin typeface="Calibri"/>
              </a:rPr>
              <a:t>CP</a:t>
            </a:r>
          </a:p>
        </p:txBody>
      </p:sp>
      <p:sp>
        <p:nvSpPr>
          <p:cNvPr id="146" name="TextBox 145"/>
          <p:cNvSpPr txBox="1"/>
          <p:nvPr/>
        </p:nvSpPr>
        <p:spPr>
          <a:xfrm>
            <a:off x="7848600" y="6257925"/>
            <a:ext cx="1619250" cy="190500"/>
          </a:xfrm>
          <a:prstGeom prst="rect">
            <a:avLst/>
          </a:prstGeom>
          <a:noFill/>
        </p:spPr>
        <p:txBody>
          <a:bodyPr wrap="square" lIns="28575" rIns="28575" tIns="9525" bIns="9525" anchor="t">
            <a:spAutoFit/>
          </a:bodyPr>
          <a:lstStyle/>
          <a:p>
            <a:pPr algn="l"/>
            <a:r>
              <a:rPr sz="1100" b="0">
                <a:solidFill>
                  <a:srgbClr val="1F2933"/>
                </a:solidFill>
                <a:latin typeface="Calibri"/>
              </a:rPr>
              <a:t>Capital / funding</a:t>
            </a:r>
          </a:p>
        </p:txBody>
      </p:sp>
      <p:sp>
        <p:nvSpPr>
          <p:cNvPr id="147" name="TextBox 146"/>
          <p:cNvSpPr txBox="1"/>
          <p:nvPr/>
        </p:nvSpPr>
        <p:spPr>
          <a:xfrm>
            <a:off x="190500" y="6457950"/>
            <a:ext cx="11811000" cy="171450"/>
          </a:xfrm>
          <a:prstGeom prst="rect">
            <a:avLst/>
          </a:prstGeom>
          <a:noFill/>
        </p:spPr>
        <p:txBody>
          <a:bodyPr wrap="square" lIns="28575" rIns="28575" tIns="9525" bIns="9525" anchor="t">
            <a:spAutoFit/>
          </a:bodyPr>
          <a:lstStyle/>
          <a:p>
            <a:pPr algn="l"/>
            <a:r>
              <a:rPr sz="1100" b="0">
                <a:solidFill>
                  <a:srgbClr val="5F6B7A"/>
                </a:solidFill>
                <a:latin typeface="Calibri"/>
              </a:rPr>
              <a:t>Dates, deal values and evidence sources populate from the research feed; until then each row reads the player's most telling active strategy.</a:t>
            </a:r>
          </a:p>
        </p:txBody>
      </p:sp>
      <p:sp>
        <p:nvSpPr>
          <p:cNvPr id="148" name="TextBox 147"/>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49" name="Picture 148" descr="lock.png"/>
          <p:cNvPicPr>
            <a:picLocks noChangeAspect="1"/>
          </p:cNvPicPr>
          <p:nvPr/>
        </p:nvPicPr>
        <p:blipFill>
          <a:blip r:embed="rId4"/>
          <a:stretch>
            <a:fillRect/>
          </a:stretch>
        </p:blipFill>
        <p:spPr>
          <a:xfrm>
            <a:off x="4126650" y="1278001"/>
            <a:ext cx="128699" cy="187198"/>
          </a:xfrm>
          <a:prstGeom prst="rect">
            <a:avLst/>
          </a:prstGeom>
        </p:spPr>
      </p:pic>
      <p:pic>
        <p:nvPicPr>
          <p:cNvPr id="150" name="Picture 149" descr="lock.png"/>
          <p:cNvPicPr>
            <a:picLocks noChangeAspect="1"/>
          </p:cNvPicPr>
          <p:nvPr/>
        </p:nvPicPr>
        <p:blipFill>
          <a:blip r:embed="rId4"/>
          <a:stretch>
            <a:fillRect/>
          </a:stretch>
        </p:blipFill>
        <p:spPr>
          <a:xfrm>
            <a:off x="4126650" y="1773301"/>
            <a:ext cx="128699" cy="187198"/>
          </a:xfrm>
          <a:prstGeom prst="rect">
            <a:avLst/>
          </a:prstGeom>
        </p:spPr>
      </p:pic>
      <p:pic>
        <p:nvPicPr>
          <p:cNvPr id="151" name="Picture 150" descr="lock.png"/>
          <p:cNvPicPr>
            <a:picLocks noChangeAspect="1"/>
          </p:cNvPicPr>
          <p:nvPr/>
        </p:nvPicPr>
        <p:blipFill>
          <a:blip r:embed="rId4"/>
          <a:stretch>
            <a:fillRect/>
          </a:stretch>
        </p:blipFill>
        <p:spPr>
          <a:xfrm>
            <a:off x="4126650" y="2268601"/>
            <a:ext cx="128699" cy="187198"/>
          </a:xfrm>
          <a:prstGeom prst="rect">
            <a:avLst/>
          </a:prstGeom>
        </p:spPr>
      </p:pic>
      <p:pic>
        <p:nvPicPr>
          <p:cNvPr id="152" name="Picture 151" descr="lock.png"/>
          <p:cNvPicPr>
            <a:picLocks noChangeAspect="1"/>
          </p:cNvPicPr>
          <p:nvPr/>
        </p:nvPicPr>
        <p:blipFill>
          <a:blip r:embed="rId4"/>
          <a:stretch>
            <a:fillRect/>
          </a:stretch>
        </p:blipFill>
        <p:spPr>
          <a:xfrm>
            <a:off x="4126650" y="2763901"/>
            <a:ext cx="128699" cy="187198"/>
          </a:xfrm>
          <a:prstGeom prst="rect">
            <a:avLst/>
          </a:prstGeom>
        </p:spPr>
      </p:pic>
      <p:pic>
        <p:nvPicPr>
          <p:cNvPr id="153" name="Picture 152" descr="lock.png"/>
          <p:cNvPicPr>
            <a:picLocks noChangeAspect="1"/>
          </p:cNvPicPr>
          <p:nvPr/>
        </p:nvPicPr>
        <p:blipFill>
          <a:blip r:embed="rId4"/>
          <a:stretch>
            <a:fillRect/>
          </a:stretch>
        </p:blipFill>
        <p:spPr>
          <a:xfrm>
            <a:off x="4126650" y="3259201"/>
            <a:ext cx="128699" cy="187198"/>
          </a:xfrm>
          <a:prstGeom prst="rect">
            <a:avLst/>
          </a:prstGeom>
        </p:spPr>
      </p:pic>
      <p:pic>
        <p:nvPicPr>
          <p:cNvPr id="154" name="Picture 153" descr="lock.png"/>
          <p:cNvPicPr>
            <a:picLocks noChangeAspect="1"/>
          </p:cNvPicPr>
          <p:nvPr/>
        </p:nvPicPr>
        <p:blipFill>
          <a:blip r:embed="rId4"/>
          <a:stretch>
            <a:fillRect/>
          </a:stretch>
        </p:blipFill>
        <p:spPr>
          <a:xfrm>
            <a:off x="4126650" y="3754501"/>
            <a:ext cx="128699" cy="187198"/>
          </a:xfrm>
          <a:prstGeom prst="rect">
            <a:avLst/>
          </a:prstGeom>
        </p:spPr>
      </p:pic>
      <p:pic>
        <p:nvPicPr>
          <p:cNvPr id="155" name="Picture 154" descr="lock.png"/>
          <p:cNvPicPr>
            <a:picLocks noChangeAspect="1"/>
          </p:cNvPicPr>
          <p:nvPr/>
        </p:nvPicPr>
        <p:blipFill>
          <a:blip r:embed="rId4"/>
          <a:stretch>
            <a:fillRect/>
          </a:stretch>
        </p:blipFill>
        <p:spPr>
          <a:xfrm>
            <a:off x="4126650" y="4249801"/>
            <a:ext cx="128699" cy="187198"/>
          </a:xfrm>
          <a:prstGeom prst="rect">
            <a:avLst/>
          </a:prstGeom>
        </p:spPr>
      </p:pic>
      <p:pic>
        <p:nvPicPr>
          <p:cNvPr id="156" name="Picture 155" descr="lock.png"/>
          <p:cNvPicPr>
            <a:picLocks noChangeAspect="1"/>
          </p:cNvPicPr>
          <p:nvPr/>
        </p:nvPicPr>
        <p:blipFill>
          <a:blip r:embed="rId4"/>
          <a:stretch>
            <a:fillRect/>
          </a:stretch>
        </p:blipFill>
        <p:spPr>
          <a:xfrm>
            <a:off x="4126650" y="4745101"/>
            <a:ext cx="128699" cy="187198"/>
          </a:xfrm>
          <a:prstGeom prst="rect">
            <a:avLst/>
          </a:prstGeom>
        </p:spPr>
      </p:pic>
      <p:pic>
        <p:nvPicPr>
          <p:cNvPr id="157" name="Picture 156" descr="lock.png"/>
          <p:cNvPicPr>
            <a:picLocks noChangeAspect="1"/>
          </p:cNvPicPr>
          <p:nvPr/>
        </p:nvPicPr>
        <p:blipFill>
          <a:blip r:embed="rId4"/>
          <a:stretch>
            <a:fillRect/>
          </a:stretch>
        </p:blipFill>
        <p:spPr>
          <a:xfrm>
            <a:off x="4126650" y="5240401"/>
            <a:ext cx="128699" cy="187198"/>
          </a:xfrm>
          <a:prstGeom prst="rect">
            <a:avLst/>
          </a:prstGeom>
        </p:spPr>
      </p:pic>
      <p:pic>
        <p:nvPicPr>
          <p:cNvPr id="158" name="Picture 157" descr="lock.png"/>
          <p:cNvPicPr>
            <a:picLocks noChangeAspect="1"/>
          </p:cNvPicPr>
          <p:nvPr/>
        </p:nvPicPr>
        <p:blipFill>
          <a:blip r:embed="rId4"/>
          <a:stretch>
            <a:fillRect/>
          </a:stretch>
        </p:blipFill>
        <p:spPr>
          <a:xfrm>
            <a:off x="4126650" y="5735701"/>
            <a:ext cx="128699" cy="187198"/>
          </a:xfrm>
          <a:prstGeom prst="rect">
            <a:avLst/>
          </a:prstGeom>
        </p:spPr>
      </p:pic>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Strategic Activity by Function</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Where competitor activity concentrates by type and department, and what it means for each function</a:t>
            </a:r>
          </a:p>
        </p:txBody>
      </p:sp>
      <p:sp>
        <p:nvSpPr>
          <p:cNvPr id="10" name="Rectangle 9"/>
          <p:cNvSpPr/>
          <p:nvPr/>
        </p:nvSpPr>
        <p:spPr>
          <a:xfrm>
            <a:off x="190500" y="16383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5750" y="16002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TransMedics</a:t>
            </a:r>
          </a:p>
        </p:txBody>
      </p:sp>
      <p:sp>
        <p:nvSpPr>
          <p:cNvPr id="12" name="Rectangle 11"/>
          <p:cNvSpPr/>
          <p:nvPr/>
        </p:nvSpPr>
        <p:spPr>
          <a:xfrm>
            <a:off x="190500" y="18859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750" y="18478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OrganOx</a:t>
            </a:r>
          </a:p>
        </p:txBody>
      </p:sp>
      <p:sp>
        <p:nvSpPr>
          <p:cNvPr id="14" name="Rectangle 13"/>
          <p:cNvSpPr/>
          <p:nvPr/>
        </p:nvSpPr>
        <p:spPr>
          <a:xfrm>
            <a:off x="190500" y="213360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5750" y="20955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XVIVO Perfusion</a:t>
            </a:r>
          </a:p>
        </p:txBody>
      </p:sp>
      <p:sp>
        <p:nvSpPr>
          <p:cNvPr id="16" name="Rectangle 15"/>
          <p:cNvSpPr/>
          <p:nvPr/>
        </p:nvSpPr>
        <p:spPr>
          <a:xfrm>
            <a:off x="190500" y="2381250"/>
            <a:ext cx="38100" cy="171450"/>
          </a:xfrm>
          <a:prstGeom prst="rect">
            <a:avLst/>
          </a:prstGeom>
          <a:solidFill>
            <a:srgbClr val="1F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5750" y="23431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Paragonix Technologies</a:t>
            </a:r>
          </a:p>
        </p:txBody>
      </p:sp>
      <p:sp>
        <p:nvSpPr>
          <p:cNvPr id="18" name="Rectangle 17"/>
          <p:cNvSpPr/>
          <p:nvPr/>
        </p:nvSpPr>
        <p:spPr>
          <a:xfrm>
            <a:off x="190500" y="262890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750" y="25908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Organ Recovery Systems</a:t>
            </a:r>
          </a:p>
        </p:txBody>
      </p:sp>
      <p:sp>
        <p:nvSpPr>
          <p:cNvPr id="20" name="Rectangle 19"/>
          <p:cNvSpPr/>
          <p:nvPr/>
        </p:nvSpPr>
        <p:spPr>
          <a:xfrm>
            <a:off x="190500" y="2876550"/>
            <a:ext cx="38100" cy="171450"/>
          </a:xfrm>
          <a:prstGeom prst="rect">
            <a:avLst/>
          </a:prstGeom>
          <a:solidFill>
            <a:srgbClr val="E07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750" y="28384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IGL Group / Waters Medical Systems</a:t>
            </a:r>
          </a:p>
        </p:txBody>
      </p:sp>
      <p:sp>
        <p:nvSpPr>
          <p:cNvPr id="22" name="Rectangle 21"/>
          <p:cNvSpPr/>
          <p:nvPr/>
        </p:nvSpPr>
        <p:spPr>
          <a:xfrm>
            <a:off x="190500" y="31242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5750" y="30861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Bridge to Life</a:t>
            </a:r>
          </a:p>
        </p:txBody>
      </p:sp>
      <p:sp>
        <p:nvSpPr>
          <p:cNvPr id="24" name="Rectangle 23"/>
          <p:cNvSpPr/>
          <p:nvPr/>
        </p:nvSpPr>
        <p:spPr>
          <a:xfrm>
            <a:off x="190500" y="33718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5750" y="33337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Aferetica</a:t>
            </a:r>
          </a:p>
        </p:txBody>
      </p:sp>
      <p:sp>
        <p:nvSpPr>
          <p:cNvPr id="26" name="Rectangle 25"/>
          <p:cNvSpPr/>
          <p:nvPr/>
        </p:nvSpPr>
        <p:spPr>
          <a:xfrm>
            <a:off x="190500" y="361950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5750" y="358140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EBERS Medical Technology</a:t>
            </a:r>
          </a:p>
        </p:txBody>
      </p:sp>
      <p:sp>
        <p:nvSpPr>
          <p:cNvPr id="28" name="Rectangle 27"/>
          <p:cNvSpPr/>
          <p:nvPr/>
        </p:nvSpPr>
        <p:spPr>
          <a:xfrm>
            <a:off x="190500" y="3867150"/>
            <a:ext cx="38100" cy="17145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5750" y="3829050"/>
            <a:ext cx="1409700" cy="247650"/>
          </a:xfrm>
          <a:prstGeom prst="rect">
            <a:avLst/>
          </a:prstGeom>
          <a:noFill/>
        </p:spPr>
        <p:txBody>
          <a:bodyPr wrap="square" lIns="28575" rIns="28575" tIns="9525" bIns="9525" anchor="ctr">
            <a:spAutoFit/>
          </a:bodyPr>
          <a:lstStyle/>
          <a:p>
            <a:pPr algn="l"/>
            <a:r>
              <a:rPr sz="1100" b="1">
                <a:solidFill>
                  <a:srgbClr val="1F2933"/>
                </a:solidFill>
                <a:latin typeface="Calibri"/>
              </a:rPr>
              <a:t>Traferox Technologies</a:t>
            </a:r>
          </a:p>
        </p:txBody>
      </p:sp>
      <p:sp>
        <p:nvSpPr>
          <p:cNvPr id="30" name="TextBox 29"/>
          <p:cNvSpPr txBox="1"/>
          <p:nvPr/>
        </p:nvSpPr>
        <p:spPr>
          <a:xfrm>
            <a:off x="1714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Moves by type (count)</a:t>
            </a:r>
          </a:p>
        </p:txBody>
      </p:sp>
      <p:sp>
        <p:nvSpPr>
          <p:cNvPr id="31" name="TextBox 30"/>
          <p:cNvSpPr txBox="1"/>
          <p:nvPr/>
        </p:nvSpPr>
        <p:spPr>
          <a:xfrm>
            <a:off x="1714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MA</a:t>
            </a:r>
          </a:p>
        </p:txBody>
      </p:sp>
      <p:sp>
        <p:nvSpPr>
          <p:cNvPr id="32" name="TextBox 31"/>
          <p:cNvSpPr txBox="1"/>
          <p:nvPr/>
        </p:nvSpPr>
        <p:spPr>
          <a:xfrm>
            <a:off x="2264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PR</a:t>
            </a:r>
          </a:p>
        </p:txBody>
      </p:sp>
      <p:sp>
        <p:nvSpPr>
          <p:cNvPr id="33" name="TextBox 32"/>
          <p:cNvSpPr txBox="1"/>
          <p:nvPr/>
        </p:nvSpPr>
        <p:spPr>
          <a:xfrm>
            <a:off x="2815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EX</a:t>
            </a:r>
          </a:p>
        </p:txBody>
      </p:sp>
      <p:sp>
        <p:nvSpPr>
          <p:cNvPr id="34" name="TextBox 33"/>
          <p:cNvSpPr txBox="1"/>
          <p:nvPr/>
        </p:nvSpPr>
        <p:spPr>
          <a:xfrm>
            <a:off x="3365500"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RD</a:t>
            </a:r>
          </a:p>
        </p:txBody>
      </p:sp>
      <p:sp>
        <p:nvSpPr>
          <p:cNvPr id="35" name="TextBox 34"/>
          <p:cNvSpPr txBox="1"/>
          <p:nvPr/>
        </p:nvSpPr>
        <p:spPr>
          <a:xfrm>
            <a:off x="3915833"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RG</a:t>
            </a:r>
          </a:p>
        </p:txBody>
      </p:sp>
      <p:sp>
        <p:nvSpPr>
          <p:cNvPr id="36" name="TextBox 35"/>
          <p:cNvSpPr txBox="1"/>
          <p:nvPr/>
        </p:nvSpPr>
        <p:spPr>
          <a:xfrm>
            <a:off x="4466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CP</a:t>
            </a:r>
          </a:p>
        </p:txBody>
      </p:sp>
      <p:sp>
        <p:nvSpPr>
          <p:cNvPr id="37" name="Rectangle 36"/>
          <p:cNvSpPr/>
          <p:nvPr/>
        </p:nvSpPr>
        <p:spPr>
          <a:xfrm>
            <a:off x="1724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714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9" name="Rectangle 38"/>
          <p:cNvSpPr/>
          <p:nvPr/>
        </p:nvSpPr>
        <p:spPr>
          <a:xfrm>
            <a:off x="2274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824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15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2" name="Rectangle 41"/>
          <p:cNvSpPr/>
          <p:nvPr/>
        </p:nvSpPr>
        <p:spPr>
          <a:xfrm>
            <a:off x="3375025"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65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4" name="Rectangle 43"/>
          <p:cNvSpPr/>
          <p:nvPr/>
        </p:nvSpPr>
        <p:spPr>
          <a:xfrm>
            <a:off x="3925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5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6" name="Rectangle 45"/>
          <p:cNvSpPr/>
          <p:nvPr/>
        </p:nvSpPr>
        <p:spPr>
          <a:xfrm>
            <a:off x="4475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6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48" name="Rectangle 47"/>
          <p:cNvSpPr/>
          <p:nvPr/>
        </p:nvSpPr>
        <p:spPr>
          <a:xfrm>
            <a:off x="1724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274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264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51" name="Rectangle 50"/>
          <p:cNvSpPr/>
          <p:nvPr/>
        </p:nvSpPr>
        <p:spPr>
          <a:xfrm>
            <a:off x="2824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15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3" name="Rectangle 52"/>
          <p:cNvSpPr/>
          <p:nvPr/>
        </p:nvSpPr>
        <p:spPr>
          <a:xfrm>
            <a:off x="3375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365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5" name="Rectangle 54"/>
          <p:cNvSpPr/>
          <p:nvPr/>
        </p:nvSpPr>
        <p:spPr>
          <a:xfrm>
            <a:off x="3925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75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66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58" name="Rectangle 57"/>
          <p:cNvSpPr/>
          <p:nvPr/>
        </p:nvSpPr>
        <p:spPr>
          <a:xfrm>
            <a:off x="1724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14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0" name="Rectangle 59"/>
          <p:cNvSpPr/>
          <p:nvPr/>
        </p:nvSpPr>
        <p:spPr>
          <a:xfrm>
            <a:off x="2274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824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815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3" name="Rectangle 62"/>
          <p:cNvSpPr/>
          <p:nvPr/>
        </p:nvSpPr>
        <p:spPr>
          <a:xfrm>
            <a:off x="3375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365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5" name="Rectangle 64"/>
          <p:cNvSpPr/>
          <p:nvPr/>
        </p:nvSpPr>
        <p:spPr>
          <a:xfrm>
            <a:off x="3925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915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7" name="Rectangle 66"/>
          <p:cNvSpPr/>
          <p:nvPr/>
        </p:nvSpPr>
        <p:spPr>
          <a:xfrm>
            <a:off x="4475692"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66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69" name="Rectangle 68"/>
          <p:cNvSpPr/>
          <p:nvPr/>
        </p:nvSpPr>
        <p:spPr>
          <a:xfrm>
            <a:off x="1724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274358"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264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72" name="Rectangle 71"/>
          <p:cNvSpPr/>
          <p:nvPr/>
        </p:nvSpPr>
        <p:spPr>
          <a:xfrm>
            <a:off x="2824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815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4" name="Rectangle 73"/>
          <p:cNvSpPr/>
          <p:nvPr/>
        </p:nvSpPr>
        <p:spPr>
          <a:xfrm>
            <a:off x="3375025"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65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6" name="Rectangle 75"/>
          <p:cNvSpPr/>
          <p:nvPr/>
        </p:nvSpPr>
        <p:spPr>
          <a:xfrm>
            <a:off x="3925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4475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466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79" name="Rectangle 78"/>
          <p:cNvSpPr/>
          <p:nvPr/>
        </p:nvSpPr>
        <p:spPr>
          <a:xfrm>
            <a:off x="1724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714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1" name="Rectangle 80"/>
          <p:cNvSpPr/>
          <p:nvPr/>
        </p:nvSpPr>
        <p:spPr>
          <a:xfrm>
            <a:off x="2274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824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815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4" name="Rectangle 83"/>
          <p:cNvSpPr/>
          <p:nvPr/>
        </p:nvSpPr>
        <p:spPr>
          <a:xfrm>
            <a:off x="3375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365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6" name="Rectangle 85"/>
          <p:cNvSpPr/>
          <p:nvPr/>
        </p:nvSpPr>
        <p:spPr>
          <a:xfrm>
            <a:off x="3925358"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15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88" name="Rectangle 87"/>
          <p:cNvSpPr/>
          <p:nvPr/>
        </p:nvSpPr>
        <p:spPr>
          <a:xfrm>
            <a:off x="4475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6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0" name="Rectangle 89"/>
          <p:cNvSpPr/>
          <p:nvPr/>
        </p:nvSpPr>
        <p:spPr>
          <a:xfrm>
            <a:off x="1724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2274358"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264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93" name="Rectangle 92"/>
          <p:cNvSpPr/>
          <p:nvPr/>
        </p:nvSpPr>
        <p:spPr>
          <a:xfrm>
            <a:off x="2824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815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5" name="Rectangle 94"/>
          <p:cNvSpPr/>
          <p:nvPr/>
        </p:nvSpPr>
        <p:spPr>
          <a:xfrm>
            <a:off x="3375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365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97" name="Rectangle 96"/>
          <p:cNvSpPr/>
          <p:nvPr/>
        </p:nvSpPr>
        <p:spPr>
          <a:xfrm>
            <a:off x="3925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475692"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466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0" name="Rectangle 99"/>
          <p:cNvSpPr/>
          <p:nvPr/>
        </p:nvSpPr>
        <p:spPr>
          <a:xfrm>
            <a:off x="1724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714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2" name="Rectangle 101"/>
          <p:cNvSpPr/>
          <p:nvPr/>
        </p:nvSpPr>
        <p:spPr>
          <a:xfrm>
            <a:off x="2274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2824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815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5" name="Rectangle 104"/>
          <p:cNvSpPr/>
          <p:nvPr/>
        </p:nvSpPr>
        <p:spPr>
          <a:xfrm>
            <a:off x="3375025"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3365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7" name="Rectangle 106"/>
          <p:cNvSpPr/>
          <p:nvPr/>
        </p:nvSpPr>
        <p:spPr>
          <a:xfrm>
            <a:off x="3925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915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09" name="Rectangle 108"/>
          <p:cNvSpPr/>
          <p:nvPr/>
        </p:nvSpPr>
        <p:spPr>
          <a:xfrm>
            <a:off x="4475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466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1" name="Rectangle 110"/>
          <p:cNvSpPr/>
          <p:nvPr/>
        </p:nvSpPr>
        <p:spPr>
          <a:xfrm>
            <a:off x="1724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274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264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14" name="Rectangle 113"/>
          <p:cNvSpPr/>
          <p:nvPr/>
        </p:nvSpPr>
        <p:spPr>
          <a:xfrm>
            <a:off x="2824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815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6" name="Rectangle 115"/>
          <p:cNvSpPr/>
          <p:nvPr/>
        </p:nvSpPr>
        <p:spPr>
          <a:xfrm>
            <a:off x="3375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365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18" name="Rectangle 117"/>
          <p:cNvSpPr/>
          <p:nvPr/>
        </p:nvSpPr>
        <p:spPr>
          <a:xfrm>
            <a:off x="3925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4475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466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1" name="Rectangle 120"/>
          <p:cNvSpPr/>
          <p:nvPr/>
        </p:nvSpPr>
        <p:spPr>
          <a:xfrm>
            <a:off x="1724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714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3" name="Rectangle 122"/>
          <p:cNvSpPr/>
          <p:nvPr/>
        </p:nvSpPr>
        <p:spPr>
          <a:xfrm>
            <a:off x="2274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824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815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6" name="Rectangle 125"/>
          <p:cNvSpPr/>
          <p:nvPr/>
        </p:nvSpPr>
        <p:spPr>
          <a:xfrm>
            <a:off x="3375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365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28" name="Rectangle 127"/>
          <p:cNvSpPr/>
          <p:nvPr/>
        </p:nvSpPr>
        <p:spPr>
          <a:xfrm>
            <a:off x="3925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915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0" name="Rectangle 129"/>
          <p:cNvSpPr/>
          <p:nvPr/>
        </p:nvSpPr>
        <p:spPr>
          <a:xfrm>
            <a:off x="4475692"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466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2" name="Rectangle 131"/>
          <p:cNvSpPr/>
          <p:nvPr/>
        </p:nvSpPr>
        <p:spPr>
          <a:xfrm>
            <a:off x="1724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2274358"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264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135" name="Rectangle 134"/>
          <p:cNvSpPr/>
          <p:nvPr/>
        </p:nvSpPr>
        <p:spPr>
          <a:xfrm>
            <a:off x="2824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5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7" name="Rectangle 136"/>
          <p:cNvSpPr/>
          <p:nvPr/>
        </p:nvSpPr>
        <p:spPr>
          <a:xfrm>
            <a:off x="3375025"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365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39" name="Rectangle 138"/>
          <p:cNvSpPr/>
          <p:nvPr/>
        </p:nvSpPr>
        <p:spPr>
          <a:xfrm>
            <a:off x="3925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4475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4466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142" name="TextBox 141"/>
          <p:cNvSpPr txBox="1"/>
          <p:nvPr/>
        </p:nvSpPr>
        <p:spPr>
          <a:xfrm>
            <a:off x="52070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department</a:t>
            </a:r>
          </a:p>
        </p:txBody>
      </p:sp>
      <p:sp>
        <p:nvSpPr>
          <p:cNvPr id="143" name="TextBox 142"/>
          <p:cNvSpPr txBox="1"/>
          <p:nvPr/>
        </p:nvSpPr>
        <p:spPr>
          <a:xfrm>
            <a:off x="5207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Product &amp; R&amp;D</a:t>
            </a:r>
          </a:p>
        </p:txBody>
      </p:sp>
      <p:sp>
        <p:nvSpPr>
          <p:cNvPr id="144" name="TextBox 143"/>
          <p:cNvSpPr txBox="1"/>
          <p:nvPr/>
        </p:nvSpPr>
        <p:spPr>
          <a:xfrm>
            <a:off x="6032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Corp. dev.</a:t>
            </a:r>
          </a:p>
        </p:txBody>
      </p:sp>
      <p:sp>
        <p:nvSpPr>
          <p:cNvPr id="145" name="TextBox 144"/>
          <p:cNvSpPr txBox="1"/>
          <p:nvPr/>
        </p:nvSpPr>
        <p:spPr>
          <a:xfrm>
            <a:off x="68580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Operations</a:t>
            </a:r>
          </a:p>
        </p:txBody>
      </p:sp>
      <p:sp>
        <p:nvSpPr>
          <p:cNvPr id="146" name="TextBox 145"/>
          <p:cNvSpPr txBox="1"/>
          <p:nvPr/>
        </p:nvSpPr>
        <p:spPr>
          <a:xfrm>
            <a:off x="7683500" y="1219200"/>
            <a:ext cx="825500"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Legal &amp; reg.</a:t>
            </a:r>
          </a:p>
        </p:txBody>
      </p:sp>
      <p:sp>
        <p:nvSpPr>
          <p:cNvPr id="147" name="Rectangle 146"/>
          <p:cNvSpPr/>
          <p:nvPr/>
        </p:nvSpPr>
        <p:spPr>
          <a:xfrm>
            <a:off x="5216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207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49" name="Rectangle 148"/>
          <p:cNvSpPr/>
          <p:nvPr/>
        </p:nvSpPr>
        <p:spPr>
          <a:xfrm>
            <a:off x="6042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032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1" name="Rectangle 150"/>
          <p:cNvSpPr/>
          <p:nvPr/>
        </p:nvSpPr>
        <p:spPr>
          <a:xfrm>
            <a:off x="68675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580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3" name="Rectangle 152"/>
          <p:cNvSpPr/>
          <p:nvPr/>
        </p:nvSpPr>
        <p:spPr>
          <a:xfrm>
            <a:off x="7693025" y="16097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683500" y="16097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55" name="Rectangle 154"/>
          <p:cNvSpPr/>
          <p:nvPr/>
        </p:nvSpPr>
        <p:spPr>
          <a:xfrm>
            <a:off x="5216525" y="18573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5207000" y="18573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57" name="Rectangle 156"/>
          <p:cNvSpPr/>
          <p:nvPr/>
        </p:nvSpPr>
        <p:spPr>
          <a:xfrm>
            <a:off x="6042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6867525" y="18573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858000" y="18573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0" name="Rectangle 159"/>
          <p:cNvSpPr/>
          <p:nvPr/>
        </p:nvSpPr>
        <p:spPr>
          <a:xfrm>
            <a:off x="7693025" y="18573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5216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207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3" name="Rectangle 162"/>
          <p:cNvSpPr/>
          <p:nvPr/>
        </p:nvSpPr>
        <p:spPr>
          <a:xfrm>
            <a:off x="6042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032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5" name="Rectangle 164"/>
          <p:cNvSpPr/>
          <p:nvPr/>
        </p:nvSpPr>
        <p:spPr>
          <a:xfrm>
            <a:off x="68675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8580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7" name="Rectangle 166"/>
          <p:cNvSpPr/>
          <p:nvPr/>
        </p:nvSpPr>
        <p:spPr>
          <a:xfrm>
            <a:off x="7693025" y="21050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7683500" y="21050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69" name="Rectangle 168"/>
          <p:cNvSpPr/>
          <p:nvPr/>
        </p:nvSpPr>
        <p:spPr>
          <a:xfrm>
            <a:off x="5216525" y="23526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207000" y="23526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71" name="Rectangle 170"/>
          <p:cNvSpPr/>
          <p:nvPr/>
        </p:nvSpPr>
        <p:spPr>
          <a:xfrm>
            <a:off x="6042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6867525" y="23526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858000" y="23526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4" name="Rectangle 173"/>
          <p:cNvSpPr/>
          <p:nvPr/>
        </p:nvSpPr>
        <p:spPr>
          <a:xfrm>
            <a:off x="7693025" y="23526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5216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207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7" name="Rectangle 176"/>
          <p:cNvSpPr/>
          <p:nvPr/>
        </p:nvSpPr>
        <p:spPr>
          <a:xfrm>
            <a:off x="6042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032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79" name="Rectangle 178"/>
          <p:cNvSpPr/>
          <p:nvPr/>
        </p:nvSpPr>
        <p:spPr>
          <a:xfrm>
            <a:off x="68675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8580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1" name="Rectangle 180"/>
          <p:cNvSpPr/>
          <p:nvPr/>
        </p:nvSpPr>
        <p:spPr>
          <a:xfrm>
            <a:off x="7693025" y="26003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683500" y="26003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3" name="Rectangle 182"/>
          <p:cNvSpPr/>
          <p:nvPr/>
        </p:nvSpPr>
        <p:spPr>
          <a:xfrm>
            <a:off x="5216525" y="28479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5207000" y="28479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85" name="Rectangle 184"/>
          <p:cNvSpPr/>
          <p:nvPr/>
        </p:nvSpPr>
        <p:spPr>
          <a:xfrm>
            <a:off x="6042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867525" y="28479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858000" y="28479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88" name="Rectangle 187"/>
          <p:cNvSpPr/>
          <p:nvPr/>
        </p:nvSpPr>
        <p:spPr>
          <a:xfrm>
            <a:off x="7693025" y="28479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5216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5207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1" name="Rectangle 190"/>
          <p:cNvSpPr/>
          <p:nvPr/>
        </p:nvSpPr>
        <p:spPr>
          <a:xfrm>
            <a:off x="6042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032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3" name="Rectangle 192"/>
          <p:cNvSpPr/>
          <p:nvPr/>
        </p:nvSpPr>
        <p:spPr>
          <a:xfrm>
            <a:off x="68675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68580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5" name="Rectangle 194"/>
          <p:cNvSpPr/>
          <p:nvPr/>
        </p:nvSpPr>
        <p:spPr>
          <a:xfrm>
            <a:off x="7693025" y="30956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7683500" y="30956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197" name="Rectangle 196"/>
          <p:cNvSpPr/>
          <p:nvPr/>
        </p:nvSpPr>
        <p:spPr>
          <a:xfrm>
            <a:off x="5216525" y="33432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5207000" y="33432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199" name="Rectangle 198"/>
          <p:cNvSpPr/>
          <p:nvPr/>
        </p:nvSpPr>
        <p:spPr>
          <a:xfrm>
            <a:off x="6042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6867525" y="33432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6858000" y="33432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2" name="Rectangle 201"/>
          <p:cNvSpPr/>
          <p:nvPr/>
        </p:nvSpPr>
        <p:spPr>
          <a:xfrm>
            <a:off x="7693025" y="33432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5216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207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5" name="Rectangle 204"/>
          <p:cNvSpPr/>
          <p:nvPr/>
        </p:nvSpPr>
        <p:spPr>
          <a:xfrm>
            <a:off x="6042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6032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7" name="Rectangle 206"/>
          <p:cNvSpPr/>
          <p:nvPr/>
        </p:nvSpPr>
        <p:spPr>
          <a:xfrm>
            <a:off x="68675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8580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09" name="Rectangle 208"/>
          <p:cNvSpPr/>
          <p:nvPr/>
        </p:nvSpPr>
        <p:spPr>
          <a:xfrm>
            <a:off x="7693025" y="359092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7683500" y="359092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1" name="Rectangle 210"/>
          <p:cNvSpPr/>
          <p:nvPr/>
        </p:nvSpPr>
        <p:spPr>
          <a:xfrm>
            <a:off x="5216525" y="3838575"/>
            <a:ext cx="806450" cy="228600"/>
          </a:xfrm>
          <a:prstGeom prst="rect">
            <a:avLst/>
          </a:prstGeom>
          <a:solidFill>
            <a:srgbClr val="3D73AE"/>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5207000" y="3838575"/>
            <a:ext cx="825500" cy="228600"/>
          </a:xfrm>
          <a:prstGeom prst="rect">
            <a:avLst/>
          </a:prstGeom>
          <a:noFill/>
        </p:spPr>
        <p:txBody>
          <a:bodyPr wrap="square" lIns="28575" rIns="28575" tIns="9525" bIns="9525" anchor="ctr">
            <a:spAutoFit/>
          </a:bodyPr>
          <a:lstStyle/>
          <a:p>
            <a:pPr algn="ctr"/>
            <a:r>
              <a:rPr sz="1100" b="1">
                <a:solidFill>
                  <a:srgbClr val="FFFFFF"/>
                </a:solidFill>
                <a:latin typeface="Calibri"/>
              </a:rPr>
              <a:t>3</a:t>
            </a:r>
          </a:p>
        </p:txBody>
      </p:sp>
      <p:sp>
        <p:nvSpPr>
          <p:cNvPr id="213" name="Rectangle 212"/>
          <p:cNvSpPr/>
          <p:nvPr/>
        </p:nvSpPr>
        <p:spPr>
          <a:xfrm>
            <a:off x="6042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6867525" y="3838575"/>
            <a:ext cx="806450"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6858000" y="3838575"/>
            <a:ext cx="825500" cy="228600"/>
          </a:xfrm>
          <a:prstGeom prst="rect">
            <a:avLst/>
          </a:prstGeom>
          <a:noFill/>
        </p:spPr>
        <p:txBody>
          <a:bodyPr wrap="square" lIns="28575" rIns="28575" tIns="9525" bIns="9525" anchor="ctr">
            <a:spAutoFit/>
          </a:bodyPr>
          <a:lstStyle/>
          <a:p>
            <a:pPr algn="ctr"/>
            <a:r>
              <a:rPr sz="1100" b="1">
                <a:solidFill>
                  <a:srgbClr val="0F2D52"/>
                </a:solidFill>
                <a:latin typeface="Calibri"/>
              </a:rPr>
              <a:t>1</a:t>
            </a:r>
          </a:p>
        </p:txBody>
      </p:sp>
      <p:sp>
        <p:nvSpPr>
          <p:cNvPr id="216" name="Rectangle 215"/>
          <p:cNvSpPr/>
          <p:nvPr/>
        </p:nvSpPr>
        <p:spPr>
          <a:xfrm>
            <a:off x="7693025" y="3838575"/>
            <a:ext cx="806450"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699500" y="1047750"/>
            <a:ext cx="3302000" cy="171450"/>
          </a:xfrm>
          <a:prstGeom prst="rect">
            <a:avLst/>
          </a:prstGeom>
          <a:noFill/>
        </p:spPr>
        <p:txBody>
          <a:bodyPr wrap="square" lIns="28575" rIns="28575" tIns="9525" bIns="9525" anchor="t">
            <a:spAutoFit/>
          </a:bodyPr>
          <a:lstStyle/>
          <a:p>
            <a:pPr algn="l"/>
            <a:r>
              <a:rPr sz="1100" b="1">
                <a:solidFill>
                  <a:srgbClr val="0F2D52"/>
                </a:solidFill>
                <a:latin typeface="Calibri"/>
              </a:rPr>
              <a:t>By region of activity</a:t>
            </a:r>
          </a:p>
        </p:txBody>
      </p:sp>
      <p:sp>
        <p:nvSpPr>
          <p:cNvPr id="218" name="TextBox 217"/>
          <p:cNvSpPr txBox="1"/>
          <p:nvPr/>
        </p:nvSpPr>
        <p:spPr>
          <a:xfrm>
            <a:off x="8699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N. America</a:t>
            </a:r>
          </a:p>
        </p:txBody>
      </p:sp>
      <p:sp>
        <p:nvSpPr>
          <p:cNvPr id="219" name="TextBox 218"/>
          <p:cNvSpPr txBox="1"/>
          <p:nvPr/>
        </p:nvSpPr>
        <p:spPr>
          <a:xfrm>
            <a:off x="9249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Europe</a:t>
            </a:r>
          </a:p>
        </p:txBody>
      </p:sp>
      <p:sp>
        <p:nvSpPr>
          <p:cNvPr id="220" name="TextBox 219"/>
          <p:cNvSpPr txBox="1"/>
          <p:nvPr/>
        </p:nvSpPr>
        <p:spPr>
          <a:xfrm>
            <a:off x="9800167"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S. Asia &amp; Pac.</a:t>
            </a:r>
          </a:p>
        </p:txBody>
      </p:sp>
      <p:sp>
        <p:nvSpPr>
          <p:cNvPr id="221" name="TextBox 220"/>
          <p:cNvSpPr txBox="1"/>
          <p:nvPr/>
        </p:nvSpPr>
        <p:spPr>
          <a:xfrm>
            <a:off x="10350500"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E. Asia</a:t>
            </a:r>
          </a:p>
        </p:txBody>
      </p:sp>
      <p:sp>
        <p:nvSpPr>
          <p:cNvPr id="222" name="TextBox 221"/>
          <p:cNvSpPr txBox="1"/>
          <p:nvPr/>
        </p:nvSpPr>
        <p:spPr>
          <a:xfrm>
            <a:off x="10900833" y="1219200"/>
            <a:ext cx="550333" cy="342900"/>
          </a:xfrm>
          <a:prstGeom prst="rect">
            <a:avLst/>
          </a:prstGeom>
          <a:noFill/>
        </p:spPr>
        <p:txBody>
          <a:bodyPr wrap="square" lIns="28575" rIns="28575" tIns="9525" bIns="9525" anchor="ctr">
            <a:spAutoFit/>
          </a:bodyPr>
          <a:lstStyle/>
          <a:p>
            <a:pPr algn="ctr">
              <a:lnSpc>
                <a:spcPct val="115000"/>
              </a:lnSpc>
            </a:pPr>
            <a:r>
              <a:rPr sz="1100" b="1">
                <a:solidFill>
                  <a:srgbClr val="1F2933"/>
                </a:solidFill>
                <a:latin typeface="Calibri"/>
              </a:rPr>
              <a:t>LATAM</a:t>
            </a:r>
          </a:p>
        </p:txBody>
      </p:sp>
      <p:sp>
        <p:nvSpPr>
          <p:cNvPr id="223" name="TextBox 222"/>
          <p:cNvSpPr txBox="1"/>
          <p:nvPr/>
        </p:nvSpPr>
        <p:spPr>
          <a:xfrm>
            <a:off x="11451167" y="1219200"/>
            <a:ext cx="550333" cy="342900"/>
          </a:xfrm>
          <a:prstGeom prst="rect">
            <a:avLst/>
          </a:prstGeom>
          <a:noFill/>
        </p:spPr>
        <p:txBody>
          <a:bodyPr wrap="none" lIns="0" rIns="0" tIns="0" bIns="0" anchor="ctr">
            <a:spAutoFit/>
          </a:bodyPr>
          <a:lstStyle/>
          <a:p>
            <a:pPr algn="ctr">
              <a:lnSpc>
                <a:spcPct val="115000"/>
              </a:lnSpc>
            </a:pPr>
            <a:r>
              <a:rPr sz="1100" b="1">
                <a:solidFill>
                  <a:srgbClr val="1F2933"/>
                </a:solidFill>
                <a:latin typeface="Calibri"/>
              </a:rPr>
              <a:t>MEA</a:t>
            </a:r>
          </a:p>
        </p:txBody>
      </p:sp>
      <p:sp>
        <p:nvSpPr>
          <p:cNvPr id="224" name="Rectangle 223"/>
          <p:cNvSpPr/>
          <p:nvPr/>
        </p:nvSpPr>
        <p:spPr>
          <a:xfrm>
            <a:off x="8709025" y="16097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8699500"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26" name="Rectangle 225"/>
          <p:cNvSpPr/>
          <p:nvPr/>
        </p:nvSpPr>
        <p:spPr>
          <a:xfrm>
            <a:off x="9259358"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249833"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28" name="Rectangle 227"/>
          <p:cNvSpPr/>
          <p:nvPr/>
        </p:nvSpPr>
        <p:spPr>
          <a:xfrm>
            <a:off x="9809692" y="16097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800167" y="16097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0" name="Rectangle 229"/>
          <p:cNvSpPr/>
          <p:nvPr/>
        </p:nvSpPr>
        <p:spPr>
          <a:xfrm>
            <a:off x="10360025"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10910358"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11460692" y="16097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8709025"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259358" y="18573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249833"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36" name="Rectangle 235"/>
          <p:cNvSpPr/>
          <p:nvPr/>
        </p:nvSpPr>
        <p:spPr>
          <a:xfrm>
            <a:off x="9809692"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9800167"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38" name="Rectangle 237"/>
          <p:cNvSpPr/>
          <p:nvPr/>
        </p:nvSpPr>
        <p:spPr>
          <a:xfrm>
            <a:off x="10360025" y="18573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350500" y="18573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0" name="Rectangle 239"/>
          <p:cNvSpPr/>
          <p:nvPr/>
        </p:nvSpPr>
        <p:spPr>
          <a:xfrm>
            <a:off x="10910358"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1460692" y="18573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709025"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9259358"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809692" y="21050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9800167"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46" name="Rectangle 245"/>
          <p:cNvSpPr/>
          <p:nvPr/>
        </p:nvSpPr>
        <p:spPr>
          <a:xfrm>
            <a:off x="10360025"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10350500"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48" name="Rectangle 247"/>
          <p:cNvSpPr/>
          <p:nvPr/>
        </p:nvSpPr>
        <p:spPr>
          <a:xfrm>
            <a:off x="10910358" y="21050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900833" y="21050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0" name="Rectangle 249"/>
          <p:cNvSpPr/>
          <p:nvPr/>
        </p:nvSpPr>
        <p:spPr>
          <a:xfrm>
            <a:off x="11460692" y="21050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709025"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259358"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9809692" y="23526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360025" y="23526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350500"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56" name="Rectangle 255"/>
          <p:cNvSpPr/>
          <p:nvPr/>
        </p:nvSpPr>
        <p:spPr>
          <a:xfrm>
            <a:off x="10910358"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0900833"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58" name="Rectangle 257"/>
          <p:cNvSpPr/>
          <p:nvPr/>
        </p:nvSpPr>
        <p:spPr>
          <a:xfrm>
            <a:off x="11460692" y="23526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11451167" y="23526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0" name="Rectangle 259"/>
          <p:cNvSpPr/>
          <p:nvPr/>
        </p:nvSpPr>
        <p:spPr>
          <a:xfrm>
            <a:off x="8709025"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699500"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2" name="Rectangle 261"/>
          <p:cNvSpPr/>
          <p:nvPr/>
        </p:nvSpPr>
        <p:spPr>
          <a:xfrm>
            <a:off x="9259358"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09692"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360025" y="26003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910358" y="26003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0900833"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67" name="Rectangle 266"/>
          <p:cNvSpPr/>
          <p:nvPr/>
        </p:nvSpPr>
        <p:spPr>
          <a:xfrm>
            <a:off x="11460692" y="26003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451167" y="26003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69" name="Rectangle 268"/>
          <p:cNvSpPr/>
          <p:nvPr/>
        </p:nvSpPr>
        <p:spPr>
          <a:xfrm>
            <a:off x="8709025"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8699500"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1" name="Rectangle 270"/>
          <p:cNvSpPr/>
          <p:nvPr/>
        </p:nvSpPr>
        <p:spPr>
          <a:xfrm>
            <a:off x="9259358" y="28479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9249833"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73" name="Rectangle 272"/>
          <p:cNvSpPr/>
          <p:nvPr/>
        </p:nvSpPr>
        <p:spPr>
          <a:xfrm>
            <a:off x="9809692"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10360025"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10910358" y="28479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1460692" y="28479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451167" y="28479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78" name="Rectangle 277"/>
          <p:cNvSpPr/>
          <p:nvPr/>
        </p:nvSpPr>
        <p:spPr>
          <a:xfrm>
            <a:off x="8709025" y="30956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8699500"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80" name="Rectangle 279"/>
          <p:cNvSpPr/>
          <p:nvPr/>
        </p:nvSpPr>
        <p:spPr>
          <a:xfrm>
            <a:off x="9259358"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9249833"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2" name="Rectangle 281"/>
          <p:cNvSpPr/>
          <p:nvPr/>
        </p:nvSpPr>
        <p:spPr>
          <a:xfrm>
            <a:off x="9809692" y="30956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9800167" y="30956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84" name="Rectangle 283"/>
          <p:cNvSpPr/>
          <p:nvPr/>
        </p:nvSpPr>
        <p:spPr>
          <a:xfrm>
            <a:off x="10360025"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0358"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11460692" y="30956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8709025"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259358" y="33432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9249833"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290" name="Rectangle 289"/>
          <p:cNvSpPr/>
          <p:nvPr/>
        </p:nvSpPr>
        <p:spPr>
          <a:xfrm>
            <a:off x="9809692"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TextBox 290"/>
          <p:cNvSpPr txBox="1"/>
          <p:nvPr/>
        </p:nvSpPr>
        <p:spPr>
          <a:xfrm>
            <a:off x="9800167"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2" name="Rectangle 291"/>
          <p:cNvSpPr/>
          <p:nvPr/>
        </p:nvSpPr>
        <p:spPr>
          <a:xfrm>
            <a:off x="10360025" y="33432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TextBox 292"/>
          <p:cNvSpPr txBox="1"/>
          <p:nvPr/>
        </p:nvSpPr>
        <p:spPr>
          <a:xfrm>
            <a:off x="10350500" y="33432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294" name="Rectangle 293"/>
          <p:cNvSpPr/>
          <p:nvPr/>
        </p:nvSpPr>
        <p:spPr>
          <a:xfrm>
            <a:off x="10910358"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1460692" y="33432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09025"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9259358"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809692" y="359092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TextBox 298"/>
          <p:cNvSpPr txBox="1"/>
          <p:nvPr/>
        </p:nvSpPr>
        <p:spPr>
          <a:xfrm>
            <a:off x="9800167"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00" name="Rectangle 299"/>
          <p:cNvSpPr/>
          <p:nvPr/>
        </p:nvSpPr>
        <p:spPr>
          <a:xfrm>
            <a:off x="10360025"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10350500"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2" name="Rectangle 301"/>
          <p:cNvSpPr/>
          <p:nvPr/>
        </p:nvSpPr>
        <p:spPr>
          <a:xfrm>
            <a:off x="10910358" y="359092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900833" y="359092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04" name="Rectangle 303"/>
          <p:cNvSpPr/>
          <p:nvPr/>
        </p:nvSpPr>
        <p:spPr>
          <a:xfrm>
            <a:off x="11460692" y="359092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8709025"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9259358"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9809692" y="3838575"/>
            <a:ext cx="531283" cy="228600"/>
          </a:xfrm>
          <a:prstGeom prst="rect">
            <a:avLst/>
          </a:prstGeom>
          <a:solidFill>
            <a:srgbClr val="FFFFFF"/>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360025" y="3838575"/>
            <a:ext cx="531283" cy="228600"/>
          </a:xfrm>
          <a:prstGeom prst="rect">
            <a:avLst/>
          </a:prstGeom>
          <a:solidFill>
            <a:srgbClr val="8FB4DC"/>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0350500"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2</a:t>
            </a:r>
          </a:p>
        </p:txBody>
      </p:sp>
      <p:sp>
        <p:nvSpPr>
          <p:cNvPr id="310" name="Rectangle 309"/>
          <p:cNvSpPr/>
          <p:nvPr/>
        </p:nvSpPr>
        <p:spPr>
          <a:xfrm>
            <a:off x="10910358"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0900833"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2" name="Rectangle 311"/>
          <p:cNvSpPr/>
          <p:nvPr/>
        </p:nvSpPr>
        <p:spPr>
          <a:xfrm>
            <a:off x="11460692" y="3838575"/>
            <a:ext cx="531283" cy="228600"/>
          </a:xfrm>
          <a:prstGeom prst="rect">
            <a:avLst/>
          </a:prstGeom>
          <a:solidFill>
            <a:srgbClr val="CFE0F1"/>
          </a:solidFill>
          <a:ln w="6350">
            <a:solidFill>
              <a:srgbClr val="D5DD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1451167" y="3838575"/>
            <a:ext cx="550333" cy="228600"/>
          </a:xfrm>
          <a:prstGeom prst="rect">
            <a:avLst/>
          </a:prstGeom>
          <a:noFill/>
        </p:spPr>
        <p:txBody>
          <a:bodyPr wrap="none" lIns="0" rIns="0" tIns="0" bIns="0" anchor="ctr">
            <a:spAutoFit/>
          </a:bodyPr>
          <a:lstStyle/>
          <a:p>
            <a:pPr algn="ctr"/>
            <a:r>
              <a:rPr sz="1100" b="1">
                <a:solidFill>
                  <a:srgbClr val="0F2D52"/>
                </a:solidFill>
                <a:latin typeface="Calibri"/>
              </a:rPr>
              <a:t>1</a:t>
            </a:r>
          </a:p>
        </p:txBody>
      </p:sp>
      <p:sp>
        <p:nvSpPr>
          <p:cNvPr id="314" name="Rectangle 313"/>
          <p:cNvSpPr/>
          <p:nvPr/>
        </p:nvSpPr>
        <p:spPr>
          <a:xfrm>
            <a:off x="190500" y="4171950"/>
            <a:ext cx="209550" cy="123825"/>
          </a:xfrm>
          <a:prstGeom prst="rect">
            <a:avLst/>
          </a:prstGeom>
          <a:solidFill>
            <a:srgbClr val="CFE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4381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1 move</a:t>
            </a:r>
          </a:p>
        </p:txBody>
      </p:sp>
      <p:sp>
        <p:nvSpPr>
          <p:cNvPr id="316" name="Rectangle 315"/>
          <p:cNvSpPr/>
          <p:nvPr/>
        </p:nvSpPr>
        <p:spPr>
          <a:xfrm>
            <a:off x="1238250" y="4171950"/>
            <a:ext cx="209550" cy="123825"/>
          </a:xfrm>
          <a:prstGeom prst="rect">
            <a:avLst/>
          </a:prstGeom>
          <a:solidFill>
            <a:srgbClr val="8FB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48590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2 moves</a:t>
            </a:r>
          </a:p>
        </p:txBody>
      </p:sp>
      <p:sp>
        <p:nvSpPr>
          <p:cNvPr id="318" name="Rectangle 317"/>
          <p:cNvSpPr/>
          <p:nvPr/>
        </p:nvSpPr>
        <p:spPr>
          <a:xfrm>
            <a:off x="2286000" y="4171950"/>
            <a:ext cx="209550" cy="123825"/>
          </a:xfrm>
          <a:prstGeom prst="rect">
            <a:avLst/>
          </a:prstGeom>
          <a:solidFill>
            <a:srgbClr val="3D73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2533650" y="4133850"/>
            <a:ext cx="1047750" cy="190500"/>
          </a:xfrm>
          <a:prstGeom prst="rect">
            <a:avLst/>
          </a:prstGeom>
          <a:noFill/>
        </p:spPr>
        <p:txBody>
          <a:bodyPr wrap="square" lIns="28575" rIns="28575" tIns="9525" bIns="9525" anchor="ctr">
            <a:spAutoFit/>
          </a:bodyPr>
          <a:lstStyle/>
          <a:p>
            <a:pPr algn="l"/>
            <a:r>
              <a:rPr sz="1100" b="0">
                <a:solidFill>
                  <a:srgbClr val="1F2933"/>
                </a:solidFill>
                <a:latin typeface="Calibri"/>
              </a:rPr>
              <a:t>3+ moves</a:t>
            </a:r>
          </a:p>
        </p:txBody>
      </p:sp>
      <p:sp>
        <p:nvSpPr>
          <p:cNvPr id="320" name="TextBox 319"/>
          <p:cNvSpPr txBox="1"/>
          <p:nvPr/>
        </p:nvSpPr>
        <p:spPr>
          <a:xfrm>
            <a:off x="3524250" y="4133850"/>
            <a:ext cx="8477250" cy="190500"/>
          </a:xfrm>
          <a:prstGeom prst="rect">
            <a:avLst/>
          </a:prstGeom>
          <a:noFill/>
        </p:spPr>
        <p:txBody>
          <a:bodyPr wrap="square" lIns="28575" rIns="28575" tIns="9525" bIns="9525" anchor="ctr">
            <a:spAutoFit/>
          </a:bodyPr>
          <a:lstStyle/>
          <a:p>
            <a:pPr algn="l"/>
            <a:r>
              <a:rPr sz="1100" b="0">
                <a:solidFill>
                  <a:srgbClr val="5F6B7A"/>
                </a:solidFill>
                <a:latin typeface="Calibri"/>
              </a:rPr>
              <a:t>Type codes: MA M&amp;A, PR Product / portfolio, EX Expansion, RD R&amp;D / technology, RG Regulation / compliance, CP Capital / funding</a:t>
            </a:r>
          </a:p>
        </p:txBody>
      </p:sp>
      <p:cxnSp>
        <p:nvCxnSpPr>
          <p:cNvPr id="321" name="Connector 320"/>
          <p:cNvCxnSpPr/>
          <p:nvPr/>
        </p:nvCxnSpPr>
        <p:spPr>
          <a:xfrm>
            <a:off x="190500" y="4400550"/>
            <a:ext cx="11811000" cy="0"/>
          </a:xfrm>
          <a:prstGeom prst="line">
            <a:avLst/>
          </a:prstGeom>
          <a:ln w="19050">
            <a:solidFill>
              <a:srgbClr val="0F2D52"/>
            </a:solidFill>
          </a:ln>
          <a:effectLst/>
        </p:spPr>
        <p:style>
          <a:lnRef idx="2">
            <a:schemeClr val="accent1"/>
          </a:lnRef>
          <a:fillRef idx="0">
            <a:schemeClr val="accent1"/>
          </a:fillRef>
          <a:effectRef idx="1">
            <a:schemeClr val="accent1"/>
          </a:effectRef>
          <a:fontRef idx="minor">
            <a:schemeClr val="tx1"/>
          </a:fontRef>
        </p:style>
      </p:cxnSp>
      <p:sp>
        <p:nvSpPr>
          <p:cNvPr id="322" name="TextBox 321"/>
          <p:cNvSpPr txBox="1"/>
          <p:nvPr/>
        </p:nvSpPr>
        <p:spPr>
          <a:xfrm>
            <a:off x="190500" y="4457700"/>
            <a:ext cx="5715000" cy="171450"/>
          </a:xfrm>
          <a:prstGeom prst="rect">
            <a:avLst/>
          </a:prstGeom>
          <a:noFill/>
        </p:spPr>
        <p:txBody>
          <a:bodyPr wrap="square" lIns="28575" rIns="28575" tIns="9525" bIns="9525" anchor="t">
            <a:spAutoFit/>
          </a:bodyPr>
          <a:lstStyle/>
          <a:p>
            <a:pPr algn="l"/>
            <a:r>
              <a:rPr sz="1100" b="1">
                <a:solidFill>
                  <a:srgbClr val="0F2D52"/>
                </a:solidFill>
                <a:latin typeface="Calibri"/>
              </a:rPr>
              <a:t>WHAT IT MEANS FOR EACH OF YOUR DEPARTMENTS</a:t>
            </a:r>
          </a:p>
        </p:txBody>
      </p:sp>
      <p:sp>
        <p:nvSpPr>
          <p:cNvPr id="323" name="Rectangle 322"/>
          <p:cNvSpPr/>
          <p:nvPr/>
        </p:nvSpPr>
        <p:spPr>
          <a:xfrm>
            <a:off x="1905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TextBox 323"/>
          <p:cNvSpPr txBox="1"/>
          <p:nvPr/>
        </p:nvSpPr>
        <p:spPr>
          <a:xfrm>
            <a:off x="2667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Sales</a:t>
            </a:r>
          </a:p>
        </p:txBody>
      </p:sp>
      <p:sp>
        <p:nvSpPr>
          <p:cNvPr id="325" name="TextBox 324"/>
          <p:cNvSpPr txBox="1"/>
          <p:nvPr/>
        </p:nvSpPr>
        <p:spPr>
          <a:xfrm>
            <a:off x="1905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10 expansion moves target new regions and volume tiers: defend key accounts where rivals expand.</a:t>
            </a:r>
          </a:p>
        </p:txBody>
      </p:sp>
      <p:sp>
        <p:nvSpPr>
          <p:cNvPr id="326" name="Rectangle 325"/>
          <p:cNvSpPr/>
          <p:nvPr/>
        </p:nvSpPr>
        <p:spPr>
          <a:xfrm>
            <a:off x="21780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22542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Marketing</a:t>
            </a:r>
          </a:p>
        </p:txBody>
      </p:sp>
      <p:sp>
        <p:nvSpPr>
          <p:cNvPr id="328" name="TextBox 327"/>
          <p:cNvSpPr txBox="1"/>
          <p:nvPr/>
        </p:nvSpPr>
        <p:spPr>
          <a:xfrm>
            <a:off x="21780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Certification and compliance are being used as trust signals; make your own credentials visible.</a:t>
            </a:r>
          </a:p>
        </p:txBody>
      </p:sp>
      <p:sp>
        <p:nvSpPr>
          <p:cNvPr id="329" name="Rectangle 328"/>
          <p:cNvSpPr/>
          <p:nvPr/>
        </p:nvSpPr>
        <p:spPr>
          <a:xfrm>
            <a:off x="41656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TextBox 329"/>
          <p:cNvSpPr txBox="1"/>
          <p:nvPr/>
        </p:nvSpPr>
        <p:spPr>
          <a:xfrm>
            <a:off x="42418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Product and R&amp;D</a:t>
            </a:r>
          </a:p>
        </p:txBody>
      </p:sp>
      <p:sp>
        <p:nvSpPr>
          <p:cNvPr id="331" name="TextBox 330"/>
          <p:cNvSpPr txBox="1"/>
          <p:nvPr/>
        </p:nvSpPr>
        <p:spPr>
          <a:xfrm>
            <a:off x="41656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20 product and R&amp;D moves: benchmark launches and the technology roadmap.</a:t>
            </a:r>
          </a:p>
        </p:txBody>
      </p:sp>
      <p:sp>
        <p:nvSpPr>
          <p:cNvPr id="332" name="Rectangle 331"/>
          <p:cNvSpPr/>
          <p:nvPr/>
        </p:nvSpPr>
        <p:spPr>
          <a:xfrm>
            <a:off x="61531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2293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Corporate development</a:t>
            </a:r>
          </a:p>
        </p:txBody>
      </p:sp>
      <p:sp>
        <p:nvSpPr>
          <p:cNvPr id="334" name="TextBox 333"/>
          <p:cNvSpPr txBox="1"/>
          <p:nvPr/>
        </p:nvSpPr>
        <p:spPr>
          <a:xfrm>
            <a:off x="61531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are acquiring; the independent target list is shrinking.</a:t>
            </a:r>
          </a:p>
        </p:txBody>
      </p:sp>
      <p:sp>
        <p:nvSpPr>
          <p:cNvPr id="335" name="Rectangle 334"/>
          <p:cNvSpPr/>
          <p:nvPr/>
        </p:nvSpPr>
        <p:spPr>
          <a:xfrm>
            <a:off x="814070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821690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Operations</a:t>
            </a:r>
          </a:p>
        </p:txBody>
      </p:sp>
      <p:sp>
        <p:nvSpPr>
          <p:cNvPr id="337" name="TextBox 336"/>
          <p:cNvSpPr txBox="1"/>
          <p:nvPr/>
        </p:nvSpPr>
        <p:spPr>
          <a:xfrm>
            <a:off x="814070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Expansion moves add capacity in rivals' home regions; review supply and lead times.</a:t>
            </a:r>
          </a:p>
        </p:txBody>
      </p:sp>
      <p:sp>
        <p:nvSpPr>
          <p:cNvPr id="338" name="Rectangle 337"/>
          <p:cNvSpPr/>
          <p:nvPr/>
        </p:nvSpPr>
        <p:spPr>
          <a:xfrm>
            <a:off x="10128250" y="4686300"/>
            <a:ext cx="1873250" cy="228600"/>
          </a:xfrm>
          <a:prstGeom prst="rect">
            <a:avLst/>
          </a:prstGeom>
          <a:solidFill>
            <a:srgbClr val="0F2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TextBox 338"/>
          <p:cNvSpPr txBox="1"/>
          <p:nvPr/>
        </p:nvSpPr>
        <p:spPr>
          <a:xfrm>
            <a:off x="10204450" y="4686300"/>
            <a:ext cx="1758950" cy="228600"/>
          </a:xfrm>
          <a:prstGeom prst="rect">
            <a:avLst/>
          </a:prstGeom>
          <a:noFill/>
        </p:spPr>
        <p:txBody>
          <a:bodyPr wrap="square" lIns="28575" rIns="28575" tIns="9525" bIns="9525" anchor="ctr">
            <a:spAutoFit/>
          </a:bodyPr>
          <a:lstStyle/>
          <a:p>
            <a:pPr algn="l"/>
            <a:r>
              <a:rPr sz="1100" b="1">
                <a:solidFill>
                  <a:srgbClr val="FFFFFF"/>
                </a:solidFill>
                <a:latin typeface="Calibri"/>
              </a:rPr>
              <a:t>Legal and regulatory</a:t>
            </a:r>
          </a:p>
        </p:txBody>
      </p:sp>
      <p:sp>
        <p:nvSpPr>
          <p:cNvPr id="340" name="TextBox 339"/>
          <p:cNvSpPr txBox="1"/>
          <p:nvPr/>
        </p:nvSpPr>
        <p:spPr>
          <a:xfrm>
            <a:off x="10128250" y="4953000"/>
            <a:ext cx="1873250" cy="857250"/>
          </a:xfrm>
          <a:prstGeom prst="rect">
            <a:avLst/>
          </a:prstGeom>
          <a:noFill/>
        </p:spPr>
        <p:txBody>
          <a:bodyPr wrap="square" lIns="28575" rIns="28575" tIns="9525" bIns="9525" anchor="t">
            <a:spAutoFit/>
          </a:bodyPr>
          <a:lstStyle/>
          <a:p>
            <a:pPr algn="l">
              <a:lnSpc>
                <a:spcPct val="115000"/>
              </a:lnSpc>
            </a:pPr>
            <a:r>
              <a:rPr sz="1100" b="0">
                <a:solidFill>
                  <a:srgbClr val="1F2933"/>
                </a:solidFill>
                <a:latin typeface="Calibri"/>
              </a:rPr>
              <a:t>5 players lean on certification; audit your own compliance position.</a:t>
            </a:r>
          </a:p>
        </p:txBody>
      </p:sp>
      <p:sp>
        <p:nvSpPr>
          <p:cNvPr id="341" name="TextBox 340"/>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Organ Transport Devices Market, Global 2026 (1/2)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5810250" cy="400050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Tier Ladder – Share of Market Value, 2026</a:t>
            </a:r>
          </a:p>
        </p:txBody>
      </p:sp>
      <p:sp>
        <p:nvSpPr>
          <p:cNvPr id="12" name="TextBox 11"/>
          <p:cNvSpPr txBox="1"/>
          <p:nvPr/>
        </p:nvSpPr>
        <p:spPr>
          <a:xfrm>
            <a:off x="238125" y="1304925"/>
            <a:ext cx="5619750" cy="247650"/>
          </a:xfrm>
          <a:prstGeom prst="rect">
            <a:avLst/>
          </a:prstGeom>
          <a:noFill/>
        </p:spPr>
        <p:txBody>
          <a:bodyPr wrap="square" lIns="28575" rIns="28575" tIns="9525" bIns="9525" anchor="ctr">
            <a:spAutoFit/>
          </a:bodyPr>
          <a:lstStyle/>
          <a:p>
            <a:pPr algn="l"/>
            <a:r>
              <a:rPr sz="1100" b="0">
                <a:solidFill>
                  <a:srgbClr val="6B7280"/>
                </a:solidFill>
                <a:latin typeface="Calibri"/>
              </a:rPr>
              <a:t/>
            </a:r>
          </a:p>
        </p:txBody>
      </p:sp>
      <p:sp>
        <p:nvSpPr>
          <p:cNvPr id="13" name="TextBox 12"/>
          <p:cNvSpPr txBox="1"/>
          <p:nvPr/>
        </p:nvSpPr>
        <p:spPr>
          <a:xfrm>
            <a:off x="257175" y="16002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1</a:t>
            </a:r>
          </a:p>
        </p:txBody>
      </p:sp>
      <p:sp>
        <p:nvSpPr>
          <p:cNvPr id="14" name="TextBox 13"/>
          <p:cNvSpPr txBox="1"/>
          <p:nvPr/>
        </p:nvSpPr>
        <p:spPr>
          <a:xfrm>
            <a:off x="257175" y="18097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Top / global players</a:t>
            </a:r>
          </a:p>
        </p:txBody>
      </p:sp>
      <p:sp>
        <p:nvSpPr>
          <p:cNvPr id="15" name="Rectangle 14"/>
          <p:cNvSpPr/>
          <p:nvPr/>
        </p:nvSpPr>
        <p:spPr>
          <a:xfrm>
            <a:off x="1266825" y="1581150"/>
            <a:ext cx="4533900" cy="476250"/>
          </a:xfrm>
          <a:prstGeom prst="rect">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075" y="16097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17" name="TextBox 16"/>
          <p:cNvSpPr txBox="1"/>
          <p:nvPr/>
        </p:nvSpPr>
        <p:spPr>
          <a:xfrm>
            <a:off x="1362075" y="1809750"/>
            <a:ext cx="4381500"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18" name="TextBox 17"/>
          <p:cNvSpPr txBox="1"/>
          <p:nvPr/>
        </p:nvSpPr>
        <p:spPr>
          <a:xfrm>
            <a:off x="1266825" y="20669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TransMedics · OrganOx · XVIVO Perfusion · Paragonix Technologies</a:t>
            </a:r>
          </a:p>
        </p:txBody>
      </p:sp>
      <p:sp>
        <p:nvSpPr>
          <p:cNvPr id="19" name="TextBox 18"/>
          <p:cNvSpPr txBox="1"/>
          <p:nvPr/>
        </p:nvSpPr>
        <p:spPr>
          <a:xfrm>
            <a:off x="257175" y="24574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2</a:t>
            </a:r>
          </a:p>
        </p:txBody>
      </p:sp>
      <p:sp>
        <p:nvSpPr>
          <p:cNvPr id="20" name="TextBox 19"/>
          <p:cNvSpPr txBox="1"/>
          <p:nvPr/>
        </p:nvSpPr>
        <p:spPr>
          <a:xfrm>
            <a:off x="257175" y="26670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Mid-sized players</a:t>
            </a:r>
          </a:p>
        </p:txBody>
      </p:sp>
      <p:sp>
        <p:nvSpPr>
          <p:cNvPr id="21" name="Rectangle 20"/>
          <p:cNvSpPr/>
          <p:nvPr/>
        </p:nvSpPr>
        <p:spPr>
          <a:xfrm>
            <a:off x="1266825" y="2438400"/>
            <a:ext cx="3786554" cy="47625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075" y="246697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3" name="TextBox 22"/>
          <p:cNvSpPr txBox="1"/>
          <p:nvPr/>
        </p:nvSpPr>
        <p:spPr>
          <a:xfrm>
            <a:off x="1362075" y="2667000"/>
            <a:ext cx="3634154"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24" name="TextBox 23"/>
          <p:cNvSpPr txBox="1"/>
          <p:nvPr/>
        </p:nvSpPr>
        <p:spPr>
          <a:xfrm>
            <a:off x="1266825" y="29241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Organ Recovery Systems · IGL Group / Waters Medical Systems</a:t>
            </a:r>
          </a:p>
        </p:txBody>
      </p:sp>
      <p:sp>
        <p:nvSpPr>
          <p:cNvPr id="25" name="TextBox 24"/>
          <p:cNvSpPr txBox="1"/>
          <p:nvPr/>
        </p:nvSpPr>
        <p:spPr>
          <a:xfrm>
            <a:off x="257175" y="331470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Tier 3</a:t>
            </a:r>
          </a:p>
        </p:txBody>
      </p:sp>
      <p:sp>
        <p:nvSpPr>
          <p:cNvPr id="26" name="TextBox 25"/>
          <p:cNvSpPr txBox="1"/>
          <p:nvPr/>
        </p:nvSpPr>
        <p:spPr>
          <a:xfrm>
            <a:off x="257175" y="352425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Emerging / local players</a:t>
            </a:r>
          </a:p>
        </p:txBody>
      </p:sp>
      <p:sp>
        <p:nvSpPr>
          <p:cNvPr id="27" name="Rectangle 26"/>
          <p:cNvSpPr/>
          <p:nvPr/>
        </p:nvSpPr>
        <p:spPr>
          <a:xfrm>
            <a:off x="1266825" y="3295650"/>
            <a:ext cx="3487615" cy="476250"/>
          </a:xfrm>
          <a:prstGeom prst="rect">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62075" y="3324225"/>
            <a:ext cx="666750" cy="209550"/>
          </a:xfrm>
          <a:prstGeom prst="rect">
            <a:avLst/>
          </a:prstGeom>
          <a:noFill/>
        </p:spPr>
        <p:txBody>
          <a:bodyPr wrap="square" lIns="28575" rIns="28575" tIns="9525" bIns="9525" anchor="ctr">
            <a:spAutoFit/>
          </a:bodyPr>
          <a:lstStyle/>
          <a:p>
            <a:pPr algn="l"/>
            <a:r>
              <a:rPr sz="1100" b="1">
                <a:solidFill>
                  <a:srgbClr val="FFFFFF"/>
                </a:solidFill>
                <a:latin typeface="Calibri"/>
              </a:rPr>
              <a:t> </a:t>
            </a:r>
          </a:p>
        </p:txBody>
      </p:sp>
      <p:sp>
        <p:nvSpPr>
          <p:cNvPr id="29" name="TextBox 28"/>
          <p:cNvSpPr txBox="1"/>
          <p:nvPr/>
        </p:nvSpPr>
        <p:spPr>
          <a:xfrm>
            <a:off x="1362075" y="3524250"/>
            <a:ext cx="3335215" cy="247650"/>
          </a:xfrm>
          <a:prstGeom prst="rect">
            <a:avLst/>
          </a:prstGeom>
          <a:noFill/>
        </p:spPr>
        <p:txBody>
          <a:bodyPr wrap="square" lIns="28575" rIns="28575" tIns="9525" bIns="9525" anchor="ctr">
            <a:spAutoFit/>
          </a:bodyPr>
          <a:lstStyle/>
          <a:p>
            <a:pPr algn="l"/>
            <a:r>
              <a:rPr sz="1100" b="0">
                <a:solidFill>
                  <a:srgbClr val="FFFFFF"/>
                </a:solidFill>
                <a:latin typeface="Calibri"/>
              </a:rPr>
              <a:t/>
            </a:r>
          </a:p>
        </p:txBody>
      </p:sp>
      <p:sp>
        <p:nvSpPr>
          <p:cNvPr id="30" name="TextBox 29"/>
          <p:cNvSpPr txBox="1"/>
          <p:nvPr/>
        </p:nvSpPr>
        <p:spPr>
          <a:xfrm>
            <a:off x="1266825" y="378142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Bridge to Life · Aferetica · EBERS Medical Technology · Traferox Technologies</a:t>
            </a:r>
          </a:p>
        </p:txBody>
      </p:sp>
      <p:sp>
        <p:nvSpPr>
          <p:cNvPr id="31" name="TextBox 30"/>
          <p:cNvSpPr txBox="1"/>
          <p:nvPr/>
        </p:nvSpPr>
        <p:spPr>
          <a:xfrm>
            <a:off x="257175" y="4171950"/>
            <a:ext cx="990600" cy="209550"/>
          </a:xfrm>
          <a:prstGeom prst="rect">
            <a:avLst/>
          </a:prstGeom>
          <a:noFill/>
        </p:spPr>
        <p:txBody>
          <a:bodyPr wrap="square" lIns="28575" rIns="28575" tIns="9525" bIns="9525" anchor="ctr">
            <a:spAutoFit/>
          </a:bodyPr>
          <a:lstStyle/>
          <a:p>
            <a:pPr algn="l"/>
            <a:r>
              <a:rPr sz="1100" b="1">
                <a:solidFill>
                  <a:srgbClr val="14213D"/>
                </a:solidFill>
                <a:latin typeface="Calibri"/>
              </a:rPr>
              <a:t>Others</a:t>
            </a:r>
          </a:p>
        </p:txBody>
      </p:sp>
      <p:sp>
        <p:nvSpPr>
          <p:cNvPr id="32" name="TextBox 31"/>
          <p:cNvSpPr txBox="1"/>
          <p:nvPr/>
        </p:nvSpPr>
        <p:spPr>
          <a:xfrm>
            <a:off x="257175" y="4381500"/>
            <a:ext cx="990600" cy="32385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Long tail</a:t>
            </a:r>
          </a:p>
        </p:txBody>
      </p:sp>
      <p:sp>
        <p:nvSpPr>
          <p:cNvPr id="33" name="Rectangle 32"/>
          <p:cNvSpPr/>
          <p:nvPr/>
        </p:nvSpPr>
        <p:spPr>
          <a:xfrm>
            <a:off x="1266825" y="4152900"/>
            <a:ext cx="3637085" cy="476250"/>
          </a:xfrm>
          <a:prstGeom prst="rect">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62075" y="4181475"/>
            <a:ext cx="666750" cy="209550"/>
          </a:xfrm>
          <a:prstGeom prst="rect">
            <a:avLst/>
          </a:prstGeom>
          <a:noFill/>
        </p:spPr>
        <p:txBody>
          <a:bodyPr wrap="square" lIns="28575" rIns="28575" tIns="9525" bIns="9525" anchor="ctr">
            <a:spAutoFit/>
          </a:bodyPr>
          <a:lstStyle/>
          <a:p>
            <a:pPr algn="l"/>
            <a:r>
              <a:rPr sz="1100" b="1">
                <a:solidFill>
                  <a:srgbClr val="14213D"/>
                </a:solidFill>
                <a:latin typeface="Calibri"/>
              </a:rPr>
              <a:t> </a:t>
            </a:r>
          </a:p>
        </p:txBody>
      </p:sp>
      <p:sp>
        <p:nvSpPr>
          <p:cNvPr id="35" name="TextBox 34"/>
          <p:cNvSpPr txBox="1"/>
          <p:nvPr/>
        </p:nvSpPr>
        <p:spPr>
          <a:xfrm>
            <a:off x="1362075" y="4381500"/>
            <a:ext cx="3484685" cy="247650"/>
          </a:xfrm>
          <a:prstGeom prst="rect">
            <a:avLst/>
          </a:prstGeom>
          <a:noFill/>
        </p:spPr>
        <p:txBody>
          <a:bodyPr wrap="square" lIns="28575" rIns="28575" tIns="9525" bIns="9525" anchor="ctr">
            <a:spAutoFit/>
          </a:bodyPr>
          <a:lstStyle/>
          <a:p>
            <a:pPr algn="l"/>
            <a:r>
              <a:rPr sz="1100" b="0">
                <a:solidFill>
                  <a:srgbClr val="14213D"/>
                </a:solidFill>
                <a:latin typeface="Calibri"/>
              </a:rPr>
              <a:t/>
            </a:r>
          </a:p>
        </p:txBody>
      </p:sp>
      <p:sp>
        <p:nvSpPr>
          <p:cNvPr id="36" name="TextBox 35"/>
          <p:cNvSpPr txBox="1"/>
          <p:nvPr/>
        </p:nvSpPr>
        <p:spPr>
          <a:xfrm>
            <a:off x="1266825" y="4638675"/>
            <a:ext cx="4533900" cy="3429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Regional &amp; niche suppliers</a:t>
            </a:r>
          </a:p>
        </p:txBody>
      </p:sp>
      <p:sp>
        <p:nvSpPr>
          <p:cNvPr id="37" name="Rounded Rectangle 36"/>
          <p:cNvSpPr/>
          <p:nvPr/>
        </p:nvSpPr>
        <p:spPr>
          <a:xfrm>
            <a:off x="142875" y="5162550"/>
            <a:ext cx="5810250" cy="1466850"/>
          </a:xfrm>
          <a:prstGeom prst="roundRect">
            <a:avLst>
              <a:gd name="adj" fmla="val 131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5219700"/>
            <a:ext cx="5619750" cy="209550"/>
          </a:xfrm>
          <a:prstGeom prst="rect">
            <a:avLst/>
          </a:prstGeom>
          <a:noFill/>
        </p:spPr>
        <p:txBody>
          <a:bodyPr wrap="square" lIns="28575" rIns="28575" tIns="9525" bIns="9525" anchor="ctr">
            <a:spAutoFit/>
          </a:bodyPr>
          <a:lstStyle/>
          <a:p>
            <a:pPr algn="l"/>
            <a:r>
              <a:rPr sz="1200" b="1">
                <a:solidFill>
                  <a:srgbClr val="2E2E2E"/>
                </a:solidFill>
                <a:latin typeface="Calibri"/>
              </a:rPr>
              <a:t>Concentration Read-out</a:t>
            </a:r>
          </a:p>
        </p:txBody>
      </p:sp>
      <p:sp>
        <p:nvSpPr>
          <p:cNvPr id="39" name="Rectangle 38"/>
          <p:cNvSpPr/>
          <p:nvPr/>
        </p:nvSpPr>
        <p:spPr>
          <a:xfrm>
            <a:off x="276225" y="5505450"/>
            <a:ext cx="1847850" cy="247650"/>
          </a:xfrm>
          <a:prstGeom prst="rect">
            <a:avLst/>
          </a:prstGeom>
          <a:solidFill>
            <a:srgbClr val="C9DAF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6225" y="5505450"/>
            <a:ext cx="1847850" cy="247650"/>
          </a:xfrm>
          <a:prstGeom prst="rect">
            <a:avLst/>
          </a:prstGeom>
          <a:noFill/>
        </p:spPr>
        <p:txBody>
          <a:bodyPr wrap="square" lIns="28575" rIns="28575" tIns="9525" bIns="9525" anchor="ctr">
            <a:spAutoFit/>
          </a:bodyPr>
          <a:lstStyle/>
          <a:p>
            <a:pPr algn="ctr"/>
            <a:r>
              <a:rPr sz="1100" b="1">
                <a:solidFill>
                  <a:srgbClr val="14213D"/>
                </a:solidFill>
                <a:latin typeface="Calibri"/>
              </a:rPr>
              <a:t>Fragmented HHI &lt; 1,500</a:t>
            </a:r>
          </a:p>
        </p:txBody>
      </p:sp>
      <p:sp>
        <p:nvSpPr>
          <p:cNvPr id="41" name="Rectangle 40"/>
          <p:cNvSpPr/>
          <p:nvPr/>
        </p:nvSpPr>
        <p:spPr>
          <a:xfrm>
            <a:off x="2124075" y="5505450"/>
            <a:ext cx="1847850"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12407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Moderate 1,500–2,500</a:t>
            </a:r>
          </a:p>
        </p:txBody>
      </p:sp>
      <p:sp>
        <p:nvSpPr>
          <p:cNvPr id="43" name="Rectangle 42"/>
          <p:cNvSpPr/>
          <p:nvPr/>
        </p:nvSpPr>
        <p:spPr>
          <a:xfrm>
            <a:off x="3971925" y="5505450"/>
            <a:ext cx="18478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71925" y="5505450"/>
            <a:ext cx="1847850" cy="247650"/>
          </a:xfrm>
          <a:prstGeom prst="rect">
            <a:avLst/>
          </a:prstGeom>
          <a:noFill/>
        </p:spPr>
        <p:txBody>
          <a:bodyPr wrap="square" lIns="28575" rIns="28575" tIns="9525" bIns="9525" anchor="ctr">
            <a:spAutoFit/>
          </a:bodyPr>
          <a:lstStyle/>
          <a:p>
            <a:pPr algn="ctr"/>
            <a:r>
              <a:rPr sz="1100" b="1">
                <a:solidFill>
                  <a:srgbClr val="FFFFFF"/>
                </a:solidFill>
                <a:latin typeface="Calibri"/>
              </a:rPr>
              <a:t>Concentrated &gt; 2,500</a:t>
            </a:r>
          </a:p>
        </p:txBody>
      </p:sp>
      <p:sp>
        <p:nvSpPr>
          <p:cNvPr id="45" name="TextBox 44"/>
          <p:cNvSpPr txBox="1"/>
          <p:nvPr/>
        </p:nvSpPr>
        <p:spPr>
          <a:xfrm>
            <a:off x="669665" y="5762625"/>
            <a:ext cx="1714500" cy="24765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6" name="TextBox 45"/>
          <p:cNvSpPr txBox="1"/>
          <p:nvPr/>
        </p:nvSpPr>
        <p:spPr>
          <a:xfrm>
            <a:off x="238125" y="5981700"/>
            <a:ext cx="5619750" cy="419100"/>
          </a:xfrm>
          <a:prstGeom prst="rect">
            <a:avLst/>
          </a:prstGeom>
          <a:noFill/>
        </p:spPr>
        <p:txBody>
          <a:bodyPr wrap="square" lIns="28575" rIns="28575" tIns="9525" bIns="9525" anchor="ctr">
            <a:spAutoFit/>
          </a:bodyPr>
          <a:lstStyle/>
          <a:p>
            <a:pPr algn="ctr"/>
            <a:r>
              <a:rPr sz="1100" b="1">
                <a:solidFill>
                  <a:srgbClr val="14213D"/>
                </a:solidFill>
                <a:latin typeface="Calibri"/>
              </a:rPr>
              <a:t/>
            </a:r>
          </a:p>
        </p:txBody>
      </p:sp>
      <p:sp>
        <p:nvSpPr>
          <p:cNvPr id="47" name="Rounded Rectangle 46"/>
          <p:cNvSpPr/>
          <p:nvPr/>
        </p:nvSpPr>
        <p:spPr>
          <a:xfrm>
            <a:off x="6096000" y="1047750"/>
            <a:ext cx="5953125" cy="400050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91250" y="11049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Tier Profile Matrix</a:t>
            </a:r>
          </a:p>
        </p:txBody>
      </p:sp>
      <p:sp>
        <p:nvSpPr>
          <p:cNvPr id="49" name="TextBox 48"/>
          <p:cNvSpPr txBox="1"/>
          <p:nvPr/>
        </p:nvSpPr>
        <p:spPr>
          <a:xfrm>
            <a:off x="6191250" y="1304925"/>
            <a:ext cx="5762625" cy="247650"/>
          </a:xfrm>
          <a:prstGeom prst="rect">
            <a:avLst/>
          </a:prstGeom>
          <a:noFill/>
        </p:spPr>
        <p:txBody>
          <a:bodyPr wrap="square" lIns="28575" rIns="28575" tIns="9525" bIns="9525" anchor="ctr">
            <a:spAutoFit/>
          </a:bodyPr>
          <a:lstStyle/>
          <a:p>
            <a:pPr algn="l"/>
            <a:r>
              <a:rPr sz="1100" b="0">
                <a:solidFill>
                  <a:srgbClr val="6B7280"/>
                </a:solidFill>
                <a:latin typeface="Calibri"/>
              </a:rPr>
              <a:t>Size, growth and competitive characteristics of each tier</a:t>
            </a:r>
          </a:p>
        </p:txBody>
      </p:sp>
      <p:sp>
        <p:nvSpPr>
          <p:cNvPr id="50" name="Rectangle 49"/>
          <p:cNvSpPr/>
          <p:nvPr/>
        </p:nvSpPr>
        <p:spPr>
          <a:xfrm>
            <a:off x="6191250" y="1562100"/>
            <a:ext cx="16192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48400" y="1562100"/>
            <a:ext cx="1543050" cy="247650"/>
          </a:xfrm>
          <a:prstGeom prst="rect">
            <a:avLst/>
          </a:prstGeom>
          <a:noFill/>
        </p:spPr>
        <p:txBody>
          <a:bodyPr wrap="square" lIns="28575" rIns="28575" tIns="9525" bIns="9525" anchor="ctr">
            <a:spAutoFit/>
          </a:bodyPr>
          <a:lstStyle/>
          <a:p>
            <a:pPr algn="l"/>
            <a:r>
              <a:rPr sz="1100" b="1">
                <a:solidFill>
                  <a:srgbClr val="FFFFFF"/>
                </a:solidFill>
                <a:latin typeface="Calibri"/>
              </a:rPr>
              <a:t>Metric</a:t>
            </a:r>
          </a:p>
        </p:txBody>
      </p:sp>
      <p:sp>
        <p:nvSpPr>
          <p:cNvPr id="52" name="Rectangle 51"/>
          <p:cNvSpPr/>
          <p:nvPr/>
        </p:nvSpPr>
        <p:spPr>
          <a:xfrm>
            <a:off x="7810500" y="1562100"/>
            <a:ext cx="82867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05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54" name="Rectangle 53"/>
          <p:cNvSpPr/>
          <p:nvPr/>
        </p:nvSpPr>
        <p:spPr>
          <a:xfrm>
            <a:off x="8639175" y="1562100"/>
            <a:ext cx="828675" cy="247650"/>
          </a:xfrm>
          <a:prstGeom prst="rect">
            <a:avLst/>
          </a:prstGeom>
          <a:solidFill>
            <a:srgbClr val="2E6DB4"/>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639175"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56" name="Rectangle 55"/>
          <p:cNvSpPr/>
          <p:nvPr/>
        </p:nvSpPr>
        <p:spPr>
          <a:xfrm>
            <a:off x="9467850" y="1562100"/>
            <a:ext cx="828675" cy="247650"/>
          </a:xfrm>
          <a:prstGeom prst="rect">
            <a:avLst/>
          </a:prstGeom>
          <a:solidFill>
            <a:srgbClr val="6FA8D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46785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58" name="Rectangle 57"/>
          <p:cNvSpPr/>
          <p:nvPr/>
        </p:nvSpPr>
        <p:spPr>
          <a:xfrm>
            <a:off x="10296525" y="1562100"/>
            <a:ext cx="828675" cy="247650"/>
          </a:xfrm>
          <a:prstGeom prst="rect">
            <a:avLst/>
          </a:prstGeom>
          <a:solidFill>
            <a:srgbClr val="9FC5E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96525" y="1562100"/>
            <a:ext cx="828675" cy="2476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60" name="Rectangle 59"/>
          <p:cNvSpPr/>
          <p:nvPr/>
        </p:nvSpPr>
        <p:spPr>
          <a:xfrm>
            <a:off x="11125200" y="1562100"/>
            <a:ext cx="828675" cy="247650"/>
          </a:xfrm>
          <a:prstGeom prst="rect">
            <a:avLst/>
          </a:prstGeom>
          <a:solidFill>
            <a:srgbClr val="102447"/>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125200" y="1562100"/>
            <a:ext cx="828675" cy="247650"/>
          </a:xfrm>
          <a:prstGeom prst="rect">
            <a:avLst/>
          </a:prstGeom>
          <a:noFill/>
        </p:spPr>
        <p:txBody>
          <a:bodyPr wrap="square" lIns="28575" rIns="28575" tIns="9525" bIns="9525" anchor="ctr">
            <a:spAutoFit/>
          </a:bodyPr>
          <a:lstStyle/>
          <a:p>
            <a:pPr algn="ctr"/>
            <a:r>
              <a:rPr sz="1100" b="1">
                <a:solidFill>
                  <a:srgbClr val="FFFFFF"/>
                </a:solidFill>
                <a:latin typeface="Calibri"/>
              </a:rPr>
              <a:t>Total</a:t>
            </a:r>
          </a:p>
        </p:txBody>
      </p:sp>
      <p:sp>
        <p:nvSpPr>
          <p:cNvPr id="62" name="Rectangle 61"/>
          <p:cNvSpPr/>
          <p:nvPr/>
        </p:nvSpPr>
        <p:spPr>
          <a:xfrm>
            <a:off x="6191250" y="1809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48400" y="1809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Players</a:t>
            </a:r>
          </a:p>
        </p:txBody>
      </p:sp>
      <p:sp>
        <p:nvSpPr>
          <p:cNvPr id="64" name="Rectangle 63"/>
          <p:cNvSpPr/>
          <p:nvPr/>
        </p:nvSpPr>
        <p:spPr>
          <a:xfrm>
            <a:off x="78105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2955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66" name="Rectangle 65"/>
          <p:cNvSpPr/>
          <p:nvPr/>
        </p:nvSpPr>
        <p:spPr>
          <a:xfrm>
            <a:off x="863917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5822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2</a:t>
            </a:r>
          </a:p>
        </p:txBody>
      </p:sp>
      <p:sp>
        <p:nvSpPr>
          <p:cNvPr id="68" name="Rectangle 67"/>
          <p:cNvSpPr/>
          <p:nvPr/>
        </p:nvSpPr>
        <p:spPr>
          <a:xfrm>
            <a:off x="946785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86900"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4</a:t>
            </a:r>
          </a:p>
        </p:txBody>
      </p:sp>
      <p:sp>
        <p:nvSpPr>
          <p:cNvPr id="70" name="Rectangle 69"/>
          <p:cNvSpPr/>
          <p:nvPr/>
        </p:nvSpPr>
        <p:spPr>
          <a:xfrm>
            <a:off x="10296525"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15575" y="18097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72" name="Rectangle 71"/>
          <p:cNvSpPr/>
          <p:nvPr/>
        </p:nvSpPr>
        <p:spPr>
          <a:xfrm>
            <a:off x="11125200" y="1809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1144250" y="18097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74" name="Rectangle 73"/>
          <p:cNvSpPr/>
          <p:nvPr/>
        </p:nvSpPr>
        <p:spPr>
          <a:xfrm>
            <a:off x="6191250" y="2038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248400" y="2038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Value 2026 (US$ Mn)</a:t>
            </a:r>
          </a:p>
        </p:txBody>
      </p:sp>
      <p:sp>
        <p:nvSpPr>
          <p:cNvPr id="76" name="Rectangle 75"/>
          <p:cNvSpPr/>
          <p:nvPr/>
        </p:nvSpPr>
        <p:spPr>
          <a:xfrm>
            <a:off x="78105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82955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78" name="Rectangle 77"/>
          <p:cNvSpPr/>
          <p:nvPr/>
        </p:nvSpPr>
        <p:spPr>
          <a:xfrm>
            <a:off x="863917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65822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0" name="Rectangle 79"/>
          <p:cNvSpPr/>
          <p:nvPr/>
        </p:nvSpPr>
        <p:spPr>
          <a:xfrm>
            <a:off x="946785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86900"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2" name="Rectangle 81"/>
          <p:cNvSpPr/>
          <p:nvPr/>
        </p:nvSpPr>
        <p:spPr>
          <a:xfrm>
            <a:off x="10296525"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15575" y="2038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84" name="Rectangle 83"/>
          <p:cNvSpPr/>
          <p:nvPr/>
        </p:nvSpPr>
        <p:spPr>
          <a:xfrm>
            <a:off x="11125200" y="2038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44250" y="2038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 </a:t>
            </a:r>
          </a:p>
        </p:txBody>
      </p:sp>
      <p:sp>
        <p:nvSpPr>
          <p:cNvPr id="86" name="Rectangle 85"/>
          <p:cNvSpPr/>
          <p:nvPr/>
        </p:nvSpPr>
        <p:spPr>
          <a:xfrm>
            <a:off x="6191250" y="22669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248400" y="22669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2026</a:t>
            </a:r>
          </a:p>
        </p:txBody>
      </p:sp>
      <p:sp>
        <p:nvSpPr>
          <p:cNvPr id="88" name="Rectangle 87"/>
          <p:cNvSpPr/>
          <p:nvPr/>
        </p:nvSpPr>
        <p:spPr>
          <a:xfrm>
            <a:off x="78105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07624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0" name="TextBox 89"/>
          <p:cNvSpPr txBox="1"/>
          <p:nvPr/>
        </p:nvSpPr>
        <p:spPr>
          <a:xfrm>
            <a:off x="836390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1" name="Rectangle 90"/>
          <p:cNvSpPr/>
          <p:nvPr/>
        </p:nvSpPr>
        <p:spPr>
          <a:xfrm>
            <a:off x="863917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90492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3" name="TextBox 92"/>
          <p:cNvSpPr txBox="1"/>
          <p:nvPr/>
        </p:nvSpPr>
        <p:spPr>
          <a:xfrm>
            <a:off x="919257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4" name="Rectangle 93"/>
          <p:cNvSpPr/>
          <p:nvPr/>
        </p:nvSpPr>
        <p:spPr>
          <a:xfrm>
            <a:off x="946785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733598"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6" name="TextBox 95"/>
          <p:cNvSpPr txBox="1"/>
          <p:nvPr/>
        </p:nvSpPr>
        <p:spPr>
          <a:xfrm>
            <a:off x="10021252"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97" name="Rectangle 96"/>
          <p:cNvSpPr/>
          <p:nvPr/>
        </p:nvSpPr>
        <p:spPr>
          <a:xfrm>
            <a:off x="10296525"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0562272" y="22669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99" name="TextBox 98"/>
          <p:cNvSpPr txBox="1"/>
          <p:nvPr/>
        </p:nvSpPr>
        <p:spPr>
          <a:xfrm>
            <a:off x="10849928" y="22669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0" name="Rectangle 99"/>
          <p:cNvSpPr/>
          <p:nvPr/>
        </p:nvSpPr>
        <p:spPr>
          <a:xfrm>
            <a:off x="11125200" y="22669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144250" y="22669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02" name="Rectangle 101"/>
          <p:cNvSpPr/>
          <p:nvPr/>
        </p:nvSpPr>
        <p:spPr>
          <a:xfrm>
            <a:off x="6191250" y="24955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248400" y="24955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of value 2036</a:t>
            </a:r>
          </a:p>
        </p:txBody>
      </p:sp>
      <p:sp>
        <p:nvSpPr>
          <p:cNvPr id="104" name="Rectangle 103"/>
          <p:cNvSpPr/>
          <p:nvPr/>
        </p:nvSpPr>
        <p:spPr>
          <a:xfrm>
            <a:off x="78105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7624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6" name="TextBox 105"/>
          <p:cNvSpPr txBox="1"/>
          <p:nvPr/>
        </p:nvSpPr>
        <p:spPr>
          <a:xfrm>
            <a:off x="836390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07" name="Rectangle 106"/>
          <p:cNvSpPr/>
          <p:nvPr/>
        </p:nvSpPr>
        <p:spPr>
          <a:xfrm>
            <a:off x="863917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0492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09" name="TextBox 108"/>
          <p:cNvSpPr txBox="1"/>
          <p:nvPr/>
        </p:nvSpPr>
        <p:spPr>
          <a:xfrm>
            <a:off x="919257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0" name="Rectangle 109"/>
          <p:cNvSpPr/>
          <p:nvPr/>
        </p:nvSpPr>
        <p:spPr>
          <a:xfrm>
            <a:off x="946785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733598"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2" name="TextBox 111"/>
          <p:cNvSpPr txBox="1"/>
          <p:nvPr/>
        </p:nvSpPr>
        <p:spPr>
          <a:xfrm>
            <a:off x="10021252"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3" name="Rectangle 112"/>
          <p:cNvSpPr/>
          <p:nvPr/>
        </p:nvSpPr>
        <p:spPr>
          <a:xfrm>
            <a:off x="10296525"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562272" y="2495550"/>
            <a:ext cx="29718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15" name="TextBox 114"/>
          <p:cNvSpPr txBox="1"/>
          <p:nvPr/>
        </p:nvSpPr>
        <p:spPr>
          <a:xfrm>
            <a:off x="10849928" y="24955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16" name="Rectangle 115"/>
          <p:cNvSpPr/>
          <p:nvPr/>
        </p:nvSpPr>
        <p:spPr>
          <a:xfrm>
            <a:off x="11125200" y="24955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1144250" y="24955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18" name="Rectangle 117"/>
          <p:cNvSpPr/>
          <p:nvPr/>
        </p:nvSpPr>
        <p:spPr>
          <a:xfrm>
            <a:off x="6191250" y="27241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248400" y="27241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Share change (pp)</a:t>
            </a:r>
          </a:p>
        </p:txBody>
      </p:sp>
      <p:sp>
        <p:nvSpPr>
          <p:cNvPr id="120" name="Rectangle 119"/>
          <p:cNvSpPr/>
          <p:nvPr/>
        </p:nvSpPr>
        <p:spPr>
          <a:xfrm>
            <a:off x="78105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97528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2" name="TextBox 121"/>
          <p:cNvSpPr txBox="1"/>
          <p:nvPr/>
        </p:nvSpPr>
        <p:spPr>
          <a:xfrm>
            <a:off x="810863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3" name="Rectangle 122"/>
          <p:cNvSpPr/>
          <p:nvPr/>
        </p:nvSpPr>
        <p:spPr>
          <a:xfrm>
            <a:off x="863917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80395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5" name="TextBox 124"/>
          <p:cNvSpPr txBox="1"/>
          <p:nvPr/>
        </p:nvSpPr>
        <p:spPr>
          <a:xfrm>
            <a:off x="893730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6" name="Rectangle 125"/>
          <p:cNvSpPr/>
          <p:nvPr/>
        </p:nvSpPr>
        <p:spPr>
          <a:xfrm>
            <a:off x="946785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632632"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28" name="TextBox 127"/>
          <p:cNvSpPr txBox="1"/>
          <p:nvPr/>
        </p:nvSpPr>
        <p:spPr>
          <a:xfrm>
            <a:off x="9765982"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29" name="Rectangle 128"/>
          <p:cNvSpPr/>
          <p:nvPr/>
        </p:nvSpPr>
        <p:spPr>
          <a:xfrm>
            <a:off x="10296525"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461308" y="2724150"/>
            <a:ext cx="133350" cy="228600"/>
          </a:xfrm>
          <a:prstGeom prst="rect">
            <a:avLst/>
          </a:prstGeom>
          <a:noFill/>
        </p:spPr>
        <p:txBody>
          <a:bodyPr wrap="none" lIns="0" rIns="0" tIns="0" bIns="0" anchor="ctr">
            <a:spAutoFit/>
          </a:bodyPr>
          <a:lstStyle/>
          <a:p>
            <a:pPr algn="r"/>
            <a:r>
              <a:rPr sz="1100" b="0">
                <a:solidFill>
                  <a:srgbClr val="14213D"/>
                </a:solidFill>
                <a:latin typeface="Calibri"/>
              </a:rPr>
              <a:t>−</a:t>
            </a:r>
          </a:p>
        </p:txBody>
      </p:sp>
      <p:sp>
        <p:nvSpPr>
          <p:cNvPr id="131" name="TextBox 130"/>
          <p:cNvSpPr txBox="1"/>
          <p:nvPr/>
        </p:nvSpPr>
        <p:spPr>
          <a:xfrm>
            <a:off x="10594658" y="27241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2" name="Rectangle 131"/>
          <p:cNvSpPr/>
          <p:nvPr/>
        </p:nvSpPr>
        <p:spPr>
          <a:xfrm>
            <a:off x="11125200" y="27241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44250" y="27241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34" name="Rectangle 133"/>
          <p:cNvSpPr/>
          <p:nvPr/>
        </p:nvSpPr>
        <p:spPr>
          <a:xfrm>
            <a:off x="6191250" y="29527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248400" y="29527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CAGR 2026–2036</a:t>
            </a:r>
          </a:p>
        </p:txBody>
      </p:sp>
      <p:sp>
        <p:nvSpPr>
          <p:cNvPr id="136" name="Rectangle 135"/>
          <p:cNvSpPr/>
          <p:nvPr/>
        </p:nvSpPr>
        <p:spPr>
          <a:xfrm>
            <a:off x="78105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10863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38" name="TextBox 137"/>
          <p:cNvSpPr txBox="1"/>
          <p:nvPr/>
        </p:nvSpPr>
        <p:spPr>
          <a:xfrm>
            <a:off x="833151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39" name="Rectangle 138"/>
          <p:cNvSpPr/>
          <p:nvPr/>
        </p:nvSpPr>
        <p:spPr>
          <a:xfrm>
            <a:off x="863917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93730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1" name="TextBox 140"/>
          <p:cNvSpPr txBox="1"/>
          <p:nvPr/>
        </p:nvSpPr>
        <p:spPr>
          <a:xfrm>
            <a:off x="916019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2" name="Rectangle 141"/>
          <p:cNvSpPr/>
          <p:nvPr/>
        </p:nvSpPr>
        <p:spPr>
          <a:xfrm>
            <a:off x="946785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65982"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4" name="TextBox 143"/>
          <p:cNvSpPr txBox="1"/>
          <p:nvPr/>
        </p:nvSpPr>
        <p:spPr>
          <a:xfrm>
            <a:off x="9988868"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5" name="Rectangle 144"/>
          <p:cNvSpPr/>
          <p:nvPr/>
        </p:nvSpPr>
        <p:spPr>
          <a:xfrm>
            <a:off x="10296525"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594658" y="2952750"/>
            <a:ext cx="232410" cy="22860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47" name="TextBox 146"/>
          <p:cNvSpPr txBox="1"/>
          <p:nvPr/>
        </p:nvSpPr>
        <p:spPr>
          <a:xfrm>
            <a:off x="10817542" y="2952750"/>
            <a:ext cx="133350" cy="22860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48" name="Rectangle 147"/>
          <p:cNvSpPr/>
          <p:nvPr/>
        </p:nvSpPr>
        <p:spPr>
          <a:xfrm>
            <a:off x="11125200" y="29527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423332" y="2952750"/>
            <a:ext cx="232410" cy="228600"/>
          </a:xfrm>
          <a:prstGeom prst="rect">
            <a:avLst/>
          </a:prstGeom>
          <a:noFill/>
        </p:spPr>
        <p:txBody>
          <a:bodyPr wrap="none" lIns="0" rIns="0" tIns="0" bIns="0" anchor="ctr">
            <a:spAutoFit/>
          </a:bodyPr>
          <a:lstStyle/>
          <a:p>
            <a:pPr algn="ctr"/>
            <a:r>
              <a:rPr sz="1100" b="1">
                <a:solidFill>
                  <a:srgbClr val="14213D"/>
                </a:solidFill>
                <a:latin typeface="Calibri"/>
              </a:rPr>
              <a:t> </a:t>
            </a:r>
          </a:p>
        </p:txBody>
      </p:sp>
      <p:sp>
        <p:nvSpPr>
          <p:cNvPr id="150" name="TextBox 149"/>
          <p:cNvSpPr txBox="1"/>
          <p:nvPr/>
        </p:nvSpPr>
        <p:spPr>
          <a:xfrm>
            <a:off x="11646218" y="2952750"/>
            <a:ext cx="133350" cy="228600"/>
          </a:xfrm>
          <a:prstGeom prst="rect">
            <a:avLst/>
          </a:prstGeom>
          <a:noFill/>
        </p:spPr>
        <p:txBody>
          <a:bodyPr wrap="none" lIns="0" rIns="0" tIns="0" bIns="0" anchor="ctr">
            <a:spAutoFit/>
          </a:bodyPr>
          <a:lstStyle/>
          <a:p>
            <a:pPr algn="l"/>
            <a:r>
              <a:rPr sz="1100" b="1">
                <a:solidFill>
                  <a:srgbClr val="14213D"/>
                </a:solidFill>
                <a:latin typeface="Calibri"/>
              </a:rPr>
              <a:t>%</a:t>
            </a:r>
          </a:p>
        </p:txBody>
      </p:sp>
      <p:sp>
        <p:nvSpPr>
          <p:cNvPr id="151" name="Rectangle 150"/>
          <p:cNvSpPr/>
          <p:nvPr/>
        </p:nvSpPr>
        <p:spPr>
          <a:xfrm>
            <a:off x="6191250" y="3181350"/>
            <a:ext cx="1619250" cy="22860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248400" y="3181350"/>
            <a:ext cx="1543050" cy="22860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Avg / player (US$ Mn)</a:t>
            </a:r>
          </a:p>
        </p:txBody>
      </p:sp>
      <p:sp>
        <p:nvSpPr>
          <p:cNvPr id="153" name="Rectangle 152"/>
          <p:cNvSpPr/>
          <p:nvPr/>
        </p:nvSpPr>
        <p:spPr>
          <a:xfrm>
            <a:off x="78105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782955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5" name="Rectangle 154"/>
          <p:cNvSpPr/>
          <p:nvPr/>
        </p:nvSpPr>
        <p:spPr>
          <a:xfrm>
            <a:off x="863917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65822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7" name="Rectangle 156"/>
          <p:cNvSpPr/>
          <p:nvPr/>
        </p:nvSpPr>
        <p:spPr>
          <a:xfrm>
            <a:off x="946785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486900"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 </a:t>
            </a:r>
          </a:p>
        </p:txBody>
      </p:sp>
      <p:sp>
        <p:nvSpPr>
          <p:cNvPr id="159" name="Rectangle 158"/>
          <p:cNvSpPr/>
          <p:nvPr/>
        </p:nvSpPr>
        <p:spPr>
          <a:xfrm>
            <a:off x="10296525"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315575" y="3181350"/>
            <a:ext cx="790575" cy="228600"/>
          </a:xfrm>
          <a:prstGeom prst="rect">
            <a:avLst/>
          </a:prstGeom>
          <a:noFill/>
        </p:spPr>
        <p:txBody>
          <a:bodyPr wrap="square" lIns="28575" rIns="28575" tIns="9525" bIns="9525" anchor="ctr">
            <a:spAutoFit/>
          </a:bodyPr>
          <a:lstStyle/>
          <a:p>
            <a:pPr algn="ctr"/>
            <a:r>
              <a:rPr sz="1100" b="0">
                <a:solidFill>
                  <a:srgbClr val="14213D"/>
                </a:solidFill>
                <a:latin typeface="Calibri"/>
              </a:rPr>
              <a:t>–</a:t>
            </a:r>
          </a:p>
        </p:txBody>
      </p:sp>
      <p:sp>
        <p:nvSpPr>
          <p:cNvPr id="161" name="Rectangle 160"/>
          <p:cNvSpPr/>
          <p:nvPr/>
        </p:nvSpPr>
        <p:spPr>
          <a:xfrm>
            <a:off x="11125200" y="3181350"/>
            <a:ext cx="828675" cy="22860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11144250" y="3181350"/>
            <a:ext cx="790575" cy="228600"/>
          </a:xfrm>
          <a:prstGeom prst="rect">
            <a:avLst/>
          </a:prstGeom>
          <a:noFill/>
        </p:spPr>
        <p:txBody>
          <a:bodyPr wrap="square" lIns="28575" rIns="28575" tIns="9525" bIns="9525" anchor="ctr">
            <a:spAutoFit/>
          </a:bodyPr>
          <a:lstStyle/>
          <a:p>
            <a:pPr algn="ctr"/>
            <a:r>
              <a:rPr sz="1100" b="1">
                <a:solidFill>
                  <a:srgbClr val="14213D"/>
                </a:solidFill>
                <a:latin typeface="Calibri"/>
              </a:rPr>
              <a:t>–</a:t>
            </a:r>
          </a:p>
        </p:txBody>
      </p:sp>
      <p:sp>
        <p:nvSpPr>
          <p:cNvPr id="163" name="Rectangle 162"/>
          <p:cNvSpPr/>
          <p:nvPr/>
        </p:nvSpPr>
        <p:spPr>
          <a:xfrm>
            <a:off x="6191250" y="34099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248400" y="34099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Installed base share (units)</a:t>
            </a:r>
          </a:p>
        </p:txBody>
      </p:sp>
      <p:sp>
        <p:nvSpPr>
          <p:cNvPr id="165" name="Rectangle 164"/>
          <p:cNvSpPr/>
          <p:nvPr/>
        </p:nvSpPr>
        <p:spPr>
          <a:xfrm>
            <a:off x="78105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807624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67" name="TextBox 166"/>
          <p:cNvSpPr txBox="1"/>
          <p:nvPr/>
        </p:nvSpPr>
        <p:spPr>
          <a:xfrm>
            <a:off x="836390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68" name="Rectangle 167"/>
          <p:cNvSpPr/>
          <p:nvPr/>
        </p:nvSpPr>
        <p:spPr>
          <a:xfrm>
            <a:off x="863917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90492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0" name="TextBox 169"/>
          <p:cNvSpPr txBox="1"/>
          <p:nvPr/>
        </p:nvSpPr>
        <p:spPr>
          <a:xfrm>
            <a:off x="919257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1" name="Rectangle 170"/>
          <p:cNvSpPr/>
          <p:nvPr/>
        </p:nvSpPr>
        <p:spPr>
          <a:xfrm>
            <a:off x="946785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9733598"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3" name="TextBox 172"/>
          <p:cNvSpPr txBox="1"/>
          <p:nvPr/>
        </p:nvSpPr>
        <p:spPr>
          <a:xfrm>
            <a:off x="10021252"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4" name="Rectangle 173"/>
          <p:cNvSpPr/>
          <p:nvPr/>
        </p:nvSpPr>
        <p:spPr>
          <a:xfrm>
            <a:off x="10296525"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0562272" y="3409950"/>
            <a:ext cx="297180" cy="323850"/>
          </a:xfrm>
          <a:prstGeom prst="rect">
            <a:avLst/>
          </a:prstGeom>
          <a:noFill/>
        </p:spPr>
        <p:txBody>
          <a:bodyPr wrap="none" lIns="0" rIns="0" tIns="0" bIns="0" anchor="ctr">
            <a:spAutoFit/>
          </a:bodyPr>
          <a:lstStyle/>
          <a:p>
            <a:pPr algn="ctr"/>
            <a:r>
              <a:rPr sz="1100" b="0">
                <a:solidFill>
                  <a:srgbClr val="14213D"/>
                </a:solidFill>
                <a:latin typeface="Calibri"/>
              </a:rPr>
              <a:t> </a:t>
            </a:r>
          </a:p>
        </p:txBody>
      </p:sp>
      <p:sp>
        <p:nvSpPr>
          <p:cNvPr id="176" name="TextBox 175"/>
          <p:cNvSpPr txBox="1"/>
          <p:nvPr/>
        </p:nvSpPr>
        <p:spPr>
          <a:xfrm>
            <a:off x="10849928" y="3409950"/>
            <a:ext cx="133350" cy="323850"/>
          </a:xfrm>
          <a:prstGeom prst="rect">
            <a:avLst/>
          </a:prstGeom>
          <a:noFill/>
        </p:spPr>
        <p:txBody>
          <a:bodyPr wrap="none" lIns="0" rIns="0" tIns="0" bIns="0" anchor="ctr">
            <a:spAutoFit/>
          </a:bodyPr>
          <a:lstStyle/>
          <a:p>
            <a:pPr algn="l"/>
            <a:r>
              <a:rPr sz="1100" b="0">
                <a:solidFill>
                  <a:srgbClr val="14213D"/>
                </a:solidFill>
                <a:latin typeface="Calibri"/>
              </a:rPr>
              <a:t>%</a:t>
            </a:r>
          </a:p>
        </p:txBody>
      </p:sp>
      <p:sp>
        <p:nvSpPr>
          <p:cNvPr id="177" name="Rectangle 176"/>
          <p:cNvSpPr/>
          <p:nvPr/>
        </p:nvSpPr>
        <p:spPr>
          <a:xfrm>
            <a:off x="11125200" y="34099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144250" y="3409950"/>
            <a:ext cx="790575" cy="323850"/>
          </a:xfrm>
          <a:prstGeom prst="rect">
            <a:avLst/>
          </a:prstGeom>
          <a:noFill/>
        </p:spPr>
        <p:txBody>
          <a:bodyPr wrap="square" lIns="28575" rIns="28575" tIns="9525" bIns="9525" anchor="ctr">
            <a:spAutoFit/>
          </a:bodyPr>
          <a:lstStyle/>
          <a:p>
            <a:pPr algn="ctr"/>
            <a:r>
              <a:rPr sz="1100" b="1">
                <a:solidFill>
                  <a:srgbClr val="14213D"/>
                </a:solidFill>
                <a:latin typeface="Calibri"/>
              </a:rPr>
              <a:t>100%</a:t>
            </a:r>
          </a:p>
        </p:txBody>
      </p:sp>
      <p:sp>
        <p:nvSpPr>
          <p:cNvPr id="179" name="Rectangle 178"/>
          <p:cNvSpPr/>
          <p:nvPr/>
        </p:nvSpPr>
        <p:spPr>
          <a:xfrm>
            <a:off x="6191250" y="37338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248400" y="37338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Price positioning</a:t>
            </a:r>
          </a:p>
        </p:txBody>
      </p:sp>
      <p:sp>
        <p:nvSpPr>
          <p:cNvPr id="181" name="Rectangle 180"/>
          <p:cNvSpPr/>
          <p:nvPr/>
        </p:nvSpPr>
        <p:spPr>
          <a:xfrm>
            <a:off x="78105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82955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Premium</a:t>
            </a:r>
          </a:p>
        </p:txBody>
      </p:sp>
      <p:sp>
        <p:nvSpPr>
          <p:cNvPr id="183" name="Rectangle 182"/>
          <p:cNvSpPr/>
          <p:nvPr/>
        </p:nvSpPr>
        <p:spPr>
          <a:xfrm>
            <a:off x="863917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65822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Mid / value</a:t>
            </a:r>
          </a:p>
        </p:txBody>
      </p:sp>
      <p:sp>
        <p:nvSpPr>
          <p:cNvPr id="185" name="Rectangle 184"/>
          <p:cNvSpPr/>
          <p:nvPr/>
        </p:nvSpPr>
        <p:spPr>
          <a:xfrm>
            <a:off x="946785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9486900"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Value / entry</a:t>
            </a:r>
          </a:p>
        </p:txBody>
      </p:sp>
      <p:sp>
        <p:nvSpPr>
          <p:cNvPr id="187" name="Rectangle 186"/>
          <p:cNvSpPr/>
          <p:nvPr/>
        </p:nvSpPr>
        <p:spPr>
          <a:xfrm>
            <a:off x="10296525"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10315575" y="37338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Mixed</a:t>
            </a:r>
          </a:p>
        </p:txBody>
      </p:sp>
      <p:sp>
        <p:nvSpPr>
          <p:cNvPr id="189" name="Rectangle 188"/>
          <p:cNvSpPr/>
          <p:nvPr/>
        </p:nvSpPr>
        <p:spPr>
          <a:xfrm>
            <a:off x="11125200" y="37338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1144250" y="37338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191" name="Rectangle 190"/>
          <p:cNvSpPr/>
          <p:nvPr/>
        </p:nvSpPr>
        <p:spPr>
          <a:xfrm>
            <a:off x="6191250" y="40576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6248400" y="40576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Route-to-market</a:t>
            </a:r>
          </a:p>
        </p:txBody>
      </p:sp>
      <p:sp>
        <p:nvSpPr>
          <p:cNvPr id="193" name="Rectangle 192"/>
          <p:cNvSpPr/>
          <p:nvPr/>
        </p:nvSpPr>
        <p:spPr>
          <a:xfrm>
            <a:off x="78105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782955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Direct / key accounts</a:t>
            </a:r>
          </a:p>
        </p:txBody>
      </p:sp>
      <p:sp>
        <p:nvSpPr>
          <p:cNvPr id="195" name="Rectangle 194"/>
          <p:cNvSpPr/>
          <p:nvPr/>
        </p:nvSpPr>
        <p:spPr>
          <a:xfrm>
            <a:off x="863917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865822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Distributors</a:t>
            </a:r>
          </a:p>
        </p:txBody>
      </p:sp>
      <p:sp>
        <p:nvSpPr>
          <p:cNvPr id="197" name="Rectangle 196"/>
          <p:cNvSpPr/>
          <p:nvPr/>
        </p:nvSpPr>
        <p:spPr>
          <a:xfrm>
            <a:off x="946785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9486900"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Regional partners</a:t>
            </a:r>
          </a:p>
        </p:txBody>
      </p:sp>
      <p:sp>
        <p:nvSpPr>
          <p:cNvPr id="199" name="Rectangle 198"/>
          <p:cNvSpPr/>
          <p:nvPr/>
        </p:nvSpPr>
        <p:spPr>
          <a:xfrm>
            <a:off x="10296525"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10315575" y="405765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Local / online</a:t>
            </a:r>
          </a:p>
        </p:txBody>
      </p:sp>
      <p:sp>
        <p:nvSpPr>
          <p:cNvPr id="201" name="Rectangle 200"/>
          <p:cNvSpPr/>
          <p:nvPr/>
        </p:nvSpPr>
        <p:spPr>
          <a:xfrm>
            <a:off x="11125200" y="40576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144250" y="40576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03" name="Rectangle 202"/>
          <p:cNvSpPr/>
          <p:nvPr/>
        </p:nvSpPr>
        <p:spPr>
          <a:xfrm>
            <a:off x="6191250" y="438150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6248400" y="438150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Portfolio breadth</a:t>
            </a:r>
          </a:p>
        </p:txBody>
      </p:sp>
      <p:sp>
        <p:nvSpPr>
          <p:cNvPr id="205" name="Rectangle 204"/>
          <p:cNvSpPr/>
          <p:nvPr/>
        </p:nvSpPr>
        <p:spPr>
          <a:xfrm>
            <a:off x="78105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782955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Full portfolio</a:t>
            </a:r>
          </a:p>
        </p:txBody>
      </p:sp>
      <p:sp>
        <p:nvSpPr>
          <p:cNvPr id="207" name="Rectangle 206"/>
          <p:cNvSpPr/>
          <p:nvPr/>
        </p:nvSpPr>
        <p:spPr>
          <a:xfrm>
            <a:off x="863917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65822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2–3 core lines</a:t>
            </a:r>
          </a:p>
        </p:txBody>
      </p:sp>
      <p:sp>
        <p:nvSpPr>
          <p:cNvPr id="209" name="Rectangle 208"/>
          <p:cNvSpPr/>
          <p:nvPr/>
        </p:nvSpPr>
        <p:spPr>
          <a:xfrm>
            <a:off x="946785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9486900"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Single line</a:t>
            </a:r>
          </a:p>
        </p:txBody>
      </p:sp>
      <p:sp>
        <p:nvSpPr>
          <p:cNvPr id="211" name="Rectangle 210"/>
          <p:cNvSpPr/>
          <p:nvPr/>
        </p:nvSpPr>
        <p:spPr>
          <a:xfrm>
            <a:off x="10296525"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10315575" y="4381500"/>
            <a:ext cx="790575" cy="323850"/>
          </a:xfrm>
          <a:prstGeom prst="rect">
            <a:avLst/>
          </a:prstGeom>
          <a:noFill/>
        </p:spPr>
        <p:txBody>
          <a:bodyPr wrap="square" lIns="28575" rIns="28575" tIns="9525" bIns="9525" anchor="ctr">
            <a:spAutoFit/>
          </a:bodyPr>
          <a:lstStyle/>
          <a:p>
            <a:pPr algn="ctr">
              <a:lnSpc>
                <a:spcPct val="115000"/>
              </a:lnSpc>
            </a:pPr>
            <a:r>
              <a:rPr sz="1100" b="0">
                <a:solidFill>
                  <a:srgbClr val="14213D"/>
                </a:solidFill>
                <a:latin typeface="Calibri"/>
              </a:rPr>
              <a:t>Niche</a:t>
            </a:r>
          </a:p>
        </p:txBody>
      </p:sp>
      <p:sp>
        <p:nvSpPr>
          <p:cNvPr id="213" name="Rectangle 212"/>
          <p:cNvSpPr/>
          <p:nvPr/>
        </p:nvSpPr>
        <p:spPr>
          <a:xfrm>
            <a:off x="11125200" y="438150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11144250" y="438150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15" name="Rectangle 214"/>
          <p:cNvSpPr/>
          <p:nvPr/>
        </p:nvSpPr>
        <p:spPr>
          <a:xfrm>
            <a:off x="6191250" y="4705350"/>
            <a:ext cx="1619250" cy="323850"/>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6248400" y="4705350"/>
            <a:ext cx="1543050" cy="323850"/>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Strategic posture</a:t>
            </a:r>
          </a:p>
        </p:txBody>
      </p:sp>
      <p:sp>
        <p:nvSpPr>
          <p:cNvPr id="217" name="Rectangle 216"/>
          <p:cNvSpPr/>
          <p:nvPr/>
        </p:nvSpPr>
        <p:spPr>
          <a:xfrm>
            <a:off x="781050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78295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Defend &amp; bundle</a:t>
            </a:r>
          </a:p>
        </p:txBody>
      </p:sp>
      <p:sp>
        <p:nvSpPr>
          <p:cNvPr id="219" name="Rectangle 218"/>
          <p:cNvSpPr/>
          <p:nvPr/>
        </p:nvSpPr>
        <p:spPr>
          <a:xfrm>
            <a:off x="863917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865822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Niche deepening</a:t>
            </a:r>
          </a:p>
        </p:txBody>
      </p:sp>
      <p:sp>
        <p:nvSpPr>
          <p:cNvPr id="221" name="Rectangle 220"/>
          <p:cNvSpPr/>
          <p:nvPr/>
        </p:nvSpPr>
        <p:spPr>
          <a:xfrm>
            <a:off x="9467850"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948690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Scale-up or exit</a:t>
            </a:r>
          </a:p>
        </p:txBody>
      </p:sp>
      <p:sp>
        <p:nvSpPr>
          <p:cNvPr id="223" name="Rectangle 222"/>
          <p:cNvSpPr/>
          <p:nvPr/>
        </p:nvSpPr>
        <p:spPr>
          <a:xfrm>
            <a:off x="10296525" y="4705350"/>
            <a:ext cx="828675" cy="323850"/>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0315575"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Long-tail</a:t>
            </a:r>
          </a:p>
        </p:txBody>
      </p:sp>
      <p:sp>
        <p:nvSpPr>
          <p:cNvPr id="225" name="Rectangle 224"/>
          <p:cNvSpPr/>
          <p:nvPr/>
        </p:nvSpPr>
        <p:spPr>
          <a:xfrm>
            <a:off x="11125200" y="4705350"/>
            <a:ext cx="828675" cy="323850"/>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TextBox 225"/>
          <p:cNvSpPr txBox="1"/>
          <p:nvPr/>
        </p:nvSpPr>
        <p:spPr>
          <a:xfrm>
            <a:off x="11144250" y="4705350"/>
            <a:ext cx="790575" cy="32385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a:t>
            </a:r>
          </a:p>
        </p:txBody>
      </p:sp>
      <p:sp>
        <p:nvSpPr>
          <p:cNvPr id="227" name="Rounded Rectangle 226"/>
          <p:cNvSpPr/>
          <p:nvPr/>
        </p:nvSpPr>
        <p:spPr>
          <a:xfrm>
            <a:off x="6096000" y="5162550"/>
            <a:ext cx="5953125" cy="1466850"/>
          </a:xfrm>
          <a:prstGeom prst="roundRect">
            <a:avLst>
              <a:gd name="adj" fmla="val 12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6191250" y="5219700"/>
            <a:ext cx="5762625"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229" name="TextBox 228"/>
          <p:cNvSpPr txBox="1"/>
          <p:nvPr/>
        </p:nvSpPr>
        <p:spPr>
          <a:xfrm>
            <a:off x="6210300" y="5467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0" name="TextBox 229"/>
          <p:cNvSpPr txBox="1"/>
          <p:nvPr/>
        </p:nvSpPr>
        <p:spPr>
          <a:xfrm>
            <a:off x="6343650" y="5467350"/>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1" name="TextBox 230"/>
          <p:cNvSpPr txBox="1"/>
          <p:nvPr/>
        </p:nvSpPr>
        <p:spPr>
          <a:xfrm>
            <a:off x="6210300" y="58483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2" name="TextBox 231"/>
          <p:cNvSpPr txBox="1"/>
          <p:nvPr/>
        </p:nvSpPr>
        <p:spPr>
          <a:xfrm>
            <a:off x="6343650" y="5848350"/>
            <a:ext cx="5591175" cy="37147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3" name="TextBox 232"/>
          <p:cNvSpPr txBox="1"/>
          <p:nvPr/>
        </p:nvSpPr>
        <p:spPr>
          <a:xfrm>
            <a:off x="6210300" y="60674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234" name="TextBox 233"/>
          <p:cNvSpPr txBox="1"/>
          <p:nvPr/>
        </p:nvSpPr>
        <p:spPr>
          <a:xfrm>
            <a:off x="6343650" y="6067425"/>
            <a:ext cx="5591175"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235" name="TextBox 234"/>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236" name="Picture 235" descr="lock.png"/>
          <p:cNvPicPr>
            <a:picLocks noChangeAspect="1"/>
          </p:cNvPicPr>
          <p:nvPr/>
        </p:nvPicPr>
        <p:blipFill>
          <a:blip r:embed="rId4"/>
          <a:stretch>
            <a:fillRect/>
          </a:stretch>
        </p:blipFill>
        <p:spPr>
          <a:xfrm>
            <a:off x="1631100" y="1620901"/>
            <a:ext cx="128699" cy="187198"/>
          </a:xfrm>
          <a:prstGeom prst="rect">
            <a:avLst/>
          </a:prstGeom>
        </p:spPr>
      </p:pic>
      <p:pic>
        <p:nvPicPr>
          <p:cNvPr id="237" name="Picture 236" descr="lock.png"/>
          <p:cNvPicPr>
            <a:picLocks noChangeAspect="1"/>
          </p:cNvPicPr>
          <p:nvPr/>
        </p:nvPicPr>
        <p:blipFill>
          <a:blip r:embed="rId4"/>
          <a:stretch>
            <a:fillRect/>
          </a:stretch>
        </p:blipFill>
        <p:spPr>
          <a:xfrm>
            <a:off x="1631100" y="2478151"/>
            <a:ext cx="128699" cy="187198"/>
          </a:xfrm>
          <a:prstGeom prst="rect">
            <a:avLst/>
          </a:prstGeom>
        </p:spPr>
      </p:pic>
      <p:pic>
        <p:nvPicPr>
          <p:cNvPr id="238" name="Picture 237" descr="lock.png"/>
          <p:cNvPicPr>
            <a:picLocks noChangeAspect="1"/>
          </p:cNvPicPr>
          <p:nvPr/>
        </p:nvPicPr>
        <p:blipFill>
          <a:blip r:embed="rId4"/>
          <a:stretch>
            <a:fillRect/>
          </a:stretch>
        </p:blipFill>
        <p:spPr>
          <a:xfrm>
            <a:off x="1631100" y="3335401"/>
            <a:ext cx="128699" cy="187198"/>
          </a:xfrm>
          <a:prstGeom prst="rect">
            <a:avLst/>
          </a:prstGeom>
        </p:spPr>
      </p:pic>
      <p:pic>
        <p:nvPicPr>
          <p:cNvPr id="239" name="Picture 238" descr="lock.png"/>
          <p:cNvPicPr>
            <a:picLocks noChangeAspect="1"/>
          </p:cNvPicPr>
          <p:nvPr/>
        </p:nvPicPr>
        <p:blipFill>
          <a:blip r:embed="rId4"/>
          <a:stretch>
            <a:fillRect/>
          </a:stretch>
        </p:blipFill>
        <p:spPr>
          <a:xfrm>
            <a:off x="1631100" y="4192651"/>
            <a:ext cx="128699" cy="187198"/>
          </a:xfrm>
          <a:prstGeom prst="rect">
            <a:avLst/>
          </a:prstGeom>
        </p:spPr>
      </p:pic>
      <p:pic>
        <p:nvPicPr>
          <p:cNvPr id="240" name="Picture 239" descr="lock.png"/>
          <p:cNvPicPr>
            <a:picLocks noChangeAspect="1"/>
          </p:cNvPicPr>
          <p:nvPr/>
        </p:nvPicPr>
        <p:blipFill>
          <a:blip r:embed="rId4"/>
          <a:stretch>
            <a:fillRect/>
          </a:stretch>
        </p:blipFill>
        <p:spPr>
          <a:xfrm>
            <a:off x="11475188" y="1830451"/>
            <a:ext cx="128699" cy="187198"/>
          </a:xfrm>
          <a:prstGeom prst="rect">
            <a:avLst/>
          </a:prstGeom>
        </p:spPr>
      </p:pic>
      <p:pic>
        <p:nvPicPr>
          <p:cNvPr id="241" name="Picture 240" descr="lock.png"/>
          <p:cNvPicPr>
            <a:picLocks noChangeAspect="1"/>
          </p:cNvPicPr>
          <p:nvPr/>
        </p:nvPicPr>
        <p:blipFill>
          <a:blip r:embed="rId4"/>
          <a:stretch>
            <a:fillRect/>
          </a:stretch>
        </p:blipFill>
        <p:spPr>
          <a:xfrm>
            <a:off x="8160488" y="2059051"/>
            <a:ext cx="128699" cy="187198"/>
          </a:xfrm>
          <a:prstGeom prst="rect">
            <a:avLst/>
          </a:prstGeom>
        </p:spPr>
      </p:pic>
      <p:pic>
        <p:nvPicPr>
          <p:cNvPr id="242" name="Picture 241" descr="lock.png"/>
          <p:cNvPicPr>
            <a:picLocks noChangeAspect="1"/>
          </p:cNvPicPr>
          <p:nvPr/>
        </p:nvPicPr>
        <p:blipFill>
          <a:blip r:embed="rId4"/>
          <a:stretch>
            <a:fillRect/>
          </a:stretch>
        </p:blipFill>
        <p:spPr>
          <a:xfrm>
            <a:off x="8989163" y="2059051"/>
            <a:ext cx="128699" cy="187198"/>
          </a:xfrm>
          <a:prstGeom prst="rect">
            <a:avLst/>
          </a:prstGeom>
        </p:spPr>
      </p:pic>
      <p:pic>
        <p:nvPicPr>
          <p:cNvPr id="243" name="Picture 242" descr="lock.png"/>
          <p:cNvPicPr>
            <a:picLocks noChangeAspect="1"/>
          </p:cNvPicPr>
          <p:nvPr/>
        </p:nvPicPr>
        <p:blipFill>
          <a:blip r:embed="rId4"/>
          <a:stretch>
            <a:fillRect/>
          </a:stretch>
        </p:blipFill>
        <p:spPr>
          <a:xfrm>
            <a:off x="9817838" y="2059051"/>
            <a:ext cx="128699" cy="187198"/>
          </a:xfrm>
          <a:prstGeom prst="rect">
            <a:avLst/>
          </a:prstGeom>
        </p:spPr>
      </p:pic>
      <p:pic>
        <p:nvPicPr>
          <p:cNvPr id="244" name="Picture 243" descr="lock.png"/>
          <p:cNvPicPr>
            <a:picLocks noChangeAspect="1"/>
          </p:cNvPicPr>
          <p:nvPr/>
        </p:nvPicPr>
        <p:blipFill>
          <a:blip r:embed="rId4"/>
          <a:stretch>
            <a:fillRect/>
          </a:stretch>
        </p:blipFill>
        <p:spPr>
          <a:xfrm>
            <a:off x="10646513" y="2059051"/>
            <a:ext cx="128699" cy="187198"/>
          </a:xfrm>
          <a:prstGeom prst="rect">
            <a:avLst/>
          </a:prstGeom>
        </p:spPr>
      </p:pic>
      <p:pic>
        <p:nvPicPr>
          <p:cNvPr id="245" name="Picture 244" descr="lock.png"/>
          <p:cNvPicPr>
            <a:picLocks noChangeAspect="1"/>
          </p:cNvPicPr>
          <p:nvPr/>
        </p:nvPicPr>
        <p:blipFill>
          <a:blip r:embed="rId4"/>
          <a:stretch>
            <a:fillRect/>
          </a:stretch>
        </p:blipFill>
        <p:spPr>
          <a:xfrm>
            <a:off x="11475188" y="2059051"/>
            <a:ext cx="128699" cy="187198"/>
          </a:xfrm>
          <a:prstGeom prst="rect">
            <a:avLst/>
          </a:prstGeom>
        </p:spPr>
      </p:pic>
      <p:pic>
        <p:nvPicPr>
          <p:cNvPr id="246" name="Picture 245" descr="lock.png"/>
          <p:cNvPicPr>
            <a:picLocks noChangeAspect="1"/>
          </p:cNvPicPr>
          <p:nvPr/>
        </p:nvPicPr>
        <p:blipFill>
          <a:blip r:embed="rId4"/>
          <a:stretch>
            <a:fillRect/>
          </a:stretch>
        </p:blipFill>
        <p:spPr>
          <a:xfrm>
            <a:off x="8160488" y="2287651"/>
            <a:ext cx="128699" cy="187198"/>
          </a:xfrm>
          <a:prstGeom prst="rect">
            <a:avLst/>
          </a:prstGeom>
        </p:spPr>
      </p:pic>
      <p:pic>
        <p:nvPicPr>
          <p:cNvPr id="247" name="Picture 246" descr="lock.png"/>
          <p:cNvPicPr>
            <a:picLocks noChangeAspect="1"/>
          </p:cNvPicPr>
          <p:nvPr/>
        </p:nvPicPr>
        <p:blipFill>
          <a:blip r:embed="rId4"/>
          <a:stretch>
            <a:fillRect/>
          </a:stretch>
        </p:blipFill>
        <p:spPr>
          <a:xfrm>
            <a:off x="8989162" y="2287651"/>
            <a:ext cx="128699" cy="187198"/>
          </a:xfrm>
          <a:prstGeom prst="rect">
            <a:avLst/>
          </a:prstGeom>
        </p:spPr>
      </p:pic>
      <p:pic>
        <p:nvPicPr>
          <p:cNvPr id="248" name="Picture 247" descr="lock.png"/>
          <p:cNvPicPr>
            <a:picLocks noChangeAspect="1"/>
          </p:cNvPicPr>
          <p:nvPr/>
        </p:nvPicPr>
        <p:blipFill>
          <a:blip r:embed="rId4"/>
          <a:stretch>
            <a:fillRect/>
          </a:stretch>
        </p:blipFill>
        <p:spPr>
          <a:xfrm>
            <a:off x="9817838" y="2287651"/>
            <a:ext cx="128699" cy="187198"/>
          </a:xfrm>
          <a:prstGeom prst="rect">
            <a:avLst/>
          </a:prstGeom>
        </p:spPr>
      </p:pic>
      <p:pic>
        <p:nvPicPr>
          <p:cNvPr id="249" name="Picture 248" descr="lock.png"/>
          <p:cNvPicPr>
            <a:picLocks noChangeAspect="1"/>
          </p:cNvPicPr>
          <p:nvPr/>
        </p:nvPicPr>
        <p:blipFill>
          <a:blip r:embed="rId4"/>
          <a:stretch>
            <a:fillRect/>
          </a:stretch>
        </p:blipFill>
        <p:spPr>
          <a:xfrm>
            <a:off x="10646512" y="2287651"/>
            <a:ext cx="128699" cy="187198"/>
          </a:xfrm>
          <a:prstGeom prst="rect">
            <a:avLst/>
          </a:prstGeom>
        </p:spPr>
      </p:pic>
      <p:pic>
        <p:nvPicPr>
          <p:cNvPr id="250" name="Picture 249" descr="lock.png"/>
          <p:cNvPicPr>
            <a:picLocks noChangeAspect="1"/>
          </p:cNvPicPr>
          <p:nvPr/>
        </p:nvPicPr>
        <p:blipFill>
          <a:blip r:embed="rId4"/>
          <a:stretch>
            <a:fillRect/>
          </a:stretch>
        </p:blipFill>
        <p:spPr>
          <a:xfrm>
            <a:off x="8160488" y="2516251"/>
            <a:ext cx="128699" cy="187198"/>
          </a:xfrm>
          <a:prstGeom prst="rect">
            <a:avLst/>
          </a:prstGeom>
        </p:spPr>
      </p:pic>
      <p:pic>
        <p:nvPicPr>
          <p:cNvPr id="251" name="Picture 250" descr="lock.png"/>
          <p:cNvPicPr>
            <a:picLocks noChangeAspect="1"/>
          </p:cNvPicPr>
          <p:nvPr/>
        </p:nvPicPr>
        <p:blipFill>
          <a:blip r:embed="rId4"/>
          <a:stretch>
            <a:fillRect/>
          </a:stretch>
        </p:blipFill>
        <p:spPr>
          <a:xfrm>
            <a:off x="8989162" y="2516251"/>
            <a:ext cx="128699" cy="187198"/>
          </a:xfrm>
          <a:prstGeom prst="rect">
            <a:avLst/>
          </a:prstGeom>
        </p:spPr>
      </p:pic>
      <p:pic>
        <p:nvPicPr>
          <p:cNvPr id="252" name="Picture 251" descr="lock.png"/>
          <p:cNvPicPr>
            <a:picLocks noChangeAspect="1"/>
          </p:cNvPicPr>
          <p:nvPr/>
        </p:nvPicPr>
        <p:blipFill>
          <a:blip r:embed="rId4"/>
          <a:stretch>
            <a:fillRect/>
          </a:stretch>
        </p:blipFill>
        <p:spPr>
          <a:xfrm>
            <a:off x="9817838" y="2516251"/>
            <a:ext cx="128699" cy="187198"/>
          </a:xfrm>
          <a:prstGeom prst="rect">
            <a:avLst/>
          </a:prstGeom>
        </p:spPr>
      </p:pic>
      <p:pic>
        <p:nvPicPr>
          <p:cNvPr id="253" name="Picture 252" descr="lock.png"/>
          <p:cNvPicPr>
            <a:picLocks noChangeAspect="1"/>
          </p:cNvPicPr>
          <p:nvPr/>
        </p:nvPicPr>
        <p:blipFill>
          <a:blip r:embed="rId4"/>
          <a:stretch>
            <a:fillRect/>
          </a:stretch>
        </p:blipFill>
        <p:spPr>
          <a:xfrm>
            <a:off x="10646512" y="2516251"/>
            <a:ext cx="128699" cy="187198"/>
          </a:xfrm>
          <a:prstGeom prst="rect">
            <a:avLst/>
          </a:prstGeom>
        </p:spPr>
      </p:pic>
      <p:pic>
        <p:nvPicPr>
          <p:cNvPr id="254" name="Picture 253" descr="lock.png"/>
          <p:cNvPicPr>
            <a:picLocks noChangeAspect="1"/>
          </p:cNvPicPr>
          <p:nvPr/>
        </p:nvPicPr>
        <p:blipFill>
          <a:blip r:embed="rId4"/>
          <a:stretch>
            <a:fillRect/>
          </a:stretch>
        </p:blipFill>
        <p:spPr>
          <a:xfrm>
            <a:off x="8160487" y="2744851"/>
            <a:ext cx="128699" cy="187198"/>
          </a:xfrm>
          <a:prstGeom prst="rect">
            <a:avLst/>
          </a:prstGeom>
        </p:spPr>
      </p:pic>
      <p:pic>
        <p:nvPicPr>
          <p:cNvPr id="255" name="Picture 254" descr="lock.png"/>
          <p:cNvPicPr>
            <a:picLocks noChangeAspect="1"/>
          </p:cNvPicPr>
          <p:nvPr/>
        </p:nvPicPr>
        <p:blipFill>
          <a:blip r:embed="rId4"/>
          <a:stretch>
            <a:fillRect/>
          </a:stretch>
        </p:blipFill>
        <p:spPr>
          <a:xfrm>
            <a:off x="8989163" y="2744851"/>
            <a:ext cx="128699" cy="187198"/>
          </a:xfrm>
          <a:prstGeom prst="rect">
            <a:avLst/>
          </a:prstGeom>
        </p:spPr>
      </p:pic>
      <p:pic>
        <p:nvPicPr>
          <p:cNvPr id="256" name="Picture 255" descr="lock.png"/>
          <p:cNvPicPr>
            <a:picLocks noChangeAspect="1"/>
          </p:cNvPicPr>
          <p:nvPr/>
        </p:nvPicPr>
        <p:blipFill>
          <a:blip r:embed="rId4"/>
          <a:stretch>
            <a:fillRect/>
          </a:stretch>
        </p:blipFill>
        <p:spPr>
          <a:xfrm>
            <a:off x="9817837" y="2744851"/>
            <a:ext cx="128699" cy="187198"/>
          </a:xfrm>
          <a:prstGeom prst="rect">
            <a:avLst/>
          </a:prstGeom>
        </p:spPr>
      </p:pic>
      <p:pic>
        <p:nvPicPr>
          <p:cNvPr id="257" name="Picture 256" descr="lock.png"/>
          <p:cNvPicPr>
            <a:picLocks noChangeAspect="1"/>
          </p:cNvPicPr>
          <p:nvPr/>
        </p:nvPicPr>
        <p:blipFill>
          <a:blip r:embed="rId4"/>
          <a:stretch>
            <a:fillRect/>
          </a:stretch>
        </p:blipFill>
        <p:spPr>
          <a:xfrm>
            <a:off x="10646513" y="2744851"/>
            <a:ext cx="128699" cy="187198"/>
          </a:xfrm>
          <a:prstGeom prst="rect">
            <a:avLst/>
          </a:prstGeom>
        </p:spPr>
      </p:pic>
      <p:pic>
        <p:nvPicPr>
          <p:cNvPr id="258" name="Picture 257" descr="lock.png"/>
          <p:cNvPicPr>
            <a:picLocks noChangeAspect="1"/>
          </p:cNvPicPr>
          <p:nvPr/>
        </p:nvPicPr>
        <p:blipFill>
          <a:blip r:embed="rId4"/>
          <a:stretch>
            <a:fillRect/>
          </a:stretch>
        </p:blipFill>
        <p:spPr>
          <a:xfrm>
            <a:off x="8160487" y="2973451"/>
            <a:ext cx="128699" cy="187198"/>
          </a:xfrm>
          <a:prstGeom prst="rect">
            <a:avLst/>
          </a:prstGeom>
        </p:spPr>
      </p:pic>
      <p:pic>
        <p:nvPicPr>
          <p:cNvPr id="259" name="Picture 258" descr="lock.png"/>
          <p:cNvPicPr>
            <a:picLocks noChangeAspect="1"/>
          </p:cNvPicPr>
          <p:nvPr/>
        </p:nvPicPr>
        <p:blipFill>
          <a:blip r:embed="rId4"/>
          <a:stretch>
            <a:fillRect/>
          </a:stretch>
        </p:blipFill>
        <p:spPr>
          <a:xfrm>
            <a:off x="8989163" y="2973451"/>
            <a:ext cx="128699" cy="187198"/>
          </a:xfrm>
          <a:prstGeom prst="rect">
            <a:avLst/>
          </a:prstGeom>
        </p:spPr>
      </p:pic>
      <p:pic>
        <p:nvPicPr>
          <p:cNvPr id="260" name="Picture 259" descr="lock.png"/>
          <p:cNvPicPr>
            <a:picLocks noChangeAspect="1"/>
          </p:cNvPicPr>
          <p:nvPr/>
        </p:nvPicPr>
        <p:blipFill>
          <a:blip r:embed="rId4"/>
          <a:stretch>
            <a:fillRect/>
          </a:stretch>
        </p:blipFill>
        <p:spPr>
          <a:xfrm>
            <a:off x="9817837" y="2973451"/>
            <a:ext cx="128699" cy="187198"/>
          </a:xfrm>
          <a:prstGeom prst="rect">
            <a:avLst/>
          </a:prstGeom>
        </p:spPr>
      </p:pic>
      <p:pic>
        <p:nvPicPr>
          <p:cNvPr id="261" name="Picture 260" descr="lock.png"/>
          <p:cNvPicPr>
            <a:picLocks noChangeAspect="1"/>
          </p:cNvPicPr>
          <p:nvPr/>
        </p:nvPicPr>
        <p:blipFill>
          <a:blip r:embed="rId4"/>
          <a:stretch>
            <a:fillRect/>
          </a:stretch>
        </p:blipFill>
        <p:spPr>
          <a:xfrm>
            <a:off x="10646513" y="2973451"/>
            <a:ext cx="128699" cy="187198"/>
          </a:xfrm>
          <a:prstGeom prst="rect">
            <a:avLst/>
          </a:prstGeom>
        </p:spPr>
      </p:pic>
      <p:pic>
        <p:nvPicPr>
          <p:cNvPr id="262" name="Picture 261" descr="lock.png"/>
          <p:cNvPicPr>
            <a:picLocks noChangeAspect="1"/>
          </p:cNvPicPr>
          <p:nvPr/>
        </p:nvPicPr>
        <p:blipFill>
          <a:blip r:embed="rId4"/>
          <a:stretch>
            <a:fillRect/>
          </a:stretch>
        </p:blipFill>
        <p:spPr>
          <a:xfrm>
            <a:off x="11475187" y="2973451"/>
            <a:ext cx="128699" cy="187198"/>
          </a:xfrm>
          <a:prstGeom prst="rect">
            <a:avLst/>
          </a:prstGeom>
        </p:spPr>
      </p:pic>
      <p:pic>
        <p:nvPicPr>
          <p:cNvPr id="263" name="Picture 262" descr="lock.png"/>
          <p:cNvPicPr>
            <a:picLocks noChangeAspect="1"/>
          </p:cNvPicPr>
          <p:nvPr/>
        </p:nvPicPr>
        <p:blipFill>
          <a:blip r:embed="rId4"/>
          <a:stretch>
            <a:fillRect/>
          </a:stretch>
        </p:blipFill>
        <p:spPr>
          <a:xfrm>
            <a:off x="8160488" y="3202051"/>
            <a:ext cx="128699" cy="187198"/>
          </a:xfrm>
          <a:prstGeom prst="rect">
            <a:avLst/>
          </a:prstGeom>
        </p:spPr>
      </p:pic>
      <p:pic>
        <p:nvPicPr>
          <p:cNvPr id="264" name="Picture 263" descr="lock.png"/>
          <p:cNvPicPr>
            <a:picLocks noChangeAspect="1"/>
          </p:cNvPicPr>
          <p:nvPr/>
        </p:nvPicPr>
        <p:blipFill>
          <a:blip r:embed="rId4"/>
          <a:stretch>
            <a:fillRect/>
          </a:stretch>
        </p:blipFill>
        <p:spPr>
          <a:xfrm>
            <a:off x="8989163" y="3202051"/>
            <a:ext cx="128699" cy="187198"/>
          </a:xfrm>
          <a:prstGeom prst="rect">
            <a:avLst/>
          </a:prstGeom>
        </p:spPr>
      </p:pic>
      <p:pic>
        <p:nvPicPr>
          <p:cNvPr id="265" name="Picture 264" descr="lock.png"/>
          <p:cNvPicPr>
            <a:picLocks noChangeAspect="1"/>
          </p:cNvPicPr>
          <p:nvPr/>
        </p:nvPicPr>
        <p:blipFill>
          <a:blip r:embed="rId4"/>
          <a:stretch>
            <a:fillRect/>
          </a:stretch>
        </p:blipFill>
        <p:spPr>
          <a:xfrm>
            <a:off x="9817838" y="3202051"/>
            <a:ext cx="128699" cy="187198"/>
          </a:xfrm>
          <a:prstGeom prst="rect">
            <a:avLst/>
          </a:prstGeom>
        </p:spPr>
      </p:pic>
      <p:pic>
        <p:nvPicPr>
          <p:cNvPr id="266" name="Picture 265" descr="lock.png"/>
          <p:cNvPicPr>
            <a:picLocks noChangeAspect="1"/>
          </p:cNvPicPr>
          <p:nvPr/>
        </p:nvPicPr>
        <p:blipFill>
          <a:blip r:embed="rId4"/>
          <a:stretch>
            <a:fillRect/>
          </a:stretch>
        </p:blipFill>
        <p:spPr>
          <a:xfrm>
            <a:off x="8160488" y="3478276"/>
            <a:ext cx="128699" cy="187198"/>
          </a:xfrm>
          <a:prstGeom prst="rect">
            <a:avLst/>
          </a:prstGeom>
        </p:spPr>
      </p:pic>
      <p:pic>
        <p:nvPicPr>
          <p:cNvPr id="267" name="Picture 266" descr="lock.png"/>
          <p:cNvPicPr>
            <a:picLocks noChangeAspect="1"/>
          </p:cNvPicPr>
          <p:nvPr/>
        </p:nvPicPr>
        <p:blipFill>
          <a:blip r:embed="rId4"/>
          <a:stretch>
            <a:fillRect/>
          </a:stretch>
        </p:blipFill>
        <p:spPr>
          <a:xfrm>
            <a:off x="8989162" y="3478276"/>
            <a:ext cx="128699" cy="187198"/>
          </a:xfrm>
          <a:prstGeom prst="rect">
            <a:avLst/>
          </a:prstGeom>
        </p:spPr>
      </p:pic>
      <p:pic>
        <p:nvPicPr>
          <p:cNvPr id="268" name="Picture 267" descr="lock.png"/>
          <p:cNvPicPr>
            <a:picLocks noChangeAspect="1"/>
          </p:cNvPicPr>
          <p:nvPr/>
        </p:nvPicPr>
        <p:blipFill>
          <a:blip r:embed="rId4"/>
          <a:stretch>
            <a:fillRect/>
          </a:stretch>
        </p:blipFill>
        <p:spPr>
          <a:xfrm>
            <a:off x="9817838" y="3478276"/>
            <a:ext cx="128699" cy="187198"/>
          </a:xfrm>
          <a:prstGeom prst="rect">
            <a:avLst/>
          </a:prstGeom>
        </p:spPr>
      </p:pic>
      <p:pic>
        <p:nvPicPr>
          <p:cNvPr id="269" name="Picture 268" descr="lock.png"/>
          <p:cNvPicPr>
            <a:picLocks noChangeAspect="1"/>
          </p:cNvPicPr>
          <p:nvPr/>
        </p:nvPicPr>
        <p:blipFill>
          <a:blip r:embed="rId4"/>
          <a:stretch>
            <a:fillRect/>
          </a:stretch>
        </p:blipFill>
        <p:spPr>
          <a:xfrm>
            <a:off x="10646512" y="3478276"/>
            <a:ext cx="128699" cy="187198"/>
          </a:xfrm>
          <a:prstGeom prst="rect">
            <a:avLst/>
          </a:prstGeom>
        </p:spPr>
      </p:pic>
      <p:sp>
        <p:nvSpPr>
          <p:cNvPr id="270" name="TextBox 269"/>
          <p:cNvSpPr txBox="1"/>
          <p:nvPr/>
        </p:nvSpPr>
        <p:spPr>
          <a:xfrm>
            <a:off x="266700" y="1344930"/>
            <a:ext cx="491480" cy="186689"/>
          </a:xfrm>
          <a:prstGeom prst="rect">
            <a:avLst/>
          </a:prstGeom>
          <a:noFill/>
        </p:spPr>
        <p:txBody>
          <a:bodyPr wrap="none" lIns="0" rIns="0" tIns="0" bIns="0">
            <a:spAutoFit/>
          </a:bodyPr>
          <a:lstStyle/>
          <a:p>
            <a:r>
              <a:rPr sz="1100" b="0">
                <a:solidFill>
                  <a:srgbClr val="6B7280"/>
                </a:solidFill>
                <a:latin typeface="Calibri"/>
              </a:rPr>
              <a:t>Market</a:t>
            </a:r>
          </a:p>
        </p:txBody>
      </p:sp>
      <p:pic>
        <p:nvPicPr>
          <p:cNvPr id="271" name="Picture 270" descr="lock.png"/>
          <p:cNvPicPr>
            <a:picLocks noChangeAspect="1"/>
          </p:cNvPicPr>
          <p:nvPr/>
        </p:nvPicPr>
        <p:blipFill>
          <a:blip r:embed="rId4"/>
          <a:stretch>
            <a:fillRect/>
          </a:stretch>
        </p:blipFill>
        <p:spPr>
          <a:xfrm>
            <a:off x="706231" y="1335151"/>
            <a:ext cx="128699" cy="187198"/>
          </a:xfrm>
          <a:prstGeom prst="rect">
            <a:avLst/>
          </a:prstGeom>
        </p:spPr>
      </p:pic>
      <p:sp>
        <p:nvSpPr>
          <p:cNvPr id="272" name="TextBox 271"/>
          <p:cNvSpPr txBox="1"/>
          <p:nvPr/>
        </p:nvSpPr>
        <p:spPr>
          <a:xfrm>
            <a:off x="873727" y="1344930"/>
            <a:ext cx="1290389" cy="186689"/>
          </a:xfrm>
          <a:prstGeom prst="rect">
            <a:avLst/>
          </a:prstGeom>
          <a:noFill/>
        </p:spPr>
        <p:txBody>
          <a:bodyPr wrap="none" lIns="0" rIns="0" tIns="0" bIns="0">
            <a:spAutoFit/>
          </a:bodyPr>
          <a:lstStyle/>
          <a:p>
            <a:r>
              <a:rPr sz="1100" b="0">
                <a:solidFill>
                  <a:srgbClr val="6B7280"/>
                </a:solidFill>
                <a:latin typeface="Calibri"/>
              </a:rPr>
              <a:t>US$ Mn · Tier 1 share</a:t>
            </a:r>
          </a:p>
        </p:txBody>
      </p:sp>
      <p:pic>
        <p:nvPicPr>
          <p:cNvPr id="273" name="Picture 272" descr="lock.png"/>
          <p:cNvPicPr>
            <a:picLocks noChangeAspect="1"/>
          </p:cNvPicPr>
          <p:nvPr/>
        </p:nvPicPr>
        <p:blipFill>
          <a:blip r:embed="rId4"/>
          <a:stretch>
            <a:fillRect/>
          </a:stretch>
        </p:blipFill>
        <p:spPr>
          <a:xfrm>
            <a:off x="2112168" y="1335151"/>
            <a:ext cx="128699" cy="187198"/>
          </a:xfrm>
          <a:prstGeom prst="rect">
            <a:avLst/>
          </a:prstGeom>
        </p:spPr>
      </p:pic>
      <p:sp>
        <p:nvSpPr>
          <p:cNvPr id="274" name="TextBox 273"/>
          <p:cNvSpPr txBox="1"/>
          <p:nvPr/>
        </p:nvSpPr>
        <p:spPr>
          <a:xfrm>
            <a:off x="2279664" y="1344930"/>
            <a:ext cx="202803" cy="186689"/>
          </a:xfrm>
          <a:prstGeom prst="rect">
            <a:avLst/>
          </a:prstGeom>
          <a:noFill/>
        </p:spPr>
        <p:txBody>
          <a:bodyPr wrap="none" lIns="0" rIns="0" tIns="0" bIns="0">
            <a:spAutoFit/>
          </a:bodyPr>
          <a:lstStyle/>
          <a:p>
            <a:r>
              <a:rPr sz="1100" b="0">
                <a:solidFill>
                  <a:srgbClr val="6B7280"/>
                </a:solidFill>
                <a:latin typeface="Calibri"/>
              </a:rPr>
              <a:t>→</a:t>
            </a:r>
          </a:p>
        </p:txBody>
      </p:sp>
      <p:pic>
        <p:nvPicPr>
          <p:cNvPr id="275" name="Picture 274" descr="lock.png"/>
          <p:cNvPicPr>
            <a:picLocks noChangeAspect="1"/>
          </p:cNvPicPr>
          <p:nvPr/>
        </p:nvPicPr>
        <p:blipFill>
          <a:blip r:embed="rId4"/>
          <a:stretch>
            <a:fillRect/>
          </a:stretch>
        </p:blipFill>
        <p:spPr>
          <a:xfrm>
            <a:off x="2430519" y="1335151"/>
            <a:ext cx="128699" cy="187198"/>
          </a:xfrm>
          <a:prstGeom prst="rect">
            <a:avLst/>
          </a:prstGeom>
        </p:spPr>
      </p:pic>
      <p:sp>
        <p:nvSpPr>
          <p:cNvPr id="276" name="TextBox 275"/>
          <p:cNvSpPr txBox="1"/>
          <p:nvPr/>
        </p:nvSpPr>
        <p:spPr>
          <a:xfrm>
            <a:off x="2598014" y="1344930"/>
            <a:ext cx="528315" cy="186689"/>
          </a:xfrm>
          <a:prstGeom prst="rect">
            <a:avLst/>
          </a:prstGeom>
          <a:noFill/>
        </p:spPr>
        <p:txBody>
          <a:bodyPr wrap="none" lIns="0" rIns="0" tIns="0" bIns="0">
            <a:spAutoFit/>
          </a:bodyPr>
          <a:lstStyle/>
          <a:p>
            <a:r>
              <a:rPr sz="1100" b="0">
                <a:solidFill>
                  <a:srgbClr val="6B7280"/>
                </a:solidFill>
                <a:latin typeface="Calibri"/>
              </a:rPr>
              <a:t>by 2036</a:t>
            </a:r>
          </a:p>
        </p:txBody>
      </p:sp>
      <p:pic>
        <p:nvPicPr>
          <p:cNvPr id="277" name="Picture 276" descr="lock.png"/>
          <p:cNvPicPr>
            <a:picLocks noChangeAspect="1"/>
          </p:cNvPicPr>
          <p:nvPr/>
        </p:nvPicPr>
        <p:blipFill>
          <a:blip r:embed="rId4"/>
          <a:stretch>
            <a:fillRect/>
          </a:stretch>
        </p:blipFill>
        <p:spPr>
          <a:xfrm>
            <a:off x="1377182" y="1839976"/>
            <a:ext cx="128699" cy="187198"/>
          </a:xfrm>
          <a:prstGeom prst="rect">
            <a:avLst/>
          </a:prstGeom>
        </p:spPr>
      </p:pic>
      <p:sp>
        <p:nvSpPr>
          <p:cNvPr id="278" name="TextBox 277"/>
          <p:cNvSpPr txBox="1"/>
          <p:nvPr/>
        </p:nvSpPr>
        <p:spPr>
          <a:xfrm>
            <a:off x="1544678" y="18497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79" name="Picture 278" descr="lock.png"/>
          <p:cNvPicPr>
            <a:picLocks noChangeAspect="1"/>
          </p:cNvPicPr>
          <p:nvPr/>
        </p:nvPicPr>
        <p:blipFill>
          <a:blip r:embed="rId4"/>
          <a:stretch>
            <a:fillRect/>
          </a:stretch>
        </p:blipFill>
        <p:spPr>
          <a:xfrm>
            <a:off x="2922273" y="1839976"/>
            <a:ext cx="128699" cy="187198"/>
          </a:xfrm>
          <a:prstGeom prst="rect">
            <a:avLst/>
          </a:prstGeom>
        </p:spPr>
      </p:pic>
      <p:sp>
        <p:nvSpPr>
          <p:cNvPr id="280" name="TextBox 279"/>
          <p:cNvSpPr txBox="1"/>
          <p:nvPr/>
        </p:nvSpPr>
        <p:spPr>
          <a:xfrm>
            <a:off x="3089769" y="18497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1" name="Picture 280" descr="lock.png"/>
          <p:cNvPicPr>
            <a:picLocks noChangeAspect="1"/>
          </p:cNvPicPr>
          <p:nvPr/>
        </p:nvPicPr>
        <p:blipFill>
          <a:blip r:embed="rId4"/>
          <a:stretch>
            <a:fillRect/>
          </a:stretch>
        </p:blipFill>
        <p:spPr>
          <a:xfrm>
            <a:off x="1377182" y="2697226"/>
            <a:ext cx="128699" cy="187198"/>
          </a:xfrm>
          <a:prstGeom prst="rect">
            <a:avLst/>
          </a:prstGeom>
        </p:spPr>
      </p:pic>
      <p:sp>
        <p:nvSpPr>
          <p:cNvPr id="282" name="TextBox 281"/>
          <p:cNvSpPr txBox="1"/>
          <p:nvPr/>
        </p:nvSpPr>
        <p:spPr>
          <a:xfrm>
            <a:off x="1544678" y="2707005"/>
            <a:ext cx="1429543" cy="186689"/>
          </a:xfrm>
          <a:prstGeom prst="rect">
            <a:avLst/>
          </a:prstGeom>
          <a:noFill/>
        </p:spPr>
        <p:txBody>
          <a:bodyPr wrap="none" lIns="0" rIns="0" tIns="0" bIns="0">
            <a:spAutoFit/>
          </a:bodyPr>
          <a:lstStyle/>
          <a:p>
            <a:r>
              <a:rPr sz="1100" b="0">
                <a:solidFill>
                  <a:srgbClr val="FFFFFF"/>
                </a:solidFill>
                <a:latin typeface="Calibri"/>
              </a:rPr>
              <a:t>US$ Mn · 2 players · avg</a:t>
            </a:r>
          </a:p>
        </p:txBody>
      </p:sp>
      <p:pic>
        <p:nvPicPr>
          <p:cNvPr id="283" name="Picture 282" descr="lock.png"/>
          <p:cNvPicPr>
            <a:picLocks noChangeAspect="1"/>
          </p:cNvPicPr>
          <p:nvPr/>
        </p:nvPicPr>
        <p:blipFill>
          <a:blip r:embed="rId4"/>
          <a:stretch>
            <a:fillRect/>
          </a:stretch>
        </p:blipFill>
        <p:spPr>
          <a:xfrm>
            <a:off x="2922273" y="2697226"/>
            <a:ext cx="128699" cy="187198"/>
          </a:xfrm>
          <a:prstGeom prst="rect">
            <a:avLst/>
          </a:prstGeom>
        </p:spPr>
      </p:pic>
      <p:sp>
        <p:nvSpPr>
          <p:cNvPr id="284" name="TextBox 283"/>
          <p:cNvSpPr txBox="1"/>
          <p:nvPr/>
        </p:nvSpPr>
        <p:spPr>
          <a:xfrm>
            <a:off x="3089769" y="270700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5" name="Picture 284" descr="lock.png"/>
          <p:cNvPicPr>
            <a:picLocks noChangeAspect="1"/>
          </p:cNvPicPr>
          <p:nvPr/>
        </p:nvPicPr>
        <p:blipFill>
          <a:blip r:embed="rId4"/>
          <a:stretch>
            <a:fillRect/>
          </a:stretch>
        </p:blipFill>
        <p:spPr>
          <a:xfrm>
            <a:off x="1377182" y="3554476"/>
            <a:ext cx="128699" cy="187198"/>
          </a:xfrm>
          <a:prstGeom prst="rect">
            <a:avLst/>
          </a:prstGeom>
        </p:spPr>
      </p:pic>
      <p:sp>
        <p:nvSpPr>
          <p:cNvPr id="286" name="TextBox 285"/>
          <p:cNvSpPr txBox="1"/>
          <p:nvPr/>
        </p:nvSpPr>
        <p:spPr>
          <a:xfrm>
            <a:off x="1544678" y="3564255"/>
            <a:ext cx="1429543" cy="186689"/>
          </a:xfrm>
          <a:prstGeom prst="rect">
            <a:avLst/>
          </a:prstGeom>
          <a:noFill/>
        </p:spPr>
        <p:txBody>
          <a:bodyPr wrap="none" lIns="0" rIns="0" tIns="0" bIns="0">
            <a:spAutoFit/>
          </a:bodyPr>
          <a:lstStyle/>
          <a:p>
            <a:r>
              <a:rPr sz="1100" b="0">
                <a:solidFill>
                  <a:srgbClr val="FFFFFF"/>
                </a:solidFill>
                <a:latin typeface="Calibri"/>
              </a:rPr>
              <a:t>US$ Mn · 4 players · avg</a:t>
            </a:r>
          </a:p>
        </p:txBody>
      </p:sp>
      <p:pic>
        <p:nvPicPr>
          <p:cNvPr id="287" name="Picture 286" descr="lock.png"/>
          <p:cNvPicPr>
            <a:picLocks noChangeAspect="1"/>
          </p:cNvPicPr>
          <p:nvPr/>
        </p:nvPicPr>
        <p:blipFill>
          <a:blip r:embed="rId4"/>
          <a:stretch>
            <a:fillRect/>
          </a:stretch>
        </p:blipFill>
        <p:spPr>
          <a:xfrm>
            <a:off x="2922273" y="3554476"/>
            <a:ext cx="128699" cy="187198"/>
          </a:xfrm>
          <a:prstGeom prst="rect">
            <a:avLst/>
          </a:prstGeom>
        </p:spPr>
      </p:pic>
      <p:sp>
        <p:nvSpPr>
          <p:cNvPr id="288" name="TextBox 287"/>
          <p:cNvSpPr txBox="1"/>
          <p:nvPr/>
        </p:nvSpPr>
        <p:spPr>
          <a:xfrm>
            <a:off x="3089769" y="3564255"/>
            <a:ext cx="997074" cy="186689"/>
          </a:xfrm>
          <a:prstGeom prst="rect">
            <a:avLst/>
          </a:prstGeom>
          <a:noFill/>
        </p:spPr>
        <p:txBody>
          <a:bodyPr wrap="none" lIns="0" rIns="0" tIns="0" bIns="0">
            <a:spAutoFit/>
          </a:bodyPr>
          <a:lstStyle/>
          <a:p>
            <a:r>
              <a:rPr sz="1100" b="0">
                <a:solidFill>
                  <a:srgbClr val="FFFFFF"/>
                </a:solidFill>
                <a:latin typeface="Calibri"/>
              </a:rPr>
              <a:t>US$ Mn / player</a:t>
            </a:r>
          </a:p>
        </p:txBody>
      </p:sp>
      <p:pic>
        <p:nvPicPr>
          <p:cNvPr id="289" name="Picture 288" descr="lock.png"/>
          <p:cNvPicPr>
            <a:picLocks noChangeAspect="1"/>
          </p:cNvPicPr>
          <p:nvPr/>
        </p:nvPicPr>
        <p:blipFill>
          <a:blip r:embed="rId4"/>
          <a:stretch>
            <a:fillRect/>
          </a:stretch>
        </p:blipFill>
        <p:spPr>
          <a:xfrm>
            <a:off x="1377182" y="4411726"/>
            <a:ext cx="128699" cy="187198"/>
          </a:xfrm>
          <a:prstGeom prst="rect">
            <a:avLst/>
          </a:prstGeom>
        </p:spPr>
      </p:pic>
      <p:sp>
        <p:nvSpPr>
          <p:cNvPr id="290" name="TextBox 289"/>
          <p:cNvSpPr txBox="1"/>
          <p:nvPr/>
        </p:nvSpPr>
        <p:spPr>
          <a:xfrm>
            <a:off x="1544678" y="4421505"/>
            <a:ext cx="1247006" cy="186689"/>
          </a:xfrm>
          <a:prstGeom prst="rect">
            <a:avLst/>
          </a:prstGeom>
          <a:noFill/>
        </p:spPr>
        <p:txBody>
          <a:bodyPr wrap="none" lIns="0" rIns="0" tIns="0" bIns="0">
            <a:spAutoFit/>
          </a:bodyPr>
          <a:lstStyle/>
          <a:p>
            <a:r>
              <a:rPr sz="1100" b="0">
                <a:solidFill>
                  <a:srgbClr val="14213D"/>
                </a:solidFill>
                <a:latin typeface="Calibri"/>
              </a:rPr>
              <a:t>US$ Mn · – · long tail</a:t>
            </a:r>
          </a:p>
        </p:txBody>
      </p:sp>
      <p:sp>
        <p:nvSpPr>
          <p:cNvPr id="291" name="TextBox 290"/>
          <p:cNvSpPr txBox="1"/>
          <p:nvPr/>
        </p:nvSpPr>
        <p:spPr>
          <a:xfrm>
            <a:off x="1241169" y="5802630"/>
            <a:ext cx="493662" cy="186689"/>
          </a:xfrm>
          <a:prstGeom prst="rect">
            <a:avLst/>
          </a:prstGeom>
          <a:noFill/>
        </p:spPr>
        <p:txBody>
          <a:bodyPr wrap="none" lIns="0" rIns="0" tIns="0" bIns="0">
            <a:spAutoFit/>
          </a:bodyPr>
          <a:lstStyle/>
          <a:p>
            <a:r>
              <a:rPr sz="1100" b="1">
                <a:solidFill>
                  <a:srgbClr val="2E7D32"/>
                </a:solidFill>
                <a:latin typeface="Calibri"/>
              </a:rPr>
              <a:t>▲</a:t>
            </a:r>
            <a:r>
              <a:rPr sz="1100" b="1">
                <a:solidFill>
                  <a:srgbClr val="14213D"/>
                </a:solidFill>
                <a:latin typeface="Calibri"/>
              </a:rPr>
              <a:t> HHI =</a:t>
            </a:r>
          </a:p>
        </p:txBody>
      </p:sp>
      <p:pic>
        <p:nvPicPr>
          <p:cNvPr id="292" name="Picture 291" descr="lock.png"/>
          <p:cNvPicPr>
            <a:picLocks noChangeAspect="1"/>
          </p:cNvPicPr>
          <p:nvPr/>
        </p:nvPicPr>
        <p:blipFill>
          <a:blip r:embed="rId4"/>
          <a:stretch>
            <a:fillRect/>
          </a:stretch>
        </p:blipFill>
        <p:spPr>
          <a:xfrm>
            <a:off x="1682883" y="5792851"/>
            <a:ext cx="128699" cy="187198"/>
          </a:xfrm>
          <a:prstGeom prst="rect">
            <a:avLst/>
          </a:prstGeom>
        </p:spPr>
      </p:pic>
      <p:sp>
        <p:nvSpPr>
          <p:cNvPr id="293" name="TextBox 292"/>
          <p:cNvSpPr txBox="1"/>
          <p:nvPr/>
        </p:nvSpPr>
        <p:spPr>
          <a:xfrm>
            <a:off x="876202" y="6107430"/>
            <a:ext cx="400893" cy="186689"/>
          </a:xfrm>
          <a:prstGeom prst="rect">
            <a:avLst/>
          </a:prstGeom>
          <a:noFill/>
        </p:spPr>
        <p:txBody>
          <a:bodyPr wrap="none" lIns="0" rIns="0" tIns="0" bIns="0">
            <a:spAutoFit/>
          </a:bodyPr>
          <a:lstStyle/>
          <a:p>
            <a:r>
              <a:rPr sz="1100" b="1">
                <a:solidFill>
                  <a:srgbClr val="14213D"/>
                </a:solidFill>
                <a:latin typeface="Calibri"/>
              </a:rPr>
              <a:t>CR4 =</a:t>
            </a:r>
          </a:p>
        </p:txBody>
      </p:sp>
      <p:pic>
        <p:nvPicPr>
          <p:cNvPr id="294" name="Picture 293" descr="lock.png"/>
          <p:cNvPicPr>
            <a:picLocks noChangeAspect="1"/>
          </p:cNvPicPr>
          <p:nvPr/>
        </p:nvPicPr>
        <p:blipFill>
          <a:blip r:embed="rId4"/>
          <a:stretch>
            <a:fillRect/>
          </a:stretch>
        </p:blipFill>
        <p:spPr>
          <a:xfrm>
            <a:off x="1225147" y="6097651"/>
            <a:ext cx="128699" cy="187198"/>
          </a:xfrm>
          <a:prstGeom prst="rect">
            <a:avLst/>
          </a:prstGeom>
        </p:spPr>
      </p:pic>
      <p:sp>
        <p:nvSpPr>
          <p:cNvPr id="295" name="TextBox 294"/>
          <p:cNvSpPr txBox="1"/>
          <p:nvPr/>
        </p:nvSpPr>
        <p:spPr>
          <a:xfrm>
            <a:off x="1392643" y="6107430"/>
            <a:ext cx="1068288" cy="186689"/>
          </a:xfrm>
          <a:prstGeom prst="rect">
            <a:avLst/>
          </a:prstGeom>
          <a:noFill/>
        </p:spPr>
        <p:txBody>
          <a:bodyPr wrap="none" lIns="0" rIns="0" tIns="0" bIns="0">
            <a:spAutoFit/>
          </a:bodyPr>
          <a:lstStyle/>
          <a:p>
            <a:r>
              <a:rPr sz="1100" b="1">
                <a:solidFill>
                  <a:srgbClr val="14213D"/>
                </a:solidFill>
                <a:latin typeface="Calibri"/>
              </a:rPr>
              <a:t>· Tier 1 : Others =</a:t>
            </a:r>
          </a:p>
        </p:txBody>
      </p:sp>
      <p:pic>
        <p:nvPicPr>
          <p:cNvPr id="296" name="Picture 295" descr="lock.png"/>
          <p:cNvPicPr>
            <a:picLocks noChangeAspect="1"/>
          </p:cNvPicPr>
          <p:nvPr/>
        </p:nvPicPr>
        <p:blipFill>
          <a:blip r:embed="rId4"/>
          <a:stretch>
            <a:fillRect/>
          </a:stretch>
        </p:blipFill>
        <p:spPr>
          <a:xfrm>
            <a:off x="2408983" y="6097651"/>
            <a:ext cx="128699" cy="187198"/>
          </a:xfrm>
          <a:prstGeom prst="rect">
            <a:avLst/>
          </a:prstGeom>
        </p:spPr>
      </p:pic>
      <p:sp>
        <p:nvSpPr>
          <p:cNvPr id="297" name="TextBox 296"/>
          <p:cNvSpPr txBox="1"/>
          <p:nvPr/>
        </p:nvSpPr>
        <p:spPr>
          <a:xfrm>
            <a:off x="2576478" y="6107430"/>
            <a:ext cx="1397620" cy="186689"/>
          </a:xfrm>
          <a:prstGeom prst="rect">
            <a:avLst/>
          </a:prstGeom>
          <a:noFill/>
        </p:spPr>
        <p:txBody>
          <a:bodyPr wrap="none" lIns="0" rIns="0" tIns="0" bIns="0">
            <a:spAutoFit/>
          </a:bodyPr>
          <a:lstStyle/>
          <a:p>
            <a:r>
              <a:rPr sz="1100" b="1">
                <a:solidFill>
                  <a:srgbClr val="14213D"/>
                </a:solidFill>
                <a:latin typeface="Calibri"/>
              </a:rPr>
              <a:t>: 1 · Top-player share =</a:t>
            </a:r>
          </a:p>
        </p:txBody>
      </p:sp>
      <p:pic>
        <p:nvPicPr>
          <p:cNvPr id="298" name="Picture 297" descr="lock.png"/>
          <p:cNvPicPr>
            <a:picLocks noChangeAspect="1"/>
          </p:cNvPicPr>
          <p:nvPr/>
        </p:nvPicPr>
        <p:blipFill>
          <a:blip r:embed="rId4"/>
          <a:stretch>
            <a:fillRect/>
          </a:stretch>
        </p:blipFill>
        <p:spPr>
          <a:xfrm>
            <a:off x="3922150" y="6097651"/>
            <a:ext cx="128699" cy="187198"/>
          </a:xfrm>
          <a:prstGeom prst="rect">
            <a:avLst/>
          </a:prstGeom>
        </p:spPr>
      </p:pic>
      <p:sp>
        <p:nvSpPr>
          <p:cNvPr id="299" name="TextBox 298"/>
          <p:cNvSpPr txBox="1"/>
          <p:nvPr/>
        </p:nvSpPr>
        <p:spPr>
          <a:xfrm>
            <a:off x="4089646" y="6107430"/>
            <a:ext cx="1206351" cy="186689"/>
          </a:xfrm>
          <a:prstGeom prst="rect">
            <a:avLst/>
          </a:prstGeom>
          <a:noFill/>
        </p:spPr>
        <p:txBody>
          <a:bodyPr wrap="none" lIns="0" rIns="0" tIns="0" bIns="0">
            <a:spAutoFit/>
          </a:bodyPr>
          <a:lstStyle/>
          <a:p>
            <a:r>
              <a:rPr sz="1100" b="1">
                <a:solidFill>
                  <a:srgbClr val="14213D"/>
                </a:solidFill>
                <a:latin typeface="Calibri"/>
              </a:rPr>
              <a:t>· Class: Fragmented</a:t>
            </a:r>
          </a:p>
        </p:txBody>
      </p:sp>
      <p:sp>
        <p:nvSpPr>
          <p:cNvPr id="300" name="TextBox 299"/>
          <p:cNvSpPr txBox="1"/>
          <p:nvPr/>
        </p:nvSpPr>
        <p:spPr>
          <a:xfrm>
            <a:off x="6372225" y="5476875"/>
            <a:ext cx="471561" cy="186689"/>
          </a:xfrm>
          <a:prstGeom prst="rect">
            <a:avLst/>
          </a:prstGeom>
          <a:noFill/>
        </p:spPr>
        <p:txBody>
          <a:bodyPr wrap="none" lIns="0" rIns="0" tIns="0" bIns="0">
            <a:spAutoFit/>
          </a:bodyPr>
          <a:lstStyle/>
          <a:p>
            <a:r>
              <a:rPr sz="1100" b="0">
                <a:solidFill>
                  <a:srgbClr val="14213D"/>
                </a:solidFill>
                <a:latin typeface="Calibri"/>
              </a:rPr>
              <a:t>Tier 1 (</a:t>
            </a:r>
          </a:p>
        </p:txBody>
      </p:sp>
      <p:pic>
        <p:nvPicPr>
          <p:cNvPr id="301" name="Picture 300" descr="lock.png"/>
          <p:cNvPicPr>
            <a:picLocks noChangeAspect="1"/>
          </p:cNvPicPr>
          <p:nvPr/>
        </p:nvPicPr>
        <p:blipFill>
          <a:blip r:embed="rId4"/>
          <a:stretch>
            <a:fillRect/>
          </a:stretch>
        </p:blipFill>
        <p:spPr>
          <a:xfrm>
            <a:off x="6791838" y="5467095"/>
            <a:ext cx="128699" cy="187198"/>
          </a:xfrm>
          <a:prstGeom prst="rect">
            <a:avLst/>
          </a:prstGeom>
        </p:spPr>
      </p:pic>
      <p:sp>
        <p:nvSpPr>
          <p:cNvPr id="302" name="TextBox 301"/>
          <p:cNvSpPr txBox="1"/>
          <p:nvPr/>
        </p:nvSpPr>
        <p:spPr>
          <a:xfrm>
            <a:off x="6959334" y="5476875"/>
            <a:ext cx="2550145" cy="186689"/>
          </a:xfrm>
          <a:prstGeom prst="rect">
            <a:avLst/>
          </a:prstGeom>
          <a:noFill/>
        </p:spPr>
        <p:txBody>
          <a:bodyPr wrap="none" lIns="0" rIns="0" tIns="0" bIns="0">
            <a:spAutoFit/>
          </a:bodyPr>
          <a:lstStyle/>
          <a:p>
            <a:r>
              <a:rPr sz="1100" b="0">
                <a:solidFill>
                  <a:srgbClr val="14213D"/>
                </a:solidFill>
                <a:latin typeface="Calibri"/>
              </a:rPr>
              <a:t>) holds the largest single block of value on a</a:t>
            </a:r>
          </a:p>
        </p:txBody>
      </p:sp>
      <p:pic>
        <p:nvPicPr>
          <p:cNvPr id="303" name="Picture 302" descr="lock.png"/>
          <p:cNvPicPr>
            <a:picLocks noChangeAspect="1"/>
          </p:cNvPicPr>
          <p:nvPr/>
        </p:nvPicPr>
        <p:blipFill>
          <a:blip r:embed="rId4"/>
          <a:stretch>
            <a:fillRect/>
          </a:stretch>
        </p:blipFill>
        <p:spPr>
          <a:xfrm>
            <a:off x="9457531" y="5467095"/>
            <a:ext cx="128699" cy="187198"/>
          </a:xfrm>
          <a:prstGeom prst="rect">
            <a:avLst/>
          </a:prstGeom>
        </p:spPr>
      </p:pic>
      <p:sp>
        <p:nvSpPr>
          <p:cNvPr id="304" name="TextBox 303"/>
          <p:cNvSpPr txBox="1"/>
          <p:nvPr/>
        </p:nvSpPr>
        <p:spPr>
          <a:xfrm>
            <a:off x="9625026" y="5476875"/>
            <a:ext cx="1259830" cy="186689"/>
          </a:xfrm>
          <a:prstGeom prst="rect">
            <a:avLst/>
          </a:prstGeom>
          <a:noFill/>
        </p:spPr>
        <p:txBody>
          <a:bodyPr wrap="none" lIns="0" rIns="0" tIns="0" bIns="0">
            <a:spAutoFit/>
          </a:bodyPr>
          <a:lstStyle/>
          <a:p>
            <a:r>
              <a:rPr sz="1100" b="0">
                <a:solidFill>
                  <a:srgbClr val="14213D"/>
                </a:solidFill>
                <a:latin typeface="Calibri"/>
              </a:rPr>
              <a:t>US$ Mn base; CR4 of</a:t>
            </a:r>
          </a:p>
        </p:txBody>
      </p:sp>
      <p:pic>
        <p:nvPicPr>
          <p:cNvPr id="305" name="Picture 304" descr="lock.png"/>
          <p:cNvPicPr>
            <a:picLocks noChangeAspect="1"/>
          </p:cNvPicPr>
          <p:nvPr/>
        </p:nvPicPr>
        <p:blipFill>
          <a:blip r:embed="rId4"/>
          <a:stretch>
            <a:fillRect/>
          </a:stretch>
        </p:blipFill>
        <p:spPr>
          <a:xfrm>
            <a:off x="10832908" y="5467095"/>
            <a:ext cx="128699" cy="187198"/>
          </a:xfrm>
          <a:prstGeom prst="rect">
            <a:avLst/>
          </a:prstGeom>
        </p:spPr>
      </p:pic>
      <p:sp>
        <p:nvSpPr>
          <p:cNvPr id="306" name="TextBox 305"/>
          <p:cNvSpPr txBox="1"/>
          <p:nvPr/>
        </p:nvSpPr>
        <p:spPr>
          <a:xfrm>
            <a:off x="11000404" y="5476875"/>
            <a:ext cx="678656" cy="186689"/>
          </a:xfrm>
          <a:prstGeom prst="rect">
            <a:avLst/>
          </a:prstGeom>
          <a:noFill/>
        </p:spPr>
        <p:txBody>
          <a:bodyPr wrap="none" lIns="0" rIns="0" tIns="0" bIns="0">
            <a:spAutoFit/>
          </a:bodyPr>
          <a:lstStyle/>
          <a:p>
            <a:r>
              <a:rPr sz="1100" b="0">
                <a:solidFill>
                  <a:srgbClr val="14213D"/>
                </a:solidFill>
                <a:latin typeface="Calibri"/>
              </a:rPr>
              <a:t>and HHI of</a:t>
            </a:r>
          </a:p>
        </p:txBody>
      </p:sp>
      <p:pic>
        <p:nvPicPr>
          <p:cNvPr id="307" name="Picture 306" descr="lock.png"/>
          <p:cNvPicPr>
            <a:picLocks noChangeAspect="1"/>
          </p:cNvPicPr>
          <p:nvPr/>
        </p:nvPicPr>
        <p:blipFill>
          <a:blip r:embed="rId4"/>
          <a:stretch>
            <a:fillRect/>
          </a:stretch>
        </p:blipFill>
        <p:spPr>
          <a:xfrm>
            <a:off x="6358757" y="5634735"/>
            <a:ext cx="128699" cy="187198"/>
          </a:xfrm>
          <a:prstGeom prst="rect">
            <a:avLst/>
          </a:prstGeom>
        </p:spPr>
      </p:pic>
      <p:sp>
        <p:nvSpPr>
          <p:cNvPr id="308" name="TextBox 307"/>
          <p:cNvSpPr txBox="1"/>
          <p:nvPr/>
        </p:nvSpPr>
        <p:spPr>
          <a:xfrm>
            <a:off x="6526253" y="5644515"/>
            <a:ext cx="2030635" cy="186689"/>
          </a:xfrm>
          <a:prstGeom prst="rect">
            <a:avLst/>
          </a:prstGeom>
          <a:noFill/>
        </p:spPr>
        <p:txBody>
          <a:bodyPr wrap="none" lIns="0" rIns="0" tIns="0" bIns="0">
            <a:spAutoFit/>
          </a:bodyPr>
          <a:lstStyle/>
          <a:p>
            <a:r>
              <a:rPr sz="1100" b="0">
                <a:solidFill>
                  <a:srgbClr val="14213D"/>
                </a:solidFill>
                <a:latin typeface="Calibri"/>
              </a:rPr>
              <a:t>classify the market as fragmented.</a:t>
            </a:r>
          </a:p>
        </p:txBody>
      </p:sp>
      <p:sp>
        <p:nvSpPr>
          <p:cNvPr id="309" name="TextBox 308"/>
          <p:cNvSpPr txBox="1"/>
          <p:nvPr/>
        </p:nvSpPr>
        <p:spPr>
          <a:xfrm>
            <a:off x="6372225" y="5857875"/>
            <a:ext cx="1331044" cy="186689"/>
          </a:xfrm>
          <a:prstGeom prst="rect">
            <a:avLst/>
          </a:prstGeom>
          <a:noFill/>
        </p:spPr>
        <p:txBody>
          <a:bodyPr wrap="none" lIns="0" rIns="0" tIns="0" bIns="0">
            <a:spAutoFit/>
          </a:bodyPr>
          <a:lstStyle/>
          <a:p>
            <a:r>
              <a:rPr sz="1100" b="0">
                <a:solidFill>
                  <a:srgbClr val="14213D"/>
                </a:solidFill>
                <a:latin typeface="Calibri"/>
              </a:rPr>
              <a:t>Tier 2 grows fastest at</a:t>
            </a:r>
          </a:p>
        </p:txBody>
      </p:sp>
      <p:pic>
        <p:nvPicPr>
          <p:cNvPr id="310" name="Picture 309" descr="lock.png"/>
          <p:cNvPicPr>
            <a:picLocks noChangeAspect="1"/>
          </p:cNvPicPr>
          <p:nvPr/>
        </p:nvPicPr>
        <p:blipFill>
          <a:blip r:embed="rId4"/>
          <a:stretch>
            <a:fillRect/>
          </a:stretch>
        </p:blipFill>
        <p:spPr>
          <a:xfrm>
            <a:off x="7651320" y="5848095"/>
            <a:ext cx="128699" cy="187198"/>
          </a:xfrm>
          <a:prstGeom prst="rect">
            <a:avLst/>
          </a:prstGeom>
        </p:spPr>
      </p:pic>
      <p:sp>
        <p:nvSpPr>
          <p:cNvPr id="311" name="TextBox 310"/>
          <p:cNvSpPr txBox="1"/>
          <p:nvPr/>
        </p:nvSpPr>
        <p:spPr>
          <a:xfrm>
            <a:off x="7818816" y="5857875"/>
            <a:ext cx="982868" cy="186689"/>
          </a:xfrm>
          <a:prstGeom prst="rect">
            <a:avLst/>
          </a:prstGeom>
          <a:noFill/>
        </p:spPr>
        <p:txBody>
          <a:bodyPr wrap="none" lIns="0" rIns="0" tIns="0" bIns="0">
            <a:spAutoFit/>
          </a:bodyPr>
          <a:lstStyle/>
          <a:p>
            <a:r>
              <a:rPr sz="1100" b="0">
                <a:solidFill>
                  <a:srgbClr val="14213D"/>
                </a:solidFill>
                <a:latin typeface="Calibri"/>
              </a:rPr>
              <a:t>CAGR, moving +</a:t>
            </a:r>
          </a:p>
        </p:txBody>
      </p:sp>
      <p:pic>
        <p:nvPicPr>
          <p:cNvPr id="312" name="Picture 311" descr="lock.png"/>
          <p:cNvPicPr>
            <a:picLocks noChangeAspect="1"/>
          </p:cNvPicPr>
          <p:nvPr/>
        </p:nvPicPr>
        <p:blipFill>
          <a:blip r:embed="rId4"/>
          <a:stretch>
            <a:fillRect/>
          </a:stretch>
        </p:blipFill>
        <p:spPr>
          <a:xfrm>
            <a:off x="8749737" y="5848095"/>
            <a:ext cx="128699" cy="187198"/>
          </a:xfrm>
          <a:prstGeom prst="rect">
            <a:avLst/>
          </a:prstGeom>
        </p:spPr>
      </p:pic>
      <p:sp>
        <p:nvSpPr>
          <p:cNvPr id="313" name="TextBox 312"/>
          <p:cNvSpPr txBox="1"/>
          <p:nvPr/>
        </p:nvSpPr>
        <p:spPr>
          <a:xfrm>
            <a:off x="8917232" y="5857875"/>
            <a:ext cx="1234727" cy="186689"/>
          </a:xfrm>
          <a:prstGeom prst="rect">
            <a:avLst/>
          </a:prstGeom>
          <a:noFill/>
        </p:spPr>
        <p:txBody>
          <a:bodyPr wrap="none" lIns="0" rIns="0" tIns="0" bIns="0">
            <a:spAutoFit/>
          </a:bodyPr>
          <a:lstStyle/>
          <a:p>
            <a:r>
              <a:rPr sz="1100" b="0">
                <a:solidFill>
                  <a:srgbClr val="14213D"/>
                </a:solidFill>
                <a:latin typeface="Calibri"/>
              </a:rPr>
              <a:t>pp of share by 2036.</a:t>
            </a:r>
          </a:p>
        </p:txBody>
      </p:sp>
      <p:sp>
        <p:nvSpPr>
          <p:cNvPr id="314" name="TextBox 313"/>
          <p:cNvSpPr txBox="1"/>
          <p:nvPr/>
        </p:nvSpPr>
        <p:spPr>
          <a:xfrm>
            <a:off x="6372225" y="6076950"/>
            <a:ext cx="2161604" cy="186689"/>
          </a:xfrm>
          <a:prstGeom prst="rect">
            <a:avLst/>
          </a:prstGeom>
          <a:noFill/>
        </p:spPr>
        <p:txBody>
          <a:bodyPr wrap="none" lIns="0" rIns="0" tIns="0" bIns="0">
            <a:spAutoFit/>
          </a:bodyPr>
          <a:lstStyle/>
          <a:p>
            <a:r>
              <a:rPr sz="1100" b="0">
                <a:solidFill>
                  <a:srgbClr val="14213D"/>
                </a:solidFill>
                <a:latin typeface="Calibri"/>
              </a:rPr>
              <a:t>Tier 3 and the long tail together hold</a:t>
            </a:r>
          </a:p>
        </p:txBody>
      </p:sp>
      <p:pic>
        <p:nvPicPr>
          <p:cNvPr id="315" name="Picture 314" descr="lock.png"/>
          <p:cNvPicPr>
            <a:picLocks noChangeAspect="1"/>
          </p:cNvPicPr>
          <p:nvPr/>
        </p:nvPicPr>
        <p:blipFill>
          <a:blip r:embed="rId4"/>
          <a:stretch>
            <a:fillRect/>
          </a:stretch>
        </p:blipFill>
        <p:spPr>
          <a:xfrm>
            <a:off x="8481881" y="6067170"/>
            <a:ext cx="128699" cy="187198"/>
          </a:xfrm>
          <a:prstGeom prst="rect">
            <a:avLst/>
          </a:prstGeom>
        </p:spPr>
      </p:pic>
      <p:sp>
        <p:nvSpPr>
          <p:cNvPr id="316" name="TextBox 315"/>
          <p:cNvSpPr txBox="1"/>
          <p:nvPr/>
        </p:nvSpPr>
        <p:spPr>
          <a:xfrm>
            <a:off x="8649376" y="6076950"/>
            <a:ext cx="2127498" cy="186689"/>
          </a:xfrm>
          <a:prstGeom prst="rect">
            <a:avLst/>
          </a:prstGeom>
          <a:noFill/>
        </p:spPr>
        <p:txBody>
          <a:bodyPr wrap="none" lIns="0" rIns="0" tIns="0" bIns="0">
            <a:spAutoFit/>
          </a:bodyPr>
          <a:lstStyle/>
          <a:p>
            <a:r>
              <a:rPr sz="1100" b="0">
                <a:solidFill>
                  <a:srgbClr val="14213D"/>
                </a:solidFill>
                <a:latin typeface="Calibri"/>
              </a:rPr>
              <a:t>of value; the average Tier 3 player is</a:t>
            </a:r>
          </a:p>
        </p:txBody>
      </p:sp>
      <p:pic>
        <p:nvPicPr>
          <p:cNvPr id="317" name="Picture 316" descr="lock.png"/>
          <p:cNvPicPr>
            <a:picLocks noChangeAspect="1"/>
          </p:cNvPicPr>
          <p:nvPr/>
        </p:nvPicPr>
        <p:blipFill>
          <a:blip r:embed="rId4"/>
          <a:stretch>
            <a:fillRect/>
          </a:stretch>
        </p:blipFill>
        <p:spPr>
          <a:xfrm>
            <a:off x="10724926" y="6067170"/>
            <a:ext cx="128699" cy="187198"/>
          </a:xfrm>
          <a:prstGeom prst="rect">
            <a:avLst/>
          </a:prstGeom>
        </p:spPr>
      </p:pic>
      <p:sp>
        <p:nvSpPr>
          <p:cNvPr id="318" name="TextBox 317"/>
          <p:cNvSpPr txBox="1"/>
          <p:nvPr/>
        </p:nvSpPr>
        <p:spPr>
          <a:xfrm>
            <a:off x="10892422" y="6076950"/>
            <a:ext cx="876473" cy="186689"/>
          </a:xfrm>
          <a:prstGeom prst="rect">
            <a:avLst/>
          </a:prstGeom>
          <a:noFill/>
        </p:spPr>
        <p:txBody>
          <a:bodyPr wrap="none" lIns="0" rIns="0" tIns="0" bIns="0">
            <a:spAutoFit/>
          </a:bodyPr>
          <a:lstStyle/>
          <a:p>
            <a:r>
              <a:rPr sz="1100" b="0">
                <a:solidFill>
                  <a:srgbClr val="14213D"/>
                </a:solidFill>
                <a:latin typeface="Calibri"/>
              </a:rPr>
              <a:t>x smaller than</a:t>
            </a:r>
          </a:p>
        </p:txBody>
      </p:sp>
      <p:sp>
        <p:nvSpPr>
          <p:cNvPr id="319" name="TextBox 318"/>
          <p:cNvSpPr txBox="1"/>
          <p:nvPr/>
        </p:nvSpPr>
        <p:spPr>
          <a:xfrm>
            <a:off x="6372225" y="6244590"/>
            <a:ext cx="1020539" cy="186689"/>
          </a:xfrm>
          <a:prstGeom prst="rect">
            <a:avLst/>
          </a:prstGeom>
          <a:noFill/>
        </p:spPr>
        <p:txBody>
          <a:bodyPr wrap="none" lIns="0" rIns="0" tIns="0" bIns="0">
            <a:spAutoFit/>
          </a:bodyPr>
          <a:lstStyle/>
          <a:p>
            <a:r>
              <a:rPr sz="1100" b="0">
                <a:solidFill>
                  <a:srgbClr val="14213D"/>
                </a:solidFill>
                <a:latin typeface="Calibri"/>
              </a:rPr>
              <a:t>a Tier 1 supplier.</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Industry Structure Landscape – Organ Transport Devices Market, Global 2026 (2/2)</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Tier ladder, market concentration and tier profile, and the structural shift 2026→2036 shaping the tier structure</a:t>
            </a:r>
          </a:p>
        </p:txBody>
      </p:sp>
      <p:sp>
        <p:nvSpPr>
          <p:cNvPr id="10" name="Rounded Rectangle 9"/>
          <p:cNvSpPr/>
          <p:nvPr/>
        </p:nvSpPr>
        <p:spPr>
          <a:xfrm>
            <a:off x="142875" y="1047750"/>
            <a:ext cx="11906250" cy="2381250"/>
          </a:xfrm>
          <a:prstGeom prst="roundRect">
            <a:avLst>
              <a:gd name="adj" fmla="val 6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8125" y="1104900"/>
            <a:ext cx="11715750"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Shift, 2026 → 2036 – Tier Migration and Entry / Exit</a:t>
            </a:r>
          </a:p>
        </p:txBody>
      </p:sp>
      <p:sp>
        <p:nvSpPr>
          <p:cNvPr id="12" name="Rounded Rectangle 11"/>
          <p:cNvSpPr/>
          <p:nvPr/>
        </p:nvSpPr>
        <p:spPr>
          <a:xfrm>
            <a:off x="257175" y="1390650"/>
            <a:ext cx="1905000" cy="876300"/>
          </a:xfrm>
          <a:prstGeom prst="roundRect">
            <a:avLst>
              <a:gd name="adj" fmla="val 4000"/>
            </a:avLst>
          </a:prstGeom>
          <a:solidFill>
            <a:srgbClr val="1F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71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1</a:t>
            </a:r>
          </a:p>
        </p:txBody>
      </p:sp>
      <p:sp>
        <p:nvSpPr>
          <p:cNvPr id="14" name="TextBox 13"/>
          <p:cNvSpPr txBox="1"/>
          <p:nvPr/>
        </p:nvSpPr>
        <p:spPr>
          <a:xfrm>
            <a:off x="2571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Top / global players</a:t>
            </a:r>
          </a:p>
        </p:txBody>
      </p:sp>
      <p:sp>
        <p:nvSpPr>
          <p:cNvPr id="15" name="TextBox 14"/>
          <p:cNvSpPr txBox="1"/>
          <p:nvPr/>
        </p:nvSpPr>
        <p:spPr>
          <a:xfrm>
            <a:off x="2952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16" name="TextBox 15"/>
          <p:cNvSpPr txBox="1"/>
          <p:nvPr/>
        </p:nvSpPr>
        <p:spPr>
          <a:xfrm>
            <a:off x="22383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17" name="Connector 16"/>
          <p:cNvCxnSpPr/>
          <p:nvPr/>
        </p:nvCxnSpPr>
        <p:spPr>
          <a:xfrm>
            <a:off x="23145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22383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2383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20" name="Freeform 19"/>
          <p:cNvSpPr/>
          <p:nvPr/>
        </p:nvSpPr>
        <p:spPr>
          <a:xfrm>
            <a:off x="33432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383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22" name="Rounded Rectangle 21"/>
          <p:cNvSpPr/>
          <p:nvPr/>
        </p:nvSpPr>
        <p:spPr>
          <a:xfrm>
            <a:off x="3514725" y="1390650"/>
            <a:ext cx="1905000" cy="876300"/>
          </a:xfrm>
          <a:prstGeom prst="roundRect">
            <a:avLst>
              <a:gd name="adj" fmla="val 4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1472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2</a:t>
            </a:r>
          </a:p>
        </p:txBody>
      </p:sp>
      <p:sp>
        <p:nvSpPr>
          <p:cNvPr id="24" name="TextBox 23"/>
          <p:cNvSpPr txBox="1"/>
          <p:nvPr/>
        </p:nvSpPr>
        <p:spPr>
          <a:xfrm>
            <a:off x="351472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Mid-sized players</a:t>
            </a:r>
          </a:p>
        </p:txBody>
      </p:sp>
      <p:sp>
        <p:nvSpPr>
          <p:cNvPr id="25" name="TextBox 24"/>
          <p:cNvSpPr txBox="1"/>
          <p:nvPr/>
        </p:nvSpPr>
        <p:spPr>
          <a:xfrm>
            <a:off x="35528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26" name="TextBox 25"/>
          <p:cNvSpPr txBox="1"/>
          <p:nvPr/>
        </p:nvSpPr>
        <p:spPr>
          <a:xfrm>
            <a:off x="549592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1 up-tier (M&amp;A)</a:t>
            </a:r>
          </a:p>
        </p:txBody>
      </p:sp>
      <p:cxnSp>
        <p:nvCxnSpPr>
          <p:cNvPr id="27" name="Connector 26"/>
          <p:cNvCxnSpPr/>
          <p:nvPr/>
        </p:nvCxnSpPr>
        <p:spPr>
          <a:xfrm>
            <a:off x="557212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28" name="Freeform 27"/>
          <p:cNvSpPr/>
          <p:nvPr/>
        </p:nvSpPr>
        <p:spPr>
          <a:xfrm>
            <a:off x="549592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549592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60082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9592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0 down / exit</a:t>
            </a:r>
          </a:p>
        </p:txBody>
      </p:sp>
      <p:sp>
        <p:nvSpPr>
          <p:cNvPr id="32" name="Rounded Rectangle 31"/>
          <p:cNvSpPr/>
          <p:nvPr/>
        </p:nvSpPr>
        <p:spPr>
          <a:xfrm>
            <a:off x="6772275" y="1390650"/>
            <a:ext cx="1905000" cy="876300"/>
          </a:xfrm>
          <a:prstGeom prst="roundRect">
            <a:avLst>
              <a:gd name="adj" fmla="val 4000"/>
            </a:avLst>
          </a:prstGeom>
          <a:solidFill>
            <a:srgbClr val="6FA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72275" y="1447800"/>
            <a:ext cx="1905000" cy="209550"/>
          </a:xfrm>
          <a:prstGeom prst="rect">
            <a:avLst/>
          </a:prstGeom>
          <a:noFill/>
        </p:spPr>
        <p:txBody>
          <a:bodyPr wrap="square" lIns="28575" rIns="28575" tIns="9525" bIns="9525" anchor="ctr">
            <a:spAutoFit/>
          </a:bodyPr>
          <a:lstStyle/>
          <a:p>
            <a:pPr algn="ctr"/>
            <a:r>
              <a:rPr sz="1100" b="1">
                <a:solidFill>
                  <a:srgbClr val="FFFFFF"/>
                </a:solidFill>
                <a:latin typeface="Calibri"/>
              </a:rPr>
              <a:t>Tier 3</a:t>
            </a:r>
          </a:p>
        </p:txBody>
      </p:sp>
      <p:sp>
        <p:nvSpPr>
          <p:cNvPr id="34" name="TextBox 33"/>
          <p:cNvSpPr txBox="1"/>
          <p:nvPr/>
        </p:nvSpPr>
        <p:spPr>
          <a:xfrm>
            <a:off x="6772275" y="1676400"/>
            <a:ext cx="1905000" cy="171450"/>
          </a:xfrm>
          <a:prstGeom prst="rect">
            <a:avLst/>
          </a:prstGeom>
          <a:noFill/>
        </p:spPr>
        <p:txBody>
          <a:bodyPr wrap="square" lIns="28575" rIns="28575" tIns="9525" bIns="9525" anchor="ctr">
            <a:spAutoFit/>
          </a:bodyPr>
          <a:lstStyle/>
          <a:p>
            <a:pPr algn="ctr"/>
            <a:r>
              <a:rPr sz="1100" b="0">
                <a:solidFill>
                  <a:srgbClr val="FFFFFF"/>
                </a:solidFill>
                <a:latin typeface="Calibri"/>
              </a:rPr>
              <a:t>Emerging / local players</a:t>
            </a:r>
          </a:p>
        </p:txBody>
      </p:sp>
      <p:sp>
        <p:nvSpPr>
          <p:cNvPr id="35" name="TextBox 34"/>
          <p:cNvSpPr txBox="1"/>
          <p:nvPr/>
        </p:nvSpPr>
        <p:spPr>
          <a:xfrm>
            <a:off x="681037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FFFFFF"/>
                </a:solidFill>
                <a:latin typeface="Calibri"/>
              </a:rPr>
              <a:t/>
            </a:r>
          </a:p>
        </p:txBody>
      </p:sp>
      <p:sp>
        <p:nvSpPr>
          <p:cNvPr id="36" name="TextBox 35"/>
          <p:cNvSpPr txBox="1"/>
          <p:nvPr/>
        </p:nvSpPr>
        <p:spPr>
          <a:xfrm>
            <a:off x="8753475" y="1466850"/>
            <a:ext cx="1200150" cy="171450"/>
          </a:xfrm>
          <a:prstGeom prst="rect">
            <a:avLst/>
          </a:prstGeom>
          <a:noFill/>
        </p:spPr>
        <p:txBody>
          <a:bodyPr wrap="square" lIns="28575" rIns="28575" tIns="9525" bIns="9525" anchor="ctr">
            <a:spAutoFit/>
          </a:bodyPr>
          <a:lstStyle/>
          <a:p>
            <a:pPr algn="ctr"/>
            <a:r>
              <a:rPr sz="1100" b="1">
                <a:solidFill>
                  <a:srgbClr val="0E8C8C"/>
                </a:solidFill>
                <a:latin typeface="Calibri"/>
              </a:rPr>
              <a:t>2 up-tier (M&amp;A)</a:t>
            </a:r>
          </a:p>
        </p:txBody>
      </p:sp>
      <p:cxnSp>
        <p:nvCxnSpPr>
          <p:cNvPr id="37" name="Connector 36"/>
          <p:cNvCxnSpPr/>
          <p:nvPr/>
        </p:nvCxnSpPr>
        <p:spPr>
          <a:xfrm>
            <a:off x="8829675" y="1695450"/>
            <a:ext cx="1123950" cy="0"/>
          </a:xfrm>
          <a:prstGeom prst="line">
            <a:avLst/>
          </a:prstGeom>
          <a:ln w="25400">
            <a:solidFill>
              <a:srgbClr val="0E8C8C"/>
            </a:solidFill>
          </a:ln>
          <a:effectLst/>
        </p:spPr>
        <p:style>
          <a:lnRef idx="2">
            <a:schemeClr val="accent1"/>
          </a:lnRef>
          <a:fillRef idx="0">
            <a:schemeClr val="accent1"/>
          </a:fillRef>
          <a:effectRef idx="1">
            <a:schemeClr val="accent1"/>
          </a:effectRef>
          <a:fontRef idx="minor">
            <a:schemeClr val="tx1"/>
          </a:fontRef>
        </p:style>
      </p:cxnSp>
      <p:sp>
        <p:nvSpPr>
          <p:cNvPr id="38" name="Freeform 37"/>
          <p:cNvSpPr/>
          <p:nvPr/>
        </p:nvSpPr>
        <p:spPr>
          <a:xfrm>
            <a:off x="8753475" y="1647825"/>
            <a:ext cx="95250" cy="95250"/>
          </a:xfrm>
          <a:custGeom>
            <a:avLst/>
            <a:gdLst/>
            <a:ahLst/>
            <a:cxnLst/>
            <a:rect l="l" t="t" r="r" b="b"/>
            <a:pathLst>
              <a:path w="10" h="10">
                <a:moveTo>
                  <a:pt x="0" y="5"/>
                </a:moveTo>
                <a:lnTo>
                  <a:pt x="10" y="0"/>
                </a:lnTo>
                <a:lnTo>
                  <a:pt x="10" y="10"/>
                </a:lnTo>
                <a:close/>
              </a:path>
            </a:pathLst>
          </a:custGeom>
          <a:solidFill>
            <a:srgbClr val="0E8C8C"/>
          </a:solidFill>
          <a:ln w="9525">
            <a:solidFill>
              <a:srgbClr val="0E8C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8753475" y="1962150"/>
            <a:ext cx="1123950" cy="0"/>
          </a:xfrm>
          <a:prstGeom prst="line">
            <a:avLst/>
          </a:prstGeom>
          <a:ln w="25400">
            <a:solidFill>
              <a:srgbClr val="D08C2A"/>
            </a:solidFill>
          </a:ln>
          <a:effectLst/>
        </p:spPr>
        <p:style>
          <a:lnRef idx="2">
            <a:schemeClr val="accent1"/>
          </a:lnRef>
          <a:fillRef idx="0">
            <a:schemeClr val="accent1"/>
          </a:fillRef>
          <a:effectRef idx="1">
            <a:schemeClr val="accent1"/>
          </a:effectRef>
          <a:fontRef idx="minor">
            <a:schemeClr val="tx1"/>
          </a:fontRef>
        </p:style>
      </p:cxnSp>
      <p:sp>
        <p:nvSpPr>
          <p:cNvPr id="40" name="Freeform 39"/>
          <p:cNvSpPr/>
          <p:nvPr/>
        </p:nvSpPr>
        <p:spPr>
          <a:xfrm>
            <a:off x="9858375" y="1914525"/>
            <a:ext cx="95250" cy="95250"/>
          </a:xfrm>
          <a:custGeom>
            <a:avLst/>
            <a:gdLst/>
            <a:ahLst/>
            <a:cxnLst/>
            <a:rect l="l" t="t" r="r" b="b"/>
            <a:pathLst>
              <a:path w="10" h="10">
                <a:moveTo>
                  <a:pt x="10" y="5"/>
                </a:moveTo>
                <a:lnTo>
                  <a:pt x="0" y="0"/>
                </a:lnTo>
                <a:lnTo>
                  <a:pt x="0" y="10"/>
                </a:lnTo>
                <a:close/>
              </a:path>
            </a:pathLst>
          </a:custGeom>
          <a:solidFill>
            <a:srgbClr val="D08C2A"/>
          </a:solidFill>
          <a:ln w="9525">
            <a:solidFill>
              <a:srgbClr val="D08C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3475" y="2019300"/>
            <a:ext cx="1200150" cy="171450"/>
          </a:xfrm>
          <a:prstGeom prst="rect">
            <a:avLst/>
          </a:prstGeom>
          <a:noFill/>
        </p:spPr>
        <p:txBody>
          <a:bodyPr wrap="square" lIns="28575" rIns="28575" tIns="9525" bIns="9525" anchor="ctr">
            <a:spAutoFit/>
          </a:bodyPr>
          <a:lstStyle/>
          <a:p>
            <a:pPr algn="ctr"/>
            <a:r>
              <a:rPr sz="1100" b="1">
                <a:solidFill>
                  <a:srgbClr val="D08C2A"/>
                </a:solidFill>
                <a:latin typeface="Calibri"/>
              </a:rPr>
              <a:t>1 down / exit</a:t>
            </a:r>
          </a:p>
        </p:txBody>
      </p:sp>
      <p:sp>
        <p:nvSpPr>
          <p:cNvPr id="42" name="Rounded Rectangle 41"/>
          <p:cNvSpPr/>
          <p:nvPr/>
        </p:nvSpPr>
        <p:spPr>
          <a:xfrm>
            <a:off x="10029825" y="1390650"/>
            <a:ext cx="1905000" cy="876300"/>
          </a:xfrm>
          <a:prstGeom prst="roundRect">
            <a:avLst>
              <a:gd name="adj" fmla="val 4000"/>
            </a:avLst>
          </a:prstGeom>
          <a:solidFill>
            <a:srgbClr val="9FC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29825" y="1447800"/>
            <a:ext cx="1905000" cy="209550"/>
          </a:xfrm>
          <a:prstGeom prst="rect">
            <a:avLst/>
          </a:prstGeom>
          <a:noFill/>
        </p:spPr>
        <p:txBody>
          <a:bodyPr wrap="square" lIns="28575" rIns="28575" tIns="9525" bIns="9525" anchor="ctr">
            <a:spAutoFit/>
          </a:bodyPr>
          <a:lstStyle/>
          <a:p>
            <a:pPr algn="ctr"/>
            <a:r>
              <a:rPr sz="1100" b="1">
                <a:solidFill>
                  <a:srgbClr val="14213D"/>
                </a:solidFill>
                <a:latin typeface="Calibri"/>
              </a:rPr>
              <a:t>Others</a:t>
            </a:r>
          </a:p>
        </p:txBody>
      </p:sp>
      <p:sp>
        <p:nvSpPr>
          <p:cNvPr id="44" name="TextBox 43"/>
          <p:cNvSpPr txBox="1"/>
          <p:nvPr/>
        </p:nvSpPr>
        <p:spPr>
          <a:xfrm>
            <a:off x="10029825" y="1676400"/>
            <a:ext cx="1905000" cy="171450"/>
          </a:xfrm>
          <a:prstGeom prst="rect">
            <a:avLst/>
          </a:prstGeom>
          <a:noFill/>
        </p:spPr>
        <p:txBody>
          <a:bodyPr wrap="square" lIns="28575" rIns="28575" tIns="9525" bIns="9525" anchor="ctr">
            <a:spAutoFit/>
          </a:bodyPr>
          <a:lstStyle/>
          <a:p>
            <a:pPr algn="ctr"/>
            <a:r>
              <a:rPr sz="1100" b="0">
                <a:solidFill>
                  <a:srgbClr val="14213D"/>
                </a:solidFill>
                <a:latin typeface="Calibri"/>
              </a:rPr>
              <a:t>Long tail</a:t>
            </a:r>
          </a:p>
        </p:txBody>
      </p:sp>
      <p:sp>
        <p:nvSpPr>
          <p:cNvPr id="45" name="TextBox 44"/>
          <p:cNvSpPr txBox="1"/>
          <p:nvPr/>
        </p:nvSpPr>
        <p:spPr>
          <a:xfrm>
            <a:off x="10067925" y="1828800"/>
            <a:ext cx="1828800" cy="419100"/>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r>
          </a:p>
        </p:txBody>
      </p:sp>
      <p:sp>
        <p:nvSpPr>
          <p:cNvPr id="46" name="Rounded Rectangle 45"/>
          <p:cNvSpPr/>
          <p:nvPr/>
        </p:nvSpPr>
        <p:spPr>
          <a:xfrm>
            <a:off x="2571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MI KPI Value"/>
          <p:cNvSpPr txBox="1"/>
          <p:nvPr/>
        </p:nvSpPr>
        <p:spPr>
          <a:xfrm>
            <a:off x="3524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48" name="TextBox 47"/>
          <p:cNvSpPr txBox="1"/>
          <p:nvPr/>
        </p:nvSpPr>
        <p:spPr>
          <a:xfrm>
            <a:off x="11906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New entrants 2026–2036</a:t>
            </a:r>
          </a:p>
        </p:txBody>
      </p:sp>
      <p:sp>
        <p:nvSpPr>
          <p:cNvPr id="49" name="TextBox 48"/>
          <p:cNvSpPr txBox="1"/>
          <p:nvPr/>
        </p:nvSpPr>
        <p:spPr>
          <a:xfrm>
            <a:off x="11906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scaling up from the long tail</a:t>
            </a:r>
          </a:p>
        </p:txBody>
      </p:sp>
      <p:sp>
        <p:nvSpPr>
          <p:cNvPr id="50" name="Rounded Rectangle 49"/>
          <p:cNvSpPr/>
          <p:nvPr/>
        </p:nvSpPr>
        <p:spPr>
          <a:xfrm>
            <a:off x="32099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MI KPI Value"/>
          <p:cNvSpPr txBox="1"/>
          <p:nvPr/>
        </p:nvSpPr>
        <p:spPr>
          <a:xfrm>
            <a:off x="33051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2" name="TextBox 51"/>
          <p:cNvSpPr txBox="1"/>
          <p:nvPr/>
        </p:nvSpPr>
        <p:spPr>
          <a:xfrm>
            <a:off x="41433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Exits / acquisitions</a:t>
            </a:r>
          </a:p>
        </p:txBody>
      </p:sp>
      <p:sp>
        <p:nvSpPr>
          <p:cNvPr id="53" name="TextBox 52"/>
          <p:cNvSpPr txBox="1"/>
          <p:nvPr/>
        </p:nvSpPr>
        <p:spPr>
          <a:xfrm>
            <a:off x="41433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absorbed mainly by Tier 1–2 acquirers</a:t>
            </a:r>
          </a:p>
        </p:txBody>
      </p:sp>
      <p:sp>
        <p:nvSpPr>
          <p:cNvPr id="54" name="Rounded Rectangle 53"/>
          <p:cNvSpPr/>
          <p:nvPr/>
        </p:nvSpPr>
        <p:spPr>
          <a:xfrm>
            <a:off x="616267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MI KPI Value"/>
          <p:cNvSpPr txBox="1"/>
          <p:nvPr/>
        </p:nvSpPr>
        <p:spPr>
          <a:xfrm>
            <a:off x="625792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56" name="TextBox 55"/>
          <p:cNvSpPr txBox="1"/>
          <p:nvPr/>
        </p:nvSpPr>
        <p:spPr>
          <a:xfrm>
            <a:off x="709612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Net change in player count</a:t>
            </a:r>
          </a:p>
        </p:txBody>
      </p:sp>
      <p:sp>
        <p:nvSpPr>
          <p:cNvPr id="57" name="TextBox 56"/>
          <p:cNvSpPr txBox="1"/>
          <p:nvPr/>
        </p:nvSpPr>
        <p:spPr>
          <a:xfrm>
            <a:off x="709612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Between 2026 and 2036</a:t>
            </a:r>
          </a:p>
        </p:txBody>
      </p:sp>
      <p:sp>
        <p:nvSpPr>
          <p:cNvPr id="58" name="Rounded Rectangle 57"/>
          <p:cNvSpPr/>
          <p:nvPr/>
        </p:nvSpPr>
        <p:spPr>
          <a:xfrm>
            <a:off x="9115425" y="2400300"/>
            <a:ext cx="2819400" cy="914400"/>
          </a:xfrm>
          <a:prstGeom prst="roundRect">
            <a:avLst>
              <a:gd name="adj" fmla="val 2702"/>
            </a:avLst>
          </a:prstGeom>
          <a:solidFill>
            <a:srgbClr val="EA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MI KPI Value"/>
          <p:cNvSpPr txBox="1"/>
          <p:nvPr/>
        </p:nvSpPr>
        <p:spPr>
          <a:xfrm>
            <a:off x="9210675" y="2457450"/>
            <a:ext cx="762000" cy="342900"/>
          </a:xfrm>
          <a:prstGeom prst="rect">
            <a:avLst/>
          </a:prstGeom>
          <a:noFill/>
        </p:spPr>
        <p:txBody>
          <a:bodyPr wrap="square" lIns="28575" rIns="28575" tIns="9525" bIns="9525" anchor="ctr">
            <a:spAutoFit/>
          </a:bodyPr>
          <a:lstStyle/>
          <a:p>
            <a:pPr algn="ctr"/>
            <a:r>
              <a:rPr sz="1100" b="1">
                <a:solidFill>
                  <a:srgbClr val="1F3A6E"/>
                </a:solidFill>
                <a:latin typeface="Calibri"/>
              </a:rPr>
              <a:t> </a:t>
            </a:r>
          </a:p>
        </p:txBody>
      </p:sp>
      <p:sp>
        <p:nvSpPr>
          <p:cNvPr id="60" name="TextBox 59"/>
          <p:cNvSpPr txBox="1"/>
          <p:nvPr/>
        </p:nvSpPr>
        <p:spPr>
          <a:xfrm>
            <a:off x="10048875" y="2457450"/>
            <a:ext cx="1809750" cy="342900"/>
          </a:xfrm>
          <a:prstGeom prst="rect">
            <a:avLst/>
          </a:prstGeom>
          <a:noFill/>
        </p:spPr>
        <p:txBody>
          <a:bodyPr wrap="square" lIns="28575" rIns="28575" tIns="9525" bIns="9525" anchor="t">
            <a:spAutoFit/>
          </a:bodyPr>
          <a:lstStyle/>
          <a:p>
            <a:pPr algn="l">
              <a:lnSpc>
                <a:spcPct val="115000"/>
              </a:lnSpc>
            </a:pPr>
            <a:r>
              <a:rPr sz="1100" b="1">
                <a:solidFill>
                  <a:srgbClr val="14213D"/>
                </a:solidFill>
                <a:latin typeface="Calibri"/>
              </a:rPr>
              <a:t>Share moving between tiers</a:t>
            </a:r>
          </a:p>
        </p:txBody>
      </p:sp>
      <p:sp>
        <p:nvSpPr>
          <p:cNvPr id="61" name="TextBox 60"/>
          <p:cNvSpPr txBox="1"/>
          <p:nvPr/>
        </p:nvSpPr>
        <p:spPr>
          <a:xfrm>
            <a:off x="10048875" y="2800350"/>
            <a:ext cx="1809750" cy="381000"/>
          </a:xfrm>
          <a:prstGeom prst="rect">
            <a:avLst/>
          </a:prstGeom>
          <a:noFill/>
        </p:spPr>
        <p:txBody>
          <a:bodyPr wrap="square" lIns="28575" rIns="28575" tIns="9525" bIns="9525" anchor="t">
            <a:spAutoFit/>
          </a:bodyPr>
          <a:lstStyle/>
          <a:p>
            <a:pPr algn="l">
              <a:lnSpc>
                <a:spcPct val="115000"/>
              </a:lnSpc>
            </a:pPr>
            <a:r>
              <a:rPr sz="1100" b="0">
                <a:solidFill>
                  <a:srgbClr val="6B7280"/>
                </a:solidFill>
                <a:latin typeface="Calibri"/>
              </a:rPr>
              <a:t>largest transfer: Others → Tier 2</a:t>
            </a:r>
          </a:p>
        </p:txBody>
      </p:sp>
      <p:sp>
        <p:nvSpPr>
          <p:cNvPr id="62" name="Rounded Rectangle 61"/>
          <p:cNvSpPr/>
          <p:nvPr/>
        </p:nvSpPr>
        <p:spPr>
          <a:xfrm>
            <a:off x="142875" y="3543300"/>
            <a:ext cx="7096125" cy="3086100"/>
          </a:xfrm>
          <a:prstGeom prst="roundRect">
            <a:avLst>
              <a:gd name="adj" fmla="val 107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38125" y="3600450"/>
            <a:ext cx="6905625" cy="209550"/>
          </a:xfrm>
          <a:prstGeom prst="rect">
            <a:avLst/>
          </a:prstGeom>
          <a:noFill/>
        </p:spPr>
        <p:txBody>
          <a:bodyPr wrap="square" lIns="28575" rIns="28575" tIns="9525" bIns="9525" anchor="ctr">
            <a:spAutoFit/>
          </a:bodyPr>
          <a:lstStyle/>
          <a:p>
            <a:pPr algn="l"/>
            <a:r>
              <a:rPr sz="1200" b="1">
                <a:solidFill>
                  <a:srgbClr val="2E2E2E"/>
                </a:solidFill>
                <a:latin typeface="Calibri"/>
              </a:rPr>
              <a:t>Structural Forces Shaping the Tier Structure (1 = weak, 5 = strong)</a:t>
            </a:r>
          </a:p>
        </p:txBody>
      </p:sp>
      <p:sp>
        <p:nvSpPr>
          <p:cNvPr id="64" name="Rectangle 63"/>
          <p:cNvSpPr/>
          <p:nvPr/>
        </p:nvSpPr>
        <p:spPr>
          <a:xfrm>
            <a:off x="238125" y="3867150"/>
            <a:ext cx="1428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95275" y="3867150"/>
            <a:ext cx="1352550" cy="247650"/>
          </a:xfrm>
          <a:prstGeom prst="rect">
            <a:avLst/>
          </a:prstGeom>
          <a:noFill/>
        </p:spPr>
        <p:txBody>
          <a:bodyPr wrap="square" lIns="28575" rIns="28575" tIns="9525" bIns="9525" anchor="ctr">
            <a:spAutoFit/>
          </a:bodyPr>
          <a:lstStyle/>
          <a:p>
            <a:pPr algn="l"/>
            <a:r>
              <a:rPr sz="1100" b="1">
                <a:solidFill>
                  <a:srgbClr val="FFFFFF"/>
                </a:solidFill>
                <a:latin typeface="Calibri"/>
              </a:rPr>
              <a:t>Force</a:t>
            </a:r>
          </a:p>
        </p:txBody>
      </p:sp>
      <p:sp>
        <p:nvSpPr>
          <p:cNvPr id="66" name="Rectangle 65"/>
          <p:cNvSpPr/>
          <p:nvPr/>
        </p:nvSpPr>
        <p:spPr>
          <a:xfrm>
            <a:off x="1666875" y="3867150"/>
            <a:ext cx="2333625"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724025" y="3867150"/>
            <a:ext cx="2257425" cy="247650"/>
          </a:xfrm>
          <a:prstGeom prst="rect">
            <a:avLst/>
          </a:prstGeom>
          <a:noFill/>
        </p:spPr>
        <p:txBody>
          <a:bodyPr wrap="square" lIns="28575" rIns="28575" tIns="9525" bIns="9525" anchor="ctr">
            <a:spAutoFit/>
          </a:bodyPr>
          <a:lstStyle/>
          <a:p>
            <a:pPr algn="l"/>
            <a:r>
              <a:rPr sz="1100" b="1">
                <a:solidFill>
                  <a:srgbClr val="FFFFFF"/>
                </a:solidFill>
                <a:latin typeface="Calibri"/>
              </a:rPr>
              <a:t>Drivers in the market</a:t>
            </a:r>
          </a:p>
        </p:txBody>
      </p:sp>
      <p:sp>
        <p:nvSpPr>
          <p:cNvPr id="68" name="Rectangle 67"/>
          <p:cNvSpPr/>
          <p:nvPr/>
        </p:nvSpPr>
        <p:spPr>
          <a:xfrm>
            <a:off x="4000500" y="3867150"/>
            <a:ext cx="666750" cy="247650"/>
          </a:xfrm>
          <a:prstGeom prst="rect">
            <a:avLst/>
          </a:prstGeom>
          <a:solidFill>
            <a:srgbClr val="1F3A6E"/>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057650" y="3867150"/>
            <a:ext cx="590550" cy="247650"/>
          </a:xfrm>
          <a:prstGeom prst="rect">
            <a:avLst/>
          </a:prstGeom>
          <a:noFill/>
        </p:spPr>
        <p:txBody>
          <a:bodyPr wrap="square" lIns="28575" rIns="28575" tIns="9525" bIns="9525" anchor="ctr">
            <a:spAutoFit/>
          </a:bodyPr>
          <a:lstStyle/>
          <a:p>
            <a:pPr algn="l"/>
            <a:r>
              <a:rPr sz="1100" b="1">
                <a:solidFill>
                  <a:srgbClr val="FFFFFF"/>
                </a:solidFill>
                <a:latin typeface="Calibri"/>
              </a:rPr>
              <a:t>Score</a:t>
            </a:r>
          </a:p>
        </p:txBody>
      </p:sp>
      <p:sp>
        <p:nvSpPr>
          <p:cNvPr id="70" name="Rectangle 69"/>
          <p:cNvSpPr/>
          <p:nvPr/>
        </p:nvSpPr>
        <p:spPr>
          <a:xfrm>
            <a:off x="4667250" y="3867150"/>
            <a:ext cx="2476500" cy="247650"/>
          </a:xfrm>
          <a:prstGeom prst="rect">
            <a:avLst/>
          </a:prstGeom>
          <a:solidFill>
            <a:srgbClr val="0E8C8C"/>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724400" y="3867150"/>
            <a:ext cx="2400300" cy="247650"/>
          </a:xfrm>
          <a:prstGeom prst="rect">
            <a:avLst/>
          </a:prstGeom>
          <a:noFill/>
        </p:spPr>
        <p:txBody>
          <a:bodyPr wrap="square" lIns="28575" rIns="28575" tIns="9525" bIns="9525" anchor="ctr">
            <a:spAutoFit/>
          </a:bodyPr>
          <a:lstStyle/>
          <a:p>
            <a:pPr algn="l"/>
            <a:r>
              <a:rPr sz="1100" b="1">
                <a:solidFill>
                  <a:srgbClr val="FFFFFF"/>
                </a:solidFill>
                <a:latin typeface="Calibri"/>
              </a:rPr>
              <a:t>Effect on tier structure</a:t>
            </a:r>
          </a:p>
        </p:txBody>
      </p:sp>
      <p:sp>
        <p:nvSpPr>
          <p:cNvPr id="72" name="Rectangle 71"/>
          <p:cNvSpPr/>
          <p:nvPr/>
        </p:nvSpPr>
        <p:spPr>
          <a:xfrm>
            <a:off x="238125" y="41148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95275" y="41148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Entry barriers</a:t>
            </a:r>
          </a:p>
        </p:txBody>
      </p:sp>
      <p:sp>
        <p:nvSpPr>
          <p:cNvPr id="74" name="Rectangle 73"/>
          <p:cNvSpPr/>
          <p:nvPr/>
        </p:nvSpPr>
        <p:spPr>
          <a:xfrm>
            <a:off x="1666875" y="41148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724025" y="41148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Certification, qualification, scale economics</a:t>
            </a:r>
          </a:p>
        </p:txBody>
      </p:sp>
      <p:sp>
        <p:nvSpPr>
          <p:cNvPr id="76" name="Rectangle 75"/>
          <p:cNvSpPr/>
          <p:nvPr/>
        </p:nvSpPr>
        <p:spPr>
          <a:xfrm>
            <a:off x="4000500" y="41148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57650" y="41148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78" name="Rectangle 77"/>
          <p:cNvSpPr/>
          <p:nvPr/>
        </p:nvSpPr>
        <p:spPr>
          <a:xfrm>
            <a:off x="4667250" y="41148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724400" y="41148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Protects Tier 1–2; slows new entry</a:t>
            </a:r>
          </a:p>
        </p:txBody>
      </p:sp>
      <p:sp>
        <p:nvSpPr>
          <p:cNvPr id="80" name="Rectangle 79"/>
          <p:cNvSpPr/>
          <p:nvPr/>
        </p:nvSpPr>
        <p:spPr>
          <a:xfrm>
            <a:off x="238125" y="45243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95275" y="45243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Buyer power</a:t>
            </a:r>
          </a:p>
        </p:txBody>
      </p:sp>
      <p:sp>
        <p:nvSpPr>
          <p:cNvPr id="82" name="Rectangle 81"/>
          <p:cNvSpPr/>
          <p:nvPr/>
        </p:nvSpPr>
        <p:spPr>
          <a:xfrm>
            <a:off x="1666875" y="45243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24025" y="452437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Key-account purchasing, multi-year supply contracts</a:t>
            </a:r>
          </a:p>
        </p:txBody>
      </p:sp>
      <p:sp>
        <p:nvSpPr>
          <p:cNvPr id="84" name="Rectangle 83"/>
          <p:cNvSpPr/>
          <p:nvPr/>
        </p:nvSpPr>
        <p:spPr>
          <a:xfrm>
            <a:off x="4000500" y="45243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057650" y="45243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86" name="Rectangle 85"/>
          <p:cNvSpPr/>
          <p:nvPr/>
        </p:nvSpPr>
        <p:spPr>
          <a:xfrm>
            <a:off x="4667250" y="45243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724400" y="452437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Compresses Tier 3 pricing</a:t>
            </a:r>
          </a:p>
        </p:txBody>
      </p:sp>
      <p:sp>
        <p:nvSpPr>
          <p:cNvPr id="88" name="Rectangle 87"/>
          <p:cNvSpPr/>
          <p:nvPr/>
        </p:nvSpPr>
        <p:spPr>
          <a:xfrm>
            <a:off x="238125" y="493395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5275" y="493395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Switching costs</a:t>
            </a:r>
          </a:p>
        </p:txBody>
      </p:sp>
      <p:sp>
        <p:nvSpPr>
          <p:cNvPr id="90" name="Rectangle 89"/>
          <p:cNvSpPr/>
          <p:nvPr/>
        </p:nvSpPr>
        <p:spPr>
          <a:xfrm>
            <a:off x="1666875" y="493395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724025" y="493395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Requalification, integration and retraining</a:t>
            </a:r>
          </a:p>
        </p:txBody>
      </p:sp>
      <p:sp>
        <p:nvSpPr>
          <p:cNvPr id="92" name="Rectangle 91"/>
          <p:cNvSpPr/>
          <p:nvPr/>
        </p:nvSpPr>
        <p:spPr>
          <a:xfrm>
            <a:off x="4000500" y="493395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057650" y="493395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94" name="Rectangle 93"/>
          <p:cNvSpPr/>
          <p:nvPr/>
        </p:nvSpPr>
        <p:spPr>
          <a:xfrm>
            <a:off x="4667250" y="493395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724400" y="493395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Locks in the installed base</a:t>
            </a:r>
          </a:p>
        </p:txBody>
      </p:sp>
      <p:sp>
        <p:nvSpPr>
          <p:cNvPr id="96" name="Rectangle 95"/>
          <p:cNvSpPr/>
          <p:nvPr/>
        </p:nvSpPr>
        <p:spPr>
          <a:xfrm>
            <a:off x="238125" y="534352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5275" y="534352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Technology substitution</a:t>
            </a:r>
          </a:p>
        </p:txBody>
      </p:sp>
      <p:sp>
        <p:nvSpPr>
          <p:cNvPr id="98" name="Rectangle 97"/>
          <p:cNvSpPr/>
          <p:nvPr/>
        </p:nvSpPr>
        <p:spPr>
          <a:xfrm>
            <a:off x="1666875" y="534352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24025" y="5343525"/>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Alternative materials and next-generation formats</a:t>
            </a:r>
          </a:p>
        </p:txBody>
      </p:sp>
      <p:sp>
        <p:nvSpPr>
          <p:cNvPr id="100" name="Rectangle 99"/>
          <p:cNvSpPr/>
          <p:nvPr/>
        </p:nvSpPr>
        <p:spPr>
          <a:xfrm>
            <a:off x="4000500" y="534352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057650" y="534352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02" name="Rectangle 101"/>
          <p:cNvSpPr/>
          <p:nvPr/>
        </p:nvSpPr>
        <p:spPr>
          <a:xfrm>
            <a:off x="4667250" y="534352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24400" y="5343525"/>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Opens demand to Tier 2–3 innovators</a:t>
            </a:r>
          </a:p>
        </p:txBody>
      </p:sp>
      <p:sp>
        <p:nvSpPr>
          <p:cNvPr id="104" name="Rectangle 103"/>
          <p:cNvSpPr/>
          <p:nvPr/>
        </p:nvSpPr>
        <p:spPr>
          <a:xfrm>
            <a:off x="238125" y="5753100"/>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95275" y="5753100"/>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Supplier power</a:t>
            </a:r>
          </a:p>
        </p:txBody>
      </p:sp>
      <p:sp>
        <p:nvSpPr>
          <p:cNvPr id="106" name="Rectangle 105"/>
          <p:cNvSpPr/>
          <p:nvPr/>
        </p:nvSpPr>
        <p:spPr>
          <a:xfrm>
            <a:off x="1666875" y="5753100"/>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724025" y="5753100"/>
            <a:ext cx="2238375"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Few qualified input and component suppliers</a:t>
            </a:r>
          </a:p>
        </p:txBody>
      </p:sp>
      <p:sp>
        <p:nvSpPr>
          <p:cNvPr id="108" name="Rectangle 107"/>
          <p:cNvSpPr/>
          <p:nvPr/>
        </p:nvSpPr>
        <p:spPr>
          <a:xfrm>
            <a:off x="4000500" y="5753100"/>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057650" y="5753100"/>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0" name="Rectangle 109"/>
          <p:cNvSpPr/>
          <p:nvPr/>
        </p:nvSpPr>
        <p:spPr>
          <a:xfrm>
            <a:off x="4667250" y="5753100"/>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724400" y="5753100"/>
            <a:ext cx="2381250" cy="409575"/>
          </a:xfrm>
          <a:prstGeom prst="rect">
            <a:avLst/>
          </a:prstGeom>
          <a:noFill/>
        </p:spPr>
        <p:txBody>
          <a:bodyPr wrap="square" lIns="28575" rIns="28575" tIns="9525" bIns="9525" anchor="ctr">
            <a:spAutoFit/>
          </a:bodyPr>
          <a:lstStyle/>
          <a:p>
            <a:pPr algn="l">
              <a:lnSpc>
                <a:spcPct val="115000"/>
              </a:lnSpc>
            </a:pPr>
            <a:r>
              <a:rPr sz="1100" b="0">
                <a:solidFill>
                  <a:srgbClr val="14213D"/>
                </a:solidFill>
                <a:latin typeface="Calibri"/>
              </a:rPr>
              <a:t>Raises input cost for sub-scale players</a:t>
            </a:r>
          </a:p>
        </p:txBody>
      </p:sp>
      <p:sp>
        <p:nvSpPr>
          <p:cNvPr id="112" name="Rectangle 111"/>
          <p:cNvSpPr/>
          <p:nvPr/>
        </p:nvSpPr>
        <p:spPr>
          <a:xfrm>
            <a:off x="238125" y="6162675"/>
            <a:ext cx="1428750" cy="409575"/>
          </a:xfrm>
          <a:prstGeom prst="rect">
            <a:avLst/>
          </a:prstGeom>
          <a:solidFill>
            <a:srgbClr val="EAF1FA"/>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95275" y="6162675"/>
            <a:ext cx="133350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Overall structural pressure</a:t>
            </a:r>
          </a:p>
        </p:txBody>
      </p:sp>
      <p:sp>
        <p:nvSpPr>
          <p:cNvPr id="114" name="Rectangle 113"/>
          <p:cNvSpPr/>
          <p:nvPr/>
        </p:nvSpPr>
        <p:spPr>
          <a:xfrm>
            <a:off x="1666875" y="6162675"/>
            <a:ext cx="2333625"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724025" y="6162675"/>
            <a:ext cx="2238375"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Average of the five forces</a:t>
            </a:r>
          </a:p>
        </p:txBody>
      </p:sp>
      <p:sp>
        <p:nvSpPr>
          <p:cNvPr id="116" name="Rectangle 115"/>
          <p:cNvSpPr/>
          <p:nvPr/>
        </p:nvSpPr>
        <p:spPr>
          <a:xfrm>
            <a:off x="4000500" y="6162675"/>
            <a:ext cx="666750" cy="409575"/>
          </a:xfrm>
          <a:prstGeom prst="rect">
            <a:avLst/>
          </a:prstGeom>
          <a:solidFill>
            <a:srgbClr val="E0F3F3"/>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057650" y="6162675"/>
            <a:ext cx="571500" cy="409575"/>
          </a:xfrm>
          <a:prstGeom prst="rect">
            <a:avLst/>
          </a:prstGeom>
          <a:noFill/>
        </p:spPr>
        <p:txBody>
          <a:bodyPr wrap="square" lIns="28575" rIns="28575" tIns="9525" bIns="9525" anchor="ctr">
            <a:spAutoFit/>
          </a:bodyPr>
          <a:lstStyle/>
          <a:p>
            <a:pPr algn="ctr">
              <a:lnSpc>
                <a:spcPct val="115000"/>
              </a:lnSpc>
            </a:pPr>
            <a:r>
              <a:rPr sz="1100" b="1">
                <a:solidFill>
                  <a:srgbClr val="14213D"/>
                </a:solidFill>
                <a:latin typeface="Calibri"/>
              </a:rPr>
              <a:t> </a:t>
            </a:r>
          </a:p>
        </p:txBody>
      </p:sp>
      <p:sp>
        <p:nvSpPr>
          <p:cNvPr id="118" name="Rectangle 117"/>
          <p:cNvSpPr/>
          <p:nvPr/>
        </p:nvSpPr>
        <p:spPr>
          <a:xfrm>
            <a:off x="4667250" y="6162675"/>
            <a:ext cx="2476500" cy="409575"/>
          </a:xfrm>
          <a:prstGeom prst="rect">
            <a:avLst/>
          </a:prstGeom>
          <a:solidFill>
            <a:srgbClr val="FFFFFF"/>
          </a:solidFill>
          <a:ln w="635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724400" y="6162675"/>
            <a:ext cx="2381250" cy="409575"/>
          </a:xfrm>
          <a:prstGeom prst="rect">
            <a:avLst/>
          </a:prstGeom>
          <a:noFill/>
        </p:spPr>
        <p:txBody>
          <a:bodyPr wrap="square" lIns="28575" rIns="28575" tIns="9525" bIns="9525" anchor="ctr">
            <a:spAutoFit/>
          </a:bodyPr>
          <a:lstStyle/>
          <a:p>
            <a:pPr algn="l">
              <a:lnSpc>
                <a:spcPct val="115000"/>
              </a:lnSpc>
            </a:pPr>
            <a:r>
              <a:rPr sz="1100" b="1">
                <a:solidFill>
                  <a:srgbClr val="14213D"/>
                </a:solidFill>
                <a:latin typeface="Calibri"/>
              </a:rPr>
              <a:t>Structure broadly stable</a:t>
            </a:r>
          </a:p>
        </p:txBody>
      </p:sp>
      <p:sp>
        <p:nvSpPr>
          <p:cNvPr id="120" name="Rounded Rectangle 119"/>
          <p:cNvSpPr/>
          <p:nvPr/>
        </p:nvSpPr>
        <p:spPr>
          <a:xfrm>
            <a:off x="7381875" y="3543300"/>
            <a:ext cx="4667250" cy="3086100"/>
          </a:xfrm>
          <a:prstGeom prst="roundRect">
            <a:avLst>
              <a:gd name="adj" fmla="val 163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7477125" y="3600450"/>
            <a:ext cx="4476750" cy="209550"/>
          </a:xfrm>
          <a:prstGeom prst="rect">
            <a:avLst/>
          </a:prstGeom>
          <a:noFill/>
        </p:spPr>
        <p:txBody>
          <a:bodyPr wrap="square" lIns="28575" rIns="28575" tIns="9525" bIns="9525" anchor="ctr">
            <a:spAutoFit/>
          </a:bodyPr>
          <a:lstStyle/>
          <a:p>
            <a:pPr algn="l"/>
            <a:r>
              <a:rPr sz="1200" b="1">
                <a:solidFill>
                  <a:srgbClr val="2E2E2E"/>
                </a:solidFill>
                <a:latin typeface="Calibri"/>
              </a:rPr>
              <a:t>Key Takeaways</a:t>
            </a:r>
          </a:p>
        </p:txBody>
      </p:sp>
      <p:sp>
        <p:nvSpPr>
          <p:cNvPr id="122" name="TextBox 121"/>
          <p:cNvSpPr txBox="1"/>
          <p:nvPr/>
        </p:nvSpPr>
        <p:spPr>
          <a:xfrm>
            <a:off x="7496175" y="384810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3" name="TextBox 122"/>
          <p:cNvSpPr txBox="1"/>
          <p:nvPr/>
        </p:nvSpPr>
        <p:spPr>
          <a:xfrm>
            <a:off x="7629525" y="3848100"/>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4" name="TextBox 123"/>
          <p:cNvSpPr txBox="1"/>
          <p:nvPr/>
        </p:nvSpPr>
        <p:spPr>
          <a:xfrm>
            <a:off x="7496175" y="4429125"/>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5" name="TextBox 124"/>
          <p:cNvSpPr txBox="1"/>
          <p:nvPr/>
        </p:nvSpPr>
        <p:spPr>
          <a:xfrm>
            <a:off x="7629525" y="4429125"/>
            <a:ext cx="4305300" cy="695325"/>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1 Tier 2 player is positioned to move up-tier by 2036 through M&amp;A and key-account wins – the main structural change of the decade.</a:t>
            </a:r>
          </a:p>
        </p:txBody>
      </p:sp>
      <p:sp>
        <p:nvSpPr>
          <p:cNvPr id="126" name="TextBox 125"/>
          <p:cNvSpPr txBox="1"/>
          <p:nvPr/>
        </p:nvSpPr>
        <p:spPr>
          <a:xfrm>
            <a:off x="7496175" y="50101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7" name="TextBox 126"/>
          <p:cNvSpPr txBox="1"/>
          <p:nvPr/>
        </p:nvSpPr>
        <p:spPr>
          <a:xfrm>
            <a:off x="7629525" y="50101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
            </a:r>
          </a:p>
        </p:txBody>
      </p:sp>
      <p:sp>
        <p:nvSpPr>
          <p:cNvPr id="128" name="TextBox 127"/>
          <p:cNvSpPr txBox="1"/>
          <p:nvPr/>
        </p:nvSpPr>
        <p:spPr>
          <a:xfrm>
            <a:off x="7496175" y="5429250"/>
            <a:ext cx="114300" cy="161925"/>
          </a:xfrm>
          <a:prstGeom prst="rect">
            <a:avLst/>
          </a:prstGeom>
          <a:noFill/>
        </p:spPr>
        <p:txBody>
          <a:bodyPr wrap="none" lIns="0" rIns="0" tIns="0" bIns="0" anchor="t">
            <a:spAutoFit/>
          </a:bodyPr>
          <a:lstStyle/>
          <a:p>
            <a:pPr algn="l"/>
            <a:r>
              <a:rPr sz="1100" b="1">
                <a:solidFill>
                  <a:srgbClr val="0E72AE"/>
                </a:solidFill>
                <a:latin typeface="Calibri"/>
              </a:rPr>
              <a:t>•</a:t>
            </a:r>
          </a:p>
        </p:txBody>
      </p:sp>
      <p:sp>
        <p:nvSpPr>
          <p:cNvPr id="129" name="TextBox 128"/>
          <p:cNvSpPr txBox="1"/>
          <p:nvPr/>
        </p:nvSpPr>
        <p:spPr>
          <a:xfrm>
            <a:off x="7629525" y="5429250"/>
            <a:ext cx="4305300" cy="533400"/>
          </a:xfrm>
          <a:prstGeom prst="rect">
            <a:avLst/>
          </a:prstGeom>
          <a:noFill/>
        </p:spPr>
        <p:txBody>
          <a:bodyPr wrap="square" lIns="28575" rIns="28575" tIns="9525" bIns="9525" anchor="t">
            <a:spAutoFit/>
          </a:bodyPr>
          <a:lstStyle/>
          <a:p>
            <a:pPr algn="l">
              <a:lnSpc>
                <a:spcPct val="115000"/>
              </a:lnSpc>
            </a:pPr>
            <a:r>
              <a:rPr sz="1100" b="0">
                <a:solidFill>
                  <a:srgbClr val="14213D"/>
                </a:solidFill>
                <a:latin typeface="Calibri"/>
              </a:rPr>
              <a:t>Switching costs (4 / 5) and buyer power (3 / 5) are the dominant forces shaping the tier structure.</a:t>
            </a:r>
          </a:p>
        </p:txBody>
      </p:sp>
      <p:sp>
        <p:nvSpPr>
          <p:cNvPr id="130" name="TextBox 129"/>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131" name="Picture 130" descr="lock.png"/>
          <p:cNvPicPr>
            <a:picLocks noChangeAspect="1"/>
          </p:cNvPicPr>
          <p:nvPr/>
        </p:nvPicPr>
        <p:blipFill>
          <a:blip r:embed="rId4"/>
          <a:stretch>
            <a:fillRect/>
          </a:stretch>
        </p:blipFill>
        <p:spPr>
          <a:xfrm>
            <a:off x="604726" y="2545080"/>
            <a:ext cx="257397" cy="374396"/>
          </a:xfrm>
          <a:prstGeom prst="rect">
            <a:avLst/>
          </a:prstGeom>
        </p:spPr>
      </p:pic>
      <p:pic>
        <p:nvPicPr>
          <p:cNvPr id="132" name="Picture 131" descr="lock.png"/>
          <p:cNvPicPr>
            <a:picLocks noChangeAspect="1"/>
          </p:cNvPicPr>
          <p:nvPr/>
        </p:nvPicPr>
        <p:blipFill>
          <a:blip r:embed="rId4"/>
          <a:stretch>
            <a:fillRect/>
          </a:stretch>
        </p:blipFill>
        <p:spPr>
          <a:xfrm>
            <a:off x="3557476" y="2545080"/>
            <a:ext cx="257397" cy="374396"/>
          </a:xfrm>
          <a:prstGeom prst="rect">
            <a:avLst/>
          </a:prstGeom>
        </p:spPr>
      </p:pic>
      <p:pic>
        <p:nvPicPr>
          <p:cNvPr id="133" name="Picture 132" descr="lock.png"/>
          <p:cNvPicPr>
            <a:picLocks noChangeAspect="1"/>
          </p:cNvPicPr>
          <p:nvPr/>
        </p:nvPicPr>
        <p:blipFill>
          <a:blip r:embed="rId4"/>
          <a:stretch>
            <a:fillRect/>
          </a:stretch>
        </p:blipFill>
        <p:spPr>
          <a:xfrm>
            <a:off x="6510226" y="2545080"/>
            <a:ext cx="257397" cy="374396"/>
          </a:xfrm>
          <a:prstGeom prst="rect">
            <a:avLst/>
          </a:prstGeom>
        </p:spPr>
      </p:pic>
      <p:pic>
        <p:nvPicPr>
          <p:cNvPr id="134" name="Picture 133" descr="lock.png"/>
          <p:cNvPicPr>
            <a:picLocks noChangeAspect="1"/>
          </p:cNvPicPr>
          <p:nvPr/>
        </p:nvPicPr>
        <p:blipFill>
          <a:blip r:embed="rId4"/>
          <a:stretch>
            <a:fillRect/>
          </a:stretch>
        </p:blipFill>
        <p:spPr>
          <a:xfrm>
            <a:off x="9462976" y="2545080"/>
            <a:ext cx="257397" cy="374396"/>
          </a:xfrm>
          <a:prstGeom prst="rect">
            <a:avLst/>
          </a:prstGeom>
        </p:spPr>
      </p:pic>
      <p:pic>
        <p:nvPicPr>
          <p:cNvPr id="135" name="Picture 134" descr="lock.png"/>
          <p:cNvPicPr>
            <a:picLocks noChangeAspect="1"/>
          </p:cNvPicPr>
          <p:nvPr/>
        </p:nvPicPr>
        <p:blipFill>
          <a:blip r:embed="rId4"/>
          <a:stretch>
            <a:fillRect/>
          </a:stretch>
        </p:blipFill>
        <p:spPr>
          <a:xfrm>
            <a:off x="4279050" y="4225988"/>
            <a:ext cx="128699" cy="187198"/>
          </a:xfrm>
          <a:prstGeom prst="rect">
            <a:avLst/>
          </a:prstGeom>
        </p:spPr>
      </p:pic>
      <p:pic>
        <p:nvPicPr>
          <p:cNvPr id="136" name="Picture 135" descr="lock.png"/>
          <p:cNvPicPr>
            <a:picLocks noChangeAspect="1"/>
          </p:cNvPicPr>
          <p:nvPr/>
        </p:nvPicPr>
        <p:blipFill>
          <a:blip r:embed="rId4"/>
          <a:stretch>
            <a:fillRect/>
          </a:stretch>
        </p:blipFill>
        <p:spPr>
          <a:xfrm>
            <a:off x="4279050" y="4635563"/>
            <a:ext cx="128699" cy="187198"/>
          </a:xfrm>
          <a:prstGeom prst="rect">
            <a:avLst/>
          </a:prstGeom>
        </p:spPr>
      </p:pic>
      <p:pic>
        <p:nvPicPr>
          <p:cNvPr id="137" name="Picture 136" descr="lock.png"/>
          <p:cNvPicPr>
            <a:picLocks noChangeAspect="1"/>
          </p:cNvPicPr>
          <p:nvPr/>
        </p:nvPicPr>
        <p:blipFill>
          <a:blip r:embed="rId4"/>
          <a:stretch>
            <a:fillRect/>
          </a:stretch>
        </p:blipFill>
        <p:spPr>
          <a:xfrm>
            <a:off x="4279050" y="5045138"/>
            <a:ext cx="128699" cy="187198"/>
          </a:xfrm>
          <a:prstGeom prst="rect">
            <a:avLst/>
          </a:prstGeom>
        </p:spPr>
      </p:pic>
      <p:pic>
        <p:nvPicPr>
          <p:cNvPr id="138" name="Picture 137" descr="lock.png"/>
          <p:cNvPicPr>
            <a:picLocks noChangeAspect="1"/>
          </p:cNvPicPr>
          <p:nvPr/>
        </p:nvPicPr>
        <p:blipFill>
          <a:blip r:embed="rId4"/>
          <a:stretch>
            <a:fillRect/>
          </a:stretch>
        </p:blipFill>
        <p:spPr>
          <a:xfrm>
            <a:off x="4279050" y="5454713"/>
            <a:ext cx="128699" cy="187198"/>
          </a:xfrm>
          <a:prstGeom prst="rect">
            <a:avLst/>
          </a:prstGeom>
        </p:spPr>
      </p:pic>
      <p:pic>
        <p:nvPicPr>
          <p:cNvPr id="139" name="Picture 138" descr="lock.png"/>
          <p:cNvPicPr>
            <a:picLocks noChangeAspect="1"/>
          </p:cNvPicPr>
          <p:nvPr/>
        </p:nvPicPr>
        <p:blipFill>
          <a:blip r:embed="rId4"/>
          <a:stretch>
            <a:fillRect/>
          </a:stretch>
        </p:blipFill>
        <p:spPr>
          <a:xfrm>
            <a:off x="4279050" y="5864288"/>
            <a:ext cx="128699" cy="187198"/>
          </a:xfrm>
          <a:prstGeom prst="rect">
            <a:avLst/>
          </a:prstGeom>
        </p:spPr>
      </p:pic>
      <p:pic>
        <p:nvPicPr>
          <p:cNvPr id="140" name="Picture 139" descr="lock.png"/>
          <p:cNvPicPr>
            <a:picLocks noChangeAspect="1"/>
          </p:cNvPicPr>
          <p:nvPr/>
        </p:nvPicPr>
        <p:blipFill>
          <a:blip r:embed="rId4"/>
          <a:stretch>
            <a:fillRect/>
          </a:stretch>
        </p:blipFill>
        <p:spPr>
          <a:xfrm>
            <a:off x="4279050" y="6273863"/>
            <a:ext cx="128699" cy="187198"/>
          </a:xfrm>
          <a:prstGeom prst="rect">
            <a:avLst/>
          </a:prstGeom>
        </p:spPr>
      </p:pic>
      <p:sp>
        <p:nvSpPr>
          <p:cNvPr id="141" name="TextBox 140"/>
          <p:cNvSpPr txBox="1"/>
          <p:nvPr/>
        </p:nvSpPr>
        <p:spPr>
          <a:xfrm>
            <a:off x="547018" y="1870710"/>
            <a:ext cx="929133" cy="186689"/>
          </a:xfrm>
          <a:prstGeom prst="rect">
            <a:avLst/>
          </a:prstGeom>
          <a:noFill/>
        </p:spPr>
        <p:txBody>
          <a:bodyPr wrap="none" lIns="0" rIns="0" tIns="0" bIns="0">
            <a:spAutoFit/>
          </a:bodyPr>
          <a:lstStyle/>
          <a:p>
            <a:r>
              <a:rPr sz="1100" b="1">
                <a:solidFill>
                  <a:srgbClr val="FFFFFF"/>
                </a:solidFill>
                <a:latin typeface="Calibri"/>
              </a:rPr>
              <a:t>4 → 5 players ·</a:t>
            </a:r>
          </a:p>
        </p:txBody>
      </p:sp>
      <p:pic>
        <p:nvPicPr>
          <p:cNvPr id="142" name="Picture 141" descr="lock.png"/>
          <p:cNvPicPr>
            <a:picLocks noChangeAspect="1"/>
          </p:cNvPicPr>
          <p:nvPr/>
        </p:nvPicPr>
        <p:blipFill>
          <a:blip r:embed="rId4"/>
          <a:stretch>
            <a:fillRect/>
          </a:stretch>
        </p:blipFill>
        <p:spPr>
          <a:xfrm>
            <a:off x="1424204" y="1860931"/>
            <a:ext cx="128699" cy="187198"/>
          </a:xfrm>
          <a:prstGeom prst="rect">
            <a:avLst/>
          </a:prstGeom>
        </p:spPr>
      </p:pic>
      <p:sp>
        <p:nvSpPr>
          <p:cNvPr id="143" name="TextBox 142"/>
          <p:cNvSpPr txBox="1"/>
          <p:nvPr/>
        </p:nvSpPr>
        <p:spPr>
          <a:xfrm>
            <a:off x="15916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4" name="Picture 143" descr="lock.png"/>
          <p:cNvPicPr>
            <a:picLocks noChangeAspect="1"/>
          </p:cNvPicPr>
          <p:nvPr/>
        </p:nvPicPr>
        <p:blipFill>
          <a:blip r:embed="rId4"/>
          <a:stretch>
            <a:fillRect/>
          </a:stretch>
        </p:blipFill>
        <p:spPr>
          <a:xfrm>
            <a:off x="1742554" y="1860931"/>
            <a:ext cx="128699" cy="187198"/>
          </a:xfrm>
          <a:prstGeom prst="rect">
            <a:avLst/>
          </a:prstGeom>
        </p:spPr>
      </p:pic>
      <p:sp>
        <p:nvSpPr>
          <p:cNvPr id="145" name="TextBox 144"/>
          <p:cNvSpPr txBox="1"/>
          <p:nvPr/>
        </p:nvSpPr>
        <p:spPr>
          <a:xfrm>
            <a:off x="10497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46" name="TextBox 145"/>
          <p:cNvSpPr txBox="1"/>
          <p:nvPr/>
        </p:nvSpPr>
        <p:spPr>
          <a:xfrm>
            <a:off x="3804568" y="1870710"/>
            <a:ext cx="929133" cy="186689"/>
          </a:xfrm>
          <a:prstGeom prst="rect">
            <a:avLst/>
          </a:prstGeom>
          <a:noFill/>
        </p:spPr>
        <p:txBody>
          <a:bodyPr wrap="none" lIns="0" rIns="0" tIns="0" bIns="0">
            <a:spAutoFit/>
          </a:bodyPr>
          <a:lstStyle/>
          <a:p>
            <a:r>
              <a:rPr sz="1100" b="1">
                <a:solidFill>
                  <a:srgbClr val="FFFFFF"/>
                </a:solidFill>
                <a:latin typeface="Calibri"/>
              </a:rPr>
              <a:t>2 → 2 players ·</a:t>
            </a:r>
          </a:p>
        </p:txBody>
      </p:sp>
      <p:pic>
        <p:nvPicPr>
          <p:cNvPr id="147" name="Picture 146" descr="lock.png"/>
          <p:cNvPicPr>
            <a:picLocks noChangeAspect="1"/>
          </p:cNvPicPr>
          <p:nvPr/>
        </p:nvPicPr>
        <p:blipFill>
          <a:blip r:embed="rId4"/>
          <a:stretch>
            <a:fillRect/>
          </a:stretch>
        </p:blipFill>
        <p:spPr>
          <a:xfrm>
            <a:off x="4681754" y="1860931"/>
            <a:ext cx="128699" cy="187198"/>
          </a:xfrm>
          <a:prstGeom prst="rect">
            <a:avLst/>
          </a:prstGeom>
        </p:spPr>
      </p:pic>
      <p:sp>
        <p:nvSpPr>
          <p:cNvPr id="148" name="TextBox 147"/>
          <p:cNvSpPr txBox="1"/>
          <p:nvPr/>
        </p:nvSpPr>
        <p:spPr>
          <a:xfrm>
            <a:off x="484924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49" name="Picture 148" descr="lock.png"/>
          <p:cNvPicPr>
            <a:picLocks noChangeAspect="1"/>
          </p:cNvPicPr>
          <p:nvPr/>
        </p:nvPicPr>
        <p:blipFill>
          <a:blip r:embed="rId4"/>
          <a:stretch>
            <a:fillRect/>
          </a:stretch>
        </p:blipFill>
        <p:spPr>
          <a:xfrm>
            <a:off x="5000104" y="1860931"/>
            <a:ext cx="128699" cy="187198"/>
          </a:xfrm>
          <a:prstGeom prst="rect">
            <a:avLst/>
          </a:prstGeom>
        </p:spPr>
      </p:pic>
      <p:sp>
        <p:nvSpPr>
          <p:cNvPr id="150" name="TextBox 149"/>
          <p:cNvSpPr txBox="1"/>
          <p:nvPr/>
        </p:nvSpPr>
        <p:spPr>
          <a:xfrm>
            <a:off x="430733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1" name="TextBox 150"/>
          <p:cNvSpPr txBox="1"/>
          <p:nvPr/>
        </p:nvSpPr>
        <p:spPr>
          <a:xfrm>
            <a:off x="7062118" y="1870710"/>
            <a:ext cx="929133" cy="186689"/>
          </a:xfrm>
          <a:prstGeom prst="rect">
            <a:avLst/>
          </a:prstGeom>
          <a:noFill/>
        </p:spPr>
        <p:txBody>
          <a:bodyPr wrap="none" lIns="0" rIns="0" tIns="0" bIns="0">
            <a:spAutoFit/>
          </a:bodyPr>
          <a:lstStyle/>
          <a:p>
            <a:r>
              <a:rPr sz="1100" b="1">
                <a:solidFill>
                  <a:srgbClr val="FFFFFF"/>
                </a:solidFill>
                <a:latin typeface="Calibri"/>
              </a:rPr>
              <a:t>4 → 4 players ·</a:t>
            </a:r>
          </a:p>
        </p:txBody>
      </p:sp>
      <p:pic>
        <p:nvPicPr>
          <p:cNvPr id="152" name="Picture 151" descr="lock.png"/>
          <p:cNvPicPr>
            <a:picLocks noChangeAspect="1"/>
          </p:cNvPicPr>
          <p:nvPr/>
        </p:nvPicPr>
        <p:blipFill>
          <a:blip r:embed="rId4"/>
          <a:stretch>
            <a:fillRect/>
          </a:stretch>
        </p:blipFill>
        <p:spPr>
          <a:xfrm>
            <a:off x="7939304" y="1860931"/>
            <a:ext cx="128699" cy="187198"/>
          </a:xfrm>
          <a:prstGeom prst="rect">
            <a:avLst/>
          </a:prstGeom>
        </p:spPr>
      </p:pic>
      <p:sp>
        <p:nvSpPr>
          <p:cNvPr id="153" name="TextBox 152"/>
          <p:cNvSpPr txBox="1"/>
          <p:nvPr/>
        </p:nvSpPr>
        <p:spPr>
          <a:xfrm>
            <a:off x="8106799" y="1870710"/>
            <a:ext cx="202803" cy="186689"/>
          </a:xfrm>
          <a:prstGeom prst="rect">
            <a:avLst/>
          </a:prstGeom>
          <a:noFill/>
        </p:spPr>
        <p:txBody>
          <a:bodyPr wrap="none" lIns="0" rIns="0" tIns="0" bIns="0">
            <a:spAutoFit/>
          </a:bodyPr>
          <a:lstStyle/>
          <a:p>
            <a:r>
              <a:rPr sz="1100" b="1">
                <a:solidFill>
                  <a:srgbClr val="FFFFFF"/>
                </a:solidFill>
                <a:latin typeface="Calibri"/>
              </a:rPr>
              <a:t>→</a:t>
            </a:r>
          </a:p>
        </p:txBody>
      </p:sp>
      <p:pic>
        <p:nvPicPr>
          <p:cNvPr id="154" name="Picture 153" descr="lock.png"/>
          <p:cNvPicPr>
            <a:picLocks noChangeAspect="1"/>
          </p:cNvPicPr>
          <p:nvPr/>
        </p:nvPicPr>
        <p:blipFill>
          <a:blip r:embed="rId4"/>
          <a:stretch>
            <a:fillRect/>
          </a:stretch>
        </p:blipFill>
        <p:spPr>
          <a:xfrm>
            <a:off x="8257654" y="1860931"/>
            <a:ext cx="128699" cy="187198"/>
          </a:xfrm>
          <a:prstGeom prst="rect">
            <a:avLst/>
          </a:prstGeom>
        </p:spPr>
      </p:pic>
      <p:sp>
        <p:nvSpPr>
          <p:cNvPr id="155" name="TextBox 154"/>
          <p:cNvSpPr txBox="1"/>
          <p:nvPr/>
        </p:nvSpPr>
        <p:spPr>
          <a:xfrm>
            <a:off x="7564883" y="2038350"/>
            <a:ext cx="395982" cy="186689"/>
          </a:xfrm>
          <a:prstGeom prst="rect">
            <a:avLst/>
          </a:prstGeom>
          <a:noFill/>
        </p:spPr>
        <p:txBody>
          <a:bodyPr wrap="none" lIns="0" rIns="0" tIns="0" bIns="0">
            <a:spAutoFit/>
          </a:bodyPr>
          <a:lstStyle/>
          <a:p>
            <a:r>
              <a:rPr sz="1100" b="1">
                <a:solidFill>
                  <a:srgbClr val="FFFFFF"/>
                </a:solidFill>
                <a:latin typeface="Calibri"/>
              </a:rPr>
              <a:t>share</a:t>
            </a:r>
          </a:p>
        </p:txBody>
      </p:sp>
      <p:sp>
        <p:nvSpPr>
          <p:cNvPr id="156" name="TextBox 155"/>
          <p:cNvSpPr txBox="1"/>
          <p:nvPr/>
        </p:nvSpPr>
        <p:spPr>
          <a:xfrm>
            <a:off x="10286075" y="1954530"/>
            <a:ext cx="638819" cy="186689"/>
          </a:xfrm>
          <a:prstGeom prst="rect">
            <a:avLst/>
          </a:prstGeom>
          <a:noFill/>
        </p:spPr>
        <p:txBody>
          <a:bodyPr wrap="none" lIns="0" rIns="0" tIns="0" bIns="0">
            <a:spAutoFit/>
          </a:bodyPr>
          <a:lstStyle/>
          <a:p>
            <a:r>
              <a:rPr sz="1100" b="1">
                <a:solidFill>
                  <a:srgbClr val="14213D"/>
                </a:solidFill>
                <a:latin typeface="Calibri"/>
              </a:rPr>
              <a:t>Long tail ·</a:t>
            </a:r>
          </a:p>
        </p:txBody>
      </p:sp>
      <p:pic>
        <p:nvPicPr>
          <p:cNvPr id="157" name="Picture 156" descr="lock.png"/>
          <p:cNvPicPr>
            <a:picLocks noChangeAspect="1"/>
          </p:cNvPicPr>
          <p:nvPr/>
        </p:nvPicPr>
        <p:blipFill>
          <a:blip r:embed="rId4"/>
          <a:stretch>
            <a:fillRect/>
          </a:stretch>
        </p:blipFill>
        <p:spPr>
          <a:xfrm>
            <a:off x="10872946" y="1944751"/>
            <a:ext cx="128699" cy="187198"/>
          </a:xfrm>
          <a:prstGeom prst="rect">
            <a:avLst/>
          </a:prstGeom>
        </p:spPr>
      </p:pic>
      <p:sp>
        <p:nvSpPr>
          <p:cNvPr id="158" name="TextBox 157"/>
          <p:cNvSpPr txBox="1"/>
          <p:nvPr/>
        </p:nvSpPr>
        <p:spPr>
          <a:xfrm>
            <a:off x="11040442" y="1954530"/>
            <a:ext cx="202803" cy="186689"/>
          </a:xfrm>
          <a:prstGeom prst="rect">
            <a:avLst/>
          </a:prstGeom>
          <a:noFill/>
        </p:spPr>
        <p:txBody>
          <a:bodyPr wrap="none" lIns="0" rIns="0" tIns="0" bIns="0">
            <a:spAutoFit/>
          </a:bodyPr>
          <a:lstStyle/>
          <a:p>
            <a:r>
              <a:rPr sz="1100" b="1">
                <a:solidFill>
                  <a:srgbClr val="14213D"/>
                </a:solidFill>
                <a:latin typeface="Calibri"/>
              </a:rPr>
              <a:t>→</a:t>
            </a:r>
          </a:p>
        </p:txBody>
      </p:sp>
      <p:pic>
        <p:nvPicPr>
          <p:cNvPr id="159" name="Picture 158" descr="lock.png"/>
          <p:cNvPicPr>
            <a:picLocks noChangeAspect="1"/>
          </p:cNvPicPr>
          <p:nvPr/>
        </p:nvPicPr>
        <p:blipFill>
          <a:blip r:embed="rId4"/>
          <a:stretch>
            <a:fillRect/>
          </a:stretch>
        </p:blipFill>
        <p:spPr>
          <a:xfrm>
            <a:off x="11191297" y="1944751"/>
            <a:ext cx="128699" cy="187198"/>
          </a:xfrm>
          <a:prstGeom prst="rect">
            <a:avLst/>
          </a:prstGeom>
        </p:spPr>
      </p:pic>
      <p:sp>
        <p:nvSpPr>
          <p:cNvPr id="160" name="TextBox 159"/>
          <p:cNvSpPr txBox="1"/>
          <p:nvPr/>
        </p:nvSpPr>
        <p:spPr>
          <a:xfrm>
            <a:off x="11358792" y="1954530"/>
            <a:ext cx="395982" cy="186689"/>
          </a:xfrm>
          <a:prstGeom prst="rect">
            <a:avLst/>
          </a:prstGeom>
          <a:noFill/>
        </p:spPr>
        <p:txBody>
          <a:bodyPr wrap="none" lIns="0" rIns="0" tIns="0" bIns="0">
            <a:spAutoFit/>
          </a:bodyPr>
          <a:lstStyle/>
          <a:p>
            <a:r>
              <a:rPr sz="1100" b="1">
                <a:solidFill>
                  <a:srgbClr val="14213D"/>
                </a:solidFill>
                <a:latin typeface="Calibri"/>
              </a:rPr>
              <a:t>share</a:t>
            </a:r>
          </a:p>
        </p:txBody>
      </p:sp>
      <p:sp>
        <p:nvSpPr>
          <p:cNvPr id="161" name="TextBox 160"/>
          <p:cNvSpPr txBox="1"/>
          <p:nvPr/>
        </p:nvSpPr>
        <p:spPr>
          <a:xfrm>
            <a:off x="7658100" y="3857625"/>
            <a:ext cx="1828179" cy="186689"/>
          </a:xfrm>
          <a:prstGeom prst="rect">
            <a:avLst/>
          </a:prstGeom>
          <a:noFill/>
        </p:spPr>
        <p:txBody>
          <a:bodyPr wrap="none" lIns="0" rIns="0" tIns="0" bIns="0">
            <a:spAutoFit/>
          </a:bodyPr>
          <a:lstStyle/>
          <a:p>
            <a:r>
              <a:rPr sz="1100" b="0">
                <a:solidFill>
                  <a:srgbClr val="14213D"/>
                </a:solidFill>
                <a:latin typeface="Calibri"/>
              </a:rPr>
              <a:t>The market is fragmented (HHI</a:t>
            </a:r>
          </a:p>
        </p:txBody>
      </p:sp>
      <p:pic>
        <p:nvPicPr>
          <p:cNvPr id="162" name="Picture 161" descr="lock.png"/>
          <p:cNvPicPr>
            <a:picLocks noChangeAspect="1"/>
          </p:cNvPicPr>
          <p:nvPr/>
        </p:nvPicPr>
        <p:blipFill>
          <a:blip r:embed="rId4"/>
          <a:stretch>
            <a:fillRect/>
          </a:stretch>
        </p:blipFill>
        <p:spPr>
          <a:xfrm>
            <a:off x="9434331" y="3847846"/>
            <a:ext cx="128699" cy="187198"/>
          </a:xfrm>
          <a:prstGeom prst="rect">
            <a:avLst/>
          </a:prstGeom>
        </p:spPr>
      </p:pic>
      <p:sp>
        <p:nvSpPr>
          <p:cNvPr id="163" name="TextBox 162"/>
          <p:cNvSpPr txBox="1"/>
          <p:nvPr/>
        </p:nvSpPr>
        <p:spPr>
          <a:xfrm>
            <a:off x="9601827" y="3857625"/>
            <a:ext cx="2068562" cy="186689"/>
          </a:xfrm>
          <a:prstGeom prst="rect">
            <a:avLst/>
          </a:prstGeom>
          <a:noFill/>
        </p:spPr>
        <p:txBody>
          <a:bodyPr wrap="none" lIns="0" rIns="0" tIns="0" bIns="0">
            <a:spAutoFit/>
          </a:bodyPr>
          <a:lstStyle/>
          <a:p>
            <a:r>
              <a:rPr sz="1100" b="0">
                <a:solidFill>
                  <a:srgbClr val="14213D"/>
                </a:solidFill>
                <a:latin typeface="Calibri"/>
              </a:rPr>
              <a:t>); Tier 1 sets pricing and innovation</a:t>
            </a:r>
          </a:p>
        </p:txBody>
      </p:sp>
      <p:sp>
        <p:nvSpPr>
          <p:cNvPr id="164" name="TextBox 163"/>
          <p:cNvSpPr txBox="1"/>
          <p:nvPr/>
        </p:nvSpPr>
        <p:spPr>
          <a:xfrm>
            <a:off x="7658100" y="4025265"/>
            <a:ext cx="2124769" cy="186689"/>
          </a:xfrm>
          <a:prstGeom prst="rect">
            <a:avLst/>
          </a:prstGeom>
          <a:noFill/>
        </p:spPr>
        <p:txBody>
          <a:bodyPr wrap="none" lIns="0" rIns="0" tIns="0" bIns="0">
            <a:spAutoFit/>
          </a:bodyPr>
          <a:lstStyle/>
          <a:p>
            <a:r>
              <a:rPr sz="1100" b="0">
                <a:solidFill>
                  <a:srgbClr val="14213D"/>
                </a:solidFill>
                <a:latin typeface="Calibri"/>
              </a:rPr>
              <a:t>benchmarks and is expected to hold</a:t>
            </a:r>
          </a:p>
        </p:txBody>
      </p:sp>
      <p:pic>
        <p:nvPicPr>
          <p:cNvPr id="165" name="Picture 164" descr="lock.png"/>
          <p:cNvPicPr>
            <a:picLocks noChangeAspect="1"/>
          </p:cNvPicPr>
          <p:nvPr/>
        </p:nvPicPr>
        <p:blipFill>
          <a:blip r:embed="rId4"/>
          <a:stretch>
            <a:fillRect/>
          </a:stretch>
        </p:blipFill>
        <p:spPr>
          <a:xfrm>
            <a:off x="9730921" y="4015486"/>
            <a:ext cx="128699" cy="187198"/>
          </a:xfrm>
          <a:prstGeom prst="rect">
            <a:avLst/>
          </a:prstGeom>
        </p:spPr>
      </p:pic>
      <p:sp>
        <p:nvSpPr>
          <p:cNvPr id="166" name="TextBox 165"/>
          <p:cNvSpPr txBox="1"/>
          <p:nvPr/>
        </p:nvSpPr>
        <p:spPr>
          <a:xfrm>
            <a:off x="9898416" y="4025265"/>
            <a:ext cx="1016992" cy="186689"/>
          </a:xfrm>
          <a:prstGeom prst="rect">
            <a:avLst/>
          </a:prstGeom>
          <a:noFill/>
        </p:spPr>
        <p:txBody>
          <a:bodyPr wrap="none" lIns="0" rIns="0" tIns="0" bIns="0">
            <a:spAutoFit/>
          </a:bodyPr>
          <a:lstStyle/>
          <a:p>
            <a:r>
              <a:rPr sz="1100" b="0">
                <a:solidFill>
                  <a:srgbClr val="14213D"/>
                </a:solidFill>
                <a:latin typeface="Calibri"/>
              </a:rPr>
              <a:t>of value in 2036.</a:t>
            </a:r>
          </a:p>
        </p:txBody>
      </p:sp>
      <p:sp>
        <p:nvSpPr>
          <p:cNvPr id="167" name="TextBox 166"/>
          <p:cNvSpPr txBox="1"/>
          <p:nvPr/>
        </p:nvSpPr>
        <p:spPr>
          <a:xfrm>
            <a:off x="7658100" y="5019675"/>
            <a:ext cx="3471019" cy="186689"/>
          </a:xfrm>
          <a:prstGeom prst="rect">
            <a:avLst/>
          </a:prstGeom>
          <a:noFill/>
        </p:spPr>
        <p:txBody>
          <a:bodyPr wrap="none" lIns="0" rIns="0" tIns="0" bIns="0">
            <a:spAutoFit/>
          </a:bodyPr>
          <a:lstStyle/>
          <a:p>
            <a:r>
              <a:rPr sz="1100" b="0">
                <a:solidFill>
                  <a:srgbClr val="14213D"/>
                </a:solidFill>
                <a:latin typeface="Calibri"/>
              </a:rPr>
              <a:t>Tier 3 and the long tail face the highest structural pressure (</a:t>
            </a:r>
          </a:p>
        </p:txBody>
      </p:sp>
      <p:pic>
        <p:nvPicPr>
          <p:cNvPr id="168" name="Picture 167" descr="lock.png"/>
          <p:cNvPicPr>
            <a:picLocks noChangeAspect="1"/>
          </p:cNvPicPr>
          <p:nvPr/>
        </p:nvPicPr>
        <p:blipFill>
          <a:blip r:embed="rId4"/>
          <a:stretch>
            <a:fillRect/>
          </a:stretch>
        </p:blipFill>
        <p:spPr>
          <a:xfrm>
            <a:off x="11077170" y="5009895"/>
            <a:ext cx="128699" cy="187198"/>
          </a:xfrm>
          <a:prstGeom prst="rect">
            <a:avLst/>
          </a:prstGeom>
        </p:spPr>
      </p:pic>
      <p:sp>
        <p:nvSpPr>
          <p:cNvPr id="169" name="TextBox 168"/>
          <p:cNvSpPr txBox="1"/>
          <p:nvPr/>
        </p:nvSpPr>
        <p:spPr>
          <a:xfrm>
            <a:off x="11244666" y="5019675"/>
            <a:ext cx="415081" cy="186689"/>
          </a:xfrm>
          <a:prstGeom prst="rect">
            <a:avLst/>
          </a:prstGeom>
          <a:noFill/>
        </p:spPr>
        <p:txBody>
          <a:bodyPr wrap="none" lIns="0" rIns="0" tIns="0" bIns="0">
            <a:spAutoFit/>
          </a:bodyPr>
          <a:lstStyle/>
          <a:p>
            <a:r>
              <a:rPr sz="1100" b="0">
                <a:solidFill>
                  <a:srgbClr val="14213D"/>
                </a:solidFill>
                <a:latin typeface="Calibri"/>
              </a:rPr>
              <a:t>/ 5); 2</a:t>
            </a:r>
          </a:p>
        </p:txBody>
      </p:sp>
      <p:sp>
        <p:nvSpPr>
          <p:cNvPr id="170" name="TextBox 169"/>
          <p:cNvSpPr txBox="1"/>
          <p:nvPr/>
        </p:nvSpPr>
        <p:spPr>
          <a:xfrm>
            <a:off x="7658100" y="5187315"/>
            <a:ext cx="2541413" cy="186689"/>
          </a:xfrm>
          <a:prstGeom prst="rect">
            <a:avLst/>
          </a:prstGeom>
          <a:noFill/>
        </p:spPr>
        <p:txBody>
          <a:bodyPr wrap="none" lIns="0" rIns="0" tIns="0" bIns="0">
            <a:spAutoFit/>
          </a:bodyPr>
          <a:lstStyle/>
          <a:p>
            <a:r>
              <a:rPr sz="1100" b="0">
                <a:solidFill>
                  <a:srgbClr val="14213D"/>
                </a:solidFill>
                <a:latin typeface="Calibri"/>
              </a:rPr>
              <a:t>players are expected to exit or be acquired.</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8286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3825" y="914400"/>
            <a:ext cx="394335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124325" y="914400"/>
            <a:ext cx="3943350"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4825" y="914400"/>
            <a:ext cx="394335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mi_logo_template.png"/>
          <p:cNvPicPr>
            <a:picLocks noChangeAspect="1"/>
          </p:cNvPicPr>
          <p:nvPr/>
        </p:nvPicPr>
        <p:blipFill>
          <a:blip r:embed="rId2"/>
          <a:stretch>
            <a:fillRect/>
          </a:stretch>
        </p:blipFill>
        <p:spPr>
          <a:xfrm>
            <a:off x="161925" y="-205740"/>
            <a:ext cx="1307592" cy="1325880"/>
          </a:xfrm>
          <a:prstGeom prst="rect">
            <a:avLst/>
          </a:prstGeom>
        </p:spPr>
      </p:pic>
      <p:sp>
        <p:nvSpPr>
          <p:cNvPr id="8" name="TextBox 7"/>
          <p:cNvSpPr txBox="1"/>
          <p:nvPr/>
        </p:nvSpPr>
        <p:spPr>
          <a:xfrm>
            <a:off x="1543050" y="19050"/>
            <a:ext cx="10506075" cy="628650"/>
          </a:xfrm>
          <a:prstGeom prst="rect">
            <a:avLst/>
          </a:prstGeom>
          <a:noFill/>
        </p:spPr>
        <p:txBody>
          <a:bodyPr wrap="square" lIns="28575" rIns="28575" tIns="0" bIns="0" anchor="b">
            <a:spAutoFit/>
          </a:bodyPr>
          <a:lstStyle/>
          <a:p>
            <a:pPr algn="l">
              <a:lnSpc>
                <a:spcPct val="90000"/>
              </a:lnSpc>
            </a:pPr>
            <a:r>
              <a:rPr sz="2100" b="1">
                <a:solidFill>
                  <a:srgbClr val="000000"/>
                </a:solidFill>
                <a:latin typeface="Calibri"/>
              </a:rPr>
              <a:t>Organ Transport Devices Market Competitive Dashboard View (2026)</a:t>
            </a:r>
          </a:p>
        </p:txBody>
      </p:sp>
      <p:sp>
        <p:nvSpPr>
          <p:cNvPr id="9" name="TextBox 8"/>
          <p:cNvSpPr txBox="1"/>
          <p:nvPr/>
        </p:nvSpPr>
        <p:spPr>
          <a:xfrm>
            <a:off x="1543050" y="647700"/>
            <a:ext cx="10506075" cy="247650"/>
          </a:xfrm>
          <a:prstGeom prst="rect">
            <a:avLst/>
          </a:prstGeom>
          <a:noFill/>
        </p:spPr>
        <p:txBody>
          <a:bodyPr wrap="square" lIns="28575" rIns="28575" tIns="0" bIns="0" anchor="t">
            <a:spAutoFit/>
          </a:bodyPr>
          <a:lstStyle/>
          <a:p>
            <a:pPr algn="l"/>
            <a:r>
              <a:rPr sz="1400" b="0" i="1">
                <a:solidFill>
                  <a:srgbClr val="252423"/>
                </a:solidFill>
                <a:latin typeface="Calibri"/>
              </a:rPr>
              <a:t>Benchmarking of companies on portfolio, coverage, revenue, share, regional presence and strategy</a:t>
            </a:r>
          </a:p>
        </p:txBody>
      </p:sp>
      <p:sp>
        <p:nvSpPr>
          <p:cNvPr id="10" name="TextBox 9"/>
          <p:cNvSpPr txBox="1"/>
          <p:nvPr/>
        </p:nvSpPr>
        <p:spPr>
          <a:xfrm>
            <a:off x="285750" y="970754"/>
            <a:ext cx="10477500" cy="164283"/>
          </a:xfrm>
          <a:prstGeom prst="rect">
            <a:avLst/>
          </a:prstGeom>
          <a:noFill/>
        </p:spPr>
        <p:txBody>
          <a:bodyPr wrap="square" lIns="0" rIns="19050" tIns="0" bIns="0">
            <a:spAutoFit/>
          </a:bodyPr>
          <a:lstStyle/>
          <a:p>
            <a:pPr algn="l"/>
            <a:r>
              <a:rPr sz="1100" b="0">
                <a:solidFill>
                  <a:srgbClr val="6C7A89"/>
                </a:solidFill>
                <a:latin typeface="Calibri"/>
              </a:rPr>
              <a:t>Intensified competition across the leading players portfolio, revenue, share, regional presence and strategy.  All figures 2026.</a:t>
            </a:r>
          </a:p>
        </p:txBody>
      </p:sp>
      <p:sp>
        <p:nvSpPr>
          <p:cNvPr id="11" name="Rounded Rectangle 10"/>
          <p:cNvSpPr/>
          <p:nvPr/>
        </p:nvSpPr>
        <p:spPr>
          <a:xfrm>
            <a:off x="133350" y="1153291"/>
            <a:ext cx="11925300" cy="4563424"/>
          </a:xfrm>
          <a:prstGeom prst="roundRect">
            <a:avLst>
              <a:gd name="adj" fmla="val 16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3350" y="1171544"/>
            <a:ext cx="11925300" cy="365074"/>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171544"/>
            <a:ext cx="1143000" cy="4526917"/>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33350" y="153661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33350" y="179217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263184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960407"/>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3288973"/>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4055629"/>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5041328"/>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954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17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4480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5243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6007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533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2967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90600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982325"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058650" y="1171544"/>
            <a:ext cx="0" cy="4526917"/>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350" y="5698461"/>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71450" y="1536618"/>
            <a:ext cx="1085850" cy="255552"/>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Company / Brand</a:t>
            </a:r>
          </a:p>
        </p:txBody>
      </p:sp>
      <p:sp>
        <p:nvSpPr>
          <p:cNvPr id="36" name="TextBox 35"/>
          <p:cNvSpPr txBox="1"/>
          <p:nvPr/>
        </p:nvSpPr>
        <p:spPr>
          <a:xfrm>
            <a:off x="171450" y="1792170"/>
            <a:ext cx="1085850" cy="83967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Product Portfolio</a:t>
            </a:r>
          </a:p>
        </p:txBody>
      </p:sp>
      <p:sp>
        <p:nvSpPr>
          <p:cNvPr id="37" name="TextBox 36"/>
          <p:cNvSpPr txBox="1"/>
          <p:nvPr/>
        </p:nvSpPr>
        <p:spPr>
          <a:xfrm>
            <a:off x="171450" y="2631840"/>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Overall Rev (US$ Mn)</a:t>
            </a:r>
          </a:p>
        </p:txBody>
      </p:sp>
      <p:sp>
        <p:nvSpPr>
          <p:cNvPr id="38" name="TextBox 37"/>
          <p:cNvSpPr txBox="1"/>
          <p:nvPr/>
        </p:nvSpPr>
        <p:spPr>
          <a:xfrm>
            <a:off x="171450" y="2960407"/>
            <a:ext cx="1085850" cy="328567"/>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Target Rev (US$ Mn)</a:t>
            </a:r>
          </a:p>
        </p:txBody>
      </p:sp>
      <p:sp>
        <p:nvSpPr>
          <p:cNvPr id="39" name="TextBox 38"/>
          <p:cNvSpPr txBox="1"/>
          <p:nvPr/>
        </p:nvSpPr>
        <p:spPr>
          <a:xfrm>
            <a:off x="171450" y="3288973"/>
            <a:ext cx="1085850" cy="766655"/>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Market Share (%)</a:t>
            </a:r>
          </a:p>
        </p:txBody>
      </p:sp>
      <p:sp>
        <p:nvSpPr>
          <p:cNvPr id="40" name="TextBox 39"/>
          <p:cNvSpPr txBox="1"/>
          <p:nvPr/>
        </p:nvSpPr>
        <p:spPr>
          <a:xfrm>
            <a:off x="171450" y="4055629"/>
            <a:ext cx="1085850" cy="985700"/>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Regional Presence</a:t>
            </a:r>
          </a:p>
        </p:txBody>
      </p:sp>
      <p:sp>
        <p:nvSpPr>
          <p:cNvPr id="41" name="TextBox 40"/>
          <p:cNvSpPr txBox="1"/>
          <p:nvPr/>
        </p:nvSpPr>
        <p:spPr>
          <a:xfrm>
            <a:off x="171450" y="5041328"/>
            <a:ext cx="1085850" cy="657133"/>
          </a:xfrm>
          <a:prstGeom prst="rect">
            <a:avLst/>
          </a:prstGeom>
          <a:noFill/>
        </p:spPr>
        <p:txBody>
          <a:bodyPr wrap="square" lIns="19050" rIns="19050" tIns="9525" bIns="9525" anchor="ctr">
            <a:spAutoFit/>
          </a:bodyPr>
          <a:lstStyle/>
          <a:p>
            <a:pPr algn="l">
              <a:lnSpc>
                <a:spcPct val="100000"/>
              </a:lnSpc>
            </a:pPr>
            <a:r>
              <a:rPr sz="1100" b="1">
                <a:solidFill>
                  <a:srgbClr val="0B2E4A"/>
                </a:solidFill>
                <a:latin typeface="Calibri"/>
              </a:rPr>
              <a:t>Strategies</a:t>
            </a:r>
          </a:p>
        </p:txBody>
      </p:sp>
      <p:sp>
        <p:nvSpPr>
          <p:cNvPr id="42" name="TextBox 41"/>
          <p:cNvSpPr txBox="1"/>
          <p:nvPr/>
        </p:nvSpPr>
        <p:spPr>
          <a:xfrm>
            <a:off x="13239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TransMedics</a:t>
            </a:r>
          </a:p>
        </p:txBody>
      </p:sp>
      <p:cxnSp>
        <p:nvCxnSpPr>
          <p:cNvPr id="43" name="Connector 42"/>
          <p:cNvCxnSpPr/>
          <p:nvPr/>
        </p:nvCxnSpPr>
        <p:spPr>
          <a:xfrm>
            <a:off x="16049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3239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A</a:t>
            </a:r>
          </a:p>
        </p:txBody>
      </p:sp>
      <p:sp>
        <p:nvSpPr>
          <p:cNvPr id="45" name="TextBox 44"/>
          <p:cNvSpPr txBox="1"/>
          <p:nvPr/>
        </p:nvSpPr>
        <p:spPr>
          <a:xfrm>
            <a:off x="13144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6" name="TextBox 45"/>
          <p:cNvSpPr txBox="1"/>
          <p:nvPr/>
        </p:nvSpPr>
        <p:spPr>
          <a:xfrm>
            <a:off x="13144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47" name="Rectangle 46"/>
          <p:cNvSpPr/>
          <p:nvPr/>
        </p:nvSpPr>
        <p:spPr>
          <a:xfrm>
            <a:off x="16049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7764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9478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3239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1" name="TextBox 50"/>
          <p:cNvSpPr txBox="1"/>
          <p:nvPr/>
        </p:nvSpPr>
        <p:spPr>
          <a:xfrm>
            <a:off x="13239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52" name="Oval 51"/>
          <p:cNvSpPr/>
          <p:nvPr/>
        </p:nvSpPr>
        <p:spPr>
          <a:xfrm>
            <a:off x="15859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28800" y="3416749"/>
            <a:ext cx="209550" cy="237298"/>
          </a:xfrm>
          <a:custGeom>
            <a:avLst/>
            <a:gdLst/>
            <a:ahLst/>
            <a:cxnLst/>
            <a:rect l="l" t="t" r="r" b="b"/>
            <a:pathLst>
              <a:path w="22" h="26">
                <a:moveTo>
                  <a:pt x="0" y="26"/>
                </a:moveTo>
                <a:lnTo>
                  <a:pt x="0" y="0"/>
                </a:lnTo>
                <a:lnTo>
                  <a:pt x="4" y="0"/>
                </a:lnTo>
                <a:lnTo>
                  <a:pt x="8" y="1"/>
                </a:lnTo>
                <a:lnTo>
                  <a:pt x="11" y="2"/>
                </a:lnTo>
                <a:lnTo>
                  <a:pt x="14" y="4"/>
                </a:lnTo>
                <a:lnTo>
                  <a:pt x="17" y="6"/>
                </a:lnTo>
                <a:lnTo>
                  <a:pt x="20" y="8"/>
                </a:lnTo>
                <a:lnTo>
                  <a:pt x="22" y="1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6948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585912"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56" name="TextBox 55"/>
          <p:cNvSpPr txBox="1"/>
          <p:nvPr/>
        </p:nvSpPr>
        <p:spPr>
          <a:xfrm>
            <a:off x="13430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57" name="Oval 56"/>
          <p:cNvSpPr/>
          <p:nvPr/>
        </p:nvSpPr>
        <p:spPr>
          <a:xfrm>
            <a:off x="14287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4287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59" name="Oval 58"/>
          <p:cNvSpPr/>
          <p:nvPr/>
        </p:nvSpPr>
        <p:spPr>
          <a:xfrm>
            <a:off x="16383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6383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61" name="Oval 60"/>
          <p:cNvSpPr/>
          <p:nvPr/>
        </p:nvSpPr>
        <p:spPr>
          <a:xfrm>
            <a:off x="18478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8478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63" name="Oval 62"/>
          <p:cNvSpPr/>
          <p:nvPr/>
        </p:nvSpPr>
        <p:spPr>
          <a:xfrm>
            <a:off x="20574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057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65" name="Oval 64"/>
          <p:cNvSpPr/>
          <p:nvPr/>
        </p:nvSpPr>
        <p:spPr>
          <a:xfrm>
            <a:off x="15335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335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67" name="Oval 66"/>
          <p:cNvSpPr/>
          <p:nvPr/>
        </p:nvSpPr>
        <p:spPr>
          <a:xfrm>
            <a:off x="17430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7430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69" name="Oval 68"/>
          <p:cNvSpPr/>
          <p:nvPr/>
        </p:nvSpPr>
        <p:spPr>
          <a:xfrm>
            <a:off x="19526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526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71" name="TextBox 70"/>
          <p:cNvSpPr txBox="1"/>
          <p:nvPr/>
        </p:nvSpPr>
        <p:spPr>
          <a:xfrm>
            <a:off x="24003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OrganOx</a:t>
            </a:r>
          </a:p>
        </p:txBody>
      </p:sp>
      <p:cxnSp>
        <p:nvCxnSpPr>
          <p:cNvPr id="72" name="Connector 71"/>
          <p:cNvCxnSpPr/>
          <p:nvPr/>
        </p:nvCxnSpPr>
        <p:spPr>
          <a:xfrm>
            <a:off x="26812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4003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B</a:t>
            </a:r>
          </a:p>
        </p:txBody>
      </p:sp>
      <p:sp>
        <p:nvSpPr>
          <p:cNvPr id="74" name="TextBox 73"/>
          <p:cNvSpPr txBox="1"/>
          <p:nvPr/>
        </p:nvSpPr>
        <p:spPr>
          <a:xfrm>
            <a:off x="23907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5" name="TextBox 74"/>
          <p:cNvSpPr txBox="1"/>
          <p:nvPr/>
        </p:nvSpPr>
        <p:spPr>
          <a:xfrm>
            <a:off x="23907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76" name="Rectangle 75"/>
          <p:cNvSpPr/>
          <p:nvPr/>
        </p:nvSpPr>
        <p:spPr>
          <a:xfrm>
            <a:off x="26812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8527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30241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4003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0" name="TextBox 79"/>
          <p:cNvSpPr txBox="1"/>
          <p:nvPr/>
        </p:nvSpPr>
        <p:spPr>
          <a:xfrm>
            <a:off x="24003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81" name="Oval 80"/>
          <p:cNvSpPr/>
          <p:nvPr/>
        </p:nvSpPr>
        <p:spPr>
          <a:xfrm>
            <a:off x="26622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2914650" y="3416749"/>
            <a:ext cx="180975" cy="237298"/>
          </a:xfrm>
          <a:custGeom>
            <a:avLst/>
            <a:gdLst/>
            <a:ahLst/>
            <a:cxnLst/>
            <a:rect l="l" t="t" r="r" b="b"/>
            <a:pathLst>
              <a:path w="19" h="26">
                <a:moveTo>
                  <a:pt x="0" y="26"/>
                </a:moveTo>
                <a:lnTo>
                  <a:pt x="0" y="0"/>
                </a:lnTo>
                <a:lnTo>
                  <a:pt x="3" y="0"/>
                </a:lnTo>
                <a:lnTo>
                  <a:pt x="7" y="1"/>
                </a:lnTo>
                <a:lnTo>
                  <a:pt x="10" y="2"/>
                </a:lnTo>
                <a:lnTo>
                  <a:pt x="13" y="4"/>
                </a:lnTo>
                <a:lnTo>
                  <a:pt x="16" y="6"/>
                </a:lnTo>
                <a:lnTo>
                  <a:pt x="19" y="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712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662238" y="3590159"/>
            <a:ext cx="495300" cy="127776"/>
          </a:xfrm>
          <a:prstGeom prst="rect">
            <a:avLst/>
          </a:prstGeom>
          <a:noFill/>
        </p:spPr>
        <p:txBody>
          <a:bodyPr wrap="square" lIns="28575" rIns="28575" tIns="9525" bIns="9525" anchor="ctr">
            <a:spAutoFit/>
          </a:bodyPr>
          <a:lstStyle/>
          <a:p>
            <a:pPr algn="ctr"/>
            <a:r>
              <a:rPr sz="1100" b="1">
                <a:solidFill>
                  <a:srgbClr val="0B2E4A"/>
                </a:solidFill>
                <a:latin typeface="Calibri"/>
              </a:rPr>
              <a:t> </a:t>
            </a:r>
          </a:p>
        </p:txBody>
      </p:sp>
      <p:sp>
        <p:nvSpPr>
          <p:cNvPr id="85" name="TextBox 84"/>
          <p:cNvSpPr txBox="1"/>
          <p:nvPr/>
        </p:nvSpPr>
        <p:spPr>
          <a:xfrm>
            <a:off x="24193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86" name="Oval 85"/>
          <p:cNvSpPr/>
          <p:nvPr/>
        </p:nvSpPr>
        <p:spPr>
          <a:xfrm>
            <a:off x="25050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050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88" name="Oval 87"/>
          <p:cNvSpPr/>
          <p:nvPr/>
        </p:nvSpPr>
        <p:spPr>
          <a:xfrm>
            <a:off x="27146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7146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90" name="Oval 89"/>
          <p:cNvSpPr/>
          <p:nvPr/>
        </p:nvSpPr>
        <p:spPr>
          <a:xfrm>
            <a:off x="29241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9241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92" name="Oval 91"/>
          <p:cNvSpPr/>
          <p:nvPr/>
        </p:nvSpPr>
        <p:spPr>
          <a:xfrm>
            <a:off x="3133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133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94" name="Oval 93"/>
          <p:cNvSpPr/>
          <p:nvPr/>
        </p:nvSpPr>
        <p:spPr>
          <a:xfrm>
            <a:off x="26098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6098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96" name="Oval 95"/>
          <p:cNvSpPr/>
          <p:nvPr/>
        </p:nvSpPr>
        <p:spPr>
          <a:xfrm>
            <a:off x="28194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8194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98" name="Oval 97"/>
          <p:cNvSpPr/>
          <p:nvPr/>
        </p:nvSpPr>
        <p:spPr>
          <a:xfrm>
            <a:off x="30289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289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00" name="TextBox 99"/>
          <p:cNvSpPr txBox="1"/>
          <p:nvPr/>
        </p:nvSpPr>
        <p:spPr>
          <a:xfrm>
            <a:off x="34766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XVIVO Perfusion</a:t>
            </a:r>
          </a:p>
        </p:txBody>
      </p:sp>
      <p:cxnSp>
        <p:nvCxnSpPr>
          <p:cNvPr id="101" name="Connector 100"/>
          <p:cNvCxnSpPr/>
          <p:nvPr/>
        </p:nvCxnSpPr>
        <p:spPr>
          <a:xfrm>
            <a:off x="37576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34766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C</a:t>
            </a:r>
          </a:p>
        </p:txBody>
      </p:sp>
      <p:sp>
        <p:nvSpPr>
          <p:cNvPr id="103" name="TextBox 102"/>
          <p:cNvSpPr txBox="1"/>
          <p:nvPr/>
        </p:nvSpPr>
        <p:spPr>
          <a:xfrm>
            <a:off x="34671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4" name="TextBox 103"/>
          <p:cNvSpPr txBox="1"/>
          <p:nvPr/>
        </p:nvSpPr>
        <p:spPr>
          <a:xfrm>
            <a:off x="346710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05" name="Rectangle 104"/>
          <p:cNvSpPr/>
          <p:nvPr/>
        </p:nvSpPr>
        <p:spPr>
          <a:xfrm>
            <a:off x="37576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290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41005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34766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09" name="TextBox 108"/>
          <p:cNvSpPr txBox="1"/>
          <p:nvPr/>
        </p:nvSpPr>
        <p:spPr>
          <a:xfrm>
            <a:off x="34766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10" name="Oval 109"/>
          <p:cNvSpPr/>
          <p:nvPr/>
        </p:nvSpPr>
        <p:spPr>
          <a:xfrm>
            <a:off x="37385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reeform 110"/>
          <p:cNvSpPr/>
          <p:nvPr/>
        </p:nvSpPr>
        <p:spPr>
          <a:xfrm>
            <a:off x="3981450" y="3416749"/>
            <a:ext cx="142875" cy="237298"/>
          </a:xfrm>
          <a:custGeom>
            <a:avLst/>
            <a:gdLst/>
            <a:ahLst/>
            <a:cxnLst/>
            <a:rect l="l" t="t" r="r" b="b"/>
            <a:pathLst>
              <a:path w="15" h="26">
                <a:moveTo>
                  <a:pt x="0" y="26"/>
                </a:moveTo>
                <a:lnTo>
                  <a:pt x="0" y="0"/>
                </a:lnTo>
                <a:lnTo>
                  <a:pt x="4" y="0"/>
                </a:lnTo>
                <a:lnTo>
                  <a:pt x="8" y="1"/>
                </a:lnTo>
                <a:lnTo>
                  <a:pt x="12" y="2"/>
                </a:lnTo>
                <a:lnTo>
                  <a:pt x="15" y="4"/>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384752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37385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14" name="TextBox 113"/>
          <p:cNvSpPr txBox="1"/>
          <p:nvPr/>
        </p:nvSpPr>
        <p:spPr>
          <a:xfrm>
            <a:off x="34956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115" name="Oval 114"/>
          <p:cNvSpPr/>
          <p:nvPr/>
        </p:nvSpPr>
        <p:spPr>
          <a:xfrm>
            <a:off x="35814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5814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17" name="Oval 116"/>
          <p:cNvSpPr/>
          <p:nvPr/>
        </p:nvSpPr>
        <p:spPr>
          <a:xfrm>
            <a:off x="37909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37909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19" name="Oval 118"/>
          <p:cNvSpPr/>
          <p:nvPr/>
        </p:nvSpPr>
        <p:spPr>
          <a:xfrm>
            <a:off x="40005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40005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21" name="Oval 120"/>
          <p:cNvSpPr/>
          <p:nvPr/>
        </p:nvSpPr>
        <p:spPr>
          <a:xfrm>
            <a:off x="42100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4210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23" name="Oval 122"/>
          <p:cNvSpPr/>
          <p:nvPr/>
        </p:nvSpPr>
        <p:spPr>
          <a:xfrm>
            <a:off x="36861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6861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25" name="Oval 124"/>
          <p:cNvSpPr/>
          <p:nvPr/>
        </p:nvSpPr>
        <p:spPr>
          <a:xfrm>
            <a:off x="38957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38957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27" name="Oval 126"/>
          <p:cNvSpPr/>
          <p:nvPr/>
        </p:nvSpPr>
        <p:spPr>
          <a:xfrm>
            <a:off x="41052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1052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29" name="TextBox 128"/>
          <p:cNvSpPr txBox="1"/>
          <p:nvPr/>
        </p:nvSpPr>
        <p:spPr>
          <a:xfrm>
            <a:off x="45529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Paragonix Technologies</a:t>
            </a:r>
          </a:p>
        </p:txBody>
      </p:sp>
      <p:cxnSp>
        <p:nvCxnSpPr>
          <p:cNvPr id="130" name="Connector 129"/>
          <p:cNvCxnSpPr/>
          <p:nvPr/>
        </p:nvCxnSpPr>
        <p:spPr>
          <a:xfrm>
            <a:off x="48339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45529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D</a:t>
            </a:r>
          </a:p>
        </p:txBody>
      </p:sp>
      <p:sp>
        <p:nvSpPr>
          <p:cNvPr id="132" name="TextBox 131"/>
          <p:cNvSpPr txBox="1"/>
          <p:nvPr/>
        </p:nvSpPr>
        <p:spPr>
          <a:xfrm>
            <a:off x="45434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3" name="TextBox 132"/>
          <p:cNvSpPr txBox="1"/>
          <p:nvPr/>
        </p:nvSpPr>
        <p:spPr>
          <a:xfrm>
            <a:off x="45434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134" name="Rectangle 133"/>
          <p:cNvSpPr/>
          <p:nvPr/>
        </p:nvSpPr>
        <p:spPr>
          <a:xfrm>
            <a:off x="48339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053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1768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529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8" name="TextBox 137"/>
          <p:cNvSpPr txBox="1"/>
          <p:nvPr/>
        </p:nvSpPr>
        <p:spPr>
          <a:xfrm>
            <a:off x="45529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39" name="Oval 138"/>
          <p:cNvSpPr/>
          <p:nvPr/>
        </p:nvSpPr>
        <p:spPr>
          <a:xfrm>
            <a:off x="48148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Freeform 139"/>
          <p:cNvSpPr/>
          <p:nvPr/>
        </p:nvSpPr>
        <p:spPr>
          <a:xfrm>
            <a:off x="5067300" y="3416749"/>
            <a:ext cx="95250" cy="237298"/>
          </a:xfrm>
          <a:custGeom>
            <a:avLst/>
            <a:gdLst/>
            <a:ahLst/>
            <a:cxnLst/>
            <a:rect l="l" t="t" r="r" b="b"/>
            <a:pathLst>
              <a:path w="10" h="26">
                <a:moveTo>
                  <a:pt x="0" y="26"/>
                </a:moveTo>
                <a:lnTo>
                  <a:pt x="0" y="0"/>
                </a:lnTo>
                <a:lnTo>
                  <a:pt x="3" y="0"/>
                </a:lnTo>
                <a:lnTo>
                  <a:pt x="7"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49238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148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43" name="TextBox 142"/>
          <p:cNvSpPr txBox="1"/>
          <p:nvPr/>
        </p:nvSpPr>
        <p:spPr>
          <a:xfrm>
            <a:off x="45720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144" name="Oval 143"/>
          <p:cNvSpPr/>
          <p:nvPr/>
        </p:nvSpPr>
        <p:spPr>
          <a:xfrm>
            <a:off x="46577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6577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46" name="Oval 145"/>
          <p:cNvSpPr/>
          <p:nvPr/>
        </p:nvSpPr>
        <p:spPr>
          <a:xfrm>
            <a:off x="48672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48672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48" name="Oval 147"/>
          <p:cNvSpPr/>
          <p:nvPr/>
        </p:nvSpPr>
        <p:spPr>
          <a:xfrm>
            <a:off x="50768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50768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50" name="Oval 149"/>
          <p:cNvSpPr/>
          <p:nvPr/>
        </p:nvSpPr>
        <p:spPr>
          <a:xfrm>
            <a:off x="5286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286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52" name="Oval 151"/>
          <p:cNvSpPr/>
          <p:nvPr/>
        </p:nvSpPr>
        <p:spPr>
          <a:xfrm>
            <a:off x="47625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47625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54" name="Oval 153"/>
          <p:cNvSpPr/>
          <p:nvPr/>
        </p:nvSpPr>
        <p:spPr>
          <a:xfrm>
            <a:off x="49720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9720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56" name="Oval 155"/>
          <p:cNvSpPr/>
          <p:nvPr/>
        </p:nvSpPr>
        <p:spPr>
          <a:xfrm>
            <a:off x="51816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1816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58" name="TextBox 157"/>
          <p:cNvSpPr txBox="1"/>
          <p:nvPr/>
        </p:nvSpPr>
        <p:spPr>
          <a:xfrm>
            <a:off x="56292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Organ Recovery Systems</a:t>
            </a:r>
          </a:p>
        </p:txBody>
      </p:sp>
      <p:cxnSp>
        <p:nvCxnSpPr>
          <p:cNvPr id="159" name="Connector 158"/>
          <p:cNvCxnSpPr/>
          <p:nvPr/>
        </p:nvCxnSpPr>
        <p:spPr>
          <a:xfrm>
            <a:off x="59102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56292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E</a:t>
            </a:r>
          </a:p>
        </p:txBody>
      </p:sp>
      <p:sp>
        <p:nvSpPr>
          <p:cNvPr id="161" name="TextBox 160"/>
          <p:cNvSpPr txBox="1"/>
          <p:nvPr/>
        </p:nvSpPr>
        <p:spPr>
          <a:xfrm>
            <a:off x="56197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2" name="TextBox 161"/>
          <p:cNvSpPr txBox="1"/>
          <p:nvPr/>
        </p:nvSpPr>
        <p:spPr>
          <a:xfrm>
            <a:off x="561975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163" name="Rectangle 162"/>
          <p:cNvSpPr/>
          <p:nvPr/>
        </p:nvSpPr>
        <p:spPr>
          <a:xfrm>
            <a:off x="59102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60817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62531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56292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7" name="TextBox 166"/>
          <p:cNvSpPr txBox="1"/>
          <p:nvPr/>
        </p:nvSpPr>
        <p:spPr>
          <a:xfrm>
            <a:off x="56292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68" name="Oval 167"/>
          <p:cNvSpPr/>
          <p:nvPr/>
        </p:nvSpPr>
        <p:spPr>
          <a:xfrm>
            <a:off x="58912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Freeform 168"/>
          <p:cNvSpPr/>
          <p:nvPr/>
        </p:nvSpPr>
        <p:spPr>
          <a:xfrm>
            <a:off x="6134100" y="3416749"/>
            <a:ext cx="104775" cy="237298"/>
          </a:xfrm>
          <a:custGeom>
            <a:avLst/>
            <a:gdLst/>
            <a:ahLst/>
            <a:cxnLst/>
            <a:rect l="l" t="t" r="r" b="b"/>
            <a:pathLst>
              <a:path w="11" h="26">
                <a:moveTo>
                  <a:pt x="0" y="26"/>
                </a:moveTo>
                <a:lnTo>
                  <a:pt x="0" y="0"/>
                </a:lnTo>
                <a:lnTo>
                  <a:pt x="4" y="0"/>
                </a:lnTo>
                <a:lnTo>
                  <a:pt x="7" y="1"/>
                </a:lnTo>
                <a:lnTo>
                  <a:pt x="11"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600017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58912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172" name="TextBox 171"/>
          <p:cNvSpPr txBox="1"/>
          <p:nvPr/>
        </p:nvSpPr>
        <p:spPr>
          <a:xfrm>
            <a:off x="56483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Latin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9AA3A8"/>
                </a:solidFill>
                <a:latin typeface="Calibri"/>
              </a:rPr>
              <a:t>▲</a:t>
            </a:r>
          </a:p>
        </p:txBody>
      </p:sp>
      <p:sp>
        <p:nvSpPr>
          <p:cNvPr id="173" name="Oval 172"/>
          <p:cNvSpPr/>
          <p:nvPr/>
        </p:nvSpPr>
        <p:spPr>
          <a:xfrm>
            <a:off x="57340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57340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175" name="Oval 174"/>
          <p:cNvSpPr/>
          <p:nvPr/>
        </p:nvSpPr>
        <p:spPr>
          <a:xfrm>
            <a:off x="59436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59436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177" name="Oval 176"/>
          <p:cNvSpPr/>
          <p:nvPr/>
        </p:nvSpPr>
        <p:spPr>
          <a:xfrm>
            <a:off x="61531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61531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179" name="Oval 178"/>
          <p:cNvSpPr/>
          <p:nvPr/>
        </p:nvSpPr>
        <p:spPr>
          <a:xfrm>
            <a:off x="63627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6362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181" name="Oval 180"/>
          <p:cNvSpPr/>
          <p:nvPr/>
        </p:nvSpPr>
        <p:spPr>
          <a:xfrm>
            <a:off x="58388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8388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183" name="Oval 182"/>
          <p:cNvSpPr/>
          <p:nvPr/>
        </p:nvSpPr>
        <p:spPr>
          <a:xfrm>
            <a:off x="60483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60483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185" name="Oval 184"/>
          <p:cNvSpPr/>
          <p:nvPr/>
        </p:nvSpPr>
        <p:spPr>
          <a:xfrm>
            <a:off x="62579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62579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187" name="TextBox 186"/>
          <p:cNvSpPr txBox="1"/>
          <p:nvPr/>
        </p:nvSpPr>
        <p:spPr>
          <a:xfrm>
            <a:off x="67056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IGL Group / Waters Medical Systems</a:t>
            </a:r>
          </a:p>
        </p:txBody>
      </p:sp>
      <p:cxnSp>
        <p:nvCxnSpPr>
          <p:cNvPr id="188" name="Connector 187"/>
          <p:cNvCxnSpPr/>
          <p:nvPr/>
        </p:nvCxnSpPr>
        <p:spPr>
          <a:xfrm>
            <a:off x="69865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7056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F</a:t>
            </a:r>
          </a:p>
        </p:txBody>
      </p:sp>
      <p:sp>
        <p:nvSpPr>
          <p:cNvPr id="190" name="TextBox 189"/>
          <p:cNvSpPr txBox="1"/>
          <p:nvPr/>
        </p:nvSpPr>
        <p:spPr>
          <a:xfrm>
            <a:off x="66960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1" name="TextBox 190"/>
          <p:cNvSpPr txBox="1"/>
          <p:nvPr/>
        </p:nvSpPr>
        <p:spPr>
          <a:xfrm>
            <a:off x="6696075"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192" name="Rectangle 191"/>
          <p:cNvSpPr/>
          <p:nvPr/>
        </p:nvSpPr>
        <p:spPr>
          <a:xfrm>
            <a:off x="69865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71580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73294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67056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6" name="TextBox 195"/>
          <p:cNvSpPr txBox="1"/>
          <p:nvPr/>
        </p:nvSpPr>
        <p:spPr>
          <a:xfrm>
            <a:off x="67056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197" name="Oval 196"/>
          <p:cNvSpPr/>
          <p:nvPr/>
        </p:nvSpPr>
        <p:spPr>
          <a:xfrm>
            <a:off x="69675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Freeform 197"/>
          <p:cNvSpPr/>
          <p:nvPr/>
        </p:nvSpPr>
        <p:spPr>
          <a:xfrm>
            <a:off x="7219950" y="3416749"/>
            <a:ext cx="95250" cy="237298"/>
          </a:xfrm>
          <a:custGeom>
            <a:avLst/>
            <a:gdLst/>
            <a:ahLst/>
            <a:cxnLst/>
            <a:rect l="l" t="t" r="r" b="b"/>
            <a:pathLst>
              <a:path w="10" h="26">
                <a:moveTo>
                  <a:pt x="0" y="26"/>
                </a:moveTo>
                <a:lnTo>
                  <a:pt x="0" y="0"/>
                </a:lnTo>
                <a:lnTo>
                  <a:pt x="3" y="0"/>
                </a:lnTo>
                <a:lnTo>
                  <a:pt x="6" y="1"/>
                </a:lnTo>
                <a:lnTo>
                  <a:pt x="10" y="2"/>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70765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69675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01" name="TextBox 200"/>
          <p:cNvSpPr txBox="1"/>
          <p:nvPr/>
        </p:nvSpPr>
        <p:spPr>
          <a:xfrm>
            <a:off x="67246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Middle East &amp; Africa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North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9AA3A8"/>
                </a:solidFill>
                <a:latin typeface="Calibri"/>
              </a:rPr>
              <a:t>▲</a:t>
            </a:r>
          </a:p>
        </p:txBody>
      </p:sp>
      <p:sp>
        <p:nvSpPr>
          <p:cNvPr id="202" name="Oval 201"/>
          <p:cNvSpPr/>
          <p:nvPr/>
        </p:nvSpPr>
        <p:spPr>
          <a:xfrm>
            <a:off x="68103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68103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04" name="Oval 203"/>
          <p:cNvSpPr/>
          <p:nvPr/>
        </p:nvSpPr>
        <p:spPr>
          <a:xfrm>
            <a:off x="70199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70199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06" name="Oval 205"/>
          <p:cNvSpPr/>
          <p:nvPr/>
        </p:nvSpPr>
        <p:spPr>
          <a:xfrm>
            <a:off x="72294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72294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08" name="Oval 207"/>
          <p:cNvSpPr/>
          <p:nvPr/>
        </p:nvSpPr>
        <p:spPr>
          <a:xfrm>
            <a:off x="7439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7439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10" name="Oval 209"/>
          <p:cNvSpPr/>
          <p:nvPr/>
        </p:nvSpPr>
        <p:spPr>
          <a:xfrm>
            <a:off x="69151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9151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12" name="Oval 211"/>
          <p:cNvSpPr/>
          <p:nvPr/>
        </p:nvSpPr>
        <p:spPr>
          <a:xfrm>
            <a:off x="71247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71247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14" name="Oval 213"/>
          <p:cNvSpPr/>
          <p:nvPr/>
        </p:nvSpPr>
        <p:spPr>
          <a:xfrm>
            <a:off x="73342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73342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16" name="TextBox 215"/>
          <p:cNvSpPr txBox="1"/>
          <p:nvPr/>
        </p:nvSpPr>
        <p:spPr>
          <a:xfrm>
            <a:off x="778192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Bridge to Life</a:t>
            </a:r>
          </a:p>
        </p:txBody>
      </p:sp>
      <p:cxnSp>
        <p:nvCxnSpPr>
          <p:cNvPr id="217" name="Connector 216"/>
          <p:cNvCxnSpPr/>
          <p:nvPr/>
        </p:nvCxnSpPr>
        <p:spPr>
          <a:xfrm>
            <a:off x="806291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8" name="TextBox 217"/>
          <p:cNvSpPr txBox="1"/>
          <p:nvPr/>
        </p:nvSpPr>
        <p:spPr>
          <a:xfrm>
            <a:off x="778192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G</a:t>
            </a:r>
          </a:p>
        </p:txBody>
      </p:sp>
      <p:sp>
        <p:nvSpPr>
          <p:cNvPr id="219" name="TextBox 218"/>
          <p:cNvSpPr txBox="1"/>
          <p:nvPr/>
        </p:nvSpPr>
        <p:spPr>
          <a:xfrm>
            <a:off x="777240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20" name="TextBox 219"/>
          <p:cNvSpPr txBox="1"/>
          <p:nvPr/>
        </p:nvSpPr>
        <p:spPr>
          <a:xfrm>
            <a:off x="7772400"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221" name="Rectangle 220"/>
          <p:cNvSpPr/>
          <p:nvPr/>
        </p:nvSpPr>
        <p:spPr>
          <a:xfrm>
            <a:off x="806291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234362" y="2303274"/>
            <a:ext cx="114300" cy="109522"/>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840581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778192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5" name="TextBox 224"/>
          <p:cNvSpPr txBox="1"/>
          <p:nvPr/>
        </p:nvSpPr>
        <p:spPr>
          <a:xfrm>
            <a:off x="778192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26" name="Oval 225"/>
          <p:cNvSpPr/>
          <p:nvPr/>
        </p:nvSpPr>
        <p:spPr>
          <a:xfrm>
            <a:off x="804386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Freeform 226"/>
          <p:cNvSpPr/>
          <p:nvPr/>
        </p:nvSpPr>
        <p:spPr>
          <a:xfrm>
            <a:off x="8286750" y="3416749"/>
            <a:ext cx="85725" cy="237298"/>
          </a:xfrm>
          <a:custGeom>
            <a:avLst/>
            <a:gdLst/>
            <a:ahLst/>
            <a:cxnLst/>
            <a:rect l="l" t="t" r="r" b="b"/>
            <a:pathLst>
              <a:path w="9" h="26">
                <a:moveTo>
                  <a:pt x="0" y="26"/>
                </a:moveTo>
                <a:lnTo>
                  <a:pt x="0" y="0"/>
                </a:lnTo>
                <a:lnTo>
                  <a:pt x="5" y="0"/>
                </a:lnTo>
                <a:lnTo>
                  <a:pt x="9" y="1"/>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8152829"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04386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30" name="TextBox 229"/>
          <p:cNvSpPr txBox="1"/>
          <p:nvPr/>
        </p:nvSpPr>
        <p:spPr>
          <a:xfrm>
            <a:off x="780097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North America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Europe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9AA3A8"/>
                </a:solidFill>
                <a:latin typeface="Calibri"/>
              </a:rPr>
              <a:t>▲</a:t>
            </a:r>
          </a:p>
        </p:txBody>
      </p:sp>
      <p:sp>
        <p:nvSpPr>
          <p:cNvPr id="231" name="Oval 230"/>
          <p:cNvSpPr/>
          <p:nvPr/>
        </p:nvSpPr>
        <p:spPr>
          <a:xfrm>
            <a:off x="78867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TextBox 231"/>
          <p:cNvSpPr txBox="1"/>
          <p:nvPr/>
        </p:nvSpPr>
        <p:spPr>
          <a:xfrm>
            <a:off x="78867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33" name="Oval 232"/>
          <p:cNvSpPr/>
          <p:nvPr/>
        </p:nvSpPr>
        <p:spPr>
          <a:xfrm>
            <a:off x="80962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TextBox 233"/>
          <p:cNvSpPr txBox="1"/>
          <p:nvPr/>
        </p:nvSpPr>
        <p:spPr>
          <a:xfrm>
            <a:off x="80962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35" name="Oval 234"/>
          <p:cNvSpPr/>
          <p:nvPr/>
        </p:nvSpPr>
        <p:spPr>
          <a:xfrm>
            <a:off x="83058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TextBox 235"/>
          <p:cNvSpPr txBox="1"/>
          <p:nvPr/>
        </p:nvSpPr>
        <p:spPr>
          <a:xfrm>
            <a:off x="83058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37" name="Oval 236"/>
          <p:cNvSpPr/>
          <p:nvPr/>
        </p:nvSpPr>
        <p:spPr>
          <a:xfrm>
            <a:off x="851535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8515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39" name="Oval 238"/>
          <p:cNvSpPr/>
          <p:nvPr/>
        </p:nvSpPr>
        <p:spPr>
          <a:xfrm>
            <a:off x="79914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TextBox 239"/>
          <p:cNvSpPr txBox="1"/>
          <p:nvPr/>
        </p:nvSpPr>
        <p:spPr>
          <a:xfrm>
            <a:off x="79914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41" name="Oval 240"/>
          <p:cNvSpPr/>
          <p:nvPr/>
        </p:nvSpPr>
        <p:spPr>
          <a:xfrm>
            <a:off x="820102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82010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43" name="Oval 242"/>
          <p:cNvSpPr/>
          <p:nvPr/>
        </p:nvSpPr>
        <p:spPr>
          <a:xfrm>
            <a:off x="841057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84105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45" name="TextBox 244"/>
          <p:cNvSpPr txBox="1"/>
          <p:nvPr/>
        </p:nvSpPr>
        <p:spPr>
          <a:xfrm>
            <a:off x="885825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Aferetica</a:t>
            </a:r>
          </a:p>
        </p:txBody>
      </p:sp>
      <p:cxnSp>
        <p:nvCxnSpPr>
          <p:cNvPr id="246" name="Connector 245"/>
          <p:cNvCxnSpPr/>
          <p:nvPr/>
        </p:nvCxnSpPr>
        <p:spPr>
          <a:xfrm>
            <a:off x="913923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7" name="TextBox 246"/>
          <p:cNvSpPr txBox="1"/>
          <p:nvPr/>
        </p:nvSpPr>
        <p:spPr>
          <a:xfrm>
            <a:off x="885825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H</a:t>
            </a:r>
          </a:p>
        </p:txBody>
      </p:sp>
      <p:sp>
        <p:nvSpPr>
          <p:cNvPr id="248" name="TextBox 247"/>
          <p:cNvSpPr txBox="1"/>
          <p:nvPr/>
        </p:nvSpPr>
        <p:spPr>
          <a:xfrm>
            <a:off x="884872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9" name="TextBox 248"/>
          <p:cNvSpPr txBox="1"/>
          <p:nvPr/>
        </p:nvSpPr>
        <p:spPr>
          <a:xfrm>
            <a:off x="884872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E44D3A"/>
                </a:solidFill>
                <a:latin typeface="Calibri"/>
              </a:rPr>
              <a:t>✘ </a:t>
            </a:r>
            <a:r>
              <a:rPr sz="1100" b="1">
                <a:solidFill>
                  <a:srgbClr val="008189"/>
                </a:solidFill>
                <a:latin typeface="Calibri"/>
              </a:rPr>
              <a:t>✔ </a:t>
            </a:r>
          </a:p>
        </p:txBody>
      </p:sp>
      <p:sp>
        <p:nvSpPr>
          <p:cNvPr id="250" name="Rectangle 249"/>
          <p:cNvSpPr/>
          <p:nvPr/>
        </p:nvSpPr>
        <p:spPr>
          <a:xfrm>
            <a:off x="9139238" y="2303274"/>
            <a:ext cx="114300" cy="109522"/>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31068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482138"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85825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4" name="TextBox 253"/>
          <p:cNvSpPr txBox="1"/>
          <p:nvPr/>
        </p:nvSpPr>
        <p:spPr>
          <a:xfrm>
            <a:off x="885825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55" name="Oval 254"/>
          <p:cNvSpPr/>
          <p:nvPr/>
        </p:nvSpPr>
        <p:spPr>
          <a:xfrm>
            <a:off x="912018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Freeform 255"/>
          <p:cNvSpPr/>
          <p:nvPr/>
        </p:nvSpPr>
        <p:spPr>
          <a:xfrm>
            <a:off x="9372600" y="3416749"/>
            <a:ext cx="47625" cy="237298"/>
          </a:xfrm>
          <a:custGeom>
            <a:avLst/>
            <a:gdLst/>
            <a:ahLst/>
            <a:cxnLst/>
            <a:rect l="l" t="t" r="r" b="b"/>
            <a:pathLst>
              <a:path w="5" h="26">
                <a:moveTo>
                  <a:pt x="0" y="26"/>
                </a:moveTo>
                <a:lnTo>
                  <a:pt x="0" y="0"/>
                </a:lnTo>
                <a:lnTo>
                  <a:pt x="2" y="0"/>
                </a:lnTo>
                <a:lnTo>
                  <a:pt x="5"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922915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912018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59" name="TextBox 258"/>
          <p:cNvSpPr txBox="1"/>
          <p:nvPr/>
        </p:nvSpPr>
        <p:spPr>
          <a:xfrm>
            <a:off x="887730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Europe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South Asia &amp; Pacific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9AA3A8"/>
                </a:solidFill>
                <a:latin typeface="Calibri"/>
              </a:rPr>
              <a:t>▲</a:t>
            </a:r>
          </a:p>
        </p:txBody>
      </p:sp>
      <p:sp>
        <p:nvSpPr>
          <p:cNvPr id="260" name="Oval 259"/>
          <p:cNvSpPr/>
          <p:nvPr/>
        </p:nvSpPr>
        <p:spPr>
          <a:xfrm>
            <a:off x="89630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89630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62" name="Oval 261"/>
          <p:cNvSpPr/>
          <p:nvPr/>
        </p:nvSpPr>
        <p:spPr>
          <a:xfrm>
            <a:off x="91725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TextBox 262"/>
          <p:cNvSpPr txBox="1"/>
          <p:nvPr/>
        </p:nvSpPr>
        <p:spPr>
          <a:xfrm>
            <a:off x="91725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64" name="Oval 263"/>
          <p:cNvSpPr/>
          <p:nvPr/>
        </p:nvSpPr>
        <p:spPr>
          <a:xfrm>
            <a:off x="93821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93821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66" name="Oval 265"/>
          <p:cNvSpPr/>
          <p:nvPr/>
        </p:nvSpPr>
        <p:spPr>
          <a:xfrm>
            <a:off x="9591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591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68" name="Oval 267"/>
          <p:cNvSpPr/>
          <p:nvPr/>
        </p:nvSpPr>
        <p:spPr>
          <a:xfrm>
            <a:off x="90678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90678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70" name="Oval 269"/>
          <p:cNvSpPr/>
          <p:nvPr/>
        </p:nvSpPr>
        <p:spPr>
          <a:xfrm>
            <a:off x="927735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92773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272" name="Oval 271"/>
          <p:cNvSpPr/>
          <p:nvPr/>
        </p:nvSpPr>
        <p:spPr>
          <a:xfrm>
            <a:off x="948690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94869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274" name="TextBox 273"/>
          <p:cNvSpPr txBox="1"/>
          <p:nvPr/>
        </p:nvSpPr>
        <p:spPr>
          <a:xfrm>
            <a:off x="9934575"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EBERS Medical Technology</a:t>
            </a:r>
          </a:p>
        </p:txBody>
      </p:sp>
      <p:cxnSp>
        <p:nvCxnSpPr>
          <p:cNvPr id="275" name="Connector 274"/>
          <p:cNvCxnSpPr/>
          <p:nvPr/>
        </p:nvCxnSpPr>
        <p:spPr>
          <a:xfrm>
            <a:off x="10215562"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9934575"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I</a:t>
            </a:r>
          </a:p>
        </p:txBody>
      </p:sp>
      <p:sp>
        <p:nvSpPr>
          <p:cNvPr id="277" name="TextBox 276"/>
          <p:cNvSpPr txBox="1"/>
          <p:nvPr/>
        </p:nvSpPr>
        <p:spPr>
          <a:xfrm>
            <a:off x="9925050"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278" name="TextBox 277"/>
          <p:cNvSpPr txBox="1"/>
          <p:nvPr/>
        </p:nvSpPr>
        <p:spPr>
          <a:xfrm>
            <a:off x="9925050" y="2047722"/>
            <a:ext cx="1038225" cy="182537"/>
          </a:xfrm>
          <a:prstGeom prst="rect">
            <a:avLst/>
          </a:prstGeom>
          <a:noFill/>
        </p:spPr>
        <p:txBody>
          <a:bodyPr wrap="square" lIns="28575" rIns="28575" tIns="9525" bIns="9525" anchor="ctr">
            <a:spAutoFit/>
          </a:bodyPr>
          <a:lstStyle/>
          <a:p>
            <a:pPr algn="ctr"/>
            <a:r>
              <a:rPr sz="1100" b="1">
                <a:solidFill>
                  <a:srgbClr val="E44D3A"/>
                </a:solidFill>
                <a:latin typeface="Calibri"/>
              </a:rPr>
              <a:t>✘ </a:t>
            </a:r>
            <a:r>
              <a:rPr sz="1100" b="1">
                <a:solidFill>
                  <a:srgbClr val="008189"/>
                </a:solidFill>
                <a:latin typeface="Calibri"/>
              </a:rPr>
              <a:t>✔ </a:t>
            </a:r>
            <a:r>
              <a:rPr sz="1100" b="1">
                <a:solidFill>
                  <a:srgbClr val="008189"/>
                </a:solidFill>
                <a:latin typeface="Calibri"/>
              </a:rPr>
              <a:t>✔ </a:t>
            </a:r>
          </a:p>
        </p:txBody>
      </p:sp>
      <p:sp>
        <p:nvSpPr>
          <p:cNvPr id="279" name="Rectangle 278"/>
          <p:cNvSpPr/>
          <p:nvPr/>
        </p:nvSpPr>
        <p:spPr>
          <a:xfrm>
            <a:off x="10215562"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387012"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558462" y="2303274"/>
            <a:ext cx="114300" cy="109522"/>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9934575"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3" name="TextBox 282"/>
          <p:cNvSpPr txBox="1"/>
          <p:nvPr/>
        </p:nvSpPr>
        <p:spPr>
          <a:xfrm>
            <a:off x="9934575"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284" name="Oval 283"/>
          <p:cNvSpPr/>
          <p:nvPr/>
        </p:nvSpPr>
        <p:spPr>
          <a:xfrm>
            <a:off x="10196512"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Freeform 284"/>
          <p:cNvSpPr/>
          <p:nvPr/>
        </p:nvSpPr>
        <p:spPr>
          <a:xfrm>
            <a:off x="10439400" y="3416749"/>
            <a:ext cx="38100" cy="237298"/>
          </a:xfrm>
          <a:custGeom>
            <a:avLst/>
            <a:gdLst/>
            <a:ahLst/>
            <a:cxnLst/>
            <a:rect l="l" t="t" r="r" b="b"/>
            <a:pathLst>
              <a:path w="4" h="26">
                <a:moveTo>
                  <a:pt x="0" y="26"/>
                </a:moveTo>
                <a:lnTo>
                  <a:pt x="0" y="0"/>
                </a:lnTo>
                <a:lnTo>
                  <a:pt x="2" y="0"/>
                </a:lnTo>
                <a:lnTo>
                  <a:pt x="4"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10305478"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10196512"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288" name="TextBox 287"/>
          <p:cNvSpPr txBox="1"/>
          <p:nvPr/>
        </p:nvSpPr>
        <p:spPr>
          <a:xfrm>
            <a:off x="9953625"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South Asia &amp; Pacific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East Asia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9AA3A8"/>
                </a:solidFill>
                <a:latin typeface="Calibri"/>
              </a:rPr>
              <a:t>▲</a:t>
            </a:r>
          </a:p>
        </p:txBody>
      </p:sp>
      <p:sp>
        <p:nvSpPr>
          <p:cNvPr id="289" name="Oval 288"/>
          <p:cNvSpPr/>
          <p:nvPr/>
        </p:nvSpPr>
        <p:spPr>
          <a:xfrm>
            <a:off x="100393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0393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291" name="Oval 290"/>
          <p:cNvSpPr/>
          <p:nvPr/>
        </p:nvSpPr>
        <p:spPr>
          <a:xfrm>
            <a:off x="1024890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02489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293" name="Oval 292"/>
          <p:cNvSpPr/>
          <p:nvPr/>
        </p:nvSpPr>
        <p:spPr>
          <a:xfrm>
            <a:off x="10458450"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045845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295" name="Oval 294"/>
          <p:cNvSpPr/>
          <p:nvPr/>
        </p:nvSpPr>
        <p:spPr>
          <a:xfrm>
            <a:off x="10668000" y="5173667"/>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0668000"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297" name="Oval 296"/>
          <p:cNvSpPr/>
          <p:nvPr/>
        </p:nvSpPr>
        <p:spPr>
          <a:xfrm>
            <a:off x="101441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01441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299" name="Oval 298"/>
          <p:cNvSpPr/>
          <p:nvPr/>
        </p:nvSpPr>
        <p:spPr>
          <a:xfrm>
            <a:off x="10353675"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TextBox 299"/>
          <p:cNvSpPr txBox="1"/>
          <p:nvPr/>
        </p:nvSpPr>
        <p:spPr>
          <a:xfrm>
            <a:off x="1035367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01" name="Oval 300"/>
          <p:cNvSpPr/>
          <p:nvPr/>
        </p:nvSpPr>
        <p:spPr>
          <a:xfrm>
            <a:off x="10563225"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TextBox 301"/>
          <p:cNvSpPr txBox="1"/>
          <p:nvPr/>
        </p:nvSpPr>
        <p:spPr>
          <a:xfrm>
            <a:off x="10563225"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03" name="TextBox 302"/>
          <p:cNvSpPr txBox="1"/>
          <p:nvPr/>
        </p:nvSpPr>
        <p:spPr>
          <a:xfrm>
            <a:off x="11010900" y="1189798"/>
            <a:ext cx="1019175" cy="328567"/>
          </a:xfrm>
          <a:prstGeom prst="rect">
            <a:avLst/>
          </a:prstGeom>
          <a:noFill/>
        </p:spPr>
        <p:txBody>
          <a:bodyPr wrap="square" lIns="9525" rIns="9525" tIns="9525" bIns="9525" anchor="ctr">
            <a:spAutoFit/>
          </a:bodyPr>
          <a:lstStyle/>
          <a:p>
            <a:pPr algn="ctr">
              <a:lnSpc>
                <a:spcPct val="95000"/>
              </a:lnSpc>
            </a:pPr>
            <a:r>
              <a:rPr sz="1100" b="1">
                <a:solidFill>
                  <a:srgbClr val="2E2E2E"/>
                </a:solidFill>
                <a:latin typeface="Calibri"/>
              </a:rPr>
              <a:t>Traferox Technologies</a:t>
            </a:r>
          </a:p>
        </p:txBody>
      </p:sp>
      <p:cxnSp>
        <p:nvCxnSpPr>
          <p:cNvPr id="304" name="Connector 303"/>
          <p:cNvCxnSpPr/>
          <p:nvPr/>
        </p:nvCxnSpPr>
        <p:spPr>
          <a:xfrm>
            <a:off x="11291888" y="1509238"/>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05" name="TextBox 304"/>
          <p:cNvSpPr txBox="1"/>
          <p:nvPr/>
        </p:nvSpPr>
        <p:spPr>
          <a:xfrm>
            <a:off x="11010900" y="1536618"/>
            <a:ext cx="1019175" cy="255552"/>
          </a:xfrm>
          <a:prstGeom prst="rect">
            <a:avLst/>
          </a:prstGeom>
          <a:noFill/>
        </p:spPr>
        <p:txBody>
          <a:bodyPr wrap="square" lIns="28575" rIns="28575" tIns="9525" bIns="9525" anchor="ctr">
            <a:spAutoFit/>
          </a:bodyPr>
          <a:lstStyle/>
          <a:p>
            <a:pPr algn="ctr"/>
            <a:r>
              <a:rPr sz="1100" b="0">
                <a:solidFill>
                  <a:srgbClr val="AFB4B9"/>
                </a:solidFill>
                <a:latin typeface="Calibri"/>
              </a:rPr>
              <a:t>Brand J</a:t>
            </a:r>
          </a:p>
        </p:txBody>
      </p:sp>
      <p:sp>
        <p:nvSpPr>
          <p:cNvPr id="306" name="TextBox 305"/>
          <p:cNvSpPr txBox="1"/>
          <p:nvPr/>
        </p:nvSpPr>
        <p:spPr>
          <a:xfrm>
            <a:off x="11001375" y="1828677"/>
            <a:ext cx="1038225" cy="200791"/>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307" name="TextBox 306"/>
          <p:cNvSpPr txBox="1"/>
          <p:nvPr/>
        </p:nvSpPr>
        <p:spPr>
          <a:xfrm>
            <a:off x="11001375" y="2047722"/>
            <a:ext cx="1038225" cy="182537"/>
          </a:xfrm>
          <a:prstGeom prst="rect">
            <a:avLst/>
          </a:prstGeom>
          <a:noFill/>
        </p:spPr>
        <p:txBody>
          <a:bodyPr wrap="square" lIns="28575" rIns="28575" tIns="9525" bIns="9525" anchor="ctr">
            <a:spAutoFit/>
          </a:bodyPr>
          <a:lstStyle/>
          <a:p>
            <a:pPr algn="ctr"/>
            <a:r>
              <a:rPr sz="1100" b="1">
                <a:solidFill>
                  <a:srgbClr val="008189"/>
                </a:solidFill>
                <a:latin typeface="Calibri"/>
              </a:rPr>
              <a:t>✔ </a:t>
            </a:r>
            <a:r>
              <a:rPr sz="1100" b="1">
                <a:solidFill>
                  <a:srgbClr val="008189"/>
                </a:solidFill>
                <a:latin typeface="Calibri"/>
              </a:rPr>
              <a:t>✔ </a:t>
            </a:r>
            <a:r>
              <a:rPr sz="1100" b="1">
                <a:solidFill>
                  <a:srgbClr val="E44D3A"/>
                </a:solidFill>
                <a:latin typeface="Calibri"/>
              </a:rPr>
              <a:t>✘ </a:t>
            </a:r>
          </a:p>
        </p:txBody>
      </p:sp>
      <p:sp>
        <p:nvSpPr>
          <p:cNvPr id="308" name="Rectangle 307"/>
          <p:cNvSpPr/>
          <p:nvPr/>
        </p:nvSpPr>
        <p:spPr>
          <a:xfrm>
            <a:off x="11291888" y="2303274"/>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1463338" y="2303274"/>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1634788" y="2303274"/>
            <a:ext cx="114300" cy="109522"/>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010900" y="2631840"/>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2" name="TextBox 311"/>
          <p:cNvSpPr txBox="1"/>
          <p:nvPr/>
        </p:nvSpPr>
        <p:spPr>
          <a:xfrm>
            <a:off x="11010900" y="2960407"/>
            <a:ext cx="1019175" cy="328567"/>
          </a:xfrm>
          <a:prstGeom prst="rect">
            <a:avLst/>
          </a:prstGeom>
          <a:noFill/>
        </p:spPr>
        <p:txBody>
          <a:bodyPr wrap="square" lIns="28575" rIns="28575" tIns="9525" bIns="9525" anchor="ctr">
            <a:spAutoFit/>
          </a:bodyPr>
          <a:lstStyle/>
          <a:p>
            <a:pPr algn="ctr"/>
            <a:r>
              <a:rPr sz="1100" b="0">
                <a:solidFill>
                  <a:srgbClr val="2E2E2E"/>
                </a:solidFill>
                <a:latin typeface="Calibri"/>
              </a:rPr>
              <a:t> </a:t>
            </a:r>
          </a:p>
        </p:txBody>
      </p:sp>
      <p:sp>
        <p:nvSpPr>
          <p:cNvPr id="313" name="Oval 312"/>
          <p:cNvSpPr/>
          <p:nvPr/>
        </p:nvSpPr>
        <p:spPr>
          <a:xfrm>
            <a:off x="11272838" y="3416749"/>
            <a:ext cx="495300" cy="474596"/>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Freeform 313"/>
          <p:cNvSpPr/>
          <p:nvPr/>
        </p:nvSpPr>
        <p:spPr>
          <a:xfrm>
            <a:off x="11525250" y="3416749"/>
            <a:ext cx="28575" cy="237298"/>
          </a:xfrm>
          <a:custGeom>
            <a:avLst/>
            <a:gdLst/>
            <a:ahLst/>
            <a:cxnLst/>
            <a:rect l="l" t="t" r="r" b="b"/>
            <a:pathLst>
              <a:path w="3" h="26">
                <a:moveTo>
                  <a:pt x="0" y="26"/>
                </a:moveTo>
                <a:lnTo>
                  <a:pt x="0" y="0"/>
                </a:lnTo>
                <a:lnTo>
                  <a:pt x="1" y="0"/>
                </a:lnTo>
                <a:lnTo>
                  <a:pt x="3"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11381804" y="3521160"/>
            <a:ext cx="277368" cy="26577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11272838" y="3590159"/>
            <a:ext cx="495300" cy="127776"/>
          </a:xfrm>
          <a:prstGeom prst="rect">
            <a:avLst/>
          </a:prstGeom>
          <a:noFill/>
        </p:spPr>
        <p:txBody>
          <a:bodyPr wrap="none" lIns="0" rIns="0" tIns="0" bIns="0" anchor="ctr">
            <a:spAutoFit/>
          </a:bodyPr>
          <a:lstStyle/>
          <a:p>
            <a:pPr algn="ctr"/>
            <a:r>
              <a:rPr sz="1100" b="1">
                <a:solidFill>
                  <a:srgbClr val="0B2E4A"/>
                </a:solidFill>
                <a:latin typeface="Calibri"/>
              </a:rPr>
              <a:t> </a:t>
            </a:r>
          </a:p>
        </p:txBody>
      </p:sp>
      <p:sp>
        <p:nvSpPr>
          <p:cNvPr id="317" name="TextBox 316"/>
          <p:cNvSpPr txBox="1"/>
          <p:nvPr/>
        </p:nvSpPr>
        <p:spPr>
          <a:xfrm>
            <a:off x="11029950" y="4092136"/>
            <a:ext cx="990600" cy="912685"/>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1100" b="0">
                <a:solidFill>
                  <a:srgbClr val="2E2E2E"/>
                </a:solidFill>
                <a:latin typeface="Calibri"/>
              </a:rPr>
              <a:t>East Asia  </a:t>
            </a:r>
            <a:r>
              <a:rPr sz="1100" b="1">
                <a:solidFill>
                  <a:srgbClr val="0E72AE"/>
                </a:solidFill>
                <a:latin typeface="Calibri"/>
              </a:rPr>
              <a:t>▲</a:t>
            </a:r>
          </a:p>
          <a:p>
            <a:pPr algn="l">
              <a:lnSpc>
                <a:spcPct val="100000"/>
              </a:lnSpc>
              <a:spcBef>
                <a:spcPts val="0"/>
              </a:spcBef>
              <a:spcAft>
                <a:spcPts val="300"/>
              </a:spcAft>
            </a:pPr>
            <a:r>
              <a:rPr sz="1100" b="0">
                <a:solidFill>
                  <a:srgbClr val="2E2E2E"/>
                </a:solidFill>
                <a:latin typeface="Calibri"/>
              </a:rPr>
              <a:t>Latin America  </a:t>
            </a:r>
            <a:r>
              <a:rPr sz="1100" b="1">
                <a:solidFill>
                  <a:srgbClr val="A86F00"/>
                </a:solidFill>
                <a:latin typeface="Calibri"/>
              </a:rPr>
              <a:t>▲</a:t>
            </a:r>
          </a:p>
          <a:p>
            <a:pPr algn="l">
              <a:lnSpc>
                <a:spcPct val="100000"/>
              </a:lnSpc>
              <a:spcBef>
                <a:spcPts val="0"/>
              </a:spcBef>
              <a:spcAft>
                <a:spcPts val="300"/>
              </a:spcAft>
            </a:pPr>
            <a:r>
              <a:rPr sz="1100" b="0">
                <a:solidFill>
                  <a:srgbClr val="2E2E2E"/>
                </a:solidFill>
                <a:latin typeface="Calibri"/>
              </a:rPr>
              <a:t>Middle East &amp; Africa  </a:t>
            </a:r>
            <a:r>
              <a:rPr sz="1100" b="1">
                <a:solidFill>
                  <a:srgbClr val="9AA3A8"/>
                </a:solidFill>
                <a:latin typeface="Calibri"/>
              </a:rPr>
              <a:t>▲</a:t>
            </a:r>
          </a:p>
        </p:txBody>
      </p:sp>
      <p:sp>
        <p:nvSpPr>
          <p:cNvPr id="318" name="Oval 317"/>
          <p:cNvSpPr/>
          <p:nvPr/>
        </p:nvSpPr>
        <p:spPr>
          <a:xfrm>
            <a:off x="111156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111156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20" name="Oval 319"/>
          <p:cNvSpPr/>
          <p:nvPr/>
        </p:nvSpPr>
        <p:spPr>
          <a:xfrm>
            <a:off x="113252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113252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22" name="Oval 321"/>
          <p:cNvSpPr/>
          <p:nvPr/>
        </p:nvSpPr>
        <p:spPr>
          <a:xfrm>
            <a:off x="1153477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TextBox 322"/>
          <p:cNvSpPr txBox="1"/>
          <p:nvPr/>
        </p:nvSpPr>
        <p:spPr>
          <a:xfrm>
            <a:off x="1153477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24" name="Oval 323"/>
          <p:cNvSpPr/>
          <p:nvPr/>
        </p:nvSpPr>
        <p:spPr>
          <a:xfrm>
            <a:off x="11744325" y="5173667"/>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TextBox 324"/>
          <p:cNvSpPr txBox="1"/>
          <p:nvPr/>
        </p:nvSpPr>
        <p:spPr>
          <a:xfrm>
            <a:off x="11744325" y="5173667"/>
            <a:ext cx="180975" cy="173410"/>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26" name="Oval 325"/>
          <p:cNvSpPr/>
          <p:nvPr/>
        </p:nvSpPr>
        <p:spPr>
          <a:xfrm>
            <a:off x="112204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TextBox 326"/>
          <p:cNvSpPr txBox="1"/>
          <p:nvPr/>
        </p:nvSpPr>
        <p:spPr>
          <a:xfrm>
            <a:off x="112204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28" name="Oval 327"/>
          <p:cNvSpPr/>
          <p:nvPr/>
        </p:nvSpPr>
        <p:spPr>
          <a:xfrm>
            <a:off x="11430000" y="5392711"/>
            <a:ext cx="180975" cy="17341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TextBox 328"/>
          <p:cNvSpPr txBox="1"/>
          <p:nvPr/>
        </p:nvSpPr>
        <p:spPr>
          <a:xfrm>
            <a:off x="1143000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30" name="Oval 329"/>
          <p:cNvSpPr/>
          <p:nvPr/>
        </p:nvSpPr>
        <p:spPr>
          <a:xfrm>
            <a:off x="11639550" y="5392711"/>
            <a:ext cx="180975" cy="17341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1639550" y="5392711"/>
            <a:ext cx="180975" cy="173410"/>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32" name="TextBox 331"/>
          <p:cNvSpPr txBox="1"/>
          <p:nvPr/>
        </p:nvSpPr>
        <p:spPr>
          <a:xfrm>
            <a:off x="285750" y="5716715"/>
            <a:ext cx="1116806" cy="164283"/>
          </a:xfrm>
          <a:prstGeom prst="rect">
            <a:avLst/>
          </a:prstGeom>
          <a:noFill/>
        </p:spPr>
        <p:txBody>
          <a:bodyPr wrap="square" lIns="0" rIns="0" tIns="0" bIns="0" anchor="ctr">
            <a:spAutoFit/>
          </a:bodyPr>
          <a:lstStyle/>
          <a:p>
            <a:pPr algn="l"/>
            <a:r>
              <a:rPr sz="1100" b="1">
                <a:solidFill>
                  <a:srgbClr val="2E2E2E"/>
                </a:solidFill>
                <a:latin typeface="Calibri"/>
              </a:rPr>
              <a:t>Product Portfolio:</a:t>
            </a:r>
          </a:p>
        </p:txBody>
      </p:sp>
      <p:sp>
        <p:nvSpPr>
          <p:cNvPr id="333" name="Rectangle 332"/>
          <p:cNvSpPr/>
          <p:nvPr/>
        </p:nvSpPr>
        <p:spPr>
          <a:xfrm>
            <a:off x="1383506" y="5744096"/>
            <a:ext cx="114300" cy="109522"/>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TextBox 333"/>
          <p:cNvSpPr txBox="1"/>
          <p:nvPr/>
        </p:nvSpPr>
        <p:spPr>
          <a:xfrm>
            <a:off x="1535906" y="5716715"/>
            <a:ext cx="2128838" cy="164283"/>
          </a:xfrm>
          <a:prstGeom prst="rect">
            <a:avLst/>
          </a:prstGeom>
          <a:noFill/>
        </p:spPr>
        <p:txBody>
          <a:bodyPr wrap="square" lIns="0" rIns="0" tIns="0" bIns="0" anchor="ctr">
            <a:spAutoFit/>
          </a:bodyPr>
          <a:lstStyle/>
          <a:p>
            <a:pPr algn="l"/>
            <a:r>
              <a:rPr sz="1100" b="0">
                <a:solidFill>
                  <a:srgbClr val="2E2E2E"/>
                </a:solidFill>
                <a:latin typeface="Calibri"/>
              </a:rPr>
              <a:t>Portable Machine Perfusion Devices</a:t>
            </a:r>
          </a:p>
        </p:txBody>
      </p:sp>
      <p:sp>
        <p:nvSpPr>
          <p:cNvPr id="335" name="Rectangle 334"/>
          <p:cNvSpPr/>
          <p:nvPr/>
        </p:nvSpPr>
        <p:spPr>
          <a:xfrm>
            <a:off x="3721894" y="5744096"/>
            <a:ext cx="114300" cy="109522"/>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3874294" y="5716715"/>
            <a:ext cx="1616869" cy="164283"/>
          </a:xfrm>
          <a:prstGeom prst="rect">
            <a:avLst/>
          </a:prstGeom>
          <a:noFill/>
        </p:spPr>
        <p:txBody>
          <a:bodyPr wrap="square" lIns="0" rIns="0" tIns="0" bIns="0" anchor="ctr">
            <a:spAutoFit/>
          </a:bodyPr>
          <a:lstStyle/>
          <a:p>
            <a:pPr algn="l"/>
            <a:r>
              <a:rPr sz="1100" b="0">
                <a:solidFill>
                  <a:srgbClr val="2E2E2E"/>
                </a:solidFill>
                <a:latin typeface="Calibri"/>
              </a:rPr>
              <a:t>Static Cold Storage Devices</a:t>
            </a:r>
          </a:p>
        </p:txBody>
      </p:sp>
      <p:sp>
        <p:nvSpPr>
          <p:cNvPr id="337" name="Rectangle 336"/>
          <p:cNvSpPr/>
          <p:nvPr/>
        </p:nvSpPr>
        <p:spPr>
          <a:xfrm>
            <a:off x="5548312" y="5744096"/>
            <a:ext cx="114300" cy="109522"/>
          </a:xfrm>
          <a:prstGeom prst="rect">
            <a:avLst/>
          </a:prstGeom>
          <a:solidFill>
            <a:srgbClr val="FFFFFF"/>
          </a:solidFill>
          <a:ln w="12700">
            <a:solidFill>
              <a:srgbClr val="6C7A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TextBox 337"/>
          <p:cNvSpPr txBox="1"/>
          <p:nvPr/>
        </p:nvSpPr>
        <p:spPr>
          <a:xfrm>
            <a:off x="5700712" y="5716715"/>
            <a:ext cx="740569" cy="164283"/>
          </a:xfrm>
          <a:prstGeom prst="rect">
            <a:avLst/>
          </a:prstGeom>
          <a:noFill/>
        </p:spPr>
        <p:txBody>
          <a:bodyPr wrap="square" lIns="0" rIns="0" tIns="0" bIns="0" anchor="ctr">
            <a:spAutoFit/>
          </a:bodyPr>
          <a:lstStyle/>
          <a:p>
            <a:pPr algn="l"/>
            <a:r>
              <a:rPr sz="1100" b="0">
                <a:solidFill>
                  <a:srgbClr val="2E2E2E"/>
                </a:solidFill>
                <a:latin typeface="Calibri"/>
              </a:rPr>
              <a:t>Not offered</a:t>
            </a:r>
          </a:p>
        </p:txBody>
      </p:sp>
      <p:sp>
        <p:nvSpPr>
          <p:cNvPr id="339" name="TextBox 338"/>
          <p:cNvSpPr txBox="1"/>
          <p:nvPr/>
        </p:nvSpPr>
        <p:spPr>
          <a:xfrm>
            <a:off x="285750" y="5890125"/>
            <a:ext cx="208915" cy="164283"/>
          </a:xfrm>
          <a:prstGeom prst="rect">
            <a:avLst/>
          </a:prstGeom>
          <a:noFill/>
        </p:spPr>
        <p:txBody>
          <a:bodyPr wrap="none" lIns="0" rIns="0" tIns="0" bIns="0" anchor="ctr">
            <a:spAutoFit/>
          </a:bodyPr>
          <a:lstStyle/>
          <a:p>
            <a:pPr algn="l"/>
            <a:r>
              <a:rPr sz="1100" b="1">
                <a:solidFill>
                  <a:srgbClr val="008189"/>
                </a:solidFill>
                <a:latin typeface="Calibri"/>
              </a:rPr>
              <a:t>✔</a:t>
            </a:r>
          </a:p>
        </p:txBody>
      </p:sp>
      <p:sp>
        <p:nvSpPr>
          <p:cNvPr id="340" name="TextBox 339"/>
          <p:cNvSpPr txBox="1"/>
          <p:nvPr/>
        </p:nvSpPr>
        <p:spPr>
          <a:xfrm>
            <a:off x="475615" y="5890125"/>
            <a:ext cx="457200" cy="164283"/>
          </a:xfrm>
          <a:prstGeom prst="rect">
            <a:avLst/>
          </a:prstGeom>
          <a:noFill/>
        </p:spPr>
        <p:txBody>
          <a:bodyPr wrap="square" lIns="0" rIns="0" tIns="0" bIns="0" anchor="ctr">
            <a:spAutoFit/>
          </a:bodyPr>
          <a:lstStyle/>
          <a:p>
            <a:pPr algn="l"/>
            <a:r>
              <a:rPr sz="1100" b="0">
                <a:solidFill>
                  <a:srgbClr val="2E2E2E"/>
                </a:solidFill>
                <a:latin typeface="Calibri"/>
              </a:rPr>
              <a:t>served</a:t>
            </a:r>
          </a:p>
        </p:txBody>
      </p:sp>
      <p:sp>
        <p:nvSpPr>
          <p:cNvPr id="341" name="TextBox 340"/>
          <p:cNvSpPr txBox="1"/>
          <p:nvPr/>
        </p:nvSpPr>
        <p:spPr>
          <a:xfrm>
            <a:off x="913765" y="5890125"/>
            <a:ext cx="208915" cy="164283"/>
          </a:xfrm>
          <a:prstGeom prst="rect">
            <a:avLst/>
          </a:prstGeom>
          <a:noFill/>
        </p:spPr>
        <p:txBody>
          <a:bodyPr wrap="none" lIns="0" rIns="0" tIns="0" bIns="0" anchor="ctr">
            <a:spAutoFit/>
          </a:bodyPr>
          <a:lstStyle/>
          <a:p>
            <a:pPr algn="l"/>
            <a:r>
              <a:rPr sz="1100" b="1">
                <a:solidFill>
                  <a:srgbClr val="E44D3A"/>
                </a:solidFill>
                <a:latin typeface="Calibri"/>
              </a:rPr>
              <a:t>✘</a:t>
            </a:r>
          </a:p>
        </p:txBody>
      </p:sp>
      <p:sp>
        <p:nvSpPr>
          <p:cNvPr id="342" name="TextBox 341"/>
          <p:cNvSpPr txBox="1"/>
          <p:nvPr/>
        </p:nvSpPr>
        <p:spPr>
          <a:xfrm>
            <a:off x="1103630" y="5890125"/>
            <a:ext cx="683419" cy="164283"/>
          </a:xfrm>
          <a:prstGeom prst="rect">
            <a:avLst/>
          </a:prstGeom>
          <a:noFill/>
        </p:spPr>
        <p:txBody>
          <a:bodyPr wrap="square" lIns="0" rIns="0" tIns="0" bIns="0" anchor="ctr">
            <a:spAutoFit/>
          </a:bodyPr>
          <a:lstStyle/>
          <a:p>
            <a:pPr algn="l"/>
            <a:r>
              <a:rPr sz="1100" b="0">
                <a:solidFill>
                  <a:srgbClr val="2E2E2E"/>
                </a:solidFill>
                <a:latin typeface="Calibri"/>
              </a:rPr>
              <a:t>not served</a:t>
            </a:r>
          </a:p>
        </p:txBody>
      </p:sp>
      <p:sp>
        <p:nvSpPr>
          <p:cNvPr id="343" name="TextBox 342"/>
          <p:cNvSpPr txBox="1"/>
          <p:nvPr/>
        </p:nvSpPr>
        <p:spPr>
          <a:xfrm>
            <a:off x="1939449" y="5890125"/>
            <a:ext cx="1183481" cy="164283"/>
          </a:xfrm>
          <a:prstGeom prst="rect">
            <a:avLst/>
          </a:prstGeom>
          <a:noFill/>
        </p:spPr>
        <p:txBody>
          <a:bodyPr wrap="square" lIns="0" rIns="0" tIns="0" bIns="0" anchor="ctr">
            <a:spAutoFit/>
          </a:bodyPr>
          <a:lstStyle/>
          <a:p>
            <a:pPr algn="l"/>
            <a:r>
              <a:rPr sz="1100" b="1">
                <a:solidFill>
                  <a:srgbClr val="2E2E2E"/>
                </a:solidFill>
                <a:latin typeface="Calibri"/>
              </a:rPr>
              <a:t>Regional presence:</a:t>
            </a:r>
          </a:p>
        </p:txBody>
      </p:sp>
      <p:sp>
        <p:nvSpPr>
          <p:cNvPr id="344" name="TextBox 343"/>
          <p:cNvSpPr txBox="1"/>
          <p:nvPr/>
        </p:nvSpPr>
        <p:spPr>
          <a:xfrm>
            <a:off x="3103880" y="5890125"/>
            <a:ext cx="208915" cy="164283"/>
          </a:xfrm>
          <a:prstGeom prst="rect">
            <a:avLst/>
          </a:prstGeom>
          <a:noFill/>
        </p:spPr>
        <p:txBody>
          <a:bodyPr wrap="none" lIns="0" rIns="0" tIns="0" bIns="0" anchor="ctr">
            <a:spAutoFit/>
          </a:bodyPr>
          <a:lstStyle/>
          <a:p>
            <a:pPr algn="l"/>
            <a:r>
              <a:rPr sz="1100" b="1">
                <a:solidFill>
                  <a:srgbClr val="0E72AE"/>
                </a:solidFill>
                <a:latin typeface="Calibri"/>
              </a:rPr>
              <a:t>▲</a:t>
            </a:r>
          </a:p>
        </p:txBody>
      </p:sp>
      <p:sp>
        <p:nvSpPr>
          <p:cNvPr id="345" name="TextBox 344"/>
          <p:cNvSpPr txBox="1"/>
          <p:nvPr/>
        </p:nvSpPr>
        <p:spPr>
          <a:xfrm>
            <a:off x="3293745" y="5890125"/>
            <a:ext cx="338138" cy="164283"/>
          </a:xfrm>
          <a:prstGeom prst="rect">
            <a:avLst/>
          </a:prstGeom>
          <a:noFill/>
        </p:spPr>
        <p:txBody>
          <a:bodyPr wrap="none" lIns="0" rIns="0" tIns="0" bIns="0" anchor="ctr">
            <a:spAutoFit/>
          </a:bodyPr>
          <a:lstStyle/>
          <a:p>
            <a:pPr algn="l"/>
            <a:r>
              <a:rPr sz="1100" b="0">
                <a:solidFill>
                  <a:srgbClr val="2E2E2E"/>
                </a:solidFill>
                <a:latin typeface="Calibri"/>
              </a:rPr>
              <a:t>High</a:t>
            </a:r>
          </a:p>
        </p:txBody>
      </p:sp>
      <p:sp>
        <p:nvSpPr>
          <p:cNvPr id="346" name="TextBox 345"/>
          <p:cNvSpPr txBox="1"/>
          <p:nvPr/>
        </p:nvSpPr>
        <p:spPr>
          <a:xfrm>
            <a:off x="3612832" y="5890125"/>
            <a:ext cx="208915" cy="164283"/>
          </a:xfrm>
          <a:prstGeom prst="rect">
            <a:avLst/>
          </a:prstGeom>
          <a:noFill/>
        </p:spPr>
        <p:txBody>
          <a:bodyPr wrap="none" lIns="0" rIns="0" tIns="0" bIns="0" anchor="ctr">
            <a:spAutoFit/>
          </a:bodyPr>
          <a:lstStyle/>
          <a:p>
            <a:pPr algn="l"/>
            <a:r>
              <a:rPr sz="1100" b="1">
                <a:solidFill>
                  <a:srgbClr val="A86F00"/>
                </a:solidFill>
                <a:latin typeface="Calibri"/>
              </a:rPr>
              <a:t>▲</a:t>
            </a:r>
          </a:p>
        </p:txBody>
      </p:sp>
      <p:sp>
        <p:nvSpPr>
          <p:cNvPr id="347" name="TextBox 346"/>
          <p:cNvSpPr txBox="1"/>
          <p:nvPr/>
        </p:nvSpPr>
        <p:spPr>
          <a:xfrm>
            <a:off x="3802698" y="5890125"/>
            <a:ext cx="576262" cy="164283"/>
          </a:xfrm>
          <a:prstGeom prst="rect">
            <a:avLst/>
          </a:prstGeom>
          <a:noFill/>
        </p:spPr>
        <p:txBody>
          <a:bodyPr wrap="square" lIns="0" rIns="0" tIns="0" bIns="0" anchor="ctr">
            <a:spAutoFit/>
          </a:bodyPr>
          <a:lstStyle/>
          <a:p>
            <a:pPr algn="l"/>
            <a:r>
              <a:rPr sz="1100" b="0">
                <a:solidFill>
                  <a:srgbClr val="2E2E2E"/>
                </a:solidFill>
                <a:latin typeface="Calibri"/>
              </a:rPr>
              <a:t>Medium</a:t>
            </a:r>
          </a:p>
        </p:txBody>
      </p:sp>
      <p:sp>
        <p:nvSpPr>
          <p:cNvPr id="348" name="TextBox 347"/>
          <p:cNvSpPr txBox="1"/>
          <p:nvPr/>
        </p:nvSpPr>
        <p:spPr>
          <a:xfrm>
            <a:off x="4340860" y="5890125"/>
            <a:ext cx="208915" cy="164283"/>
          </a:xfrm>
          <a:prstGeom prst="rect">
            <a:avLst/>
          </a:prstGeom>
          <a:noFill/>
        </p:spPr>
        <p:txBody>
          <a:bodyPr wrap="none" lIns="0" rIns="0" tIns="0" bIns="0" anchor="ctr">
            <a:spAutoFit/>
          </a:bodyPr>
          <a:lstStyle/>
          <a:p>
            <a:pPr algn="l"/>
            <a:r>
              <a:rPr sz="1100" b="1">
                <a:solidFill>
                  <a:srgbClr val="9AA3A8"/>
                </a:solidFill>
                <a:latin typeface="Calibri"/>
              </a:rPr>
              <a:t>▲</a:t>
            </a:r>
          </a:p>
        </p:txBody>
      </p:sp>
      <p:sp>
        <p:nvSpPr>
          <p:cNvPr id="349" name="TextBox 348"/>
          <p:cNvSpPr txBox="1"/>
          <p:nvPr/>
        </p:nvSpPr>
        <p:spPr>
          <a:xfrm>
            <a:off x="4530725" y="5890125"/>
            <a:ext cx="309562" cy="164283"/>
          </a:xfrm>
          <a:prstGeom prst="rect">
            <a:avLst/>
          </a:prstGeom>
          <a:noFill/>
        </p:spPr>
        <p:txBody>
          <a:bodyPr wrap="none" lIns="0" rIns="0" tIns="0" bIns="0" anchor="ctr">
            <a:spAutoFit/>
          </a:bodyPr>
          <a:lstStyle/>
          <a:p>
            <a:pPr algn="l"/>
            <a:r>
              <a:rPr sz="1100" b="0">
                <a:solidFill>
                  <a:srgbClr val="2E2E2E"/>
                </a:solidFill>
                <a:latin typeface="Calibri"/>
              </a:rPr>
              <a:t>Low</a:t>
            </a:r>
          </a:p>
        </p:txBody>
      </p:sp>
      <p:sp>
        <p:nvSpPr>
          <p:cNvPr id="350" name="Oval 349"/>
          <p:cNvSpPr/>
          <p:nvPr/>
        </p:nvSpPr>
        <p:spPr>
          <a:xfrm>
            <a:off x="285750"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285750"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E</a:t>
            </a:r>
          </a:p>
        </p:txBody>
      </p:sp>
      <p:sp>
        <p:nvSpPr>
          <p:cNvPr id="352" name="TextBox 351"/>
          <p:cNvSpPr txBox="1"/>
          <p:nvPr/>
        </p:nvSpPr>
        <p:spPr>
          <a:xfrm>
            <a:off x="495300" y="6072662"/>
            <a:ext cx="657225" cy="182537"/>
          </a:xfrm>
          <a:prstGeom prst="rect">
            <a:avLst/>
          </a:prstGeom>
          <a:noFill/>
        </p:spPr>
        <p:txBody>
          <a:bodyPr wrap="square" lIns="0" rIns="0" tIns="0" bIns="0" anchor="ctr">
            <a:spAutoFit/>
          </a:bodyPr>
          <a:lstStyle/>
          <a:p>
            <a:pPr algn="l"/>
            <a:r>
              <a:rPr sz="1100" b="0">
                <a:solidFill>
                  <a:srgbClr val="2E2E2E"/>
                </a:solidFill>
                <a:latin typeface="Calibri"/>
              </a:rPr>
              <a:t>Expansion</a:t>
            </a:r>
          </a:p>
        </p:txBody>
      </p:sp>
      <p:sp>
        <p:nvSpPr>
          <p:cNvPr id="353" name="Oval 352"/>
          <p:cNvSpPr/>
          <p:nvPr/>
        </p:nvSpPr>
        <p:spPr>
          <a:xfrm>
            <a:off x="124777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124777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I</a:t>
            </a:r>
          </a:p>
        </p:txBody>
      </p:sp>
      <p:sp>
        <p:nvSpPr>
          <p:cNvPr id="355" name="TextBox 354"/>
          <p:cNvSpPr txBox="1"/>
          <p:nvPr/>
        </p:nvSpPr>
        <p:spPr>
          <a:xfrm>
            <a:off x="1457325" y="6072662"/>
            <a:ext cx="1012031" cy="182537"/>
          </a:xfrm>
          <a:prstGeom prst="rect">
            <a:avLst/>
          </a:prstGeom>
          <a:noFill/>
        </p:spPr>
        <p:txBody>
          <a:bodyPr wrap="square" lIns="0" rIns="0" tIns="0" bIns="0" anchor="ctr">
            <a:spAutoFit/>
          </a:bodyPr>
          <a:lstStyle/>
          <a:p>
            <a:pPr algn="l"/>
            <a:r>
              <a:rPr sz="1100" b="0">
                <a:solidFill>
                  <a:srgbClr val="2E2E2E"/>
                </a:solidFill>
                <a:latin typeface="Calibri"/>
              </a:rPr>
              <a:t>R&amp;D Investment</a:t>
            </a:r>
          </a:p>
        </p:txBody>
      </p:sp>
      <p:sp>
        <p:nvSpPr>
          <p:cNvPr id="356" name="Oval 355"/>
          <p:cNvSpPr/>
          <p:nvPr/>
        </p:nvSpPr>
        <p:spPr>
          <a:xfrm>
            <a:off x="25646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TextBox 356"/>
          <p:cNvSpPr txBox="1"/>
          <p:nvPr/>
        </p:nvSpPr>
        <p:spPr>
          <a:xfrm>
            <a:off x="25646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F</a:t>
            </a:r>
          </a:p>
        </p:txBody>
      </p:sp>
      <p:sp>
        <p:nvSpPr>
          <p:cNvPr id="358" name="TextBox 357"/>
          <p:cNvSpPr txBox="1"/>
          <p:nvPr/>
        </p:nvSpPr>
        <p:spPr>
          <a:xfrm>
            <a:off x="2774156" y="6072662"/>
            <a:ext cx="800100" cy="182537"/>
          </a:xfrm>
          <a:prstGeom prst="rect">
            <a:avLst/>
          </a:prstGeom>
          <a:noFill/>
        </p:spPr>
        <p:txBody>
          <a:bodyPr wrap="square" lIns="0" rIns="0" tIns="0" bIns="0" anchor="ctr">
            <a:spAutoFit/>
          </a:bodyPr>
          <a:lstStyle/>
          <a:p>
            <a:pPr algn="l"/>
            <a:r>
              <a:rPr sz="1100" b="0">
                <a:solidFill>
                  <a:srgbClr val="2E2E2E"/>
                </a:solidFill>
                <a:latin typeface="Calibri"/>
              </a:rPr>
              <a:t>Financial Aid</a:t>
            </a:r>
          </a:p>
        </p:txBody>
      </p:sp>
      <p:sp>
        <p:nvSpPr>
          <p:cNvPr id="359" name="Oval 358"/>
          <p:cNvSpPr/>
          <p:nvPr/>
        </p:nvSpPr>
        <p:spPr>
          <a:xfrm>
            <a:off x="3669506"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3669506"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P</a:t>
            </a:r>
          </a:p>
        </p:txBody>
      </p:sp>
      <p:sp>
        <p:nvSpPr>
          <p:cNvPr id="361" name="TextBox 360"/>
          <p:cNvSpPr txBox="1"/>
          <p:nvPr/>
        </p:nvSpPr>
        <p:spPr>
          <a:xfrm>
            <a:off x="3879056" y="6072662"/>
            <a:ext cx="1328738" cy="182537"/>
          </a:xfrm>
          <a:prstGeom prst="rect">
            <a:avLst/>
          </a:prstGeom>
          <a:noFill/>
        </p:spPr>
        <p:txBody>
          <a:bodyPr wrap="square" lIns="0" rIns="0" tIns="0" bIns="0" anchor="ctr">
            <a:spAutoFit/>
          </a:bodyPr>
          <a:lstStyle/>
          <a:p>
            <a:pPr algn="l"/>
            <a:r>
              <a:rPr sz="1100" b="0">
                <a:solidFill>
                  <a:srgbClr val="2E2E2E"/>
                </a:solidFill>
                <a:latin typeface="Calibri"/>
              </a:rPr>
              <a:t>Product Development</a:t>
            </a:r>
          </a:p>
        </p:txBody>
      </p:sp>
      <p:sp>
        <p:nvSpPr>
          <p:cNvPr id="362" name="Oval 361"/>
          <p:cNvSpPr/>
          <p:nvPr/>
        </p:nvSpPr>
        <p:spPr>
          <a:xfrm>
            <a:off x="5303044"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5303044"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A</a:t>
            </a:r>
          </a:p>
        </p:txBody>
      </p:sp>
      <p:sp>
        <p:nvSpPr>
          <p:cNvPr id="364" name="TextBox 363"/>
          <p:cNvSpPr txBox="1"/>
          <p:nvPr/>
        </p:nvSpPr>
        <p:spPr>
          <a:xfrm>
            <a:off x="5512594" y="6072662"/>
            <a:ext cx="714375" cy="182537"/>
          </a:xfrm>
          <a:prstGeom prst="rect">
            <a:avLst/>
          </a:prstGeom>
          <a:noFill/>
        </p:spPr>
        <p:txBody>
          <a:bodyPr wrap="square" lIns="0" rIns="0" tIns="0" bIns="0" anchor="ctr">
            <a:spAutoFit/>
          </a:bodyPr>
          <a:lstStyle/>
          <a:p>
            <a:pPr algn="l"/>
            <a:r>
              <a:rPr sz="1100" b="0">
                <a:solidFill>
                  <a:srgbClr val="2E2E2E"/>
                </a:solidFill>
                <a:latin typeface="Calibri"/>
              </a:rPr>
              <a:t>Acquisition</a:t>
            </a:r>
          </a:p>
        </p:txBody>
      </p:sp>
      <p:sp>
        <p:nvSpPr>
          <p:cNvPr id="365" name="Oval 364"/>
          <p:cNvSpPr/>
          <p:nvPr/>
        </p:nvSpPr>
        <p:spPr>
          <a:xfrm>
            <a:off x="6322219"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TextBox 365"/>
          <p:cNvSpPr txBox="1"/>
          <p:nvPr/>
        </p:nvSpPr>
        <p:spPr>
          <a:xfrm>
            <a:off x="6322219"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L</a:t>
            </a:r>
          </a:p>
        </p:txBody>
      </p:sp>
      <p:sp>
        <p:nvSpPr>
          <p:cNvPr id="367" name="TextBox 366"/>
          <p:cNvSpPr txBox="1"/>
          <p:nvPr/>
        </p:nvSpPr>
        <p:spPr>
          <a:xfrm>
            <a:off x="6531769" y="6072662"/>
            <a:ext cx="964406" cy="182537"/>
          </a:xfrm>
          <a:prstGeom prst="rect">
            <a:avLst/>
          </a:prstGeom>
          <a:noFill/>
        </p:spPr>
        <p:txBody>
          <a:bodyPr wrap="square" lIns="0" rIns="0" tIns="0" bIns="0" anchor="ctr">
            <a:spAutoFit/>
          </a:bodyPr>
          <a:lstStyle/>
          <a:p>
            <a:pPr algn="l"/>
            <a:r>
              <a:rPr sz="1100" b="0">
                <a:solidFill>
                  <a:srgbClr val="2E2E2E"/>
                </a:solidFill>
                <a:latin typeface="Calibri"/>
              </a:rPr>
              <a:t>Product Launch</a:t>
            </a:r>
          </a:p>
        </p:txBody>
      </p:sp>
      <p:sp>
        <p:nvSpPr>
          <p:cNvPr id="368" name="Oval 367"/>
          <p:cNvSpPr/>
          <p:nvPr/>
        </p:nvSpPr>
        <p:spPr>
          <a:xfrm>
            <a:off x="7591425" y="6081789"/>
            <a:ext cx="171450" cy="164283"/>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368"/>
          <p:cNvSpPr txBox="1"/>
          <p:nvPr/>
        </p:nvSpPr>
        <p:spPr>
          <a:xfrm>
            <a:off x="7591425" y="6081789"/>
            <a:ext cx="171450" cy="164283"/>
          </a:xfrm>
          <a:prstGeom prst="rect">
            <a:avLst/>
          </a:prstGeom>
          <a:noFill/>
        </p:spPr>
        <p:txBody>
          <a:bodyPr wrap="none" lIns="0" rIns="0" tIns="0" bIns="0" anchor="ctr">
            <a:spAutoFit/>
          </a:bodyPr>
          <a:lstStyle/>
          <a:p>
            <a:pPr algn="ctr"/>
            <a:r>
              <a:rPr sz="1100" b="1">
                <a:solidFill>
                  <a:srgbClr val="FFFFFF"/>
                </a:solidFill>
                <a:latin typeface="Calibri"/>
              </a:rPr>
              <a:t>C</a:t>
            </a:r>
          </a:p>
        </p:txBody>
      </p:sp>
      <p:sp>
        <p:nvSpPr>
          <p:cNvPr id="370" name="TextBox 369"/>
          <p:cNvSpPr txBox="1"/>
          <p:nvPr/>
        </p:nvSpPr>
        <p:spPr>
          <a:xfrm>
            <a:off x="7800975" y="6072662"/>
            <a:ext cx="781050" cy="182537"/>
          </a:xfrm>
          <a:prstGeom prst="rect">
            <a:avLst/>
          </a:prstGeom>
          <a:noFill/>
        </p:spPr>
        <p:txBody>
          <a:bodyPr wrap="square" lIns="0" rIns="0" tIns="0" bIns="0" anchor="ctr">
            <a:spAutoFit/>
          </a:bodyPr>
          <a:lstStyle/>
          <a:p>
            <a:pPr algn="l"/>
            <a:r>
              <a:rPr sz="1100" b="0">
                <a:solidFill>
                  <a:srgbClr val="2E2E2E"/>
                </a:solidFill>
                <a:latin typeface="Calibri"/>
              </a:rPr>
              <a:t>Certification</a:t>
            </a:r>
          </a:p>
        </p:txBody>
      </p:sp>
      <p:sp>
        <p:nvSpPr>
          <p:cNvPr id="371" name="TextBox 370"/>
          <p:cNvSpPr txBox="1"/>
          <p:nvPr/>
        </p:nvSpPr>
        <p:spPr>
          <a:xfrm>
            <a:off x="285750" y="6273453"/>
            <a:ext cx="11620500" cy="155156"/>
          </a:xfrm>
          <a:prstGeom prst="rect">
            <a:avLst/>
          </a:prstGeom>
          <a:noFill/>
        </p:spPr>
        <p:txBody>
          <a:bodyPr wrap="square" lIns="0" rIns="0" tIns="0" bIns="0">
            <a:spAutoFit/>
          </a:bodyPr>
          <a:lstStyle/>
          <a:p>
            <a:pPr algn="l"/>
            <a:r>
              <a:rPr sz="1100" b="1">
                <a:solidFill>
                  <a:srgbClr val="A35313"/>
                </a:solidFill>
                <a:latin typeface="Calibri"/>
              </a:rPr>
              <a:t>Note: Market Share indicates the contribution of target revenue in Market</a:t>
            </a:r>
          </a:p>
        </p:txBody>
      </p:sp>
      <p:sp>
        <p:nvSpPr>
          <p:cNvPr id="372" name="TextBox 371"/>
          <p:cNvSpPr txBox="1"/>
          <p:nvPr/>
        </p:nvSpPr>
        <p:spPr>
          <a:xfrm>
            <a:off x="285750" y="6428609"/>
            <a:ext cx="11620500" cy="155156"/>
          </a:xfrm>
          <a:prstGeom prst="rect">
            <a:avLst/>
          </a:prstGeom>
          <a:noFill/>
        </p:spPr>
        <p:txBody>
          <a:bodyPr wrap="square" lIns="0" rIns="0" tIns="0" bIns="0">
            <a:spAutoFit/>
          </a:bodyPr>
          <a:lstStyle/>
          <a:p>
            <a:pPr algn="l"/>
            <a:r>
              <a:rPr sz="1100" b="1">
                <a:solidFill>
                  <a:srgbClr val="A35313"/>
                </a:solidFill>
                <a:latin typeface="Calibri"/>
              </a:rPr>
              <a:t>Revenue represents sales of the company from target market</a:t>
            </a:r>
          </a:p>
        </p:txBody>
      </p:sp>
      <p:sp>
        <p:nvSpPr>
          <p:cNvPr id="373" name="TextBox 372"/>
          <p:cNvSpPr txBox="1"/>
          <p:nvPr/>
        </p:nvSpPr>
        <p:spPr>
          <a:xfrm>
            <a:off x="152400" y="6686550"/>
            <a:ext cx="11887200" cy="152400"/>
          </a:xfrm>
          <a:prstGeom prst="rect">
            <a:avLst/>
          </a:prstGeom>
          <a:noFill/>
        </p:spPr>
        <p:txBody>
          <a:bodyPr wrap="square" lIns="28575" rIns="28575" tIns="0" bIns="0" anchor="ctr">
            <a:spAutoFit/>
          </a:bodyPr>
          <a:lstStyle/>
          <a:p>
            <a:pPr algn="l"/>
            <a:r>
              <a:rPr sz="900" b="0">
                <a:solidFill>
                  <a:srgbClr val="58595B"/>
                </a:solidFill>
                <a:latin typeface="Calibri"/>
              </a:rPr>
              <a:t>©2026 Future Market Insights, All Rights Reserved</a:t>
            </a:r>
          </a:p>
        </p:txBody>
      </p:sp>
      <p:pic>
        <p:nvPicPr>
          <p:cNvPr id="374" name="Picture 373" descr="lock.png"/>
          <p:cNvPicPr>
            <a:picLocks noChangeAspect="1"/>
          </p:cNvPicPr>
          <p:nvPr/>
        </p:nvPicPr>
        <p:blipFill>
          <a:blip r:embed="rId4"/>
          <a:stretch>
            <a:fillRect/>
          </a:stretch>
        </p:blipFill>
        <p:spPr>
          <a:xfrm>
            <a:off x="1769213" y="2702524"/>
            <a:ext cx="128699" cy="187198"/>
          </a:xfrm>
          <a:prstGeom prst="rect">
            <a:avLst/>
          </a:prstGeom>
        </p:spPr>
      </p:pic>
      <p:pic>
        <p:nvPicPr>
          <p:cNvPr id="375" name="Picture 374" descr="lock.png"/>
          <p:cNvPicPr>
            <a:picLocks noChangeAspect="1"/>
          </p:cNvPicPr>
          <p:nvPr/>
        </p:nvPicPr>
        <p:blipFill>
          <a:blip r:embed="rId4"/>
          <a:stretch>
            <a:fillRect/>
          </a:stretch>
        </p:blipFill>
        <p:spPr>
          <a:xfrm>
            <a:off x="1769213" y="3031091"/>
            <a:ext cx="128699" cy="187198"/>
          </a:xfrm>
          <a:prstGeom prst="rect">
            <a:avLst/>
          </a:prstGeom>
        </p:spPr>
      </p:pic>
      <p:pic>
        <p:nvPicPr>
          <p:cNvPr id="376" name="Picture 375" descr="lock.png"/>
          <p:cNvPicPr>
            <a:picLocks noChangeAspect="1"/>
          </p:cNvPicPr>
          <p:nvPr/>
        </p:nvPicPr>
        <p:blipFill>
          <a:blip r:embed="rId4"/>
          <a:stretch>
            <a:fillRect/>
          </a:stretch>
        </p:blipFill>
        <p:spPr>
          <a:xfrm>
            <a:off x="1769212" y="3560448"/>
            <a:ext cx="128699" cy="187198"/>
          </a:xfrm>
          <a:prstGeom prst="rect">
            <a:avLst/>
          </a:prstGeom>
        </p:spPr>
      </p:pic>
      <p:pic>
        <p:nvPicPr>
          <p:cNvPr id="377" name="Picture 376" descr="lock.png"/>
          <p:cNvPicPr>
            <a:picLocks noChangeAspect="1"/>
          </p:cNvPicPr>
          <p:nvPr/>
        </p:nvPicPr>
        <p:blipFill>
          <a:blip r:embed="rId4"/>
          <a:stretch>
            <a:fillRect/>
          </a:stretch>
        </p:blipFill>
        <p:spPr>
          <a:xfrm>
            <a:off x="2845538" y="2702524"/>
            <a:ext cx="128699" cy="187198"/>
          </a:xfrm>
          <a:prstGeom prst="rect">
            <a:avLst/>
          </a:prstGeom>
        </p:spPr>
      </p:pic>
      <p:pic>
        <p:nvPicPr>
          <p:cNvPr id="378" name="Picture 377" descr="lock.png"/>
          <p:cNvPicPr>
            <a:picLocks noChangeAspect="1"/>
          </p:cNvPicPr>
          <p:nvPr/>
        </p:nvPicPr>
        <p:blipFill>
          <a:blip r:embed="rId4"/>
          <a:stretch>
            <a:fillRect/>
          </a:stretch>
        </p:blipFill>
        <p:spPr>
          <a:xfrm>
            <a:off x="2845538" y="3031091"/>
            <a:ext cx="128699" cy="187198"/>
          </a:xfrm>
          <a:prstGeom prst="rect">
            <a:avLst/>
          </a:prstGeom>
        </p:spPr>
      </p:pic>
      <p:pic>
        <p:nvPicPr>
          <p:cNvPr id="379" name="Picture 378" descr="lock.png"/>
          <p:cNvPicPr>
            <a:picLocks noChangeAspect="1"/>
          </p:cNvPicPr>
          <p:nvPr/>
        </p:nvPicPr>
        <p:blipFill>
          <a:blip r:embed="rId4"/>
          <a:stretch>
            <a:fillRect/>
          </a:stretch>
        </p:blipFill>
        <p:spPr>
          <a:xfrm>
            <a:off x="2845538" y="3560448"/>
            <a:ext cx="128699" cy="187198"/>
          </a:xfrm>
          <a:prstGeom prst="rect">
            <a:avLst/>
          </a:prstGeom>
        </p:spPr>
      </p:pic>
      <p:pic>
        <p:nvPicPr>
          <p:cNvPr id="380" name="Picture 379" descr="lock.png"/>
          <p:cNvPicPr>
            <a:picLocks noChangeAspect="1"/>
          </p:cNvPicPr>
          <p:nvPr/>
        </p:nvPicPr>
        <p:blipFill>
          <a:blip r:embed="rId4"/>
          <a:stretch>
            <a:fillRect/>
          </a:stretch>
        </p:blipFill>
        <p:spPr>
          <a:xfrm>
            <a:off x="3921863" y="2702524"/>
            <a:ext cx="128699" cy="187198"/>
          </a:xfrm>
          <a:prstGeom prst="rect">
            <a:avLst/>
          </a:prstGeom>
        </p:spPr>
      </p:pic>
      <p:pic>
        <p:nvPicPr>
          <p:cNvPr id="381" name="Picture 380" descr="lock.png"/>
          <p:cNvPicPr>
            <a:picLocks noChangeAspect="1"/>
          </p:cNvPicPr>
          <p:nvPr/>
        </p:nvPicPr>
        <p:blipFill>
          <a:blip r:embed="rId4"/>
          <a:stretch>
            <a:fillRect/>
          </a:stretch>
        </p:blipFill>
        <p:spPr>
          <a:xfrm>
            <a:off x="3921863" y="3031091"/>
            <a:ext cx="128699" cy="187198"/>
          </a:xfrm>
          <a:prstGeom prst="rect">
            <a:avLst/>
          </a:prstGeom>
        </p:spPr>
      </p:pic>
      <p:pic>
        <p:nvPicPr>
          <p:cNvPr id="382" name="Picture 381" descr="lock.png"/>
          <p:cNvPicPr>
            <a:picLocks noChangeAspect="1"/>
          </p:cNvPicPr>
          <p:nvPr/>
        </p:nvPicPr>
        <p:blipFill>
          <a:blip r:embed="rId4"/>
          <a:stretch>
            <a:fillRect/>
          </a:stretch>
        </p:blipFill>
        <p:spPr>
          <a:xfrm>
            <a:off x="3921862" y="3560448"/>
            <a:ext cx="128699" cy="187198"/>
          </a:xfrm>
          <a:prstGeom prst="rect">
            <a:avLst/>
          </a:prstGeom>
        </p:spPr>
      </p:pic>
      <p:pic>
        <p:nvPicPr>
          <p:cNvPr id="383" name="Picture 382" descr="lock.png"/>
          <p:cNvPicPr>
            <a:picLocks noChangeAspect="1"/>
          </p:cNvPicPr>
          <p:nvPr/>
        </p:nvPicPr>
        <p:blipFill>
          <a:blip r:embed="rId4"/>
          <a:stretch>
            <a:fillRect/>
          </a:stretch>
        </p:blipFill>
        <p:spPr>
          <a:xfrm>
            <a:off x="4998188" y="2702524"/>
            <a:ext cx="128699" cy="187198"/>
          </a:xfrm>
          <a:prstGeom prst="rect">
            <a:avLst/>
          </a:prstGeom>
        </p:spPr>
      </p:pic>
      <p:pic>
        <p:nvPicPr>
          <p:cNvPr id="384" name="Picture 383" descr="lock.png"/>
          <p:cNvPicPr>
            <a:picLocks noChangeAspect="1"/>
          </p:cNvPicPr>
          <p:nvPr/>
        </p:nvPicPr>
        <p:blipFill>
          <a:blip r:embed="rId4"/>
          <a:stretch>
            <a:fillRect/>
          </a:stretch>
        </p:blipFill>
        <p:spPr>
          <a:xfrm>
            <a:off x="4998188" y="3031091"/>
            <a:ext cx="128699" cy="187198"/>
          </a:xfrm>
          <a:prstGeom prst="rect">
            <a:avLst/>
          </a:prstGeom>
        </p:spPr>
      </p:pic>
      <p:pic>
        <p:nvPicPr>
          <p:cNvPr id="385" name="Picture 384" descr="lock.png"/>
          <p:cNvPicPr>
            <a:picLocks noChangeAspect="1"/>
          </p:cNvPicPr>
          <p:nvPr/>
        </p:nvPicPr>
        <p:blipFill>
          <a:blip r:embed="rId4"/>
          <a:stretch>
            <a:fillRect/>
          </a:stretch>
        </p:blipFill>
        <p:spPr>
          <a:xfrm>
            <a:off x="4998188" y="3560448"/>
            <a:ext cx="128699" cy="187198"/>
          </a:xfrm>
          <a:prstGeom prst="rect">
            <a:avLst/>
          </a:prstGeom>
        </p:spPr>
      </p:pic>
      <p:pic>
        <p:nvPicPr>
          <p:cNvPr id="386" name="Picture 385" descr="lock.png"/>
          <p:cNvPicPr>
            <a:picLocks noChangeAspect="1"/>
          </p:cNvPicPr>
          <p:nvPr/>
        </p:nvPicPr>
        <p:blipFill>
          <a:blip r:embed="rId4"/>
          <a:stretch>
            <a:fillRect/>
          </a:stretch>
        </p:blipFill>
        <p:spPr>
          <a:xfrm>
            <a:off x="6074513" y="2702524"/>
            <a:ext cx="128699" cy="187198"/>
          </a:xfrm>
          <a:prstGeom prst="rect">
            <a:avLst/>
          </a:prstGeom>
        </p:spPr>
      </p:pic>
      <p:pic>
        <p:nvPicPr>
          <p:cNvPr id="387" name="Picture 386" descr="lock.png"/>
          <p:cNvPicPr>
            <a:picLocks noChangeAspect="1"/>
          </p:cNvPicPr>
          <p:nvPr/>
        </p:nvPicPr>
        <p:blipFill>
          <a:blip r:embed="rId4"/>
          <a:stretch>
            <a:fillRect/>
          </a:stretch>
        </p:blipFill>
        <p:spPr>
          <a:xfrm>
            <a:off x="6074513" y="3031091"/>
            <a:ext cx="128699" cy="187198"/>
          </a:xfrm>
          <a:prstGeom prst="rect">
            <a:avLst/>
          </a:prstGeom>
        </p:spPr>
      </p:pic>
      <p:pic>
        <p:nvPicPr>
          <p:cNvPr id="388" name="Picture 387" descr="lock.png"/>
          <p:cNvPicPr>
            <a:picLocks noChangeAspect="1"/>
          </p:cNvPicPr>
          <p:nvPr/>
        </p:nvPicPr>
        <p:blipFill>
          <a:blip r:embed="rId4"/>
          <a:stretch>
            <a:fillRect/>
          </a:stretch>
        </p:blipFill>
        <p:spPr>
          <a:xfrm>
            <a:off x="6074512" y="3560448"/>
            <a:ext cx="128699" cy="187198"/>
          </a:xfrm>
          <a:prstGeom prst="rect">
            <a:avLst/>
          </a:prstGeom>
        </p:spPr>
      </p:pic>
      <p:pic>
        <p:nvPicPr>
          <p:cNvPr id="389" name="Picture 388" descr="lock.png"/>
          <p:cNvPicPr>
            <a:picLocks noChangeAspect="1"/>
          </p:cNvPicPr>
          <p:nvPr/>
        </p:nvPicPr>
        <p:blipFill>
          <a:blip r:embed="rId4"/>
          <a:stretch>
            <a:fillRect/>
          </a:stretch>
        </p:blipFill>
        <p:spPr>
          <a:xfrm>
            <a:off x="7150838" y="2702524"/>
            <a:ext cx="128699" cy="187198"/>
          </a:xfrm>
          <a:prstGeom prst="rect">
            <a:avLst/>
          </a:prstGeom>
        </p:spPr>
      </p:pic>
      <p:pic>
        <p:nvPicPr>
          <p:cNvPr id="390" name="Picture 389" descr="lock.png"/>
          <p:cNvPicPr>
            <a:picLocks noChangeAspect="1"/>
          </p:cNvPicPr>
          <p:nvPr/>
        </p:nvPicPr>
        <p:blipFill>
          <a:blip r:embed="rId4"/>
          <a:stretch>
            <a:fillRect/>
          </a:stretch>
        </p:blipFill>
        <p:spPr>
          <a:xfrm>
            <a:off x="7150838" y="3031091"/>
            <a:ext cx="128699" cy="187198"/>
          </a:xfrm>
          <a:prstGeom prst="rect">
            <a:avLst/>
          </a:prstGeom>
        </p:spPr>
      </p:pic>
      <p:pic>
        <p:nvPicPr>
          <p:cNvPr id="391" name="Picture 390" descr="lock.png"/>
          <p:cNvPicPr>
            <a:picLocks noChangeAspect="1"/>
          </p:cNvPicPr>
          <p:nvPr/>
        </p:nvPicPr>
        <p:blipFill>
          <a:blip r:embed="rId4"/>
          <a:stretch>
            <a:fillRect/>
          </a:stretch>
        </p:blipFill>
        <p:spPr>
          <a:xfrm>
            <a:off x="7150838" y="3560448"/>
            <a:ext cx="128699" cy="187198"/>
          </a:xfrm>
          <a:prstGeom prst="rect">
            <a:avLst/>
          </a:prstGeom>
        </p:spPr>
      </p:pic>
      <p:pic>
        <p:nvPicPr>
          <p:cNvPr id="392" name="Picture 391" descr="lock.png"/>
          <p:cNvPicPr>
            <a:picLocks noChangeAspect="1"/>
          </p:cNvPicPr>
          <p:nvPr/>
        </p:nvPicPr>
        <p:blipFill>
          <a:blip r:embed="rId4"/>
          <a:stretch>
            <a:fillRect/>
          </a:stretch>
        </p:blipFill>
        <p:spPr>
          <a:xfrm>
            <a:off x="8227163" y="2702524"/>
            <a:ext cx="128699" cy="187198"/>
          </a:xfrm>
          <a:prstGeom prst="rect">
            <a:avLst/>
          </a:prstGeom>
        </p:spPr>
      </p:pic>
      <p:pic>
        <p:nvPicPr>
          <p:cNvPr id="393" name="Picture 392" descr="lock.png"/>
          <p:cNvPicPr>
            <a:picLocks noChangeAspect="1"/>
          </p:cNvPicPr>
          <p:nvPr/>
        </p:nvPicPr>
        <p:blipFill>
          <a:blip r:embed="rId4"/>
          <a:stretch>
            <a:fillRect/>
          </a:stretch>
        </p:blipFill>
        <p:spPr>
          <a:xfrm>
            <a:off x="8227163" y="3031091"/>
            <a:ext cx="128699" cy="187198"/>
          </a:xfrm>
          <a:prstGeom prst="rect">
            <a:avLst/>
          </a:prstGeom>
        </p:spPr>
      </p:pic>
      <p:pic>
        <p:nvPicPr>
          <p:cNvPr id="394" name="Picture 393" descr="lock.png"/>
          <p:cNvPicPr>
            <a:picLocks noChangeAspect="1"/>
          </p:cNvPicPr>
          <p:nvPr/>
        </p:nvPicPr>
        <p:blipFill>
          <a:blip r:embed="rId4"/>
          <a:stretch>
            <a:fillRect/>
          </a:stretch>
        </p:blipFill>
        <p:spPr>
          <a:xfrm>
            <a:off x="8227162" y="3560448"/>
            <a:ext cx="128699" cy="187198"/>
          </a:xfrm>
          <a:prstGeom prst="rect">
            <a:avLst/>
          </a:prstGeom>
        </p:spPr>
      </p:pic>
      <p:pic>
        <p:nvPicPr>
          <p:cNvPr id="395" name="Picture 394" descr="lock.png"/>
          <p:cNvPicPr>
            <a:picLocks noChangeAspect="1"/>
          </p:cNvPicPr>
          <p:nvPr/>
        </p:nvPicPr>
        <p:blipFill>
          <a:blip r:embed="rId4"/>
          <a:stretch>
            <a:fillRect/>
          </a:stretch>
        </p:blipFill>
        <p:spPr>
          <a:xfrm>
            <a:off x="9303488" y="2702524"/>
            <a:ext cx="128699" cy="187198"/>
          </a:xfrm>
          <a:prstGeom prst="rect">
            <a:avLst/>
          </a:prstGeom>
        </p:spPr>
      </p:pic>
      <p:pic>
        <p:nvPicPr>
          <p:cNvPr id="396" name="Picture 395" descr="lock.png"/>
          <p:cNvPicPr>
            <a:picLocks noChangeAspect="1"/>
          </p:cNvPicPr>
          <p:nvPr/>
        </p:nvPicPr>
        <p:blipFill>
          <a:blip r:embed="rId4"/>
          <a:stretch>
            <a:fillRect/>
          </a:stretch>
        </p:blipFill>
        <p:spPr>
          <a:xfrm>
            <a:off x="9303488" y="3031091"/>
            <a:ext cx="128699" cy="187198"/>
          </a:xfrm>
          <a:prstGeom prst="rect">
            <a:avLst/>
          </a:prstGeom>
        </p:spPr>
      </p:pic>
      <p:pic>
        <p:nvPicPr>
          <p:cNvPr id="397" name="Picture 396" descr="lock.png"/>
          <p:cNvPicPr>
            <a:picLocks noChangeAspect="1"/>
          </p:cNvPicPr>
          <p:nvPr/>
        </p:nvPicPr>
        <p:blipFill>
          <a:blip r:embed="rId4"/>
          <a:stretch>
            <a:fillRect/>
          </a:stretch>
        </p:blipFill>
        <p:spPr>
          <a:xfrm>
            <a:off x="9303488" y="3560448"/>
            <a:ext cx="128699" cy="187198"/>
          </a:xfrm>
          <a:prstGeom prst="rect">
            <a:avLst/>
          </a:prstGeom>
        </p:spPr>
      </p:pic>
      <p:pic>
        <p:nvPicPr>
          <p:cNvPr id="398" name="Picture 397" descr="lock.png"/>
          <p:cNvPicPr>
            <a:picLocks noChangeAspect="1"/>
          </p:cNvPicPr>
          <p:nvPr/>
        </p:nvPicPr>
        <p:blipFill>
          <a:blip r:embed="rId4"/>
          <a:stretch>
            <a:fillRect/>
          </a:stretch>
        </p:blipFill>
        <p:spPr>
          <a:xfrm>
            <a:off x="10379813" y="2702524"/>
            <a:ext cx="128699" cy="187198"/>
          </a:xfrm>
          <a:prstGeom prst="rect">
            <a:avLst/>
          </a:prstGeom>
        </p:spPr>
      </p:pic>
      <p:pic>
        <p:nvPicPr>
          <p:cNvPr id="399" name="Picture 398" descr="lock.png"/>
          <p:cNvPicPr>
            <a:picLocks noChangeAspect="1"/>
          </p:cNvPicPr>
          <p:nvPr/>
        </p:nvPicPr>
        <p:blipFill>
          <a:blip r:embed="rId4"/>
          <a:stretch>
            <a:fillRect/>
          </a:stretch>
        </p:blipFill>
        <p:spPr>
          <a:xfrm>
            <a:off x="10379813" y="3031091"/>
            <a:ext cx="128699" cy="187198"/>
          </a:xfrm>
          <a:prstGeom prst="rect">
            <a:avLst/>
          </a:prstGeom>
        </p:spPr>
      </p:pic>
      <p:pic>
        <p:nvPicPr>
          <p:cNvPr id="400" name="Picture 399" descr="lock.png"/>
          <p:cNvPicPr>
            <a:picLocks noChangeAspect="1"/>
          </p:cNvPicPr>
          <p:nvPr/>
        </p:nvPicPr>
        <p:blipFill>
          <a:blip r:embed="rId4"/>
          <a:stretch>
            <a:fillRect/>
          </a:stretch>
        </p:blipFill>
        <p:spPr>
          <a:xfrm>
            <a:off x="10379812" y="3560448"/>
            <a:ext cx="128699" cy="187198"/>
          </a:xfrm>
          <a:prstGeom prst="rect">
            <a:avLst/>
          </a:prstGeom>
        </p:spPr>
      </p:pic>
      <p:pic>
        <p:nvPicPr>
          <p:cNvPr id="401" name="Picture 400" descr="lock.png"/>
          <p:cNvPicPr>
            <a:picLocks noChangeAspect="1"/>
          </p:cNvPicPr>
          <p:nvPr/>
        </p:nvPicPr>
        <p:blipFill>
          <a:blip r:embed="rId4"/>
          <a:stretch>
            <a:fillRect/>
          </a:stretch>
        </p:blipFill>
        <p:spPr>
          <a:xfrm>
            <a:off x="11456138" y="2702524"/>
            <a:ext cx="128699" cy="187198"/>
          </a:xfrm>
          <a:prstGeom prst="rect">
            <a:avLst/>
          </a:prstGeom>
        </p:spPr>
      </p:pic>
      <p:pic>
        <p:nvPicPr>
          <p:cNvPr id="402" name="Picture 401" descr="lock.png"/>
          <p:cNvPicPr>
            <a:picLocks noChangeAspect="1"/>
          </p:cNvPicPr>
          <p:nvPr/>
        </p:nvPicPr>
        <p:blipFill>
          <a:blip r:embed="rId4"/>
          <a:stretch>
            <a:fillRect/>
          </a:stretch>
        </p:blipFill>
        <p:spPr>
          <a:xfrm>
            <a:off x="11456138" y="3031091"/>
            <a:ext cx="128699" cy="187198"/>
          </a:xfrm>
          <a:prstGeom prst="rect">
            <a:avLst/>
          </a:prstGeom>
        </p:spPr>
      </p:pic>
      <p:pic>
        <p:nvPicPr>
          <p:cNvPr id="403" name="Picture 402" descr="lock.png"/>
          <p:cNvPicPr>
            <a:picLocks noChangeAspect="1"/>
          </p:cNvPicPr>
          <p:nvPr/>
        </p:nvPicPr>
        <p:blipFill>
          <a:blip r:embed="rId4"/>
          <a:stretch>
            <a:fillRect/>
          </a:stretch>
        </p:blipFill>
        <p:spPr>
          <a:xfrm>
            <a:off x="11456138" y="3560448"/>
            <a:ext cx="128699" cy="187198"/>
          </a:xfrm>
          <a:prstGeom prst="rect">
            <a:avLst/>
          </a:prstGeom>
        </p:spPr>
      </p:pic>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2">
            <a:extLst>
              <a:ext uri="{FF2B5EF4-FFF2-40B4-BE49-F238E27FC236}">
                <a16:creationId xmlns:a16="http://schemas.microsoft.com/office/drawing/2014/main" id="{CCC9DC92-CC39-269D-F4F6-1BCD7363F9A2}"/>
              </a:ext>
            </a:extLst>
          </p:cNvPr>
          <p:cNvSpPr/>
          <p:nvPr/>
        </p:nvSpPr>
        <p:spPr>
          <a:xfrm>
            <a:off x="0" y="0"/>
            <a:ext cx="12192000" cy="6858000"/>
          </a:xfrm>
          <a:prstGeom prst="rect">
            <a:avLst/>
          </a:prstGeom>
          <a:solidFill>
            <a:srgbClr val="FFFFFF"/>
          </a:solidFill>
          <a:ln>
            <a:solidFill>
              <a:srgbClr val="FFFFFF"/>
            </a:solidFill>
          </a:ln>
        </p:spPr>
        <p:style>
          <a:lnRef idx="2">
            <a:srgbClr val="2A5F8F">
              <a:shade val="15000"/>
            </a:srgbClr>
          </a:lnRef>
          <a:fillRef idx="1">
            <a:srgbClr val="2A5F8F"/>
          </a:fillRef>
          <a:effectRef idx="0">
            <a:srgbClr val="2A5F8F"/>
          </a:effectRef>
          <a:fontRef idx="minor">
            <a:srgbClr val="FFFFFF"/>
          </a:fontRef>
        </p:style>
        <p:txBody>
          <a:bodyPr rtlCol="0" anchor="ctr"/>
          <a:lstStyle/>
          <a:p>
            <a:pPr algn="ctr"/>
            <a:endParaRPr lang="en-US"/>
          </a:p>
        </p:txBody>
      </p:sp>
      <p:grpSp>
        <p:nvGrpSpPr>
          <p:cNvPr id="4" name="Group 23">
            <a:extLst>
              <a:ext uri="{FF2B5EF4-FFF2-40B4-BE49-F238E27FC236}">
                <a16:creationId xmlns:a16="http://schemas.microsoft.com/office/drawing/2014/main" id="{85B8B5CB-8306-A876-1A56-F5D391EBE3A2}"/>
              </a:ext>
            </a:extLst>
          </p:cNvPr>
          <p:cNvGrpSpPr>
            <a:grpSpLocks/>
          </p:cNvGrpSpPr>
          <p:nvPr/>
        </p:nvGrpSpPr>
        <p:grpSpPr bwMode="auto">
          <a:xfrm>
            <a:off x="152400" y="164419"/>
            <a:ext cx="12039600" cy="6021387"/>
            <a:chOff x="76010" y="229820"/>
            <a:chExt cx="12039981" cy="6021526"/>
          </a:xfrm>
        </p:grpSpPr>
        <p:sp>
          <p:nvSpPr>
            <p:cNvPr id="5" name="Rectangle 22">
              <a:extLst>
                <a:ext uri="{FF2B5EF4-FFF2-40B4-BE49-F238E27FC236}">
                  <a16:creationId xmlns:a16="http://schemas.microsoft.com/office/drawing/2014/main" id="{899C401F-7B85-B769-45BD-852117B2EFA8}"/>
                </a:ext>
              </a:extLst>
            </p:cNvPr>
            <p:cNvSpPr>
              <a:spLocks noChangeArrowheads="1"/>
            </p:cNvSpPr>
            <p:nvPr/>
          </p:nvSpPr>
          <p:spPr bwMode="auto">
            <a:xfrm>
              <a:off x="4523037" y="5943569"/>
              <a:ext cx="31459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tabLst>
                  <a:tab pos="930275" algn="l"/>
                </a:tabLst>
                <a:defRPr>
                  <a:solidFill>
                    <a:srgbClr val="000000"/>
                  </a:solidFill>
                  <a:latin typeface="Arial" panose="020B0604020202020204" pitchFamily="34" charset="0"/>
                  <a:cs typeface="Arial" panose="020B0604020202020204" pitchFamily="34" charset="0"/>
                </a:defRPr>
              </a:lvl1pPr>
              <a:lvl2pPr marL="742950" indent="-285750">
                <a:tabLst>
                  <a:tab pos="930275" algn="l"/>
                </a:tabLst>
                <a:defRPr>
                  <a:solidFill>
                    <a:srgbClr val="000000"/>
                  </a:solidFill>
                  <a:latin typeface="Arial" panose="020B0604020202020204" pitchFamily="34" charset="0"/>
                  <a:cs typeface="Arial" panose="020B0604020202020204" pitchFamily="34" charset="0"/>
                </a:defRPr>
              </a:lvl2pPr>
              <a:lvl3pPr marL="1143000" indent="-228600">
                <a:tabLst>
                  <a:tab pos="930275" algn="l"/>
                </a:tabLst>
                <a:defRPr>
                  <a:solidFill>
                    <a:srgbClr val="000000"/>
                  </a:solidFill>
                  <a:latin typeface="Arial" panose="020B0604020202020204" pitchFamily="34" charset="0"/>
                  <a:cs typeface="Arial" panose="020B0604020202020204" pitchFamily="34" charset="0"/>
                </a:defRPr>
              </a:lvl3pPr>
              <a:lvl4pPr marL="1600200" indent="-228600">
                <a:tabLst>
                  <a:tab pos="930275" algn="l"/>
                </a:tabLst>
                <a:defRPr>
                  <a:solidFill>
                    <a:srgbClr val="000000"/>
                  </a:solidFill>
                  <a:latin typeface="Arial" panose="020B0604020202020204" pitchFamily="34" charset="0"/>
                  <a:cs typeface="Arial" panose="020B0604020202020204" pitchFamily="34" charset="0"/>
                </a:defRPr>
              </a:lvl4pPr>
              <a:lvl5pPr marL="2057400" indent="-228600">
                <a:tabLst>
                  <a:tab pos="930275" algn="l"/>
                </a:tabLst>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30275" algn="l"/>
                </a:tabLst>
                <a:defRPr>
                  <a:solidFill>
                    <a:srgbClr val="000000"/>
                  </a:solidFill>
                  <a:latin typeface="Arial" panose="020B0604020202020204" pitchFamily="34" charset="0"/>
                  <a:cs typeface="Arial" panose="020B0604020202020204" pitchFamily="34" charset="0"/>
                </a:defRPr>
              </a:lvl9pPr>
            </a:lstStyle>
            <a:p>
              <a:pPr algn="ctr">
                <a:spcBef>
                  <a:spcPts val="200"/>
                </a:spcBef>
                <a:spcAft>
                  <a:spcPts val="200"/>
                </a:spcAft>
              </a:pPr>
              <a:r>
                <a:rPr lang="en-GB" altLang="en-US" sz="1400" b="1">
                  <a:ea typeface="MS PGothic" panose="020B0600070205080204" pitchFamily="34" charset="-128"/>
                </a:rPr>
                <a:t>Email: sales@futuremarketinsights.com</a:t>
              </a:r>
            </a:p>
          </p:txBody>
        </p:sp>
        <p:grpSp>
          <p:nvGrpSpPr>
            <p:cNvPr id="6" name="Group 21">
              <a:extLst>
                <a:ext uri="{FF2B5EF4-FFF2-40B4-BE49-F238E27FC236}">
                  <a16:creationId xmlns:a16="http://schemas.microsoft.com/office/drawing/2014/main" id="{5FBB3E24-8D41-905A-6BA3-11149D7E0A50}"/>
                </a:ext>
              </a:extLst>
            </p:cNvPr>
            <p:cNvGrpSpPr>
              <a:grpSpLocks/>
            </p:cNvGrpSpPr>
            <p:nvPr/>
          </p:nvGrpSpPr>
          <p:grpSpPr bwMode="auto">
            <a:xfrm>
              <a:off x="76010" y="229820"/>
              <a:ext cx="12039981" cy="5526596"/>
              <a:chOff x="76010" y="229820"/>
              <a:chExt cx="12039981" cy="5526596"/>
            </a:xfrm>
          </p:grpSpPr>
          <p:grpSp>
            <p:nvGrpSpPr>
              <p:cNvPr id="7" name="Group 24">
                <a:extLst>
                  <a:ext uri="{FF2B5EF4-FFF2-40B4-BE49-F238E27FC236}">
                    <a16:creationId xmlns:a16="http://schemas.microsoft.com/office/drawing/2014/main" id="{34C0848D-58FD-B698-603B-B8D2C7863B12}"/>
                  </a:ext>
                </a:extLst>
              </p:cNvPr>
              <p:cNvGrpSpPr>
                <a:grpSpLocks/>
              </p:cNvGrpSpPr>
              <p:nvPr/>
            </p:nvGrpSpPr>
            <p:grpSpPr bwMode="auto">
              <a:xfrm>
                <a:off x="76010" y="3513022"/>
                <a:ext cx="12039981" cy="54864"/>
                <a:chOff x="980685" y="3697699"/>
                <a:chExt cx="9950397" cy="54864"/>
              </a:xfrm>
            </p:grpSpPr>
            <p:sp>
              <p:nvSpPr>
                <p:cNvPr id="8" name="Rectangle 44">
                  <a:extLst>
                    <a:ext uri="{FF2B5EF4-FFF2-40B4-BE49-F238E27FC236}">
                      <a16:creationId xmlns:a16="http://schemas.microsoft.com/office/drawing/2014/main" id="{4C55A7B5-34B4-8F78-1AE4-63BEB5D835CF}"/>
                    </a:ext>
                  </a:extLst>
                </p:cNvPr>
                <p:cNvSpPr/>
                <p:nvPr/>
              </p:nvSpPr>
              <p:spPr>
                <a:xfrm>
                  <a:off x="980685" y="3697523"/>
                  <a:ext cx="3109499" cy="55563"/>
                </a:xfrm>
                <a:prstGeom prst="rect">
                  <a:avLst/>
                </a:prstGeom>
                <a:solidFill>
                  <a:srgbClr val="92C73E"/>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9" name="Rectangle 45">
                  <a:extLst>
                    <a:ext uri="{FF2B5EF4-FFF2-40B4-BE49-F238E27FC236}">
                      <a16:creationId xmlns:a16="http://schemas.microsoft.com/office/drawing/2014/main" id="{F34EF18C-34C1-6B37-6F48-1B3AC01098EE}"/>
                    </a:ext>
                  </a:extLst>
                </p:cNvPr>
                <p:cNvSpPr/>
                <p:nvPr/>
              </p:nvSpPr>
              <p:spPr>
                <a:xfrm>
                  <a:off x="4401134" y="3697523"/>
                  <a:ext cx="3109499" cy="55563"/>
                </a:xfrm>
                <a:prstGeom prst="rect">
                  <a:avLst/>
                </a:prstGeom>
                <a:solidFill>
                  <a:srgbClr val="EF5123"/>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sp>
              <p:nvSpPr>
                <p:cNvPr id="10" name="Rectangle 46">
                  <a:extLst>
                    <a:ext uri="{FF2B5EF4-FFF2-40B4-BE49-F238E27FC236}">
                      <a16:creationId xmlns:a16="http://schemas.microsoft.com/office/drawing/2014/main" id="{1DC20229-C001-A2E1-EEF4-879BB49DF54C}"/>
                    </a:ext>
                  </a:extLst>
                </p:cNvPr>
                <p:cNvSpPr/>
                <p:nvPr/>
              </p:nvSpPr>
              <p:spPr>
                <a:xfrm>
                  <a:off x="7821583" y="3697523"/>
                  <a:ext cx="3109499" cy="55563"/>
                </a:xfrm>
                <a:prstGeom prst="rect">
                  <a:avLst/>
                </a:prstGeom>
                <a:solidFill>
                  <a:srgbClr val="8F288C"/>
                </a:solidFill>
                <a:ln>
                  <a:noFill/>
                </a:ln>
              </p:spPr>
              <p:style>
                <a:lnRef idx="2">
                  <a:srgbClr val="2A5F8F">
                    <a:shade val="50000"/>
                  </a:srgbClr>
                </a:lnRef>
                <a:fillRef idx="1">
                  <a:srgbClr val="2A5F8F"/>
                </a:fillRef>
                <a:effectRef idx="0">
                  <a:srgbClr val="2A5F8F"/>
                </a:effectRef>
                <a:fontRef idx="minor">
                  <a:srgbClr val="FFFFFF"/>
                </a:fontRef>
              </p:style>
              <p:txBody>
                <a:bodyPr anchor="ctr"/>
                <a:lstStyle/>
                <a:p>
                  <a:pPr algn="ctr">
                    <a:defRPr/>
                  </a:pPr>
                  <a:endParaRPr lang="en-IN"/>
                </a:p>
              </p:txBody>
            </p:sp>
          </p:grpSp>
          <p:grpSp>
            <p:nvGrpSpPr>
              <p:cNvPr id="11" name="Group 7">
                <a:extLst>
                  <a:ext uri="{FF2B5EF4-FFF2-40B4-BE49-F238E27FC236}">
                    <a16:creationId xmlns:a16="http://schemas.microsoft.com/office/drawing/2014/main" id="{F5B19A97-FB1F-FD32-44EF-0C72BC8DD69D}"/>
                  </a:ext>
                </a:extLst>
              </p:cNvPr>
              <p:cNvGrpSpPr>
                <a:grpSpLocks/>
              </p:cNvGrpSpPr>
              <p:nvPr/>
            </p:nvGrpSpPr>
            <p:grpSpPr bwMode="auto">
              <a:xfrm>
                <a:off x="249774" y="3716063"/>
                <a:ext cx="11668690" cy="2040353"/>
                <a:chOff x="249774" y="3716063"/>
                <a:chExt cx="11668690" cy="2040353"/>
              </a:xfrm>
            </p:grpSpPr>
            <p:cxnSp>
              <p:nvCxnSpPr>
                <p:cNvPr id="12" name="Straight Connector 13">
                  <a:extLst>
                    <a:ext uri="{FF2B5EF4-FFF2-40B4-BE49-F238E27FC236}">
                      <a16:creationId xmlns:a16="http://schemas.microsoft.com/office/drawing/2014/main" id="{6212A6C9-95CF-65EB-6160-29A1FA8799D8}"/>
                    </a:ext>
                  </a:extLst>
                </p:cNvPr>
                <p:cNvCxnSpPr/>
                <p:nvPr/>
              </p:nvCxnSpPr>
              <p:spPr>
                <a:xfrm>
                  <a:off x="297328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3" name="Straight Connector 14">
                  <a:extLst>
                    <a:ext uri="{FF2B5EF4-FFF2-40B4-BE49-F238E27FC236}">
                      <a16:creationId xmlns:a16="http://schemas.microsoft.com/office/drawing/2014/main" id="{5569CE85-C66C-AE72-E1E5-D22A37A01501}"/>
                    </a:ext>
                  </a:extLst>
                </p:cNvPr>
                <p:cNvCxnSpPr/>
                <p:nvPr/>
              </p:nvCxnSpPr>
              <p:spPr>
                <a:xfrm>
                  <a:off x="6226179"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cxnSp>
              <p:nvCxnSpPr>
                <p:cNvPr id="14" name="Straight Connector 15">
                  <a:extLst>
                    <a:ext uri="{FF2B5EF4-FFF2-40B4-BE49-F238E27FC236}">
                      <a16:creationId xmlns:a16="http://schemas.microsoft.com/office/drawing/2014/main" id="{7FFA3833-E6A1-2A12-9739-19E5C6B0D04D}"/>
                    </a:ext>
                  </a:extLst>
                </p:cNvPr>
                <p:cNvCxnSpPr/>
                <p:nvPr/>
              </p:nvCxnSpPr>
              <p:spPr>
                <a:xfrm>
                  <a:off x="9426680" y="3736688"/>
                  <a:ext cx="0" cy="2011409"/>
                </a:xfrm>
                <a:prstGeom prst="line">
                  <a:avLst/>
                </a:prstGeom>
                <a:ln w="12700" cap="rnd">
                  <a:solidFill>
                    <a:srgbClr val="00B0F0"/>
                  </a:solidFill>
                  <a:prstDash val="sysDash"/>
                  <a:round/>
                </a:ln>
              </p:spPr>
              <p:style>
                <a:lnRef idx="1">
                  <a:srgbClr val="2A5F8F"/>
                </a:lnRef>
                <a:fillRef idx="0">
                  <a:srgbClr val="2A5F8F"/>
                </a:fillRef>
                <a:effectRef idx="0">
                  <a:srgbClr val="2A5F8F"/>
                </a:effectRef>
                <a:fontRef idx="minor">
                  <a:srgbClr val="000000"/>
                </a:fontRef>
              </p:style>
            </p:cxnSp>
            <p:grpSp>
              <p:nvGrpSpPr>
                <p:cNvPr id="15" name="Group 3">
                  <a:extLst>
                    <a:ext uri="{FF2B5EF4-FFF2-40B4-BE49-F238E27FC236}">
                      <a16:creationId xmlns:a16="http://schemas.microsoft.com/office/drawing/2014/main" id="{D6026827-3752-097F-C4B9-B5B0A33C1EE7}"/>
                    </a:ext>
                  </a:extLst>
                </p:cNvPr>
                <p:cNvGrpSpPr>
                  <a:grpSpLocks/>
                </p:cNvGrpSpPr>
                <p:nvPr/>
              </p:nvGrpSpPr>
              <p:grpSpPr bwMode="auto">
                <a:xfrm>
                  <a:off x="6746181" y="3731157"/>
                  <a:ext cx="2280186" cy="1706483"/>
                  <a:chOff x="6498583" y="3532655"/>
                  <a:chExt cx="2280186" cy="1706483"/>
                </a:xfrm>
              </p:grpSpPr>
              <p:grpSp>
                <p:nvGrpSpPr>
                  <p:cNvPr id="16" name="Group 28">
                    <a:extLst>
                      <a:ext uri="{FF2B5EF4-FFF2-40B4-BE49-F238E27FC236}">
                        <a16:creationId xmlns:a16="http://schemas.microsoft.com/office/drawing/2014/main" id="{F6A97133-09A9-4882-223C-0670F6DFD7E0}"/>
                      </a:ext>
                    </a:extLst>
                  </p:cNvPr>
                  <p:cNvGrpSpPr>
                    <a:grpSpLocks/>
                  </p:cNvGrpSpPr>
                  <p:nvPr/>
                </p:nvGrpSpPr>
                <p:grpSpPr bwMode="auto">
                  <a:xfrm>
                    <a:off x="6498583" y="3653110"/>
                    <a:ext cx="2280186" cy="1586028"/>
                    <a:chOff x="6373418" y="3837787"/>
                    <a:chExt cx="2280186" cy="1586028"/>
                  </a:xfrm>
                </p:grpSpPr>
                <p:sp>
                  <p:nvSpPr>
                    <p:cNvPr id="17" name="TextBox 39">
                      <a:extLst>
                        <a:ext uri="{FF2B5EF4-FFF2-40B4-BE49-F238E27FC236}">
                          <a16:creationId xmlns:a16="http://schemas.microsoft.com/office/drawing/2014/main" id="{46D75380-0311-71C0-CC91-426529CAAF89}"/>
                        </a:ext>
                      </a:extLst>
                    </p:cNvPr>
                    <p:cNvSpPr txBox="1">
                      <a:spLocks noChangeArrowheads="1"/>
                    </p:cNvSpPr>
                    <p:nvPr/>
                  </p:nvSpPr>
                  <p:spPr bwMode="auto">
                    <a:xfrm>
                      <a:off x="6734296" y="3837787"/>
                      <a:ext cx="19193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FF4500"/>
                          </a:solidFill>
                        </a:rPr>
                        <a:t>Middle East &amp; Africa</a:t>
                      </a:r>
                    </a:p>
                  </p:txBody>
                </p:sp>
                <p:sp>
                  <p:nvSpPr>
                    <p:cNvPr id="18" name="TextBox 42">
                      <a:extLst>
                        <a:ext uri="{FF2B5EF4-FFF2-40B4-BE49-F238E27FC236}">
                          <a16:creationId xmlns:a16="http://schemas.microsoft.com/office/drawing/2014/main" id="{5809E9B9-E741-68AD-D217-E199E00794EE}"/>
                        </a:ext>
                      </a:extLst>
                    </p:cNvPr>
                    <p:cNvSpPr txBox="1"/>
                    <p:nvPr/>
                  </p:nvSpPr>
                  <p:spPr>
                    <a:xfrm>
                      <a:off x="6374132" y="4322952"/>
                      <a:ext cx="1760594" cy="306395"/>
                    </a:xfrm>
                    <a:prstGeom prst="rect">
                      <a:avLst/>
                    </a:prstGeom>
                    <a:noFill/>
                  </p:spPr>
                  <p:txBody>
                    <a:bodyPr wrap="none">
                      <a:spAutoFit/>
                    </a:bodyPr>
                    <a:lstStyle/>
                    <a:p>
                      <a:pPr>
                        <a:defRPr/>
                      </a:pPr>
                      <a:r>
                        <a:rPr lang="en-IN" sz="1400" b="1" dirty="0">
                          <a:solidFill>
                            <a:srgbClr val="F8F8F8">
                              <a:lumMod val="25000"/>
                            </a:srgbClr>
                          </a:solidFill>
                        </a:rPr>
                        <a:t>Market Access DMCC</a:t>
                      </a:r>
                    </a:p>
                  </p:txBody>
                </p:sp>
                <p:sp>
                  <p:nvSpPr>
                    <p:cNvPr id="19" name="TextBox 41">
                      <a:extLst>
                        <a:ext uri="{FF2B5EF4-FFF2-40B4-BE49-F238E27FC236}">
                          <a16:creationId xmlns:a16="http://schemas.microsoft.com/office/drawing/2014/main" id="{9B546961-C861-56A8-7E65-8596A932CE67}"/>
                        </a:ext>
                      </a:extLst>
                    </p:cNvPr>
                    <p:cNvSpPr txBox="1">
                      <a:spLocks noChangeArrowheads="1"/>
                    </p:cNvSpPr>
                    <p:nvPr/>
                  </p:nvSpPr>
                  <p:spPr bwMode="auto">
                    <a:xfrm>
                      <a:off x="6373418" y="4592818"/>
                      <a:ext cx="212314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1602-6 Jumeirah Bay X2 Tower,</a:t>
                      </a:r>
                    </a:p>
                    <a:p>
                      <a:r>
                        <a:rPr lang="en-US" altLang="en-US" sz="1200"/>
                        <a:t>Plot No: JLT-PH2-X2A,</a:t>
                      </a:r>
                    </a:p>
                    <a:p>
                      <a:r>
                        <a:rPr lang="en-US" altLang="en-US" sz="1200"/>
                        <a:t>Jumeirah Lakes Towers, Dubai,</a:t>
                      </a:r>
                    </a:p>
                    <a:p>
                      <a:r>
                        <a:rPr lang="en-US" altLang="en-US" sz="1200"/>
                        <a:t>United Arab Emirates</a:t>
                      </a:r>
                      <a:endParaRPr lang="en-IN" altLang="en-US" sz="1200"/>
                    </a:p>
                  </p:txBody>
                </p:sp>
              </p:grpSp>
              <p:pic>
                <p:nvPicPr>
                  <p:cNvPr id="20" name="Picture 40">
                    <a:extLst>
                      <a:ext uri="{FF2B5EF4-FFF2-40B4-BE49-F238E27FC236}">
                        <a16:creationId xmlns:a16="http://schemas.microsoft.com/office/drawing/2014/main" id="{5156A16E-B887-4177-3106-696D2F06FC26}"/>
                      </a:ext>
                    </a:extLst>
                  </p:cNvPr>
                  <p:cNvPicPr>
                    <a:picLocks noChangeAspect="1"/>
                  </p:cNvPicPr>
                  <p:nvPr/>
                </p:nvPicPr>
                <p:blipFill>
                  <a:blip r:embed="rId2">
                    <a:duotone>
                      <a:srgbClr val="A35313">
                        <a:shade val="45000"/>
                        <a:satMod val="135000"/>
                      </a:srgbClr>
                      <a:prstClr val="white"/>
                    </a:duotone>
                  </a:blip>
                  <a:stretch>
                    <a:fillRect/>
                  </a:stretch>
                </p:blipFill>
                <p:spPr>
                  <a:xfrm>
                    <a:off x="6553299" y="3532655"/>
                    <a:ext cx="314753" cy="579465"/>
                  </a:xfrm>
                  <a:prstGeom prst="rect">
                    <a:avLst/>
                  </a:prstGeom>
                </p:spPr>
              </p:pic>
            </p:grpSp>
            <p:grpSp>
              <p:nvGrpSpPr>
                <p:cNvPr id="21" name="Group 5">
                  <a:extLst>
                    <a:ext uri="{FF2B5EF4-FFF2-40B4-BE49-F238E27FC236}">
                      <a16:creationId xmlns:a16="http://schemas.microsoft.com/office/drawing/2014/main" id="{2A4B2992-1262-B6DC-A65D-C0A800D496DF}"/>
                    </a:ext>
                  </a:extLst>
                </p:cNvPr>
                <p:cNvGrpSpPr>
                  <a:grpSpLocks/>
                </p:cNvGrpSpPr>
                <p:nvPr/>
              </p:nvGrpSpPr>
              <p:grpSpPr bwMode="auto">
                <a:xfrm>
                  <a:off x="3461337" y="3716063"/>
                  <a:ext cx="2276777" cy="2040353"/>
                  <a:chOff x="3837718" y="3645035"/>
                  <a:chExt cx="2276777" cy="2040353"/>
                </a:xfrm>
              </p:grpSpPr>
              <p:grpSp>
                <p:nvGrpSpPr>
                  <p:cNvPr id="22" name="Group 27">
                    <a:extLst>
                      <a:ext uri="{FF2B5EF4-FFF2-40B4-BE49-F238E27FC236}">
                        <a16:creationId xmlns:a16="http://schemas.microsoft.com/office/drawing/2014/main" id="{6828E551-2150-B3BA-D2CA-97B824FA8924}"/>
                      </a:ext>
                    </a:extLst>
                  </p:cNvPr>
                  <p:cNvGrpSpPr>
                    <a:grpSpLocks/>
                  </p:cNvGrpSpPr>
                  <p:nvPr/>
                </p:nvGrpSpPr>
                <p:grpSpPr bwMode="auto">
                  <a:xfrm>
                    <a:off x="3837718" y="3780584"/>
                    <a:ext cx="2276777" cy="1904804"/>
                    <a:chOff x="3358345" y="3965261"/>
                    <a:chExt cx="2276777" cy="1904804"/>
                  </a:xfrm>
                </p:grpSpPr>
                <p:sp>
                  <p:nvSpPr>
                    <p:cNvPr id="23" name="TextBox 42">
                      <a:extLst>
                        <a:ext uri="{FF2B5EF4-FFF2-40B4-BE49-F238E27FC236}">
                          <a16:creationId xmlns:a16="http://schemas.microsoft.com/office/drawing/2014/main" id="{A41A6F39-951D-AE17-5A44-85C21DFFF8C3}"/>
                        </a:ext>
                      </a:extLst>
                    </p:cNvPr>
                    <p:cNvSpPr txBox="1">
                      <a:spLocks noChangeArrowheads="1"/>
                    </p:cNvSpPr>
                    <p:nvPr/>
                  </p:nvSpPr>
                  <p:spPr bwMode="auto">
                    <a:xfrm>
                      <a:off x="3744196" y="3965261"/>
                      <a:ext cx="9705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048B42"/>
                          </a:solidFill>
                        </a:rPr>
                        <a:t>Americas</a:t>
                      </a:r>
                    </a:p>
                  </p:txBody>
                </p:sp>
                <p:sp>
                  <p:nvSpPr>
                    <p:cNvPr id="24" name="TextBox 36">
                      <a:extLst>
                        <a:ext uri="{FF2B5EF4-FFF2-40B4-BE49-F238E27FC236}">
                          <a16:creationId xmlns:a16="http://schemas.microsoft.com/office/drawing/2014/main" id="{40F1E73B-005C-8069-CCAA-3318246B265D}"/>
                        </a:ext>
                      </a:extLst>
                    </p:cNvPr>
                    <p:cNvSpPr txBox="1"/>
                    <p:nvPr/>
                  </p:nvSpPr>
                  <p:spPr>
                    <a:xfrm>
                      <a:off x="3357675" y="4448839"/>
                      <a:ext cx="1871722"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25" name="TextBox 44">
                      <a:extLst>
                        <a:ext uri="{FF2B5EF4-FFF2-40B4-BE49-F238E27FC236}">
                          <a16:creationId xmlns:a16="http://schemas.microsoft.com/office/drawing/2014/main" id="{4ACA2C08-410D-CEED-63E0-EB4A1E0D76C3}"/>
                        </a:ext>
                      </a:extLst>
                    </p:cNvPr>
                    <p:cNvSpPr txBox="1">
                      <a:spLocks noChangeArrowheads="1"/>
                    </p:cNvSpPr>
                    <p:nvPr/>
                  </p:nvSpPr>
                  <p:spPr bwMode="auto">
                    <a:xfrm>
                      <a:off x="3358345" y="4720292"/>
                      <a:ext cx="227677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616 Corporate Way, Suite 2-9018,</a:t>
                      </a:r>
                    </a:p>
                    <a:p>
                      <a:r>
                        <a:rPr lang="en-US" altLang="en-US" sz="1200"/>
                        <a:t>Valley Cottage, NY 10989,</a:t>
                      </a:r>
                    </a:p>
                    <a:p>
                      <a:r>
                        <a:rPr lang="en-US" altLang="en-US" sz="1200"/>
                        <a:t>United States</a:t>
                      </a:r>
                      <a:endParaRPr lang="en-IN" altLang="en-US" sz="1200"/>
                    </a:p>
                  </p:txBody>
                </p:sp>
                <p:sp>
                  <p:nvSpPr>
                    <p:cNvPr id="26" name="TextBox 45">
                      <a:extLst>
                        <a:ext uri="{FF2B5EF4-FFF2-40B4-BE49-F238E27FC236}">
                          <a16:creationId xmlns:a16="http://schemas.microsoft.com/office/drawing/2014/main" id="{FE65EAAC-CE25-57B8-E88C-905CD3E8F924}"/>
                        </a:ext>
                      </a:extLst>
                    </p:cNvPr>
                    <p:cNvSpPr txBox="1">
                      <a:spLocks noChangeArrowheads="1"/>
                    </p:cNvSpPr>
                    <p:nvPr/>
                  </p:nvSpPr>
                  <p:spPr bwMode="auto">
                    <a:xfrm>
                      <a:off x="3358345" y="5593066"/>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+1-347-918-3531</a:t>
                      </a:r>
                      <a:endParaRPr lang="en-IN" altLang="en-US" sz="1200"/>
                    </a:p>
                  </p:txBody>
                </p:sp>
              </p:grpSp>
              <p:pic>
                <p:nvPicPr>
                  <p:cNvPr id="27" name="Picture 34">
                    <a:extLst>
                      <a:ext uri="{FF2B5EF4-FFF2-40B4-BE49-F238E27FC236}">
                        <a16:creationId xmlns:a16="http://schemas.microsoft.com/office/drawing/2014/main" id="{AE4DE93F-AF7B-7477-A367-DD4AF96A40A2}"/>
                      </a:ext>
                    </a:extLst>
                  </p:cNvPr>
                  <p:cNvPicPr>
                    <a:picLocks noChangeAspect="1"/>
                  </p:cNvPicPr>
                  <p:nvPr/>
                </p:nvPicPr>
                <p:blipFill>
                  <a:blip r:embed="rId3">
                    <a:duotone>
                      <a:srgbClr val="008189">
                        <a:shade val="45000"/>
                        <a:satMod val="135000"/>
                      </a:srgbClr>
                      <a:prstClr val="white"/>
                    </a:duotone>
                  </a:blip>
                  <a:stretch>
                    <a:fillRect/>
                  </a:stretch>
                </p:blipFill>
                <p:spPr>
                  <a:xfrm>
                    <a:off x="3941302" y="3645035"/>
                    <a:ext cx="304826" cy="609653"/>
                  </a:xfrm>
                  <a:prstGeom prst="rect">
                    <a:avLst/>
                  </a:prstGeom>
                </p:spPr>
              </p:pic>
            </p:grpSp>
            <p:grpSp>
              <p:nvGrpSpPr>
                <p:cNvPr id="28" name="Group 6">
                  <a:extLst>
                    <a:ext uri="{FF2B5EF4-FFF2-40B4-BE49-F238E27FC236}">
                      <a16:creationId xmlns:a16="http://schemas.microsoft.com/office/drawing/2014/main" id="{190EABA1-B31E-3B09-B1F2-A13884B8AD17}"/>
                    </a:ext>
                  </a:extLst>
                </p:cNvPr>
                <p:cNvGrpSpPr>
                  <a:grpSpLocks/>
                </p:cNvGrpSpPr>
                <p:nvPr/>
              </p:nvGrpSpPr>
              <p:grpSpPr bwMode="auto">
                <a:xfrm>
                  <a:off x="249774" y="3783125"/>
                  <a:ext cx="2236703" cy="1973291"/>
                  <a:chOff x="1216927" y="3772923"/>
                  <a:chExt cx="2236703" cy="1973291"/>
                </a:xfrm>
              </p:grpSpPr>
              <p:grpSp>
                <p:nvGrpSpPr>
                  <p:cNvPr id="29" name="Group 25">
                    <a:extLst>
                      <a:ext uri="{FF2B5EF4-FFF2-40B4-BE49-F238E27FC236}">
                        <a16:creationId xmlns:a16="http://schemas.microsoft.com/office/drawing/2014/main" id="{A1A8DC19-AF5B-6C89-F2CD-2778F01B419C}"/>
                      </a:ext>
                    </a:extLst>
                  </p:cNvPr>
                  <p:cNvGrpSpPr>
                    <a:grpSpLocks/>
                  </p:cNvGrpSpPr>
                  <p:nvPr/>
                </p:nvGrpSpPr>
                <p:grpSpPr bwMode="auto">
                  <a:xfrm>
                    <a:off x="1216927" y="3841410"/>
                    <a:ext cx="2236703" cy="1904804"/>
                    <a:chOff x="343272" y="4026087"/>
                    <a:chExt cx="2236703" cy="1904804"/>
                  </a:xfrm>
                </p:grpSpPr>
                <p:sp>
                  <p:nvSpPr>
                    <p:cNvPr id="30" name="TextBox 29">
                      <a:extLst>
                        <a:ext uri="{FF2B5EF4-FFF2-40B4-BE49-F238E27FC236}">
                          <a16:creationId xmlns:a16="http://schemas.microsoft.com/office/drawing/2014/main" id="{C78C136C-FF65-10A5-69D0-6976A498591E}"/>
                        </a:ext>
                      </a:extLst>
                    </p:cNvPr>
                    <p:cNvSpPr txBox="1"/>
                    <p:nvPr/>
                  </p:nvSpPr>
                  <p:spPr>
                    <a:xfrm>
                      <a:off x="963283" y="4025467"/>
                      <a:ext cx="1347831" cy="338146"/>
                    </a:xfrm>
                    <a:prstGeom prst="rect">
                      <a:avLst/>
                    </a:prstGeom>
                    <a:noFill/>
                  </p:spPr>
                  <p:txBody>
                    <a:bodyPr wrap="none">
                      <a:spAutoFit/>
                    </a:bodyPr>
                    <a:lstStyle/>
                    <a:p>
                      <a:pPr>
                        <a:defRPr/>
                      </a:pPr>
                      <a:r>
                        <a:rPr lang="en-IN" sz="1600" b="1" dirty="0">
                          <a:solidFill>
                            <a:srgbClr val="2A5F8F">
                              <a:lumMod val="50000"/>
                            </a:srgbClr>
                          </a:solidFill>
                        </a:rPr>
                        <a:t>Headquarters</a:t>
                      </a:r>
                    </a:p>
                  </p:txBody>
                </p:sp>
                <p:sp>
                  <p:nvSpPr>
                    <p:cNvPr id="31" name="TextBox 30">
                      <a:extLst>
                        <a:ext uri="{FF2B5EF4-FFF2-40B4-BE49-F238E27FC236}">
                          <a16:creationId xmlns:a16="http://schemas.microsoft.com/office/drawing/2014/main" id="{5CFB6527-6D97-69B5-C71C-CC03EB68BBF7}"/>
                        </a:ext>
                      </a:extLst>
                    </p:cNvPr>
                    <p:cNvSpPr txBox="1"/>
                    <p:nvPr/>
                  </p:nvSpPr>
                  <p:spPr>
                    <a:xfrm>
                      <a:off x="342551" y="4509666"/>
                      <a:ext cx="2225746" cy="307982"/>
                    </a:xfrm>
                    <a:prstGeom prst="rect">
                      <a:avLst/>
                    </a:prstGeom>
                    <a:noFill/>
                  </p:spPr>
                  <p:txBody>
                    <a:bodyPr wrap="none">
                      <a:spAutoFit/>
                    </a:bodyPr>
                    <a:lstStyle/>
                    <a:p>
                      <a:pPr>
                        <a:defRPr/>
                      </a:pPr>
                      <a:r>
                        <a:rPr lang="en-IN" sz="1400" b="1" dirty="0">
                          <a:solidFill>
                            <a:srgbClr val="F8F8F8">
                              <a:lumMod val="25000"/>
                            </a:srgbClr>
                          </a:solidFill>
                        </a:rPr>
                        <a:t>Future Market Insights, Inc.</a:t>
                      </a:r>
                    </a:p>
                  </p:txBody>
                </p:sp>
                <p:sp>
                  <p:nvSpPr>
                    <p:cNvPr id="32" name="TextBox 48">
                      <a:extLst>
                        <a:ext uri="{FF2B5EF4-FFF2-40B4-BE49-F238E27FC236}">
                          <a16:creationId xmlns:a16="http://schemas.microsoft.com/office/drawing/2014/main" id="{5E42A1C6-BB29-D226-788C-C515B7D7F676}"/>
                        </a:ext>
                      </a:extLst>
                    </p:cNvPr>
                    <p:cNvSpPr txBox="1">
                      <a:spLocks noChangeArrowheads="1"/>
                    </p:cNvSpPr>
                    <p:nvPr/>
                  </p:nvSpPr>
                  <p:spPr bwMode="auto">
                    <a:xfrm>
                      <a:off x="343272" y="4781118"/>
                      <a:ext cx="22367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Christiana Corporate,</a:t>
                      </a:r>
                    </a:p>
                    <a:p>
                      <a:r>
                        <a:rPr lang="en-US" altLang="en-US" sz="1200"/>
                        <a:t>200 Continental Drive, Suite 401,</a:t>
                      </a:r>
                    </a:p>
                    <a:p>
                      <a:r>
                        <a:rPr lang="en-US" altLang="en-US" sz="1200"/>
                        <a:t>Newark, Delaware - 19713,</a:t>
                      </a:r>
                    </a:p>
                    <a:p>
                      <a:r>
                        <a:rPr lang="en-US" altLang="en-US" sz="1200"/>
                        <a:t>United States</a:t>
                      </a:r>
                      <a:endParaRPr lang="en-IN" altLang="en-US" sz="1200"/>
                    </a:p>
                  </p:txBody>
                </p:sp>
                <p:sp>
                  <p:nvSpPr>
                    <p:cNvPr id="33" name="TextBox 49">
                      <a:extLst>
                        <a:ext uri="{FF2B5EF4-FFF2-40B4-BE49-F238E27FC236}">
                          <a16:creationId xmlns:a16="http://schemas.microsoft.com/office/drawing/2014/main" id="{7B0EBAC2-0F15-2082-71DE-E18F4A36524D}"/>
                        </a:ext>
                      </a:extLst>
                    </p:cNvPr>
                    <p:cNvSpPr txBox="1">
                      <a:spLocks noChangeArrowheads="1"/>
                    </p:cNvSpPr>
                    <p:nvPr/>
                  </p:nvSpPr>
                  <p:spPr bwMode="auto">
                    <a:xfrm>
                      <a:off x="343272" y="5653892"/>
                      <a:ext cx="14073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+1-845-579-5705</a:t>
                      </a:r>
                      <a:endParaRPr lang="en-IN" altLang="en-US" sz="1200"/>
                    </a:p>
                  </p:txBody>
                </p:sp>
              </p:grpSp>
              <p:pic>
                <p:nvPicPr>
                  <p:cNvPr id="34" name="Picture 28">
                    <a:extLst>
                      <a:ext uri="{FF2B5EF4-FFF2-40B4-BE49-F238E27FC236}">
                        <a16:creationId xmlns:a16="http://schemas.microsoft.com/office/drawing/2014/main" id="{B598E670-72B9-922C-CBE9-A98B47FD87DC}"/>
                      </a:ext>
                    </a:extLst>
                  </p:cNvPr>
                  <p:cNvPicPr>
                    <a:picLocks noChangeAspect="1"/>
                  </p:cNvPicPr>
                  <p:nvPr/>
                </p:nvPicPr>
                <p:blipFill>
                  <a:blip r:embed="rId4">
                    <a:duotone>
                      <a:srgbClr val="2A5F8F">
                        <a:shade val="45000"/>
                        <a:satMod val="135000"/>
                      </a:srgbClr>
                      <a:prstClr val="white"/>
                    </a:duotone>
                  </a:blip>
                  <a:stretch>
                    <a:fillRect/>
                  </a:stretch>
                </p:blipFill>
                <p:spPr>
                  <a:xfrm>
                    <a:off x="1306513" y="3772923"/>
                    <a:ext cx="469433" cy="475529"/>
                  </a:xfrm>
                  <a:prstGeom prst="rect">
                    <a:avLst/>
                  </a:prstGeom>
                </p:spPr>
              </p:pic>
            </p:grpSp>
            <p:grpSp>
              <p:nvGrpSpPr>
                <p:cNvPr id="35" name="Group 2">
                  <a:extLst>
                    <a:ext uri="{FF2B5EF4-FFF2-40B4-BE49-F238E27FC236}">
                      <a16:creationId xmlns:a16="http://schemas.microsoft.com/office/drawing/2014/main" id="{4F9635CF-9D3F-75B0-5B7E-AEF9828266C3}"/>
                    </a:ext>
                  </a:extLst>
                </p:cNvPr>
                <p:cNvGrpSpPr>
                  <a:grpSpLocks/>
                </p:cNvGrpSpPr>
                <p:nvPr/>
              </p:nvGrpSpPr>
              <p:grpSpPr bwMode="auto">
                <a:xfrm>
                  <a:off x="9935559" y="3767762"/>
                  <a:ext cx="1982905" cy="1988654"/>
                  <a:chOff x="9005815" y="3745083"/>
                  <a:chExt cx="1982905" cy="1988654"/>
                </a:xfrm>
              </p:grpSpPr>
              <p:grpSp>
                <p:nvGrpSpPr>
                  <p:cNvPr id="36" name="Group 29">
                    <a:extLst>
                      <a:ext uri="{FF2B5EF4-FFF2-40B4-BE49-F238E27FC236}">
                        <a16:creationId xmlns:a16="http://schemas.microsoft.com/office/drawing/2014/main" id="{17F31F47-291F-4405-8AEA-EC1AAB6AA332}"/>
                      </a:ext>
                    </a:extLst>
                  </p:cNvPr>
                  <p:cNvGrpSpPr>
                    <a:grpSpLocks/>
                  </p:cNvGrpSpPr>
                  <p:nvPr/>
                </p:nvGrpSpPr>
                <p:grpSpPr bwMode="auto">
                  <a:xfrm>
                    <a:off x="9005815" y="3828933"/>
                    <a:ext cx="1982905" cy="1904804"/>
                    <a:chOff x="9388489" y="4013610"/>
                    <a:chExt cx="1982905" cy="1904804"/>
                  </a:xfrm>
                </p:grpSpPr>
                <p:sp>
                  <p:nvSpPr>
                    <p:cNvPr id="37" name="TextBox 32">
                      <a:extLst>
                        <a:ext uri="{FF2B5EF4-FFF2-40B4-BE49-F238E27FC236}">
                          <a16:creationId xmlns:a16="http://schemas.microsoft.com/office/drawing/2014/main" id="{C20F854C-8002-E239-0772-DDA0A057E702}"/>
                        </a:ext>
                      </a:extLst>
                    </p:cNvPr>
                    <p:cNvSpPr txBox="1">
                      <a:spLocks noChangeArrowheads="1"/>
                    </p:cNvSpPr>
                    <p:nvPr/>
                  </p:nvSpPr>
                  <p:spPr bwMode="auto">
                    <a:xfrm>
                      <a:off x="9829414" y="4013610"/>
                      <a:ext cx="7897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IN" altLang="en-US" sz="1600" b="1">
                          <a:solidFill>
                            <a:srgbClr val="8F288C"/>
                          </a:solidFill>
                        </a:rPr>
                        <a:t>Europe</a:t>
                      </a:r>
                    </a:p>
                  </p:txBody>
                </p:sp>
                <p:sp>
                  <p:nvSpPr>
                    <p:cNvPr id="38" name="TextBox 23">
                      <a:extLst>
                        <a:ext uri="{FF2B5EF4-FFF2-40B4-BE49-F238E27FC236}">
                          <a16:creationId xmlns:a16="http://schemas.microsoft.com/office/drawing/2014/main" id="{3322F8A5-D2B8-33CA-96AC-DF4EE7ACCB80}"/>
                        </a:ext>
                      </a:extLst>
                    </p:cNvPr>
                    <p:cNvSpPr txBox="1"/>
                    <p:nvPr/>
                  </p:nvSpPr>
                  <p:spPr>
                    <a:xfrm>
                      <a:off x="9389214" y="4498775"/>
                      <a:ext cx="1870134" cy="307982"/>
                    </a:xfrm>
                    <a:prstGeom prst="rect">
                      <a:avLst/>
                    </a:prstGeom>
                    <a:noFill/>
                  </p:spPr>
                  <p:txBody>
                    <a:bodyPr wrap="none">
                      <a:spAutoFit/>
                    </a:bodyPr>
                    <a:lstStyle/>
                    <a:p>
                      <a:pPr>
                        <a:defRPr/>
                      </a:pPr>
                      <a:r>
                        <a:rPr lang="en-IN" sz="1400" b="1" dirty="0">
                          <a:solidFill>
                            <a:srgbClr val="F8F8F8">
                              <a:lumMod val="25000"/>
                            </a:srgbClr>
                          </a:solidFill>
                        </a:rPr>
                        <a:t>Future Market Insights</a:t>
                      </a:r>
                    </a:p>
                  </p:txBody>
                </p:sp>
                <p:sp>
                  <p:nvSpPr>
                    <p:cNvPr id="39" name="TextBox 36">
                      <a:extLst>
                        <a:ext uri="{FF2B5EF4-FFF2-40B4-BE49-F238E27FC236}">
                          <a16:creationId xmlns:a16="http://schemas.microsoft.com/office/drawing/2014/main" id="{BF5AF88F-6B60-2785-4EAA-4D18C1EE2E10}"/>
                        </a:ext>
                      </a:extLst>
                    </p:cNvPr>
                    <p:cNvSpPr txBox="1">
                      <a:spLocks noChangeArrowheads="1"/>
                    </p:cNvSpPr>
                    <p:nvPr/>
                  </p:nvSpPr>
                  <p:spPr bwMode="auto">
                    <a:xfrm>
                      <a:off x="9402137" y="4768641"/>
                      <a:ext cx="19692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3rd Floor, 207 Regent Street,</a:t>
                      </a:r>
                    </a:p>
                    <a:p>
                      <a:r>
                        <a:rPr lang="en-US" altLang="en-US" sz="1200"/>
                        <a:t>London W1B 3HH</a:t>
                      </a:r>
                    </a:p>
                    <a:p>
                      <a:r>
                        <a:rPr lang="en-US" altLang="en-US" sz="1200"/>
                        <a:t>United Kingdom</a:t>
                      </a:r>
                      <a:endParaRPr lang="en-IN" altLang="en-US" sz="1200"/>
                    </a:p>
                  </p:txBody>
                </p:sp>
                <p:sp>
                  <p:nvSpPr>
                    <p:cNvPr id="40" name="TextBox 37">
                      <a:extLst>
                        <a:ext uri="{FF2B5EF4-FFF2-40B4-BE49-F238E27FC236}">
                          <a16:creationId xmlns:a16="http://schemas.microsoft.com/office/drawing/2014/main" id="{6C7DE665-66A8-41DE-5008-32252CDA85C7}"/>
                        </a:ext>
                      </a:extLst>
                    </p:cNvPr>
                    <p:cNvSpPr txBox="1">
                      <a:spLocks noChangeArrowheads="1"/>
                    </p:cNvSpPr>
                    <p:nvPr/>
                  </p:nvSpPr>
                  <p:spPr bwMode="auto">
                    <a:xfrm>
                      <a:off x="9388489" y="5641415"/>
                      <a:ext cx="16882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D: +44 (0) 20 3287 4268</a:t>
                      </a:r>
                      <a:endParaRPr lang="en-IN" altLang="en-US" sz="1200"/>
                    </a:p>
                  </p:txBody>
                </p:sp>
                <p:sp>
                  <p:nvSpPr>
                    <p:cNvPr id="41" name="TextBox 38">
                      <a:extLst>
                        <a:ext uri="{FF2B5EF4-FFF2-40B4-BE49-F238E27FC236}">
                          <a16:creationId xmlns:a16="http://schemas.microsoft.com/office/drawing/2014/main" id="{7192F681-8D30-360D-BE9D-3B3024A1F2DD}"/>
                        </a:ext>
                      </a:extLst>
                    </p:cNvPr>
                    <p:cNvSpPr txBox="1">
                      <a:spLocks noChangeArrowheads="1"/>
                    </p:cNvSpPr>
                    <p:nvPr/>
                  </p:nvSpPr>
                  <p:spPr bwMode="auto">
                    <a:xfrm>
                      <a:off x="9388489" y="5392439"/>
                      <a:ext cx="16942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r>
                        <a:rPr lang="en-US" altLang="en-US" sz="1200"/>
                        <a:t>T: + 44 (0) 20 8123 9659</a:t>
                      </a:r>
                      <a:endParaRPr lang="en-IN" altLang="en-US" sz="1200"/>
                    </a:p>
                  </p:txBody>
                </p:sp>
              </p:grpSp>
              <p:pic>
                <p:nvPicPr>
                  <p:cNvPr id="42" name="Picture 21">
                    <a:extLst>
                      <a:ext uri="{FF2B5EF4-FFF2-40B4-BE49-F238E27FC236}">
                        <a16:creationId xmlns:a16="http://schemas.microsoft.com/office/drawing/2014/main" id="{0DB190B5-E4D9-2234-7560-F46B079C348A}"/>
                      </a:ext>
                    </a:extLst>
                  </p:cNvPr>
                  <p:cNvPicPr>
                    <a:picLocks noChangeAspect="1"/>
                  </p:cNvPicPr>
                  <p:nvPr/>
                </p:nvPicPr>
                <p:blipFill>
                  <a:blip r:embed="rId5">
                    <a:duotone>
                      <a:srgbClr val="40315E">
                        <a:shade val="45000"/>
                        <a:satMod val="135000"/>
                      </a:srgbClr>
                      <a:prstClr val="white"/>
                    </a:duotone>
                  </a:blip>
                  <a:stretch>
                    <a:fillRect/>
                  </a:stretch>
                </p:blipFill>
                <p:spPr>
                  <a:xfrm>
                    <a:off x="9124235" y="3745083"/>
                    <a:ext cx="348835" cy="506254"/>
                  </a:xfrm>
                  <a:prstGeom prst="rect">
                    <a:avLst/>
                  </a:prstGeom>
                </p:spPr>
              </p:pic>
            </p:grpSp>
          </p:grpSp>
          <p:sp>
            <p:nvSpPr>
              <p:cNvPr id="43" name="TextBox 55">
                <a:extLst>
                  <a:ext uri="{FF2B5EF4-FFF2-40B4-BE49-F238E27FC236}">
                    <a16:creationId xmlns:a16="http://schemas.microsoft.com/office/drawing/2014/main" id="{143EC9E9-5458-9CB8-6ACE-446AFE79BB51}"/>
                  </a:ext>
                </a:extLst>
              </p:cNvPr>
              <p:cNvSpPr txBox="1">
                <a:spLocks noChangeArrowheads="1"/>
              </p:cNvSpPr>
              <p:nvPr/>
            </p:nvSpPr>
            <p:spPr bwMode="auto">
              <a:xfrm>
                <a:off x="274514" y="798871"/>
                <a:ext cx="1890261" cy="2041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rgbClr val="000000"/>
                    </a:solidFill>
                    <a:latin typeface="Arial" panose="020B0604020202020204" pitchFamily="34" charset="0"/>
                    <a:cs typeface="Arial" panose="020B0604020202020204" pitchFamily="34" charset="0"/>
                  </a:defRPr>
                </a:lvl1pPr>
                <a:lvl2pPr marL="742950" indent="-285750">
                  <a:defRPr>
                    <a:solidFill>
                      <a:srgbClr val="000000"/>
                    </a:solidFill>
                    <a:latin typeface="Arial" panose="020B0604020202020204" pitchFamily="34" charset="0"/>
                    <a:cs typeface="Arial" panose="020B0604020202020204" pitchFamily="34" charset="0"/>
                  </a:defRPr>
                </a:lvl2pPr>
                <a:lvl3pPr marL="1143000" indent="-228600">
                  <a:defRPr>
                    <a:solidFill>
                      <a:srgbClr val="000000"/>
                    </a:solidFill>
                    <a:latin typeface="Arial" panose="020B0604020202020204" pitchFamily="34" charset="0"/>
                    <a:cs typeface="Arial" panose="020B0604020202020204" pitchFamily="34" charset="0"/>
                  </a:defRPr>
                </a:lvl3pPr>
                <a:lvl4pPr marL="1600200" indent="-228600">
                  <a:defRPr>
                    <a:solidFill>
                      <a:srgbClr val="000000"/>
                    </a:solidFill>
                    <a:latin typeface="Arial" panose="020B0604020202020204" pitchFamily="34" charset="0"/>
                    <a:cs typeface="Arial" panose="020B0604020202020204" pitchFamily="34" charset="0"/>
                  </a:defRPr>
                </a:lvl4pPr>
                <a:lvl5pPr marL="2057400" indent="-228600">
                  <a:defRPr>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cs typeface="Arial" panose="020B0604020202020204" pitchFamily="34" charset="0"/>
                  </a:defRPr>
                </a:lvl9pPr>
              </a:lstStyle>
              <a:p>
                <a:pPr algn="ctr">
                  <a:lnSpc>
                    <a:spcPts val="7600"/>
                  </a:lnSpc>
                </a:pPr>
                <a:r>
                  <a:rPr lang="en-IN" altLang="en-US" sz="8000">
                    <a:solidFill>
                      <a:srgbClr val="00B0F0"/>
                    </a:solidFill>
                    <a:latin typeface="Juxtaposer"/>
                  </a:rPr>
                  <a:t>Thank</a:t>
                </a:r>
                <a:br>
                  <a:rPr lang="en-IN" altLang="en-US" sz="8000">
                    <a:solidFill>
                      <a:srgbClr val="00B0F0"/>
                    </a:solidFill>
                    <a:latin typeface="Juxtaposer"/>
                  </a:rPr>
                </a:br>
                <a:r>
                  <a:rPr lang="en-IN" altLang="en-US" sz="8000">
                    <a:solidFill>
                      <a:srgbClr val="00B0F0"/>
                    </a:solidFill>
                    <a:latin typeface="Juxtaposer"/>
                  </a:rPr>
                  <a:t>You</a:t>
                </a:r>
              </a:p>
            </p:txBody>
          </p:sp>
          <p:pic>
            <p:nvPicPr>
              <p:cNvPr id="44" name="Picture 10">
                <a:extLst>
                  <a:ext uri="{FF2B5EF4-FFF2-40B4-BE49-F238E27FC236}">
                    <a16:creationId xmlns:a16="http://schemas.microsoft.com/office/drawing/2014/main" id="{BB144989-CF53-8B1E-220B-C1AE23628EE7}"/>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492719" y="229820"/>
                <a:ext cx="3171090" cy="3179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5" name="Group 19">
                <a:extLst>
                  <a:ext uri="{FF2B5EF4-FFF2-40B4-BE49-F238E27FC236}">
                    <a16:creationId xmlns:a16="http://schemas.microsoft.com/office/drawing/2014/main" id="{31EE7083-91D9-EAE9-7B4A-61CD2CD28015}"/>
                  </a:ext>
                </a:extLst>
              </p:cNvPr>
              <p:cNvGrpSpPr>
                <a:grpSpLocks/>
              </p:cNvGrpSpPr>
              <p:nvPr/>
            </p:nvGrpSpPr>
            <p:grpSpPr bwMode="auto">
              <a:xfrm>
                <a:off x="6166925" y="272562"/>
                <a:ext cx="5750562" cy="3051976"/>
                <a:chOff x="6166925" y="272562"/>
                <a:chExt cx="5750562" cy="3051976"/>
              </a:xfrm>
            </p:grpSpPr>
            <p:pic>
              <p:nvPicPr>
                <p:cNvPr id="46" name="Picture 1">
                  <a:extLst>
                    <a:ext uri="{FF2B5EF4-FFF2-40B4-BE49-F238E27FC236}">
                      <a16:creationId xmlns:a16="http://schemas.microsoft.com/office/drawing/2014/main" id="{021C83A4-8483-5171-EA6C-FF76CE65A12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6925" y="2103900"/>
                  <a:ext cx="5750562" cy="12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58">
                  <a:extLst>
                    <a:ext uri="{FF2B5EF4-FFF2-40B4-BE49-F238E27FC236}">
                      <a16:creationId xmlns:a16="http://schemas.microsoft.com/office/drawing/2014/main" id="{38693FBE-DE43-1025-B0DC-2ADDCCB25AB1}"/>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493725" y="272562"/>
                  <a:ext cx="3096962" cy="174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